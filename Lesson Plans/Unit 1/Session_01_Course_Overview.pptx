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4"/>
    <p:sldMasterId id="2147483770" r:id="rId5"/>
    <p:sldMasterId id="2147483723" r:id="rId6"/>
    <p:sldMasterId id="2147483797" r:id="rId7"/>
    <p:sldMasterId id="2147483809" r:id="rId8"/>
  </p:sldMasterIdLst>
  <p:notesMasterIdLst>
    <p:notesMasterId r:id="rId14"/>
  </p:notesMasterIdLst>
  <p:sldIdLst>
    <p:sldId id="256" r:id="rId13"/>
    <p:sldId id="257" r:id="rId12"/>
    <p:sldId id="258" r:id="rId11"/>
    <p:sldId id="259" r:id="rId10"/>
    <p:sldId id="260" r:id="rId9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8"/>
    <p:restoredTop sz="94632"/>
  </p:normalViewPr>
  <p:slideViewPr>
    <p:cSldViewPr>
      <p:cViewPr varScale="1">
        <p:scale>
          <a:sx n="281" d="100"/>
          <a:sy n="281" d="100"/>
        </p:scale>
        <p:origin x="824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A143E3-DF02-6D00-EF8A-CCE8D405A0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A05AA-B4AF-FF98-6BA2-79C5F592241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9316AD6-C3E9-5F4B-A0F9-2F767C1675FC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C810F8F-207D-7A3B-C03D-6AE8E570B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E9BCC96-9010-D5E9-CD82-45C95BCCE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18A22-EEFA-BE4E-7CBA-46C41D6914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72EED-1CD9-6E9D-2948-B618C03EC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12E7D79-F023-404C-98EC-4D61B26CDA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8. This is a placeholder in the running order only — do NOT use this</a:t>
            </a:r>
          </a:p>
          <a:p>
            <a:r>
              <a:t>slide. Switch to Chap03_PPT.pptx and project your chosen chart from slides 44, 45,</a:t>
            </a:r>
          </a:p>
          <a:p>
            <a:r>
              <a:t>46, 48, or 50 full-screen. It should already be on the screen as students walk in,</a:t>
            </a:r>
          </a:p>
          <a:p>
            <a:r>
              <a:t>before you say anything.</a:t>
            </a:r>
          </a:p>
          <a:p/>
          <a:p>
            <a:r>
              <a:t>Take three answers. Do not take a fourth, do not confirm, do not explain the</a:t>
            </a:r>
          </a:p>
          <a:p>
            <a:r>
              <a:t>trick. Close with: "Hold onto that. We come back to this exact chart on</a:t>
            </a:r>
          </a:p>
          <a:p>
            <a:r>
              <a:t>September 8."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13. Two minutes. The point is predictability, not the schedule</a:t>
            </a:r>
          </a:p>
          <a:p>
            <a:r>
              <a:t>itself — do not walk the date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15. Three minutes. Emphasize quizzes 20% and the final 25%. Then the</a:t>
            </a:r>
          </a:p>
          <a:p>
            <a:r>
              <a:t>line they will not expect: "929 points is an A−. I don't round across a grade</a:t>
            </a:r>
          </a:p>
          <a:p>
            <a:r>
              <a:t>boundary. That's not me being harsh — it's me telling you in August instead of</a:t>
            </a:r>
          </a:p>
          <a:p>
            <a:r>
              <a:t>December."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18. Three minutes. State the consequence, not just the rule. Then</a:t>
            </a:r>
          </a:p>
          <a:p>
            <a:r>
              <a:t>open the one door that matters — athletics, Guard drill, a conference — and stress</a:t>
            </a:r>
          </a:p>
          <a:p>
            <a:r>
              <a:t>"this week," not the week it happens. Every make-up request you field in November</a:t>
            </a:r>
          </a:p>
          <a:p>
            <a:r>
              <a:t>traces back to a student who did not hear this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21. Five minutes, and the most useful five of the day. Read the</a:t>
            </a:r>
          </a:p>
          <a:p>
            <a:r>
              <a:t>quoted line out loud from the syllabus. Interpretation outweighs the analysis. They</a:t>
            </a:r>
          </a:p>
          <a:p>
            <a:r>
              <a:t>will not believe it until SP1 comes back, so you will say it again on Sep 17 and</a:t>
            </a:r>
          </a:p>
          <a:p>
            <a:r>
              <a:t>Sep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26. Five minutes. Two conditions on every project: disclosure of what</a:t>
            </a:r>
          </a:p>
          <a:p>
            <a:r>
              <a:t>you used it for, and the explanation standard — you can explain, in your own words</a:t>
            </a:r>
          </a:p>
          <a:p>
            <a:r>
              <a:t>and on request, every number and every sentence you submit.</a:t>
            </a:r>
          </a:p>
          <a:p/>
          <a:p>
            <a:r>
              <a:t>Then give the reason, not just the rule: "This isn't suspicion. The skill this</a:t>
            </a:r>
          </a:p>
          <a:p>
            <a:r>
              <a:t>course certifies is looking at output and judging whether it's trustworthy. That is</a:t>
            </a:r>
          </a:p>
          <a:p>
            <a:r>
              <a:t>exactly the skill you lose by letting a model produce output you never examine."</a:t>
            </a:r>
          </a:p>
          <a:p/>
          <a:p>
            <a:r>
              <a:t>Then: "I do ask." And mean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31. Four minutes. Say the browser warning twice — it is the most</a:t>
            </a:r>
          </a:p>
          <a:p>
            <a:r>
              <a:t>expensive misunderstanding available in week 1. Then: "Do not spend this week</a:t>
            </a:r>
          </a:p>
          <a:p>
            <a:r>
              <a:t>fighting the installation alone. We set it up together on Tuesday."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34. One minute. You are skipping the full university date table — say</a:t>
            </a:r>
          </a:p>
          <a:p>
            <a:r>
              <a:t>so, and give these three anyway. Sep 16 lands between Quiz 1 and Quiz 3 by design,</a:t>
            </a:r>
          </a:p>
          <a:p>
            <a:r>
              <a:t>so students have two real scores before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35. This definition, not the textbook's. Then go to Chap01 slides</a:t>
            </a:r>
          </a:p>
          <a:p>
            <a:r>
              <a:t>3–12 and COMPRESS — pick two motivations, not six.</a:t>
            </a:r>
          </a:p>
          <a:p/>
          <a:p>
            <a:r>
              <a:t>Draw the semester map on the BOARD, by hand, not on a slide: describing what you</a:t>
            </a:r>
          </a:p>
          <a:p>
            <a:r>
              <a:t>actually have (Unit 1, now) versus claiming something about what you don't (Units</a:t>
            </a:r>
          </a:p>
          <a:p>
            <a:r>
              <a:t>3–4, October). The fact that you drew it makes it the room's.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52. Three minutes. Open Chapters/CHAPTER1/Examples/Apple.xlsx on the</a:t>
            </a:r>
          </a:p>
          <a:p>
            <a:r>
              <a:t>Data sheet — do not analyze anything.</a:t>
            </a:r>
          </a:p>
          <a:p/>
          <a:p>
            <a:r>
              <a:t>The second question is the point: seven rows of revenue and profit cannot tell you</a:t>
            </a:r>
          </a:p>
          <a:p>
            <a:r>
              <a:t>*why*, and noticing what is absent is the analyst's instinct you are recruiting.</a:t>
            </a:r>
          </a:p>
          <a:p/>
          <a:p>
            <a:r>
              <a:t>Then plant the seed, ten seconds: "Notice the title is in row 1 and the actual</a:t>
            </a:r>
          </a:p>
          <a:p>
            <a:r>
              <a:t>column headers are down in row 3. Every Excel tool we use assumes headers are in</a:t>
            </a:r>
          </a:p>
          <a:p>
            <a:r>
              <a:t>row 1. Remember that annoyance — September 3 is when we fix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57. Protect this block — it is the highest-value eleven minutes of</a:t>
            </a:r>
          </a:p>
          <a:p>
            <a:r>
              <a:t>the day. Think-pair-share for each claim: 30 seconds silent, 60 seconds in pairs,</a:t>
            </a:r>
          </a:p>
          <a:p>
            <a:r>
              <a:t>then take answers. The answer is NOT on the slide,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Correlation is not causation — the confounder is summer. Ask the room for</a:t>
            </a:r>
          </a:p>
          <a:p>
            <a:r>
              <a:t>the lurking variable BEFORE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hoc ergo propter hoc. Ask: what else happened in Q2?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Unrepresentative sample. This plants Tuesday Sep 1 — say "hold that thought</a:t>
            </a:r>
          </a:p>
          <a:p>
            <a:r>
              <a:t>until Tuesday."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base and a missing denominator — it went from 1 unit to 4. The best</a:t>
            </a:r>
          </a:p>
          <a:p>
            <a:r>
              <a:t>one for a business audience. Ask what the denominator was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 comparison — no control group. Introduces the idea of a baseline,</a:t>
            </a:r>
          </a:p>
          <a:p>
            <a:r>
              <a:t>which is where Units 3 and 4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66. Ninety seconds, and let it run if it is working. Their examples</a:t>
            </a:r>
          </a:p>
          <a:p>
            <a:r>
              <a:t>are better than yours, and this is the moment the course becomes about them rather</a:t>
            </a:r>
          </a:p>
          <a:p>
            <a:r>
              <a:t>than about a textbook.</a:t>
            </a:r>
          </a:p>
          <a:p/>
          <a:p>
            <a:r>
              <a:t>Then finish on Chap01 slide 36, "Which Fallacy, if Any, do You See?" — the "if any"</a:t>
            </a:r>
          </a:p>
          <a:p>
            <a:r>
              <a:t>is what makes it a good question, because it removes the guarantee that something</a:t>
            </a:r>
          </a:p>
          <a:p>
            <a:r>
              <a:t>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68. Five minutes on Chap01 slides 20–25, tied straight back to the AI</a:t>
            </a:r>
          </a:p>
          <a:p>
            <a:r>
              <a:t>policy from minute 26 — same principle, different surface. Misreporting is the</a:t>
            </a:r>
          </a:p>
          <a:p>
            <a:r>
              <a:t>violation the syllabus names specifically, and this is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 73. Two minutes. Hand out index cards at the door as they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card, hand it to them at the door. READ THESE BEFORE TUESDAY — they</a:t>
            </a:r>
          </a:p>
          <a:p>
            <a:r>
              <a:t>give you the business contexts to reference all semester, and they tell you which</a:t>
            </a:r>
          </a:p>
          <a:p>
            <a:r>
              <a:t>students are already thinking like analysts. Worth the fifteen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10E5A1DD-41F2-370E-9895-AEA44274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B9C66-A107-E34E-BA49-E5CB0FC68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8CF54FE-326E-614A-8791-5CE5DCE8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E13EE648-4122-7C8C-CFEA-F44CE045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01D10-C587-5349-8068-C719539B6EC0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en-US" sz="6000" b="1" i="0" kern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297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323576" y="61722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32054F8-ABB0-184F-95BE-B76182AB2C2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19AB9C66-A107-E34E-BA49-E5CB0FC68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91378DF-C8E1-6088-7EDE-4087F67DEF3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5C904422-248E-FC46-AB20-690C16C94D81}"/>
              </a:ext>
            </a:extLst>
          </p:cNvPr>
          <p:cNvSpPr txBox="1">
            <a:spLocks/>
          </p:cNvSpPr>
          <p:nvPr userDrawn="1"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0F01D10-C587-5349-8068-C719539B6EC0}" type="datetimeFigureOut">
              <a:rPr lang="en-US" smtClean="0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86243"/>
            <a:ext cx="10515600" cy="41907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heading"/>
          <p:cNvSpPr>
            <a:spLocks noGrp="1"/>
          </p:cNvSpPr>
          <p:nvPr>
            <p:ph type="body" sz="quarter" idx="20"/>
          </p:nvPr>
        </p:nvSpPr>
        <p:spPr>
          <a:xfrm>
            <a:off x="838200" y="1322742"/>
            <a:ext cx="10515600" cy="646991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1106"/>
          </a:xfrm>
        </p:spPr>
        <p:txBody>
          <a:bodyPr/>
          <a:lstStyle>
            <a:lvl1pPr>
              <a:defRPr lang="en-US" sz="4400" b="1" i="0" kern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291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F7A12E5-45F2-F1F9-DF01-D53A58B0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B9C66-A107-E34E-BA49-E5CB0FC68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75A24B1D-96E4-A9DF-B758-3BF5E9C7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7C4ECC35-2C36-904A-68F2-DC92E8AF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01D10-C587-5349-8068-C719539B6EC0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66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323576" y="61722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1723075-1069-3652-2229-FAB254C92B82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19AB9C66-A107-E34E-BA49-E5CB0FC68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5BFC6C19-E956-C25B-8582-F3EFA7888E5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7E5F1C3B-80FE-B8E5-ADB9-1853215D43A9}"/>
              </a:ext>
            </a:extLst>
          </p:cNvPr>
          <p:cNvSpPr txBox="1">
            <a:spLocks/>
          </p:cNvSpPr>
          <p:nvPr userDrawn="1"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0F01D10-C587-5349-8068-C719539B6EC0}" type="datetimeFigureOut">
              <a:rPr lang="en-US" smtClean="0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864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323576" y="61722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7925860-126B-34D7-CDA2-5AF2B6F9490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19AB9C66-A107-E34E-BA49-E5CB0FC68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854CF3A-03DB-6A78-76EB-0059CFA5A1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53AD1154-6C3C-D214-3CEB-BDF3A9ACA2BD}"/>
              </a:ext>
            </a:extLst>
          </p:cNvPr>
          <p:cNvSpPr txBox="1">
            <a:spLocks/>
          </p:cNvSpPr>
          <p:nvPr userDrawn="1"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0F01D10-C587-5349-8068-C719539B6EC0}" type="datetimeFigureOut">
              <a:rPr lang="en-US" smtClean="0"/>
              <a:pPr>
                <a:defRPr/>
              </a:pPr>
              <a:t>4/15/26</a:t>
            </a:fld>
            <a:endParaRPr lang="en-US"/>
          </a:p>
        </p:txBody>
      </p:sp>
      <p:sp>
        <p:nvSpPr>
          <p:cNvPr id="7" name="Subheading"/>
          <p:cNvSpPr>
            <a:spLocks noGrp="1"/>
          </p:cNvSpPr>
          <p:nvPr>
            <p:ph type="body" sz="quarter" idx="20"/>
          </p:nvPr>
        </p:nvSpPr>
        <p:spPr>
          <a:xfrm>
            <a:off x="838200" y="1271944"/>
            <a:ext cx="10515600" cy="68001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8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50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323576" y="61722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468F84E-DBFF-CD15-C9E4-9AB4DAE4746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99210-7C57-7C4A-B183-6C0990A41A7A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FD603A1-7EF2-93FC-E4A1-65663D4424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BD647CB-0184-4618-1E04-639533BD28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F9BFA-75F2-1F4B-860C-61F6224D2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4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lide Image, Headlin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ackground"/>
          <p:cNvSpPr>
            <a:spLocks noGrp="1"/>
          </p:cNvSpPr>
          <p:nvPr>
            <p:ph type="pic" sz="quarter" idx="14"/>
          </p:nvPr>
        </p:nvSpPr>
        <p:spPr>
          <a:xfrm>
            <a:off x="-18327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MSU Logo"/>
          <p:cNvSpPr>
            <a:spLocks noGrp="1"/>
          </p:cNvSpPr>
          <p:nvPr>
            <p:ph type="body" sz="quarter" idx="15"/>
          </p:nvPr>
        </p:nvSpPr>
        <p:spPr>
          <a:xfrm>
            <a:off x="612648" y="43434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op Right Line"/>
          <p:cNvSpPr>
            <a:spLocks noGrp="1"/>
          </p:cNvSpPr>
          <p:nvPr>
            <p:ph type="body" sz="quarter" idx="17"/>
          </p:nvPr>
        </p:nvSpPr>
        <p:spPr>
          <a:xfrm>
            <a:off x="11695176" y="0"/>
            <a:ext cx="27432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Bottom Left Line"/>
          <p:cNvSpPr>
            <a:spLocks noGrp="1"/>
          </p:cNvSpPr>
          <p:nvPr>
            <p:ph type="body" sz="quarter" idx="16"/>
          </p:nvPr>
        </p:nvSpPr>
        <p:spPr>
          <a:xfrm>
            <a:off x="493776" y="4343400"/>
            <a:ext cx="27432" cy="2514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97D8825-0AB4-9598-79C2-71C3D8EFAD4C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19AB9C66-A107-E34E-BA49-E5CB0FC68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AF862A8E-DE9F-0A71-C221-E456ECEC425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D29DB9EA-2A47-CAC8-50BB-90F802322EB8}"/>
              </a:ext>
            </a:extLst>
          </p:cNvPr>
          <p:cNvSpPr txBox="1">
            <a:spLocks/>
          </p:cNvSpPr>
          <p:nvPr userDrawn="1"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0F01D10-C587-5349-8068-C719539B6EC0}" type="datetimeFigureOut">
              <a:rPr lang="en-US" smtClean="0"/>
              <a:pPr>
                <a:defRPr/>
              </a:pPr>
              <a:t>4/15/26</a:t>
            </a:fld>
            <a:endParaRPr lang="en-US"/>
          </a:p>
        </p:txBody>
      </p:sp>
      <p:sp>
        <p:nvSpPr>
          <p:cNvPr id="11" name="Upper Right Text"/>
          <p:cNvSpPr>
            <a:spLocks noGrp="1"/>
          </p:cNvSpPr>
          <p:nvPr>
            <p:ph type="body" sz="quarter" idx="13"/>
          </p:nvPr>
        </p:nvSpPr>
        <p:spPr>
          <a:xfrm>
            <a:off x="7013448" y="155448"/>
            <a:ext cx="4572000" cy="365760"/>
          </a:xfrm>
        </p:spPr>
        <p:txBody>
          <a:bodyPr anchor="b"/>
          <a:lstStyle>
            <a:lvl1pPr marL="0" indent="0" algn="r">
              <a:buNone/>
              <a:defRPr sz="1800" b="1" i="0"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Subheading"/>
          <p:cNvSpPr>
            <a:spLocks noGrp="1"/>
          </p:cNvSpPr>
          <p:nvPr>
            <p:ph type="body" sz="quarter" idx="18"/>
          </p:nvPr>
        </p:nvSpPr>
        <p:spPr>
          <a:xfrm>
            <a:off x="609600" y="5405777"/>
            <a:ext cx="10551404" cy="9144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4789488"/>
            <a:ext cx="10515600" cy="616289"/>
          </a:xfrm>
          <a:ln>
            <a:noFill/>
          </a:ln>
          <a:effectLst/>
        </p:spPr>
        <p:txBody>
          <a:bodyPr anchor="t"/>
          <a:lstStyle>
            <a:lvl1pPr>
              <a:defRPr sz="4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11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lide Image,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SU Logo"/>
          <p:cNvSpPr>
            <a:spLocks noGrp="1"/>
          </p:cNvSpPr>
          <p:nvPr>
            <p:ph type="body" sz="quarter" idx="15"/>
          </p:nvPr>
        </p:nvSpPr>
        <p:spPr>
          <a:xfrm>
            <a:off x="612648" y="52578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op Right Line"/>
          <p:cNvSpPr>
            <a:spLocks noGrp="1"/>
          </p:cNvSpPr>
          <p:nvPr>
            <p:ph type="body" sz="quarter" idx="17"/>
          </p:nvPr>
        </p:nvSpPr>
        <p:spPr>
          <a:xfrm>
            <a:off x="11695176" y="0"/>
            <a:ext cx="27432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ottom Left Line"/>
          <p:cNvSpPr>
            <a:spLocks noGrp="1"/>
          </p:cNvSpPr>
          <p:nvPr>
            <p:ph type="body" sz="quarter" idx="16"/>
          </p:nvPr>
        </p:nvSpPr>
        <p:spPr>
          <a:xfrm>
            <a:off x="493776" y="5257800"/>
            <a:ext cx="27432" cy="1600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ackground Image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2AB575B-A068-156E-1C2A-33297EC612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56008-476D-ED46-8965-67EF6491B5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BC77727-C631-8B96-DA9B-3D0054C595E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B3137E70-A7AF-D00D-52D5-2234C6F6978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38D77-5AED-2648-A9AA-169093295671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13" name="Upper Right Text"/>
          <p:cNvSpPr>
            <a:spLocks noGrp="1"/>
          </p:cNvSpPr>
          <p:nvPr>
            <p:ph type="body" sz="quarter" idx="13"/>
          </p:nvPr>
        </p:nvSpPr>
        <p:spPr>
          <a:xfrm>
            <a:off x="7013448" y="155448"/>
            <a:ext cx="4572000" cy="365760"/>
          </a:xfrm>
        </p:spPr>
        <p:txBody>
          <a:bodyPr anchor="b"/>
          <a:lstStyle>
            <a:lvl1pPr marL="0" indent="0" algn="r">
              <a:buNone/>
              <a:defRPr sz="1800" b="1" i="0"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5715001"/>
            <a:ext cx="10515600" cy="1006474"/>
          </a:xfrm>
          <a:ln>
            <a:noFill/>
          </a:ln>
          <a:effectLst/>
        </p:spPr>
        <p:txBody>
          <a:bodyPr anchor="t"/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0688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Full-slide Img, Headlin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SU Logo"/>
          <p:cNvSpPr>
            <a:spLocks noGrp="1"/>
          </p:cNvSpPr>
          <p:nvPr>
            <p:ph type="body" sz="quarter" idx="18"/>
          </p:nvPr>
        </p:nvSpPr>
        <p:spPr>
          <a:xfrm>
            <a:off x="612648" y="2286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op Left Line"/>
          <p:cNvSpPr>
            <a:spLocks noGrp="1"/>
          </p:cNvSpPr>
          <p:nvPr>
            <p:ph type="body" sz="quarter" idx="19"/>
          </p:nvPr>
        </p:nvSpPr>
        <p:spPr>
          <a:xfrm>
            <a:off x="493776" y="0"/>
            <a:ext cx="27432" cy="20574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C3FA6FB-E86B-2385-072D-B5336D83AA5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6FC60-FE40-D443-99E7-E4F8D4EAE2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">
            <a:extLst>
              <a:ext uri="{FF2B5EF4-FFF2-40B4-BE49-F238E27FC236}">
                <a16:creationId xmlns:a16="http://schemas.microsoft.com/office/drawing/2014/main" id="{1A1F6FBA-F727-8B32-2254-9803816371C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20E4F2A-3822-7EEF-4AA9-D21A19C2BDE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79A35-FF8D-9541-A7BE-EB0466738C11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2" name="Background 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Subheading"/>
          <p:cNvSpPr>
            <a:spLocks noGrp="1"/>
          </p:cNvSpPr>
          <p:nvPr>
            <p:ph type="body" sz="quarter" idx="20"/>
          </p:nvPr>
        </p:nvSpPr>
        <p:spPr>
          <a:xfrm>
            <a:off x="609600" y="1296401"/>
            <a:ext cx="10515600" cy="68001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685800"/>
            <a:ext cx="10515600" cy="610601"/>
          </a:xfrm>
          <a:ln>
            <a:noFill/>
          </a:ln>
          <a:effectLst/>
        </p:spPr>
        <p:txBody>
          <a:bodyPr anchor="t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897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Full-slide Imag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SU Logo"/>
          <p:cNvSpPr>
            <a:spLocks noGrp="1"/>
          </p:cNvSpPr>
          <p:nvPr>
            <p:ph type="body" sz="quarter" idx="18"/>
          </p:nvPr>
        </p:nvSpPr>
        <p:spPr>
          <a:xfrm>
            <a:off x="612648" y="2286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op Left Line"/>
          <p:cNvSpPr>
            <a:spLocks noGrp="1"/>
          </p:cNvSpPr>
          <p:nvPr>
            <p:ph type="body" sz="quarter" idx="19"/>
          </p:nvPr>
        </p:nvSpPr>
        <p:spPr>
          <a:xfrm>
            <a:off x="493776" y="0"/>
            <a:ext cx="27432" cy="1371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4618EA6E-FE1A-D51D-2AE3-C65F1FC8A64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85747-DC85-7748-BDB4-E799B766A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53BC512-0A51-1E44-79F1-791AB82F912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7C76898-FAF5-FBBE-065C-1B93A55EE9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ECC73-5FA7-E848-AC85-67C82347629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2" name="Background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685800"/>
            <a:ext cx="10515600" cy="680013"/>
          </a:xfrm>
          <a:ln>
            <a:noFill/>
          </a:ln>
          <a:effectLst/>
        </p:spPr>
        <p:txBody>
          <a:bodyPr anchor="t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333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323576" y="61722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16FABB5-1E3C-B5A8-3E57-E055272482C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76DCC-77AC-A940-AA49-412122A88E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F167B79-204C-DA55-EE10-21F6903CF45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6E6B6779-BA12-9245-26E8-2D8B501C00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696CA-EDC9-DB46-ACA5-6B19ABC8F8C8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9414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323576" y="6172200"/>
            <a:ext cx="1261872" cy="32004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598A843-EAA2-298E-1DC9-021F62BB29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DA725-D91C-3141-ADCA-14911104D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FB35D688-4AA8-0A09-C997-643D9C5D9C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3997453C-CF10-144E-B707-FC09AD6A9F0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D0AA3-49F0-EA41-9533-DED8F1F228A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Conten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341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CABF9A92-4F45-8D67-EF5A-D34D70F4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90A25-C263-0C4C-9BAB-1D8B6EE7E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9B8E632-44BD-C6E5-235E-C8A2811D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82E9B5D3-E17D-1B7C-6890-C96DE0E8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7F7AA-6745-C14E-98C4-2197B8B5138D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Subheading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4539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C31A2-55B0-DF98-9BD3-2B82E361E10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668E1-EDF9-0C43-B880-98090ED02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C2497F2-115E-AE72-6D5D-B4049816334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8E36FA4-5F0E-F587-A6F7-0543B12F73D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BDC2B-A0B9-A642-A90E-89476994CE7B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heading"/>
          <p:cNvSpPr>
            <a:spLocks noGrp="1"/>
          </p:cNvSpPr>
          <p:nvPr>
            <p:ph type="body" sz="quarter" idx="20"/>
          </p:nvPr>
        </p:nvSpPr>
        <p:spPr>
          <a:xfrm>
            <a:off x="840205" y="1145613"/>
            <a:ext cx="10515600" cy="68001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4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6666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DFD66E99-8BAF-6DC8-8F2A-40B475BC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D177C-8A64-C64D-A4CF-7B185F4B1E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B9BB38F-53F6-A960-E649-336D0917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7B9B00F5-0801-2650-B362-45F0CF6B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AE114-FCC8-5945-BE3C-494E0AC862C4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1647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F8DE1B-7878-6631-B195-09CBB384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9679AB-E740-274F-8AC6-64938496A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FBD394-E69C-9F10-5B1E-24491460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AEE38C6-C616-3919-B455-91754576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E199-FB1C-7740-B851-2757239C79FF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7403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26C5C35-4DA6-7086-D3B0-F5515A0B60D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0FEF1-72C5-4849-A5AD-AE487D7E93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F3F6969-F861-E2F4-C41B-C6D17E560E1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6B9597E-48EC-50E6-1E9E-6CEA4C106F2F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868DA-11CD-F44A-8501-CF95E75DC286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Subheading"/>
          <p:cNvSpPr>
            <a:spLocks noGrp="1"/>
          </p:cNvSpPr>
          <p:nvPr>
            <p:ph type="body" sz="quarter" idx="20"/>
          </p:nvPr>
        </p:nvSpPr>
        <p:spPr>
          <a:xfrm>
            <a:off x="838200" y="1235849"/>
            <a:ext cx="10515600" cy="68001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6306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D94CE6-0BAB-341B-92CC-54FD157A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5D84E-DCD7-B34E-926E-4863EF94C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05F2A0-40D7-A62D-A59A-05B8302E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5DD4E-ACF2-2EAF-6B96-2544D085D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33FC1-4DF9-3640-B90A-FD23677E236F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7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6F0C5F-86F6-75B2-BE28-6799E5B0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0B757-FFEF-B54B-B92E-7F9B286FA6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508297-4C9A-1046-1C0F-E723EDC9C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C1E1F7-A4B9-E4F9-630E-22D7ECB7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3CFB1-666A-BD41-884E-F74FA966DD2F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2404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07BE70-EDC9-0ACB-B8B1-4C980005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DE4BC-60C0-BF47-994E-796B6DF106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687B29-4CBC-1740-37EE-8A173E3C4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F90A646-9E1E-ACD0-3FFB-AA0C54376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4CD0A-5416-5541-B5BC-5A786B021142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53514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979CA-DE61-5AC2-3F7C-4D3F58F2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7185A-7354-BE47-BABF-45FC1CB0A1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7A281-8D06-C76E-20F3-AB51464A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DA83-3DFF-5CC4-3AA2-DBF617E7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C6982-A3EF-B945-8561-48675AC94AE3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3433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B9163-03F9-BD26-FC73-A28D375E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519AF-9C88-BB48-AF21-AA48AD2C62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7FB6C-A425-13DC-290E-C1BDCD71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B6238-C7D7-F39D-3830-70ED7C9A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F8D36-686A-794C-8598-FEB38ADBC219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03852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2CA90-64D5-1A2B-EF60-5453C93B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531AB-8654-3643-B751-AFC48170E3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5EB5E-DF08-DDB9-C394-4F1F8E18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826E-3D71-5B13-F026-FD3446F8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D50CE-9270-2747-9A2B-E893966040B9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Subheading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81335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60DD-0BDB-1504-303D-68C0ACDAF3B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CC02D-4B32-BD49-AE08-15EB38F8C1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700CD-3FFD-A496-B208-9852D50A849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7537-8BF6-4DCB-2589-A57328EC774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CBB33-9C12-5748-BDE2-8F925E139E08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6243"/>
            <a:ext cx="10515600" cy="41907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heading"/>
          <p:cNvSpPr>
            <a:spLocks noGrp="1"/>
          </p:cNvSpPr>
          <p:nvPr>
            <p:ph type="body" sz="quarter" idx="20"/>
          </p:nvPr>
        </p:nvSpPr>
        <p:spPr>
          <a:xfrm>
            <a:off x="838200" y="1306231"/>
            <a:ext cx="10515600" cy="68001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2593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616A7-D18E-4D29-5C67-738C1744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A1A45-6958-E54B-A472-9A55786413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EA8A3-D3FD-C8A5-4C7B-846E428A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3A091-5644-B5F5-23AB-805EA35E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A4F95-2812-494A-88DC-D67A46768D6A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61908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2BA8F2-7CC3-D173-BF0B-49E50A02C78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CB988-4321-C04B-AD6F-D1A9489033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7E02AAF-2269-1FCC-CB68-BE2B49DD75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42E430-B9E5-7DEA-CE49-9B53B089A98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EC2D8-ECB8-6A47-8669-2D61A7D00EA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1784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885BC1F-307C-EE27-19F9-FB544832FA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D4257-C3F7-D24F-9C89-42ACF30F7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3BB50B-2321-B008-D19C-17190B3101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772876-D3AC-DF95-FBB1-ED80BFAD93F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96FB1-A521-C44B-8A58-E9C8D55C7263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3059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D07D6D-A06A-714D-395B-E86B9A2787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083F3-0316-794E-A2E6-5B0293F7B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E89572D-2690-F69C-E495-C43B182A25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738A59B-47B9-AEA2-BCB8-076B8E385BF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7105C-31DC-7645-B5D5-9434A8177338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838200" y="1159209"/>
            <a:ext cx="10515600" cy="365125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40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7816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CC7495-3450-39F4-082C-8094A79789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9E8B7-5B73-1745-B01C-A829CA48D7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099A987-3427-73B9-A42F-8553E5E2BF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4EFE976-8738-8415-4811-499CC5218E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B62A5-26BD-CD4D-9F88-F88994C74775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99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34CA80-4CCE-EED0-9E75-DA3AEA3816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A1A5B-110B-E44F-AACF-03F5EF6842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78350B-4148-79B0-AA80-AFDCB53A6F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1212D3-C8B7-63CB-3414-AFEEE815D32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EA819-D79F-C646-AB25-85EDF32AF5A1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76185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U Logo"/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0323576" y="6172200"/>
            <a:ext cx="1261872" cy="320040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42C01-2212-63C5-B732-5C5C6B5370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9E1EE-E617-004D-AF12-97067924B9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E81BB0-07FE-D615-6180-09C7CC621F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1BA386-7928-080A-E820-D97CA7DF44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B5585-09F3-7148-A144-0489B9F61E35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48074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89125-4FA8-5A71-AA2A-9A7CA873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E355-D3C3-0A43-8642-7B71C9B90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4C54-5173-112F-FDAC-EFE6E731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5572-EE2A-814F-AFBF-2BD42265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C8F18-40F2-F847-9C60-6945734DD52E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2568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90D2-5305-B9E8-1478-061F6EE9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E63E8-E391-0248-B9B5-BCAA5C41EE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8FE75-9D77-CA1F-4844-3CDC5452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36E9-7321-DD63-7E27-8DB4A02A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D07AD-FB7D-7740-BEF6-A216F2C4A136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4786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60E1-C5F9-395E-DF4D-F0868EC6B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34579-28C2-BF49-8473-7A24D39598FF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B5062-0C05-C1C3-8886-6E30655A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F90A3-110B-192D-3B29-2AE38B74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E1387-9495-2044-96FC-76D0AC142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3991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BBDD7-454F-5922-1E64-42474219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1D7BC-F28E-6447-A3D6-4FE09B2FAEBE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1DDF6-4D39-9176-B836-797C96C8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3BC9E-97B1-7E4A-7E6E-956F7369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0E714-6DF2-B24A-AD40-7F3FAF220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67158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26401-8E15-8406-030E-9651A764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A7679-558E-524A-A995-D0275C22BC7E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27E78-65EF-3426-76A0-11F52DD8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0D05-009F-47AA-2BF5-65CD1A94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6872A-72AF-4648-8D6A-2E203AD60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6269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E866FD-42A6-050D-3441-4F3AE3A3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8746D-70BC-4247-BF75-D688E7D12DE2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E5758EE-EEC7-2F7A-767E-B4ED3E7B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E2F22F-9CC1-6B16-99DA-1DA6458B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10227-F035-8745-9A38-D089BC9B8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3803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D2C0858-8B24-D831-134C-B9209595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729CE-9CA7-3D4F-8E7E-744A4A8D6ECF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43F38F-13B0-3683-B1B9-CBC050F9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F1B16C-CD49-83E0-9FF2-878B6BDE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097FF-1E82-A44C-87E9-7897197BD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41129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66C9BA5-F32A-88D4-BE9B-562F9464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9EE1A-891B-6148-BFC2-B286D68E7E8F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2FBB728-6B5F-7175-826A-4374C41C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D739F0-1A5B-178C-9276-8F0F4D8E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B1CC0-DAEC-C24E-97BD-6EEFA92AD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618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E46423-95BF-EFBB-6E28-828973AF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B31A4-79E6-5C4B-A02D-083BE7CB15C1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56C941-ECA8-08BF-A1BB-F0F03B5A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994AC8-DE44-E084-922E-EF7F3C4B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E4ADA-8156-7847-8B81-1AA6CCCEDE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48317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3760AD-95DA-71F3-4F43-250A09A2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CE72A-71F6-0C46-940E-227406A434E6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BB3D32F-1FB3-3B08-A54A-18A52D19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F9BAEE-61B0-6FC7-E4FF-11D5EFD1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41213-FE1C-C442-BB4D-453AAC9180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0953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853C-2B34-D1D3-117F-AF31476F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43C8D-99B9-A948-A419-090C9F86FF1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F2F1-358A-D6B9-8C0F-F75A53BD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DD315-1ADC-90DA-C4CE-8D40BAF4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F5E9-3DCA-AF41-9D8C-6026C62F35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1965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2F472-5C46-E1A6-F9E3-ACAB387D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D63BE-BD51-564D-B4C9-A940B7C6CBD1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B0D8-423C-93C4-D950-FA355DC1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223D-7D26-09E3-A482-3049DC7C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FB8F9-70C9-824D-A9C3-B4F98B2080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89216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FB03-5E02-D518-86C4-590A3E17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3B1E4-DAE7-6247-8F05-09003DAF60B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7BE2F-CC16-E914-6AD7-49B30181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DA08A-EBC2-E078-2834-10C3F327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AF78C-07D0-B643-AE41-EA869D9C2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69881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1A2B-189C-E1C9-4F02-A4068BC9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97C1F-EC0F-C043-A099-32CE3B4EC1C8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AE386-2B60-0A01-B911-28B176AD8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FE5DE-9064-D32C-197F-01AC4224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1FAB0D-0CEB-4D43-931F-6D2CA8927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85832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949AF-087F-74F4-6CFC-30CD5890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48F7C-A19F-0B46-B672-78105CE196E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83D38-629D-2931-2852-A8D035DD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87A85-95A0-C3BF-21A7-57A423FB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8FF1D-8DF4-914A-A54B-9CA53BA680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97791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D5988C-B128-A75B-7422-7D3030F0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9536A-4E25-FF49-8308-07A5D8118B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4205E0-6DE3-58DA-9A17-0DC67316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E7FA3-F042-734C-9728-041F129A4F8D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0616C5-4C70-B714-F3FF-5372FE76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4250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D772B6-1917-8EB7-407F-24D5DAEA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62EBF-6D14-8A43-9593-FC9C58F2C8D9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EBB610-C0E9-5D1C-B56F-43818B3D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28C58B9-7470-04F0-0E29-3FD18819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4AB1B-CAD9-F749-80A9-A6DB4CACE1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42720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CC4A6F9-8A65-D5FA-6CC1-D16FD378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FAECD-77B2-BA4C-B47F-519FE67E1894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8AF53D-95EC-A410-38E6-CAA50689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5E9335-DA52-214B-8455-996AAD91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BF576-6072-5941-A0A5-86C3AD21B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69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64C834-6B3A-C00B-55D3-C38B9361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0567F-A235-E945-B43D-083248C74272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468EDB-4AC2-1060-A639-5E943D83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01BBEC-F4F0-7E5D-6A42-482D2396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0C83D-BB8C-1D40-88F4-23ED65FAD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73144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9646E6-AD34-22EF-4D95-2AC19606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0E640-EFB8-6949-8615-CB9F985D609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B2B9F2-9D0E-90AC-C6F3-EE7252C7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4BAA9E-FCEF-A253-4EAC-A11897F0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5DF64-111D-0D42-97F2-A83161658F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67876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2A2D9-22C6-B4B3-04C1-89F159E2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F07CD-B0C6-BE44-A8CE-88F464B8A771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E7073-7A6E-43A9-F816-67350083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41509-8E0C-A102-27D8-69AC4701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84C69-9BB6-8044-BA08-A0198AB26C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34953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3E8F1-922A-11C6-C54F-A80233C3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48B7C-3217-B249-BEE4-4C8ED0A47BD2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3C241-0A42-3A0F-0B1C-5721D1D6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12886-187A-9343-CAF8-04281B7E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BBA81-D8EF-184D-BC96-54E98F144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7718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12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12" Type="http://schemas.openxmlformats.org/officeDocument/2006/relationships/image" Target="../media/image4.emf"/><Relationship Id="rId13" Type="http://schemas.openxmlformats.org/officeDocument/2006/relationships/image" Target="../media/image5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12" Type="http://schemas.openxmlformats.org/officeDocument/2006/relationships/image" Target="../media/image4.emf"/><Relationship Id="rId13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ackground" descr="A blue background with a curved line&#10;&#10;Description automatically generated with medium confidence">
            <a:extLst>
              <a:ext uri="{FF2B5EF4-FFF2-40B4-BE49-F238E27FC236}">
                <a16:creationId xmlns:a16="http://schemas.microsoft.com/office/drawing/2014/main" id="{47F6D916-054D-80A6-C28B-356EA623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7A371A8D-F06E-5C88-A91F-F807B66BD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BEB502E-C3B3-B34D-AFFA-190E3FE66D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06E173A-7D2E-B421-06F4-78754ED80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7C7292D-17E2-AF47-8563-9E1C95B67348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10A69B6-B8F3-6FA3-D79B-CD286BB8B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88CD1757-D21B-781B-9A1A-090910996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7776032-EDF0-A815-B2F2-45068662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Background" descr="A blue background with a curved line&#10;&#10;Description automatically generated with medium confidence">
            <a:extLst>
              <a:ext uri="{FF2B5EF4-FFF2-40B4-BE49-F238E27FC236}">
                <a16:creationId xmlns:a16="http://schemas.microsoft.com/office/drawing/2014/main" id="{FD78DD6B-8204-D2CF-028F-EAF4B1D0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D6856E6E-1535-235C-350B-17C24E4C5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D18274C-5466-0748-8EDD-0BC73A6EF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D26084B-29A5-3096-EA7F-5954EE6EC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893350BB-D050-C5FD-B48E-96C8B22F8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9C8F6C8-B5A9-4F4E-8DCA-5F44349327C6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2052" name="Content">
            <a:extLst>
              <a:ext uri="{FF2B5EF4-FFF2-40B4-BE49-F238E27FC236}">
                <a16:creationId xmlns:a16="http://schemas.microsoft.com/office/drawing/2014/main" id="{2DFE26EF-4DC3-0573-7FFD-48D0B17ED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1" name="Title">
            <a:extLst>
              <a:ext uri="{FF2B5EF4-FFF2-40B4-BE49-F238E27FC236}">
                <a16:creationId xmlns:a16="http://schemas.microsoft.com/office/drawing/2014/main" id="{14E6040C-914D-DFCF-91C6-B4B1DE2C9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Aptos Display" panose="020B000402020202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084C5-384F-8997-AD13-C8E32B3EF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00566FE-1A8E-EE42-81A2-2881F2951A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632D-73CD-367D-98FB-A9003B21F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41A4-FE1E-8399-343E-A7908F47B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CB2B4A9-2FA3-3A44-96C2-A3E11F894DB3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CCB52566-3144-52CE-D73C-1C583E96F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758D9678-B9D3-5996-6A6B-8F2542304C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003F7F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03F7F"/>
          </a:solidFill>
          <a:latin typeface="Aptos Display" panose="020B000402020202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03F7F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03F7F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03F7F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03F7F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03F7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534CA5-ECE4-14B0-E653-0032FD739B15}"/>
              </a:ext>
            </a:extLst>
          </p:cNvPr>
          <p:cNvSpPr/>
          <p:nvPr/>
        </p:nvSpPr>
        <p:spPr>
          <a:xfrm>
            <a:off x="0" y="0"/>
            <a:ext cx="12192000" cy="596423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5D01-58D1-49F3-1DFE-AE9D75177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BC1EB93-87AC-7C4C-9FA3-EF7CE97D2D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EA5B1-3BB8-BAB0-6E95-9AA27BC59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AB2F9-1B31-FDB6-F4D2-E6AEE6A7B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E793C27-C759-594B-8413-A0F44E0BF1A7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4D651B-DC3C-86E9-0776-6D8A05998FE2}"/>
              </a:ext>
            </a:extLst>
          </p:cNvPr>
          <p:cNvSpPr/>
          <p:nvPr/>
        </p:nvSpPr>
        <p:spPr>
          <a:xfrm>
            <a:off x="0" y="5957888"/>
            <a:ext cx="12192000" cy="909637"/>
          </a:xfrm>
          <a:prstGeom prst="rect">
            <a:avLst/>
          </a:prstGeom>
          <a:solidFill>
            <a:srgbClr val="0D2C6C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03" name="Picture 13">
            <a:extLst>
              <a:ext uri="{FF2B5EF4-FFF2-40B4-BE49-F238E27FC236}">
                <a16:creationId xmlns:a16="http://schemas.microsoft.com/office/drawing/2014/main" id="{F967F55B-239B-E4EF-CA7B-361BC2BDC1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563" y="6329363"/>
            <a:ext cx="1849437" cy="1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10">
            <a:extLst>
              <a:ext uri="{FF2B5EF4-FFF2-40B4-BE49-F238E27FC236}">
                <a16:creationId xmlns:a16="http://schemas.microsoft.com/office/drawing/2014/main" id="{5E0BDB62-D7A1-B4E0-6F7F-AAF3F6260C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6103938"/>
            <a:ext cx="21304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Text Placeholder 2">
            <a:extLst>
              <a:ext uri="{FF2B5EF4-FFF2-40B4-BE49-F238E27FC236}">
                <a16:creationId xmlns:a16="http://schemas.microsoft.com/office/drawing/2014/main" id="{29328891-266A-56EF-CCAC-1BA70CDD5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97371-0BCF-7C75-B070-3FAE35D27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54DCA02-2C77-774E-95ED-41DEA949DC98}" type="datetimeFigureOut">
              <a:rPr lang="en-US"/>
              <a:pPr>
                <a:defRPr/>
              </a:pPr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BF7F8-2BA5-4228-D997-9F38EE6A3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95E37-ABE8-41FD-A4D1-38AE52441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D47C518-EA56-1C4F-9AE2-61BF674B4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1622F2-D43B-54AE-00E5-01C217B381DE}"/>
              </a:ext>
            </a:extLst>
          </p:cNvPr>
          <p:cNvSpPr/>
          <p:nvPr/>
        </p:nvSpPr>
        <p:spPr>
          <a:xfrm>
            <a:off x="0" y="5957888"/>
            <a:ext cx="12192000" cy="909637"/>
          </a:xfrm>
          <a:prstGeom prst="rect">
            <a:avLst/>
          </a:prstGeom>
          <a:solidFill>
            <a:srgbClr val="0D2C6C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127" name="Picture 13">
            <a:extLst>
              <a:ext uri="{FF2B5EF4-FFF2-40B4-BE49-F238E27FC236}">
                <a16:creationId xmlns:a16="http://schemas.microsoft.com/office/drawing/2014/main" id="{E5F27DA3-005D-18FD-138F-1068B45E7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563" y="6329363"/>
            <a:ext cx="1849437" cy="1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10">
            <a:extLst>
              <a:ext uri="{FF2B5EF4-FFF2-40B4-BE49-F238E27FC236}">
                <a16:creationId xmlns:a16="http://schemas.microsoft.com/office/drawing/2014/main" id="{7F6D5DE3-CE80-4C7E-7C89-16BF2AA4B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6103938"/>
            <a:ext cx="21304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Text Placeholder 2">
            <a:extLst>
              <a:ext uri="{FF2B5EF4-FFF2-40B4-BE49-F238E27FC236}">
                <a16:creationId xmlns:a16="http://schemas.microsoft.com/office/drawing/2014/main" id="{07E64E14-5A58-74FC-5474-C3DE2B37D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13" y="5303838"/>
            <a:ext cx="1828800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8" y="0"/>
            <a:ext cx="12190413" cy="68580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BMGT 240IS · Section 002 · Fall 2026 · Xuying W. Swift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this chart want you to believe?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Tuesday</a:t>
            </a:r>
            <a:r>
              <a:t> — a method is introduced: where it comes from, what it assumes, what it is for</a:t>
            </a:r>
          </a:p>
          <a:p>
            <a:pPr/>
            <a:r>
              <a:rPr b="1"/>
              <a:t>Thursday</a:t>
            </a:r>
            <a:r>
              <a:t> — a 10-minute quiz on last week, then we put the method to work</a:t>
            </a:r>
          </a:p>
          <a:p>
            <a:pPr/>
            <a:r>
              <a:t>Everything you hand in is due </a:t>
            </a:r>
            <a:r>
              <a:rPr b="1"/>
              <a:t>Tuesday</a:t>
            </a:r>
            <a:r>
              <a:t>, at the start of class</a:t>
            </a:r>
          </a:p>
          <a:p>
            <a:pPr/>
            <a:r>
              <a:t>Every quiz is the </a:t>
            </a:r>
            <a:r>
              <a:rPr b="1"/>
              <a:t>first 10 minutes of Thursday</a:t>
            </a:r>
          </a:p>
          <a:p>
            <a:pPr algn="l"/>
            <a:r>
              <a:rPr i="1"/>
              <a:t>You should never have to hunt through the syllabus to find out what is due.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shape of the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your grade comes from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986243"/>
          <a:ext cx="10515600" cy="4185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232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23244">
                <a:tc>
                  <a:txBody>
                    <a:bodyPr/>
                    <a:lstStyle/>
                    <a:p>
                      <a:r>
                        <a:rPr sz="1400"/>
                        <a:t>Quizzes — 11 given, lowest dropped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200</a:t>
                      </a:r>
                    </a:p>
                  </a:txBody>
                  <a:tcPr/>
                </a:tc>
              </a:tr>
              <a:tr h="523244">
                <a:tc>
                  <a:txBody>
                    <a:bodyPr/>
                    <a:lstStyle/>
                    <a:p>
                      <a:r>
                        <a:rPr sz="1400"/>
                        <a:t>Small Project 1 · due Sep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75</a:t>
                      </a:r>
                    </a:p>
                  </a:txBody>
                  <a:tcPr/>
                </a:tc>
              </a:tr>
              <a:tr h="523244">
                <a:tc>
                  <a:txBody>
                    <a:bodyPr/>
                    <a:lstStyle/>
                    <a:p>
                      <a:r>
                        <a:rPr sz="1400"/>
                        <a:t>Small Project 2 · due Nov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75</a:t>
                      </a:r>
                    </a:p>
                  </a:txBody>
                  <a:tcPr/>
                </a:tc>
              </a:tr>
              <a:tr h="523244">
                <a:tc>
                  <a:txBody>
                    <a:bodyPr/>
                    <a:lstStyle/>
                    <a:p>
                      <a:r>
                        <a:rPr sz="1400"/>
                        <a:t>Final Project · teams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150</a:t>
                      </a:r>
                    </a:p>
                  </a:txBody>
                  <a:tcPr/>
                </a:tc>
              </a:tr>
              <a:tr h="523244">
                <a:tc>
                  <a:txBody>
                    <a:bodyPr/>
                    <a:lstStyle/>
                    <a:p>
                      <a:r>
                        <a:rPr sz="1400"/>
                        <a:t>Exam 1 · Thu Oct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</a:t>
                      </a:r>
                    </a:p>
                  </a:txBody>
                  <a:tcPr/>
                </a:tc>
              </a:tr>
              <a:tr h="523244">
                <a:tc>
                  <a:txBody>
                    <a:bodyPr/>
                    <a:lstStyle/>
                    <a:p>
                      <a:r>
                        <a:rPr sz="1400"/>
                        <a:t>Exam 2 · Thu Nov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150</a:t>
                      </a:r>
                    </a:p>
                  </a:txBody>
                  <a:tcPr/>
                </a:tc>
              </a:tr>
              <a:tr h="523249">
                <a:tc>
                  <a:txBody>
                    <a:bodyPr/>
                    <a:lstStyle/>
                    <a:p>
                      <a:r>
                        <a:rPr sz="1400"/>
                        <a:t>Final Exam · cumulative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</a:t>
            </a:r>
            <a:r>
              <a:rPr b="1"/>
              <a:t>lowest quiz is dropped</a:t>
            </a:r>
            <a:r>
              <a:t> — that is the make-up policy</a:t>
            </a:r>
          </a:p>
          <a:p>
            <a:pPr/>
            <a:r>
              <a:t>It covers illness, travel, a bad morning, a forgotten date</a:t>
            </a:r>
          </a:p>
          <a:p>
            <a:pPr/>
            <a:r>
              <a:t>Because it exists: </a:t>
            </a:r>
            <a:r>
              <a:rPr b="1"/>
              <a:t>no make-up quizzes, no individually excused quizzes</a:t>
            </a:r>
          </a:p>
          <a:p>
            <a:pPr algn="l"/>
            <a:r>
              <a:rPr i="1"/>
              <a:t>If you already know you will miss more than one Thursday, come see me this week.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Eleven quizzes. Ten 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points actually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986243"/>
            <a:ext cx="105156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1" sz="1800"/>
              <a:t>A correct number with no business meaning attached earns partial credit at best.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3186243"/>
          <a:ext cx="10515600" cy="2985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7464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Small Project · 75 points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746489">
                <a:tc>
                  <a:txBody>
                    <a:bodyPr/>
                    <a:lstStyle/>
                    <a:p>
                      <a:r>
                        <a:rPr sz="1400"/>
                        <a:t>Correct analysis — right method, right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</a:t>
                      </a:r>
                    </a:p>
                  </a:txBody>
                  <a:tcPr/>
                </a:tc>
              </a:tr>
              <a:tr h="746489">
                <a:tc>
                  <a:txBody>
                    <a:bodyPr/>
                    <a:lstStyle/>
                    <a:p>
                      <a:r>
                        <a:rPr b="1" sz="1400"/>
                        <a:t>Written interpretation</a:t>
                      </a:r>
                      <a:r>
                        <a:rPr sz="1400"/>
                        <a:t> — what it means, what it does not mean, what you would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35</a:t>
                      </a:r>
                    </a:p>
                  </a:txBody>
                  <a:tcPr/>
                </a:tc>
              </a:tr>
              <a:tr h="746490">
                <a:tc>
                  <a:txBody>
                    <a:bodyPr/>
                    <a:lstStyle/>
                    <a:p>
                      <a:r>
                        <a:rPr sz="1400"/>
                        <a:t>A workbook someone else could follow — labeled sheets, live formulas, documented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b="1"/>
              <a:t>Permitted</a:t>
            </a:r>
          </a:p>
          <a:p>
            <a:pPr/>
            <a:r>
              <a:t>Explaining a concept</a:t>
            </a:r>
          </a:p>
          <a:p>
            <a:pPr/>
            <a:r>
              <a:t>Decoding an Excel error</a:t>
            </a:r>
          </a:p>
          <a:p>
            <a:pPr/>
            <a:r>
              <a:t>Asking what a </a:t>
            </a:r>
            <a:r>
              <a:rPr i="1"/>
              <a:t>p</a:t>
            </a:r>
            <a:r>
              <a:t>-value means</a:t>
            </a:r>
          </a:p>
          <a:p>
            <a:pPr/>
            <a:r>
              <a:t>Debugging a formula you wrote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b="1"/>
              <a:t>Not permitted</a:t>
            </a:r>
          </a:p>
          <a:p>
            <a:pPr/>
            <a:r>
              <a:t>Generating your analysis</a:t>
            </a:r>
          </a:p>
          <a:p>
            <a:pPr/>
            <a:r>
              <a:t>Writing your interpretation</a:t>
            </a:r>
          </a:p>
          <a:p>
            <a:pPr/>
            <a:r>
              <a:t>Drafting your report</a:t>
            </a:r>
          </a:p>
          <a:p>
            <a:pPr/>
            <a:r>
              <a:t>Answering a quiz or exam question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tools: permitted for learning, not for producing your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Excel, desktop version</a:t>
            </a:r>
            <a:r>
              <a:t> — free through MSU Microsoft 365</a:t>
            </a:r>
          </a:p>
          <a:p>
            <a:pPr/>
            <a:r>
              <a:t>The </a:t>
            </a:r>
            <a:r>
              <a:rPr b="1"/>
              <a:t>Analysis ToolPak</a:t>
            </a:r>
            <a:r>
              <a:t> add-in enabled</a:t>
            </a:r>
          </a:p>
          <a:p>
            <a:pPr/>
            <a:r>
              <a:t>A laptop, charged, on every day marked </a:t>
            </a:r>
            <a:r>
              <a:rPr b="1"/>
              <a:t>Lab</a:t>
            </a:r>
          </a:p>
          <a:p>
            <a:pPr algn="l"/>
            <a:r>
              <a:rPr i="1"/>
              <a:t>The browser version of Excel will not work. It cannot run the tools we depend on.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need on Tuesday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dates to write down now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986243"/>
          <a:ext cx="10515600" cy="4185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10464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What closes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1046489">
                <a:tc>
                  <a:txBody>
                    <a:bodyPr/>
                    <a:lstStyle/>
                    <a:p>
                      <a:r>
                        <a:rPr sz="1400"/>
                        <a:t>Tue, Sep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Last day to self-add</a:t>
                      </a:r>
                    </a:p>
                  </a:txBody>
                  <a:tcPr/>
                </a:tc>
              </a:tr>
              <a:tr h="1046489">
                <a:tc>
                  <a:txBody>
                    <a:bodyPr/>
                    <a:lstStyle/>
                    <a:p>
                      <a:r>
                        <a:rPr sz="1400"/>
                        <a:t>Wed, Sep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Last day to add via instructor; last day to self-drop</a:t>
                      </a:r>
                    </a:p>
                  </a:txBody>
                  <a:tcPr/>
                </a:tc>
              </a:tr>
              <a:tr h="1046490">
                <a:tc>
                  <a:txBody>
                    <a:bodyPr/>
                    <a:lstStyle/>
                    <a:p>
                      <a:r>
                        <a:rPr b="1" sz="1400"/>
                        <a:t>Wed, Sep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Last day to drop without a "W"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this course actually for?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Defensible</a:t>
            </a:r>
            <a:r>
              <a:t> is the operative word</a:t>
            </a:r>
          </a:p>
          <a:p>
            <a:pPr/>
            <a:r>
              <a:t>The whole course is about what makes a claim survive challenge</a:t>
            </a:r>
          </a:p>
          <a:p>
            <a:pPr/>
            <a:r>
              <a:t>Excel will do the arithmetic. Which number to ask for, and what it means, is the course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Statistics is the science of turning data into a defensible claim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Revenue and profit, seven years, two columns</a:t>
            </a:r>
          </a:p>
          <a:p>
            <a:pPr algn="l"/>
            <a:r>
              <a:rPr i="1"/>
              <a:t>If you are on Apple's board in 2021, what is the one question you would ask of this table?</a:t>
            </a:r>
          </a:p>
          <a:p>
            <a:pPr algn="l"/>
            <a:r>
              <a:rPr i="1"/>
              <a:t>What would you need that is not here to answer it?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Apple, 2015–2021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claims. What is wrong with each one?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i="1"/>
              <a:t>"Ice cream sales and drowning deaths rise together, so ice cream is dangerous."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1 of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i="1"/>
              <a:t>"Our new website launched in March, and Q2 sales were up 12%. So the site worked."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2 of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i="1"/>
              <a:t>"I surveyed my 40 followers and 85% prefer our brand."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3 of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i="1"/>
              <a:t>"Sales are up 300%!"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4 of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i="1"/>
              <a:t>"This drug is 99% effective."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5 of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 an ad, a headline, a post, an earnings call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of these have you seen this month?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Fabricating or altering data</a:t>
            </a:r>
          </a:p>
          <a:p>
            <a:pPr/>
            <a:r>
              <a:t>Quietly deleting the inconvenient point</a:t>
            </a:r>
          </a:p>
          <a:p>
            <a:pPr algn="l"/>
            <a:r>
              <a:rPr i="1"/>
              <a:t>We meet the second one honestly on September 17, when you find a real outlier and have to decide what to do about it.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things this field exists to prevent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Read</a:t>
            </a:r>
            <a:r>
              <a:t> Ch 2 §2.1–2.3. Ch 1 is optional</a:t>
            </a:r>
          </a:p>
          <a:p>
            <a:pPr/>
            <a:r>
              <a:rPr b="1"/>
              <a:t>Install Excel desktop</a:t>
            </a:r>
            <a:r>
              <a:t> and enable the Analysis ToolPak</a:t>
            </a:r>
          </a:p>
          <a:p>
            <a:pPr/>
            <a:r>
              <a:rPr b="1"/>
              <a:t>Post a screenshot</a:t>
            </a:r>
            <a:r>
              <a:t> of your Data tab showing the </a:t>
            </a:r>
            <a:r>
              <a:rPr i="1"/>
              <a:t>Data Analysis</a:t>
            </a:r>
            <a:r>
              <a:t> button to the Canvas check-in</a:t>
            </a:r>
          </a:p>
          <a:p>
            <a:pPr/>
            <a:r>
              <a:rPr b="1"/>
              <a:t>Bring your laptop, charged</a:t>
            </a:r>
          </a:p>
          <a:p>
            <a:pPr algn="l"/>
            <a:r>
              <a:rPr i="1"/>
              <a:t>Not graded. It is so I know who to help on Tuesday, instead of finding out at 12:20.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Tuesday, September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i="1"/>
              <a:t>Name one decision you or someone you know made in the last month that data could have improved.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 your way 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 Template">
  <a:themeElements>
    <a:clrScheme name="Montana State Universit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62860"/>
      </a:accent1>
      <a:accent2>
        <a:srgbClr val="F3B324"/>
      </a:accent2>
      <a:accent3>
        <a:srgbClr val="FADA92"/>
      </a:accent3>
      <a:accent4>
        <a:srgbClr val="585858"/>
      </a:accent4>
      <a:accent5>
        <a:srgbClr val="4471C3"/>
      </a:accent5>
      <a:accent6>
        <a:srgbClr val="F7931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 MSU PowerPoint (2025.09.09)" id="{91F18519-9873-3D4D-9977-50EBE5D8698C}" vid="{9FB407CA-C8D7-BB4A-B221-3569E97F219B}"/>
    </a:ext>
  </a:extLst>
</a:theme>
</file>

<file path=ppt/theme/theme2.xml><?xml version="1.0" encoding="utf-8"?>
<a:theme xmlns:a="http://schemas.openxmlformats.org/drawingml/2006/main" name="No corner logo">
  <a:themeElements>
    <a:clrScheme name="Montana State Universit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62860"/>
      </a:accent1>
      <a:accent2>
        <a:srgbClr val="F3B324"/>
      </a:accent2>
      <a:accent3>
        <a:srgbClr val="FADA92"/>
      </a:accent3>
      <a:accent4>
        <a:srgbClr val="585858"/>
      </a:accent4>
      <a:accent5>
        <a:srgbClr val="4471C3"/>
      </a:accent5>
      <a:accent6>
        <a:srgbClr val="F7931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 MSU PowerPoint (2025.09.09)" id="{91F18519-9873-3D4D-9977-50EBE5D8698C}" vid="{9CE74711-AF0A-8744-85CF-BADF05100C4F}"/>
    </a:ext>
  </a:extLst>
</a:theme>
</file>

<file path=ppt/theme/theme3.xml><?xml version="1.0" encoding="utf-8"?>
<a:theme xmlns:a="http://schemas.openxmlformats.org/drawingml/2006/main" name="Inverted Standard Template">
  <a:themeElements>
    <a:clrScheme name="Montana State Universit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62860"/>
      </a:accent1>
      <a:accent2>
        <a:srgbClr val="F3B324"/>
      </a:accent2>
      <a:accent3>
        <a:srgbClr val="FADA92"/>
      </a:accent3>
      <a:accent4>
        <a:srgbClr val="585858"/>
      </a:accent4>
      <a:accent5>
        <a:srgbClr val="4471C3"/>
      </a:accent5>
      <a:accent6>
        <a:srgbClr val="F7931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 MSU PowerPoint (2025.09.09)" id="{91F18519-9873-3D4D-9977-50EBE5D8698C}" vid="{B12700CA-5904-B040-88F7-69EDE0C7B0A1}"/>
    </a:ext>
  </a:extLst>
</a:theme>
</file>

<file path=ppt/theme/theme4.xml><?xml version="1.0" encoding="utf-8"?>
<a:theme xmlns:a="http://schemas.openxmlformats.org/drawingml/2006/main" name="Simple Blue Background">
  <a:themeElements>
    <a:clrScheme name="Montana State Universit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62860"/>
      </a:accent1>
      <a:accent2>
        <a:srgbClr val="F3B324"/>
      </a:accent2>
      <a:accent3>
        <a:srgbClr val="FADA92"/>
      </a:accent3>
      <a:accent4>
        <a:srgbClr val="585858"/>
      </a:accent4>
      <a:accent5>
        <a:srgbClr val="4471C3"/>
      </a:accent5>
      <a:accent6>
        <a:srgbClr val="F7931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 MSU PowerPoint (2025.09.09)" id="{91F18519-9873-3D4D-9977-50EBE5D8698C}" vid="{B24BDDC9-5648-C741-AF87-0BAB7F20EB37}"/>
    </a:ext>
  </a:extLst>
</a:theme>
</file>

<file path=ppt/theme/theme5.xml><?xml version="1.0" encoding="utf-8"?>
<a:theme xmlns:a="http://schemas.openxmlformats.org/drawingml/2006/main" name="Simple White Background">
  <a:themeElements>
    <a:clrScheme name="Montana State Universit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62860"/>
      </a:accent1>
      <a:accent2>
        <a:srgbClr val="F3B324"/>
      </a:accent2>
      <a:accent3>
        <a:srgbClr val="FADA92"/>
      </a:accent3>
      <a:accent4>
        <a:srgbClr val="585858"/>
      </a:accent4>
      <a:accent5>
        <a:srgbClr val="4471C3"/>
      </a:accent5>
      <a:accent6>
        <a:srgbClr val="F7931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 MSU PowerPoint (2025.09.09)" id="{91F18519-9873-3D4D-9977-50EBE5D8698C}" vid="{46D602AF-FBE4-B146-9238-EE1653A895C8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A1B80212167E4CB7BEF9FBFA5891EB" ma:contentTypeVersion="20" ma:contentTypeDescription="Create a new document." ma:contentTypeScope="" ma:versionID="01da7357bba57fecb987cc18b103ce26">
  <xsd:schema xmlns:xsd="http://www.w3.org/2001/XMLSchema" xmlns:xs="http://www.w3.org/2001/XMLSchema" xmlns:p="http://schemas.microsoft.com/office/2006/metadata/properties" xmlns:ns2="e3380ef4-09d4-4340-8ccb-160c32c60401" xmlns:ns3="7eb697ea-89e6-4a08-90bb-c11f41386e51" targetNamespace="http://schemas.microsoft.com/office/2006/metadata/properties" ma:root="true" ma:fieldsID="73dd797351da2147b1772c8364c73a3e" ns2:_="" ns3:_="">
    <xsd:import namespace="e3380ef4-09d4-4340-8ccb-160c32c60401"/>
    <xsd:import namespace="7eb697ea-89e6-4a08-90bb-c11f41386e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80ef4-09d4-4340-8ccb-160c32c604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66bcfc7-c51b-4bc8-8383-b8f609394d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Tags" ma:index="21" nillable="true" ma:displayName="Tags" ma:internalName="MediaServiceAutoTags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697ea-89e6-4a08-90bb-c11f41386e5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1c2aba-8739-421f-ae05-1e36b8c598e7}" ma:internalName="TaxCatchAll" ma:showField="CatchAllData" ma:web="7eb697ea-89e6-4a08-90bb-c11f41386e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380ef4-09d4-4340-8ccb-160c32c60401">
      <Terms xmlns="http://schemas.microsoft.com/office/infopath/2007/PartnerControls"/>
    </lcf76f155ced4ddcb4097134ff3c332f>
    <TaxCatchAll xmlns="7eb697ea-89e6-4a08-90bb-c11f41386e51" xsi:nil="true"/>
  </documentManagement>
</p:properties>
</file>

<file path=customXml/itemProps1.xml><?xml version="1.0" encoding="utf-8"?>
<ds:datastoreItem xmlns:ds="http://schemas.openxmlformats.org/officeDocument/2006/customXml" ds:itemID="{63C747B4-9E42-45AB-976B-EB746CBE6E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380ef4-09d4-4340-8ccb-160c32c60401"/>
    <ds:schemaRef ds:uri="7eb697ea-89e6-4a08-90bb-c11f41386e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143830-94B5-8442-9BB8-B43D5546D4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AA8853-61ED-4A47-BFAD-70ACAAA49D69}">
  <ds:schemaRefs>
    <ds:schemaRef ds:uri="http://schemas.microsoft.com/office/2006/metadata/properties"/>
    <ds:schemaRef ds:uri="http://schemas.microsoft.com/office/infopath/2007/PartnerControls"/>
    <ds:schemaRef ds:uri="e3380ef4-09d4-4340-8ccb-160c32c60401"/>
    <ds:schemaRef ds:uri="7eb697ea-89e6-4a08-90bb-c11f41386e5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Standard Template</Template>
  <TotalTime>31</TotalTime>
  <Words>181</Words>
  <Application>Microsoft Macintosh PowerPoint</Application>
  <PresentationFormat>Widescreen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Aptos Display</vt:lpstr>
      <vt:lpstr>Aptos SemiBold</vt:lpstr>
      <vt:lpstr>Arial</vt:lpstr>
      <vt:lpstr>Calibri</vt:lpstr>
      <vt:lpstr>Standard Template</vt:lpstr>
      <vt:lpstr>No corner logo</vt:lpstr>
      <vt:lpstr>Inverted Standard Template</vt:lpstr>
      <vt:lpstr>Simple Blue Background</vt:lpstr>
      <vt:lpstr>Simple White Background</vt:lpstr>
      <vt:lpstr>MSU General PowerPoint Template</vt:lpstr>
      <vt:lpstr>PowerPoint Presentation</vt:lpstr>
      <vt:lpstr>Montana State University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Becker, Michael</dc:creator>
  <cp:lastModifiedBy>Becker, Michael</cp:lastModifiedBy>
  <cp:revision>2</cp:revision>
  <dcterms:created xsi:type="dcterms:W3CDTF">2025-11-21T16:52:00Z</dcterms:created>
  <dcterms:modified xsi:type="dcterms:W3CDTF">2026-04-15T17:22:53Z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0x01010039A1B80212167E4CB7BEF9FBFA5891EB</vt:lpwstr>
  </property>
  <property fmtid="{D5CDD505-2E9C-101B-9397-08002B2CF9AE}" pid="3" name="MediaServiceImageTags">
    <vt:lpwstr/>
  </property>
</Properties>
</file>