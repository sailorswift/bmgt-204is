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91"/>
  </p:notesMasterIdLst>
  <p:sldIdLst>
    <p:sldId id="1609" r:id="rId6"/>
    <p:sldId id="1611" r:id="rId7"/>
    <p:sldId id="1675" r:id="rId8"/>
    <p:sldId id="1676" r:id="rId9"/>
    <p:sldId id="1762" r:id="rId10"/>
    <p:sldId id="1679" r:id="rId11"/>
    <p:sldId id="1747" r:id="rId12"/>
    <p:sldId id="1759" r:id="rId13"/>
    <p:sldId id="1682" r:id="rId14"/>
    <p:sldId id="1748" r:id="rId15"/>
    <p:sldId id="1760" r:id="rId16"/>
    <p:sldId id="1688" r:id="rId17"/>
    <p:sldId id="1690" r:id="rId18"/>
    <p:sldId id="1689" r:id="rId19"/>
    <p:sldId id="1692" r:id="rId20"/>
    <p:sldId id="1691" r:id="rId21"/>
    <p:sldId id="1694" r:id="rId22"/>
    <p:sldId id="1693" r:id="rId23"/>
    <p:sldId id="1696" r:id="rId24"/>
    <p:sldId id="1695" r:id="rId25"/>
    <p:sldId id="1697" r:id="rId26"/>
    <p:sldId id="1698" r:id="rId27"/>
    <p:sldId id="1700" r:id="rId28"/>
    <p:sldId id="1699" r:id="rId29"/>
    <p:sldId id="1639" r:id="rId30"/>
    <p:sldId id="1701" r:id="rId31"/>
    <p:sldId id="1702" r:id="rId32"/>
    <p:sldId id="1703" r:id="rId33"/>
    <p:sldId id="1704" r:id="rId34"/>
    <p:sldId id="1705" r:id="rId35"/>
    <p:sldId id="1706" r:id="rId36"/>
    <p:sldId id="1707" r:id="rId37"/>
    <p:sldId id="1709" r:id="rId38"/>
    <p:sldId id="1710" r:id="rId39"/>
    <p:sldId id="1708" r:id="rId40"/>
    <p:sldId id="1711" r:id="rId41"/>
    <p:sldId id="1761" r:id="rId42"/>
    <p:sldId id="1712" r:id="rId43"/>
    <p:sldId id="1714" r:id="rId44"/>
    <p:sldId id="1715" r:id="rId45"/>
    <p:sldId id="1716" r:id="rId46"/>
    <p:sldId id="1717" r:id="rId47"/>
    <p:sldId id="1719" r:id="rId48"/>
    <p:sldId id="1718" r:id="rId49"/>
    <p:sldId id="1721" r:id="rId50"/>
    <p:sldId id="1722" r:id="rId51"/>
    <p:sldId id="1723" r:id="rId52"/>
    <p:sldId id="1724" r:id="rId53"/>
    <p:sldId id="1720" r:id="rId54"/>
    <p:sldId id="1726" r:id="rId55"/>
    <p:sldId id="1665" r:id="rId56"/>
    <p:sldId id="1727" r:id="rId57"/>
    <p:sldId id="1728" r:id="rId58"/>
    <p:sldId id="1729" r:id="rId59"/>
    <p:sldId id="1725" r:id="rId60"/>
    <p:sldId id="1731" r:id="rId61"/>
    <p:sldId id="1732" r:id="rId62"/>
    <p:sldId id="1670" r:id="rId63"/>
    <p:sldId id="1673" r:id="rId64"/>
    <p:sldId id="1674" r:id="rId65"/>
    <p:sldId id="1610" r:id="rId66"/>
    <p:sldId id="1569" r:id="rId67"/>
    <p:sldId id="1734" r:id="rId68"/>
    <p:sldId id="1749" r:id="rId69"/>
    <p:sldId id="1750" r:id="rId70"/>
    <p:sldId id="1751" r:id="rId71"/>
    <p:sldId id="1752" r:id="rId72"/>
    <p:sldId id="1753" r:id="rId73"/>
    <p:sldId id="1735" r:id="rId74"/>
    <p:sldId id="1736" r:id="rId75"/>
    <p:sldId id="1737" r:id="rId76"/>
    <p:sldId id="1738" r:id="rId77"/>
    <p:sldId id="1739" r:id="rId78"/>
    <p:sldId id="1740" r:id="rId79"/>
    <p:sldId id="1741" r:id="rId80"/>
    <p:sldId id="1742" r:id="rId81"/>
    <p:sldId id="1743" r:id="rId82"/>
    <p:sldId id="1754" r:id="rId83"/>
    <p:sldId id="1744" r:id="rId84"/>
    <p:sldId id="1745" r:id="rId85"/>
    <p:sldId id="1755" r:id="rId86"/>
    <p:sldId id="1756" r:id="rId87"/>
    <p:sldId id="1757" r:id="rId88"/>
    <p:sldId id="1758" r:id="rId89"/>
    <p:sldId id="1746" r:id="rId9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609"/>
            <p14:sldId id="1611"/>
            <p14:sldId id="1675"/>
            <p14:sldId id="1676"/>
            <p14:sldId id="1762"/>
            <p14:sldId id="1679"/>
            <p14:sldId id="1747"/>
            <p14:sldId id="1759"/>
            <p14:sldId id="1682"/>
            <p14:sldId id="1748"/>
            <p14:sldId id="1760"/>
            <p14:sldId id="1688"/>
            <p14:sldId id="1690"/>
            <p14:sldId id="1689"/>
            <p14:sldId id="1692"/>
            <p14:sldId id="1691"/>
            <p14:sldId id="1694"/>
            <p14:sldId id="1693"/>
            <p14:sldId id="1696"/>
            <p14:sldId id="1695"/>
            <p14:sldId id="1697"/>
            <p14:sldId id="1698"/>
            <p14:sldId id="1700"/>
            <p14:sldId id="1699"/>
            <p14:sldId id="1639"/>
            <p14:sldId id="1701"/>
            <p14:sldId id="1702"/>
            <p14:sldId id="1703"/>
            <p14:sldId id="1704"/>
            <p14:sldId id="1705"/>
            <p14:sldId id="1706"/>
            <p14:sldId id="1707"/>
            <p14:sldId id="1709"/>
            <p14:sldId id="1710"/>
            <p14:sldId id="1708"/>
            <p14:sldId id="1711"/>
            <p14:sldId id="1761"/>
            <p14:sldId id="1712"/>
            <p14:sldId id="1714"/>
            <p14:sldId id="1715"/>
            <p14:sldId id="1716"/>
            <p14:sldId id="1717"/>
            <p14:sldId id="1719"/>
            <p14:sldId id="1718"/>
            <p14:sldId id="1721"/>
            <p14:sldId id="1722"/>
            <p14:sldId id="1723"/>
            <p14:sldId id="1724"/>
            <p14:sldId id="1720"/>
            <p14:sldId id="1726"/>
            <p14:sldId id="1665"/>
            <p14:sldId id="1727"/>
            <p14:sldId id="1728"/>
            <p14:sldId id="1729"/>
            <p14:sldId id="1725"/>
            <p14:sldId id="1731"/>
            <p14:sldId id="1732"/>
            <p14:sldId id="1670"/>
            <p14:sldId id="1673"/>
            <p14:sldId id="1674"/>
            <p14:sldId id="1610"/>
          </p14:sldIdLst>
        </p14:section>
        <p14:section name="Appendix: Image Descriptions for Unsighted Students" id="{A2D989F5-BF16-466F-88D4-6DA66A2BBC9C}">
          <p14:sldIdLst>
            <p14:sldId id="1569"/>
            <p14:sldId id="1734"/>
            <p14:sldId id="1749"/>
            <p14:sldId id="1750"/>
            <p14:sldId id="1751"/>
            <p14:sldId id="1752"/>
            <p14:sldId id="1753"/>
            <p14:sldId id="1735"/>
            <p14:sldId id="1736"/>
            <p14:sldId id="1737"/>
            <p14:sldId id="1738"/>
            <p14:sldId id="1739"/>
            <p14:sldId id="1740"/>
            <p14:sldId id="1741"/>
            <p14:sldId id="1742"/>
            <p14:sldId id="1743"/>
            <p14:sldId id="1754"/>
            <p14:sldId id="1744"/>
            <p14:sldId id="1745"/>
            <p14:sldId id="1755"/>
            <p14:sldId id="1756"/>
            <p14:sldId id="1757"/>
            <p14:sldId id="1758"/>
            <p14:sldId id="1746"/>
          </p14:sldIdLst>
        </p14:section>
      </p14:sectionLst>
    </p:ext>
    <p:ext uri="{EFAFB233-063F-42B5-8137-9DF3F51BA10A}">
      <p15:sldGuideLst xmlns:p15="http://schemas.microsoft.com/office/powerpoint/2012/main">
        <p15:guide id="2" pos="2904" userDrawn="1">
          <p15:clr>
            <a:srgbClr val="A4A3A4"/>
          </p15:clr>
        </p15:guide>
        <p15:guide id="3" orient="horz" pos="2184" userDrawn="1">
          <p15:clr>
            <a:srgbClr val="A4A3A4"/>
          </p15:clr>
        </p15:guide>
        <p15:guide id="4" pos="5664" userDrawn="1">
          <p15:clr>
            <a:srgbClr val="A4A3A4"/>
          </p15:clr>
        </p15:guide>
        <p15:guide id="5" pos="456" userDrawn="1">
          <p15:clr>
            <a:srgbClr val="A4A3A4"/>
          </p15:clr>
        </p15:guide>
        <p15:guide id="6" orient="horz" pos="7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 id="4" name="Balamurugan  Yuvaraj" initials="BY" lastIdx="49" clrIdx="3">
    <p:extLst>
      <p:ext uri="{19B8F6BF-5375-455C-9EA6-DF929625EA0E}">
        <p15:presenceInfo xmlns:p15="http://schemas.microsoft.com/office/powerpoint/2012/main" userId="S::Balamurugan.Yuvaraj@straive.com::6e630b42-7441-45c3-911f-e1223e1b098a" providerId="AD"/>
      </p:ext>
    </p:extLst>
  </p:cmAuthor>
  <p:cmAuthor id="5" name="Michaelammal M" initials="MM" lastIdx="13" clrIdx="4">
    <p:extLst>
      <p:ext uri="{19B8F6BF-5375-455C-9EA6-DF929625EA0E}">
        <p15:presenceInfo xmlns:p15="http://schemas.microsoft.com/office/powerpoint/2012/main" userId="S::Michaelammal.Michael@straive.com::b485f173-2535-4c8e-aa94-fb9fb03f22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28" autoAdjust="0"/>
    <p:restoredTop sz="92026" autoAdjust="0"/>
  </p:normalViewPr>
  <p:slideViewPr>
    <p:cSldViewPr snapToGrid="0" showGuides="1">
      <p:cViewPr varScale="1">
        <p:scale>
          <a:sx n="88" d="100"/>
          <a:sy n="88" d="100"/>
        </p:scale>
        <p:origin x="1502" y="62"/>
      </p:cViewPr>
      <p:guideLst>
        <p:guide pos="2904"/>
        <p:guide orient="horz" pos="2184"/>
        <p:guide pos="5664"/>
        <p:guide pos="456"/>
        <p:guide orient="horz" pos="768"/>
      </p:guideLst>
    </p:cSldViewPr>
  </p:slideViewPr>
  <p:outlineViewPr>
    <p:cViewPr>
      <p:scale>
        <a:sx n="33" d="100"/>
        <a:sy n="33" d="100"/>
      </p:scale>
      <p:origin x="0" y="-4787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theme" Target="theme/theme1.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commentAuthors" Target="commentAuthors.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16</a:t>
            </a:fld>
            <a:endParaRPr lang="en-US"/>
          </a:p>
        </p:txBody>
      </p:sp>
    </p:spTree>
    <p:extLst>
      <p:ext uri="{BB962C8B-B14F-4D97-AF65-F5344CB8AC3E}">
        <p14:creationId xmlns:p14="http://schemas.microsoft.com/office/powerpoint/2010/main" val="608372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61</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62</a:t>
            </a:fld>
            <a:endParaRPr lang="en-US"/>
          </a:p>
        </p:txBody>
      </p:sp>
    </p:spTree>
    <p:extLst>
      <p:ext uri="{BB962C8B-B14F-4D97-AF65-F5344CB8AC3E}">
        <p14:creationId xmlns:p14="http://schemas.microsoft.com/office/powerpoint/2010/main" val="1352699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63</a:t>
            </a:fld>
            <a:endParaRPr lang="en-US"/>
          </a:p>
        </p:txBody>
      </p:sp>
    </p:spTree>
    <p:extLst>
      <p:ext uri="{BB962C8B-B14F-4D97-AF65-F5344CB8AC3E}">
        <p14:creationId xmlns:p14="http://schemas.microsoft.com/office/powerpoint/2010/main" val="2568876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64</a:t>
            </a:fld>
            <a:endParaRPr lang="en-US"/>
          </a:p>
        </p:txBody>
      </p:sp>
    </p:spTree>
    <p:extLst>
      <p:ext uri="{BB962C8B-B14F-4D97-AF65-F5344CB8AC3E}">
        <p14:creationId xmlns:p14="http://schemas.microsoft.com/office/powerpoint/2010/main" val="1670383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65</a:t>
            </a:fld>
            <a:endParaRPr lang="en-US"/>
          </a:p>
        </p:txBody>
      </p:sp>
    </p:spTree>
    <p:extLst>
      <p:ext uri="{BB962C8B-B14F-4D97-AF65-F5344CB8AC3E}">
        <p14:creationId xmlns:p14="http://schemas.microsoft.com/office/powerpoint/2010/main" val="2829981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66</a:t>
            </a:fld>
            <a:endParaRPr lang="en-US"/>
          </a:p>
        </p:txBody>
      </p:sp>
    </p:spTree>
    <p:extLst>
      <p:ext uri="{BB962C8B-B14F-4D97-AF65-F5344CB8AC3E}">
        <p14:creationId xmlns:p14="http://schemas.microsoft.com/office/powerpoint/2010/main" val="4239964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67</a:t>
            </a:fld>
            <a:endParaRPr lang="en-US"/>
          </a:p>
        </p:txBody>
      </p:sp>
    </p:spTree>
    <p:extLst>
      <p:ext uri="{BB962C8B-B14F-4D97-AF65-F5344CB8AC3E}">
        <p14:creationId xmlns:p14="http://schemas.microsoft.com/office/powerpoint/2010/main" val="1011778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68</a:t>
            </a:fld>
            <a:endParaRPr lang="en-US"/>
          </a:p>
        </p:txBody>
      </p:sp>
    </p:spTree>
    <p:extLst>
      <p:ext uri="{BB962C8B-B14F-4D97-AF65-F5344CB8AC3E}">
        <p14:creationId xmlns:p14="http://schemas.microsoft.com/office/powerpoint/2010/main" val="204313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69</a:t>
            </a:fld>
            <a:endParaRPr lang="en-US"/>
          </a:p>
        </p:txBody>
      </p:sp>
    </p:spTree>
    <p:extLst>
      <p:ext uri="{BB962C8B-B14F-4D97-AF65-F5344CB8AC3E}">
        <p14:creationId xmlns:p14="http://schemas.microsoft.com/office/powerpoint/2010/main" val="2590861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70</a:t>
            </a:fld>
            <a:endParaRPr lang="en-US"/>
          </a:p>
        </p:txBody>
      </p:sp>
    </p:spTree>
    <p:extLst>
      <p:ext uri="{BB962C8B-B14F-4D97-AF65-F5344CB8AC3E}">
        <p14:creationId xmlns:p14="http://schemas.microsoft.com/office/powerpoint/2010/main" val="4259221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71</a:t>
            </a:fld>
            <a:endParaRPr lang="en-US"/>
          </a:p>
        </p:txBody>
      </p:sp>
    </p:spTree>
    <p:extLst>
      <p:ext uri="{BB962C8B-B14F-4D97-AF65-F5344CB8AC3E}">
        <p14:creationId xmlns:p14="http://schemas.microsoft.com/office/powerpoint/2010/main" val="372006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72</a:t>
            </a:fld>
            <a:endParaRPr lang="en-US"/>
          </a:p>
        </p:txBody>
      </p:sp>
    </p:spTree>
    <p:extLst>
      <p:ext uri="{BB962C8B-B14F-4D97-AF65-F5344CB8AC3E}">
        <p14:creationId xmlns:p14="http://schemas.microsoft.com/office/powerpoint/2010/main" val="3587056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73</a:t>
            </a:fld>
            <a:endParaRPr lang="en-US"/>
          </a:p>
        </p:txBody>
      </p:sp>
    </p:spTree>
    <p:extLst>
      <p:ext uri="{BB962C8B-B14F-4D97-AF65-F5344CB8AC3E}">
        <p14:creationId xmlns:p14="http://schemas.microsoft.com/office/powerpoint/2010/main" val="136766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74</a:t>
            </a:fld>
            <a:endParaRPr lang="en-US"/>
          </a:p>
        </p:txBody>
      </p:sp>
    </p:spTree>
    <p:extLst>
      <p:ext uri="{BB962C8B-B14F-4D97-AF65-F5344CB8AC3E}">
        <p14:creationId xmlns:p14="http://schemas.microsoft.com/office/powerpoint/2010/main" val="4100730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75</a:t>
            </a:fld>
            <a:endParaRPr lang="en-US"/>
          </a:p>
        </p:txBody>
      </p:sp>
    </p:spTree>
    <p:extLst>
      <p:ext uri="{BB962C8B-B14F-4D97-AF65-F5344CB8AC3E}">
        <p14:creationId xmlns:p14="http://schemas.microsoft.com/office/powerpoint/2010/main" val="2294192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76</a:t>
            </a:fld>
            <a:endParaRPr lang="en-US"/>
          </a:p>
        </p:txBody>
      </p:sp>
    </p:spTree>
    <p:extLst>
      <p:ext uri="{BB962C8B-B14F-4D97-AF65-F5344CB8AC3E}">
        <p14:creationId xmlns:p14="http://schemas.microsoft.com/office/powerpoint/2010/main" val="1565201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77</a:t>
            </a:fld>
            <a:endParaRPr lang="en-US"/>
          </a:p>
        </p:txBody>
      </p:sp>
    </p:spTree>
    <p:extLst>
      <p:ext uri="{BB962C8B-B14F-4D97-AF65-F5344CB8AC3E}">
        <p14:creationId xmlns:p14="http://schemas.microsoft.com/office/powerpoint/2010/main" val="2236176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78</a:t>
            </a:fld>
            <a:endParaRPr lang="en-US"/>
          </a:p>
        </p:txBody>
      </p:sp>
    </p:spTree>
    <p:extLst>
      <p:ext uri="{BB962C8B-B14F-4D97-AF65-F5344CB8AC3E}">
        <p14:creationId xmlns:p14="http://schemas.microsoft.com/office/powerpoint/2010/main" val="3549119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79</a:t>
            </a:fld>
            <a:endParaRPr lang="en-US"/>
          </a:p>
        </p:txBody>
      </p:sp>
    </p:spTree>
    <p:extLst>
      <p:ext uri="{BB962C8B-B14F-4D97-AF65-F5344CB8AC3E}">
        <p14:creationId xmlns:p14="http://schemas.microsoft.com/office/powerpoint/2010/main" val="1160643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80</a:t>
            </a:fld>
            <a:endParaRPr lang="en-US"/>
          </a:p>
        </p:txBody>
      </p:sp>
    </p:spTree>
    <p:extLst>
      <p:ext uri="{BB962C8B-B14F-4D97-AF65-F5344CB8AC3E}">
        <p14:creationId xmlns:p14="http://schemas.microsoft.com/office/powerpoint/2010/main" val="1205949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81</a:t>
            </a:fld>
            <a:endParaRPr lang="en-US"/>
          </a:p>
        </p:txBody>
      </p:sp>
    </p:spTree>
    <p:extLst>
      <p:ext uri="{BB962C8B-B14F-4D97-AF65-F5344CB8AC3E}">
        <p14:creationId xmlns:p14="http://schemas.microsoft.com/office/powerpoint/2010/main" val="7983082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82</a:t>
            </a:fld>
            <a:endParaRPr lang="en-US"/>
          </a:p>
        </p:txBody>
      </p:sp>
    </p:spTree>
    <p:extLst>
      <p:ext uri="{BB962C8B-B14F-4D97-AF65-F5344CB8AC3E}">
        <p14:creationId xmlns:p14="http://schemas.microsoft.com/office/powerpoint/2010/main" val="10360479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83</a:t>
            </a:fld>
            <a:endParaRPr lang="en-US"/>
          </a:p>
        </p:txBody>
      </p:sp>
    </p:spTree>
    <p:extLst>
      <p:ext uri="{BB962C8B-B14F-4D97-AF65-F5344CB8AC3E}">
        <p14:creationId xmlns:p14="http://schemas.microsoft.com/office/powerpoint/2010/main" val="3421746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84</a:t>
            </a:fld>
            <a:endParaRPr lang="en-US"/>
          </a:p>
        </p:txBody>
      </p:sp>
    </p:spTree>
    <p:extLst>
      <p:ext uri="{BB962C8B-B14F-4D97-AF65-F5344CB8AC3E}">
        <p14:creationId xmlns:p14="http://schemas.microsoft.com/office/powerpoint/2010/main" val="3216789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85</a:t>
            </a:fld>
            <a:endParaRPr lang="en-US"/>
          </a:p>
        </p:txBody>
      </p:sp>
    </p:spTree>
    <p:extLst>
      <p:ext uri="{BB962C8B-B14F-4D97-AF65-F5344CB8AC3E}">
        <p14:creationId xmlns:p14="http://schemas.microsoft.com/office/powerpoint/2010/main" val="3341334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
        <p:nvSpPr>
          <p:cNvPr id="7" name="Text Placeholder 6">
            <a:extLst>
              <a:ext uri="{FF2B5EF4-FFF2-40B4-BE49-F238E27FC236}">
                <a16:creationId xmlns:a16="http://schemas.microsoft.com/office/drawing/2014/main" id="{5ADC24CA-A361-49C1-9B2E-E4693C5F24DD}"/>
              </a:ext>
            </a:extLst>
          </p:cNvPr>
          <p:cNvSpPr>
            <a:spLocks noGrp="1"/>
          </p:cNvSpPr>
          <p:nvPr>
            <p:ph type="body" sz="quarter" idx="19"/>
          </p:nvPr>
        </p:nvSpPr>
        <p:spPr>
          <a:xfrm>
            <a:off x="3535363" y="6348413"/>
            <a:ext cx="2420937" cy="173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04907141-9DBE-3A45-3535-1F8F7BAEA5C1}"/>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94408497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3" r:id="rId18"/>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slide" Target="slide64.xml"/><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0.xml"/><Relationship Id="rId5" Type="http://schemas.openxmlformats.org/officeDocument/2006/relationships/image" Target="../media/image13.w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26" Type="http://schemas.openxmlformats.org/officeDocument/2006/relationships/image" Target="../media/image25.wmf"/><Relationship Id="rId21" Type="http://schemas.openxmlformats.org/officeDocument/2006/relationships/oleObject" Target="../embeddings/oleObject12.bin"/><Relationship Id="rId42" Type="http://schemas.openxmlformats.org/officeDocument/2006/relationships/image" Target="../media/image33.wmf"/><Relationship Id="rId47" Type="http://schemas.openxmlformats.org/officeDocument/2006/relationships/oleObject" Target="../embeddings/oleObject25.bin"/><Relationship Id="rId63" Type="http://schemas.openxmlformats.org/officeDocument/2006/relationships/oleObject" Target="../embeddings/oleObject33.bin"/><Relationship Id="rId68" Type="http://schemas.openxmlformats.org/officeDocument/2006/relationships/image" Target="../media/image46.wmf"/><Relationship Id="rId84" Type="http://schemas.openxmlformats.org/officeDocument/2006/relationships/image" Target="../media/image54.wmf"/><Relationship Id="rId89" Type="http://schemas.openxmlformats.org/officeDocument/2006/relationships/oleObject" Target="../embeddings/oleObject46.bin"/><Relationship Id="rId16" Type="http://schemas.openxmlformats.org/officeDocument/2006/relationships/image" Target="../media/image20.wmf"/><Relationship Id="rId11" Type="http://schemas.openxmlformats.org/officeDocument/2006/relationships/oleObject" Target="../embeddings/oleObject7.bin"/><Relationship Id="rId32" Type="http://schemas.openxmlformats.org/officeDocument/2006/relationships/image" Target="../media/image28.wmf"/><Relationship Id="rId37" Type="http://schemas.openxmlformats.org/officeDocument/2006/relationships/oleObject" Target="../embeddings/oleObject20.bin"/><Relationship Id="rId53" Type="http://schemas.openxmlformats.org/officeDocument/2006/relationships/oleObject" Target="../embeddings/oleObject28.bin"/><Relationship Id="rId58" Type="http://schemas.openxmlformats.org/officeDocument/2006/relationships/image" Target="../media/image41.wmf"/><Relationship Id="rId74" Type="http://schemas.openxmlformats.org/officeDocument/2006/relationships/image" Target="../media/image49.wmf"/><Relationship Id="rId79" Type="http://schemas.openxmlformats.org/officeDocument/2006/relationships/oleObject" Target="../embeddings/oleObject41.bin"/><Relationship Id="rId102" Type="http://schemas.openxmlformats.org/officeDocument/2006/relationships/image" Target="../media/image63.wmf"/><Relationship Id="rId5" Type="http://schemas.openxmlformats.org/officeDocument/2006/relationships/oleObject" Target="../embeddings/oleObject4.bin"/><Relationship Id="rId90" Type="http://schemas.openxmlformats.org/officeDocument/2006/relationships/image" Target="../media/image57.wmf"/><Relationship Id="rId95" Type="http://schemas.openxmlformats.org/officeDocument/2006/relationships/oleObject" Target="../embeddings/oleObject49.bin"/><Relationship Id="rId22" Type="http://schemas.openxmlformats.org/officeDocument/2006/relationships/image" Target="../media/image23.wmf"/><Relationship Id="rId27" Type="http://schemas.openxmlformats.org/officeDocument/2006/relationships/oleObject" Target="../embeddings/oleObject15.bin"/><Relationship Id="rId43" Type="http://schemas.openxmlformats.org/officeDocument/2006/relationships/oleObject" Target="../embeddings/oleObject23.bin"/><Relationship Id="rId48" Type="http://schemas.openxmlformats.org/officeDocument/2006/relationships/image" Target="../media/image36.wmf"/><Relationship Id="rId64" Type="http://schemas.openxmlformats.org/officeDocument/2006/relationships/image" Target="../media/image44.wmf"/><Relationship Id="rId69" Type="http://schemas.openxmlformats.org/officeDocument/2006/relationships/oleObject" Target="../embeddings/oleObject36.bin"/><Relationship Id="rId80" Type="http://schemas.openxmlformats.org/officeDocument/2006/relationships/image" Target="../media/image52.wmf"/><Relationship Id="rId85" Type="http://schemas.openxmlformats.org/officeDocument/2006/relationships/oleObject" Target="../embeddings/oleObject44.bin"/><Relationship Id="rId12" Type="http://schemas.openxmlformats.org/officeDocument/2006/relationships/image" Target="../media/image18.wmf"/><Relationship Id="rId17" Type="http://schemas.openxmlformats.org/officeDocument/2006/relationships/oleObject" Target="../embeddings/oleObject10.bin"/><Relationship Id="rId25" Type="http://schemas.openxmlformats.org/officeDocument/2006/relationships/oleObject" Target="../embeddings/oleObject14.bin"/><Relationship Id="rId33" Type="http://schemas.openxmlformats.org/officeDocument/2006/relationships/oleObject" Target="../embeddings/oleObject18.bin"/><Relationship Id="rId38" Type="http://schemas.openxmlformats.org/officeDocument/2006/relationships/image" Target="../media/image31.wmf"/><Relationship Id="rId46" Type="http://schemas.openxmlformats.org/officeDocument/2006/relationships/image" Target="../media/image35.wmf"/><Relationship Id="rId59" Type="http://schemas.openxmlformats.org/officeDocument/2006/relationships/oleObject" Target="../embeddings/oleObject31.bin"/><Relationship Id="rId67" Type="http://schemas.openxmlformats.org/officeDocument/2006/relationships/oleObject" Target="../embeddings/oleObject35.bin"/><Relationship Id="rId103" Type="http://schemas.openxmlformats.org/officeDocument/2006/relationships/oleObject" Target="../embeddings/oleObject53.bin"/><Relationship Id="rId20" Type="http://schemas.openxmlformats.org/officeDocument/2006/relationships/image" Target="../media/image22.wmf"/><Relationship Id="rId41" Type="http://schemas.openxmlformats.org/officeDocument/2006/relationships/oleObject" Target="../embeddings/oleObject22.bin"/><Relationship Id="rId54" Type="http://schemas.openxmlformats.org/officeDocument/2006/relationships/image" Target="../media/image39.wmf"/><Relationship Id="rId62" Type="http://schemas.openxmlformats.org/officeDocument/2006/relationships/image" Target="../media/image43.wmf"/><Relationship Id="rId70" Type="http://schemas.openxmlformats.org/officeDocument/2006/relationships/image" Target="../media/image47.wmf"/><Relationship Id="rId75" Type="http://schemas.openxmlformats.org/officeDocument/2006/relationships/oleObject" Target="../embeddings/oleObject39.bin"/><Relationship Id="rId83" Type="http://schemas.openxmlformats.org/officeDocument/2006/relationships/oleObject" Target="../embeddings/oleObject43.bin"/><Relationship Id="rId88" Type="http://schemas.openxmlformats.org/officeDocument/2006/relationships/image" Target="../media/image56.wmf"/><Relationship Id="rId91" Type="http://schemas.openxmlformats.org/officeDocument/2006/relationships/oleObject" Target="../embeddings/oleObject47.bin"/><Relationship Id="rId96" Type="http://schemas.openxmlformats.org/officeDocument/2006/relationships/image" Target="../media/image60.wmf"/><Relationship Id="rId1" Type="http://schemas.openxmlformats.org/officeDocument/2006/relationships/slideLayout" Target="../slideLayouts/slideLayout13.xml"/><Relationship Id="rId6" Type="http://schemas.openxmlformats.org/officeDocument/2006/relationships/image" Target="../media/image15.wmf"/><Relationship Id="rId15" Type="http://schemas.openxmlformats.org/officeDocument/2006/relationships/oleObject" Target="../embeddings/oleObject9.bin"/><Relationship Id="rId23" Type="http://schemas.openxmlformats.org/officeDocument/2006/relationships/oleObject" Target="../embeddings/oleObject13.bin"/><Relationship Id="rId28" Type="http://schemas.openxmlformats.org/officeDocument/2006/relationships/image" Target="../media/image26.wmf"/><Relationship Id="rId36" Type="http://schemas.openxmlformats.org/officeDocument/2006/relationships/image" Target="../media/image30.wmf"/><Relationship Id="rId49" Type="http://schemas.openxmlformats.org/officeDocument/2006/relationships/oleObject" Target="../embeddings/oleObject26.bin"/><Relationship Id="rId57" Type="http://schemas.openxmlformats.org/officeDocument/2006/relationships/oleObject" Target="../embeddings/oleObject30.bin"/><Relationship Id="rId10" Type="http://schemas.openxmlformats.org/officeDocument/2006/relationships/image" Target="../media/image17.wmf"/><Relationship Id="rId31" Type="http://schemas.openxmlformats.org/officeDocument/2006/relationships/oleObject" Target="../embeddings/oleObject17.bin"/><Relationship Id="rId44" Type="http://schemas.openxmlformats.org/officeDocument/2006/relationships/image" Target="../media/image34.wmf"/><Relationship Id="rId52" Type="http://schemas.openxmlformats.org/officeDocument/2006/relationships/image" Target="../media/image38.wmf"/><Relationship Id="rId60" Type="http://schemas.openxmlformats.org/officeDocument/2006/relationships/image" Target="../media/image42.wmf"/><Relationship Id="rId65" Type="http://schemas.openxmlformats.org/officeDocument/2006/relationships/oleObject" Target="../embeddings/oleObject34.bin"/><Relationship Id="rId73" Type="http://schemas.openxmlformats.org/officeDocument/2006/relationships/oleObject" Target="../embeddings/oleObject38.bin"/><Relationship Id="rId78" Type="http://schemas.openxmlformats.org/officeDocument/2006/relationships/image" Target="../media/image51.wmf"/><Relationship Id="rId81" Type="http://schemas.openxmlformats.org/officeDocument/2006/relationships/oleObject" Target="../embeddings/oleObject42.bin"/><Relationship Id="rId86" Type="http://schemas.openxmlformats.org/officeDocument/2006/relationships/image" Target="../media/image55.wmf"/><Relationship Id="rId94" Type="http://schemas.openxmlformats.org/officeDocument/2006/relationships/image" Target="../media/image59.wmf"/><Relationship Id="rId99" Type="http://schemas.openxmlformats.org/officeDocument/2006/relationships/oleObject" Target="../embeddings/oleObject51.bin"/><Relationship Id="rId101" Type="http://schemas.openxmlformats.org/officeDocument/2006/relationships/oleObject" Target="../embeddings/oleObject52.bin"/><Relationship Id="rId4" Type="http://schemas.openxmlformats.org/officeDocument/2006/relationships/image" Target="../media/image14.wmf"/><Relationship Id="rId9" Type="http://schemas.openxmlformats.org/officeDocument/2006/relationships/oleObject" Target="../embeddings/oleObject6.bin"/><Relationship Id="rId13" Type="http://schemas.openxmlformats.org/officeDocument/2006/relationships/oleObject" Target="../embeddings/oleObject8.bin"/><Relationship Id="rId18" Type="http://schemas.openxmlformats.org/officeDocument/2006/relationships/image" Target="../media/image21.wmf"/><Relationship Id="rId39" Type="http://schemas.openxmlformats.org/officeDocument/2006/relationships/oleObject" Target="../embeddings/oleObject21.bin"/><Relationship Id="rId34" Type="http://schemas.openxmlformats.org/officeDocument/2006/relationships/image" Target="../media/image29.wmf"/><Relationship Id="rId50" Type="http://schemas.openxmlformats.org/officeDocument/2006/relationships/image" Target="../media/image37.wmf"/><Relationship Id="rId55" Type="http://schemas.openxmlformats.org/officeDocument/2006/relationships/oleObject" Target="../embeddings/oleObject29.bin"/><Relationship Id="rId76" Type="http://schemas.openxmlformats.org/officeDocument/2006/relationships/image" Target="../media/image50.wmf"/><Relationship Id="rId97" Type="http://schemas.openxmlformats.org/officeDocument/2006/relationships/oleObject" Target="../embeddings/oleObject50.bin"/><Relationship Id="rId104" Type="http://schemas.openxmlformats.org/officeDocument/2006/relationships/image" Target="../media/image64.wmf"/><Relationship Id="rId7" Type="http://schemas.openxmlformats.org/officeDocument/2006/relationships/oleObject" Target="../embeddings/oleObject5.bin"/><Relationship Id="rId71" Type="http://schemas.openxmlformats.org/officeDocument/2006/relationships/oleObject" Target="../embeddings/oleObject37.bin"/><Relationship Id="rId92" Type="http://schemas.openxmlformats.org/officeDocument/2006/relationships/image" Target="../media/image58.wmf"/><Relationship Id="rId2" Type="http://schemas.openxmlformats.org/officeDocument/2006/relationships/notesSlide" Target="../notesSlides/notesSlide1.xml"/><Relationship Id="rId29" Type="http://schemas.openxmlformats.org/officeDocument/2006/relationships/oleObject" Target="../embeddings/oleObject16.bin"/><Relationship Id="rId24" Type="http://schemas.openxmlformats.org/officeDocument/2006/relationships/image" Target="../media/image24.wmf"/><Relationship Id="rId40" Type="http://schemas.openxmlformats.org/officeDocument/2006/relationships/image" Target="../media/image32.wmf"/><Relationship Id="rId45" Type="http://schemas.openxmlformats.org/officeDocument/2006/relationships/oleObject" Target="../embeddings/oleObject24.bin"/><Relationship Id="rId66" Type="http://schemas.openxmlformats.org/officeDocument/2006/relationships/image" Target="../media/image45.wmf"/><Relationship Id="rId87" Type="http://schemas.openxmlformats.org/officeDocument/2006/relationships/oleObject" Target="../embeddings/oleObject45.bin"/><Relationship Id="rId61" Type="http://schemas.openxmlformats.org/officeDocument/2006/relationships/oleObject" Target="../embeddings/oleObject32.bin"/><Relationship Id="rId82" Type="http://schemas.openxmlformats.org/officeDocument/2006/relationships/image" Target="../media/image53.wmf"/><Relationship Id="rId19" Type="http://schemas.openxmlformats.org/officeDocument/2006/relationships/oleObject" Target="../embeddings/oleObject11.bin"/><Relationship Id="rId14" Type="http://schemas.openxmlformats.org/officeDocument/2006/relationships/image" Target="../media/image19.wmf"/><Relationship Id="rId30" Type="http://schemas.openxmlformats.org/officeDocument/2006/relationships/image" Target="../media/image27.wmf"/><Relationship Id="rId35" Type="http://schemas.openxmlformats.org/officeDocument/2006/relationships/oleObject" Target="../embeddings/oleObject19.bin"/><Relationship Id="rId56" Type="http://schemas.openxmlformats.org/officeDocument/2006/relationships/image" Target="../media/image40.wmf"/><Relationship Id="rId77" Type="http://schemas.openxmlformats.org/officeDocument/2006/relationships/oleObject" Target="../embeddings/oleObject40.bin"/><Relationship Id="rId100" Type="http://schemas.openxmlformats.org/officeDocument/2006/relationships/image" Target="../media/image62.wmf"/><Relationship Id="rId8" Type="http://schemas.openxmlformats.org/officeDocument/2006/relationships/image" Target="../media/image16.wmf"/><Relationship Id="rId51" Type="http://schemas.openxmlformats.org/officeDocument/2006/relationships/oleObject" Target="../embeddings/oleObject27.bin"/><Relationship Id="rId72" Type="http://schemas.openxmlformats.org/officeDocument/2006/relationships/image" Target="../media/image48.wmf"/><Relationship Id="rId93" Type="http://schemas.openxmlformats.org/officeDocument/2006/relationships/oleObject" Target="../embeddings/oleObject48.bin"/><Relationship Id="rId98" Type="http://schemas.openxmlformats.org/officeDocument/2006/relationships/image" Target="../media/image61.wmf"/><Relationship Id="rId3"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0.xml"/><Relationship Id="rId4" Type="http://schemas.openxmlformats.org/officeDocument/2006/relationships/slide" Target="slide6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0.xml"/><Relationship Id="rId4" Type="http://schemas.openxmlformats.org/officeDocument/2006/relationships/slide" Target="slide69.xml"/></Relationships>
</file>

<file path=ppt/slides/_rels/slide25.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image" Target="../media/image6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5.png"/><Relationship Id="rId1" Type="http://schemas.openxmlformats.org/officeDocument/2006/relationships/slideLayout" Target="../slideLayouts/slideLayout20.xml"/><Relationship Id="rId4" Type="http://schemas.openxmlformats.org/officeDocument/2006/relationships/slide" Target="slide7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5.png"/><Relationship Id="rId1" Type="http://schemas.openxmlformats.org/officeDocument/2006/relationships/slideLayout" Target="../slideLayouts/slideLayout20.xml"/><Relationship Id="rId4" Type="http://schemas.openxmlformats.org/officeDocument/2006/relationships/slide" Target="slide73.xml"/></Relationships>
</file>

<file path=ppt/slides/_rels/slide31.xml.rels><?xml version="1.0" encoding="UTF-8" standalone="yes"?>
<Relationships xmlns="http://schemas.openxmlformats.org/package/2006/relationships"><Relationship Id="rId3" Type="http://schemas.openxmlformats.org/officeDocument/2006/relationships/slide" Target="slide74.xml"/><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slide" Target="slide76.xml"/><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65.png"/><Relationship Id="rId1" Type="http://schemas.openxmlformats.org/officeDocument/2006/relationships/slideLayout" Target="../slideLayouts/slideLayout20.xml"/><Relationship Id="rId4" Type="http://schemas.openxmlformats.org/officeDocument/2006/relationships/slide" Target="slide77.xml"/></Relationships>
</file>

<file path=ppt/slides/_rels/slide38.xml.rels><?xml version="1.0" encoding="UTF-8" standalone="yes"?>
<Relationships xmlns="http://schemas.openxmlformats.org/package/2006/relationships"><Relationship Id="rId3" Type="http://schemas.openxmlformats.org/officeDocument/2006/relationships/slide" Target="slide78.xml"/><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slide" Target="slide79.xml"/><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slide" Target="slide80.xml"/><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slide" Target="slide82.xml"/><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82.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hyperlink" Target="https://fred.stlouisfed.org/" TargetMode="External"/><Relationship Id="rId2" Type="http://schemas.openxmlformats.org/officeDocument/2006/relationships/image" Target="../media/image84.png"/><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hyperlink" Target="http://www.fueleconomy.gov/" TargetMode="External"/><Relationship Id="rId2" Type="http://schemas.openxmlformats.org/officeDocument/2006/relationships/image" Target="../media/image84.png"/><Relationship Id="rId1" Type="http://schemas.openxmlformats.org/officeDocument/2006/relationships/slideLayout" Target="../slideLayouts/slideLayout20.xml"/><Relationship Id="rId4" Type="http://schemas.openxmlformats.org/officeDocument/2006/relationships/hyperlink" Target="eia.doe.gov" TargetMode="External"/></Relationships>
</file>

<file path=ppt/slides/_rels/slide5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slide" Target="slide85.xml"/><Relationship Id="rId2" Type="http://schemas.openxmlformats.org/officeDocument/2006/relationships/image" Target="../media/image85.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6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6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6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69.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7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7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72.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73.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74.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75.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76.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77.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7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79.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81.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3" Type="http://schemas.openxmlformats.org/officeDocument/2006/relationships/slide" Target="slide46.xml"/><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83.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84.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85.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p:txBody>
          <a:bodyPr/>
          <a:lstStyle/>
          <a:p>
            <a:r>
              <a:rPr lang="en-US" noProof="0" dirty="0"/>
              <a:t>Chapter 3</a:t>
            </a:r>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p:txBody>
          <a:bodyPr/>
          <a:lstStyle/>
          <a:p>
            <a:r>
              <a:rPr lang="en-US" sz="2000" noProof="0" dirty="0"/>
              <a:t>Describing Data Visually</a:t>
            </a:r>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2"/>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noProof="0" dirty="0">
                <a:solidFill>
                  <a:schemeClr val="tx1"/>
                </a:solidFill>
              </a:rPr>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US" sz="3600" noProof="0" dirty="0"/>
              <a:t>Chapter 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Chapter 3</a:t>
            </a:r>
          </a:p>
        </p:txBody>
      </p:sp>
      <p:sp>
        <p:nvSpPr>
          <p:cNvPr id="7" name="Content Placeholder 6"/>
          <p:cNvSpPr>
            <a:spLocks noGrp="1"/>
          </p:cNvSpPr>
          <p:nvPr>
            <p:ph sz="quarter" idx="14"/>
          </p:nvPr>
        </p:nvSpPr>
        <p:spPr>
          <a:xfrm>
            <a:off x="342900" y="1260475"/>
            <a:ext cx="8191500" cy="5292725"/>
          </a:xfrm>
        </p:spPr>
        <p:txBody>
          <a:bodyPr/>
          <a:lstStyle/>
          <a:p>
            <a:pPr marL="1025525" indent="-1025525"/>
            <a:r>
              <a:rPr lang="en-US" b="1" noProof="0" dirty="0"/>
              <a:t>L</a:t>
            </a:r>
            <a:r>
              <a:rPr lang="en-US" sz="100" b="1" noProof="0" dirty="0"/>
              <a:t> </a:t>
            </a:r>
            <a:r>
              <a:rPr lang="en-US" b="1" noProof="0" dirty="0"/>
              <a:t>O 3.1:</a:t>
            </a:r>
            <a:r>
              <a:rPr lang="en-US" noProof="0" dirty="0"/>
              <a:t> Make a stem-and-leaf or dot plot.</a:t>
            </a:r>
          </a:p>
          <a:p>
            <a:pPr marL="1025525" indent="-1025525"/>
            <a:r>
              <a:rPr lang="en-US" b="1" noProof="0" dirty="0"/>
              <a:t>L</a:t>
            </a:r>
            <a:r>
              <a:rPr lang="en-US" sz="100" b="1" noProof="0" dirty="0"/>
              <a:t> </a:t>
            </a:r>
            <a:r>
              <a:rPr lang="en-US" b="1" noProof="0" dirty="0"/>
              <a:t>O 3.2:</a:t>
            </a:r>
            <a:r>
              <a:rPr lang="en-US" noProof="0" dirty="0"/>
              <a:t> Create a frequency distribution for a data set.</a:t>
            </a:r>
          </a:p>
          <a:p>
            <a:pPr marL="1025525" indent="-1025525"/>
            <a:r>
              <a:rPr lang="en-US" b="1" noProof="0" dirty="0"/>
              <a:t>L</a:t>
            </a:r>
            <a:r>
              <a:rPr lang="en-US" sz="100" b="1" noProof="0" dirty="0"/>
              <a:t> </a:t>
            </a:r>
            <a:r>
              <a:rPr lang="en-US" b="1" noProof="0" dirty="0"/>
              <a:t>O 3.3:</a:t>
            </a:r>
            <a:r>
              <a:rPr lang="en-US" noProof="0" dirty="0"/>
              <a:t> Make a histogram with appropriate bins.</a:t>
            </a:r>
          </a:p>
          <a:p>
            <a:pPr marL="1122363" indent="-1122363"/>
            <a:r>
              <a:rPr lang="en-US" b="1" noProof="0" dirty="0"/>
              <a:t>L</a:t>
            </a:r>
            <a:r>
              <a:rPr lang="en-US" sz="100" b="1" noProof="0" dirty="0"/>
              <a:t> </a:t>
            </a:r>
            <a:r>
              <a:rPr lang="en-US" b="1" noProof="0" dirty="0"/>
              <a:t>O 3.4:</a:t>
            </a:r>
            <a:r>
              <a:rPr lang="en-US" noProof="0" dirty="0"/>
              <a:t> Identify skewness, modal classes, and outliers in a histogram.</a:t>
            </a:r>
          </a:p>
          <a:p>
            <a:pPr marL="1025525" indent="-1025525"/>
            <a:r>
              <a:rPr lang="en-US" b="1" noProof="0" dirty="0"/>
              <a:t>L</a:t>
            </a:r>
            <a:r>
              <a:rPr lang="en-US" sz="100" b="1" noProof="0" dirty="0"/>
              <a:t> </a:t>
            </a:r>
            <a:r>
              <a:rPr lang="en-US" b="1" noProof="0" dirty="0"/>
              <a:t>O 3.5:</a:t>
            </a:r>
            <a:r>
              <a:rPr lang="en-US" noProof="0" dirty="0"/>
              <a:t> Make an effective line chart.</a:t>
            </a:r>
          </a:p>
          <a:p>
            <a:pPr marL="1025525" indent="-1025525"/>
            <a:r>
              <a:rPr lang="en-US" b="1" noProof="0" dirty="0"/>
              <a:t>L</a:t>
            </a:r>
            <a:r>
              <a:rPr lang="en-US" sz="100" b="1" noProof="0" dirty="0"/>
              <a:t> </a:t>
            </a:r>
            <a:r>
              <a:rPr lang="en-US" b="1" noProof="0" dirty="0"/>
              <a:t>O 3.6:</a:t>
            </a:r>
            <a:r>
              <a:rPr lang="en-US" noProof="0" dirty="0"/>
              <a:t> Make and interpret a scatter plot.</a:t>
            </a:r>
          </a:p>
          <a:p>
            <a:pPr marL="1025525" indent="-1025525"/>
            <a:r>
              <a:rPr lang="en-US" b="1" noProof="0" dirty="0"/>
              <a:t>L</a:t>
            </a:r>
            <a:r>
              <a:rPr lang="en-US" sz="100" b="1" noProof="0" dirty="0"/>
              <a:t> </a:t>
            </a:r>
            <a:r>
              <a:rPr lang="en-US" b="1" noProof="0" dirty="0"/>
              <a:t>O 3.7:</a:t>
            </a:r>
            <a:r>
              <a:rPr lang="en-US" noProof="0" dirty="0"/>
              <a:t> Make an effective column chart or bar chart.</a:t>
            </a:r>
          </a:p>
          <a:p>
            <a:pPr marL="1025525" indent="-1025525"/>
            <a:r>
              <a:rPr lang="en-US" b="1" noProof="0" dirty="0"/>
              <a:t>L</a:t>
            </a:r>
            <a:r>
              <a:rPr lang="en-US" sz="100" b="1" noProof="0" dirty="0"/>
              <a:t> </a:t>
            </a:r>
            <a:r>
              <a:rPr lang="en-US" b="1" noProof="0" dirty="0"/>
              <a:t>O 3.8:</a:t>
            </a:r>
            <a:r>
              <a:rPr lang="en-US" noProof="0" dirty="0"/>
              <a:t> Make an effective pie chart.</a:t>
            </a:r>
          </a:p>
          <a:p>
            <a:pPr marL="1025525" indent="-1025525"/>
            <a:r>
              <a:rPr lang="en-US" b="1" noProof="0" dirty="0"/>
              <a:t>L</a:t>
            </a:r>
            <a:r>
              <a:rPr lang="en-US" sz="100" b="1" noProof="0" dirty="0"/>
              <a:t> </a:t>
            </a:r>
            <a:r>
              <a:rPr lang="en-US" b="1" noProof="0" dirty="0"/>
              <a:t>O 3.9:</a:t>
            </a:r>
            <a:r>
              <a:rPr lang="en-US" noProof="0" dirty="0"/>
              <a:t> Make simple tables and pivot tables.</a:t>
            </a:r>
          </a:p>
          <a:p>
            <a:pPr marL="1025525" indent="-1025525"/>
            <a:r>
              <a:rPr lang="en-US" b="1" noProof="0" dirty="0"/>
              <a:t>L</a:t>
            </a:r>
            <a:r>
              <a:rPr lang="en-US" sz="100" b="1" noProof="0" dirty="0"/>
              <a:t> </a:t>
            </a:r>
            <a:r>
              <a:rPr lang="en-US" b="1" noProof="0" dirty="0"/>
              <a:t>O 3.10:</a:t>
            </a:r>
            <a:r>
              <a:rPr lang="en-US" noProof="0" dirty="0"/>
              <a:t> Recognize deceptive graphing techniques.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Describing Data Visually </a:t>
            </a:r>
            <a:r>
              <a:rPr lang="en-US" sz="1000" b="0" noProof="0" dirty="0"/>
              <a:t>1</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Chapter 3</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noProof="0" dirty="0"/>
              <a:t>In this chapter, you will see how visual displays can provide insight into the characteristics of a data set </a:t>
            </a:r>
            <a:r>
              <a:rPr lang="en-US" i="1" noProof="0" dirty="0"/>
              <a:t>without</a:t>
            </a:r>
            <a:r>
              <a:rPr lang="en-US" noProof="0" dirty="0"/>
              <a:t> using mathematics.</a:t>
            </a:r>
          </a:p>
          <a:p>
            <a:pPr marL="292608" indent="-292608">
              <a:buFont typeface="Arial" panose="020B0604020202020204" pitchFamily="34" charset="0"/>
              <a:buChar char="•"/>
            </a:pPr>
            <a:r>
              <a:rPr lang="en-US" noProof="0" dirty="0"/>
              <a:t>The type of graph you use to display your data is dependent on the type of data you have. Some charts are better suited for quantitative data, while others are better for displaying categorical data.</a:t>
            </a:r>
          </a:p>
          <a:p>
            <a:pPr marL="292608" indent="-292608">
              <a:buFont typeface="Arial" panose="020B0604020202020204" pitchFamily="34" charset="0"/>
              <a:buChar char="•"/>
            </a:pPr>
            <a:r>
              <a:rPr lang="en-US" noProof="0" dirty="0"/>
              <a:t>This chapter explains several basic types of charts, offers guidelines on when to use them, advises you how to make them effective, and warns of ways that charts can be deceptive.</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162216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Describing Data Visually </a:t>
            </a:r>
            <a:r>
              <a:rPr lang="en-US" sz="1000" b="0" noProof="0" dirty="0"/>
              <a:t>2</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Chapter 3</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b="1" i="1" noProof="0" dirty="0"/>
              <a:t>Look at the data</a:t>
            </a:r>
            <a:r>
              <a:rPr lang="en-US" noProof="0" dirty="0"/>
              <a:t> and visualize how they were collected and measured.</a:t>
            </a:r>
          </a:p>
          <a:p>
            <a:pPr marL="292608" indent="-292608">
              <a:buFont typeface="Arial" panose="020B0604020202020204" pitchFamily="34" charset="0"/>
              <a:buChar char="•"/>
            </a:pPr>
            <a:r>
              <a:rPr lang="en-US" u="sng" noProof="0" dirty="0"/>
              <a:t>Visual</a:t>
            </a:r>
            <a:r>
              <a:rPr lang="en-US" noProof="0" dirty="0"/>
              <a:t> (charts and graphs) provides insight into characteristics of a data set without using mathematics.</a:t>
            </a:r>
          </a:p>
          <a:p>
            <a:pPr marL="292608" indent="-292608">
              <a:buFont typeface="Arial" panose="020B0604020202020204" pitchFamily="34" charset="0"/>
              <a:buChar char="•"/>
            </a:pPr>
            <a:r>
              <a:rPr lang="en-US" u="sng" noProof="0" dirty="0"/>
              <a:t>Numerical</a:t>
            </a:r>
            <a:r>
              <a:rPr lang="en-US" noProof="0" dirty="0"/>
              <a:t> (statistics or tables) provides insight into characteristics of a data set using mathematics.</a:t>
            </a:r>
          </a:p>
          <a:p>
            <a:pPr marL="292608" indent="-292608">
              <a:buFont typeface="Arial" panose="020B0604020202020204" pitchFamily="34" charset="0"/>
              <a:buChar char="•"/>
            </a:pPr>
            <a:r>
              <a:rPr lang="en-US" noProof="0" dirty="0"/>
              <a:t>This chapter explains several basic types of charts, offers guidelines on when to use them, advises you how to make them effective, and warns of ways that charts can be deceptive.</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50240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Preliminary Assessment</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Chapter 3</a:t>
            </a:r>
          </a:p>
        </p:txBody>
      </p:sp>
      <p:sp>
        <p:nvSpPr>
          <p:cNvPr id="7" name="Content Placeholder 6"/>
          <p:cNvSpPr>
            <a:spLocks noGrp="1"/>
          </p:cNvSpPr>
          <p:nvPr>
            <p:ph sz="quarter" idx="14"/>
          </p:nvPr>
        </p:nvSpPr>
        <p:spPr>
          <a:xfrm>
            <a:off x="342900" y="1489074"/>
            <a:ext cx="8191500" cy="903231"/>
          </a:xfrm>
        </p:spPr>
        <p:txBody>
          <a:bodyPr/>
          <a:lstStyle/>
          <a:p>
            <a:r>
              <a:rPr lang="en-US" noProof="0" dirty="0"/>
              <a:t>Begin with univariate data (a set of </a:t>
            </a:r>
            <a:r>
              <a:rPr lang="en-US" i="1" noProof="0" dirty="0"/>
              <a:t>n</a:t>
            </a:r>
            <a:r>
              <a:rPr lang="en-US" noProof="0" dirty="0"/>
              <a:t> observations on one variable) and consider the following.</a:t>
            </a:r>
          </a:p>
        </p:txBody>
      </p:sp>
      <p:graphicFrame>
        <p:nvGraphicFramePr>
          <p:cNvPr id="4" name="Table 3">
            <a:extLst>
              <a:ext uri="{FF2B5EF4-FFF2-40B4-BE49-F238E27FC236}">
                <a16:creationId xmlns:a16="http://schemas.microsoft.com/office/drawing/2014/main" id="{FC3B5060-3EBF-C4CB-C9E6-5F64CCEEDE50}"/>
              </a:ext>
            </a:extLst>
          </p:cNvPr>
          <p:cNvGraphicFramePr>
            <a:graphicFrameLocks noGrp="1"/>
          </p:cNvGraphicFramePr>
          <p:nvPr>
            <p:extLst>
              <p:ext uri="{D42A27DB-BD31-4B8C-83A1-F6EECF244321}">
                <p14:modId xmlns:p14="http://schemas.microsoft.com/office/powerpoint/2010/main" val="1103324110"/>
              </p:ext>
            </p:extLst>
          </p:nvPr>
        </p:nvGraphicFramePr>
        <p:xfrm>
          <a:off x="533400" y="2557058"/>
          <a:ext cx="7821133" cy="3479800"/>
        </p:xfrm>
        <a:graphic>
          <a:graphicData uri="http://schemas.openxmlformats.org/drawingml/2006/table">
            <a:tbl>
              <a:tblPr firstRow="1" bandRow="1">
                <a:tableStyleId>{5C22544A-7EE6-4342-B048-85BDC9FD1C3A}</a:tableStyleId>
              </a:tblPr>
              <a:tblGrid>
                <a:gridCol w="1803105">
                  <a:extLst>
                    <a:ext uri="{9D8B030D-6E8A-4147-A177-3AD203B41FA5}">
                      <a16:colId xmlns:a16="http://schemas.microsoft.com/office/drawing/2014/main" val="2882574982"/>
                    </a:ext>
                  </a:extLst>
                </a:gridCol>
                <a:gridCol w="6018028">
                  <a:extLst>
                    <a:ext uri="{9D8B030D-6E8A-4147-A177-3AD203B41FA5}">
                      <a16:colId xmlns:a16="http://schemas.microsoft.com/office/drawing/2014/main" val="2404460497"/>
                    </a:ext>
                  </a:extLst>
                </a:gridCol>
              </a:tblGrid>
              <a:tr h="370840">
                <a:tc>
                  <a:txBody>
                    <a:bodyPr/>
                    <a:lstStyle/>
                    <a:p>
                      <a:r>
                        <a:rPr lang="en-US" dirty="0"/>
                        <a:t>Characteristic</a:t>
                      </a:r>
                    </a:p>
                  </a:txBody>
                  <a:tcPr>
                    <a:solidFill>
                      <a:srgbClr val="C00000"/>
                    </a:solidFill>
                  </a:tcPr>
                </a:tc>
                <a:tc>
                  <a:txBody>
                    <a:bodyPr/>
                    <a:lstStyle/>
                    <a:p>
                      <a:r>
                        <a:rPr lang="en-US" dirty="0"/>
                        <a:t>Interpretation</a:t>
                      </a:r>
                    </a:p>
                  </a:txBody>
                  <a:tcPr>
                    <a:solidFill>
                      <a:srgbClr val="C00000"/>
                    </a:solidFill>
                  </a:tcPr>
                </a:tc>
                <a:extLst>
                  <a:ext uri="{0D108BD9-81ED-4DB2-BD59-A6C34878D82A}">
                    <a16:rowId xmlns:a16="http://schemas.microsoft.com/office/drawing/2014/main" val="226306626"/>
                  </a:ext>
                </a:extLst>
              </a:tr>
              <a:tr h="370840">
                <a:tc>
                  <a:txBody>
                    <a:bodyPr/>
                    <a:lstStyle/>
                    <a:p>
                      <a:r>
                        <a:rPr lang="en-US" dirty="0"/>
                        <a:t>Measurement</a:t>
                      </a:r>
                    </a:p>
                  </a:txBody>
                  <a:tcPr/>
                </a:tc>
                <a:tc>
                  <a:txBody>
                    <a:bodyPr/>
                    <a:lstStyle/>
                    <a:p>
                      <a:r>
                        <a:rPr lang="en-US" dirty="0"/>
                        <a:t>What are the units of measurement (For example, dollars)? Are the data values integers or continuous? Any missing observations? Any concerns with accuracy or sampling methods?</a:t>
                      </a:r>
                    </a:p>
                  </a:txBody>
                  <a:tcPr/>
                </a:tc>
                <a:extLst>
                  <a:ext uri="{0D108BD9-81ED-4DB2-BD59-A6C34878D82A}">
                    <a16:rowId xmlns:a16="http://schemas.microsoft.com/office/drawing/2014/main" val="2455483905"/>
                  </a:ext>
                </a:extLst>
              </a:tr>
              <a:tr h="370840">
                <a:tc>
                  <a:txBody>
                    <a:bodyPr/>
                    <a:lstStyle/>
                    <a:p>
                      <a:r>
                        <a:rPr lang="en-US" dirty="0"/>
                        <a:t>Center</a:t>
                      </a:r>
                    </a:p>
                  </a:txBody>
                  <a:tcPr/>
                </a:tc>
                <a:tc>
                  <a:txBody>
                    <a:bodyPr/>
                    <a:lstStyle/>
                    <a:p>
                      <a:r>
                        <a:rPr lang="en-US" dirty="0"/>
                        <a:t>Where are the data values concentrated? What seem to be typical or middle data values?</a:t>
                      </a:r>
                    </a:p>
                  </a:txBody>
                  <a:tcPr/>
                </a:tc>
                <a:extLst>
                  <a:ext uri="{0D108BD9-81ED-4DB2-BD59-A6C34878D82A}">
                    <a16:rowId xmlns:a16="http://schemas.microsoft.com/office/drawing/2014/main" val="1331723658"/>
                  </a:ext>
                </a:extLst>
              </a:tr>
              <a:tr h="370840">
                <a:tc>
                  <a:txBody>
                    <a:bodyPr/>
                    <a:lstStyle/>
                    <a:p>
                      <a:r>
                        <a:rPr lang="en-US" dirty="0"/>
                        <a:t>Variability</a:t>
                      </a:r>
                    </a:p>
                  </a:txBody>
                  <a:tcPr/>
                </a:tc>
                <a:tc>
                  <a:txBody>
                    <a:bodyPr/>
                    <a:lstStyle/>
                    <a:p>
                      <a:r>
                        <a:rPr lang="en-US" dirty="0"/>
                        <a:t>How much dispersion is there in the data? How spread out are the data values? Are there unusual values?</a:t>
                      </a:r>
                    </a:p>
                  </a:txBody>
                  <a:tcPr/>
                </a:tc>
                <a:extLst>
                  <a:ext uri="{0D108BD9-81ED-4DB2-BD59-A6C34878D82A}">
                    <a16:rowId xmlns:a16="http://schemas.microsoft.com/office/drawing/2014/main" val="1772092954"/>
                  </a:ext>
                </a:extLst>
              </a:tr>
              <a:tr h="370840">
                <a:tc>
                  <a:txBody>
                    <a:bodyPr/>
                    <a:lstStyle/>
                    <a:p>
                      <a:r>
                        <a:rPr lang="en-US" dirty="0"/>
                        <a:t>Shape</a:t>
                      </a:r>
                    </a:p>
                  </a:txBody>
                  <a:tcPr/>
                </a:tc>
                <a:tc>
                  <a:txBody>
                    <a:bodyPr/>
                    <a:lstStyle/>
                    <a:p>
                      <a:r>
                        <a:rPr lang="en-US" dirty="0"/>
                        <a:t>Are the data values distributed symmetrically? Skewed? Sharply peaked? Flat? Bimodal?</a:t>
                      </a:r>
                    </a:p>
                  </a:txBody>
                  <a:tcPr/>
                </a:tc>
                <a:extLst>
                  <a:ext uri="{0D108BD9-81ED-4DB2-BD59-A6C34878D82A}">
                    <a16:rowId xmlns:a16="http://schemas.microsoft.com/office/drawing/2014/main" val="1278119937"/>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a:xfrm>
            <a:off x="8626411" y="7036985"/>
            <a:ext cx="462997" cy="188467"/>
          </a:xfrm>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3952374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Stem-and-Leaf Plot </a:t>
            </a:r>
            <a:r>
              <a:rPr lang="en-US" sz="1000" b="0" noProof="0" dirty="0"/>
              <a:t>1</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3.1</a:t>
            </a:r>
          </a:p>
        </p:txBody>
      </p:sp>
      <p:sp>
        <p:nvSpPr>
          <p:cNvPr id="7" name="Content Placeholder 6"/>
          <p:cNvSpPr>
            <a:spLocks noGrp="1"/>
          </p:cNvSpPr>
          <p:nvPr>
            <p:ph sz="quarter" idx="14"/>
          </p:nvPr>
        </p:nvSpPr>
        <p:spPr>
          <a:xfrm>
            <a:off x="342900" y="1272050"/>
            <a:ext cx="8191500" cy="5292725"/>
          </a:xfrm>
        </p:spPr>
        <p:txBody>
          <a:bodyPr/>
          <a:lstStyle/>
          <a:p>
            <a:pPr marL="292608" indent="-292608">
              <a:buFont typeface="Arial" panose="020B0604020202020204" pitchFamily="34" charset="0"/>
              <a:buChar char="•"/>
            </a:pPr>
            <a:r>
              <a:rPr lang="en-US" noProof="0" dirty="0"/>
              <a:t>The </a:t>
            </a:r>
            <a:r>
              <a:rPr lang="en-US" b="1" noProof="0" dirty="0"/>
              <a:t>stem-and-leaf plot</a:t>
            </a:r>
            <a:r>
              <a:rPr lang="en-US" noProof="0" dirty="0"/>
              <a:t> is a tool of </a:t>
            </a:r>
            <a:r>
              <a:rPr lang="en-US" i="1" noProof="0" dirty="0"/>
              <a:t>exploratory data analysis (E</a:t>
            </a:r>
            <a:r>
              <a:rPr lang="en-US" sz="100" i="1" noProof="0" dirty="0"/>
              <a:t> </a:t>
            </a:r>
            <a:r>
              <a:rPr lang="en-US" i="1" noProof="0" dirty="0"/>
              <a:t>D</a:t>
            </a:r>
            <a:r>
              <a:rPr lang="en-US" sz="100" i="1" noProof="0" dirty="0"/>
              <a:t> </a:t>
            </a:r>
            <a:r>
              <a:rPr lang="en-US" i="1" noProof="0" dirty="0"/>
              <a:t>A) that seeks to reveal essential data features</a:t>
            </a:r>
            <a:r>
              <a:rPr lang="en-US" noProof="0" dirty="0"/>
              <a:t> in an intuitive way.</a:t>
            </a:r>
          </a:p>
          <a:p>
            <a:pPr marL="292608" indent="-292608">
              <a:buFont typeface="Arial" panose="020B0604020202020204" pitchFamily="34" charset="0"/>
              <a:buChar char="•"/>
            </a:pPr>
            <a:r>
              <a:rPr lang="en-US" noProof="0" dirty="0"/>
              <a:t>A stem-and-leaf plot is basically a frequency tally, except that we use digits instead of tally marks.</a:t>
            </a:r>
          </a:p>
          <a:p>
            <a:pPr marL="292608" indent="-292608">
              <a:buFont typeface="Arial" panose="020B0604020202020204" pitchFamily="34" charset="0"/>
              <a:buChar char="•"/>
            </a:pPr>
            <a:r>
              <a:rPr lang="en-US" noProof="0" dirty="0"/>
              <a:t>For two-digit or three-digit integer data, the </a:t>
            </a:r>
            <a:r>
              <a:rPr lang="en-US" i="1" noProof="0" dirty="0"/>
              <a:t>stem is the tens</a:t>
            </a:r>
            <a:r>
              <a:rPr lang="en-US" noProof="0" dirty="0"/>
              <a:t> digit of the data, and the </a:t>
            </a:r>
            <a:r>
              <a:rPr lang="en-US" i="1" noProof="0" dirty="0"/>
              <a:t>leaf is the ones digit</a:t>
            </a:r>
            <a:r>
              <a:rPr lang="en-US" noProof="0" dirty="0"/>
              <a:t>.</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2490722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C0735-A1ED-2921-3EC7-24A1FE74FA62}"/>
              </a:ext>
            </a:extLst>
          </p:cNvPr>
          <p:cNvSpPr>
            <a:spLocks noGrp="1"/>
          </p:cNvSpPr>
          <p:nvPr>
            <p:ph type="title"/>
          </p:nvPr>
        </p:nvSpPr>
        <p:spPr>
          <a:xfrm>
            <a:off x="342900" y="192490"/>
            <a:ext cx="7713980" cy="903231"/>
          </a:xfrm>
        </p:spPr>
        <p:txBody>
          <a:bodyPr>
            <a:normAutofit/>
          </a:bodyPr>
          <a:lstStyle/>
          <a:p>
            <a:r>
              <a:rPr lang="en-US" sz="3600" noProof="0" dirty="0"/>
              <a:t>Stem-and-Leaf Plot </a:t>
            </a:r>
            <a:r>
              <a:rPr lang="en-US" sz="1000" b="0" noProof="0" dirty="0"/>
              <a:t>2</a:t>
            </a:r>
            <a:endParaRPr lang="en-US" sz="1000" noProof="0" dirty="0"/>
          </a:p>
        </p:txBody>
      </p:sp>
      <p:sp>
        <p:nvSpPr>
          <p:cNvPr id="12" name="Content Placeholder 2">
            <a:extLst>
              <a:ext uri="{FF2B5EF4-FFF2-40B4-BE49-F238E27FC236}">
                <a16:creationId xmlns:a16="http://schemas.microsoft.com/office/drawing/2014/main" id="{62474757-20A8-3DBF-AD84-D9A095231879}"/>
              </a:ext>
            </a:extLst>
          </p:cNvPr>
          <p:cNvSpPr>
            <a:spLocks noGrp="1"/>
          </p:cNvSpPr>
          <p:nvPr>
            <p:ph sz="quarter" idx="11"/>
          </p:nvPr>
        </p:nvSpPr>
        <p:spPr>
          <a:xfrm>
            <a:off x="8595360" y="55330"/>
            <a:ext cx="487680" cy="1222686"/>
          </a:xfrm>
        </p:spPr>
        <p:txBody>
          <a:bodyPr vert="vert" rIns="0"/>
          <a:lstStyle/>
          <a:p>
            <a:pPr marL="1025525" indent="-1025525"/>
            <a:r>
              <a:rPr lang="en-US" b="1" noProof="0" dirty="0"/>
              <a:t>L</a:t>
            </a:r>
            <a:r>
              <a:rPr lang="en-US" sz="100" b="1" noProof="0" dirty="0"/>
              <a:t> </a:t>
            </a:r>
            <a:r>
              <a:rPr lang="en-US" b="1" noProof="0" dirty="0"/>
              <a:t>O 3.1</a:t>
            </a:r>
          </a:p>
        </p:txBody>
      </p:sp>
      <p:sp>
        <p:nvSpPr>
          <p:cNvPr id="15" name="Content Placeholder 3">
            <a:extLst>
              <a:ext uri="{FF2B5EF4-FFF2-40B4-BE49-F238E27FC236}">
                <a16:creationId xmlns:a16="http://schemas.microsoft.com/office/drawing/2014/main" id="{2EC9FA4E-641B-B1EF-CA8D-425AAA11C9D4}"/>
              </a:ext>
            </a:extLst>
          </p:cNvPr>
          <p:cNvSpPr>
            <a:spLocks noGrp="1"/>
          </p:cNvSpPr>
          <p:nvPr>
            <p:ph sz="quarter" idx="14"/>
          </p:nvPr>
        </p:nvSpPr>
        <p:spPr>
          <a:xfrm>
            <a:off x="342900" y="1278016"/>
            <a:ext cx="8191500" cy="784464"/>
          </a:xfrm>
        </p:spPr>
        <p:txBody>
          <a:bodyPr/>
          <a:lstStyle/>
          <a:p>
            <a:pPr marL="292608" indent="-292608">
              <a:buFont typeface="Arial" panose="020B0604020202020204" pitchFamily="34" charset="0"/>
              <a:buChar char="•"/>
            </a:pPr>
            <a:r>
              <a:rPr lang="en-US" noProof="0" dirty="0"/>
              <a:t>For the 44 P/E ratios, the stem-and-leaf plot is given below.</a:t>
            </a:r>
          </a:p>
        </p:txBody>
      </p:sp>
      <p:pic>
        <p:nvPicPr>
          <p:cNvPr id="21" name="Picture 20" descr="A stem-and-leaf plot representing 44 Price-to-Earnings (P/E) ratios.">
            <a:extLst>
              <a:ext uri="{FF2B5EF4-FFF2-40B4-BE49-F238E27FC236}">
                <a16:creationId xmlns:a16="http://schemas.microsoft.com/office/drawing/2014/main" id="{980C354D-E105-6037-AF04-F4620509E0FA}"/>
              </a:ext>
            </a:extLst>
          </p:cNvPr>
          <p:cNvPicPr>
            <a:picLocks noChangeAspect="1"/>
          </p:cNvPicPr>
          <p:nvPr/>
        </p:nvPicPr>
        <p:blipFill>
          <a:blip r:embed="rId2"/>
          <a:stretch>
            <a:fillRect/>
          </a:stretch>
        </p:blipFill>
        <p:spPr>
          <a:xfrm>
            <a:off x="674512" y="2368118"/>
            <a:ext cx="4716496" cy="1989685"/>
          </a:xfrm>
          <a:prstGeom prst="rect">
            <a:avLst/>
          </a:prstGeom>
        </p:spPr>
      </p:pic>
      <p:sp>
        <p:nvSpPr>
          <p:cNvPr id="16" name="Content Placeholder 4">
            <a:extLst>
              <a:ext uri="{FF2B5EF4-FFF2-40B4-BE49-F238E27FC236}">
                <a16:creationId xmlns:a16="http://schemas.microsoft.com/office/drawing/2014/main" id="{2F56CC5A-7CF8-BFD8-641F-AFFCC59A7A81}"/>
              </a:ext>
            </a:extLst>
          </p:cNvPr>
          <p:cNvSpPr>
            <a:spLocks noGrp="1"/>
          </p:cNvSpPr>
          <p:nvPr>
            <p:ph sz="quarter" idx="15"/>
          </p:nvPr>
        </p:nvSpPr>
        <p:spPr>
          <a:xfrm>
            <a:off x="342900" y="4541520"/>
            <a:ext cx="8191500" cy="1371600"/>
          </a:xfrm>
        </p:spPr>
        <p:txBody>
          <a:bodyPr/>
          <a:lstStyle/>
          <a:p>
            <a:pPr marL="292608" indent="-292608">
              <a:buFont typeface="Arial" panose="020B0604020202020204" pitchFamily="34" charset="0"/>
              <a:buChar char="•"/>
            </a:pPr>
            <a:r>
              <a:rPr lang="en-US" noProof="0" dirty="0"/>
              <a:t>The data values in the fourth stem are 31, 37, 37, 38.</a:t>
            </a:r>
          </a:p>
          <a:p>
            <a:pPr marL="292608" indent="-292608">
              <a:buFont typeface="Arial" panose="020B0604020202020204" pitchFamily="34" charset="0"/>
              <a:buChar char="•"/>
            </a:pPr>
            <a:r>
              <a:rPr lang="en-US" noProof="0" dirty="0"/>
              <a:t>We always use equally spaced stems (even if some stems are empty).</a:t>
            </a:r>
          </a:p>
        </p:txBody>
      </p:sp>
      <p:sp>
        <p:nvSpPr>
          <p:cNvPr id="9" name="Text Placeholder 8">
            <a:extLst>
              <a:ext uri="{FF2B5EF4-FFF2-40B4-BE49-F238E27FC236}">
                <a16:creationId xmlns:a16="http://schemas.microsoft.com/office/drawing/2014/main" id="{2DE84A5A-A867-A69C-B2F2-243C5AB05B2B}"/>
              </a:ext>
            </a:extLst>
          </p:cNvPr>
          <p:cNvSpPr>
            <a:spLocks noGrp="1"/>
          </p:cNvSpPr>
          <p:nvPr>
            <p:ph type="body" sz="quarter" idx="12"/>
          </p:nvPr>
        </p:nvSpPr>
        <p:spPr>
          <a:xfrm>
            <a:off x="2971558" y="6324600"/>
            <a:ext cx="3200885" cy="190500"/>
          </a:xfrm>
        </p:spPr>
        <p:txBody>
          <a:bodyPr/>
          <a:lstStyle/>
          <a:p>
            <a:r>
              <a:rPr lang="en-US" sz="1200" noProof="0" dirty="0">
                <a:hlinkClick r:id="rId3" action="ppaction://hlinksldjump"/>
              </a:rPr>
              <a:t>Access the text alternative for slide images.</a:t>
            </a:r>
          </a:p>
        </p:txBody>
      </p:sp>
      <p:sp>
        <p:nvSpPr>
          <p:cNvPr id="11" name="Slide Number Placeholder 10">
            <a:extLst>
              <a:ext uri="{FF2B5EF4-FFF2-40B4-BE49-F238E27FC236}">
                <a16:creationId xmlns:a16="http://schemas.microsoft.com/office/drawing/2014/main" id="{A1B37089-D9B6-3D52-EE06-C1B2F2DB738B}"/>
              </a:ext>
            </a:extLst>
          </p:cNvPr>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3443592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Stem-and-Leaf Plot </a:t>
            </a:r>
            <a:r>
              <a:rPr lang="en-US" sz="1000" b="0" noProof="0" dirty="0"/>
              <a:t>3</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473" y="57509"/>
            <a:ext cx="449580" cy="1817011"/>
          </a:xfrm>
        </p:spPr>
        <p:txBody>
          <a:bodyPr vert="vert" rIns="0"/>
          <a:lstStyle/>
          <a:p>
            <a:pPr marL="1025525" indent="-1025525"/>
            <a:r>
              <a:rPr lang="en-US" b="1" noProof="0" dirty="0"/>
              <a:t>L</a:t>
            </a:r>
            <a:r>
              <a:rPr lang="en-US" sz="100" b="1" noProof="0" dirty="0"/>
              <a:t> </a:t>
            </a:r>
            <a:r>
              <a:rPr lang="en-US" b="1" noProof="0" dirty="0"/>
              <a:t>O 3.1</a:t>
            </a:r>
          </a:p>
        </p:txBody>
      </p:sp>
      <p:sp>
        <p:nvSpPr>
          <p:cNvPr id="7" name="Content Placeholder 6"/>
          <p:cNvSpPr>
            <a:spLocks noGrp="1"/>
          </p:cNvSpPr>
          <p:nvPr>
            <p:ph sz="quarter" idx="14"/>
          </p:nvPr>
        </p:nvSpPr>
        <p:spPr>
          <a:xfrm>
            <a:off x="342900" y="1260475"/>
            <a:ext cx="8191500" cy="3128645"/>
          </a:xfrm>
        </p:spPr>
        <p:txBody>
          <a:bodyPr/>
          <a:lstStyle/>
          <a:p>
            <a:pPr marL="292608" indent="-292608">
              <a:buFont typeface="Arial" panose="020B0604020202020204" pitchFamily="34" charset="0"/>
              <a:buChar char="•"/>
            </a:pPr>
            <a:r>
              <a:rPr lang="en-US" sz="2200" noProof="0" dirty="0"/>
              <a:t>The stem-and-leaf can reveal central tendency (24 of the 44 P/E ratios were in the 10 to 19 stem) as well as dispersion (the range is from 7 to 59).</a:t>
            </a:r>
          </a:p>
          <a:p>
            <a:pPr marL="292608" indent="-292608">
              <a:buFont typeface="Arial" panose="020B0604020202020204" pitchFamily="34" charset="0"/>
              <a:buChar char="•"/>
            </a:pPr>
            <a:r>
              <a:rPr lang="en-US" sz="2200" noProof="0" dirty="0"/>
              <a:t>In this illustration, the leaf digits have been sorted, although this is not necessary.</a:t>
            </a:r>
          </a:p>
          <a:p>
            <a:pPr marL="292608" indent="-292608">
              <a:buFont typeface="Arial" panose="020B0604020202020204" pitchFamily="34" charset="0"/>
              <a:buChar char="•"/>
            </a:pPr>
            <a:r>
              <a:rPr lang="en-US" sz="2200" noProof="0" dirty="0"/>
              <a:t>The stem-and-leaf has the advantage that we can retrieve the raw data by concatenating a stem digit with each of its leaf digits. For example, the last stem has data values 50 and 59.</a:t>
            </a:r>
          </a:p>
        </p:txBody>
      </p:sp>
      <p:pic>
        <p:nvPicPr>
          <p:cNvPr id="8" name="Picture 7" descr="A stem-and-leaf plot representing 44 Price-to-Earnings (P/E) ratios."/>
          <p:cNvPicPr>
            <a:picLocks noChangeAspect="1"/>
          </p:cNvPicPr>
          <p:nvPr/>
        </p:nvPicPr>
        <p:blipFill>
          <a:blip r:embed="rId2"/>
          <a:stretch>
            <a:fillRect/>
          </a:stretch>
        </p:blipFill>
        <p:spPr>
          <a:xfrm>
            <a:off x="2848038" y="4553874"/>
            <a:ext cx="3620643" cy="1523247"/>
          </a:xfrm>
          <a:prstGeom prst="rect">
            <a:avLst/>
          </a:prstGeom>
        </p:spPr>
      </p:pic>
      <p:sp>
        <p:nvSpPr>
          <p:cNvPr id="12" name="Text Placeholder 8">
            <a:extLst>
              <a:ext uri="{FF2B5EF4-FFF2-40B4-BE49-F238E27FC236}">
                <a16:creationId xmlns:a16="http://schemas.microsoft.com/office/drawing/2014/main" id="{BA1AAF62-9DBB-8D0E-28F8-F26D72318750}"/>
              </a:ext>
            </a:extLst>
          </p:cNvPr>
          <p:cNvSpPr>
            <a:spLocks noGrp="1"/>
          </p:cNvSpPr>
          <p:nvPr>
            <p:ph type="body" sz="quarter" idx="12"/>
          </p:nvPr>
        </p:nvSpPr>
        <p:spPr>
          <a:xfrm>
            <a:off x="2971558" y="6324600"/>
            <a:ext cx="3200885" cy="190500"/>
          </a:xfrm>
        </p:spPr>
        <p:txBody>
          <a:bodyPr/>
          <a:lstStyle/>
          <a:p>
            <a:r>
              <a:rPr lang="en-US" sz="1200" noProof="0" dirty="0">
                <a:hlinkClick r:id="rId3" action="ppaction://hlinksldjump"/>
              </a:rPr>
              <a:t>Access the text alternative for slide images.</a:t>
            </a:r>
          </a:p>
        </p:txBody>
      </p:sp>
      <p:sp>
        <p:nvSpPr>
          <p:cNvPr id="4" name="Slide Number Placeholder 10">
            <a:extLst>
              <a:ext uri="{FF2B5EF4-FFF2-40B4-BE49-F238E27FC236}">
                <a16:creationId xmlns:a16="http://schemas.microsoft.com/office/drawing/2014/main" id="{6C04F44D-FAC8-61D9-BECD-9AAF9AA4F021}"/>
              </a:ext>
            </a:extLst>
          </p:cNvPr>
          <p:cNvSpPr>
            <a:spLocks noGrp="1"/>
          </p:cNvSpPr>
          <p:nvPr>
            <p:ph type="sldNum" sz="quarter" idx="10"/>
          </p:nvPr>
        </p:nvSpPr>
        <p:spPr>
          <a:xfrm>
            <a:off x="8626412" y="6646459"/>
            <a:ext cx="490292" cy="188467"/>
          </a:xfrm>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1227168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Dot Plots </a:t>
            </a:r>
            <a:r>
              <a:rPr lang="en-US" sz="1000" b="0" noProof="0" dirty="0"/>
              <a:t>1</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473" y="57509"/>
            <a:ext cx="449580" cy="1817011"/>
          </a:xfrm>
        </p:spPr>
        <p:txBody>
          <a:bodyPr vert="vert" rIns="0"/>
          <a:lstStyle/>
          <a:p>
            <a:pPr marL="1025525" indent="-1025525"/>
            <a:r>
              <a:rPr lang="en-US" b="1" noProof="0" dirty="0"/>
              <a:t>L</a:t>
            </a:r>
            <a:r>
              <a:rPr lang="en-US" sz="100" b="1" noProof="0" dirty="0"/>
              <a:t> </a:t>
            </a:r>
            <a:r>
              <a:rPr lang="en-US" b="1" noProof="0" dirty="0"/>
              <a:t>O 3.1</a:t>
            </a:r>
          </a:p>
        </p:txBody>
      </p:sp>
      <p:sp>
        <p:nvSpPr>
          <p:cNvPr id="7" name="Content Placeholder 6"/>
          <p:cNvSpPr>
            <a:spLocks noGrp="1"/>
          </p:cNvSpPr>
          <p:nvPr>
            <p:ph sz="quarter" idx="14"/>
          </p:nvPr>
        </p:nvSpPr>
        <p:spPr>
          <a:xfrm>
            <a:off x="342900" y="1260475"/>
            <a:ext cx="8191500" cy="5292725"/>
          </a:xfrm>
        </p:spPr>
        <p:txBody>
          <a:bodyPr/>
          <a:lstStyle/>
          <a:p>
            <a:r>
              <a:rPr lang="en-US" noProof="0" dirty="0"/>
              <a:t>A dot plot is the simplest graphical display of </a:t>
            </a:r>
            <a:r>
              <a:rPr lang="en-US" i="1" noProof="0" dirty="0"/>
              <a:t>n</a:t>
            </a:r>
            <a:r>
              <a:rPr lang="en-US" noProof="0" dirty="0"/>
              <a:t> individual values of numerical data.</a:t>
            </a:r>
          </a:p>
          <a:p>
            <a:pPr marL="292608" indent="-292608">
              <a:buFont typeface="Arial" panose="020B0604020202020204" pitchFamily="34" charset="0"/>
              <a:buChar char="•"/>
            </a:pPr>
            <a:r>
              <a:rPr lang="en-US" noProof="0" dirty="0"/>
              <a:t>Easy to understand.</a:t>
            </a:r>
          </a:p>
          <a:p>
            <a:pPr marL="292608" indent="-292608">
              <a:buFont typeface="Arial" panose="020B0604020202020204" pitchFamily="34" charset="0"/>
              <a:buChar char="•"/>
            </a:pPr>
            <a:r>
              <a:rPr lang="en-US" noProof="0" dirty="0"/>
              <a:t>It reveals dispersion, central tendency, and the shape of the distribution.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870414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0BD2ECB6-1D42-7CED-7028-3BBC8D76E1A3}"/>
              </a:ext>
            </a:extLst>
          </p:cNvPr>
          <p:cNvSpPr>
            <a:spLocks noGrp="1"/>
          </p:cNvSpPr>
          <p:nvPr>
            <p:ph type="title"/>
          </p:nvPr>
        </p:nvSpPr>
        <p:spPr>
          <a:xfrm>
            <a:off x="342900" y="192490"/>
            <a:ext cx="8191500" cy="903231"/>
          </a:xfrm>
        </p:spPr>
        <p:txBody>
          <a:bodyPr>
            <a:normAutofit/>
          </a:bodyPr>
          <a:lstStyle/>
          <a:p>
            <a:r>
              <a:rPr lang="en-US" sz="3600" noProof="0" dirty="0"/>
              <a:t>Dot Plots </a:t>
            </a:r>
            <a:r>
              <a:rPr lang="en-US" sz="1000" b="0" noProof="0" dirty="0"/>
              <a:t>2</a:t>
            </a:r>
            <a:endParaRPr lang="en-US" sz="1000" noProof="0" dirty="0"/>
          </a:p>
        </p:txBody>
      </p:sp>
      <p:sp>
        <p:nvSpPr>
          <p:cNvPr id="27" name="Content Placeholder 2">
            <a:extLst>
              <a:ext uri="{FF2B5EF4-FFF2-40B4-BE49-F238E27FC236}">
                <a16:creationId xmlns:a16="http://schemas.microsoft.com/office/drawing/2014/main" id="{AA1F1D16-B03C-F8D2-A6AA-C841EC1CB6A3}"/>
              </a:ext>
            </a:extLst>
          </p:cNvPr>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3.1</a:t>
            </a:r>
          </a:p>
        </p:txBody>
      </p:sp>
      <p:sp>
        <p:nvSpPr>
          <p:cNvPr id="28" name="Content Placeholder 3">
            <a:extLst>
              <a:ext uri="{FF2B5EF4-FFF2-40B4-BE49-F238E27FC236}">
                <a16:creationId xmlns:a16="http://schemas.microsoft.com/office/drawing/2014/main" id="{C1ABCF1B-6A26-35A1-DBBC-DC17E3EFAD8B}"/>
              </a:ext>
            </a:extLst>
          </p:cNvPr>
          <p:cNvSpPr>
            <a:spLocks noGrp="1"/>
          </p:cNvSpPr>
          <p:nvPr>
            <p:ph sz="quarter" idx="14"/>
          </p:nvPr>
        </p:nvSpPr>
        <p:spPr>
          <a:xfrm>
            <a:off x="342900" y="1262776"/>
            <a:ext cx="8191500" cy="2501504"/>
          </a:xfrm>
        </p:spPr>
        <p:txBody>
          <a:bodyPr/>
          <a:lstStyle/>
          <a:p>
            <a:pPr marL="292608" indent="-292608">
              <a:buFont typeface="Arial" panose="020B0604020202020204" pitchFamily="34" charset="0"/>
              <a:buChar char="•"/>
            </a:pPr>
            <a:r>
              <a:rPr lang="en-US" noProof="0" dirty="0"/>
              <a:t>Steps in Making a Dot Plot:</a:t>
            </a:r>
          </a:p>
          <a:p>
            <a:pPr marL="402336" indent="-402336">
              <a:buFont typeface="+mj-lt"/>
              <a:buAutoNum type="arabicPeriod"/>
            </a:pPr>
            <a:r>
              <a:rPr lang="en-US" noProof="0" dirty="0"/>
              <a:t>Make a scale that covers the data range.</a:t>
            </a:r>
          </a:p>
          <a:p>
            <a:pPr marL="402336" indent="-402336">
              <a:buFont typeface="+mj-lt"/>
              <a:buAutoNum type="arabicPeriod"/>
            </a:pPr>
            <a:r>
              <a:rPr lang="en-US" noProof="0" dirty="0"/>
              <a:t>Mark the axes and label them.</a:t>
            </a:r>
          </a:p>
          <a:p>
            <a:pPr marL="402336" indent="-402336">
              <a:buFont typeface="+mj-lt"/>
              <a:buAutoNum type="arabicPeriod"/>
            </a:pPr>
            <a:r>
              <a:rPr lang="en-US" noProof="0" dirty="0"/>
              <a:t>Plot each data value as a dot above the scale at its approximate location.</a:t>
            </a:r>
          </a:p>
        </p:txBody>
      </p:sp>
      <p:pic>
        <p:nvPicPr>
          <p:cNvPr id="29" name="Picture 28" descr="A dot plot represents the Price-to-Earnings (P/E) ratios.">
            <a:extLst>
              <a:ext uri="{FF2B5EF4-FFF2-40B4-BE49-F238E27FC236}">
                <a16:creationId xmlns:a16="http://schemas.microsoft.com/office/drawing/2014/main" id="{563F8DBF-BDFE-CBE3-D821-A35E511DAB8D}"/>
              </a:ext>
            </a:extLst>
          </p:cNvPr>
          <p:cNvPicPr>
            <a:picLocks noChangeAspect="1"/>
          </p:cNvPicPr>
          <p:nvPr/>
        </p:nvPicPr>
        <p:blipFill>
          <a:blip r:embed="rId2"/>
          <a:stretch>
            <a:fillRect/>
          </a:stretch>
        </p:blipFill>
        <p:spPr>
          <a:xfrm>
            <a:off x="862452" y="3930761"/>
            <a:ext cx="7449574" cy="1180876"/>
          </a:xfrm>
          <a:prstGeom prst="rect">
            <a:avLst/>
          </a:prstGeom>
        </p:spPr>
      </p:pic>
      <p:sp>
        <p:nvSpPr>
          <p:cNvPr id="30" name="Content Placeholder 4">
            <a:extLst>
              <a:ext uri="{FF2B5EF4-FFF2-40B4-BE49-F238E27FC236}">
                <a16:creationId xmlns:a16="http://schemas.microsoft.com/office/drawing/2014/main" id="{CF999F80-3F0D-F1BD-4C9B-8BB448E4BBC2}"/>
              </a:ext>
            </a:extLst>
          </p:cNvPr>
          <p:cNvSpPr>
            <a:spLocks noGrp="1"/>
          </p:cNvSpPr>
          <p:nvPr>
            <p:ph sz="quarter" idx="15"/>
          </p:nvPr>
        </p:nvSpPr>
        <p:spPr>
          <a:xfrm>
            <a:off x="342900" y="5257800"/>
            <a:ext cx="8458200" cy="914400"/>
          </a:xfrm>
        </p:spPr>
        <p:txBody>
          <a:bodyPr/>
          <a:lstStyle/>
          <a:p>
            <a:pPr marL="292608" indent="-292608">
              <a:buFont typeface="Arial" panose="020B0604020202020204" pitchFamily="34" charset="0"/>
              <a:buChar char="•"/>
            </a:pPr>
            <a:r>
              <a:rPr lang="en-US" noProof="0" dirty="0"/>
              <a:t>If more than one data value lies at about the same axis location, the dots are stacked vertically.</a:t>
            </a:r>
          </a:p>
        </p:txBody>
      </p:sp>
      <p:sp>
        <p:nvSpPr>
          <p:cNvPr id="9" name="Text Placeholder 8">
            <a:extLst>
              <a:ext uri="{FF2B5EF4-FFF2-40B4-BE49-F238E27FC236}">
                <a16:creationId xmlns:a16="http://schemas.microsoft.com/office/drawing/2014/main" id="{AE2B6EB0-40A3-B00A-69E6-AACD58509227}"/>
              </a:ext>
            </a:extLst>
          </p:cNvPr>
          <p:cNvSpPr>
            <a:spLocks noGrp="1"/>
          </p:cNvSpPr>
          <p:nvPr>
            <p:ph type="body" sz="quarter" idx="12"/>
          </p:nvPr>
        </p:nvSpPr>
        <p:spPr>
          <a:xfrm>
            <a:off x="2971558" y="6324600"/>
            <a:ext cx="3200885" cy="190500"/>
          </a:xfrm>
        </p:spPr>
        <p:txBody>
          <a:bodyPr/>
          <a:lstStyle/>
          <a:p>
            <a:r>
              <a:rPr lang="en-US" sz="1200" noProof="0" dirty="0">
                <a:hlinkClick r:id="rId3" action="ppaction://hlinksldjump"/>
              </a:rPr>
              <a:t>Access the text alternative for slide images.</a:t>
            </a:r>
          </a:p>
        </p:txBody>
      </p:sp>
      <p:sp>
        <p:nvSpPr>
          <p:cNvPr id="3" name="Slide Number Placeholder 5">
            <a:extLst>
              <a:ext uri="{FF2B5EF4-FFF2-40B4-BE49-F238E27FC236}">
                <a16:creationId xmlns:a16="http://schemas.microsoft.com/office/drawing/2014/main" id="{58ECB2C0-400D-7F83-2769-BB6B804C29AC}"/>
              </a:ext>
            </a:extLst>
          </p:cNvPr>
          <p:cNvSpPr>
            <a:spLocks noGrp="1"/>
          </p:cNvSpPr>
          <p:nvPr>
            <p:ph type="sldNum" sz="quarter" idx="10"/>
          </p:nvPr>
        </p:nvSpPr>
        <p:spPr>
          <a:xfrm>
            <a:off x="8626411" y="6646460"/>
            <a:ext cx="462997" cy="188467"/>
          </a:xfrm>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1339976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Dot Plots </a:t>
            </a:r>
            <a:r>
              <a:rPr lang="en-US" sz="1000" b="0" noProof="0" dirty="0"/>
              <a:t>3</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473" y="57509"/>
            <a:ext cx="449580" cy="1817011"/>
          </a:xfrm>
        </p:spPr>
        <p:txBody>
          <a:bodyPr vert="vert" rIns="0"/>
          <a:lstStyle/>
          <a:p>
            <a:pPr marL="1025525" indent="-1025525"/>
            <a:r>
              <a:rPr lang="en-US" b="1" noProof="0" dirty="0"/>
              <a:t>L</a:t>
            </a:r>
            <a:r>
              <a:rPr lang="en-US" sz="100" b="1" noProof="0" dirty="0"/>
              <a:t> </a:t>
            </a:r>
            <a:r>
              <a:rPr lang="en-US" b="1" noProof="0" dirty="0"/>
              <a:t>O 3.1</a:t>
            </a:r>
          </a:p>
        </p:txBody>
      </p:sp>
      <p:sp>
        <p:nvSpPr>
          <p:cNvPr id="7" name="Content Placeholder 6"/>
          <p:cNvSpPr>
            <a:spLocks noGrp="1"/>
          </p:cNvSpPr>
          <p:nvPr>
            <p:ph sz="quarter" idx="14"/>
          </p:nvPr>
        </p:nvSpPr>
        <p:spPr>
          <a:xfrm>
            <a:off x="342900" y="1260475"/>
            <a:ext cx="8191500" cy="2092325"/>
          </a:xfrm>
        </p:spPr>
        <p:txBody>
          <a:bodyPr/>
          <a:lstStyle/>
          <a:p>
            <a:pPr marL="292608" indent="-292608">
              <a:buFont typeface="Arial" panose="020B0604020202020204" pitchFamily="34" charset="0"/>
              <a:buChar char="•"/>
            </a:pPr>
            <a:r>
              <a:rPr lang="en-US" noProof="0" dirty="0"/>
              <a:t>The range is from 7 to 59.</a:t>
            </a:r>
          </a:p>
          <a:p>
            <a:pPr marL="292608" indent="-292608">
              <a:buFont typeface="Arial" panose="020B0604020202020204" pitchFamily="34" charset="0"/>
              <a:buChar char="•"/>
            </a:pPr>
            <a:r>
              <a:rPr lang="en-US" noProof="0" dirty="0"/>
              <a:t>All but a few data values lie between 10 and 25.</a:t>
            </a:r>
          </a:p>
          <a:p>
            <a:pPr marL="292608" indent="-292608">
              <a:buFont typeface="Arial" panose="020B0604020202020204" pitchFamily="34" charset="0"/>
              <a:buChar char="•"/>
            </a:pPr>
            <a:r>
              <a:rPr lang="en-US" noProof="0" dirty="0"/>
              <a:t>A typical “middle” data value would be around 17 or 18.</a:t>
            </a:r>
          </a:p>
          <a:p>
            <a:pPr marL="292608" indent="-292608">
              <a:buFont typeface="Arial" panose="020B0604020202020204" pitchFamily="34" charset="0"/>
              <a:buChar char="•"/>
            </a:pPr>
            <a:r>
              <a:rPr lang="en-US" noProof="0" dirty="0"/>
              <a:t>The data are not symmetric due to a few large P/E ratios.</a:t>
            </a:r>
          </a:p>
        </p:txBody>
      </p:sp>
      <p:pic>
        <p:nvPicPr>
          <p:cNvPr id="4" name="Picture 3" descr="A dot plot represents the Price-to-Earnings (P/E) ratios."/>
          <p:cNvPicPr>
            <a:picLocks noChangeAspect="1"/>
          </p:cNvPicPr>
          <p:nvPr/>
        </p:nvPicPr>
        <p:blipFill>
          <a:blip r:embed="rId2"/>
          <a:stretch>
            <a:fillRect/>
          </a:stretch>
        </p:blipFill>
        <p:spPr>
          <a:xfrm>
            <a:off x="513014" y="3552596"/>
            <a:ext cx="8113397" cy="1286104"/>
          </a:xfrm>
          <a:prstGeom prst="rect">
            <a:avLst/>
          </a:prstGeom>
        </p:spPr>
      </p:pic>
      <p:sp>
        <p:nvSpPr>
          <p:cNvPr id="13" name="Text Placeholder 12">
            <a:extLst>
              <a:ext uri="{FF2B5EF4-FFF2-40B4-BE49-F238E27FC236}">
                <a16:creationId xmlns:a16="http://schemas.microsoft.com/office/drawing/2014/main" id="{1ACEC8B3-94C4-C932-0EB3-0E31464707E9}"/>
              </a:ext>
            </a:extLst>
          </p:cNvPr>
          <p:cNvSpPr>
            <a:spLocks noGrp="1"/>
          </p:cNvSpPr>
          <p:nvPr>
            <p:ph type="body" sz="quarter" idx="12"/>
          </p:nvPr>
        </p:nvSpPr>
        <p:spPr>
          <a:xfrm>
            <a:off x="2971558" y="6324600"/>
            <a:ext cx="3200885" cy="190500"/>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303152BC-875D-E71B-E730-D518D25C43C8}"/>
              </a:ext>
            </a:extLst>
          </p:cNvPr>
          <p:cNvSpPr>
            <a:spLocks noGrp="1"/>
          </p:cNvSpPr>
          <p:nvPr>
            <p:ph type="sldNum" sz="quarter" idx="10"/>
          </p:nvPr>
        </p:nvSpPr>
        <p:spPr>
          <a:xfrm>
            <a:off x="8626411" y="6646460"/>
            <a:ext cx="462997" cy="188467"/>
          </a:xfrm>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2276095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Frequency Distribution </a:t>
            </a:r>
            <a:r>
              <a:rPr lang="en-US" sz="1000" b="0" noProof="0" dirty="0"/>
              <a:t>1</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3.2</a:t>
            </a:r>
          </a:p>
        </p:txBody>
      </p:sp>
      <p:sp>
        <p:nvSpPr>
          <p:cNvPr id="4" name="Content Placeholder 3"/>
          <p:cNvSpPr>
            <a:spLocks noGrp="1"/>
          </p:cNvSpPr>
          <p:nvPr>
            <p:ph sz="quarter" idx="14"/>
          </p:nvPr>
        </p:nvSpPr>
        <p:spPr>
          <a:xfrm>
            <a:off x="342900" y="1262776"/>
            <a:ext cx="8191500" cy="2166224"/>
          </a:xfrm>
        </p:spPr>
        <p:txBody>
          <a:bodyPr/>
          <a:lstStyle/>
          <a:p>
            <a:r>
              <a:rPr lang="en-US" b="1" noProof="0" dirty="0"/>
              <a:t>Frequency Distribution:</a:t>
            </a:r>
          </a:p>
          <a:p>
            <a:r>
              <a:rPr lang="en-US" noProof="0" dirty="0"/>
              <a:t>A tabulation of </a:t>
            </a:r>
            <a:r>
              <a:rPr lang="en-US" i="1" noProof="0" dirty="0"/>
              <a:t>n</a:t>
            </a:r>
            <a:r>
              <a:rPr lang="en-US" noProof="0" dirty="0"/>
              <a:t> data values into </a:t>
            </a:r>
            <a:r>
              <a:rPr lang="en-US" i="1" noProof="0" dirty="0"/>
              <a:t>k</a:t>
            </a:r>
            <a:r>
              <a:rPr lang="en-US" noProof="0" dirty="0"/>
              <a:t> classes called </a:t>
            </a:r>
            <a:r>
              <a:rPr lang="en-US" i="1" noProof="0" dirty="0"/>
              <a:t>bins</a:t>
            </a:r>
            <a:r>
              <a:rPr lang="en-US" noProof="0" dirty="0"/>
              <a:t>, based on values of the data. The </a:t>
            </a:r>
            <a:r>
              <a:rPr lang="en-US" i="1" noProof="0" dirty="0"/>
              <a:t>bin limits</a:t>
            </a:r>
            <a:r>
              <a:rPr lang="en-US" noProof="0" dirty="0"/>
              <a:t> are cutoff points that define each bin. Bins generally have equal interval widths, and their limits cannot overlap.</a:t>
            </a:r>
          </a:p>
        </p:txBody>
      </p:sp>
      <p:sp>
        <p:nvSpPr>
          <p:cNvPr id="5" name="Content Placeholder 4"/>
          <p:cNvSpPr>
            <a:spLocks noGrp="1"/>
          </p:cNvSpPr>
          <p:nvPr>
            <p:ph sz="quarter" idx="15"/>
          </p:nvPr>
        </p:nvSpPr>
        <p:spPr>
          <a:xfrm>
            <a:off x="342900" y="3509010"/>
            <a:ext cx="8191500" cy="3017520"/>
          </a:xfrm>
        </p:spPr>
        <p:txBody>
          <a:bodyPr/>
          <a:lstStyle/>
          <a:p>
            <a:pPr marL="292608" indent="-292608">
              <a:buFont typeface="Arial" panose="020B0604020202020204" pitchFamily="34" charset="0"/>
              <a:buChar char="•"/>
            </a:pPr>
            <a:r>
              <a:rPr lang="en-US" noProof="0" dirty="0"/>
              <a:t>Basic Steps:</a:t>
            </a:r>
          </a:p>
          <a:p>
            <a:pPr marL="694944" lvl="1" indent="-402336">
              <a:buFont typeface="+mj-lt"/>
              <a:buAutoNum type="arabicPeriod"/>
            </a:pPr>
            <a:r>
              <a:rPr lang="en-US" noProof="0" dirty="0"/>
              <a:t>Sort the data in ascending order.</a:t>
            </a:r>
          </a:p>
          <a:p>
            <a:pPr marL="694944" lvl="1" indent="-402336">
              <a:buFont typeface="+mj-lt"/>
              <a:buAutoNum type="arabicPeriod"/>
            </a:pPr>
            <a:r>
              <a:rPr lang="en-US" noProof="0" dirty="0"/>
              <a:t>Choose the number of bins.</a:t>
            </a:r>
          </a:p>
          <a:p>
            <a:pPr marL="694944" lvl="1" indent="-402336">
              <a:buFont typeface="+mj-lt"/>
              <a:buAutoNum type="arabicPeriod"/>
            </a:pPr>
            <a:r>
              <a:rPr lang="en-US" noProof="0" dirty="0"/>
              <a:t>Set the bin limits.</a:t>
            </a:r>
          </a:p>
          <a:p>
            <a:pPr marL="694944" lvl="1" indent="-402336">
              <a:buFont typeface="+mj-lt"/>
              <a:buAutoNum type="arabicPeriod"/>
            </a:pPr>
            <a:r>
              <a:rPr lang="en-US" noProof="0" dirty="0"/>
              <a:t>Put the data values in the appropriate bin.</a:t>
            </a:r>
          </a:p>
          <a:p>
            <a:pPr marL="694944" lvl="1" indent="-402336">
              <a:buFont typeface="+mj-lt"/>
              <a:buAutoNum type="arabicPeriod"/>
            </a:pPr>
            <a:r>
              <a:rPr lang="en-US" noProof="0" dirty="0"/>
              <a:t>Create the table.</a:t>
            </a:r>
          </a:p>
        </p:txBody>
      </p:sp>
      <p:sp>
        <p:nvSpPr>
          <p:cNvPr id="10" name="Slide Number Placeholder 9"/>
          <p:cNvSpPr>
            <a:spLocks noGrp="1"/>
          </p:cNvSpPr>
          <p:nvPr>
            <p:ph type="sldNum" sz="quarter" idx="10"/>
          </p:nvPr>
        </p:nvSpPr>
        <p:spPr/>
        <p:txBody>
          <a:bodyPr/>
          <a:lstStyle/>
          <a:p>
            <a:fld id="{68151E55-6873-49E2-B8D5-2F265E6F1973}" type="slidenum">
              <a:rPr lang="en-US" smtClean="0"/>
              <a:t>12</a:t>
            </a:fld>
            <a:endParaRPr lang="en-US" dirty="0"/>
          </a:p>
        </p:txBody>
      </p:sp>
    </p:spTree>
    <p:extLst>
      <p:ext uri="{BB962C8B-B14F-4D97-AF65-F5344CB8AC3E}">
        <p14:creationId xmlns:p14="http://schemas.microsoft.com/office/powerpoint/2010/main" val="1486853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Frequency Distribution </a:t>
            </a:r>
            <a:r>
              <a:rPr lang="en-US" sz="1000" b="0" noProof="0" dirty="0"/>
              <a:t>2</a:t>
            </a:r>
            <a:endParaRPr lang="en-US" sz="1000" noProof="0" dirty="0"/>
          </a:p>
        </p:txBody>
      </p:sp>
      <p:sp>
        <p:nvSpPr>
          <p:cNvPr id="3" name="Content Placeholder 2"/>
          <p:cNvSpPr>
            <a:spLocks noGrp="1"/>
          </p:cNvSpPr>
          <p:nvPr>
            <p:ph sz="quarter" idx="11"/>
          </p:nvPr>
        </p:nvSpPr>
        <p:spPr>
          <a:xfrm>
            <a:off x="8595360" y="55330"/>
            <a:ext cx="487680" cy="1207446"/>
          </a:xfrm>
        </p:spPr>
        <p:txBody>
          <a:bodyPr vert="vert" rIns="0"/>
          <a:lstStyle/>
          <a:p>
            <a:pPr marL="1025525" indent="-1025525"/>
            <a:r>
              <a:rPr lang="en-US" b="1" noProof="0" dirty="0"/>
              <a:t>L</a:t>
            </a:r>
            <a:r>
              <a:rPr lang="en-US" sz="100" b="1" noProof="0" dirty="0"/>
              <a:t> </a:t>
            </a:r>
            <a:r>
              <a:rPr lang="en-US" b="1" noProof="0" dirty="0"/>
              <a:t>O 3.2</a:t>
            </a:r>
          </a:p>
        </p:txBody>
      </p:sp>
      <p:sp>
        <p:nvSpPr>
          <p:cNvPr id="4" name="Content Placeholder 3"/>
          <p:cNvSpPr>
            <a:spLocks noGrp="1"/>
          </p:cNvSpPr>
          <p:nvPr>
            <p:ph sz="quarter" idx="14"/>
          </p:nvPr>
        </p:nvSpPr>
        <p:spPr>
          <a:xfrm>
            <a:off x="342900" y="1262776"/>
            <a:ext cx="8191500" cy="1068944"/>
          </a:xfrm>
        </p:spPr>
        <p:txBody>
          <a:bodyPr/>
          <a:lstStyle/>
          <a:p>
            <a:r>
              <a:rPr lang="en-US" noProof="0" dirty="0"/>
              <a:t>Step 1: Sort the data in ascending order.</a:t>
            </a:r>
          </a:p>
          <a:p>
            <a:pPr marL="292608" indent="-292608">
              <a:buFont typeface="Arial" panose="020B0604020202020204" pitchFamily="34" charset="0"/>
              <a:buChar char="•"/>
            </a:pPr>
            <a:r>
              <a:rPr lang="en-US" noProof="0" dirty="0"/>
              <a:t>Find the smallest and largest data values.</a:t>
            </a:r>
          </a:p>
        </p:txBody>
      </p:sp>
      <p:sp>
        <p:nvSpPr>
          <p:cNvPr id="5" name="Content Placeholder 4"/>
          <p:cNvSpPr>
            <a:spLocks noGrp="1"/>
          </p:cNvSpPr>
          <p:nvPr>
            <p:ph sz="quarter" idx="15"/>
          </p:nvPr>
        </p:nvSpPr>
        <p:spPr>
          <a:xfrm>
            <a:off x="342900" y="2590800"/>
            <a:ext cx="8191500" cy="441960"/>
          </a:xfrm>
        </p:spPr>
        <p:txBody>
          <a:bodyPr/>
          <a:lstStyle/>
          <a:p>
            <a:pPr algn="ctr"/>
            <a:r>
              <a:rPr lang="en-US" sz="2000" b="1" noProof="0" dirty="0"/>
              <a:t>Sorted Price/Earnings Ratios</a:t>
            </a:r>
            <a:endParaRPr lang="en-US" sz="2000" noProof="0" dirty="0"/>
          </a:p>
        </p:txBody>
      </p:sp>
      <p:graphicFrame>
        <p:nvGraphicFramePr>
          <p:cNvPr id="7" name="Table 6"/>
          <p:cNvGraphicFramePr>
            <a:graphicFrameLocks noGrp="1"/>
          </p:cNvGraphicFramePr>
          <p:nvPr>
            <p:extLst>
              <p:ext uri="{D42A27DB-BD31-4B8C-83A1-F6EECF244321}">
                <p14:modId xmlns:p14="http://schemas.microsoft.com/office/powerpoint/2010/main" val="3201864789"/>
              </p:ext>
            </p:extLst>
          </p:nvPr>
        </p:nvGraphicFramePr>
        <p:xfrm>
          <a:off x="480065" y="3210560"/>
          <a:ext cx="8115294" cy="1483360"/>
        </p:xfrm>
        <a:graphic>
          <a:graphicData uri="http://schemas.openxmlformats.org/drawingml/2006/table">
            <a:tbl>
              <a:tblPr firstRow="1" bandRow="1">
                <a:tableStyleId>{2D5ABB26-0587-4C30-8999-92F81FD0307C}</a:tableStyleId>
              </a:tblPr>
              <a:tblGrid>
                <a:gridCol w="737754">
                  <a:extLst>
                    <a:ext uri="{9D8B030D-6E8A-4147-A177-3AD203B41FA5}">
                      <a16:colId xmlns:a16="http://schemas.microsoft.com/office/drawing/2014/main" val="3031717889"/>
                    </a:ext>
                  </a:extLst>
                </a:gridCol>
                <a:gridCol w="737754">
                  <a:extLst>
                    <a:ext uri="{9D8B030D-6E8A-4147-A177-3AD203B41FA5}">
                      <a16:colId xmlns:a16="http://schemas.microsoft.com/office/drawing/2014/main" val="1290506987"/>
                    </a:ext>
                  </a:extLst>
                </a:gridCol>
                <a:gridCol w="737754">
                  <a:extLst>
                    <a:ext uri="{9D8B030D-6E8A-4147-A177-3AD203B41FA5}">
                      <a16:colId xmlns:a16="http://schemas.microsoft.com/office/drawing/2014/main" val="1928382798"/>
                    </a:ext>
                  </a:extLst>
                </a:gridCol>
                <a:gridCol w="737754">
                  <a:extLst>
                    <a:ext uri="{9D8B030D-6E8A-4147-A177-3AD203B41FA5}">
                      <a16:colId xmlns:a16="http://schemas.microsoft.com/office/drawing/2014/main" val="3601107774"/>
                    </a:ext>
                  </a:extLst>
                </a:gridCol>
                <a:gridCol w="737754">
                  <a:extLst>
                    <a:ext uri="{9D8B030D-6E8A-4147-A177-3AD203B41FA5}">
                      <a16:colId xmlns:a16="http://schemas.microsoft.com/office/drawing/2014/main" val="2413677885"/>
                    </a:ext>
                  </a:extLst>
                </a:gridCol>
                <a:gridCol w="737754">
                  <a:extLst>
                    <a:ext uri="{9D8B030D-6E8A-4147-A177-3AD203B41FA5}">
                      <a16:colId xmlns:a16="http://schemas.microsoft.com/office/drawing/2014/main" val="3572784600"/>
                    </a:ext>
                  </a:extLst>
                </a:gridCol>
                <a:gridCol w="737754">
                  <a:extLst>
                    <a:ext uri="{9D8B030D-6E8A-4147-A177-3AD203B41FA5}">
                      <a16:colId xmlns:a16="http://schemas.microsoft.com/office/drawing/2014/main" val="1003624678"/>
                    </a:ext>
                  </a:extLst>
                </a:gridCol>
                <a:gridCol w="737754">
                  <a:extLst>
                    <a:ext uri="{9D8B030D-6E8A-4147-A177-3AD203B41FA5}">
                      <a16:colId xmlns:a16="http://schemas.microsoft.com/office/drawing/2014/main" val="3549156431"/>
                    </a:ext>
                  </a:extLst>
                </a:gridCol>
                <a:gridCol w="737754">
                  <a:extLst>
                    <a:ext uri="{9D8B030D-6E8A-4147-A177-3AD203B41FA5}">
                      <a16:colId xmlns:a16="http://schemas.microsoft.com/office/drawing/2014/main" val="1007512577"/>
                    </a:ext>
                  </a:extLst>
                </a:gridCol>
                <a:gridCol w="737754">
                  <a:extLst>
                    <a:ext uri="{9D8B030D-6E8A-4147-A177-3AD203B41FA5}">
                      <a16:colId xmlns:a16="http://schemas.microsoft.com/office/drawing/2014/main" val="3266540831"/>
                    </a:ext>
                  </a:extLst>
                </a:gridCol>
                <a:gridCol w="737754">
                  <a:extLst>
                    <a:ext uri="{9D8B030D-6E8A-4147-A177-3AD203B41FA5}">
                      <a16:colId xmlns:a16="http://schemas.microsoft.com/office/drawing/2014/main" val="608120898"/>
                    </a:ext>
                  </a:extLst>
                </a:gridCol>
              </a:tblGrid>
              <a:tr h="370840">
                <a:tc>
                  <a:txBody>
                    <a:bodyPr/>
                    <a:lstStyle/>
                    <a:p>
                      <a:pPr algn="r"/>
                      <a:r>
                        <a:rPr lang="en-US" b="1" dirty="0"/>
                        <a:t>7</a:t>
                      </a:r>
                    </a:p>
                  </a:txBody>
                  <a:tcPr>
                    <a:lnT w="12700" cap="flat" cmpd="sng" algn="ctr">
                      <a:solidFill>
                        <a:schemeClr val="tx1"/>
                      </a:solidFill>
                      <a:prstDash val="solid"/>
                      <a:round/>
                      <a:headEnd type="none" w="med" len="med"/>
                      <a:tailEnd type="none" w="med" len="med"/>
                    </a:lnT>
                  </a:tcPr>
                </a:tc>
                <a:tc>
                  <a:txBody>
                    <a:bodyPr/>
                    <a:lstStyle/>
                    <a:p>
                      <a:pPr algn="r"/>
                      <a:r>
                        <a:rPr lang="en-US" dirty="0"/>
                        <a:t>9</a:t>
                      </a:r>
                    </a:p>
                  </a:txBody>
                  <a:tcPr>
                    <a:lnT w="12700" cap="flat" cmpd="sng" algn="ctr">
                      <a:solidFill>
                        <a:schemeClr val="tx1"/>
                      </a:solidFill>
                      <a:prstDash val="solid"/>
                      <a:round/>
                      <a:headEnd type="none" w="med" len="med"/>
                      <a:tailEnd type="none" w="med" len="med"/>
                    </a:lnT>
                  </a:tcPr>
                </a:tc>
                <a:tc>
                  <a:txBody>
                    <a:bodyPr/>
                    <a:lstStyle/>
                    <a:p>
                      <a:pPr algn="r"/>
                      <a:r>
                        <a:rPr lang="en-US" dirty="0"/>
                        <a:t>10</a:t>
                      </a:r>
                    </a:p>
                  </a:txBody>
                  <a:tcPr>
                    <a:lnT w="12700" cap="flat" cmpd="sng" algn="ctr">
                      <a:solidFill>
                        <a:schemeClr val="tx1"/>
                      </a:solidFill>
                      <a:prstDash val="solid"/>
                      <a:round/>
                      <a:headEnd type="none" w="med" len="med"/>
                      <a:tailEnd type="none" w="med" len="med"/>
                    </a:lnT>
                  </a:tcPr>
                </a:tc>
                <a:tc>
                  <a:txBody>
                    <a:bodyPr/>
                    <a:lstStyle/>
                    <a:p>
                      <a:pPr algn="r"/>
                      <a:r>
                        <a:rPr lang="en-US" dirty="0"/>
                        <a:t>10</a:t>
                      </a:r>
                    </a:p>
                  </a:txBody>
                  <a:tcPr>
                    <a:lnT w="12700" cap="flat" cmpd="sng" algn="ctr">
                      <a:solidFill>
                        <a:schemeClr val="tx1"/>
                      </a:solidFill>
                      <a:prstDash val="solid"/>
                      <a:round/>
                      <a:headEnd type="none" w="med" len="med"/>
                      <a:tailEnd type="none" w="med" len="med"/>
                    </a:lnT>
                  </a:tcPr>
                </a:tc>
                <a:tc>
                  <a:txBody>
                    <a:bodyPr/>
                    <a:lstStyle/>
                    <a:p>
                      <a:pPr algn="r"/>
                      <a:r>
                        <a:rPr lang="en-US" dirty="0"/>
                        <a:t>10</a:t>
                      </a:r>
                    </a:p>
                  </a:txBody>
                  <a:tcPr>
                    <a:lnT w="12700" cap="flat" cmpd="sng" algn="ctr">
                      <a:solidFill>
                        <a:schemeClr val="tx1"/>
                      </a:solidFill>
                      <a:prstDash val="solid"/>
                      <a:round/>
                      <a:headEnd type="none" w="med" len="med"/>
                      <a:tailEnd type="none" w="med" len="med"/>
                    </a:lnT>
                  </a:tcPr>
                </a:tc>
                <a:tc>
                  <a:txBody>
                    <a:bodyPr/>
                    <a:lstStyle/>
                    <a:p>
                      <a:pPr algn="r"/>
                      <a:r>
                        <a:rPr lang="en-US" dirty="0"/>
                        <a:t>10</a:t>
                      </a:r>
                    </a:p>
                  </a:txBody>
                  <a:tcPr>
                    <a:lnT w="12700" cap="flat" cmpd="sng" algn="ctr">
                      <a:solidFill>
                        <a:schemeClr val="tx1"/>
                      </a:solidFill>
                      <a:prstDash val="solid"/>
                      <a:round/>
                      <a:headEnd type="none" w="med" len="med"/>
                      <a:tailEnd type="none" w="med" len="med"/>
                    </a:lnT>
                  </a:tcPr>
                </a:tc>
                <a:tc>
                  <a:txBody>
                    <a:bodyPr/>
                    <a:lstStyle/>
                    <a:p>
                      <a:pPr algn="r"/>
                      <a:r>
                        <a:rPr lang="en-US" dirty="0"/>
                        <a:t>11</a:t>
                      </a:r>
                    </a:p>
                  </a:txBody>
                  <a:tcPr>
                    <a:lnT w="12700" cap="flat" cmpd="sng" algn="ctr">
                      <a:solidFill>
                        <a:schemeClr val="tx1"/>
                      </a:solidFill>
                      <a:prstDash val="solid"/>
                      <a:round/>
                      <a:headEnd type="none" w="med" len="med"/>
                      <a:tailEnd type="none" w="med" len="med"/>
                    </a:lnT>
                  </a:tcPr>
                </a:tc>
                <a:tc>
                  <a:txBody>
                    <a:bodyPr/>
                    <a:lstStyle/>
                    <a:p>
                      <a:pPr algn="r"/>
                      <a:r>
                        <a:rPr lang="en-US" dirty="0"/>
                        <a:t>11</a:t>
                      </a:r>
                    </a:p>
                  </a:txBody>
                  <a:tcPr>
                    <a:lnT w="12700" cap="flat" cmpd="sng" algn="ctr">
                      <a:solidFill>
                        <a:schemeClr val="tx1"/>
                      </a:solidFill>
                      <a:prstDash val="solid"/>
                      <a:round/>
                      <a:headEnd type="none" w="med" len="med"/>
                      <a:tailEnd type="none" w="med" len="med"/>
                    </a:lnT>
                  </a:tcPr>
                </a:tc>
                <a:tc>
                  <a:txBody>
                    <a:bodyPr/>
                    <a:lstStyle/>
                    <a:p>
                      <a:pPr algn="r"/>
                      <a:r>
                        <a:rPr lang="en-US" dirty="0"/>
                        <a:t>11</a:t>
                      </a:r>
                    </a:p>
                  </a:txBody>
                  <a:tcPr>
                    <a:lnT w="12700" cap="flat" cmpd="sng" algn="ctr">
                      <a:solidFill>
                        <a:schemeClr val="tx1"/>
                      </a:solidFill>
                      <a:prstDash val="solid"/>
                      <a:round/>
                      <a:headEnd type="none" w="med" len="med"/>
                      <a:tailEnd type="none" w="med" len="med"/>
                    </a:lnT>
                  </a:tcPr>
                </a:tc>
                <a:tc>
                  <a:txBody>
                    <a:bodyPr/>
                    <a:lstStyle/>
                    <a:p>
                      <a:pPr algn="r"/>
                      <a:r>
                        <a:rPr lang="en-US" dirty="0"/>
                        <a:t>12</a:t>
                      </a:r>
                    </a:p>
                  </a:txBody>
                  <a:tcPr>
                    <a:lnT w="12700" cap="flat" cmpd="sng" algn="ctr">
                      <a:solidFill>
                        <a:schemeClr val="tx1"/>
                      </a:solidFill>
                      <a:prstDash val="solid"/>
                      <a:round/>
                      <a:headEnd type="none" w="med" len="med"/>
                      <a:tailEnd type="none" w="med" len="med"/>
                    </a:lnT>
                  </a:tcPr>
                </a:tc>
                <a:tc>
                  <a:txBody>
                    <a:bodyPr/>
                    <a:lstStyle/>
                    <a:p>
                      <a:pPr algn="r"/>
                      <a:r>
                        <a:rPr lang="en-US" dirty="0"/>
                        <a:t>13</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97480122"/>
                  </a:ext>
                </a:extLst>
              </a:tr>
              <a:tr h="370840">
                <a:tc>
                  <a:txBody>
                    <a:bodyPr/>
                    <a:lstStyle/>
                    <a:p>
                      <a:pPr algn="r"/>
                      <a:r>
                        <a:rPr lang="en-US" dirty="0"/>
                        <a:t>13</a:t>
                      </a:r>
                    </a:p>
                  </a:txBody>
                  <a:tcPr/>
                </a:tc>
                <a:tc>
                  <a:txBody>
                    <a:bodyPr/>
                    <a:lstStyle/>
                    <a:p>
                      <a:pPr algn="r"/>
                      <a:r>
                        <a:rPr lang="en-US" dirty="0"/>
                        <a:t>13</a:t>
                      </a:r>
                    </a:p>
                  </a:txBody>
                  <a:tcPr/>
                </a:tc>
                <a:tc>
                  <a:txBody>
                    <a:bodyPr/>
                    <a:lstStyle/>
                    <a:p>
                      <a:pPr algn="r"/>
                      <a:r>
                        <a:rPr lang="en-US" dirty="0"/>
                        <a:t>14</a:t>
                      </a:r>
                    </a:p>
                  </a:txBody>
                  <a:tcPr/>
                </a:tc>
                <a:tc>
                  <a:txBody>
                    <a:bodyPr/>
                    <a:lstStyle/>
                    <a:p>
                      <a:pPr algn="r"/>
                      <a:r>
                        <a:rPr lang="en-US" dirty="0"/>
                        <a:t>14</a:t>
                      </a:r>
                    </a:p>
                  </a:txBody>
                  <a:tcPr/>
                </a:tc>
                <a:tc>
                  <a:txBody>
                    <a:bodyPr/>
                    <a:lstStyle/>
                    <a:p>
                      <a:pPr algn="r"/>
                      <a:r>
                        <a:rPr lang="en-US" dirty="0"/>
                        <a:t>15</a:t>
                      </a:r>
                    </a:p>
                  </a:txBody>
                  <a:tcPr/>
                </a:tc>
                <a:tc>
                  <a:txBody>
                    <a:bodyPr/>
                    <a:lstStyle/>
                    <a:p>
                      <a:pPr algn="r"/>
                      <a:r>
                        <a:rPr lang="en-US" dirty="0"/>
                        <a:t>16</a:t>
                      </a:r>
                    </a:p>
                  </a:txBody>
                  <a:tcPr/>
                </a:tc>
                <a:tc>
                  <a:txBody>
                    <a:bodyPr/>
                    <a:lstStyle/>
                    <a:p>
                      <a:pPr algn="r"/>
                      <a:r>
                        <a:rPr lang="en-US" dirty="0"/>
                        <a:t>16</a:t>
                      </a:r>
                    </a:p>
                  </a:txBody>
                  <a:tcPr/>
                </a:tc>
                <a:tc>
                  <a:txBody>
                    <a:bodyPr/>
                    <a:lstStyle/>
                    <a:p>
                      <a:pPr algn="r"/>
                      <a:r>
                        <a:rPr lang="en-US" dirty="0"/>
                        <a:t>16</a:t>
                      </a:r>
                    </a:p>
                  </a:txBody>
                  <a:tcPr/>
                </a:tc>
                <a:tc>
                  <a:txBody>
                    <a:bodyPr/>
                    <a:lstStyle/>
                    <a:p>
                      <a:pPr algn="r"/>
                      <a:r>
                        <a:rPr lang="en-US" dirty="0"/>
                        <a:t>16</a:t>
                      </a:r>
                    </a:p>
                  </a:txBody>
                  <a:tcPr/>
                </a:tc>
                <a:tc>
                  <a:txBody>
                    <a:bodyPr/>
                    <a:lstStyle/>
                    <a:p>
                      <a:pPr algn="r"/>
                      <a:r>
                        <a:rPr lang="en-US" dirty="0"/>
                        <a:t>17</a:t>
                      </a:r>
                    </a:p>
                  </a:txBody>
                  <a:tcPr/>
                </a:tc>
                <a:tc>
                  <a:txBody>
                    <a:bodyPr/>
                    <a:lstStyle/>
                    <a:p>
                      <a:pPr algn="r"/>
                      <a:r>
                        <a:rPr lang="en-US" dirty="0"/>
                        <a:t>17</a:t>
                      </a:r>
                    </a:p>
                  </a:txBody>
                  <a:tcPr/>
                </a:tc>
                <a:extLst>
                  <a:ext uri="{0D108BD9-81ED-4DB2-BD59-A6C34878D82A}">
                    <a16:rowId xmlns:a16="http://schemas.microsoft.com/office/drawing/2014/main" val="3636116356"/>
                  </a:ext>
                </a:extLst>
              </a:tr>
              <a:tr h="370840">
                <a:tc>
                  <a:txBody>
                    <a:bodyPr/>
                    <a:lstStyle/>
                    <a:p>
                      <a:pPr algn="r"/>
                      <a:r>
                        <a:rPr lang="en-US" dirty="0"/>
                        <a:t>18</a:t>
                      </a:r>
                    </a:p>
                  </a:txBody>
                  <a:tcPr/>
                </a:tc>
                <a:tc>
                  <a:txBody>
                    <a:bodyPr/>
                    <a:lstStyle/>
                    <a:p>
                      <a:pPr algn="r"/>
                      <a:r>
                        <a:rPr lang="en-US" dirty="0"/>
                        <a:t>18</a:t>
                      </a:r>
                    </a:p>
                  </a:txBody>
                  <a:tcPr/>
                </a:tc>
                <a:tc>
                  <a:txBody>
                    <a:bodyPr/>
                    <a:lstStyle/>
                    <a:p>
                      <a:pPr algn="r"/>
                      <a:r>
                        <a:rPr lang="en-US" dirty="0"/>
                        <a:t>19</a:t>
                      </a:r>
                    </a:p>
                  </a:txBody>
                  <a:tcPr/>
                </a:tc>
                <a:tc>
                  <a:txBody>
                    <a:bodyPr/>
                    <a:lstStyle/>
                    <a:p>
                      <a:pPr algn="r"/>
                      <a:r>
                        <a:rPr lang="en-US" dirty="0"/>
                        <a:t>19</a:t>
                      </a:r>
                    </a:p>
                  </a:txBody>
                  <a:tcPr/>
                </a:tc>
                <a:tc>
                  <a:txBody>
                    <a:bodyPr/>
                    <a:lstStyle/>
                    <a:p>
                      <a:pPr algn="r"/>
                      <a:r>
                        <a:rPr lang="en-US" dirty="0"/>
                        <a:t>20</a:t>
                      </a:r>
                    </a:p>
                  </a:txBody>
                  <a:tcPr/>
                </a:tc>
                <a:tc>
                  <a:txBody>
                    <a:bodyPr/>
                    <a:lstStyle/>
                    <a:p>
                      <a:pPr algn="r"/>
                      <a:r>
                        <a:rPr lang="en-US" dirty="0"/>
                        <a:t>20</a:t>
                      </a:r>
                    </a:p>
                  </a:txBody>
                  <a:tcPr/>
                </a:tc>
                <a:tc>
                  <a:txBody>
                    <a:bodyPr/>
                    <a:lstStyle/>
                    <a:p>
                      <a:pPr algn="r"/>
                      <a:r>
                        <a:rPr lang="en-US" dirty="0"/>
                        <a:t>21</a:t>
                      </a:r>
                    </a:p>
                  </a:txBody>
                  <a:tcPr/>
                </a:tc>
                <a:tc>
                  <a:txBody>
                    <a:bodyPr/>
                    <a:lstStyle/>
                    <a:p>
                      <a:pPr algn="r"/>
                      <a:r>
                        <a:rPr lang="en-US" dirty="0"/>
                        <a:t>21</a:t>
                      </a:r>
                    </a:p>
                  </a:txBody>
                  <a:tcPr/>
                </a:tc>
                <a:tc>
                  <a:txBody>
                    <a:bodyPr/>
                    <a:lstStyle/>
                    <a:p>
                      <a:pPr algn="r"/>
                      <a:r>
                        <a:rPr lang="en-US" dirty="0"/>
                        <a:t>22</a:t>
                      </a:r>
                    </a:p>
                  </a:txBody>
                  <a:tcPr/>
                </a:tc>
                <a:tc>
                  <a:txBody>
                    <a:bodyPr/>
                    <a:lstStyle/>
                    <a:p>
                      <a:pPr algn="r"/>
                      <a:r>
                        <a:rPr lang="en-US" dirty="0"/>
                        <a:t>23</a:t>
                      </a:r>
                    </a:p>
                  </a:txBody>
                  <a:tcPr/>
                </a:tc>
                <a:tc>
                  <a:txBody>
                    <a:bodyPr/>
                    <a:lstStyle/>
                    <a:p>
                      <a:pPr algn="r"/>
                      <a:r>
                        <a:rPr lang="en-US" dirty="0"/>
                        <a:t>24</a:t>
                      </a:r>
                    </a:p>
                  </a:txBody>
                  <a:tcPr/>
                </a:tc>
                <a:extLst>
                  <a:ext uri="{0D108BD9-81ED-4DB2-BD59-A6C34878D82A}">
                    <a16:rowId xmlns:a16="http://schemas.microsoft.com/office/drawing/2014/main" val="3833546373"/>
                  </a:ext>
                </a:extLst>
              </a:tr>
              <a:tr h="370840">
                <a:tc>
                  <a:txBody>
                    <a:bodyPr/>
                    <a:lstStyle/>
                    <a:p>
                      <a:pPr algn="r"/>
                      <a:r>
                        <a:rPr lang="en-US" dirty="0"/>
                        <a:t>26</a:t>
                      </a:r>
                    </a:p>
                  </a:txBody>
                  <a:tcPr>
                    <a:lnB w="12700" cap="flat" cmpd="sng" algn="ctr">
                      <a:solidFill>
                        <a:schemeClr val="tx1"/>
                      </a:solidFill>
                      <a:prstDash val="solid"/>
                      <a:round/>
                      <a:headEnd type="none" w="med" len="med"/>
                      <a:tailEnd type="none" w="med" len="med"/>
                    </a:lnB>
                  </a:tcPr>
                </a:tc>
                <a:tc>
                  <a:txBody>
                    <a:bodyPr/>
                    <a:lstStyle/>
                    <a:p>
                      <a:pPr algn="r"/>
                      <a:r>
                        <a:rPr lang="en-US" dirty="0"/>
                        <a:t>26</a:t>
                      </a:r>
                    </a:p>
                  </a:txBody>
                  <a:tcPr>
                    <a:lnB w="12700" cap="flat" cmpd="sng" algn="ctr">
                      <a:solidFill>
                        <a:schemeClr val="tx1"/>
                      </a:solidFill>
                      <a:prstDash val="solid"/>
                      <a:round/>
                      <a:headEnd type="none" w="med" len="med"/>
                      <a:tailEnd type="none" w="med" len="med"/>
                    </a:lnB>
                  </a:tcPr>
                </a:tc>
                <a:tc>
                  <a:txBody>
                    <a:bodyPr/>
                    <a:lstStyle/>
                    <a:p>
                      <a:pPr algn="r"/>
                      <a:r>
                        <a:rPr lang="en-US" dirty="0"/>
                        <a:t>27</a:t>
                      </a:r>
                    </a:p>
                  </a:txBody>
                  <a:tcPr>
                    <a:lnB w="12700" cap="flat" cmpd="sng" algn="ctr">
                      <a:solidFill>
                        <a:schemeClr val="tx1"/>
                      </a:solidFill>
                      <a:prstDash val="solid"/>
                      <a:round/>
                      <a:headEnd type="none" w="med" len="med"/>
                      <a:tailEnd type="none" w="med" len="med"/>
                    </a:lnB>
                  </a:tcPr>
                </a:tc>
                <a:tc>
                  <a:txBody>
                    <a:bodyPr/>
                    <a:lstStyle/>
                    <a:p>
                      <a:pPr algn="r"/>
                      <a:r>
                        <a:rPr lang="en-US" dirty="0"/>
                        <a:t>28</a:t>
                      </a:r>
                    </a:p>
                  </a:txBody>
                  <a:tcPr>
                    <a:lnB w="12700" cap="flat" cmpd="sng" algn="ctr">
                      <a:solidFill>
                        <a:schemeClr val="tx1"/>
                      </a:solidFill>
                      <a:prstDash val="solid"/>
                      <a:round/>
                      <a:headEnd type="none" w="med" len="med"/>
                      <a:tailEnd type="none" w="med" len="med"/>
                    </a:lnB>
                  </a:tcPr>
                </a:tc>
                <a:tc>
                  <a:txBody>
                    <a:bodyPr/>
                    <a:lstStyle/>
                    <a:p>
                      <a:pPr algn="r"/>
                      <a:r>
                        <a:rPr lang="en-US" dirty="0"/>
                        <a:t>31</a:t>
                      </a:r>
                    </a:p>
                  </a:txBody>
                  <a:tcPr>
                    <a:lnB w="12700" cap="flat" cmpd="sng" algn="ctr">
                      <a:solidFill>
                        <a:schemeClr val="tx1"/>
                      </a:solidFill>
                      <a:prstDash val="solid"/>
                      <a:round/>
                      <a:headEnd type="none" w="med" len="med"/>
                      <a:tailEnd type="none" w="med" len="med"/>
                    </a:lnB>
                  </a:tcPr>
                </a:tc>
                <a:tc>
                  <a:txBody>
                    <a:bodyPr/>
                    <a:lstStyle/>
                    <a:p>
                      <a:pPr algn="r"/>
                      <a:r>
                        <a:rPr lang="en-US" dirty="0"/>
                        <a:t>37</a:t>
                      </a:r>
                    </a:p>
                  </a:txBody>
                  <a:tcPr>
                    <a:lnB w="12700" cap="flat" cmpd="sng" algn="ctr">
                      <a:solidFill>
                        <a:schemeClr val="tx1"/>
                      </a:solidFill>
                      <a:prstDash val="solid"/>
                      <a:round/>
                      <a:headEnd type="none" w="med" len="med"/>
                      <a:tailEnd type="none" w="med" len="med"/>
                    </a:lnB>
                  </a:tcPr>
                </a:tc>
                <a:tc>
                  <a:txBody>
                    <a:bodyPr/>
                    <a:lstStyle/>
                    <a:p>
                      <a:pPr algn="r"/>
                      <a:r>
                        <a:rPr lang="en-US" dirty="0"/>
                        <a:t>37</a:t>
                      </a:r>
                    </a:p>
                  </a:txBody>
                  <a:tcPr>
                    <a:lnB w="12700" cap="flat" cmpd="sng" algn="ctr">
                      <a:solidFill>
                        <a:schemeClr val="tx1"/>
                      </a:solidFill>
                      <a:prstDash val="solid"/>
                      <a:round/>
                      <a:headEnd type="none" w="med" len="med"/>
                      <a:tailEnd type="none" w="med" len="med"/>
                    </a:lnB>
                  </a:tcPr>
                </a:tc>
                <a:tc>
                  <a:txBody>
                    <a:bodyPr/>
                    <a:lstStyle/>
                    <a:p>
                      <a:pPr algn="r"/>
                      <a:r>
                        <a:rPr lang="en-US" dirty="0"/>
                        <a:t>38</a:t>
                      </a:r>
                    </a:p>
                  </a:txBody>
                  <a:tcPr>
                    <a:lnB w="12700" cap="flat" cmpd="sng" algn="ctr">
                      <a:solidFill>
                        <a:schemeClr val="tx1"/>
                      </a:solidFill>
                      <a:prstDash val="solid"/>
                      <a:round/>
                      <a:headEnd type="none" w="med" len="med"/>
                      <a:tailEnd type="none" w="med" len="med"/>
                    </a:lnB>
                  </a:tcPr>
                </a:tc>
                <a:tc>
                  <a:txBody>
                    <a:bodyPr/>
                    <a:lstStyle/>
                    <a:p>
                      <a:pPr algn="r"/>
                      <a:r>
                        <a:rPr lang="en-US" dirty="0"/>
                        <a:t>42</a:t>
                      </a:r>
                    </a:p>
                  </a:txBody>
                  <a:tcPr>
                    <a:lnB w="12700" cap="flat" cmpd="sng" algn="ctr">
                      <a:solidFill>
                        <a:schemeClr val="tx1"/>
                      </a:solidFill>
                      <a:prstDash val="solid"/>
                      <a:round/>
                      <a:headEnd type="none" w="med" len="med"/>
                      <a:tailEnd type="none" w="med" len="med"/>
                    </a:lnB>
                  </a:tcPr>
                </a:tc>
                <a:tc>
                  <a:txBody>
                    <a:bodyPr/>
                    <a:lstStyle/>
                    <a:p>
                      <a:pPr algn="r"/>
                      <a:r>
                        <a:rPr lang="en-US" dirty="0"/>
                        <a:t>50</a:t>
                      </a:r>
                    </a:p>
                  </a:txBody>
                  <a:tcPr>
                    <a:lnB w="12700" cap="flat" cmpd="sng" algn="ctr">
                      <a:solidFill>
                        <a:schemeClr val="tx1"/>
                      </a:solidFill>
                      <a:prstDash val="solid"/>
                      <a:round/>
                      <a:headEnd type="none" w="med" len="med"/>
                      <a:tailEnd type="none" w="med" len="med"/>
                    </a:lnB>
                  </a:tcPr>
                </a:tc>
                <a:tc>
                  <a:txBody>
                    <a:bodyPr/>
                    <a:lstStyle/>
                    <a:p>
                      <a:pPr algn="r"/>
                      <a:r>
                        <a:rPr lang="en-US" b="1" dirty="0"/>
                        <a:t>59</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6851957"/>
                  </a:ext>
                </a:extLst>
              </a:tr>
            </a:tbl>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13</a:t>
            </a:fld>
            <a:endParaRPr lang="en-US" dirty="0"/>
          </a:p>
        </p:txBody>
      </p:sp>
    </p:spTree>
    <p:extLst>
      <p:ext uri="{BB962C8B-B14F-4D97-AF65-F5344CB8AC3E}">
        <p14:creationId xmlns:p14="http://schemas.microsoft.com/office/powerpoint/2010/main" val="1349301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Frequency Distribution </a:t>
            </a:r>
            <a:r>
              <a:rPr lang="en-US" sz="1000" b="0" noProof="0" dirty="0"/>
              <a:t>3</a:t>
            </a:r>
            <a:endParaRPr lang="en-US" sz="1000" noProof="0" dirty="0"/>
          </a:p>
        </p:txBody>
      </p:sp>
      <p:sp>
        <p:nvSpPr>
          <p:cNvPr id="9" name="Content Placeholder 2">
            <a:extLst>
              <a:ext uri="{FF2B5EF4-FFF2-40B4-BE49-F238E27FC236}">
                <a16:creationId xmlns:a16="http://schemas.microsoft.com/office/drawing/2014/main" id="{9185354E-271C-5417-B203-FE0D6E18571E}"/>
              </a:ext>
            </a:extLst>
          </p:cNvPr>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3.2</a:t>
            </a:r>
          </a:p>
        </p:txBody>
      </p:sp>
      <p:sp>
        <p:nvSpPr>
          <p:cNvPr id="7" name="Content Placeholder 6"/>
          <p:cNvSpPr>
            <a:spLocks noGrp="1"/>
          </p:cNvSpPr>
          <p:nvPr>
            <p:ph sz="quarter" idx="14"/>
          </p:nvPr>
        </p:nvSpPr>
        <p:spPr>
          <a:xfrm>
            <a:off x="342900" y="1260475"/>
            <a:ext cx="8191500" cy="2214245"/>
          </a:xfrm>
        </p:spPr>
        <p:txBody>
          <a:bodyPr/>
          <a:lstStyle/>
          <a:p>
            <a:r>
              <a:rPr lang="en-US" noProof="0" dirty="0"/>
              <a:t>Step 2: Choose the number of bins.</a:t>
            </a:r>
          </a:p>
          <a:p>
            <a:pPr marL="292608" indent="-292608">
              <a:buFont typeface="Arial" panose="020B0604020202020204" pitchFamily="34" charset="0"/>
              <a:buChar char="•"/>
            </a:pPr>
            <a:r>
              <a:rPr lang="en-US" noProof="0" dirty="0"/>
              <a:t>We expect the number of bins, </a:t>
            </a:r>
            <a:r>
              <a:rPr lang="en-US" i="1" noProof="0" dirty="0"/>
              <a:t>k</a:t>
            </a:r>
            <a:r>
              <a:rPr lang="en-US" noProof="0" dirty="0"/>
              <a:t>, to be much smaller than the sample size, </a:t>
            </a:r>
            <a:r>
              <a:rPr lang="en-US" i="1" noProof="0" dirty="0"/>
              <a:t>n</a:t>
            </a:r>
            <a:r>
              <a:rPr lang="en-US" noProof="0" dirty="0"/>
              <a:t>.</a:t>
            </a:r>
          </a:p>
          <a:p>
            <a:pPr marL="292608" indent="-292608">
              <a:buFont typeface="Arial" panose="020B0604020202020204" pitchFamily="34" charset="0"/>
              <a:buChar char="•"/>
            </a:pPr>
            <a:r>
              <a:rPr lang="en-US" noProof="0" dirty="0"/>
              <a:t>Sturges’ Rule: Every time we double the sample size, we should add one bin.</a:t>
            </a:r>
          </a:p>
        </p:txBody>
      </p:sp>
      <p:graphicFrame>
        <p:nvGraphicFramePr>
          <p:cNvPr id="8" name="Table 7"/>
          <p:cNvGraphicFramePr>
            <a:graphicFrameLocks noGrp="1"/>
          </p:cNvGraphicFramePr>
          <p:nvPr>
            <p:extLst>
              <p:ext uri="{D42A27DB-BD31-4B8C-83A1-F6EECF244321}">
                <p14:modId xmlns:p14="http://schemas.microsoft.com/office/powerpoint/2010/main" val="347359285"/>
              </p:ext>
            </p:extLst>
          </p:nvPr>
        </p:nvGraphicFramePr>
        <p:xfrm>
          <a:off x="723900" y="3576320"/>
          <a:ext cx="7810500" cy="2926080"/>
        </p:xfrm>
        <a:graphic>
          <a:graphicData uri="http://schemas.openxmlformats.org/drawingml/2006/table">
            <a:tbl>
              <a:tblPr firstRow="1" bandRow="1">
                <a:tableStyleId>{5C22544A-7EE6-4342-B048-85BDC9FD1C3A}</a:tableStyleId>
              </a:tblPr>
              <a:tblGrid>
                <a:gridCol w="3905250">
                  <a:extLst>
                    <a:ext uri="{9D8B030D-6E8A-4147-A177-3AD203B41FA5}">
                      <a16:colId xmlns:a16="http://schemas.microsoft.com/office/drawing/2014/main" val="3489942035"/>
                    </a:ext>
                  </a:extLst>
                </a:gridCol>
                <a:gridCol w="3905250">
                  <a:extLst>
                    <a:ext uri="{9D8B030D-6E8A-4147-A177-3AD203B41FA5}">
                      <a16:colId xmlns:a16="http://schemas.microsoft.com/office/drawing/2014/main" val="1342680824"/>
                    </a:ext>
                  </a:extLst>
                </a:gridCol>
              </a:tblGrid>
              <a:tr h="276781">
                <a:tc>
                  <a:txBody>
                    <a:bodyPr/>
                    <a:lstStyle/>
                    <a:p>
                      <a:pPr algn="ctr"/>
                      <a:r>
                        <a:rPr lang="en-US" dirty="0"/>
                        <a:t>Sample Size (</a:t>
                      </a:r>
                      <a:r>
                        <a:rPr lang="en-US" i="1" dirty="0"/>
                        <a:t>n</a:t>
                      </a:r>
                      <a:r>
                        <a:rPr lang="en-US" dirty="0"/>
                        <a:t>)</a:t>
                      </a:r>
                    </a:p>
                  </a:txBody>
                  <a:tcPr>
                    <a:solidFill>
                      <a:srgbClr val="C00000"/>
                    </a:solidFill>
                  </a:tcPr>
                </a:tc>
                <a:tc>
                  <a:txBody>
                    <a:bodyPr/>
                    <a:lstStyle/>
                    <a:p>
                      <a:pPr algn="ctr"/>
                      <a:r>
                        <a:rPr lang="en-US" dirty="0"/>
                        <a:t>Suggested Number of Bins (</a:t>
                      </a:r>
                      <a:r>
                        <a:rPr lang="en-US" i="1" dirty="0"/>
                        <a:t>k</a:t>
                      </a:r>
                      <a:r>
                        <a:rPr lang="en-US" dirty="0"/>
                        <a:t>)</a:t>
                      </a:r>
                    </a:p>
                  </a:txBody>
                  <a:tcPr>
                    <a:solidFill>
                      <a:srgbClr val="C00000"/>
                    </a:solidFill>
                  </a:tcPr>
                </a:tc>
                <a:extLst>
                  <a:ext uri="{0D108BD9-81ED-4DB2-BD59-A6C34878D82A}">
                    <a16:rowId xmlns:a16="http://schemas.microsoft.com/office/drawing/2014/main" val="1923144171"/>
                  </a:ext>
                </a:extLst>
              </a:tr>
              <a:tr h="276781">
                <a:tc>
                  <a:txBody>
                    <a:bodyPr/>
                    <a:lstStyle/>
                    <a:p>
                      <a:pPr marL="350838" indent="0" algn="ctr"/>
                      <a:r>
                        <a:rPr lang="en-US" dirty="0"/>
                        <a:t>16</a:t>
                      </a:r>
                    </a:p>
                  </a:txBody>
                  <a:tcPr/>
                </a:tc>
                <a:tc>
                  <a:txBody>
                    <a:bodyPr/>
                    <a:lstStyle/>
                    <a:p>
                      <a:pPr marL="122238" indent="0" algn="ctr"/>
                      <a:r>
                        <a:rPr lang="en-US" dirty="0"/>
                        <a:t>5</a:t>
                      </a:r>
                    </a:p>
                  </a:txBody>
                  <a:tcPr/>
                </a:tc>
                <a:extLst>
                  <a:ext uri="{0D108BD9-81ED-4DB2-BD59-A6C34878D82A}">
                    <a16:rowId xmlns:a16="http://schemas.microsoft.com/office/drawing/2014/main" val="382628180"/>
                  </a:ext>
                </a:extLst>
              </a:tr>
              <a:tr h="276781">
                <a:tc>
                  <a:txBody>
                    <a:bodyPr/>
                    <a:lstStyle/>
                    <a:p>
                      <a:pPr marL="350838" indent="0" algn="ctr"/>
                      <a:r>
                        <a:rPr lang="en-US" dirty="0"/>
                        <a:t>32</a:t>
                      </a:r>
                    </a:p>
                  </a:txBody>
                  <a:tcPr/>
                </a:tc>
                <a:tc>
                  <a:txBody>
                    <a:bodyPr/>
                    <a:lstStyle/>
                    <a:p>
                      <a:pPr marL="122238" indent="0" algn="ctr"/>
                      <a:r>
                        <a:rPr lang="en-US" dirty="0"/>
                        <a:t>6</a:t>
                      </a:r>
                    </a:p>
                  </a:txBody>
                  <a:tcPr/>
                </a:tc>
                <a:extLst>
                  <a:ext uri="{0D108BD9-81ED-4DB2-BD59-A6C34878D82A}">
                    <a16:rowId xmlns:a16="http://schemas.microsoft.com/office/drawing/2014/main" val="2925122546"/>
                  </a:ext>
                </a:extLst>
              </a:tr>
              <a:tr h="276781">
                <a:tc>
                  <a:txBody>
                    <a:bodyPr/>
                    <a:lstStyle/>
                    <a:p>
                      <a:pPr marL="350838" indent="0" algn="ctr"/>
                      <a:r>
                        <a:rPr lang="en-US" dirty="0"/>
                        <a:t>64</a:t>
                      </a:r>
                    </a:p>
                  </a:txBody>
                  <a:tcPr/>
                </a:tc>
                <a:tc>
                  <a:txBody>
                    <a:bodyPr/>
                    <a:lstStyle/>
                    <a:p>
                      <a:pPr marL="122238" indent="0" algn="ctr"/>
                      <a:r>
                        <a:rPr lang="en-US" dirty="0"/>
                        <a:t>7</a:t>
                      </a:r>
                    </a:p>
                  </a:txBody>
                  <a:tcPr/>
                </a:tc>
                <a:extLst>
                  <a:ext uri="{0D108BD9-81ED-4DB2-BD59-A6C34878D82A}">
                    <a16:rowId xmlns:a16="http://schemas.microsoft.com/office/drawing/2014/main" val="190582033"/>
                  </a:ext>
                </a:extLst>
              </a:tr>
              <a:tr h="276781">
                <a:tc>
                  <a:txBody>
                    <a:bodyPr/>
                    <a:lstStyle/>
                    <a:p>
                      <a:pPr marL="228600" indent="0" algn="ctr"/>
                      <a:r>
                        <a:rPr lang="en-US" dirty="0"/>
                        <a:t>128</a:t>
                      </a:r>
                    </a:p>
                  </a:txBody>
                  <a:tcPr/>
                </a:tc>
                <a:tc>
                  <a:txBody>
                    <a:bodyPr/>
                    <a:lstStyle/>
                    <a:p>
                      <a:pPr marL="122238" indent="0" algn="ctr"/>
                      <a:r>
                        <a:rPr lang="en-US" dirty="0"/>
                        <a:t>8</a:t>
                      </a:r>
                    </a:p>
                  </a:txBody>
                  <a:tcPr/>
                </a:tc>
                <a:extLst>
                  <a:ext uri="{0D108BD9-81ED-4DB2-BD59-A6C34878D82A}">
                    <a16:rowId xmlns:a16="http://schemas.microsoft.com/office/drawing/2014/main" val="3844751583"/>
                  </a:ext>
                </a:extLst>
              </a:tr>
              <a:tr h="276781">
                <a:tc>
                  <a:txBody>
                    <a:bodyPr/>
                    <a:lstStyle/>
                    <a:p>
                      <a:pPr marL="228600" indent="0" algn="ctr"/>
                      <a:r>
                        <a:rPr lang="en-US" dirty="0"/>
                        <a:t>256</a:t>
                      </a:r>
                    </a:p>
                  </a:txBody>
                  <a:tcPr/>
                </a:tc>
                <a:tc>
                  <a:txBody>
                    <a:bodyPr/>
                    <a:lstStyle/>
                    <a:p>
                      <a:pPr marL="122238" indent="0" algn="ctr"/>
                      <a:r>
                        <a:rPr lang="en-US" dirty="0"/>
                        <a:t>9</a:t>
                      </a:r>
                    </a:p>
                  </a:txBody>
                  <a:tcPr/>
                </a:tc>
                <a:extLst>
                  <a:ext uri="{0D108BD9-81ED-4DB2-BD59-A6C34878D82A}">
                    <a16:rowId xmlns:a16="http://schemas.microsoft.com/office/drawing/2014/main" val="3680194393"/>
                  </a:ext>
                </a:extLst>
              </a:tr>
              <a:tr h="276781">
                <a:tc>
                  <a:txBody>
                    <a:bodyPr/>
                    <a:lstStyle/>
                    <a:p>
                      <a:pPr marL="228600" indent="0" algn="ctr"/>
                      <a:r>
                        <a:rPr lang="en-US" dirty="0"/>
                        <a:t>512</a:t>
                      </a:r>
                    </a:p>
                  </a:txBody>
                  <a:tcPr/>
                </a:tc>
                <a:tc>
                  <a:txBody>
                    <a:bodyPr/>
                    <a:lstStyle/>
                    <a:p>
                      <a:pPr algn="ctr"/>
                      <a:r>
                        <a:rPr lang="en-US" dirty="0"/>
                        <a:t>10</a:t>
                      </a:r>
                    </a:p>
                  </a:txBody>
                  <a:tcPr/>
                </a:tc>
                <a:extLst>
                  <a:ext uri="{0D108BD9-81ED-4DB2-BD59-A6C34878D82A}">
                    <a16:rowId xmlns:a16="http://schemas.microsoft.com/office/drawing/2014/main" val="1547412874"/>
                  </a:ext>
                </a:extLst>
              </a:tr>
              <a:tr h="276781">
                <a:tc>
                  <a:txBody>
                    <a:bodyPr/>
                    <a:lstStyle/>
                    <a:p>
                      <a:pPr algn="ctr"/>
                      <a:r>
                        <a:rPr lang="en-US" dirty="0"/>
                        <a:t>1,024</a:t>
                      </a:r>
                    </a:p>
                  </a:txBody>
                  <a:tcPr/>
                </a:tc>
                <a:tc>
                  <a:txBody>
                    <a:bodyPr/>
                    <a:lstStyle/>
                    <a:p>
                      <a:pPr algn="ctr"/>
                      <a:r>
                        <a:rPr lang="en-US" dirty="0"/>
                        <a:t>11</a:t>
                      </a:r>
                    </a:p>
                  </a:txBody>
                  <a:tcPr/>
                </a:tc>
                <a:extLst>
                  <a:ext uri="{0D108BD9-81ED-4DB2-BD59-A6C34878D82A}">
                    <a16:rowId xmlns:a16="http://schemas.microsoft.com/office/drawing/2014/main" val="3470200541"/>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3597981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Frequency Distribution </a:t>
            </a:r>
            <a:r>
              <a:rPr lang="en-US" sz="1000" b="0" noProof="0" dirty="0"/>
              <a:t>4</a:t>
            </a:r>
            <a:endParaRPr lang="en-US" sz="1000" noProof="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3.2</a:t>
            </a:r>
          </a:p>
        </p:txBody>
      </p:sp>
      <p:sp>
        <p:nvSpPr>
          <p:cNvPr id="4" name="Content Placeholder 3"/>
          <p:cNvSpPr>
            <a:spLocks noGrp="1"/>
          </p:cNvSpPr>
          <p:nvPr>
            <p:ph sz="quarter" idx="14"/>
          </p:nvPr>
        </p:nvSpPr>
        <p:spPr>
          <a:xfrm>
            <a:off x="342900" y="1262776"/>
            <a:ext cx="8191500" cy="1343264"/>
          </a:xfrm>
        </p:spPr>
        <p:txBody>
          <a:bodyPr/>
          <a:lstStyle/>
          <a:p>
            <a:r>
              <a:rPr lang="en-US" noProof="0" dirty="0"/>
              <a:t>Step 3: Set bin limits.</a:t>
            </a:r>
          </a:p>
          <a:p>
            <a:pPr marL="292608" indent="-292608">
              <a:buFont typeface="Arial" panose="020B0604020202020204" pitchFamily="34" charset="0"/>
              <a:buChar char="•"/>
            </a:pPr>
            <a:r>
              <a:rPr lang="en-US" noProof="0" dirty="0"/>
              <a:t>Find the appropriate width by dividing the data range by the number of bins:</a:t>
            </a:r>
          </a:p>
        </p:txBody>
      </p:sp>
      <p:graphicFrame>
        <p:nvGraphicFramePr>
          <p:cNvPr id="11" name="Object 10"/>
          <p:cNvGraphicFramePr>
            <a:graphicFrameLocks noChangeAspect="1"/>
          </p:cNvGraphicFramePr>
          <p:nvPr>
            <p:extLst>
              <p:ext uri="{D42A27DB-BD31-4B8C-83A1-F6EECF244321}">
                <p14:modId xmlns:p14="http://schemas.microsoft.com/office/powerpoint/2010/main" val="4248375825"/>
              </p:ext>
            </p:extLst>
          </p:nvPr>
        </p:nvGraphicFramePr>
        <p:xfrm>
          <a:off x="3152775" y="2767013"/>
          <a:ext cx="2844800" cy="736600"/>
        </p:xfrm>
        <a:graphic>
          <a:graphicData uri="http://schemas.openxmlformats.org/presentationml/2006/ole">
            <mc:AlternateContent xmlns:mc="http://schemas.openxmlformats.org/markup-compatibility/2006">
              <mc:Choice xmlns:v="urn:schemas-microsoft-com:vml" Requires="v">
                <p:oleObj name="Equation" r:id="rId2" imgW="2844720" imgH="736560" progId="Equation.DSMT4">
                  <p:embed/>
                </p:oleObj>
              </mc:Choice>
              <mc:Fallback>
                <p:oleObj name="Equation" r:id="rId2" imgW="2844720" imgH="736560" progId="Equation.DSMT4">
                  <p:embed/>
                  <p:pic>
                    <p:nvPicPr>
                      <p:cNvPr id="12" name="Object 11"/>
                      <p:cNvPicPr/>
                      <p:nvPr/>
                    </p:nvPicPr>
                    <p:blipFill>
                      <a:blip r:embed="rId3"/>
                      <a:stretch>
                        <a:fillRect/>
                      </a:stretch>
                    </p:blipFill>
                    <p:spPr>
                      <a:xfrm>
                        <a:off x="3152775" y="2767013"/>
                        <a:ext cx="2844800" cy="736600"/>
                      </a:xfrm>
                      <a:prstGeom prst="rect">
                        <a:avLst/>
                      </a:prstGeom>
                    </p:spPr>
                  </p:pic>
                </p:oleObj>
              </mc:Fallback>
            </mc:AlternateContent>
          </a:graphicData>
        </a:graphic>
      </p:graphicFrame>
      <p:sp>
        <p:nvSpPr>
          <p:cNvPr id="5" name="Content Placeholder 4"/>
          <p:cNvSpPr>
            <a:spLocks noGrp="1"/>
          </p:cNvSpPr>
          <p:nvPr>
            <p:ph sz="quarter" idx="15"/>
          </p:nvPr>
        </p:nvSpPr>
        <p:spPr>
          <a:xfrm>
            <a:off x="342900" y="3657600"/>
            <a:ext cx="8191500" cy="861324"/>
          </a:xfrm>
        </p:spPr>
        <p:txBody>
          <a:bodyPr/>
          <a:lstStyle/>
          <a:p>
            <a:pPr marL="292608" indent="-292608">
              <a:buFont typeface="Arial" panose="020B0604020202020204" pitchFamily="34" charset="0"/>
              <a:buChar char="•"/>
            </a:pPr>
            <a:r>
              <a:rPr lang="en-US" noProof="0" dirty="0"/>
              <a:t>Using the example on the previous slide our calculation would be:</a:t>
            </a:r>
          </a:p>
        </p:txBody>
      </p:sp>
      <p:graphicFrame>
        <p:nvGraphicFramePr>
          <p:cNvPr id="12" name="Object 11"/>
          <p:cNvGraphicFramePr>
            <a:graphicFrameLocks noChangeAspect="1"/>
          </p:cNvGraphicFramePr>
          <p:nvPr>
            <p:extLst>
              <p:ext uri="{D42A27DB-BD31-4B8C-83A1-F6EECF244321}">
                <p14:modId xmlns:p14="http://schemas.microsoft.com/office/powerpoint/2010/main" val="1367719728"/>
              </p:ext>
            </p:extLst>
          </p:nvPr>
        </p:nvGraphicFramePr>
        <p:xfrm>
          <a:off x="2654935" y="4657090"/>
          <a:ext cx="3810000" cy="736600"/>
        </p:xfrm>
        <a:graphic>
          <a:graphicData uri="http://schemas.openxmlformats.org/presentationml/2006/ole">
            <mc:AlternateContent xmlns:mc="http://schemas.openxmlformats.org/markup-compatibility/2006">
              <mc:Choice xmlns:v="urn:schemas-microsoft-com:vml" Requires="v">
                <p:oleObj name="Equation" r:id="rId4" imgW="3809880" imgH="736560" progId="Equation.DSMT4">
                  <p:embed/>
                </p:oleObj>
              </mc:Choice>
              <mc:Fallback>
                <p:oleObj name="Equation" r:id="rId4" imgW="3809880" imgH="736560" progId="Equation.DSMT4">
                  <p:embed/>
                  <p:pic>
                    <p:nvPicPr>
                      <p:cNvPr id="13" name="Object 12"/>
                      <p:cNvPicPr/>
                      <p:nvPr/>
                    </p:nvPicPr>
                    <p:blipFill>
                      <a:blip r:embed="rId5"/>
                      <a:stretch>
                        <a:fillRect/>
                      </a:stretch>
                    </p:blipFill>
                    <p:spPr>
                      <a:xfrm>
                        <a:off x="2654935" y="4657090"/>
                        <a:ext cx="3810000" cy="736600"/>
                      </a:xfrm>
                      <a:prstGeom prst="rect">
                        <a:avLst/>
                      </a:prstGeom>
                    </p:spPr>
                  </p:pic>
                </p:oleObj>
              </mc:Fallback>
            </mc:AlternateContent>
          </a:graphicData>
        </a:graphic>
      </p:graphicFrame>
      <p:sp>
        <p:nvSpPr>
          <p:cNvPr id="6" name="Content Placeholder 5"/>
          <p:cNvSpPr>
            <a:spLocks noGrp="1"/>
          </p:cNvSpPr>
          <p:nvPr>
            <p:ph sz="quarter" idx="16"/>
          </p:nvPr>
        </p:nvSpPr>
        <p:spPr>
          <a:xfrm>
            <a:off x="342900" y="5623560"/>
            <a:ext cx="8191500" cy="899160"/>
          </a:xfrm>
        </p:spPr>
        <p:txBody>
          <a:bodyPr/>
          <a:lstStyle/>
          <a:p>
            <a:pPr marL="292608" indent="-292608">
              <a:buFont typeface="Arial" panose="020B0604020202020204" pitchFamily="34" charset="0"/>
              <a:buChar char="•"/>
            </a:pPr>
            <a:r>
              <a:rPr lang="en-US" noProof="0" dirty="0"/>
              <a:t>To obtain “nice” limits, we could round the bin width up to 10 and choose bin limits of 0, 10, 20, 30, 40, 50, and 60.</a:t>
            </a:r>
          </a:p>
        </p:txBody>
      </p:sp>
      <p:sp>
        <p:nvSpPr>
          <p:cNvPr id="10" name="Slide Number Placeholder 9"/>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3133174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Frequency Distribution </a:t>
            </a:r>
            <a:r>
              <a:rPr lang="en-US" sz="1000" b="0" noProof="0" dirty="0"/>
              <a:t>5</a:t>
            </a:r>
            <a:endParaRPr lang="en-US" sz="1000" noProof="0" dirty="0"/>
          </a:p>
        </p:txBody>
      </p:sp>
      <p:sp>
        <p:nvSpPr>
          <p:cNvPr id="9" name="Content Placeholder 2">
            <a:extLst>
              <a:ext uri="{FF2B5EF4-FFF2-40B4-BE49-F238E27FC236}">
                <a16:creationId xmlns:a16="http://schemas.microsoft.com/office/drawing/2014/main" id="{57BF161C-39FB-917E-0BD2-B1B3D99858E1}"/>
              </a:ext>
            </a:extLst>
          </p:cNvPr>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3.2</a:t>
            </a:r>
          </a:p>
        </p:txBody>
      </p:sp>
      <p:sp>
        <p:nvSpPr>
          <p:cNvPr id="7" name="Content Placeholder 6"/>
          <p:cNvSpPr>
            <a:spLocks noGrp="1"/>
          </p:cNvSpPr>
          <p:nvPr>
            <p:ph sz="quarter" idx="14"/>
          </p:nvPr>
        </p:nvSpPr>
        <p:spPr>
          <a:xfrm>
            <a:off x="342900" y="1260475"/>
            <a:ext cx="8191500" cy="2081847"/>
          </a:xfrm>
        </p:spPr>
        <p:txBody>
          <a:bodyPr/>
          <a:lstStyle/>
          <a:p>
            <a:r>
              <a:rPr lang="en-US" sz="2200" noProof="0" dirty="0"/>
              <a:t>Step 4: Prepare a Table of Frequencies.</a:t>
            </a:r>
          </a:p>
          <a:p>
            <a:pPr marL="292608" indent="-292608">
              <a:buFont typeface="Arial" panose="020B0604020202020204" pitchFamily="34" charset="0"/>
              <a:buChar char="•"/>
            </a:pPr>
            <a:r>
              <a:rPr lang="en-US" sz="2200" noProof="0" dirty="0"/>
              <a:t>You can choose to show only the absolute frequencies, or counts, for each bin.</a:t>
            </a:r>
          </a:p>
          <a:p>
            <a:pPr marL="292608" indent="-292608">
              <a:buFont typeface="Arial" panose="020B0604020202020204" pitchFamily="34" charset="0"/>
              <a:buChar char="•"/>
            </a:pPr>
            <a:r>
              <a:rPr lang="en-US" sz="2200" noProof="0" dirty="0"/>
              <a:t>You could also include the relative frequencies and cumulative frequencies.</a:t>
            </a:r>
          </a:p>
        </p:txBody>
      </p:sp>
      <p:graphicFrame>
        <p:nvGraphicFramePr>
          <p:cNvPr id="3" name="Table 2">
            <a:extLst>
              <a:ext uri="{FF2B5EF4-FFF2-40B4-BE49-F238E27FC236}">
                <a16:creationId xmlns:a16="http://schemas.microsoft.com/office/drawing/2014/main" id="{778988AC-BF83-B36E-D803-520DAB4BB161}"/>
              </a:ext>
            </a:extLst>
          </p:cNvPr>
          <p:cNvGraphicFramePr>
            <a:graphicFrameLocks noGrp="1"/>
          </p:cNvGraphicFramePr>
          <p:nvPr>
            <p:extLst>
              <p:ext uri="{D42A27DB-BD31-4B8C-83A1-F6EECF244321}">
                <p14:modId xmlns:p14="http://schemas.microsoft.com/office/powerpoint/2010/main" val="4248061982"/>
              </p:ext>
            </p:extLst>
          </p:nvPr>
        </p:nvGraphicFramePr>
        <p:xfrm>
          <a:off x="790513" y="3404747"/>
          <a:ext cx="7826478" cy="3118956"/>
        </p:xfrm>
        <a:graphic>
          <a:graphicData uri="http://schemas.openxmlformats.org/drawingml/2006/table">
            <a:tbl>
              <a:tblPr firstRow="1" bandRow="1">
                <a:tableStyleId>{5C22544A-7EE6-4342-B048-85BDC9FD1C3A}</a:tableStyleId>
              </a:tblPr>
              <a:tblGrid>
                <a:gridCol w="924233">
                  <a:extLst>
                    <a:ext uri="{9D8B030D-6E8A-4147-A177-3AD203B41FA5}">
                      <a16:colId xmlns:a16="http://schemas.microsoft.com/office/drawing/2014/main" val="2234274478"/>
                    </a:ext>
                  </a:extLst>
                </a:gridCol>
                <a:gridCol w="491613">
                  <a:extLst>
                    <a:ext uri="{9D8B030D-6E8A-4147-A177-3AD203B41FA5}">
                      <a16:colId xmlns:a16="http://schemas.microsoft.com/office/drawing/2014/main" val="556016042"/>
                    </a:ext>
                  </a:extLst>
                </a:gridCol>
                <a:gridCol w="786580">
                  <a:extLst>
                    <a:ext uri="{9D8B030D-6E8A-4147-A177-3AD203B41FA5}">
                      <a16:colId xmlns:a16="http://schemas.microsoft.com/office/drawing/2014/main" val="1560292675"/>
                    </a:ext>
                  </a:extLst>
                </a:gridCol>
                <a:gridCol w="875071">
                  <a:extLst>
                    <a:ext uri="{9D8B030D-6E8A-4147-A177-3AD203B41FA5}">
                      <a16:colId xmlns:a16="http://schemas.microsoft.com/office/drawing/2014/main" val="3021612094"/>
                    </a:ext>
                  </a:extLst>
                </a:gridCol>
                <a:gridCol w="1307691">
                  <a:extLst>
                    <a:ext uri="{9D8B030D-6E8A-4147-A177-3AD203B41FA5}">
                      <a16:colId xmlns:a16="http://schemas.microsoft.com/office/drawing/2014/main" val="2790092114"/>
                    </a:ext>
                  </a:extLst>
                </a:gridCol>
                <a:gridCol w="1130709">
                  <a:extLst>
                    <a:ext uri="{9D8B030D-6E8A-4147-A177-3AD203B41FA5}">
                      <a16:colId xmlns:a16="http://schemas.microsoft.com/office/drawing/2014/main" val="1269884722"/>
                    </a:ext>
                  </a:extLst>
                </a:gridCol>
                <a:gridCol w="1140542">
                  <a:extLst>
                    <a:ext uri="{9D8B030D-6E8A-4147-A177-3AD203B41FA5}">
                      <a16:colId xmlns:a16="http://schemas.microsoft.com/office/drawing/2014/main" val="2968774644"/>
                    </a:ext>
                  </a:extLst>
                </a:gridCol>
                <a:gridCol w="1170039">
                  <a:extLst>
                    <a:ext uri="{9D8B030D-6E8A-4147-A177-3AD203B41FA5}">
                      <a16:colId xmlns:a16="http://schemas.microsoft.com/office/drawing/2014/main" val="400984331"/>
                    </a:ext>
                  </a:extLst>
                </a:gridCol>
              </a:tblGrid>
              <a:tr h="539955">
                <a:tc>
                  <a:txBody>
                    <a:bodyPr/>
                    <a:lstStyle/>
                    <a:p>
                      <a:endParaRPr lang="en-IN" sz="1600" dirty="0"/>
                    </a:p>
                  </a:txBody>
                  <a:tcPr>
                    <a:solidFill>
                      <a:srgbClr val="C00000"/>
                    </a:solidFill>
                  </a:tcPr>
                </a:tc>
                <a:tc>
                  <a:txBody>
                    <a:bodyPr/>
                    <a:lstStyle/>
                    <a:p>
                      <a:endParaRPr lang="en-IN" sz="1600" dirty="0"/>
                    </a:p>
                  </a:txBody>
                  <a:tcPr>
                    <a:solidFill>
                      <a:srgbClr val="C00000"/>
                    </a:solidFill>
                  </a:tcPr>
                </a:tc>
                <a:tc>
                  <a:txBody>
                    <a:bodyPr/>
                    <a:lstStyle/>
                    <a:p>
                      <a:endParaRPr lang="en-IN" sz="1600" dirty="0"/>
                    </a:p>
                  </a:txBody>
                  <a:tcPr>
                    <a:solidFill>
                      <a:srgbClr val="C00000"/>
                    </a:solidFill>
                  </a:tcPr>
                </a:tc>
                <a:tc>
                  <a:txBody>
                    <a:bodyPr/>
                    <a:lstStyle/>
                    <a:p>
                      <a:endParaRPr lang="en-IN" sz="1600" dirty="0"/>
                    </a:p>
                  </a:txBody>
                  <a:tcPr>
                    <a:solidFill>
                      <a:srgbClr val="C00000"/>
                    </a:solidFill>
                  </a:tcPr>
                </a:tc>
                <a:tc>
                  <a:txBody>
                    <a:bodyPr/>
                    <a:lstStyle/>
                    <a:p>
                      <a:endParaRPr lang="en-IN" sz="1600"/>
                    </a:p>
                  </a:txBody>
                  <a:tcPr>
                    <a:solidFill>
                      <a:srgbClr val="C00000"/>
                    </a:solidFill>
                  </a:tcPr>
                </a:tc>
                <a:tc>
                  <a:txBody>
                    <a:bodyPr/>
                    <a:lstStyle/>
                    <a:p>
                      <a:endParaRPr lang="en-IN" sz="1600" dirty="0"/>
                    </a:p>
                  </a:txBody>
                  <a:tcPr>
                    <a:solidFill>
                      <a:srgbClr val="C00000"/>
                    </a:solidFill>
                  </a:tcPr>
                </a:tc>
                <a:tc>
                  <a:txBody>
                    <a:bodyPr/>
                    <a:lstStyle/>
                    <a:p>
                      <a:endParaRPr lang="en-IN" sz="1600"/>
                    </a:p>
                  </a:txBody>
                  <a:tcPr>
                    <a:solidFill>
                      <a:srgbClr val="C00000"/>
                    </a:solidFill>
                  </a:tcPr>
                </a:tc>
                <a:tc>
                  <a:txBody>
                    <a:bodyPr/>
                    <a:lstStyle/>
                    <a:p>
                      <a:endParaRPr lang="en-IN" sz="1600" dirty="0"/>
                    </a:p>
                  </a:txBody>
                  <a:tcPr>
                    <a:solidFill>
                      <a:srgbClr val="C00000"/>
                    </a:solidFill>
                  </a:tcPr>
                </a:tc>
                <a:extLst>
                  <a:ext uri="{0D108BD9-81ED-4DB2-BD59-A6C34878D82A}">
                    <a16:rowId xmlns:a16="http://schemas.microsoft.com/office/drawing/2014/main" val="4086882517"/>
                  </a:ext>
                </a:extLst>
              </a:tr>
              <a:tr h="353961">
                <a:tc>
                  <a:txBody>
                    <a:bodyPr/>
                    <a:lstStyle/>
                    <a:p>
                      <a:endParaRPr lang="en-IN" sz="1600"/>
                    </a:p>
                  </a:txBody>
                  <a:tcPr/>
                </a:tc>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a:p>
                  </a:txBody>
                  <a:tcPr/>
                </a:tc>
                <a:tc>
                  <a:txBody>
                    <a:bodyPr/>
                    <a:lstStyle/>
                    <a:p>
                      <a:endParaRPr lang="en-IN" sz="1600"/>
                    </a:p>
                  </a:txBody>
                  <a:tcPr/>
                </a:tc>
                <a:tc>
                  <a:txBody>
                    <a:bodyPr/>
                    <a:lstStyle/>
                    <a:p>
                      <a:endParaRPr lang="en-IN" sz="1600" dirty="0"/>
                    </a:p>
                  </a:txBody>
                  <a:tcPr/>
                </a:tc>
                <a:extLst>
                  <a:ext uri="{0D108BD9-81ED-4DB2-BD59-A6C34878D82A}">
                    <a16:rowId xmlns:a16="http://schemas.microsoft.com/office/drawing/2014/main" val="3639850278"/>
                  </a:ext>
                </a:extLst>
              </a:tr>
              <a:tr h="370840">
                <a:tc>
                  <a:txBody>
                    <a:bodyPr/>
                    <a:lstStyle/>
                    <a:p>
                      <a:endParaRPr lang="en-IN" sz="1600" dirty="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extLst>
                  <a:ext uri="{0D108BD9-81ED-4DB2-BD59-A6C34878D82A}">
                    <a16:rowId xmlns:a16="http://schemas.microsoft.com/office/drawing/2014/main" val="2954868905"/>
                  </a:ext>
                </a:extLst>
              </a:tr>
              <a:tr h="370840">
                <a:tc>
                  <a:txBody>
                    <a:bodyPr/>
                    <a:lstStyle/>
                    <a:p>
                      <a:endParaRPr lang="en-IN" sz="1600"/>
                    </a:p>
                  </a:txBody>
                  <a:tcPr/>
                </a:tc>
                <a:tc>
                  <a:txBody>
                    <a:bodyPr/>
                    <a:lstStyle/>
                    <a:p>
                      <a:endParaRPr lang="en-IN" sz="1600"/>
                    </a:p>
                  </a:txBody>
                  <a:tcPr/>
                </a:tc>
                <a:tc>
                  <a:txBody>
                    <a:bodyPr/>
                    <a:lstStyle/>
                    <a:p>
                      <a:endParaRPr lang="en-IN" sz="1600" dirty="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extLst>
                  <a:ext uri="{0D108BD9-81ED-4DB2-BD59-A6C34878D82A}">
                    <a16:rowId xmlns:a16="http://schemas.microsoft.com/office/drawing/2014/main" val="3817227530"/>
                  </a:ext>
                </a:extLst>
              </a:tr>
              <a:tr h="370840">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extLst>
                  <a:ext uri="{0D108BD9-81ED-4DB2-BD59-A6C34878D82A}">
                    <a16:rowId xmlns:a16="http://schemas.microsoft.com/office/drawing/2014/main" val="3079571300"/>
                  </a:ext>
                </a:extLst>
              </a:tr>
              <a:tr h="370840">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a:p>
                  </a:txBody>
                  <a:tcPr/>
                </a:tc>
                <a:tc>
                  <a:txBody>
                    <a:bodyPr/>
                    <a:lstStyle/>
                    <a:p>
                      <a:endParaRPr lang="en-IN" sz="1600" dirty="0"/>
                    </a:p>
                  </a:txBody>
                  <a:tcPr/>
                </a:tc>
                <a:tc>
                  <a:txBody>
                    <a:bodyPr/>
                    <a:lstStyle/>
                    <a:p>
                      <a:endParaRPr lang="en-IN" sz="1600"/>
                    </a:p>
                  </a:txBody>
                  <a:tcPr/>
                </a:tc>
                <a:extLst>
                  <a:ext uri="{0D108BD9-81ED-4DB2-BD59-A6C34878D82A}">
                    <a16:rowId xmlns:a16="http://schemas.microsoft.com/office/drawing/2014/main" val="1601629390"/>
                  </a:ext>
                </a:extLst>
              </a:tr>
              <a:tr h="370840">
                <a:tc>
                  <a:txBody>
                    <a:bodyPr/>
                    <a:lstStyle/>
                    <a:p>
                      <a:endParaRPr lang="en-IN" sz="1600" dirty="0"/>
                    </a:p>
                  </a:txBody>
                  <a:tcPr>
                    <a:lnB w="12700" cap="flat" cmpd="sng" algn="ctr">
                      <a:solidFill>
                        <a:schemeClr val="tx1"/>
                      </a:solidFill>
                      <a:prstDash val="solid"/>
                      <a:round/>
                      <a:headEnd type="none" w="med" len="med"/>
                      <a:tailEnd type="none" w="med" len="med"/>
                    </a:lnB>
                  </a:tcPr>
                </a:tc>
                <a:tc>
                  <a:txBody>
                    <a:bodyPr/>
                    <a:lstStyle/>
                    <a:p>
                      <a:endParaRPr lang="en-IN" sz="1600" dirty="0"/>
                    </a:p>
                  </a:txBody>
                  <a:tcPr>
                    <a:lnB w="12700" cap="flat" cmpd="sng" algn="ctr">
                      <a:solidFill>
                        <a:schemeClr val="tx1"/>
                      </a:solidFill>
                      <a:prstDash val="solid"/>
                      <a:round/>
                      <a:headEnd type="none" w="med" len="med"/>
                      <a:tailEnd type="none" w="med" len="med"/>
                    </a:lnB>
                  </a:tcPr>
                </a:tc>
                <a:tc>
                  <a:txBody>
                    <a:bodyPr/>
                    <a:lstStyle/>
                    <a:p>
                      <a:endParaRPr lang="en-IN" sz="1600" dirty="0"/>
                    </a:p>
                  </a:txBody>
                  <a:tcPr>
                    <a:lnB w="12700" cap="flat" cmpd="sng" algn="ctr">
                      <a:solidFill>
                        <a:schemeClr val="tx1"/>
                      </a:solidFill>
                      <a:prstDash val="solid"/>
                      <a:round/>
                      <a:headEnd type="none" w="med" len="med"/>
                      <a:tailEnd type="none" w="med" len="med"/>
                    </a:lnB>
                  </a:tcPr>
                </a:tc>
                <a:tc>
                  <a:txBody>
                    <a:bodyPr/>
                    <a:lstStyle/>
                    <a:p>
                      <a:endParaRPr lang="en-IN" sz="1600"/>
                    </a:p>
                  </a:txBody>
                  <a:tcPr>
                    <a:lnB w="12700" cap="flat" cmpd="sng" algn="ctr">
                      <a:solidFill>
                        <a:schemeClr val="tx1"/>
                      </a:solidFill>
                      <a:prstDash val="solid"/>
                      <a:round/>
                      <a:headEnd type="none" w="med" len="med"/>
                      <a:tailEnd type="none" w="med" len="med"/>
                    </a:lnB>
                  </a:tcPr>
                </a:tc>
                <a:tc>
                  <a:txBody>
                    <a:bodyPr/>
                    <a:lstStyle/>
                    <a:p>
                      <a:endParaRPr lang="en-IN" sz="1600"/>
                    </a:p>
                  </a:txBody>
                  <a:tcPr>
                    <a:lnB w="12700" cap="flat" cmpd="sng" algn="ctr">
                      <a:solidFill>
                        <a:schemeClr val="tx1"/>
                      </a:solidFill>
                      <a:prstDash val="solid"/>
                      <a:round/>
                      <a:headEnd type="none" w="med" len="med"/>
                      <a:tailEnd type="none" w="med" len="med"/>
                    </a:lnB>
                  </a:tcPr>
                </a:tc>
                <a:tc>
                  <a:txBody>
                    <a:bodyPr/>
                    <a:lstStyle/>
                    <a:p>
                      <a:endParaRPr lang="en-IN" sz="1600"/>
                    </a:p>
                  </a:txBody>
                  <a:tcPr>
                    <a:lnB w="12700" cap="flat" cmpd="sng" algn="ctr">
                      <a:solidFill>
                        <a:schemeClr val="tx1"/>
                      </a:solidFill>
                      <a:prstDash val="solid"/>
                      <a:round/>
                      <a:headEnd type="none" w="med" len="med"/>
                      <a:tailEnd type="none" w="med" len="med"/>
                    </a:lnB>
                  </a:tcPr>
                </a:tc>
                <a:tc>
                  <a:txBody>
                    <a:bodyPr/>
                    <a:lstStyle/>
                    <a:p>
                      <a:endParaRPr lang="en-IN" sz="1600"/>
                    </a:p>
                  </a:txBody>
                  <a:tcPr>
                    <a:lnB w="12700" cap="flat" cmpd="sng" algn="ctr">
                      <a:solidFill>
                        <a:schemeClr val="tx1"/>
                      </a:solidFill>
                      <a:prstDash val="solid"/>
                      <a:round/>
                      <a:headEnd type="none" w="med" len="med"/>
                      <a:tailEnd type="none" w="med" len="med"/>
                    </a:lnB>
                  </a:tcPr>
                </a:tc>
                <a:tc>
                  <a:txBody>
                    <a:bodyPr/>
                    <a:lstStyle/>
                    <a:p>
                      <a:endParaRPr lang="en-IN" sz="16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747460"/>
                  </a:ext>
                </a:extLst>
              </a:tr>
              <a:tr h="370840">
                <a:tc>
                  <a:txBody>
                    <a:bodyPr/>
                    <a:lstStyle/>
                    <a:p>
                      <a:endParaRPr lang="en-IN" sz="1600" dirty="0"/>
                    </a:p>
                  </a:txBody>
                  <a:tcPr>
                    <a:lnT w="12700" cap="flat" cmpd="sng" algn="ctr">
                      <a:solidFill>
                        <a:schemeClr val="tx1"/>
                      </a:solidFill>
                      <a:prstDash val="solid"/>
                      <a:round/>
                      <a:headEnd type="none" w="med" len="med"/>
                      <a:tailEnd type="none" w="med" len="med"/>
                    </a:lnT>
                  </a:tcPr>
                </a:tc>
                <a:tc>
                  <a:txBody>
                    <a:bodyPr/>
                    <a:lstStyle/>
                    <a:p>
                      <a:endParaRPr lang="en-IN" sz="1600" dirty="0"/>
                    </a:p>
                  </a:txBody>
                  <a:tcPr>
                    <a:lnT w="12700" cap="flat" cmpd="sng" algn="ctr">
                      <a:solidFill>
                        <a:schemeClr val="tx1"/>
                      </a:solidFill>
                      <a:prstDash val="solid"/>
                      <a:round/>
                      <a:headEnd type="none" w="med" len="med"/>
                      <a:tailEnd type="none" w="med" len="med"/>
                    </a:lnT>
                  </a:tcPr>
                </a:tc>
                <a:tc>
                  <a:txBody>
                    <a:bodyPr/>
                    <a:lstStyle/>
                    <a:p>
                      <a:endParaRPr lang="en-IN" sz="1600" dirty="0"/>
                    </a:p>
                  </a:txBody>
                  <a:tcPr>
                    <a:lnT w="12700" cap="flat" cmpd="sng" algn="ctr">
                      <a:solidFill>
                        <a:schemeClr val="tx1"/>
                      </a:solidFill>
                      <a:prstDash val="solid"/>
                      <a:round/>
                      <a:headEnd type="none" w="med" len="med"/>
                      <a:tailEnd type="none" w="med" len="med"/>
                    </a:lnT>
                  </a:tcPr>
                </a:tc>
                <a:tc>
                  <a:txBody>
                    <a:bodyPr/>
                    <a:lstStyle/>
                    <a:p>
                      <a:endParaRPr lang="en-IN" sz="1600" dirty="0"/>
                    </a:p>
                  </a:txBody>
                  <a:tcPr>
                    <a:lnT w="12700" cap="flat" cmpd="sng" algn="ctr">
                      <a:solidFill>
                        <a:schemeClr val="tx1"/>
                      </a:solidFill>
                      <a:prstDash val="solid"/>
                      <a:round/>
                      <a:headEnd type="none" w="med" len="med"/>
                      <a:tailEnd type="none" w="med" len="med"/>
                    </a:lnT>
                  </a:tcPr>
                </a:tc>
                <a:tc>
                  <a:txBody>
                    <a:bodyPr/>
                    <a:lstStyle/>
                    <a:p>
                      <a:endParaRPr lang="en-IN" sz="1600"/>
                    </a:p>
                  </a:txBody>
                  <a:tcPr>
                    <a:lnT w="12700" cap="flat" cmpd="sng" algn="ctr">
                      <a:solidFill>
                        <a:schemeClr val="tx1"/>
                      </a:solidFill>
                      <a:prstDash val="solid"/>
                      <a:round/>
                      <a:headEnd type="none" w="med" len="med"/>
                      <a:tailEnd type="none" w="med" len="med"/>
                    </a:lnT>
                  </a:tcPr>
                </a:tc>
                <a:tc>
                  <a:txBody>
                    <a:bodyPr/>
                    <a:lstStyle/>
                    <a:p>
                      <a:endParaRPr lang="en-IN" sz="1600"/>
                    </a:p>
                  </a:txBody>
                  <a:tcPr>
                    <a:lnT w="12700" cap="flat" cmpd="sng" algn="ctr">
                      <a:solidFill>
                        <a:schemeClr val="tx1"/>
                      </a:solidFill>
                      <a:prstDash val="solid"/>
                      <a:round/>
                      <a:headEnd type="none" w="med" len="med"/>
                      <a:tailEnd type="none" w="med" len="med"/>
                    </a:lnT>
                  </a:tcPr>
                </a:tc>
                <a:tc>
                  <a:txBody>
                    <a:bodyPr/>
                    <a:lstStyle/>
                    <a:p>
                      <a:endParaRPr lang="en-IN" sz="1600"/>
                    </a:p>
                  </a:txBody>
                  <a:tcPr>
                    <a:lnT w="12700" cap="flat" cmpd="sng" algn="ctr">
                      <a:solidFill>
                        <a:schemeClr val="tx1"/>
                      </a:solidFill>
                      <a:prstDash val="solid"/>
                      <a:round/>
                      <a:headEnd type="none" w="med" len="med"/>
                      <a:tailEnd type="none" w="med" len="med"/>
                    </a:lnT>
                  </a:tcPr>
                </a:tc>
                <a:tc>
                  <a:txBody>
                    <a:bodyPr/>
                    <a:lstStyle/>
                    <a:p>
                      <a:endParaRPr lang="en-IN" sz="160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44543256"/>
                  </a:ext>
                </a:extLst>
              </a:tr>
            </a:tbl>
          </a:graphicData>
        </a:graphic>
      </p:graphicFrame>
      <p:graphicFrame>
        <p:nvGraphicFramePr>
          <p:cNvPr id="5" name="Object 4">
            <a:extLst>
              <a:ext uri="{FF2B5EF4-FFF2-40B4-BE49-F238E27FC236}">
                <a16:creationId xmlns:a16="http://schemas.microsoft.com/office/drawing/2014/main" id="{C3881F2F-3A77-7B4D-73F9-A7F912546C16}"/>
              </a:ext>
            </a:extLst>
          </p:cNvPr>
          <p:cNvGraphicFramePr>
            <a:graphicFrameLocks noChangeAspect="1"/>
          </p:cNvGraphicFramePr>
          <p:nvPr>
            <p:extLst>
              <p:ext uri="{D42A27DB-BD31-4B8C-83A1-F6EECF244321}">
                <p14:modId xmlns:p14="http://schemas.microsoft.com/office/powerpoint/2010/main" val="1104922867"/>
              </p:ext>
            </p:extLst>
          </p:nvPr>
        </p:nvGraphicFramePr>
        <p:xfrm>
          <a:off x="823490" y="3444410"/>
          <a:ext cx="811423" cy="417406"/>
        </p:xfrm>
        <a:graphic>
          <a:graphicData uri="http://schemas.openxmlformats.org/presentationml/2006/ole">
            <mc:AlternateContent xmlns:mc="http://schemas.openxmlformats.org/markup-compatibility/2006">
              <mc:Choice xmlns:v="urn:schemas-microsoft-com:vml" Requires="v">
                <p:oleObj name="Equation" r:id="rId3" imgW="787320" imgH="406080" progId="Equation.DSMT4">
                  <p:embed/>
                </p:oleObj>
              </mc:Choice>
              <mc:Fallback>
                <p:oleObj name="Equation" r:id="rId3" imgW="787320" imgH="406080" progId="Equation.DSMT4">
                  <p:embed/>
                  <p:pic>
                    <p:nvPicPr>
                      <p:cNvPr id="10" name="Object 9">
                        <a:extLst>
                          <a:ext uri="{FF2B5EF4-FFF2-40B4-BE49-F238E27FC236}">
                            <a16:creationId xmlns:a16="http://schemas.microsoft.com/office/drawing/2014/main" id="{EA53C0D8-AF92-FF56-DD90-1892038EAFF4}"/>
                          </a:ext>
                        </a:extLst>
                      </p:cNvPr>
                      <p:cNvPicPr/>
                      <p:nvPr/>
                    </p:nvPicPr>
                    <p:blipFill>
                      <a:blip r:embed="rId4"/>
                      <a:stretch>
                        <a:fillRect/>
                      </a:stretch>
                    </p:blipFill>
                    <p:spPr>
                      <a:xfrm>
                        <a:off x="823490" y="3444410"/>
                        <a:ext cx="811423" cy="417406"/>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601E1D72-A37D-CF6D-7022-E17585B265C8}"/>
              </a:ext>
            </a:extLst>
          </p:cNvPr>
          <p:cNvGraphicFramePr>
            <a:graphicFrameLocks noChangeAspect="1"/>
          </p:cNvGraphicFramePr>
          <p:nvPr>
            <p:extLst>
              <p:ext uri="{D42A27DB-BD31-4B8C-83A1-F6EECF244321}">
                <p14:modId xmlns:p14="http://schemas.microsoft.com/office/powerpoint/2010/main" val="4277784056"/>
              </p:ext>
            </p:extLst>
          </p:nvPr>
        </p:nvGraphicFramePr>
        <p:xfrm>
          <a:off x="2286659" y="3462972"/>
          <a:ext cx="638694" cy="376243"/>
        </p:xfrm>
        <a:graphic>
          <a:graphicData uri="http://schemas.openxmlformats.org/presentationml/2006/ole">
            <mc:AlternateContent xmlns:mc="http://schemas.openxmlformats.org/markup-compatibility/2006">
              <mc:Choice xmlns:v="urn:schemas-microsoft-com:vml" Requires="v">
                <p:oleObj name="Equation" r:id="rId5" imgW="736560" imgH="431640" progId="Equation.DSMT4">
                  <p:embed/>
                </p:oleObj>
              </mc:Choice>
              <mc:Fallback>
                <p:oleObj name="Equation" r:id="rId5" imgW="736560" imgH="431640" progId="Equation.DSMT4">
                  <p:embed/>
                  <p:pic>
                    <p:nvPicPr>
                      <p:cNvPr id="12" name="Object 11">
                        <a:extLst>
                          <a:ext uri="{FF2B5EF4-FFF2-40B4-BE49-F238E27FC236}">
                            <a16:creationId xmlns:a16="http://schemas.microsoft.com/office/drawing/2014/main" id="{39732FA9-47FC-A04F-21E7-7DDF13374A96}"/>
                          </a:ext>
                        </a:extLst>
                      </p:cNvPr>
                      <p:cNvPicPr/>
                      <p:nvPr/>
                    </p:nvPicPr>
                    <p:blipFill>
                      <a:blip r:embed="rId6"/>
                      <a:stretch>
                        <a:fillRect/>
                      </a:stretch>
                    </p:blipFill>
                    <p:spPr>
                      <a:xfrm>
                        <a:off x="2286659" y="3462972"/>
                        <a:ext cx="638694" cy="376243"/>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048E1167-D92E-835C-E226-F400B901DE1D}"/>
              </a:ext>
            </a:extLst>
          </p:cNvPr>
          <p:cNvGraphicFramePr>
            <a:graphicFrameLocks noChangeAspect="1"/>
          </p:cNvGraphicFramePr>
          <p:nvPr>
            <p:extLst>
              <p:ext uri="{D42A27DB-BD31-4B8C-83A1-F6EECF244321}">
                <p14:modId xmlns:p14="http://schemas.microsoft.com/office/powerpoint/2010/main" val="2508709910"/>
              </p:ext>
            </p:extLst>
          </p:nvPr>
        </p:nvGraphicFramePr>
        <p:xfrm>
          <a:off x="3105506" y="3470172"/>
          <a:ext cx="662766" cy="381932"/>
        </p:xfrm>
        <a:graphic>
          <a:graphicData uri="http://schemas.openxmlformats.org/presentationml/2006/ole">
            <mc:AlternateContent xmlns:mc="http://schemas.openxmlformats.org/markup-compatibility/2006">
              <mc:Choice xmlns:v="urn:schemas-microsoft-com:vml" Requires="v">
                <p:oleObj name="Equation" r:id="rId7" imgW="749160" imgH="431640" progId="Equation.DSMT4">
                  <p:embed/>
                </p:oleObj>
              </mc:Choice>
              <mc:Fallback>
                <p:oleObj name="Equation" r:id="rId7" imgW="749160" imgH="431640" progId="Equation.DSMT4">
                  <p:embed/>
                  <p:pic>
                    <p:nvPicPr>
                      <p:cNvPr id="11" name="Object 10">
                        <a:extLst>
                          <a:ext uri="{FF2B5EF4-FFF2-40B4-BE49-F238E27FC236}">
                            <a16:creationId xmlns:a16="http://schemas.microsoft.com/office/drawing/2014/main" id="{F32F629A-6838-03C0-EB9D-9E78132F2C20}"/>
                          </a:ext>
                        </a:extLst>
                      </p:cNvPr>
                      <p:cNvPicPr/>
                      <p:nvPr/>
                    </p:nvPicPr>
                    <p:blipFill>
                      <a:blip r:embed="rId8"/>
                      <a:stretch>
                        <a:fillRect/>
                      </a:stretch>
                    </p:blipFill>
                    <p:spPr>
                      <a:xfrm>
                        <a:off x="3105506" y="3470172"/>
                        <a:ext cx="662766" cy="381932"/>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D58223EE-C434-B3D0-F974-9647CC4D56BB}"/>
              </a:ext>
            </a:extLst>
          </p:cNvPr>
          <p:cNvGraphicFramePr>
            <a:graphicFrameLocks noChangeAspect="1"/>
          </p:cNvGraphicFramePr>
          <p:nvPr>
            <p:extLst>
              <p:ext uri="{D42A27DB-BD31-4B8C-83A1-F6EECF244321}">
                <p14:modId xmlns:p14="http://schemas.microsoft.com/office/powerpoint/2010/main" val="2497755150"/>
              </p:ext>
            </p:extLst>
          </p:nvPr>
        </p:nvGraphicFramePr>
        <p:xfrm>
          <a:off x="3956745" y="3467053"/>
          <a:ext cx="1099955" cy="401414"/>
        </p:xfrm>
        <a:graphic>
          <a:graphicData uri="http://schemas.openxmlformats.org/presentationml/2006/ole">
            <mc:AlternateContent xmlns:mc="http://schemas.openxmlformats.org/markup-compatibility/2006">
              <mc:Choice xmlns:v="urn:schemas-microsoft-com:vml" Requires="v">
                <p:oleObj name="Equation" r:id="rId9" imgW="1180800" imgH="431640" progId="Equation.DSMT4">
                  <p:embed/>
                </p:oleObj>
              </mc:Choice>
              <mc:Fallback>
                <p:oleObj name="Equation" r:id="rId9" imgW="1180800" imgH="431640" progId="Equation.DSMT4">
                  <p:embed/>
                  <p:pic>
                    <p:nvPicPr>
                      <p:cNvPr id="13" name="Object 12">
                        <a:extLst>
                          <a:ext uri="{FF2B5EF4-FFF2-40B4-BE49-F238E27FC236}">
                            <a16:creationId xmlns:a16="http://schemas.microsoft.com/office/drawing/2014/main" id="{186A519E-E175-8D29-453C-8187A02284E8}"/>
                          </a:ext>
                        </a:extLst>
                      </p:cNvPr>
                      <p:cNvPicPr/>
                      <p:nvPr/>
                    </p:nvPicPr>
                    <p:blipFill>
                      <a:blip r:embed="rId10"/>
                      <a:stretch>
                        <a:fillRect/>
                      </a:stretch>
                    </p:blipFill>
                    <p:spPr>
                      <a:xfrm>
                        <a:off x="3956745" y="3467053"/>
                        <a:ext cx="1099955" cy="401414"/>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A39006E2-7E7A-8642-6B95-7BBEB582FEA1}"/>
              </a:ext>
            </a:extLst>
          </p:cNvPr>
          <p:cNvGraphicFramePr>
            <a:graphicFrameLocks noChangeAspect="1"/>
          </p:cNvGraphicFramePr>
          <p:nvPr>
            <p:extLst>
              <p:ext uri="{D42A27DB-BD31-4B8C-83A1-F6EECF244321}">
                <p14:modId xmlns:p14="http://schemas.microsoft.com/office/powerpoint/2010/main" val="40597237"/>
              </p:ext>
            </p:extLst>
          </p:nvPr>
        </p:nvGraphicFramePr>
        <p:xfrm>
          <a:off x="5328562" y="3477146"/>
          <a:ext cx="772877" cy="368549"/>
        </p:xfrm>
        <a:graphic>
          <a:graphicData uri="http://schemas.openxmlformats.org/presentationml/2006/ole">
            <mc:AlternateContent xmlns:mc="http://schemas.openxmlformats.org/markup-compatibility/2006">
              <mc:Choice xmlns:v="urn:schemas-microsoft-com:vml" Requires="v">
                <p:oleObj name="Equation" r:id="rId11" imgW="850680" imgH="406080" progId="Equation.DSMT4">
                  <p:embed/>
                </p:oleObj>
              </mc:Choice>
              <mc:Fallback>
                <p:oleObj name="Equation" r:id="rId11" imgW="850680" imgH="406080" progId="Equation.DSMT4">
                  <p:embed/>
                  <p:pic>
                    <p:nvPicPr>
                      <p:cNvPr id="14" name="Object 13">
                        <a:extLst>
                          <a:ext uri="{FF2B5EF4-FFF2-40B4-BE49-F238E27FC236}">
                            <a16:creationId xmlns:a16="http://schemas.microsoft.com/office/drawing/2014/main" id="{F9D5DA06-F8DE-B3E8-AE19-2547995FB1DF}"/>
                          </a:ext>
                        </a:extLst>
                      </p:cNvPr>
                      <p:cNvPicPr/>
                      <p:nvPr/>
                    </p:nvPicPr>
                    <p:blipFill>
                      <a:blip r:embed="rId12"/>
                      <a:stretch>
                        <a:fillRect/>
                      </a:stretch>
                    </p:blipFill>
                    <p:spPr>
                      <a:xfrm>
                        <a:off x="5328562" y="3477146"/>
                        <a:ext cx="772877" cy="368549"/>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66CFD48F-29F1-BCA7-E95C-7B2C14D415DD}"/>
              </a:ext>
            </a:extLst>
          </p:cNvPr>
          <p:cNvGraphicFramePr>
            <a:graphicFrameLocks noChangeAspect="1"/>
          </p:cNvGraphicFramePr>
          <p:nvPr>
            <p:extLst>
              <p:ext uri="{D42A27DB-BD31-4B8C-83A1-F6EECF244321}">
                <p14:modId xmlns:p14="http://schemas.microsoft.com/office/powerpoint/2010/main" val="1422537362"/>
              </p:ext>
            </p:extLst>
          </p:nvPr>
        </p:nvGraphicFramePr>
        <p:xfrm>
          <a:off x="6505757" y="3482499"/>
          <a:ext cx="777511" cy="412114"/>
        </p:xfrm>
        <a:graphic>
          <a:graphicData uri="http://schemas.openxmlformats.org/presentationml/2006/ole">
            <mc:AlternateContent xmlns:mc="http://schemas.openxmlformats.org/markup-compatibility/2006">
              <mc:Choice xmlns:v="urn:schemas-microsoft-com:vml" Requires="v">
                <p:oleObj name="Equation" r:id="rId13" imgW="812520" imgH="431640" progId="Equation.DSMT4">
                  <p:embed/>
                </p:oleObj>
              </mc:Choice>
              <mc:Fallback>
                <p:oleObj name="Equation" r:id="rId13" imgW="812520" imgH="431640" progId="Equation.DSMT4">
                  <p:embed/>
                  <p:pic>
                    <p:nvPicPr>
                      <p:cNvPr id="15" name="Object 14">
                        <a:extLst>
                          <a:ext uri="{FF2B5EF4-FFF2-40B4-BE49-F238E27FC236}">
                            <a16:creationId xmlns:a16="http://schemas.microsoft.com/office/drawing/2014/main" id="{C85E8306-33FB-1F4E-80CF-DEE1FC757903}"/>
                          </a:ext>
                        </a:extLst>
                      </p:cNvPr>
                      <p:cNvPicPr/>
                      <p:nvPr/>
                    </p:nvPicPr>
                    <p:blipFill>
                      <a:blip r:embed="rId14"/>
                      <a:stretch>
                        <a:fillRect/>
                      </a:stretch>
                    </p:blipFill>
                    <p:spPr>
                      <a:xfrm>
                        <a:off x="6505757" y="3482499"/>
                        <a:ext cx="777511" cy="412114"/>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09BCE84F-A4C9-BEF8-283D-937DC6A524BD}"/>
              </a:ext>
            </a:extLst>
          </p:cNvPr>
          <p:cNvGraphicFramePr>
            <a:graphicFrameLocks noChangeAspect="1"/>
          </p:cNvGraphicFramePr>
          <p:nvPr>
            <p:extLst>
              <p:ext uri="{D42A27DB-BD31-4B8C-83A1-F6EECF244321}">
                <p14:modId xmlns:p14="http://schemas.microsoft.com/office/powerpoint/2010/main" val="4252284641"/>
              </p:ext>
            </p:extLst>
          </p:nvPr>
        </p:nvGraphicFramePr>
        <p:xfrm>
          <a:off x="7652440" y="3499130"/>
          <a:ext cx="728870" cy="366153"/>
        </p:xfrm>
        <a:graphic>
          <a:graphicData uri="http://schemas.openxmlformats.org/presentationml/2006/ole">
            <mc:AlternateContent xmlns:mc="http://schemas.openxmlformats.org/markup-compatibility/2006">
              <mc:Choice xmlns:v="urn:schemas-microsoft-com:vml" Requires="v">
                <p:oleObj name="Equation" r:id="rId15" imgW="812520" imgH="406080" progId="Equation.DSMT4">
                  <p:embed/>
                </p:oleObj>
              </mc:Choice>
              <mc:Fallback>
                <p:oleObj name="Equation" r:id="rId15" imgW="812520" imgH="406080" progId="Equation.DSMT4">
                  <p:embed/>
                  <p:pic>
                    <p:nvPicPr>
                      <p:cNvPr id="16" name="Object 15">
                        <a:extLst>
                          <a:ext uri="{FF2B5EF4-FFF2-40B4-BE49-F238E27FC236}">
                            <a16:creationId xmlns:a16="http://schemas.microsoft.com/office/drawing/2014/main" id="{CBF71A13-FC07-70DE-0227-A5C9AA6A6E3C}"/>
                          </a:ext>
                        </a:extLst>
                      </p:cNvPr>
                      <p:cNvPicPr/>
                      <p:nvPr/>
                    </p:nvPicPr>
                    <p:blipFill>
                      <a:blip r:embed="rId16"/>
                      <a:stretch>
                        <a:fillRect/>
                      </a:stretch>
                    </p:blipFill>
                    <p:spPr>
                      <a:xfrm>
                        <a:off x="7652440" y="3499130"/>
                        <a:ext cx="728870" cy="366153"/>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45E1CB44-3831-E8A5-5187-4021B3B8CB48}"/>
              </a:ext>
            </a:extLst>
          </p:cNvPr>
          <p:cNvGraphicFramePr>
            <a:graphicFrameLocks noChangeAspect="1"/>
          </p:cNvGraphicFramePr>
          <p:nvPr>
            <p:extLst>
              <p:ext uri="{D42A27DB-BD31-4B8C-83A1-F6EECF244321}">
                <p14:modId xmlns:p14="http://schemas.microsoft.com/office/powerpoint/2010/main" val="1980355761"/>
              </p:ext>
            </p:extLst>
          </p:nvPr>
        </p:nvGraphicFramePr>
        <p:xfrm>
          <a:off x="1181861" y="4021430"/>
          <a:ext cx="153670" cy="215138"/>
        </p:xfrm>
        <a:graphic>
          <a:graphicData uri="http://schemas.openxmlformats.org/presentationml/2006/ole">
            <mc:AlternateContent xmlns:mc="http://schemas.openxmlformats.org/markup-compatibility/2006">
              <mc:Choice xmlns:v="urn:schemas-microsoft-com:vml" Requires="v">
                <p:oleObj name="Equation" r:id="rId17" imgW="126720" imgH="177480" progId="Equation.DSMT4">
                  <p:embed/>
                </p:oleObj>
              </mc:Choice>
              <mc:Fallback>
                <p:oleObj name="Equation" r:id="rId17" imgW="126720" imgH="177480" progId="Equation.DSMT4">
                  <p:embed/>
                  <p:pic>
                    <p:nvPicPr>
                      <p:cNvPr id="17" name="Object 16">
                        <a:extLst>
                          <a:ext uri="{FF2B5EF4-FFF2-40B4-BE49-F238E27FC236}">
                            <a16:creationId xmlns:a16="http://schemas.microsoft.com/office/drawing/2014/main" id="{2D2E6B33-6C93-32B9-8C41-782C3DE0D5C3}"/>
                          </a:ext>
                        </a:extLst>
                      </p:cNvPr>
                      <p:cNvPicPr/>
                      <p:nvPr/>
                    </p:nvPicPr>
                    <p:blipFill>
                      <a:blip r:embed="rId18"/>
                      <a:stretch>
                        <a:fillRect/>
                      </a:stretch>
                    </p:blipFill>
                    <p:spPr>
                      <a:xfrm>
                        <a:off x="1181861" y="4021430"/>
                        <a:ext cx="153670" cy="215138"/>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E1F8B34C-5BD1-40F8-CB45-B14E2CD6E08E}"/>
              </a:ext>
            </a:extLst>
          </p:cNvPr>
          <p:cNvGraphicFramePr>
            <a:graphicFrameLocks noChangeAspect="1"/>
          </p:cNvGraphicFramePr>
          <p:nvPr>
            <p:extLst>
              <p:ext uri="{D42A27DB-BD31-4B8C-83A1-F6EECF244321}">
                <p14:modId xmlns:p14="http://schemas.microsoft.com/office/powerpoint/2010/main" val="2237592295"/>
              </p:ext>
            </p:extLst>
          </p:nvPr>
        </p:nvGraphicFramePr>
        <p:xfrm>
          <a:off x="1852277" y="4026933"/>
          <a:ext cx="185941" cy="185941"/>
        </p:xfrm>
        <a:graphic>
          <a:graphicData uri="http://schemas.openxmlformats.org/presentationml/2006/ole">
            <mc:AlternateContent xmlns:mc="http://schemas.openxmlformats.org/markup-compatibility/2006">
              <mc:Choice xmlns:v="urn:schemas-microsoft-com:vml" Requires="v">
                <p:oleObj name="Equation" r:id="rId19" imgW="139680" imgH="139680" progId="Equation.DSMT4">
                  <p:embed/>
                </p:oleObj>
              </mc:Choice>
              <mc:Fallback>
                <p:oleObj name="Equation" r:id="rId19" imgW="139680" imgH="139680" progId="Equation.DSMT4">
                  <p:embed/>
                  <p:pic>
                    <p:nvPicPr>
                      <p:cNvPr id="18" name="Object 17">
                        <a:extLst>
                          <a:ext uri="{FF2B5EF4-FFF2-40B4-BE49-F238E27FC236}">
                            <a16:creationId xmlns:a16="http://schemas.microsoft.com/office/drawing/2014/main" id="{4A530858-36B8-F869-5794-F8B1FED5BDAD}"/>
                          </a:ext>
                        </a:extLst>
                      </p:cNvPr>
                      <p:cNvPicPr/>
                      <p:nvPr/>
                    </p:nvPicPr>
                    <p:blipFill>
                      <a:blip r:embed="rId20"/>
                      <a:stretch>
                        <a:fillRect/>
                      </a:stretch>
                    </p:blipFill>
                    <p:spPr>
                      <a:xfrm>
                        <a:off x="1852277" y="4026933"/>
                        <a:ext cx="185941" cy="185941"/>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93EC81F0-02E1-5EF3-6EA5-648EC8F24B19}"/>
              </a:ext>
            </a:extLst>
          </p:cNvPr>
          <p:cNvGraphicFramePr>
            <a:graphicFrameLocks noChangeAspect="1"/>
          </p:cNvGraphicFramePr>
          <p:nvPr>
            <p:extLst>
              <p:ext uri="{D42A27DB-BD31-4B8C-83A1-F6EECF244321}">
                <p14:modId xmlns:p14="http://schemas.microsoft.com/office/powerpoint/2010/main" val="3494509532"/>
              </p:ext>
            </p:extLst>
          </p:nvPr>
        </p:nvGraphicFramePr>
        <p:xfrm>
          <a:off x="2498437" y="3994257"/>
          <a:ext cx="215138" cy="215138"/>
        </p:xfrm>
        <a:graphic>
          <a:graphicData uri="http://schemas.openxmlformats.org/presentationml/2006/ole">
            <mc:AlternateContent xmlns:mc="http://schemas.openxmlformats.org/markup-compatibility/2006">
              <mc:Choice xmlns:v="urn:schemas-microsoft-com:vml" Requires="v">
                <p:oleObj name="Equation" r:id="rId21" imgW="177480" imgH="177480" progId="Equation.DSMT4">
                  <p:embed/>
                </p:oleObj>
              </mc:Choice>
              <mc:Fallback>
                <p:oleObj name="Equation" r:id="rId21" imgW="177480" imgH="177480" progId="Equation.DSMT4">
                  <p:embed/>
                  <p:pic>
                    <p:nvPicPr>
                      <p:cNvPr id="19" name="Object 18">
                        <a:extLst>
                          <a:ext uri="{FF2B5EF4-FFF2-40B4-BE49-F238E27FC236}">
                            <a16:creationId xmlns:a16="http://schemas.microsoft.com/office/drawing/2014/main" id="{7CDE32EB-0D88-B16C-D6F5-75B4E8C477A2}"/>
                          </a:ext>
                        </a:extLst>
                      </p:cNvPr>
                      <p:cNvPicPr/>
                      <p:nvPr/>
                    </p:nvPicPr>
                    <p:blipFill>
                      <a:blip r:embed="rId22"/>
                      <a:stretch>
                        <a:fillRect/>
                      </a:stretch>
                    </p:blipFill>
                    <p:spPr>
                      <a:xfrm>
                        <a:off x="2498437" y="3994257"/>
                        <a:ext cx="215138" cy="215138"/>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C5F46FCD-6A45-2CD1-A8D8-3925DD3BE3EF}"/>
              </a:ext>
            </a:extLst>
          </p:cNvPr>
          <p:cNvGraphicFramePr>
            <a:graphicFrameLocks noChangeAspect="1"/>
          </p:cNvGraphicFramePr>
          <p:nvPr>
            <p:extLst>
              <p:ext uri="{D42A27DB-BD31-4B8C-83A1-F6EECF244321}">
                <p14:modId xmlns:p14="http://schemas.microsoft.com/office/powerpoint/2010/main" val="2860220366"/>
              </p:ext>
            </p:extLst>
          </p:nvPr>
        </p:nvGraphicFramePr>
        <p:xfrm>
          <a:off x="3317637" y="4007925"/>
          <a:ext cx="153670" cy="199771"/>
        </p:xfrm>
        <a:graphic>
          <a:graphicData uri="http://schemas.openxmlformats.org/presentationml/2006/ole">
            <mc:AlternateContent xmlns:mc="http://schemas.openxmlformats.org/markup-compatibility/2006">
              <mc:Choice xmlns:v="urn:schemas-microsoft-com:vml" Requires="v">
                <p:oleObj name="Equation" r:id="rId23" imgW="126720" imgH="164880" progId="Equation.DSMT4">
                  <p:embed/>
                </p:oleObj>
              </mc:Choice>
              <mc:Fallback>
                <p:oleObj name="Equation" r:id="rId23" imgW="126720" imgH="164880" progId="Equation.DSMT4">
                  <p:embed/>
                  <p:pic>
                    <p:nvPicPr>
                      <p:cNvPr id="20" name="Object 19">
                        <a:extLst>
                          <a:ext uri="{FF2B5EF4-FFF2-40B4-BE49-F238E27FC236}">
                            <a16:creationId xmlns:a16="http://schemas.microsoft.com/office/drawing/2014/main" id="{D85219CE-D06F-08A5-A69A-55270A0A342F}"/>
                          </a:ext>
                        </a:extLst>
                      </p:cNvPr>
                      <p:cNvPicPr/>
                      <p:nvPr/>
                    </p:nvPicPr>
                    <p:blipFill>
                      <a:blip r:embed="rId24"/>
                      <a:stretch>
                        <a:fillRect/>
                      </a:stretch>
                    </p:blipFill>
                    <p:spPr>
                      <a:xfrm>
                        <a:off x="3317637" y="4007925"/>
                        <a:ext cx="153670" cy="199771"/>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128EEE73-888B-38C8-67FB-915AE7D6785C}"/>
              </a:ext>
            </a:extLst>
          </p:cNvPr>
          <p:cNvGraphicFramePr>
            <a:graphicFrameLocks noChangeAspect="1"/>
          </p:cNvGraphicFramePr>
          <p:nvPr>
            <p:extLst>
              <p:ext uri="{D42A27DB-BD31-4B8C-83A1-F6EECF244321}">
                <p14:modId xmlns:p14="http://schemas.microsoft.com/office/powerpoint/2010/main" val="1233375836"/>
              </p:ext>
            </p:extLst>
          </p:nvPr>
        </p:nvGraphicFramePr>
        <p:xfrm>
          <a:off x="4068445" y="4020185"/>
          <a:ext cx="957263" cy="198438"/>
        </p:xfrm>
        <a:graphic>
          <a:graphicData uri="http://schemas.openxmlformats.org/presentationml/2006/ole">
            <mc:AlternateContent xmlns:mc="http://schemas.openxmlformats.org/markup-compatibility/2006">
              <mc:Choice xmlns:v="urn:schemas-microsoft-com:vml" Requires="v">
                <p:oleObj name="Equation" r:id="rId25" imgW="863280" imgH="177480" progId="Equation.DSMT4">
                  <p:embed/>
                </p:oleObj>
              </mc:Choice>
              <mc:Fallback>
                <p:oleObj name="Equation" r:id="rId25" imgW="863280" imgH="177480" progId="Equation.DSMT4">
                  <p:embed/>
                  <p:pic>
                    <p:nvPicPr>
                      <p:cNvPr id="21" name="Object 20">
                        <a:extLst>
                          <a:ext uri="{FF2B5EF4-FFF2-40B4-BE49-F238E27FC236}">
                            <a16:creationId xmlns:a16="http://schemas.microsoft.com/office/drawing/2014/main" id="{B8D48C60-5520-8F95-D360-B29BB2492432}"/>
                          </a:ext>
                        </a:extLst>
                      </p:cNvPr>
                      <p:cNvPicPr/>
                      <p:nvPr/>
                    </p:nvPicPr>
                    <p:blipFill>
                      <a:blip r:embed="rId26"/>
                      <a:stretch>
                        <a:fillRect/>
                      </a:stretch>
                    </p:blipFill>
                    <p:spPr>
                      <a:xfrm>
                        <a:off x="4068445" y="4020185"/>
                        <a:ext cx="957263" cy="198438"/>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F5717FB8-B40C-DB32-1DC8-AAAAF465B170}"/>
              </a:ext>
            </a:extLst>
          </p:cNvPr>
          <p:cNvGraphicFramePr>
            <a:graphicFrameLocks noChangeAspect="1"/>
          </p:cNvGraphicFramePr>
          <p:nvPr>
            <p:extLst>
              <p:ext uri="{D42A27DB-BD31-4B8C-83A1-F6EECF244321}">
                <p14:modId xmlns:p14="http://schemas.microsoft.com/office/powerpoint/2010/main" val="3767584026"/>
              </p:ext>
            </p:extLst>
          </p:nvPr>
        </p:nvGraphicFramePr>
        <p:xfrm>
          <a:off x="5662243" y="3993579"/>
          <a:ext cx="384175" cy="215138"/>
        </p:xfrm>
        <a:graphic>
          <a:graphicData uri="http://schemas.openxmlformats.org/presentationml/2006/ole">
            <mc:AlternateContent xmlns:mc="http://schemas.openxmlformats.org/markup-compatibility/2006">
              <mc:Choice xmlns:v="urn:schemas-microsoft-com:vml" Requires="v">
                <p:oleObj name="Equation" r:id="rId27" imgW="317160" imgH="177480" progId="Equation.DSMT4">
                  <p:embed/>
                </p:oleObj>
              </mc:Choice>
              <mc:Fallback>
                <p:oleObj name="Equation" r:id="rId27" imgW="317160" imgH="177480" progId="Equation.DSMT4">
                  <p:embed/>
                  <p:pic>
                    <p:nvPicPr>
                      <p:cNvPr id="22" name="Object 21">
                        <a:extLst>
                          <a:ext uri="{FF2B5EF4-FFF2-40B4-BE49-F238E27FC236}">
                            <a16:creationId xmlns:a16="http://schemas.microsoft.com/office/drawing/2014/main" id="{AB6117A7-2F24-AB99-635C-1C9300BA68A5}"/>
                          </a:ext>
                        </a:extLst>
                      </p:cNvPr>
                      <p:cNvPicPr/>
                      <p:nvPr/>
                    </p:nvPicPr>
                    <p:blipFill>
                      <a:blip r:embed="rId28"/>
                      <a:stretch>
                        <a:fillRect/>
                      </a:stretch>
                    </p:blipFill>
                    <p:spPr>
                      <a:xfrm>
                        <a:off x="5662243" y="3993579"/>
                        <a:ext cx="384175" cy="215138"/>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397A080E-5632-324A-1A9B-BA4B79EB35AC}"/>
              </a:ext>
            </a:extLst>
          </p:cNvPr>
          <p:cNvGraphicFramePr>
            <a:graphicFrameLocks noChangeAspect="1"/>
          </p:cNvGraphicFramePr>
          <p:nvPr>
            <p:extLst>
              <p:ext uri="{D42A27DB-BD31-4B8C-83A1-F6EECF244321}">
                <p14:modId xmlns:p14="http://schemas.microsoft.com/office/powerpoint/2010/main" val="1419197379"/>
              </p:ext>
            </p:extLst>
          </p:nvPr>
        </p:nvGraphicFramePr>
        <p:xfrm>
          <a:off x="6834762" y="4000851"/>
          <a:ext cx="169037" cy="219748"/>
        </p:xfrm>
        <a:graphic>
          <a:graphicData uri="http://schemas.openxmlformats.org/presentationml/2006/ole">
            <mc:AlternateContent xmlns:mc="http://schemas.openxmlformats.org/markup-compatibility/2006">
              <mc:Choice xmlns:v="urn:schemas-microsoft-com:vml" Requires="v">
                <p:oleObj name="Equation" r:id="rId29" imgW="126720" imgH="164880" progId="Equation.DSMT4">
                  <p:embed/>
                </p:oleObj>
              </mc:Choice>
              <mc:Fallback>
                <p:oleObj name="Equation" r:id="rId29" imgW="126720" imgH="164880" progId="Equation.DSMT4">
                  <p:embed/>
                  <p:pic>
                    <p:nvPicPr>
                      <p:cNvPr id="23" name="Object 22">
                        <a:extLst>
                          <a:ext uri="{FF2B5EF4-FFF2-40B4-BE49-F238E27FC236}">
                            <a16:creationId xmlns:a16="http://schemas.microsoft.com/office/drawing/2014/main" id="{D78579A4-6510-CF91-F88D-CC57FAD6720A}"/>
                          </a:ext>
                        </a:extLst>
                      </p:cNvPr>
                      <p:cNvPicPr/>
                      <p:nvPr/>
                    </p:nvPicPr>
                    <p:blipFill>
                      <a:blip r:embed="rId30"/>
                      <a:stretch>
                        <a:fillRect/>
                      </a:stretch>
                    </p:blipFill>
                    <p:spPr>
                      <a:xfrm>
                        <a:off x="6834762" y="4000851"/>
                        <a:ext cx="169037" cy="219748"/>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2BC7987B-E3A8-3532-9C7A-06FE4C47936B}"/>
              </a:ext>
            </a:extLst>
          </p:cNvPr>
          <p:cNvGraphicFramePr>
            <a:graphicFrameLocks noChangeAspect="1"/>
          </p:cNvGraphicFramePr>
          <p:nvPr>
            <p:extLst>
              <p:ext uri="{D42A27DB-BD31-4B8C-83A1-F6EECF244321}">
                <p14:modId xmlns:p14="http://schemas.microsoft.com/office/powerpoint/2010/main" val="1804864274"/>
              </p:ext>
            </p:extLst>
          </p:nvPr>
        </p:nvGraphicFramePr>
        <p:xfrm>
          <a:off x="7848496" y="4009732"/>
          <a:ext cx="384175" cy="215138"/>
        </p:xfrm>
        <a:graphic>
          <a:graphicData uri="http://schemas.openxmlformats.org/presentationml/2006/ole">
            <mc:AlternateContent xmlns:mc="http://schemas.openxmlformats.org/markup-compatibility/2006">
              <mc:Choice xmlns:v="urn:schemas-microsoft-com:vml" Requires="v">
                <p:oleObj name="Equation" r:id="rId31" imgW="317160" imgH="177480" progId="Equation.DSMT4">
                  <p:embed/>
                </p:oleObj>
              </mc:Choice>
              <mc:Fallback>
                <p:oleObj name="Equation" r:id="rId31" imgW="317160" imgH="177480" progId="Equation.DSMT4">
                  <p:embed/>
                  <p:pic>
                    <p:nvPicPr>
                      <p:cNvPr id="24" name="Object 23">
                        <a:extLst>
                          <a:ext uri="{FF2B5EF4-FFF2-40B4-BE49-F238E27FC236}">
                            <a16:creationId xmlns:a16="http://schemas.microsoft.com/office/drawing/2014/main" id="{659F9AFE-BD18-59D6-C457-46A764E3D8D8}"/>
                          </a:ext>
                        </a:extLst>
                      </p:cNvPr>
                      <p:cNvPicPr/>
                      <p:nvPr/>
                    </p:nvPicPr>
                    <p:blipFill>
                      <a:blip r:embed="rId32"/>
                      <a:stretch>
                        <a:fillRect/>
                      </a:stretch>
                    </p:blipFill>
                    <p:spPr>
                      <a:xfrm>
                        <a:off x="7848496" y="4009732"/>
                        <a:ext cx="384175" cy="215138"/>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A322CAC2-2A30-084D-5E97-64F8F4612D0C}"/>
              </a:ext>
            </a:extLst>
          </p:cNvPr>
          <p:cNvGraphicFramePr>
            <a:graphicFrameLocks noChangeAspect="1"/>
          </p:cNvGraphicFramePr>
          <p:nvPr>
            <p:extLst>
              <p:ext uri="{D42A27DB-BD31-4B8C-83A1-F6EECF244321}">
                <p14:modId xmlns:p14="http://schemas.microsoft.com/office/powerpoint/2010/main" val="2024580111"/>
              </p:ext>
            </p:extLst>
          </p:nvPr>
        </p:nvGraphicFramePr>
        <p:xfrm>
          <a:off x="1107758" y="4389406"/>
          <a:ext cx="215900" cy="215900"/>
        </p:xfrm>
        <a:graphic>
          <a:graphicData uri="http://schemas.openxmlformats.org/presentationml/2006/ole">
            <mc:AlternateContent xmlns:mc="http://schemas.openxmlformats.org/markup-compatibility/2006">
              <mc:Choice xmlns:v="urn:schemas-microsoft-com:vml" Requires="v">
                <p:oleObj name="Equation" r:id="rId33" imgW="177480" imgH="177480" progId="Equation.DSMT4">
                  <p:embed/>
                </p:oleObj>
              </mc:Choice>
              <mc:Fallback>
                <p:oleObj name="Equation" r:id="rId33" imgW="177480" imgH="177480" progId="Equation.DSMT4">
                  <p:embed/>
                  <p:pic>
                    <p:nvPicPr>
                      <p:cNvPr id="25" name="Object 24">
                        <a:extLst>
                          <a:ext uri="{FF2B5EF4-FFF2-40B4-BE49-F238E27FC236}">
                            <a16:creationId xmlns:a16="http://schemas.microsoft.com/office/drawing/2014/main" id="{DE245F01-22B4-4D3D-1009-42AE2E7F671E}"/>
                          </a:ext>
                        </a:extLst>
                      </p:cNvPr>
                      <p:cNvPicPr/>
                      <p:nvPr/>
                    </p:nvPicPr>
                    <p:blipFill>
                      <a:blip r:embed="rId34"/>
                      <a:stretch>
                        <a:fillRect/>
                      </a:stretch>
                    </p:blipFill>
                    <p:spPr>
                      <a:xfrm>
                        <a:off x="1107758" y="4389406"/>
                        <a:ext cx="215900" cy="2159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66BEEB42-88DF-D0FC-4A2B-1AFE546C07BF}"/>
              </a:ext>
            </a:extLst>
          </p:cNvPr>
          <p:cNvGraphicFramePr>
            <a:graphicFrameLocks noChangeAspect="1"/>
          </p:cNvGraphicFramePr>
          <p:nvPr>
            <p:extLst>
              <p:ext uri="{D42A27DB-BD31-4B8C-83A1-F6EECF244321}">
                <p14:modId xmlns:p14="http://schemas.microsoft.com/office/powerpoint/2010/main" val="2334688839"/>
              </p:ext>
            </p:extLst>
          </p:nvPr>
        </p:nvGraphicFramePr>
        <p:xfrm>
          <a:off x="1867026" y="4395642"/>
          <a:ext cx="185941" cy="185941"/>
        </p:xfrm>
        <a:graphic>
          <a:graphicData uri="http://schemas.openxmlformats.org/presentationml/2006/ole">
            <mc:AlternateContent xmlns:mc="http://schemas.openxmlformats.org/markup-compatibility/2006">
              <mc:Choice xmlns:v="urn:schemas-microsoft-com:vml" Requires="v">
                <p:oleObj name="Equation" r:id="rId19" imgW="139680" imgH="139680" progId="Equation.DSMT4">
                  <p:embed/>
                </p:oleObj>
              </mc:Choice>
              <mc:Fallback>
                <p:oleObj name="Equation" r:id="rId19" imgW="139680" imgH="139680" progId="Equation.DSMT4">
                  <p:embed/>
                  <p:pic>
                    <p:nvPicPr>
                      <p:cNvPr id="26" name="Object 25">
                        <a:extLst>
                          <a:ext uri="{FF2B5EF4-FFF2-40B4-BE49-F238E27FC236}">
                            <a16:creationId xmlns:a16="http://schemas.microsoft.com/office/drawing/2014/main" id="{A7919CD2-4B39-8A94-BAB3-F0F010A88310}"/>
                          </a:ext>
                        </a:extLst>
                      </p:cNvPr>
                      <p:cNvPicPr/>
                      <p:nvPr/>
                    </p:nvPicPr>
                    <p:blipFill>
                      <a:blip r:embed="rId20"/>
                      <a:stretch>
                        <a:fillRect/>
                      </a:stretch>
                    </p:blipFill>
                    <p:spPr>
                      <a:xfrm>
                        <a:off x="1867026" y="4395642"/>
                        <a:ext cx="185941" cy="185941"/>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E3945D03-7DCF-44CA-FEF3-F94C6ABB666B}"/>
              </a:ext>
            </a:extLst>
          </p:cNvPr>
          <p:cNvGraphicFramePr>
            <a:graphicFrameLocks noChangeAspect="1"/>
          </p:cNvGraphicFramePr>
          <p:nvPr>
            <p:extLst>
              <p:ext uri="{D42A27DB-BD31-4B8C-83A1-F6EECF244321}">
                <p14:modId xmlns:p14="http://schemas.microsoft.com/office/powerpoint/2010/main" val="3418022983"/>
              </p:ext>
            </p:extLst>
          </p:nvPr>
        </p:nvGraphicFramePr>
        <p:xfrm>
          <a:off x="2469833" y="4372251"/>
          <a:ext cx="244475" cy="215900"/>
        </p:xfrm>
        <a:graphic>
          <a:graphicData uri="http://schemas.openxmlformats.org/presentationml/2006/ole">
            <mc:AlternateContent xmlns:mc="http://schemas.openxmlformats.org/markup-compatibility/2006">
              <mc:Choice xmlns:v="urn:schemas-microsoft-com:vml" Requires="v">
                <p:oleObj name="Equation" r:id="rId35" imgW="203040" imgH="177480" progId="Equation.DSMT4">
                  <p:embed/>
                </p:oleObj>
              </mc:Choice>
              <mc:Fallback>
                <p:oleObj name="Equation" r:id="rId35" imgW="203040" imgH="177480" progId="Equation.DSMT4">
                  <p:embed/>
                  <p:pic>
                    <p:nvPicPr>
                      <p:cNvPr id="27" name="Object 26">
                        <a:extLst>
                          <a:ext uri="{FF2B5EF4-FFF2-40B4-BE49-F238E27FC236}">
                            <a16:creationId xmlns:a16="http://schemas.microsoft.com/office/drawing/2014/main" id="{F7B539D5-767B-D02D-C989-91ECBAFD6288}"/>
                          </a:ext>
                        </a:extLst>
                      </p:cNvPr>
                      <p:cNvPicPr/>
                      <p:nvPr/>
                    </p:nvPicPr>
                    <p:blipFill>
                      <a:blip r:embed="rId36"/>
                      <a:stretch>
                        <a:fillRect/>
                      </a:stretch>
                    </p:blipFill>
                    <p:spPr>
                      <a:xfrm>
                        <a:off x="2469833" y="4372251"/>
                        <a:ext cx="244475" cy="2159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11DDBB88-33E0-FB4F-0B79-CA31C42AF542}"/>
              </a:ext>
            </a:extLst>
          </p:cNvPr>
          <p:cNvGraphicFramePr>
            <a:graphicFrameLocks noChangeAspect="1"/>
          </p:cNvGraphicFramePr>
          <p:nvPr>
            <p:extLst>
              <p:ext uri="{D42A27DB-BD31-4B8C-83A1-F6EECF244321}">
                <p14:modId xmlns:p14="http://schemas.microsoft.com/office/powerpoint/2010/main" val="936932705"/>
              </p:ext>
            </p:extLst>
          </p:nvPr>
        </p:nvGraphicFramePr>
        <p:xfrm>
          <a:off x="3257233" y="4377373"/>
          <a:ext cx="247650" cy="198437"/>
        </p:xfrm>
        <a:graphic>
          <a:graphicData uri="http://schemas.openxmlformats.org/presentationml/2006/ole">
            <mc:AlternateContent xmlns:mc="http://schemas.openxmlformats.org/markup-compatibility/2006">
              <mc:Choice xmlns:v="urn:schemas-microsoft-com:vml" Requires="v">
                <p:oleObj name="Equation" r:id="rId37" imgW="203040" imgH="164880" progId="Equation.DSMT4">
                  <p:embed/>
                </p:oleObj>
              </mc:Choice>
              <mc:Fallback>
                <p:oleObj name="Equation" r:id="rId37" imgW="203040" imgH="164880" progId="Equation.DSMT4">
                  <p:embed/>
                  <p:pic>
                    <p:nvPicPr>
                      <p:cNvPr id="28" name="Object 27">
                        <a:extLst>
                          <a:ext uri="{FF2B5EF4-FFF2-40B4-BE49-F238E27FC236}">
                            <a16:creationId xmlns:a16="http://schemas.microsoft.com/office/drawing/2014/main" id="{81BCC8E3-D06E-9820-C1F1-03C2F6CAECE7}"/>
                          </a:ext>
                        </a:extLst>
                      </p:cNvPr>
                      <p:cNvPicPr/>
                      <p:nvPr/>
                    </p:nvPicPr>
                    <p:blipFill>
                      <a:blip r:embed="rId38"/>
                      <a:stretch>
                        <a:fillRect/>
                      </a:stretch>
                    </p:blipFill>
                    <p:spPr>
                      <a:xfrm>
                        <a:off x="3257233" y="4377373"/>
                        <a:ext cx="247650" cy="198437"/>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DA14E4A1-AEFA-2838-F3BF-B5A34C602F70}"/>
              </a:ext>
            </a:extLst>
          </p:cNvPr>
          <p:cNvGraphicFramePr>
            <a:graphicFrameLocks noChangeAspect="1"/>
          </p:cNvGraphicFramePr>
          <p:nvPr>
            <p:extLst>
              <p:ext uri="{D42A27DB-BD31-4B8C-83A1-F6EECF244321}">
                <p14:modId xmlns:p14="http://schemas.microsoft.com/office/powerpoint/2010/main" val="1040651741"/>
              </p:ext>
            </p:extLst>
          </p:nvPr>
        </p:nvGraphicFramePr>
        <p:xfrm>
          <a:off x="3973513" y="4387850"/>
          <a:ext cx="1058862" cy="198438"/>
        </p:xfrm>
        <a:graphic>
          <a:graphicData uri="http://schemas.openxmlformats.org/presentationml/2006/ole">
            <mc:AlternateContent xmlns:mc="http://schemas.openxmlformats.org/markup-compatibility/2006">
              <mc:Choice xmlns:v="urn:schemas-microsoft-com:vml" Requires="v">
                <p:oleObj name="Equation" r:id="rId39" imgW="952200" imgH="177480" progId="Equation.DSMT4">
                  <p:embed/>
                </p:oleObj>
              </mc:Choice>
              <mc:Fallback>
                <p:oleObj name="Equation" r:id="rId39" imgW="952200" imgH="177480" progId="Equation.DSMT4">
                  <p:embed/>
                  <p:pic>
                    <p:nvPicPr>
                      <p:cNvPr id="29" name="Object 28">
                        <a:extLst>
                          <a:ext uri="{FF2B5EF4-FFF2-40B4-BE49-F238E27FC236}">
                            <a16:creationId xmlns:a16="http://schemas.microsoft.com/office/drawing/2014/main" id="{E80A35D6-53D5-9E7B-4AAD-22C94DECA53F}"/>
                          </a:ext>
                        </a:extLst>
                      </p:cNvPr>
                      <p:cNvPicPr/>
                      <p:nvPr/>
                    </p:nvPicPr>
                    <p:blipFill>
                      <a:blip r:embed="rId40"/>
                      <a:stretch>
                        <a:fillRect/>
                      </a:stretch>
                    </p:blipFill>
                    <p:spPr>
                      <a:xfrm>
                        <a:off x="3973513" y="4387850"/>
                        <a:ext cx="1058862" cy="198438"/>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A419A8A8-B3B4-3675-1445-E7072D71EB8B}"/>
              </a:ext>
            </a:extLst>
          </p:cNvPr>
          <p:cNvGraphicFramePr>
            <a:graphicFrameLocks noChangeAspect="1"/>
          </p:cNvGraphicFramePr>
          <p:nvPr>
            <p:extLst>
              <p:ext uri="{D42A27DB-BD31-4B8C-83A1-F6EECF244321}">
                <p14:modId xmlns:p14="http://schemas.microsoft.com/office/powerpoint/2010/main" val="2250095076"/>
              </p:ext>
            </p:extLst>
          </p:nvPr>
        </p:nvGraphicFramePr>
        <p:xfrm>
          <a:off x="5589270" y="4361498"/>
          <a:ext cx="460375" cy="215900"/>
        </p:xfrm>
        <a:graphic>
          <a:graphicData uri="http://schemas.openxmlformats.org/presentationml/2006/ole">
            <mc:AlternateContent xmlns:mc="http://schemas.openxmlformats.org/markup-compatibility/2006">
              <mc:Choice xmlns:v="urn:schemas-microsoft-com:vml" Requires="v">
                <p:oleObj name="Equation" r:id="rId41" imgW="380880" imgH="177480" progId="Equation.DSMT4">
                  <p:embed/>
                </p:oleObj>
              </mc:Choice>
              <mc:Fallback>
                <p:oleObj name="Equation" r:id="rId41" imgW="380880" imgH="177480" progId="Equation.DSMT4">
                  <p:embed/>
                  <p:pic>
                    <p:nvPicPr>
                      <p:cNvPr id="30" name="Object 29">
                        <a:extLst>
                          <a:ext uri="{FF2B5EF4-FFF2-40B4-BE49-F238E27FC236}">
                            <a16:creationId xmlns:a16="http://schemas.microsoft.com/office/drawing/2014/main" id="{96191ED5-6B15-2781-FE2A-34C300DCE2FF}"/>
                          </a:ext>
                        </a:extLst>
                      </p:cNvPr>
                      <p:cNvPicPr/>
                      <p:nvPr/>
                    </p:nvPicPr>
                    <p:blipFill>
                      <a:blip r:embed="rId42"/>
                      <a:stretch>
                        <a:fillRect/>
                      </a:stretch>
                    </p:blipFill>
                    <p:spPr>
                      <a:xfrm>
                        <a:off x="5589270" y="4361498"/>
                        <a:ext cx="460375" cy="2159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1F8445BA-8713-5E4C-21FE-60D8CC0F345D}"/>
              </a:ext>
            </a:extLst>
          </p:cNvPr>
          <p:cNvGraphicFramePr>
            <a:graphicFrameLocks noChangeAspect="1"/>
          </p:cNvGraphicFramePr>
          <p:nvPr>
            <p:extLst>
              <p:ext uri="{D42A27DB-BD31-4B8C-83A1-F6EECF244321}">
                <p14:modId xmlns:p14="http://schemas.microsoft.com/office/powerpoint/2010/main" val="2965073047"/>
              </p:ext>
            </p:extLst>
          </p:nvPr>
        </p:nvGraphicFramePr>
        <p:xfrm>
          <a:off x="6738927" y="4361498"/>
          <a:ext cx="273050" cy="238125"/>
        </p:xfrm>
        <a:graphic>
          <a:graphicData uri="http://schemas.openxmlformats.org/presentationml/2006/ole">
            <mc:AlternateContent xmlns:mc="http://schemas.openxmlformats.org/markup-compatibility/2006">
              <mc:Choice xmlns:v="urn:schemas-microsoft-com:vml" Requires="v">
                <p:oleObj name="Equation" r:id="rId43" imgW="203040" imgH="177480" progId="Equation.DSMT4">
                  <p:embed/>
                </p:oleObj>
              </mc:Choice>
              <mc:Fallback>
                <p:oleObj name="Equation" r:id="rId43" imgW="203040" imgH="177480" progId="Equation.DSMT4">
                  <p:embed/>
                  <p:pic>
                    <p:nvPicPr>
                      <p:cNvPr id="31" name="Object 30">
                        <a:extLst>
                          <a:ext uri="{FF2B5EF4-FFF2-40B4-BE49-F238E27FC236}">
                            <a16:creationId xmlns:a16="http://schemas.microsoft.com/office/drawing/2014/main" id="{4F7301E3-4265-7DD9-3F45-FEE9A2D26EB0}"/>
                          </a:ext>
                        </a:extLst>
                      </p:cNvPr>
                      <p:cNvPicPr/>
                      <p:nvPr/>
                    </p:nvPicPr>
                    <p:blipFill>
                      <a:blip r:embed="rId44"/>
                      <a:stretch>
                        <a:fillRect/>
                      </a:stretch>
                    </p:blipFill>
                    <p:spPr>
                      <a:xfrm>
                        <a:off x="6738927" y="4361498"/>
                        <a:ext cx="273050" cy="238125"/>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15949045-A519-F8F5-87C7-2097BB628FAE}"/>
              </a:ext>
            </a:extLst>
          </p:cNvPr>
          <p:cNvGraphicFramePr>
            <a:graphicFrameLocks noChangeAspect="1"/>
          </p:cNvGraphicFramePr>
          <p:nvPr>
            <p:extLst>
              <p:ext uri="{D42A27DB-BD31-4B8C-83A1-F6EECF244321}">
                <p14:modId xmlns:p14="http://schemas.microsoft.com/office/powerpoint/2010/main" val="785316834"/>
              </p:ext>
            </p:extLst>
          </p:nvPr>
        </p:nvGraphicFramePr>
        <p:xfrm>
          <a:off x="7785037" y="4378960"/>
          <a:ext cx="460375" cy="214313"/>
        </p:xfrm>
        <a:graphic>
          <a:graphicData uri="http://schemas.openxmlformats.org/presentationml/2006/ole">
            <mc:AlternateContent xmlns:mc="http://schemas.openxmlformats.org/markup-compatibility/2006">
              <mc:Choice xmlns:v="urn:schemas-microsoft-com:vml" Requires="v">
                <p:oleObj name="Equation" r:id="rId45" imgW="380880" imgH="177480" progId="Equation.DSMT4">
                  <p:embed/>
                </p:oleObj>
              </mc:Choice>
              <mc:Fallback>
                <p:oleObj name="Equation" r:id="rId45" imgW="380880" imgH="177480" progId="Equation.DSMT4">
                  <p:embed/>
                  <p:pic>
                    <p:nvPicPr>
                      <p:cNvPr id="32" name="Object 31">
                        <a:extLst>
                          <a:ext uri="{FF2B5EF4-FFF2-40B4-BE49-F238E27FC236}">
                            <a16:creationId xmlns:a16="http://schemas.microsoft.com/office/drawing/2014/main" id="{77D9CF9B-5E71-7B62-66AB-AC864772CDB8}"/>
                          </a:ext>
                        </a:extLst>
                      </p:cNvPr>
                      <p:cNvPicPr/>
                      <p:nvPr/>
                    </p:nvPicPr>
                    <p:blipFill>
                      <a:blip r:embed="rId46"/>
                      <a:stretch>
                        <a:fillRect/>
                      </a:stretch>
                    </p:blipFill>
                    <p:spPr>
                      <a:xfrm>
                        <a:off x="7785037" y="4378960"/>
                        <a:ext cx="460375" cy="214313"/>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30D0A456-9FD5-142B-CE16-DE01CDAF9060}"/>
              </a:ext>
            </a:extLst>
          </p:cNvPr>
          <p:cNvGraphicFramePr>
            <a:graphicFrameLocks noChangeAspect="1"/>
          </p:cNvGraphicFramePr>
          <p:nvPr>
            <p:extLst>
              <p:ext uri="{D42A27DB-BD31-4B8C-83A1-F6EECF244321}">
                <p14:modId xmlns:p14="http://schemas.microsoft.com/office/powerpoint/2010/main" val="2821304035"/>
              </p:ext>
            </p:extLst>
          </p:nvPr>
        </p:nvGraphicFramePr>
        <p:xfrm>
          <a:off x="1066483" y="4758987"/>
          <a:ext cx="247650" cy="214312"/>
        </p:xfrm>
        <a:graphic>
          <a:graphicData uri="http://schemas.openxmlformats.org/presentationml/2006/ole">
            <mc:AlternateContent xmlns:mc="http://schemas.openxmlformats.org/markup-compatibility/2006">
              <mc:Choice xmlns:v="urn:schemas-microsoft-com:vml" Requires="v">
                <p:oleObj name="Equation" r:id="rId47" imgW="203040" imgH="177480" progId="Equation.DSMT4">
                  <p:embed/>
                </p:oleObj>
              </mc:Choice>
              <mc:Fallback>
                <p:oleObj name="Equation" r:id="rId47" imgW="203040" imgH="177480" progId="Equation.DSMT4">
                  <p:embed/>
                  <p:pic>
                    <p:nvPicPr>
                      <p:cNvPr id="33" name="Object 32">
                        <a:extLst>
                          <a:ext uri="{FF2B5EF4-FFF2-40B4-BE49-F238E27FC236}">
                            <a16:creationId xmlns:a16="http://schemas.microsoft.com/office/drawing/2014/main" id="{E61595B1-6143-EE0E-F183-AE2343BAACC2}"/>
                          </a:ext>
                        </a:extLst>
                      </p:cNvPr>
                      <p:cNvPicPr/>
                      <p:nvPr/>
                    </p:nvPicPr>
                    <p:blipFill>
                      <a:blip r:embed="rId48"/>
                      <a:stretch>
                        <a:fillRect/>
                      </a:stretch>
                    </p:blipFill>
                    <p:spPr>
                      <a:xfrm>
                        <a:off x="1066483" y="4758987"/>
                        <a:ext cx="247650" cy="214312"/>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045D4677-A1E8-523C-0A41-CBA3F56B2432}"/>
              </a:ext>
            </a:extLst>
          </p:cNvPr>
          <p:cNvGraphicFramePr>
            <a:graphicFrameLocks noChangeAspect="1"/>
          </p:cNvGraphicFramePr>
          <p:nvPr>
            <p:extLst>
              <p:ext uri="{D42A27DB-BD31-4B8C-83A1-F6EECF244321}">
                <p14:modId xmlns:p14="http://schemas.microsoft.com/office/powerpoint/2010/main" val="2187721347"/>
              </p:ext>
            </p:extLst>
          </p:nvPr>
        </p:nvGraphicFramePr>
        <p:xfrm>
          <a:off x="1842447" y="4774185"/>
          <a:ext cx="185941" cy="185941"/>
        </p:xfrm>
        <a:graphic>
          <a:graphicData uri="http://schemas.openxmlformats.org/presentationml/2006/ole">
            <mc:AlternateContent xmlns:mc="http://schemas.openxmlformats.org/markup-compatibility/2006">
              <mc:Choice xmlns:v="urn:schemas-microsoft-com:vml" Requires="v">
                <p:oleObj name="Equation" r:id="rId19" imgW="139680" imgH="139680" progId="Equation.DSMT4">
                  <p:embed/>
                </p:oleObj>
              </mc:Choice>
              <mc:Fallback>
                <p:oleObj name="Equation" r:id="rId19" imgW="139680" imgH="139680" progId="Equation.DSMT4">
                  <p:embed/>
                  <p:pic>
                    <p:nvPicPr>
                      <p:cNvPr id="34" name="Object 33">
                        <a:extLst>
                          <a:ext uri="{FF2B5EF4-FFF2-40B4-BE49-F238E27FC236}">
                            <a16:creationId xmlns:a16="http://schemas.microsoft.com/office/drawing/2014/main" id="{85E80500-CFE0-C6F3-988E-B30D065AAA23}"/>
                          </a:ext>
                        </a:extLst>
                      </p:cNvPr>
                      <p:cNvPicPr/>
                      <p:nvPr/>
                    </p:nvPicPr>
                    <p:blipFill>
                      <a:blip r:embed="rId20"/>
                      <a:stretch>
                        <a:fillRect/>
                      </a:stretch>
                    </p:blipFill>
                    <p:spPr>
                      <a:xfrm>
                        <a:off x="1842447" y="4774185"/>
                        <a:ext cx="185941" cy="185941"/>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C77E1021-D8EF-62D7-3B5D-97726326640B}"/>
              </a:ext>
            </a:extLst>
          </p:cNvPr>
          <p:cNvGraphicFramePr>
            <a:graphicFrameLocks noChangeAspect="1"/>
          </p:cNvGraphicFramePr>
          <p:nvPr>
            <p:extLst>
              <p:ext uri="{D42A27DB-BD31-4B8C-83A1-F6EECF244321}">
                <p14:modId xmlns:p14="http://schemas.microsoft.com/office/powerpoint/2010/main" val="749634510"/>
              </p:ext>
            </p:extLst>
          </p:nvPr>
        </p:nvGraphicFramePr>
        <p:xfrm>
          <a:off x="2480279" y="4741831"/>
          <a:ext cx="231775" cy="214313"/>
        </p:xfrm>
        <a:graphic>
          <a:graphicData uri="http://schemas.openxmlformats.org/presentationml/2006/ole">
            <mc:AlternateContent xmlns:mc="http://schemas.openxmlformats.org/markup-compatibility/2006">
              <mc:Choice xmlns:v="urn:schemas-microsoft-com:vml" Requires="v">
                <p:oleObj name="Equation" r:id="rId49" imgW="190440" imgH="177480" progId="Equation.DSMT4">
                  <p:embed/>
                </p:oleObj>
              </mc:Choice>
              <mc:Fallback>
                <p:oleObj name="Equation" r:id="rId49" imgW="190440" imgH="177480" progId="Equation.DSMT4">
                  <p:embed/>
                  <p:pic>
                    <p:nvPicPr>
                      <p:cNvPr id="35" name="Object 34">
                        <a:extLst>
                          <a:ext uri="{FF2B5EF4-FFF2-40B4-BE49-F238E27FC236}">
                            <a16:creationId xmlns:a16="http://schemas.microsoft.com/office/drawing/2014/main" id="{55CCCCEC-8F0A-8CDD-226D-A25C2CDDE282}"/>
                          </a:ext>
                        </a:extLst>
                      </p:cNvPr>
                      <p:cNvPicPr/>
                      <p:nvPr/>
                    </p:nvPicPr>
                    <p:blipFill>
                      <a:blip r:embed="rId50"/>
                      <a:stretch>
                        <a:fillRect/>
                      </a:stretch>
                    </p:blipFill>
                    <p:spPr>
                      <a:xfrm>
                        <a:off x="2480279" y="4741831"/>
                        <a:ext cx="231775" cy="214313"/>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737EF4C8-A3D7-2306-6431-C8C297255369}"/>
              </a:ext>
            </a:extLst>
          </p:cNvPr>
          <p:cNvGraphicFramePr>
            <a:graphicFrameLocks noChangeAspect="1"/>
          </p:cNvGraphicFramePr>
          <p:nvPr>
            <p:extLst>
              <p:ext uri="{D42A27DB-BD31-4B8C-83A1-F6EECF244321}">
                <p14:modId xmlns:p14="http://schemas.microsoft.com/office/powerpoint/2010/main" val="1218716504"/>
              </p:ext>
            </p:extLst>
          </p:nvPr>
        </p:nvGraphicFramePr>
        <p:xfrm>
          <a:off x="3254058" y="4755198"/>
          <a:ext cx="201612" cy="200025"/>
        </p:xfrm>
        <a:graphic>
          <a:graphicData uri="http://schemas.openxmlformats.org/presentationml/2006/ole">
            <mc:AlternateContent xmlns:mc="http://schemas.openxmlformats.org/markup-compatibility/2006">
              <mc:Choice xmlns:v="urn:schemas-microsoft-com:vml" Requires="v">
                <p:oleObj name="Equation" r:id="rId51" imgW="164880" imgH="164880" progId="Equation.DSMT4">
                  <p:embed/>
                </p:oleObj>
              </mc:Choice>
              <mc:Fallback>
                <p:oleObj name="Equation" r:id="rId51" imgW="164880" imgH="164880" progId="Equation.DSMT4">
                  <p:embed/>
                  <p:pic>
                    <p:nvPicPr>
                      <p:cNvPr id="36" name="Object 35">
                        <a:extLst>
                          <a:ext uri="{FF2B5EF4-FFF2-40B4-BE49-F238E27FC236}">
                            <a16:creationId xmlns:a16="http://schemas.microsoft.com/office/drawing/2014/main" id="{C26F6F1F-2DAE-CF7F-EE36-08F9EE8DD4FD}"/>
                          </a:ext>
                        </a:extLst>
                      </p:cNvPr>
                      <p:cNvPicPr/>
                      <p:nvPr/>
                    </p:nvPicPr>
                    <p:blipFill>
                      <a:blip r:embed="rId52"/>
                      <a:stretch>
                        <a:fillRect/>
                      </a:stretch>
                    </p:blipFill>
                    <p:spPr>
                      <a:xfrm>
                        <a:off x="3254058" y="4755198"/>
                        <a:ext cx="201612" cy="200025"/>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737AC425-977E-6883-E24C-44AE5B4CD33B}"/>
              </a:ext>
            </a:extLst>
          </p:cNvPr>
          <p:cNvGraphicFramePr>
            <a:graphicFrameLocks noChangeAspect="1"/>
          </p:cNvGraphicFramePr>
          <p:nvPr>
            <p:extLst>
              <p:ext uri="{D42A27DB-BD31-4B8C-83A1-F6EECF244321}">
                <p14:modId xmlns:p14="http://schemas.microsoft.com/office/powerpoint/2010/main" val="740977095"/>
              </p:ext>
            </p:extLst>
          </p:nvPr>
        </p:nvGraphicFramePr>
        <p:xfrm>
          <a:off x="3998595" y="4758373"/>
          <a:ext cx="1016000" cy="196850"/>
        </p:xfrm>
        <a:graphic>
          <a:graphicData uri="http://schemas.openxmlformats.org/presentationml/2006/ole">
            <mc:AlternateContent xmlns:mc="http://schemas.openxmlformats.org/markup-compatibility/2006">
              <mc:Choice xmlns:v="urn:schemas-microsoft-com:vml" Requires="v">
                <p:oleObj name="Equation" r:id="rId53" imgW="914400" imgH="177480" progId="Equation.DSMT4">
                  <p:embed/>
                </p:oleObj>
              </mc:Choice>
              <mc:Fallback>
                <p:oleObj name="Equation" r:id="rId53" imgW="914400" imgH="177480" progId="Equation.DSMT4">
                  <p:embed/>
                  <p:pic>
                    <p:nvPicPr>
                      <p:cNvPr id="37" name="Object 36">
                        <a:extLst>
                          <a:ext uri="{FF2B5EF4-FFF2-40B4-BE49-F238E27FC236}">
                            <a16:creationId xmlns:a16="http://schemas.microsoft.com/office/drawing/2014/main" id="{30DCE859-0610-0C99-11C0-C1E74DEC6B80}"/>
                          </a:ext>
                        </a:extLst>
                      </p:cNvPr>
                      <p:cNvPicPr/>
                      <p:nvPr/>
                    </p:nvPicPr>
                    <p:blipFill>
                      <a:blip r:embed="rId54"/>
                      <a:stretch>
                        <a:fillRect/>
                      </a:stretch>
                    </p:blipFill>
                    <p:spPr>
                      <a:xfrm>
                        <a:off x="3998595" y="4758373"/>
                        <a:ext cx="1016000" cy="19685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D45ED7BB-8430-CB9B-FC85-112D5F79467F}"/>
              </a:ext>
            </a:extLst>
          </p:cNvPr>
          <p:cNvGraphicFramePr>
            <a:graphicFrameLocks noChangeAspect="1"/>
          </p:cNvGraphicFramePr>
          <p:nvPr>
            <p:extLst>
              <p:ext uri="{D42A27DB-BD31-4B8C-83A1-F6EECF244321}">
                <p14:modId xmlns:p14="http://schemas.microsoft.com/office/powerpoint/2010/main" val="1987873174"/>
              </p:ext>
            </p:extLst>
          </p:nvPr>
        </p:nvGraphicFramePr>
        <p:xfrm>
          <a:off x="5587016" y="4740910"/>
          <a:ext cx="476250" cy="214313"/>
        </p:xfrm>
        <a:graphic>
          <a:graphicData uri="http://schemas.openxmlformats.org/presentationml/2006/ole">
            <mc:AlternateContent xmlns:mc="http://schemas.openxmlformats.org/markup-compatibility/2006">
              <mc:Choice xmlns:v="urn:schemas-microsoft-com:vml" Requires="v">
                <p:oleObj name="Equation" r:id="rId55" imgW="393480" imgH="177480" progId="Equation.DSMT4">
                  <p:embed/>
                </p:oleObj>
              </mc:Choice>
              <mc:Fallback>
                <p:oleObj name="Equation" r:id="rId55" imgW="393480" imgH="177480" progId="Equation.DSMT4">
                  <p:embed/>
                  <p:pic>
                    <p:nvPicPr>
                      <p:cNvPr id="38" name="Object 37">
                        <a:extLst>
                          <a:ext uri="{FF2B5EF4-FFF2-40B4-BE49-F238E27FC236}">
                            <a16:creationId xmlns:a16="http://schemas.microsoft.com/office/drawing/2014/main" id="{8C726457-68A6-6C23-C318-E9BE8D255FE3}"/>
                          </a:ext>
                        </a:extLst>
                      </p:cNvPr>
                      <p:cNvPicPr/>
                      <p:nvPr/>
                    </p:nvPicPr>
                    <p:blipFill>
                      <a:blip r:embed="rId56"/>
                      <a:stretch>
                        <a:fillRect/>
                      </a:stretch>
                    </p:blipFill>
                    <p:spPr>
                      <a:xfrm>
                        <a:off x="5587016" y="4740910"/>
                        <a:ext cx="476250" cy="214313"/>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B0F17CA3-209E-0709-4A0F-310DB4E338F4}"/>
              </a:ext>
            </a:extLst>
          </p:cNvPr>
          <p:cNvGraphicFramePr>
            <a:graphicFrameLocks noChangeAspect="1"/>
          </p:cNvGraphicFramePr>
          <p:nvPr>
            <p:extLst>
              <p:ext uri="{D42A27DB-BD31-4B8C-83A1-F6EECF244321}">
                <p14:modId xmlns:p14="http://schemas.microsoft.com/office/powerpoint/2010/main" val="4120991663"/>
              </p:ext>
            </p:extLst>
          </p:nvPr>
        </p:nvGraphicFramePr>
        <p:xfrm>
          <a:off x="6734779" y="4740910"/>
          <a:ext cx="269875" cy="234950"/>
        </p:xfrm>
        <a:graphic>
          <a:graphicData uri="http://schemas.openxmlformats.org/presentationml/2006/ole">
            <mc:AlternateContent xmlns:mc="http://schemas.openxmlformats.org/markup-compatibility/2006">
              <mc:Choice xmlns:v="urn:schemas-microsoft-com:vml" Requires="v">
                <p:oleObj name="Equation" r:id="rId57" imgW="203040" imgH="177480" progId="Equation.DSMT4">
                  <p:embed/>
                </p:oleObj>
              </mc:Choice>
              <mc:Fallback>
                <p:oleObj name="Equation" r:id="rId57" imgW="203040" imgH="177480" progId="Equation.DSMT4">
                  <p:embed/>
                  <p:pic>
                    <p:nvPicPr>
                      <p:cNvPr id="39" name="Object 38">
                        <a:extLst>
                          <a:ext uri="{FF2B5EF4-FFF2-40B4-BE49-F238E27FC236}">
                            <a16:creationId xmlns:a16="http://schemas.microsoft.com/office/drawing/2014/main" id="{9500EE88-6226-0C52-5BE4-A2D2D65CB9D6}"/>
                          </a:ext>
                        </a:extLst>
                      </p:cNvPr>
                      <p:cNvPicPr/>
                      <p:nvPr/>
                    </p:nvPicPr>
                    <p:blipFill>
                      <a:blip r:embed="rId58"/>
                      <a:stretch>
                        <a:fillRect/>
                      </a:stretch>
                    </p:blipFill>
                    <p:spPr>
                      <a:xfrm>
                        <a:off x="6734779" y="4740910"/>
                        <a:ext cx="269875" cy="23495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B8074718-8832-0F44-07F4-9F9E4D7D7456}"/>
              </a:ext>
            </a:extLst>
          </p:cNvPr>
          <p:cNvGraphicFramePr>
            <a:graphicFrameLocks noChangeAspect="1"/>
          </p:cNvGraphicFramePr>
          <p:nvPr>
            <p:extLst>
              <p:ext uri="{D42A27DB-BD31-4B8C-83A1-F6EECF244321}">
                <p14:modId xmlns:p14="http://schemas.microsoft.com/office/powerpoint/2010/main" val="1056189218"/>
              </p:ext>
            </p:extLst>
          </p:nvPr>
        </p:nvGraphicFramePr>
        <p:xfrm>
          <a:off x="7761225" y="4756785"/>
          <a:ext cx="460375" cy="215900"/>
        </p:xfrm>
        <a:graphic>
          <a:graphicData uri="http://schemas.openxmlformats.org/presentationml/2006/ole">
            <mc:AlternateContent xmlns:mc="http://schemas.openxmlformats.org/markup-compatibility/2006">
              <mc:Choice xmlns:v="urn:schemas-microsoft-com:vml" Requires="v">
                <p:oleObj name="Equation" r:id="rId59" imgW="380880" imgH="177480" progId="Equation.DSMT4">
                  <p:embed/>
                </p:oleObj>
              </mc:Choice>
              <mc:Fallback>
                <p:oleObj name="Equation" r:id="rId59" imgW="380880" imgH="177480" progId="Equation.DSMT4">
                  <p:embed/>
                  <p:pic>
                    <p:nvPicPr>
                      <p:cNvPr id="40" name="Object 39">
                        <a:extLst>
                          <a:ext uri="{FF2B5EF4-FFF2-40B4-BE49-F238E27FC236}">
                            <a16:creationId xmlns:a16="http://schemas.microsoft.com/office/drawing/2014/main" id="{F40885B4-1A8E-7DC4-BBD8-7BE450020564}"/>
                          </a:ext>
                        </a:extLst>
                      </p:cNvPr>
                      <p:cNvPicPr/>
                      <p:nvPr/>
                    </p:nvPicPr>
                    <p:blipFill>
                      <a:blip r:embed="rId60"/>
                      <a:stretch>
                        <a:fillRect/>
                      </a:stretch>
                    </p:blipFill>
                    <p:spPr>
                      <a:xfrm>
                        <a:off x="7761225" y="4756785"/>
                        <a:ext cx="460375" cy="215900"/>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53ECEE61-991C-B9B7-F051-C6F25A08347C}"/>
              </a:ext>
            </a:extLst>
          </p:cNvPr>
          <p:cNvGraphicFramePr>
            <a:graphicFrameLocks noChangeAspect="1"/>
          </p:cNvGraphicFramePr>
          <p:nvPr>
            <p:extLst>
              <p:ext uri="{D42A27DB-BD31-4B8C-83A1-F6EECF244321}">
                <p14:modId xmlns:p14="http://schemas.microsoft.com/office/powerpoint/2010/main" val="2830693703"/>
              </p:ext>
            </p:extLst>
          </p:nvPr>
        </p:nvGraphicFramePr>
        <p:xfrm>
          <a:off x="1070324" y="5117455"/>
          <a:ext cx="231775" cy="215900"/>
        </p:xfrm>
        <a:graphic>
          <a:graphicData uri="http://schemas.openxmlformats.org/presentationml/2006/ole">
            <mc:AlternateContent xmlns:mc="http://schemas.openxmlformats.org/markup-compatibility/2006">
              <mc:Choice xmlns:v="urn:schemas-microsoft-com:vml" Requires="v">
                <p:oleObj name="Equation" r:id="rId61" imgW="190440" imgH="177480" progId="Equation.DSMT4">
                  <p:embed/>
                </p:oleObj>
              </mc:Choice>
              <mc:Fallback>
                <p:oleObj name="Equation" r:id="rId61" imgW="190440" imgH="177480" progId="Equation.DSMT4">
                  <p:embed/>
                  <p:pic>
                    <p:nvPicPr>
                      <p:cNvPr id="41" name="Object 40">
                        <a:extLst>
                          <a:ext uri="{FF2B5EF4-FFF2-40B4-BE49-F238E27FC236}">
                            <a16:creationId xmlns:a16="http://schemas.microsoft.com/office/drawing/2014/main" id="{172237C2-C0F2-49B6-630D-CD038631F013}"/>
                          </a:ext>
                        </a:extLst>
                      </p:cNvPr>
                      <p:cNvPicPr/>
                      <p:nvPr/>
                    </p:nvPicPr>
                    <p:blipFill>
                      <a:blip r:embed="rId62"/>
                      <a:stretch>
                        <a:fillRect/>
                      </a:stretch>
                    </p:blipFill>
                    <p:spPr>
                      <a:xfrm>
                        <a:off x="1070324" y="5117455"/>
                        <a:ext cx="231775" cy="215900"/>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2916E7F0-B323-B1B1-E00C-5EB8E0858FA9}"/>
              </a:ext>
            </a:extLst>
          </p:cNvPr>
          <p:cNvGraphicFramePr>
            <a:graphicFrameLocks noChangeAspect="1"/>
          </p:cNvGraphicFramePr>
          <p:nvPr>
            <p:extLst>
              <p:ext uri="{D42A27DB-BD31-4B8C-83A1-F6EECF244321}">
                <p14:modId xmlns:p14="http://schemas.microsoft.com/office/powerpoint/2010/main" val="2534273239"/>
              </p:ext>
            </p:extLst>
          </p:nvPr>
        </p:nvGraphicFramePr>
        <p:xfrm>
          <a:off x="1867027" y="5123230"/>
          <a:ext cx="185941" cy="185941"/>
        </p:xfrm>
        <a:graphic>
          <a:graphicData uri="http://schemas.openxmlformats.org/presentationml/2006/ole">
            <mc:AlternateContent xmlns:mc="http://schemas.openxmlformats.org/markup-compatibility/2006">
              <mc:Choice xmlns:v="urn:schemas-microsoft-com:vml" Requires="v">
                <p:oleObj name="Equation" r:id="rId19" imgW="139680" imgH="139680" progId="Equation.DSMT4">
                  <p:embed/>
                </p:oleObj>
              </mc:Choice>
              <mc:Fallback>
                <p:oleObj name="Equation" r:id="rId19" imgW="139680" imgH="139680" progId="Equation.DSMT4">
                  <p:embed/>
                  <p:pic>
                    <p:nvPicPr>
                      <p:cNvPr id="42" name="Object 41">
                        <a:extLst>
                          <a:ext uri="{FF2B5EF4-FFF2-40B4-BE49-F238E27FC236}">
                            <a16:creationId xmlns:a16="http://schemas.microsoft.com/office/drawing/2014/main" id="{0A2EC0E7-751B-666E-2C65-C36556631EFF}"/>
                          </a:ext>
                        </a:extLst>
                      </p:cNvPr>
                      <p:cNvPicPr/>
                      <p:nvPr/>
                    </p:nvPicPr>
                    <p:blipFill>
                      <a:blip r:embed="rId20"/>
                      <a:stretch>
                        <a:fillRect/>
                      </a:stretch>
                    </p:blipFill>
                    <p:spPr>
                      <a:xfrm>
                        <a:off x="1867027" y="5123230"/>
                        <a:ext cx="185941" cy="185941"/>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6E4E471E-EA70-F74A-1690-E7E8C3958D63}"/>
              </a:ext>
            </a:extLst>
          </p:cNvPr>
          <p:cNvGraphicFramePr>
            <a:graphicFrameLocks noChangeAspect="1"/>
          </p:cNvGraphicFramePr>
          <p:nvPr>
            <p:extLst>
              <p:ext uri="{D42A27DB-BD31-4B8C-83A1-F6EECF244321}">
                <p14:modId xmlns:p14="http://schemas.microsoft.com/office/powerpoint/2010/main" val="1707356910"/>
              </p:ext>
            </p:extLst>
          </p:nvPr>
        </p:nvGraphicFramePr>
        <p:xfrm>
          <a:off x="2469833" y="5090467"/>
          <a:ext cx="244475" cy="215900"/>
        </p:xfrm>
        <a:graphic>
          <a:graphicData uri="http://schemas.openxmlformats.org/presentationml/2006/ole">
            <mc:AlternateContent xmlns:mc="http://schemas.openxmlformats.org/markup-compatibility/2006">
              <mc:Choice xmlns:v="urn:schemas-microsoft-com:vml" Requires="v">
                <p:oleObj name="Equation" r:id="rId63" imgW="203040" imgH="177480" progId="Equation.DSMT4">
                  <p:embed/>
                </p:oleObj>
              </mc:Choice>
              <mc:Fallback>
                <p:oleObj name="Equation" r:id="rId63" imgW="203040" imgH="177480" progId="Equation.DSMT4">
                  <p:embed/>
                  <p:pic>
                    <p:nvPicPr>
                      <p:cNvPr id="43" name="Object 42">
                        <a:extLst>
                          <a:ext uri="{FF2B5EF4-FFF2-40B4-BE49-F238E27FC236}">
                            <a16:creationId xmlns:a16="http://schemas.microsoft.com/office/drawing/2014/main" id="{F192B48D-999A-0ADC-D14D-2B800D889EBA}"/>
                          </a:ext>
                        </a:extLst>
                      </p:cNvPr>
                      <p:cNvPicPr/>
                      <p:nvPr/>
                    </p:nvPicPr>
                    <p:blipFill>
                      <a:blip r:embed="rId64"/>
                      <a:stretch>
                        <a:fillRect/>
                      </a:stretch>
                    </p:blipFill>
                    <p:spPr>
                      <a:xfrm>
                        <a:off x="2469833" y="5090467"/>
                        <a:ext cx="244475" cy="215900"/>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FD0375B4-C11D-E4CE-730E-55BE35909574}"/>
              </a:ext>
            </a:extLst>
          </p:cNvPr>
          <p:cNvGraphicFramePr>
            <a:graphicFrameLocks noChangeAspect="1"/>
          </p:cNvGraphicFramePr>
          <p:nvPr>
            <p:extLst>
              <p:ext uri="{D42A27DB-BD31-4B8C-83A1-F6EECF244321}">
                <p14:modId xmlns:p14="http://schemas.microsoft.com/office/powerpoint/2010/main" val="3765438904"/>
              </p:ext>
            </p:extLst>
          </p:nvPr>
        </p:nvGraphicFramePr>
        <p:xfrm>
          <a:off x="3302891" y="5104222"/>
          <a:ext cx="153670" cy="199771"/>
        </p:xfrm>
        <a:graphic>
          <a:graphicData uri="http://schemas.openxmlformats.org/presentationml/2006/ole">
            <mc:AlternateContent xmlns:mc="http://schemas.openxmlformats.org/markup-compatibility/2006">
              <mc:Choice xmlns:v="urn:schemas-microsoft-com:vml" Requires="v">
                <p:oleObj name="Equation" r:id="rId65" imgW="126720" imgH="164880" progId="Equation.DSMT4">
                  <p:embed/>
                </p:oleObj>
              </mc:Choice>
              <mc:Fallback>
                <p:oleObj name="Equation" r:id="rId65" imgW="126720" imgH="164880" progId="Equation.DSMT4">
                  <p:embed/>
                  <p:pic>
                    <p:nvPicPr>
                      <p:cNvPr id="44" name="Object 43">
                        <a:extLst>
                          <a:ext uri="{FF2B5EF4-FFF2-40B4-BE49-F238E27FC236}">
                            <a16:creationId xmlns:a16="http://schemas.microsoft.com/office/drawing/2014/main" id="{F7EC8391-08C2-0898-786E-7243BE7DD932}"/>
                          </a:ext>
                        </a:extLst>
                      </p:cNvPr>
                      <p:cNvPicPr/>
                      <p:nvPr/>
                    </p:nvPicPr>
                    <p:blipFill>
                      <a:blip r:embed="rId66"/>
                      <a:stretch>
                        <a:fillRect/>
                      </a:stretch>
                    </p:blipFill>
                    <p:spPr>
                      <a:xfrm>
                        <a:off x="3302891" y="5104222"/>
                        <a:ext cx="153670" cy="199771"/>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B4D53F76-C44D-D6A3-2083-A9168375E0FE}"/>
              </a:ext>
            </a:extLst>
          </p:cNvPr>
          <p:cNvGraphicFramePr>
            <a:graphicFrameLocks noChangeAspect="1"/>
          </p:cNvGraphicFramePr>
          <p:nvPr>
            <p:extLst>
              <p:ext uri="{D42A27DB-BD31-4B8C-83A1-F6EECF244321}">
                <p14:modId xmlns:p14="http://schemas.microsoft.com/office/powerpoint/2010/main" val="2102646869"/>
              </p:ext>
            </p:extLst>
          </p:nvPr>
        </p:nvGraphicFramePr>
        <p:xfrm>
          <a:off x="4050983" y="5117148"/>
          <a:ext cx="962025" cy="196850"/>
        </p:xfrm>
        <a:graphic>
          <a:graphicData uri="http://schemas.openxmlformats.org/presentationml/2006/ole">
            <mc:AlternateContent xmlns:mc="http://schemas.openxmlformats.org/markup-compatibility/2006">
              <mc:Choice xmlns:v="urn:schemas-microsoft-com:vml" Requires="v">
                <p:oleObj name="Equation" r:id="rId67" imgW="863280" imgH="177480" progId="Equation.DSMT4">
                  <p:embed/>
                </p:oleObj>
              </mc:Choice>
              <mc:Fallback>
                <p:oleObj name="Equation" r:id="rId67" imgW="863280" imgH="177480" progId="Equation.DSMT4">
                  <p:embed/>
                  <p:pic>
                    <p:nvPicPr>
                      <p:cNvPr id="45" name="Object 44">
                        <a:extLst>
                          <a:ext uri="{FF2B5EF4-FFF2-40B4-BE49-F238E27FC236}">
                            <a16:creationId xmlns:a16="http://schemas.microsoft.com/office/drawing/2014/main" id="{BA75316F-70C0-B033-1642-3F165FAC3A34}"/>
                          </a:ext>
                        </a:extLst>
                      </p:cNvPr>
                      <p:cNvPicPr/>
                      <p:nvPr/>
                    </p:nvPicPr>
                    <p:blipFill>
                      <a:blip r:embed="rId68"/>
                      <a:stretch>
                        <a:fillRect/>
                      </a:stretch>
                    </p:blipFill>
                    <p:spPr>
                      <a:xfrm>
                        <a:off x="4050983" y="5117148"/>
                        <a:ext cx="962025" cy="196850"/>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26B11C5A-6746-05C9-5ED2-A7ED2FDEC51F}"/>
              </a:ext>
            </a:extLst>
          </p:cNvPr>
          <p:cNvGraphicFramePr>
            <a:graphicFrameLocks noChangeAspect="1"/>
          </p:cNvGraphicFramePr>
          <p:nvPr>
            <p:extLst>
              <p:ext uri="{D42A27DB-BD31-4B8C-83A1-F6EECF244321}">
                <p14:modId xmlns:p14="http://schemas.microsoft.com/office/powerpoint/2010/main" val="2305018758"/>
              </p:ext>
            </p:extLst>
          </p:nvPr>
        </p:nvGraphicFramePr>
        <p:xfrm>
          <a:off x="5673048" y="5090160"/>
          <a:ext cx="369888" cy="214313"/>
        </p:xfrm>
        <a:graphic>
          <a:graphicData uri="http://schemas.openxmlformats.org/presentationml/2006/ole">
            <mc:AlternateContent xmlns:mc="http://schemas.openxmlformats.org/markup-compatibility/2006">
              <mc:Choice xmlns:v="urn:schemas-microsoft-com:vml" Requires="v">
                <p:oleObj name="Equation" r:id="rId69" imgW="304560" imgH="177480" progId="Equation.DSMT4">
                  <p:embed/>
                </p:oleObj>
              </mc:Choice>
              <mc:Fallback>
                <p:oleObj name="Equation" r:id="rId69" imgW="304560" imgH="177480" progId="Equation.DSMT4">
                  <p:embed/>
                  <p:pic>
                    <p:nvPicPr>
                      <p:cNvPr id="46" name="Object 45">
                        <a:extLst>
                          <a:ext uri="{FF2B5EF4-FFF2-40B4-BE49-F238E27FC236}">
                            <a16:creationId xmlns:a16="http://schemas.microsoft.com/office/drawing/2014/main" id="{D2F0C30B-48BD-6754-3FEB-35D837B10254}"/>
                          </a:ext>
                        </a:extLst>
                      </p:cNvPr>
                      <p:cNvPicPr/>
                      <p:nvPr/>
                    </p:nvPicPr>
                    <p:blipFill>
                      <a:blip r:embed="rId70"/>
                      <a:stretch>
                        <a:fillRect/>
                      </a:stretch>
                    </p:blipFill>
                    <p:spPr>
                      <a:xfrm>
                        <a:off x="5673048" y="5090160"/>
                        <a:ext cx="369888" cy="214313"/>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7C2C34A9-A978-9499-2B5C-803B4117897D}"/>
              </a:ext>
            </a:extLst>
          </p:cNvPr>
          <p:cNvGraphicFramePr>
            <a:graphicFrameLocks noChangeAspect="1"/>
          </p:cNvGraphicFramePr>
          <p:nvPr>
            <p:extLst>
              <p:ext uri="{D42A27DB-BD31-4B8C-83A1-F6EECF244321}">
                <p14:modId xmlns:p14="http://schemas.microsoft.com/office/powerpoint/2010/main" val="2607100119"/>
              </p:ext>
            </p:extLst>
          </p:nvPr>
        </p:nvGraphicFramePr>
        <p:xfrm>
          <a:off x="6737033" y="5096510"/>
          <a:ext cx="255587" cy="220663"/>
        </p:xfrm>
        <a:graphic>
          <a:graphicData uri="http://schemas.openxmlformats.org/presentationml/2006/ole">
            <mc:AlternateContent xmlns:mc="http://schemas.openxmlformats.org/markup-compatibility/2006">
              <mc:Choice xmlns:v="urn:schemas-microsoft-com:vml" Requires="v">
                <p:oleObj name="Equation" r:id="rId71" imgW="190440" imgH="164880" progId="Equation.DSMT4">
                  <p:embed/>
                </p:oleObj>
              </mc:Choice>
              <mc:Fallback>
                <p:oleObj name="Equation" r:id="rId71" imgW="190440" imgH="164880" progId="Equation.DSMT4">
                  <p:embed/>
                  <p:pic>
                    <p:nvPicPr>
                      <p:cNvPr id="47" name="Object 46">
                        <a:extLst>
                          <a:ext uri="{FF2B5EF4-FFF2-40B4-BE49-F238E27FC236}">
                            <a16:creationId xmlns:a16="http://schemas.microsoft.com/office/drawing/2014/main" id="{669FDAF6-E2AB-09F7-5211-D4069C7BF57D}"/>
                          </a:ext>
                        </a:extLst>
                      </p:cNvPr>
                      <p:cNvPicPr/>
                      <p:nvPr/>
                    </p:nvPicPr>
                    <p:blipFill>
                      <a:blip r:embed="rId72"/>
                      <a:stretch>
                        <a:fillRect/>
                      </a:stretch>
                    </p:blipFill>
                    <p:spPr>
                      <a:xfrm>
                        <a:off x="6737033" y="5096510"/>
                        <a:ext cx="255587" cy="220663"/>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E47727D7-A235-4312-9A28-0FD91BDF079B}"/>
              </a:ext>
            </a:extLst>
          </p:cNvPr>
          <p:cNvGraphicFramePr>
            <a:graphicFrameLocks noChangeAspect="1"/>
          </p:cNvGraphicFramePr>
          <p:nvPr>
            <p:extLst>
              <p:ext uri="{D42A27DB-BD31-4B8C-83A1-F6EECF244321}">
                <p14:modId xmlns:p14="http://schemas.microsoft.com/office/powerpoint/2010/main" val="1930790647"/>
              </p:ext>
            </p:extLst>
          </p:nvPr>
        </p:nvGraphicFramePr>
        <p:xfrm>
          <a:off x="7775205" y="5106035"/>
          <a:ext cx="460375" cy="215900"/>
        </p:xfrm>
        <a:graphic>
          <a:graphicData uri="http://schemas.openxmlformats.org/presentationml/2006/ole">
            <mc:AlternateContent xmlns:mc="http://schemas.openxmlformats.org/markup-compatibility/2006">
              <mc:Choice xmlns:v="urn:schemas-microsoft-com:vml" Requires="v">
                <p:oleObj name="Equation" r:id="rId73" imgW="380880" imgH="177480" progId="Equation.DSMT4">
                  <p:embed/>
                </p:oleObj>
              </mc:Choice>
              <mc:Fallback>
                <p:oleObj name="Equation" r:id="rId73" imgW="380880" imgH="177480" progId="Equation.DSMT4">
                  <p:embed/>
                  <p:pic>
                    <p:nvPicPr>
                      <p:cNvPr id="48" name="Object 47">
                        <a:extLst>
                          <a:ext uri="{FF2B5EF4-FFF2-40B4-BE49-F238E27FC236}">
                            <a16:creationId xmlns:a16="http://schemas.microsoft.com/office/drawing/2014/main" id="{74945118-5DA3-78EA-D8BF-D5E27FFFAB70}"/>
                          </a:ext>
                        </a:extLst>
                      </p:cNvPr>
                      <p:cNvPicPr/>
                      <p:nvPr/>
                    </p:nvPicPr>
                    <p:blipFill>
                      <a:blip r:embed="rId74"/>
                      <a:stretch>
                        <a:fillRect/>
                      </a:stretch>
                    </p:blipFill>
                    <p:spPr>
                      <a:xfrm>
                        <a:off x="7775205" y="5106035"/>
                        <a:ext cx="460375" cy="215900"/>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5F5F1884-C1E4-A92E-1642-3622C19B32D7}"/>
              </a:ext>
            </a:extLst>
          </p:cNvPr>
          <p:cNvGraphicFramePr>
            <a:graphicFrameLocks noChangeAspect="1"/>
          </p:cNvGraphicFramePr>
          <p:nvPr>
            <p:extLst>
              <p:ext uri="{D42A27DB-BD31-4B8C-83A1-F6EECF244321}">
                <p14:modId xmlns:p14="http://schemas.microsoft.com/office/powerpoint/2010/main" val="3534504267"/>
              </p:ext>
            </p:extLst>
          </p:nvPr>
        </p:nvGraphicFramePr>
        <p:xfrm>
          <a:off x="1047485" y="5487035"/>
          <a:ext cx="246063" cy="214313"/>
        </p:xfrm>
        <a:graphic>
          <a:graphicData uri="http://schemas.openxmlformats.org/presentationml/2006/ole">
            <mc:AlternateContent xmlns:mc="http://schemas.openxmlformats.org/markup-compatibility/2006">
              <mc:Choice xmlns:v="urn:schemas-microsoft-com:vml" Requires="v">
                <p:oleObj name="Equation" r:id="rId75" imgW="203040" imgH="177480" progId="Equation.DSMT4">
                  <p:embed/>
                </p:oleObj>
              </mc:Choice>
              <mc:Fallback>
                <p:oleObj name="Equation" r:id="rId75" imgW="203040" imgH="177480" progId="Equation.DSMT4">
                  <p:embed/>
                  <p:pic>
                    <p:nvPicPr>
                      <p:cNvPr id="49" name="Object 48">
                        <a:extLst>
                          <a:ext uri="{FF2B5EF4-FFF2-40B4-BE49-F238E27FC236}">
                            <a16:creationId xmlns:a16="http://schemas.microsoft.com/office/drawing/2014/main" id="{0332EFAC-5C9A-CBEB-4A55-F2F80723E8E8}"/>
                          </a:ext>
                        </a:extLst>
                      </p:cNvPr>
                      <p:cNvPicPr/>
                      <p:nvPr/>
                    </p:nvPicPr>
                    <p:blipFill>
                      <a:blip r:embed="rId76"/>
                      <a:stretch>
                        <a:fillRect/>
                      </a:stretch>
                    </p:blipFill>
                    <p:spPr>
                      <a:xfrm>
                        <a:off x="1047485" y="5487035"/>
                        <a:ext cx="246063" cy="214313"/>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486998A9-310C-F70A-CF37-94BFE079EE49}"/>
              </a:ext>
            </a:extLst>
          </p:cNvPr>
          <p:cNvGraphicFramePr>
            <a:graphicFrameLocks noChangeAspect="1"/>
          </p:cNvGraphicFramePr>
          <p:nvPr>
            <p:extLst>
              <p:ext uri="{D42A27DB-BD31-4B8C-83A1-F6EECF244321}">
                <p14:modId xmlns:p14="http://schemas.microsoft.com/office/powerpoint/2010/main" val="1024374467"/>
              </p:ext>
            </p:extLst>
          </p:nvPr>
        </p:nvGraphicFramePr>
        <p:xfrm>
          <a:off x="1871944" y="5491943"/>
          <a:ext cx="185941" cy="185941"/>
        </p:xfrm>
        <a:graphic>
          <a:graphicData uri="http://schemas.openxmlformats.org/presentationml/2006/ole">
            <mc:AlternateContent xmlns:mc="http://schemas.openxmlformats.org/markup-compatibility/2006">
              <mc:Choice xmlns:v="urn:schemas-microsoft-com:vml" Requires="v">
                <p:oleObj name="Equation" r:id="rId19" imgW="139680" imgH="139680" progId="Equation.DSMT4">
                  <p:embed/>
                </p:oleObj>
              </mc:Choice>
              <mc:Fallback>
                <p:oleObj name="Equation" r:id="rId19" imgW="139680" imgH="139680" progId="Equation.DSMT4">
                  <p:embed/>
                  <p:pic>
                    <p:nvPicPr>
                      <p:cNvPr id="50" name="Object 49">
                        <a:extLst>
                          <a:ext uri="{FF2B5EF4-FFF2-40B4-BE49-F238E27FC236}">
                            <a16:creationId xmlns:a16="http://schemas.microsoft.com/office/drawing/2014/main" id="{ED79C638-4B51-B59F-ED50-8E71D0E44F25}"/>
                          </a:ext>
                        </a:extLst>
                      </p:cNvPr>
                      <p:cNvPicPr/>
                      <p:nvPr/>
                    </p:nvPicPr>
                    <p:blipFill>
                      <a:blip r:embed="rId20"/>
                      <a:stretch>
                        <a:fillRect/>
                      </a:stretch>
                    </p:blipFill>
                    <p:spPr>
                      <a:xfrm>
                        <a:off x="1871944" y="5491943"/>
                        <a:ext cx="185941" cy="185941"/>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E6CEE7E8-21BF-572F-832A-374C14F6AF9C}"/>
              </a:ext>
            </a:extLst>
          </p:cNvPr>
          <p:cNvGraphicFramePr>
            <a:graphicFrameLocks noChangeAspect="1"/>
          </p:cNvGraphicFramePr>
          <p:nvPr>
            <p:extLst>
              <p:ext uri="{D42A27DB-BD31-4B8C-83A1-F6EECF244321}">
                <p14:modId xmlns:p14="http://schemas.microsoft.com/office/powerpoint/2010/main" val="3721498466"/>
              </p:ext>
            </p:extLst>
          </p:nvPr>
        </p:nvGraphicFramePr>
        <p:xfrm>
          <a:off x="2482533" y="5479712"/>
          <a:ext cx="228600" cy="214312"/>
        </p:xfrm>
        <a:graphic>
          <a:graphicData uri="http://schemas.openxmlformats.org/presentationml/2006/ole">
            <mc:AlternateContent xmlns:mc="http://schemas.openxmlformats.org/markup-compatibility/2006">
              <mc:Choice xmlns:v="urn:schemas-microsoft-com:vml" Requires="v">
                <p:oleObj name="Equation" r:id="rId77" imgW="190440" imgH="177480" progId="Equation.DSMT4">
                  <p:embed/>
                </p:oleObj>
              </mc:Choice>
              <mc:Fallback>
                <p:oleObj name="Equation" r:id="rId77" imgW="190440" imgH="177480" progId="Equation.DSMT4">
                  <p:embed/>
                  <p:pic>
                    <p:nvPicPr>
                      <p:cNvPr id="51" name="Object 50">
                        <a:extLst>
                          <a:ext uri="{FF2B5EF4-FFF2-40B4-BE49-F238E27FC236}">
                            <a16:creationId xmlns:a16="http://schemas.microsoft.com/office/drawing/2014/main" id="{B08C3B46-5BAE-2B94-BB80-9CD8880D1649}"/>
                          </a:ext>
                        </a:extLst>
                      </p:cNvPr>
                      <p:cNvPicPr/>
                      <p:nvPr/>
                    </p:nvPicPr>
                    <p:blipFill>
                      <a:blip r:embed="rId78"/>
                      <a:stretch>
                        <a:fillRect/>
                      </a:stretch>
                    </p:blipFill>
                    <p:spPr>
                      <a:xfrm>
                        <a:off x="2482533" y="5479712"/>
                        <a:ext cx="228600" cy="214312"/>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2D440682-FC91-20F1-3404-08A7BBD0B363}"/>
              </a:ext>
            </a:extLst>
          </p:cNvPr>
          <p:cNvGraphicFramePr>
            <a:graphicFrameLocks noChangeAspect="1"/>
          </p:cNvGraphicFramePr>
          <p:nvPr>
            <p:extLst>
              <p:ext uri="{D42A27DB-BD31-4B8C-83A1-F6EECF244321}">
                <p14:modId xmlns:p14="http://schemas.microsoft.com/office/powerpoint/2010/main" val="1515351590"/>
              </p:ext>
            </p:extLst>
          </p:nvPr>
        </p:nvGraphicFramePr>
        <p:xfrm>
          <a:off x="3330258" y="5472748"/>
          <a:ext cx="107950" cy="200025"/>
        </p:xfrm>
        <a:graphic>
          <a:graphicData uri="http://schemas.openxmlformats.org/presentationml/2006/ole">
            <mc:AlternateContent xmlns:mc="http://schemas.openxmlformats.org/markup-compatibility/2006">
              <mc:Choice xmlns:v="urn:schemas-microsoft-com:vml" Requires="v">
                <p:oleObj name="Equation" r:id="rId79" imgW="88560" imgH="164880" progId="Equation.DSMT4">
                  <p:embed/>
                </p:oleObj>
              </mc:Choice>
              <mc:Fallback>
                <p:oleObj name="Equation" r:id="rId79" imgW="88560" imgH="164880" progId="Equation.DSMT4">
                  <p:embed/>
                  <p:pic>
                    <p:nvPicPr>
                      <p:cNvPr id="52" name="Object 51">
                        <a:extLst>
                          <a:ext uri="{FF2B5EF4-FFF2-40B4-BE49-F238E27FC236}">
                            <a16:creationId xmlns:a16="http://schemas.microsoft.com/office/drawing/2014/main" id="{357788F4-DD6F-ECB3-FAF6-7080C69468EE}"/>
                          </a:ext>
                        </a:extLst>
                      </p:cNvPr>
                      <p:cNvPicPr/>
                      <p:nvPr/>
                    </p:nvPicPr>
                    <p:blipFill>
                      <a:blip r:embed="rId80"/>
                      <a:stretch>
                        <a:fillRect/>
                      </a:stretch>
                    </p:blipFill>
                    <p:spPr>
                      <a:xfrm>
                        <a:off x="3330258" y="5472748"/>
                        <a:ext cx="107950" cy="200025"/>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24A95D6F-190D-F9F5-F6AA-41A788DDDB9B}"/>
              </a:ext>
            </a:extLst>
          </p:cNvPr>
          <p:cNvGraphicFramePr>
            <a:graphicFrameLocks noChangeAspect="1"/>
          </p:cNvGraphicFramePr>
          <p:nvPr>
            <p:extLst>
              <p:ext uri="{D42A27DB-BD31-4B8C-83A1-F6EECF244321}">
                <p14:modId xmlns:p14="http://schemas.microsoft.com/office/powerpoint/2010/main" val="3144608166"/>
              </p:ext>
            </p:extLst>
          </p:nvPr>
        </p:nvGraphicFramePr>
        <p:xfrm>
          <a:off x="4081452" y="5485448"/>
          <a:ext cx="930275" cy="196850"/>
        </p:xfrm>
        <a:graphic>
          <a:graphicData uri="http://schemas.openxmlformats.org/presentationml/2006/ole">
            <mc:AlternateContent xmlns:mc="http://schemas.openxmlformats.org/markup-compatibility/2006">
              <mc:Choice xmlns:v="urn:schemas-microsoft-com:vml" Requires="v">
                <p:oleObj name="Equation" r:id="rId81" imgW="838080" imgH="177480" progId="Equation.DSMT4">
                  <p:embed/>
                </p:oleObj>
              </mc:Choice>
              <mc:Fallback>
                <p:oleObj name="Equation" r:id="rId81" imgW="838080" imgH="177480" progId="Equation.DSMT4">
                  <p:embed/>
                  <p:pic>
                    <p:nvPicPr>
                      <p:cNvPr id="53" name="Object 52">
                        <a:extLst>
                          <a:ext uri="{FF2B5EF4-FFF2-40B4-BE49-F238E27FC236}">
                            <a16:creationId xmlns:a16="http://schemas.microsoft.com/office/drawing/2014/main" id="{C055CDCB-F63E-DC06-7A34-229EA0A5314A}"/>
                          </a:ext>
                        </a:extLst>
                      </p:cNvPr>
                      <p:cNvPicPr/>
                      <p:nvPr/>
                    </p:nvPicPr>
                    <p:blipFill>
                      <a:blip r:embed="rId82"/>
                      <a:stretch>
                        <a:fillRect/>
                      </a:stretch>
                    </p:blipFill>
                    <p:spPr>
                      <a:xfrm>
                        <a:off x="4081452" y="5485448"/>
                        <a:ext cx="930275" cy="196850"/>
                      </a:xfrm>
                      <a:prstGeom prst="rect">
                        <a:avLst/>
                      </a:prstGeom>
                    </p:spPr>
                  </p:pic>
                </p:oleObj>
              </mc:Fallback>
            </mc:AlternateContent>
          </a:graphicData>
        </a:graphic>
      </p:graphicFrame>
      <p:graphicFrame>
        <p:nvGraphicFramePr>
          <p:cNvPr id="52" name="Object 51">
            <a:extLst>
              <a:ext uri="{FF2B5EF4-FFF2-40B4-BE49-F238E27FC236}">
                <a16:creationId xmlns:a16="http://schemas.microsoft.com/office/drawing/2014/main" id="{D33C0E2F-9CB4-6D24-6ECE-2B3F7021838A}"/>
              </a:ext>
            </a:extLst>
          </p:cNvPr>
          <p:cNvGraphicFramePr>
            <a:graphicFrameLocks noChangeAspect="1"/>
          </p:cNvGraphicFramePr>
          <p:nvPr>
            <p:extLst>
              <p:ext uri="{D42A27DB-BD31-4B8C-83A1-F6EECF244321}">
                <p14:modId xmlns:p14="http://schemas.microsoft.com/office/powerpoint/2010/main" val="3283037211"/>
              </p:ext>
            </p:extLst>
          </p:nvPr>
        </p:nvGraphicFramePr>
        <p:xfrm>
          <a:off x="5652414" y="5478253"/>
          <a:ext cx="384175" cy="215138"/>
        </p:xfrm>
        <a:graphic>
          <a:graphicData uri="http://schemas.openxmlformats.org/presentationml/2006/ole">
            <mc:AlternateContent xmlns:mc="http://schemas.openxmlformats.org/markup-compatibility/2006">
              <mc:Choice xmlns:v="urn:schemas-microsoft-com:vml" Requires="v">
                <p:oleObj name="Equation" r:id="rId83" imgW="317160" imgH="177480" progId="Equation.DSMT4">
                  <p:embed/>
                </p:oleObj>
              </mc:Choice>
              <mc:Fallback>
                <p:oleObj name="Equation" r:id="rId83" imgW="317160" imgH="177480" progId="Equation.DSMT4">
                  <p:embed/>
                  <p:pic>
                    <p:nvPicPr>
                      <p:cNvPr id="54" name="Object 53">
                        <a:extLst>
                          <a:ext uri="{FF2B5EF4-FFF2-40B4-BE49-F238E27FC236}">
                            <a16:creationId xmlns:a16="http://schemas.microsoft.com/office/drawing/2014/main" id="{218970A6-C6E1-B3F0-8AC4-77870560CB7A}"/>
                          </a:ext>
                        </a:extLst>
                      </p:cNvPr>
                      <p:cNvPicPr/>
                      <p:nvPr/>
                    </p:nvPicPr>
                    <p:blipFill>
                      <a:blip r:embed="rId84"/>
                      <a:stretch>
                        <a:fillRect/>
                      </a:stretch>
                    </p:blipFill>
                    <p:spPr>
                      <a:xfrm>
                        <a:off x="5652414" y="5478253"/>
                        <a:ext cx="384175" cy="215138"/>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BE694115-8DAF-EF25-79F5-C42A5717532A}"/>
              </a:ext>
            </a:extLst>
          </p:cNvPr>
          <p:cNvGraphicFramePr>
            <a:graphicFrameLocks noChangeAspect="1"/>
          </p:cNvGraphicFramePr>
          <p:nvPr>
            <p:extLst>
              <p:ext uri="{D42A27DB-BD31-4B8C-83A1-F6EECF244321}">
                <p14:modId xmlns:p14="http://schemas.microsoft.com/office/powerpoint/2010/main" val="341509269"/>
              </p:ext>
            </p:extLst>
          </p:nvPr>
        </p:nvGraphicFramePr>
        <p:xfrm>
          <a:off x="6737033" y="5466398"/>
          <a:ext cx="268287" cy="219075"/>
        </p:xfrm>
        <a:graphic>
          <a:graphicData uri="http://schemas.openxmlformats.org/presentationml/2006/ole">
            <mc:AlternateContent xmlns:mc="http://schemas.openxmlformats.org/markup-compatibility/2006">
              <mc:Choice xmlns:v="urn:schemas-microsoft-com:vml" Requires="v">
                <p:oleObj name="Equation" r:id="rId85" imgW="203040" imgH="164880" progId="Equation.DSMT4">
                  <p:embed/>
                </p:oleObj>
              </mc:Choice>
              <mc:Fallback>
                <p:oleObj name="Equation" r:id="rId85" imgW="203040" imgH="164880" progId="Equation.DSMT4">
                  <p:embed/>
                  <p:pic>
                    <p:nvPicPr>
                      <p:cNvPr id="55" name="Object 54">
                        <a:extLst>
                          <a:ext uri="{FF2B5EF4-FFF2-40B4-BE49-F238E27FC236}">
                            <a16:creationId xmlns:a16="http://schemas.microsoft.com/office/drawing/2014/main" id="{89E56423-85CA-437B-9CDF-B2D8425869E8}"/>
                          </a:ext>
                        </a:extLst>
                      </p:cNvPr>
                      <p:cNvPicPr/>
                      <p:nvPr/>
                    </p:nvPicPr>
                    <p:blipFill>
                      <a:blip r:embed="rId86"/>
                      <a:stretch>
                        <a:fillRect/>
                      </a:stretch>
                    </p:blipFill>
                    <p:spPr>
                      <a:xfrm>
                        <a:off x="6737033" y="5466398"/>
                        <a:ext cx="268287" cy="219075"/>
                      </a:xfrm>
                      <a:prstGeom prst="rect">
                        <a:avLst/>
                      </a:prstGeom>
                    </p:spPr>
                  </p:pic>
                </p:oleObj>
              </mc:Fallback>
            </mc:AlternateContent>
          </a:graphicData>
        </a:graphic>
      </p:graphicFrame>
      <p:graphicFrame>
        <p:nvGraphicFramePr>
          <p:cNvPr id="54" name="Object 53">
            <a:extLst>
              <a:ext uri="{FF2B5EF4-FFF2-40B4-BE49-F238E27FC236}">
                <a16:creationId xmlns:a16="http://schemas.microsoft.com/office/drawing/2014/main" id="{C31FEAE2-2218-E83A-782E-378D9F7C9CCA}"/>
              </a:ext>
            </a:extLst>
          </p:cNvPr>
          <p:cNvGraphicFramePr>
            <a:graphicFrameLocks noChangeAspect="1"/>
          </p:cNvGraphicFramePr>
          <p:nvPr>
            <p:extLst>
              <p:ext uri="{D42A27DB-BD31-4B8C-83A1-F6EECF244321}">
                <p14:modId xmlns:p14="http://schemas.microsoft.com/office/powerpoint/2010/main" val="3764458833"/>
              </p:ext>
            </p:extLst>
          </p:nvPr>
        </p:nvGraphicFramePr>
        <p:xfrm>
          <a:off x="7761891" y="5474335"/>
          <a:ext cx="460375" cy="215900"/>
        </p:xfrm>
        <a:graphic>
          <a:graphicData uri="http://schemas.openxmlformats.org/presentationml/2006/ole">
            <mc:AlternateContent xmlns:mc="http://schemas.openxmlformats.org/markup-compatibility/2006">
              <mc:Choice xmlns:v="urn:schemas-microsoft-com:vml" Requires="v">
                <p:oleObj name="Equation" r:id="rId87" imgW="380880" imgH="177480" progId="Equation.DSMT4">
                  <p:embed/>
                </p:oleObj>
              </mc:Choice>
              <mc:Fallback>
                <p:oleObj name="Equation" r:id="rId87" imgW="380880" imgH="177480" progId="Equation.DSMT4">
                  <p:embed/>
                  <p:pic>
                    <p:nvPicPr>
                      <p:cNvPr id="56" name="Object 55">
                        <a:extLst>
                          <a:ext uri="{FF2B5EF4-FFF2-40B4-BE49-F238E27FC236}">
                            <a16:creationId xmlns:a16="http://schemas.microsoft.com/office/drawing/2014/main" id="{D600FCEA-333D-CA56-E487-3AF969F7C4C9}"/>
                          </a:ext>
                        </a:extLst>
                      </p:cNvPr>
                      <p:cNvPicPr/>
                      <p:nvPr/>
                    </p:nvPicPr>
                    <p:blipFill>
                      <a:blip r:embed="rId88"/>
                      <a:stretch>
                        <a:fillRect/>
                      </a:stretch>
                    </p:blipFill>
                    <p:spPr>
                      <a:xfrm>
                        <a:off x="7761891" y="5474335"/>
                        <a:ext cx="460375" cy="215900"/>
                      </a:xfrm>
                      <a:prstGeom prst="rect">
                        <a:avLst/>
                      </a:prstGeom>
                    </p:spPr>
                  </p:pic>
                </p:oleObj>
              </mc:Fallback>
            </mc:AlternateContent>
          </a:graphicData>
        </a:graphic>
      </p:graphicFrame>
      <p:graphicFrame>
        <p:nvGraphicFramePr>
          <p:cNvPr id="55" name="Object 54">
            <a:extLst>
              <a:ext uri="{FF2B5EF4-FFF2-40B4-BE49-F238E27FC236}">
                <a16:creationId xmlns:a16="http://schemas.microsoft.com/office/drawing/2014/main" id="{F28177C2-B287-DF45-3725-449E17868DF1}"/>
              </a:ext>
            </a:extLst>
          </p:cNvPr>
          <p:cNvGraphicFramePr>
            <a:graphicFrameLocks noChangeAspect="1"/>
          </p:cNvGraphicFramePr>
          <p:nvPr>
            <p:extLst>
              <p:ext uri="{D42A27DB-BD31-4B8C-83A1-F6EECF244321}">
                <p14:modId xmlns:p14="http://schemas.microsoft.com/office/powerpoint/2010/main" val="265633882"/>
              </p:ext>
            </p:extLst>
          </p:nvPr>
        </p:nvGraphicFramePr>
        <p:xfrm>
          <a:off x="1040521" y="5865474"/>
          <a:ext cx="231775" cy="214313"/>
        </p:xfrm>
        <a:graphic>
          <a:graphicData uri="http://schemas.openxmlformats.org/presentationml/2006/ole">
            <mc:AlternateContent xmlns:mc="http://schemas.openxmlformats.org/markup-compatibility/2006">
              <mc:Choice xmlns:v="urn:schemas-microsoft-com:vml" Requires="v">
                <p:oleObj name="Equation" r:id="rId89" imgW="190440" imgH="177480" progId="Equation.DSMT4">
                  <p:embed/>
                </p:oleObj>
              </mc:Choice>
              <mc:Fallback>
                <p:oleObj name="Equation" r:id="rId89" imgW="190440" imgH="177480" progId="Equation.DSMT4">
                  <p:embed/>
                  <p:pic>
                    <p:nvPicPr>
                      <p:cNvPr id="57" name="Object 56">
                        <a:extLst>
                          <a:ext uri="{FF2B5EF4-FFF2-40B4-BE49-F238E27FC236}">
                            <a16:creationId xmlns:a16="http://schemas.microsoft.com/office/drawing/2014/main" id="{36F80E88-1EA8-6A2D-0730-9BD43255EC50}"/>
                          </a:ext>
                        </a:extLst>
                      </p:cNvPr>
                      <p:cNvPicPr/>
                      <p:nvPr/>
                    </p:nvPicPr>
                    <p:blipFill>
                      <a:blip r:embed="rId90"/>
                      <a:stretch>
                        <a:fillRect/>
                      </a:stretch>
                    </p:blipFill>
                    <p:spPr>
                      <a:xfrm>
                        <a:off x="1040521" y="5865474"/>
                        <a:ext cx="231775" cy="214313"/>
                      </a:xfrm>
                      <a:prstGeom prst="rect">
                        <a:avLst/>
                      </a:prstGeom>
                    </p:spPr>
                  </p:pic>
                </p:oleObj>
              </mc:Fallback>
            </mc:AlternateContent>
          </a:graphicData>
        </a:graphic>
      </p:graphicFrame>
      <p:graphicFrame>
        <p:nvGraphicFramePr>
          <p:cNvPr id="56" name="Object 55">
            <a:extLst>
              <a:ext uri="{FF2B5EF4-FFF2-40B4-BE49-F238E27FC236}">
                <a16:creationId xmlns:a16="http://schemas.microsoft.com/office/drawing/2014/main" id="{DEB047EC-1880-FF43-70B9-04230D77FBD5}"/>
              </a:ext>
            </a:extLst>
          </p:cNvPr>
          <p:cNvGraphicFramePr>
            <a:graphicFrameLocks noChangeAspect="1"/>
          </p:cNvGraphicFramePr>
          <p:nvPr>
            <p:extLst>
              <p:ext uri="{D42A27DB-BD31-4B8C-83A1-F6EECF244321}">
                <p14:modId xmlns:p14="http://schemas.microsoft.com/office/powerpoint/2010/main" val="4099546680"/>
              </p:ext>
            </p:extLst>
          </p:nvPr>
        </p:nvGraphicFramePr>
        <p:xfrm>
          <a:off x="1876860" y="5870484"/>
          <a:ext cx="185941" cy="185941"/>
        </p:xfrm>
        <a:graphic>
          <a:graphicData uri="http://schemas.openxmlformats.org/presentationml/2006/ole">
            <mc:AlternateContent xmlns:mc="http://schemas.openxmlformats.org/markup-compatibility/2006">
              <mc:Choice xmlns:v="urn:schemas-microsoft-com:vml" Requires="v">
                <p:oleObj name="Equation" r:id="rId19" imgW="139680" imgH="139680" progId="Equation.DSMT4">
                  <p:embed/>
                </p:oleObj>
              </mc:Choice>
              <mc:Fallback>
                <p:oleObj name="Equation" r:id="rId19" imgW="139680" imgH="139680" progId="Equation.DSMT4">
                  <p:embed/>
                  <p:pic>
                    <p:nvPicPr>
                      <p:cNvPr id="58" name="Object 57">
                        <a:extLst>
                          <a:ext uri="{FF2B5EF4-FFF2-40B4-BE49-F238E27FC236}">
                            <a16:creationId xmlns:a16="http://schemas.microsoft.com/office/drawing/2014/main" id="{9C221768-4C11-1197-6B2B-DA32B4ACDDA9}"/>
                          </a:ext>
                        </a:extLst>
                      </p:cNvPr>
                      <p:cNvPicPr/>
                      <p:nvPr/>
                    </p:nvPicPr>
                    <p:blipFill>
                      <a:blip r:embed="rId20"/>
                      <a:stretch>
                        <a:fillRect/>
                      </a:stretch>
                    </p:blipFill>
                    <p:spPr>
                      <a:xfrm>
                        <a:off x="1876860" y="5870484"/>
                        <a:ext cx="185941" cy="185941"/>
                      </a:xfrm>
                      <a:prstGeom prst="rect">
                        <a:avLst/>
                      </a:prstGeom>
                    </p:spPr>
                  </p:pic>
                </p:oleObj>
              </mc:Fallback>
            </mc:AlternateContent>
          </a:graphicData>
        </a:graphic>
      </p:graphicFrame>
      <p:graphicFrame>
        <p:nvGraphicFramePr>
          <p:cNvPr id="57" name="Object 56">
            <a:extLst>
              <a:ext uri="{FF2B5EF4-FFF2-40B4-BE49-F238E27FC236}">
                <a16:creationId xmlns:a16="http://schemas.microsoft.com/office/drawing/2014/main" id="{CA18C316-5FB4-4086-1C29-DBB2437CC5AE}"/>
              </a:ext>
            </a:extLst>
          </p:cNvPr>
          <p:cNvGraphicFramePr>
            <a:graphicFrameLocks noChangeAspect="1"/>
          </p:cNvGraphicFramePr>
          <p:nvPr>
            <p:extLst>
              <p:ext uri="{D42A27DB-BD31-4B8C-83A1-F6EECF244321}">
                <p14:modId xmlns:p14="http://schemas.microsoft.com/office/powerpoint/2010/main" val="3181502214"/>
              </p:ext>
            </p:extLst>
          </p:nvPr>
        </p:nvGraphicFramePr>
        <p:xfrm>
          <a:off x="2477770" y="5838487"/>
          <a:ext cx="246063" cy="214312"/>
        </p:xfrm>
        <a:graphic>
          <a:graphicData uri="http://schemas.openxmlformats.org/presentationml/2006/ole">
            <mc:AlternateContent xmlns:mc="http://schemas.openxmlformats.org/markup-compatibility/2006">
              <mc:Choice xmlns:v="urn:schemas-microsoft-com:vml" Requires="v">
                <p:oleObj name="Equation" r:id="rId91" imgW="203040" imgH="177480" progId="Equation.DSMT4">
                  <p:embed/>
                </p:oleObj>
              </mc:Choice>
              <mc:Fallback>
                <p:oleObj name="Equation" r:id="rId91" imgW="203040" imgH="177480" progId="Equation.DSMT4">
                  <p:embed/>
                  <p:pic>
                    <p:nvPicPr>
                      <p:cNvPr id="59" name="Object 58">
                        <a:extLst>
                          <a:ext uri="{FF2B5EF4-FFF2-40B4-BE49-F238E27FC236}">
                            <a16:creationId xmlns:a16="http://schemas.microsoft.com/office/drawing/2014/main" id="{414A8FDA-7238-B567-927E-75EEFC793282}"/>
                          </a:ext>
                        </a:extLst>
                      </p:cNvPr>
                      <p:cNvPicPr/>
                      <p:nvPr/>
                    </p:nvPicPr>
                    <p:blipFill>
                      <a:blip r:embed="rId92"/>
                      <a:stretch>
                        <a:fillRect/>
                      </a:stretch>
                    </p:blipFill>
                    <p:spPr>
                      <a:xfrm>
                        <a:off x="2477770" y="5838487"/>
                        <a:ext cx="246063" cy="214312"/>
                      </a:xfrm>
                      <a:prstGeom prst="rect">
                        <a:avLst/>
                      </a:prstGeom>
                    </p:spPr>
                  </p:pic>
                </p:oleObj>
              </mc:Fallback>
            </mc:AlternateContent>
          </a:graphicData>
        </a:graphic>
      </p:graphicFrame>
      <p:graphicFrame>
        <p:nvGraphicFramePr>
          <p:cNvPr id="58" name="Object 57">
            <a:extLst>
              <a:ext uri="{FF2B5EF4-FFF2-40B4-BE49-F238E27FC236}">
                <a16:creationId xmlns:a16="http://schemas.microsoft.com/office/drawing/2014/main" id="{9325E305-3C90-7262-3D22-ED2C05FDCAD8}"/>
              </a:ext>
            </a:extLst>
          </p:cNvPr>
          <p:cNvGraphicFramePr>
            <a:graphicFrameLocks noChangeAspect="1"/>
          </p:cNvGraphicFramePr>
          <p:nvPr>
            <p:extLst>
              <p:ext uri="{D42A27DB-BD31-4B8C-83A1-F6EECF244321}">
                <p14:modId xmlns:p14="http://schemas.microsoft.com/office/powerpoint/2010/main" val="213554167"/>
              </p:ext>
            </p:extLst>
          </p:nvPr>
        </p:nvGraphicFramePr>
        <p:xfrm>
          <a:off x="3312724" y="5851476"/>
          <a:ext cx="153670" cy="199771"/>
        </p:xfrm>
        <a:graphic>
          <a:graphicData uri="http://schemas.openxmlformats.org/presentationml/2006/ole">
            <mc:AlternateContent xmlns:mc="http://schemas.openxmlformats.org/markup-compatibility/2006">
              <mc:Choice xmlns:v="urn:schemas-microsoft-com:vml" Requires="v">
                <p:oleObj name="Equation" r:id="rId23" imgW="126720" imgH="164880" progId="Equation.DSMT4">
                  <p:embed/>
                </p:oleObj>
              </mc:Choice>
              <mc:Fallback>
                <p:oleObj name="Equation" r:id="rId23" imgW="126720" imgH="164880" progId="Equation.DSMT4">
                  <p:embed/>
                  <p:pic>
                    <p:nvPicPr>
                      <p:cNvPr id="60" name="Object 59">
                        <a:extLst>
                          <a:ext uri="{FF2B5EF4-FFF2-40B4-BE49-F238E27FC236}">
                            <a16:creationId xmlns:a16="http://schemas.microsoft.com/office/drawing/2014/main" id="{DB1FC400-7F51-D955-250E-43E51016B264}"/>
                          </a:ext>
                        </a:extLst>
                      </p:cNvPr>
                      <p:cNvPicPr/>
                      <p:nvPr/>
                    </p:nvPicPr>
                    <p:blipFill>
                      <a:blip r:embed="rId24"/>
                      <a:stretch>
                        <a:fillRect/>
                      </a:stretch>
                    </p:blipFill>
                    <p:spPr>
                      <a:xfrm>
                        <a:off x="3312724" y="5851476"/>
                        <a:ext cx="153670" cy="199771"/>
                      </a:xfrm>
                      <a:prstGeom prst="rect">
                        <a:avLst/>
                      </a:prstGeom>
                    </p:spPr>
                  </p:pic>
                </p:oleObj>
              </mc:Fallback>
            </mc:AlternateContent>
          </a:graphicData>
        </a:graphic>
      </p:graphicFrame>
      <p:graphicFrame>
        <p:nvGraphicFramePr>
          <p:cNvPr id="59" name="Object 58">
            <a:extLst>
              <a:ext uri="{FF2B5EF4-FFF2-40B4-BE49-F238E27FC236}">
                <a16:creationId xmlns:a16="http://schemas.microsoft.com/office/drawing/2014/main" id="{01BB3F6E-87E9-BDDD-C93D-514F08A20C25}"/>
              </a:ext>
            </a:extLst>
          </p:cNvPr>
          <p:cNvGraphicFramePr>
            <a:graphicFrameLocks noChangeAspect="1"/>
          </p:cNvGraphicFramePr>
          <p:nvPr>
            <p:extLst>
              <p:ext uri="{D42A27DB-BD31-4B8C-83A1-F6EECF244321}">
                <p14:modId xmlns:p14="http://schemas.microsoft.com/office/powerpoint/2010/main" val="3751796035"/>
              </p:ext>
            </p:extLst>
          </p:nvPr>
        </p:nvGraphicFramePr>
        <p:xfrm>
          <a:off x="4063683" y="5863273"/>
          <a:ext cx="957262" cy="198437"/>
        </p:xfrm>
        <a:graphic>
          <a:graphicData uri="http://schemas.openxmlformats.org/presentationml/2006/ole">
            <mc:AlternateContent xmlns:mc="http://schemas.openxmlformats.org/markup-compatibility/2006">
              <mc:Choice xmlns:v="urn:schemas-microsoft-com:vml" Requires="v">
                <p:oleObj name="Equation" r:id="rId93" imgW="863280" imgH="177480" progId="Equation.DSMT4">
                  <p:embed/>
                </p:oleObj>
              </mc:Choice>
              <mc:Fallback>
                <p:oleObj name="Equation" r:id="rId93" imgW="863280" imgH="177480" progId="Equation.DSMT4">
                  <p:embed/>
                  <p:pic>
                    <p:nvPicPr>
                      <p:cNvPr id="61" name="Object 60">
                        <a:extLst>
                          <a:ext uri="{FF2B5EF4-FFF2-40B4-BE49-F238E27FC236}">
                            <a16:creationId xmlns:a16="http://schemas.microsoft.com/office/drawing/2014/main" id="{145A9EB0-B76A-5ED7-51C3-DF7D9709EE67}"/>
                          </a:ext>
                        </a:extLst>
                      </p:cNvPr>
                      <p:cNvPicPr/>
                      <p:nvPr/>
                    </p:nvPicPr>
                    <p:blipFill>
                      <a:blip r:embed="rId94"/>
                      <a:stretch>
                        <a:fillRect/>
                      </a:stretch>
                    </p:blipFill>
                    <p:spPr>
                      <a:xfrm>
                        <a:off x="4063683" y="5863273"/>
                        <a:ext cx="957262" cy="198437"/>
                      </a:xfrm>
                      <a:prstGeom prst="rect">
                        <a:avLst/>
                      </a:prstGeom>
                    </p:spPr>
                  </p:pic>
                </p:oleObj>
              </mc:Fallback>
            </mc:AlternateContent>
          </a:graphicData>
        </a:graphic>
      </p:graphicFrame>
      <p:graphicFrame>
        <p:nvGraphicFramePr>
          <p:cNvPr id="60" name="Object 59">
            <a:extLst>
              <a:ext uri="{FF2B5EF4-FFF2-40B4-BE49-F238E27FC236}">
                <a16:creationId xmlns:a16="http://schemas.microsoft.com/office/drawing/2014/main" id="{94A1BDB1-F49E-C178-FEBD-A676A9682D54}"/>
              </a:ext>
            </a:extLst>
          </p:cNvPr>
          <p:cNvGraphicFramePr>
            <a:graphicFrameLocks noChangeAspect="1"/>
          </p:cNvGraphicFramePr>
          <p:nvPr>
            <p:extLst>
              <p:ext uri="{D42A27DB-BD31-4B8C-83A1-F6EECF244321}">
                <p14:modId xmlns:p14="http://schemas.microsoft.com/office/powerpoint/2010/main" val="3434454079"/>
              </p:ext>
            </p:extLst>
          </p:nvPr>
        </p:nvGraphicFramePr>
        <p:xfrm>
          <a:off x="5647498" y="5856794"/>
          <a:ext cx="384175" cy="215138"/>
        </p:xfrm>
        <a:graphic>
          <a:graphicData uri="http://schemas.openxmlformats.org/presentationml/2006/ole">
            <mc:AlternateContent xmlns:mc="http://schemas.openxmlformats.org/markup-compatibility/2006">
              <mc:Choice xmlns:v="urn:schemas-microsoft-com:vml" Requires="v">
                <p:oleObj name="Equation" r:id="rId95" imgW="317160" imgH="177480" progId="Equation.DSMT4">
                  <p:embed/>
                </p:oleObj>
              </mc:Choice>
              <mc:Fallback>
                <p:oleObj name="Equation" r:id="rId95" imgW="317160" imgH="177480" progId="Equation.DSMT4">
                  <p:embed/>
                  <p:pic>
                    <p:nvPicPr>
                      <p:cNvPr id="62" name="Object 61">
                        <a:extLst>
                          <a:ext uri="{FF2B5EF4-FFF2-40B4-BE49-F238E27FC236}">
                            <a16:creationId xmlns:a16="http://schemas.microsoft.com/office/drawing/2014/main" id="{F9E08D4D-0EE0-5350-744D-A113EECE612C}"/>
                          </a:ext>
                        </a:extLst>
                      </p:cNvPr>
                      <p:cNvPicPr/>
                      <p:nvPr/>
                    </p:nvPicPr>
                    <p:blipFill>
                      <a:blip r:embed="rId96"/>
                      <a:stretch>
                        <a:fillRect/>
                      </a:stretch>
                    </p:blipFill>
                    <p:spPr>
                      <a:xfrm>
                        <a:off x="5647498" y="5856794"/>
                        <a:ext cx="384175" cy="215138"/>
                      </a:xfrm>
                      <a:prstGeom prst="rect">
                        <a:avLst/>
                      </a:prstGeom>
                    </p:spPr>
                  </p:pic>
                </p:oleObj>
              </mc:Fallback>
            </mc:AlternateContent>
          </a:graphicData>
        </a:graphic>
      </p:graphicFrame>
      <p:graphicFrame>
        <p:nvGraphicFramePr>
          <p:cNvPr id="61" name="Object 60">
            <a:extLst>
              <a:ext uri="{FF2B5EF4-FFF2-40B4-BE49-F238E27FC236}">
                <a16:creationId xmlns:a16="http://schemas.microsoft.com/office/drawing/2014/main" id="{685A969B-6B9E-D8B5-F9EE-F2150C2E2325}"/>
              </a:ext>
            </a:extLst>
          </p:cNvPr>
          <p:cNvGraphicFramePr>
            <a:graphicFrameLocks noChangeAspect="1"/>
          </p:cNvGraphicFramePr>
          <p:nvPr>
            <p:extLst>
              <p:ext uri="{D42A27DB-BD31-4B8C-83A1-F6EECF244321}">
                <p14:modId xmlns:p14="http://schemas.microsoft.com/office/powerpoint/2010/main" val="1331740521"/>
              </p:ext>
            </p:extLst>
          </p:nvPr>
        </p:nvGraphicFramePr>
        <p:xfrm>
          <a:off x="6741795" y="5844223"/>
          <a:ext cx="268288" cy="220662"/>
        </p:xfrm>
        <a:graphic>
          <a:graphicData uri="http://schemas.openxmlformats.org/presentationml/2006/ole">
            <mc:AlternateContent xmlns:mc="http://schemas.openxmlformats.org/markup-compatibility/2006">
              <mc:Choice xmlns:v="urn:schemas-microsoft-com:vml" Requires="v">
                <p:oleObj name="Equation" r:id="rId97" imgW="203040" imgH="164880" progId="Equation.DSMT4">
                  <p:embed/>
                </p:oleObj>
              </mc:Choice>
              <mc:Fallback>
                <p:oleObj name="Equation" r:id="rId97" imgW="203040" imgH="164880" progId="Equation.DSMT4">
                  <p:embed/>
                  <p:pic>
                    <p:nvPicPr>
                      <p:cNvPr id="63" name="Object 62">
                        <a:extLst>
                          <a:ext uri="{FF2B5EF4-FFF2-40B4-BE49-F238E27FC236}">
                            <a16:creationId xmlns:a16="http://schemas.microsoft.com/office/drawing/2014/main" id="{0056E6EF-3047-C58C-98F8-4E739D66A569}"/>
                          </a:ext>
                        </a:extLst>
                      </p:cNvPr>
                      <p:cNvPicPr/>
                      <p:nvPr/>
                    </p:nvPicPr>
                    <p:blipFill>
                      <a:blip r:embed="rId98"/>
                      <a:stretch>
                        <a:fillRect/>
                      </a:stretch>
                    </p:blipFill>
                    <p:spPr>
                      <a:xfrm>
                        <a:off x="6741795" y="5844223"/>
                        <a:ext cx="268288" cy="220662"/>
                      </a:xfrm>
                      <a:prstGeom prst="rect">
                        <a:avLst/>
                      </a:prstGeom>
                    </p:spPr>
                  </p:pic>
                </p:oleObj>
              </mc:Fallback>
            </mc:AlternateContent>
          </a:graphicData>
        </a:graphic>
      </p:graphicFrame>
      <p:graphicFrame>
        <p:nvGraphicFramePr>
          <p:cNvPr id="62" name="Object 61">
            <a:extLst>
              <a:ext uri="{FF2B5EF4-FFF2-40B4-BE49-F238E27FC236}">
                <a16:creationId xmlns:a16="http://schemas.microsoft.com/office/drawing/2014/main" id="{58256981-49A5-C08A-ED23-A26F69CF1307}"/>
              </a:ext>
            </a:extLst>
          </p:cNvPr>
          <p:cNvGraphicFramePr>
            <a:graphicFrameLocks noChangeAspect="1"/>
          </p:cNvGraphicFramePr>
          <p:nvPr>
            <p:extLst>
              <p:ext uri="{D42A27DB-BD31-4B8C-83A1-F6EECF244321}">
                <p14:modId xmlns:p14="http://schemas.microsoft.com/office/powerpoint/2010/main" val="2046168752"/>
              </p:ext>
            </p:extLst>
          </p:nvPr>
        </p:nvGraphicFramePr>
        <p:xfrm>
          <a:off x="7699058" y="5853748"/>
          <a:ext cx="538162" cy="214312"/>
        </p:xfrm>
        <a:graphic>
          <a:graphicData uri="http://schemas.openxmlformats.org/presentationml/2006/ole">
            <mc:AlternateContent xmlns:mc="http://schemas.openxmlformats.org/markup-compatibility/2006">
              <mc:Choice xmlns:v="urn:schemas-microsoft-com:vml" Requires="v">
                <p:oleObj name="Equation" r:id="rId99" imgW="444240" imgH="177480" progId="Equation.DSMT4">
                  <p:embed/>
                </p:oleObj>
              </mc:Choice>
              <mc:Fallback>
                <p:oleObj name="Equation" r:id="rId99" imgW="444240" imgH="177480" progId="Equation.DSMT4">
                  <p:embed/>
                  <p:pic>
                    <p:nvPicPr>
                      <p:cNvPr id="64" name="Object 63">
                        <a:extLst>
                          <a:ext uri="{FF2B5EF4-FFF2-40B4-BE49-F238E27FC236}">
                            <a16:creationId xmlns:a16="http://schemas.microsoft.com/office/drawing/2014/main" id="{178CD40C-BD46-D6A1-C379-96DC2D7FE2F9}"/>
                          </a:ext>
                        </a:extLst>
                      </p:cNvPr>
                      <p:cNvPicPr/>
                      <p:nvPr/>
                    </p:nvPicPr>
                    <p:blipFill>
                      <a:blip r:embed="rId100"/>
                      <a:stretch>
                        <a:fillRect/>
                      </a:stretch>
                    </p:blipFill>
                    <p:spPr>
                      <a:xfrm>
                        <a:off x="7699058" y="5853748"/>
                        <a:ext cx="538162" cy="214312"/>
                      </a:xfrm>
                      <a:prstGeom prst="rect">
                        <a:avLst/>
                      </a:prstGeom>
                    </p:spPr>
                  </p:pic>
                </p:oleObj>
              </mc:Fallback>
            </mc:AlternateContent>
          </a:graphicData>
        </a:graphic>
      </p:graphicFrame>
      <p:graphicFrame>
        <p:nvGraphicFramePr>
          <p:cNvPr id="63" name="Object 62">
            <a:extLst>
              <a:ext uri="{FF2B5EF4-FFF2-40B4-BE49-F238E27FC236}">
                <a16:creationId xmlns:a16="http://schemas.microsoft.com/office/drawing/2014/main" id="{92C8AC8E-4093-1F34-C476-A13152C05000}"/>
              </a:ext>
            </a:extLst>
          </p:cNvPr>
          <p:cNvGraphicFramePr>
            <a:graphicFrameLocks noChangeAspect="1"/>
          </p:cNvGraphicFramePr>
          <p:nvPr>
            <p:extLst>
              <p:ext uri="{D42A27DB-BD31-4B8C-83A1-F6EECF244321}">
                <p14:modId xmlns:p14="http://schemas.microsoft.com/office/powerpoint/2010/main" val="3755921909"/>
              </p:ext>
            </p:extLst>
          </p:nvPr>
        </p:nvGraphicFramePr>
        <p:xfrm>
          <a:off x="3208228" y="6224710"/>
          <a:ext cx="245872" cy="199771"/>
        </p:xfrm>
        <a:graphic>
          <a:graphicData uri="http://schemas.openxmlformats.org/presentationml/2006/ole">
            <mc:AlternateContent xmlns:mc="http://schemas.openxmlformats.org/markup-compatibility/2006">
              <mc:Choice xmlns:v="urn:schemas-microsoft-com:vml" Requires="v">
                <p:oleObj name="Equation" r:id="rId101" imgW="203040" imgH="164880" progId="Equation.DSMT4">
                  <p:embed/>
                </p:oleObj>
              </mc:Choice>
              <mc:Fallback>
                <p:oleObj name="Equation" r:id="rId101" imgW="203040" imgH="164880" progId="Equation.DSMT4">
                  <p:embed/>
                  <p:pic>
                    <p:nvPicPr>
                      <p:cNvPr id="65" name="Object 64">
                        <a:extLst>
                          <a:ext uri="{FF2B5EF4-FFF2-40B4-BE49-F238E27FC236}">
                            <a16:creationId xmlns:a16="http://schemas.microsoft.com/office/drawing/2014/main" id="{81AD8CDB-ED69-2D71-87EB-4DEB22207914}"/>
                          </a:ext>
                        </a:extLst>
                      </p:cNvPr>
                      <p:cNvPicPr/>
                      <p:nvPr/>
                    </p:nvPicPr>
                    <p:blipFill>
                      <a:blip r:embed="rId102"/>
                      <a:stretch>
                        <a:fillRect/>
                      </a:stretch>
                    </p:blipFill>
                    <p:spPr>
                      <a:xfrm>
                        <a:off x="3208228" y="6224710"/>
                        <a:ext cx="245872" cy="199771"/>
                      </a:xfrm>
                      <a:prstGeom prst="rect">
                        <a:avLst/>
                      </a:prstGeom>
                    </p:spPr>
                  </p:pic>
                </p:oleObj>
              </mc:Fallback>
            </mc:AlternateContent>
          </a:graphicData>
        </a:graphic>
      </p:graphicFrame>
      <p:graphicFrame>
        <p:nvGraphicFramePr>
          <p:cNvPr id="64" name="Object 63">
            <a:extLst>
              <a:ext uri="{FF2B5EF4-FFF2-40B4-BE49-F238E27FC236}">
                <a16:creationId xmlns:a16="http://schemas.microsoft.com/office/drawing/2014/main" id="{2BEE2BC8-DBC8-961F-B70C-C47099EDEB18}"/>
              </a:ext>
            </a:extLst>
          </p:cNvPr>
          <p:cNvGraphicFramePr>
            <a:graphicFrameLocks noChangeAspect="1"/>
          </p:cNvGraphicFramePr>
          <p:nvPr>
            <p:extLst>
              <p:ext uri="{D42A27DB-BD31-4B8C-83A1-F6EECF244321}">
                <p14:modId xmlns:p14="http://schemas.microsoft.com/office/powerpoint/2010/main" val="449495870"/>
              </p:ext>
            </p:extLst>
          </p:nvPr>
        </p:nvGraphicFramePr>
        <p:xfrm>
          <a:off x="5465834" y="6211800"/>
          <a:ext cx="537845" cy="215138"/>
        </p:xfrm>
        <a:graphic>
          <a:graphicData uri="http://schemas.openxmlformats.org/presentationml/2006/ole">
            <mc:AlternateContent xmlns:mc="http://schemas.openxmlformats.org/markup-compatibility/2006">
              <mc:Choice xmlns:v="urn:schemas-microsoft-com:vml" Requires="v">
                <p:oleObj name="Equation" r:id="rId103" imgW="444240" imgH="177480" progId="Equation.DSMT4">
                  <p:embed/>
                </p:oleObj>
              </mc:Choice>
              <mc:Fallback>
                <p:oleObj name="Equation" r:id="rId103" imgW="444240" imgH="177480" progId="Equation.DSMT4">
                  <p:embed/>
                  <p:pic>
                    <p:nvPicPr>
                      <p:cNvPr id="66" name="Object 65">
                        <a:extLst>
                          <a:ext uri="{FF2B5EF4-FFF2-40B4-BE49-F238E27FC236}">
                            <a16:creationId xmlns:a16="http://schemas.microsoft.com/office/drawing/2014/main" id="{E48DEF69-466F-1282-B7C8-4AF8A54F1CAD}"/>
                          </a:ext>
                        </a:extLst>
                      </p:cNvPr>
                      <p:cNvPicPr/>
                      <p:nvPr/>
                    </p:nvPicPr>
                    <p:blipFill>
                      <a:blip r:embed="rId104"/>
                      <a:stretch>
                        <a:fillRect/>
                      </a:stretch>
                    </p:blipFill>
                    <p:spPr>
                      <a:xfrm>
                        <a:off x="5465834" y="6211800"/>
                        <a:ext cx="537845" cy="21513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2657001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280412" cy="903231"/>
          </a:xfrm>
        </p:spPr>
        <p:txBody>
          <a:bodyPr>
            <a:normAutofit/>
          </a:bodyPr>
          <a:lstStyle/>
          <a:p>
            <a:r>
              <a:rPr lang="en-US" sz="3600" noProof="0" dirty="0"/>
              <a:t>Histograms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572499" y="90239"/>
            <a:ext cx="457200" cy="1107732"/>
          </a:xfrm>
        </p:spPr>
        <p:txBody>
          <a:bodyPr vert="vert" rIns="0"/>
          <a:lstStyle/>
          <a:p>
            <a:pPr marL="1025525" indent="-1025525"/>
            <a:r>
              <a:rPr lang="en-US" b="1" noProof="0" dirty="0"/>
              <a:t>L</a:t>
            </a:r>
            <a:r>
              <a:rPr lang="en-US" sz="100" b="1" noProof="0" dirty="0"/>
              <a:t> </a:t>
            </a:r>
            <a:r>
              <a:rPr lang="en-US" b="1" noProof="0" dirty="0"/>
              <a:t>O 3.3</a:t>
            </a:r>
          </a:p>
        </p:txBody>
      </p:sp>
      <p:sp>
        <p:nvSpPr>
          <p:cNvPr id="7" name="Content Placeholder 6"/>
          <p:cNvSpPr>
            <a:spLocks noGrp="1"/>
          </p:cNvSpPr>
          <p:nvPr>
            <p:ph sz="quarter" idx="14"/>
          </p:nvPr>
        </p:nvSpPr>
        <p:spPr>
          <a:xfrm>
            <a:off x="342899" y="1175723"/>
            <a:ext cx="8458200" cy="2402060"/>
          </a:xfrm>
        </p:spPr>
        <p:txBody>
          <a:bodyPr/>
          <a:lstStyle/>
          <a:p>
            <a:pPr marL="292608" indent="-292608">
              <a:buFont typeface="Arial" panose="020B0604020202020204" pitchFamily="34" charset="0"/>
              <a:buChar char="•"/>
            </a:pPr>
            <a:r>
              <a:rPr lang="en-US" noProof="0" dirty="0"/>
              <a:t>A histogram is a graphical representation of a frequency distribution.</a:t>
            </a:r>
          </a:p>
          <a:p>
            <a:pPr marL="292608" indent="-292608">
              <a:buFont typeface="Arial" panose="020B0604020202020204" pitchFamily="34" charset="0"/>
              <a:buChar char="•"/>
            </a:pPr>
            <a:r>
              <a:rPr lang="en-US" noProof="0" dirty="0"/>
              <a:t>A histogram is a column chart.</a:t>
            </a:r>
          </a:p>
          <a:p>
            <a:pPr marL="292608" indent="-292608">
              <a:buFont typeface="Arial" panose="020B0604020202020204" pitchFamily="34" charset="0"/>
              <a:buChar char="•"/>
            </a:pPr>
            <a:r>
              <a:rPr lang="en-US" i="1" noProof="0" dirty="0"/>
              <a:t>Y</a:t>
            </a:r>
            <a:r>
              <a:rPr lang="en-US" noProof="0" dirty="0"/>
              <a:t>-axis shows frequency within each bin.</a:t>
            </a:r>
          </a:p>
          <a:p>
            <a:pPr marL="292608" indent="-292608">
              <a:buFont typeface="Arial" panose="020B0604020202020204" pitchFamily="34" charset="0"/>
              <a:buChar char="•"/>
            </a:pPr>
            <a:r>
              <a:rPr lang="en-US" i="1" noProof="0" dirty="0"/>
              <a:t>X</a:t>
            </a:r>
            <a:r>
              <a:rPr lang="en-US" noProof="0" dirty="0"/>
              <a:t>-axis ticks shows end points of each bin.</a:t>
            </a:r>
          </a:p>
        </p:txBody>
      </p:sp>
      <p:sp>
        <p:nvSpPr>
          <p:cNvPr id="27" name="Content Placeholder 26">
            <a:extLst>
              <a:ext uri="{FF2B5EF4-FFF2-40B4-BE49-F238E27FC236}">
                <a16:creationId xmlns:a16="http://schemas.microsoft.com/office/drawing/2014/main" id="{A9381BF2-2B9B-467C-A084-A082097917E0}"/>
              </a:ext>
            </a:extLst>
          </p:cNvPr>
          <p:cNvSpPr>
            <a:spLocks noGrp="1"/>
          </p:cNvSpPr>
          <p:nvPr>
            <p:ph sz="quarter" idx="15"/>
          </p:nvPr>
        </p:nvSpPr>
        <p:spPr>
          <a:xfrm>
            <a:off x="1300579" y="3627213"/>
            <a:ext cx="3347621" cy="374601"/>
          </a:xfrm>
        </p:spPr>
        <p:txBody>
          <a:bodyPr/>
          <a:lstStyle/>
          <a:p>
            <a:r>
              <a:rPr lang="en-US" sz="1600" b="1" noProof="0" dirty="0"/>
              <a:t>Three Histograms for P/E Ratios</a:t>
            </a:r>
          </a:p>
        </p:txBody>
      </p:sp>
      <p:pic>
        <p:nvPicPr>
          <p:cNvPr id="35" name="Picture 34">
            <a:extLst>
              <a:ext uri="{FF2B5EF4-FFF2-40B4-BE49-F238E27FC236}">
                <a16:creationId xmlns:a16="http://schemas.microsoft.com/office/drawing/2014/main" id="{191BF416-CB12-44BD-9EFC-5DF22D238B4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72000" y="3667659"/>
            <a:ext cx="362001" cy="276264"/>
          </a:xfrm>
          <a:prstGeom prst="rect">
            <a:avLst/>
          </a:prstGeom>
        </p:spPr>
      </p:pic>
      <p:sp>
        <p:nvSpPr>
          <p:cNvPr id="28" name="Content Placeholder 27">
            <a:extLst>
              <a:ext uri="{FF2B5EF4-FFF2-40B4-BE49-F238E27FC236}">
                <a16:creationId xmlns:a16="http://schemas.microsoft.com/office/drawing/2014/main" id="{355D2244-4A2D-4AA3-AF74-5042872AE23E}"/>
              </a:ext>
            </a:extLst>
          </p:cNvPr>
          <p:cNvSpPr>
            <a:spLocks noGrp="1"/>
          </p:cNvSpPr>
          <p:nvPr>
            <p:ph sz="quarter" idx="16"/>
          </p:nvPr>
        </p:nvSpPr>
        <p:spPr>
          <a:xfrm>
            <a:off x="4934001" y="3627079"/>
            <a:ext cx="1143000" cy="357424"/>
          </a:xfrm>
        </p:spPr>
        <p:txBody>
          <a:bodyPr/>
          <a:lstStyle/>
          <a:p>
            <a:r>
              <a:rPr lang="en-US" sz="1600" b="1" noProof="0" dirty="0" err="1">
                <a:solidFill>
                  <a:srgbClr val="C00000"/>
                </a:solidFill>
              </a:rPr>
              <a:t>PERatios</a:t>
            </a:r>
            <a:endParaRPr lang="en-US" sz="1600" b="1" noProof="0" dirty="0">
              <a:solidFill>
                <a:srgbClr val="C00000"/>
              </a:solidFill>
            </a:endParaRPr>
          </a:p>
        </p:txBody>
      </p:sp>
      <p:pic>
        <p:nvPicPr>
          <p:cNvPr id="11" name="Picture 10" descr="Three histograms, each plotting the frequency of Price-to-Earnings (P/E) ratios. "/>
          <p:cNvPicPr>
            <a:picLocks noChangeAspect="1"/>
          </p:cNvPicPr>
          <p:nvPr/>
        </p:nvPicPr>
        <p:blipFill rotWithShape="1">
          <a:blip r:embed="rId3"/>
          <a:srcRect t="9772"/>
          <a:stretch/>
        </p:blipFill>
        <p:spPr>
          <a:xfrm>
            <a:off x="1300579" y="4131336"/>
            <a:ext cx="6542840" cy="2127837"/>
          </a:xfrm>
          <a:prstGeom prst="rect">
            <a:avLst/>
          </a:prstGeom>
        </p:spPr>
      </p:pic>
      <p:sp>
        <p:nvSpPr>
          <p:cNvPr id="31" name="Text Placeholder 30">
            <a:extLst>
              <a:ext uri="{FF2B5EF4-FFF2-40B4-BE49-F238E27FC236}">
                <a16:creationId xmlns:a16="http://schemas.microsoft.com/office/drawing/2014/main" id="{F2F4E758-8FD6-48E0-8F2E-95C36C6C46B1}"/>
              </a:ext>
            </a:extLst>
          </p:cNvPr>
          <p:cNvSpPr>
            <a:spLocks noGrp="1"/>
          </p:cNvSpPr>
          <p:nvPr>
            <p:ph type="body" sz="quarter" idx="19"/>
          </p:nvPr>
        </p:nvSpPr>
        <p:spPr>
          <a:xfrm>
            <a:off x="2834482" y="6294825"/>
            <a:ext cx="3475037" cy="298046"/>
          </a:xfrm>
        </p:spPr>
        <p:txBody>
          <a:bodyPr/>
          <a:lstStyle/>
          <a:p>
            <a:pPr algn="ctr"/>
            <a:r>
              <a:rPr lang="en-US" sz="1200" noProof="0" dirty="0">
                <a:hlinkClick r:id="rId4" action="ppaction://hlinksldjump"/>
              </a:rPr>
              <a:t>Access the text alternative for slide images.</a:t>
            </a:r>
            <a:endParaRPr lang="en-US" sz="1200" noProof="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2249122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077200" cy="903231"/>
          </a:xfrm>
        </p:spPr>
        <p:txBody>
          <a:bodyPr>
            <a:normAutofit/>
          </a:bodyPr>
          <a:lstStyle/>
          <a:p>
            <a:r>
              <a:rPr lang="en-US" sz="3600" noProof="0" dirty="0"/>
              <a:t>Histograms </a:t>
            </a:r>
            <a:r>
              <a:rPr lang="en-US" sz="1000" b="0" noProof="0" dirty="0"/>
              <a:t>2</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473" y="57509"/>
            <a:ext cx="449580" cy="1817011"/>
          </a:xfrm>
        </p:spPr>
        <p:txBody>
          <a:bodyPr vert="vert" rIns="0"/>
          <a:lstStyle/>
          <a:p>
            <a:pPr marL="1025525" indent="-1025525"/>
            <a:r>
              <a:rPr lang="en-US" b="1" noProof="0" dirty="0"/>
              <a:t>L</a:t>
            </a:r>
            <a:r>
              <a:rPr lang="en-US" sz="100" b="1" noProof="0" dirty="0"/>
              <a:t> </a:t>
            </a:r>
            <a:r>
              <a:rPr lang="en-US" b="1" noProof="0" dirty="0"/>
              <a:t>O 3.3</a:t>
            </a:r>
          </a:p>
        </p:txBody>
      </p:sp>
      <p:sp>
        <p:nvSpPr>
          <p:cNvPr id="7" name="Content Placeholder 6"/>
          <p:cNvSpPr>
            <a:spLocks noGrp="1"/>
          </p:cNvSpPr>
          <p:nvPr>
            <p:ph sz="quarter" idx="14"/>
          </p:nvPr>
        </p:nvSpPr>
        <p:spPr>
          <a:xfrm>
            <a:off x="342900" y="1260475"/>
            <a:ext cx="8191500" cy="5292725"/>
          </a:xfrm>
        </p:spPr>
        <p:txBody>
          <a:bodyPr/>
          <a:lstStyle/>
          <a:p>
            <a:r>
              <a:rPr lang="en-US" noProof="0" dirty="0"/>
              <a:t>Choosing the number of bins and bin limits in creating histograms requires judgment.</a:t>
            </a:r>
          </a:p>
          <a:p>
            <a:r>
              <a:rPr lang="en-US" noProof="0" dirty="0"/>
              <a:t>One can use software programs to create histograms with different bins. These include software such as:</a:t>
            </a:r>
          </a:p>
          <a:p>
            <a:pPr marL="292608" indent="-292608">
              <a:buFont typeface="Arial" panose="020B0604020202020204" pitchFamily="34" charset="0"/>
              <a:buChar char="•"/>
            </a:pPr>
            <a:r>
              <a:rPr lang="en-US" noProof="0" dirty="0"/>
              <a:t>Excel.</a:t>
            </a:r>
          </a:p>
          <a:p>
            <a:pPr marL="292608" indent="-292608">
              <a:buFont typeface="Arial" panose="020B0604020202020204" pitchFamily="34" charset="0"/>
              <a:buChar char="•"/>
            </a:pPr>
            <a:r>
              <a:rPr lang="en-US" noProof="0" dirty="0" err="1"/>
              <a:t>MegaStat</a:t>
            </a:r>
            <a:r>
              <a:rPr lang="en-US" noProof="0" dirty="0"/>
              <a:t>.</a:t>
            </a:r>
          </a:p>
          <a:p>
            <a:pPr marL="292608" indent="-292608">
              <a:buFont typeface="Arial" panose="020B0604020202020204" pitchFamily="34" charset="0"/>
              <a:buChar char="•"/>
            </a:pPr>
            <a:r>
              <a:rPr lang="en-US" noProof="0" dirty="0"/>
              <a:t>Minitab.</a:t>
            </a:r>
          </a:p>
          <a:p>
            <a:pPr marL="292608" indent="-292608">
              <a:buFont typeface="Arial" panose="020B0604020202020204" pitchFamily="34" charset="0"/>
              <a:buChar char="•"/>
            </a:pPr>
            <a:r>
              <a:rPr lang="en-US" dirty="0"/>
              <a:t>Python.</a:t>
            </a:r>
            <a:endParaRPr lang="en-US" noProof="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2898178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Histograms </a:t>
            </a:r>
            <a:r>
              <a:rPr lang="en-US" sz="1000" b="0" noProof="0" dirty="0"/>
              <a:t>3</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3773" y="57509"/>
            <a:ext cx="449580" cy="1817011"/>
          </a:xfrm>
        </p:spPr>
        <p:txBody>
          <a:bodyPr vert="vert" rIns="0"/>
          <a:lstStyle/>
          <a:p>
            <a:pPr marL="1025525" indent="-1025525"/>
            <a:r>
              <a:rPr lang="en-US" b="1" noProof="0" dirty="0"/>
              <a:t>L</a:t>
            </a:r>
            <a:r>
              <a:rPr lang="en-US" sz="100" b="1" noProof="0" dirty="0"/>
              <a:t> </a:t>
            </a:r>
            <a:r>
              <a:rPr lang="en-US" b="1" noProof="0" dirty="0"/>
              <a:t>O 3.4</a:t>
            </a:r>
          </a:p>
        </p:txBody>
      </p:sp>
      <p:sp>
        <p:nvSpPr>
          <p:cNvPr id="7" name="Content Placeholder 6"/>
          <p:cNvSpPr>
            <a:spLocks noGrp="1"/>
          </p:cNvSpPr>
          <p:nvPr>
            <p:ph sz="quarter" idx="14"/>
          </p:nvPr>
        </p:nvSpPr>
        <p:spPr>
          <a:xfrm>
            <a:off x="342900" y="1260475"/>
            <a:ext cx="8191500" cy="5292725"/>
          </a:xfrm>
        </p:spPr>
        <p:txBody>
          <a:bodyPr/>
          <a:lstStyle/>
          <a:p>
            <a:r>
              <a:rPr lang="en-US" noProof="0" dirty="0"/>
              <a:t>A histogram may suggest the shape of the population.</a:t>
            </a:r>
          </a:p>
          <a:p>
            <a:r>
              <a:rPr lang="en-US" noProof="0" dirty="0"/>
              <a:t>It is influenced by the number of bins and bin limits.</a:t>
            </a:r>
          </a:p>
          <a:p>
            <a:r>
              <a:rPr lang="en-US" noProof="0" dirty="0"/>
              <a:t>Skewness – indicated by the direction of the longer tail of the histogram.</a:t>
            </a:r>
          </a:p>
          <a:p>
            <a:pPr marL="292608" indent="-292608">
              <a:buFont typeface="Arial" panose="020B0604020202020204" pitchFamily="34" charset="0"/>
              <a:buChar char="•"/>
            </a:pPr>
            <a:r>
              <a:rPr lang="en-US" b="1" noProof="0" dirty="0"/>
              <a:t>Left-skewed</a:t>
            </a:r>
            <a:r>
              <a:rPr lang="en-US" noProof="0" dirty="0"/>
              <a:t> – (negatively skewed) a longer left tail.</a:t>
            </a:r>
          </a:p>
          <a:p>
            <a:pPr marL="292608" indent="-292608">
              <a:buFont typeface="Arial" panose="020B0604020202020204" pitchFamily="34" charset="0"/>
              <a:buChar char="•"/>
            </a:pPr>
            <a:r>
              <a:rPr lang="en-US" b="1" noProof="0" dirty="0"/>
              <a:t>Right-skewed</a:t>
            </a:r>
            <a:r>
              <a:rPr lang="en-US" noProof="0" dirty="0"/>
              <a:t> – (positively skewed) a longer right tail.</a:t>
            </a:r>
          </a:p>
          <a:p>
            <a:pPr marL="292608" indent="-292608">
              <a:buFont typeface="Arial" panose="020B0604020202020204" pitchFamily="34" charset="0"/>
              <a:buChar char="•"/>
            </a:pPr>
            <a:r>
              <a:rPr lang="en-US" b="1" noProof="0" dirty="0"/>
              <a:t>Symmetric</a:t>
            </a:r>
            <a:r>
              <a:rPr lang="en-US" noProof="0" dirty="0"/>
              <a:t> – both tail areas are the same.</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4085298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05775" cy="903231"/>
          </a:xfrm>
        </p:spPr>
        <p:txBody>
          <a:bodyPr>
            <a:normAutofit/>
          </a:bodyPr>
          <a:lstStyle/>
          <a:p>
            <a:r>
              <a:rPr lang="en-US" sz="3600" noProof="0" dirty="0"/>
              <a:t>Histograms </a:t>
            </a:r>
            <a:r>
              <a:rPr lang="en-US" sz="1000" b="0" noProof="0" dirty="0"/>
              <a:t>4</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537575" y="60684"/>
            <a:ext cx="533400" cy="1314091"/>
          </a:xfrm>
        </p:spPr>
        <p:txBody>
          <a:bodyPr vert="vert" rIns="0"/>
          <a:lstStyle/>
          <a:p>
            <a:pPr marL="1025525" indent="-1025525"/>
            <a:r>
              <a:rPr lang="en-US" b="1" noProof="0" dirty="0"/>
              <a:t>L</a:t>
            </a:r>
            <a:r>
              <a:rPr lang="en-US" sz="100" b="1" noProof="0" dirty="0"/>
              <a:t> </a:t>
            </a:r>
            <a:r>
              <a:rPr lang="en-US" b="1" noProof="0" dirty="0"/>
              <a:t>O 3.4</a:t>
            </a:r>
          </a:p>
        </p:txBody>
      </p:sp>
      <p:sp>
        <p:nvSpPr>
          <p:cNvPr id="10" name="Content Placeholder 9">
            <a:extLst>
              <a:ext uri="{FF2B5EF4-FFF2-40B4-BE49-F238E27FC236}">
                <a16:creationId xmlns:a16="http://schemas.microsoft.com/office/drawing/2014/main" id="{34D9F8AA-D371-E0F1-4596-572FD88532DE}"/>
              </a:ext>
            </a:extLst>
          </p:cNvPr>
          <p:cNvSpPr>
            <a:spLocks noGrp="1"/>
          </p:cNvSpPr>
          <p:nvPr>
            <p:ph sz="quarter" idx="14"/>
          </p:nvPr>
        </p:nvSpPr>
        <p:spPr>
          <a:xfrm>
            <a:off x="342900" y="1241425"/>
            <a:ext cx="2495550" cy="323850"/>
          </a:xfrm>
        </p:spPr>
        <p:txBody>
          <a:bodyPr/>
          <a:lstStyle/>
          <a:p>
            <a:r>
              <a:rPr lang="en-US" sz="1200" b="1" noProof="0" dirty="0"/>
              <a:t>Prototype Distribution Shapes:</a:t>
            </a:r>
          </a:p>
        </p:txBody>
      </p:sp>
      <p:pic>
        <p:nvPicPr>
          <p:cNvPr id="12" name="Picture 11" descr="A chart displays nine distinct types of histograms, each representing a different data distribution.">
            <a:extLst>
              <a:ext uri="{FF2B5EF4-FFF2-40B4-BE49-F238E27FC236}">
                <a16:creationId xmlns:a16="http://schemas.microsoft.com/office/drawing/2014/main" id="{07EA981C-D1CC-60C1-CB9E-CAB65CEA91FB}"/>
              </a:ext>
            </a:extLst>
          </p:cNvPr>
          <p:cNvPicPr>
            <a:picLocks noChangeAspect="1"/>
          </p:cNvPicPr>
          <p:nvPr/>
        </p:nvPicPr>
        <p:blipFill>
          <a:blip r:embed="rId2"/>
          <a:stretch>
            <a:fillRect/>
          </a:stretch>
        </p:blipFill>
        <p:spPr>
          <a:xfrm>
            <a:off x="862141" y="1724900"/>
            <a:ext cx="7419718" cy="4453856"/>
          </a:xfrm>
          <a:prstGeom prst="rect">
            <a:avLst/>
          </a:prstGeom>
        </p:spPr>
      </p:pic>
      <p:sp>
        <p:nvSpPr>
          <p:cNvPr id="7" name="Text Placeholder 8"/>
          <p:cNvSpPr>
            <a:spLocks noGrp="1"/>
          </p:cNvSpPr>
          <p:nvPr>
            <p:ph type="body" sz="quarter" idx="12"/>
          </p:nvPr>
        </p:nvSpPr>
        <p:spPr>
          <a:xfrm>
            <a:off x="2984945" y="6324600"/>
            <a:ext cx="3174111" cy="190500"/>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1558976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Histograms </a:t>
            </a:r>
            <a:r>
              <a:rPr lang="en-US" sz="1000" b="0" noProof="0" dirty="0"/>
              <a:t>5</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473" y="57509"/>
            <a:ext cx="449580" cy="1817011"/>
          </a:xfrm>
        </p:spPr>
        <p:txBody>
          <a:bodyPr vert="vert" rIns="0"/>
          <a:lstStyle/>
          <a:p>
            <a:pPr marL="1025525" indent="-1025525"/>
            <a:r>
              <a:rPr lang="en-US" b="1" noProof="0" dirty="0"/>
              <a:t>L</a:t>
            </a:r>
            <a:r>
              <a:rPr lang="en-US" sz="100" b="1" noProof="0" dirty="0"/>
              <a:t> </a:t>
            </a:r>
            <a:r>
              <a:rPr lang="en-US" b="1" noProof="0" dirty="0"/>
              <a:t>O 3.4</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noProof="0" dirty="0"/>
              <a:t>An </a:t>
            </a:r>
            <a:r>
              <a:rPr lang="en-US" b="1" noProof="0" dirty="0"/>
              <a:t>outlier</a:t>
            </a:r>
            <a:r>
              <a:rPr lang="en-US" noProof="0" dirty="0"/>
              <a:t> is an extreme value that is far enough from the majority of the data that it probably arose from a different cause or is due to measurement error.</a:t>
            </a:r>
          </a:p>
          <a:p>
            <a:pPr marL="292608" indent="-292608">
              <a:buFont typeface="Arial" panose="020B0604020202020204" pitchFamily="34" charset="0"/>
              <a:buChar char="•"/>
            </a:pPr>
            <a:r>
              <a:rPr lang="en-US" noProof="0" dirty="0"/>
              <a:t>We will define outliers more precisely in the next chapter.</a:t>
            </a:r>
          </a:p>
          <a:p>
            <a:pPr marL="292608" indent="-292608">
              <a:buFont typeface="Arial" panose="020B0604020202020204" pitchFamily="34" charset="0"/>
              <a:buChar char="•"/>
            </a:pPr>
            <a:r>
              <a:rPr lang="en-US" noProof="0" dirty="0"/>
              <a:t>For now, think of outliers as unusual points located in the histogram tails.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1166896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Autofit/>
          </a:bodyPr>
          <a:lstStyle/>
          <a:p>
            <a:r>
              <a:rPr lang="en-US" sz="3200" noProof="0" dirty="0"/>
              <a:t>Tips for Effective Frequency Distributions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473" y="57509"/>
            <a:ext cx="449580" cy="1817011"/>
          </a:xfrm>
        </p:spPr>
        <p:txBody>
          <a:bodyPr vert="vert" rIns="0"/>
          <a:lstStyle/>
          <a:p>
            <a:pPr marL="1025525" indent="-1025525"/>
            <a:r>
              <a:rPr lang="en-US" b="1" noProof="0" dirty="0"/>
              <a:t>L</a:t>
            </a:r>
            <a:r>
              <a:rPr lang="en-US" sz="100" b="1" noProof="0" dirty="0"/>
              <a:t> </a:t>
            </a:r>
            <a:r>
              <a:rPr lang="en-US" b="1" noProof="0" dirty="0"/>
              <a:t>O 3.4</a:t>
            </a:r>
          </a:p>
        </p:txBody>
      </p:sp>
      <p:sp>
        <p:nvSpPr>
          <p:cNvPr id="7" name="Content Placeholder 6"/>
          <p:cNvSpPr>
            <a:spLocks noGrp="1"/>
          </p:cNvSpPr>
          <p:nvPr>
            <p:ph sz="quarter" idx="14"/>
          </p:nvPr>
        </p:nvSpPr>
        <p:spPr>
          <a:xfrm>
            <a:off x="342900" y="1260475"/>
            <a:ext cx="8191500" cy="5292725"/>
          </a:xfrm>
        </p:spPr>
        <p:txBody>
          <a:bodyPr/>
          <a:lstStyle/>
          <a:p>
            <a:pPr marL="402336" indent="-402336">
              <a:buFont typeface="+mj-lt"/>
              <a:buAutoNum type="arabicPeriod"/>
            </a:pPr>
            <a:r>
              <a:rPr lang="en-US" noProof="0" dirty="0"/>
              <a:t>Check Sturges’ Rule first, but only as a suggestion for the number of bins.</a:t>
            </a:r>
          </a:p>
          <a:p>
            <a:pPr marL="402336" indent="-402336">
              <a:buFont typeface="+mj-lt"/>
              <a:buAutoNum type="arabicPeriod"/>
            </a:pPr>
            <a:r>
              <a:rPr lang="en-US" noProof="0" dirty="0"/>
              <a:t>Choose an appropriate bin width.</a:t>
            </a:r>
          </a:p>
          <a:p>
            <a:pPr marL="402336" indent="-402336">
              <a:buFont typeface="+mj-lt"/>
              <a:buAutoNum type="arabicPeriod"/>
            </a:pPr>
            <a:r>
              <a:rPr lang="en-US" noProof="0" dirty="0"/>
              <a:t>Choose bin limits that are multiples of the bin width.</a:t>
            </a:r>
          </a:p>
          <a:p>
            <a:pPr marL="402336" indent="-402336">
              <a:buFont typeface="+mj-lt"/>
              <a:buAutoNum type="arabicPeriod"/>
            </a:pPr>
            <a:r>
              <a:rPr lang="en-US" noProof="0" dirty="0"/>
              <a:t>Make sure that the range is covered, and add bins if necessary.</a:t>
            </a:r>
          </a:p>
          <a:p>
            <a:pPr marL="402336" indent="-402336">
              <a:buFont typeface="+mj-lt"/>
              <a:buAutoNum type="arabicPeriod"/>
            </a:pPr>
            <a:r>
              <a:rPr lang="en-US" noProof="0" dirty="0"/>
              <a:t>Skewed data may require more bins to reveal sufficient detail.</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1553654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Frequency Polygons and Ogive </a:t>
            </a:r>
            <a:r>
              <a:rPr lang="en-US" sz="1000" b="0" noProof="0" dirty="0"/>
              <a:t>1</a:t>
            </a:r>
          </a:p>
        </p:txBody>
      </p:sp>
      <p:sp>
        <p:nvSpPr>
          <p:cNvPr id="8" name="Content Placeholder 2">
            <a:extLst>
              <a:ext uri="{FF2B5EF4-FFF2-40B4-BE49-F238E27FC236}">
                <a16:creationId xmlns:a16="http://schemas.microsoft.com/office/drawing/2014/main" id="{D45A793B-CCF1-AE3E-6438-5A5351830028}"/>
              </a:ext>
            </a:extLst>
          </p:cNvPr>
          <p:cNvSpPr>
            <a:spLocks noGrp="1"/>
          </p:cNvSpPr>
          <p:nvPr>
            <p:ph sz="quarter" idx="11"/>
          </p:nvPr>
        </p:nvSpPr>
        <p:spPr>
          <a:xfrm>
            <a:off x="8636473" y="57509"/>
            <a:ext cx="449580" cy="1817011"/>
          </a:xfrm>
        </p:spPr>
        <p:txBody>
          <a:bodyPr vert="vert" rIns="0"/>
          <a:lstStyle/>
          <a:p>
            <a:pPr marL="1025525" indent="-1025525"/>
            <a:r>
              <a:rPr lang="en-US" b="1" noProof="0" dirty="0"/>
              <a:t>L</a:t>
            </a:r>
            <a:r>
              <a:rPr lang="en-US" sz="100" b="1" noProof="0" dirty="0"/>
              <a:t> </a:t>
            </a:r>
            <a:r>
              <a:rPr lang="en-US" b="1" noProof="0" dirty="0"/>
              <a:t>O 3.4</a:t>
            </a:r>
          </a:p>
        </p:txBody>
      </p:sp>
      <p:sp>
        <p:nvSpPr>
          <p:cNvPr id="4" name="Content Placeholder 3"/>
          <p:cNvSpPr>
            <a:spLocks noGrp="1"/>
          </p:cNvSpPr>
          <p:nvPr>
            <p:ph sz="quarter" idx="14"/>
          </p:nvPr>
        </p:nvSpPr>
        <p:spPr>
          <a:xfrm>
            <a:off x="342900" y="1205625"/>
            <a:ext cx="8191500" cy="2803815"/>
          </a:xfrm>
        </p:spPr>
        <p:txBody>
          <a:bodyPr/>
          <a:lstStyle/>
          <a:p>
            <a:r>
              <a:rPr lang="en-US" noProof="0" dirty="0"/>
              <a:t>A </a:t>
            </a:r>
            <a:r>
              <a:rPr lang="en-US" b="1" noProof="0" dirty="0"/>
              <a:t>frequency polygon</a:t>
            </a:r>
            <a:r>
              <a:rPr lang="en-US" noProof="0" dirty="0"/>
              <a:t> is a line graph that connects the midpoints of the histogram intervals, plus extra intervals at the beginning and end so that the line will touch the </a:t>
            </a:r>
            <a:r>
              <a:rPr lang="en-US" i="1" noProof="0" dirty="0"/>
              <a:t>X</a:t>
            </a:r>
            <a:r>
              <a:rPr lang="en-US" noProof="0" dirty="0"/>
              <a:t>-axis.</a:t>
            </a:r>
          </a:p>
          <a:p>
            <a:pPr marL="292608" indent="-292608">
              <a:buFont typeface="Arial" panose="020B0604020202020204" pitchFamily="34" charset="0"/>
              <a:buChar char="•"/>
            </a:pPr>
            <a:r>
              <a:rPr lang="en-US" noProof="0" dirty="0"/>
              <a:t>It serves the same purpose as a histogram but is attractive when you need to compare two data sets (since more than one frequency polygon can be plotted on the same scale).</a:t>
            </a:r>
          </a:p>
        </p:txBody>
      </p:sp>
      <p:sp>
        <p:nvSpPr>
          <p:cNvPr id="5" name="Content Placeholder 4"/>
          <p:cNvSpPr>
            <a:spLocks noGrp="1"/>
          </p:cNvSpPr>
          <p:nvPr>
            <p:ph sz="quarter" idx="15"/>
          </p:nvPr>
        </p:nvSpPr>
        <p:spPr>
          <a:xfrm>
            <a:off x="342900" y="4095166"/>
            <a:ext cx="8191500" cy="2455784"/>
          </a:xfrm>
        </p:spPr>
        <p:txBody>
          <a:bodyPr/>
          <a:lstStyle/>
          <a:p>
            <a:r>
              <a:rPr lang="en-US" noProof="0" dirty="0"/>
              <a:t>An </a:t>
            </a:r>
            <a:r>
              <a:rPr lang="en-US" b="1" noProof="0" dirty="0"/>
              <a:t>ogive</a:t>
            </a:r>
            <a:r>
              <a:rPr lang="en-US" noProof="0" dirty="0"/>
              <a:t> (pronounced “oh-jive”) is a line graph of the cumulative frequencies.</a:t>
            </a:r>
          </a:p>
          <a:p>
            <a:pPr marL="292608" indent="-292608">
              <a:buFont typeface="Arial" panose="020B0604020202020204" pitchFamily="34" charset="0"/>
              <a:buChar char="•"/>
            </a:pPr>
            <a:r>
              <a:rPr lang="en-US" noProof="0" dirty="0"/>
              <a:t>It is useful for finding percentiles or in comparing the shape of the sample with a known benchmark such as the normal distribution (that you will be seeing in the next chapter).</a:t>
            </a:r>
          </a:p>
        </p:txBody>
      </p:sp>
      <p:sp>
        <p:nvSpPr>
          <p:cNvPr id="10" name="Slide Number Placeholder 9"/>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3969454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620000" cy="903231"/>
          </a:xfrm>
        </p:spPr>
        <p:txBody>
          <a:bodyPr>
            <a:normAutofit/>
          </a:bodyPr>
          <a:lstStyle/>
          <a:p>
            <a:r>
              <a:rPr lang="en-US" sz="3600" noProof="0" dirty="0"/>
              <a:t>Frequency Polygons and Ogive </a:t>
            </a:r>
            <a:r>
              <a:rPr lang="en-US" sz="1000" b="0" noProof="0" dirty="0"/>
              <a:t>2</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515350" y="104324"/>
            <a:ext cx="476250" cy="1079561"/>
          </a:xfrm>
        </p:spPr>
        <p:txBody>
          <a:bodyPr vert="vert" rIns="0"/>
          <a:lstStyle/>
          <a:p>
            <a:pPr marL="1025525" indent="-1025525"/>
            <a:r>
              <a:rPr lang="en-US" b="1" noProof="0" dirty="0"/>
              <a:t>L</a:t>
            </a:r>
            <a:r>
              <a:rPr lang="en-US" sz="100" b="1" noProof="0" dirty="0"/>
              <a:t> </a:t>
            </a:r>
            <a:r>
              <a:rPr lang="en-US" b="1" noProof="0" dirty="0"/>
              <a:t>O 3.4</a:t>
            </a:r>
          </a:p>
        </p:txBody>
      </p:sp>
      <p:sp>
        <p:nvSpPr>
          <p:cNvPr id="4" name="Content Placeholder 3">
            <a:extLst>
              <a:ext uri="{FF2B5EF4-FFF2-40B4-BE49-F238E27FC236}">
                <a16:creationId xmlns:a16="http://schemas.microsoft.com/office/drawing/2014/main" id="{1C2A9B46-E6A8-4672-BD4A-AD0E1588C211}"/>
              </a:ext>
            </a:extLst>
          </p:cNvPr>
          <p:cNvSpPr>
            <a:spLocks noGrp="1"/>
          </p:cNvSpPr>
          <p:nvPr>
            <p:ph sz="quarter" idx="14"/>
          </p:nvPr>
        </p:nvSpPr>
        <p:spPr>
          <a:xfrm>
            <a:off x="3997262" y="2065856"/>
            <a:ext cx="3133725" cy="354046"/>
          </a:xfrm>
        </p:spPr>
        <p:txBody>
          <a:bodyPr/>
          <a:lstStyle/>
          <a:p>
            <a:r>
              <a:rPr lang="en-US" sz="1600" b="1" noProof="0" dirty="0"/>
              <a:t>Frequency Polygon and Ogive</a:t>
            </a:r>
          </a:p>
        </p:txBody>
      </p:sp>
      <p:pic>
        <p:nvPicPr>
          <p:cNvPr id="13" name="Picture 12">
            <a:extLst>
              <a:ext uri="{FF2B5EF4-FFF2-40B4-BE49-F238E27FC236}">
                <a16:creationId xmlns:a16="http://schemas.microsoft.com/office/drawing/2014/main" id="{60B6D6B9-5D12-473A-854B-0F3A5361ABA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30987" y="2104747"/>
            <a:ext cx="362001" cy="276264"/>
          </a:xfrm>
          <a:prstGeom prst="rect">
            <a:avLst/>
          </a:prstGeom>
        </p:spPr>
      </p:pic>
      <p:sp>
        <p:nvSpPr>
          <p:cNvPr id="7" name="Content Placeholder 6">
            <a:extLst>
              <a:ext uri="{FF2B5EF4-FFF2-40B4-BE49-F238E27FC236}">
                <a16:creationId xmlns:a16="http://schemas.microsoft.com/office/drawing/2014/main" id="{D14DF776-D4C2-4060-A92D-3FB311763A3A}"/>
              </a:ext>
            </a:extLst>
          </p:cNvPr>
          <p:cNvSpPr>
            <a:spLocks noGrp="1"/>
          </p:cNvSpPr>
          <p:nvPr>
            <p:ph sz="quarter" idx="15"/>
          </p:nvPr>
        </p:nvSpPr>
        <p:spPr>
          <a:xfrm>
            <a:off x="7531037" y="2059321"/>
            <a:ext cx="1095375" cy="367115"/>
          </a:xfrm>
        </p:spPr>
        <p:txBody>
          <a:bodyPr/>
          <a:lstStyle/>
          <a:p>
            <a:r>
              <a:rPr lang="en-US" sz="1600" b="1" noProof="0" dirty="0" err="1">
                <a:solidFill>
                  <a:srgbClr val="C00000"/>
                </a:solidFill>
              </a:rPr>
              <a:t>PERatios</a:t>
            </a:r>
            <a:endParaRPr lang="en-US" sz="1600" b="1" noProof="0" dirty="0">
              <a:solidFill>
                <a:srgbClr val="C00000"/>
              </a:solidFill>
            </a:endParaRPr>
          </a:p>
        </p:txBody>
      </p:sp>
      <p:pic>
        <p:nvPicPr>
          <p:cNvPr id="5" name="Picture 4" descr="Two line graphs, each plotting percent against Price-to-Earnings (P/E) ratios."/>
          <p:cNvPicPr>
            <a:picLocks noChangeAspect="1"/>
          </p:cNvPicPr>
          <p:nvPr/>
        </p:nvPicPr>
        <p:blipFill rotWithShape="1">
          <a:blip r:embed="rId3"/>
          <a:srcRect t="11344"/>
          <a:stretch/>
        </p:blipFill>
        <p:spPr>
          <a:xfrm>
            <a:off x="453794" y="2514600"/>
            <a:ext cx="8266892" cy="2097126"/>
          </a:xfrm>
          <a:prstGeom prst="rect">
            <a:avLst/>
          </a:prstGeom>
        </p:spPr>
      </p:pic>
      <p:sp>
        <p:nvSpPr>
          <p:cNvPr id="8" name="Text Placeholder 8"/>
          <p:cNvSpPr>
            <a:spLocks noGrp="1"/>
          </p:cNvSpPr>
          <p:nvPr>
            <p:ph type="body" sz="quarter" idx="13"/>
          </p:nvPr>
        </p:nvSpPr>
        <p:spPr>
          <a:xfrm>
            <a:off x="3000375" y="6313488"/>
            <a:ext cx="3143250" cy="239712"/>
          </a:xfrm>
        </p:spPr>
        <p:txBody>
          <a:bodyPr/>
          <a:lstStyle/>
          <a:p>
            <a:r>
              <a:rPr lang="en-US" sz="1200" noProof="0" dirty="0">
                <a:hlinkClick r:id="rId4"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24</a:t>
            </a:fld>
            <a:endParaRPr lang="en-US" dirty="0"/>
          </a:p>
        </p:txBody>
      </p:sp>
    </p:spTree>
    <p:extLst>
      <p:ext uri="{BB962C8B-B14F-4D97-AF65-F5344CB8AC3E}">
        <p14:creationId xmlns:p14="http://schemas.microsoft.com/office/powerpoint/2010/main" val="1327956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p:txBody>
          <a:bodyPr>
            <a:normAutofit/>
          </a:bodyPr>
          <a:lstStyle/>
          <a:p>
            <a:r>
              <a:rPr lang="en-US" noProof="0" dirty="0"/>
              <a:t>Effective Excel Charts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342900" y="1276709"/>
            <a:ext cx="8458200" cy="1131211"/>
          </a:xfrm>
        </p:spPr>
        <p:txBody>
          <a:bodyPr/>
          <a:lstStyle/>
          <a:p>
            <a:pPr marL="292608" indent="-292608">
              <a:buFont typeface="Arial" panose="020B0604020202020204" pitchFamily="34" charset="0"/>
              <a:buChar char="•"/>
            </a:pPr>
            <a:r>
              <a:rPr lang="en-US" noProof="0" dirty="0"/>
              <a:t>Excel has a variety of different kinds of charts.</a:t>
            </a:r>
          </a:p>
          <a:p>
            <a:pPr marL="292608" indent="-292608">
              <a:buFont typeface="Arial" panose="020B0604020202020204" pitchFamily="34" charset="0"/>
              <a:buChar char="•"/>
            </a:pPr>
            <a:r>
              <a:rPr lang="en-US" noProof="0" dirty="0"/>
              <a:t>You can find them on the “Insert” tab.</a:t>
            </a:r>
          </a:p>
        </p:txBody>
      </p:sp>
      <p:pic>
        <p:nvPicPr>
          <p:cNvPr id="5" name="Picture 4" descr="A chart is composed of six sets, each showcasing different types of charts. "/>
          <p:cNvPicPr>
            <a:picLocks noChangeAspect="1"/>
          </p:cNvPicPr>
          <p:nvPr/>
        </p:nvPicPr>
        <p:blipFill>
          <a:blip r:embed="rId2"/>
          <a:stretch>
            <a:fillRect/>
          </a:stretch>
        </p:blipFill>
        <p:spPr>
          <a:xfrm>
            <a:off x="630594" y="2776592"/>
            <a:ext cx="7882811" cy="3133616"/>
          </a:xfrm>
          <a:prstGeom prst="rect">
            <a:avLst/>
          </a:prstGeom>
        </p:spPr>
      </p:pic>
      <p:sp>
        <p:nvSpPr>
          <p:cNvPr id="7"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25</a:t>
            </a:fld>
            <a:endParaRPr lang="en-US" dirty="0"/>
          </a:p>
        </p:txBody>
      </p:sp>
    </p:spTree>
    <p:extLst>
      <p:ext uri="{BB962C8B-B14F-4D97-AF65-F5344CB8AC3E}">
        <p14:creationId xmlns:p14="http://schemas.microsoft.com/office/powerpoint/2010/main" val="304847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Line Charts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3.5</a:t>
            </a:r>
          </a:p>
        </p:txBody>
      </p:sp>
      <p:sp>
        <p:nvSpPr>
          <p:cNvPr id="7" name="Content Placeholder 6"/>
          <p:cNvSpPr>
            <a:spLocks noGrp="1"/>
          </p:cNvSpPr>
          <p:nvPr>
            <p:ph sz="quarter" idx="14"/>
          </p:nvPr>
        </p:nvSpPr>
        <p:spPr>
          <a:xfrm>
            <a:off x="342900" y="1260475"/>
            <a:ext cx="8191500" cy="1543685"/>
          </a:xfrm>
        </p:spPr>
        <p:txBody>
          <a:bodyPr/>
          <a:lstStyle/>
          <a:p>
            <a:pPr marL="292608" indent="-292608">
              <a:buFont typeface="Arial" panose="020B0604020202020204" pitchFamily="34" charset="0"/>
              <a:buChar char="•"/>
            </a:pPr>
            <a:r>
              <a:rPr lang="en-US" noProof="0" dirty="0"/>
              <a:t>Line charts are used to display a time series, to spot trends, or to compare time periods.</a:t>
            </a:r>
          </a:p>
          <a:p>
            <a:pPr marL="292608" indent="-292608">
              <a:buFont typeface="Arial" panose="020B0604020202020204" pitchFamily="34" charset="0"/>
              <a:buChar char="•"/>
            </a:pPr>
            <a:r>
              <a:rPr lang="en-US" noProof="0" dirty="0"/>
              <a:t>They can display several variables at once.</a:t>
            </a:r>
          </a:p>
        </p:txBody>
      </p:sp>
      <p:pic>
        <p:nvPicPr>
          <p:cNvPr id="4" name="Picture 3" descr="A line graph titled “Sarah’s Cell Phone Calls” spans the years 2010 to 2020."/>
          <p:cNvPicPr>
            <a:picLocks noChangeAspect="1"/>
          </p:cNvPicPr>
          <p:nvPr/>
        </p:nvPicPr>
        <p:blipFill>
          <a:blip r:embed="rId2"/>
          <a:stretch>
            <a:fillRect/>
          </a:stretch>
        </p:blipFill>
        <p:spPr>
          <a:xfrm>
            <a:off x="2277262" y="3029881"/>
            <a:ext cx="4680915" cy="3145199"/>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3578882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Log Scales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3.5</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b="1" noProof="0" dirty="0"/>
              <a:t>Arithmetic scale</a:t>
            </a:r>
            <a:r>
              <a:rPr lang="en-US" noProof="0" dirty="0"/>
              <a:t> – distances on the </a:t>
            </a:r>
            <a:r>
              <a:rPr lang="en-US" i="1" noProof="0" dirty="0"/>
              <a:t>Y</a:t>
            </a:r>
            <a:r>
              <a:rPr lang="en-US" noProof="0" dirty="0"/>
              <a:t>-axis are proportional to the magnitude of the variable being displayed.</a:t>
            </a:r>
          </a:p>
          <a:p>
            <a:pPr marL="292608" indent="-292608">
              <a:buFont typeface="Arial" panose="020B0604020202020204" pitchFamily="34" charset="0"/>
              <a:buChar char="•"/>
            </a:pPr>
            <a:r>
              <a:rPr lang="en-US" b="1" noProof="0" dirty="0"/>
              <a:t>Logarithmic scale</a:t>
            </a:r>
            <a:r>
              <a:rPr lang="en-US" noProof="0" dirty="0"/>
              <a:t> – (ratio scale) equal distances represent equal ratios.</a:t>
            </a:r>
          </a:p>
          <a:p>
            <a:pPr marL="292608" indent="-292608">
              <a:buFont typeface="Arial" panose="020B0604020202020204" pitchFamily="34" charset="0"/>
              <a:buChar char="•"/>
            </a:pPr>
            <a:r>
              <a:rPr lang="en-US" noProof="0" dirty="0"/>
              <a:t>Use a </a:t>
            </a:r>
            <a:r>
              <a:rPr lang="en-US" b="1" noProof="0" dirty="0"/>
              <a:t>log scale</a:t>
            </a:r>
            <a:r>
              <a:rPr lang="en-US" noProof="0" dirty="0"/>
              <a:t> for the vertical axis when data vary over a wide range, say, by more than an order of magnitude.</a:t>
            </a:r>
          </a:p>
          <a:p>
            <a:pPr marL="292608" indent="-292608">
              <a:buFont typeface="Arial" panose="020B0604020202020204" pitchFamily="34" charset="0"/>
              <a:buChar char="•"/>
            </a:pPr>
            <a:r>
              <a:rPr lang="en-US" noProof="0" dirty="0"/>
              <a:t>This will reveal more detail for smaller data values.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575273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705725" cy="903231"/>
          </a:xfrm>
        </p:spPr>
        <p:txBody>
          <a:bodyPr>
            <a:normAutofit/>
          </a:bodyPr>
          <a:lstStyle/>
          <a:p>
            <a:r>
              <a:rPr lang="en-US" sz="3600" noProof="0" dirty="0"/>
              <a:t>Log Scales </a:t>
            </a:r>
            <a:r>
              <a:rPr lang="en-US" sz="1000" b="0" noProof="0" dirty="0"/>
              <a:t>2</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6412" y="96597"/>
            <a:ext cx="400050" cy="1095015"/>
          </a:xfrm>
        </p:spPr>
        <p:txBody>
          <a:bodyPr vert="vert" rIns="0"/>
          <a:lstStyle/>
          <a:p>
            <a:pPr marL="1025525" indent="-1025525"/>
            <a:r>
              <a:rPr lang="en-US" b="1" noProof="0" dirty="0"/>
              <a:t>L</a:t>
            </a:r>
            <a:r>
              <a:rPr lang="en-US" sz="100" b="1" noProof="0" dirty="0"/>
              <a:t> </a:t>
            </a:r>
            <a:r>
              <a:rPr lang="en-US" b="1" noProof="0" dirty="0"/>
              <a:t>O 3.5</a:t>
            </a:r>
          </a:p>
        </p:txBody>
      </p:sp>
      <p:sp>
        <p:nvSpPr>
          <p:cNvPr id="7" name="Content Placeholder 6"/>
          <p:cNvSpPr>
            <a:spLocks noGrp="1"/>
          </p:cNvSpPr>
          <p:nvPr>
            <p:ph sz="quarter" idx="14"/>
          </p:nvPr>
        </p:nvSpPr>
        <p:spPr>
          <a:xfrm>
            <a:off x="342900" y="1211083"/>
            <a:ext cx="8458200" cy="3003885"/>
          </a:xfrm>
        </p:spPr>
        <p:txBody>
          <a:bodyPr/>
          <a:lstStyle/>
          <a:p>
            <a:r>
              <a:rPr lang="en-US" noProof="0" dirty="0"/>
              <a:t>A log scale is useful for time series data that might be expected to grow at a compound annual percentage rate (For example, G</a:t>
            </a:r>
            <a:r>
              <a:rPr lang="en-US" sz="100" noProof="0" dirty="0"/>
              <a:t> </a:t>
            </a:r>
            <a:r>
              <a:rPr lang="en-US" noProof="0" dirty="0"/>
              <a:t>D</a:t>
            </a:r>
            <a:r>
              <a:rPr lang="en-US" sz="100" noProof="0" dirty="0"/>
              <a:t> </a:t>
            </a:r>
            <a:r>
              <a:rPr lang="en-US" noProof="0" dirty="0"/>
              <a:t>P, the national debt, or your future income). It reveals whether the quantity is growing at an.</a:t>
            </a:r>
          </a:p>
          <a:p>
            <a:pPr marL="292608" indent="-292608">
              <a:buFont typeface="Arial" panose="020B0604020202020204" pitchFamily="34" charset="0"/>
              <a:buChar char="•"/>
            </a:pPr>
            <a:r>
              <a:rPr lang="en-US" noProof="0" dirty="0"/>
              <a:t>Increasing percent (concave upward),</a:t>
            </a:r>
          </a:p>
          <a:p>
            <a:pPr marL="292608" indent="-292608">
              <a:buFont typeface="Arial" panose="020B0604020202020204" pitchFamily="34" charset="0"/>
              <a:buChar char="•"/>
            </a:pPr>
            <a:r>
              <a:rPr lang="en-US" noProof="0" dirty="0"/>
              <a:t>Constant percent (straight line), or</a:t>
            </a:r>
          </a:p>
          <a:p>
            <a:pPr marL="292608" indent="-292608">
              <a:buFont typeface="Arial" panose="020B0604020202020204" pitchFamily="34" charset="0"/>
              <a:buChar char="•"/>
            </a:pPr>
            <a:r>
              <a:rPr lang="en-US" noProof="0" dirty="0"/>
              <a:t>Declining percent (concave downward).</a:t>
            </a:r>
          </a:p>
        </p:txBody>
      </p:sp>
      <p:sp>
        <p:nvSpPr>
          <p:cNvPr id="5" name="Content Placeholder 4">
            <a:extLst>
              <a:ext uri="{FF2B5EF4-FFF2-40B4-BE49-F238E27FC236}">
                <a16:creationId xmlns:a16="http://schemas.microsoft.com/office/drawing/2014/main" id="{8C91B678-7429-4737-9196-27B1E3A6EEC5}"/>
              </a:ext>
            </a:extLst>
          </p:cNvPr>
          <p:cNvSpPr>
            <a:spLocks noGrp="1"/>
          </p:cNvSpPr>
          <p:nvPr>
            <p:ph sz="quarter" idx="15"/>
          </p:nvPr>
        </p:nvSpPr>
        <p:spPr>
          <a:xfrm>
            <a:off x="2798794" y="4342675"/>
            <a:ext cx="3246384" cy="259790"/>
          </a:xfrm>
        </p:spPr>
        <p:txBody>
          <a:bodyPr/>
          <a:lstStyle/>
          <a:p>
            <a:r>
              <a:rPr lang="en-US" sz="1200" b="1" noProof="0" dirty="0"/>
              <a:t>Comparison of Arithmetic and Log Scales</a:t>
            </a:r>
          </a:p>
        </p:txBody>
      </p:sp>
      <p:pic>
        <p:nvPicPr>
          <p:cNvPr id="13" name="Picture 12">
            <a:extLst>
              <a:ext uri="{FF2B5EF4-FFF2-40B4-BE49-F238E27FC236}">
                <a16:creationId xmlns:a16="http://schemas.microsoft.com/office/drawing/2014/main" id="{CE9C3C18-B3C1-494C-9068-C6CE33C06FB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965500" y="4375675"/>
            <a:ext cx="260677" cy="198938"/>
          </a:xfrm>
          <a:prstGeom prst="rect">
            <a:avLst/>
          </a:prstGeom>
        </p:spPr>
      </p:pic>
      <p:sp>
        <p:nvSpPr>
          <p:cNvPr id="9" name="Content Placeholder 8">
            <a:extLst>
              <a:ext uri="{FF2B5EF4-FFF2-40B4-BE49-F238E27FC236}">
                <a16:creationId xmlns:a16="http://schemas.microsoft.com/office/drawing/2014/main" id="{B4B6F94E-8F4B-47AE-9865-D46D8F549D6F}"/>
              </a:ext>
            </a:extLst>
          </p:cNvPr>
          <p:cNvSpPr>
            <a:spLocks noGrp="1"/>
          </p:cNvSpPr>
          <p:nvPr>
            <p:ph sz="quarter" idx="16"/>
          </p:nvPr>
        </p:nvSpPr>
        <p:spPr>
          <a:xfrm>
            <a:off x="6226177" y="4329389"/>
            <a:ext cx="1107130" cy="266365"/>
          </a:xfrm>
        </p:spPr>
        <p:txBody>
          <a:bodyPr/>
          <a:lstStyle/>
          <a:p>
            <a:r>
              <a:rPr lang="en-US" sz="1600" b="1" noProof="0" dirty="0" err="1">
                <a:solidFill>
                  <a:srgbClr val="C00000"/>
                </a:solidFill>
              </a:rPr>
              <a:t>USTrade</a:t>
            </a:r>
            <a:endParaRPr lang="en-US" sz="1600" b="1" noProof="0" dirty="0">
              <a:solidFill>
                <a:srgbClr val="C00000"/>
              </a:solidFill>
            </a:endParaRPr>
          </a:p>
        </p:txBody>
      </p:sp>
      <p:pic>
        <p:nvPicPr>
          <p:cNvPr id="4" name="Picture 3" descr="A line graph plots the value of imports and exports in billions of dollars against the years from 1980 to 2020."/>
          <p:cNvPicPr>
            <a:picLocks noChangeAspect="1"/>
          </p:cNvPicPr>
          <p:nvPr/>
        </p:nvPicPr>
        <p:blipFill rotWithShape="1">
          <a:blip r:embed="rId3"/>
          <a:srcRect t="11640"/>
          <a:stretch/>
        </p:blipFill>
        <p:spPr>
          <a:xfrm>
            <a:off x="2108195" y="4686421"/>
            <a:ext cx="4927607" cy="1531459"/>
          </a:xfrm>
          <a:prstGeom prst="rect">
            <a:avLst/>
          </a:prstGeom>
        </p:spPr>
      </p:pic>
      <p:sp>
        <p:nvSpPr>
          <p:cNvPr id="8" name="Text Placeholder 8"/>
          <p:cNvSpPr>
            <a:spLocks noGrp="1"/>
          </p:cNvSpPr>
          <p:nvPr>
            <p:ph type="body" sz="quarter" idx="13"/>
          </p:nvPr>
        </p:nvSpPr>
        <p:spPr>
          <a:xfrm>
            <a:off x="2986087" y="6361113"/>
            <a:ext cx="3171825" cy="188467"/>
          </a:xfrm>
        </p:spPr>
        <p:txBody>
          <a:bodyPr/>
          <a:lstStyle/>
          <a:p>
            <a:r>
              <a:rPr lang="en-US" sz="1200" noProof="0" dirty="0">
                <a:hlinkClick r:id="rId4"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28</a:t>
            </a:fld>
            <a:endParaRPr lang="en-US" dirty="0"/>
          </a:p>
        </p:txBody>
      </p:sp>
    </p:spTree>
    <p:extLst>
      <p:ext uri="{BB962C8B-B14F-4D97-AF65-F5344CB8AC3E}">
        <p14:creationId xmlns:p14="http://schemas.microsoft.com/office/powerpoint/2010/main" val="1221965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Tips for Effective Line Charts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3.5</a:t>
            </a:r>
          </a:p>
        </p:txBody>
      </p:sp>
      <p:sp>
        <p:nvSpPr>
          <p:cNvPr id="7" name="Content Placeholder 6"/>
          <p:cNvSpPr>
            <a:spLocks noGrp="1"/>
          </p:cNvSpPr>
          <p:nvPr>
            <p:ph sz="quarter" idx="14"/>
          </p:nvPr>
        </p:nvSpPr>
        <p:spPr>
          <a:xfrm>
            <a:off x="342900" y="1260475"/>
            <a:ext cx="8191500" cy="5292725"/>
          </a:xfrm>
        </p:spPr>
        <p:txBody>
          <a:bodyPr/>
          <a:lstStyle/>
          <a:p>
            <a:pPr marL="402336" indent="-402336">
              <a:buFont typeface="+mj-lt"/>
              <a:buAutoNum type="arabicPeriod"/>
            </a:pPr>
            <a:r>
              <a:rPr lang="en-US" sz="2200" noProof="0" dirty="0"/>
              <a:t>Line charts are used for </a:t>
            </a:r>
            <a:r>
              <a:rPr lang="en-US" sz="2200" i="1" noProof="0" dirty="0"/>
              <a:t>time series data</a:t>
            </a:r>
            <a:r>
              <a:rPr lang="en-US" sz="2200" noProof="0" dirty="0"/>
              <a:t> (never for cross-sectional data).</a:t>
            </a:r>
          </a:p>
          <a:p>
            <a:pPr marL="402336" indent="-402336">
              <a:buFont typeface="+mj-lt"/>
              <a:buAutoNum type="arabicPeriod"/>
            </a:pPr>
            <a:r>
              <a:rPr lang="en-US" sz="2200" noProof="0" dirty="0"/>
              <a:t>The numerical variable is shown on the </a:t>
            </a:r>
            <a:r>
              <a:rPr lang="en-US" sz="2200" i="1" noProof="0" dirty="0"/>
              <a:t>Y</a:t>
            </a:r>
            <a:r>
              <a:rPr lang="en-US" sz="2200" noProof="0" dirty="0"/>
              <a:t>-axis, while the time units go on the </a:t>
            </a:r>
            <a:r>
              <a:rPr lang="en-US" sz="2200" i="1" noProof="0" dirty="0"/>
              <a:t>X</a:t>
            </a:r>
            <a:r>
              <a:rPr lang="en-US" sz="2200" noProof="0" dirty="0"/>
              <a:t>-axis with time increasing from left to right. Business audiences expect this rule to be followed.</a:t>
            </a:r>
          </a:p>
          <a:p>
            <a:pPr marL="402336" indent="-402336">
              <a:buFont typeface="+mj-lt"/>
              <a:buAutoNum type="arabicPeriod"/>
            </a:pPr>
            <a:r>
              <a:rPr lang="en-US" sz="2200" noProof="0" dirty="0"/>
              <a:t>Except for log scales, use a zero origin on the </a:t>
            </a:r>
            <a:r>
              <a:rPr lang="en-US" sz="2200" i="1" noProof="0" dirty="0"/>
              <a:t>Y</a:t>
            </a:r>
            <a:r>
              <a:rPr lang="en-US" sz="2200" noProof="0" dirty="0"/>
              <a:t>-axis unless more detail is needed. The zero-origin rule is mandatory for a corporate annual report or investor stock prospectus.</a:t>
            </a:r>
          </a:p>
          <a:p>
            <a:pPr marL="402336" indent="-402336">
              <a:buFont typeface="+mj-lt"/>
              <a:buAutoNum type="arabicPeriod"/>
            </a:pPr>
            <a:r>
              <a:rPr lang="en-US" sz="2200" noProof="0" dirty="0"/>
              <a:t>To avoid graph clutter, numerical labels usually are </a:t>
            </a:r>
            <a:r>
              <a:rPr lang="en-US" sz="2200" i="1" noProof="0" dirty="0"/>
              <a:t>omitted</a:t>
            </a:r>
            <a:r>
              <a:rPr lang="en-US" sz="2200" noProof="0" dirty="0"/>
              <a:t> on a line chart, especially when the data cover many time periods. Use gridlines to help the reader read data values.</a:t>
            </a:r>
          </a:p>
          <a:p>
            <a:pPr marL="402336" indent="-402336">
              <a:buFont typeface="+mj-lt"/>
              <a:buAutoNum type="arabicPeriod"/>
            </a:pPr>
            <a:r>
              <a:rPr lang="en-US" sz="2200" noProof="0" dirty="0"/>
              <a:t>Data markers (squares, triangles, circles) are helpful. But when the series has many data values or when many variables are being displayed, they clutter the graph.</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3219277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181850" cy="903231"/>
          </a:xfrm>
        </p:spPr>
        <p:txBody>
          <a:bodyPr>
            <a:normAutofit/>
          </a:bodyPr>
          <a:lstStyle/>
          <a:p>
            <a:r>
              <a:rPr lang="en-US" sz="3600" noProof="0" dirty="0"/>
              <a:t>Column and Bar Charts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577262" y="188323"/>
            <a:ext cx="447675" cy="1195623"/>
          </a:xfrm>
        </p:spPr>
        <p:txBody>
          <a:bodyPr vert="vert" rIns="0"/>
          <a:lstStyle/>
          <a:p>
            <a:pPr marL="1025525" indent="-1025525"/>
            <a:r>
              <a:rPr lang="en-US" b="1" noProof="0" dirty="0"/>
              <a:t>L</a:t>
            </a:r>
            <a:r>
              <a:rPr lang="en-US" sz="100" b="1" noProof="0" dirty="0"/>
              <a:t> </a:t>
            </a:r>
            <a:r>
              <a:rPr lang="en-US" b="1" noProof="0" dirty="0"/>
              <a:t>O 3.6</a:t>
            </a:r>
          </a:p>
        </p:txBody>
      </p:sp>
      <p:sp>
        <p:nvSpPr>
          <p:cNvPr id="7" name="Content Placeholder 6"/>
          <p:cNvSpPr>
            <a:spLocks noGrp="1"/>
          </p:cNvSpPr>
          <p:nvPr>
            <p:ph sz="quarter" idx="14"/>
          </p:nvPr>
        </p:nvSpPr>
        <p:spPr>
          <a:xfrm>
            <a:off x="342900" y="1276710"/>
            <a:ext cx="8047845" cy="1014634"/>
          </a:xfrm>
        </p:spPr>
        <p:txBody>
          <a:bodyPr/>
          <a:lstStyle/>
          <a:p>
            <a:pPr marL="292608" indent="-292608">
              <a:buFont typeface="Arial" panose="020B0604020202020204" pitchFamily="34" charset="0"/>
              <a:buChar char="•"/>
            </a:pPr>
            <a:r>
              <a:rPr lang="en-US" noProof="0" dirty="0"/>
              <a:t>A </a:t>
            </a:r>
            <a:r>
              <a:rPr lang="en-US" b="1" noProof="0" dirty="0"/>
              <a:t>column chart</a:t>
            </a:r>
            <a:r>
              <a:rPr lang="en-US" noProof="0" dirty="0"/>
              <a:t> is a vertical display of the data.</a:t>
            </a:r>
          </a:p>
          <a:p>
            <a:pPr marL="292608" indent="-292608">
              <a:buFont typeface="Arial" panose="020B0604020202020204" pitchFamily="34" charset="0"/>
              <a:buChar char="•"/>
            </a:pPr>
            <a:r>
              <a:rPr lang="en-US" noProof="0" dirty="0"/>
              <a:t>A </a:t>
            </a:r>
            <a:r>
              <a:rPr lang="en-US" b="1" noProof="0" dirty="0"/>
              <a:t>bar chart</a:t>
            </a:r>
            <a:r>
              <a:rPr lang="en-US" noProof="0" dirty="0"/>
              <a:t> is a horizontal display of the data.</a:t>
            </a:r>
          </a:p>
        </p:txBody>
      </p:sp>
      <p:sp>
        <p:nvSpPr>
          <p:cNvPr id="5" name="Content Placeholder 4">
            <a:extLst>
              <a:ext uri="{FF2B5EF4-FFF2-40B4-BE49-F238E27FC236}">
                <a16:creationId xmlns:a16="http://schemas.microsoft.com/office/drawing/2014/main" id="{8B2CBC70-2FE2-4495-9280-A091E0919F19}"/>
              </a:ext>
            </a:extLst>
          </p:cNvPr>
          <p:cNvSpPr>
            <a:spLocks noGrp="1"/>
          </p:cNvSpPr>
          <p:nvPr>
            <p:ph sz="quarter" idx="15"/>
          </p:nvPr>
        </p:nvSpPr>
        <p:spPr>
          <a:xfrm>
            <a:off x="529417" y="2698857"/>
            <a:ext cx="3314700" cy="336550"/>
          </a:xfrm>
        </p:spPr>
        <p:txBody>
          <a:bodyPr/>
          <a:lstStyle/>
          <a:p>
            <a:r>
              <a:rPr lang="en-US" sz="1600" b="1" noProof="0" dirty="0"/>
              <a:t>Same Data Displayed Two Ways</a:t>
            </a:r>
          </a:p>
        </p:txBody>
      </p:sp>
      <p:pic>
        <p:nvPicPr>
          <p:cNvPr id="13" name="Picture 12">
            <a:extLst>
              <a:ext uri="{FF2B5EF4-FFF2-40B4-BE49-F238E27FC236}">
                <a16:creationId xmlns:a16="http://schemas.microsoft.com/office/drawing/2014/main" id="{C27D827B-3D76-49A9-BCEE-2372448E2FC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44117" y="2738299"/>
            <a:ext cx="362001" cy="276264"/>
          </a:xfrm>
          <a:prstGeom prst="rect">
            <a:avLst/>
          </a:prstGeom>
        </p:spPr>
      </p:pic>
      <p:sp>
        <p:nvSpPr>
          <p:cNvPr id="9" name="Content Placeholder 8">
            <a:extLst>
              <a:ext uri="{FF2B5EF4-FFF2-40B4-BE49-F238E27FC236}">
                <a16:creationId xmlns:a16="http://schemas.microsoft.com/office/drawing/2014/main" id="{51EBA090-21E7-4B03-A2B9-C28B21D8AB9A}"/>
              </a:ext>
            </a:extLst>
          </p:cNvPr>
          <p:cNvSpPr>
            <a:spLocks noGrp="1"/>
          </p:cNvSpPr>
          <p:nvPr>
            <p:ph sz="quarter" idx="16"/>
          </p:nvPr>
        </p:nvSpPr>
        <p:spPr>
          <a:xfrm>
            <a:off x="4301317" y="2679136"/>
            <a:ext cx="1181100" cy="335427"/>
          </a:xfrm>
        </p:spPr>
        <p:txBody>
          <a:bodyPr/>
          <a:lstStyle/>
          <a:p>
            <a:r>
              <a:rPr lang="en-US" sz="1600" b="1" noProof="0" dirty="0">
                <a:solidFill>
                  <a:srgbClr val="C00000"/>
                </a:solidFill>
              </a:rPr>
              <a:t>Instagram</a:t>
            </a:r>
          </a:p>
        </p:txBody>
      </p:sp>
      <p:pic>
        <p:nvPicPr>
          <p:cNvPr id="4" name="Picture 3" descr="Two bar graphs plot the percentage of responses against different parameters."/>
          <p:cNvPicPr>
            <a:picLocks noChangeAspect="1"/>
          </p:cNvPicPr>
          <p:nvPr/>
        </p:nvPicPr>
        <p:blipFill rotWithShape="1">
          <a:blip r:embed="rId3"/>
          <a:srcRect t="7817" b="13002"/>
          <a:stretch/>
        </p:blipFill>
        <p:spPr>
          <a:xfrm>
            <a:off x="529417" y="3114686"/>
            <a:ext cx="8047845" cy="2125719"/>
          </a:xfrm>
          <a:prstGeom prst="rect">
            <a:avLst/>
          </a:prstGeom>
        </p:spPr>
      </p:pic>
      <p:sp>
        <p:nvSpPr>
          <p:cNvPr id="11" name="Content Placeholder 10">
            <a:extLst>
              <a:ext uri="{FF2B5EF4-FFF2-40B4-BE49-F238E27FC236}">
                <a16:creationId xmlns:a16="http://schemas.microsoft.com/office/drawing/2014/main" id="{CC60B9D8-DCCC-4495-964C-C456D9BA0B60}"/>
              </a:ext>
            </a:extLst>
          </p:cNvPr>
          <p:cNvSpPr>
            <a:spLocks noGrp="1"/>
          </p:cNvSpPr>
          <p:nvPr>
            <p:ph sz="quarter" idx="18"/>
          </p:nvPr>
        </p:nvSpPr>
        <p:spPr>
          <a:xfrm>
            <a:off x="529417" y="5319684"/>
            <a:ext cx="4033448" cy="270584"/>
          </a:xfrm>
        </p:spPr>
        <p:txBody>
          <a:bodyPr/>
          <a:lstStyle/>
          <a:p>
            <a:r>
              <a:rPr lang="en-US" sz="1200" noProof="0" dirty="0"/>
              <a:t>Source: Adapted from Pew Research Center.</a:t>
            </a:r>
          </a:p>
        </p:txBody>
      </p:sp>
      <p:sp>
        <p:nvSpPr>
          <p:cNvPr id="8" name="Text Placeholder 8"/>
          <p:cNvSpPr>
            <a:spLocks noGrp="1"/>
          </p:cNvSpPr>
          <p:nvPr>
            <p:ph type="body" sz="quarter" idx="13"/>
          </p:nvPr>
        </p:nvSpPr>
        <p:spPr>
          <a:xfrm>
            <a:off x="3002757" y="6313488"/>
            <a:ext cx="3138487" cy="220662"/>
          </a:xfrm>
        </p:spPr>
        <p:txBody>
          <a:bodyPr/>
          <a:lstStyle/>
          <a:p>
            <a:r>
              <a:rPr lang="en-US" sz="1200" noProof="0" dirty="0">
                <a:hlinkClick r:id="rId4"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2512154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Pareto Charts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314091"/>
          </a:xfrm>
        </p:spPr>
        <p:txBody>
          <a:bodyPr vert="vert" rIns="0"/>
          <a:lstStyle/>
          <a:p>
            <a:pPr marL="1025525" indent="-1025525"/>
            <a:r>
              <a:rPr lang="en-US" b="1" noProof="0" dirty="0"/>
              <a:t>L</a:t>
            </a:r>
            <a:r>
              <a:rPr lang="en-US" sz="100" b="1" noProof="0" dirty="0"/>
              <a:t> </a:t>
            </a:r>
            <a:r>
              <a:rPr lang="en-US" b="1" noProof="0" dirty="0"/>
              <a:t>O 3.6</a:t>
            </a:r>
          </a:p>
        </p:txBody>
      </p:sp>
      <p:sp>
        <p:nvSpPr>
          <p:cNvPr id="7" name="Content Placeholder 6"/>
          <p:cNvSpPr>
            <a:spLocks noGrp="1"/>
          </p:cNvSpPr>
          <p:nvPr>
            <p:ph sz="quarter" idx="14"/>
          </p:nvPr>
        </p:nvSpPr>
        <p:spPr>
          <a:xfrm>
            <a:off x="342900" y="1260476"/>
            <a:ext cx="4366260" cy="4806950"/>
          </a:xfrm>
        </p:spPr>
        <p:txBody>
          <a:bodyPr/>
          <a:lstStyle/>
          <a:p>
            <a:pPr marL="292608" indent="-292608">
              <a:buFont typeface="Arial" panose="020B0604020202020204" pitchFamily="34" charset="0"/>
              <a:buChar char="•"/>
            </a:pPr>
            <a:r>
              <a:rPr lang="en-US" noProof="0" dirty="0"/>
              <a:t>Special type of column chart commonly used in quality management to display the frequency of defects or errors of different types.</a:t>
            </a:r>
          </a:p>
          <a:p>
            <a:pPr marL="292608" indent="-292608">
              <a:buFont typeface="Arial" panose="020B0604020202020204" pitchFamily="34" charset="0"/>
              <a:buChar char="•"/>
            </a:pPr>
            <a:r>
              <a:rPr lang="en-US" noProof="0" dirty="0"/>
              <a:t>Categories are displayed in </a:t>
            </a:r>
            <a:r>
              <a:rPr lang="en-US" i="1" noProof="0" dirty="0"/>
              <a:t>descending</a:t>
            </a:r>
            <a:r>
              <a:rPr lang="en-US" noProof="0" dirty="0"/>
              <a:t> order of frequency.</a:t>
            </a:r>
          </a:p>
          <a:p>
            <a:pPr marL="292608" indent="-292608">
              <a:buFont typeface="Arial" panose="020B0604020202020204" pitchFamily="34" charset="0"/>
              <a:buChar char="•"/>
            </a:pPr>
            <a:r>
              <a:rPr lang="en-US" noProof="0" dirty="0"/>
              <a:t>Focus on </a:t>
            </a:r>
            <a:r>
              <a:rPr lang="en-US" i="1" noProof="0" dirty="0"/>
              <a:t>significant</a:t>
            </a:r>
            <a:r>
              <a:rPr lang="en-US" noProof="0" dirty="0"/>
              <a:t> </a:t>
            </a:r>
            <a:r>
              <a:rPr lang="en-US" i="1" noProof="0" dirty="0"/>
              <a:t>few</a:t>
            </a:r>
            <a:r>
              <a:rPr lang="en-US" noProof="0" dirty="0"/>
              <a:t> (that is, few categories that account for most defects or errors).</a:t>
            </a:r>
          </a:p>
        </p:txBody>
      </p:sp>
      <p:pic>
        <p:nvPicPr>
          <p:cNvPr id="4" name="Picture 3" descr="A Pareto chart titled ‘Concession Stand Customer Complaints’. "/>
          <p:cNvPicPr>
            <a:picLocks noChangeAspect="1"/>
          </p:cNvPicPr>
          <p:nvPr/>
        </p:nvPicPr>
        <p:blipFill>
          <a:blip r:embed="rId2"/>
          <a:stretch>
            <a:fillRect/>
          </a:stretch>
        </p:blipFill>
        <p:spPr>
          <a:xfrm>
            <a:off x="4887635" y="1508903"/>
            <a:ext cx="3879768" cy="2956275"/>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40399083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Stacked Column Chart</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3.6</a:t>
            </a:r>
          </a:p>
        </p:txBody>
      </p:sp>
      <p:sp>
        <p:nvSpPr>
          <p:cNvPr id="7" name="Content Placeholder 6"/>
          <p:cNvSpPr>
            <a:spLocks noGrp="1"/>
          </p:cNvSpPr>
          <p:nvPr>
            <p:ph sz="quarter" idx="14"/>
          </p:nvPr>
        </p:nvSpPr>
        <p:spPr>
          <a:xfrm>
            <a:off x="342900" y="1260475"/>
            <a:ext cx="8191500" cy="1273175"/>
          </a:xfrm>
        </p:spPr>
        <p:txBody>
          <a:bodyPr/>
          <a:lstStyle/>
          <a:p>
            <a:pPr marL="292608" indent="-292608">
              <a:buFont typeface="Arial" panose="020B0604020202020204" pitchFamily="34" charset="0"/>
              <a:buChar char="•"/>
            </a:pPr>
            <a:r>
              <a:rPr lang="en-US" noProof="0" dirty="0"/>
              <a:t>Bar height with the sum of several subtotals. Areas may be compared by color to show patterns in the subgroups and total.</a:t>
            </a:r>
          </a:p>
        </p:txBody>
      </p:sp>
      <p:pic>
        <p:nvPicPr>
          <p:cNvPr id="4" name="Picture 3" descr="A stacked column titled Medical School Applicants plots the values in the Y axis which ranges from 0 to 60,000 with an increments of 10,000 against the years between 2005 and 2020 with 5 years increments for women and men. The graph shows the followind data: 2005: women: 18, 625, men: 18,747. In 2010: women: 20,252 men: 22,013. In 2015: women 23,019 men: 26,455. In 2020 women: 27,848 men: 25,494."/>
          <p:cNvPicPr>
            <a:picLocks noChangeAspect="1"/>
          </p:cNvPicPr>
          <p:nvPr/>
        </p:nvPicPr>
        <p:blipFill>
          <a:blip r:embed="rId2"/>
          <a:stretch>
            <a:fillRect/>
          </a:stretch>
        </p:blipFill>
        <p:spPr>
          <a:xfrm>
            <a:off x="2367002" y="3038938"/>
            <a:ext cx="4531915" cy="3035644"/>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32</a:t>
            </a:fld>
            <a:endParaRPr lang="en-US" dirty="0"/>
          </a:p>
        </p:txBody>
      </p:sp>
    </p:spTree>
    <p:extLst>
      <p:ext uri="{BB962C8B-B14F-4D97-AF65-F5344CB8AC3E}">
        <p14:creationId xmlns:p14="http://schemas.microsoft.com/office/powerpoint/2010/main" val="2611818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Autofit/>
          </a:bodyPr>
          <a:lstStyle/>
          <a:p>
            <a:r>
              <a:rPr lang="en-US" sz="3200" noProof="0" dirty="0"/>
              <a:t>Tips for Effective Bar and Column Charts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3.6</a:t>
            </a:r>
          </a:p>
        </p:txBody>
      </p:sp>
      <p:sp>
        <p:nvSpPr>
          <p:cNvPr id="7" name="Content Placeholder 6"/>
          <p:cNvSpPr>
            <a:spLocks noGrp="1"/>
          </p:cNvSpPr>
          <p:nvPr>
            <p:ph sz="quarter" idx="14"/>
          </p:nvPr>
        </p:nvSpPr>
        <p:spPr>
          <a:xfrm>
            <a:off x="342900" y="1260475"/>
            <a:ext cx="8191500" cy="5323205"/>
          </a:xfrm>
        </p:spPr>
        <p:txBody>
          <a:bodyPr/>
          <a:lstStyle/>
          <a:p>
            <a:pPr marL="402336" indent="-402336">
              <a:buFont typeface="+mj-lt"/>
              <a:buAutoNum type="arabicPeriod"/>
            </a:pPr>
            <a:r>
              <a:rPr lang="en-US" noProof="0" dirty="0"/>
              <a:t>The numerical variable of interest usually is shown with vertical bars on the </a:t>
            </a:r>
            <a:r>
              <a:rPr lang="en-US" i="1" noProof="0" dirty="0"/>
              <a:t>Y</a:t>
            </a:r>
            <a:r>
              <a:rPr lang="en-US" noProof="0" dirty="0"/>
              <a:t>-axis.</a:t>
            </a:r>
          </a:p>
          <a:p>
            <a:pPr marL="402336" indent="-402336">
              <a:buFont typeface="+mj-lt"/>
              <a:buAutoNum type="arabicPeriod"/>
            </a:pPr>
            <a:r>
              <a:rPr lang="en-US" noProof="0" dirty="0"/>
              <a:t>If the quantity displayed is a time series, the category labels (For example, years) are displayed on the horizontal </a:t>
            </a:r>
            <a:r>
              <a:rPr lang="en-US" i="1" noProof="0" dirty="0"/>
              <a:t>X</a:t>
            </a:r>
            <a:r>
              <a:rPr lang="en-US" noProof="0" dirty="0"/>
              <a:t>-axis with time increasing from left to right.</a:t>
            </a:r>
          </a:p>
          <a:p>
            <a:pPr marL="402336" indent="-402336">
              <a:buFont typeface="+mj-lt"/>
              <a:buAutoNum type="arabicPeriod"/>
            </a:pPr>
            <a:r>
              <a:rPr lang="en-US" noProof="0" dirty="0"/>
              <a:t>The height or length of each bar should be proportional to the quantity displayed. This is easy because most software packages default to a zero origin on a bar graph.</a:t>
            </a:r>
          </a:p>
          <a:p>
            <a:pPr marL="402336" indent="-402336">
              <a:buFont typeface="+mj-lt"/>
              <a:buAutoNum type="arabicPeriod"/>
            </a:pPr>
            <a:r>
              <a:rPr lang="en-US" noProof="0" dirty="0"/>
              <a:t>Add numerical values at the top of each bar, unless they would impair legibility.</a:t>
            </a:r>
          </a:p>
          <a:p>
            <a:pPr marL="402336" indent="-402336">
              <a:buFont typeface="+mj-lt"/>
              <a:buAutoNum type="arabicPeriod"/>
            </a:pPr>
            <a:r>
              <a:rPr lang="en-US" noProof="0" dirty="0"/>
              <a:t>Bar scale position is harder to read on 3D charts; 2D charts are preferred.</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33</a:t>
            </a:fld>
            <a:endParaRPr lang="en-US" dirty="0"/>
          </a:p>
        </p:txBody>
      </p:sp>
    </p:spTree>
    <p:extLst>
      <p:ext uri="{BB962C8B-B14F-4D97-AF65-F5344CB8AC3E}">
        <p14:creationId xmlns:p14="http://schemas.microsoft.com/office/powerpoint/2010/main" val="2358917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Pie Charts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3.7</a:t>
            </a:r>
          </a:p>
        </p:txBody>
      </p:sp>
      <p:sp>
        <p:nvSpPr>
          <p:cNvPr id="7" name="Content Placeholder 6"/>
          <p:cNvSpPr>
            <a:spLocks noGrp="1"/>
          </p:cNvSpPr>
          <p:nvPr>
            <p:ph sz="quarter" idx="14"/>
          </p:nvPr>
        </p:nvSpPr>
        <p:spPr>
          <a:xfrm>
            <a:off x="342900" y="1260475"/>
            <a:ext cx="8191500" cy="3067685"/>
          </a:xfrm>
        </p:spPr>
        <p:txBody>
          <a:bodyPr/>
          <a:lstStyle/>
          <a:p>
            <a:pPr marL="292608" indent="-292608">
              <a:buFont typeface="Arial" panose="020B0604020202020204" pitchFamily="34" charset="0"/>
              <a:buChar char="•"/>
            </a:pPr>
            <a:r>
              <a:rPr lang="en-US" noProof="0" dirty="0"/>
              <a:t>A pie chart can only convey a general idea of the data.</a:t>
            </a:r>
          </a:p>
          <a:p>
            <a:pPr marL="292608" indent="-292608">
              <a:buFont typeface="Arial" panose="020B0604020202020204" pitchFamily="34" charset="0"/>
              <a:buChar char="•"/>
            </a:pPr>
            <a:r>
              <a:rPr lang="en-US" noProof="0" dirty="0"/>
              <a:t>Pie charts should be used to portray data which sum to a total (For example, percent market shares).</a:t>
            </a:r>
          </a:p>
          <a:p>
            <a:pPr marL="292608" indent="-292608">
              <a:buFont typeface="Arial" panose="020B0604020202020204" pitchFamily="34" charset="0"/>
              <a:buChar char="•"/>
            </a:pPr>
            <a:r>
              <a:rPr lang="en-US" noProof="0" dirty="0"/>
              <a:t>A pie chart should only have a few (that is, 2 to 5) slices, each slice can be labeled with data values or percents.</a:t>
            </a:r>
          </a:p>
          <a:p>
            <a:pPr marL="292608" indent="-292608">
              <a:buFont typeface="Arial" panose="020B0604020202020204" pitchFamily="34" charset="0"/>
              <a:buChar char="•"/>
            </a:pPr>
            <a:r>
              <a:rPr lang="en-US" noProof="0" dirty="0"/>
              <a:t>An alternative to display parts of a whole is Excel’s hierarchy chart.</a:t>
            </a:r>
          </a:p>
        </p:txBody>
      </p:sp>
      <p:pic>
        <p:nvPicPr>
          <p:cNvPr id="9" name="Picture 8" descr="A description of two charts.">
            <a:extLst>
              <a:ext uri="{FF2B5EF4-FFF2-40B4-BE49-F238E27FC236}">
                <a16:creationId xmlns:a16="http://schemas.microsoft.com/office/drawing/2014/main" id="{1C2D4F75-07B3-DDA8-F15F-EE114A232276}"/>
              </a:ext>
            </a:extLst>
          </p:cNvPr>
          <p:cNvPicPr>
            <a:picLocks noChangeAspect="1"/>
          </p:cNvPicPr>
          <p:nvPr/>
        </p:nvPicPr>
        <p:blipFill>
          <a:blip r:embed="rId2"/>
          <a:stretch>
            <a:fillRect/>
          </a:stretch>
        </p:blipFill>
        <p:spPr>
          <a:xfrm>
            <a:off x="917131" y="4415461"/>
            <a:ext cx="7309738" cy="1725318"/>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18874143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Pie Charts </a:t>
            </a:r>
            <a:r>
              <a:rPr lang="en-US" sz="1000" b="0" noProof="0" dirty="0"/>
              <a:t>2</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 O 3.7</a:t>
            </a:r>
          </a:p>
        </p:txBody>
      </p:sp>
      <p:sp>
        <p:nvSpPr>
          <p:cNvPr id="7" name="Content Placeholder 6"/>
          <p:cNvSpPr>
            <a:spLocks noGrp="1"/>
          </p:cNvSpPr>
          <p:nvPr>
            <p:ph sz="quarter" idx="14"/>
          </p:nvPr>
        </p:nvSpPr>
        <p:spPr>
          <a:xfrm>
            <a:off x="342900" y="1260476"/>
            <a:ext cx="8191500" cy="5111750"/>
          </a:xfrm>
        </p:spPr>
        <p:txBody>
          <a:bodyPr/>
          <a:lstStyle/>
          <a:p>
            <a:r>
              <a:rPr lang="en-US" b="1" noProof="0" dirty="0"/>
              <a:t>Common Pie Chart Errors:</a:t>
            </a:r>
          </a:p>
          <a:p>
            <a:pPr marL="292608" indent="-292608">
              <a:buFont typeface="Arial" panose="020B0604020202020204" pitchFamily="34" charset="0"/>
              <a:buChar char="•"/>
            </a:pPr>
            <a:r>
              <a:rPr lang="en-US" noProof="0" dirty="0"/>
              <a:t>Pie charts can only convey a general idea of the data values.</a:t>
            </a:r>
          </a:p>
          <a:p>
            <a:pPr marL="292608" indent="-292608">
              <a:buFont typeface="Arial" panose="020B0604020202020204" pitchFamily="34" charset="0"/>
              <a:buChar char="•"/>
            </a:pPr>
            <a:r>
              <a:rPr lang="en-US" noProof="0" dirty="0"/>
              <a:t>Pie charts are ineffective when they have too many slices.</a:t>
            </a:r>
          </a:p>
          <a:p>
            <a:pPr marL="292608" indent="-292608">
              <a:buFont typeface="Arial" panose="020B0604020202020204" pitchFamily="34" charset="0"/>
              <a:buChar char="•"/>
            </a:pPr>
            <a:r>
              <a:rPr lang="en-US" noProof="0" dirty="0"/>
              <a:t>Pie chart data must represent </a:t>
            </a:r>
            <a:r>
              <a:rPr lang="en-US" i="1" noProof="0" dirty="0"/>
              <a:t>parts of a whole</a:t>
            </a:r>
            <a:r>
              <a:rPr lang="en-US" noProof="0" dirty="0"/>
              <a:t> (For example, percent market share).</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1181058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Scatter Plots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3.8</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noProof="0" dirty="0"/>
              <a:t>Scatter plots can convey patterns in data pairs that would not be apparent from a table.</a:t>
            </a:r>
          </a:p>
          <a:p>
            <a:pPr marL="292608" indent="-292608">
              <a:buFont typeface="Arial" panose="020B0604020202020204" pitchFamily="34" charset="0"/>
              <a:buChar char="•"/>
            </a:pPr>
            <a:r>
              <a:rPr lang="en-US" noProof="0" dirty="0"/>
              <a:t>A scatter plot is a starting point for bivariate data analysis in which we investigate the association and relationship between two quantitative variables.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1580212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542919A-27CA-69C7-AC70-C7327566E1F4}"/>
              </a:ext>
            </a:extLst>
          </p:cNvPr>
          <p:cNvSpPr>
            <a:spLocks noGrp="1"/>
          </p:cNvSpPr>
          <p:nvPr>
            <p:ph type="title"/>
          </p:nvPr>
        </p:nvSpPr>
        <p:spPr>
          <a:xfrm>
            <a:off x="342900" y="192490"/>
            <a:ext cx="7839075" cy="903231"/>
          </a:xfrm>
        </p:spPr>
        <p:txBody>
          <a:bodyPr>
            <a:normAutofit/>
          </a:bodyPr>
          <a:lstStyle/>
          <a:p>
            <a:r>
              <a:rPr lang="en-US" sz="3600" noProof="0" dirty="0"/>
              <a:t>Scatter Plots </a:t>
            </a:r>
            <a:r>
              <a:rPr lang="en-US" sz="1000" b="0" noProof="0" dirty="0"/>
              <a:t>2</a:t>
            </a:r>
            <a:endParaRPr lang="en-US" sz="1000" noProof="0" dirty="0"/>
          </a:p>
        </p:txBody>
      </p:sp>
      <p:sp>
        <p:nvSpPr>
          <p:cNvPr id="4" name="Content Placeholder 2">
            <a:extLst>
              <a:ext uri="{FF2B5EF4-FFF2-40B4-BE49-F238E27FC236}">
                <a16:creationId xmlns:a16="http://schemas.microsoft.com/office/drawing/2014/main" id="{7E3C4622-1DFB-56E5-1D5B-1BE61B472A7A}"/>
              </a:ext>
            </a:extLst>
          </p:cNvPr>
          <p:cNvSpPr>
            <a:spLocks noGrp="1"/>
          </p:cNvSpPr>
          <p:nvPr>
            <p:ph sz="quarter" idx="11"/>
          </p:nvPr>
        </p:nvSpPr>
        <p:spPr>
          <a:xfrm>
            <a:off x="8572500" y="87072"/>
            <a:ext cx="457200" cy="1114065"/>
          </a:xfrm>
        </p:spPr>
        <p:txBody>
          <a:bodyPr vert="vert" rIns="0"/>
          <a:lstStyle/>
          <a:p>
            <a:pPr marL="1025525" indent="-1025525"/>
            <a:r>
              <a:rPr lang="en-US" b="1" noProof="0" dirty="0"/>
              <a:t>L O 3.8</a:t>
            </a:r>
          </a:p>
        </p:txBody>
      </p:sp>
      <p:sp>
        <p:nvSpPr>
          <p:cNvPr id="14" name="Content Placeholder 3">
            <a:extLst>
              <a:ext uri="{FF2B5EF4-FFF2-40B4-BE49-F238E27FC236}">
                <a16:creationId xmlns:a16="http://schemas.microsoft.com/office/drawing/2014/main" id="{448519FA-9AEB-2FD2-93F6-81553AE63958}"/>
              </a:ext>
            </a:extLst>
          </p:cNvPr>
          <p:cNvSpPr>
            <a:spLocks noGrp="1"/>
          </p:cNvSpPr>
          <p:nvPr>
            <p:ph sz="quarter" idx="14"/>
          </p:nvPr>
        </p:nvSpPr>
        <p:spPr>
          <a:xfrm>
            <a:off x="342900" y="1201137"/>
            <a:ext cx="8191500" cy="2370013"/>
          </a:xfrm>
        </p:spPr>
        <p:txBody>
          <a:bodyPr/>
          <a:lstStyle/>
          <a:p>
            <a:r>
              <a:rPr lang="en-US" sz="2000" noProof="0" dirty="0"/>
              <a:t>Figure 3.11 shows a scatter plot with life expectancy on the </a:t>
            </a:r>
            <a:r>
              <a:rPr lang="en-US" sz="2000" i="1" noProof="0" dirty="0"/>
              <a:t>X</a:t>
            </a:r>
            <a:r>
              <a:rPr lang="en-US" sz="2000" noProof="0" dirty="0"/>
              <a:t>-axis and birth rates on the </a:t>
            </a:r>
            <a:r>
              <a:rPr lang="en-US" sz="2000" i="1" noProof="0" dirty="0"/>
              <a:t>Y</a:t>
            </a:r>
            <a:r>
              <a:rPr lang="en-US" sz="2000" noProof="0" dirty="0"/>
              <a:t>-axis. In this illustration, there seems to be an association between </a:t>
            </a:r>
            <a:r>
              <a:rPr lang="en-US" sz="2000" i="1" noProof="0" dirty="0"/>
              <a:t>X</a:t>
            </a:r>
            <a:r>
              <a:rPr lang="en-US" sz="2000" noProof="0" dirty="0"/>
              <a:t> and </a:t>
            </a:r>
            <a:r>
              <a:rPr lang="en-US" sz="2000" i="1" noProof="0" dirty="0"/>
              <a:t>Y.</a:t>
            </a:r>
            <a:r>
              <a:rPr lang="en-US" sz="2000" noProof="0" dirty="0"/>
              <a:t> That is, nations with higher birth rates tend to have lower life expectancy (and vice versa). No cause-and-effect relationship is implied because, in this example, both variables could be influenced by a third variable that is not mentioned (For example, G</a:t>
            </a:r>
            <a:r>
              <a:rPr lang="en-US" sz="100" noProof="0" dirty="0"/>
              <a:t> </a:t>
            </a:r>
            <a:r>
              <a:rPr lang="en-US" sz="2000" noProof="0" dirty="0"/>
              <a:t>D</a:t>
            </a:r>
            <a:r>
              <a:rPr lang="en-US" sz="100" noProof="0" dirty="0"/>
              <a:t> </a:t>
            </a:r>
            <a:r>
              <a:rPr lang="en-US" sz="2000" noProof="0" dirty="0"/>
              <a:t>P per capita).</a:t>
            </a:r>
          </a:p>
        </p:txBody>
      </p:sp>
      <p:sp>
        <p:nvSpPr>
          <p:cNvPr id="15" name="Content Placeholder 4">
            <a:extLst>
              <a:ext uri="{FF2B5EF4-FFF2-40B4-BE49-F238E27FC236}">
                <a16:creationId xmlns:a16="http://schemas.microsoft.com/office/drawing/2014/main" id="{57C1020B-3201-E404-2CAE-661E483AAFCE}"/>
              </a:ext>
            </a:extLst>
          </p:cNvPr>
          <p:cNvSpPr>
            <a:spLocks noGrp="1"/>
          </p:cNvSpPr>
          <p:nvPr>
            <p:ph sz="quarter" idx="15"/>
          </p:nvPr>
        </p:nvSpPr>
        <p:spPr>
          <a:xfrm>
            <a:off x="342900" y="4124325"/>
            <a:ext cx="1600200" cy="419100"/>
          </a:xfrm>
        </p:spPr>
        <p:txBody>
          <a:bodyPr/>
          <a:lstStyle/>
          <a:p>
            <a:r>
              <a:rPr lang="en-US" sz="2000" b="1" noProof="0" dirty="0"/>
              <a:t>Figure: 3.11</a:t>
            </a:r>
          </a:p>
        </p:txBody>
      </p:sp>
      <p:sp>
        <p:nvSpPr>
          <p:cNvPr id="2" name="Content Placeholder 1">
            <a:extLst>
              <a:ext uri="{FF2B5EF4-FFF2-40B4-BE49-F238E27FC236}">
                <a16:creationId xmlns:a16="http://schemas.microsoft.com/office/drawing/2014/main" id="{CD2A70D9-6EA3-4028-91B8-66818B95DE0E}"/>
              </a:ext>
            </a:extLst>
          </p:cNvPr>
          <p:cNvSpPr>
            <a:spLocks noGrp="1"/>
          </p:cNvSpPr>
          <p:nvPr>
            <p:ph sz="quarter" idx="16"/>
          </p:nvPr>
        </p:nvSpPr>
        <p:spPr>
          <a:xfrm>
            <a:off x="2463087" y="3798150"/>
            <a:ext cx="4838699" cy="266729"/>
          </a:xfrm>
        </p:spPr>
        <p:txBody>
          <a:bodyPr/>
          <a:lstStyle/>
          <a:p>
            <a:r>
              <a:rPr lang="en-US" sz="1200" b="1" noProof="0" dirty="0"/>
              <a:t>Scatter Plot of Birth Rates and Life Expectancy (</a:t>
            </a:r>
            <a:r>
              <a:rPr lang="en-US" sz="1200" b="1" i="1" noProof="0" dirty="0"/>
              <a:t>n</a:t>
            </a:r>
            <a:r>
              <a:rPr lang="en-US" sz="1200" b="1" noProof="0" dirty="0"/>
              <a:t> = 153 nations)</a:t>
            </a:r>
          </a:p>
        </p:txBody>
      </p:sp>
      <p:pic>
        <p:nvPicPr>
          <p:cNvPr id="13" name="Picture 12">
            <a:extLst>
              <a:ext uri="{FF2B5EF4-FFF2-40B4-BE49-F238E27FC236}">
                <a16:creationId xmlns:a16="http://schemas.microsoft.com/office/drawing/2014/main" id="{9A265AA1-817E-4183-A1C3-03F3D4E3369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293623" y="3806778"/>
            <a:ext cx="308722" cy="235604"/>
          </a:xfrm>
          <a:prstGeom prst="rect">
            <a:avLst/>
          </a:prstGeom>
        </p:spPr>
      </p:pic>
      <p:sp>
        <p:nvSpPr>
          <p:cNvPr id="3" name="Content Placeholder 2">
            <a:extLst>
              <a:ext uri="{FF2B5EF4-FFF2-40B4-BE49-F238E27FC236}">
                <a16:creationId xmlns:a16="http://schemas.microsoft.com/office/drawing/2014/main" id="{7BC4A735-835D-4D1F-B4F2-F2452550EA53}"/>
              </a:ext>
            </a:extLst>
          </p:cNvPr>
          <p:cNvSpPr>
            <a:spLocks noGrp="1"/>
          </p:cNvSpPr>
          <p:nvPr>
            <p:ph sz="quarter" idx="17"/>
          </p:nvPr>
        </p:nvSpPr>
        <p:spPr>
          <a:xfrm>
            <a:off x="7667422" y="3773738"/>
            <a:ext cx="866978" cy="276448"/>
          </a:xfrm>
        </p:spPr>
        <p:txBody>
          <a:bodyPr/>
          <a:lstStyle/>
          <a:p>
            <a:r>
              <a:rPr lang="en-US" sz="1200" b="1" noProof="0" dirty="0" err="1">
                <a:solidFill>
                  <a:srgbClr val="C00000"/>
                </a:solidFill>
              </a:rPr>
              <a:t>BirthLife</a:t>
            </a:r>
            <a:endParaRPr lang="en-US" sz="1200" b="1" noProof="0" dirty="0">
              <a:solidFill>
                <a:srgbClr val="C00000"/>
              </a:solidFill>
            </a:endParaRPr>
          </a:p>
        </p:txBody>
      </p:sp>
      <p:pic>
        <p:nvPicPr>
          <p:cNvPr id="16" name="Picture 15" descr="A scatter plot that plots the birth rate per 1,000 against life expectancy in years.">
            <a:extLst>
              <a:ext uri="{FF2B5EF4-FFF2-40B4-BE49-F238E27FC236}">
                <a16:creationId xmlns:a16="http://schemas.microsoft.com/office/drawing/2014/main" id="{6CC26D61-8628-BE21-7094-6E72C8B99D50}"/>
              </a:ext>
            </a:extLst>
          </p:cNvPr>
          <p:cNvPicPr>
            <a:picLocks noChangeAspect="1"/>
          </p:cNvPicPr>
          <p:nvPr/>
        </p:nvPicPr>
        <p:blipFill rotWithShape="1">
          <a:blip r:embed="rId3"/>
          <a:srcRect t="15463"/>
          <a:stretch/>
        </p:blipFill>
        <p:spPr>
          <a:xfrm>
            <a:off x="2501187" y="4124325"/>
            <a:ext cx="5299866" cy="2003522"/>
          </a:xfrm>
          <a:prstGeom prst="rect">
            <a:avLst/>
          </a:prstGeom>
        </p:spPr>
      </p:pic>
      <p:sp>
        <p:nvSpPr>
          <p:cNvPr id="9" name="Text Placeholder 8">
            <a:extLst>
              <a:ext uri="{FF2B5EF4-FFF2-40B4-BE49-F238E27FC236}">
                <a16:creationId xmlns:a16="http://schemas.microsoft.com/office/drawing/2014/main" id="{3B49B481-82DC-A098-2AD3-BA0179C83C14}"/>
              </a:ext>
            </a:extLst>
          </p:cNvPr>
          <p:cNvSpPr>
            <a:spLocks noGrp="1"/>
          </p:cNvSpPr>
          <p:nvPr>
            <p:ph type="body" sz="quarter" idx="13"/>
          </p:nvPr>
        </p:nvSpPr>
        <p:spPr>
          <a:xfrm>
            <a:off x="2995613" y="6330435"/>
            <a:ext cx="3152775" cy="232290"/>
          </a:xfrm>
        </p:spPr>
        <p:txBody>
          <a:bodyPr/>
          <a:lstStyle/>
          <a:p>
            <a:r>
              <a:rPr lang="en-US" sz="1200" noProof="0" dirty="0">
                <a:hlinkClick r:id="rId4" action="ppaction://hlinksldjump"/>
              </a:rPr>
              <a:t>Access the text alternative for slide images.</a:t>
            </a:r>
          </a:p>
        </p:txBody>
      </p:sp>
      <p:sp>
        <p:nvSpPr>
          <p:cNvPr id="11" name="Slide Number Placeholder 10">
            <a:extLst>
              <a:ext uri="{FF2B5EF4-FFF2-40B4-BE49-F238E27FC236}">
                <a16:creationId xmlns:a16="http://schemas.microsoft.com/office/drawing/2014/main" id="{04FB51E3-1A36-9B6F-DCC8-3BF3126CCEF5}"/>
              </a:ext>
            </a:extLst>
          </p:cNvPr>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358255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Scatter Plots </a:t>
            </a:r>
            <a:r>
              <a:rPr lang="en-US" sz="1000" b="0" noProof="0" dirty="0"/>
              <a:t>3</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10"/>
            <a:ext cx="449580" cy="1202966"/>
          </a:xfrm>
        </p:spPr>
        <p:txBody>
          <a:bodyPr vert="vert" rIns="0"/>
          <a:lstStyle/>
          <a:p>
            <a:pPr marL="1025525" indent="-1025525"/>
            <a:r>
              <a:rPr lang="en-US" b="1" noProof="0" dirty="0"/>
              <a:t>L</a:t>
            </a:r>
            <a:r>
              <a:rPr lang="en-US" sz="100" b="1" noProof="0" dirty="0"/>
              <a:t> </a:t>
            </a:r>
            <a:r>
              <a:rPr lang="en-US" b="1" noProof="0" dirty="0"/>
              <a:t>O 3.8</a:t>
            </a:r>
          </a:p>
        </p:txBody>
      </p:sp>
      <p:sp>
        <p:nvSpPr>
          <p:cNvPr id="7" name="Content Placeholder 6"/>
          <p:cNvSpPr>
            <a:spLocks noGrp="1"/>
          </p:cNvSpPr>
          <p:nvPr>
            <p:ph sz="quarter" idx="14"/>
          </p:nvPr>
        </p:nvSpPr>
        <p:spPr>
          <a:xfrm>
            <a:off x="342900" y="1260475"/>
            <a:ext cx="8191500" cy="2168525"/>
          </a:xfrm>
        </p:spPr>
        <p:txBody>
          <a:bodyPr/>
          <a:lstStyle/>
          <a:p>
            <a:pPr marL="292608" indent="-292608">
              <a:buFont typeface="Arial" panose="020B0604020202020204" pitchFamily="34" charset="0"/>
              <a:buChar char="•"/>
            </a:pPr>
            <a:r>
              <a:rPr lang="en-US" noProof="0" dirty="0"/>
              <a:t>The figure below shows some scatter plot patterns similar to those that you might observe when you have a sample of (</a:t>
            </a:r>
            <a:r>
              <a:rPr lang="en-US" i="1" noProof="0" dirty="0"/>
              <a:t>X</a:t>
            </a:r>
            <a:r>
              <a:rPr lang="en-US" noProof="0" dirty="0"/>
              <a:t>, </a:t>
            </a:r>
            <a:r>
              <a:rPr lang="en-US" i="1" noProof="0" dirty="0"/>
              <a:t>Y</a:t>
            </a:r>
            <a:r>
              <a:rPr lang="en-US" noProof="0" dirty="0"/>
              <a:t>) data pairs.</a:t>
            </a:r>
          </a:p>
          <a:p>
            <a:pPr marL="292608" indent="-292608">
              <a:buFont typeface="Arial" panose="020B0604020202020204" pitchFamily="34" charset="0"/>
              <a:buChar char="•"/>
            </a:pPr>
            <a:r>
              <a:rPr lang="en-US" noProof="0" dirty="0"/>
              <a:t>A scatter plot can convey patterns in data pairs that would not be apparent from a table.</a:t>
            </a:r>
          </a:p>
        </p:txBody>
      </p:sp>
      <p:pic>
        <p:nvPicPr>
          <p:cNvPr id="4" name="Picture 3" descr="A chart displays six different types of scatter plots, each representing a unique correlation pattern between two variables."/>
          <p:cNvPicPr>
            <a:picLocks noChangeAspect="1"/>
          </p:cNvPicPr>
          <p:nvPr/>
        </p:nvPicPr>
        <p:blipFill>
          <a:blip r:embed="rId2"/>
          <a:stretch>
            <a:fillRect/>
          </a:stretch>
        </p:blipFill>
        <p:spPr>
          <a:xfrm>
            <a:off x="2511771" y="3847433"/>
            <a:ext cx="4242377" cy="2302573"/>
          </a:xfrm>
          <a:prstGeom prst="rect">
            <a:avLst/>
          </a:prstGeom>
        </p:spPr>
      </p:pic>
      <p:sp>
        <p:nvSpPr>
          <p:cNvPr id="9" name="Text Placeholder 8">
            <a:extLst>
              <a:ext uri="{FF2B5EF4-FFF2-40B4-BE49-F238E27FC236}">
                <a16:creationId xmlns:a16="http://schemas.microsoft.com/office/drawing/2014/main" id="{67E4B9F1-45D9-7A28-746D-E1931E7E1CB9}"/>
              </a:ext>
            </a:extLst>
          </p:cNvPr>
          <p:cNvSpPr>
            <a:spLocks noGrp="1"/>
          </p:cNvSpPr>
          <p:nvPr>
            <p:ph type="body" sz="quarter" idx="12"/>
          </p:nvPr>
        </p:nvSpPr>
        <p:spPr>
          <a:xfrm>
            <a:off x="2971558" y="6324600"/>
            <a:ext cx="3200885" cy="190500"/>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277627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Tables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3.9</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noProof="0" dirty="0"/>
              <a:t>Tables are the simplest form of data display.</a:t>
            </a:r>
          </a:p>
          <a:p>
            <a:pPr marL="292608" indent="-292608">
              <a:buFont typeface="Arial" panose="020B0604020202020204" pitchFamily="34" charset="0"/>
              <a:buChar char="•"/>
            </a:pPr>
            <a:r>
              <a:rPr lang="en-US" noProof="0" dirty="0"/>
              <a:t>By arranging numbers in rows and columns, their meaning can be enhanced so it can be understood at a glance.</a:t>
            </a:r>
          </a:p>
          <a:p>
            <a:pPr marL="292608" indent="-292608">
              <a:buFont typeface="Arial" panose="020B0604020202020204" pitchFamily="34" charset="0"/>
              <a:buChar char="•"/>
            </a:pPr>
            <a:r>
              <a:rPr lang="en-US" noProof="0" dirty="0"/>
              <a:t>Arrangement of data is in rows and columns to enhance meaning.</a:t>
            </a:r>
          </a:p>
          <a:p>
            <a:pPr marL="292608" indent="-292608">
              <a:buFont typeface="Arial" panose="020B0604020202020204" pitchFamily="34" charset="0"/>
              <a:buChar char="•"/>
            </a:pPr>
            <a:r>
              <a:rPr lang="en-US" noProof="0" dirty="0"/>
              <a:t>The data can be viewed by focusing on the time pattern (down the columns) or by comparing the variables (across the rows).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39</a:t>
            </a:fld>
            <a:endParaRPr lang="en-US" dirty="0"/>
          </a:p>
        </p:txBody>
      </p:sp>
    </p:spTree>
    <p:extLst>
      <p:ext uri="{BB962C8B-B14F-4D97-AF65-F5344CB8AC3E}">
        <p14:creationId xmlns:p14="http://schemas.microsoft.com/office/powerpoint/2010/main" val="30880497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Tables </a:t>
            </a:r>
            <a:r>
              <a:rPr lang="en-US" sz="1000" b="0" noProof="0" dirty="0"/>
              <a:t>2</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314091"/>
          </a:xfrm>
        </p:spPr>
        <p:txBody>
          <a:bodyPr vert="vert" rIns="0"/>
          <a:lstStyle/>
          <a:p>
            <a:pPr marL="1025525" indent="-1025525"/>
            <a:r>
              <a:rPr lang="en-US" b="1" noProof="0" dirty="0"/>
              <a:t>L</a:t>
            </a:r>
            <a:r>
              <a:rPr lang="en-US" sz="100" b="1" noProof="0" dirty="0"/>
              <a:t> </a:t>
            </a:r>
            <a:r>
              <a:rPr lang="en-US" b="1" noProof="0" dirty="0"/>
              <a:t>O 3.9</a:t>
            </a:r>
          </a:p>
        </p:txBody>
      </p:sp>
      <p:sp>
        <p:nvSpPr>
          <p:cNvPr id="7" name="Content Placeholder 6"/>
          <p:cNvSpPr>
            <a:spLocks noGrp="1"/>
          </p:cNvSpPr>
          <p:nvPr>
            <p:ph sz="quarter" idx="14"/>
          </p:nvPr>
        </p:nvSpPr>
        <p:spPr>
          <a:xfrm>
            <a:off x="342900" y="1260476"/>
            <a:ext cx="8191500" cy="544262"/>
          </a:xfrm>
        </p:spPr>
        <p:txBody>
          <a:bodyPr/>
          <a:lstStyle/>
          <a:p>
            <a:r>
              <a:rPr lang="en-US" noProof="0" dirty="0"/>
              <a:t>X</a:t>
            </a:r>
            <a:r>
              <a:rPr lang="en-US" sz="100" noProof="0" dirty="0"/>
              <a:t> </a:t>
            </a:r>
            <a:r>
              <a:rPr lang="en-US" noProof="0" dirty="0"/>
              <a:t>Y Bank Inc. Earning Summary (millions of dollars).</a:t>
            </a:r>
          </a:p>
        </p:txBody>
      </p:sp>
      <p:graphicFrame>
        <p:nvGraphicFramePr>
          <p:cNvPr id="8" name="Table 7"/>
          <p:cNvGraphicFramePr>
            <a:graphicFrameLocks noGrp="1"/>
          </p:cNvGraphicFramePr>
          <p:nvPr>
            <p:extLst>
              <p:ext uri="{D42A27DB-BD31-4B8C-83A1-F6EECF244321}">
                <p14:modId xmlns:p14="http://schemas.microsoft.com/office/powerpoint/2010/main" val="2248803802"/>
              </p:ext>
            </p:extLst>
          </p:nvPr>
        </p:nvGraphicFramePr>
        <p:xfrm>
          <a:off x="419100" y="1930400"/>
          <a:ext cx="8382000" cy="2595880"/>
        </p:xfrm>
        <a:graphic>
          <a:graphicData uri="http://schemas.openxmlformats.org/drawingml/2006/table">
            <a:tbl>
              <a:tblPr firstRow="1" bandRow="1">
                <a:tableStyleId>{5C22544A-7EE6-4342-B048-85BDC9FD1C3A}</a:tableStyleId>
              </a:tblPr>
              <a:tblGrid>
                <a:gridCol w="2644140">
                  <a:extLst>
                    <a:ext uri="{9D8B030D-6E8A-4147-A177-3AD203B41FA5}">
                      <a16:colId xmlns:a16="http://schemas.microsoft.com/office/drawing/2014/main" val="2875337025"/>
                    </a:ext>
                  </a:extLst>
                </a:gridCol>
                <a:gridCol w="1127760">
                  <a:extLst>
                    <a:ext uri="{9D8B030D-6E8A-4147-A177-3AD203B41FA5}">
                      <a16:colId xmlns:a16="http://schemas.microsoft.com/office/drawing/2014/main" val="4067363972"/>
                    </a:ext>
                  </a:extLst>
                </a:gridCol>
                <a:gridCol w="1158240">
                  <a:extLst>
                    <a:ext uri="{9D8B030D-6E8A-4147-A177-3AD203B41FA5}">
                      <a16:colId xmlns:a16="http://schemas.microsoft.com/office/drawing/2014/main" val="1158094022"/>
                    </a:ext>
                  </a:extLst>
                </a:gridCol>
                <a:gridCol w="1127760">
                  <a:extLst>
                    <a:ext uri="{9D8B030D-6E8A-4147-A177-3AD203B41FA5}">
                      <a16:colId xmlns:a16="http://schemas.microsoft.com/office/drawing/2014/main" val="1384647379"/>
                    </a:ext>
                  </a:extLst>
                </a:gridCol>
                <a:gridCol w="1143000">
                  <a:extLst>
                    <a:ext uri="{9D8B030D-6E8A-4147-A177-3AD203B41FA5}">
                      <a16:colId xmlns:a16="http://schemas.microsoft.com/office/drawing/2014/main" val="515231877"/>
                    </a:ext>
                  </a:extLst>
                </a:gridCol>
                <a:gridCol w="1181100">
                  <a:extLst>
                    <a:ext uri="{9D8B030D-6E8A-4147-A177-3AD203B41FA5}">
                      <a16:colId xmlns:a16="http://schemas.microsoft.com/office/drawing/2014/main" val="3853271221"/>
                    </a:ext>
                  </a:extLst>
                </a:gridCol>
              </a:tblGrid>
              <a:tr h="370840">
                <a:tc>
                  <a:txBody>
                    <a:bodyPr/>
                    <a:lstStyle/>
                    <a:p>
                      <a:endParaRPr lang="en-US" sz="1600" dirty="0"/>
                    </a:p>
                  </a:txBody>
                  <a:tcPr>
                    <a:solidFill>
                      <a:srgbClr val="C00000"/>
                    </a:solidFill>
                  </a:tcPr>
                </a:tc>
                <a:tc>
                  <a:txBody>
                    <a:bodyPr/>
                    <a:lstStyle/>
                    <a:p>
                      <a:r>
                        <a:rPr lang="en-US" sz="1600" dirty="0"/>
                        <a:t>Year 2020</a:t>
                      </a:r>
                    </a:p>
                  </a:txBody>
                  <a:tcPr>
                    <a:solidFill>
                      <a:srgbClr val="C00000"/>
                    </a:solidFill>
                  </a:tcPr>
                </a:tc>
                <a:tc>
                  <a:txBody>
                    <a:bodyPr/>
                    <a:lstStyle/>
                    <a:p>
                      <a:r>
                        <a:rPr lang="en-US" sz="1600" dirty="0"/>
                        <a:t>Year 2019</a:t>
                      </a:r>
                    </a:p>
                  </a:txBody>
                  <a:tcPr>
                    <a:solidFill>
                      <a:srgbClr val="C00000"/>
                    </a:solidFill>
                  </a:tcPr>
                </a:tc>
                <a:tc>
                  <a:txBody>
                    <a:bodyPr/>
                    <a:lstStyle/>
                    <a:p>
                      <a:r>
                        <a:rPr lang="en-US" sz="1600" dirty="0"/>
                        <a:t>Year 2018</a:t>
                      </a:r>
                    </a:p>
                  </a:txBody>
                  <a:tcPr>
                    <a:solidFill>
                      <a:srgbClr val="C00000"/>
                    </a:solidFill>
                  </a:tcPr>
                </a:tc>
                <a:tc>
                  <a:txBody>
                    <a:bodyPr/>
                    <a:lstStyle/>
                    <a:p>
                      <a:r>
                        <a:rPr lang="en-US" sz="1600" dirty="0"/>
                        <a:t>Year 2017</a:t>
                      </a:r>
                    </a:p>
                  </a:txBody>
                  <a:tcPr>
                    <a:solidFill>
                      <a:srgbClr val="C00000"/>
                    </a:solidFill>
                  </a:tcPr>
                </a:tc>
                <a:tc>
                  <a:txBody>
                    <a:bodyPr/>
                    <a:lstStyle/>
                    <a:p>
                      <a:r>
                        <a:rPr lang="en-US" sz="1600" dirty="0"/>
                        <a:t>Year 2016</a:t>
                      </a:r>
                    </a:p>
                  </a:txBody>
                  <a:tcPr>
                    <a:solidFill>
                      <a:srgbClr val="C00000"/>
                    </a:solidFill>
                  </a:tcPr>
                </a:tc>
                <a:extLst>
                  <a:ext uri="{0D108BD9-81ED-4DB2-BD59-A6C34878D82A}">
                    <a16:rowId xmlns:a16="http://schemas.microsoft.com/office/drawing/2014/main" val="652888938"/>
                  </a:ext>
                </a:extLst>
              </a:tr>
              <a:tr h="370840">
                <a:tc>
                  <a:txBody>
                    <a:bodyPr/>
                    <a:lstStyle/>
                    <a:p>
                      <a:r>
                        <a:rPr lang="en-US" sz="1600" dirty="0"/>
                        <a:t>Net interest income</a:t>
                      </a:r>
                    </a:p>
                  </a:txBody>
                  <a:tcPr/>
                </a:tc>
                <a:tc>
                  <a:txBody>
                    <a:bodyPr/>
                    <a:lstStyle/>
                    <a:p>
                      <a:pPr algn="r"/>
                      <a:r>
                        <a:rPr lang="en-US" sz="1600" dirty="0"/>
                        <a:t>2,306</a:t>
                      </a:r>
                    </a:p>
                  </a:txBody>
                  <a:tcPr/>
                </a:tc>
                <a:tc>
                  <a:txBody>
                    <a:bodyPr/>
                    <a:lstStyle/>
                    <a:p>
                      <a:pPr algn="r"/>
                      <a:r>
                        <a:rPr lang="en-US" sz="1600" dirty="0"/>
                        <a:t>2,025</a:t>
                      </a:r>
                    </a:p>
                  </a:txBody>
                  <a:tcPr/>
                </a:tc>
                <a:tc>
                  <a:txBody>
                    <a:bodyPr/>
                    <a:lstStyle/>
                    <a:p>
                      <a:pPr algn="r"/>
                      <a:r>
                        <a:rPr lang="en-US" sz="1600" dirty="0"/>
                        <a:t>1,805</a:t>
                      </a:r>
                    </a:p>
                  </a:txBody>
                  <a:tcPr/>
                </a:tc>
                <a:tc>
                  <a:txBody>
                    <a:bodyPr/>
                    <a:lstStyle/>
                    <a:p>
                      <a:pPr algn="r"/>
                      <a:r>
                        <a:rPr lang="en-US" sz="1600" dirty="0"/>
                        <a:t>1,772</a:t>
                      </a:r>
                    </a:p>
                  </a:txBody>
                  <a:tcPr/>
                </a:tc>
                <a:tc>
                  <a:txBody>
                    <a:bodyPr/>
                    <a:lstStyle/>
                    <a:p>
                      <a:pPr algn="r"/>
                      <a:r>
                        <a:rPr lang="en-US" sz="1600" dirty="0"/>
                        <a:t>1,652</a:t>
                      </a:r>
                    </a:p>
                  </a:txBody>
                  <a:tcPr/>
                </a:tc>
                <a:extLst>
                  <a:ext uri="{0D108BD9-81ED-4DB2-BD59-A6C34878D82A}">
                    <a16:rowId xmlns:a16="http://schemas.microsoft.com/office/drawing/2014/main" val="4007552159"/>
                  </a:ext>
                </a:extLst>
              </a:tr>
              <a:tr h="370840">
                <a:tc>
                  <a:txBody>
                    <a:bodyPr/>
                    <a:lstStyle/>
                    <a:p>
                      <a:r>
                        <a:rPr lang="en-US" sz="1600" dirty="0"/>
                        <a:t>Provision for credit losses</a:t>
                      </a:r>
                    </a:p>
                  </a:txBody>
                  <a:tcPr/>
                </a:tc>
                <a:tc>
                  <a:txBody>
                    <a:bodyPr/>
                    <a:lstStyle/>
                    <a:p>
                      <a:pPr algn="r"/>
                      <a:r>
                        <a:rPr lang="en-US" sz="1600" dirty="0"/>
                        <a:t>2</a:t>
                      </a:r>
                    </a:p>
                  </a:txBody>
                  <a:tcPr/>
                </a:tc>
                <a:tc>
                  <a:txBody>
                    <a:bodyPr/>
                    <a:lstStyle/>
                    <a:p>
                      <a:pPr algn="r"/>
                      <a:r>
                        <a:rPr lang="en-US" sz="1600" dirty="0"/>
                        <a:t>77</a:t>
                      </a:r>
                    </a:p>
                  </a:txBody>
                  <a:tcPr/>
                </a:tc>
                <a:tc>
                  <a:txBody>
                    <a:bodyPr/>
                    <a:lstStyle/>
                    <a:p>
                      <a:pPr algn="r"/>
                      <a:r>
                        <a:rPr lang="en-US" sz="1600" dirty="0"/>
                        <a:t>237</a:t>
                      </a:r>
                    </a:p>
                  </a:txBody>
                  <a:tcPr/>
                </a:tc>
                <a:tc>
                  <a:txBody>
                    <a:bodyPr/>
                    <a:lstStyle/>
                    <a:p>
                      <a:pPr algn="r"/>
                      <a:r>
                        <a:rPr lang="en-US" sz="1600" dirty="0"/>
                        <a:t>138</a:t>
                      </a:r>
                    </a:p>
                  </a:txBody>
                  <a:tcPr/>
                </a:tc>
                <a:tc>
                  <a:txBody>
                    <a:bodyPr/>
                    <a:lstStyle/>
                    <a:p>
                      <a:pPr algn="r"/>
                      <a:r>
                        <a:rPr lang="en-US" sz="1600" dirty="0"/>
                        <a:t>28</a:t>
                      </a:r>
                    </a:p>
                  </a:txBody>
                  <a:tcPr/>
                </a:tc>
                <a:extLst>
                  <a:ext uri="{0D108BD9-81ED-4DB2-BD59-A6C34878D82A}">
                    <a16:rowId xmlns:a16="http://schemas.microsoft.com/office/drawing/2014/main" val="880079984"/>
                  </a:ext>
                </a:extLst>
              </a:tr>
              <a:tr h="370840">
                <a:tc>
                  <a:txBody>
                    <a:bodyPr/>
                    <a:lstStyle/>
                    <a:p>
                      <a:r>
                        <a:rPr lang="en-US" sz="1600" dirty="0"/>
                        <a:t>Noninterest income</a:t>
                      </a:r>
                    </a:p>
                  </a:txBody>
                  <a:tcPr/>
                </a:tc>
                <a:tc>
                  <a:txBody>
                    <a:bodyPr/>
                    <a:lstStyle/>
                    <a:p>
                      <a:pPr algn="r"/>
                      <a:r>
                        <a:rPr lang="en-US" sz="1600" dirty="0"/>
                        <a:t>1,046</a:t>
                      </a:r>
                    </a:p>
                  </a:txBody>
                  <a:tcPr/>
                </a:tc>
                <a:tc>
                  <a:txBody>
                    <a:bodyPr/>
                    <a:lstStyle/>
                    <a:p>
                      <a:pPr algn="r"/>
                      <a:r>
                        <a:rPr lang="en-US" sz="1600" dirty="0"/>
                        <a:t>1,069</a:t>
                      </a:r>
                    </a:p>
                  </a:txBody>
                  <a:tcPr/>
                </a:tc>
                <a:tc>
                  <a:txBody>
                    <a:bodyPr/>
                    <a:lstStyle/>
                    <a:p>
                      <a:pPr algn="r"/>
                      <a:r>
                        <a:rPr lang="en-US" sz="1600" dirty="0"/>
                        <a:t>1,174</a:t>
                      </a:r>
                    </a:p>
                  </a:txBody>
                  <a:tcPr/>
                </a:tc>
                <a:tc>
                  <a:txBody>
                    <a:bodyPr/>
                    <a:lstStyle/>
                    <a:p>
                      <a:pPr algn="r"/>
                      <a:r>
                        <a:rPr lang="en-US" sz="1600" dirty="0"/>
                        <a:t>1,052</a:t>
                      </a:r>
                    </a:p>
                  </a:txBody>
                  <a:tcPr/>
                </a:tc>
                <a:tc>
                  <a:txBody>
                    <a:bodyPr/>
                    <a:lstStyle/>
                    <a:p>
                      <a:pPr algn="r"/>
                      <a:r>
                        <a:rPr lang="en-US" sz="1600" dirty="0"/>
                        <a:t>842</a:t>
                      </a:r>
                    </a:p>
                  </a:txBody>
                  <a:tcPr/>
                </a:tc>
                <a:extLst>
                  <a:ext uri="{0D108BD9-81ED-4DB2-BD59-A6C34878D82A}">
                    <a16:rowId xmlns:a16="http://schemas.microsoft.com/office/drawing/2014/main" val="1967566243"/>
                  </a:ext>
                </a:extLst>
              </a:tr>
              <a:tr h="370840">
                <a:tc>
                  <a:txBody>
                    <a:bodyPr/>
                    <a:lstStyle/>
                    <a:p>
                      <a:r>
                        <a:rPr lang="en-US" sz="1600" dirty="0"/>
                        <a:t>Noninterest expense</a:t>
                      </a:r>
                    </a:p>
                  </a:txBody>
                  <a:tcPr/>
                </a:tc>
                <a:tc>
                  <a:txBody>
                    <a:bodyPr/>
                    <a:lstStyle/>
                    <a:p>
                      <a:pPr algn="r"/>
                      <a:r>
                        <a:rPr lang="en-US" sz="1600" dirty="0"/>
                        <a:t>1,821</a:t>
                      </a:r>
                    </a:p>
                  </a:txBody>
                  <a:tcPr/>
                </a:tc>
                <a:tc>
                  <a:txBody>
                    <a:bodyPr/>
                    <a:lstStyle/>
                    <a:p>
                      <a:pPr algn="r"/>
                      <a:r>
                        <a:rPr lang="en-US" sz="1600" dirty="0"/>
                        <a:t>1,748</a:t>
                      </a:r>
                    </a:p>
                  </a:txBody>
                  <a:tcPr/>
                </a:tc>
                <a:tc>
                  <a:txBody>
                    <a:bodyPr/>
                    <a:lstStyle/>
                    <a:p>
                      <a:pPr algn="r"/>
                      <a:r>
                        <a:rPr lang="en-US" sz="1600" dirty="0"/>
                        <a:t>1,915</a:t>
                      </a:r>
                    </a:p>
                  </a:txBody>
                  <a:tcPr/>
                </a:tc>
                <a:tc>
                  <a:txBody>
                    <a:bodyPr/>
                    <a:lstStyle/>
                    <a:p>
                      <a:pPr algn="r"/>
                      <a:r>
                        <a:rPr lang="en-US" sz="1600" dirty="0"/>
                        <a:t>1,815</a:t>
                      </a:r>
                    </a:p>
                  </a:txBody>
                  <a:tcPr/>
                </a:tc>
                <a:tc>
                  <a:txBody>
                    <a:bodyPr/>
                    <a:lstStyle/>
                    <a:p>
                      <a:pPr algn="r"/>
                      <a:r>
                        <a:rPr lang="en-US" sz="1600" dirty="0"/>
                        <a:t>1,586</a:t>
                      </a:r>
                    </a:p>
                  </a:txBody>
                  <a:tcPr/>
                </a:tc>
                <a:extLst>
                  <a:ext uri="{0D108BD9-81ED-4DB2-BD59-A6C34878D82A}">
                    <a16:rowId xmlns:a16="http://schemas.microsoft.com/office/drawing/2014/main" val="1836065400"/>
                  </a:ext>
                </a:extLst>
              </a:tr>
              <a:tr h="370840">
                <a:tc>
                  <a:txBody>
                    <a:bodyPr/>
                    <a:lstStyle/>
                    <a:p>
                      <a:r>
                        <a:rPr lang="en-US" sz="1600" dirty="0"/>
                        <a:t>Provision for income taxes</a:t>
                      </a:r>
                    </a:p>
                  </a:txBody>
                  <a:tcPr/>
                </a:tc>
                <a:tc>
                  <a:txBody>
                    <a:bodyPr/>
                    <a:lstStyle/>
                    <a:p>
                      <a:pPr algn="r"/>
                      <a:r>
                        <a:rPr lang="en-US" sz="1600" dirty="0"/>
                        <a:t>307</a:t>
                      </a:r>
                    </a:p>
                  </a:txBody>
                  <a:tcPr/>
                </a:tc>
                <a:tc>
                  <a:txBody>
                    <a:bodyPr/>
                    <a:lstStyle/>
                    <a:p>
                      <a:pPr algn="r"/>
                      <a:r>
                        <a:rPr lang="en-US" sz="1600" dirty="0"/>
                        <a:t>518</a:t>
                      </a:r>
                    </a:p>
                  </a:txBody>
                  <a:tcPr/>
                </a:tc>
                <a:tc>
                  <a:txBody>
                    <a:bodyPr/>
                    <a:lstStyle/>
                    <a:p>
                      <a:pPr algn="r"/>
                      <a:r>
                        <a:rPr lang="en-US" sz="1600" dirty="0"/>
                        <a:t>178</a:t>
                      </a:r>
                    </a:p>
                  </a:txBody>
                  <a:tcPr/>
                </a:tc>
                <a:tc>
                  <a:txBody>
                    <a:bodyPr/>
                    <a:lstStyle/>
                    <a:p>
                      <a:pPr algn="r"/>
                      <a:r>
                        <a:rPr lang="en-US" sz="1600" dirty="0"/>
                        <a:t>244</a:t>
                      </a:r>
                    </a:p>
                  </a:txBody>
                  <a:tcPr/>
                </a:tc>
                <a:tc>
                  <a:txBody>
                    <a:bodyPr/>
                    <a:lstStyle/>
                    <a:p>
                      <a:pPr algn="r"/>
                      <a:r>
                        <a:rPr lang="en-US" sz="1600" dirty="0"/>
                        <a:t>292</a:t>
                      </a:r>
                    </a:p>
                  </a:txBody>
                  <a:tcPr/>
                </a:tc>
                <a:extLst>
                  <a:ext uri="{0D108BD9-81ED-4DB2-BD59-A6C34878D82A}">
                    <a16:rowId xmlns:a16="http://schemas.microsoft.com/office/drawing/2014/main" val="2384529768"/>
                  </a:ext>
                </a:extLst>
              </a:tr>
              <a:tr h="370840">
                <a:tc>
                  <a:txBody>
                    <a:bodyPr/>
                    <a:lstStyle/>
                    <a:p>
                      <a:r>
                        <a:rPr lang="en-US" sz="1600" dirty="0"/>
                        <a:t>Net income</a:t>
                      </a:r>
                    </a:p>
                  </a:txBody>
                  <a:tcPr/>
                </a:tc>
                <a:tc>
                  <a:txBody>
                    <a:bodyPr/>
                    <a:lstStyle/>
                    <a:p>
                      <a:pPr algn="r"/>
                      <a:r>
                        <a:rPr lang="en-US" sz="1600" dirty="0"/>
                        <a:t>1,185</a:t>
                      </a:r>
                    </a:p>
                  </a:txBody>
                  <a:tcPr/>
                </a:tc>
                <a:tc>
                  <a:txBody>
                    <a:bodyPr/>
                    <a:lstStyle/>
                    <a:p>
                      <a:pPr algn="r"/>
                      <a:r>
                        <a:rPr lang="en-US" sz="1600" dirty="0"/>
                        <a:t>735</a:t>
                      </a:r>
                    </a:p>
                  </a:txBody>
                  <a:tcPr/>
                </a:tc>
                <a:tc>
                  <a:txBody>
                    <a:bodyPr/>
                    <a:lstStyle/>
                    <a:p>
                      <a:pPr algn="r"/>
                      <a:r>
                        <a:rPr lang="en-US" sz="1600" dirty="0"/>
                        <a:t>462</a:t>
                      </a:r>
                    </a:p>
                  </a:txBody>
                  <a:tcPr/>
                </a:tc>
                <a:tc>
                  <a:txBody>
                    <a:bodyPr/>
                    <a:lstStyle/>
                    <a:p>
                      <a:pPr algn="r"/>
                      <a:r>
                        <a:rPr lang="en-US" sz="1600" dirty="0"/>
                        <a:t>530</a:t>
                      </a:r>
                    </a:p>
                  </a:txBody>
                  <a:tcPr/>
                </a:tc>
                <a:tc>
                  <a:txBody>
                    <a:bodyPr/>
                    <a:lstStyle/>
                    <a:p>
                      <a:pPr algn="r"/>
                      <a:r>
                        <a:rPr lang="en-US" sz="1600" dirty="0"/>
                        <a:t>586</a:t>
                      </a:r>
                    </a:p>
                  </a:txBody>
                  <a:tcPr/>
                </a:tc>
                <a:extLst>
                  <a:ext uri="{0D108BD9-81ED-4DB2-BD59-A6C34878D82A}">
                    <a16:rowId xmlns:a16="http://schemas.microsoft.com/office/drawing/2014/main" val="3336661626"/>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40</a:t>
            </a:fld>
            <a:endParaRPr lang="en-US" dirty="0"/>
          </a:p>
        </p:txBody>
      </p:sp>
    </p:spTree>
    <p:extLst>
      <p:ext uri="{BB962C8B-B14F-4D97-AF65-F5344CB8AC3E}">
        <p14:creationId xmlns:p14="http://schemas.microsoft.com/office/powerpoint/2010/main" val="1082863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Tips for Effective Tables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3.9</a:t>
            </a:r>
          </a:p>
        </p:txBody>
      </p:sp>
      <p:sp>
        <p:nvSpPr>
          <p:cNvPr id="7" name="Content Placeholder 6"/>
          <p:cNvSpPr>
            <a:spLocks noGrp="1"/>
          </p:cNvSpPr>
          <p:nvPr>
            <p:ph sz="quarter" idx="14"/>
          </p:nvPr>
        </p:nvSpPr>
        <p:spPr>
          <a:xfrm>
            <a:off x="342900" y="1260475"/>
            <a:ext cx="8191500" cy="5292725"/>
          </a:xfrm>
        </p:spPr>
        <p:txBody>
          <a:bodyPr/>
          <a:lstStyle/>
          <a:p>
            <a:pPr marL="402336" indent="-402336">
              <a:buFont typeface="+mj-lt"/>
              <a:buAutoNum type="arabicPeriod"/>
            </a:pPr>
            <a:r>
              <a:rPr lang="en-US" noProof="0" dirty="0"/>
              <a:t>Keep the table simple, consistent with its purpose.</a:t>
            </a:r>
          </a:p>
          <a:p>
            <a:pPr marL="402336" indent="-402336">
              <a:buFont typeface="+mj-lt"/>
              <a:buAutoNum type="arabicPeriod"/>
            </a:pPr>
            <a:r>
              <a:rPr lang="en-US" noProof="0" dirty="0"/>
              <a:t>For presentations, round off to three or four significant digits (For example, 142 rather than 142.213).</a:t>
            </a:r>
          </a:p>
          <a:p>
            <a:pPr marL="402336" indent="-402336">
              <a:buFont typeface="+mj-lt"/>
              <a:buAutoNum type="arabicPeriod"/>
            </a:pPr>
            <a:r>
              <a:rPr lang="en-US" noProof="0" dirty="0"/>
              <a:t>Physical table layout should guide the eye toward the comparison you wish to emphasize. Spaces or shading may be used to separate rows or columns. Use lines sparingly.</a:t>
            </a:r>
          </a:p>
          <a:p>
            <a:pPr marL="402336" indent="-402336">
              <a:buFont typeface="+mj-lt"/>
              <a:buAutoNum type="arabicPeriod"/>
            </a:pPr>
            <a:r>
              <a:rPr lang="en-US" noProof="0" dirty="0"/>
              <a:t>Within a column, use a consistent number of decimal digits. Right-justify or decimal-align the data unless all field widths are the same within the column.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20950616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Pivot Tables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3.9</a:t>
            </a:r>
          </a:p>
        </p:txBody>
      </p:sp>
      <p:sp>
        <p:nvSpPr>
          <p:cNvPr id="7" name="Content Placeholder 6"/>
          <p:cNvSpPr>
            <a:spLocks noGrp="1"/>
          </p:cNvSpPr>
          <p:nvPr>
            <p:ph sz="quarter" idx="14"/>
          </p:nvPr>
        </p:nvSpPr>
        <p:spPr>
          <a:xfrm>
            <a:off x="342900" y="1260475"/>
            <a:ext cx="8191500" cy="5292725"/>
          </a:xfrm>
        </p:spPr>
        <p:txBody>
          <a:bodyPr/>
          <a:lstStyle/>
          <a:p>
            <a:pPr marL="292608" indent="-292608">
              <a:buFont typeface="Arial" panose="020B0604020202020204" pitchFamily="34" charset="0"/>
              <a:buChar char="•"/>
            </a:pPr>
            <a:r>
              <a:rPr lang="en-US" noProof="0" dirty="0"/>
              <a:t>Pivot tables can be created in Excel.</a:t>
            </a:r>
          </a:p>
          <a:p>
            <a:pPr marL="292608" indent="-292608">
              <a:buFont typeface="Arial" panose="020B0604020202020204" pitchFamily="34" charset="0"/>
              <a:buChar char="•"/>
            </a:pPr>
            <a:r>
              <a:rPr lang="en-US" noProof="0" dirty="0"/>
              <a:t>The row and column variables must be either categorical or discrete numerical, and the variable for the table cells must be numerical.</a:t>
            </a:r>
          </a:p>
          <a:p>
            <a:pPr marL="292608" indent="-292608">
              <a:buFont typeface="Arial" panose="020B0604020202020204" pitchFamily="34" charset="0"/>
              <a:buChar char="•"/>
            </a:pPr>
            <a:r>
              <a:rPr lang="en-US" noProof="0" dirty="0"/>
              <a:t>After the table is created you can change the table by dragging variable names from the list specified in your data matrix.</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42</a:t>
            </a:fld>
            <a:endParaRPr lang="en-US" dirty="0"/>
          </a:p>
        </p:txBody>
      </p:sp>
    </p:spTree>
    <p:extLst>
      <p:ext uri="{BB962C8B-B14F-4D97-AF65-F5344CB8AC3E}">
        <p14:creationId xmlns:p14="http://schemas.microsoft.com/office/powerpoint/2010/main" val="33445578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Pivot Tables </a:t>
            </a:r>
            <a:r>
              <a:rPr lang="en-US" sz="1000" b="0" noProof="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3.9</a:t>
            </a:r>
          </a:p>
        </p:txBody>
      </p:sp>
      <p:pic>
        <p:nvPicPr>
          <p:cNvPr id="4" name="Picture 3" descr=" A spreadsheet displayed as a pivot table with seven columns and 26 rows. "/>
          <p:cNvPicPr>
            <a:picLocks noChangeAspect="1"/>
          </p:cNvPicPr>
          <p:nvPr/>
        </p:nvPicPr>
        <p:blipFill>
          <a:blip r:embed="rId2"/>
          <a:stretch>
            <a:fillRect/>
          </a:stretch>
        </p:blipFill>
        <p:spPr>
          <a:xfrm>
            <a:off x="1295116" y="1383583"/>
            <a:ext cx="6553768" cy="4822354"/>
          </a:xfrm>
          <a:prstGeom prst="rect">
            <a:avLst/>
          </a:prstGeom>
        </p:spPr>
      </p:pic>
      <p:sp>
        <p:nvSpPr>
          <p:cNvPr id="7"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43</a:t>
            </a:fld>
            <a:endParaRPr lang="en-US" dirty="0"/>
          </a:p>
        </p:txBody>
      </p:sp>
    </p:spTree>
    <p:extLst>
      <p:ext uri="{BB962C8B-B14F-4D97-AF65-F5344CB8AC3E}">
        <p14:creationId xmlns:p14="http://schemas.microsoft.com/office/powerpoint/2010/main" val="728882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Deceptive Graphs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3.10</a:t>
            </a:r>
          </a:p>
        </p:txBody>
      </p:sp>
      <p:sp>
        <p:nvSpPr>
          <p:cNvPr id="7" name="Content Placeholder 6"/>
          <p:cNvSpPr>
            <a:spLocks noGrp="1"/>
          </p:cNvSpPr>
          <p:nvPr>
            <p:ph sz="quarter" idx="14"/>
          </p:nvPr>
        </p:nvSpPr>
        <p:spPr>
          <a:xfrm>
            <a:off x="342900" y="1260475"/>
            <a:ext cx="8191500" cy="1604645"/>
          </a:xfrm>
        </p:spPr>
        <p:txBody>
          <a:bodyPr/>
          <a:lstStyle/>
          <a:p>
            <a:r>
              <a:rPr lang="en-US" noProof="0" dirty="0"/>
              <a:t>Error 1: Nonzero origin.</a:t>
            </a:r>
          </a:p>
          <a:p>
            <a:pPr marL="292608" indent="-292608">
              <a:buFont typeface="Arial" panose="020B0604020202020204" pitchFamily="34" charset="0"/>
              <a:buChar char="•"/>
            </a:pPr>
            <a:r>
              <a:rPr lang="en-US" noProof="0" dirty="0"/>
              <a:t>A nonzero origin will exaggerate the trend.</a:t>
            </a:r>
          </a:p>
          <a:p>
            <a:pPr marL="292608" indent="-292608">
              <a:buFont typeface="Arial" panose="020B0604020202020204" pitchFamily="34" charset="0"/>
              <a:buChar char="•"/>
            </a:pPr>
            <a:r>
              <a:rPr lang="en-US" noProof="0" dirty="0"/>
              <a:t>Look at the axis in these two graphs.</a:t>
            </a:r>
          </a:p>
        </p:txBody>
      </p:sp>
      <p:pic>
        <p:nvPicPr>
          <p:cNvPr id="4" name="Picture 3" descr=" Two bar graphs titled ‘Nonzero Origin’ and ‘Zero Origin’, both plotting the average length of cell phone calls."/>
          <p:cNvPicPr>
            <a:picLocks noChangeAspect="1"/>
          </p:cNvPicPr>
          <p:nvPr/>
        </p:nvPicPr>
        <p:blipFill>
          <a:blip r:embed="rId2"/>
          <a:stretch>
            <a:fillRect/>
          </a:stretch>
        </p:blipFill>
        <p:spPr>
          <a:xfrm>
            <a:off x="601941" y="3275059"/>
            <a:ext cx="7940119" cy="2736122"/>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44</a:t>
            </a:fld>
            <a:endParaRPr lang="en-US" dirty="0"/>
          </a:p>
        </p:txBody>
      </p:sp>
    </p:spTree>
    <p:extLst>
      <p:ext uri="{BB962C8B-B14F-4D97-AF65-F5344CB8AC3E}">
        <p14:creationId xmlns:p14="http://schemas.microsoft.com/office/powerpoint/2010/main" val="3303679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Deceptive Graphs </a:t>
            </a:r>
            <a:r>
              <a:rPr lang="en-US" sz="1000" b="0" noProof="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3.10</a:t>
            </a:r>
          </a:p>
        </p:txBody>
      </p:sp>
      <p:sp>
        <p:nvSpPr>
          <p:cNvPr id="7" name="Content Placeholder 6"/>
          <p:cNvSpPr>
            <a:spLocks noGrp="1"/>
          </p:cNvSpPr>
          <p:nvPr>
            <p:ph sz="quarter" idx="14"/>
          </p:nvPr>
        </p:nvSpPr>
        <p:spPr>
          <a:xfrm>
            <a:off x="342900" y="1260475"/>
            <a:ext cx="8191500" cy="1848485"/>
          </a:xfrm>
        </p:spPr>
        <p:txBody>
          <a:bodyPr/>
          <a:lstStyle/>
          <a:p>
            <a:r>
              <a:rPr lang="en-US" noProof="0" dirty="0"/>
              <a:t>Error 2: Elastic graph proportions.</a:t>
            </a:r>
          </a:p>
          <a:p>
            <a:pPr marL="292608" indent="-292608">
              <a:buFont typeface="Arial" panose="020B0604020202020204" pitchFamily="34" charset="0"/>
              <a:buChar char="•"/>
            </a:pPr>
            <a:r>
              <a:rPr lang="en-US" noProof="0" dirty="0"/>
              <a:t>Keep the aspect ratio (width</a:t>
            </a:r>
            <a:r>
              <a:rPr lang="en-US" dirty="0"/>
              <a:t>/</a:t>
            </a:r>
            <a:r>
              <a:rPr lang="en-US" noProof="0" dirty="0"/>
              <a:t>height) below 2.00 so as not to exaggerate the graph. By default, Excel uses an aspect ratio of 1.68.</a:t>
            </a:r>
          </a:p>
        </p:txBody>
      </p:sp>
      <p:pic>
        <p:nvPicPr>
          <p:cNvPr id="5" name="Picture 4" descr="Two line graphs."/>
          <p:cNvPicPr>
            <a:picLocks noChangeAspect="1"/>
          </p:cNvPicPr>
          <p:nvPr/>
        </p:nvPicPr>
        <p:blipFill>
          <a:blip r:embed="rId2"/>
          <a:stretch>
            <a:fillRect/>
          </a:stretch>
        </p:blipFill>
        <p:spPr>
          <a:xfrm>
            <a:off x="590967" y="3480700"/>
            <a:ext cx="7962066" cy="2670279"/>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45</a:t>
            </a:fld>
            <a:endParaRPr lang="en-US" dirty="0"/>
          </a:p>
        </p:txBody>
      </p:sp>
    </p:spTree>
    <p:extLst>
      <p:ext uri="{BB962C8B-B14F-4D97-AF65-F5344CB8AC3E}">
        <p14:creationId xmlns:p14="http://schemas.microsoft.com/office/powerpoint/2010/main" val="26838838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Deceptive Graphs </a:t>
            </a:r>
            <a:r>
              <a:rPr lang="en-US" sz="1000" b="0" noProof="0" dirty="0"/>
              <a:t>3</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3.10</a:t>
            </a:r>
          </a:p>
        </p:txBody>
      </p:sp>
      <p:sp>
        <p:nvSpPr>
          <p:cNvPr id="7" name="Content Placeholder 6"/>
          <p:cNvSpPr>
            <a:spLocks noGrp="1"/>
          </p:cNvSpPr>
          <p:nvPr>
            <p:ph sz="quarter" idx="14"/>
          </p:nvPr>
        </p:nvSpPr>
        <p:spPr>
          <a:xfrm>
            <a:off x="342900" y="1260475"/>
            <a:ext cx="8191500" cy="3098165"/>
          </a:xfrm>
        </p:spPr>
        <p:txBody>
          <a:bodyPr/>
          <a:lstStyle/>
          <a:p>
            <a:r>
              <a:rPr lang="en-US" noProof="0" dirty="0"/>
              <a:t>Error 3: Dramatic titles, distracting art, and perplexing depth.</a:t>
            </a:r>
          </a:p>
          <a:p>
            <a:pPr marL="292608" indent="-292608">
              <a:buFont typeface="Arial" panose="020B0604020202020204" pitchFamily="34" charset="0"/>
              <a:buChar char="•"/>
            </a:pPr>
            <a:r>
              <a:rPr lang="en-US" noProof="0" dirty="0"/>
              <a:t>A title should be short but adequate for the purpose.</a:t>
            </a:r>
          </a:p>
          <a:p>
            <a:pPr marL="292608" indent="-292608">
              <a:buFont typeface="Arial" panose="020B0604020202020204" pitchFamily="34" charset="0"/>
              <a:buChar char="•"/>
            </a:pPr>
            <a:r>
              <a:rPr lang="en-US" noProof="0" dirty="0"/>
              <a:t>Avoid images that can distract the reader or impart an emotional slant.</a:t>
            </a:r>
          </a:p>
          <a:p>
            <a:pPr marL="292608" indent="-292608">
              <a:buFont typeface="Arial" panose="020B0604020202020204" pitchFamily="34" charset="0"/>
              <a:buChar char="•"/>
            </a:pPr>
            <a:r>
              <a:rPr lang="en-US" noProof="0" dirty="0"/>
              <a:t>A 3-D chart introduces further ambiguity in reading the bar height.</a:t>
            </a:r>
          </a:p>
        </p:txBody>
      </p:sp>
      <p:pic>
        <p:nvPicPr>
          <p:cNvPr id="9" name="Picture 8" descr="Two bar graphs, one titled ‘Deceptive’ on the left and the other titled ‘Objective’ on the right."/>
          <p:cNvPicPr>
            <a:picLocks noChangeAspect="1"/>
          </p:cNvPicPr>
          <p:nvPr/>
        </p:nvPicPr>
        <p:blipFill>
          <a:blip r:embed="rId2"/>
          <a:stretch>
            <a:fillRect/>
          </a:stretch>
        </p:blipFill>
        <p:spPr>
          <a:xfrm>
            <a:off x="2193849" y="4515252"/>
            <a:ext cx="4756300" cy="1637497"/>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46</a:t>
            </a:fld>
            <a:endParaRPr lang="en-US" dirty="0"/>
          </a:p>
        </p:txBody>
      </p:sp>
    </p:spTree>
    <p:extLst>
      <p:ext uri="{BB962C8B-B14F-4D97-AF65-F5344CB8AC3E}">
        <p14:creationId xmlns:p14="http://schemas.microsoft.com/office/powerpoint/2010/main" val="915637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Deceptive Graphs </a:t>
            </a:r>
            <a:r>
              <a:rPr lang="en-US" sz="1000" b="0" noProof="0" dirty="0"/>
              <a:t>4</a:t>
            </a:r>
            <a:endParaRPr lang="en-US" sz="1000" noProof="0" dirty="0"/>
          </a:p>
        </p:txBody>
      </p:sp>
      <p:sp>
        <p:nvSpPr>
          <p:cNvPr id="8" name="Content Placeholder 2">
            <a:extLst>
              <a:ext uri="{FF2B5EF4-FFF2-40B4-BE49-F238E27FC236}">
                <a16:creationId xmlns:a16="http://schemas.microsoft.com/office/drawing/2014/main" id="{B306BB7C-F2B9-B93F-E3A3-B4648C3CEC2F}"/>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3.10</a:t>
            </a:r>
          </a:p>
        </p:txBody>
      </p:sp>
      <p:sp>
        <p:nvSpPr>
          <p:cNvPr id="4" name="Content Placeholder 3"/>
          <p:cNvSpPr>
            <a:spLocks noGrp="1"/>
          </p:cNvSpPr>
          <p:nvPr>
            <p:ph sz="quarter" idx="14"/>
          </p:nvPr>
        </p:nvSpPr>
        <p:spPr>
          <a:xfrm>
            <a:off x="342900" y="1215150"/>
            <a:ext cx="8191500" cy="3013949"/>
          </a:xfrm>
        </p:spPr>
        <p:txBody>
          <a:bodyPr/>
          <a:lstStyle/>
          <a:p>
            <a:r>
              <a:rPr lang="en-US" noProof="0" dirty="0"/>
              <a:t>Error 4: Unclear definitions or scales.</a:t>
            </a:r>
          </a:p>
          <a:p>
            <a:pPr marL="292608" indent="-292608">
              <a:buFont typeface="Arial" panose="020B0604020202020204" pitchFamily="34" charset="0"/>
              <a:buChar char="•"/>
            </a:pPr>
            <a:r>
              <a:rPr lang="en-US" noProof="0" dirty="0"/>
              <a:t>Missing or unclear units of measurement can render a chart useless.</a:t>
            </a:r>
          </a:p>
          <a:p>
            <a:pPr marL="292608" indent="-292608">
              <a:buFont typeface="Arial" panose="020B0604020202020204" pitchFamily="34" charset="0"/>
              <a:buChar char="•"/>
            </a:pPr>
            <a:r>
              <a:rPr lang="en-US" noProof="0" dirty="0"/>
              <a:t>Gridlines help the viewer compare magnitudes but are often omitted to avoid graph clutter.</a:t>
            </a:r>
          </a:p>
          <a:p>
            <a:pPr marL="292608" indent="-292608">
              <a:buFont typeface="Arial" panose="020B0604020202020204" pitchFamily="34" charset="0"/>
              <a:buChar char="•"/>
            </a:pPr>
            <a:r>
              <a:rPr lang="en-US" noProof="0" dirty="0"/>
              <a:t>For maximum clarity in a bar graph, label each bar with its numerical value.</a:t>
            </a:r>
          </a:p>
        </p:txBody>
      </p:sp>
      <p:sp>
        <p:nvSpPr>
          <p:cNvPr id="5" name="Content Placeholder 4"/>
          <p:cNvSpPr>
            <a:spLocks noGrp="1"/>
          </p:cNvSpPr>
          <p:nvPr>
            <p:ph sz="quarter" idx="15"/>
          </p:nvPr>
        </p:nvSpPr>
        <p:spPr>
          <a:xfrm>
            <a:off x="342900" y="4343400"/>
            <a:ext cx="8282940" cy="2179320"/>
          </a:xfrm>
        </p:spPr>
        <p:txBody>
          <a:bodyPr/>
          <a:lstStyle/>
          <a:p>
            <a:r>
              <a:rPr lang="en-US" noProof="0" dirty="0"/>
              <a:t>Error 5: Vague Sources.</a:t>
            </a:r>
          </a:p>
          <a:p>
            <a:pPr marL="292608" indent="-292608">
              <a:buFont typeface="Arial" panose="020B0604020202020204" pitchFamily="34" charset="0"/>
              <a:buChar char="•"/>
            </a:pPr>
            <a:r>
              <a:rPr lang="en-US" noProof="0" dirty="0"/>
              <a:t>Vague sources like “Department of Commerce” may indicate that the author lost the citation, didn’t know the data source, or mixed data from several sources.</a:t>
            </a:r>
          </a:p>
          <a:p>
            <a:pPr marL="292608" indent="-292608">
              <a:buFont typeface="Arial" panose="020B0604020202020204" pitchFamily="34" charset="0"/>
              <a:buChar char="•"/>
            </a:pPr>
            <a:r>
              <a:rPr lang="en-US" noProof="0" dirty="0"/>
              <a:t>Scientific publications insist on complete source citations.</a:t>
            </a:r>
          </a:p>
        </p:txBody>
      </p:sp>
      <p:sp>
        <p:nvSpPr>
          <p:cNvPr id="10" name="Slide Number Placeholder 9"/>
          <p:cNvSpPr>
            <a:spLocks noGrp="1"/>
          </p:cNvSpPr>
          <p:nvPr>
            <p:ph type="sldNum" sz="quarter" idx="10"/>
          </p:nvPr>
        </p:nvSpPr>
        <p:spPr/>
        <p:txBody>
          <a:bodyPr/>
          <a:lstStyle/>
          <a:p>
            <a:fld id="{68151E55-6873-49E2-B8D5-2F265E6F1973}" type="slidenum">
              <a:rPr lang="en-US" smtClean="0"/>
              <a:t>47</a:t>
            </a:fld>
            <a:endParaRPr lang="en-US" dirty="0"/>
          </a:p>
        </p:txBody>
      </p:sp>
    </p:spTree>
    <p:extLst>
      <p:ext uri="{BB962C8B-B14F-4D97-AF65-F5344CB8AC3E}">
        <p14:creationId xmlns:p14="http://schemas.microsoft.com/office/powerpoint/2010/main" val="17271648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277100" cy="903231"/>
          </a:xfrm>
        </p:spPr>
        <p:txBody>
          <a:bodyPr>
            <a:normAutofit/>
          </a:bodyPr>
          <a:lstStyle/>
          <a:p>
            <a:r>
              <a:rPr lang="en-US" sz="3600" noProof="0" dirty="0"/>
              <a:t>Deceptive Graphs </a:t>
            </a:r>
            <a:r>
              <a:rPr lang="en-US" sz="1000" b="0" noProof="0" dirty="0"/>
              <a:t>5</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549302" y="192490"/>
            <a:ext cx="432950" cy="1304566"/>
          </a:xfrm>
        </p:spPr>
        <p:txBody>
          <a:bodyPr vert="vert" rIns="0"/>
          <a:lstStyle/>
          <a:p>
            <a:pPr marL="1025525" indent="-1025525"/>
            <a:r>
              <a:rPr lang="en-US" b="1" noProof="0" dirty="0"/>
              <a:t>L</a:t>
            </a:r>
            <a:r>
              <a:rPr lang="en-US" sz="100" b="1" noProof="0" dirty="0"/>
              <a:t> </a:t>
            </a:r>
            <a:r>
              <a:rPr lang="en-US" b="1" noProof="0" dirty="0"/>
              <a:t>O 3.10</a:t>
            </a:r>
          </a:p>
        </p:txBody>
      </p:sp>
      <p:sp>
        <p:nvSpPr>
          <p:cNvPr id="7" name="Content Placeholder 6"/>
          <p:cNvSpPr>
            <a:spLocks noGrp="1"/>
          </p:cNvSpPr>
          <p:nvPr>
            <p:ph sz="quarter" idx="14"/>
          </p:nvPr>
        </p:nvSpPr>
        <p:spPr>
          <a:xfrm>
            <a:off x="356750" y="1543728"/>
            <a:ext cx="8458200" cy="1577327"/>
          </a:xfrm>
        </p:spPr>
        <p:txBody>
          <a:bodyPr/>
          <a:lstStyle/>
          <a:p>
            <a:r>
              <a:rPr lang="en-US" noProof="0" dirty="0"/>
              <a:t>Error 6: Complex graphs.</a:t>
            </a:r>
          </a:p>
          <a:p>
            <a:pPr marL="292608" indent="-292608">
              <a:buFont typeface="Arial" panose="020B0604020202020204" pitchFamily="34" charset="0"/>
              <a:buChar char="•"/>
            </a:pPr>
            <a:r>
              <a:rPr lang="en-US" noProof="0" dirty="0"/>
              <a:t>Complicated visual displays make the reader work harder.</a:t>
            </a:r>
          </a:p>
          <a:p>
            <a:pPr marL="292608" indent="-292608">
              <a:buFont typeface="Arial" panose="020B0604020202020204" pitchFamily="34" charset="0"/>
              <a:buChar char="•"/>
            </a:pPr>
            <a:r>
              <a:rPr lang="en-US" noProof="0" dirty="0"/>
              <a:t>Keep your main objective in mind.</a:t>
            </a:r>
          </a:p>
        </p:txBody>
      </p:sp>
      <p:pic>
        <p:nvPicPr>
          <p:cNvPr id="4" name="Picture 3" descr="A complex pie chart that is somewhat deceptive in its presentation."/>
          <p:cNvPicPr>
            <a:picLocks noChangeAspect="1"/>
          </p:cNvPicPr>
          <p:nvPr/>
        </p:nvPicPr>
        <p:blipFill rotWithShape="1">
          <a:blip r:embed="rId2"/>
          <a:srcRect b="5984"/>
          <a:stretch/>
        </p:blipFill>
        <p:spPr>
          <a:xfrm>
            <a:off x="2220957" y="3167727"/>
            <a:ext cx="4702086" cy="2449572"/>
          </a:xfrm>
          <a:prstGeom prst="rect">
            <a:avLst/>
          </a:prstGeom>
        </p:spPr>
      </p:pic>
      <p:sp>
        <p:nvSpPr>
          <p:cNvPr id="9" name="Content Placeholder 8">
            <a:extLst>
              <a:ext uri="{FF2B5EF4-FFF2-40B4-BE49-F238E27FC236}">
                <a16:creationId xmlns:a16="http://schemas.microsoft.com/office/drawing/2014/main" id="{D51DDC93-3710-4A33-B1CA-8F94253AA18B}"/>
              </a:ext>
            </a:extLst>
          </p:cNvPr>
          <p:cNvSpPr>
            <a:spLocks noGrp="1"/>
          </p:cNvSpPr>
          <p:nvPr>
            <p:ph sz="quarter" idx="15"/>
          </p:nvPr>
        </p:nvSpPr>
        <p:spPr>
          <a:xfrm>
            <a:off x="2220957" y="5663971"/>
            <a:ext cx="1864207" cy="248338"/>
          </a:xfrm>
        </p:spPr>
        <p:txBody>
          <a:bodyPr/>
          <a:lstStyle/>
          <a:p>
            <a:r>
              <a:rPr lang="en-US" sz="1200" noProof="0" dirty="0"/>
              <a:t>Source: Hospital reports.</a:t>
            </a:r>
          </a:p>
        </p:txBody>
      </p:sp>
      <p:sp>
        <p:nvSpPr>
          <p:cNvPr id="8" name="Text Placeholder 8"/>
          <p:cNvSpPr>
            <a:spLocks noGrp="1"/>
          </p:cNvSpPr>
          <p:nvPr>
            <p:ph type="body" sz="quarter" idx="12"/>
          </p:nvPr>
        </p:nvSpPr>
        <p:spPr>
          <a:xfrm>
            <a:off x="2932557" y="6324600"/>
            <a:ext cx="3278886" cy="247650"/>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48</a:t>
            </a:fld>
            <a:endParaRPr lang="en-US" dirty="0"/>
          </a:p>
        </p:txBody>
      </p:sp>
    </p:spTree>
    <p:extLst>
      <p:ext uri="{BB962C8B-B14F-4D97-AF65-F5344CB8AC3E}">
        <p14:creationId xmlns:p14="http://schemas.microsoft.com/office/powerpoint/2010/main" val="38185008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Deceptive Graphs </a:t>
            </a:r>
            <a:r>
              <a:rPr lang="en-US" sz="1000" b="0" noProof="0" dirty="0"/>
              <a:t>6</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3.10</a:t>
            </a:r>
          </a:p>
        </p:txBody>
      </p:sp>
      <p:sp>
        <p:nvSpPr>
          <p:cNvPr id="7" name="Content Placeholder 6"/>
          <p:cNvSpPr>
            <a:spLocks noGrp="1"/>
          </p:cNvSpPr>
          <p:nvPr>
            <p:ph sz="quarter" idx="14"/>
          </p:nvPr>
        </p:nvSpPr>
        <p:spPr>
          <a:xfrm>
            <a:off x="342900" y="1260476"/>
            <a:ext cx="8191500" cy="1739899"/>
          </a:xfrm>
        </p:spPr>
        <p:txBody>
          <a:bodyPr/>
          <a:lstStyle/>
          <a:p>
            <a:r>
              <a:rPr lang="en-US" noProof="0" dirty="0"/>
              <a:t>Error 7: Estimated data.</a:t>
            </a:r>
          </a:p>
          <a:p>
            <a:pPr marL="292608" indent="-292608">
              <a:buFont typeface="Arial" panose="020B0604020202020204" pitchFamily="34" charset="0"/>
              <a:buChar char="•"/>
            </a:pPr>
            <a:r>
              <a:rPr lang="en-US" noProof="0" dirty="0"/>
              <a:t>In a spirit of zeal to include the “latest” figures, the last few data points in a time series are often estimated. At a minimum, estimated points should be noted.</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49</a:t>
            </a:fld>
            <a:endParaRPr lang="en-US" dirty="0"/>
          </a:p>
        </p:txBody>
      </p:sp>
    </p:spTree>
    <p:extLst>
      <p:ext uri="{BB962C8B-B14F-4D97-AF65-F5344CB8AC3E}">
        <p14:creationId xmlns:p14="http://schemas.microsoft.com/office/powerpoint/2010/main" val="508051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Deceptive Graphs </a:t>
            </a:r>
            <a:r>
              <a:rPr lang="en-US" sz="1000" b="0" noProof="0" dirty="0"/>
              <a:t>7</a:t>
            </a:r>
            <a:endParaRPr lang="en-US" sz="1000" noProof="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US" b="1" noProof="0" dirty="0"/>
              <a:t>L</a:t>
            </a:r>
            <a:r>
              <a:rPr lang="en-US" sz="100" b="1" noProof="0" dirty="0"/>
              <a:t> </a:t>
            </a:r>
            <a:r>
              <a:rPr lang="en-US" b="1" noProof="0" dirty="0"/>
              <a:t>O 3.10</a:t>
            </a:r>
          </a:p>
        </p:txBody>
      </p:sp>
      <p:sp>
        <p:nvSpPr>
          <p:cNvPr id="7" name="Content Placeholder 6"/>
          <p:cNvSpPr>
            <a:spLocks noGrp="1"/>
          </p:cNvSpPr>
          <p:nvPr>
            <p:ph sz="quarter" idx="14"/>
          </p:nvPr>
        </p:nvSpPr>
        <p:spPr>
          <a:xfrm>
            <a:off x="342900" y="1260475"/>
            <a:ext cx="8191500" cy="2640965"/>
          </a:xfrm>
        </p:spPr>
        <p:txBody>
          <a:bodyPr/>
          <a:lstStyle/>
          <a:p>
            <a:r>
              <a:rPr lang="en-US" noProof="0" dirty="0"/>
              <a:t>Error 8: Area Trick.</a:t>
            </a:r>
          </a:p>
          <a:p>
            <a:pPr marL="292608" indent="-292608">
              <a:buFont typeface="Arial" panose="020B0604020202020204" pitchFamily="34" charset="0"/>
              <a:buChar char="•"/>
            </a:pPr>
            <a:r>
              <a:rPr lang="en-US" noProof="0" dirty="0"/>
              <a:t>One of the most pernicious visual tricks is simultaneously enlarging the width of the bars as their height increases, so the bar area misstates the true proportion. Like replacing graph bars with figures like human beings, coins, or gas pumps.</a:t>
            </a:r>
          </a:p>
        </p:txBody>
      </p:sp>
      <p:pic>
        <p:nvPicPr>
          <p:cNvPr id="4" name="Picture 3" descr="Two bar graphs, one titled ‘Deceptive’ and the other titled ‘Correct’."/>
          <p:cNvPicPr>
            <a:picLocks noChangeAspect="1"/>
          </p:cNvPicPr>
          <p:nvPr/>
        </p:nvPicPr>
        <p:blipFill>
          <a:blip r:embed="rId2"/>
          <a:stretch>
            <a:fillRect/>
          </a:stretch>
        </p:blipFill>
        <p:spPr>
          <a:xfrm>
            <a:off x="1220291" y="4111939"/>
            <a:ext cx="6794858" cy="2078362"/>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50</a:t>
            </a:fld>
            <a:endParaRPr lang="en-US" dirty="0"/>
          </a:p>
        </p:txBody>
      </p:sp>
    </p:spTree>
    <p:extLst>
      <p:ext uri="{BB962C8B-B14F-4D97-AF65-F5344CB8AC3E}">
        <p14:creationId xmlns:p14="http://schemas.microsoft.com/office/powerpoint/2010/main" val="1156652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783290"/>
            <a:ext cx="8458200" cy="903231"/>
          </a:xfrm>
        </p:spPr>
        <p:txBody>
          <a:bodyPr>
            <a:normAutofit/>
          </a:bodyPr>
          <a:lstStyle/>
          <a:p>
            <a:r>
              <a:rPr lang="en-US" noProof="0" dirty="0"/>
              <a:t>Chapter 3: Practice Problems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51</a:t>
            </a:fld>
            <a:endParaRPr lang="en-US" dirty="0"/>
          </a:p>
        </p:txBody>
      </p:sp>
    </p:spTree>
    <p:extLst>
      <p:ext uri="{BB962C8B-B14F-4D97-AF65-F5344CB8AC3E}">
        <p14:creationId xmlns:p14="http://schemas.microsoft.com/office/powerpoint/2010/main" val="20634884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Question 2</a:t>
            </a:r>
          </a:p>
        </p:txBody>
      </p:sp>
      <p:sp>
        <p:nvSpPr>
          <p:cNvPr id="3" name="Content Placeholder 2"/>
          <p:cNvSpPr>
            <a:spLocks noGrp="1"/>
          </p:cNvSpPr>
          <p:nvPr>
            <p:ph sz="quarter" idx="11"/>
          </p:nvPr>
        </p:nvSpPr>
        <p:spPr>
          <a:xfrm>
            <a:off x="8595360" y="55330"/>
            <a:ext cx="487680" cy="1316270"/>
          </a:xfrm>
        </p:spPr>
        <p:txBody>
          <a:bodyPr vert="vert" rIns="0"/>
          <a:lstStyle/>
          <a:p>
            <a:pPr marL="1025525" indent="-1025525"/>
            <a:r>
              <a:rPr lang="en-US" b="1" noProof="0" dirty="0"/>
              <a:t>L</a:t>
            </a:r>
            <a:r>
              <a:rPr lang="en-US" sz="100" b="1" noProof="0" dirty="0"/>
              <a:t> </a:t>
            </a:r>
            <a:r>
              <a:rPr lang="en-US" b="1" noProof="0" dirty="0"/>
              <a:t>O 3.1</a:t>
            </a:r>
          </a:p>
        </p:txBody>
      </p:sp>
      <p:sp>
        <p:nvSpPr>
          <p:cNvPr id="4" name="Content Placeholder 3"/>
          <p:cNvSpPr>
            <a:spLocks noGrp="1"/>
          </p:cNvSpPr>
          <p:nvPr>
            <p:ph sz="quarter" idx="14"/>
          </p:nvPr>
        </p:nvSpPr>
        <p:spPr>
          <a:xfrm>
            <a:off x="342900" y="1262776"/>
            <a:ext cx="8191500" cy="1434704"/>
          </a:xfrm>
        </p:spPr>
        <p:txBody>
          <a:bodyPr/>
          <a:lstStyle/>
          <a:p>
            <a:pPr marL="288925" indent="-288925"/>
            <a:r>
              <a:rPr lang="en-US" sz="1800" noProof="0" dirty="0"/>
              <a:t>a. Make a stem-and-leaf plot for the number of defects per 100 vehicles for these 32 brands.</a:t>
            </a:r>
          </a:p>
          <a:p>
            <a:pPr marL="288925" indent="-288925"/>
            <a:r>
              <a:rPr lang="en-US" sz="1800" noProof="0" dirty="0"/>
              <a:t>b. Make a dot plot of the defects data.</a:t>
            </a:r>
          </a:p>
          <a:p>
            <a:pPr marL="288925" indent="-288925"/>
            <a:r>
              <a:rPr lang="en-US" sz="1800" noProof="0" dirty="0"/>
              <a:t>c. Describe these two displays (center, variability, and shape).</a:t>
            </a:r>
          </a:p>
        </p:txBody>
      </p:sp>
      <p:sp>
        <p:nvSpPr>
          <p:cNvPr id="5" name="Content Placeholder 4"/>
          <p:cNvSpPr>
            <a:spLocks noGrp="1"/>
          </p:cNvSpPr>
          <p:nvPr>
            <p:ph sz="quarter" idx="15"/>
          </p:nvPr>
        </p:nvSpPr>
        <p:spPr>
          <a:xfrm>
            <a:off x="342900" y="2748544"/>
            <a:ext cx="3695700" cy="284216"/>
          </a:xfrm>
        </p:spPr>
        <p:txBody>
          <a:bodyPr/>
          <a:lstStyle/>
          <a:p>
            <a:r>
              <a:rPr lang="en-US" sz="1200" b="1" noProof="0" dirty="0"/>
              <a:t>Defects per 100 Vehicles (alphabetical by brand)</a:t>
            </a:r>
          </a:p>
        </p:txBody>
      </p:sp>
      <p:pic>
        <p:nvPicPr>
          <p:cNvPr id="11" name="Picture 10">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070069" y="2764275"/>
            <a:ext cx="272341" cy="232170"/>
          </a:xfrm>
          <a:prstGeom prst="rect">
            <a:avLst/>
          </a:prstGeom>
        </p:spPr>
      </p:pic>
      <p:sp>
        <p:nvSpPr>
          <p:cNvPr id="6" name="Content Placeholder 5"/>
          <p:cNvSpPr>
            <a:spLocks noGrp="1"/>
          </p:cNvSpPr>
          <p:nvPr>
            <p:ph sz="quarter" idx="16"/>
          </p:nvPr>
        </p:nvSpPr>
        <p:spPr>
          <a:xfrm>
            <a:off x="4438650" y="2703303"/>
            <a:ext cx="1252170" cy="298486"/>
          </a:xfrm>
        </p:spPr>
        <p:txBody>
          <a:bodyPr/>
          <a:lstStyle/>
          <a:p>
            <a:r>
              <a:rPr lang="en-US" sz="1600" b="1" noProof="0" dirty="0" err="1">
                <a:solidFill>
                  <a:srgbClr val="A9131A"/>
                </a:solidFill>
              </a:rPr>
              <a:t>JDPower</a:t>
            </a:r>
            <a:endParaRPr lang="en-US" sz="1600" noProof="0" dirty="0">
              <a:solidFill>
                <a:srgbClr val="A9131A"/>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3672333088"/>
              </p:ext>
            </p:extLst>
          </p:nvPr>
        </p:nvGraphicFramePr>
        <p:xfrm>
          <a:off x="419100" y="3078480"/>
          <a:ext cx="8115300" cy="3291840"/>
        </p:xfrm>
        <a:graphic>
          <a:graphicData uri="http://schemas.openxmlformats.org/drawingml/2006/table">
            <a:tbl>
              <a:tblPr firstRow="1" bandRow="1">
                <a:tableStyleId>{5C22544A-7EE6-4342-B048-85BDC9FD1C3A}</a:tableStyleId>
              </a:tblPr>
              <a:tblGrid>
                <a:gridCol w="1352550">
                  <a:extLst>
                    <a:ext uri="{9D8B030D-6E8A-4147-A177-3AD203B41FA5}">
                      <a16:colId xmlns:a16="http://schemas.microsoft.com/office/drawing/2014/main" val="1191715905"/>
                    </a:ext>
                  </a:extLst>
                </a:gridCol>
                <a:gridCol w="1352550">
                  <a:extLst>
                    <a:ext uri="{9D8B030D-6E8A-4147-A177-3AD203B41FA5}">
                      <a16:colId xmlns:a16="http://schemas.microsoft.com/office/drawing/2014/main" val="3269635588"/>
                    </a:ext>
                  </a:extLst>
                </a:gridCol>
                <a:gridCol w="1352550">
                  <a:extLst>
                    <a:ext uri="{9D8B030D-6E8A-4147-A177-3AD203B41FA5}">
                      <a16:colId xmlns:a16="http://schemas.microsoft.com/office/drawing/2014/main" val="1298543687"/>
                    </a:ext>
                  </a:extLst>
                </a:gridCol>
                <a:gridCol w="1352550">
                  <a:extLst>
                    <a:ext uri="{9D8B030D-6E8A-4147-A177-3AD203B41FA5}">
                      <a16:colId xmlns:a16="http://schemas.microsoft.com/office/drawing/2014/main" val="1272425621"/>
                    </a:ext>
                  </a:extLst>
                </a:gridCol>
                <a:gridCol w="1352550">
                  <a:extLst>
                    <a:ext uri="{9D8B030D-6E8A-4147-A177-3AD203B41FA5}">
                      <a16:colId xmlns:a16="http://schemas.microsoft.com/office/drawing/2014/main" val="1763354535"/>
                    </a:ext>
                  </a:extLst>
                </a:gridCol>
                <a:gridCol w="1352550">
                  <a:extLst>
                    <a:ext uri="{9D8B030D-6E8A-4147-A177-3AD203B41FA5}">
                      <a16:colId xmlns:a16="http://schemas.microsoft.com/office/drawing/2014/main" val="3649162091"/>
                    </a:ext>
                  </a:extLst>
                </a:gridCol>
              </a:tblGrid>
              <a:tr h="0">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extLst>
                  <a:ext uri="{0D108BD9-81ED-4DB2-BD59-A6C34878D82A}">
                    <a16:rowId xmlns:a16="http://schemas.microsoft.com/office/drawing/2014/main" val="131677524"/>
                  </a:ext>
                </a:extLst>
              </a:tr>
              <a:tr h="0">
                <a:tc>
                  <a:txBody>
                    <a:bodyPr/>
                    <a:lstStyle/>
                    <a:p>
                      <a:r>
                        <a:rPr lang="en-US" sz="1200" dirty="0"/>
                        <a:t>Acura</a:t>
                      </a:r>
                    </a:p>
                  </a:txBody>
                  <a:tcPr/>
                </a:tc>
                <a:tc>
                  <a:txBody>
                    <a:bodyPr/>
                    <a:lstStyle/>
                    <a:p>
                      <a:pPr marL="60325" indent="0" algn="ctr"/>
                      <a:r>
                        <a:rPr lang="en-US" sz="1200" dirty="0"/>
                        <a:t>86</a:t>
                      </a:r>
                    </a:p>
                  </a:txBody>
                  <a:tcPr/>
                </a:tc>
                <a:tc>
                  <a:txBody>
                    <a:bodyPr/>
                    <a:lstStyle/>
                    <a:p>
                      <a:r>
                        <a:rPr lang="en-US" sz="1200" dirty="0"/>
                        <a:t>Hyundai</a:t>
                      </a:r>
                    </a:p>
                  </a:txBody>
                  <a:tcPr/>
                </a:tc>
                <a:tc>
                  <a:txBody>
                    <a:bodyPr/>
                    <a:lstStyle/>
                    <a:p>
                      <a:pPr algn="ctr"/>
                      <a:r>
                        <a:rPr lang="en-US" sz="1200" dirty="0"/>
                        <a:t>102</a:t>
                      </a:r>
                    </a:p>
                  </a:txBody>
                  <a:tcPr/>
                </a:tc>
                <a:tc>
                  <a:txBody>
                    <a:bodyPr/>
                    <a:lstStyle/>
                    <a:p>
                      <a:r>
                        <a:rPr lang="en-US" sz="1200" dirty="0"/>
                        <a:t>MINI</a:t>
                      </a:r>
                    </a:p>
                  </a:txBody>
                  <a:tcPr/>
                </a:tc>
                <a:tc>
                  <a:txBody>
                    <a:bodyPr/>
                    <a:lstStyle/>
                    <a:p>
                      <a:pPr algn="ctr"/>
                      <a:r>
                        <a:rPr lang="en-US" sz="1200" dirty="0"/>
                        <a:t>133</a:t>
                      </a:r>
                    </a:p>
                  </a:txBody>
                  <a:tcPr/>
                </a:tc>
                <a:extLst>
                  <a:ext uri="{0D108BD9-81ED-4DB2-BD59-A6C34878D82A}">
                    <a16:rowId xmlns:a16="http://schemas.microsoft.com/office/drawing/2014/main" val="3618449494"/>
                  </a:ext>
                </a:extLst>
              </a:tr>
              <a:tr h="0">
                <a:tc>
                  <a:txBody>
                    <a:bodyPr/>
                    <a:lstStyle/>
                    <a:p>
                      <a:r>
                        <a:rPr lang="en-US" sz="1200" dirty="0"/>
                        <a:t>Audi</a:t>
                      </a:r>
                    </a:p>
                  </a:txBody>
                  <a:tcPr/>
                </a:tc>
                <a:tc>
                  <a:txBody>
                    <a:bodyPr/>
                    <a:lstStyle/>
                    <a:p>
                      <a:pPr algn="ctr"/>
                      <a:r>
                        <a:rPr lang="en-US" sz="1200" dirty="0"/>
                        <a:t>111</a:t>
                      </a:r>
                    </a:p>
                  </a:txBody>
                  <a:tcPr/>
                </a:tc>
                <a:tc>
                  <a:txBody>
                    <a:bodyPr/>
                    <a:lstStyle/>
                    <a:p>
                      <a:r>
                        <a:rPr lang="en-US" sz="1200" dirty="0"/>
                        <a:t>Infiniti</a:t>
                      </a:r>
                    </a:p>
                  </a:txBody>
                  <a:tcPr/>
                </a:tc>
                <a:tc>
                  <a:txBody>
                    <a:bodyPr/>
                    <a:lstStyle/>
                    <a:p>
                      <a:pPr algn="ctr"/>
                      <a:r>
                        <a:rPr lang="en-US" sz="1200" dirty="0"/>
                        <a:t>107</a:t>
                      </a:r>
                    </a:p>
                  </a:txBody>
                  <a:tcPr/>
                </a:tc>
                <a:tc>
                  <a:txBody>
                    <a:bodyPr/>
                    <a:lstStyle/>
                    <a:p>
                      <a:r>
                        <a:rPr lang="en-US" sz="1200" dirty="0"/>
                        <a:t>Mitsubishi</a:t>
                      </a:r>
                    </a:p>
                  </a:txBody>
                  <a:tcPr/>
                </a:tc>
                <a:tc>
                  <a:txBody>
                    <a:bodyPr/>
                    <a:lstStyle/>
                    <a:p>
                      <a:pPr algn="ctr"/>
                      <a:r>
                        <a:rPr lang="en-US" sz="1200" dirty="0"/>
                        <a:t>146</a:t>
                      </a:r>
                    </a:p>
                  </a:txBody>
                  <a:tcPr/>
                </a:tc>
                <a:extLst>
                  <a:ext uri="{0D108BD9-81ED-4DB2-BD59-A6C34878D82A}">
                    <a16:rowId xmlns:a16="http://schemas.microsoft.com/office/drawing/2014/main" val="2133121065"/>
                  </a:ext>
                </a:extLst>
              </a:tr>
              <a:tr h="0">
                <a:tc>
                  <a:txBody>
                    <a:bodyPr/>
                    <a:lstStyle/>
                    <a:p>
                      <a:r>
                        <a:rPr lang="en-US" sz="1200" dirty="0"/>
                        <a:t>BMW</a:t>
                      </a:r>
                    </a:p>
                  </a:txBody>
                  <a:tcPr/>
                </a:tc>
                <a:tc>
                  <a:txBody>
                    <a:bodyPr/>
                    <a:lstStyle/>
                    <a:p>
                      <a:pPr algn="ctr"/>
                      <a:r>
                        <a:rPr lang="en-US" sz="1200" dirty="0"/>
                        <a:t>113</a:t>
                      </a:r>
                    </a:p>
                  </a:txBody>
                  <a:tcPr/>
                </a:tc>
                <a:tc>
                  <a:txBody>
                    <a:bodyPr/>
                    <a:lstStyle/>
                    <a:p>
                      <a:r>
                        <a:rPr lang="en-US" sz="1200" dirty="0"/>
                        <a:t>Jaguar</a:t>
                      </a:r>
                    </a:p>
                  </a:txBody>
                  <a:tcPr/>
                </a:tc>
                <a:tc>
                  <a:txBody>
                    <a:bodyPr/>
                    <a:lstStyle/>
                    <a:p>
                      <a:pPr algn="ctr"/>
                      <a:r>
                        <a:rPr lang="en-US" sz="1200" dirty="0"/>
                        <a:t>130</a:t>
                      </a:r>
                    </a:p>
                  </a:txBody>
                  <a:tcPr/>
                </a:tc>
                <a:tc>
                  <a:txBody>
                    <a:bodyPr/>
                    <a:lstStyle/>
                    <a:p>
                      <a:r>
                        <a:rPr lang="en-US" sz="1200" dirty="0"/>
                        <a:t>Nissan</a:t>
                      </a:r>
                    </a:p>
                  </a:txBody>
                  <a:tcPr/>
                </a:tc>
                <a:tc>
                  <a:txBody>
                    <a:bodyPr/>
                    <a:lstStyle/>
                    <a:p>
                      <a:pPr algn="ctr"/>
                      <a:r>
                        <a:rPr lang="en-US" sz="1200" dirty="0"/>
                        <a:t>111</a:t>
                      </a:r>
                    </a:p>
                  </a:txBody>
                  <a:tcPr/>
                </a:tc>
                <a:extLst>
                  <a:ext uri="{0D108BD9-81ED-4DB2-BD59-A6C34878D82A}">
                    <a16:rowId xmlns:a16="http://schemas.microsoft.com/office/drawing/2014/main" val="1617094382"/>
                  </a:ext>
                </a:extLst>
              </a:tr>
              <a:tr h="0">
                <a:tc>
                  <a:txBody>
                    <a:bodyPr/>
                    <a:lstStyle/>
                    <a:p>
                      <a:r>
                        <a:rPr lang="en-US" sz="1200" dirty="0"/>
                        <a:t>Buick</a:t>
                      </a:r>
                    </a:p>
                  </a:txBody>
                  <a:tcPr/>
                </a:tc>
                <a:tc>
                  <a:txBody>
                    <a:bodyPr/>
                    <a:lstStyle/>
                    <a:p>
                      <a:pPr algn="ctr"/>
                      <a:r>
                        <a:rPr lang="en-US" sz="1200" dirty="0"/>
                        <a:t>114</a:t>
                      </a:r>
                    </a:p>
                  </a:txBody>
                  <a:tcPr/>
                </a:tc>
                <a:tc>
                  <a:txBody>
                    <a:bodyPr/>
                    <a:lstStyle/>
                    <a:p>
                      <a:r>
                        <a:rPr lang="en-US" sz="1200" dirty="0"/>
                        <a:t>Jeep</a:t>
                      </a:r>
                    </a:p>
                  </a:txBody>
                  <a:tcPr/>
                </a:tc>
                <a:tc>
                  <a:txBody>
                    <a:bodyPr/>
                    <a:lstStyle/>
                    <a:p>
                      <a:pPr algn="ctr"/>
                      <a:r>
                        <a:rPr lang="en-US" sz="1200" dirty="0"/>
                        <a:t>129</a:t>
                      </a:r>
                    </a:p>
                  </a:txBody>
                  <a:tcPr/>
                </a:tc>
                <a:tc>
                  <a:txBody>
                    <a:bodyPr/>
                    <a:lstStyle/>
                    <a:p>
                      <a:r>
                        <a:rPr lang="en-US" sz="1200" dirty="0"/>
                        <a:t>Porsche</a:t>
                      </a:r>
                    </a:p>
                  </a:txBody>
                  <a:tcPr/>
                </a:tc>
                <a:tc>
                  <a:txBody>
                    <a:bodyPr/>
                    <a:lstStyle/>
                    <a:p>
                      <a:pPr marL="60325" indent="0" algn="ctr"/>
                      <a:r>
                        <a:rPr lang="en-US" sz="1200" dirty="0"/>
                        <a:t>83</a:t>
                      </a:r>
                    </a:p>
                  </a:txBody>
                  <a:tcPr/>
                </a:tc>
                <a:extLst>
                  <a:ext uri="{0D108BD9-81ED-4DB2-BD59-A6C34878D82A}">
                    <a16:rowId xmlns:a16="http://schemas.microsoft.com/office/drawing/2014/main" val="2578710344"/>
                  </a:ext>
                </a:extLst>
              </a:tr>
              <a:tr h="0">
                <a:tc>
                  <a:txBody>
                    <a:bodyPr/>
                    <a:lstStyle/>
                    <a:p>
                      <a:r>
                        <a:rPr lang="en-US" sz="1200" dirty="0"/>
                        <a:t>Cadillac</a:t>
                      </a:r>
                    </a:p>
                  </a:txBody>
                  <a:tcPr/>
                </a:tc>
                <a:tc>
                  <a:txBody>
                    <a:bodyPr/>
                    <a:lstStyle/>
                    <a:p>
                      <a:pPr algn="ctr"/>
                      <a:r>
                        <a:rPr lang="en-US" sz="1200" dirty="0"/>
                        <a:t>111</a:t>
                      </a:r>
                    </a:p>
                  </a:txBody>
                  <a:tcPr/>
                </a:tc>
                <a:tc>
                  <a:txBody>
                    <a:bodyPr/>
                    <a:lstStyle/>
                    <a:p>
                      <a:r>
                        <a:rPr lang="en-US" sz="1200" dirty="0"/>
                        <a:t>Kia</a:t>
                      </a:r>
                    </a:p>
                  </a:txBody>
                  <a:tcPr/>
                </a:tc>
                <a:tc>
                  <a:txBody>
                    <a:bodyPr/>
                    <a:lstStyle/>
                    <a:p>
                      <a:pPr algn="ctr"/>
                      <a:r>
                        <a:rPr lang="en-US" sz="1200" dirty="0"/>
                        <a:t>126</a:t>
                      </a:r>
                    </a:p>
                  </a:txBody>
                  <a:tcPr/>
                </a:tc>
                <a:tc>
                  <a:txBody>
                    <a:bodyPr/>
                    <a:lstStyle/>
                    <a:p>
                      <a:r>
                        <a:rPr lang="en-US" sz="1200" dirty="0"/>
                        <a:t>Ram</a:t>
                      </a:r>
                    </a:p>
                  </a:txBody>
                  <a:tcPr/>
                </a:tc>
                <a:tc>
                  <a:txBody>
                    <a:bodyPr/>
                    <a:lstStyle/>
                    <a:p>
                      <a:pPr algn="ctr"/>
                      <a:r>
                        <a:rPr lang="en-US" sz="1200" dirty="0"/>
                        <a:t>110</a:t>
                      </a:r>
                    </a:p>
                  </a:txBody>
                  <a:tcPr/>
                </a:tc>
                <a:extLst>
                  <a:ext uri="{0D108BD9-81ED-4DB2-BD59-A6C34878D82A}">
                    <a16:rowId xmlns:a16="http://schemas.microsoft.com/office/drawing/2014/main" val="3262998510"/>
                  </a:ext>
                </a:extLst>
              </a:tr>
              <a:tr h="0">
                <a:tc>
                  <a:txBody>
                    <a:bodyPr/>
                    <a:lstStyle/>
                    <a:p>
                      <a:r>
                        <a:rPr lang="en-US" sz="1200" dirty="0"/>
                        <a:t>Chevrolet</a:t>
                      </a:r>
                    </a:p>
                  </a:txBody>
                  <a:tcPr/>
                </a:tc>
                <a:tc>
                  <a:txBody>
                    <a:bodyPr/>
                    <a:lstStyle/>
                    <a:p>
                      <a:pPr algn="ctr"/>
                      <a:r>
                        <a:rPr lang="en-US" sz="1200" dirty="0"/>
                        <a:t>111</a:t>
                      </a:r>
                    </a:p>
                  </a:txBody>
                  <a:tcPr/>
                </a:tc>
                <a:tc>
                  <a:txBody>
                    <a:bodyPr/>
                    <a:lstStyle/>
                    <a:p>
                      <a:r>
                        <a:rPr lang="en-US" sz="1200" dirty="0"/>
                        <a:t>Land Rover</a:t>
                      </a:r>
                    </a:p>
                  </a:txBody>
                  <a:tcPr/>
                </a:tc>
                <a:tc>
                  <a:txBody>
                    <a:bodyPr/>
                    <a:lstStyle/>
                    <a:p>
                      <a:pPr algn="ctr"/>
                      <a:r>
                        <a:rPr lang="en-US" sz="1200" dirty="0"/>
                        <a:t>170</a:t>
                      </a:r>
                    </a:p>
                  </a:txBody>
                  <a:tcPr/>
                </a:tc>
                <a:tc>
                  <a:txBody>
                    <a:bodyPr/>
                    <a:lstStyle/>
                    <a:p>
                      <a:r>
                        <a:rPr lang="en-US" sz="1200" dirty="0"/>
                        <a:t>Scion</a:t>
                      </a:r>
                    </a:p>
                  </a:txBody>
                  <a:tcPr/>
                </a:tc>
                <a:tc>
                  <a:txBody>
                    <a:bodyPr/>
                    <a:lstStyle/>
                    <a:p>
                      <a:pPr algn="ctr"/>
                      <a:r>
                        <a:rPr lang="en-US" sz="1200" dirty="0"/>
                        <a:t>114</a:t>
                      </a:r>
                    </a:p>
                  </a:txBody>
                  <a:tcPr/>
                </a:tc>
                <a:extLst>
                  <a:ext uri="{0D108BD9-81ED-4DB2-BD59-A6C34878D82A}">
                    <a16:rowId xmlns:a16="http://schemas.microsoft.com/office/drawing/2014/main" val="1815194840"/>
                  </a:ext>
                </a:extLst>
              </a:tr>
              <a:tr h="0">
                <a:tc>
                  <a:txBody>
                    <a:bodyPr/>
                    <a:lstStyle/>
                    <a:p>
                      <a:r>
                        <a:rPr lang="en-US" sz="1200" dirty="0"/>
                        <a:t>Chrysler</a:t>
                      </a:r>
                    </a:p>
                  </a:txBody>
                  <a:tcPr/>
                </a:tc>
                <a:tc>
                  <a:txBody>
                    <a:bodyPr/>
                    <a:lstStyle/>
                    <a:p>
                      <a:pPr algn="ctr"/>
                      <a:r>
                        <a:rPr lang="en-US" sz="1200" dirty="0"/>
                        <a:t>122</a:t>
                      </a:r>
                    </a:p>
                  </a:txBody>
                  <a:tcPr/>
                </a:tc>
                <a:tc>
                  <a:txBody>
                    <a:bodyPr/>
                    <a:lstStyle/>
                    <a:p>
                      <a:r>
                        <a:rPr lang="en-US" sz="1200" dirty="0"/>
                        <a:t>Lexus</a:t>
                      </a:r>
                    </a:p>
                  </a:txBody>
                  <a:tcPr/>
                </a:tc>
                <a:tc>
                  <a:txBody>
                    <a:bodyPr/>
                    <a:lstStyle/>
                    <a:p>
                      <a:pPr marL="60325" indent="0" algn="ctr"/>
                      <a:r>
                        <a:rPr lang="en-US" sz="1200" dirty="0"/>
                        <a:t>88</a:t>
                      </a:r>
                    </a:p>
                  </a:txBody>
                  <a:tcPr/>
                </a:tc>
                <a:tc>
                  <a:txBody>
                    <a:bodyPr/>
                    <a:lstStyle/>
                    <a:p>
                      <a:r>
                        <a:rPr lang="en-US" sz="1200" dirty="0"/>
                        <a:t>Subaru</a:t>
                      </a:r>
                    </a:p>
                  </a:txBody>
                  <a:tcPr/>
                </a:tc>
                <a:tc>
                  <a:txBody>
                    <a:bodyPr/>
                    <a:lstStyle/>
                    <a:p>
                      <a:pPr algn="ctr"/>
                      <a:r>
                        <a:rPr lang="en-US" sz="1200" dirty="0"/>
                        <a:t>121</a:t>
                      </a:r>
                    </a:p>
                  </a:txBody>
                  <a:tcPr/>
                </a:tc>
                <a:extLst>
                  <a:ext uri="{0D108BD9-81ED-4DB2-BD59-A6C34878D82A}">
                    <a16:rowId xmlns:a16="http://schemas.microsoft.com/office/drawing/2014/main" val="3518361506"/>
                  </a:ext>
                </a:extLst>
              </a:tr>
              <a:tr h="0">
                <a:tc>
                  <a:txBody>
                    <a:bodyPr/>
                    <a:lstStyle/>
                    <a:p>
                      <a:r>
                        <a:rPr lang="en-US" sz="1200" dirty="0"/>
                        <a:t>Dodge</a:t>
                      </a:r>
                    </a:p>
                  </a:txBody>
                  <a:tcPr/>
                </a:tc>
                <a:tc>
                  <a:txBody>
                    <a:bodyPr/>
                    <a:lstStyle/>
                    <a:p>
                      <a:pPr algn="ctr"/>
                      <a:r>
                        <a:rPr lang="en-US" sz="1200" dirty="0"/>
                        <a:t>130</a:t>
                      </a:r>
                    </a:p>
                  </a:txBody>
                  <a:tcPr/>
                </a:tc>
                <a:tc>
                  <a:txBody>
                    <a:bodyPr/>
                    <a:lstStyle/>
                    <a:p>
                      <a:r>
                        <a:rPr lang="en-US" sz="1200" dirty="0"/>
                        <a:t>Lincoln</a:t>
                      </a:r>
                    </a:p>
                  </a:txBody>
                  <a:tcPr/>
                </a:tc>
                <a:tc>
                  <a:txBody>
                    <a:bodyPr/>
                    <a:lstStyle/>
                    <a:p>
                      <a:pPr algn="ctr"/>
                      <a:r>
                        <a:rPr lang="en-US" sz="1200" dirty="0"/>
                        <a:t>106</a:t>
                      </a:r>
                    </a:p>
                  </a:txBody>
                  <a:tcPr/>
                </a:tc>
                <a:tc>
                  <a:txBody>
                    <a:bodyPr/>
                    <a:lstStyle/>
                    <a:p>
                      <a:r>
                        <a:rPr lang="en-US" sz="1200" dirty="0"/>
                        <a:t>Toyota</a:t>
                      </a:r>
                    </a:p>
                  </a:txBody>
                  <a:tcPr/>
                </a:tc>
                <a:tc>
                  <a:txBody>
                    <a:bodyPr/>
                    <a:lstStyle/>
                    <a:p>
                      <a:pPr algn="ctr"/>
                      <a:r>
                        <a:rPr lang="en-US" sz="1200" dirty="0"/>
                        <a:t>117</a:t>
                      </a:r>
                    </a:p>
                  </a:txBody>
                  <a:tcPr/>
                </a:tc>
                <a:extLst>
                  <a:ext uri="{0D108BD9-81ED-4DB2-BD59-A6C34878D82A}">
                    <a16:rowId xmlns:a16="http://schemas.microsoft.com/office/drawing/2014/main" val="376904284"/>
                  </a:ext>
                </a:extLst>
              </a:tr>
              <a:tr h="0">
                <a:tc>
                  <a:txBody>
                    <a:bodyPr/>
                    <a:lstStyle/>
                    <a:p>
                      <a:r>
                        <a:rPr lang="en-US" sz="1200" dirty="0"/>
                        <a:t>Ford</a:t>
                      </a:r>
                    </a:p>
                  </a:txBody>
                  <a:tcPr/>
                </a:tc>
                <a:tc>
                  <a:txBody>
                    <a:bodyPr/>
                    <a:lstStyle/>
                    <a:p>
                      <a:pPr marL="60325" indent="0" algn="ctr"/>
                      <a:r>
                        <a:rPr lang="en-US" sz="1200" dirty="0"/>
                        <a:t>93</a:t>
                      </a:r>
                    </a:p>
                  </a:txBody>
                  <a:tcPr/>
                </a:tc>
                <a:tc>
                  <a:txBody>
                    <a:bodyPr/>
                    <a:lstStyle/>
                    <a:p>
                      <a:r>
                        <a:rPr lang="en-US" sz="1200" dirty="0"/>
                        <a:t>Mazda</a:t>
                      </a:r>
                    </a:p>
                  </a:txBody>
                  <a:tcPr/>
                </a:tc>
                <a:tc>
                  <a:txBody>
                    <a:bodyPr/>
                    <a:lstStyle/>
                    <a:p>
                      <a:pPr algn="ctr"/>
                      <a:r>
                        <a:rPr lang="en-US" sz="1200" dirty="0"/>
                        <a:t>114</a:t>
                      </a:r>
                    </a:p>
                  </a:txBody>
                  <a:tcPr/>
                </a:tc>
                <a:tc>
                  <a:txBody>
                    <a:bodyPr/>
                    <a:lstStyle/>
                    <a:p>
                      <a:r>
                        <a:rPr lang="en-US" sz="1200" dirty="0"/>
                        <a:t>Volkswagen</a:t>
                      </a:r>
                    </a:p>
                  </a:txBody>
                  <a:tcPr/>
                </a:tc>
                <a:tc>
                  <a:txBody>
                    <a:bodyPr/>
                    <a:lstStyle/>
                    <a:p>
                      <a:pPr algn="ctr"/>
                      <a:r>
                        <a:rPr lang="en-US" sz="1200" dirty="0"/>
                        <a:t>135</a:t>
                      </a:r>
                    </a:p>
                  </a:txBody>
                  <a:tcPr/>
                </a:tc>
                <a:extLst>
                  <a:ext uri="{0D108BD9-81ED-4DB2-BD59-A6C34878D82A}">
                    <a16:rowId xmlns:a16="http://schemas.microsoft.com/office/drawing/2014/main" val="3159942375"/>
                  </a:ext>
                </a:extLst>
              </a:tr>
              <a:tr h="0">
                <a:tc>
                  <a:txBody>
                    <a:bodyPr/>
                    <a:lstStyle/>
                    <a:p>
                      <a:r>
                        <a:rPr lang="en-US" sz="1200" dirty="0"/>
                        <a:t>GMC</a:t>
                      </a:r>
                    </a:p>
                  </a:txBody>
                  <a:tcPr/>
                </a:tc>
                <a:tc>
                  <a:txBody>
                    <a:bodyPr/>
                    <a:lstStyle/>
                    <a:p>
                      <a:pPr algn="ctr"/>
                      <a:r>
                        <a:rPr lang="en-US" sz="1200" dirty="0"/>
                        <a:t>126</a:t>
                      </a:r>
                    </a:p>
                  </a:txBody>
                  <a:tcPr/>
                </a:tc>
                <a:tc>
                  <a:txBody>
                    <a:bodyPr/>
                    <a:lstStyle/>
                    <a:p>
                      <a:r>
                        <a:rPr lang="en-US" sz="1200" dirty="0"/>
                        <a:t>Mercedes-Benz</a:t>
                      </a:r>
                    </a:p>
                  </a:txBody>
                  <a:tcPr/>
                </a:tc>
                <a:tc>
                  <a:txBody>
                    <a:bodyPr/>
                    <a:lstStyle/>
                    <a:p>
                      <a:pPr marL="60325" indent="0" algn="ctr"/>
                      <a:r>
                        <a:rPr lang="en-US" sz="1200" dirty="0"/>
                        <a:t>87</a:t>
                      </a:r>
                    </a:p>
                  </a:txBody>
                  <a:tcPr/>
                </a:tc>
                <a:tc>
                  <a:txBody>
                    <a:bodyPr/>
                    <a:lstStyle/>
                    <a:p>
                      <a:r>
                        <a:rPr lang="en-US" sz="1200" dirty="0"/>
                        <a:t>Volvo</a:t>
                      </a:r>
                    </a:p>
                  </a:txBody>
                  <a:tcPr/>
                </a:tc>
                <a:tc>
                  <a:txBody>
                    <a:bodyPr/>
                    <a:lstStyle/>
                    <a:p>
                      <a:pPr algn="ctr"/>
                      <a:r>
                        <a:rPr lang="en-US" sz="1200" dirty="0"/>
                        <a:t>109</a:t>
                      </a:r>
                    </a:p>
                  </a:txBody>
                  <a:tcPr/>
                </a:tc>
                <a:extLst>
                  <a:ext uri="{0D108BD9-81ED-4DB2-BD59-A6C34878D82A}">
                    <a16:rowId xmlns:a16="http://schemas.microsoft.com/office/drawing/2014/main" val="3429772191"/>
                  </a:ext>
                </a:extLst>
              </a:tr>
              <a:tr h="142240">
                <a:tc>
                  <a:txBody>
                    <a:bodyPr/>
                    <a:lstStyle/>
                    <a:p>
                      <a:r>
                        <a:rPr lang="en-US" sz="1200" dirty="0"/>
                        <a:t>Honda</a:t>
                      </a:r>
                    </a:p>
                  </a:txBody>
                  <a:tcPr/>
                </a:tc>
                <a:tc>
                  <a:txBody>
                    <a:bodyPr/>
                    <a:lstStyle/>
                    <a:p>
                      <a:pPr marL="60325" indent="0" algn="ctr"/>
                      <a:r>
                        <a:rPr lang="en-US" sz="1200" dirty="0"/>
                        <a:t>95</a:t>
                      </a:r>
                    </a:p>
                  </a:txBody>
                  <a:tcPr/>
                </a:tc>
                <a:tc>
                  <a:txBody>
                    <a:bodyPr/>
                    <a:lstStyle/>
                    <a:p>
                      <a:r>
                        <a:rPr lang="en-US" sz="1200" dirty="0"/>
                        <a:t>Mercury</a:t>
                      </a:r>
                    </a:p>
                  </a:txBody>
                  <a:tcPr/>
                </a:tc>
                <a:tc>
                  <a:txBody>
                    <a:bodyPr/>
                    <a:lstStyle/>
                    <a:p>
                      <a:pPr algn="ctr"/>
                      <a:r>
                        <a:rPr lang="en-US" sz="1200" dirty="0"/>
                        <a:t>113</a:t>
                      </a:r>
                    </a:p>
                  </a:txBody>
                  <a:tcPr/>
                </a:tc>
                <a:tc>
                  <a:txBody>
                    <a:bodyPr/>
                    <a:lstStyle/>
                    <a:p>
                      <a:endParaRPr lang="en-US" sz="1200"/>
                    </a:p>
                  </a:txBody>
                  <a:tcPr/>
                </a:tc>
                <a:tc>
                  <a:txBody>
                    <a:bodyPr/>
                    <a:lstStyle/>
                    <a:p>
                      <a:pPr algn="ctr"/>
                      <a:endParaRPr lang="en-US" sz="1200" dirty="0"/>
                    </a:p>
                  </a:txBody>
                  <a:tcPr/>
                </a:tc>
                <a:extLst>
                  <a:ext uri="{0D108BD9-81ED-4DB2-BD59-A6C34878D82A}">
                    <a16:rowId xmlns:a16="http://schemas.microsoft.com/office/drawing/2014/main" val="2092006067"/>
                  </a:ext>
                </a:extLst>
              </a:tr>
            </a:tbl>
          </a:graphicData>
        </a:graphic>
      </p:graphicFrame>
      <p:sp>
        <p:nvSpPr>
          <p:cNvPr id="7" name="Content Placeholder 6"/>
          <p:cNvSpPr>
            <a:spLocks noGrp="1"/>
          </p:cNvSpPr>
          <p:nvPr>
            <p:ph sz="quarter" idx="17"/>
          </p:nvPr>
        </p:nvSpPr>
        <p:spPr>
          <a:xfrm>
            <a:off x="342900" y="6403004"/>
            <a:ext cx="8191500" cy="195916"/>
          </a:xfrm>
        </p:spPr>
        <p:txBody>
          <a:bodyPr tIns="0"/>
          <a:lstStyle/>
          <a:p>
            <a:r>
              <a:rPr lang="en-US" sz="1200" noProof="0" dirty="0"/>
              <a:t>Source: J.D. Power and Associates 2010 Initial Quality </a:t>
            </a:r>
            <a:r>
              <a:rPr lang="en-US" sz="1200" noProof="0" dirty="0" err="1"/>
              <a:t>Study</a:t>
            </a:r>
            <a:r>
              <a:rPr lang="en-US" sz="1200" baseline="30000" noProof="0" dirty="0" err="1"/>
              <a:t>TM</a:t>
            </a:r>
            <a:r>
              <a:rPr lang="en-US" sz="1200" noProof="0" dirty="0"/>
              <a:t>.</a:t>
            </a:r>
          </a:p>
        </p:txBody>
      </p:sp>
      <p:sp>
        <p:nvSpPr>
          <p:cNvPr id="10" name="Slide Number Placeholder 9"/>
          <p:cNvSpPr>
            <a:spLocks noGrp="1"/>
          </p:cNvSpPr>
          <p:nvPr>
            <p:ph type="sldNum" sz="quarter" idx="10"/>
          </p:nvPr>
        </p:nvSpPr>
        <p:spPr/>
        <p:txBody>
          <a:bodyPr/>
          <a:lstStyle/>
          <a:p>
            <a:fld id="{68151E55-6873-49E2-B8D5-2F265E6F1973}" type="slidenum">
              <a:rPr lang="en-US" smtClean="0"/>
              <a:t>52</a:t>
            </a:fld>
            <a:endParaRPr lang="en-US" dirty="0"/>
          </a:p>
        </p:txBody>
      </p:sp>
    </p:spTree>
    <p:extLst>
      <p:ext uri="{BB962C8B-B14F-4D97-AF65-F5344CB8AC3E}">
        <p14:creationId xmlns:p14="http://schemas.microsoft.com/office/powerpoint/2010/main" val="23500902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Question 8</a:t>
            </a:r>
          </a:p>
        </p:txBody>
      </p:sp>
      <p:sp>
        <p:nvSpPr>
          <p:cNvPr id="3" name="Content Placeholder 2"/>
          <p:cNvSpPr>
            <a:spLocks noGrp="1"/>
          </p:cNvSpPr>
          <p:nvPr>
            <p:ph sz="quarter" idx="11"/>
          </p:nvPr>
        </p:nvSpPr>
        <p:spPr>
          <a:xfrm>
            <a:off x="8595360" y="55330"/>
            <a:ext cx="487680" cy="2037894"/>
          </a:xfrm>
        </p:spPr>
        <p:txBody>
          <a:bodyPr vert="vert" rIns="0"/>
          <a:lstStyle/>
          <a:p>
            <a:pPr marL="1025525" indent="-1025525"/>
            <a:r>
              <a:rPr lang="en-US" b="1" noProof="0" dirty="0"/>
              <a:t>L</a:t>
            </a:r>
            <a:r>
              <a:rPr lang="en-US" sz="100" b="1" noProof="0" dirty="0"/>
              <a:t> </a:t>
            </a:r>
            <a:r>
              <a:rPr lang="en-US" b="1" noProof="0" dirty="0"/>
              <a:t>O 3.2, 3, 4</a:t>
            </a:r>
          </a:p>
        </p:txBody>
      </p:sp>
      <p:sp>
        <p:nvSpPr>
          <p:cNvPr id="4" name="Content Placeholder 3"/>
          <p:cNvSpPr>
            <a:spLocks noGrp="1"/>
          </p:cNvSpPr>
          <p:nvPr>
            <p:ph sz="quarter" idx="14"/>
          </p:nvPr>
        </p:nvSpPr>
        <p:spPr>
          <a:xfrm>
            <a:off x="342900" y="1262776"/>
            <a:ext cx="8191500" cy="2242424"/>
          </a:xfrm>
        </p:spPr>
        <p:txBody>
          <a:bodyPr/>
          <a:lstStyle/>
          <a:p>
            <a:pPr marL="350838" indent="-350838"/>
            <a:r>
              <a:rPr lang="en-US" noProof="0" dirty="0"/>
              <a:t>a. Make a frequency distribution for the annual compensation of 40 randomly chosen C</a:t>
            </a:r>
            <a:r>
              <a:rPr lang="en-US" sz="100" noProof="0" dirty="0"/>
              <a:t> </a:t>
            </a:r>
            <a:r>
              <a:rPr lang="en-US" noProof="0" dirty="0"/>
              <a:t>E</a:t>
            </a:r>
            <a:r>
              <a:rPr lang="en-US" sz="100" noProof="0" dirty="0"/>
              <a:t> </a:t>
            </a:r>
            <a:r>
              <a:rPr lang="en-US" noProof="0" dirty="0" err="1"/>
              <a:t>Os</a:t>
            </a:r>
            <a:r>
              <a:rPr lang="en-US" noProof="0" dirty="0"/>
              <a:t> (millions of dollars).</a:t>
            </a:r>
          </a:p>
          <a:p>
            <a:pPr marL="350838" indent="-350838"/>
            <a:r>
              <a:rPr lang="en-US" noProof="0" dirty="0"/>
              <a:t>b. Describe the shape of the histogram.</a:t>
            </a:r>
          </a:p>
          <a:p>
            <a:pPr marL="350838" indent="-350838"/>
            <a:r>
              <a:rPr lang="en-US" noProof="0" dirty="0"/>
              <a:t>c. Identify any unusual values.</a:t>
            </a:r>
          </a:p>
        </p:txBody>
      </p:sp>
      <p:graphicFrame>
        <p:nvGraphicFramePr>
          <p:cNvPr id="7" name="Table 6"/>
          <p:cNvGraphicFramePr>
            <a:graphicFrameLocks noGrp="1"/>
          </p:cNvGraphicFramePr>
          <p:nvPr>
            <p:extLst>
              <p:ext uri="{D42A27DB-BD31-4B8C-83A1-F6EECF244321}">
                <p14:modId xmlns:p14="http://schemas.microsoft.com/office/powerpoint/2010/main" val="3268417565"/>
              </p:ext>
            </p:extLst>
          </p:nvPr>
        </p:nvGraphicFramePr>
        <p:xfrm>
          <a:off x="419104" y="3926840"/>
          <a:ext cx="8115296" cy="1854200"/>
        </p:xfrm>
        <a:graphic>
          <a:graphicData uri="http://schemas.openxmlformats.org/drawingml/2006/table">
            <a:tbl>
              <a:tblPr firstRow="1" bandRow="1">
                <a:tableStyleId>{2D5ABB26-0587-4C30-8999-92F81FD0307C}</a:tableStyleId>
              </a:tblPr>
              <a:tblGrid>
                <a:gridCol w="1014412">
                  <a:extLst>
                    <a:ext uri="{9D8B030D-6E8A-4147-A177-3AD203B41FA5}">
                      <a16:colId xmlns:a16="http://schemas.microsoft.com/office/drawing/2014/main" val="3773144585"/>
                    </a:ext>
                  </a:extLst>
                </a:gridCol>
                <a:gridCol w="1014412">
                  <a:extLst>
                    <a:ext uri="{9D8B030D-6E8A-4147-A177-3AD203B41FA5}">
                      <a16:colId xmlns:a16="http://schemas.microsoft.com/office/drawing/2014/main" val="2727086130"/>
                    </a:ext>
                  </a:extLst>
                </a:gridCol>
                <a:gridCol w="1014412">
                  <a:extLst>
                    <a:ext uri="{9D8B030D-6E8A-4147-A177-3AD203B41FA5}">
                      <a16:colId xmlns:a16="http://schemas.microsoft.com/office/drawing/2014/main" val="20608125"/>
                    </a:ext>
                  </a:extLst>
                </a:gridCol>
                <a:gridCol w="1014412">
                  <a:extLst>
                    <a:ext uri="{9D8B030D-6E8A-4147-A177-3AD203B41FA5}">
                      <a16:colId xmlns:a16="http://schemas.microsoft.com/office/drawing/2014/main" val="3439020643"/>
                    </a:ext>
                  </a:extLst>
                </a:gridCol>
                <a:gridCol w="1014412">
                  <a:extLst>
                    <a:ext uri="{9D8B030D-6E8A-4147-A177-3AD203B41FA5}">
                      <a16:colId xmlns:a16="http://schemas.microsoft.com/office/drawing/2014/main" val="1724880456"/>
                    </a:ext>
                  </a:extLst>
                </a:gridCol>
                <a:gridCol w="1014412">
                  <a:extLst>
                    <a:ext uri="{9D8B030D-6E8A-4147-A177-3AD203B41FA5}">
                      <a16:colId xmlns:a16="http://schemas.microsoft.com/office/drawing/2014/main" val="3715509375"/>
                    </a:ext>
                  </a:extLst>
                </a:gridCol>
                <a:gridCol w="1014412">
                  <a:extLst>
                    <a:ext uri="{9D8B030D-6E8A-4147-A177-3AD203B41FA5}">
                      <a16:colId xmlns:a16="http://schemas.microsoft.com/office/drawing/2014/main" val="683130622"/>
                    </a:ext>
                  </a:extLst>
                </a:gridCol>
                <a:gridCol w="1014412">
                  <a:extLst>
                    <a:ext uri="{9D8B030D-6E8A-4147-A177-3AD203B41FA5}">
                      <a16:colId xmlns:a16="http://schemas.microsoft.com/office/drawing/2014/main" val="1974175423"/>
                    </a:ext>
                  </a:extLst>
                </a:gridCol>
              </a:tblGrid>
              <a:tr h="370840">
                <a:tc>
                  <a:txBody>
                    <a:bodyPr/>
                    <a:lstStyle/>
                    <a:p>
                      <a:pPr algn="r"/>
                      <a:r>
                        <a:rPr lang="en-US" dirty="0"/>
                        <a:t>5.33</a:t>
                      </a:r>
                    </a:p>
                  </a:txBody>
                  <a:tcPr/>
                </a:tc>
                <a:tc>
                  <a:txBody>
                    <a:bodyPr/>
                    <a:lstStyle/>
                    <a:p>
                      <a:pPr marL="114300" indent="0" algn="ctr"/>
                      <a:r>
                        <a:rPr lang="en-US" dirty="0"/>
                        <a:t>18.3</a:t>
                      </a:r>
                    </a:p>
                  </a:txBody>
                  <a:tcPr/>
                </a:tc>
                <a:tc>
                  <a:txBody>
                    <a:bodyPr/>
                    <a:lstStyle/>
                    <a:p>
                      <a:pPr algn="r"/>
                      <a:r>
                        <a:rPr lang="en-US" dirty="0"/>
                        <a:t>24.55</a:t>
                      </a:r>
                    </a:p>
                  </a:txBody>
                  <a:tcPr/>
                </a:tc>
                <a:tc>
                  <a:txBody>
                    <a:bodyPr/>
                    <a:lstStyle/>
                    <a:p>
                      <a:pPr algn="r"/>
                      <a:r>
                        <a:rPr lang="en-US" dirty="0"/>
                        <a:t>9.08</a:t>
                      </a:r>
                    </a:p>
                  </a:txBody>
                  <a:tcPr/>
                </a:tc>
                <a:tc>
                  <a:txBody>
                    <a:bodyPr/>
                    <a:lstStyle/>
                    <a:p>
                      <a:pPr algn="r"/>
                      <a:r>
                        <a:rPr lang="en-US" dirty="0"/>
                        <a:t>12.22</a:t>
                      </a:r>
                    </a:p>
                  </a:txBody>
                  <a:tcPr/>
                </a:tc>
                <a:tc>
                  <a:txBody>
                    <a:bodyPr/>
                    <a:lstStyle/>
                    <a:p>
                      <a:pPr algn="r"/>
                      <a:r>
                        <a:rPr lang="en-US" dirty="0"/>
                        <a:t>5.52</a:t>
                      </a:r>
                    </a:p>
                  </a:txBody>
                  <a:tcPr/>
                </a:tc>
                <a:tc>
                  <a:txBody>
                    <a:bodyPr/>
                    <a:lstStyle/>
                    <a:p>
                      <a:pPr algn="r"/>
                      <a:r>
                        <a:rPr lang="en-US" dirty="0"/>
                        <a:t>2.01</a:t>
                      </a:r>
                    </a:p>
                  </a:txBody>
                  <a:tcPr/>
                </a:tc>
                <a:tc>
                  <a:txBody>
                    <a:bodyPr/>
                    <a:lstStyle/>
                    <a:p>
                      <a:pPr algn="r"/>
                      <a:r>
                        <a:rPr lang="en-US" dirty="0"/>
                        <a:t>3.81</a:t>
                      </a:r>
                    </a:p>
                  </a:txBody>
                  <a:tcPr/>
                </a:tc>
                <a:extLst>
                  <a:ext uri="{0D108BD9-81ED-4DB2-BD59-A6C34878D82A}">
                    <a16:rowId xmlns:a16="http://schemas.microsoft.com/office/drawing/2014/main" val="958515108"/>
                  </a:ext>
                </a:extLst>
              </a:tr>
              <a:tr h="370840">
                <a:tc>
                  <a:txBody>
                    <a:bodyPr/>
                    <a:lstStyle/>
                    <a:p>
                      <a:pPr algn="r"/>
                      <a:r>
                        <a:rPr lang="en-US" dirty="0"/>
                        <a:t>192.92</a:t>
                      </a:r>
                    </a:p>
                  </a:txBody>
                  <a:tcPr/>
                </a:tc>
                <a:tc>
                  <a:txBody>
                    <a:bodyPr/>
                    <a:lstStyle/>
                    <a:p>
                      <a:pPr algn="r"/>
                      <a:r>
                        <a:rPr lang="en-US" dirty="0"/>
                        <a:t>17.83</a:t>
                      </a:r>
                    </a:p>
                  </a:txBody>
                  <a:tcPr/>
                </a:tc>
                <a:tc>
                  <a:txBody>
                    <a:bodyPr/>
                    <a:lstStyle/>
                    <a:p>
                      <a:pPr algn="r"/>
                      <a:r>
                        <a:rPr lang="en-US" dirty="0"/>
                        <a:t>23.77</a:t>
                      </a:r>
                    </a:p>
                  </a:txBody>
                  <a:tcPr/>
                </a:tc>
                <a:tc>
                  <a:txBody>
                    <a:bodyPr/>
                    <a:lstStyle/>
                    <a:p>
                      <a:pPr marL="228600" indent="0" algn="ctr">
                        <a:tabLst>
                          <a:tab pos="400050" algn="l"/>
                        </a:tabLst>
                      </a:pPr>
                      <a:r>
                        <a:rPr lang="en-US" dirty="0"/>
                        <a:t>8.7</a:t>
                      </a:r>
                    </a:p>
                  </a:txBody>
                  <a:tcPr/>
                </a:tc>
                <a:tc>
                  <a:txBody>
                    <a:bodyPr/>
                    <a:lstStyle/>
                    <a:p>
                      <a:pPr algn="r"/>
                      <a:r>
                        <a:rPr lang="en-US" dirty="0"/>
                        <a:t>11.15</a:t>
                      </a:r>
                    </a:p>
                  </a:txBody>
                  <a:tcPr/>
                </a:tc>
                <a:tc>
                  <a:txBody>
                    <a:bodyPr/>
                    <a:lstStyle/>
                    <a:p>
                      <a:pPr algn="r"/>
                      <a:r>
                        <a:rPr lang="en-US" dirty="0"/>
                        <a:t>4.87</a:t>
                      </a:r>
                    </a:p>
                  </a:txBody>
                  <a:tcPr/>
                </a:tc>
                <a:tc>
                  <a:txBody>
                    <a:bodyPr/>
                    <a:lstStyle/>
                    <a:p>
                      <a:pPr algn="r"/>
                      <a:r>
                        <a:rPr lang="en-US" dirty="0"/>
                        <a:t>1.72</a:t>
                      </a:r>
                    </a:p>
                  </a:txBody>
                  <a:tcPr/>
                </a:tc>
                <a:tc>
                  <a:txBody>
                    <a:bodyPr/>
                    <a:lstStyle/>
                    <a:p>
                      <a:pPr algn="r"/>
                      <a:r>
                        <a:rPr lang="en-US" dirty="0"/>
                        <a:t>3.72</a:t>
                      </a:r>
                    </a:p>
                  </a:txBody>
                  <a:tcPr/>
                </a:tc>
                <a:extLst>
                  <a:ext uri="{0D108BD9-81ED-4DB2-BD59-A6C34878D82A}">
                    <a16:rowId xmlns:a16="http://schemas.microsoft.com/office/drawing/2014/main" val="3346754343"/>
                  </a:ext>
                </a:extLst>
              </a:tr>
              <a:tr h="370840">
                <a:tc>
                  <a:txBody>
                    <a:bodyPr/>
                    <a:lstStyle/>
                    <a:p>
                      <a:pPr algn="r"/>
                      <a:r>
                        <a:rPr lang="en-US" dirty="0"/>
                        <a:t>66.08</a:t>
                      </a:r>
                    </a:p>
                  </a:txBody>
                  <a:tcPr/>
                </a:tc>
                <a:tc>
                  <a:txBody>
                    <a:bodyPr/>
                    <a:lstStyle/>
                    <a:p>
                      <a:pPr algn="r"/>
                      <a:r>
                        <a:rPr lang="en-US" dirty="0"/>
                        <a:t>15.41</a:t>
                      </a:r>
                    </a:p>
                  </a:txBody>
                  <a:tcPr/>
                </a:tc>
                <a:tc>
                  <a:txBody>
                    <a:bodyPr/>
                    <a:lstStyle/>
                    <a:p>
                      <a:pPr algn="r"/>
                      <a:r>
                        <a:rPr lang="en-US" dirty="0"/>
                        <a:t>22.59</a:t>
                      </a:r>
                    </a:p>
                  </a:txBody>
                  <a:tcPr/>
                </a:tc>
                <a:tc>
                  <a:txBody>
                    <a:bodyPr/>
                    <a:lstStyle/>
                    <a:p>
                      <a:pPr algn="r"/>
                      <a:r>
                        <a:rPr lang="en-US" dirty="0"/>
                        <a:t>6.75</a:t>
                      </a:r>
                    </a:p>
                  </a:txBody>
                  <a:tcPr/>
                </a:tc>
                <a:tc>
                  <a:txBody>
                    <a:bodyPr/>
                    <a:lstStyle/>
                    <a:p>
                      <a:pPr algn="r"/>
                      <a:r>
                        <a:rPr lang="en-US" dirty="0"/>
                        <a:t>9.97</a:t>
                      </a:r>
                    </a:p>
                  </a:txBody>
                  <a:tcPr/>
                </a:tc>
                <a:tc>
                  <a:txBody>
                    <a:bodyPr/>
                    <a:lstStyle/>
                    <a:p>
                      <a:pPr algn="r"/>
                      <a:r>
                        <a:rPr lang="en-US" dirty="0"/>
                        <a:t>4.83</a:t>
                      </a:r>
                    </a:p>
                  </a:txBody>
                  <a:tcPr/>
                </a:tc>
                <a:tc>
                  <a:txBody>
                    <a:bodyPr/>
                    <a:lstStyle/>
                    <a:p>
                      <a:pPr algn="r"/>
                      <a:r>
                        <a:rPr lang="en-US" dirty="0"/>
                        <a:t>1.29</a:t>
                      </a:r>
                    </a:p>
                  </a:txBody>
                  <a:tcPr/>
                </a:tc>
                <a:tc>
                  <a:txBody>
                    <a:bodyPr/>
                    <a:lstStyle/>
                    <a:p>
                      <a:pPr algn="r"/>
                      <a:r>
                        <a:rPr lang="en-US" dirty="0"/>
                        <a:t>3.72</a:t>
                      </a:r>
                    </a:p>
                  </a:txBody>
                  <a:tcPr/>
                </a:tc>
                <a:extLst>
                  <a:ext uri="{0D108BD9-81ED-4DB2-BD59-A6C34878D82A}">
                    <a16:rowId xmlns:a16="http://schemas.microsoft.com/office/drawing/2014/main" val="127676480"/>
                  </a:ext>
                </a:extLst>
              </a:tr>
              <a:tr h="370840">
                <a:tc>
                  <a:txBody>
                    <a:bodyPr/>
                    <a:lstStyle/>
                    <a:p>
                      <a:pPr algn="r"/>
                      <a:r>
                        <a:rPr lang="en-US" dirty="0"/>
                        <a:t>28.09</a:t>
                      </a:r>
                    </a:p>
                  </a:txBody>
                  <a:tcPr/>
                </a:tc>
                <a:tc>
                  <a:txBody>
                    <a:bodyPr/>
                    <a:lstStyle/>
                    <a:p>
                      <a:pPr algn="r"/>
                      <a:r>
                        <a:rPr lang="en-US" dirty="0"/>
                        <a:t>12.32</a:t>
                      </a:r>
                    </a:p>
                  </a:txBody>
                  <a:tcPr/>
                </a:tc>
                <a:tc>
                  <a:txBody>
                    <a:bodyPr/>
                    <a:lstStyle/>
                    <a:p>
                      <a:pPr algn="r"/>
                      <a:r>
                        <a:rPr lang="en-US" dirty="0"/>
                        <a:t>19.55</a:t>
                      </a:r>
                    </a:p>
                  </a:txBody>
                  <a:tcPr/>
                </a:tc>
                <a:tc>
                  <a:txBody>
                    <a:bodyPr/>
                    <a:lstStyle/>
                    <a:p>
                      <a:pPr algn="r"/>
                      <a:r>
                        <a:rPr lang="en-US" dirty="0"/>
                        <a:t>5.55</a:t>
                      </a:r>
                    </a:p>
                  </a:txBody>
                  <a:tcPr/>
                </a:tc>
                <a:tc>
                  <a:txBody>
                    <a:bodyPr/>
                    <a:lstStyle/>
                    <a:p>
                      <a:pPr algn="r"/>
                      <a:r>
                        <a:rPr lang="en-US" dirty="0"/>
                        <a:t>9.19</a:t>
                      </a:r>
                    </a:p>
                  </a:txBody>
                  <a:tcPr/>
                </a:tc>
                <a:tc>
                  <a:txBody>
                    <a:bodyPr/>
                    <a:lstStyle/>
                    <a:p>
                      <a:pPr algn="r"/>
                      <a:r>
                        <a:rPr lang="en-US" dirty="0"/>
                        <a:t>3.83</a:t>
                      </a:r>
                    </a:p>
                  </a:txBody>
                  <a:tcPr/>
                </a:tc>
                <a:tc>
                  <a:txBody>
                    <a:bodyPr/>
                    <a:lstStyle/>
                    <a:p>
                      <a:pPr algn="r"/>
                      <a:r>
                        <a:rPr lang="en-US" dirty="0"/>
                        <a:t>0.79</a:t>
                      </a:r>
                    </a:p>
                  </a:txBody>
                  <a:tcPr/>
                </a:tc>
                <a:tc>
                  <a:txBody>
                    <a:bodyPr/>
                    <a:lstStyle/>
                    <a:p>
                      <a:pPr algn="r"/>
                      <a:r>
                        <a:rPr lang="en-US" dirty="0"/>
                        <a:t>2.79</a:t>
                      </a:r>
                    </a:p>
                  </a:txBody>
                  <a:tcPr/>
                </a:tc>
                <a:extLst>
                  <a:ext uri="{0D108BD9-81ED-4DB2-BD59-A6C34878D82A}">
                    <a16:rowId xmlns:a16="http://schemas.microsoft.com/office/drawing/2014/main" val="547945275"/>
                  </a:ext>
                </a:extLst>
              </a:tr>
              <a:tr h="370840">
                <a:tc>
                  <a:txBody>
                    <a:bodyPr/>
                    <a:lstStyle/>
                    <a:p>
                      <a:pPr algn="r"/>
                      <a:r>
                        <a:rPr lang="en-US" dirty="0"/>
                        <a:t>34.91</a:t>
                      </a:r>
                    </a:p>
                  </a:txBody>
                  <a:tcPr/>
                </a:tc>
                <a:tc>
                  <a:txBody>
                    <a:bodyPr/>
                    <a:lstStyle/>
                    <a:p>
                      <a:pPr algn="r"/>
                      <a:r>
                        <a:rPr lang="en-US" dirty="0"/>
                        <a:t>13.95</a:t>
                      </a:r>
                    </a:p>
                  </a:txBody>
                  <a:tcPr/>
                </a:tc>
                <a:tc>
                  <a:txBody>
                    <a:bodyPr/>
                    <a:lstStyle/>
                    <a:p>
                      <a:pPr algn="r"/>
                      <a:r>
                        <a:rPr lang="en-US" dirty="0"/>
                        <a:t>20.77</a:t>
                      </a:r>
                    </a:p>
                  </a:txBody>
                  <a:tcPr/>
                </a:tc>
                <a:tc>
                  <a:txBody>
                    <a:bodyPr/>
                    <a:lstStyle/>
                    <a:p>
                      <a:pPr algn="r"/>
                      <a:r>
                        <a:rPr lang="en-US" dirty="0"/>
                        <a:t>6.47</a:t>
                      </a:r>
                    </a:p>
                  </a:txBody>
                  <a:tcPr/>
                </a:tc>
                <a:tc>
                  <a:txBody>
                    <a:bodyPr/>
                    <a:lstStyle/>
                    <a:p>
                      <a:pPr algn="r"/>
                      <a:r>
                        <a:rPr lang="en-US" dirty="0"/>
                        <a:t>9.63</a:t>
                      </a:r>
                    </a:p>
                  </a:txBody>
                  <a:tcPr/>
                </a:tc>
                <a:tc>
                  <a:txBody>
                    <a:bodyPr/>
                    <a:lstStyle/>
                    <a:p>
                      <a:pPr algn="r"/>
                      <a:r>
                        <a:rPr lang="en-US" dirty="0"/>
                        <a:t>4.47</a:t>
                      </a:r>
                    </a:p>
                  </a:txBody>
                  <a:tcPr/>
                </a:tc>
                <a:tc>
                  <a:txBody>
                    <a:bodyPr/>
                    <a:lstStyle/>
                    <a:p>
                      <a:pPr algn="r"/>
                      <a:r>
                        <a:rPr lang="en-US" dirty="0"/>
                        <a:t>1.01</a:t>
                      </a:r>
                    </a:p>
                  </a:txBody>
                  <a:tcPr/>
                </a:tc>
                <a:tc>
                  <a:txBody>
                    <a:bodyPr/>
                    <a:lstStyle/>
                    <a:p>
                      <a:pPr algn="r"/>
                      <a:r>
                        <a:rPr lang="en-US" dirty="0"/>
                        <a:t>3.07</a:t>
                      </a:r>
                    </a:p>
                  </a:txBody>
                  <a:tcPr/>
                </a:tc>
                <a:extLst>
                  <a:ext uri="{0D108BD9-81ED-4DB2-BD59-A6C34878D82A}">
                    <a16:rowId xmlns:a16="http://schemas.microsoft.com/office/drawing/2014/main" val="1505907619"/>
                  </a:ext>
                </a:extLst>
              </a:tr>
            </a:tbl>
          </a:graphicData>
        </a:graphic>
      </p:graphicFrame>
      <p:sp>
        <p:nvSpPr>
          <p:cNvPr id="5" name="Content Placeholder 4"/>
          <p:cNvSpPr>
            <a:spLocks noGrp="1"/>
          </p:cNvSpPr>
          <p:nvPr>
            <p:ph sz="quarter" idx="15"/>
          </p:nvPr>
        </p:nvSpPr>
        <p:spPr>
          <a:xfrm>
            <a:off x="342900" y="6019800"/>
            <a:ext cx="8191500" cy="495564"/>
          </a:xfrm>
        </p:spPr>
        <p:txBody>
          <a:bodyPr/>
          <a:lstStyle/>
          <a:p>
            <a:r>
              <a:rPr lang="en-US" sz="1800" noProof="0" dirty="0"/>
              <a:t>*File C</a:t>
            </a:r>
            <a:r>
              <a:rPr lang="en-US" sz="100" noProof="0" dirty="0"/>
              <a:t> </a:t>
            </a:r>
            <a:r>
              <a:rPr lang="en-US" sz="1800" noProof="0" dirty="0"/>
              <a:t>E</a:t>
            </a:r>
            <a:r>
              <a:rPr lang="en-US" sz="100" noProof="0" dirty="0"/>
              <a:t> </a:t>
            </a:r>
            <a:r>
              <a:rPr lang="en-US" sz="1800" noProof="0" dirty="0"/>
              <a:t>O</a:t>
            </a:r>
            <a:r>
              <a:rPr lang="en-US" sz="100" noProof="0" dirty="0"/>
              <a:t> </a:t>
            </a:r>
            <a:r>
              <a:rPr lang="en-US" sz="1800" noProof="0" dirty="0"/>
              <a:t>Comp40</a:t>
            </a:r>
          </a:p>
        </p:txBody>
      </p:sp>
      <p:sp>
        <p:nvSpPr>
          <p:cNvPr id="10" name="Slide Number Placeholder 9"/>
          <p:cNvSpPr>
            <a:spLocks noGrp="1"/>
          </p:cNvSpPr>
          <p:nvPr>
            <p:ph type="sldNum" sz="quarter" idx="10"/>
          </p:nvPr>
        </p:nvSpPr>
        <p:spPr/>
        <p:txBody>
          <a:bodyPr/>
          <a:lstStyle/>
          <a:p>
            <a:fld id="{68151E55-6873-49E2-B8D5-2F265E6F1973}" type="slidenum">
              <a:rPr lang="en-US" smtClean="0"/>
              <a:t>53</a:t>
            </a:fld>
            <a:endParaRPr lang="en-US" dirty="0"/>
          </a:p>
        </p:txBody>
      </p:sp>
    </p:spTree>
    <p:extLst>
      <p:ext uri="{BB962C8B-B14F-4D97-AF65-F5344CB8AC3E}">
        <p14:creationId xmlns:p14="http://schemas.microsoft.com/office/powerpoint/2010/main" val="6217340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05775" cy="903231"/>
          </a:xfrm>
        </p:spPr>
        <p:txBody>
          <a:bodyPr>
            <a:normAutofit/>
          </a:bodyPr>
          <a:lstStyle/>
          <a:p>
            <a:r>
              <a:rPr lang="en-US" sz="3600" noProof="0" dirty="0"/>
              <a:t>Question 11</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3.5</a:t>
            </a:r>
          </a:p>
        </p:txBody>
      </p:sp>
      <p:sp>
        <p:nvSpPr>
          <p:cNvPr id="4" name="Content Placeholder 3"/>
          <p:cNvSpPr>
            <a:spLocks noGrp="1"/>
          </p:cNvSpPr>
          <p:nvPr>
            <p:ph sz="quarter" idx="14"/>
          </p:nvPr>
        </p:nvSpPr>
        <p:spPr>
          <a:xfrm>
            <a:off x="342900" y="1262776"/>
            <a:ext cx="8191500" cy="1571864"/>
          </a:xfrm>
        </p:spPr>
        <p:txBody>
          <a:bodyPr/>
          <a:lstStyle/>
          <a:p>
            <a:pPr marL="288925" indent="-288925"/>
            <a:r>
              <a:rPr lang="en-US" sz="2200" noProof="0" dirty="0"/>
              <a:t>a. Use Excel to prepare a line chart to display the data on housing starts. Modify the colors, fonts, etc., to make the display effective.</a:t>
            </a:r>
          </a:p>
          <a:p>
            <a:pPr marL="288925" indent="-288925"/>
            <a:r>
              <a:rPr lang="en-US" sz="2200" noProof="0" dirty="0"/>
              <a:t>b. Describe the pattern, if any.</a:t>
            </a:r>
          </a:p>
        </p:txBody>
      </p:sp>
      <p:sp>
        <p:nvSpPr>
          <p:cNvPr id="5" name="Content Placeholder 4"/>
          <p:cNvSpPr>
            <a:spLocks noGrp="1"/>
          </p:cNvSpPr>
          <p:nvPr>
            <p:ph sz="quarter" idx="15"/>
          </p:nvPr>
        </p:nvSpPr>
        <p:spPr>
          <a:xfrm>
            <a:off x="342899" y="2916184"/>
            <a:ext cx="4781993" cy="345176"/>
          </a:xfrm>
        </p:spPr>
        <p:txBody>
          <a:bodyPr/>
          <a:lstStyle/>
          <a:p>
            <a:r>
              <a:rPr lang="en-US" sz="1600" b="1" noProof="0" dirty="0"/>
              <a:t>U</a:t>
            </a:r>
            <a:r>
              <a:rPr lang="en-US" sz="1600" b="1" dirty="0"/>
              <a:t>.</a:t>
            </a:r>
            <a:r>
              <a:rPr lang="en-US" sz="1600" b="1" noProof="0" dirty="0"/>
              <a:t>S. Housing Starts (thousands), 2000 to 20</a:t>
            </a:r>
            <a:r>
              <a:rPr lang="en-US" sz="100" b="1" noProof="0" dirty="0"/>
              <a:t> </a:t>
            </a:r>
            <a:r>
              <a:rPr lang="en-US" sz="1600" b="1" noProof="0" dirty="0"/>
              <a:t>20</a:t>
            </a:r>
            <a:endParaRPr lang="en-US" sz="1600" noProof="0" dirty="0"/>
          </a:p>
        </p:txBody>
      </p:sp>
      <p:pic>
        <p:nvPicPr>
          <p:cNvPr id="11" name="Picture 10">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050913" y="2931947"/>
            <a:ext cx="390878" cy="333223"/>
          </a:xfrm>
          <a:prstGeom prst="rect">
            <a:avLst/>
          </a:prstGeom>
        </p:spPr>
      </p:pic>
      <p:sp>
        <p:nvSpPr>
          <p:cNvPr id="6" name="Content Placeholder 5"/>
          <p:cNvSpPr>
            <a:spLocks noGrp="1"/>
          </p:cNvSpPr>
          <p:nvPr>
            <p:ph sz="quarter" idx="16"/>
          </p:nvPr>
        </p:nvSpPr>
        <p:spPr>
          <a:xfrm>
            <a:off x="5438775" y="2890530"/>
            <a:ext cx="1295400" cy="349875"/>
          </a:xfrm>
        </p:spPr>
        <p:txBody>
          <a:bodyPr/>
          <a:lstStyle/>
          <a:p>
            <a:r>
              <a:rPr lang="en-US" sz="1800" b="1" noProof="0" dirty="0">
                <a:solidFill>
                  <a:srgbClr val="A9131A"/>
                </a:solidFill>
              </a:rPr>
              <a:t>Housing</a:t>
            </a:r>
          </a:p>
        </p:txBody>
      </p:sp>
      <p:graphicFrame>
        <p:nvGraphicFramePr>
          <p:cNvPr id="12" name="Table 11"/>
          <p:cNvGraphicFramePr>
            <a:graphicFrameLocks noGrp="1"/>
          </p:cNvGraphicFramePr>
          <p:nvPr>
            <p:extLst>
              <p:ext uri="{D42A27DB-BD31-4B8C-83A1-F6EECF244321}">
                <p14:modId xmlns:p14="http://schemas.microsoft.com/office/powerpoint/2010/main" val="4230342058"/>
              </p:ext>
            </p:extLst>
          </p:nvPr>
        </p:nvGraphicFramePr>
        <p:xfrm>
          <a:off x="419100" y="3307080"/>
          <a:ext cx="7856220" cy="2926080"/>
        </p:xfrm>
        <a:graphic>
          <a:graphicData uri="http://schemas.openxmlformats.org/drawingml/2006/table">
            <a:tbl>
              <a:tblPr firstRow="1" bandRow="1">
                <a:tableStyleId>{5C22544A-7EE6-4342-B048-85BDC9FD1C3A}</a:tableStyleId>
              </a:tblPr>
              <a:tblGrid>
                <a:gridCol w="1309370">
                  <a:extLst>
                    <a:ext uri="{9D8B030D-6E8A-4147-A177-3AD203B41FA5}">
                      <a16:colId xmlns:a16="http://schemas.microsoft.com/office/drawing/2014/main" val="1191715905"/>
                    </a:ext>
                  </a:extLst>
                </a:gridCol>
                <a:gridCol w="1309370">
                  <a:extLst>
                    <a:ext uri="{9D8B030D-6E8A-4147-A177-3AD203B41FA5}">
                      <a16:colId xmlns:a16="http://schemas.microsoft.com/office/drawing/2014/main" val="3269635588"/>
                    </a:ext>
                  </a:extLst>
                </a:gridCol>
                <a:gridCol w="1309370">
                  <a:extLst>
                    <a:ext uri="{9D8B030D-6E8A-4147-A177-3AD203B41FA5}">
                      <a16:colId xmlns:a16="http://schemas.microsoft.com/office/drawing/2014/main" val="1298543687"/>
                    </a:ext>
                  </a:extLst>
                </a:gridCol>
                <a:gridCol w="1309370">
                  <a:extLst>
                    <a:ext uri="{9D8B030D-6E8A-4147-A177-3AD203B41FA5}">
                      <a16:colId xmlns:a16="http://schemas.microsoft.com/office/drawing/2014/main" val="1272425621"/>
                    </a:ext>
                  </a:extLst>
                </a:gridCol>
                <a:gridCol w="1309370">
                  <a:extLst>
                    <a:ext uri="{9D8B030D-6E8A-4147-A177-3AD203B41FA5}">
                      <a16:colId xmlns:a16="http://schemas.microsoft.com/office/drawing/2014/main" val="1763354535"/>
                    </a:ext>
                  </a:extLst>
                </a:gridCol>
                <a:gridCol w="1309370">
                  <a:extLst>
                    <a:ext uri="{9D8B030D-6E8A-4147-A177-3AD203B41FA5}">
                      <a16:colId xmlns:a16="http://schemas.microsoft.com/office/drawing/2014/main" val="3649162091"/>
                    </a:ext>
                  </a:extLst>
                </a:gridCol>
              </a:tblGrid>
              <a:tr h="0">
                <a:tc>
                  <a:txBody>
                    <a:bodyPr/>
                    <a:lstStyle/>
                    <a:p>
                      <a:pPr algn="ctr"/>
                      <a:r>
                        <a:rPr lang="en-US" sz="1800" dirty="0"/>
                        <a:t>Year</a:t>
                      </a:r>
                    </a:p>
                  </a:txBody>
                  <a:tcPr>
                    <a:solidFill>
                      <a:srgbClr val="C00000"/>
                    </a:solidFill>
                  </a:tcPr>
                </a:tc>
                <a:tc>
                  <a:txBody>
                    <a:bodyPr/>
                    <a:lstStyle/>
                    <a:p>
                      <a:pPr algn="ctr"/>
                      <a:r>
                        <a:rPr lang="en-US" sz="1800" dirty="0"/>
                        <a:t>Starts</a:t>
                      </a:r>
                    </a:p>
                  </a:txBody>
                  <a:tcPr>
                    <a:solidFill>
                      <a:srgbClr val="C00000"/>
                    </a:solidFill>
                  </a:tcPr>
                </a:tc>
                <a:tc>
                  <a:txBody>
                    <a:bodyPr/>
                    <a:lstStyle/>
                    <a:p>
                      <a:pPr algn="ctr"/>
                      <a:r>
                        <a:rPr lang="en-US" sz="1800" dirty="0"/>
                        <a:t>Year</a:t>
                      </a:r>
                    </a:p>
                  </a:txBody>
                  <a:tcPr>
                    <a:solidFill>
                      <a:srgbClr val="C00000"/>
                    </a:solidFill>
                  </a:tcPr>
                </a:tc>
                <a:tc>
                  <a:txBody>
                    <a:bodyPr/>
                    <a:lstStyle/>
                    <a:p>
                      <a:pPr algn="ctr"/>
                      <a:r>
                        <a:rPr lang="en-US" sz="1800" dirty="0"/>
                        <a:t>Starts</a:t>
                      </a:r>
                    </a:p>
                  </a:txBody>
                  <a:tcPr>
                    <a:solidFill>
                      <a:srgbClr val="C00000"/>
                    </a:solidFill>
                  </a:tcPr>
                </a:tc>
                <a:tc>
                  <a:txBody>
                    <a:bodyPr/>
                    <a:lstStyle/>
                    <a:p>
                      <a:pPr algn="ctr"/>
                      <a:r>
                        <a:rPr lang="en-US" sz="1800" dirty="0"/>
                        <a:t>Year</a:t>
                      </a:r>
                    </a:p>
                  </a:txBody>
                  <a:tcPr>
                    <a:solidFill>
                      <a:srgbClr val="C00000"/>
                    </a:solidFill>
                  </a:tcPr>
                </a:tc>
                <a:tc>
                  <a:txBody>
                    <a:bodyPr/>
                    <a:lstStyle/>
                    <a:p>
                      <a:pPr algn="ctr"/>
                      <a:r>
                        <a:rPr lang="en-US" sz="1800" dirty="0"/>
                        <a:t>Starts</a:t>
                      </a:r>
                    </a:p>
                  </a:txBody>
                  <a:tcPr>
                    <a:solidFill>
                      <a:srgbClr val="C00000"/>
                    </a:solidFill>
                  </a:tcPr>
                </a:tc>
                <a:extLst>
                  <a:ext uri="{0D108BD9-81ED-4DB2-BD59-A6C34878D82A}">
                    <a16:rowId xmlns:a16="http://schemas.microsoft.com/office/drawing/2014/main" val="131677524"/>
                  </a:ext>
                </a:extLst>
              </a:tr>
              <a:tr h="0">
                <a:tc>
                  <a:txBody>
                    <a:bodyPr/>
                    <a:lstStyle/>
                    <a:p>
                      <a:pPr algn="ctr"/>
                      <a:r>
                        <a:rPr lang="en-US" sz="1800" dirty="0"/>
                        <a:t>2000</a:t>
                      </a:r>
                    </a:p>
                  </a:txBody>
                  <a:tcPr/>
                </a:tc>
                <a:tc>
                  <a:txBody>
                    <a:bodyPr/>
                    <a:lstStyle/>
                    <a:p>
                      <a:pPr marL="60325" indent="0" algn="ctr"/>
                      <a:r>
                        <a:rPr lang="en-US" sz="1800" dirty="0"/>
                        <a:t>1,573</a:t>
                      </a:r>
                    </a:p>
                  </a:txBody>
                  <a:tcPr/>
                </a:tc>
                <a:tc>
                  <a:txBody>
                    <a:bodyPr/>
                    <a:lstStyle/>
                    <a:p>
                      <a:pPr algn="ctr"/>
                      <a:r>
                        <a:rPr lang="en-US" sz="1800" dirty="0"/>
                        <a:t>2007</a:t>
                      </a:r>
                    </a:p>
                  </a:txBody>
                  <a:tcPr/>
                </a:tc>
                <a:tc>
                  <a:txBody>
                    <a:bodyPr/>
                    <a:lstStyle/>
                    <a:p>
                      <a:pPr algn="ctr"/>
                      <a:r>
                        <a:rPr lang="en-US" sz="1800" dirty="0"/>
                        <a:t>1,342</a:t>
                      </a:r>
                    </a:p>
                  </a:txBody>
                  <a:tcPr/>
                </a:tc>
                <a:tc>
                  <a:txBody>
                    <a:bodyPr/>
                    <a:lstStyle/>
                    <a:p>
                      <a:pPr algn="ctr"/>
                      <a:r>
                        <a:rPr lang="en-US" sz="1800" dirty="0"/>
                        <a:t>2014</a:t>
                      </a:r>
                    </a:p>
                  </a:txBody>
                  <a:tcPr/>
                </a:tc>
                <a:tc>
                  <a:txBody>
                    <a:bodyPr/>
                    <a:lstStyle/>
                    <a:p>
                      <a:pPr algn="ctr"/>
                      <a:r>
                        <a:rPr lang="en-US" sz="1800" dirty="0"/>
                        <a:t>1,000</a:t>
                      </a:r>
                    </a:p>
                  </a:txBody>
                  <a:tcPr/>
                </a:tc>
                <a:extLst>
                  <a:ext uri="{0D108BD9-81ED-4DB2-BD59-A6C34878D82A}">
                    <a16:rowId xmlns:a16="http://schemas.microsoft.com/office/drawing/2014/main" val="3618449494"/>
                  </a:ext>
                </a:extLst>
              </a:tr>
              <a:tr h="0">
                <a:tc>
                  <a:txBody>
                    <a:bodyPr/>
                    <a:lstStyle/>
                    <a:p>
                      <a:pPr algn="ctr"/>
                      <a:r>
                        <a:rPr lang="en-US" sz="1800" dirty="0"/>
                        <a:t>2001</a:t>
                      </a:r>
                    </a:p>
                  </a:txBody>
                  <a:tcPr/>
                </a:tc>
                <a:tc>
                  <a:txBody>
                    <a:bodyPr/>
                    <a:lstStyle/>
                    <a:p>
                      <a:pPr algn="ctr"/>
                      <a:r>
                        <a:rPr lang="en-US" sz="1800" dirty="0"/>
                        <a:t>1,601</a:t>
                      </a:r>
                    </a:p>
                  </a:txBody>
                  <a:tcPr/>
                </a:tc>
                <a:tc>
                  <a:txBody>
                    <a:bodyPr/>
                    <a:lstStyle/>
                    <a:p>
                      <a:pPr algn="ctr"/>
                      <a:r>
                        <a:rPr lang="en-US" sz="1800" dirty="0"/>
                        <a:t>2008</a:t>
                      </a:r>
                    </a:p>
                  </a:txBody>
                  <a:tcPr/>
                </a:tc>
                <a:tc>
                  <a:txBody>
                    <a:bodyPr/>
                    <a:lstStyle/>
                    <a:p>
                      <a:pPr marL="122238" indent="0" algn="ctr"/>
                      <a:r>
                        <a:rPr lang="en-US" sz="1800" dirty="0"/>
                        <a:t>900</a:t>
                      </a:r>
                    </a:p>
                  </a:txBody>
                  <a:tcPr/>
                </a:tc>
                <a:tc>
                  <a:txBody>
                    <a:bodyPr/>
                    <a:lstStyle/>
                    <a:p>
                      <a:pPr algn="ctr"/>
                      <a:r>
                        <a:rPr lang="en-US" sz="1800" dirty="0"/>
                        <a:t>2015</a:t>
                      </a:r>
                    </a:p>
                  </a:txBody>
                  <a:tcPr/>
                </a:tc>
                <a:tc>
                  <a:txBody>
                    <a:bodyPr/>
                    <a:lstStyle/>
                    <a:p>
                      <a:pPr algn="ctr"/>
                      <a:r>
                        <a:rPr lang="en-US" sz="1800" dirty="0"/>
                        <a:t>1,107</a:t>
                      </a:r>
                    </a:p>
                  </a:txBody>
                  <a:tcPr/>
                </a:tc>
                <a:extLst>
                  <a:ext uri="{0D108BD9-81ED-4DB2-BD59-A6C34878D82A}">
                    <a16:rowId xmlns:a16="http://schemas.microsoft.com/office/drawing/2014/main" val="2133121065"/>
                  </a:ext>
                </a:extLst>
              </a:tr>
              <a:tr h="0">
                <a:tc>
                  <a:txBody>
                    <a:bodyPr/>
                    <a:lstStyle/>
                    <a:p>
                      <a:pPr algn="ctr"/>
                      <a:r>
                        <a:rPr lang="en-US" sz="1800" dirty="0"/>
                        <a:t>2002</a:t>
                      </a:r>
                    </a:p>
                  </a:txBody>
                  <a:tcPr/>
                </a:tc>
                <a:tc>
                  <a:txBody>
                    <a:bodyPr/>
                    <a:lstStyle/>
                    <a:p>
                      <a:pPr algn="ctr"/>
                      <a:r>
                        <a:rPr lang="en-US" sz="1800" dirty="0"/>
                        <a:t>1,710</a:t>
                      </a:r>
                    </a:p>
                  </a:txBody>
                  <a:tcPr/>
                </a:tc>
                <a:tc>
                  <a:txBody>
                    <a:bodyPr/>
                    <a:lstStyle/>
                    <a:p>
                      <a:pPr algn="ctr"/>
                      <a:r>
                        <a:rPr lang="en-US" sz="1800" dirty="0"/>
                        <a:t>2009</a:t>
                      </a:r>
                    </a:p>
                  </a:txBody>
                  <a:tcPr/>
                </a:tc>
                <a:tc>
                  <a:txBody>
                    <a:bodyPr/>
                    <a:lstStyle/>
                    <a:p>
                      <a:pPr marL="122238" indent="0" algn="ctr"/>
                      <a:r>
                        <a:rPr lang="en-US" sz="1800" dirty="0"/>
                        <a:t>554</a:t>
                      </a:r>
                    </a:p>
                  </a:txBody>
                  <a:tcPr/>
                </a:tc>
                <a:tc>
                  <a:txBody>
                    <a:bodyPr/>
                    <a:lstStyle/>
                    <a:p>
                      <a:pPr algn="ctr"/>
                      <a:r>
                        <a:rPr lang="en-US" sz="1800" dirty="0"/>
                        <a:t>2016</a:t>
                      </a:r>
                    </a:p>
                  </a:txBody>
                  <a:tcPr/>
                </a:tc>
                <a:tc>
                  <a:txBody>
                    <a:bodyPr/>
                    <a:lstStyle/>
                    <a:p>
                      <a:pPr algn="ctr"/>
                      <a:r>
                        <a:rPr lang="en-US" sz="1800" dirty="0"/>
                        <a:t>1,178</a:t>
                      </a:r>
                    </a:p>
                  </a:txBody>
                  <a:tcPr/>
                </a:tc>
                <a:extLst>
                  <a:ext uri="{0D108BD9-81ED-4DB2-BD59-A6C34878D82A}">
                    <a16:rowId xmlns:a16="http://schemas.microsoft.com/office/drawing/2014/main" val="1617094382"/>
                  </a:ext>
                </a:extLst>
              </a:tr>
              <a:tr h="0">
                <a:tc>
                  <a:txBody>
                    <a:bodyPr/>
                    <a:lstStyle/>
                    <a:p>
                      <a:pPr algn="ctr"/>
                      <a:r>
                        <a:rPr lang="en-US" sz="1800" dirty="0"/>
                        <a:t>2003</a:t>
                      </a:r>
                    </a:p>
                  </a:txBody>
                  <a:tcPr/>
                </a:tc>
                <a:tc>
                  <a:txBody>
                    <a:bodyPr/>
                    <a:lstStyle/>
                    <a:p>
                      <a:pPr algn="ctr"/>
                      <a:r>
                        <a:rPr lang="en-US" sz="1800" dirty="0"/>
                        <a:t>1,854</a:t>
                      </a:r>
                    </a:p>
                  </a:txBody>
                  <a:tcPr/>
                </a:tc>
                <a:tc>
                  <a:txBody>
                    <a:bodyPr/>
                    <a:lstStyle/>
                    <a:p>
                      <a:pPr algn="ctr"/>
                      <a:r>
                        <a:rPr lang="en-US" sz="1800" dirty="0"/>
                        <a:t>2010</a:t>
                      </a:r>
                    </a:p>
                  </a:txBody>
                  <a:tcPr/>
                </a:tc>
                <a:tc>
                  <a:txBody>
                    <a:bodyPr/>
                    <a:lstStyle/>
                    <a:p>
                      <a:pPr marL="122238" indent="0" algn="ctr"/>
                      <a:r>
                        <a:rPr lang="en-US" sz="1800" dirty="0"/>
                        <a:t>586</a:t>
                      </a:r>
                    </a:p>
                  </a:txBody>
                  <a:tcPr/>
                </a:tc>
                <a:tc>
                  <a:txBody>
                    <a:bodyPr/>
                    <a:lstStyle/>
                    <a:p>
                      <a:pPr algn="ctr"/>
                      <a:r>
                        <a:rPr lang="en-US" sz="1800" dirty="0"/>
                        <a:t>2017</a:t>
                      </a:r>
                    </a:p>
                  </a:txBody>
                  <a:tcPr/>
                </a:tc>
                <a:tc>
                  <a:txBody>
                    <a:bodyPr/>
                    <a:lstStyle/>
                    <a:p>
                      <a:pPr marL="60325" indent="0" algn="ctr"/>
                      <a:r>
                        <a:rPr lang="en-US" sz="1800" dirty="0"/>
                        <a:t>1,209</a:t>
                      </a:r>
                    </a:p>
                  </a:txBody>
                  <a:tcPr/>
                </a:tc>
                <a:extLst>
                  <a:ext uri="{0D108BD9-81ED-4DB2-BD59-A6C34878D82A}">
                    <a16:rowId xmlns:a16="http://schemas.microsoft.com/office/drawing/2014/main" val="2578710344"/>
                  </a:ext>
                </a:extLst>
              </a:tr>
              <a:tr h="0">
                <a:tc>
                  <a:txBody>
                    <a:bodyPr/>
                    <a:lstStyle/>
                    <a:p>
                      <a:pPr algn="ctr"/>
                      <a:r>
                        <a:rPr lang="en-US" sz="1800" dirty="0"/>
                        <a:t>2004</a:t>
                      </a:r>
                    </a:p>
                  </a:txBody>
                  <a:tcPr/>
                </a:tc>
                <a:tc>
                  <a:txBody>
                    <a:bodyPr/>
                    <a:lstStyle/>
                    <a:p>
                      <a:pPr algn="ctr"/>
                      <a:r>
                        <a:rPr lang="en-US" sz="1800" dirty="0"/>
                        <a:t>1,950</a:t>
                      </a:r>
                    </a:p>
                  </a:txBody>
                  <a:tcPr/>
                </a:tc>
                <a:tc>
                  <a:txBody>
                    <a:bodyPr/>
                    <a:lstStyle/>
                    <a:p>
                      <a:pPr algn="ctr"/>
                      <a:r>
                        <a:rPr lang="en-US" sz="1800" dirty="0"/>
                        <a:t>2011</a:t>
                      </a:r>
                    </a:p>
                  </a:txBody>
                  <a:tcPr/>
                </a:tc>
                <a:tc>
                  <a:txBody>
                    <a:bodyPr/>
                    <a:lstStyle/>
                    <a:p>
                      <a:pPr marL="122238" indent="0" algn="ctr"/>
                      <a:r>
                        <a:rPr lang="en-US" sz="1800" dirty="0"/>
                        <a:t>612</a:t>
                      </a:r>
                    </a:p>
                  </a:txBody>
                  <a:tcPr/>
                </a:tc>
                <a:tc>
                  <a:txBody>
                    <a:bodyPr/>
                    <a:lstStyle/>
                    <a:p>
                      <a:pPr algn="ctr"/>
                      <a:r>
                        <a:rPr lang="en-US" sz="1800" dirty="0"/>
                        <a:t>2018</a:t>
                      </a:r>
                    </a:p>
                  </a:txBody>
                  <a:tcPr/>
                </a:tc>
                <a:tc>
                  <a:txBody>
                    <a:bodyPr/>
                    <a:lstStyle/>
                    <a:p>
                      <a:pPr algn="ctr"/>
                      <a:r>
                        <a:rPr lang="en-US" sz="1800" dirty="0"/>
                        <a:t>1,250</a:t>
                      </a:r>
                    </a:p>
                  </a:txBody>
                  <a:tcPr/>
                </a:tc>
                <a:extLst>
                  <a:ext uri="{0D108BD9-81ED-4DB2-BD59-A6C34878D82A}">
                    <a16:rowId xmlns:a16="http://schemas.microsoft.com/office/drawing/2014/main" val="3262998510"/>
                  </a:ext>
                </a:extLst>
              </a:tr>
              <a:tr h="0">
                <a:tc>
                  <a:txBody>
                    <a:bodyPr/>
                    <a:lstStyle/>
                    <a:p>
                      <a:pPr algn="ctr"/>
                      <a:r>
                        <a:rPr lang="en-US" sz="1800" dirty="0"/>
                        <a:t>2005</a:t>
                      </a:r>
                    </a:p>
                  </a:txBody>
                  <a:tcPr/>
                </a:tc>
                <a:tc>
                  <a:txBody>
                    <a:bodyPr/>
                    <a:lstStyle/>
                    <a:p>
                      <a:pPr algn="ctr"/>
                      <a:r>
                        <a:rPr lang="en-US" sz="1800" dirty="0"/>
                        <a:t>2,073</a:t>
                      </a:r>
                    </a:p>
                  </a:txBody>
                  <a:tcPr/>
                </a:tc>
                <a:tc>
                  <a:txBody>
                    <a:bodyPr/>
                    <a:lstStyle/>
                    <a:p>
                      <a:pPr algn="ctr"/>
                      <a:r>
                        <a:rPr lang="en-US" sz="1800" dirty="0"/>
                        <a:t>2012</a:t>
                      </a:r>
                    </a:p>
                  </a:txBody>
                  <a:tcPr/>
                </a:tc>
                <a:tc>
                  <a:txBody>
                    <a:bodyPr/>
                    <a:lstStyle/>
                    <a:p>
                      <a:pPr marL="122238" indent="0" algn="ctr"/>
                      <a:r>
                        <a:rPr lang="en-US" sz="1800" dirty="0"/>
                        <a:t>784</a:t>
                      </a:r>
                    </a:p>
                  </a:txBody>
                  <a:tcPr/>
                </a:tc>
                <a:tc>
                  <a:txBody>
                    <a:bodyPr/>
                    <a:lstStyle/>
                    <a:p>
                      <a:pPr algn="ctr"/>
                      <a:r>
                        <a:rPr lang="en-US" sz="1800" dirty="0"/>
                        <a:t>2019</a:t>
                      </a:r>
                    </a:p>
                  </a:txBody>
                  <a:tcPr/>
                </a:tc>
                <a:tc>
                  <a:txBody>
                    <a:bodyPr/>
                    <a:lstStyle/>
                    <a:p>
                      <a:pPr algn="ctr"/>
                      <a:r>
                        <a:rPr lang="en-US" sz="1800" dirty="0"/>
                        <a:t>1,267</a:t>
                      </a:r>
                    </a:p>
                  </a:txBody>
                  <a:tcPr/>
                </a:tc>
                <a:extLst>
                  <a:ext uri="{0D108BD9-81ED-4DB2-BD59-A6C34878D82A}">
                    <a16:rowId xmlns:a16="http://schemas.microsoft.com/office/drawing/2014/main" val="1815194840"/>
                  </a:ext>
                </a:extLst>
              </a:tr>
              <a:tr h="0">
                <a:tc>
                  <a:txBody>
                    <a:bodyPr/>
                    <a:lstStyle/>
                    <a:p>
                      <a:pPr algn="ctr"/>
                      <a:r>
                        <a:rPr lang="en-US" sz="1800" dirty="0"/>
                        <a:t>2006</a:t>
                      </a:r>
                    </a:p>
                  </a:txBody>
                  <a:tcPr/>
                </a:tc>
                <a:tc>
                  <a:txBody>
                    <a:bodyPr/>
                    <a:lstStyle/>
                    <a:p>
                      <a:pPr algn="ctr"/>
                      <a:r>
                        <a:rPr lang="en-US" sz="1800" dirty="0"/>
                        <a:t>1,812</a:t>
                      </a:r>
                    </a:p>
                  </a:txBody>
                  <a:tcPr/>
                </a:tc>
                <a:tc>
                  <a:txBody>
                    <a:bodyPr/>
                    <a:lstStyle/>
                    <a:p>
                      <a:pPr algn="ctr"/>
                      <a:r>
                        <a:rPr lang="en-US" sz="1800" dirty="0"/>
                        <a:t>2013</a:t>
                      </a:r>
                    </a:p>
                  </a:txBody>
                  <a:tcPr/>
                </a:tc>
                <a:tc>
                  <a:txBody>
                    <a:bodyPr/>
                    <a:lstStyle/>
                    <a:p>
                      <a:pPr marL="122238" indent="0" algn="ctr"/>
                      <a:r>
                        <a:rPr lang="en-US" sz="1800" dirty="0"/>
                        <a:t>928</a:t>
                      </a:r>
                    </a:p>
                  </a:txBody>
                  <a:tcPr/>
                </a:tc>
                <a:tc>
                  <a:txBody>
                    <a:bodyPr/>
                    <a:lstStyle/>
                    <a:p>
                      <a:pPr algn="ctr"/>
                      <a:r>
                        <a:rPr lang="en-US" sz="1800" dirty="0"/>
                        <a:t>2020</a:t>
                      </a:r>
                    </a:p>
                  </a:txBody>
                  <a:tcPr/>
                </a:tc>
                <a:tc>
                  <a:txBody>
                    <a:bodyPr/>
                    <a:lstStyle/>
                    <a:p>
                      <a:pPr algn="ctr"/>
                      <a:r>
                        <a:rPr lang="en-US" sz="1800" dirty="0"/>
                        <a:t>1,366</a:t>
                      </a:r>
                    </a:p>
                  </a:txBody>
                  <a:tcPr/>
                </a:tc>
                <a:extLst>
                  <a:ext uri="{0D108BD9-81ED-4DB2-BD59-A6C34878D82A}">
                    <a16:rowId xmlns:a16="http://schemas.microsoft.com/office/drawing/2014/main" val="3518361506"/>
                  </a:ext>
                </a:extLst>
              </a:tr>
            </a:tbl>
          </a:graphicData>
        </a:graphic>
      </p:graphicFrame>
      <p:sp>
        <p:nvSpPr>
          <p:cNvPr id="7" name="Content Placeholder 6"/>
          <p:cNvSpPr>
            <a:spLocks noGrp="1"/>
          </p:cNvSpPr>
          <p:nvPr>
            <p:ph sz="quarter" idx="17"/>
          </p:nvPr>
        </p:nvSpPr>
        <p:spPr>
          <a:xfrm>
            <a:off x="342900" y="6294120"/>
            <a:ext cx="4267200" cy="289560"/>
          </a:xfrm>
        </p:spPr>
        <p:txBody>
          <a:bodyPr tIns="0"/>
          <a:lstStyle/>
          <a:p>
            <a:r>
              <a:rPr lang="en-US" sz="1800" noProof="0" dirty="0"/>
              <a:t>Source: </a:t>
            </a:r>
            <a:r>
              <a:rPr lang="en-US" sz="1800" noProof="0" dirty="0">
                <a:hlinkClick r:id="rId3"/>
              </a:rPr>
              <a:t>https://fred.stlouisfed.org</a:t>
            </a:r>
            <a:endParaRPr lang="en-US" sz="1800" noProof="0" dirty="0"/>
          </a:p>
        </p:txBody>
      </p:sp>
      <p:sp>
        <p:nvSpPr>
          <p:cNvPr id="10" name="Slide Number Placeholder 9"/>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27748166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noProof="0" dirty="0"/>
              <a:t>Question 15</a:t>
            </a:r>
          </a:p>
        </p:txBody>
      </p:sp>
      <p:sp>
        <p:nvSpPr>
          <p:cNvPr id="13" name="Content Placeholder 2">
            <a:extLst>
              <a:ext uri="{FF2B5EF4-FFF2-40B4-BE49-F238E27FC236}">
                <a16:creationId xmlns:a16="http://schemas.microsoft.com/office/drawing/2014/main" id="{6C34116A-98F5-4A18-C6F1-5DDD02580D67}"/>
              </a:ext>
            </a:extLst>
          </p:cNvPr>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3.6</a:t>
            </a:r>
          </a:p>
        </p:txBody>
      </p:sp>
      <p:sp>
        <p:nvSpPr>
          <p:cNvPr id="7" name="Content Placeholder 6"/>
          <p:cNvSpPr>
            <a:spLocks noGrp="1"/>
          </p:cNvSpPr>
          <p:nvPr>
            <p:ph sz="quarter" idx="14"/>
          </p:nvPr>
        </p:nvSpPr>
        <p:spPr>
          <a:xfrm>
            <a:off x="342899" y="1260475"/>
            <a:ext cx="8283511" cy="1772285"/>
          </a:xfrm>
        </p:spPr>
        <p:txBody>
          <a:bodyPr/>
          <a:lstStyle/>
          <a:p>
            <a:pPr marL="350838" indent="-350838"/>
            <a:r>
              <a:rPr lang="en-US" sz="2000" noProof="0" dirty="0"/>
              <a:t>a. Use Excel to make a scatter plot of the data for bottles water sales for 10 weeks, placing Price on the </a:t>
            </a:r>
            <a:r>
              <a:rPr lang="en-US" sz="2000" i="1" noProof="0" dirty="0"/>
              <a:t>X</a:t>
            </a:r>
            <a:r>
              <a:rPr lang="en-US" sz="2000" noProof="0" dirty="0"/>
              <a:t>-axis and Units Sold on the </a:t>
            </a:r>
            <a:r>
              <a:rPr lang="en-US" sz="2000" i="1" noProof="0" dirty="0"/>
              <a:t>Y</a:t>
            </a:r>
            <a:r>
              <a:rPr lang="en-US" sz="2000" noProof="0" dirty="0"/>
              <a:t>-axis. Add titles and modify the default colors, fonts, etc., as you judge appropriate to make the scatter plot effective.</a:t>
            </a:r>
          </a:p>
          <a:p>
            <a:pPr marL="350838" indent="-350838"/>
            <a:r>
              <a:rPr lang="en-US" sz="2000" noProof="0" dirty="0"/>
              <a:t>b. Describe the relationship (if any) between </a:t>
            </a:r>
            <a:r>
              <a:rPr lang="en-US" sz="2000" i="1" noProof="0" dirty="0"/>
              <a:t>X</a:t>
            </a:r>
            <a:r>
              <a:rPr lang="en-US" sz="2000" noProof="0" dirty="0"/>
              <a:t> and </a:t>
            </a:r>
            <a:r>
              <a:rPr lang="en-US" sz="2000" i="1" noProof="0" dirty="0"/>
              <a:t>Y</a:t>
            </a:r>
            <a:r>
              <a:rPr lang="en-US" sz="2000" noProof="0" dirty="0"/>
              <a:t>.</a:t>
            </a:r>
          </a:p>
        </p:txBody>
      </p:sp>
      <p:graphicFrame>
        <p:nvGraphicFramePr>
          <p:cNvPr id="8" name="Table 7"/>
          <p:cNvGraphicFramePr>
            <a:graphicFrameLocks noGrp="1"/>
          </p:cNvGraphicFramePr>
          <p:nvPr>
            <p:extLst>
              <p:ext uri="{D42A27DB-BD31-4B8C-83A1-F6EECF244321}">
                <p14:modId xmlns:p14="http://schemas.microsoft.com/office/powerpoint/2010/main" val="339012536"/>
              </p:ext>
            </p:extLst>
          </p:nvPr>
        </p:nvGraphicFramePr>
        <p:xfrm>
          <a:off x="1524000" y="3154680"/>
          <a:ext cx="6096000" cy="33528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071288174"/>
                    </a:ext>
                  </a:extLst>
                </a:gridCol>
                <a:gridCol w="3048000">
                  <a:extLst>
                    <a:ext uri="{9D8B030D-6E8A-4147-A177-3AD203B41FA5}">
                      <a16:colId xmlns:a16="http://schemas.microsoft.com/office/drawing/2014/main" val="2270894450"/>
                    </a:ext>
                  </a:extLst>
                </a:gridCol>
              </a:tblGrid>
              <a:tr h="0">
                <a:tc>
                  <a:txBody>
                    <a:bodyPr/>
                    <a:lstStyle/>
                    <a:p>
                      <a:pPr algn="ctr"/>
                      <a:r>
                        <a:rPr lang="en-US" sz="1400" dirty="0"/>
                        <a:t>Unit Price</a:t>
                      </a:r>
                    </a:p>
                  </a:txBody>
                  <a:tcPr>
                    <a:solidFill>
                      <a:srgbClr val="C00000"/>
                    </a:solidFill>
                  </a:tcPr>
                </a:tc>
                <a:tc>
                  <a:txBody>
                    <a:bodyPr/>
                    <a:lstStyle/>
                    <a:p>
                      <a:pPr algn="ctr"/>
                      <a:r>
                        <a:rPr lang="en-US" sz="1400" dirty="0"/>
                        <a:t>Units Sold</a:t>
                      </a:r>
                    </a:p>
                  </a:txBody>
                  <a:tcPr>
                    <a:solidFill>
                      <a:srgbClr val="C00000"/>
                    </a:solidFill>
                  </a:tcPr>
                </a:tc>
                <a:extLst>
                  <a:ext uri="{0D108BD9-81ED-4DB2-BD59-A6C34878D82A}">
                    <a16:rowId xmlns:a16="http://schemas.microsoft.com/office/drawing/2014/main" val="2331497288"/>
                  </a:ext>
                </a:extLst>
              </a:tr>
              <a:tr h="0">
                <a:tc>
                  <a:txBody>
                    <a:bodyPr/>
                    <a:lstStyle/>
                    <a:p>
                      <a:pPr algn="ctr"/>
                      <a:r>
                        <a:rPr lang="en-US" sz="1400" dirty="0"/>
                        <a:t>1.15</a:t>
                      </a:r>
                    </a:p>
                  </a:txBody>
                  <a:tcPr/>
                </a:tc>
                <a:tc>
                  <a:txBody>
                    <a:bodyPr/>
                    <a:lstStyle/>
                    <a:p>
                      <a:pPr algn="ctr"/>
                      <a:r>
                        <a:rPr lang="en-US" sz="1400" dirty="0"/>
                        <a:t>186</a:t>
                      </a:r>
                    </a:p>
                  </a:txBody>
                  <a:tcPr/>
                </a:tc>
                <a:extLst>
                  <a:ext uri="{0D108BD9-81ED-4DB2-BD59-A6C34878D82A}">
                    <a16:rowId xmlns:a16="http://schemas.microsoft.com/office/drawing/2014/main" val="922914204"/>
                  </a:ext>
                </a:extLst>
              </a:tr>
              <a:tr h="0">
                <a:tc>
                  <a:txBody>
                    <a:bodyPr/>
                    <a:lstStyle/>
                    <a:p>
                      <a:pPr algn="ctr"/>
                      <a:r>
                        <a:rPr lang="en-US" sz="1400" dirty="0"/>
                        <a:t>0.94</a:t>
                      </a:r>
                    </a:p>
                  </a:txBody>
                  <a:tcPr/>
                </a:tc>
                <a:tc>
                  <a:txBody>
                    <a:bodyPr/>
                    <a:lstStyle/>
                    <a:p>
                      <a:pPr algn="ctr"/>
                      <a:r>
                        <a:rPr lang="en-US" sz="1400" dirty="0"/>
                        <a:t>216</a:t>
                      </a:r>
                    </a:p>
                  </a:txBody>
                  <a:tcPr/>
                </a:tc>
                <a:extLst>
                  <a:ext uri="{0D108BD9-81ED-4DB2-BD59-A6C34878D82A}">
                    <a16:rowId xmlns:a16="http://schemas.microsoft.com/office/drawing/2014/main" val="1540395934"/>
                  </a:ext>
                </a:extLst>
              </a:tr>
              <a:tr h="0">
                <a:tc>
                  <a:txBody>
                    <a:bodyPr/>
                    <a:lstStyle/>
                    <a:p>
                      <a:pPr algn="ctr"/>
                      <a:r>
                        <a:rPr lang="en-US" sz="1400" dirty="0"/>
                        <a:t>1.04</a:t>
                      </a:r>
                    </a:p>
                  </a:txBody>
                  <a:tcPr/>
                </a:tc>
                <a:tc>
                  <a:txBody>
                    <a:bodyPr/>
                    <a:lstStyle/>
                    <a:p>
                      <a:pPr algn="ctr"/>
                      <a:r>
                        <a:rPr lang="en-US" sz="1400" dirty="0"/>
                        <a:t>173</a:t>
                      </a:r>
                    </a:p>
                  </a:txBody>
                  <a:tcPr/>
                </a:tc>
                <a:extLst>
                  <a:ext uri="{0D108BD9-81ED-4DB2-BD59-A6C34878D82A}">
                    <a16:rowId xmlns:a16="http://schemas.microsoft.com/office/drawing/2014/main" val="485624031"/>
                  </a:ext>
                </a:extLst>
              </a:tr>
              <a:tr h="0">
                <a:tc>
                  <a:txBody>
                    <a:bodyPr/>
                    <a:lstStyle/>
                    <a:p>
                      <a:pPr algn="ctr"/>
                      <a:r>
                        <a:rPr lang="en-US" sz="1400" dirty="0"/>
                        <a:t>1.05</a:t>
                      </a:r>
                    </a:p>
                  </a:txBody>
                  <a:tcPr/>
                </a:tc>
                <a:tc>
                  <a:txBody>
                    <a:bodyPr/>
                    <a:lstStyle/>
                    <a:p>
                      <a:pPr algn="ctr"/>
                      <a:r>
                        <a:rPr lang="en-US" sz="1400" dirty="0"/>
                        <a:t>182</a:t>
                      </a:r>
                    </a:p>
                  </a:txBody>
                  <a:tcPr/>
                </a:tc>
                <a:extLst>
                  <a:ext uri="{0D108BD9-81ED-4DB2-BD59-A6C34878D82A}">
                    <a16:rowId xmlns:a16="http://schemas.microsoft.com/office/drawing/2014/main" val="732331390"/>
                  </a:ext>
                </a:extLst>
              </a:tr>
              <a:tr h="0">
                <a:tc>
                  <a:txBody>
                    <a:bodyPr/>
                    <a:lstStyle/>
                    <a:p>
                      <a:pPr algn="ctr"/>
                      <a:r>
                        <a:rPr lang="en-US" sz="1400" dirty="0"/>
                        <a:t>1.08</a:t>
                      </a:r>
                    </a:p>
                  </a:txBody>
                  <a:tcPr/>
                </a:tc>
                <a:tc>
                  <a:txBody>
                    <a:bodyPr/>
                    <a:lstStyle/>
                    <a:p>
                      <a:pPr algn="ctr"/>
                      <a:r>
                        <a:rPr lang="en-US" sz="1400" dirty="0"/>
                        <a:t>183</a:t>
                      </a:r>
                    </a:p>
                  </a:txBody>
                  <a:tcPr/>
                </a:tc>
                <a:extLst>
                  <a:ext uri="{0D108BD9-81ED-4DB2-BD59-A6C34878D82A}">
                    <a16:rowId xmlns:a16="http://schemas.microsoft.com/office/drawing/2014/main" val="2552549487"/>
                  </a:ext>
                </a:extLst>
              </a:tr>
              <a:tr h="0">
                <a:tc>
                  <a:txBody>
                    <a:bodyPr/>
                    <a:lstStyle/>
                    <a:p>
                      <a:pPr algn="ctr"/>
                      <a:r>
                        <a:rPr lang="en-US" sz="1400" dirty="0"/>
                        <a:t>1.33</a:t>
                      </a:r>
                    </a:p>
                  </a:txBody>
                  <a:tcPr/>
                </a:tc>
                <a:tc>
                  <a:txBody>
                    <a:bodyPr/>
                    <a:lstStyle/>
                    <a:p>
                      <a:pPr algn="ctr"/>
                      <a:r>
                        <a:rPr lang="en-US" sz="1400" dirty="0"/>
                        <a:t>150</a:t>
                      </a:r>
                    </a:p>
                  </a:txBody>
                  <a:tcPr/>
                </a:tc>
                <a:extLst>
                  <a:ext uri="{0D108BD9-81ED-4DB2-BD59-A6C34878D82A}">
                    <a16:rowId xmlns:a16="http://schemas.microsoft.com/office/drawing/2014/main" val="529808764"/>
                  </a:ext>
                </a:extLst>
              </a:tr>
              <a:tr h="0">
                <a:tc>
                  <a:txBody>
                    <a:bodyPr/>
                    <a:lstStyle/>
                    <a:p>
                      <a:pPr algn="ctr"/>
                      <a:r>
                        <a:rPr lang="en-US" sz="1400" dirty="0"/>
                        <a:t>0.99</a:t>
                      </a:r>
                    </a:p>
                  </a:txBody>
                  <a:tcPr/>
                </a:tc>
                <a:tc>
                  <a:txBody>
                    <a:bodyPr/>
                    <a:lstStyle/>
                    <a:p>
                      <a:pPr algn="ctr"/>
                      <a:r>
                        <a:rPr lang="en-US" sz="1400" dirty="0"/>
                        <a:t>190</a:t>
                      </a:r>
                    </a:p>
                  </a:txBody>
                  <a:tcPr/>
                </a:tc>
                <a:extLst>
                  <a:ext uri="{0D108BD9-81ED-4DB2-BD59-A6C34878D82A}">
                    <a16:rowId xmlns:a16="http://schemas.microsoft.com/office/drawing/2014/main" val="486468261"/>
                  </a:ext>
                </a:extLst>
              </a:tr>
              <a:tr h="0">
                <a:tc>
                  <a:txBody>
                    <a:bodyPr/>
                    <a:lstStyle/>
                    <a:p>
                      <a:pPr algn="ctr"/>
                      <a:r>
                        <a:rPr lang="en-US" sz="1400" dirty="0"/>
                        <a:t>1.25</a:t>
                      </a:r>
                    </a:p>
                  </a:txBody>
                  <a:tcPr/>
                </a:tc>
                <a:tc>
                  <a:txBody>
                    <a:bodyPr/>
                    <a:lstStyle/>
                    <a:p>
                      <a:pPr algn="ctr"/>
                      <a:r>
                        <a:rPr lang="en-US" sz="1400" dirty="0"/>
                        <a:t>165</a:t>
                      </a:r>
                    </a:p>
                  </a:txBody>
                  <a:tcPr/>
                </a:tc>
                <a:extLst>
                  <a:ext uri="{0D108BD9-81ED-4DB2-BD59-A6C34878D82A}">
                    <a16:rowId xmlns:a16="http://schemas.microsoft.com/office/drawing/2014/main" val="3643378153"/>
                  </a:ext>
                </a:extLst>
              </a:tr>
              <a:tr h="0">
                <a:tc>
                  <a:txBody>
                    <a:bodyPr/>
                    <a:lstStyle/>
                    <a:p>
                      <a:pPr algn="ctr"/>
                      <a:r>
                        <a:rPr lang="en-US" sz="1400" dirty="0"/>
                        <a:t>1.16</a:t>
                      </a:r>
                    </a:p>
                  </a:txBody>
                  <a:tcPr/>
                </a:tc>
                <a:tc>
                  <a:txBody>
                    <a:bodyPr/>
                    <a:lstStyle/>
                    <a:p>
                      <a:pPr algn="ctr"/>
                      <a:r>
                        <a:rPr lang="en-US" sz="1400" dirty="0"/>
                        <a:t>190</a:t>
                      </a:r>
                    </a:p>
                  </a:txBody>
                  <a:tcPr/>
                </a:tc>
                <a:extLst>
                  <a:ext uri="{0D108BD9-81ED-4DB2-BD59-A6C34878D82A}">
                    <a16:rowId xmlns:a16="http://schemas.microsoft.com/office/drawing/2014/main" val="2796075"/>
                  </a:ext>
                </a:extLst>
              </a:tr>
              <a:tr h="147320">
                <a:tc>
                  <a:txBody>
                    <a:bodyPr/>
                    <a:lstStyle/>
                    <a:p>
                      <a:pPr algn="ctr"/>
                      <a:r>
                        <a:rPr lang="en-US" sz="1400" dirty="0"/>
                        <a:t>1.11</a:t>
                      </a:r>
                    </a:p>
                  </a:txBody>
                  <a:tcPr/>
                </a:tc>
                <a:tc>
                  <a:txBody>
                    <a:bodyPr/>
                    <a:lstStyle/>
                    <a:p>
                      <a:pPr algn="ctr"/>
                      <a:r>
                        <a:rPr lang="en-US" sz="1400" dirty="0"/>
                        <a:t>201</a:t>
                      </a:r>
                    </a:p>
                  </a:txBody>
                  <a:tcPr/>
                </a:tc>
                <a:extLst>
                  <a:ext uri="{0D108BD9-81ED-4DB2-BD59-A6C34878D82A}">
                    <a16:rowId xmlns:a16="http://schemas.microsoft.com/office/drawing/2014/main" val="1631699909"/>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55</a:t>
            </a:fld>
            <a:endParaRPr lang="en-US" dirty="0"/>
          </a:p>
        </p:txBody>
      </p:sp>
    </p:spTree>
    <p:extLst>
      <p:ext uri="{BB962C8B-B14F-4D97-AF65-F5344CB8AC3E}">
        <p14:creationId xmlns:p14="http://schemas.microsoft.com/office/powerpoint/2010/main" val="37616082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583FE2B-01C3-2023-7813-0FA3502BB244}"/>
              </a:ext>
            </a:extLst>
          </p:cNvPr>
          <p:cNvSpPr>
            <a:spLocks noGrp="1"/>
          </p:cNvSpPr>
          <p:nvPr>
            <p:ph type="title"/>
          </p:nvPr>
        </p:nvSpPr>
        <p:spPr>
          <a:xfrm>
            <a:off x="342900" y="192490"/>
            <a:ext cx="7932420" cy="903231"/>
          </a:xfrm>
        </p:spPr>
        <p:txBody>
          <a:bodyPr>
            <a:normAutofit/>
          </a:bodyPr>
          <a:lstStyle/>
          <a:p>
            <a:r>
              <a:rPr lang="en-US" sz="3600" noProof="0" dirty="0"/>
              <a:t>Question 19</a:t>
            </a:r>
          </a:p>
        </p:txBody>
      </p:sp>
      <p:sp>
        <p:nvSpPr>
          <p:cNvPr id="15" name="Content Placeholder 2">
            <a:extLst>
              <a:ext uri="{FF2B5EF4-FFF2-40B4-BE49-F238E27FC236}">
                <a16:creationId xmlns:a16="http://schemas.microsoft.com/office/drawing/2014/main" id="{C72F0734-02FB-EFAB-A538-D7730DF73B52}"/>
              </a:ext>
            </a:extLst>
          </p:cNvPr>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3.7</a:t>
            </a:r>
          </a:p>
        </p:txBody>
      </p:sp>
      <p:sp>
        <p:nvSpPr>
          <p:cNvPr id="4" name="Content Placeholder 3"/>
          <p:cNvSpPr>
            <a:spLocks noGrp="1"/>
          </p:cNvSpPr>
          <p:nvPr>
            <p:ph sz="quarter" idx="14"/>
          </p:nvPr>
        </p:nvSpPr>
        <p:spPr>
          <a:xfrm>
            <a:off x="342900" y="1338976"/>
            <a:ext cx="8191500" cy="2379584"/>
          </a:xfrm>
        </p:spPr>
        <p:txBody>
          <a:bodyPr/>
          <a:lstStyle/>
          <a:p>
            <a:pPr marL="288925" indent="-288925"/>
            <a:r>
              <a:rPr lang="en-US" sz="2200" noProof="0" dirty="0"/>
              <a:t>a. Use Excel to prepare a line chart to display the following gasoline price data. Modify the default colors, fonts, etc., to make the display effective.</a:t>
            </a:r>
          </a:p>
          <a:p>
            <a:pPr marL="288925" indent="-288925"/>
            <a:r>
              <a:rPr lang="en-US" sz="2200" noProof="0" dirty="0"/>
              <a:t>b. Change it to a 2-D column chart. Modify the display if necessary to make the display attractive.</a:t>
            </a:r>
          </a:p>
          <a:p>
            <a:pPr marL="288925" indent="-288925"/>
            <a:r>
              <a:rPr lang="en-US" sz="2200" noProof="0" dirty="0"/>
              <a:t>c. Do you prefer the line chart or bar chart? Why?</a:t>
            </a:r>
          </a:p>
        </p:txBody>
      </p:sp>
      <p:sp>
        <p:nvSpPr>
          <p:cNvPr id="5" name="Content Placeholder 4"/>
          <p:cNvSpPr>
            <a:spLocks noGrp="1"/>
          </p:cNvSpPr>
          <p:nvPr>
            <p:ph sz="quarter" idx="15"/>
          </p:nvPr>
        </p:nvSpPr>
        <p:spPr>
          <a:xfrm>
            <a:off x="342900" y="3800104"/>
            <a:ext cx="6347460" cy="314696"/>
          </a:xfrm>
        </p:spPr>
        <p:txBody>
          <a:bodyPr tIns="0"/>
          <a:lstStyle/>
          <a:p>
            <a:r>
              <a:rPr lang="en-US" sz="1800" b="1" noProof="0" dirty="0"/>
              <a:t>Average U.S. Retail Price of Gasoline (dollars per gallon)</a:t>
            </a:r>
            <a:endParaRPr lang="en-US" sz="1800" noProof="0" dirty="0"/>
          </a:p>
        </p:txBody>
      </p:sp>
      <p:pic>
        <p:nvPicPr>
          <p:cNvPr id="11" name="Picture 10">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040" y="3811029"/>
            <a:ext cx="390878" cy="333223"/>
          </a:xfrm>
          <a:prstGeom prst="rect">
            <a:avLst/>
          </a:prstGeom>
        </p:spPr>
      </p:pic>
      <p:sp>
        <p:nvSpPr>
          <p:cNvPr id="6" name="Content Placeholder 5"/>
          <p:cNvSpPr>
            <a:spLocks noGrp="1"/>
          </p:cNvSpPr>
          <p:nvPr>
            <p:ph sz="quarter" idx="16"/>
          </p:nvPr>
        </p:nvSpPr>
        <p:spPr>
          <a:xfrm>
            <a:off x="7147560" y="3800104"/>
            <a:ext cx="1447800" cy="314696"/>
          </a:xfrm>
        </p:spPr>
        <p:txBody>
          <a:bodyPr tIns="0"/>
          <a:lstStyle/>
          <a:p>
            <a:r>
              <a:rPr lang="en-US" sz="1800" b="1" noProof="0" dirty="0" err="1">
                <a:solidFill>
                  <a:srgbClr val="A9131A"/>
                </a:solidFill>
              </a:rPr>
              <a:t>GasPrice</a:t>
            </a:r>
            <a:endParaRPr lang="en-US" sz="1800" noProof="0" dirty="0">
              <a:solidFill>
                <a:srgbClr val="A9131A"/>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2810382110"/>
              </p:ext>
            </p:extLst>
          </p:nvPr>
        </p:nvGraphicFramePr>
        <p:xfrm>
          <a:off x="419100" y="4267200"/>
          <a:ext cx="7856220" cy="1828800"/>
        </p:xfrm>
        <a:graphic>
          <a:graphicData uri="http://schemas.openxmlformats.org/drawingml/2006/table">
            <a:tbl>
              <a:tblPr firstRow="1" bandRow="1">
                <a:tableStyleId>{5C22544A-7EE6-4342-B048-85BDC9FD1C3A}</a:tableStyleId>
              </a:tblPr>
              <a:tblGrid>
                <a:gridCol w="1309370">
                  <a:extLst>
                    <a:ext uri="{9D8B030D-6E8A-4147-A177-3AD203B41FA5}">
                      <a16:colId xmlns:a16="http://schemas.microsoft.com/office/drawing/2014/main" val="1191715905"/>
                    </a:ext>
                  </a:extLst>
                </a:gridCol>
                <a:gridCol w="1309370">
                  <a:extLst>
                    <a:ext uri="{9D8B030D-6E8A-4147-A177-3AD203B41FA5}">
                      <a16:colId xmlns:a16="http://schemas.microsoft.com/office/drawing/2014/main" val="3269635588"/>
                    </a:ext>
                  </a:extLst>
                </a:gridCol>
                <a:gridCol w="1309370">
                  <a:extLst>
                    <a:ext uri="{9D8B030D-6E8A-4147-A177-3AD203B41FA5}">
                      <a16:colId xmlns:a16="http://schemas.microsoft.com/office/drawing/2014/main" val="1298543687"/>
                    </a:ext>
                  </a:extLst>
                </a:gridCol>
                <a:gridCol w="1309370">
                  <a:extLst>
                    <a:ext uri="{9D8B030D-6E8A-4147-A177-3AD203B41FA5}">
                      <a16:colId xmlns:a16="http://schemas.microsoft.com/office/drawing/2014/main" val="1272425621"/>
                    </a:ext>
                  </a:extLst>
                </a:gridCol>
                <a:gridCol w="1309370">
                  <a:extLst>
                    <a:ext uri="{9D8B030D-6E8A-4147-A177-3AD203B41FA5}">
                      <a16:colId xmlns:a16="http://schemas.microsoft.com/office/drawing/2014/main" val="1763354535"/>
                    </a:ext>
                  </a:extLst>
                </a:gridCol>
                <a:gridCol w="1309370">
                  <a:extLst>
                    <a:ext uri="{9D8B030D-6E8A-4147-A177-3AD203B41FA5}">
                      <a16:colId xmlns:a16="http://schemas.microsoft.com/office/drawing/2014/main" val="3649162091"/>
                    </a:ext>
                  </a:extLst>
                </a:gridCol>
              </a:tblGrid>
              <a:tr h="0">
                <a:tc>
                  <a:txBody>
                    <a:bodyPr/>
                    <a:lstStyle/>
                    <a:p>
                      <a:pPr algn="ctr"/>
                      <a:r>
                        <a:rPr lang="en-US" sz="1800" dirty="0"/>
                        <a:t>Year</a:t>
                      </a:r>
                    </a:p>
                  </a:txBody>
                  <a:tcPr>
                    <a:solidFill>
                      <a:srgbClr val="C00000"/>
                    </a:solidFill>
                  </a:tcPr>
                </a:tc>
                <a:tc>
                  <a:txBody>
                    <a:bodyPr/>
                    <a:lstStyle/>
                    <a:p>
                      <a:pPr algn="ctr"/>
                      <a:r>
                        <a:rPr lang="en-US" sz="1800" dirty="0"/>
                        <a:t>Price</a:t>
                      </a:r>
                    </a:p>
                  </a:txBody>
                  <a:tcPr>
                    <a:solidFill>
                      <a:srgbClr val="C00000"/>
                    </a:solidFill>
                  </a:tcPr>
                </a:tc>
                <a:tc>
                  <a:txBody>
                    <a:bodyPr/>
                    <a:lstStyle/>
                    <a:p>
                      <a:pPr algn="ctr"/>
                      <a:r>
                        <a:rPr lang="en-US" sz="1800" dirty="0"/>
                        <a:t>Year</a:t>
                      </a:r>
                    </a:p>
                  </a:txBody>
                  <a:tcPr>
                    <a:solidFill>
                      <a:srgbClr val="C00000"/>
                    </a:solidFill>
                  </a:tcPr>
                </a:tc>
                <a:tc>
                  <a:txBody>
                    <a:bodyPr/>
                    <a:lstStyle/>
                    <a:p>
                      <a:pPr algn="ctr"/>
                      <a:r>
                        <a:rPr lang="en-US" sz="1800" dirty="0"/>
                        <a:t>Price</a:t>
                      </a:r>
                    </a:p>
                  </a:txBody>
                  <a:tcPr>
                    <a:solidFill>
                      <a:srgbClr val="C00000"/>
                    </a:solidFill>
                  </a:tcPr>
                </a:tc>
                <a:tc>
                  <a:txBody>
                    <a:bodyPr/>
                    <a:lstStyle/>
                    <a:p>
                      <a:pPr algn="ctr"/>
                      <a:r>
                        <a:rPr lang="en-US" sz="1800" dirty="0"/>
                        <a:t>Year</a:t>
                      </a:r>
                    </a:p>
                  </a:txBody>
                  <a:tcPr>
                    <a:solidFill>
                      <a:srgbClr val="C00000"/>
                    </a:solidFill>
                  </a:tcPr>
                </a:tc>
                <a:tc>
                  <a:txBody>
                    <a:bodyPr/>
                    <a:lstStyle/>
                    <a:p>
                      <a:pPr algn="ctr"/>
                      <a:r>
                        <a:rPr lang="en-US" sz="1800" dirty="0"/>
                        <a:t>Price</a:t>
                      </a:r>
                    </a:p>
                  </a:txBody>
                  <a:tcPr>
                    <a:solidFill>
                      <a:srgbClr val="C00000"/>
                    </a:solidFill>
                  </a:tcPr>
                </a:tc>
                <a:extLst>
                  <a:ext uri="{0D108BD9-81ED-4DB2-BD59-A6C34878D82A}">
                    <a16:rowId xmlns:a16="http://schemas.microsoft.com/office/drawing/2014/main" val="131677524"/>
                  </a:ext>
                </a:extLst>
              </a:tr>
              <a:tr h="0">
                <a:tc>
                  <a:txBody>
                    <a:bodyPr/>
                    <a:lstStyle/>
                    <a:p>
                      <a:pPr algn="ctr"/>
                      <a:r>
                        <a:rPr lang="en-US" sz="1800" dirty="0"/>
                        <a:t>1965</a:t>
                      </a:r>
                    </a:p>
                  </a:txBody>
                  <a:tcPr/>
                </a:tc>
                <a:tc>
                  <a:txBody>
                    <a:bodyPr/>
                    <a:lstStyle/>
                    <a:p>
                      <a:pPr marL="60325" indent="0" algn="ctr"/>
                      <a:r>
                        <a:rPr lang="en-US" sz="1800" dirty="0"/>
                        <a:t>0.31</a:t>
                      </a:r>
                    </a:p>
                  </a:txBody>
                  <a:tcPr/>
                </a:tc>
                <a:tc>
                  <a:txBody>
                    <a:bodyPr/>
                    <a:lstStyle/>
                    <a:p>
                      <a:pPr algn="ctr"/>
                      <a:r>
                        <a:rPr lang="en-US" sz="1800" dirty="0"/>
                        <a:t>1985</a:t>
                      </a:r>
                    </a:p>
                  </a:txBody>
                  <a:tcPr/>
                </a:tc>
                <a:tc>
                  <a:txBody>
                    <a:bodyPr/>
                    <a:lstStyle/>
                    <a:p>
                      <a:pPr marL="114300" indent="0" algn="ctr"/>
                      <a:r>
                        <a:rPr lang="en-US" sz="1800" dirty="0"/>
                        <a:t>1.20</a:t>
                      </a:r>
                    </a:p>
                  </a:txBody>
                  <a:tcPr/>
                </a:tc>
                <a:tc>
                  <a:txBody>
                    <a:bodyPr/>
                    <a:lstStyle/>
                    <a:p>
                      <a:pPr algn="ctr"/>
                      <a:r>
                        <a:rPr lang="en-US" sz="1800" dirty="0"/>
                        <a:t>2005</a:t>
                      </a:r>
                    </a:p>
                  </a:txBody>
                  <a:tcPr/>
                </a:tc>
                <a:tc>
                  <a:txBody>
                    <a:bodyPr/>
                    <a:lstStyle/>
                    <a:p>
                      <a:pPr algn="ctr"/>
                      <a:r>
                        <a:rPr lang="en-US" sz="1800" dirty="0"/>
                        <a:t>2.30</a:t>
                      </a:r>
                    </a:p>
                  </a:txBody>
                  <a:tcPr/>
                </a:tc>
                <a:extLst>
                  <a:ext uri="{0D108BD9-81ED-4DB2-BD59-A6C34878D82A}">
                    <a16:rowId xmlns:a16="http://schemas.microsoft.com/office/drawing/2014/main" val="3618449494"/>
                  </a:ext>
                </a:extLst>
              </a:tr>
              <a:tr h="0">
                <a:tc>
                  <a:txBody>
                    <a:bodyPr/>
                    <a:lstStyle/>
                    <a:p>
                      <a:pPr algn="ctr"/>
                      <a:r>
                        <a:rPr lang="en-US" sz="1800" dirty="0"/>
                        <a:t>1970</a:t>
                      </a:r>
                    </a:p>
                  </a:txBody>
                  <a:tcPr/>
                </a:tc>
                <a:tc>
                  <a:txBody>
                    <a:bodyPr/>
                    <a:lstStyle/>
                    <a:p>
                      <a:pPr algn="ctr"/>
                      <a:r>
                        <a:rPr lang="en-US" sz="1800" dirty="0"/>
                        <a:t>0.36</a:t>
                      </a:r>
                    </a:p>
                  </a:txBody>
                  <a:tcPr/>
                </a:tc>
                <a:tc>
                  <a:txBody>
                    <a:bodyPr/>
                    <a:lstStyle/>
                    <a:p>
                      <a:pPr algn="ctr"/>
                      <a:r>
                        <a:rPr lang="en-US" sz="1800" dirty="0"/>
                        <a:t>1990</a:t>
                      </a:r>
                    </a:p>
                  </a:txBody>
                  <a:tcPr/>
                </a:tc>
                <a:tc>
                  <a:txBody>
                    <a:bodyPr/>
                    <a:lstStyle/>
                    <a:p>
                      <a:pPr marL="122238" indent="0" algn="ctr"/>
                      <a:r>
                        <a:rPr lang="en-US" sz="1800" dirty="0"/>
                        <a:t>1.16</a:t>
                      </a:r>
                    </a:p>
                  </a:txBody>
                  <a:tcPr/>
                </a:tc>
                <a:tc>
                  <a:txBody>
                    <a:bodyPr/>
                    <a:lstStyle/>
                    <a:p>
                      <a:pPr algn="ctr"/>
                      <a:r>
                        <a:rPr lang="en-US" sz="1800" dirty="0"/>
                        <a:t>2010</a:t>
                      </a:r>
                    </a:p>
                  </a:txBody>
                  <a:tcPr/>
                </a:tc>
                <a:tc>
                  <a:txBody>
                    <a:bodyPr/>
                    <a:lstStyle/>
                    <a:p>
                      <a:pPr algn="ctr"/>
                      <a:r>
                        <a:rPr lang="en-US" sz="1800" dirty="0"/>
                        <a:t>3.02</a:t>
                      </a:r>
                    </a:p>
                  </a:txBody>
                  <a:tcPr/>
                </a:tc>
                <a:extLst>
                  <a:ext uri="{0D108BD9-81ED-4DB2-BD59-A6C34878D82A}">
                    <a16:rowId xmlns:a16="http://schemas.microsoft.com/office/drawing/2014/main" val="2133121065"/>
                  </a:ext>
                </a:extLst>
              </a:tr>
              <a:tr h="0">
                <a:tc>
                  <a:txBody>
                    <a:bodyPr/>
                    <a:lstStyle/>
                    <a:p>
                      <a:pPr algn="ctr"/>
                      <a:r>
                        <a:rPr lang="en-US" sz="1800" dirty="0"/>
                        <a:t>1975</a:t>
                      </a:r>
                    </a:p>
                  </a:txBody>
                  <a:tcPr/>
                </a:tc>
                <a:tc>
                  <a:txBody>
                    <a:bodyPr/>
                    <a:lstStyle/>
                    <a:p>
                      <a:pPr algn="ctr"/>
                      <a:r>
                        <a:rPr lang="en-US" sz="1800" dirty="0"/>
                        <a:t>0.57</a:t>
                      </a:r>
                    </a:p>
                  </a:txBody>
                  <a:tcPr/>
                </a:tc>
                <a:tc>
                  <a:txBody>
                    <a:bodyPr/>
                    <a:lstStyle/>
                    <a:p>
                      <a:pPr algn="ctr"/>
                      <a:r>
                        <a:rPr lang="en-US" sz="1800" dirty="0"/>
                        <a:t>1995</a:t>
                      </a:r>
                    </a:p>
                  </a:txBody>
                  <a:tcPr/>
                </a:tc>
                <a:tc>
                  <a:txBody>
                    <a:bodyPr/>
                    <a:lstStyle/>
                    <a:p>
                      <a:pPr marL="122238" indent="0" algn="ctr"/>
                      <a:r>
                        <a:rPr lang="en-US" sz="1800" dirty="0"/>
                        <a:t>1.15</a:t>
                      </a:r>
                    </a:p>
                  </a:txBody>
                  <a:tcPr/>
                </a:tc>
                <a:tc>
                  <a:txBody>
                    <a:bodyPr/>
                    <a:lstStyle/>
                    <a:p>
                      <a:pPr algn="ctr"/>
                      <a:r>
                        <a:rPr lang="en-US" sz="1800" dirty="0"/>
                        <a:t>2015</a:t>
                      </a:r>
                    </a:p>
                  </a:txBody>
                  <a:tcPr/>
                </a:tc>
                <a:tc>
                  <a:txBody>
                    <a:bodyPr/>
                    <a:lstStyle/>
                    <a:p>
                      <a:pPr algn="ctr"/>
                      <a:r>
                        <a:rPr lang="en-US" sz="1800" dirty="0"/>
                        <a:t>2.33</a:t>
                      </a:r>
                    </a:p>
                  </a:txBody>
                  <a:tcPr/>
                </a:tc>
                <a:extLst>
                  <a:ext uri="{0D108BD9-81ED-4DB2-BD59-A6C34878D82A}">
                    <a16:rowId xmlns:a16="http://schemas.microsoft.com/office/drawing/2014/main" val="1617094382"/>
                  </a:ext>
                </a:extLst>
              </a:tr>
              <a:tr h="0">
                <a:tc>
                  <a:txBody>
                    <a:bodyPr/>
                    <a:lstStyle/>
                    <a:p>
                      <a:pPr algn="ctr"/>
                      <a:r>
                        <a:rPr lang="en-US" sz="1800" dirty="0"/>
                        <a:t>1980</a:t>
                      </a:r>
                    </a:p>
                  </a:txBody>
                  <a:tcPr/>
                </a:tc>
                <a:tc>
                  <a:txBody>
                    <a:bodyPr/>
                    <a:lstStyle/>
                    <a:p>
                      <a:pPr algn="ctr"/>
                      <a:r>
                        <a:rPr lang="en-US" sz="1800" dirty="0"/>
                        <a:t>1.25</a:t>
                      </a:r>
                    </a:p>
                  </a:txBody>
                  <a:tcPr/>
                </a:tc>
                <a:tc>
                  <a:txBody>
                    <a:bodyPr/>
                    <a:lstStyle/>
                    <a:p>
                      <a:pPr algn="ctr"/>
                      <a:r>
                        <a:rPr lang="en-US" sz="1800" dirty="0"/>
                        <a:t>2000</a:t>
                      </a:r>
                    </a:p>
                  </a:txBody>
                  <a:tcPr/>
                </a:tc>
                <a:tc>
                  <a:txBody>
                    <a:bodyPr/>
                    <a:lstStyle/>
                    <a:p>
                      <a:pPr marL="122238" indent="0" algn="ctr"/>
                      <a:r>
                        <a:rPr lang="en-US" sz="1800" dirty="0"/>
                        <a:t>1.51</a:t>
                      </a:r>
                    </a:p>
                  </a:txBody>
                  <a:tcPr/>
                </a:tc>
                <a:tc>
                  <a:txBody>
                    <a:bodyPr/>
                    <a:lstStyle/>
                    <a:p>
                      <a:pPr algn="ctr"/>
                      <a:r>
                        <a:rPr lang="en-US" sz="1800" dirty="0"/>
                        <a:t>2020</a:t>
                      </a:r>
                    </a:p>
                  </a:txBody>
                  <a:tcPr/>
                </a:tc>
                <a:tc>
                  <a:txBody>
                    <a:bodyPr/>
                    <a:lstStyle/>
                    <a:p>
                      <a:pPr marL="60325" indent="0" algn="ctr"/>
                      <a:r>
                        <a:rPr lang="en-US" sz="1800" dirty="0"/>
                        <a:t>1.77</a:t>
                      </a:r>
                    </a:p>
                  </a:txBody>
                  <a:tcPr/>
                </a:tc>
                <a:extLst>
                  <a:ext uri="{0D108BD9-81ED-4DB2-BD59-A6C34878D82A}">
                    <a16:rowId xmlns:a16="http://schemas.microsoft.com/office/drawing/2014/main" val="2578710344"/>
                  </a:ext>
                </a:extLst>
              </a:tr>
            </a:tbl>
          </a:graphicData>
        </a:graphic>
      </p:graphicFrame>
      <p:sp>
        <p:nvSpPr>
          <p:cNvPr id="7" name="Content Placeholder 6"/>
          <p:cNvSpPr>
            <a:spLocks noGrp="1"/>
          </p:cNvSpPr>
          <p:nvPr>
            <p:ph sz="quarter" idx="17"/>
          </p:nvPr>
        </p:nvSpPr>
        <p:spPr>
          <a:xfrm>
            <a:off x="342900" y="6278880"/>
            <a:ext cx="8191500" cy="289560"/>
          </a:xfrm>
        </p:spPr>
        <p:txBody>
          <a:bodyPr tIns="0"/>
          <a:lstStyle/>
          <a:p>
            <a:r>
              <a:rPr lang="en-US" sz="1600" noProof="0" dirty="0">
                <a:solidFill>
                  <a:schemeClr val="tx1"/>
                </a:solidFill>
              </a:rPr>
              <a:t>Source: </a:t>
            </a:r>
            <a:r>
              <a:rPr lang="en-US" sz="1600" noProof="0" dirty="0">
                <a:solidFill>
                  <a:schemeClr val="tx1"/>
                </a:solidFill>
                <a:hlinkClick r:id="rId3"/>
              </a:rPr>
              <a:t>www.fueleconomy.gov</a:t>
            </a:r>
            <a:r>
              <a:rPr lang="en-US" sz="1600" noProof="0" dirty="0">
                <a:solidFill>
                  <a:schemeClr val="tx1"/>
                </a:solidFill>
              </a:rPr>
              <a:t> and </a:t>
            </a:r>
            <a:r>
              <a:rPr lang="en-US" sz="1600" noProof="0" dirty="0">
                <a:solidFill>
                  <a:schemeClr val="tx1"/>
                </a:solidFill>
                <a:hlinkClick r:id="rId4" action="ppaction://hlinkfile"/>
              </a:rPr>
              <a:t>eia.doe.gov</a:t>
            </a:r>
            <a:r>
              <a:rPr lang="en-US" sz="1600" noProof="0" dirty="0">
                <a:solidFill>
                  <a:schemeClr val="tx1"/>
                </a:solidFill>
              </a:rPr>
              <a:t>. Pre-19</a:t>
            </a:r>
            <a:r>
              <a:rPr lang="en-US" sz="100" noProof="0" dirty="0">
                <a:solidFill>
                  <a:schemeClr val="tx1"/>
                </a:solidFill>
              </a:rPr>
              <a:t> </a:t>
            </a:r>
            <a:r>
              <a:rPr lang="en-US" sz="1600" noProof="0" dirty="0">
                <a:solidFill>
                  <a:schemeClr val="tx1"/>
                </a:solidFill>
              </a:rPr>
              <a:t>80 prices are for unleaded gas.</a:t>
            </a:r>
            <a:endParaRPr lang="en-US" sz="1600" noProof="0" dirty="0"/>
          </a:p>
        </p:txBody>
      </p:sp>
      <p:sp>
        <p:nvSpPr>
          <p:cNvPr id="10" name="Slide Number Placeholder 9"/>
          <p:cNvSpPr>
            <a:spLocks noGrp="1"/>
          </p:cNvSpPr>
          <p:nvPr>
            <p:ph type="sldNum" sz="quarter" idx="10"/>
          </p:nvPr>
        </p:nvSpPr>
        <p:spPr>
          <a:xfrm>
            <a:off x="8626412" y="6722659"/>
            <a:ext cx="490292" cy="188467"/>
          </a:xfrm>
        </p:spPr>
        <p:txBody>
          <a:bodyPr/>
          <a:lstStyle/>
          <a:p>
            <a:fld id="{68151E55-6873-49E2-B8D5-2F265E6F1973}" type="slidenum">
              <a:rPr lang="en-US" smtClean="0"/>
              <a:t>56</a:t>
            </a:fld>
            <a:endParaRPr lang="en-US" dirty="0"/>
          </a:p>
        </p:txBody>
      </p:sp>
    </p:spTree>
    <p:extLst>
      <p:ext uri="{BB962C8B-B14F-4D97-AF65-F5344CB8AC3E}">
        <p14:creationId xmlns:p14="http://schemas.microsoft.com/office/powerpoint/2010/main" val="16718146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noProof="0" dirty="0"/>
              <a:t>Question 22</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noProof="0" dirty="0"/>
              <a:t>L</a:t>
            </a:r>
            <a:r>
              <a:rPr lang="en-US" sz="100" b="1" noProof="0" dirty="0"/>
              <a:t> </a:t>
            </a:r>
            <a:r>
              <a:rPr lang="en-US" b="1" noProof="0" dirty="0"/>
              <a:t>O 3.8</a:t>
            </a:r>
          </a:p>
        </p:txBody>
      </p:sp>
      <p:sp>
        <p:nvSpPr>
          <p:cNvPr id="4" name="Content Placeholder 3"/>
          <p:cNvSpPr>
            <a:spLocks noGrp="1"/>
          </p:cNvSpPr>
          <p:nvPr>
            <p:ph sz="quarter" idx="14"/>
          </p:nvPr>
        </p:nvSpPr>
        <p:spPr>
          <a:xfrm>
            <a:off x="342900" y="1262776"/>
            <a:ext cx="8191500" cy="2501504"/>
          </a:xfrm>
        </p:spPr>
        <p:txBody>
          <a:bodyPr/>
          <a:lstStyle/>
          <a:p>
            <a:pPr marL="288925" indent="-288925"/>
            <a:r>
              <a:rPr lang="en-US" sz="2000" noProof="0" dirty="0"/>
              <a:t>a. Use Excel to prepare a 2-D pie chart for these web-surfing data. Modify the default colors, fonts, etc., as you judge appropriate to make the display effective.</a:t>
            </a:r>
          </a:p>
          <a:p>
            <a:pPr marL="288925" indent="-288925"/>
            <a:r>
              <a:rPr lang="en-US" sz="2000" noProof="0" dirty="0"/>
              <a:t>b. Right-click the chart area, select “chart type”, and change to a bar chart.</a:t>
            </a:r>
          </a:p>
          <a:p>
            <a:pPr marL="288925" indent="-288925"/>
            <a:r>
              <a:rPr lang="en-US" sz="2000" noProof="0" dirty="0"/>
              <a:t>c. Right-click the chart area, select “chart type”, and change to a hierarchy chart. Which do you prefer? Why?</a:t>
            </a:r>
          </a:p>
        </p:txBody>
      </p:sp>
      <p:sp>
        <p:nvSpPr>
          <p:cNvPr id="5" name="Content Placeholder 4"/>
          <p:cNvSpPr>
            <a:spLocks noGrp="1"/>
          </p:cNvSpPr>
          <p:nvPr>
            <p:ph sz="quarter" idx="15"/>
          </p:nvPr>
        </p:nvSpPr>
        <p:spPr>
          <a:xfrm>
            <a:off x="342900" y="3845824"/>
            <a:ext cx="6865620" cy="375656"/>
          </a:xfrm>
        </p:spPr>
        <p:txBody>
          <a:bodyPr/>
          <a:lstStyle/>
          <a:p>
            <a:r>
              <a:rPr lang="en-US" sz="1800" b="1" noProof="0" dirty="0"/>
              <a:t>Are You Concerned about Being Tracked While Web Surfing?</a:t>
            </a:r>
            <a:endParaRPr lang="en-US" sz="1800" noProof="0" dirty="0"/>
          </a:p>
        </p:txBody>
      </p:sp>
      <p:pic>
        <p:nvPicPr>
          <p:cNvPr id="11" name="Picture 10">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241680" y="3871989"/>
            <a:ext cx="390878" cy="333223"/>
          </a:xfrm>
          <a:prstGeom prst="rect">
            <a:avLst/>
          </a:prstGeom>
        </p:spPr>
      </p:pic>
      <p:sp>
        <p:nvSpPr>
          <p:cNvPr id="6" name="Content Placeholder 5"/>
          <p:cNvSpPr>
            <a:spLocks noGrp="1"/>
          </p:cNvSpPr>
          <p:nvPr>
            <p:ph sz="quarter" idx="16"/>
          </p:nvPr>
        </p:nvSpPr>
        <p:spPr>
          <a:xfrm>
            <a:off x="7741920" y="3845824"/>
            <a:ext cx="1059180" cy="375656"/>
          </a:xfrm>
        </p:spPr>
        <p:txBody>
          <a:bodyPr/>
          <a:lstStyle/>
          <a:p>
            <a:r>
              <a:rPr lang="en-US" sz="1800" b="1" noProof="0" dirty="0">
                <a:solidFill>
                  <a:srgbClr val="A9131A"/>
                </a:solidFill>
              </a:rPr>
              <a:t>Privacy</a:t>
            </a:r>
            <a:endParaRPr lang="en-US" sz="1800" noProof="0" dirty="0">
              <a:solidFill>
                <a:srgbClr val="A9131A"/>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2986471597"/>
              </p:ext>
            </p:extLst>
          </p:nvPr>
        </p:nvGraphicFramePr>
        <p:xfrm>
          <a:off x="1524000" y="4429760"/>
          <a:ext cx="6096000" cy="1854200"/>
        </p:xfrm>
        <a:graphic>
          <a:graphicData uri="http://schemas.openxmlformats.org/drawingml/2006/table">
            <a:tbl>
              <a:tblPr firstRow="1" bandRow="1">
                <a:tableStyleId>{5C22544A-7EE6-4342-B048-85BDC9FD1C3A}</a:tableStyleId>
              </a:tblPr>
              <a:tblGrid>
                <a:gridCol w="4693920">
                  <a:extLst>
                    <a:ext uri="{9D8B030D-6E8A-4147-A177-3AD203B41FA5}">
                      <a16:colId xmlns:a16="http://schemas.microsoft.com/office/drawing/2014/main" val="1517663331"/>
                    </a:ext>
                  </a:extLst>
                </a:gridCol>
                <a:gridCol w="1402080">
                  <a:extLst>
                    <a:ext uri="{9D8B030D-6E8A-4147-A177-3AD203B41FA5}">
                      <a16:colId xmlns:a16="http://schemas.microsoft.com/office/drawing/2014/main" val="1733463124"/>
                    </a:ext>
                  </a:extLst>
                </a:gridCol>
              </a:tblGrid>
              <a:tr h="370840">
                <a:tc>
                  <a:txBody>
                    <a:bodyPr/>
                    <a:lstStyle/>
                    <a:p>
                      <a:r>
                        <a:rPr lang="en-US" dirty="0"/>
                        <a:t>Level of Concern</a:t>
                      </a:r>
                    </a:p>
                  </a:txBody>
                  <a:tcPr>
                    <a:solidFill>
                      <a:srgbClr val="C00000"/>
                    </a:solidFill>
                  </a:tcPr>
                </a:tc>
                <a:tc>
                  <a:txBody>
                    <a:bodyPr/>
                    <a:lstStyle/>
                    <a:p>
                      <a:pPr algn="ctr"/>
                      <a:r>
                        <a:rPr lang="en-US" dirty="0"/>
                        <a:t>Percent</a:t>
                      </a:r>
                    </a:p>
                  </a:txBody>
                  <a:tcPr>
                    <a:solidFill>
                      <a:srgbClr val="C00000"/>
                    </a:solidFill>
                  </a:tcPr>
                </a:tc>
                <a:extLst>
                  <a:ext uri="{0D108BD9-81ED-4DB2-BD59-A6C34878D82A}">
                    <a16:rowId xmlns:a16="http://schemas.microsoft.com/office/drawing/2014/main" val="2716858046"/>
                  </a:ext>
                </a:extLst>
              </a:tr>
              <a:tr h="370840">
                <a:tc>
                  <a:txBody>
                    <a:bodyPr/>
                    <a:lstStyle/>
                    <a:p>
                      <a:r>
                        <a:rPr lang="en-US" dirty="0"/>
                        <a:t>Very concerned</a:t>
                      </a:r>
                    </a:p>
                  </a:txBody>
                  <a:tcPr/>
                </a:tc>
                <a:tc>
                  <a:txBody>
                    <a:bodyPr/>
                    <a:lstStyle/>
                    <a:p>
                      <a:pPr marL="122238" indent="0" algn="ctr"/>
                      <a:r>
                        <a:rPr lang="en-US" dirty="0"/>
                        <a:t>68</a:t>
                      </a:r>
                    </a:p>
                  </a:txBody>
                  <a:tcPr/>
                </a:tc>
                <a:extLst>
                  <a:ext uri="{0D108BD9-81ED-4DB2-BD59-A6C34878D82A}">
                    <a16:rowId xmlns:a16="http://schemas.microsoft.com/office/drawing/2014/main" val="4158552122"/>
                  </a:ext>
                </a:extLst>
              </a:tr>
              <a:tr h="370840">
                <a:tc>
                  <a:txBody>
                    <a:bodyPr/>
                    <a:lstStyle/>
                    <a:p>
                      <a:r>
                        <a:rPr lang="en-US" dirty="0"/>
                        <a:t>Somewhat concerned</a:t>
                      </a:r>
                    </a:p>
                  </a:txBody>
                  <a:tcPr/>
                </a:tc>
                <a:tc>
                  <a:txBody>
                    <a:bodyPr/>
                    <a:lstStyle/>
                    <a:p>
                      <a:pPr marL="122238" indent="0" algn="ctr"/>
                      <a:r>
                        <a:rPr lang="en-US" dirty="0"/>
                        <a:t>23</a:t>
                      </a:r>
                    </a:p>
                  </a:txBody>
                  <a:tcPr/>
                </a:tc>
                <a:extLst>
                  <a:ext uri="{0D108BD9-81ED-4DB2-BD59-A6C34878D82A}">
                    <a16:rowId xmlns:a16="http://schemas.microsoft.com/office/drawing/2014/main" val="2565985193"/>
                  </a:ext>
                </a:extLst>
              </a:tr>
              <a:tr h="370840">
                <a:tc>
                  <a:txBody>
                    <a:bodyPr/>
                    <a:lstStyle/>
                    <a:p>
                      <a:r>
                        <a:rPr lang="en-US" dirty="0"/>
                        <a:t>Not very concerned</a:t>
                      </a:r>
                    </a:p>
                  </a:txBody>
                  <a:tcPr/>
                </a:tc>
                <a:tc>
                  <a:txBody>
                    <a:bodyPr/>
                    <a:lstStyle/>
                    <a:p>
                      <a:pPr marL="228600" indent="0" algn="ctr"/>
                      <a:r>
                        <a:rPr lang="en-US" dirty="0"/>
                        <a:t>9</a:t>
                      </a:r>
                    </a:p>
                  </a:txBody>
                  <a:tcPr/>
                </a:tc>
                <a:extLst>
                  <a:ext uri="{0D108BD9-81ED-4DB2-BD59-A6C34878D82A}">
                    <a16:rowId xmlns:a16="http://schemas.microsoft.com/office/drawing/2014/main" val="1415620244"/>
                  </a:ext>
                </a:extLst>
              </a:tr>
              <a:tr h="370840">
                <a:tc>
                  <a:txBody>
                    <a:bodyPr/>
                    <a:lstStyle/>
                    <a:p>
                      <a:r>
                        <a:rPr lang="en-US" dirty="0"/>
                        <a:t>Total</a:t>
                      </a:r>
                    </a:p>
                  </a:txBody>
                  <a:tcPr/>
                </a:tc>
                <a:tc>
                  <a:txBody>
                    <a:bodyPr/>
                    <a:lstStyle/>
                    <a:p>
                      <a:pPr algn="ctr"/>
                      <a:r>
                        <a:rPr lang="en-US" dirty="0"/>
                        <a:t>100</a:t>
                      </a:r>
                    </a:p>
                  </a:txBody>
                  <a:tcPr/>
                </a:tc>
                <a:extLst>
                  <a:ext uri="{0D108BD9-81ED-4DB2-BD59-A6C34878D82A}">
                    <a16:rowId xmlns:a16="http://schemas.microsoft.com/office/drawing/2014/main" val="783715631"/>
                  </a:ext>
                </a:extLst>
              </a:tr>
            </a:tbl>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57</a:t>
            </a:fld>
            <a:endParaRPr lang="en-US" dirty="0"/>
          </a:p>
        </p:txBody>
      </p:sp>
    </p:spTree>
    <p:extLst>
      <p:ext uri="{BB962C8B-B14F-4D97-AF65-F5344CB8AC3E}">
        <p14:creationId xmlns:p14="http://schemas.microsoft.com/office/powerpoint/2010/main" val="122183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noProof="0" dirty="0"/>
              <a:t>Chapter 3: Analytics in Action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58</a:t>
            </a:fld>
            <a:endParaRPr lang="en-US" dirty="0"/>
          </a:p>
        </p:txBody>
      </p:sp>
    </p:spTree>
    <p:extLst>
      <p:ext uri="{BB962C8B-B14F-4D97-AF65-F5344CB8AC3E}">
        <p14:creationId xmlns:p14="http://schemas.microsoft.com/office/powerpoint/2010/main" val="31846218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p:txBody>
          <a:bodyPr>
            <a:normAutofit/>
          </a:bodyPr>
          <a:lstStyle/>
          <a:p>
            <a:r>
              <a:rPr lang="en-US" noProof="0" dirty="0"/>
              <a:t>Analytics in Action </a:t>
            </a:r>
            <a:r>
              <a:rPr lang="en-US" sz="1000" b="0" noProof="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342900" y="1276709"/>
            <a:ext cx="8458200" cy="4971691"/>
          </a:xfrm>
        </p:spPr>
        <p:txBody>
          <a:bodyPr/>
          <a:lstStyle/>
          <a:p>
            <a:r>
              <a:rPr lang="en-US" sz="1600" b="1" noProof="0" dirty="0"/>
              <a:t>Vail Resorts Epic Pass:</a:t>
            </a:r>
          </a:p>
          <a:p>
            <a:r>
              <a:rPr lang="en-US" sz="1600" noProof="0" dirty="0"/>
              <a:t>When Vail Resorts was conducting market research for its new season ski pass, the Epic Pass, it surveyed its guests to determine which features of a season pass were most important. Features of a season pass include the number of days of skiing allowed (limited versus unlimited), the number of resorts included on the pass, the number of blackout dates (all holidays, some holidays, or no blackouts), and the price of the pass.</a:t>
            </a:r>
          </a:p>
          <a:p>
            <a:pPr indent="285750"/>
            <a:r>
              <a:rPr lang="en-US" sz="1600" noProof="0" dirty="0"/>
              <a:t>A market survey was sent to a random sample of Vail Resorts guests. Vail received 1,930 responses. The respondents were sorted into groups based on the number of ski vacations they typically take each year. A summary of the responses is displayed in the clustered column chart below. The chart clearly shows that the feature considered most important to all three groups was the price of the pass. Determining the right price of the pass was critical in order to create a valuable product that a skier would purchase. An analytics tool called </a:t>
            </a:r>
            <a:r>
              <a:rPr lang="en-US" sz="1600" i="1" noProof="0" dirty="0"/>
              <a:t>conjoint analysis</a:t>
            </a:r>
            <a:r>
              <a:rPr lang="en-US" sz="1600" noProof="0" dirty="0"/>
              <a:t> was used to summarize additional data from subsequent surveys. The Epic Pass was priced at $579 after this further analysis. Charts can be effective communication tools by allowing the analyst to compare and summarize information from many different groups and across different variables. Decision makers can then see in a snapshot the areas on which to focus.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59</a:t>
            </a:fld>
            <a:endParaRPr lang="en-US" dirty="0"/>
          </a:p>
        </p:txBody>
      </p:sp>
    </p:spTree>
    <p:extLst>
      <p:ext uri="{BB962C8B-B14F-4D97-AF65-F5344CB8AC3E}">
        <p14:creationId xmlns:p14="http://schemas.microsoft.com/office/powerpoint/2010/main" val="41977755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p:txBody>
          <a:bodyPr/>
          <a:lstStyle/>
          <a:p>
            <a:r>
              <a:rPr lang="en-US" noProof="0" dirty="0"/>
              <a:t>Analytics in Action </a:t>
            </a:r>
            <a:r>
              <a:rPr lang="en-US" sz="1000" b="0" noProof="0" dirty="0"/>
              <a:t>2</a:t>
            </a:r>
          </a:p>
        </p:txBody>
      </p:sp>
      <p:pic>
        <p:nvPicPr>
          <p:cNvPr id="5" name="Picture 4" descr="A bar graph titled ‘Individual Subject Importance’."/>
          <p:cNvPicPr>
            <a:picLocks noChangeAspect="1"/>
          </p:cNvPicPr>
          <p:nvPr/>
        </p:nvPicPr>
        <p:blipFill>
          <a:blip r:embed="rId2"/>
          <a:stretch>
            <a:fillRect/>
          </a:stretch>
        </p:blipFill>
        <p:spPr>
          <a:xfrm>
            <a:off x="1796525" y="2007195"/>
            <a:ext cx="5550951" cy="3453209"/>
          </a:xfrm>
          <a:prstGeom prst="rect">
            <a:avLst/>
          </a:prstGeom>
        </p:spPr>
      </p:pic>
      <p:sp>
        <p:nvSpPr>
          <p:cNvPr id="7" name="Text Placeholder 8"/>
          <p:cNvSpPr>
            <a:spLocks noGrp="1"/>
          </p:cNvSpPr>
          <p:nvPr>
            <p:ph type="body" sz="quarter" idx="12"/>
          </p:nvPr>
        </p:nvSpPr>
        <p:spPr>
          <a:xfrm>
            <a:off x="3049524" y="6309359"/>
            <a:ext cx="3153156" cy="236221"/>
          </a:xfrm>
        </p:spPr>
        <p:txBody>
          <a:bodyPr/>
          <a:lstStyle/>
          <a:p>
            <a:r>
              <a:rPr lang="en-US" sz="1200" noProof="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60</a:t>
            </a:fld>
            <a:endParaRPr lang="en-US" dirty="0"/>
          </a:p>
        </p:txBody>
      </p:sp>
    </p:spTree>
    <p:extLst>
      <p:ext uri="{BB962C8B-B14F-4D97-AF65-F5344CB8AC3E}">
        <p14:creationId xmlns:p14="http://schemas.microsoft.com/office/powerpoint/2010/main" val="39644330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29415121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noProof="0" dirty="0"/>
              <a:t>Accessibility Content: Text Alternatives for Images</a:t>
            </a:r>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62</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Stem-and-Leaf Plot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400" b="0" i="0" u="none" strike="noStrike" noProof="0" dirty="0">
                <a:solidFill>
                  <a:srgbClr val="000000"/>
                </a:solidFill>
                <a:effectLst/>
              </a:rPr>
              <a:t>A stem-and-leaf plot representing 44 Price-to-Earnings (P/E) ratios. The ‘stem’ values range from 0 to 5, each corresponding to a set of ‘leaf’ values. For a stem of 0, the leaf values are 7 and 9. For a stem of 1, the leaf values are 0, 0, 0, 1, 1, 1, 2, 3, 3, 3, 4, 4, 5, 6, 6, 6, 6, 7, 7, 8, 8, 9, 9. For a stem of 2, the leaf values are 0, 0, 1, 1, 2, 3, 4, 6, 6, 7, 8. For a stem of 3, the leaf values are 1, 7, 7, 8. For a stem of 4, the only leaf value is 2. Lastly, for a stem of 5, the leaf values are 0 and 9. </a:t>
            </a:r>
            <a:endParaRPr lang="en-US" sz="24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63</a:t>
            </a:fld>
            <a:endParaRPr lang="en-US" sz="800" dirty="0"/>
          </a:p>
        </p:txBody>
      </p:sp>
    </p:spTree>
    <p:extLst>
      <p:ext uri="{BB962C8B-B14F-4D97-AF65-F5344CB8AC3E}">
        <p14:creationId xmlns:p14="http://schemas.microsoft.com/office/powerpoint/2010/main" val="1905806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Stem-and-Leaf Plot </a:t>
            </a:r>
            <a:r>
              <a:rPr lang="en-US" sz="1000" b="0" noProof="0" dirty="0"/>
              <a:t>3</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400" b="0" i="0" u="none" strike="noStrike" noProof="0" dirty="0">
                <a:solidFill>
                  <a:srgbClr val="000000"/>
                </a:solidFill>
                <a:effectLst/>
                <a:ea typeface="Calibri" panose="020F0502020204030204" pitchFamily="34" charset="0"/>
                <a:cs typeface="Calibri" panose="020F0502020204030204" pitchFamily="34" charset="0"/>
              </a:rPr>
              <a:t>A stem-and-leaf plot representing 44 Price-to-Earnings (P/E) ratios. The ‘stem’ values range from 0 to 5, each corresponding to a set of ‘leaf’ values. For a stem of 0, the leaf values are 7 and 9. For a stem of 1, the leaf values are 0, 0, 0, 1, 1, 1, 2, 3, 3, 3, 4, 4, 5, 6, 6, 6, 6, 7, 7, 8, 8, 9, 9. For a stem of 2, the leaf values are 0, 0, 1, 1, 2, 3, 4, 6, 6, 7, 8. For a stem of 3, the leaf values are 1, 7, 7, 8. For a stem of 4, the only leaf value is 2. Lastly, for a stem of 5, the leaf values are 0 and 9. </a:t>
            </a:r>
            <a:endParaRPr lang="en-US" sz="2400" noProof="0" dirty="0">
              <a:ea typeface="Calibri" panose="020F0502020204030204" pitchFamily="34" charset="0"/>
              <a:cs typeface="Calibri" panose="020F0502020204030204" pitchFamily="34" charset="0"/>
            </a:endParaRP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64</a:t>
            </a:fld>
            <a:endParaRPr lang="en-US" sz="800" dirty="0"/>
          </a:p>
        </p:txBody>
      </p:sp>
    </p:spTree>
    <p:extLst>
      <p:ext uri="{BB962C8B-B14F-4D97-AF65-F5344CB8AC3E}">
        <p14:creationId xmlns:p14="http://schemas.microsoft.com/office/powerpoint/2010/main" val="8616695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Dot Plots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400" b="0" i="0" u="none" strike="noStrike" noProof="0" dirty="0">
                <a:solidFill>
                  <a:srgbClr val="000000"/>
                </a:solidFill>
                <a:effectLst/>
              </a:rPr>
              <a:t>A dot plot represents the Price-to-Earnings (P/E) ratios. The </a:t>
            </a:r>
            <a:r>
              <a:rPr lang="en-US" sz="2400" b="0" i="1" u="none" strike="noStrike" noProof="0" dirty="0">
                <a:solidFill>
                  <a:srgbClr val="000000"/>
                </a:solidFill>
                <a:effectLst/>
              </a:rPr>
              <a:t>X</a:t>
            </a:r>
            <a:r>
              <a:rPr lang="en-US" sz="2400" b="0" i="0" u="none" strike="noStrike" noProof="0" dirty="0">
                <a:solidFill>
                  <a:srgbClr val="000000"/>
                </a:solidFill>
                <a:effectLst/>
              </a:rPr>
              <a:t>-axis of the plot ranges from 0 to 70, with increments of 10. Each dot on the plot corresponds to a P/E ratio. The majority of the dots, indicating the most common P/E ratios, are clustered between the values of 10 and 30. </a:t>
            </a:r>
            <a:endParaRPr lang="en-US" sz="24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65</a:t>
            </a:fld>
            <a:endParaRPr lang="en-US" sz="800" dirty="0"/>
          </a:p>
        </p:txBody>
      </p:sp>
    </p:spTree>
    <p:extLst>
      <p:ext uri="{BB962C8B-B14F-4D97-AF65-F5344CB8AC3E}">
        <p14:creationId xmlns:p14="http://schemas.microsoft.com/office/powerpoint/2010/main" val="26939096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Dot Plots </a:t>
            </a:r>
            <a:r>
              <a:rPr lang="en-US" sz="1000" b="0" noProof="0" dirty="0"/>
              <a:t>3</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400" b="0" i="0" u="none" strike="noStrike" noProof="0" dirty="0">
                <a:solidFill>
                  <a:srgbClr val="000000"/>
                </a:solidFill>
                <a:effectLst/>
                <a:ea typeface="Calibri" panose="020F0502020204030204" pitchFamily="34" charset="0"/>
                <a:cs typeface="Calibri" panose="020F0502020204030204" pitchFamily="34" charset="0"/>
              </a:rPr>
              <a:t>A dot plot represents the Price-to-Earnings (P/E) ratios. The </a:t>
            </a:r>
            <a:r>
              <a:rPr lang="en-US" sz="2400" b="0" i="1" u="none" strike="noStrike" noProof="0" dirty="0">
                <a:solidFill>
                  <a:srgbClr val="000000"/>
                </a:solidFill>
                <a:effectLst/>
                <a:ea typeface="Calibri" panose="020F0502020204030204" pitchFamily="34" charset="0"/>
                <a:cs typeface="Calibri" panose="020F0502020204030204" pitchFamily="34" charset="0"/>
              </a:rPr>
              <a:t>X</a:t>
            </a:r>
            <a:r>
              <a:rPr lang="en-US" sz="2400" b="0" i="0" u="none" strike="noStrike" noProof="0" dirty="0">
                <a:solidFill>
                  <a:srgbClr val="000000"/>
                </a:solidFill>
                <a:effectLst/>
                <a:ea typeface="Calibri" panose="020F0502020204030204" pitchFamily="34" charset="0"/>
                <a:cs typeface="Calibri" panose="020F0502020204030204" pitchFamily="34" charset="0"/>
              </a:rPr>
              <a:t>-axis of the plot ranges from 0 to 70, with increments of 10. Each dot on the plot corresponds to a P/E ratio. The majority of the dots, indicating the most common P/E ratios, are clustered between the values of 10 and 30. </a:t>
            </a:r>
            <a:endParaRPr lang="en-US" sz="2400" noProof="0" dirty="0">
              <a:ea typeface="Calibri" panose="020F0502020204030204" pitchFamily="34" charset="0"/>
              <a:cs typeface="Calibri" panose="020F0502020204030204" pitchFamily="34" charset="0"/>
            </a:endParaRP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66</a:t>
            </a:fld>
            <a:endParaRPr lang="en-US" sz="800" dirty="0"/>
          </a:p>
        </p:txBody>
      </p:sp>
    </p:spTree>
    <p:extLst>
      <p:ext uri="{BB962C8B-B14F-4D97-AF65-F5344CB8AC3E}">
        <p14:creationId xmlns:p14="http://schemas.microsoft.com/office/powerpoint/2010/main" val="21132862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Histograms </a:t>
            </a:r>
            <a:r>
              <a:rPr lang="en-US" sz="1000" b="0" noProof="0" dirty="0"/>
              <a:t>1</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b="0" i="0" u="none" strike="noStrike" noProof="0" dirty="0">
                <a:solidFill>
                  <a:srgbClr val="000000"/>
                </a:solidFill>
                <a:effectLst/>
              </a:rPr>
              <a:t>Three histograms, each plotting the frequency of Price-to-Earnings (P/E) ratios. The first histogram has a frequency range of 0 to 25, with increments of 5, and a P/E ratio range of 0 to 60, with increments of 10. This histogram is divided into 6 bins. The trend of the graph ascends to a maximum frequency of 24 for the P/E ratio range of 10 to 20, and then descends gently. The second histogram plots a frequency range of 0 to 18 against a P/E ratio range of 0 to 64, with increments of 8. This histogram is divided into 8 bins. The graph shows an ascending trend, peaking at a frequency of 16 for the P/E ratio range of 16 to 24, and then descends gently. The third histogram plots a frequency range of 0 to 14, with increments of 2, against a P/E ratio range of 6 to 60, with increments of 6. This histogram is divided into 9 bins. The graph also shows an ascending trend, with a maximum frequency of 13 for the P/E ratio range of 12 to 18, and then descends gently. Please note that all values are approximations.</a:t>
            </a:r>
            <a:r>
              <a:rPr lang="en-US"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67</a:t>
            </a:fld>
            <a:endParaRPr lang="en-US" sz="800" dirty="0"/>
          </a:p>
        </p:txBody>
      </p:sp>
    </p:spTree>
    <p:extLst>
      <p:ext uri="{BB962C8B-B14F-4D97-AF65-F5344CB8AC3E}">
        <p14:creationId xmlns:p14="http://schemas.microsoft.com/office/powerpoint/2010/main" val="25665368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Histograms </a:t>
            </a:r>
            <a:r>
              <a:rPr lang="en-US" sz="1000" b="0" noProof="0" dirty="0"/>
              <a:t>4</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1800" b="0" i="0" u="none" strike="noStrike" noProof="0" dirty="0">
                <a:solidFill>
                  <a:srgbClr val="000000"/>
                </a:solidFill>
                <a:effectLst/>
              </a:rPr>
              <a:t>A chart displays nine distinct types of histograms, each representing a different data distribution. The types are as follows: Skewed Left: This histogram shows a distribution where most of the data falls to the right, with the tail of the distribution extending to the left. Symmetric: This histogram shows a distribution where the data is evenly distributed around the mean, creating a bell-shaped curve. Skewed Right: This histogram shows a distribution where most of the data falls to the left, with the tail of the distribution extending to the right. Bimodal Skewed Left: This histogram shows a distribution with two peaks that is skewed to the left. Multimodal Symmetric: This histogram shows a distribution with more than two peaks, and the data is symmetrically distributed around the mean. Bimodal Skewed Right: This histogram shows a distribution with two peaks that is skewed to the right. Skewed Left with Outliers: This histogram shows a skewed left distribution with additional outlier data points. Symmetric with Outliers: This histogram shows a symmetric distribution with additional outlier data points. Skewed Right with Outliers: This histogram shows a skewed right distribution with additional outlier data points.</a:t>
            </a:r>
            <a:endParaRPr lang="en-US" sz="18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68</a:t>
            </a:fld>
            <a:endParaRPr lang="en-US" sz="800" dirty="0"/>
          </a:p>
        </p:txBody>
      </p:sp>
    </p:spTree>
    <p:extLst>
      <p:ext uri="{BB962C8B-B14F-4D97-AF65-F5344CB8AC3E}">
        <p14:creationId xmlns:p14="http://schemas.microsoft.com/office/powerpoint/2010/main" val="15248285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Frequency Polygons and Ogive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b="0" i="0" u="none" strike="noStrike" noProof="0" dirty="0">
                <a:solidFill>
                  <a:srgbClr val="000000"/>
                </a:solidFill>
                <a:effectLst/>
              </a:rPr>
              <a:t>Two line graphs, each plotting percent against Price-to-Earnings (P/E) ratios. The first graph on the left is a frequency polygon. The percent ranges from 0 to 60 with increments of 10, and the P/E ratio ranges from 0 to 50 with increments of 10. The graph shows a curve that starts at the point (0,0), ascends to a maximum at the point (15, 55), then gently descends to the point (25, 23), and continues descending until it reaches the point (50, 2). The second graph on the right is an ogive, or cumulative frequency graph. It plots cumulative percent, which ranges from 0 to 100 with increments of 20, against the P/E ratio, which ranges from 0 to 50 with increments of 10. The graph shows a curve that begins at the point (0, 0), and ascends until it peaks at the point (50, 100). Please note that all values are approximations.</a:t>
            </a:r>
            <a:r>
              <a:rPr lang="en-US"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69</a:t>
            </a:fld>
            <a:endParaRPr lang="en-US" sz="800" dirty="0"/>
          </a:p>
        </p:txBody>
      </p:sp>
    </p:spTree>
    <p:extLst>
      <p:ext uri="{BB962C8B-B14F-4D97-AF65-F5344CB8AC3E}">
        <p14:creationId xmlns:p14="http://schemas.microsoft.com/office/powerpoint/2010/main" val="34889116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Effective Excel Charts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400" b="0" i="0" u="none" strike="noStrike" noProof="0" dirty="0">
                <a:solidFill>
                  <a:srgbClr val="000000"/>
                </a:solidFill>
                <a:effectLst/>
              </a:rPr>
              <a:t>A chart is composed of six sets, each showcasing different types of charts. The first set, titled ‘Line Charts’, displays five distinct models. The second set, ‘Scatter Plots’, also presents five unique models. Similarly, the third set features ‘Column Charts’ with five different models. The fourth set, ‘Pie Charts’, differs slightly by offering four unique models. The fifth set, ‘Bar Charts’, returns to the pattern with five distinct models. Lastly, the sixth set, ‘Area Charts’, concludes the collection with five different models.</a:t>
            </a:r>
            <a:endParaRPr lang="en-US" sz="24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70</a:t>
            </a:fld>
            <a:endParaRPr lang="en-US" sz="800" dirty="0"/>
          </a:p>
        </p:txBody>
      </p:sp>
    </p:spTree>
    <p:extLst>
      <p:ext uri="{BB962C8B-B14F-4D97-AF65-F5344CB8AC3E}">
        <p14:creationId xmlns:p14="http://schemas.microsoft.com/office/powerpoint/2010/main" val="41792741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Line Charts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b="0" i="0" u="none" strike="noStrike" noProof="0" dirty="0">
                <a:solidFill>
                  <a:srgbClr val="000000"/>
                </a:solidFill>
                <a:effectLst/>
              </a:rPr>
              <a:t>A line graph titled “Sarah’s Cell Phone Calls” spans the years 2010 to 2020. It plots two variables: dollars per month and minutes per call. The left Y-axis represents the average monthly bill, ranging from $30 to $55 in increments of $5. The right Y-axis represents the average call length, ranging from 1.5 to 3.5 minutes in increments of 0.5 minutes. The </a:t>
            </a:r>
            <a:r>
              <a:rPr lang="en-US" b="0" i="1" u="none" strike="noStrike" noProof="0" dirty="0">
                <a:solidFill>
                  <a:srgbClr val="000000"/>
                </a:solidFill>
                <a:effectLst/>
              </a:rPr>
              <a:t>X</a:t>
            </a:r>
            <a:r>
              <a:rPr lang="en-US" b="0" i="0" u="none" strike="noStrike" noProof="0" dirty="0">
                <a:solidFill>
                  <a:srgbClr val="000000"/>
                </a:solidFill>
                <a:effectLst/>
              </a:rPr>
              <a:t>-axis represents the years from 2010 to 2020 in increments of 2 years. The graph displays two curves: one for the average call length and another for the average monthly bill. The average call length curve starts at 3.0 minutes in 2010, decreases to 2.5 minutes by 2014, and then gradually increases back to 3.0 minutes by 2020. The average monthly bill curve starts at $38 in 2010 and steadily increases to $48 by 2020. Please note that all values are approximations.</a:t>
            </a:r>
            <a:endParaRPr lang="en-US"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71</a:t>
            </a:fld>
            <a:endParaRPr lang="en-US" sz="800" dirty="0"/>
          </a:p>
        </p:txBody>
      </p:sp>
    </p:spTree>
    <p:extLst>
      <p:ext uri="{BB962C8B-B14F-4D97-AF65-F5344CB8AC3E}">
        <p14:creationId xmlns:p14="http://schemas.microsoft.com/office/powerpoint/2010/main" val="17845361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Log Scales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a:xfrm>
            <a:off x="342900" y="1371601"/>
            <a:ext cx="8639352" cy="4876800"/>
          </a:xfrm>
        </p:spPr>
        <p:txBody>
          <a:bodyPr>
            <a:normAutofit/>
          </a:bodyPr>
          <a:lstStyle/>
          <a:p>
            <a:r>
              <a:rPr lang="en-US" sz="2200" b="0" i="0" u="none" strike="noStrike" noProof="0" dirty="0">
                <a:solidFill>
                  <a:srgbClr val="000000"/>
                </a:solidFill>
                <a:effectLst/>
              </a:rPr>
              <a:t>A line graph plots the value of imports and exports in billions of dollars against the years from 1980 to 2020. The </a:t>
            </a:r>
            <a:r>
              <a:rPr lang="en-US" sz="2200" b="0" i="1" u="none" strike="noStrike" noProof="0" dirty="0">
                <a:solidFill>
                  <a:srgbClr val="000000"/>
                </a:solidFill>
                <a:effectLst/>
              </a:rPr>
              <a:t>Y</a:t>
            </a:r>
            <a:r>
              <a:rPr lang="en-US" sz="2200" b="0" i="0" u="none" strike="noStrike" noProof="0" dirty="0">
                <a:solidFill>
                  <a:srgbClr val="000000"/>
                </a:solidFill>
                <a:effectLst/>
              </a:rPr>
              <a:t>-axis ranges from 0 to 3,500 billion dollars in increments of 500, while the </a:t>
            </a:r>
            <a:r>
              <a:rPr lang="en-US" sz="2200" b="0" i="1" u="none" strike="noStrike" noProof="0" dirty="0">
                <a:solidFill>
                  <a:srgbClr val="000000"/>
                </a:solidFill>
                <a:effectLst/>
              </a:rPr>
              <a:t>X</a:t>
            </a:r>
            <a:r>
              <a:rPr lang="en-US" sz="2200" b="0" i="0" u="none" strike="noStrike" noProof="0" dirty="0">
                <a:solidFill>
                  <a:srgbClr val="000000"/>
                </a:solidFill>
                <a:effectLst/>
              </a:rPr>
              <a:t>-axis represents the years in increments of 4 years. The graph displays two fluctuating trend curves for imports and exports: The import curve starts at 350 billion dollars in 1980, increases to 2,000 billion dollars by 2008, remains steady until 2012, and then rises to 3,100 billion dollars by 2018. The export curve begins at 350 billion dollars in 1980, increases to 1,500 billion dollars by 2008, and then rises to 2,500 billion dollars by 2018. Please note that all values are approximations. The graph also includes a zoomed-in portion on the right for a more detailed view of specific data points.</a:t>
            </a:r>
            <a:endParaRPr lang="en-US" sz="22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72</a:t>
            </a:fld>
            <a:endParaRPr lang="en-US" sz="800" dirty="0"/>
          </a:p>
        </p:txBody>
      </p:sp>
    </p:spTree>
    <p:extLst>
      <p:ext uri="{BB962C8B-B14F-4D97-AF65-F5344CB8AC3E}">
        <p14:creationId xmlns:p14="http://schemas.microsoft.com/office/powerpoint/2010/main" val="16573458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Column and Bar Charts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pPr>
              <a:spcAft>
                <a:spcPts val="600"/>
              </a:spcAft>
            </a:pPr>
            <a:r>
              <a:rPr lang="en-US" sz="1600" b="0" i="0" u="none" strike="noStrike" noProof="0" dirty="0">
                <a:solidFill>
                  <a:srgbClr val="000000"/>
                </a:solidFill>
                <a:effectLst/>
              </a:rPr>
              <a:t>The left bar graph plots the percentage of responses, ranging from 0 to 50 in increments of 10, against four parameters: ‘several times a day’, ‘about once a day’, ‘a few times a week’, and ‘less often’. This is done for the years 2014, 2016, 2018, and the current year.</a:t>
            </a:r>
          </a:p>
          <a:p>
            <a:pPr>
              <a:spcAft>
                <a:spcPts val="600"/>
              </a:spcAft>
            </a:pPr>
            <a:r>
              <a:rPr lang="en-US" sz="1600" b="0" i="0" u="none" strike="noStrike" noProof="0" dirty="0">
                <a:solidFill>
                  <a:srgbClr val="000000"/>
                </a:solidFill>
                <a:effectLst/>
              </a:rPr>
              <a:t>The data for each parameter is as follows:</a:t>
            </a:r>
            <a:endParaRPr lang="en-US" sz="1600" noProof="0" dirty="0">
              <a:solidFill>
                <a:srgbClr val="000000"/>
              </a:solidFill>
            </a:endParaRPr>
          </a:p>
          <a:p>
            <a:pPr>
              <a:spcAft>
                <a:spcPts val="600"/>
              </a:spcAft>
            </a:pPr>
            <a:r>
              <a:rPr lang="en-US" sz="1600" b="0" i="0" u="none" strike="noStrike" noProof="0" dirty="0">
                <a:solidFill>
                  <a:srgbClr val="000000"/>
                </a:solidFill>
                <a:effectLst/>
              </a:rPr>
              <a:t>‘Several times a day’: Current: 42%, 2018: 38%, 2016: 36%, 2014: 32%.</a:t>
            </a:r>
          </a:p>
          <a:p>
            <a:pPr>
              <a:spcAft>
                <a:spcPts val="600"/>
              </a:spcAft>
            </a:pPr>
            <a:r>
              <a:rPr lang="en-US" sz="1600" b="0" i="0" u="none" strike="noStrike" noProof="0" dirty="0">
                <a:solidFill>
                  <a:srgbClr val="000000"/>
                </a:solidFill>
                <a:effectLst/>
              </a:rPr>
              <a:t>‘About once a day’: Current: 21%, 2018: 22%, 2016: 16%, 2014: 17%.</a:t>
            </a:r>
          </a:p>
          <a:p>
            <a:pPr>
              <a:spcAft>
                <a:spcPts val="600"/>
              </a:spcAft>
            </a:pPr>
            <a:r>
              <a:rPr lang="en-US" sz="1600" b="0" i="0" u="none" strike="noStrike" noProof="0" dirty="0">
                <a:solidFill>
                  <a:srgbClr val="000000"/>
                </a:solidFill>
                <a:effectLst/>
              </a:rPr>
              <a:t>‘A few times a week’: Current: 21%, 2018: 21%, 2016: 26%, 2014: 24%.</a:t>
            </a:r>
          </a:p>
          <a:p>
            <a:pPr>
              <a:spcAft>
                <a:spcPts val="600"/>
              </a:spcAft>
            </a:pPr>
            <a:r>
              <a:rPr lang="en-US" sz="1600" b="0" i="0" u="none" strike="noStrike" noProof="0" dirty="0">
                <a:solidFill>
                  <a:srgbClr val="000000"/>
                </a:solidFill>
                <a:effectLst/>
              </a:rPr>
              <a:t>‘Less often’: Current: 17%, 2018: 17%, 2016: 22%, 2014: 26%.</a:t>
            </a:r>
          </a:p>
          <a:p>
            <a:pPr>
              <a:spcAft>
                <a:spcPts val="600"/>
              </a:spcAft>
            </a:pPr>
            <a:r>
              <a:rPr lang="en-US" sz="1600" b="0" i="0" u="none" strike="noStrike" noProof="0" dirty="0">
                <a:solidFill>
                  <a:srgbClr val="000000"/>
                </a:solidFill>
                <a:effectLst/>
              </a:rPr>
              <a:t>The right horizontal bar graph plots the same parameters against the percentage of responses for the same years. The data for each parameter is as follows:</a:t>
            </a:r>
          </a:p>
          <a:p>
            <a:pPr>
              <a:spcAft>
                <a:spcPts val="600"/>
              </a:spcAft>
            </a:pPr>
            <a:r>
              <a:rPr lang="en-US" sz="1600" b="0" i="0" u="none" strike="noStrike" noProof="0" dirty="0">
                <a:solidFill>
                  <a:srgbClr val="000000"/>
                </a:solidFill>
                <a:effectLst/>
              </a:rPr>
              <a:t>‘Several times a day’: Current: 42%, 2018: 38%, 2016: 36%, 2014: 32%.</a:t>
            </a:r>
          </a:p>
          <a:p>
            <a:pPr>
              <a:spcAft>
                <a:spcPts val="600"/>
              </a:spcAft>
            </a:pPr>
            <a:r>
              <a:rPr lang="en-US" sz="1600" b="0" i="0" u="none" strike="noStrike" noProof="0" dirty="0">
                <a:solidFill>
                  <a:srgbClr val="000000"/>
                </a:solidFill>
                <a:effectLst/>
              </a:rPr>
              <a:t>‘About once a day’: Current: 21%, 2018: 22%, 2016: 16%, 2014: 17%.</a:t>
            </a:r>
          </a:p>
          <a:p>
            <a:pPr>
              <a:spcAft>
                <a:spcPts val="600"/>
              </a:spcAft>
            </a:pPr>
            <a:r>
              <a:rPr lang="en-US" sz="1600" b="0" i="0" u="none" strike="noStrike" noProof="0" dirty="0">
                <a:solidFill>
                  <a:srgbClr val="000000"/>
                </a:solidFill>
                <a:effectLst/>
              </a:rPr>
              <a:t>‘A few times a week’: Current: 21%, 2018: 21%, 2016: 26%, 2014: 24%.</a:t>
            </a:r>
          </a:p>
          <a:p>
            <a:pPr>
              <a:spcAft>
                <a:spcPts val="600"/>
              </a:spcAft>
            </a:pPr>
            <a:r>
              <a:rPr lang="en-US" sz="1600" b="0" i="0" u="none" strike="noStrike" noProof="0" dirty="0">
                <a:solidFill>
                  <a:srgbClr val="000000"/>
                </a:solidFill>
                <a:effectLst/>
              </a:rPr>
              <a:t>‘Every few weeks’: Current: 6%, 2018: 8%, 2016: 10%, 2014: 10%.</a:t>
            </a:r>
          </a:p>
          <a:p>
            <a:pPr>
              <a:spcAft>
                <a:spcPts val="600"/>
              </a:spcAft>
            </a:pPr>
            <a:r>
              <a:rPr lang="en-US" sz="1600" b="0" i="0" u="none" strike="noStrike" noProof="0" dirty="0">
                <a:solidFill>
                  <a:srgbClr val="000000"/>
                </a:solidFill>
                <a:effectLst/>
              </a:rPr>
              <a:t>‘Less often’: Current: 11%, 2018: 9%, 2016: 12%, 2014: 16%.</a:t>
            </a:r>
            <a:endParaRPr lang="en-US" sz="16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73</a:t>
            </a:fld>
            <a:endParaRPr lang="en-US" sz="800" dirty="0"/>
          </a:p>
        </p:txBody>
      </p:sp>
    </p:spTree>
    <p:extLst>
      <p:ext uri="{BB962C8B-B14F-4D97-AF65-F5344CB8AC3E}">
        <p14:creationId xmlns:p14="http://schemas.microsoft.com/office/powerpoint/2010/main" val="18355427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Pareto Charts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200" b="0" i="0" u="none" strike="noStrike" noProof="0" dirty="0">
                <a:solidFill>
                  <a:srgbClr val="000000"/>
                </a:solidFill>
                <a:effectLst/>
              </a:rPr>
              <a:t>A Pareto chart titled ‘Concession Stand Customer Complaints’. The chart plots the percent of complaints, which ranges from 0 to 30 with increments of 5, on the left </a:t>
            </a:r>
            <a:r>
              <a:rPr lang="en-US" sz="2200" b="0" i="1" u="none" strike="noStrike" noProof="0" dirty="0">
                <a:solidFill>
                  <a:srgbClr val="000000"/>
                </a:solidFill>
                <a:effectLst/>
              </a:rPr>
              <a:t>Y</a:t>
            </a:r>
            <a:r>
              <a:rPr lang="en-US" sz="2200" b="0" i="0" u="none" strike="noStrike" noProof="0" dirty="0">
                <a:solidFill>
                  <a:srgbClr val="000000"/>
                </a:solidFill>
                <a:effectLst/>
              </a:rPr>
              <a:t>-axis. The cumulative percent, which ranges from 0 to 100 with increments of 20, is plotted on the right </a:t>
            </a:r>
            <a:r>
              <a:rPr lang="en-US" sz="2200" b="0" i="1" u="none" strike="noStrike" noProof="0" dirty="0">
                <a:solidFill>
                  <a:srgbClr val="000000"/>
                </a:solidFill>
                <a:effectLst/>
              </a:rPr>
              <a:t>Y</a:t>
            </a:r>
            <a:r>
              <a:rPr lang="en-US" sz="2200" b="0" i="0" u="none" strike="noStrike" noProof="0" dirty="0">
                <a:solidFill>
                  <a:srgbClr val="000000"/>
                </a:solidFill>
                <a:effectLst/>
              </a:rPr>
              <a:t>-axis. These percentages are plotted against nine different parameters related to customer complaints. The parameters, in descending order of complaints, are as follows: Food cold, Too much time in line, No vegetarian choice, Poor selection of food, Too much ice in sodas, Food too expensive, Server rude, No chili for hot dogs, and Dirty counter. The graph shows a curve that starts at 10% complaints, ascends gently till it reaches 23%, peaks at 28%, and then descends gently. Please note that all values are approximations.</a:t>
            </a:r>
            <a:r>
              <a:rPr lang="en-US" sz="2200"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74</a:t>
            </a:fld>
            <a:endParaRPr lang="en-US" sz="800" dirty="0"/>
          </a:p>
        </p:txBody>
      </p:sp>
    </p:spTree>
    <p:extLst>
      <p:ext uri="{BB962C8B-B14F-4D97-AF65-F5344CB8AC3E}">
        <p14:creationId xmlns:p14="http://schemas.microsoft.com/office/powerpoint/2010/main" val="5814364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Stacked Column Chart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b="0" i="0" u="none" strike="noStrike" noProof="0" dirty="0">
                <a:solidFill>
                  <a:srgbClr val="000000"/>
                </a:solidFill>
                <a:effectLst/>
              </a:rPr>
              <a:t>A stacked column chart titled ‘Medical School Applicants’. The chart plots the number of applicants, which ranges from 0 to 60,000 with increments of 10,000, on the </a:t>
            </a:r>
            <a:r>
              <a:rPr lang="en-US" b="0" i="1" u="none" strike="noStrike" noProof="0" dirty="0">
                <a:solidFill>
                  <a:srgbClr val="000000"/>
                </a:solidFill>
                <a:effectLst/>
              </a:rPr>
              <a:t>Y</a:t>
            </a:r>
            <a:r>
              <a:rPr lang="en-US" b="0" i="0" u="none" strike="noStrike" noProof="0" dirty="0">
                <a:solidFill>
                  <a:srgbClr val="000000"/>
                </a:solidFill>
                <a:effectLst/>
              </a:rPr>
              <a:t>-axis. The </a:t>
            </a:r>
            <a:r>
              <a:rPr lang="en-US" b="0" i="1" u="none" strike="noStrike" noProof="0" dirty="0">
                <a:solidFill>
                  <a:srgbClr val="000000"/>
                </a:solidFill>
                <a:effectLst/>
              </a:rPr>
              <a:t>X</a:t>
            </a:r>
            <a:r>
              <a:rPr lang="en-US" b="0" i="0" u="none" strike="noStrike" noProof="0" dirty="0">
                <a:solidFill>
                  <a:srgbClr val="000000"/>
                </a:solidFill>
                <a:effectLst/>
              </a:rPr>
              <a:t>-axis represents the years from 2005 to 2020, with increments of 5 years. The chart is divided into two sections for women and men. The data represented in the chart is as follows: In 2005, there were 18,625 women and 18,747 men applicants. In 2010, the number of women applicants increased to 20,252, and the number of men applicants rose to 22,013. By 2015, the number of women applicants grew to 23,019, while the number of men applicants reached 26,455. In 2020, the number of women applicants peaked at 27,848, whereas the number of men applicants slightly decreased to 25,494.</a:t>
            </a:r>
            <a:r>
              <a:rPr lang="en-US"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75</a:t>
            </a:fld>
            <a:endParaRPr lang="en-US" sz="800" dirty="0"/>
          </a:p>
        </p:txBody>
      </p:sp>
    </p:spTree>
    <p:extLst>
      <p:ext uri="{BB962C8B-B14F-4D97-AF65-F5344CB8AC3E}">
        <p14:creationId xmlns:p14="http://schemas.microsoft.com/office/powerpoint/2010/main" val="13193503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2800" noProof="0" dirty="0"/>
              <a:t>Pie Charts </a:t>
            </a:r>
            <a:r>
              <a:rPr lang="en-US" sz="1000" b="0" noProof="0" dirty="0"/>
              <a:t>1</a:t>
            </a:r>
            <a:r>
              <a:rPr lang="en-US" sz="28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b="0" i="0" u="none" strike="noStrike" noProof="0" dirty="0">
                <a:solidFill>
                  <a:srgbClr val="000000"/>
                </a:solidFill>
                <a:effectLst/>
              </a:rPr>
              <a:t>A description of two charts. The first is a pie chart divided into four sections, each representing a different category. The sections are as follows: Web: This section accounts for 18% of the pie chart. Retail Outlet: This section makes up 25% of the pie chart. Another Student: This is the smallest section, accounting for only 3% of the pie chart. Campus Bookstore: This is the largest section, making up 54% of the pie chart. To the right of the pie chart is a hierarchy chart created in Excel. This chart is made up of rectangles of varying sizes, each representing one of the categories from the pie chart. The size of each rectangle corresponds to the percentage that each category represents in the pie chart. The largest rectangle represents the Campus Bookstore, followed by smaller rectangles for the Retail Outlet, Web, and Another Student categories.</a:t>
            </a:r>
            <a:r>
              <a:rPr lang="en-US"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76</a:t>
            </a:fld>
            <a:endParaRPr lang="en-US" sz="800" dirty="0"/>
          </a:p>
        </p:txBody>
      </p:sp>
    </p:spTree>
    <p:extLst>
      <p:ext uri="{BB962C8B-B14F-4D97-AF65-F5344CB8AC3E}">
        <p14:creationId xmlns:p14="http://schemas.microsoft.com/office/powerpoint/2010/main" val="4271226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Scatter Plots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400" b="0" i="0" u="none" strike="noStrike" noProof="0" dirty="0">
                <a:solidFill>
                  <a:srgbClr val="000000"/>
                </a:solidFill>
                <a:effectLst/>
              </a:rPr>
              <a:t>A scatter plot that plots the birth rate per 1,000, which ranges from 0 to 60 with increments of 10, against life expectancy in years, which ranges from 30 to 80 with increments of 10. The graph shows clusters of data points between a birth rate of 5 to 25 and a life expectancy ranging from 62 to 78 years. Please note that all values are approximations.</a:t>
            </a:r>
            <a:r>
              <a:rPr lang="en-US" sz="2400"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77</a:t>
            </a:fld>
            <a:endParaRPr lang="en-US" sz="800" dirty="0"/>
          </a:p>
        </p:txBody>
      </p:sp>
    </p:spTree>
    <p:extLst>
      <p:ext uri="{BB962C8B-B14F-4D97-AF65-F5344CB8AC3E}">
        <p14:creationId xmlns:p14="http://schemas.microsoft.com/office/powerpoint/2010/main" val="15320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Scatter Plots </a:t>
            </a:r>
            <a:r>
              <a:rPr lang="en-US" sz="1000" b="0" noProof="0" dirty="0"/>
              <a:t>3</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Autofit/>
          </a:bodyPr>
          <a:lstStyle/>
          <a:p>
            <a:r>
              <a:rPr lang="en-US" sz="1800" b="0" i="0" u="none" strike="noStrike" noProof="0" dirty="0">
                <a:solidFill>
                  <a:srgbClr val="000000"/>
                </a:solidFill>
                <a:effectLst/>
              </a:rPr>
              <a:t>A chart displays six different types of scatter plots, each representing a unique correlation pattern between two variables:</a:t>
            </a:r>
            <a:endParaRPr lang="en-US" sz="1800" noProof="0" dirty="0">
              <a:solidFill>
                <a:srgbClr val="000000"/>
              </a:solidFill>
            </a:endParaRPr>
          </a:p>
          <a:p>
            <a:r>
              <a:rPr lang="en-US" sz="1800" b="0" i="0" u="none" strike="noStrike" noProof="0" dirty="0">
                <a:solidFill>
                  <a:srgbClr val="000000"/>
                </a:solidFill>
                <a:effectLst/>
              </a:rPr>
              <a:t>Strong Positive: This scatter plot shows a clear upward trend, indicating a strong positive correlation between the two variables.</a:t>
            </a:r>
          </a:p>
          <a:p>
            <a:r>
              <a:rPr lang="en-US" sz="1800" b="0" i="0" u="none" strike="noStrike" noProof="0" dirty="0">
                <a:solidFill>
                  <a:srgbClr val="000000"/>
                </a:solidFill>
                <a:effectLst/>
              </a:rPr>
              <a:t>Weak Positive: This scatter plot shows a slight upward trend, indicating a weak positive correlation between the two variables.</a:t>
            </a:r>
          </a:p>
          <a:p>
            <a:r>
              <a:rPr lang="en-US" sz="1800" b="0" i="0" u="none" strike="noStrike" noProof="0" dirty="0">
                <a:solidFill>
                  <a:srgbClr val="000000"/>
                </a:solidFill>
                <a:effectLst/>
              </a:rPr>
              <a:t>No Pattern: This scatter plot shows no discernible trend, indicating no correlation between the two variables.</a:t>
            </a:r>
          </a:p>
          <a:p>
            <a:r>
              <a:rPr lang="en-US" sz="1800" b="0" i="0" u="none" strike="noStrike" noProof="0" dirty="0">
                <a:solidFill>
                  <a:srgbClr val="000000"/>
                </a:solidFill>
                <a:effectLst/>
              </a:rPr>
              <a:t>Strong Negative: This scatter plot shows a clear downward trend, indicating a strong negative correlation between the two variables.</a:t>
            </a:r>
          </a:p>
          <a:p>
            <a:r>
              <a:rPr lang="en-US" sz="1800" b="0" i="0" u="none" strike="noStrike" noProof="0" dirty="0">
                <a:solidFill>
                  <a:srgbClr val="000000"/>
                </a:solidFill>
                <a:effectLst/>
              </a:rPr>
              <a:t>Weak Negative: This scatter plot shows a slight downward trend, indicating a weak negative correlation between the two variables.</a:t>
            </a:r>
          </a:p>
          <a:p>
            <a:r>
              <a:rPr lang="en-US" sz="1800" b="0" i="0" u="none" strike="noStrike" noProof="0" dirty="0">
                <a:solidFill>
                  <a:srgbClr val="000000"/>
                </a:solidFill>
                <a:effectLst/>
              </a:rPr>
              <a:t>Nonlinear Pattern: This scatter plot shows a curve or irregular pattern, indicating a nonlinear relationship between the two variables.</a:t>
            </a:r>
            <a:endParaRPr lang="en-US" sz="18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78</a:t>
            </a:fld>
            <a:endParaRPr lang="en-US" sz="800" dirty="0"/>
          </a:p>
        </p:txBody>
      </p:sp>
    </p:spTree>
    <p:extLst>
      <p:ext uri="{BB962C8B-B14F-4D97-AF65-F5344CB8AC3E}">
        <p14:creationId xmlns:p14="http://schemas.microsoft.com/office/powerpoint/2010/main" val="18411544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Pivot Tables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b="0" i="0" u="none" strike="noStrike" noProof="0" dirty="0">
                <a:solidFill>
                  <a:srgbClr val="000000"/>
                </a:solidFill>
                <a:effectLst/>
              </a:rPr>
              <a:t> A spreadsheet displayed as a pivot table with seven columns and 26 rows. The spreadsheet contains two tables. The first table at the top has six columns. The column headers are titled ‘Child Exemptions’, ‘Head of Household’, ‘Married Joint’, ‘Married Separate’, ‘Single’, and ‘Grand Total’. The first two columns of this table represent the ‘Count of tax%’ and ‘Filing Type’. The first column of this table lists the number of items, while the remaining columns contain numerical values. The second table also has six columns with the same headers as the first table. However, in this table, the first two columns represent the ‘Average of tax%’ and ‘Filing Type’. Similar to the first table, the first column of this table lists the number of items, while the remaining columns contain numerical values.</a:t>
            </a:r>
            <a:endParaRPr lang="en-US"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79</a:t>
            </a:fld>
            <a:endParaRPr lang="en-US" sz="800" dirty="0"/>
          </a:p>
        </p:txBody>
      </p:sp>
    </p:spTree>
    <p:extLst>
      <p:ext uri="{BB962C8B-B14F-4D97-AF65-F5344CB8AC3E}">
        <p14:creationId xmlns:p14="http://schemas.microsoft.com/office/powerpoint/2010/main" val="12748551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Deceptive Graphs </a:t>
            </a:r>
            <a:r>
              <a:rPr lang="en-US" sz="1000" b="0" noProof="0" dirty="0"/>
              <a:t>1</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b="0" i="0" u="none" strike="noStrike" noProof="0" dirty="0">
                <a:solidFill>
                  <a:srgbClr val="000000"/>
                </a:solidFill>
                <a:effectLst/>
              </a:rPr>
              <a:t> Two bar graphs titled ‘Nonzero Origin’ and ‘Zero Origin’, both plotting the average length of cell phone calls. The first graph on the left, ‘Nonzero Origin’, plots minutes ranging from 2.1 to 3.1 with increments of 0.2 against the years from 2015 to 2021 with increments of 1 year. The graph shows an ascending trend, with the maximum average call length of 3.0 minutes occurring in the year 2020. The second graph on the right, ‘Zero Origin’, plots minutes ranging from 0.0 to 3.5 with increments of 0.5 against the same years as the first graph. This graph also shows a gentle ascending trend, with the maximum average call length again occurring in the year 2020 with 3 minutes. Please note that all values are approximations.</a:t>
            </a:r>
            <a:r>
              <a:rPr lang="en-US"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80</a:t>
            </a:fld>
            <a:endParaRPr lang="en-US" sz="800" dirty="0"/>
          </a:p>
        </p:txBody>
      </p:sp>
    </p:spTree>
    <p:extLst>
      <p:ext uri="{BB962C8B-B14F-4D97-AF65-F5344CB8AC3E}">
        <p14:creationId xmlns:p14="http://schemas.microsoft.com/office/powerpoint/2010/main" val="1658475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Deceptive Graphs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200" b="0" i="0" u="none" strike="noStrike" noProof="0" dirty="0">
                <a:solidFill>
                  <a:srgbClr val="000000"/>
                </a:solidFill>
                <a:effectLst/>
              </a:rPr>
              <a:t>Two line graphs. The first graph on the left, titled ‘Stretched’, plots the dollars per month, which ranges from 0 to 50 with increments of 5, against the years from 19</a:t>
            </a:r>
            <a:r>
              <a:rPr lang="en-US" sz="100" b="0" i="0" u="none" strike="noStrike" noProof="0" dirty="0">
                <a:solidFill>
                  <a:srgbClr val="000000"/>
                </a:solidFill>
                <a:effectLst/>
              </a:rPr>
              <a:t> </a:t>
            </a:r>
            <a:r>
              <a:rPr lang="en-US" sz="2200" b="0" i="0" u="none" strike="noStrike" noProof="0" dirty="0">
                <a:solidFill>
                  <a:srgbClr val="000000"/>
                </a:solidFill>
                <a:effectLst/>
              </a:rPr>
              <a:t>95 to 2020 with increments of 5 years. The graph shows an ascending trend with the following values: (19</a:t>
            </a:r>
            <a:r>
              <a:rPr lang="en-US" sz="100" b="0" i="0" u="none" strike="noStrike" noProof="0" dirty="0">
                <a:solidFill>
                  <a:srgbClr val="000000"/>
                </a:solidFill>
                <a:effectLst/>
              </a:rPr>
              <a:t> </a:t>
            </a:r>
            <a:r>
              <a:rPr lang="en-US" sz="2200" b="0" i="0" u="none" strike="noStrike" noProof="0" dirty="0">
                <a:solidFill>
                  <a:srgbClr val="000000"/>
                </a:solidFill>
                <a:effectLst/>
              </a:rPr>
              <a:t>95, 7.5), (2000, 10), (2005, 18), (2010, 22), (2015, 30), and (2020, 40). Please note that all values are approximations. The second graph on the right, titled ‘Squeezed’, presents the same data as the first graph but in a contracted and zoomed view. </a:t>
            </a:r>
            <a:endParaRPr lang="en-US" sz="22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81</a:t>
            </a:fld>
            <a:endParaRPr lang="en-US" sz="800" dirty="0"/>
          </a:p>
        </p:txBody>
      </p:sp>
    </p:spTree>
    <p:extLst>
      <p:ext uri="{BB962C8B-B14F-4D97-AF65-F5344CB8AC3E}">
        <p14:creationId xmlns:p14="http://schemas.microsoft.com/office/powerpoint/2010/main" val="13714361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Deceptive Graphs </a:t>
            </a:r>
            <a:r>
              <a:rPr lang="en-US" sz="1000" b="0" noProof="0" dirty="0"/>
              <a:t>3</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1800" b="0" i="0" u="none" strike="noStrike" noProof="0" dirty="0">
                <a:solidFill>
                  <a:srgbClr val="000000"/>
                </a:solidFill>
                <a:effectLst/>
              </a:rPr>
              <a:t>Two bar graphs, one titled ‘Deceptive’ on the left and the other titled ‘Objective’ on the right. The right graph, titled ‘Medical School Applications’, plots the number of applicants, which ranges from 0 to 60,000 with increments of 10,000, against the years from 2000 to 2020 with increments of 5 years. The graph shows the following data:</a:t>
            </a:r>
          </a:p>
          <a:p>
            <a:r>
              <a:rPr lang="en-US" sz="1800" b="0" i="0" u="none" strike="noStrike" noProof="0" dirty="0">
                <a:solidFill>
                  <a:srgbClr val="000000"/>
                </a:solidFill>
                <a:effectLst/>
              </a:rPr>
              <a:t>In 2000, there were 37,372 applicants.</a:t>
            </a:r>
          </a:p>
          <a:p>
            <a:r>
              <a:rPr lang="en-US" sz="1800" b="0" i="0" u="none" strike="noStrike" noProof="0" dirty="0">
                <a:solidFill>
                  <a:srgbClr val="000000"/>
                </a:solidFill>
                <a:effectLst/>
              </a:rPr>
              <a:t>In 2005, the number of applicants was 37,372.</a:t>
            </a:r>
          </a:p>
          <a:p>
            <a:r>
              <a:rPr lang="en-US" sz="1800" b="0" i="0" u="none" strike="noStrike" noProof="0" dirty="0">
                <a:solidFill>
                  <a:srgbClr val="000000"/>
                </a:solidFill>
                <a:effectLst/>
              </a:rPr>
              <a:t>In 2010, the number of applicants increased to 42,265.</a:t>
            </a:r>
          </a:p>
          <a:p>
            <a:r>
              <a:rPr lang="en-US" sz="1800" b="0" i="0" u="none" strike="noStrike" noProof="0" dirty="0">
                <a:solidFill>
                  <a:srgbClr val="000000"/>
                </a:solidFill>
                <a:effectLst/>
              </a:rPr>
              <a:t>In 2015, the number of applicants rose to 49,474.</a:t>
            </a:r>
          </a:p>
          <a:p>
            <a:r>
              <a:rPr lang="en-US" sz="1800" b="0" i="0" u="none" strike="noStrike" noProof="0" dirty="0">
                <a:solidFill>
                  <a:srgbClr val="000000"/>
                </a:solidFill>
                <a:effectLst/>
              </a:rPr>
              <a:t>In 2020, the number of applicants peaked at 53,342.</a:t>
            </a:r>
          </a:p>
          <a:p>
            <a:r>
              <a:rPr lang="en-US" sz="1800" b="0" i="0" u="none" strike="noStrike" noProof="0" dirty="0">
                <a:solidFill>
                  <a:srgbClr val="000000"/>
                </a:solidFill>
                <a:effectLst/>
              </a:rPr>
              <a:t>The left graph shows the same data but without proper values. It also includes two distracting images, making the chart hard to read. Additionally, the chart is presented in a 3-dimensional view, which can distort the perception of the data.</a:t>
            </a:r>
            <a:endParaRPr lang="en-US" sz="18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82</a:t>
            </a:fld>
            <a:endParaRPr lang="en-US" sz="800" dirty="0"/>
          </a:p>
        </p:txBody>
      </p:sp>
    </p:spTree>
    <p:extLst>
      <p:ext uri="{BB962C8B-B14F-4D97-AF65-F5344CB8AC3E}">
        <p14:creationId xmlns:p14="http://schemas.microsoft.com/office/powerpoint/2010/main" val="37678194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Deceptive Graphs </a:t>
            </a:r>
            <a:r>
              <a:rPr lang="en-US" sz="1000" b="0" noProof="0" dirty="0"/>
              <a:t>5</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200" b="0" i="0" u="none" strike="noStrike" noProof="0" dirty="0">
                <a:solidFill>
                  <a:srgbClr val="000000"/>
                </a:solidFill>
                <a:effectLst/>
              </a:rPr>
              <a:t>A complex pie chart that is somewhat deceptive in its presentation. The chart is divided into 13 sections, each presumably representing a different category. However, the chart does not provide any values for these sections, making it difficult to interpret the data accurately. The chart is presented in a 3-dimensional format. While this can make the chart visually appealing, it can also distort the perception of the data and make it harder to compare the different sections accurately. In addition, the chart includes three unrelated medical images. These images do not appear to provide any relevant information and may distract from the data being presented. Accompanying the chart is a table with a color gradient corresponding to the 13 sections of the pie chart.</a:t>
            </a:r>
            <a:r>
              <a:rPr lang="en-US" sz="2200"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83</a:t>
            </a:fld>
            <a:endParaRPr lang="en-US" sz="800" dirty="0"/>
          </a:p>
        </p:txBody>
      </p:sp>
    </p:spTree>
    <p:extLst>
      <p:ext uri="{BB962C8B-B14F-4D97-AF65-F5344CB8AC3E}">
        <p14:creationId xmlns:p14="http://schemas.microsoft.com/office/powerpoint/2010/main" val="23267048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Deceptive Graphs </a:t>
            </a:r>
            <a:r>
              <a:rPr lang="en-US" sz="1000" b="0" noProof="0" dirty="0"/>
              <a:t>7</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2200" b="0" i="0" u="none" strike="noStrike" noProof="0" dirty="0">
                <a:solidFill>
                  <a:srgbClr val="000000"/>
                </a:solidFill>
                <a:effectLst/>
              </a:rPr>
              <a:t>Two bar graphs, one titled ‘Deceptive’ and the other titled ‘Correct’, both plotting physician salaries in millions of dollars against the years from 2000 to 2020 with increments of 5 years. The Correct graph on the right plots the millions of dollars, which ranges from 0 to 9, showing an ascending trend over the years. This graph provides a clear and straightforward representation of the data. The Deceptive graph on the left, however, plots the same data but with a range of 0 to 9 million dollars with increments of 1. This graph also shows an ascending trend. However, it includes an illustration of a healthcare professional within the bar graph. The size of the illustration increases with the height of the bars.</a:t>
            </a:r>
            <a:r>
              <a:rPr lang="en-US" sz="2200" noProof="0" dirty="0"/>
              <a:t> </a:t>
            </a:r>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84</a:t>
            </a:fld>
            <a:endParaRPr lang="en-US" sz="800" dirty="0"/>
          </a:p>
        </p:txBody>
      </p:sp>
    </p:spTree>
    <p:extLst>
      <p:ext uri="{BB962C8B-B14F-4D97-AF65-F5344CB8AC3E}">
        <p14:creationId xmlns:p14="http://schemas.microsoft.com/office/powerpoint/2010/main" val="21341114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noProof="0" dirty="0"/>
              <a:t>Analytics in Action </a:t>
            </a:r>
            <a:r>
              <a:rPr lang="en-US" sz="1000" b="0" noProof="0" dirty="0"/>
              <a:t>2</a:t>
            </a:r>
            <a:r>
              <a:rPr lang="en-US" sz="3000" noProof="0" dirty="0"/>
              <a:t> – Text Alternative</a:t>
            </a:r>
          </a:p>
        </p:txBody>
      </p:sp>
      <p:sp>
        <p:nvSpPr>
          <p:cNvPr id="4" name="Text Placeholder 3"/>
          <p:cNvSpPr>
            <a:spLocks noGrp="1"/>
          </p:cNvSpPr>
          <p:nvPr>
            <p:ph type="body" sz="quarter" idx="14"/>
          </p:nvPr>
        </p:nvSpPr>
        <p:spPr/>
        <p:txBody>
          <a:bodyPr/>
          <a:lstStyle/>
          <a:p>
            <a:r>
              <a:rPr lang="en-US" noProof="0" dirty="0">
                <a:hlinkClick r:id="rId3" action="ppaction://hlinksldjump"/>
              </a:rPr>
              <a:t>Return to parent-slide containing images.</a:t>
            </a:r>
          </a:p>
        </p:txBody>
      </p:sp>
      <p:sp>
        <p:nvSpPr>
          <p:cNvPr id="7" name="Content Placeholder 6">
            <a:extLst>
              <a:ext uri="{FF2B5EF4-FFF2-40B4-BE49-F238E27FC236}">
                <a16:creationId xmlns:a16="http://schemas.microsoft.com/office/drawing/2014/main" id="{718EE17A-1E2C-4329-4A4D-C3642507119E}"/>
              </a:ext>
            </a:extLst>
          </p:cNvPr>
          <p:cNvSpPr>
            <a:spLocks noGrp="1"/>
          </p:cNvSpPr>
          <p:nvPr>
            <p:ph sz="quarter" idx="11"/>
          </p:nvPr>
        </p:nvSpPr>
        <p:spPr/>
        <p:txBody>
          <a:bodyPr>
            <a:normAutofit/>
          </a:bodyPr>
          <a:lstStyle/>
          <a:p>
            <a:r>
              <a:rPr lang="en-US" sz="1800" b="0" i="0" u="none" strike="noStrike" noProof="0" dirty="0">
                <a:solidFill>
                  <a:srgbClr val="000000"/>
                </a:solidFill>
                <a:effectLst/>
              </a:rPr>
              <a:t>A bar graph titled ‘Individual Subject Importance’. The graph plots the average importance, which ranges from 0 to 80 with increments of 20, against four pass features: ‘Resorts Included’, ‘Days on Pass’, ‘Blackout Days’, and ‘Price’. These features are evaluated for three categories: ‘Less than once a year’, ‘Once a year’, and ‘Two or more times a year’. The data represented in the graph is as follows:</a:t>
            </a:r>
            <a:endParaRPr lang="en-US" sz="1800" noProof="0" dirty="0">
              <a:solidFill>
                <a:srgbClr val="000000"/>
              </a:solidFill>
            </a:endParaRPr>
          </a:p>
          <a:p>
            <a:r>
              <a:rPr lang="en-US" sz="1800" b="0" i="0" u="none" strike="noStrike" noProof="0" dirty="0">
                <a:solidFill>
                  <a:srgbClr val="000000"/>
                </a:solidFill>
                <a:effectLst/>
              </a:rPr>
              <a:t>Resorts Included: For ‘Less than once a year’, the importance is 4.5. For ‘Once a year’, it’s 4.0, and for ‘Two or more times a year’, it’s 5.9.</a:t>
            </a:r>
          </a:p>
          <a:p>
            <a:r>
              <a:rPr lang="en-US" sz="1800" b="0" i="0" u="none" strike="noStrike" noProof="0" dirty="0">
                <a:solidFill>
                  <a:srgbClr val="000000"/>
                </a:solidFill>
                <a:effectLst/>
              </a:rPr>
              <a:t>Days on Pass: For ‘Less than once a year’, the importance is 15.4. For ‘Once a year’, it’s 13.0, and for ‘Two or more times a year’, it’s 17.7.</a:t>
            </a:r>
          </a:p>
          <a:p>
            <a:r>
              <a:rPr lang="en-US" sz="1800" b="0" i="0" u="none" strike="noStrike" noProof="0" dirty="0">
                <a:solidFill>
                  <a:srgbClr val="000000"/>
                </a:solidFill>
                <a:effectLst/>
              </a:rPr>
              <a:t>Blackout Days: For ‘Less than once a year’, the importance is 13.5. For ‘Once a year’, it’s 14.2, and for ‘Two or more times a year’, it’s 17.1.</a:t>
            </a:r>
          </a:p>
          <a:p>
            <a:r>
              <a:rPr lang="en-US" sz="1800" b="0" i="0" u="none" strike="noStrike" noProof="0" dirty="0">
                <a:solidFill>
                  <a:srgbClr val="000000"/>
                </a:solidFill>
                <a:effectLst/>
              </a:rPr>
              <a:t>Price: For ‘Less than once a year’, the importance is 66.6. For ‘Once a year’, it’s 68.8, and for ‘Two or more times a year’, it’s 59.3.</a:t>
            </a:r>
            <a:r>
              <a:rPr lang="en-US" sz="2000" noProof="0" dirty="0"/>
              <a:t> </a:t>
            </a:r>
            <a:endParaRPr lang="en-US" sz="2400" noProof="0" dirty="0"/>
          </a:p>
        </p:txBody>
      </p:sp>
      <p:sp>
        <p:nvSpPr>
          <p:cNvPr id="2" name="Text Placeholder 1"/>
          <p:cNvSpPr>
            <a:spLocks noGrp="1"/>
          </p:cNvSpPr>
          <p:nvPr>
            <p:ph type="body" sz="quarter" idx="15"/>
          </p:nvPr>
        </p:nvSpPr>
        <p:spPr/>
        <p:txBody>
          <a:bodyPr/>
          <a:lstStyle/>
          <a:p>
            <a:pPr algn="ctr"/>
            <a:r>
              <a:rPr lang="en-US" noProof="0" dirty="0">
                <a:hlinkClick r:id="rId3" action="ppaction://hlinksldjump"/>
              </a:rPr>
              <a:t>Return to parent-slide containing images.</a:t>
            </a: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85</a:t>
            </a:fld>
            <a:endParaRPr lang="en-US" sz="800" dirty="0"/>
          </a:p>
        </p:txBody>
      </p:sp>
    </p:spTree>
    <p:extLst>
      <p:ext uri="{BB962C8B-B14F-4D97-AF65-F5344CB8AC3E}">
        <p14:creationId xmlns:p14="http://schemas.microsoft.com/office/powerpoint/2010/main" val="925113068"/>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12524</TotalTime>
  <Words>8668</Words>
  <Application>Microsoft Office PowerPoint</Application>
  <PresentationFormat>On-screen Show (4:3)</PresentationFormat>
  <Paragraphs>910</Paragraphs>
  <Slides>85</Slides>
  <Notes>26</Notes>
  <HiddenSlides>24</HiddenSlides>
  <MMClips>0</MMClips>
  <ScaleCrop>false</ScaleCrop>
  <HeadingPairs>
    <vt:vector size="8" baseType="variant">
      <vt:variant>
        <vt:lpstr>Fonts Used</vt:lpstr>
      </vt:variant>
      <vt:variant>
        <vt:i4>2</vt:i4>
      </vt:variant>
      <vt:variant>
        <vt:lpstr>Theme</vt:lpstr>
      </vt:variant>
      <vt:variant>
        <vt:i4>5</vt:i4>
      </vt:variant>
      <vt:variant>
        <vt:lpstr>Embedded OLE Servers</vt:lpstr>
      </vt:variant>
      <vt:variant>
        <vt:i4>1</vt:i4>
      </vt:variant>
      <vt:variant>
        <vt:lpstr>Slide Titles</vt:lpstr>
      </vt:variant>
      <vt:variant>
        <vt:i4>85</vt:i4>
      </vt:variant>
    </vt:vector>
  </HeadingPairs>
  <TitlesOfParts>
    <vt:vector size="93" baseType="lpstr">
      <vt:lpstr>Arial</vt:lpstr>
      <vt:lpstr>Calibri</vt:lpstr>
      <vt:lpstr>Title Slides Master</vt:lpstr>
      <vt:lpstr>MainContentSlideMaster</vt:lpstr>
      <vt:lpstr>ClosingMaster</vt:lpstr>
      <vt:lpstr>DividerSlideMaster</vt:lpstr>
      <vt:lpstr>ImageDescriptionAppendixSlideMaster</vt:lpstr>
      <vt:lpstr>Equation</vt:lpstr>
      <vt:lpstr>Chapter 3</vt:lpstr>
      <vt:lpstr>Chapter Learning Objectives</vt:lpstr>
      <vt:lpstr>Describing Data Visually 1</vt:lpstr>
      <vt:lpstr>Describing Data Visually 2</vt:lpstr>
      <vt:lpstr>Preliminary Assessment</vt:lpstr>
      <vt:lpstr>Stem-and-Leaf Plot 1</vt:lpstr>
      <vt:lpstr>Stem-and-Leaf Plot 2</vt:lpstr>
      <vt:lpstr>Stem-and-Leaf Plot 3</vt:lpstr>
      <vt:lpstr>Dot Plots 1</vt:lpstr>
      <vt:lpstr>Dot Plots 2</vt:lpstr>
      <vt:lpstr>Dot Plots 3</vt:lpstr>
      <vt:lpstr>Frequency Distribution 1</vt:lpstr>
      <vt:lpstr>Frequency Distribution 2</vt:lpstr>
      <vt:lpstr>Frequency Distribution 3</vt:lpstr>
      <vt:lpstr>Frequency Distribution 4</vt:lpstr>
      <vt:lpstr>Frequency Distribution 5</vt:lpstr>
      <vt:lpstr>Histograms 1</vt:lpstr>
      <vt:lpstr>Histograms 2</vt:lpstr>
      <vt:lpstr>Histograms 3</vt:lpstr>
      <vt:lpstr>Histograms 4</vt:lpstr>
      <vt:lpstr>Histograms 5</vt:lpstr>
      <vt:lpstr>Tips for Effective Frequency Distributions</vt:lpstr>
      <vt:lpstr>Frequency Polygons and Ogive 1</vt:lpstr>
      <vt:lpstr>Frequency Polygons and Ogive 2</vt:lpstr>
      <vt:lpstr>Effective Excel Charts</vt:lpstr>
      <vt:lpstr>Line Charts</vt:lpstr>
      <vt:lpstr>Log Scales 1</vt:lpstr>
      <vt:lpstr>Log Scales 2</vt:lpstr>
      <vt:lpstr>Tips for Effective Line Charts</vt:lpstr>
      <vt:lpstr>Column and Bar Charts</vt:lpstr>
      <vt:lpstr>Pareto Charts</vt:lpstr>
      <vt:lpstr>Stacked Column Chart</vt:lpstr>
      <vt:lpstr>Tips for Effective Bar and Column Charts</vt:lpstr>
      <vt:lpstr>Pie Charts 1</vt:lpstr>
      <vt:lpstr>Pie Charts 2</vt:lpstr>
      <vt:lpstr>Scatter Plots 1</vt:lpstr>
      <vt:lpstr>Scatter Plots 2</vt:lpstr>
      <vt:lpstr>Scatter Plots 3</vt:lpstr>
      <vt:lpstr>Tables 1</vt:lpstr>
      <vt:lpstr>Tables 2</vt:lpstr>
      <vt:lpstr>Tips for Effective Tables</vt:lpstr>
      <vt:lpstr>Pivot Tables 1</vt:lpstr>
      <vt:lpstr>Pivot Tables 2</vt:lpstr>
      <vt:lpstr>Deceptive Graphs 1</vt:lpstr>
      <vt:lpstr>Deceptive Graphs 2</vt:lpstr>
      <vt:lpstr>Deceptive Graphs 3</vt:lpstr>
      <vt:lpstr>Deceptive Graphs 4</vt:lpstr>
      <vt:lpstr>Deceptive Graphs 5</vt:lpstr>
      <vt:lpstr>Deceptive Graphs 6</vt:lpstr>
      <vt:lpstr>Deceptive Graphs 7</vt:lpstr>
      <vt:lpstr>Chapter 3: Practice Problems</vt:lpstr>
      <vt:lpstr>Question 2</vt:lpstr>
      <vt:lpstr>Question 8</vt:lpstr>
      <vt:lpstr>Question 11</vt:lpstr>
      <vt:lpstr>Question 15</vt:lpstr>
      <vt:lpstr>Question 19</vt:lpstr>
      <vt:lpstr>Question 22</vt:lpstr>
      <vt:lpstr>Chapter 3: Analytics in Action</vt:lpstr>
      <vt:lpstr>Analytics in Action 1</vt:lpstr>
      <vt:lpstr>Analytics in Action 2</vt:lpstr>
      <vt:lpstr>End of Main Content</vt:lpstr>
      <vt:lpstr>Accessibility Content: Text Alternatives for Images</vt:lpstr>
      <vt:lpstr>Stem-and-Leaf Plot 2 – Text Alternative</vt:lpstr>
      <vt:lpstr>Stem-and-Leaf Plot 3 – Text Alternative</vt:lpstr>
      <vt:lpstr>Dot Plots 2 – Text Alternative</vt:lpstr>
      <vt:lpstr>Dot Plots 3 – Text Alternative</vt:lpstr>
      <vt:lpstr>Histograms 1 – Text Alternative</vt:lpstr>
      <vt:lpstr>Histograms 4 – Text Alternative</vt:lpstr>
      <vt:lpstr>Frequency Polygons and Ogive 2 – Text Alternative</vt:lpstr>
      <vt:lpstr>Effective Excel Charts – Text Alternative</vt:lpstr>
      <vt:lpstr>Line Charts – Text Alternative</vt:lpstr>
      <vt:lpstr>Log Scales 2 – Text Alternative</vt:lpstr>
      <vt:lpstr>Column and Bar Charts – Text Alternative</vt:lpstr>
      <vt:lpstr>Pareto Charts – Text Alternative</vt:lpstr>
      <vt:lpstr>Stacked Column Chart – Text Alternative</vt:lpstr>
      <vt:lpstr>Pie Charts 1 – Text Alternative</vt:lpstr>
      <vt:lpstr>Scatter Plots 2 – Text Alternative</vt:lpstr>
      <vt:lpstr>Scatter Plots 3 – Text Alternative</vt:lpstr>
      <vt:lpstr>Pivot Tables 2 – Text Alternative</vt:lpstr>
      <vt:lpstr>Deceptive Graphs 1 – Text Alternative</vt:lpstr>
      <vt:lpstr>Deceptive Graphs 2 – Text Alternative</vt:lpstr>
      <vt:lpstr>Deceptive Graphs 3 – Text Alternative</vt:lpstr>
      <vt:lpstr>Deceptive Graphs 5 – Text Alternative</vt:lpstr>
      <vt:lpstr>Deceptive Graphs 7 – Text Alternative</vt:lpstr>
      <vt:lpstr>Analytics in Action 2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
  <cp:keywords/>
  <cp:lastModifiedBy>McAndrews, Ryan</cp:lastModifiedBy>
  <cp:revision>2954</cp:revision>
  <dcterms:created xsi:type="dcterms:W3CDTF">2020-12-08T04:00:13Z</dcterms:created>
  <dcterms:modified xsi:type="dcterms:W3CDTF">2025-08-12T21:27:53Z</dcterms:modified>
</cp:coreProperties>
</file>