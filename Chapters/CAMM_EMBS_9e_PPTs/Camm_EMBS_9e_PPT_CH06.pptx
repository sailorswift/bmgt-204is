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620" r:id="rId5"/>
    <p:sldId id="524" r:id="rId6"/>
    <p:sldId id="548" r:id="rId7"/>
    <p:sldId id="589" r:id="rId8"/>
    <p:sldId id="552" r:id="rId9"/>
    <p:sldId id="590" r:id="rId10"/>
    <p:sldId id="591" r:id="rId11"/>
    <p:sldId id="592" r:id="rId12"/>
    <p:sldId id="593" r:id="rId13"/>
    <p:sldId id="595" r:id="rId14"/>
    <p:sldId id="594" r:id="rId15"/>
    <p:sldId id="596" r:id="rId16"/>
    <p:sldId id="597" r:id="rId17"/>
    <p:sldId id="599" r:id="rId18"/>
    <p:sldId id="600" r:id="rId19"/>
    <p:sldId id="602" r:id="rId20"/>
    <p:sldId id="603" r:id="rId21"/>
    <p:sldId id="604" r:id="rId22"/>
    <p:sldId id="605" r:id="rId23"/>
    <p:sldId id="606" r:id="rId24"/>
    <p:sldId id="607" r:id="rId25"/>
    <p:sldId id="612" r:id="rId26"/>
    <p:sldId id="616" r:id="rId27"/>
    <p:sldId id="617" r:id="rId28"/>
    <p:sldId id="618" r:id="rId29"/>
    <p:sldId id="615" r:id="rId30"/>
    <p:sldId id="613" r:id="rId31"/>
    <p:sldId id="614" r:id="rId32"/>
    <p:sldId id="619" r:id="rId33"/>
    <p:sldId id="523"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894E"/>
    <a:srgbClr val="D14B1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8" d="100"/>
          <a:sy n="58" d="100"/>
        </p:scale>
        <p:origin x="68" y="88"/>
      </p:cViewPr>
      <p:guideLst>
        <p:guide orient="horz" pos="2160"/>
        <p:guide pos="3840"/>
      </p:guideLst>
    </p:cSldViewPr>
  </p:slideViewPr>
  <p:outlineViewPr>
    <p:cViewPr>
      <p:scale>
        <a:sx n="33" d="100"/>
        <a:sy n="33" d="100"/>
      </p:scale>
      <p:origin x="0" y="-37856"/>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3905228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3605581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Abraham de </a:t>
            </a:r>
            <a:r>
              <a:rPr lang="en-US" b="0" i="0" dirty="0" err="1">
                <a:effectLst/>
                <a:latin typeface="Arial" panose="020B0604020202020204" pitchFamily="34" charset="0"/>
              </a:rPr>
              <a:t>Moivre</a:t>
            </a:r>
            <a:r>
              <a:rPr lang="en-US" b="0" i="0" dirty="0">
                <a:effectLst/>
                <a:latin typeface="Arial" panose="020B0604020202020204" pitchFamily="34" charset="0"/>
              </a:rPr>
              <a:t>, a French mathematician, derived the normal distribution and published the results in The Doctrine of Chances, 1733..</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1819601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2755234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we could use interpolation in the body of the table to get a better approximation of the </a:t>
                </a:r>
                <a14:m>
                  <m:oMath xmlns:m="http://schemas.openxmlformats.org/officeDocument/2006/math">
                    <m:sSup>
                      <m:sSupPr>
                        <m:ctrlPr>
                          <a:rPr lang="en-US" sz="1200" i="1" dirty="0" smtClean="0">
                            <a:latin typeface="Cambria Math" panose="02040503050406030204" pitchFamily="18" charset="0"/>
                            <a:ea typeface="Cambria Math" panose="02040503050406030204" pitchFamily="18" charset="0"/>
                          </a:rPr>
                        </m:ctrlPr>
                      </m:sSupPr>
                      <m:e>
                        <m:r>
                          <a:rPr lang="en-US" sz="1200" b="0" i="1" dirty="0">
                            <a:latin typeface="Cambria Math" panose="02040503050406030204" pitchFamily="18" charset="0"/>
                            <a:ea typeface="Cambria Math" panose="02040503050406030204" pitchFamily="18" charset="0"/>
                          </a:rPr>
                          <m:t>𝑧</m:t>
                        </m:r>
                      </m:e>
                      <m:sup>
                        <m:r>
                          <a:rPr lang="en-US" sz="1200" b="0" i="1" dirty="0">
                            <a:latin typeface="Cambria Math" panose="02040503050406030204" pitchFamily="18" charset="0"/>
                            <a:ea typeface="Cambria Math" panose="02040503050406030204" pitchFamily="18" charset="0"/>
                          </a:rPr>
                          <m:t>∗</m:t>
                        </m:r>
                      </m:sup>
                    </m:sSup>
                  </m:oMath>
                </a14:m>
                <a:r>
                  <a:rPr lang="en-US" dirty="0"/>
                  <a:t> value that corresponds to an area of 0.9000. Doing so to provide one more decimal place of accuracy would yield a </a:t>
                </a:r>
                <a:r>
                  <a:rPr lang="en-US" i="1" dirty="0"/>
                  <a:t>z</a:t>
                </a:r>
                <a:r>
                  <a:rPr lang="en-US" dirty="0"/>
                  <a:t> value of 1.282. Alternatively, we can also use Excel: =NORM.S.INV(0.90)=1.281552.</a:t>
                </a:r>
              </a:p>
              <a:p>
                <a:r>
                  <a:rPr lang="en-US" dirty="0"/>
                  <a:t>However, in most practical situations, sufficient accuracy is obtained by simply using the table value closest to the desired probability.</a:t>
                </a:r>
              </a:p>
            </p:txBody>
          </p:sp>
        </mc:Choice>
        <mc:Fallback xmlns="">
          <p:sp>
            <p:nvSpPr>
              <p:cNvPr id="3" name="Notes Placeholder 2"/>
              <p:cNvSpPr>
                <a:spLocks noGrp="1"/>
              </p:cNvSpPr>
              <p:nvPr>
                <p:ph type="body" idx="1"/>
              </p:nvPr>
            </p:nvSpPr>
            <p:spPr/>
            <p:txBody>
              <a:bodyPr/>
              <a:lstStyle/>
              <a:p>
                <a:r>
                  <a:rPr lang="en-US" dirty="0"/>
                  <a:t>*Note: we could use interpolation in the body of the table to get a better approximation of the </a:t>
                </a:r>
                <a:r>
                  <a:rPr lang="en-US" sz="1200" b="0" i="0" dirty="0">
                    <a:latin typeface="Cambria Math" panose="02040503050406030204" pitchFamily="18" charset="0"/>
                    <a:ea typeface="Cambria Math" panose="02040503050406030204" pitchFamily="18" charset="0"/>
                  </a:rPr>
                  <a:t>𝑧^∗</a:t>
                </a:r>
                <a:r>
                  <a:rPr lang="en-US" dirty="0"/>
                  <a:t> value that corresponds to an area of 0.9000. Doing so to provide one more decimal place of accuracy would yield a </a:t>
                </a:r>
                <a:r>
                  <a:rPr lang="en-US" i="1" dirty="0"/>
                  <a:t>z</a:t>
                </a:r>
                <a:r>
                  <a:rPr lang="en-US" dirty="0"/>
                  <a:t> value of 1.282. Alternatively, we can also use Excel: =NORM.S.INV(0.90)=1.281552.</a:t>
                </a:r>
              </a:p>
              <a:p>
                <a:r>
                  <a:rPr lang="en-US" dirty="0"/>
                  <a:t>However, in most practical situations, sufficient accuracy is obtained by simply using the table value closest to the desired probability.</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770333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the formula for the standard normal random variable is similar to the formula we introduced in Chapter 3 for computing </a:t>
            </a:r>
            <a:r>
              <a:rPr lang="en-US" b="0" i="1" dirty="0">
                <a:effectLst/>
                <a:latin typeface="Arial" panose="020B0604020202020204" pitchFamily="34" charset="0"/>
              </a:rPr>
              <a:t>z</a:t>
            </a:r>
            <a:r>
              <a:rPr lang="en-US" b="0" i="0" dirty="0">
                <a:effectLst/>
                <a:latin typeface="Arial" panose="020B0604020202020204" pitchFamily="34" charset="0"/>
              </a:rPr>
              <a:t>-scores for a data set.</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143345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41256314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NULL"/><Relationship Id="rId1" Type="http://schemas.openxmlformats.org/officeDocument/2006/relationships/slideLayout" Target="../slideLayouts/slideLayout23.xml"/><Relationship Id="rId5" Type="http://schemas.openxmlformats.org/officeDocument/2006/relationships/image" Target="../media/image23.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1" Type="http://schemas.openxmlformats.org/officeDocument/2006/relationships/slideLayout" Target="../slideLayouts/slideLayout2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1" Type="http://schemas.openxmlformats.org/officeDocument/2006/relationships/slideLayout" Target="../slideLayouts/slideLayout18.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31.png"/><Relationship Id="rId4" Type="http://schemas.openxmlformats.org/officeDocument/2006/relationships/image" Target="NUL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40.png"/><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60.png"/><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02E95B-3C01-AB5D-65B6-E1297BF33C48}"/>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639DE57C-E0B9-7542-B67E-71F364121DDF}"/>
              </a:ext>
            </a:extLst>
          </p:cNvPr>
          <p:cNvPicPr>
            <a:picLocks noChangeAspect="1"/>
          </p:cNvPicPr>
          <p:nvPr/>
        </p:nvPicPr>
        <p:blipFill>
          <a:blip r:embed="rId2"/>
          <a:stretch>
            <a:fillRect/>
          </a:stretch>
        </p:blipFill>
        <p:spPr>
          <a:xfrm>
            <a:off x="-1" y="-1"/>
            <a:ext cx="12192001" cy="6858001"/>
          </a:xfrm>
          <a:prstGeom prst="rect">
            <a:avLst/>
          </a:prstGeom>
        </p:spPr>
      </p:pic>
    </p:spTree>
    <p:extLst>
      <p:ext uri="{BB962C8B-B14F-4D97-AF65-F5344CB8AC3E}">
        <p14:creationId xmlns:p14="http://schemas.microsoft.com/office/powerpoint/2010/main" val="3623639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a:t>Chapter </a:t>
            </a:r>
            <a:r>
              <a:rPr lang="en-US" dirty="0"/>
              <a:t>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35625" y="1657351"/>
            <a:ext cx="10711543" cy="3487144"/>
          </a:xfrm>
        </p:spPr>
        <p:txBody>
          <a:bodyPr/>
          <a:lstStyle/>
          <a:p>
            <a:pPr marL="1376363" indent="-914400">
              <a:spcBef>
                <a:spcPts val="1000"/>
              </a:spcBef>
              <a:buNone/>
            </a:pPr>
            <a:r>
              <a:rPr lang="en-US" sz="2000" dirty="0"/>
              <a:t>6.1	Uniform Probability Distribution</a:t>
            </a:r>
          </a:p>
          <a:p>
            <a:pPr marL="1376363" indent="-914400">
              <a:spcBef>
                <a:spcPts val="1000"/>
              </a:spcBef>
              <a:buNone/>
            </a:pPr>
            <a:r>
              <a:rPr lang="en-US" sz="2000" dirty="0"/>
              <a:t>6.2	Normal Probability Distribution</a:t>
            </a:r>
          </a:p>
          <a:p>
            <a:pPr marL="1376363" indent="-914400">
              <a:spcBef>
                <a:spcPts val="1000"/>
              </a:spcBef>
              <a:buNone/>
            </a:pPr>
            <a:r>
              <a:rPr lang="en-US" sz="2000" dirty="0"/>
              <a:t>6.3	Exponential Probability Distribution</a:t>
            </a:r>
          </a:p>
          <a:p>
            <a:pPr marL="1371600" indent="-914400">
              <a:spcBef>
                <a:spcPts val="1000"/>
              </a:spcBef>
            </a:pPr>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383527"/>
            <a:ext cx="10610224" cy="4357313"/>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6-1 	Define, graph, and interpret the probability density function for a random variable that has a uniform probability distribution. </a:t>
            </a:r>
          </a:p>
          <a:p>
            <a:pPr marL="1828800" lvl="1" indent="-1371600">
              <a:spcBef>
                <a:spcPts val="1200"/>
              </a:spcBef>
              <a:buNone/>
            </a:pPr>
            <a:r>
              <a:rPr lang="en-US" sz="2000" dirty="0">
                <a:latin typeface="Arial" panose="020B0604020202020204" pitchFamily="34" charset="0"/>
                <a:cs typeface="Arial" panose="020B0604020202020204" pitchFamily="34" charset="0"/>
              </a:rPr>
              <a:t>LO 6-2 	Calculate and interpret the probability a random variable that has a uniform probability distribution assumes a value within a specified interval.</a:t>
            </a:r>
          </a:p>
          <a:p>
            <a:pPr marL="1828800" lvl="1" indent="-1371600">
              <a:spcBef>
                <a:spcPts val="1200"/>
              </a:spcBef>
              <a:buNone/>
            </a:pPr>
            <a:r>
              <a:rPr lang="en-US" sz="2000" dirty="0">
                <a:latin typeface="Arial" panose="020B0604020202020204" pitchFamily="34" charset="0"/>
                <a:cs typeface="Arial" panose="020B0604020202020204" pitchFamily="34" charset="0"/>
              </a:rPr>
              <a:t>LO 6-3 	Calculate and interpret the expected value, variance, and standard deviation for a random variable that has a uniform probability distribution.</a:t>
            </a:r>
          </a:p>
          <a:p>
            <a:pPr marL="1828800" lvl="1" indent="-1371600">
              <a:spcBef>
                <a:spcPts val="1200"/>
              </a:spcBef>
              <a:buNone/>
            </a:pPr>
            <a:r>
              <a:rPr lang="en-US" sz="2000" dirty="0">
                <a:latin typeface="Arial" panose="020B0604020202020204" pitchFamily="34" charset="0"/>
                <a:cs typeface="Arial" panose="020B0604020202020204" pitchFamily="34" charset="0"/>
              </a:rPr>
              <a:t>LO 6-4 	Graph the probability density function for a random variable that has a normal, or standard normal, probability distribution.</a:t>
            </a:r>
          </a:p>
          <a:p>
            <a:pPr marL="1828800" lvl="1" indent="-1371600">
              <a:spcBef>
                <a:spcPts val="1200"/>
              </a:spcBef>
              <a:buNone/>
            </a:pPr>
            <a:r>
              <a:rPr lang="en-US" sz="2000" dirty="0">
                <a:latin typeface="Arial" panose="020B0604020202020204" pitchFamily="34" charset="0"/>
                <a:cs typeface="Arial" panose="020B0604020202020204" pitchFamily="34" charset="0"/>
              </a:rPr>
              <a:t>LO 6-5 	Calculate and interpret the probability a random variable that has a normal (or standard normal) probability distribution assumes a value within a specified interval.</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383527"/>
            <a:ext cx="10610224" cy="4357313"/>
          </a:xfrm>
        </p:spPr>
        <p:txBody>
          <a:bodyPr/>
          <a:lstStyle/>
          <a:p>
            <a:pPr>
              <a:spcBef>
                <a:spcPts val="1200"/>
              </a:spcBef>
            </a:pPr>
            <a:endParaRPr lang="en-US" sz="2000" dirty="0">
              <a:latin typeface="Arial" panose="020B0604020202020204" pitchFamily="34" charset="0"/>
              <a:cs typeface="Arial" panose="020B0604020202020204" pitchFamily="34" charset="0"/>
            </a:endParaRPr>
          </a:p>
          <a:p>
            <a:pPr marL="1828800" lvl="1" indent="-1371600">
              <a:spcBef>
                <a:spcPts val="1200"/>
              </a:spcBef>
              <a:buNone/>
            </a:pPr>
            <a:r>
              <a:rPr lang="en-US" sz="2000" dirty="0">
                <a:latin typeface="Arial" panose="020B0604020202020204" pitchFamily="34" charset="0"/>
                <a:cs typeface="Arial" panose="020B0604020202020204" pitchFamily="34" charset="0"/>
              </a:rPr>
              <a:t>LO 6-6 	Find and interpret the value of the random variable (or z value) corresponding to a specified probability for a normal (or standard normal) probability distribution.</a:t>
            </a:r>
          </a:p>
          <a:p>
            <a:pPr marL="1828800" lvl="1" indent="-1371600">
              <a:spcBef>
                <a:spcPts val="1200"/>
              </a:spcBef>
              <a:buNone/>
            </a:pPr>
            <a:r>
              <a:rPr lang="en-US" sz="2000" dirty="0">
                <a:latin typeface="Arial" panose="020B0604020202020204" pitchFamily="34" charset="0"/>
                <a:cs typeface="Arial" panose="020B0604020202020204" pitchFamily="34" charset="0"/>
              </a:rPr>
              <a:t>LO 6-7 	Calculate and interpret the probability a random variable that has an exponential probability distribution assumes a value within a specified interval.</a:t>
            </a:r>
          </a:p>
          <a:p>
            <a:pPr marL="1828800" lvl="1" indent="-1371600">
              <a:spcBef>
                <a:spcPts val="1200"/>
              </a:spcBef>
              <a:buNone/>
            </a:pPr>
            <a:r>
              <a:rPr lang="en-US" sz="2000" dirty="0">
                <a:latin typeface="Arial" panose="020B0604020202020204" pitchFamily="34" charset="0"/>
                <a:cs typeface="Arial" panose="020B0604020202020204" pitchFamily="34" charset="0"/>
              </a:rPr>
              <a:t>LO 6-8 	Define, graph, and interpret the probability density function for a random variable that has an exponential probability distribution function.</a:t>
            </a:r>
          </a:p>
        </p:txBody>
      </p:sp>
    </p:spTree>
    <p:extLst>
      <p:ext uri="{BB962C8B-B14F-4D97-AF65-F5344CB8AC3E}">
        <p14:creationId xmlns:p14="http://schemas.microsoft.com/office/powerpoint/2010/main" val="705484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AB95-E1E3-B8F9-C340-70F31BF470C9}"/>
              </a:ext>
            </a:extLst>
          </p:cNvPr>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F91ADAF-406F-464F-EF10-C7280777B4D0}"/>
                  </a:ext>
                </a:extLst>
              </p:cNvPr>
              <p:cNvSpPr>
                <a:spLocks noGrp="1"/>
              </p:cNvSpPr>
              <p:nvPr>
                <p:ph type="body" sz="quarter" idx="15"/>
              </p:nvPr>
            </p:nvSpPr>
            <p:spPr>
              <a:xfrm>
                <a:off x="740228" y="1169584"/>
                <a:ext cx="10711543" cy="4716863"/>
              </a:xfrm>
            </p:spPr>
            <p:txBody>
              <a:bodyPr/>
              <a:lstStyle/>
              <a:p>
                <a:pPr>
                  <a:tabLst>
                    <a:tab pos="2686050" algn="l"/>
                  </a:tabLst>
                </a:pPr>
                <a:r>
                  <a:rPr lang="en-US" sz="2000" dirty="0">
                    <a:latin typeface="Arial" panose="020B0604020202020204" pitchFamily="34" charset="0"/>
                    <a:cs typeface="Arial" panose="020B0604020202020204" pitchFamily="34" charset="0"/>
                  </a:rPr>
                  <a:t>In this chapter, we study continuous random variables and discuss three continuous probability distributions: the uniform, the normal, and the exponential.</a:t>
                </a:r>
              </a:p>
              <a:p>
                <a:pPr>
                  <a:tabLst>
                    <a:tab pos="2686050" algn="l"/>
                  </a:tabLst>
                </a:pPr>
                <a:r>
                  <a:rPr lang="en-US" sz="2000" dirty="0">
                    <a:latin typeface="Arial" panose="020B0604020202020204" pitchFamily="34" charset="0"/>
                    <a:cs typeface="Arial" panose="020B0604020202020204" pitchFamily="34" charset="0"/>
                  </a:rPr>
                  <a:t>Because of its wide applica­bility and its extensive use in statistical inference, the normal distribution is the continuous probability distribution of major importance.</a:t>
                </a:r>
              </a:p>
              <a:p>
                <a:pPr>
                  <a:tabLst>
                    <a:tab pos="2686050" algn="l"/>
                  </a:tabLst>
                </a:pPr>
                <a:r>
                  <a:rPr lang="en-US" sz="2000" dirty="0">
                    <a:latin typeface="Arial" panose="020B0604020202020204" pitchFamily="34" charset="0"/>
                    <a:cs typeface="Arial" panose="020B0604020202020204" pitchFamily="34" charset="0"/>
                  </a:rPr>
                  <a:t>Probabilities are computed differently for discrete and continuous random variables.</a:t>
                </a:r>
              </a:p>
              <a:p>
                <a:pPr marL="684213" indent="-342900">
                  <a:buFont typeface="Arial" panose="020B0604020202020204" pitchFamily="34" charset="0"/>
                  <a:buChar char="•"/>
                  <a:tabLst>
                    <a:tab pos="2686050" algn="l"/>
                  </a:tabLst>
                </a:pPr>
                <a:r>
                  <a:rPr lang="en-US" sz="2000" dirty="0">
                    <a:latin typeface="Arial" panose="020B0604020202020204" pitchFamily="34" charset="0"/>
                    <a:cs typeface="Arial" panose="020B0604020202020204" pitchFamily="34" charset="0"/>
                  </a:rPr>
                  <a:t>with discrete random variables, the probability function </a:t>
                </a:r>
                <a14:m>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provides the probability that the random variable assumes a particular value. </a:t>
                </a:r>
              </a:p>
              <a:p>
                <a:pPr marL="684213" indent="-342900">
                  <a:buFont typeface="Arial" panose="020B0604020202020204" pitchFamily="34" charset="0"/>
                  <a:buChar char="•"/>
                  <a:tabLst>
                    <a:tab pos="2686050" algn="l"/>
                  </a:tabLst>
                </a:pPr>
                <a:r>
                  <a:rPr lang="en-US" sz="2000" dirty="0">
                    <a:latin typeface="Arial" panose="020B0604020202020204" pitchFamily="34" charset="0"/>
                    <a:cs typeface="Arial" panose="020B0604020202020204" pitchFamily="34" charset="0"/>
                  </a:rPr>
                  <a:t>with continuous random variables,</a:t>
                </a:r>
              </a:p>
              <a:p>
                <a:pPr marL="1370013" lvl="1" indent="-342900">
                  <a:buFont typeface="Arial" panose="020B0604020202020204" pitchFamily="34" charset="0"/>
                  <a:buChar char="•"/>
                  <a:tabLst>
                    <a:tab pos="2686050" algn="l"/>
                  </a:tabLst>
                </a:pPr>
                <a:r>
                  <a:rPr lang="en-US" sz="2000" dirty="0">
                    <a:latin typeface="Arial" panose="020B0604020202020204" pitchFamily="34" charset="0"/>
                    <a:cs typeface="Arial" panose="020B0604020202020204" pitchFamily="34" charset="0"/>
                  </a:rPr>
                  <a:t>the probability that </a:t>
                </a:r>
                <a14:m>
                  <m:oMath xmlns:m="http://schemas.openxmlformats.org/officeDocument/2006/math">
                    <m:r>
                      <a:rPr lang="en-US" sz="2000" i="1" dirty="0" smtClean="0">
                        <a:latin typeface="Cambria Math" panose="02040503050406030204" pitchFamily="18" charset="0"/>
                      </a:rPr>
                      <m:t>𝑥</m:t>
                    </m:r>
                  </m:oMath>
                </a14:m>
                <a:r>
                  <a:rPr lang="en-US" sz="2000" dirty="0">
                    <a:latin typeface="Arial" panose="020B0604020202020204" pitchFamily="34" charset="0"/>
                    <a:cs typeface="Arial" panose="020B0604020202020204" pitchFamily="34" charset="0"/>
                  </a:rPr>
                  <a:t> assumes a particular value is zero;</a:t>
                </a:r>
              </a:p>
              <a:p>
                <a:pPr marL="1370013" lvl="1" indent="-342900">
                  <a:buFont typeface="Arial" panose="020B0604020202020204" pitchFamily="34" charset="0"/>
                  <a:buChar char="•"/>
                  <a:tabLst>
                    <a:tab pos="2686050" algn="l"/>
                  </a:tabLst>
                </a:pPr>
                <a:r>
                  <a:rPr lang="en-US" sz="2000" dirty="0">
                    <a:latin typeface="Arial" panose="020B0604020202020204" pitchFamily="34" charset="0"/>
                    <a:cs typeface="Arial" panose="020B0604020202020204" pitchFamily="34" charset="0"/>
                  </a:rPr>
                  <a:t>the probability that </a:t>
                </a:r>
                <a14:m>
                  <m:oMath xmlns:m="http://schemas.openxmlformats.org/officeDocument/2006/math">
                    <m:r>
                      <a:rPr lang="en-US" sz="2000" i="1" dirty="0" smtClean="0">
                        <a:latin typeface="Cambria Math" panose="02040503050406030204" pitchFamily="18" charset="0"/>
                      </a:rPr>
                      <m:t>𝑥</m:t>
                    </m:r>
                  </m:oMath>
                </a14:m>
                <a:r>
                  <a:rPr lang="en-US" sz="2000" dirty="0">
                    <a:latin typeface="Arial" panose="020B0604020202020204" pitchFamily="34" charset="0"/>
                    <a:cs typeface="Arial" panose="020B0604020202020204" pitchFamily="34" charset="0"/>
                  </a:rPr>
                  <a:t> assumes a value in a given interval is the corresponding area under the graph of </a:t>
                </a:r>
                <a14:m>
                  <m:oMath xmlns:m="http://schemas.openxmlformats.org/officeDocument/2006/math">
                    <m:r>
                      <a:rPr lang="en-US" sz="2000" i="1" dirty="0" smtClean="0">
                        <a:latin typeface="Cambria Math" panose="02040503050406030204" pitchFamily="18" charset="0"/>
                      </a:rPr>
                      <m:t>𝑓</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𝑥</m:t>
                        </m:r>
                      </m:e>
                    </m:d>
                    <m:r>
                      <a:rPr lang="en-US" sz="2000" b="0" i="0" dirty="0" smtClean="0">
                        <a:latin typeface="Cambria Math" panose="02040503050406030204" pitchFamily="18" charset="0"/>
                      </a:rPr>
                      <m:t>;</m:t>
                    </m:r>
                  </m:oMath>
                </a14:m>
                <a:endParaRPr lang="en-US" sz="2000" dirty="0">
                  <a:latin typeface="Arial" panose="020B0604020202020204" pitchFamily="34" charset="0"/>
                  <a:cs typeface="Arial" panose="020B0604020202020204" pitchFamily="34" charset="0"/>
                </a:endParaRPr>
              </a:p>
              <a:p>
                <a:pPr marL="1370013" lvl="1" indent="-342900">
                  <a:buFont typeface="Arial" panose="020B0604020202020204" pitchFamily="34" charset="0"/>
                  <a:buChar char="•"/>
                  <a:tabLst>
                    <a:tab pos="2686050" algn="l"/>
                  </a:tabLst>
                </a:pPr>
                <a14:m>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is called the </a:t>
                </a:r>
                <a:r>
                  <a:rPr lang="en-US" sz="2000" b="1" dirty="0">
                    <a:latin typeface="Arial" panose="020B0604020202020204" pitchFamily="34" charset="0"/>
                    <a:cs typeface="Arial" panose="020B0604020202020204" pitchFamily="34" charset="0"/>
                  </a:rPr>
                  <a:t>probability density function</a:t>
                </a:r>
                <a:r>
                  <a:rPr lang="en-US" sz="2000" dirty="0">
                    <a:latin typeface="Arial" panose="020B0604020202020204" pitchFamily="34" charset="0"/>
                    <a:cs typeface="Arial" panose="020B0604020202020204" pitchFamily="34" charset="0"/>
                  </a:rPr>
                  <a:t>.</a:t>
                </a:r>
              </a:p>
              <a:p>
                <a:pPr>
                  <a:tabLst>
                    <a:tab pos="2686050" algn="l"/>
                  </a:tabLst>
                </a:pPr>
                <a:r>
                  <a:rPr lang="en-US" sz="2000" dirty="0">
                    <a:latin typeface="Arial" panose="020B0604020202020204" pitchFamily="34" charset="0"/>
                    <a:cs typeface="Arial" panose="020B0604020202020204" pitchFamily="34" charset="0"/>
                  </a:rPr>
                  <a:t>We begin our study of continuous probability distributions with the uniform distribution.</a:t>
                </a:r>
              </a:p>
            </p:txBody>
          </p:sp>
        </mc:Choice>
        <mc:Fallback xmlns="">
          <p:sp>
            <p:nvSpPr>
              <p:cNvPr id="3" name="Text Placeholder 2">
                <a:extLst>
                  <a:ext uri="{FF2B5EF4-FFF2-40B4-BE49-F238E27FC236}">
                    <a16:creationId xmlns:a16="http://schemas.microsoft.com/office/drawing/2014/main" id="{DF91ADAF-406F-464F-EF10-C7280777B4D0}"/>
                  </a:ext>
                </a:extLst>
              </p:cNvPr>
              <p:cNvSpPr>
                <a:spLocks noGrp="1" noRot="1" noChangeAspect="1" noMove="1" noResize="1" noEditPoints="1" noAdjustHandles="1" noChangeArrowheads="1" noChangeShapeType="1" noTextEdit="1"/>
              </p:cNvSpPr>
              <p:nvPr>
                <p:ph type="body" sz="quarter" idx="15"/>
              </p:nvPr>
            </p:nvSpPr>
            <p:spPr>
              <a:xfrm>
                <a:off x="740228" y="1169584"/>
                <a:ext cx="10711543" cy="4716863"/>
              </a:xfrm>
              <a:blipFill>
                <a:blip r:embed="rId3"/>
                <a:stretch>
                  <a:fillRect l="-1422" t="-1550" r="-1251" b="-2196"/>
                </a:stretch>
              </a:blipFill>
            </p:spPr>
            <p:txBody>
              <a:bodyPr/>
              <a:lstStyle/>
              <a:p>
                <a:r>
                  <a:rPr lang="en-US">
                    <a:noFill/>
                  </a:rPr>
                  <a:t> </a:t>
                </a:r>
              </a:p>
            </p:txBody>
          </p:sp>
        </mc:Fallback>
      </mc:AlternateContent>
    </p:spTree>
    <p:extLst>
      <p:ext uri="{BB962C8B-B14F-4D97-AF65-F5344CB8AC3E}">
        <p14:creationId xmlns:p14="http://schemas.microsoft.com/office/powerpoint/2010/main" val="4021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9D5D-6CC3-E0BA-2759-EFA46C0A1634}"/>
              </a:ext>
            </a:extLst>
          </p:cNvPr>
          <p:cNvSpPr>
            <a:spLocks noGrp="1"/>
          </p:cNvSpPr>
          <p:nvPr>
            <p:ph type="title"/>
          </p:nvPr>
        </p:nvSpPr>
        <p:spPr/>
        <p:txBody>
          <a:bodyPr/>
          <a:lstStyle/>
          <a:p>
            <a:r>
              <a:rPr lang="en-US" dirty="0">
                <a:solidFill>
                  <a:srgbClr val="D14B1E"/>
                </a:solidFill>
              </a:rPr>
              <a:t>6.1 Uniform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C555B28-BBE2-1685-BB00-EC6232938E51}"/>
                  </a:ext>
                </a:extLst>
              </p:cNvPr>
              <p:cNvSpPr>
                <a:spLocks noGrp="1"/>
              </p:cNvSpPr>
              <p:nvPr>
                <p:ph type="body" sz="quarter" idx="15"/>
              </p:nvPr>
            </p:nvSpPr>
            <p:spPr>
              <a:xfrm>
                <a:off x="740228" y="1457324"/>
                <a:ext cx="10711543" cy="4265295"/>
              </a:xfrm>
            </p:spPr>
            <p:txBody>
              <a:bodyPr/>
              <a:lstStyle/>
              <a:p>
                <a:pPr>
                  <a:spcBef>
                    <a:spcPts val="1000"/>
                  </a:spcBef>
                </a:pPr>
                <a:r>
                  <a:rPr lang="en-US" sz="2000" dirty="0">
                    <a:solidFill>
                      <a:srgbClr val="000000"/>
                    </a:solidFill>
                    <a:cs typeface="Arial" panose="020B0604020202020204" pitchFamily="34" charset="0"/>
                  </a:rPr>
                  <a:t>A continuous random variable,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𝑥</m:t>
                    </m:r>
                  </m:oMath>
                </a14:m>
                <a:r>
                  <a:rPr lang="en-US" sz="2000" dirty="0">
                    <a:solidFill>
                      <a:srgbClr val="000000"/>
                    </a:solidFill>
                    <a:cs typeface="Arial" panose="020B0604020202020204" pitchFamily="34" charset="0"/>
                  </a:rPr>
                  <a:t>, is described by a </a:t>
                </a:r>
                <a:r>
                  <a:rPr lang="en-US" sz="2000" b="1" dirty="0">
                    <a:solidFill>
                      <a:srgbClr val="0070C0"/>
                    </a:solidFill>
                    <a:cs typeface="Arial" panose="020B0604020202020204" pitchFamily="34" charset="0"/>
                  </a:rPr>
                  <a:t>uniform probability distribution </a:t>
                </a:r>
                <a:r>
                  <a:rPr lang="en-US" sz="2000" dirty="0">
                    <a:solidFill>
                      <a:srgbClr val="000000"/>
                    </a:solidFill>
                    <a:cs typeface="Arial" panose="020B0604020202020204" pitchFamily="34" charset="0"/>
                  </a:rPr>
                  <a:t>whenever the probability is proportional to the interval’s length. </a:t>
                </a:r>
              </a:p>
              <a:p>
                <a:pPr>
                  <a:spcBef>
                    <a:spcPts val="1000"/>
                  </a:spcBef>
                  <a:spcAft>
                    <a:spcPts val="1200"/>
                  </a:spcAft>
                </a:pPr>
                <a:r>
                  <a:rPr lang="en-US" sz="2000" dirty="0">
                    <a:solidFill>
                      <a:srgbClr val="000000"/>
                    </a:solidFill>
                    <a:cs typeface="Arial" panose="020B0604020202020204" pitchFamily="34" charset="0"/>
                  </a:rPr>
                  <a:t>The </a:t>
                </a:r>
                <a:r>
                  <a:rPr lang="en-US" sz="2000" b="1" dirty="0">
                    <a:solidFill>
                      <a:srgbClr val="0070C0"/>
                    </a:solidFill>
                    <a:cs typeface="Arial" panose="020B0604020202020204" pitchFamily="34" charset="0"/>
                  </a:rPr>
                  <a:t>uniform probability density function </a:t>
                </a:r>
                <a:r>
                  <a:rPr lang="en-US" sz="2000" dirty="0">
                    <a:solidFill>
                      <a:srgbClr val="000000"/>
                    </a:solidFill>
                    <a:cs typeface="Arial" panose="020B0604020202020204" pitchFamily="34" charset="0"/>
                  </a:rPr>
                  <a:t>is:</a:t>
                </a:r>
              </a:p>
              <a:p>
                <a:pPr marL="914400">
                  <a:spcBef>
                    <a:spcPts val="1000"/>
                  </a:spcBef>
                  <a:spcAft>
                    <a:spcPts val="12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𝒇</m:t>
                      </m:r>
                      <m:d>
                        <m:dPr>
                          <m:ctrlPr>
                            <a:rPr lang="en-US" sz="2000" b="1" i="1" smtClean="0">
                              <a:latin typeface="Cambria Math" panose="02040503050406030204" pitchFamily="18" charset="0"/>
                              <a:cs typeface="Arial" panose="020B0604020202020204" pitchFamily="34" charset="0"/>
                            </a:rPr>
                          </m:ctrlPr>
                        </m:dPr>
                        <m:e>
                          <m:r>
                            <a:rPr lang="en-US" sz="2000" b="1" i="1" smtClean="0">
                              <a:latin typeface="Cambria Math" panose="02040503050406030204" pitchFamily="18" charset="0"/>
                              <a:cs typeface="Arial" panose="020B0604020202020204" pitchFamily="34" charset="0"/>
                            </a:rPr>
                            <m:t>𝒙</m:t>
                          </m:r>
                        </m:e>
                      </m:d>
                      <m:r>
                        <a:rPr lang="en-US" sz="2000" b="1" i="1" smtClean="0">
                          <a:latin typeface="Cambria Math" panose="02040503050406030204" pitchFamily="18" charset="0"/>
                          <a:cs typeface="Arial" panose="020B0604020202020204" pitchFamily="34" charset="0"/>
                        </a:rPr>
                        <m:t>=</m:t>
                      </m:r>
                      <m:d>
                        <m:dPr>
                          <m:begChr m:val="{"/>
                          <m:endChr m:val=""/>
                          <m:ctrlPr>
                            <a:rPr lang="en-US" sz="2000" b="1" i="1" smtClean="0">
                              <a:latin typeface="Cambria Math" panose="02040503050406030204" pitchFamily="18" charset="0"/>
                              <a:cs typeface="Arial" panose="020B0604020202020204" pitchFamily="34" charset="0"/>
                            </a:rPr>
                          </m:ctrlPr>
                        </m:dPr>
                        <m:e>
                          <m:eqArr>
                            <m:eqArrPr>
                              <m:ctrlPr>
                                <a:rPr lang="en-US" sz="2000" b="1" i="1" smtClean="0">
                                  <a:latin typeface="Cambria Math" panose="02040503050406030204" pitchFamily="18" charset="0"/>
                                  <a:cs typeface="Arial" panose="020B0604020202020204" pitchFamily="34" charset="0"/>
                                </a:rPr>
                              </m:ctrlPr>
                            </m:eqArrPr>
                            <m:e>
                              <m:f>
                                <m:fPr>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cs typeface="Arial" panose="020B0604020202020204" pitchFamily="34" charset="0"/>
                                    </a:rPr>
                                    <m:t>𝟏</m:t>
                                  </m:r>
                                </m:num>
                                <m:den>
                                  <m:r>
                                    <a:rPr lang="en-US" sz="2000" b="1" i="1">
                                      <a:latin typeface="Cambria Math" panose="02040503050406030204" pitchFamily="18" charset="0"/>
                                      <a:cs typeface="Arial" panose="020B0604020202020204" pitchFamily="34" charset="0"/>
                                    </a:rPr>
                                    <m:t>𝒃</m:t>
                                  </m:r>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𝒂</m:t>
                                  </m:r>
                                </m:den>
                              </m:f>
                              <m:r>
                                <a:rPr lang="en-US" sz="2000" b="1" i="1"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for</m:t>
                              </m:r>
                              <m:r>
                                <a:rPr lang="en-US" sz="2000" b="1" i="1" smtClean="0">
                                  <a:latin typeface="Cambria Math" panose="02040503050406030204" pitchFamily="18" charset="0"/>
                                  <a:cs typeface="Arial" panose="020B0604020202020204" pitchFamily="34" charset="0"/>
                                </a:rPr>
                                <m:t> </m:t>
                              </m:r>
                              <m:r>
                                <a:rPr lang="en-US" sz="2000" b="1" i="1" smtClean="0">
                                  <a:latin typeface="Cambria Math" panose="02040503050406030204" pitchFamily="18" charset="0"/>
                                  <a:cs typeface="Arial" panose="020B0604020202020204" pitchFamily="34" charset="0"/>
                                </a:rPr>
                                <m:t>𝒂</m:t>
                              </m:r>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𝒙</m:t>
                              </m:r>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𝒃</m:t>
                              </m:r>
                            </m:e>
                            <m:e>
                              <m:r>
                                <a:rPr lang="en-US" sz="2000" b="1" i="1" smtClean="0">
                                  <a:latin typeface="Cambria Math" panose="02040503050406030204" pitchFamily="18" charset="0"/>
                                  <a:cs typeface="Arial" panose="020B0604020202020204" pitchFamily="34" charset="0"/>
                                </a:rPr>
                                <m:t>𝟎</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elsewhere</m:t>
                              </m:r>
                              <m:r>
                                <a:rPr lang="en-US" sz="2000" b="1" i="1" smtClean="0">
                                  <a:latin typeface="Cambria Math" panose="02040503050406030204" pitchFamily="18" charset="0"/>
                                  <a:cs typeface="Arial" panose="020B0604020202020204" pitchFamily="34" charset="0"/>
                                </a:rPr>
                                <m:t>   </m:t>
                              </m:r>
                            </m:e>
                          </m:eqArr>
                        </m:e>
                      </m:d>
                    </m:oMath>
                  </m:oMathPara>
                </a14:m>
                <a:endParaRPr lang="en-US" sz="2000" b="1" dirty="0">
                  <a:cs typeface="Arial" panose="020B0604020202020204" pitchFamily="34" charset="0"/>
                </a:endParaRPr>
              </a:p>
              <a:p>
                <a:pPr>
                  <a:spcBef>
                    <a:spcPts val="1000"/>
                  </a:spcBef>
                </a:pPr>
                <a:r>
                  <a:rPr lang="en-US" sz="2000" dirty="0">
                    <a:solidFill>
                      <a:srgbClr val="000000"/>
                    </a:solidFill>
                    <a:cs typeface="Arial" panose="020B0604020202020204" pitchFamily="34" charset="0"/>
                  </a:rPr>
                  <a:t>Where</a:t>
                </a:r>
                <a:r>
                  <a:rPr lang="en-US" sz="2000" dirty="0">
                    <a:cs typeface="Arial" panose="020B0604020202020204" pitchFamily="34" charset="0"/>
                  </a:rPr>
                  <a:t> </a:t>
                </a:r>
                <a14:m>
                  <m:oMath xmlns:m="http://schemas.openxmlformats.org/officeDocument/2006/math">
                    <m:r>
                      <a:rPr lang="en-US" sz="2000" i="1" dirty="0" smtClean="0">
                        <a:latin typeface="Cambria Math" panose="02040503050406030204" pitchFamily="18" charset="0"/>
                        <a:cs typeface="Arial" panose="020B0604020202020204" pitchFamily="34" charset="0"/>
                      </a:rPr>
                      <m:t>𝑎</m:t>
                    </m:r>
                  </m:oMath>
                </a14:m>
                <a:r>
                  <a:rPr lang="en-US" sz="2000" dirty="0">
                    <a:cs typeface="Arial" panose="020B0604020202020204" pitchFamily="34" charset="0"/>
                  </a:rPr>
                  <a:t> and </a:t>
                </a:r>
                <a14:m>
                  <m:oMath xmlns:m="http://schemas.openxmlformats.org/officeDocument/2006/math">
                    <m:r>
                      <a:rPr lang="en-US" sz="2000" i="1" dirty="0">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r>
                  <a:rPr lang="en-US" sz="2000" dirty="0">
                    <a:cs typeface="Arial" panose="020B0604020202020204" pitchFamily="34" charset="0"/>
                  </a:rPr>
                  <a:t>are the smallest and largest values the variable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oMath>
                </a14:m>
                <a:r>
                  <a:rPr lang="en-US" sz="2000" dirty="0">
                    <a:cs typeface="Arial" panose="020B0604020202020204" pitchFamily="34" charset="0"/>
                  </a:rPr>
                  <a:t> can assume, respectively.</a:t>
                </a:r>
              </a:p>
              <a:p>
                <a:pPr marL="914400" indent="-342900">
                  <a:spcBef>
                    <a:spcPts val="1000"/>
                  </a:spcBef>
                  <a:buFont typeface="Arial" panose="020B0604020202020204" pitchFamily="34" charset="0"/>
                  <a:buChar char="•"/>
                </a:pPr>
                <a:r>
                  <a:rPr lang="en-US" sz="2000" dirty="0">
                    <a:cs typeface="Arial" panose="020B0604020202020204" pitchFamily="34" charset="0"/>
                  </a:rPr>
                  <a:t>Note that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oMath>
                </a14:m>
                <a:r>
                  <a:rPr lang="en-US" sz="2000" dirty="0">
                    <a:cs typeface="Arial" panose="020B0604020202020204" pitchFamily="34" charset="0"/>
                  </a:rPr>
                  <a:t> is defined as a continuous rather than a discrete random variable when it can assume any value between </a:t>
                </a:r>
                <a14:m>
                  <m:oMath xmlns:m="http://schemas.openxmlformats.org/officeDocument/2006/math">
                    <m:r>
                      <a:rPr lang="en-US" sz="2000" i="1" dirty="0" smtClean="0">
                        <a:latin typeface="Cambria Math" panose="02040503050406030204" pitchFamily="18" charset="0"/>
                        <a:cs typeface="Arial" panose="020B0604020202020204" pitchFamily="34" charset="0"/>
                      </a:rPr>
                      <m:t>𝑎</m:t>
                    </m:r>
                  </m:oMath>
                </a14:m>
                <a:r>
                  <a:rPr lang="en-US" sz="2000" dirty="0">
                    <a:cs typeface="Arial" panose="020B0604020202020204" pitchFamily="34" charset="0"/>
                  </a:rPr>
                  <a:t> and </a:t>
                </a:r>
                <a14:m>
                  <m:oMath xmlns:m="http://schemas.openxmlformats.org/officeDocument/2006/math">
                    <m:r>
                      <a:rPr lang="en-US" sz="2000" i="1" dirty="0">
                        <a:latin typeface="Cambria Math" panose="02040503050406030204" pitchFamily="18" charset="0"/>
                        <a:cs typeface="Arial" panose="020B0604020202020204" pitchFamily="34" charset="0"/>
                      </a:rPr>
                      <m:t>𝑏</m:t>
                    </m:r>
                  </m:oMath>
                </a14:m>
                <a:r>
                  <a:rPr lang="en-US" sz="2000" dirty="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1C555B28-BBE2-1685-BB00-EC6232938E51}"/>
                  </a:ext>
                </a:extLst>
              </p:cNvPr>
              <p:cNvSpPr>
                <a:spLocks noGrp="1" noRot="1" noChangeAspect="1" noMove="1" noResize="1" noEditPoints="1" noAdjustHandles="1" noChangeArrowheads="1" noChangeShapeType="1" noTextEdit="1"/>
              </p:cNvSpPr>
              <p:nvPr>
                <p:ph type="body" sz="quarter" idx="15"/>
              </p:nvPr>
            </p:nvSpPr>
            <p:spPr>
              <a:xfrm>
                <a:off x="740228" y="1457324"/>
                <a:ext cx="10711543" cy="4265295"/>
              </a:xfrm>
              <a:blipFill>
                <a:blip r:embed="rId3"/>
                <a:stretch>
                  <a:fillRect l="-1422" t="-1714" r="-1877"/>
                </a:stretch>
              </a:blipFill>
            </p:spPr>
            <p:txBody>
              <a:bodyPr/>
              <a:lstStyle/>
              <a:p>
                <a:r>
                  <a:rPr lang="en-US">
                    <a:noFill/>
                  </a:rPr>
                  <a:t> </a:t>
                </a:r>
              </a:p>
            </p:txBody>
          </p:sp>
        </mc:Fallback>
      </mc:AlternateContent>
    </p:spTree>
    <p:extLst>
      <p:ext uri="{BB962C8B-B14F-4D97-AF65-F5344CB8AC3E}">
        <p14:creationId xmlns:p14="http://schemas.microsoft.com/office/powerpoint/2010/main" val="837710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3041F-B973-7B1A-B86C-DDFC02A21BD8}"/>
              </a:ext>
            </a:extLst>
          </p:cNvPr>
          <p:cNvSpPr>
            <a:spLocks noGrp="1"/>
          </p:cNvSpPr>
          <p:nvPr>
            <p:ph type="title"/>
          </p:nvPr>
        </p:nvSpPr>
        <p:spPr/>
        <p:txBody>
          <a:bodyPr/>
          <a:lstStyle/>
          <a:p>
            <a:r>
              <a:rPr lang="en-US" dirty="0"/>
              <a:t>6.1 Area as a Measure of Probability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198117D-3751-F72D-97BA-36B05FA11B86}"/>
                  </a:ext>
                </a:extLst>
              </p:cNvPr>
              <p:cNvSpPr>
                <a:spLocks noGrp="1"/>
              </p:cNvSpPr>
              <p:nvPr>
                <p:ph type="body" sz="quarter" idx="15"/>
              </p:nvPr>
            </p:nvSpPr>
            <p:spPr>
              <a:xfrm>
                <a:off x="743577" y="1280160"/>
                <a:ext cx="10690399" cy="1958559"/>
              </a:xfrm>
            </p:spPr>
            <p:txBody>
              <a:bodyPr/>
              <a:lstStyle/>
              <a:p>
                <a:r>
                  <a:rPr lang="en-US" sz="2000" dirty="0"/>
                  <a:t>An airplane flight time is described by a continuous random variable that can assume any value in the interval from 120 to 140 minutes. </a:t>
                </a:r>
              </a:p>
              <a:p>
                <a:r>
                  <a:rPr lang="en-US" sz="2000" dirty="0"/>
                  <a:t>Let us assume that the probability of a flight time within any 1­-minute in­terval is the same from 120 to 140 minutes.</a:t>
                </a:r>
              </a:p>
              <a:p>
                <a:r>
                  <a:rPr lang="en-US" sz="2000" dirty="0"/>
                  <a:t>Thus, the random variable </a:t>
                </a:r>
                <a14:m>
                  <m:oMath xmlns:m="http://schemas.openxmlformats.org/officeDocument/2006/math">
                    <m:r>
                      <a:rPr lang="en-US" sz="2000" i="1" dirty="0" smtClean="0">
                        <a:latin typeface="Cambria Math" panose="02040503050406030204" pitchFamily="18" charset="0"/>
                      </a:rPr>
                      <m:t>𝑥</m:t>
                    </m:r>
                  </m:oMath>
                </a14:m>
                <a:r>
                  <a:rPr lang="en-US" sz="2000" dirty="0"/>
                  <a:t> is said to have the following distribution</a:t>
                </a:r>
              </a:p>
            </p:txBody>
          </p:sp>
        </mc:Choice>
        <mc:Fallback xmlns="">
          <p:sp>
            <p:nvSpPr>
              <p:cNvPr id="3" name="Text Placeholder 2">
                <a:extLst>
                  <a:ext uri="{FF2B5EF4-FFF2-40B4-BE49-F238E27FC236}">
                    <a16:creationId xmlns:a16="http://schemas.microsoft.com/office/drawing/2014/main" id="{0198117D-3751-F72D-97BA-36B05FA11B86}"/>
                  </a:ext>
                </a:extLst>
              </p:cNvPr>
              <p:cNvSpPr>
                <a:spLocks noGrp="1" noRot="1" noChangeAspect="1" noMove="1" noResize="1" noEditPoints="1" noAdjustHandles="1" noChangeArrowheads="1" noChangeShapeType="1" noTextEdit="1"/>
              </p:cNvSpPr>
              <p:nvPr>
                <p:ph type="body" sz="quarter" idx="15"/>
              </p:nvPr>
            </p:nvSpPr>
            <p:spPr>
              <a:xfrm>
                <a:off x="743577" y="1280160"/>
                <a:ext cx="10690399" cy="1958559"/>
              </a:xfrm>
              <a:blipFill>
                <a:blip r:embed="rId2"/>
                <a:stretch>
                  <a:fillRect l="-1482" t="-3738" r="-5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2936408F-1345-B14D-BC2F-E033465F2CC7}"/>
                  </a:ext>
                </a:extLst>
              </p:cNvPr>
              <p:cNvSpPr>
                <a:spLocks noGrp="1"/>
              </p:cNvSpPr>
              <p:nvPr>
                <p:ph type="body" sz="quarter" idx="17"/>
              </p:nvPr>
            </p:nvSpPr>
            <p:spPr>
              <a:xfrm>
                <a:off x="743577" y="3073501"/>
                <a:ext cx="4872363" cy="2279821"/>
              </a:xfrm>
            </p:spPr>
            <p:txBody>
              <a:bodyPr/>
              <a:lstStyle/>
              <a:p>
                <a:pPr marL="230188">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𝑓</m:t>
                      </m:r>
                      <m:d>
                        <m:dPr>
                          <m:ctrlPr>
                            <a:rPr lang="en-US" sz="200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𝑥</m:t>
                          </m:r>
                        </m:e>
                      </m:d>
                      <m:r>
                        <a:rPr lang="en-US" sz="2000" b="0" i="1" smtClean="0">
                          <a:latin typeface="Cambria Math" panose="02040503050406030204" pitchFamily="18" charset="0"/>
                          <a:cs typeface="Arial" panose="020B0604020202020204" pitchFamily="34" charset="0"/>
                        </a:rPr>
                        <m:t>=</m:t>
                      </m:r>
                      <m:d>
                        <m:dPr>
                          <m:begChr m:val="{"/>
                          <m:endChr m:val=""/>
                          <m:ctrlPr>
                            <a:rPr lang="en-US" sz="2000" i="1" smtClean="0">
                              <a:latin typeface="Cambria Math" panose="02040503050406030204" pitchFamily="18" charset="0"/>
                              <a:cs typeface="Arial" panose="020B0604020202020204" pitchFamily="34" charset="0"/>
                            </a:rPr>
                          </m:ctrlPr>
                        </m:dPr>
                        <m:e>
                          <m:eqArr>
                            <m:eqArrPr>
                              <m:ctrlPr>
                                <a:rPr lang="en-US" sz="2000" i="1" smtClean="0">
                                  <a:latin typeface="Cambria Math" panose="02040503050406030204" pitchFamily="18" charset="0"/>
                                  <a:cs typeface="Arial" panose="020B0604020202020204" pitchFamily="34" charset="0"/>
                                </a:rPr>
                              </m:ctrlPr>
                            </m:eqArrPr>
                            <m:e>
                              <m:r>
                                <a:rPr lang="en-US" sz="2000" b="0" i="1" smtClean="0">
                                  <a:latin typeface="Cambria Math" panose="02040503050406030204" pitchFamily="18" charset="0"/>
                                  <a:cs typeface="Arial" panose="020B0604020202020204" pitchFamily="34" charset="0"/>
                                </a:rPr>
                                <m:t>1/20 </m:t>
                              </m:r>
                              <m:r>
                                <m:rPr>
                                  <m:nor/>
                                </m:rPr>
                                <a:rPr lang="en-US" sz="2000" i="0" smtClean="0">
                                  <a:latin typeface="Cambria Math" panose="02040503050406030204" pitchFamily="18" charset="0"/>
                                  <a:cs typeface="Arial" panose="020B0604020202020204" pitchFamily="34" charset="0"/>
                                </a:rPr>
                                <m:t>  </m:t>
                              </m:r>
                              <m:r>
                                <m:rPr>
                                  <m:nor/>
                                </m:rPr>
                                <a:rPr lang="en-US" sz="2000" i="0" smtClean="0">
                                  <a:latin typeface="Cambria Math" panose="02040503050406030204" pitchFamily="18" charset="0"/>
                                  <a:cs typeface="Arial" panose="020B0604020202020204" pitchFamily="34" charset="0"/>
                                </a:rPr>
                                <m:t>for</m:t>
                              </m:r>
                              <m:r>
                                <a:rPr lang="en-US" sz="2000" b="0" i="1" smtClean="0">
                                  <a:latin typeface="Cambria Math" panose="02040503050406030204" pitchFamily="18" charset="0"/>
                                  <a:cs typeface="Arial" panose="020B0604020202020204" pitchFamily="34" charset="0"/>
                                </a:rPr>
                                <m:t> 120</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𝑥</m:t>
                              </m:r>
                              <m:r>
                                <a:rPr lang="en-US" sz="2000" b="0" i="1" smtClean="0">
                                  <a:latin typeface="Cambria Math" panose="02040503050406030204" pitchFamily="18" charset="0"/>
                                  <a:ea typeface="Cambria Math" panose="02040503050406030204" pitchFamily="18" charset="0"/>
                                  <a:cs typeface="Arial" panose="020B0604020202020204" pitchFamily="34" charset="0"/>
                                </a:rPr>
                                <m:t>≤140</m:t>
                              </m:r>
                            </m:e>
                            <m:e>
                              <m:r>
                                <a:rPr lang="en-US" sz="2000" b="0" i="1" smtClean="0">
                                  <a:latin typeface="Cambria Math" panose="02040503050406030204" pitchFamily="18" charset="0"/>
                                  <a:cs typeface="Arial" panose="020B0604020202020204" pitchFamily="34" charset="0"/>
                                </a:rPr>
                                <m:t>0</m:t>
                              </m:r>
                              <m:r>
                                <m:rPr>
                                  <m:nor/>
                                </m:rPr>
                                <a:rPr lang="en-US" sz="200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     </m:t>
                              </m:r>
                              <m:r>
                                <m:rPr>
                                  <m:nor/>
                                </m:rPr>
                                <a:rPr lang="en-US" sz="2000" i="0" smtClean="0">
                                  <a:latin typeface="Cambria Math" panose="02040503050406030204" pitchFamily="18" charset="0"/>
                                  <a:cs typeface="Arial" panose="020B0604020202020204" pitchFamily="34" charset="0"/>
                                </a:rPr>
                                <m:t>elsewhere</m:t>
                              </m:r>
                              <m:r>
                                <m:rPr>
                                  <m:nor/>
                                </m:rPr>
                                <a:rPr lang="en-US" sz="2000" b="0" i="0" smtClean="0">
                                  <a:latin typeface="Cambria Math" panose="02040503050406030204" pitchFamily="18" charset="0"/>
                                  <a:cs typeface="Arial" panose="020B0604020202020204" pitchFamily="34" charset="0"/>
                                </a:rPr>
                                <m:t>            </m:t>
                              </m:r>
                            </m:e>
                          </m:eqArr>
                        </m:e>
                      </m:d>
                    </m:oMath>
                  </m:oMathPara>
                </a14:m>
                <a:endParaRPr lang="en-US" sz="2000" dirty="0"/>
              </a:p>
              <a:p>
                <a:pPr>
                  <a:spcAft>
                    <a:spcPts val="1200"/>
                  </a:spcAft>
                </a:pPr>
                <a:r>
                  <a:rPr lang="en-US" sz="2000" dirty="0"/>
                  <a:t>The probability that the flight time is between 120 and 130 minutes is:</a:t>
                </a:r>
              </a:p>
              <a:p>
                <a:pPr marL="230188">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≤130</m:t>
                          </m:r>
                        </m:e>
                      </m:d>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10</m:t>
                          </m:r>
                        </m:num>
                        <m:den>
                          <m:r>
                            <a:rPr lang="en-US" sz="2000" b="0" i="1" smtClean="0">
                              <a:latin typeface="Cambria Math" panose="02040503050406030204" pitchFamily="18" charset="0"/>
                              <a:ea typeface="Cambria Math" panose="02040503050406030204" pitchFamily="18" charset="0"/>
                            </a:rPr>
                            <m:t>20</m:t>
                          </m:r>
                        </m:den>
                      </m:f>
                      <m:r>
                        <a:rPr lang="en-US" sz="2000" b="0" i="1" smtClean="0">
                          <a:latin typeface="Cambria Math" panose="02040503050406030204" pitchFamily="18" charset="0"/>
                          <a:ea typeface="Cambria Math" panose="02040503050406030204" pitchFamily="18" charset="0"/>
                        </a:rPr>
                        <m:t>=0.50</m:t>
                      </m:r>
                    </m:oMath>
                  </m:oMathPara>
                </a14:m>
                <a:endParaRPr lang="en-US" sz="2000" dirty="0"/>
              </a:p>
            </p:txBody>
          </p:sp>
        </mc:Choice>
        <mc:Fallback xmlns="">
          <p:sp>
            <p:nvSpPr>
              <p:cNvPr id="5" name="Text Placeholder 4">
                <a:extLst>
                  <a:ext uri="{FF2B5EF4-FFF2-40B4-BE49-F238E27FC236}">
                    <a16:creationId xmlns:a16="http://schemas.microsoft.com/office/drawing/2014/main" id="{2936408F-1345-B14D-BC2F-E033465F2CC7}"/>
                  </a:ext>
                </a:extLst>
              </p:cNvPr>
              <p:cNvSpPr>
                <a:spLocks noGrp="1" noRot="1" noChangeAspect="1" noMove="1" noResize="1" noEditPoints="1" noAdjustHandles="1" noChangeArrowheads="1" noChangeShapeType="1" noTextEdit="1"/>
              </p:cNvSpPr>
              <p:nvPr>
                <p:ph type="body" sz="quarter" idx="17"/>
              </p:nvPr>
            </p:nvSpPr>
            <p:spPr>
              <a:xfrm>
                <a:off x="743577" y="3073501"/>
                <a:ext cx="4872363" cy="2279821"/>
              </a:xfrm>
              <a:blipFill>
                <a:blip r:embed="rId3"/>
                <a:stretch>
                  <a:fillRect l="-3254"/>
                </a:stretch>
              </a:blipFill>
            </p:spPr>
            <p:txBody>
              <a:bodyPr/>
              <a:lstStyle/>
              <a:p>
                <a:r>
                  <a:rPr lang="en-US">
                    <a:noFill/>
                  </a:rPr>
                  <a:t> </a:t>
                </a:r>
              </a:p>
            </p:txBody>
          </p:sp>
        </mc:Fallback>
      </mc:AlternateContent>
      <p:pic>
        <p:nvPicPr>
          <p:cNvPr id="8" name="Picture Placeholder 7" descr="A graph with a rectangle plots f(x) versus flight time. The horizontal axis is labeled “Flight Time in Minutes” and ranges from 120 to 140 with tickmarks in increments of 5. The vertical axis is labeled “f(x)” and lists 1/20. The graph shows a distribution plotted through (120, 0), (120, 1/20), (140, 1/20), and (140, 0). The region within (120, 0), (120, 1/20), (130, 1/20), and (130, 0) is shaded and labeled “P(120&lt;=x&lt;=130) = Area = 1/20(10) = 10/20 = 0.50.” The length of the region is labeled “10.”&#10;">
            <a:extLst>
              <a:ext uri="{FF2B5EF4-FFF2-40B4-BE49-F238E27FC236}">
                <a16:creationId xmlns:a16="http://schemas.microsoft.com/office/drawing/2014/main" id="{D7368F68-594B-77AC-77CB-E24B6D030E42}"/>
              </a:ext>
            </a:extLst>
          </p:cNvPr>
          <p:cNvPicPr>
            <a:picLocks noGrp="1" noChangeAspect="1"/>
          </p:cNvPicPr>
          <p:nvPr>
            <p:ph type="pic" sz="quarter" idx="16"/>
          </p:nvPr>
        </p:nvPicPr>
        <p:blipFill rotWithShape="1">
          <a:blip r:embed="rId4"/>
          <a:srcRect l="33" r="33"/>
          <a:stretch/>
        </p:blipFill>
        <p:spPr>
          <a:xfrm>
            <a:off x="5753100" y="3241613"/>
            <a:ext cx="5693263" cy="2090566"/>
          </a:xfrm>
        </p:spPr>
      </p:pic>
    </p:spTree>
    <p:extLst>
      <p:ext uri="{BB962C8B-B14F-4D97-AF65-F5344CB8AC3E}">
        <p14:creationId xmlns:p14="http://schemas.microsoft.com/office/powerpoint/2010/main" val="4145205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41E49-40E0-05A5-5DA6-470DD12CD1F6}"/>
              </a:ext>
            </a:extLst>
          </p:cNvPr>
          <p:cNvSpPr>
            <a:spLocks noGrp="1"/>
          </p:cNvSpPr>
          <p:nvPr>
            <p:ph type="title"/>
          </p:nvPr>
        </p:nvSpPr>
        <p:spPr/>
        <p:txBody>
          <a:bodyPr/>
          <a:lstStyle/>
          <a:p>
            <a:r>
              <a:rPr lang="en-US" dirty="0"/>
              <a:t>6.1 Properties of a Uniform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74E6AE8-B220-49F0-4E48-7510F318AF34}"/>
                  </a:ext>
                </a:extLst>
              </p:cNvPr>
              <p:cNvSpPr>
                <a:spLocks noGrp="1"/>
              </p:cNvSpPr>
              <p:nvPr>
                <p:ph type="body" sz="quarter" idx="15"/>
              </p:nvPr>
            </p:nvSpPr>
            <p:spPr>
              <a:xfrm>
                <a:off x="740228" y="1240403"/>
                <a:ext cx="10711543" cy="4508390"/>
              </a:xfrm>
            </p:spPr>
            <p:txBody>
              <a:bodyPr/>
              <a:lstStyle/>
              <a:p>
                <a:r>
                  <a:rPr lang="en-US" sz="2000" dirty="0"/>
                  <a:t>All continuous probability distributions have the following properties:</a:t>
                </a:r>
              </a:p>
              <a:p>
                <a:pPr marL="684213" indent="-398463">
                  <a:buFont typeface="+mj-lt"/>
                  <a:buAutoNum type="arabicPeriod"/>
                </a:pPr>
                <a:r>
                  <a:rPr lang="en-US" sz="2000" dirty="0"/>
                  <a:t> </a:t>
                </a:r>
                <a14:m>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)≥0</m:t>
                    </m:r>
                  </m:oMath>
                </a14:m>
                <a:r>
                  <a:rPr lang="en-US" sz="2000" dirty="0"/>
                  <a:t> for any value of </a:t>
                </a:r>
                <a14:m>
                  <m:oMath xmlns:m="http://schemas.openxmlformats.org/officeDocument/2006/math">
                    <m:r>
                      <a:rPr lang="en-US" sz="2000" i="1" dirty="0" smtClean="0">
                        <a:latin typeface="Cambria Math" panose="02040503050406030204" pitchFamily="18" charset="0"/>
                      </a:rPr>
                      <m:t>𝑥</m:t>
                    </m:r>
                  </m:oMath>
                </a14:m>
                <a:endParaRPr lang="en-US" sz="2000" dirty="0"/>
              </a:p>
              <a:p>
                <a:pPr marL="684213" indent="-398463">
                  <a:buFont typeface="+mj-lt"/>
                  <a:buAutoNum type="arabicPeriod"/>
                </a:pPr>
                <a:r>
                  <a:rPr lang="en-US" sz="2000" dirty="0"/>
                  <a:t> the area under the graph of </a:t>
                </a:r>
                <a14:m>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is equal to 1</a:t>
                </a:r>
              </a:p>
              <a:p>
                <a:pPr>
                  <a:spcBef>
                    <a:spcPts val="1200"/>
                  </a:spcBef>
                  <a:spcAft>
                    <a:spcPts val="600"/>
                  </a:spcAft>
                </a:pPr>
                <a:r>
                  <a:rPr lang="en-US" sz="2000" dirty="0"/>
                  <a:t>For example, in the airplane traveling time problem seen in the previous slide</a:t>
                </a:r>
              </a:p>
              <a:p>
                <a:pPr marL="914400">
                  <a:spcAft>
                    <a:spcPts val="600"/>
                  </a:spcAft>
                </a:pP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≤140</m:t>
                        </m:r>
                      </m:e>
                    </m:d>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20</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140−120</m:t>
                            </m:r>
                          </m:e>
                        </m:d>
                      </m:den>
                    </m:f>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20</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20</m:t>
                            </m:r>
                          </m:e>
                        </m:d>
                      </m:den>
                    </m:f>
                    <m:r>
                      <a:rPr lang="en-US" sz="2000" b="0" i="1" smtClean="0">
                        <a:latin typeface="Cambria Math" panose="02040503050406030204" pitchFamily="18" charset="0"/>
                        <a:ea typeface="Cambria Math" panose="02040503050406030204" pitchFamily="18" charset="0"/>
                      </a:rPr>
                      <m:t>=1</m:t>
                    </m:r>
                  </m:oMath>
                </a14:m>
                <a:r>
                  <a:rPr lang="en-US" sz="2000" dirty="0"/>
                  <a:t> </a:t>
                </a:r>
              </a:p>
              <a:p>
                <a:pPr>
                  <a:spcAft>
                    <a:spcPts val="1200"/>
                  </a:spcAft>
                </a:pPr>
                <a:r>
                  <a:rPr lang="en-US" sz="2000" dirty="0"/>
                  <a:t>Applying the formulas for expected value and standard deviation (as the square root of the variance) to the uniform distribution for flight times from Chicago to New York, we obtain</a:t>
                </a:r>
              </a:p>
              <a:p>
                <a:pPr marL="9144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𝐸</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𝑏</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120+140</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260</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=130 </m:t>
                      </m:r>
                      <m:r>
                        <m:rPr>
                          <m:nor/>
                        </m:rPr>
                        <a:rPr lang="en-US" sz="2000" b="0" i="0" smtClean="0">
                          <a:latin typeface="Cambria Math" panose="02040503050406030204" pitchFamily="18" charset="0"/>
                        </a:rPr>
                        <m:t>minutes</m:t>
                      </m:r>
                    </m:oMath>
                  </m:oMathPara>
                </a14:m>
                <a:endParaRPr lang="en-US" sz="2000" dirty="0"/>
              </a:p>
              <a:p>
                <a:pPr marL="914400">
                  <a:spcAft>
                    <a:spcPts val="600"/>
                  </a:spcAft>
                </a:pPr>
                <a14:m>
                  <m:oMath xmlns:m="http://schemas.openxmlformats.org/officeDocument/2006/math">
                    <m:r>
                      <a:rPr lang="en-US" sz="2000" b="0" i="1" smtClean="0">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rPr>
                          <m:t>𝑉𝑎𝑟</m:t>
                        </m:r>
                        <m:d>
                          <m:dPr>
                            <m:ctrlPr>
                              <a:rPr lang="en-US" sz="2000" i="1">
                                <a:latin typeface="Cambria Math" panose="02040503050406030204" pitchFamily="18" charset="0"/>
                              </a:rPr>
                            </m:ctrlPr>
                          </m:dPr>
                          <m:e>
                            <m:r>
                              <a:rPr lang="en-US" sz="2000" i="1">
                                <a:latin typeface="Cambria Math" panose="02040503050406030204" pitchFamily="18" charset="0"/>
                              </a:rPr>
                              <m:t>𝑥</m:t>
                            </m:r>
                          </m:e>
                        </m:d>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𝑏</m:t>
                                    </m:r>
                                    <m:r>
                                      <a:rPr lang="en-US" sz="2000" i="1">
                                        <a:latin typeface="Cambria Math" panose="02040503050406030204" pitchFamily="18" charset="0"/>
                                      </a:rPr>
                                      <m:t>−</m:t>
                                    </m:r>
                                    <m:r>
                                      <a:rPr lang="en-US" sz="2000" i="1">
                                        <a:latin typeface="Cambria Math" panose="02040503050406030204" pitchFamily="18" charset="0"/>
                                      </a:rPr>
                                      <m:t>𝑎</m:t>
                                    </m:r>
                                  </m:e>
                                </m:d>
                              </m:e>
                              <m:sup>
                                <m:r>
                                  <a:rPr lang="en-US" sz="2000" i="1">
                                    <a:latin typeface="Cambria Math" panose="02040503050406030204" pitchFamily="18" charset="0"/>
                                  </a:rPr>
                                  <m:t>2</m:t>
                                </m:r>
                              </m:sup>
                            </m:sSup>
                          </m:num>
                          <m:den>
                            <m:r>
                              <a:rPr lang="en-US" sz="2000" i="1">
                                <a:latin typeface="Cambria Math" panose="02040503050406030204" pitchFamily="18" charset="0"/>
                              </a:rPr>
                              <m:t>12</m:t>
                            </m:r>
                          </m:den>
                        </m:f>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140−120</m:t>
                                    </m:r>
                                  </m:e>
                                </m:d>
                              </m:e>
                              <m:sup>
                                <m:r>
                                  <a:rPr lang="en-US" sz="2000" i="1">
                                    <a:latin typeface="Cambria Math" panose="02040503050406030204" pitchFamily="18" charset="0"/>
                                  </a:rPr>
                                  <m:t>2</m:t>
                                </m:r>
                              </m:sup>
                            </m:sSup>
                          </m:num>
                          <m:den>
                            <m:r>
                              <a:rPr lang="en-US" sz="2000" i="1">
                                <a:latin typeface="Cambria Math" panose="02040503050406030204" pitchFamily="18" charset="0"/>
                              </a:rPr>
                              <m:t>12</m:t>
                            </m:r>
                          </m:den>
                        </m:f>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panose="02040503050406030204" pitchFamily="18" charset="0"/>
                              </a:rPr>
                              <m:t>400</m:t>
                            </m:r>
                          </m:num>
                          <m:den>
                            <m:r>
                              <a:rPr lang="en-US" sz="2000" i="1">
                                <a:latin typeface="Cambria Math" panose="02040503050406030204" pitchFamily="18" charset="0"/>
                              </a:rPr>
                              <m:t>12</m:t>
                            </m:r>
                          </m:den>
                        </m:f>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i="1">
                            <a:latin typeface="Cambria Math" panose="02040503050406030204" pitchFamily="18" charset="0"/>
                          </a:rPr>
                          <m:t>33.33</m:t>
                        </m:r>
                      </m:e>
                    </m:rad>
                    <m:r>
                      <a:rPr lang="en-US" sz="2000" b="0" i="1" smtClean="0">
                        <a:latin typeface="Cambria Math" panose="02040503050406030204" pitchFamily="18" charset="0"/>
                      </a:rPr>
                      <m:t>=5.77 </m:t>
                    </m:r>
                    <m:r>
                      <m:rPr>
                        <m:nor/>
                      </m:rPr>
                      <a:rPr lang="en-US" sz="2000" b="0" i="0" smtClean="0">
                        <a:latin typeface="Cambria Math" panose="02040503050406030204" pitchFamily="18" charset="0"/>
                      </a:rPr>
                      <m:t>minutes</m:t>
                    </m:r>
                  </m:oMath>
                </a14:m>
                <a:r>
                  <a:rPr lang="en-US" sz="2000" dirty="0"/>
                  <a:t> </a:t>
                </a:r>
              </a:p>
            </p:txBody>
          </p:sp>
        </mc:Choice>
        <mc:Fallback xmlns="">
          <p:sp>
            <p:nvSpPr>
              <p:cNvPr id="3" name="Text Placeholder 2">
                <a:extLst>
                  <a:ext uri="{FF2B5EF4-FFF2-40B4-BE49-F238E27FC236}">
                    <a16:creationId xmlns:a16="http://schemas.microsoft.com/office/drawing/2014/main" id="{974E6AE8-B220-49F0-4E48-7510F318AF34}"/>
                  </a:ext>
                </a:extLst>
              </p:cNvPr>
              <p:cNvSpPr>
                <a:spLocks noGrp="1" noRot="1" noChangeAspect="1" noMove="1" noResize="1" noEditPoints="1" noAdjustHandles="1" noChangeArrowheads="1" noChangeShapeType="1" noTextEdit="1"/>
              </p:cNvSpPr>
              <p:nvPr>
                <p:ph type="body" sz="quarter" idx="15"/>
              </p:nvPr>
            </p:nvSpPr>
            <p:spPr>
              <a:xfrm>
                <a:off x="740228" y="1240403"/>
                <a:ext cx="10711543" cy="4508390"/>
              </a:xfrm>
              <a:blipFill>
                <a:blip r:embed="rId2"/>
                <a:stretch>
                  <a:fillRect l="-1422" t="-1622" b="-270"/>
                </a:stretch>
              </a:blipFill>
            </p:spPr>
            <p:txBody>
              <a:bodyPr/>
              <a:lstStyle/>
              <a:p>
                <a:r>
                  <a:rPr lang="en-US">
                    <a:noFill/>
                  </a:rPr>
                  <a:t> </a:t>
                </a:r>
              </a:p>
            </p:txBody>
          </p:sp>
        </mc:Fallback>
      </mc:AlternateContent>
    </p:spTree>
    <p:extLst>
      <p:ext uri="{BB962C8B-B14F-4D97-AF65-F5344CB8AC3E}">
        <p14:creationId xmlns:p14="http://schemas.microsoft.com/office/powerpoint/2010/main" val="1986282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A6BA0-6535-E2F2-E521-6519987B8F27}"/>
              </a:ext>
            </a:extLst>
          </p:cNvPr>
          <p:cNvSpPr>
            <a:spLocks noGrp="1"/>
          </p:cNvSpPr>
          <p:nvPr>
            <p:ph type="title"/>
          </p:nvPr>
        </p:nvSpPr>
        <p:spPr/>
        <p:txBody>
          <a:bodyPr/>
          <a:lstStyle/>
          <a:p>
            <a:r>
              <a:rPr lang="en-US" dirty="0">
                <a:solidFill>
                  <a:srgbClr val="D14B1E"/>
                </a:solidFill>
              </a:rPr>
              <a:t>6.2 Normal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043CFF4-476E-AE09-C9A6-73084EE02E26}"/>
                  </a:ext>
                </a:extLst>
              </p:cNvPr>
              <p:cNvSpPr>
                <a:spLocks noGrp="1"/>
              </p:cNvSpPr>
              <p:nvPr>
                <p:ph type="body" sz="quarter" idx="15"/>
              </p:nvPr>
            </p:nvSpPr>
            <p:spPr>
              <a:xfrm>
                <a:off x="743576" y="1408876"/>
                <a:ext cx="10610223" cy="2446844"/>
              </a:xfrm>
            </p:spPr>
            <p:txBody>
              <a:bodyPr/>
              <a:lstStyle/>
              <a:p>
                <a:pPr>
                  <a:spcBef>
                    <a:spcPts val="1000"/>
                  </a:spcBef>
                </a:pPr>
                <a:r>
                  <a:rPr lang="en-US" sz="2000" dirty="0"/>
                  <a:t>The </a:t>
                </a:r>
                <a:r>
                  <a:rPr lang="en-US" sz="2000" b="1" dirty="0">
                    <a:solidFill>
                      <a:srgbClr val="0070C0"/>
                    </a:solidFill>
                  </a:rPr>
                  <a:t>normal probability distribution </a:t>
                </a:r>
                <a:r>
                  <a:rPr lang="en-US" sz="2000" dirty="0"/>
                  <a:t>assumes the characteristic bell-shaped curve and is the most common probability continuous distribution.</a:t>
                </a:r>
              </a:p>
              <a:p>
                <a:pPr>
                  <a:spcBef>
                    <a:spcPts val="1000"/>
                  </a:spcBef>
                  <a:spcAft>
                    <a:spcPts val="1200"/>
                  </a:spcAft>
                </a:pPr>
                <a:r>
                  <a:rPr lang="en-US" sz="2000" dirty="0"/>
                  <a:t>The </a:t>
                </a:r>
                <a:r>
                  <a:rPr lang="en-US" sz="2000" b="1" dirty="0">
                    <a:solidFill>
                      <a:srgbClr val="0070C0"/>
                    </a:solidFill>
                  </a:rPr>
                  <a:t>normal probability density function </a:t>
                </a:r>
                <a:r>
                  <a:rPr lang="en-US" sz="2000" dirty="0"/>
                  <a:t>is described by two parameters: the mean,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oMath>
                </a14:m>
                <a:r>
                  <a:rPr lang="en-US" sz="2000" dirty="0"/>
                  <a:t>, and the standard deviation,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t>.</a:t>
                </a:r>
              </a:p>
              <a:p>
                <a:pPr marL="1828800">
                  <a:spcBef>
                    <a:spcPts val="10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𝒇</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d>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r>
                            <a:rPr lang="en-US" sz="2000" b="1" i="1" smtClean="0">
                              <a:latin typeface="Cambria Math" panose="02040503050406030204" pitchFamily="18" charset="0"/>
                              <a:ea typeface="Cambria Math" panose="02040503050406030204" pitchFamily="18" charset="0"/>
                            </a:rPr>
                            <m:t>𝝈</m:t>
                          </m:r>
                          <m:rad>
                            <m:radPr>
                              <m:degHide m:val="on"/>
                              <m:ctrlPr>
                                <a:rPr lang="en-US" sz="2000" b="1" i="1" smtClean="0">
                                  <a:latin typeface="Cambria Math" panose="02040503050406030204" pitchFamily="18" charset="0"/>
                                </a:rPr>
                              </m:ctrlPr>
                            </m:radPr>
                            <m:deg/>
                            <m:e>
                              <m:r>
                                <a:rPr lang="en-US" sz="2000" b="1" i="1" smtClean="0">
                                  <a:latin typeface="Cambria Math" panose="02040503050406030204" pitchFamily="18" charset="0"/>
                                </a:rPr>
                                <m:t>𝟐</m:t>
                              </m:r>
                              <m:r>
                                <a:rPr lang="en-US" sz="2000" b="1" i="1">
                                  <a:latin typeface="Cambria Math" panose="02040503050406030204" pitchFamily="18" charset="0"/>
                                  <a:ea typeface="Cambria Math" panose="02040503050406030204" pitchFamily="18" charset="0"/>
                                </a:rPr>
                                <m:t>𝝅</m:t>
                              </m:r>
                            </m:e>
                          </m:rad>
                        </m:den>
                      </m:f>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𝒆</m:t>
                          </m:r>
                        </m:e>
                        <m:sup>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r>
                                <a:rPr lang="en-US" sz="2000" b="1" i="1" smtClean="0">
                                  <a:latin typeface="Cambria Math" panose="02040503050406030204" pitchFamily="18" charset="0"/>
                                </a:rPr>
                                <m:t>𝟐</m:t>
                              </m:r>
                            </m:den>
                          </m:f>
                          <m:sSup>
                            <m:sSupPr>
                              <m:ctrlPr>
                                <a:rPr lang="en-US" sz="2000" b="1" i="1" smtClean="0">
                                  <a:latin typeface="Cambria Math" panose="02040503050406030204" pitchFamily="18" charset="0"/>
                                </a:rPr>
                              </m:ctrlPr>
                            </m:sSupPr>
                            <m:e>
                              <m:d>
                                <m:dPr>
                                  <m:ctrlPr>
                                    <a:rPr lang="en-US" sz="2000" b="1" i="1" smtClean="0">
                                      <a:latin typeface="Cambria Math" panose="02040503050406030204" pitchFamily="18" charset="0"/>
                                    </a:rPr>
                                  </m:ctrlPr>
                                </m:dPr>
                                <m:e>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𝝁</m:t>
                                      </m:r>
                                    </m:num>
                                    <m:den>
                                      <m:r>
                                        <a:rPr lang="en-US" sz="2000" b="1" i="1" smtClean="0">
                                          <a:latin typeface="Cambria Math" panose="02040503050406030204" pitchFamily="18" charset="0"/>
                                          <a:ea typeface="Cambria Math" panose="02040503050406030204" pitchFamily="18" charset="0"/>
                                        </a:rPr>
                                        <m:t>𝝈</m:t>
                                      </m:r>
                                    </m:den>
                                  </m:f>
                                </m:e>
                              </m:d>
                            </m:e>
                            <m:sup>
                              <m:r>
                                <a:rPr lang="en-US" sz="2000" b="1" i="1" smtClean="0">
                                  <a:latin typeface="Cambria Math" panose="02040503050406030204" pitchFamily="18" charset="0"/>
                                </a:rPr>
                                <m:t>𝟐</m:t>
                              </m:r>
                            </m:sup>
                          </m:sSup>
                        </m:sup>
                      </m:sSup>
                    </m:oMath>
                  </m:oMathPara>
                </a14:m>
                <a:endParaRPr lang="en-US" sz="2000" dirty="0"/>
              </a:p>
            </p:txBody>
          </p:sp>
        </mc:Choice>
        <mc:Fallback xmlns="">
          <p:sp>
            <p:nvSpPr>
              <p:cNvPr id="3" name="Text Placeholder 2">
                <a:extLst>
                  <a:ext uri="{FF2B5EF4-FFF2-40B4-BE49-F238E27FC236}">
                    <a16:creationId xmlns:a16="http://schemas.microsoft.com/office/drawing/2014/main" id="{B043CFF4-476E-AE09-C9A6-73084EE02E26}"/>
                  </a:ext>
                </a:extLst>
              </p:cNvPr>
              <p:cNvSpPr>
                <a:spLocks noGrp="1" noRot="1" noChangeAspect="1" noMove="1" noResize="1" noEditPoints="1" noAdjustHandles="1" noChangeArrowheads="1" noChangeShapeType="1" noTextEdit="1"/>
              </p:cNvSpPr>
              <p:nvPr>
                <p:ph type="body" sz="quarter" idx="15"/>
              </p:nvPr>
            </p:nvSpPr>
            <p:spPr>
              <a:xfrm>
                <a:off x="743576" y="1408876"/>
                <a:ext cx="10610223" cy="2446844"/>
              </a:xfrm>
              <a:blipFill>
                <a:blip r:embed="rId3"/>
                <a:stretch>
                  <a:fillRect l="-1494" t="-2985" r="-1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3386A9AD-057F-C49E-1C74-91E4A539359D}"/>
                  </a:ext>
                </a:extLst>
              </p:cNvPr>
              <p:cNvSpPr>
                <a:spLocks noGrp="1"/>
              </p:cNvSpPr>
              <p:nvPr>
                <p:ph type="body" sz="quarter" idx="17"/>
              </p:nvPr>
            </p:nvSpPr>
            <p:spPr>
              <a:xfrm>
                <a:off x="743576" y="4145280"/>
                <a:ext cx="5208227" cy="1531621"/>
              </a:xfrm>
            </p:spPr>
            <p:txBody>
              <a:bodyPr/>
              <a:lstStyle/>
              <a:p>
                <a:pPr>
                  <a:spcBef>
                    <a:spcPts val="1000"/>
                  </a:spcBef>
                  <a:spcAft>
                    <a:spcPts val="0"/>
                  </a:spcAft>
                </a:pPr>
                <a:r>
                  <a:rPr lang="en-US" sz="2000" dirty="0"/>
                  <a:t>Where </a:t>
                </a:r>
                <a14:m>
                  <m:oMath xmlns:m="http://schemas.openxmlformats.org/officeDocument/2006/math">
                    <m:r>
                      <a:rPr lang="en-US" sz="200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ea typeface="Cambria Math" panose="02040503050406030204" pitchFamily="18" charset="0"/>
                      </a:rPr>
                      <m:t>≈3.14159</m:t>
                    </m:r>
                  </m:oMath>
                </a14:m>
                <a:r>
                  <a:rPr lang="en-US" sz="2000" b="0" dirty="0">
                    <a:latin typeface="Arial" panose="020B0604020202020204" pitchFamily="34" charset="0"/>
                    <a:ea typeface="Cambria Math" panose="02040503050406030204" pitchFamily="18"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rPr>
                      <m:t>𝑒</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2.71828</m:t>
                    </m:r>
                  </m:oMath>
                </a14:m>
                <a:r>
                  <a:rPr lang="en-US" sz="2000" dirty="0"/>
                  <a:t>.</a:t>
                </a:r>
              </a:p>
              <a:p>
                <a:pPr>
                  <a:spcBef>
                    <a:spcPts val="1000"/>
                  </a:spcBef>
                  <a:spcAft>
                    <a:spcPts val="0"/>
                  </a:spcAft>
                </a:pPr>
                <a:endParaRPr lang="en-US" sz="2000" dirty="0"/>
              </a:p>
            </p:txBody>
          </p:sp>
        </mc:Choice>
        <mc:Fallback xmlns="">
          <p:sp>
            <p:nvSpPr>
              <p:cNvPr id="5" name="Text Placeholder 4">
                <a:extLst>
                  <a:ext uri="{FF2B5EF4-FFF2-40B4-BE49-F238E27FC236}">
                    <a16:creationId xmlns:a16="http://schemas.microsoft.com/office/drawing/2014/main" id="{3386A9AD-057F-C49E-1C74-91E4A539359D}"/>
                  </a:ext>
                </a:extLst>
              </p:cNvPr>
              <p:cNvSpPr>
                <a:spLocks noGrp="1" noRot="1" noChangeAspect="1" noMove="1" noResize="1" noEditPoints="1" noAdjustHandles="1" noChangeArrowheads="1" noChangeShapeType="1" noTextEdit="1"/>
              </p:cNvSpPr>
              <p:nvPr>
                <p:ph type="body" sz="quarter" idx="17"/>
              </p:nvPr>
            </p:nvSpPr>
            <p:spPr>
              <a:xfrm>
                <a:off x="743576" y="4145280"/>
                <a:ext cx="5208227" cy="1531621"/>
              </a:xfrm>
              <a:blipFill>
                <a:blip r:embed="rId4"/>
                <a:stretch>
                  <a:fillRect l="-3044" t="-4781"/>
                </a:stretch>
              </a:blipFill>
            </p:spPr>
            <p:txBody>
              <a:bodyPr/>
              <a:lstStyle/>
              <a:p>
                <a:r>
                  <a:rPr lang="en-US">
                    <a:noFill/>
                  </a:rPr>
                  <a:t> </a:t>
                </a:r>
              </a:p>
            </p:txBody>
          </p:sp>
        </mc:Fallback>
      </mc:AlternateContent>
      <p:pic>
        <p:nvPicPr>
          <p:cNvPr id="7" name="Picture Placeholder 6" descr="A graph plots a bell-shaped curve. The horizontal axis is labeled “x” and has a tickmark labeled “mu, Mean.” A bell-shaped curve is over the axis, peaking at mu. The area under the curve is shaded. Text beside the curve reads, “Standard deviation, sigma.”&#10;">
            <a:extLst>
              <a:ext uri="{FF2B5EF4-FFF2-40B4-BE49-F238E27FC236}">
                <a16:creationId xmlns:a16="http://schemas.microsoft.com/office/drawing/2014/main" id="{5D9ED852-56F7-D620-6AFD-50A678A3D2A0}"/>
              </a:ext>
            </a:extLst>
          </p:cNvPr>
          <p:cNvPicPr>
            <a:picLocks noGrp="1" noChangeAspect="1"/>
          </p:cNvPicPr>
          <p:nvPr>
            <p:ph type="pic" sz="quarter" idx="16"/>
          </p:nvPr>
        </p:nvPicPr>
        <p:blipFill rotWithShape="1">
          <a:blip r:embed="rId5"/>
          <a:srcRect t="6" b="6"/>
          <a:stretch/>
        </p:blipFill>
        <p:spPr>
          <a:xfrm>
            <a:off x="5951803" y="3535680"/>
            <a:ext cx="5296335" cy="2653121"/>
          </a:xfrm>
        </p:spPr>
      </p:pic>
    </p:spTree>
    <p:extLst>
      <p:ext uri="{BB962C8B-B14F-4D97-AF65-F5344CB8AC3E}">
        <p14:creationId xmlns:p14="http://schemas.microsoft.com/office/powerpoint/2010/main" val="3227112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E2324-E01D-767D-34AA-2ACD2E4D011E}"/>
              </a:ext>
            </a:extLst>
          </p:cNvPr>
          <p:cNvSpPr>
            <a:spLocks noGrp="1"/>
          </p:cNvSpPr>
          <p:nvPr>
            <p:ph type="title"/>
          </p:nvPr>
        </p:nvSpPr>
        <p:spPr/>
        <p:txBody>
          <a:bodyPr/>
          <a:lstStyle/>
          <a:p>
            <a:r>
              <a:rPr lang="en-US" dirty="0"/>
              <a:t>6.2 The Mean of the Normal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2F5BF8-7CAE-3340-5428-560217303EB6}"/>
                  </a:ext>
                </a:extLst>
              </p:cNvPr>
              <p:cNvSpPr>
                <a:spLocks noGrp="1"/>
              </p:cNvSpPr>
              <p:nvPr>
                <p:ph type="body" sz="quarter" idx="15"/>
              </p:nvPr>
            </p:nvSpPr>
            <p:spPr>
              <a:xfrm>
                <a:off x="790888" y="1402085"/>
                <a:ext cx="10610223" cy="1748313"/>
              </a:xfrm>
            </p:spPr>
            <p:txBody>
              <a:bodyPr/>
              <a:lstStyle/>
              <a:p>
                <a:r>
                  <a:rPr lang="en-US" sz="2000" dirty="0"/>
                  <a:t>We make the following observations about the mean of the normal distribution.</a:t>
                </a:r>
              </a:p>
              <a:p>
                <a:pPr marL="684213" indent="-34290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𝜇</m:t>
                    </m:r>
                  </m:oMath>
                </a14:m>
                <a:r>
                  <a:rPr lang="en-US" sz="2000" dirty="0"/>
                  <a:t> is the highest point on the normal curve and also the median and mode of the distribution.</a:t>
                </a:r>
              </a:p>
              <a:p>
                <a:pPr marL="684213" indent="-342900">
                  <a:buFont typeface="Arial" panose="020B0604020202020204" pitchFamily="34" charset="0"/>
                  <a:buChar char="•"/>
                </a:pPr>
                <a14:m>
                  <m:oMath xmlns:m="http://schemas.openxmlformats.org/officeDocument/2006/math">
                    <m:r>
                      <a:rPr lang="en-US" sz="2000" i="1">
                        <a:latin typeface="Cambria Math" panose="02040503050406030204" pitchFamily="18" charset="0"/>
                        <a:ea typeface="Cambria Math" panose="02040503050406030204" pitchFamily="18" charset="0"/>
                      </a:rPr>
                      <m:t>𝜇</m:t>
                    </m:r>
                  </m:oMath>
                </a14:m>
                <a:r>
                  <a:rPr lang="en-US" sz="2000" dirty="0">
                    <a:latin typeface="Arial" panose="020B0604020202020204" pitchFamily="34" charset="0"/>
                    <a:cs typeface="Arial" panose="020B0604020202020204" pitchFamily="34" charset="0"/>
                  </a:rPr>
                  <a:t> can be any numerical value: negative, zero, or posi­tive. The figure shows three normal distributions with the same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𝜇</m:t>
                    </m:r>
                    <m:r>
                      <a:rPr lang="en-US" sz="2000" b="0" i="1" dirty="0" smtClean="0">
                        <a:latin typeface="Cambria Math" panose="02040503050406030204" pitchFamily="18" charset="0"/>
                        <a:ea typeface="Cambria Math" panose="02040503050406030204" pitchFamily="18" charset="0"/>
                      </a:rPr>
                      <m:t>=−10, 0, </m:t>
                    </m:r>
                    <m:r>
                      <m:rPr>
                        <m:nor/>
                      </m:rPr>
                      <a:rPr lang="en-US" sz="2000" b="0" i="0" dirty="0" smtClean="0">
                        <a:latin typeface="Arial" panose="020B0604020202020204" pitchFamily="34" charset="0"/>
                        <a:ea typeface="Cambria Math" panose="02040503050406030204" pitchFamily="18" charset="0"/>
                        <a:cs typeface="Arial" panose="020B0604020202020204" pitchFamily="34" charset="0"/>
                      </a:rPr>
                      <m:t>and</m:t>
                    </m:r>
                    <m:r>
                      <a:rPr lang="en-US" sz="2000" b="0" i="1" dirty="0" smtClean="0">
                        <a:latin typeface="Cambria Math" panose="02040503050406030204" pitchFamily="18" charset="0"/>
                        <a:ea typeface="Cambria Math" panose="02040503050406030204" pitchFamily="18" charset="0"/>
                      </a:rPr>
                      <m:t> 20</m:t>
                    </m:r>
                  </m:oMath>
                </a14:m>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E12F5BF8-7CAE-3340-5428-560217303EB6}"/>
                  </a:ext>
                </a:extLst>
              </p:cNvPr>
              <p:cNvSpPr>
                <a:spLocks noGrp="1" noRot="1" noChangeAspect="1" noMove="1" noResize="1" noEditPoints="1" noAdjustHandles="1" noChangeArrowheads="1" noChangeShapeType="1" noTextEdit="1"/>
              </p:cNvSpPr>
              <p:nvPr>
                <p:ph type="body" sz="quarter" idx="15"/>
              </p:nvPr>
            </p:nvSpPr>
            <p:spPr>
              <a:xfrm>
                <a:off x="790888" y="1402085"/>
                <a:ext cx="10610223" cy="1748313"/>
              </a:xfrm>
              <a:blipFill>
                <a:blip r:embed="rId2"/>
                <a:stretch>
                  <a:fillRect l="-1494" t="-4181" r="-1839" b="-4878"/>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73BB7DFF-002A-85A9-EC30-8975E7B4D3F2}"/>
              </a:ext>
            </a:extLst>
          </p:cNvPr>
          <p:cNvSpPr>
            <a:spLocks noGrp="1"/>
          </p:cNvSpPr>
          <p:nvPr>
            <p:ph type="body" sz="quarter" idx="17"/>
          </p:nvPr>
        </p:nvSpPr>
        <p:spPr>
          <a:xfrm>
            <a:off x="790888" y="3193263"/>
            <a:ext cx="5251773" cy="2285995"/>
          </a:xfrm>
        </p:spPr>
        <p:txBody>
          <a:bodyPr/>
          <a:lstStyle/>
          <a:p>
            <a:pPr marL="684213"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The normal curve is symmetric, with both areas to the left and to the right of the mean equal to 0.5.</a:t>
            </a:r>
          </a:p>
          <a:p>
            <a:pPr marL="684213"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The tails of the normal curve extend indefinitely in both directions, and theoret­ically never touch the horizontal axis.</a:t>
            </a:r>
          </a:p>
        </p:txBody>
      </p:sp>
      <p:pic>
        <p:nvPicPr>
          <p:cNvPr id="11" name="Picture Placeholder 10" descr="A graph plots three normal distributions. The horizontal axis is labeled “x” and ranges from negative 10 to 20. The graph consists of three bell-shaped curves, peaking at negative 10, 0, and 20. The region under the curves is shaded. The size of the curves and the height of their peaks are the same.&#10;">
            <a:extLst>
              <a:ext uri="{FF2B5EF4-FFF2-40B4-BE49-F238E27FC236}">
                <a16:creationId xmlns:a16="http://schemas.microsoft.com/office/drawing/2014/main" id="{00356781-6C63-787E-6EFD-65630B0FC178}"/>
              </a:ext>
            </a:extLst>
          </p:cNvPr>
          <p:cNvPicPr>
            <a:picLocks noGrp="1" noChangeAspect="1"/>
          </p:cNvPicPr>
          <p:nvPr>
            <p:ph type="pic" sz="quarter" idx="16"/>
          </p:nvPr>
        </p:nvPicPr>
        <p:blipFill rotWithShape="1">
          <a:blip r:embed="rId3"/>
          <a:srcRect l="40" r="40"/>
          <a:stretch/>
        </p:blipFill>
        <p:spPr>
          <a:xfrm>
            <a:off x="6029504" y="3288409"/>
            <a:ext cx="5324296" cy="2354830"/>
          </a:xfrm>
        </p:spPr>
      </p:pic>
    </p:spTree>
    <p:extLst>
      <p:ext uri="{BB962C8B-B14F-4D97-AF65-F5344CB8AC3E}">
        <p14:creationId xmlns:p14="http://schemas.microsoft.com/office/powerpoint/2010/main" val="3466537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E2324-E01D-767D-34AA-2ACD2E4D011E}"/>
              </a:ext>
            </a:extLst>
          </p:cNvPr>
          <p:cNvSpPr>
            <a:spLocks noGrp="1"/>
          </p:cNvSpPr>
          <p:nvPr>
            <p:ph type="title"/>
          </p:nvPr>
        </p:nvSpPr>
        <p:spPr/>
        <p:txBody>
          <a:bodyPr/>
          <a:lstStyle/>
          <a:p>
            <a:r>
              <a:rPr lang="en-US" dirty="0"/>
              <a:t>6.2 The Spread of the Normal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2F5BF8-7CAE-3340-5428-560217303EB6}"/>
                  </a:ext>
                </a:extLst>
              </p:cNvPr>
              <p:cNvSpPr>
                <a:spLocks noGrp="1"/>
              </p:cNvSpPr>
              <p:nvPr>
                <p:ph type="body" sz="quarter" idx="15"/>
              </p:nvPr>
            </p:nvSpPr>
            <p:spPr>
              <a:xfrm>
                <a:off x="790888" y="1318049"/>
                <a:ext cx="10610223" cy="2049994"/>
              </a:xfrm>
            </p:spPr>
            <p:txBody>
              <a:bodyPr/>
              <a:lstStyle/>
              <a:p>
                <a:r>
                  <a:rPr lang="en-US" sz="2000" dirty="0">
                    <a:latin typeface="Arial" panose="020B0604020202020204" pitchFamily="34" charset="0"/>
                    <a:cs typeface="Arial" panose="020B0604020202020204" pitchFamily="34" charset="0"/>
                  </a:rPr>
                  <a:t>We make the following observations about the standard deviation of the normal distribution:</a:t>
                </a:r>
              </a:p>
              <a:p>
                <a:pPr marL="684213" indent="-34290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r>
                      <a:rPr lang="en-US" sz="2000" i="1" smtClean="0">
                        <a:latin typeface="Cambria Math" panose="02040503050406030204" pitchFamily="18" charset="0"/>
                        <a:ea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determines how flat and wide the normal curve is. </a:t>
                </a:r>
              </a:p>
              <a:p>
                <a:pPr marL="684213"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Larger values of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r>
                      <a:rPr lang="en-US" sz="2000" i="1" smtClean="0">
                        <a:latin typeface="Cambria Math" panose="02040503050406030204" pitchFamily="18" charset="0"/>
                        <a:ea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result in wider, flatter curves. The figure shows two normal distributions with the same mean but </a:t>
                </a:r>
                <a14:m>
                  <m:oMath xmlns:m="http://schemas.openxmlformats.org/officeDocument/2006/math">
                    <m:r>
                      <a:rPr lang="en-US" sz="2000">
                        <a:latin typeface="Cambria Math" panose="02040503050406030204" pitchFamily="18" charset="0"/>
                        <a:cs typeface="Arial" panose="020B0604020202020204" pitchFamily="34" charset="0"/>
                      </a:rPr>
                      <m:t>𝜎</m:t>
                    </m:r>
                    <m:r>
                      <a:rPr lang="en-US" sz="2000" b="0" i="0" smtClean="0">
                        <a:latin typeface="Cambria Math" panose="02040503050406030204" pitchFamily="18" charset="0"/>
                        <a:cs typeface="Arial" panose="020B0604020202020204" pitchFamily="34" charset="0"/>
                      </a:rPr>
                      <m:t>=5</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a:latin typeface="Cambria Math" panose="02040503050406030204" pitchFamily="18" charset="0"/>
                        <a:cs typeface="Arial" panose="020B0604020202020204" pitchFamily="34" charset="0"/>
                      </a:rPr>
                      <m:t>𝜎</m:t>
                    </m:r>
                    <m:r>
                      <a:rPr lang="en-US" sz="2000">
                        <a:latin typeface="Cambria Math" panose="02040503050406030204" pitchFamily="18" charset="0"/>
                        <a:cs typeface="Arial" panose="020B0604020202020204" pitchFamily="34" charset="0"/>
                      </a:rPr>
                      <m:t>=10</m:t>
                    </m:r>
                  </m:oMath>
                </a14:m>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E12F5BF8-7CAE-3340-5428-560217303EB6}"/>
                  </a:ext>
                </a:extLst>
              </p:cNvPr>
              <p:cNvSpPr>
                <a:spLocks noGrp="1" noRot="1" noChangeAspect="1" noMove="1" noResize="1" noEditPoints="1" noAdjustHandles="1" noChangeArrowheads="1" noChangeShapeType="1" noTextEdit="1"/>
              </p:cNvSpPr>
              <p:nvPr>
                <p:ph type="body" sz="quarter" idx="15"/>
              </p:nvPr>
            </p:nvSpPr>
            <p:spPr>
              <a:xfrm>
                <a:off x="790888" y="1318049"/>
                <a:ext cx="10610223" cy="2049994"/>
              </a:xfrm>
              <a:blipFill>
                <a:blip r:embed="rId2"/>
                <a:stretch>
                  <a:fillRect l="-1494" t="-35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73BB7DFF-002A-85A9-EC30-8975E7B4D3F2}"/>
                  </a:ext>
                </a:extLst>
              </p:cNvPr>
              <p:cNvSpPr>
                <a:spLocks noGrp="1"/>
              </p:cNvSpPr>
              <p:nvPr>
                <p:ph type="body" sz="quarter" idx="17"/>
              </p:nvPr>
            </p:nvSpPr>
            <p:spPr>
              <a:xfrm>
                <a:off x="790887" y="2778921"/>
                <a:ext cx="5990913" cy="1964531"/>
              </a:xfrm>
            </p:spPr>
            <p:txBody>
              <a:bodyPr/>
              <a:lstStyle/>
              <a:p>
                <a:pPr marL="684213" indent="-342900">
                  <a:spcAft>
                    <a:spcPts val="100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percentage of values in some typical intervals are (see Empirical rule, Chapter 2):</a:t>
                </a:r>
              </a:p>
              <a:p>
                <a:pPr marL="914400" lvl="1" indent="0">
                  <a:lnSpc>
                    <a:spcPct val="100000"/>
                  </a:lnSpc>
                  <a:spcBef>
                    <a:spcPts val="600"/>
                  </a:spcBef>
                  <a:spcAft>
                    <a:spcPts val="600"/>
                  </a:spcAft>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i="1">
                              <a:latin typeface="Cambria Math" panose="02040503050406030204" pitchFamily="18" charset="0"/>
                              <a:ea typeface="Cambria Math" panose="02040503050406030204" pitchFamily="18" charset="0"/>
                              <a:cs typeface="Arial" panose="020B0604020202020204" pitchFamily="34" charset="0"/>
                            </a:rPr>
                            <m:t>−1</m:t>
                          </m:r>
                          <m:r>
                            <a:rPr lang="en-US" sz="2000" i="1">
                              <a:latin typeface="Cambria Math" panose="02040503050406030204" pitchFamily="18" charset="0"/>
                              <a:ea typeface="Cambria Math" panose="02040503050406030204" pitchFamily="18" charset="0"/>
                              <a:cs typeface="Arial" panose="020B0604020202020204" pitchFamily="34" charset="0"/>
                            </a:rPr>
                            <m:t>𝜎</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𝑥</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+1</m:t>
                          </m:r>
                          <m:r>
                            <a:rPr lang="en-US" sz="2000" i="1">
                              <a:latin typeface="Cambria Math" panose="02040503050406030204" pitchFamily="18" charset="0"/>
                              <a:ea typeface="Cambria Math" panose="02040503050406030204" pitchFamily="18" charset="0"/>
                              <a:cs typeface="Arial" panose="020B0604020202020204" pitchFamily="34" charset="0"/>
                            </a:rPr>
                            <m:t>𝜎</m:t>
                          </m:r>
                        </m:e>
                      </m:d>
                      <m:r>
                        <a:rPr lang="en-US" sz="2000">
                          <a:latin typeface="Cambria Math" panose="02040503050406030204" pitchFamily="18" charset="0"/>
                          <a:ea typeface="Cambria Math" panose="02040503050406030204" pitchFamily="18" charset="0"/>
                          <a:cs typeface="Arial" panose="020B0604020202020204" pitchFamily="34" charset="0"/>
                        </a:rPr>
                        <m:t>≈</m:t>
                      </m:r>
                      <m:r>
                        <a:rPr lang="en-US" sz="2000" b="0" i="0" smtClean="0">
                          <a:latin typeface="Cambria Math" panose="02040503050406030204" pitchFamily="18" charset="0"/>
                          <a:ea typeface="Cambria Math" panose="02040503050406030204" pitchFamily="18" charset="0"/>
                          <a:cs typeface="Arial" panose="020B0604020202020204" pitchFamily="34" charset="0"/>
                        </a:rPr>
                        <m:t>68.3%</m:t>
                      </m:r>
                    </m:oMath>
                  </m:oMathPara>
                </a14:m>
                <a:endParaRPr lang="en-US" sz="2000" dirty="0">
                  <a:latin typeface="Arial" panose="020B0604020202020204" pitchFamily="34" charset="0"/>
                  <a:cs typeface="Arial" panose="020B0604020202020204" pitchFamily="34" charset="0"/>
                </a:endParaRPr>
              </a:p>
              <a:p>
                <a:pPr marL="914400" lvl="1" indent="0">
                  <a:lnSpc>
                    <a:spcPct val="100000"/>
                  </a:lnSpc>
                  <a:spcBef>
                    <a:spcPts val="600"/>
                  </a:spcBef>
                  <a:spcAft>
                    <a:spcPts val="600"/>
                  </a:spcAft>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i="1">
                              <a:latin typeface="Cambria Math" panose="02040503050406030204" pitchFamily="18" charset="0"/>
                              <a:ea typeface="Cambria Math" panose="02040503050406030204" pitchFamily="18" charset="0"/>
                              <a:cs typeface="Arial" panose="020B0604020202020204" pitchFamily="34" charset="0"/>
                            </a:rPr>
                            <m:t>−2</m:t>
                          </m:r>
                          <m:r>
                            <a:rPr lang="en-US" sz="2000" i="1">
                              <a:latin typeface="Cambria Math" panose="02040503050406030204" pitchFamily="18" charset="0"/>
                              <a:ea typeface="Cambria Math" panose="02040503050406030204" pitchFamily="18" charset="0"/>
                              <a:cs typeface="Arial" panose="020B0604020202020204" pitchFamily="34" charset="0"/>
                            </a:rPr>
                            <m:t>𝜎</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𝑥</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+2</m:t>
                          </m:r>
                          <m:r>
                            <a:rPr lang="en-US" sz="2000" i="1">
                              <a:latin typeface="Cambria Math" panose="02040503050406030204" pitchFamily="18" charset="0"/>
                              <a:ea typeface="Cambria Math" panose="02040503050406030204" pitchFamily="18" charset="0"/>
                              <a:cs typeface="Arial" panose="020B0604020202020204" pitchFamily="34" charset="0"/>
                            </a:rPr>
                            <m:t>𝜎</m:t>
                          </m:r>
                        </m:e>
                      </m:d>
                      <m:r>
                        <a:rPr lang="en-US" sz="2000">
                          <a:latin typeface="Cambria Math" panose="02040503050406030204" pitchFamily="18" charset="0"/>
                          <a:ea typeface="Cambria Math" panose="02040503050406030204" pitchFamily="18" charset="0"/>
                          <a:cs typeface="Arial" panose="020B0604020202020204" pitchFamily="34" charset="0"/>
                        </a:rPr>
                        <m:t>≈</m:t>
                      </m:r>
                      <m:r>
                        <a:rPr lang="en-US" sz="2000" b="0" i="0" smtClean="0">
                          <a:latin typeface="Cambria Math" panose="02040503050406030204" pitchFamily="18" charset="0"/>
                          <a:ea typeface="Cambria Math" panose="02040503050406030204" pitchFamily="18" charset="0"/>
                          <a:cs typeface="Arial" panose="020B0604020202020204" pitchFamily="34" charset="0"/>
                        </a:rPr>
                        <m:t>95.4%</m:t>
                      </m:r>
                    </m:oMath>
                  </m:oMathPara>
                </a14:m>
                <a:endParaRPr lang="en-US" sz="2000" dirty="0">
                  <a:latin typeface="Arial" panose="020B0604020202020204" pitchFamily="34" charset="0"/>
                  <a:cs typeface="Arial" panose="020B0604020202020204" pitchFamily="34" charset="0"/>
                </a:endParaRPr>
              </a:p>
              <a:p>
                <a:pPr marL="914400" lvl="1" indent="0">
                  <a:lnSpc>
                    <a:spcPct val="100000"/>
                  </a:lnSpc>
                  <a:spcBef>
                    <a:spcPts val="600"/>
                  </a:spcBef>
                  <a:spcAft>
                    <a:spcPts val="600"/>
                  </a:spcAft>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i="1">
                              <a:latin typeface="Cambria Math" panose="02040503050406030204" pitchFamily="18" charset="0"/>
                              <a:ea typeface="Cambria Math" panose="02040503050406030204" pitchFamily="18" charset="0"/>
                              <a:cs typeface="Arial" panose="020B0604020202020204" pitchFamily="34" charset="0"/>
                            </a:rPr>
                            <m:t>−3</m:t>
                          </m:r>
                          <m:r>
                            <a:rPr lang="en-US" sz="2000" i="1">
                              <a:latin typeface="Cambria Math" panose="02040503050406030204" pitchFamily="18" charset="0"/>
                              <a:ea typeface="Cambria Math" panose="02040503050406030204" pitchFamily="18" charset="0"/>
                              <a:cs typeface="Arial" panose="020B0604020202020204" pitchFamily="34" charset="0"/>
                            </a:rPr>
                            <m:t>𝜎</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𝑥</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+3</m:t>
                          </m:r>
                          <m:r>
                            <a:rPr lang="en-US" sz="2000" i="1">
                              <a:latin typeface="Cambria Math" panose="02040503050406030204" pitchFamily="18" charset="0"/>
                              <a:ea typeface="Cambria Math" panose="02040503050406030204" pitchFamily="18" charset="0"/>
                              <a:cs typeface="Arial" panose="020B0604020202020204" pitchFamily="34" charset="0"/>
                            </a:rPr>
                            <m:t>𝜎</m:t>
                          </m:r>
                        </m:e>
                      </m:d>
                      <m:r>
                        <a:rPr lang="en-US" sz="2000">
                          <a:latin typeface="Cambria Math" panose="02040503050406030204" pitchFamily="18" charset="0"/>
                          <a:ea typeface="Cambria Math" panose="02040503050406030204" pitchFamily="18" charset="0"/>
                          <a:cs typeface="Arial" panose="020B0604020202020204" pitchFamily="34" charset="0"/>
                        </a:rPr>
                        <m:t>≈</m:t>
                      </m:r>
                      <m:r>
                        <a:rPr lang="en-US" sz="2000" b="0" i="0" smtClean="0">
                          <a:latin typeface="Cambria Math" panose="02040503050406030204" pitchFamily="18" charset="0"/>
                          <a:ea typeface="Cambria Math" panose="02040503050406030204" pitchFamily="18" charset="0"/>
                          <a:cs typeface="Arial" panose="020B0604020202020204" pitchFamily="34" charset="0"/>
                        </a:rPr>
                        <m:t>99.7%</m:t>
                      </m:r>
                    </m:oMath>
                  </m:oMathPara>
                </a14:m>
                <a:endParaRPr lang="en-US" sz="2000" dirty="0">
                  <a:latin typeface="Arial" panose="020B0604020202020204" pitchFamily="34" charset="0"/>
                  <a:cs typeface="Arial" panose="020B0604020202020204" pitchFamily="34" charset="0"/>
                </a:endParaRPr>
              </a:p>
            </p:txBody>
          </p:sp>
        </mc:Choice>
        <mc:Fallback xmlns="">
          <p:sp>
            <p:nvSpPr>
              <p:cNvPr id="5" name="Text Placeholder 4">
                <a:extLst>
                  <a:ext uri="{FF2B5EF4-FFF2-40B4-BE49-F238E27FC236}">
                    <a16:creationId xmlns:a16="http://schemas.microsoft.com/office/drawing/2014/main" id="{73BB7DFF-002A-85A9-EC30-8975E7B4D3F2}"/>
                  </a:ext>
                </a:extLst>
              </p:cNvPr>
              <p:cNvSpPr>
                <a:spLocks noGrp="1" noRot="1" noChangeAspect="1" noMove="1" noResize="1" noEditPoints="1" noAdjustHandles="1" noChangeArrowheads="1" noChangeShapeType="1" noTextEdit="1"/>
              </p:cNvSpPr>
              <p:nvPr>
                <p:ph type="body" sz="quarter" idx="17"/>
              </p:nvPr>
            </p:nvSpPr>
            <p:spPr>
              <a:xfrm>
                <a:off x="790887" y="2778921"/>
                <a:ext cx="5990913" cy="1964531"/>
              </a:xfrm>
              <a:blipFill>
                <a:blip r:embed="rId3"/>
                <a:stretch>
                  <a:fillRect t="-3727"/>
                </a:stretch>
              </a:blipFill>
            </p:spPr>
            <p:txBody>
              <a:bodyPr/>
              <a:lstStyle/>
              <a:p>
                <a:r>
                  <a:rPr lang="en-US">
                    <a:noFill/>
                  </a:rPr>
                  <a:t> </a:t>
                </a:r>
              </a:p>
            </p:txBody>
          </p:sp>
        </mc:Fallback>
      </mc:AlternateContent>
      <p:pic>
        <p:nvPicPr>
          <p:cNvPr id="8" name="Picture Placeholder 7" descr="A graph plots two normal distributions. The horizontal axis is labeled “x” and lists mu. Two bell-shaped curves peak at mu. One of the curves is wider and shorter and labeled “Sigma = 10.” The other curve is narrower and taller and is labeled “Sigma = 5.”&#10;">
            <a:extLst>
              <a:ext uri="{FF2B5EF4-FFF2-40B4-BE49-F238E27FC236}">
                <a16:creationId xmlns:a16="http://schemas.microsoft.com/office/drawing/2014/main" id="{25E6E98A-0C62-941B-A8FE-8900B37B4B0C}"/>
              </a:ext>
            </a:extLst>
          </p:cNvPr>
          <p:cNvPicPr>
            <a:picLocks noGrp="1" noChangeAspect="1"/>
          </p:cNvPicPr>
          <p:nvPr>
            <p:ph type="pic" sz="quarter" idx="16"/>
          </p:nvPr>
        </p:nvPicPr>
        <p:blipFill rotWithShape="1">
          <a:blip r:embed="rId4"/>
          <a:srcRect l="56" r="56"/>
          <a:stretch/>
        </p:blipFill>
        <p:spPr>
          <a:xfrm>
            <a:off x="6537960" y="2967992"/>
            <a:ext cx="4489771" cy="2727077"/>
          </a:xfrm>
        </p:spPr>
      </p:pic>
    </p:spTree>
    <p:extLst>
      <p:ext uri="{BB962C8B-B14F-4D97-AF65-F5344CB8AC3E}">
        <p14:creationId xmlns:p14="http://schemas.microsoft.com/office/powerpoint/2010/main" val="59389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A6BA0-6535-E2F2-E521-6519987B8F27}"/>
              </a:ext>
            </a:extLst>
          </p:cNvPr>
          <p:cNvSpPr>
            <a:spLocks noGrp="1"/>
          </p:cNvSpPr>
          <p:nvPr>
            <p:ph type="title"/>
          </p:nvPr>
        </p:nvSpPr>
        <p:spPr/>
        <p:txBody>
          <a:bodyPr/>
          <a:lstStyle/>
          <a:p>
            <a:r>
              <a:rPr lang="en-US" dirty="0"/>
              <a:t>6.2 Standard Normal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043CFF4-476E-AE09-C9A6-73084EE02E26}"/>
                  </a:ext>
                </a:extLst>
              </p:cNvPr>
              <p:cNvSpPr>
                <a:spLocks noGrp="1"/>
              </p:cNvSpPr>
              <p:nvPr>
                <p:ph type="body" sz="quarter" idx="15"/>
              </p:nvPr>
            </p:nvSpPr>
            <p:spPr>
              <a:xfrm>
                <a:off x="743577" y="1444732"/>
                <a:ext cx="10610223" cy="1839107"/>
              </a:xfrm>
            </p:spPr>
            <p:txBody>
              <a:bodyPr/>
              <a:lstStyle/>
              <a:p>
                <a:r>
                  <a:rPr lang="en-US" sz="2000" dirty="0"/>
                  <a:t>A random variable having a normal distribution with a mean of 0 and a standard deviation of 1 is said to have a </a:t>
                </a:r>
                <a:r>
                  <a:rPr lang="en-US" sz="2000" b="1" dirty="0"/>
                  <a:t>standard normal probability distribution</a:t>
                </a:r>
                <a:r>
                  <a:rPr lang="en-US" sz="2000" dirty="0"/>
                  <a:t>.</a:t>
                </a:r>
              </a:p>
              <a:p>
                <a:r>
                  <a:rPr lang="en-US" sz="2000" dirty="0"/>
                  <a:t>The letter </a:t>
                </a:r>
                <a14:m>
                  <m:oMath xmlns:m="http://schemas.openxmlformats.org/officeDocument/2006/math">
                    <m:r>
                      <a:rPr lang="en-US" sz="2000" i="1" dirty="0" smtClean="0">
                        <a:latin typeface="Cambria Math" panose="02040503050406030204" pitchFamily="18" charset="0"/>
                      </a:rPr>
                      <m:t>𝑧</m:t>
                    </m:r>
                  </m:oMath>
                </a14:m>
                <a:r>
                  <a:rPr lang="en-US" sz="2000" dirty="0"/>
                  <a:t> is commonly used to designate the standard normal random variable.</a:t>
                </a:r>
              </a:p>
              <a:p>
                <a:r>
                  <a:rPr lang="en-US" sz="2000" dirty="0"/>
                  <a:t>The standard normal distribution has the same general appearance as other normal distributions, but with the special properties of having </a:t>
                </a:r>
                <a14:m>
                  <m:oMath xmlns:m="http://schemas.openxmlformats.org/officeDocument/2006/math">
                    <m:r>
                      <a:rPr lang="el-GR" sz="2000" i="1" dirty="0" smtClean="0">
                        <a:latin typeface="Cambria Math" panose="02040503050406030204" pitchFamily="18" charset="0"/>
                        <a:ea typeface="Cambria Math" panose="02040503050406030204" pitchFamily="18" charset="0"/>
                      </a:rPr>
                      <m:t>𝜇</m:t>
                    </m:r>
                    <m:r>
                      <a:rPr lang="en-US" sz="2000" i="1" dirty="0" smtClean="0">
                        <a:latin typeface="Cambria Math" panose="02040503050406030204" pitchFamily="18" charset="0"/>
                      </a:rPr>
                      <m:t>=0</m:t>
                    </m:r>
                  </m:oMath>
                </a14:m>
                <a:r>
                  <a:rPr lang="en-US" sz="2000" dirty="0"/>
                  <a:t> and </a:t>
                </a:r>
                <a14:m>
                  <m:oMath xmlns:m="http://schemas.openxmlformats.org/officeDocument/2006/math">
                    <m:r>
                      <a:rPr lang="el-GR" sz="2000" i="1" dirty="0" smtClean="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=1</m:t>
                    </m:r>
                  </m:oMath>
                </a14:m>
                <a:r>
                  <a:rPr lang="en-US" sz="2000" dirty="0"/>
                  <a:t>.</a:t>
                </a:r>
              </a:p>
            </p:txBody>
          </p:sp>
        </mc:Choice>
        <mc:Fallback xmlns="">
          <p:sp>
            <p:nvSpPr>
              <p:cNvPr id="3" name="Text Placeholder 2">
                <a:extLst>
                  <a:ext uri="{FF2B5EF4-FFF2-40B4-BE49-F238E27FC236}">
                    <a16:creationId xmlns:a16="http://schemas.microsoft.com/office/drawing/2014/main" id="{B043CFF4-476E-AE09-C9A6-73084EE02E26}"/>
                  </a:ext>
                </a:extLst>
              </p:cNvPr>
              <p:cNvSpPr>
                <a:spLocks noGrp="1" noRot="1" noChangeAspect="1" noMove="1" noResize="1" noEditPoints="1" noAdjustHandles="1" noChangeArrowheads="1" noChangeShapeType="1" noTextEdit="1"/>
              </p:cNvSpPr>
              <p:nvPr>
                <p:ph type="body" sz="quarter" idx="15"/>
              </p:nvPr>
            </p:nvSpPr>
            <p:spPr>
              <a:xfrm>
                <a:off x="743577" y="1444732"/>
                <a:ext cx="10610223" cy="1839107"/>
              </a:xfrm>
              <a:blipFill>
                <a:blip r:embed="rId3"/>
                <a:stretch>
                  <a:fillRect l="-1493" t="-3974" r="-9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3386A9AD-057F-C49E-1C74-91E4A539359D}"/>
                  </a:ext>
                </a:extLst>
              </p:cNvPr>
              <p:cNvSpPr>
                <a:spLocks noGrp="1"/>
              </p:cNvSpPr>
              <p:nvPr>
                <p:ph type="body" sz="quarter" idx="17"/>
              </p:nvPr>
            </p:nvSpPr>
            <p:spPr>
              <a:xfrm>
                <a:off x="743577" y="3212328"/>
                <a:ext cx="4774628" cy="2403550"/>
              </a:xfrm>
            </p:spPr>
            <p:txBody>
              <a:bodyPr/>
              <a:lstStyle/>
              <a:p>
                <a:pPr>
                  <a:spcAft>
                    <a:spcPts val="1200"/>
                  </a:spcAft>
                </a:pPr>
                <a:r>
                  <a:rPr lang="en-US" sz="2000" dirty="0"/>
                  <a:t>Because of </a:t>
                </a:r>
                <a14:m>
                  <m:oMath xmlns:m="http://schemas.openxmlformats.org/officeDocument/2006/math">
                    <m:r>
                      <a:rPr lang="el-GR" sz="2000" i="1" dirty="0" smtClean="0">
                        <a:latin typeface="Cambria Math" panose="02040503050406030204" pitchFamily="18" charset="0"/>
                        <a:ea typeface="Cambria Math" panose="02040503050406030204" pitchFamily="18" charset="0"/>
                      </a:rPr>
                      <m:t>𝜇</m:t>
                    </m:r>
                    <m:r>
                      <a:rPr lang="en-US" sz="2000" i="1" dirty="0" smtClean="0">
                        <a:latin typeface="Cambria Math" panose="02040503050406030204" pitchFamily="18" charset="0"/>
                      </a:rPr>
                      <m:t>=0</m:t>
                    </m:r>
                  </m:oMath>
                </a14:m>
                <a:r>
                  <a:rPr lang="en-US" sz="2000" dirty="0"/>
                  <a:t> and </a:t>
                </a:r>
                <a14:m>
                  <m:oMath xmlns:m="http://schemas.openxmlformats.org/officeDocument/2006/math">
                    <m:r>
                      <a:rPr lang="el-GR" sz="2000" i="1" dirty="0" smtClean="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=1</m:t>
                    </m:r>
                  </m:oMath>
                </a14:m>
                <a:r>
                  <a:rPr lang="en-US" sz="2000" dirty="0"/>
                  <a:t>, the formula for the standard normal probability density function is a simpler version of the equation shown earlier for the general normal probability distribution:</a:t>
                </a:r>
              </a:p>
              <a:p>
                <a:pPr marL="914400">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𝒇</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𝒛</m:t>
                          </m:r>
                        </m:e>
                      </m:d>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rad>
                            <m:radPr>
                              <m:degHide m:val="on"/>
                              <m:ctrlPr>
                                <a:rPr lang="en-US" sz="2000" b="1" i="1" smtClean="0">
                                  <a:latin typeface="Cambria Math" panose="02040503050406030204" pitchFamily="18" charset="0"/>
                                </a:rPr>
                              </m:ctrlPr>
                            </m:radPr>
                            <m:deg/>
                            <m:e>
                              <m:r>
                                <a:rPr lang="en-US" sz="2000" b="1" i="1" smtClean="0">
                                  <a:latin typeface="Cambria Math" panose="02040503050406030204" pitchFamily="18" charset="0"/>
                                </a:rPr>
                                <m:t>𝟐</m:t>
                              </m:r>
                              <m:r>
                                <a:rPr lang="en-US" sz="2000" b="1" i="1">
                                  <a:latin typeface="Cambria Math" panose="02040503050406030204" pitchFamily="18" charset="0"/>
                                  <a:ea typeface="Cambria Math" panose="02040503050406030204" pitchFamily="18" charset="0"/>
                                </a:rPr>
                                <m:t>𝝅</m:t>
                              </m:r>
                            </m:e>
                          </m:rad>
                        </m:den>
                      </m:f>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𝒆</m:t>
                          </m:r>
                        </m:e>
                        <m:sup>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p>
                                <m:sSupPr>
                                  <m:ctrlPr>
                                    <a:rPr lang="en-US" sz="2000" b="1" i="1">
                                      <a:latin typeface="Cambria Math" panose="02040503050406030204" pitchFamily="18" charset="0"/>
                                    </a:rPr>
                                  </m:ctrlPr>
                                </m:sSupPr>
                                <m:e>
                                  <m:r>
                                    <a:rPr lang="en-US" sz="2000" b="1" i="1" smtClean="0">
                                      <a:latin typeface="Cambria Math" panose="02040503050406030204" pitchFamily="18" charset="0"/>
                                    </a:rPr>
                                    <m:t>𝒛</m:t>
                                  </m:r>
                                </m:e>
                                <m:sup>
                                  <m:r>
                                    <a:rPr lang="en-US" sz="2000" b="1" i="1">
                                      <a:latin typeface="Cambria Math" panose="02040503050406030204" pitchFamily="18" charset="0"/>
                                    </a:rPr>
                                    <m:t>𝟐</m:t>
                                  </m:r>
                                </m:sup>
                              </m:sSup>
                            </m:num>
                            <m:den>
                              <m:r>
                                <a:rPr lang="en-US" sz="2000" b="1" i="1" smtClean="0">
                                  <a:latin typeface="Cambria Math" panose="02040503050406030204" pitchFamily="18" charset="0"/>
                                </a:rPr>
                                <m:t>𝟐</m:t>
                              </m:r>
                            </m:den>
                          </m:f>
                        </m:sup>
                      </m:sSup>
                    </m:oMath>
                  </m:oMathPara>
                </a14:m>
                <a:endParaRPr lang="en-US" sz="2000" b="1" dirty="0"/>
              </a:p>
            </p:txBody>
          </p:sp>
        </mc:Choice>
        <mc:Fallback xmlns="">
          <p:sp>
            <p:nvSpPr>
              <p:cNvPr id="5" name="Text Placeholder 4">
                <a:extLst>
                  <a:ext uri="{FF2B5EF4-FFF2-40B4-BE49-F238E27FC236}">
                    <a16:creationId xmlns:a16="http://schemas.microsoft.com/office/drawing/2014/main" id="{3386A9AD-057F-C49E-1C74-91E4A539359D}"/>
                  </a:ext>
                </a:extLst>
              </p:cNvPr>
              <p:cNvSpPr>
                <a:spLocks noGrp="1" noRot="1" noChangeAspect="1" noMove="1" noResize="1" noEditPoints="1" noAdjustHandles="1" noChangeArrowheads="1" noChangeShapeType="1" noTextEdit="1"/>
              </p:cNvSpPr>
              <p:nvPr>
                <p:ph type="body" sz="quarter" idx="17"/>
              </p:nvPr>
            </p:nvSpPr>
            <p:spPr>
              <a:xfrm>
                <a:off x="743577" y="3212328"/>
                <a:ext cx="4774628" cy="2403550"/>
              </a:xfrm>
              <a:blipFill>
                <a:blip r:embed="rId4"/>
                <a:stretch>
                  <a:fillRect l="-3321" t="-3046" r="-3576"/>
                </a:stretch>
              </a:blipFill>
            </p:spPr>
            <p:txBody>
              <a:bodyPr/>
              <a:lstStyle/>
              <a:p>
                <a:r>
                  <a:rPr lang="en-US">
                    <a:noFill/>
                  </a:rPr>
                  <a:t> </a:t>
                </a:r>
              </a:p>
            </p:txBody>
          </p:sp>
        </mc:Fallback>
      </mc:AlternateContent>
      <p:pic>
        <p:nvPicPr>
          <p:cNvPr id="8" name="Picture Placeholder 7" descr="A graph plots a normal distribution. The horizontal axis is labeled “z” and lists 0. A bell-shaped curve peaks at z = 0. The area under the curve is shaded. Text beside the curve reads, Sigma = 1.&#10;">
            <a:extLst>
              <a:ext uri="{FF2B5EF4-FFF2-40B4-BE49-F238E27FC236}">
                <a16:creationId xmlns:a16="http://schemas.microsoft.com/office/drawing/2014/main" id="{23139296-22B4-A597-4BB0-1A31D4EBE511}"/>
              </a:ext>
            </a:extLst>
          </p:cNvPr>
          <p:cNvPicPr>
            <a:picLocks noGrp="1" noChangeAspect="1"/>
          </p:cNvPicPr>
          <p:nvPr>
            <p:ph type="pic" sz="quarter" idx="16"/>
          </p:nvPr>
        </p:nvPicPr>
        <p:blipFill rotWithShape="1">
          <a:blip r:embed="rId5"/>
          <a:srcRect l="89" r="89"/>
          <a:stretch/>
        </p:blipFill>
        <p:spPr>
          <a:xfrm>
            <a:off x="5807102" y="3283839"/>
            <a:ext cx="5257800" cy="2378075"/>
          </a:xfrm>
        </p:spPr>
      </p:pic>
    </p:spTree>
    <p:extLst>
      <p:ext uri="{BB962C8B-B14F-4D97-AF65-F5344CB8AC3E}">
        <p14:creationId xmlns:p14="http://schemas.microsoft.com/office/powerpoint/2010/main" val="2307854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DCC86-C0D1-78FE-909D-95A2C35F55DE}"/>
              </a:ext>
            </a:extLst>
          </p:cNvPr>
          <p:cNvSpPr>
            <a:spLocks noGrp="1"/>
          </p:cNvSpPr>
          <p:nvPr>
            <p:ph type="title"/>
          </p:nvPr>
        </p:nvSpPr>
        <p:spPr/>
        <p:txBody>
          <a:bodyPr/>
          <a:lstStyle/>
          <a:p>
            <a:r>
              <a:rPr lang="en-US" sz="3200" dirty="0"/>
              <a:t>6.2 Probability Calculations with the Normal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568E0A1-AADB-EA59-09FB-2353B140E215}"/>
                  </a:ext>
                </a:extLst>
              </p:cNvPr>
              <p:cNvSpPr>
                <a:spLocks noGrp="1"/>
              </p:cNvSpPr>
              <p:nvPr>
                <p:ph type="body" sz="quarter" idx="15"/>
              </p:nvPr>
            </p:nvSpPr>
            <p:spPr>
              <a:xfrm>
                <a:off x="743576" y="1546861"/>
                <a:ext cx="10711543" cy="4325304"/>
              </a:xfrm>
            </p:spPr>
            <p:txBody>
              <a:bodyPr/>
              <a:lstStyle/>
              <a:p>
                <a:r>
                  <a:rPr lang="en-US" sz="2000" dirty="0"/>
                  <a:t>As with other continuous random variables, probability calculations with a nor­mal distribution are made by computing the area under the graph of the normal curve over a given interval.</a:t>
                </a:r>
              </a:p>
              <a:p>
                <a:r>
                  <a:rPr lang="en-US" sz="2000" dirty="0"/>
                  <a:t>Excel can be used to calculate the probabilities associated with the</a:t>
                </a:r>
              </a:p>
              <a:p>
                <a:pPr marL="684213" indent="-342900">
                  <a:buFont typeface="Arial" panose="020B0604020202020204" pitchFamily="34" charset="0"/>
                  <a:buChar char="•"/>
                </a:pPr>
                <a:r>
                  <a:rPr lang="en-US" sz="2000" dirty="0"/>
                  <a:t>normal probability distributions using the function </a:t>
                </a:r>
                <a14:m>
                  <m:oMath xmlns:m="http://schemas.openxmlformats.org/officeDocument/2006/math">
                    <m:r>
                      <m:rPr>
                        <m:nor/>
                      </m:rPr>
                      <a:rPr lang="en-US" sz="2000" b="0" i="0" dirty="0" smtClean="0">
                        <a:latin typeface="Cambria Math" panose="02040503050406030204" pitchFamily="18" charset="0"/>
                      </a:rPr>
                      <m:t>=</m:t>
                    </m:r>
                    <m:r>
                      <m:rPr>
                        <m:nor/>
                      </m:rPr>
                      <a:rPr lang="en-US" sz="2000" i="0" dirty="0" smtClean="0">
                        <a:latin typeface="Cambria Math" panose="02040503050406030204" pitchFamily="18" charset="0"/>
                      </a:rPr>
                      <m:t>NORM</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DIST</m:t>
                    </m:r>
                    <m:r>
                      <m:rPr>
                        <m:nor/>
                      </m:rPr>
                      <a:rPr lang="en-US" sz="2000" i="0" dirty="0" smtClean="0">
                        <a:latin typeface="Cambria Math" panose="02040503050406030204" pitchFamily="18" charset="0"/>
                      </a:rPr>
                      <m:t>(</m:t>
                    </m:r>
                    <m:r>
                      <a:rPr lang="en-US" sz="2000" b="0" i="1" dirty="0" smtClean="0">
                        <a:latin typeface="Cambria Math" panose="02040503050406030204" pitchFamily="18" charset="0"/>
                      </a:rPr>
                      <m:t>𝑥</m:t>
                    </m:r>
                    <m:r>
                      <a:rPr lang="en-US" sz="2000" i="1" dirty="0" smtClean="0">
                        <a:latin typeface="Cambria Math" panose="02040503050406030204" pitchFamily="18" charset="0"/>
                      </a:rPr>
                      <m:t>,</m:t>
                    </m:r>
                    <m:r>
                      <a:rPr lang="el-GR" sz="2000" i="1" dirty="0" smtClean="0">
                        <a:latin typeface="Cambria Math" panose="02040503050406030204" pitchFamily="18" charset="0"/>
                        <a:ea typeface="Cambria Math" panose="02040503050406030204" pitchFamily="18" charset="0"/>
                      </a:rPr>
                      <m:t>𝜇</m:t>
                    </m:r>
                    <m:r>
                      <a:rPr lang="en-US" sz="2000" i="1" dirty="0" smtClean="0">
                        <a:latin typeface="Cambria Math" panose="02040503050406030204" pitchFamily="18" charset="0"/>
                      </a:rPr>
                      <m:t>,</m:t>
                    </m:r>
                    <m:r>
                      <a:rPr lang="el-GR" sz="2000" i="1" dirty="0" smtClean="0">
                        <a:latin typeface="Cambria Math" panose="02040503050406030204" pitchFamily="18" charset="0"/>
                        <a:ea typeface="Cambria Math" panose="02040503050406030204" pitchFamily="18" charset="0"/>
                      </a:rPr>
                      <m:t>𝜎</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TRUE</m:t>
                    </m:r>
                    <m:r>
                      <m:rPr>
                        <m:nor/>
                      </m:rPr>
                      <a:rPr lang="en-US" sz="2000" i="0" dirty="0" smtClean="0">
                        <a:latin typeface="Cambria Math" panose="02040503050406030204" pitchFamily="18" charset="0"/>
                      </a:rPr>
                      <m:t>)</m:t>
                    </m:r>
                  </m:oMath>
                </a14:m>
                <a:endParaRPr lang="en-US" sz="2000" dirty="0"/>
              </a:p>
              <a:p>
                <a:pPr marL="684213" indent="-342900">
                  <a:buFont typeface="Arial" panose="020B0604020202020204" pitchFamily="34" charset="0"/>
                  <a:buChar char="•"/>
                </a:pPr>
                <a:r>
                  <a:rPr lang="en-US" sz="2000" dirty="0"/>
                  <a:t>the standard normal probabil­ity distribution using the function </a:t>
                </a:r>
                <a14:m>
                  <m:oMath xmlns:m="http://schemas.openxmlformats.org/officeDocument/2006/math">
                    <m:r>
                      <m:rPr>
                        <m:nor/>
                      </m:rPr>
                      <a:rPr lang="en-US" sz="2000" i="0" dirty="0">
                        <a:latin typeface="Cambria Math" panose="02040503050406030204" pitchFamily="18" charset="0"/>
                      </a:rPr>
                      <m:t>=</m:t>
                    </m:r>
                    <m:r>
                      <m:rPr>
                        <m:nor/>
                      </m:rPr>
                      <a:rPr lang="en-US" sz="2000" i="0" dirty="0" smtClean="0">
                        <a:latin typeface="Cambria Math" panose="02040503050406030204" pitchFamily="18" charset="0"/>
                      </a:rPr>
                      <m:t>NORM</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S</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DIST</m:t>
                    </m:r>
                    <m:r>
                      <m:rPr>
                        <m:nor/>
                      </m:rPr>
                      <a:rPr lang="en-US" sz="2000" i="0" dirty="0" smtClean="0">
                        <a:latin typeface="Cambria Math" panose="02040503050406030204" pitchFamily="18" charset="0"/>
                      </a:rPr>
                      <m:t>(</m:t>
                    </m:r>
                    <m:r>
                      <a:rPr lang="en-US" sz="2000" i="1" dirty="0" err="1" smtClean="0">
                        <a:latin typeface="Cambria Math" panose="02040503050406030204" pitchFamily="18" charset="0"/>
                      </a:rPr>
                      <m:t>𝑧</m:t>
                    </m:r>
                    <m:r>
                      <m:rPr>
                        <m:nor/>
                      </m:rPr>
                      <a:rPr lang="en-US" sz="2000" b="0" i="0" dirty="0" smtClean="0">
                        <a:latin typeface="Cambria Math" panose="02040503050406030204" pitchFamily="18" charset="0"/>
                      </a:rPr>
                      <m:t>,</m:t>
                    </m:r>
                    <m:r>
                      <m:rPr>
                        <m:nor/>
                      </m:rPr>
                      <a:rPr lang="en-US" sz="2000" i="0" dirty="0" err="1" smtClean="0">
                        <a:latin typeface="Cambria Math" panose="02040503050406030204" pitchFamily="18" charset="0"/>
                      </a:rPr>
                      <m:t>TRUE</m:t>
                    </m:r>
                    <m:r>
                      <m:rPr>
                        <m:nor/>
                      </m:rPr>
                      <a:rPr lang="en-US" sz="2000" i="0" dirty="0" smtClean="0">
                        <a:latin typeface="Cambria Math" panose="02040503050406030204" pitchFamily="18" charset="0"/>
                      </a:rPr>
                      <m:t>)</m:t>
                    </m:r>
                  </m:oMath>
                </a14:m>
                <a:endParaRPr lang="en-US" sz="2000" dirty="0"/>
              </a:p>
              <a:p>
                <a:r>
                  <a:rPr lang="en-US" sz="2000" dirty="0"/>
                  <a:t>We will now show how to use Table 1 in Appendix B to calculate the following cumulative probabilities associated with a stan­dard normal probability distribution</a:t>
                </a:r>
              </a:p>
              <a:p>
                <a:pPr marL="684213" indent="-342900">
                  <a:buFont typeface="Arial" panose="020B0604020202020204" pitchFamily="34" charset="0"/>
                  <a:buChar char="•"/>
                </a:pPr>
                <a:r>
                  <a:rPr lang="en-US" sz="2000" dirty="0"/>
                  <a:t>the probability that the standard normal random variable </a:t>
                </a:r>
                <a14:m>
                  <m:oMath xmlns:m="http://schemas.openxmlformats.org/officeDocument/2006/math">
                    <m:r>
                      <a:rPr lang="en-US" sz="2000" i="1" dirty="0" smtClean="0">
                        <a:latin typeface="Cambria Math" panose="02040503050406030204" pitchFamily="18" charset="0"/>
                      </a:rPr>
                      <m:t>𝑧</m:t>
                    </m:r>
                  </m:oMath>
                </a14:m>
                <a:r>
                  <a:rPr lang="en-US" sz="2000" dirty="0"/>
                  <a:t> will be less than or equal to a given value </a:t>
                </a:r>
                <a14:m>
                  <m:oMath xmlns:m="http://schemas.openxmlformats.org/officeDocument/2006/math">
                    <m:r>
                      <a:rPr lang="en-US" sz="2000" i="1" dirty="0" smtClean="0">
                        <a:latin typeface="Cambria Math" panose="02040503050406030204" pitchFamily="18" charset="0"/>
                      </a:rPr>
                      <m:t>𝑍</m:t>
                    </m:r>
                  </m:oMath>
                </a14:m>
                <a:r>
                  <a:rPr lang="en-US" sz="2000" dirty="0"/>
                  <a:t>: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𝑍</m:t>
                    </m:r>
                    <m:r>
                      <a:rPr lang="en-US" sz="2000" b="0" i="1" smtClean="0">
                        <a:latin typeface="Cambria Math" panose="02040503050406030204" pitchFamily="18" charset="0"/>
                        <a:ea typeface="Cambria Math" panose="02040503050406030204" pitchFamily="18" charset="0"/>
                      </a:rPr>
                      <m:t>)</m:t>
                    </m:r>
                  </m:oMath>
                </a14:m>
                <a:endParaRPr lang="en-US" sz="2000" dirty="0"/>
              </a:p>
              <a:p>
                <a:pPr marL="684213" indent="-342900">
                  <a:buFont typeface="Arial" panose="020B0604020202020204" pitchFamily="34" charset="0"/>
                  <a:buChar char="•"/>
                </a:pPr>
                <a:r>
                  <a:rPr lang="en-US" sz="2000" dirty="0"/>
                  <a:t>the probability that </a:t>
                </a:r>
                <a14:m>
                  <m:oMath xmlns:m="http://schemas.openxmlformats.org/officeDocument/2006/math">
                    <m:r>
                      <a:rPr lang="en-US" sz="2000" i="1" dirty="0" smtClean="0">
                        <a:latin typeface="Cambria Math" panose="02040503050406030204" pitchFamily="18" charset="0"/>
                      </a:rPr>
                      <m:t>𝑧</m:t>
                    </m:r>
                  </m:oMath>
                </a14:m>
                <a:r>
                  <a:rPr lang="en-US" sz="2000" dirty="0"/>
                  <a:t> will be between two given values,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b="0" i="1" smtClean="0">
                            <a:latin typeface="Cambria Math" panose="02040503050406030204" pitchFamily="18" charset="0"/>
                          </a:rPr>
                          <m:t>2</m:t>
                        </m:r>
                      </m:sub>
                    </m:sSub>
                  </m:oMath>
                </a14:m>
                <a:r>
                  <a:rPr lang="en-US" sz="2000" dirty="0"/>
                  <a:t>: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2</m:t>
                        </m:r>
                      </m:sub>
                    </m:sSub>
                    <m:r>
                      <a:rPr lang="en-US" sz="2000" b="0" i="1" smtClean="0">
                        <a:latin typeface="Cambria Math" panose="02040503050406030204" pitchFamily="18" charset="0"/>
                      </a:rPr>
                      <m:t>)</m:t>
                    </m:r>
                  </m:oMath>
                </a14:m>
                <a:endParaRPr lang="en-US" sz="2000" dirty="0"/>
              </a:p>
              <a:p>
                <a:pPr marL="684213" indent="-342900">
                  <a:buFont typeface="Arial" panose="020B0604020202020204" pitchFamily="34" charset="0"/>
                  <a:buChar char="•"/>
                </a:pPr>
                <a:r>
                  <a:rPr lang="en-US" sz="2000" dirty="0"/>
                  <a:t>the probability that </a:t>
                </a:r>
                <a14:m>
                  <m:oMath xmlns:m="http://schemas.openxmlformats.org/officeDocument/2006/math">
                    <m:r>
                      <a:rPr lang="en-US" sz="2000" i="1" dirty="0" smtClean="0">
                        <a:latin typeface="Cambria Math" panose="02040503050406030204" pitchFamily="18" charset="0"/>
                      </a:rPr>
                      <m:t>𝑧</m:t>
                    </m:r>
                  </m:oMath>
                </a14:m>
                <a:r>
                  <a:rPr lang="en-US" sz="2000" dirty="0"/>
                  <a:t> will be greater than or equal to a given value </a:t>
                </a:r>
                <a14:m>
                  <m:oMath xmlns:m="http://schemas.openxmlformats.org/officeDocument/2006/math">
                    <m:r>
                      <a:rPr lang="en-US" sz="2000" i="1" dirty="0">
                        <a:latin typeface="Cambria Math" panose="02040503050406030204" pitchFamily="18" charset="0"/>
                      </a:rPr>
                      <m:t>𝑍</m:t>
                    </m:r>
                  </m:oMath>
                </a14:m>
                <a:r>
                  <a:rPr lang="en-US" sz="2000" dirty="0"/>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𝑧</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𝑍</m:t>
                    </m:r>
                    <m:r>
                      <a:rPr lang="en-US" sz="2000" i="1">
                        <a:latin typeface="Cambria Math" panose="02040503050406030204" pitchFamily="18" charset="0"/>
                        <a:ea typeface="Cambria Math" panose="02040503050406030204" pitchFamily="18" charset="0"/>
                      </a:rPr>
                      <m:t>)</m:t>
                    </m:r>
                  </m:oMath>
                </a14:m>
                <a:endParaRPr lang="en-US" sz="2000" dirty="0"/>
              </a:p>
            </p:txBody>
          </p:sp>
        </mc:Choice>
        <mc:Fallback xmlns="">
          <p:sp>
            <p:nvSpPr>
              <p:cNvPr id="3" name="Text Placeholder 2">
                <a:extLst>
                  <a:ext uri="{FF2B5EF4-FFF2-40B4-BE49-F238E27FC236}">
                    <a16:creationId xmlns:a16="http://schemas.microsoft.com/office/drawing/2014/main" id="{6568E0A1-AADB-EA59-09FB-2353B140E215}"/>
                  </a:ext>
                </a:extLst>
              </p:cNvPr>
              <p:cNvSpPr>
                <a:spLocks noGrp="1" noRot="1" noChangeAspect="1" noMove="1" noResize="1" noEditPoints="1" noAdjustHandles="1" noChangeArrowheads="1" noChangeShapeType="1" noTextEdit="1"/>
              </p:cNvSpPr>
              <p:nvPr>
                <p:ph type="body" sz="quarter" idx="15"/>
              </p:nvPr>
            </p:nvSpPr>
            <p:spPr>
              <a:xfrm>
                <a:off x="743576" y="1546861"/>
                <a:ext cx="10711543" cy="4325304"/>
              </a:xfrm>
              <a:blipFill>
                <a:blip r:embed="rId2"/>
                <a:stretch>
                  <a:fillRect l="-1480" t="-1693" r="-228" b="-1693"/>
                </a:stretch>
              </a:blipFill>
            </p:spPr>
            <p:txBody>
              <a:bodyPr/>
              <a:lstStyle/>
              <a:p>
                <a:r>
                  <a:rPr lang="en-US">
                    <a:noFill/>
                  </a:rPr>
                  <a:t> </a:t>
                </a:r>
              </a:p>
            </p:txBody>
          </p:sp>
        </mc:Fallback>
      </mc:AlternateContent>
    </p:spTree>
    <p:extLst>
      <p:ext uri="{BB962C8B-B14F-4D97-AF65-F5344CB8AC3E}">
        <p14:creationId xmlns:p14="http://schemas.microsoft.com/office/powerpoint/2010/main" val="3302352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8D707C0-B542-FD8F-13AD-B94B6C8213C4}"/>
                  </a:ext>
                </a:extLst>
              </p:cNvPr>
              <p:cNvSpPr>
                <a:spLocks noGrp="1"/>
              </p:cNvSpPr>
              <p:nvPr>
                <p:ph type="title"/>
              </p:nvPr>
            </p:nvSpPr>
            <p:spPr/>
            <p:txBody>
              <a:bodyPr/>
              <a:lstStyle/>
              <a:p>
                <a:r>
                  <a:rPr lang="en-US" dirty="0"/>
                  <a:t>6.2 Cumulative Probability for </a:t>
                </a:r>
                <a14:m>
                  <m:oMath xmlns:m="http://schemas.openxmlformats.org/officeDocument/2006/math">
                    <m:r>
                      <a:rPr lang="en-US" b="1" i="1" dirty="0" smtClean="0">
                        <a:latin typeface="Cambria Math" panose="02040503050406030204" pitchFamily="18" charset="0"/>
                      </a:rPr>
                      <m:t>𝑷</m:t>
                    </m:r>
                    <m:r>
                      <a:rPr lang="en-US" b="1" i="1" dirty="0" smtClean="0">
                        <a:latin typeface="Cambria Math" panose="02040503050406030204" pitchFamily="18" charset="0"/>
                      </a:rPr>
                      <m:t>(</m:t>
                    </m:r>
                    <m:r>
                      <a:rPr lang="en-US" b="1" i="1" dirty="0" smtClean="0">
                        <a:latin typeface="Cambria Math" panose="02040503050406030204" pitchFamily="18" charset="0"/>
                      </a:rPr>
                      <m:t>𝒛</m:t>
                    </m:r>
                    <m:r>
                      <a:rPr lang="en-US" b="1" i="1" dirty="0" smtClean="0">
                        <a:latin typeface="Cambria Math" panose="02040503050406030204" pitchFamily="18" charset="0"/>
                      </a:rPr>
                      <m:t>≤</m:t>
                    </m:r>
                    <m:r>
                      <a:rPr lang="en-US" b="1" i="1" dirty="0" smtClean="0">
                        <a:latin typeface="Cambria Math" panose="02040503050406030204" pitchFamily="18" charset="0"/>
                      </a:rPr>
                      <m:t>𝟏</m:t>
                    </m:r>
                    <m:r>
                      <a:rPr lang="en-US" b="1" i="1" dirty="0" smtClean="0">
                        <a:latin typeface="Cambria Math" panose="02040503050406030204" pitchFamily="18" charset="0"/>
                      </a:rPr>
                      <m:t>.</m:t>
                    </m:r>
                    <m:r>
                      <a:rPr lang="en-US" b="1" i="1" dirty="0" smtClean="0">
                        <a:latin typeface="Cambria Math" panose="02040503050406030204" pitchFamily="18" charset="0"/>
                      </a:rPr>
                      <m:t>𝟎𝟎</m:t>
                    </m:r>
                    <m:r>
                      <a:rPr lang="en-US" b="1" i="1" dirty="0"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E8D707C0-B542-FD8F-13AD-B94B6C8213C4}"/>
                  </a:ext>
                </a:extLst>
              </p:cNvPr>
              <p:cNvSpPr>
                <a:spLocks noGrp="1" noRot="1" noChangeAspect="1" noMove="1" noResize="1" noEditPoints="1" noAdjustHandles="1" noChangeArrowheads="1" noChangeShapeType="1" noTextEdit="1"/>
              </p:cNvSpPr>
              <p:nvPr>
                <p:ph type="title"/>
              </p:nvPr>
            </p:nvSpPr>
            <p:spPr>
              <a:blipFill>
                <a:blip r:embed="rId2"/>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A6230A9-F967-972A-D4F8-3C93585B4891}"/>
                  </a:ext>
                </a:extLst>
              </p:cNvPr>
              <p:cNvSpPr>
                <a:spLocks noGrp="1"/>
              </p:cNvSpPr>
              <p:nvPr>
                <p:ph type="body" sz="quarter" idx="15"/>
              </p:nvPr>
            </p:nvSpPr>
            <p:spPr>
              <a:xfrm>
                <a:off x="743575" y="1323941"/>
                <a:ext cx="7178049" cy="2047911"/>
              </a:xfrm>
            </p:spPr>
            <p:txBody>
              <a:bodyPr>
                <a:noAutofit/>
              </a:bodyPr>
              <a:lstStyle/>
              <a:p>
                <a:pPr>
                  <a:lnSpc>
                    <a:spcPct val="100000"/>
                  </a:lnSpc>
                </a:pPr>
                <a:r>
                  <a:rPr lang="en-US" sz="2000" dirty="0"/>
                  <a:t>The cumulative probability that </a:t>
                </a:r>
                <a14:m>
                  <m:oMath xmlns:m="http://schemas.openxmlformats.org/officeDocument/2006/math">
                    <m:r>
                      <a:rPr lang="en-US" sz="2000" i="1" dirty="0" smtClean="0">
                        <a:latin typeface="Cambria Math" panose="02040503050406030204" pitchFamily="18" charset="0"/>
                      </a:rPr>
                      <m:t>𝑧</m:t>
                    </m:r>
                  </m:oMath>
                </a14:m>
                <a:r>
                  <a:rPr lang="en-US" sz="2000" dirty="0"/>
                  <a:t> is less than or equal to 1.00, that is, </a:t>
                </a:r>
                <a14:m>
                  <m:oMath xmlns:m="http://schemas.openxmlformats.org/officeDocument/2006/math">
                    <m:r>
                      <a:rPr lang="en-US" sz="200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𝑧</m:t>
                        </m:r>
                        <m:r>
                          <a:rPr lang="en-US" sz="2000" i="1" dirty="0" smtClean="0">
                            <a:latin typeface="Cambria Math" panose="02040503050406030204" pitchFamily="18" charset="0"/>
                          </a:rPr>
                          <m:t>≤1.00</m:t>
                        </m:r>
                      </m:e>
                    </m:d>
                  </m:oMath>
                </a14:m>
                <a:r>
                  <a:rPr lang="en-US" sz="2000" dirty="0"/>
                  <a:t>, is the area under the standard normal curve to the left of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=1.00</m:t>
                    </m:r>
                  </m:oMath>
                </a14:m>
                <a:r>
                  <a:rPr lang="en-US" sz="2000" dirty="0"/>
                  <a:t>.</a:t>
                </a:r>
              </a:p>
              <a:p>
                <a:pPr>
                  <a:lnSpc>
                    <a:spcPct val="100000"/>
                  </a:lnSpc>
                </a:pPr>
                <a:r>
                  <a:rPr lang="en-US" sz="2000" dirty="0"/>
                  <a:t>To find the cumulative probability correspond­ing to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1.00</m:t>
                    </m:r>
                  </m:oMath>
                </a14:m>
                <a:r>
                  <a:rPr lang="en-US" sz="2000" dirty="0"/>
                  <a:t> in  Table 1 of Appendix B, we identify the value located at the intersection of the row labeled 1.0 and the column labeled 0.00.</a:t>
                </a:r>
              </a:p>
            </p:txBody>
          </p:sp>
        </mc:Choice>
        <mc:Fallback xmlns="">
          <p:sp>
            <p:nvSpPr>
              <p:cNvPr id="4" name="Text Placeholder 3">
                <a:extLst>
                  <a:ext uri="{FF2B5EF4-FFF2-40B4-BE49-F238E27FC236}">
                    <a16:creationId xmlns:a16="http://schemas.microsoft.com/office/drawing/2014/main" id="{8A6230A9-F967-972A-D4F8-3C93585B4891}"/>
                  </a:ext>
                </a:extLst>
              </p:cNvPr>
              <p:cNvSpPr>
                <a:spLocks noGrp="1" noRot="1" noChangeAspect="1" noMove="1" noResize="1" noEditPoints="1" noAdjustHandles="1" noChangeArrowheads="1" noChangeShapeType="1" noTextEdit="1"/>
              </p:cNvSpPr>
              <p:nvPr>
                <p:ph type="body" sz="quarter" idx="15"/>
              </p:nvPr>
            </p:nvSpPr>
            <p:spPr>
              <a:xfrm>
                <a:off x="743575" y="1323941"/>
                <a:ext cx="7178049" cy="2047911"/>
              </a:xfrm>
              <a:blipFill>
                <a:blip r:embed="rId3"/>
                <a:stretch>
                  <a:fillRect l="-2209" t="-3571" r="-1444" b="-32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35C0B624-2FAB-6A00-A43D-7F1D0907BB7A}"/>
                  </a:ext>
                </a:extLst>
              </p:cNvPr>
              <p:cNvSpPr>
                <a:spLocks noGrp="1"/>
              </p:cNvSpPr>
              <p:nvPr>
                <p:ph type="body" sz="quarter" idx="18"/>
              </p:nvPr>
            </p:nvSpPr>
            <p:spPr>
              <a:xfrm>
                <a:off x="743575" y="3378992"/>
                <a:ext cx="5617467" cy="2312230"/>
              </a:xfrm>
            </p:spPr>
            <p:txBody>
              <a:bodyPr>
                <a:normAutofit/>
              </a:bodyPr>
              <a:lstStyle/>
              <a:p>
                <a:pPr marL="573088" indent="-346075">
                  <a:lnSpc>
                    <a:spcPct val="100000"/>
                  </a:lnSpc>
                  <a:buFont typeface="+mj-lt"/>
                  <a:buAutoNum type="arabicPeriod"/>
                </a:pPr>
                <a:r>
                  <a:rPr lang="en-US" sz="2000" dirty="0"/>
                  <a:t>we find 1.0 in the left column of the table</a:t>
                </a:r>
              </a:p>
              <a:p>
                <a:pPr marL="573088" indent="-346075">
                  <a:lnSpc>
                    <a:spcPct val="100000"/>
                  </a:lnSpc>
                  <a:buFont typeface="+mj-lt"/>
                  <a:buAutoNum type="arabicPeriod"/>
                </a:pPr>
                <a:r>
                  <a:rPr lang="en-US" sz="2000" dirty="0"/>
                  <a:t>we find 0.00 in the top row of the table. </a:t>
                </a:r>
              </a:p>
              <a:p>
                <a:pPr>
                  <a:lnSpc>
                    <a:spcPct val="100000"/>
                  </a:lnSpc>
                </a:pPr>
                <a:r>
                  <a:rPr lang="en-US" sz="2000" dirty="0"/>
                  <a:t>By looking in the body of the table, we find that the 1.0 row and the 0.00 column intersect at the value of 0.8413. Thus</a:t>
                </a:r>
              </a:p>
              <a:p>
                <a:pPr marL="914400">
                  <a:lnSpc>
                    <a:spcPct val="100000"/>
                  </a:lnSpc>
                </a:pPr>
                <a14:m>
                  <m:oMath xmlns:m="http://schemas.openxmlformats.org/officeDocument/2006/math">
                    <m:r>
                      <a:rPr lang="en-US" sz="2000" b="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b="0" i="1" dirty="0" smtClean="0">
                            <a:latin typeface="Cambria Math" panose="02040503050406030204" pitchFamily="18" charset="0"/>
                          </a:rPr>
                          <m:t>𝑧</m:t>
                        </m:r>
                        <m:r>
                          <a:rPr lang="en-US" sz="2000" b="0" i="1" dirty="0" smtClean="0">
                            <a:latin typeface="Cambria Math" panose="02040503050406030204" pitchFamily="18" charset="0"/>
                          </a:rPr>
                          <m:t>≤1.00</m:t>
                        </m:r>
                      </m:e>
                    </m:d>
                    <m:r>
                      <a:rPr lang="en-US" sz="2000" b="0" i="1" dirty="0" smtClean="0">
                        <a:latin typeface="Cambria Math" panose="02040503050406030204" pitchFamily="18" charset="0"/>
                      </a:rPr>
                      <m:t>=0.8413</m:t>
                    </m:r>
                  </m:oMath>
                </a14:m>
                <a:r>
                  <a:rPr lang="en-US" sz="2000" dirty="0"/>
                  <a:t> </a:t>
                </a:r>
              </a:p>
            </p:txBody>
          </p:sp>
        </mc:Choice>
        <mc:Fallback xmlns="">
          <p:sp>
            <p:nvSpPr>
              <p:cNvPr id="5" name="Text Placeholder 4">
                <a:extLst>
                  <a:ext uri="{FF2B5EF4-FFF2-40B4-BE49-F238E27FC236}">
                    <a16:creationId xmlns:a16="http://schemas.microsoft.com/office/drawing/2014/main" id="{35C0B624-2FAB-6A00-A43D-7F1D0907BB7A}"/>
                  </a:ext>
                </a:extLst>
              </p:cNvPr>
              <p:cNvSpPr>
                <a:spLocks noGrp="1" noRot="1" noChangeAspect="1" noMove="1" noResize="1" noEditPoints="1" noAdjustHandles="1" noChangeArrowheads="1" noChangeShapeType="1" noTextEdit="1"/>
              </p:cNvSpPr>
              <p:nvPr>
                <p:ph type="body" sz="quarter" idx="18"/>
              </p:nvPr>
            </p:nvSpPr>
            <p:spPr>
              <a:xfrm>
                <a:off x="743575" y="3378992"/>
                <a:ext cx="5617467" cy="2312230"/>
              </a:xfrm>
              <a:blipFill>
                <a:blip r:embed="rId4"/>
                <a:stretch>
                  <a:fillRect l="-2823" t="-3158"/>
                </a:stretch>
              </a:blipFill>
            </p:spPr>
            <p:txBody>
              <a:bodyPr/>
              <a:lstStyle/>
              <a:p>
                <a:r>
                  <a:rPr lang="en-US">
                    <a:noFill/>
                  </a:rPr>
                  <a:t> </a:t>
                </a:r>
              </a:p>
            </p:txBody>
          </p:sp>
        </mc:Fallback>
      </mc:AlternateContent>
      <p:pic>
        <p:nvPicPr>
          <p:cNvPr id="8" name="Picture Placeholder 7" descr="A graph plots a normal distribution and the probability corresponding to P(z &lt;= 1.00). The horizontal axis is labeled “z” and lists 0 and 1. A bell-shaped curve peaks at z = 0. The region under the curve to the left of z equals 1 is shaded dark and labeled “P(z &lt;= 1.00).”&#10;">
            <a:extLst>
              <a:ext uri="{FF2B5EF4-FFF2-40B4-BE49-F238E27FC236}">
                <a16:creationId xmlns:a16="http://schemas.microsoft.com/office/drawing/2014/main" id="{F4C29F9B-798C-46EA-4302-5BED11F5F7BF}"/>
              </a:ext>
            </a:extLst>
          </p:cNvPr>
          <p:cNvPicPr>
            <a:picLocks noGrp="1" noChangeAspect="1"/>
          </p:cNvPicPr>
          <p:nvPr>
            <p:ph type="pic" sz="quarter" idx="23"/>
          </p:nvPr>
        </p:nvPicPr>
        <p:blipFill rotWithShape="1">
          <a:blip r:embed="rId5"/>
          <a:srcRect l="76" r="76"/>
          <a:stretch/>
        </p:blipFill>
        <p:spPr>
          <a:xfrm>
            <a:off x="7921624" y="1393183"/>
            <a:ext cx="3338513" cy="2132013"/>
          </a:xfrm>
        </p:spPr>
      </p:pic>
      <p:graphicFrame>
        <p:nvGraphicFramePr>
          <p:cNvPr id="7" name="Table 7">
            <a:extLst>
              <a:ext uri="{FF2B5EF4-FFF2-40B4-BE49-F238E27FC236}">
                <a16:creationId xmlns:a16="http://schemas.microsoft.com/office/drawing/2014/main" id="{FDDB2AFE-B9B2-6324-3C05-6EB6E85ED0FE}"/>
              </a:ext>
            </a:extLst>
          </p:cNvPr>
          <p:cNvGraphicFramePr>
            <a:graphicFrameLocks noGrp="1"/>
          </p:cNvGraphicFramePr>
          <p:nvPr>
            <p:ph type="tbl" sz="quarter" idx="22"/>
            <p:extLst>
              <p:ext uri="{D42A27DB-BD31-4B8C-83A1-F6EECF244321}">
                <p14:modId xmlns:p14="http://schemas.microsoft.com/office/powerpoint/2010/main" val="4219713095"/>
              </p:ext>
            </p:extLst>
          </p:nvPr>
        </p:nvGraphicFramePr>
        <p:xfrm>
          <a:off x="6416854" y="3551526"/>
          <a:ext cx="4841696" cy="2139696"/>
        </p:xfrm>
        <a:graphic>
          <a:graphicData uri="http://schemas.openxmlformats.org/drawingml/2006/table">
            <a:tbl>
              <a:tblPr firstRow="1" bandRow="1">
                <a:tableStyleId>{5C22544A-7EE6-4342-B048-85BDC9FD1C3A}</a:tableStyleId>
              </a:tblPr>
              <a:tblGrid>
                <a:gridCol w="669048">
                  <a:extLst>
                    <a:ext uri="{9D8B030D-6E8A-4147-A177-3AD203B41FA5}">
                      <a16:colId xmlns:a16="http://schemas.microsoft.com/office/drawing/2014/main" val="1015218121"/>
                    </a:ext>
                  </a:extLst>
                </a:gridCol>
                <a:gridCol w="906002">
                  <a:extLst>
                    <a:ext uri="{9D8B030D-6E8A-4147-A177-3AD203B41FA5}">
                      <a16:colId xmlns:a16="http://schemas.microsoft.com/office/drawing/2014/main" val="2332062863"/>
                    </a:ext>
                  </a:extLst>
                </a:gridCol>
                <a:gridCol w="906002">
                  <a:extLst>
                    <a:ext uri="{9D8B030D-6E8A-4147-A177-3AD203B41FA5}">
                      <a16:colId xmlns:a16="http://schemas.microsoft.com/office/drawing/2014/main" val="2443968822"/>
                    </a:ext>
                  </a:extLst>
                </a:gridCol>
                <a:gridCol w="906002">
                  <a:extLst>
                    <a:ext uri="{9D8B030D-6E8A-4147-A177-3AD203B41FA5}">
                      <a16:colId xmlns:a16="http://schemas.microsoft.com/office/drawing/2014/main" val="3733842712"/>
                    </a:ext>
                  </a:extLst>
                </a:gridCol>
                <a:gridCol w="548640">
                  <a:extLst>
                    <a:ext uri="{9D8B030D-6E8A-4147-A177-3AD203B41FA5}">
                      <a16:colId xmlns:a16="http://schemas.microsoft.com/office/drawing/2014/main" val="1124592862"/>
                    </a:ext>
                  </a:extLst>
                </a:gridCol>
                <a:gridCol w="906002">
                  <a:extLst>
                    <a:ext uri="{9D8B030D-6E8A-4147-A177-3AD203B41FA5}">
                      <a16:colId xmlns:a16="http://schemas.microsoft.com/office/drawing/2014/main" val="3093452600"/>
                    </a:ext>
                  </a:extLst>
                </a:gridCol>
              </a:tblGrid>
              <a:tr h="306324">
                <a:tc>
                  <a:txBody>
                    <a:bodyPr/>
                    <a:lstStyle/>
                    <a:p>
                      <a:r>
                        <a:rPr lang="en-US" b="1" dirty="0">
                          <a:solidFill>
                            <a:srgbClr val="000000"/>
                          </a:solidFill>
                        </a:rPr>
                        <a:t>     z</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0.00</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0.01</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0.02</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0.09</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extLst>
                  <a:ext uri="{0D108BD9-81ED-4DB2-BD59-A6C34878D82A}">
                    <a16:rowId xmlns:a16="http://schemas.microsoft.com/office/drawing/2014/main" val="4018950820"/>
                  </a:ext>
                </a:extLst>
              </a:tr>
              <a:tr h="457200">
                <a:tc>
                  <a:txBody>
                    <a:bodyPr/>
                    <a:lstStyle/>
                    <a:p>
                      <a:r>
                        <a:rPr lang="en-US" sz="1800" b="1" i="0" kern="1200" dirty="0">
                          <a:solidFill>
                            <a:srgbClr val="000000"/>
                          </a:solidFill>
                          <a:effectLst/>
                          <a:latin typeface="+mn-lt"/>
                          <a:ea typeface="+mn-ea"/>
                          <a:cs typeface="+mn-cs"/>
                        </a:rPr>
                        <a:t>     ⋮</a:t>
                      </a:r>
                      <a:endParaRPr lang="en-US" b="1"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extLst>
                  <a:ext uri="{0D108BD9-81ED-4DB2-BD59-A6C34878D82A}">
                    <a16:rowId xmlns:a16="http://schemas.microsoft.com/office/drawing/2014/main" val="3543542877"/>
                  </a:ext>
                </a:extLst>
              </a:tr>
              <a:tr h="306324">
                <a:tc>
                  <a:txBody>
                    <a:bodyPr/>
                    <a:lstStyle/>
                    <a:p>
                      <a:r>
                        <a:rPr lang="en-US" b="1" dirty="0">
                          <a:solidFill>
                            <a:srgbClr val="000000"/>
                          </a:solidFill>
                        </a:rPr>
                        <a:t>   0.9</a:t>
                      </a:r>
                    </a:p>
                  </a:txBody>
                  <a:tcPr marL="0" marR="0" marT="0" marB="0" anchor="ctr">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0.8159</a:t>
                      </a:r>
                    </a:p>
                  </a:txBody>
                  <a:tcPr marL="6350" marR="6350" marT="6350" marB="0" anchor="ctr">
                    <a:lnL w="12700" cmpd="sng">
                      <a:noFill/>
                    </a:lnL>
                    <a:lnR w="12700" cmpd="sng">
                      <a:noFill/>
                    </a:lnR>
                    <a:lnT w="12700" cmpd="sng">
                      <a:noFill/>
                    </a:lnT>
                    <a:lnB w="28575" cap="flat" cmpd="sng" algn="ctr">
                      <a:solidFill>
                        <a:srgbClr val="FF0000"/>
                      </a:solidFill>
                      <a:prstDash val="solid"/>
                      <a:round/>
                      <a:headEnd type="none" w="med" len="med"/>
                      <a:tailEnd type="none" w="med" len="med"/>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0.8186</a:t>
                      </a:r>
                    </a:p>
                  </a:txBody>
                  <a:tcPr marL="6350" marR="6350" marT="6350" marB="0" anchor="ctr">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a:solidFill>
                            <a:srgbClr val="000000"/>
                          </a:solidFill>
                          <a:latin typeface="+mn-lt"/>
                          <a:ea typeface="+mn-ea"/>
                          <a:cs typeface="+mn-cs"/>
                        </a:rPr>
                        <a:t>0.8212</a:t>
                      </a:r>
                    </a:p>
                  </a:txBody>
                  <a:tcPr marL="6350" marR="6350" marT="6350" marB="0" anchor="ctr">
                    <a:lnL w="12700" cmpd="sng">
                      <a:noFill/>
                    </a:lnL>
                    <a:lnR w="12700" cmpd="sng">
                      <a:noFill/>
                    </a:lnR>
                    <a:lnT w="12700" cmpd="sng">
                      <a:noFill/>
                    </a:lnT>
                    <a:lnB w="28575" cap="flat" cmpd="sng" algn="ctr">
                      <a:noFill/>
                      <a:prstDash val="solid"/>
                      <a:round/>
                      <a:headEnd type="none" w="med" len="med"/>
                      <a:tailEnd type="none" w="med" len="med"/>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0.8389</a:t>
                      </a:r>
                    </a:p>
                  </a:txBody>
                  <a:tcPr marL="6350" marR="6350" marT="6350" marB="0" anchor="ctr">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2350892006"/>
                  </a:ext>
                </a:extLst>
              </a:tr>
              <a:tr h="306324">
                <a:tc>
                  <a:txBody>
                    <a:bodyPr/>
                    <a:lstStyle/>
                    <a:p>
                      <a:r>
                        <a:rPr lang="en-US" b="1" dirty="0">
                          <a:solidFill>
                            <a:srgbClr val="000000"/>
                          </a:solidFill>
                        </a:rPr>
                        <a:t>   1.0</a:t>
                      </a:r>
                    </a:p>
                  </a:txBody>
                  <a:tcPr marL="0" marR="0" marT="0" marB="0" anchor="ctr">
                    <a:lnL w="12700" cmpd="sng">
                      <a:noFill/>
                    </a:lnL>
                    <a:lnR w="28575" cap="flat" cmpd="sng" algn="ctr">
                      <a:solidFill>
                        <a:srgbClr val="FF0000"/>
                      </a:solidFill>
                      <a:prstDash val="solid"/>
                      <a:round/>
                      <a:headEnd type="none" w="med" len="med"/>
                      <a:tailEnd type="none" w="med" len="med"/>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0.8413</a:t>
                      </a:r>
                    </a:p>
                  </a:txBody>
                  <a:tcPr marL="6350" marR="6350" marT="6350"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0.8438</a:t>
                      </a:r>
                    </a:p>
                  </a:txBody>
                  <a:tcPr marL="6350" marR="6350" marT="6350" marB="0" anchor="ctr">
                    <a:lnL w="28575" cap="flat" cmpd="sng" algn="ctr">
                      <a:solidFill>
                        <a:srgbClr val="FF0000"/>
                      </a:solid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0.8461</a:t>
                      </a:r>
                    </a:p>
                  </a:txBody>
                  <a:tcPr marL="6350" marR="6350" marT="635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28575" cap="flat" cmpd="sng" algn="ctr">
                      <a:noFill/>
                      <a:prstDash val="solid"/>
                      <a:round/>
                      <a:headEnd type="none" w="med" len="med"/>
                      <a:tailEnd type="none" w="med" len="med"/>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0.8621</a:t>
                      </a:r>
                    </a:p>
                  </a:txBody>
                  <a:tcPr marL="6350" marR="6350" marT="6350" marB="0" anchor="ctr">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3843711739"/>
                  </a:ext>
                </a:extLst>
              </a:tr>
              <a:tr h="306324">
                <a:tc>
                  <a:txBody>
                    <a:bodyPr/>
                    <a:lstStyle/>
                    <a:p>
                      <a:r>
                        <a:rPr lang="en-US" b="1" dirty="0">
                          <a:solidFill>
                            <a:srgbClr val="000000"/>
                          </a:solidFill>
                        </a:rPr>
                        <a:t>   1.1</a:t>
                      </a:r>
                    </a:p>
                  </a:txBody>
                  <a:tcPr marL="0" marR="0" marT="0" marB="0" anchor="ctr">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0.8643</a:t>
                      </a:r>
                    </a:p>
                  </a:txBody>
                  <a:tcPr marL="6350" marR="6350" marT="6350" marB="0" anchor="ctr">
                    <a:lnL w="12700" cmpd="sng">
                      <a:noFill/>
                    </a:lnL>
                    <a:lnR w="12700" cmpd="sng">
                      <a:noFill/>
                    </a:lnR>
                    <a:lnT w="28575" cap="flat" cmpd="sng" algn="ctr">
                      <a:solidFill>
                        <a:srgbClr val="FF0000"/>
                      </a:solidFill>
                      <a:prstDash val="solid"/>
                      <a:round/>
                      <a:headEnd type="none" w="med" len="med"/>
                      <a:tailEnd type="none" w="med" len="med"/>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0.8665</a:t>
                      </a:r>
                    </a:p>
                  </a:txBody>
                  <a:tcPr marL="6350" marR="6350" marT="6350" marB="0" anchor="ctr">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0.8686</a:t>
                      </a:r>
                    </a:p>
                  </a:txBody>
                  <a:tcPr marL="6350" marR="6350" marT="6350" marB="0" anchor="ctr">
                    <a:lnL w="12700" cmpd="sng">
                      <a:noFill/>
                    </a:lnL>
                    <a:lnR w="12700" cmpd="sng">
                      <a:noFill/>
                    </a:lnR>
                    <a:lnT w="28575" cap="flat" cmpd="sng" algn="ctr">
                      <a:noFill/>
                      <a:prstDash val="solid"/>
                      <a:round/>
                      <a:headEnd type="none" w="med" len="med"/>
                      <a:tailEnd type="none" w="med" len="med"/>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0.8830</a:t>
                      </a:r>
                    </a:p>
                  </a:txBody>
                  <a:tcPr marL="6350" marR="6350" marT="6350" marB="0" anchor="ctr">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2748076707"/>
                  </a:ext>
                </a:extLst>
              </a:tr>
              <a:tr h="457200">
                <a:tc>
                  <a:txBody>
                    <a:bodyPr/>
                    <a:lstStyle/>
                    <a:p>
                      <a:r>
                        <a:rPr lang="en-US" sz="1800" b="1" i="0" kern="1200" dirty="0">
                          <a:solidFill>
                            <a:srgbClr val="000000"/>
                          </a:solidFill>
                          <a:effectLst/>
                          <a:latin typeface="+mn-lt"/>
                          <a:ea typeface="+mn-ea"/>
                          <a:cs typeface="+mn-cs"/>
                        </a:rPr>
                        <a:t>     ⋮</a:t>
                      </a:r>
                      <a:endParaRPr lang="en-US" b="1"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1504319095"/>
                  </a:ext>
                </a:extLst>
              </a:tr>
            </a:tbl>
          </a:graphicData>
        </a:graphic>
      </p:graphicFrame>
    </p:spTree>
    <p:extLst>
      <p:ext uri="{BB962C8B-B14F-4D97-AF65-F5344CB8AC3E}">
        <p14:creationId xmlns:p14="http://schemas.microsoft.com/office/powerpoint/2010/main" val="653219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8D707C0-B542-FD8F-13AD-B94B6C8213C4}"/>
                  </a:ext>
                </a:extLst>
              </p:cNvPr>
              <p:cNvSpPr>
                <a:spLocks noGrp="1"/>
              </p:cNvSpPr>
              <p:nvPr>
                <p:ph type="title"/>
              </p:nvPr>
            </p:nvSpPr>
            <p:spPr/>
            <p:txBody>
              <a:bodyPr/>
              <a:lstStyle/>
              <a:p>
                <a:r>
                  <a:rPr lang="en-US" dirty="0"/>
                  <a:t>6.2 Cumulative Probability for </a:t>
                </a:r>
                <a14:m>
                  <m:oMath xmlns:m="http://schemas.openxmlformats.org/officeDocument/2006/math">
                    <m:r>
                      <a:rPr lang="en-US" b="1" i="1" dirty="0" smtClean="0">
                        <a:latin typeface="Cambria Math" panose="02040503050406030204" pitchFamily="18" charset="0"/>
                      </a:rPr>
                      <m:t>𝑷</m:t>
                    </m:r>
                    <m:r>
                      <a:rPr lang="en-US" b="1" i="1" dirty="0" smtClean="0">
                        <a:latin typeface="Cambria Math" panose="02040503050406030204" pitchFamily="18" charset="0"/>
                      </a:rPr>
                      <m:t>(−</m:t>
                    </m:r>
                    <m:r>
                      <a:rPr lang="en-US" b="1" i="1" dirty="0" smtClean="0">
                        <a:latin typeface="Cambria Math" panose="02040503050406030204" pitchFamily="18" charset="0"/>
                      </a:rPr>
                      <m:t>𝟎</m:t>
                    </m:r>
                    <m:r>
                      <a:rPr lang="en-US" b="1" i="1" dirty="0" smtClean="0">
                        <a:latin typeface="Cambria Math" panose="02040503050406030204" pitchFamily="18" charset="0"/>
                      </a:rPr>
                      <m:t>.</m:t>
                    </m:r>
                    <m:r>
                      <a:rPr lang="en-US" b="1" i="1" dirty="0" smtClean="0">
                        <a:latin typeface="Cambria Math" panose="02040503050406030204" pitchFamily="18" charset="0"/>
                      </a:rPr>
                      <m:t>𝟓𝟎</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𝒛</m:t>
                    </m:r>
                    <m:r>
                      <a:rPr lang="en-US" b="1" i="1" dirty="0" smtClean="0">
                        <a:latin typeface="Cambria Math" panose="02040503050406030204" pitchFamily="18" charset="0"/>
                      </a:rPr>
                      <m:t>≤</m:t>
                    </m:r>
                    <m:r>
                      <a:rPr lang="en-US" b="1" i="1" dirty="0" smtClean="0">
                        <a:latin typeface="Cambria Math" panose="02040503050406030204" pitchFamily="18" charset="0"/>
                      </a:rPr>
                      <m:t>𝟏</m:t>
                    </m:r>
                    <m:r>
                      <a:rPr lang="en-US" b="1" i="1" dirty="0" smtClean="0">
                        <a:latin typeface="Cambria Math" panose="02040503050406030204" pitchFamily="18" charset="0"/>
                      </a:rPr>
                      <m:t>.</m:t>
                    </m:r>
                    <m:r>
                      <a:rPr lang="en-US" b="1" i="1" dirty="0" smtClean="0">
                        <a:latin typeface="Cambria Math" panose="02040503050406030204" pitchFamily="18" charset="0"/>
                      </a:rPr>
                      <m:t>𝟐𝟓</m:t>
                    </m:r>
                    <m:r>
                      <a:rPr lang="en-US" b="1" i="1" dirty="0"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E8D707C0-B542-FD8F-13AD-B94B6C8213C4}"/>
                  </a:ext>
                </a:extLst>
              </p:cNvPr>
              <p:cNvSpPr>
                <a:spLocks noGrp="1" noRot="1" noChangeAspect="1" noMove="1" noResize="1" noEditPoints="1" noAdjustHandles="1" noChangeArrowheads="1" noChangeShapeType="1" noTextEdit="1"/>
              </p:cNvSpPr>
              <p:nvPr>
                <p:ph type="title"/>
              </p:nvPr>
            </p:nvSpPr>
            <p:spPr>
              <a:blipFill>
                <a:blip r:embed="rId3"/>
                <a:stretch>
                  <a:fillRect l="-2087"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A6230A9-F967-972A-D4F8-3C93585B4891}"/>
                  </a:ext>
                </a:extLst>
              </p:cNvPr>
              <p:cNvSpPr>
                <a:spLocks noGrp="1"/>
              </p:cNvSpPr>
              <p:nvPr>
                <p:ph type="body" sz="quarter" idx="15"/>
              </p:nvPr>
            </p:nvSpPr>
            <p:spPr>
              <a:xfrm>
                <a:off x="743576" y="1193009"/>
                <a:ext cx="6555721" cy="2285302"/>
              </a:xfrm>
            </p:spPr>
            <p:txBody>
              <a:bodyPr>
                <a:noAutofit/>
              </a:bodyPr>
              <a:lstStyle/>
              <a:p>
                <a:pPr>
                  <a:lnSpc>
                    <a:spcPct val="100000"/>
                  </a:lnSpc>
                  <a:spcBef>
                    <a:spcPts val="600"/>
                  </a:spcBef>
                </a:pPr>
                <a:r>
                  <a:rPr lang="en-US" sz="2000" dirty="0">
                    <a:solidFill>
                      <a:srgbClr val="000000"/>
                    </a:solidFill>
                  </a:rPr>
                  <a:t>The cumulative probability that </a:t>
                </a:r>
                <a14:m>
                  <m:oMath xmlns:m="http://schemas.openxmlformats.org/officeDocument/2006/math">
                    <m:r>
                      <a:rPr lang="en-US" sz="2000" i="1" dirty="0" smtClean="0">
                        <a:solidFill>
                          <a:srgbClr val="000000"/>
                        </a:solidFill>
                        <a:latin typeface="Cambria Math" panose="02040503050406030204" pitchFamily="18" charset="0"/>
                      </a:rPr>
                      <m:t>𝑧</m:t>
                    </m:r>
                  </m:oMath>
                </a14:m>
                <a:r>
                  <a:rPr lang="en-US" sz="2000" dirty="0">
                    <a:solidFill>
                      <a:srgbClr val="000000"/>
                    </a:solidFill>
                  </a:rPr>
                  <a:t> is in the interval between –0.50 and 1.25, that is, </a:t>
                </a:r>
                <a14:m>
                  <m:oMath xmlns:m="http://schemas.openxmlformats.org/officeDocument/2006/math">
                    <m:r>
                      <a:rPr lang="en-US" sz="2000" i="1" dirty="0" smtClean="0">
                        <a:solidFill>
                          <a:srgbClr val="000000"/>
                        </a:solidFill>
                        <a:latin typeface="Cambria Math" panose="02040503050406030204" pitchFamily="18" charset="0"/>
                      </a:rPr>
                      <m:t>𝑃</m:t>
                    </m:r>
                    <m:d>
                      <m:dPr>
                        <m:ctrlPr>
                          <a:rPr lang="en-US" sz="2000" i="1" dirty="0" smtClean="0">
                            <a:solidFill>
                              <a:srgbClr val="000000"/>
                            </a:solidFill>
                            <a:latin typeface="Cambria Math" panose="02040503050406030204" pitchFamily="18" charset="0"/>
                          </a:rPr>
                        </m:ctrlPr>
                      </m:dPr>
                      <m:e>
                        <m:r>
                          <a:rPr lang="en-US" sz="2000" b="0" i="1" dirty="0">
                            <a:solidFill>
                              <a:srgbClr val="000000"/>
                            </a:solidFill>
                            <a:latin typeface="Cambria Math" panose="02040503050406030204" pitchFamily="18" charset="0"/>
                          </a:rPr>
                          <m:t>−0.50</m:t>
                        </m:r>
                        <m:r>
                          <a:rPr lang="en-US" sz="2000" b="0" i="1" dirty="0">
                            <a:solidFill>
                              <a:srgbClr val="000000"/>
                            </a:solidFill>
                            <a:latin typeface="Cambria Math" panose="02040503050406030204" pitchFamily="18" charset="0"/>
                            <a:ea typeface="Cambria Math" panose="02040503050406030204" pitchFamily="18" charset="0"/>
                          </a:rPr>
                          <m:t>≤</m:t>
                        </m:r>
                        <m:r>
                          <a:rPr lang="en-US" sz="2000" b="0" i="1" dirty="0">
                            <a:solidFill>
                              <a:srgbClr val="000000"/>
                            </a:solidFill>
                            <a:latin typeface="Cambria Math" panose="02040503050406030204" pitchFamily="18" charset="0"/>
                          </a:rPr>
                          <m:t>𝑧</m:t>
                        </m:r>
                        <m:r>
                          <a:rPr lang="en-US" sz="2000" b="0" i="1" dirty="0">
                            <a:solidFill>
                              <a:srgbClr val="000000"/>
                            </a:solidFill>
                            <a:latin typeface="Cambria Math" panose="02040503050406030204" pitchFamily="18" charset="0"/>
                          </a:rPr>
                          <m:t>≤1.25</m:t>
                        </m:r>
                      </m:e>
                    </m:d>
                  </m:oMath>
                </a14:m>
                <a:r>
                  <a:rPr lang="en-US" sz="2000" dirty="0">
                    <a:solidFill>
                      <a:srgbClr val="000000"/>
                    </a:solidFill>
                  </a:rPr>
                  <a:t>, is the area depicted in the figure to the right.</a:t>
                </a:r>
              </a:p>
              <a:p>
                <a:pPr>
                  <a:lnSpc>
                    <a:spcPct val="100000"/>
                  </a:lnSpc>
                  <a:spcBef>
                    <a:spcPts val="600"/>
                  </a:spcBef>
                </a:pPr>
                <a:r>
                  <a:rPr lang="en-US" sz="2000" dirty="0">
                    <a:solidFill>
                      <a:srgbClr val="000000"/>
                    </a:solidFill>
                  </a:rPr>
                  <a:t>Three steps are required to compute this probability using Table 1 of Appendix B. </a:t>
                </a:r>
              </a:p>
              <a:p>
                <a:pPr marL="684213" indent="-398463">
                  <a:lnSpc>
                    <a:spcPct val="100000"/>
                  </a:lnSpc>
                  <a:spcBef>
                    <a:spcPts val="600"/>
                  </a:spcBef>
                  <a:buFont typeface="+mj-lt"/>
                  <a:buAutoNum type="arabicPeriod"/>
                </a:pPr>
                <a:r>
                  <a:rPr lang="en-US" sz="2000" dirty="0">
                    <a:solidFill>
                      <a:srgbClr val="000000"/>
                    </a:solidFill>
                  </a:rPr>
                  <a:t>we calculate </a:t>
                </a:r>
                <a14:m>
                  <m:oMath xmlns:m="http://schemas.openxmlformats.org/officeDocument/2006/math">
                    <m:r>
                      <a:rPr lang="en-US" sz="2000" i="1" dirty="0" smtClean="0">
                        <a:solidFill>
                          <a:srgbClr val="000000"/>
                        </a:solidFill>
                        <a:latin typeface="Cambria Math" panose="02040503050406030204" pitchFamily="18" charset="0"/>
                      </a:rPr>
                      <m:t>𝑃</m:t>
                    </m:r>
                    <m:d>
                      <m:dPr>
                        <m:ctrlPr>
                          <a:rPr lang="en-US" sz="2000" i="1" dirty="0" smtClean="0">
                            <a:solidFill>
                              <a:srgbClr val="000000"/>
                            </a:solidFill>
                            <a:latin typeface="Cambria Math" panose="02040503050406030204" pitchFamily="18" charset="0"/>
                          </a:rPr>
                        </m:ctrlPr>
                      </m:dPr>
                      <m:e>
                        <m:r>
                          <a:rPr lang="en-US" sz="2000" b="0" i="1" dirty="0">
                            <a:solidFill>
                              <a:srgbClr val="000000"/>
                            </a:solidFill>
                            <a:latin typeface="Cambria Math" panose="02040503050406030204" pitchFamily="18" charset="0"/>
                          </a:rPr>
                          <m:t>𝑧</m:t>
                        </m:r>
                        <m:r>
                          <a:rPr lang="en-US" sz="2000" b="0" i="1" dirty="0">
                            <a:solidFill>
                              <a:srgbClr val="000000"/>
                            </a:solidFill>
                            <a:latin typeface="Cambria Math" panose="02040503050406030204" pitchFamily="18" charset="0"/>
                          </a:rPr>
                          <m:t>≤−0.50</m:t>
                        </m:r>
                      </m:e>
                    </m:d>
                  </m:oMath>
                </a14:m>
                <a:r>
                  <a:rPr lang="en-US" sz="2000" dirty="0">
                    <a:solidFill>
                      <a:srgbClr val="000000"/>
                    </a:solidFill>
                  </a:rPr>
                  <a:t> as the intersection of the –0.5 row and the 0.00 column:</a:t>
                </a:r>
              </a:p>
            </p:txBody>
          </p:sp>
        </mc:Choice>
        <mc:Fallback xmlns="">
          <p:sp>
            <p:nvSpPr>
              <p:cNvPr id="4" name="Text Placeholder 3">
                <a:extLst>
                  <a:ext uri="{FF2B5EF4-FFF2-40B4-BE49-F238E27FC236}">
                    <a16:creationId xmlns:a16="http://schemas.microsoft.com/office/drawing/2014/main" id="{8A6230A9-F967-972A-D4F8-3C93585B4891}"/>
                  </a:ext>
                </a:extLst>
              </p:cNvPr>
              <p:cNvSpPr>
                <a:spLocks noGrp="1" noRot="1" noChangeAspect="1" noMove="1" noResize="1" noEditPoints="1" noAdjustHandles="1" noChangeArrowheads="1" noChangeShapeType="1" noTextEdit="1"/>
              </p:cNvSpPr>
              <p:nvPr>
                <p:ph type="body" sz="quarter" idx="15"/>
              </p:nvPr>
            </p:nvSpPr>
            <p:spPr>
              <a:xfrm>
                <a:off x="743576" y="1193009"/>
                <a:ext cx="6555721" cy="2285302"/>
              </a:xfrm>
              <a:blipFill>
                <a:blip r:embed="rId4"/>
                <a:stretch>
                  <a:fillRect l="-2419" t="-3200" r="-2698" b="-6933"/>
                </a:stretch>
              </a:blipFill>
            </p:spPr>
            <p:txBody>
              <a:bodyPr/>
              <a:lstStyle/>
              <a:p>
                <a:r>
                  <a:rPr lang="en-IN">
                    <a:noFill/>
                  </a:rPr>
                  <a:t> </a:t>
                </a:r>
              </a:p>
            </p:txBody>
          </p:sp>
        </mc:Fallback>
      </mc:AlternateContent>
      <p:pic>
        <p:nvPicPr>
          <p:cNvPr id="7" name="Picture Placeholder 6" descr="A graph plots a normal distribution and the probability corresponding to P(negative 0.50 &lt;= z &lt;= 1.25). The horizontal axis is labeled “z” and lists negative 0.50, 0, and 1.25. A bell-shaped curve peaks at z = 0. The region under the curve to the left of z = negative 0.50 is labeled “P(z &lt; negative 0.50).” The region under the curve between z = negative 0.50 and z = 1.25 is shaded dark and labeled “P(negative 0.50 &lt;= z &lt;= 1.25).”&#10;">
            <a:extLst>
              <a:ext uri="{FF2B5EF4-FFF2-40B4-BE49-F238E27FC236}">
                <a16:creationId xmlns:a16="http://schemas.microsoft.com/office/drawing/2014/main" id="{73935CED-15A2-B1BE-6BF7-55C879549B94}"/>
              </a:ext>
            </a:extLst>
          </p:cNvPr>
          <p:cNvPicPr>
            <a:picLocks noGrp="1" noChangeAspect="1"/>
          </p:cNvPicPr>
          <p:nvPr>
            <p:ph type="pic" sz="quarter" idx="23"/>
          </p:nvPr>
        </p:nvPicPr>
        <p:blipFill rotWithShape="1">
          <a:blip r:embed="rId5"/>
          <a:srcRect t="70" b="70"/>
          <a:stretch/>
        </p:blipFill>
        <p:spPr>
          <a:xfrm>
            <a:off x="7477972" y="1411792"/>
            <a:ext cx="3780580" cy="2285301"/>
          </a:xfrm>
        </p:spPr>
      </p:pic>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35C0B624-2FAB-6A00-A43D-7F1D0907BB7A}"/>
                  </a:ext>
                </a:extLst>
              </p:cNvPr>
              <p:cNvSpPr>
                <a:spLocks noGrp="1"/>
              </p:cNvSpPr>
              <p:nvPr>
                <p:ph type="body" sz="quarter" idx="18"/>
              </p:nvPr>
            </p:nvSpPr>
            <p:spPr>
              <a:xfrm>
                <a:off x="743576" y="3542607"/>
                <a:ext cx="10514975" cy="2339374"/>
              </a:xfrm>
            </p:spPr>
            <p:txBody>
              <a:bodyPr>
                <a:normAutofit lnSpcReduction="10000"/>
              </a:bodyPr>
              <a:lstStyle/>
              <a:p>
                <a:pPr marL="914400">
                  <a:lnSpc>
                    <a:spcPct val="110000"/>
                  </a:lnSpc>
                  <a:spcBef>
                    <a:spcPts val="600"/>
                  </a:spcBef>
                  <a:spcAft>
                    <a:spcPts val="0"/>
                  </a:spcAft>
                </a:pPr>
                <a14:m>
                  <m:oMath xmlns:m="http://schemas.openxmlformats.org/officeDocument/2006/math">
                    <m:r>
                      <a:rPr lang="en-US" sz="2000" i="1" dirty="0" smtClean="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𝑧</m:t>
                        </m:r>
                        <m:r>
                          <a:rPr lang="en-US" sz="2000" i="1" dirty="0">
                            <a:latin typeface="Cambria Math" panose="02040503050406030204" pitchFamily="18" charset="0"/>
                          </a:rPr>
                          <m:t>≤−0.50</m:t>
                        </m:r>
                      </m:e>
                    </m:d>
                    <m:r>
                      <a:rPr lang="en-US" sz="2000" b="0" i="1" dirty="0" smtClean="0">
                        <a:latin typeface="Cambria Math" panose="02040503050406030204" pitchFamily="18" charset="0"/>
                      </a:rPr>
                      <m:t>=0.3085</m:t>
                    </m:r>
                  </m:oMath>
                </a14:m>
                <a:r>
                  <a:rPr lang="en-US" sz="2000" dirty="0"/>
                  <a:t> </a:t>
                </a:r>
              </a:p>
              <a:p>
                <a:pPr marL="684213" indent="-398463">
                  <a:lnSpc>
                    <a:spcPct val="110000"/>
                  </a:lnSpc>
                  <a:spcBef>
                    <a:spcPts val="600"/>
                  </a:spcBef>
                  <a:spcAft>
                    <a:spcPts val="0"/>
                  </a:spcAft>
                  <a:buFont typeface="+mj-lt"/>
                  <a:buAutoNum type="arabicPeriod" startAt="2"/>
                </a:pPr>
                <a:r>
                  <a:rPr lang="en-US" sz="2000" dirty="0"/>
                  <a:t>we calculate </a:t>
                </a:r>
                <a14:m>
                  <m:oMath xmlns:m="http://schemas.openxmlformats.org/officeDocument/2006/math">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𝑧</m:t>
                        </m:r>
                        <m:r>
                          <a:rPr lang="en-US" sz="2000" i="1" dirty="0">
                            <a:latin typeface="Cambria Math" panose="02040503050406030204" pitchFamily="18" charset="0"/>
                          </a:rPr>
                          <m:t>≤1.25</m:t>
                        </m:r>
                      </m:e>
                    </m:d>
                  </m:oMath>
                </a14:m>
                <a:r>
                  <a:rPr lang="en-US" sz="2000" dirty="0"/>
                  <a:t> as the intersection of the 1.2 row and the 0.05 column:</a:t>
                </a:r>
              </a:p>
              <a:p>
                <a:pPr marL="914400" lvl="1" indent="0">
                  <a:lnSpc>
                    <a:spcPct val="110000"/>
                  </a:lnSpc>
                  <a:spcBef>
                    <a:spcPts val="600"/>
                  </a:spcBef>
                  <a:spcAft>
                    <a:spcPts val="0"/>
                  </a:spcAft>
                  <a:buNone/>
                </a:pPr>
                <a14:m>
                  <m:oMath xmlns:m="http://schemas.openxmlformats.org/officeDocument/2006/math">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𝑧</m:t>
                        </m:r>
                        <m:r>
                          <a:rPr lang="en-US" sz="2000" i="1" dirty="0">
                            <a:latin typeface="Cambria Math" panose="02040503050406030204" pitchFamily="18" charset="0"/>
                          </a:rPr>
                          <m:t>≤1.25</m:t>
                        </m:r>
                      </m:e>
                    </m:d>
                    <m:r>
                      <a:rPr lang="en-US" sz="2000" i="1" dirty="0">
                        <a:latin typeface="Cambria Math" panose="02040503050406030204" pitchFamily="18" charset="0"/>
                      </a:rPr>
                      <m:t>=0.</m:t>
                    </m:r>
                    <m:r>
                      <a:rPr lang="en-US" sz="2000" b="0" i="1" dirty="0" smtClean="0">
                        <a:latin typeface="Cambria Math" panose="02040503050406030204" pitchFamily="18" charset="0"/>
                      </a:rPr>
                      <m:t>8944</m:t>
                    </m:r>
                  </m:oMath>
                </a14:m>
                <a:r>
                  <a:rPr lang="en-US" sz="2000" dirty="0"/>
                  <a:t> </a:t>
                </a:r>
              </a:p>
              <a:p>
                <a:pPr marL="684213" indent="-398463">
                  <a:lnSpc>
                    <a:spcPct val="110000"/>
                  </a:lnSpc>
                  <a:spcBef>
                    <a:spcPts val="600"/>
                  </a:spcBef>
                  <a:spcAft>
                    <a:spcPts val="600"/>
                  </a:spcAft>
                  <a:buFont typeface="+mj-lt"/>
                  <a:buAutoNum type="arabicPeriod" startAt="2"/>
                </a:pPr>
                <a:r>
                  <a:rPr lang="en-US" sz="2000" dirty="0"/>
                  <a:t>we calculate the difference of the cumulative probabilities to the left of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=1.25</m:t>
                    </m:r>
                  </m:oMath>
                </a14:m>
                <a:r>
                  <a:rPr lang="en-US" sz="2000" dirty="0"/>
                  <a:t> and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=−0.50</m:t>
                    </m:r>
                  </m:oMath>
                </a14:m>
                <a:r>
                  <a:rPr lang="en-US" sz="2000" dirty="0"/>
                  <a:t> that we calculated in steps 1 and 2, so that:</a:t>
                </a:r>
              </a:p>
              <a:p>
                <a:pPr marL="914400">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−0.50</m:t>
                          </m:r>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𝑧</m:t>
                          </m:r>
                          <m:r>
                            <a:rPr lang="en-US" sz="2000" i="1" dirty="0">
                              <a:latin typeface="Cambria Math" panose="02040503050406030204" pitchFamily="18" charset="0"/>
                            </a:rPr>
                            <m:t>≤1.25</m:t>
                          </m:r>
                        </m:e>
                      </m:d>
                      <m:r>
                        <a:rPr lang="en-US" sz="2000" b="0" i="1" dirty="0" smtClean="0">
                          <a:latin typeface="Cambria Math" panose="02040503050406030204" pitchFamily="18" charset="0"/>
                        </a:rPr>
                        <m:t>=</m:t>
                      </m:r>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𝑧</m:t>
                          </m:r>
                          <m:r>
                            <a:rPr lang="en-US" sz="2000" i="1" dirty="0">
                              <a:latin typeface="Cambria Math" panose="02040503050406030204" pitchFamily="18" charset="0"/>
                            </a:rPr>
                            <m:t>≤1.25</m:t>
                          </m:r>
                        </m:e>
                      </m:d>
                      <m:r>
                        <a:rPr lang="en-US" sz="2000" b="0" i="1" dirty="0" smtClean="0">
                          <a:latin typeface="Cambria Math" panose="02040503050406030204" pitchFamily="18" charset="0"/>
                        </a:rPr>
                        <m:t>−</m:t>
                      </m:r>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𝑧</m:t>
                          </m:r>
                          <m:r>
                            <a:rPr lang="en-US" sz="2000" i="1" dirty="0">
                              <a:latin typeface="Cambria Math" panose="02040503050406030204" pitchFamily="18" charset="0"/>
                            </a:rPr>
                            <m:t>≤−0.50</m:t>
                          </m:r>
                        </m:e>
                      </m:d>
                      <m:r>
                        <a:rPr lang="en-US" sz="2000" b="0" i="1" dirty="0" smtClean="0">
                          <a:latin typeface="Cambria Math" panose="02040503050406030204" pitchFamily="18" charset="0"/>
                        </a:rPr>
                        <m:t>=0.8944−0.3085=0.5859</m:t>
                      </m:r>
                    </m:oMath>
                  </m:oMathPara>
                </a14:m>
                <a:endParaRPr lang="en-US" sz="2000" dirty="0"/>
              </a:p>
            </p:txBody>
          </p:sp>
        </mc:Choice>
        <mc:Fallback xmlns="">
          <p:sp>
            <p:nvSpPr>
              <p:cNvPr id="5" name="Text Placeholder 4">
                <a:extLst>
                  <a:ext uri="{FF2B5EF4-FFF2-40B4-BE49-F238E27FC236}">
                    <a16:creationId xmlns:a16="http://schemas.microsoft.com/office/drawing/2014/main" id="{35C0B624-2FAB-6A00-A43D-7F1D0907BB7A}"/>
                  </a:ext>
                </a:extLst>
              </p:cNvPr>
              <p:cNvSpPr>
                <a:spLocks noGrp="1" noRot="1" noChangeAspect="1" noMove="1" noResize="1" noEditPoints="1" noAdjustHandles="1" noChangeArrowheads="1" noChangeShapeType="1" noTextEdit="1"/>
              </p:cNvSpPr>
              <p:nvPr>
                <p:ph type="body" sz="quarter" idx="18"/>
              </p:nvPr>
            </p:nvSpPr>
            <p:spPr>
              <a:xfrm>
                <a:off x="743576" y="3542607"/>
                <a:ext cx="10514975" cy="2339374"/>
              </a:xfr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51625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8D707C0-B542-FD8F-13AD-B94B6C8213C4}"/>
                  </a:ext>
                </a:extLst>
              </p:cNvPr>
              <p:cNvSpPr>
                <a:spLocks noGrp="1"/>
              </p:cNvSpPr>
              <p:nvPr>
                <p:ph type="title"/>
              </p:nvPr>
            </p:nvSpPr>
            <p:spPr/>
            <p:txBody>
              <a:bodyPr/>
              <a:lstStyle/>
              <a:p>
                <a:r>
                  <a:rPr lang="en-US" dirty="0"/>
                  <a:t>6.2 Cumulative Probability for </a:t>
                </a:r>
                <a14:m>
                  <m:oMath xmlns:m="http://schemas.openxmlformats.org/officeDocument/2006/math">
                    <m:r>
                      <a:rPr lang="en-US" b="1" i="1" dirty="0" smtClean="0">
                        <a:latin typeface="Cambria Math" panose="02040503050406030204" pitchFamily="18" charset="0"/>
                      </a:rPr>
                      <m:t>𝑷</m:t>
                    </m:r>
                    <m:r>
                      <a:rPr lang="en-US" b="1" i="1" dirty="0" smtClean="0">
                        <a:latin typeface="Cambria Math" panose="02040503050406030204" pitchFamily="18" charset="0"/>
                      </a:rPr>
                      <m:t>(</m:t>
                    </m:r>
                    <m:r>
                      <a:rPr lang="en-US" b="1" i="1" dirty="0" smtClean="0">
                        <a:latin typeface="Cambria Math" panose="02040503050406030204" pitchFamily="18" charset="0"/>
                      </a:rPr>
                      <m:t>𝒛</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ea typeface="Cambria Math" panose="02040503050406030204" pitchFamily="18" charset="0"/>
                      </a:rPr>
                      <m:t>𝟏</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ea typeface="Cambria Math" panose="02040503050406030204" pitchFamily="18" charset="0"/>
                      </a:rPr>
                      <m:t>𝟓𝟖</m:t>
                    </m:r>
                    <m:r>
                      <a:rPr lang="en-US" b="1" i="1" dirty="0"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E8D707C0-B542-FD8F-13AD-B94B6C8213C4}"/>
                  </a:ext>
                </a:extLst>
              </p:cNvPr>
              <p:cNvSpPr>
                <a:spLocks noGrp="1" noRot="1" noChangeAspect="1" noMove="1" noResize="1" noEditPoints="1" noAdjustHandles="1" noChangeArrowheads="1" noChangeShapeType="1" noTextEdit="1"/>
              </p:cNvSpPr>
              <p:nvPr>
                <p:ph type="title"/>
              </p:nvPr>
            </p:nvSpPr>
            <p:spPr>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A6230A9-F967-972A-D4F8-3C93585B4891}"/>
                  </a:ext>
                </a:extLst>
              </p:cNvPr>
              <p:cNvSpPr>
                <a:spLocks noGrp="1"/>
              </p:cNvSpPr>
              <p:nvPr>
                <p:ph type="body" sz="quarter" idx="15"/>
              </p:nvPr>
            </p:nvSpPr>
            <p:spPr>
              <a:xfrm>
                <a:off x="743576" y="1355191"/>
                <a:ext cx="6412598" cy="4361802"/>
              </a:xfrm>
            </p:spPr>
            <p:txBody>
              <a:bodyPr>
                <a:noAutofit/>
              </a:bodyPr>
              <a:lstStyle/>
              <a:p>
                <a:pPr>
                  <a:lnSpc>
                    <a:spcPct val="100000"/>
                  </a:lnSpc>
                  <a:spcBef>
                    <a:spcPts val="600"/>
                  </a:spcBef>
                  <a:spcAft>
                    <a:spcPts val="0"/>
                  </a:spcAft>
                </a:pPr>
                <a:r>
                  <a:rPr lang="en-US" sz="2000" dirty="0"/>
                  <a:t>The cumulative probability that </a:t>
                </a:r>
                <a14:m>
                  <m:oMath xmlns:m="http://schemas.openxmlformats.org/officeDocument/2006/math">
                    <m:r>
                      <a:rPr lang="en-US" sz="2000" i="1" dirty="0" smtClean="0">
                        <a:latin typeface="Cambria Math" panose="02040503050406030204" pitchFamily="18" charset="0"/>
                      </a:rPr>
                      <m:t>𝑧</m:t>
                    </m:r>
                  </m:oMath>
                </a14:m>
                <a:r>
                  <a:rPr lang="en-US" sz="2000" dirty="0"/>
                  <a:t> is greater than or equal to 1.58, that is, </a:t>
                </a:r>
                <a14:m>
                  <m:oMath xmlns:m="http://schemas.openxmlformats.org/officeDocument/2006/math">
                    <m:r>
                      <a:rPr lang="en-US" sz="200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𝑧</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1.</m:t>
                        </m:r>
                        <m:r>
                          <a:rPr lang="en-US" sz="2000" b="0" i="1" dirty="0" smtClean="0">
                            <a:latin typeface="Cambria Math" panose="02040503050406030204" pitchFamily="18" charset="0"/>
                          </a:rPr>
                          <m:t>58</m:t>
                        </m:r>
                      </m:e>
                    </m:d>
                  </m:oMath>
                </a14:m>
                <a:r>
                  <a:rPr lang="en-US" sz="2000" dirty="0"/>
                  <a:t>, is the area under the standard normal curve to the right of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=1.58</m:t>
                    </m:r>
                  </m:oMath>
                </a14:m>
                <a:r>
                  <a:rPr lang="en-US" sz="2000" dirty="0"/>
                  <a:t>.</a:t>
                </a:r>
              </a:p>
              <a:p>
                <a:pPr>
                  <a:lnSpc>
                    <a:spcPct val="100000"/>
                  </a:lnSpc>
                  <a:spcBef>
                    <a:spcPts val="600"/>
                  </a:spcBef>
                  <a:spcAft>
                    <a:spcPts val="0"/>
                  </a:spcAft>
                </a:pPr>
                <a:r>
                  <a:rPr lang="en-US" sz="2000" dirty="0"/>
                  <a:t>To find the probability to the right of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=1.58</m:t>
                    </m:r>
                  </m:oMath>
                </a14:m>
                <a:r>
                  <a:rPr lang="en-US" sz="2000" dirty="0"/>
                  <a:t>, we need to first find the probability corresponding to the left of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=1.58</m:t>
                    </m:r>
                    <m:r>
                      <a:rPr lang="en-US" sz="2000" b="0" i="0" dirty="0" smtClean="0">
                        <a:latin typeface="Cambria Math" panose="02040503050406030204" pitchFamily="18" charset="0"/>
                      </a:rPr>
                      <m:t> </m:t>
                    </m:r>
                  </m:oMath>
                </a14:m>
                <a:r>
                  <a:rPr lang="en-US" sz="2000" dirty="0"/>
                  <a:t>and then calculate its complement.</a:t>
                </a:r>
              </a:p>
              <a:p>
                <a:pPr>
                  <a:lnSpc>
                    <a:spcPct val="100000"/>
                  </a:lnSpc>
                  <a:spcBef>
                    <a:spcPts val="600"/>
                  </a:spcBef>
                  <a:spcAft>
                    <a:spcPts val="0"/>
                  </a:spcAft>
                </a:pPr>
                <a:r>
                  <a:rPr lang="en-US" sz="2000" dirty="0"/>
                  <a:t>To calculate the area to the left of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=1.58</m:t>
                    </m:r>
                  </m:oMath>
                </a14:m>
                <a:r>
                  <a:rPr lang="en-US" sz="2000" dirty="0"/>
                  <a:t>, identify the value located at the intersection of the row labeled 1.5 and the column labeled 0.08. Thus</a:t>
                </a:r>
              </a:p>
              <a:p>
                <a:pPr marL="914400">
                  <a:lnSpc>
                    <a:spcPct val="100000"/>
                  </a:lnSpc>
                  <a:spcBef>
                    <a:spcPts val="600"/>
                  </a:spcBef>
                  <a:spcAft>
                    <a:spcPts val="0"/>
                  </a:spcAft>
                </a:pPr>
                <a14:m>
                  <m:oMath xmlns:m="http://schemas.openxmlformats.org/officeDocument/2006/math">
                    <m:r>
                      <a:rPr lang="en-US" sz="2000" b="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b="0" i="1" dirty="0" smtClean="0">
                            <a:latin typeface="Cambria Math" panose="02040503050406030204" pitchFamily="18" charset="0"/>
                          </a:rPr>
                          <m:t>𝑧</m:t>
                        </m:r>
                        <m:r>
                          <a:rPr lang="en-US" sz="2000" b="0" i="1" dirty="0" smtClean="0">
                            <a:latin typeface="Cambria Math" panose="02040503050406030204" pitchFamily="18" charset="0"/>
                          </a:rPr>
                          <m:t>≤1.58</m:t>
                        </m:r>
                      </m:e>
                    </m:d>
                    <m:r>
                      <a:rPr lang="en-US" sz="2000" b="0" i="1" dirty="0" smtClean="0">
                        <a:latin typeface="Cambria Math" panose="02040503050406030204" pitchFamily="18" charset="0"/>
                      </a:rPr>
                      <m:t>=0.9429</m:t>
                    </m:r>
                  </m:oMath>
                </a14:m>
                <a:r>
                  <a:rPr lang="en-US" sz="2000" dirty="0"/>
                  <a:t> </a:t>
                </a:r>
              </a:p>
              <a:p>
                <a:pPr>
                  <a:lnSpc>
                    <a:spcPct val="100000"/>
                  </a:lnSpc>
                  <a:spcBef>
                    <a:spcPts val="600"/>
                  </a:spcBef>
                  <a:spcAft>
                    <a:spcPts val="0"/>
                  </a:spcAft>
                </a:pPr>
                <a:r>
                  <a:rPr lang="en-US" sz="2000" dirty="0"/>
                  <a:t>However, because the total area under the normal curve is 1, we have</a:t>
                </a:r>
              </a:p>
              <a:p>
                <a:pPr marL="914400">
                  <a:lnSpc>
                    <a:spcPct val="100000"/>
                  </a:lnSpc>
                  <a:spcBef>
                    <a:spcPts val="600"/>
                  </a:spcBef>
                  <a:spcAft>
                    <a:spcPts val="0"/>
                  </a:spcAft>
                </a:pP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𝑧</m:t>
                    </m:r>
                    <m:r>
                      <a:rPr lang="en-US" sz="2000" i="1" dirty="0" smtClean="0">
                        <a:latin typeface="Cambria Math" panose="02040503050406030204" pitchFamily="18" charset="0"/>
                      </a:rPr>
                      <m:t>≥1.58)=1−0.9429=0.0571</m:t>
                    </m:r>
                  </m:oMath>
                </a14:m>
                <a:r>
                  <a:rPr lang="en-US" sz="2000" dirty="0"/>
                  <a:t> </a:t>
                </a:r>
              </a:p>
            </p:txBody>
          </p:sp>
        </mc:Choice>
        <mc:Fallback xmlns="">
          <p:sp>
            <p:nvSpPr>
              <p:cNvPr id="4" name="Text Placeholder 3">
                <a:extLst>
                  <a:ext uri="{FF2B5EF4-FFF2-40B4-BE49-F238E27FC236}">
                    <a16:creationId xmlns:a16="http://schemas.microsoft.com/office/drawing/2014/main" id="{8A6230A9-F967-972A-D4F8-3C93585B4891}"/>
                  </a:ext>
                </a:extLst>
              </p:cNvPr>
              <p:cNvSpPr>
                <a:spLocks noGrp="1" noRot="1" noChangeAspect="1" noMove="1" noResize="1" noEditPoints="1" noAdjustHandles="1" noChangeArrowheads="1" noChangeShapeType="1" noTextEdit="1"/>
              </p:cNvSpPr>
              <p:nvPr>
                <p:ph type="body" sz="quarter" idx="15"/>
              </p:nvPr>
            </p:nvSpPr>
            <p:spPr>
              <a:xfrm>
                <a:off x="743576" y="1355191"/>
                <a:ext cx="6412598" cy="4361802"/>
              </a:xfrm>
              <a:blipFill>
                <a:blip r:embed="rId4"/>
                <a:stretch>
                  <a:fillRect l="-2471" t="-1676" r="-2186" b="-2235"/>
                </a:stretch>
              </a:blipFill>
            </p:spPr>
            <p:txBody>
              <a:bodyPr/>
              <a:lstStyle/>
              <a:p>
                <a:r>
                  <a:rPr lang="en-US">
                    <a:noFill/>
                  </a:rPr>
                  <a:t> </a:t>
                </a:r>
              </a:p>
            </p:txBody>
          </p:sp>
        </mc:Fallback>
      </mc:AlternateContent>
      <p:graphicFrame>
        <p:nvGraphicFramePr>
          <p:cNvPr id="14" name="Table 7">
            <a:extLst>
              <a:ext uri="{FF2B5EF4-FFF2-40B4-BE49-F238E27FC236}">
                <a16:creationId xmlns:a16="http://schemas.microsoft.com/office/drawing/2014/main" id="{359018F5-C854-23DC-8DCB-8F2C1D27AEA0}"/>
              </a:ext>
            </a:extLst>
          </p:cNvPr>
          <p:cNvGraphicFramePr>
            <a:graphicFrameLocks noGrp="1"/>
          </p:cNvGraphicFramePr>
          <p:nvPr>
            <p:ph type="tbl" sz="quarter" idx="22"/>
          </p:nvPr>
        </p:nvGraphicFramePr>
        <p:xfrm>
          <a:off x="7265988" y="3577297"/>
          <a:ext cx="4093578" cy="2139696"/>
        </p:xfrm>
        <a:graphic>
          <a:graphicData uri="http://schemas.openxmlformats.org/drawingml/2006/table">
            <a:tbl>
              <a:tblPr firstRow="1" bandRow="1">
                <a:tableStyleId>{5C22544A-7EE6-4342-B048-85BDC9FD1C3A}</a:tableStyleId>
              </a:tblPr>
              <a:tblGrid>
                <a:gridCol w="552458">
                  <a:extLst>
                    <a:ext uri="{9D8B030D-6E8A-4147-A177-3AD203B41FA5}">
                      <a16:colId xmlns:a16="http://schemas.microsoft.com/office/drawing/2014/main" val="1015218121"/>
                    </a:ext>
                  </a:extLst>
                </a:gridCol>
                <a:gridCol w="748120">
                  <a:extLst>
                    <a:ext uri="{9D8B030D-6E8A-4147-A177-3AD203B41FA5}">
                      <a16:colId xmlns:a16="http://schemas.microsoft.com/office/drawing/2014/main" val="2332062863"/>
                    </a:ext>
                  </a:extLst>
                </a:gridCol>
                <a:gridCol w="748120">
                  <a:extLst>
                    <a:ext uri="{9D8B030D-6E8A-4147-A177-3AD203B41FA5}">
                      <a16:colId xmlns:a16="http://schemas.microsoft.com/office/drawing/2014/main" val="2443968822"/>
                    </a:ext>
                  </a:extLst>
                </a:gridCol>
                <a:gridCol w="548640">
                  <a:extLst>
                    <a:ext uri="{9D8B030D-6E8A-4147-A177-3AD203B41FA5}">
                      <a16:colId xmlns:a16="http://schemas.microsoft.com/office/drawing/2014/main" val="758356444"/>
                    </a:ext>
                  </a:extLst>
                </a:gridCol>
                <a:gridCol w="748120">
                  <a:extLst>
                    <a:ext uri="{9D8B030D-6E8A-4147-A177-3AD203B41FA5}">
                      <a16:colId xmlns:a16="http://schemas.microsoft.com/office/drawing/2014/main" val="3733842712"/>
                    </a:ext>
                  </a:extLst>
                </a:gridCol>
                <a:gridCol w="748120">
                  <a:extLst>
                    <a:ext uri="{9D8B030D-6E8A-4147-A177-3AD203B41FA5}">
                      <a16:colId xmlns:a16="http://schemas.microsoft.com/office/drawing/2014/main" val="3093452600"/>
                    </a:ext>
                  </a:extLst>
                </a:gridCol>
              </a:tblGrid>
              <a:tr h="306324">
                <a:tc>
                  <a:txBody>
                    <a:bodyPr/>
                    <a:lstStyle/>
                    <a:p>
                      <a:r>
                        <a:rPr lang="en-US" b="1" dirty="0">
                          <a:solidFill>
                            <a:srgbClr val="000000"/>
                          </a:solidFill>
                        </a:rPr>
                        <a:t>     z</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0.00</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0.01</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a:t>
                      </a:r>
                    </a:p>
                  </a:txBody>
                  <a:tcPr marL="0" marR="0" marT="0" marB="0">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0.08</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0.09</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extLst>
                  <a:ext uri="{0D108BD9-81ED-4DB2-BD59-A6C34878D82A}">
                    <a16:rowId xmlns:a16="http://schemas.microsoft.com/office/drawing/2014/main" val="4018950820"/>
                  </a:ext>
                </a:extLst>
              </a:tr>
              <a:tr h="457200">
                <a:tc>
                  <a:txBody>
                    <a:bodyPr/>
                    <a:lstStyle/>
                    <a:p>
                      <a:r>
                        <a:rPr lang="en-US" sz="1800" b="1" i="0" kern="1200" dirty="0">
                          <a:solidFill>
                            <a:srgbClr val="000000"/>
                          </a:solidFill>
                          <a:effectLst/>
                          <a:latin typeface="+mn-lt"/>
                          <a:ea typeface="+mn-ea"/>
                          <a:cs typeface="+mn-cs"/>
                        </a:rPr>
                        <a:t>     ⋮</a:t>
                      </a:r>
                      <a:endParaRPr lang="en-US" b="1"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endParaRPr lang="en-US" dirty="0">
                        <a:solidFill>
                          <a:srgbClr val="000000"/>
                        </a:solidFill>
                      </a:endParaRPr>
                    </a:p>
                  </a:txBody>
                  <a:tcPr marL="0" marR="0" marT="0" marB="0">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extLst>
                  <a:ext uri="{0D108BD9-81ED-4DB2-BD59-A6C34878D82A}">
                    <a16:rowId xmlns:a16="http://schemas.microsoft.com/office/drawing/2014/main" val="3543542877"/>
                  </a:ext>
                </a:extLst>
              </a:tr>
              <a:tr h="306324">
                <a:tc>
                  <a:txBody>
                    <a:bodyPr/>
                    <a:lstStyle/>
                    <a:p>
                      <a:r>
                        <a:rPr lang="en-US" b="1" dirty="0">
                          <a:solidFill>
                            <a:srgbClr val="000000"/>
                          </a:solidFill>
                        </a:rPr>
                        <a:t>   1.4</a:t>
                      </a:r>
                    </a:p>
                  </a:txBody>
                  <a:tcPr marL="0" marR="0" marT="0" marB="0" anchor="ctr">
                    <a:lnL w="12700" cmpd="sng">
                      <a:noFill/>
                    </a:lnL>
                    <a:lnR w="12700" cmpd="sng">
                      <a:noFill/>
                    </a:lnR>
                    <a:lnT w="12700" cmpd="sng">
                      <a:noFill/>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0.9192</a:t>
                      </a:r>
                    </a:p>
                  </a:txBody>
                  <a:tcPr marL="6350" marR="6350" marT="6350" marB="0" anchor="ctr">
                    <a:lnL w="12700" cmpd="sng">
                      <a:noFill/>
                    </a:lnL>
                    <a:lnR w="12700" cmpd="sng">
                      <a:noFill/>
                    </a:lnR>
                    <a:lnT w="12700" cmpd="sng">
                      <a:noFill/>
                    </a:lnT>
                    <a:lnB w="28575" cap="flat" cmpd="sng" algn="ctr">
                      <a:noFill/>
                      <a:prstDash val="solid"/>
                      <a:round/>
                      <a:headEnd type="none" w="med" len="med"/>
                      <a:tailEnd type="none" w="med" len="med"/>
                    </a:lnB>
                    <a:solidFill>
                      <a:srgbClr val="FFF4DE"/>
                    </a:solidFill>
                  </a:tcPr>
                </a:tc>
                <a:tc>
                  <a:txBody>
                    <a:bodyPr/>
                    <a:lstStyle/>
                    <a:p>
                      <a:pPr algn="ctr" fontAlgn="b"/>
                      <a:r>
                        <a:rPr lang="en-US" sz="1800" kern="1200" dirty="0">
                          <a:solidFill>
                            <a:srgbClr val="000000"/>
                          </a:solidFill>
                          <a:latin typeface="+mn-lt"/>
                          <a:ea typeface="+mn-ea"/>
                          <a:cs typeface="+mn-cs"/>
                        </a:rPr>
                        <a:t>0.9207</a:t>
                      </a:r>
                    </a:p>
                  </a:txBody>
                  <a:tcPr marL="6350" marR="6350" marT="6350" marB="0" anchor="ctr">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12700" cmpd="sng">
                      <a:noFill/>
                    </a:lnL>
                    <a:lnR w="12700" cmpd="sng">
                      <a:noFill/>
                    </a:lnR>
                    <a:lnT w="12700" cmpd="sng">
                      <a:noFill/>
                    </a:lnT>
                    <a:lnB w="28575" cap="flat" cmpd="sng" algn="ctr">
                      <a:noFill/>
                      <a:prstDash val="solid"/>
                      <a:round/>
                      <a:headEnd type="none" w="med" len="med"/>
                      <a:tailEnd type="none" w="med" len="med"/>
                    </a:lnB>
                    <a:solidFill>
                      <a:srgbClr val="FFF4DE"/>
                    </a:solidFill>
                  </a:tcPr>
                </a:tc>
                <a:tc>
                  <a:txBody>
                    <a:bodyPr/>
                    <a:lstStyle/>
                    <a:p>
                      <a:pPr algn="ctr" fontAlgn="b"/>
                      <a:r>
                        <a:rPr lang="en-US" sz="1800" kern="1200" dirty="0">
                          <a:solidFill>
                            <a:srgbClr val="000000"/>
                          </a:solidFill>
                          <a:latin typeface="+mn-lt"/>
                          <a:ea typeface="+mn-ea"/>
                          <a:cs typeface="+mn-cs"/>
                        </a:rPr>
                        <a:t>0.9306</a:t>
                      </a:r>
                    </a:p>
                  </a:txBody>
                  <a:tcPr marL="6350" marR="6350" marT="6350" marB="0" anchor="ctr">
                    <a:lnL w="12700" cmpd="sng">
                      <a:noFill/>
                    </a:lnL>
                    <a:lnR w="12700" cmpd="sng">
                      <a:noFill/>
                    </a:lnR>
                    <a:lnT w="12700" cmpd="sng">
                      <a:noFill/>
                    </a:lnT>
                    <a:lnB w="28575" cap="flat" cmpd="sng" algn="ctr">
                      <a:solidFill>
                        <a:srgbClr val="FF0000"/>
                      </a:solidFill>
                      <a:prstDash val="solid"/>
                      <a:round/>
                      <a:headEnd type="none" w="med" len="med"/>
                      <a:tailEnd type="none" w="med" len="med"/>
                    </a:lnB>
                    <a:solidFill>
                      <a:srgbClr val="FFF4DE"/>
                    </a:solidFill>
                  </a:tcPr>
                </a:tc>
                <a:tc>
                  <a:txBody>
                    <a:bodyPr/>
                    <a:lstStyle/>
                    <a:p>
                      <a:pPr algn="ctr" fontAlgn="b"/>
                      <a:r>
                        <a:rPr lang="en-US" sz="1800" kern="1200">
                          <a:solidFill>
                            <a:srgbClr val="000000"/>
                          </a:solidFill>
                          <a:latin typeface="+mn-lt"/>
                          <a:ea typeface="+mn-ea"/>
                          <a:cs typeface="+mn-cs"/>
                        </a:rPr>
                        <a:t>0.9319</a:t>
                      </a:r>
                    </a:p>
                  </a:txBody>
                  <a:tcPr marL="6350" marR="6350" marT="6350" marB="0" anchor="ctr">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2350892006"/>
                  </a:ext>
                </a:extLst>
              </a:tr>
              <a:tr h="306324">
                <a:tc>
                  <a:txBody>
                    <a:bodyPr/>
                    <a:lstStyle/>
                    <a:p>
                      <a:r>
                        <a:rPr lang="en-US" b="1" dirty="0">
                          <a:solidFill>
                            <a:srgbClr val="000000"/>
                          </a:solidFill>
                        </a:rPr>
                        <a:t>   1.5</a:t>
                      </a:r>
                    </a:p>
                  </a:txBody>
                  <a:tcPr marL="0" marR="0" marT="0" marB="0" anchor="ctr">
                    <a:lnL w="12700" cmpd="sng">
                      <a:noFill/>
                    </a:lnL>
                    <a:lnR w="28575" cap="flat" cmpd="sng" algn="ctr">
                      <a:noFill/>
                      <a:prstDash val="solid"/>
                      <a:round/>
                      <a:headEnd type="none" w="med" len="med"/>
                      <a:tailEnd type="none" w="med" len="med"/>
                    </a:lnR>
                    <a:lnT w="12700" cmpd="sng">
                      <a:noFill/>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0.9332</a:t>
                      </a:r>
                    </a:p>
                  </a:txBody>
                  <a:tcPr marL="6350" marR="6350" marT="635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kern="1200" dirty="0">
                          <a:solidFill>
                            <a:srgbClr val="000000"/>
                          </a:solidFill>
                          <a:latin typeface="+mn-lt"/>
                          <a:ea typeface="+mn-ea"/>
                          <a:cs typeface="+mn-cs"/>
                        </a:rPr>
                        <a:t>0.9345</a:t>
                      </a:r>
                    </a:p>
                  </a:txBody>
                  <a:tcPr marL="6350" marR="6350" marT="635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28575" cap="flat" cmpd="sng" algn="ctr">
                      <a:no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kern="1200" dirty="0">
                          <a:solidFill>
                            <a:srgbClr val="000000"/>
                          </a:solidFill>
                          <a:latin typeface="+mn-lt"/>
                          <a:ea typeface="+mn-ea"/>
                          <a:cs typeface="+mn-cs"/>
                        </a:rPr>
                        <a:t>0.9429</a:t>
                      </a:r>
                    </a:p>
                  </a:txBody>
                  <a:tcPr marL="6350" marR="6350" marT="6350"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kern="1200">
                          <a:solidFill>
                            <a:srgbClr val="000000"/>
                          </a:solidFill>
                          <a:latin typeface="+mn-lt"/>
                          <a:ea typeface="+mn-ea"/>
                          <a:cs typeface="+mn-cs"/>
                        </a:rPr>
                        <a:t>0.9441</a:t>
                      </a:r>
                    </a:p>
                  </a:txBody>
                  <a:tcPr marL="6350" marR="6350" marT="6350" marB="0" anchor="ctr">
                    <a:lnL w="28575" cap="flat" cmpd="sng" algn="ctr">
                      <a:solidFill>
                        <a:srgbClr val="FF0000"/>
                      </a:solidFill>
                      <a:prstDash val="solid"/>
                      <a:round/>
                      <a:headEnd type="none" w="med" len="med"/>
                      <a:tailEnd type="none" w="med" len="med"/>
                    </a:lnL>
                    <a:lnR w="12700" cmpd="sng">
                      <a:noFill/>
                    </a:lnR>
                    <a:lnT w="12700" cmpd="sng">
                      <a:noFill/>
                    </a:lnT>
                    <a:lnB w="12700" cmpd="sng">
                      <a:noFill/>
                    </a:lnB>
                    <a:solidFill>
                      <a:srgbClr val="FFF4DE"/>
                    </a:solidFill>
                  </a:tcPr>
                </a:tc>
                <a:extLst>
                  <a:ext uri="{0D108BD9-81ED-4DB2-BD59-A6C34878D82A}">
                    <a16:rowId xmlns:a16="http://schemas.microsoft.com/office/drawing/2014/main" val="3843711739"/>
                  </a:ext>
                </a:extLst>
              </a:tr>
              <a:tr h="306324">
                <a:tc>
                  <a:txBody>
                    <a:bodyPr/>
                    <a:lstStyle/>
                    <a:p>
                      <a:r>
                        <a:rPr lang="en-US" b="1" dirty="0">
                          <a:solidFill>
                            <a:srgbClr val="000000"/>
                          </a:solidFill>
                        </a:rPr>
                        <a:t>   1.6</a:t>
                      </a:r>
                    </a:p>
                  </a:txBody>
                  <a:tcPr marL="0" marR="0" marT="0" marB="0" anchor="ctr">
                    <a:lnL w="12700" cmpd="sng">
                      <a:noFill/>
                    </a:lnL>
                    <a:lnR w="12700" cmpd="sng">
                      <a:noFill/>
                    </a:lnR>
                    <a:lnT w="12700" cmpd="sng">
                      <a:noFill/>
                    </a:lnT>
                    <a:lnB w="12700" cmpd="sng">
                      <a:noFill/>
                    </a:lnB>
                    <a:solidFill>
                      <a:srgbClr val="FFF4DE"/>
                    </a:solidFill>
                  </a:tcPr>
                </a:tc>
                <a:tc>
                  <a:txBody>
                    <a:bodyPr/>
                    <a:lstStyle/>
                    <a:p>
                      <a:pPr algn="ctr" fontAlgn="b"/>
                      <a:r>
                        <a:rPr lang="en-US" sz="1800" kern="1200">
                          <a:solidFill>
                            <a:srgbClr val="000000"/>
                          </a:solidFill>
                          <a:latin typeface="+mn-lt"/>
                          <a:ea typeface="+mn-ea"/>
                          <a:cs typeface="+mn-cs"/>
                        </a:rPr>
                        <a:t>0.9452</a:t>
                      </a:r>
                    </a:p>
                  </a:txBody>
                  <a:tcPr marL="6350" marR="6350" marT="6350" marB="0" anchor="ctr">
                    <a:lnL w="12700" cmpd="sng">
                      <a:noFill/>
                    </a:lnL>
                    <a:lnR w="12700" cmpd="sng">
                      <a:noFill/>
                    </a:lnR>
                    <a:lnT w="28575" cap="flat" cmpd="sng" algn="ctr">
                      <a:noFill/>
                      <a:prstDash val="solid"/>
                      <a:round/>
                      <a:headEnd type="none" w="med" len="med"/>
                      <a:tailEnd type="none" w="med" len="med"/>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0.9463</a:t>
                      </a:r>
                    </a:p>
                  </a:txBody>
                  <a:tcPr marL="6350" marR="6350" marT="6350" marB="0" anchor="ctr">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12700" cmpd="sng">
                      <a:noFill/>
                    </a:lnL>
                    <a:lnR w="12700" cmpd="sng">
                      <a:noFill/>
                    </a:lnR>
                    <a:lnT w="28575" cap="flat" cmpd="sng" algn="ctr">
                      <a:noFill/>
                      <a:prstDash val="solid"/>
                      <a:round/>
                      <a:headEnd type="none" w="med" len="med"/>
                      <a:tailEnd type="none" w="med" len="med"/>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0.9535</a:t>
                      </a:r>
                    </a:p>
                  </a:txBody>
                  <a:tcPr marL="6350" marR="6350" marT="6350" marB="0" anchor="ctr">
                    <a:lnL w="12700" cmpd="sng">
                      <a:noFill/>
                    </a:lnL>
                    <a:lnR w="12700" cmpd="sng">
                      <a:noFill/>
                    </a:lnR>
                    <a:lnT w="28575" cap="flat" cmpd="sng" algn="ctr">
                      <a:solidFill>
                        <a:srgbClr val="FF0000"/>
                      </a:solidFill>
                      <a:prstDash val="solid"/>
                      <a:round/>
                      <a:headEnd type="none" w="med" len="med"/>
                      <a:tailEnd type="none" w="med" len="med"/>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0.9545</a:t>
                      </a:r>
                    </a:p>
                  </a:txBody>
                  <a:tcPr marL="6350" marR="6350" marT="6350" marB="0" anchor="ctr">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2748076707"/>
                  </a:ext>
                </a:extLst>
              </a:tr>
              <a:tr h="457200">
                <a:tc>
                  <a:txBody>
                    <a:bodyPr/>
                    <a:lstStyle/>
                    <a:p>
                      <a:r>
                        <a:rPr lang="en-US" sz="1800" b="1" i="0" kern="1200" dirty="0">
                          <a:solidFill>
                            <a:srgbClr val="000000"/>
                          </a:solidFill>
                          <a:effectLst/>
                          <a:latin typeface="+mn-lt"/>
                          <a:ea typeface="+mn-ea"/>
                          <a:cs typeface="+mn-cs"/>
                        </a:rPr>
                        <a:t>     ⋮</a:t>
                      </a:r>
                      <a:endParaRPr lang="en-US" b="1"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1504319095"/>
                  </a:ext>
                </a:extLst>
              </a:tr>
            </a:tbl>
          </a:graphicData>
        </a:graphic>
      </p:graphicFrame>
      <p:pic>
        <p:nvPicPr>
          <p:cNvPr id="6" name="Picture Placeholder 5" descr="A graph plots a normal distribution and the probability corresponding to P(z &gt;= 1.58). The horizontal axis is labeled “z” and ranges from negative 2 to positive 2 with tickmarks in increments of 1. A bell-shaped curve peaks at z = 0. The region under the curve to the left of z = 1.58 is labeled “P(z &lt; 1.58) = 0.9429.” The region under the curve to the right of z = 1.58 is shaded dark and labeled “P(z &gt;= 1.58) = 1.000 minus 0.9429 = 0.0571.”&#10;">
            <a:extLst>
              <a:ext uri="{FF2B5EF4-FFF2-40B4-BE49-F238E27FC236}">
                <a16:creationId xmlns:a16="http://schemas.microsoft.com/office/drawing/2014/main" id="{EBE9711F-025B-5E84-9497-6FC4944C176C}"/>
              </a:ext>
            </a:extLst>
          </p:cNvPr>
          <p:cNvPicPr>
            <a:picLocks noGrp="1" noChangeAspect="1"/>
          </p:cNvPicPr>
          <p:nvPr>
            <p:ph type="pic" sz="quarter" idx="23"/>
          </p:nvPr>
        </p:nvPicPr>
        <p:blipFill rotWithShape="1">
          <a:blip r:embed="rId5"/>
          <a:srcRect t="79" b="79"/>
          <a:stretch/>
        </p:blipFill>
        <p:spPr>
          <a:xfrm>
            <a:off x="7265988" y="1427163"/>
            <a:ext cx="4087812" cy="2001837"/>
          </a:xfrm>
        </p:spPr>
      </p:pic>
    </p:spTree>
    <p:extLst>
      <p:ext uri="{BB962C8B-B14F-4D97-AF65-F5344CB8AC3E}">
        <p14:creationId xmlns:p14="http://schemas.microsoft.com/office/powerpoint/2010/main" val="1339979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8D707C0-B542-FD8F-13AD-B94B6C8213C4}"/>
                  </a:ext>
                </a:extLst>
              </p:cNvPr>
              <p:cNvSpPr>
                <a:spLocks noGrp="1"/>
              </p:cNvSpPr>
              <p:nvPr>
                <p:ph type="title"/>
              </p:nvPr>
            </p:nvSpPr>
            <p:spPr/>
            <p:txBody>
              <a:bodyPr/>
              <a:lstStyle/>
              <a:p>
                <a:r>
                  <a:rPr lang="en-US" dirty="0"/>
                  <a:t>6.2 Find </a:t>
                </a:r>
                <a:r>
                  <a:rPr lang="en-US" i="1" dirty="0"/>
                  <a:t>Z</a:t>
                </a:r>
                <a:r>
                  <a:rPr lang="en-US" dirty="0"/>
                  <a:t> Such That </a:t>
                </a:r>
                <a14:m>
                  <m:oMath xmlns:m="http://schemas.openxmlformats.org/officeDocument/2006/math">
                    <m:r>
                      <a:rPr lang="en-US" b="1" i="1" dirty="0" smtClean="0">
                        <a:latin typeface="Cambria Math" panose="02040503050406030204" pitchFamily="18" charset="0"/>
                      </a:rPr>
                      <m:t>𝑷</m:t>
                    </m:r>
                    <m:d>
                      <m:dPr>
                        <m:ctrlPr>
                          <a:rPr lang="en-US" b="1" i="1" dirty="0" smtClean="0">
                            <a:latin typeface="Cambria Math" panose="02040503050406030204" pitchFamily="18" charset="0"/>
                          </a:rPr>
                        </m:ctrlPr>
                      </m:dPr>
                      <m:e>
                        <m:r>
                          <a:rPr lang="en-US" b="1" i="1" dirty="0" smtClean="0">
                            <a:latin typeface="Cambria Math" panose="02040503050406030204" pitchFamily="18" charset="0"/>
                          </a:rPr>
                          <m:t>𝒛</m:t>
                        </m:r>
                        <m:r>
                          <a:rPr lang="en-US" b="1" i="1" dirty="0" smtClean="0">
                            <a:latin typeface="Cambria Math" panose="02040503050406030204" pitchFamily="18" charset="0"/>
                            <a:ea typeface="Cambria Math" panose="02040503050406030204" pitchFamily="18" charset="0"/>
                          </a:rPr>
                          <m:t>≥</m:t>
                        </m:r>
                        <m:sSup>
                          <m:sSupPr>
                            <m:ctrlPr>
                              <a:rPr lang="en-US" b="1" i="1" dirty="0" smtClean="0">
                                <a:latin typeface="Cambria Math" panose="02040503050406030204" pitchFamily="18" charset="0"/>
                                <a:ea typeface="Cambria Math" panose="02040503050406030204" pitchFamily="18" charset="0"/>
                              </a:rPr>
                            </m:ctrlPr>
                          </m:sSupPr>
                          <m:e>
                            <m:r>
                              <a:rPr lang="en-US" b="1" i="1" dirty="0" smtClean="0">
                                <a:latin typeface="Cambria Math" panose="02040503050406030204" pitchFamily="18" charset="0"/>
                                <a:ea typeface="Cambria Math" panose="02040503050406030204" pitchFamily="18" charset="0"/>
                              </a:rPr>
                              <m:t>𝒛</m:t>
                            </m:r>
                          </m:e>
                          <m:sup>
                            <m:r>
                              <a:rPr lang="en-US" b="1" i="1" dirty="0" smtClean="0">
                                <a:latin typeface="Cambria Math" panose="02040503050406030204" pitchFamily="18" charset="0"/>
                                <a:ea typeface="Cambria Math" panose="02040503050406030204" pitchFamily="18" charset="0"/>
                              </a:rPr>
                              <m:t>∗</m:t>
                            </m:r>
                          </m:sup>
                        </m:sSup>
                      </m:e>
                    </m:d>
                    <m:r>
                      <a:rPr lang="en-US" b="1" i="1" dirty="0" smtClean="0">
                        <a:latin typeface="Cambria Math" panose="02040503050406030204" pitchFamily="18" charset="0"/>
                      </a:rPr>
                      <m:t>=</m:t>
                    </m:r>
                    <m:r>
                      <a:rPr lang="en-US" b="1" i="1" dirty="0" smtClean="0">
                        <a:latin typeface="Cambria Math" panose="02040503050406030204" pitchFamily="18" charset="0"/>
                      </a:rPr>
                      <m:t>𝟎</m:t>
                    </m:r>
                    <m:r>
                      <a:rPr lang="en-US" b="1" i="1" dirty="0" smtClean="0">
                        <a:latin typeface="Cambria Math" panose="02040503050406030204" pitchFamily="18" charset="0"/>
                      </a:rPr>
                      <m:t>.</m:t>
                    </m:r>
                    <m:r>
                      <a:rPr lang="en-US" b="1" i="1" dirty="0" smtClean="0">
                        <a:latin typeface="Cambria Math" panose="02040503050406030204" pitchFamily="18" charset="0"/>
                      </a:rPr>
                      <m:t>𝟏𝟎</m:t>
                    </m:r>
                  </m:oMath>
                </a14:m>
                <a:endParaRPr lang="en-US" dirty="0"/>
              </a:p>
            </p:txBody>
          </p:sp>
        </mc:Choice>
        <mc:Fallback xmlns="">
          <p:sp>
            <p:nvSpPr>
              <p:cNvPr id="2" name="Title 1">
                <a:extLst>
                  <a:ext uri="{FF2B5EF4-FFF2-40B4-BE49-F238E27FC236}">
                    <a16:creationId xmlns:a16="http://schemas.microsoft.com/office/drawing/2014/main" id="{E8D707C0-B542-FD8F-13AD-B94B6C8213C4}"/>
                  </a:ext>
                </a:extLst>
              </p:cNvPr>
              <p:cNvSpPr>
                <a:spLocks noGrp="1" noRot="1" noChangeAspect="1" noMove="1" noResize="1" noEditPoints="1" noAdjustHandles="1" noChangeArrowheads="1" noChangeShapeType="1" noTextEdit="1"/>
              </p:cNvSpPr>
              <p:nvPr>
                <p:ph type="title"/>
              </p:nvPr>
            </p:nvSpPr>
            <p:spPr>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A6230A9-F967-972A-D4F8-3C93585B4891}"/>
                  </a:ext>
                </a:extLst>
              </p:cNvPr>
              <p:cNvSpPr>
                <a:spLocks noGrp="1"/>
              </p:cNvSpPr>
              <p:nvPr>
                <p:ph type="body" sz="quarter" idx="15"/>
              </p:nvPr>
            </p:nvSpPr>
            <p:spPr>
              <a:xfrm>
                <a:off x="743576" y="1386995"/>
                <a:ext cx="6412598" cy="4441310"/>
              </a:xfrm>
            </p:spPr>
            <p:txBody>
              <a:bodyPr>
                <a:noAutofit/>
              </a:bodyPr>
              <a:lstStyle/>
              <a:p>
                <a:pPr>
                  <a:lnSpc>
                    <a:spcPct val="100000"/>
                  </a:lnSpc>
                  <a:spcBef>
                    <a:spcPts val="600"/>
                  </a:spcBef>
                  <a:spcAft>
                    <a:spcPts val="0"/>
                  </a:spcAft>
                </a:pPr>
                <a:r>
                  <a:rPr lang="en-US" sz="2000" dirty="0"/>
                  <a:t>We want to find a </a:t>
                </a:r>
                <a14:m>
                  <m:oMath xmlns:m="http://schemas.openxmlformats.org/officeDocument/2006/math">
                    <m:sSup>
                      <m:sSupPr>
                        <m:ctrlPr>
                          <a:rPr lang="en-US" sz="2000" i="1" dirty="0">
                            <a:latin typeface="Cambria Math" panose="02040503050406030204" pitchFamily="18" charset="0"/>
                            <a:ea typeface="Cambria Math" panose="02040503050406030204" pitchFamily="18" charset="0"/>
                          </a:rPr>
                        </m:ctrlPr>
                      </m:sSupPr>
                      <m:e>
                        <m:r>
                          <a:rPr lang="en-US" sz="2000" b="0" i="1" dirty="0">
                            <a:latin typeface="Cambria Math" panose="02040503050406030204" pitchFamily="18" charset="0"/>
                            <a:ea typeface="Cambria Math" panose="02040503050406030204" pitchFamily="18" charset="0"/>
                          </a:rPr>
                          <m:t>𝑧</m:t>
                        </m:r>
                      </m:e>
                      <m:sup>
                        <m:r>
                          <a:rPr lang="en-US" sz="2000" b="0" i="1" dirty="0">
                            <a:latin typeface="Cambria Math" panose="02040503050406030204" pitchFamily="18" charset="0"/>
                            <a:ea typeface="Cambria Math" panose="02040503050406030204" pitchFamily="18" charset="0"/>
                          </a:rPr>
                          <m:t>∗</m:t>
                        </m:r>
                      </m:sup>
                    </m:sSup>
                  </m:oMath>
                </a14:m>
                <a:r>
                  <a:rPr lang="en-US" sz="2000" dirty="0"/>
                  <a:t> value such that the probability of obtaining a larger </a:t>
                </a:r>
                <a14:m>
                  <m:oMath xmlns:m="http://schemas.openxmlformats.org/officeDocument/2006/math">
                    <m:r>
                      <a:rPr lang="en-US" sz="2000" i="1" dirty="0" smtClean="0">
                        <a:latin typeface="Cambria Math" panose="02040503050406030204" pitchFamily="18" charset="0"/>
                      </a:rPr>
                      <m:t>𝑧</m:t>
                    </m:r>
                  </m:oMath>
                </a14:m>
                <a:r>
                  <a:rPr lang="en-US" sz="2000" dirty="0"/>
                  <a:t> value is 0.10. That is</a:t>
                </a:r>
              </a:p>
              <a:p>
                <a:pPr marL="461963">
                  <a:lnSpc>
                    <a:spcPct val="100000"/>
                  </a:lnSpc>
                  <a:spcBef>
                    <a:spcPts val="600"/>
                  </a:spcBef>
                  <a:spcAft>
                    <a:spcPts val="0"/>
                  </a:spcAft>
                </a:pPr>
                <a14:m>
                  <m:oMath xmlns:m="http://schemas.openxmlformats.org/officeDocument/2006/math">
                    <m:r>
                      <a:rPr lang="en-US" sz="2000" b="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b="0" i="1" dirty="0" smtClean="0">
                            <a:latin typeface="Cambria Math" panose="02040503050406030204" pitchFamily="18" charset="0"/>
                          </a:rPr>
                          <m:t>𝑧</m:t>
                        </m:r>
                        <m:r>
                          <a:rPr lang="en-US" sz="2000" b="0" i="1" dirty="0" smtClean="0">
                            <a:latin typeface="Cambria Math" panose="02040503050406030204" pitchFamily="18" charset="0"/>
                            <a:ea typeface="Cambria Math" panose="02040503050406030204" pitchFamily="18" charset="0"/>
                          </a:rPr>
                          <m:t>≥</m:t>
                        </m:r>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𝑧</m:t>
                            </m:r>
                          </m:e>
                          <m:sup>
                            <m:r>
                              <a:rPr lang="en-US" sz="2000" i="1" dirty="0">
                                <a:latin typeface="Cambria Math" panose="02040503050406030204" pitchFamily="18" charset="0"/>
                                <a:ea typeface="Cambria Math" panose="02040503050406030204" pitchFamily="18" charset="0"/>
                              </a:rPr>
                              <m:t>∗</m:t>
                            </m:r>
                          </m:sup>
                        </m:sSup>
                      </m:e>
                    </m:d>
                    <m:r>
                      <a:rPr lang="en-US" sz="2000" b="0" i="1" dirty="0" smtClean="0">
                        <a:latin typeface="Cambria Math" panose="02040503050406030204" pitchFamily="18" charset="0"/>
                      </a:rPr>
                      <m:t>=0.10</m:t>
                    </m:r>
                  </m:oMath>
                </a14:m>
                <a:r>
                  <a:rPr lang="en-US" sz="2000" dirty="0">
                    <a:latin typeface="Arial" panose="020B0604020202020204" pitchFamily="34" charset="0"/>
                    <a:cs typeface="Arial" panose="020B0604020202020204" pitchFamily="34" charset="0"/>
                  </a:rPr>
                  <a:t> </a:t>
                </a:r>
              </a:p>
              <a:p>
                <a:pPr>
                  <a:lnSpc>
                    <a:spcPct val="100000"/>
                  </a:lnSpc>
                  <a:spcBef>
                    <a:spcPts val="600"/>
                  </a:spcBef>
                  <a:spcAft>
                    <a:spcPts val="0"/>
                  </a:spcAft>
                </a:pPr>
                <a:r>
                  <a:rPr lang="en-US" sz="2000" dirty="0"/>
                  <a:t>In this inverse problem, we need to find the </a:t>
                </a:r>
                <a14:m>
                  <m:oMath xmlns:m="http://schemas.openxmlformats.org/officeDocument/2006/math">
                    <m:r>
                      <a:rPr lang="en-US" sz="2000" i="1" dirty="0" smtClean="0">
                        <a:latin typeface="Cambria Math" panose="02040503050406030204" pitchFamily="18" charset="0"/>
                      </a:rPr>
                      <m:t>𝑧</m:t>
                    </m:r>
                  </m:oMath>
                </a14:m>
                <a:r>
                  <a:rPr lang="en-US" sz="2000" dirty="0"/>
                  <a:t> value that corresponds to a given probability.</a:t>
                </a:r>
              </a:p>
              <a:p>
                <a:pPr>
                  <a:lnSpc>
                    <a:spcPct val="100000"/>
                  </a:lnSpc>
                  <a:spcBef>
                    <a:spcPts val="600"/>
                  </a:spcBef>
                  <a:spcAft>
                    <a:spcPts val="0"/>
                  </a:spcAft>
                </a:pPr>
                <a:r>
                  <a:rPr lang="en-US" sz="2000" dirty="0"/>
                  <a:t>However, the standard normal probability table gives the area under the curve to the </a:t>
                </a:r>
                <a:r>
                  <a:rPr lang="en-US" sz="2000" i="1" dirty="0"/>
                  <a:t>left</a:t>
                </a:r>
                <a:r>
                  <a:rPr lang="en-US" sz="2000" dirty="0"/>
                  <a:t> of a particular </a:t>
                </a:r>
                <a14:m>
                  <m:oMath xmlns:m="http://schemas.openxmlformats.org/officeDocument/2006/math">
                    <m:r>
                      <a:rPr lang="en-US" sz="2000" i="1" dirty="0" smtClean="0">
                        <a:latin typeface="Cambria Math" panose="02040503050406030204" pitchFamily="18" charset="0"/>
                      </a:rPr>
                      <m:t>𝑧</m:t>
                    </m:r>
                  </m:oMath>
                </a14:m>
                <a:r>
                  <a:rPr lang="en-US" sz="2000" dirty="0"/>
                  <a:t> value.</a:t>
                </a:r>
              </a:p>
              <a:p>
                <a:pPr>
                  <a:lnSpc>
                    <a:spcPct val="100000"/>
                  </a:lnSpc>
                  <a:spcBef>
                    <a:spcPts val="600"/>
                  </a:spcBef>
                  <a:spcAft>
                    <a:spcPts val="0"/>
                  </a:spcAft>
                </a:pPr>
                <a:r>
                  <a:rPr lang="en-US" sz="2000" dirty="0"/>
                  <a:t>Thus, we use again the complement rule to find a </a:t>
                </a:r>
                <a14:m>
                  <m:oMath xmlns:m="http://schemas.openxmlformats.org/officeDocument/2006/math">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𝑧</m:t>
                        </m:r>
                      </m:e>
                      <m:sup>
                        <m:r>
                          <a:rPr lang="en-US" sz="2000" i="1" dirty="0">
                            <a:latin typeface="Cambria Math" panose="02040503050406030204" pitchFamily="18" charset="0"/>
                            <a:ea typeface="Cambria Math" panose="02040503050406030204" pitchFamily="18" charset="0"/>
                          </a:rPr>
                          <m:t>∗</m:t>
                        </m:r>
                      </m:sup>
                    </m:sSup>
                  </m:oMath>
                </a14:m>
                <a:r>
                  <a:rPr lang="en-US" sz="2000" dirty="0"/>
                  <a:t> value such that</a:t>
                </a:r>
              </a:p>
              <a:p>
                <a:pPr marL="461963">
                  <a:lnSpc>
                    <a:spcPct val="100000"/>
                  </a:lnSpc>
                  <a:spcBef>
                    <a:spcPts val="600"/>
                  </a:spcBef>
                  <a:spcAft>
                    <a:spcPts val="0"/>
                  </a:spcAft>
                </a:pPr>
                <a14:m>
                  <m:oMath xmlns:m="http://schemas.openxmlformats.org/officeDocument/2006/math">
                    <m:r>
                      <a:rPr lang="en-US" sz="2000" b="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b="0" i="1" dirty="0" smtClean="0">
                            <a:latin typeface="Cambria Math" panose="02040503050406030204" pitchFamily="18" charset="0"/>
                          </a:rPr>
                          <m:t>𝑧</m:t>
                        </m:r>
                        <m:r>
                          <a:rPr lang="en-US" sz="2000" i="1" dirty="0">
                            <a:latin typeface="Cambria Math" panose="02040503050406030204" pitchFamily="18" charset="0"/>
                            <a:ea typeface="Cambria Math" panose="02040503050406030204" pitchFamily="18" charset="0"/>
                          </a:rPr>
                          <m:t>≤</m:t>
                        </m:r>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𝑧</m:t>
                            </m:r>
                          </m:e>
                          <m:sup>
                            <m:r>
                              <a:rPr lang="en-US" sz="2000" i="1" dirty="0">
                                <a:latin typeface="Cambria Math" panose="02040503050406030204" pitchFamily="18" charset="0"/>
                                <a:ea typeface="Cambria Math" panose="02040503050406030204" pitchFamily="18" charset="0"/>
                              </a:rPr>
                              <m:t>∗</m:t>
                            </m:r>
                          </m:sup>
                        </m:sSup>
                      </m:e>
                    </m:d>
                    <m:r>
                      <a:rPr lang="en-US" sz="2000" b="0" i="1" dirty="0" smtClean="0">
                        <a:latin typeface="Cambria Math" panose="02040503050406030204" pitchFamily="18" charset="0"/>
                      </a:rPr>
                      <m:t>=</m:t>
                    </m:r>
                    <m:r>
                      <a:rPr lang="en-US" sz="2000" i="1" dirty="0">
                        <a:latin typeface="Cambria Math" panose="02040503050406030204" pitchFamily="18" charset="0"/>
                      </a:rPr>
                      <m:t>1</m:t>
                    </m:r>
                    <m:r>
                      <a:rPr lang="en-US" sz="2000" b="0" i="1" dirty="0" smtClean="0">
                        <a:latin typeface="Cambria Math" panose="02040503050406030204" pitchFamily="18" charset="0"/>
                      </a:rPr>
                      <m:t>−</m:t>
                    </m:r>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𝑧</m:t>
                        </m:r>
                        <m:r>
                          <a:rPr lang="en-US" sz="2000" i="1" dirty="0">
                            <a:latin typeface="Cambria Math" panose="02040503050406030204" pitchFamily="18" charset="0"/>
                            <a:ea typeface="Cambria Math" panose="02040503050406030204" pitchFamily="18" charset="0"/>
                          </a:rPr>
                          <m:t>≥</m:t>
                        </m:r>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𝑧</m:t>
                            </m:r>
                          </m:e>
                          <m:sup>
                            <m:r>
                              <a:rPr lang="en-US" sz="2000" i="1" dirty="0">
                                <a:latin typeface="Cambria Math" panose="02040503050406030204" pitchFamily="18" charset="0"/>
                                <a:ea typeface="Cambria Math" panose="02040503050406030204" pitchFamily="18" charset="0"/>
                              </a:rPr>
                              <m:t>∗</m:t>
                            </m:r>
                          </m:sup>
                        </m:sSup>
                      </m:e>
                    </m:d>
                    <m:r>
                      <a:rPr lang="en-US" sz="2000" b="0" i="1" dirty="0" smtClean="0">
                        <a:latin typeface="Cambria Math" panose="02040503050406030204" pitchFamily="18" charset="0"/>
                        <a:ea typeface="Cambria Math" panose="02040503050406030204" pitchFamily="18" charset="0"/>
                      </a:rPr>
                      <m:t>=1</m:t>
                    </m:r>
                    <m:r>
                      <a:rPr lang="en-US" sz="2000" b="0" i="1" dirty="0" smtClean="0">
                        <a:latin typeface="Cambria Math" panose="02040503050406030204" pitchFamily="18" charset="0"/>
                      </a:rPr>
                      <m:t>−0.10=0.90</m:t>
                    </m:r>
                  </m:oMath>
                </a14:m>
                <a:r>
                  <a:rPr lang="en-US" sz="2000" dirty="0">
                    <a:latin typeface="Arial" panose="020B0604020202020204" pitchFamily="34" charset="0"/>
                    <a:cs typeface="Arial" panose="020B0604020202020204" pitchFamily="34" charset="0"/>
                  </a:rPr>
                  <a:t> </a:t>
                </a:r>
                <a:endParaRPr lang="en-US" sz="2000" dirty="0"/>
              </a:p>
              <a:p>
                <a:pPr>
                  <a:lnSpc>
                    <a:spcPct val="100000"/>
                  </a:lnSpc>
                  <a:spcBef>
                    <a:spcPts val="600"/>
                  </a:spcBef>
                  <a:spcAft>
                    <a:spcPts val="0"/>
                  </a:spcAft>
                </a:pPr>
                <a:r>
                  <a:rPr lang="en-US" sz="2000" dirty="0"/>
                  <a:t>Table 1 of Appendix B shows the closest probability to 0.9000 to be 0.8997, corresponding to the 1.2 row and the 0.08 column. That is, </a:t>
                </a:r>
                <a14:m>
                  <m:oMath xmlns:m="http://schemas.openxmlformats.org/officeDocument/2006/math">
                    <m:sSup>
                      <m:sSupPr>
                        <m:ctrlPr>
                          <a:rPr lang="en-US" sz="2000" i="1" dirty="0">
                            <a:latin typeface="Cambria Math" panose="02040503050406030204" pitchFamily="18" charset="0"/>
                            <a:ea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𝑧</m:t>
                        </m:r>
                      </m:e>
                      <m:sup>
                        <m:r>
                          <a:rPr lang="en-US" sz="2000" i="1" dirty="0">
                            <a:latin typeface="Cambria Math" panose="02040503050406030204" pitchFamily="18" charset="0"/>
                            <a:ea typeface="Cambria Math" panose="02040503050406030204" pitchFamily="18" charset="0"/>
                          </a:rPr>
                          <m:t>∗</m:t>
                        </m:r>
                      </m:sup>
                    </m:sSup>
                    <m:r>
                      <a:rPr lang="en-US" sz="2000" b="0" i="1" dirty="0" smtClean="0">
                        <a:latin typeface="Cambria Math" panose="02040503050406030204" pitchFamily="18" charset="0"/>
                      </a:rPr>
                      <m:t>=1.28</m:t>
                    </m:r>
                  </m:oMath>
                </a14:m>
                <a:r>
                  <a:rPr lang="en-US" sz="2000" dirty="0"/>
                  <a:t> (*see notes.)</a:t>
                </a:r>
              </a:p>
            </p:txBody>
          </p:sp>
        </mc:Choice>
        <mc:Fallback xmlns="">
          <p:sp>
            <p:nvSpPr>
              <p:cNvPr id="4" name="Text Placeholder 3">
                <a:extLst>
                  <a:ext uri="{FF2B5EF4-FFF2-40B4-BE49-F238E27FC236}">
                    <a16:creationId xmlns:a16="http://schemas.microsoft.com/office/drawing/2014/main" id="{8A6230A9-F967-972A-D4F8-3C93585B4891}"/>
                  </a:ext>
                </a:extLst>
              </p:cNvPr>
              <p:cNvSpPr>
                <a:spLocks noGrp="1" noRot="1" noChangeAspect="1" noMove="1" noResize="1" noEditPoints="1" noAdjustHandles="1" noChangeArrowheads="1" noChangeShapeType="1" noTextEdit="1"/>
              </p:cNvSpPr>
              <p:nvPr>
                <p:ph type="body" sz="quarter" idx="15"/>
              </p:nvPr>
            </p:nvSpPr>
            <p:spPr>
              <a:xfrm>
                <a:off x="743576" y="1386995"/>
                <a:ext cx="6412598" cy="4441310"/>
              </a:xfrm>
              <a:blipFill>
                <a:blip r:embed="rId4"/>
                <a:stretch>
                  <a:fillRect l="-2471" t="-1648" r="-1996" b="-3159"/>
                </a:stretch>
              </a:blipFill>
            </p:spPr>
            <p:txBody>
              <a:bodyPr/>
              <a:lstStyle/>
              <a:p>
                <a:r>
                  <a:rPr lang="en-US">
                    <a:noFill/>
                  </a:rPr>
                  <a:t> </a:t>
                </a:r>
              </a:p>
            </p:txBody>
          </p:sp>
        </mc:Fallback>
      </mc:AlternateContent>
      <p:graphicFrame>
        <p:nvGraphicFramePr>
          <p:cNvPr id="14" name="Table 7">
            <a:extLst>
              <a:ext uri="{FF2B5EF4-FFF2-40B4-BE49-F238E27FC236}">
                <a16:creationId xmlns:a16="http://schemas.microsoft.com/office/drawing/2014/main" id="{359018F5-C854-23DC-8DCB-8F2C1D27AEA0}"/>
              </a:ext>
            </a:extLst>
          </p:cNvPr>
          <p:cNvGraphicFramePr>
            <a:graphicFrameLocks noGrp="1"/>
          </p:cNvGraphicFramePr>
          <p:nvPr>
            <p:ph type="tbl" sz="quarter" idx="22"/>
          </p:nvPr>
        </p:nvGraphicFramePr>
        <p:xfrm>
          <a:off x="7265988" y="3672709"/>
          <a:ext cx="4093578" cy="2139696"/>
        </p:xfrm>
        <a:graphic>
          <a:graphicData uri="http://schemas.openxmlformats.org/drawingml/2006/table">
            <a:tbl>
              <a:tblPr firstRow="1" bandRow="1">
                <a:tableStyleId>{5C22544A-7EE6-4342-B048-85BDC9FD1C3A}</a:tableStyleId>
              </a:tblPr>
              <a:tblGrid>
                <a:gridCol w="552458">
                  <a:extLst>
                    <a:ext uri="{9D8B030D-6E8A-4147-A177-3AD203B41FA5}">
                      <a16:colId xmlns:a16="http://schemas.microsoft.com/office/drawing/2014/main" val="1015218121"/>
                    </a:ext>
                  </a:extLst>
                </a:gridCol>
                <a:gridCol w="748120">
                  <a:extLst>
                    <a:ext uri="{9D8B030D-6E8A-4147-A177-3AD203B41FA5}">
                      <a16:colId xmlns:a16="http://schemas.microsoft.com/office/drawing/2014/main" val="2332062863"/>
                    </a:ext>
                  </a:extLst>
                </a:gridCol>
                <a:gridCol w="748120">
                  <a:extLst>
                    <a:ext uri="{9D8B030D-6E8A-4147-A177-3AD203B41FA5}">
                      <a16:colId xmlns:a16="http://schemas.microsoft.com/office/drawing/2014/main" val="2443968822"/>
                    </a:ext>
                  </a:extLst>
                </a:gridCol>
                <a:gridCol w="548640">
                  <a:extLst>
                    <a:ext uri="{9D8B030D-6E8A-4147-A177-3AD203B41FA5}">
                      <a16:colId xmlns:a16="http://schemas.microsoft.com/office/drawing/2014/main" val="758356444"/>
                    </a:ext>
                  </a:extLst>
                </a:gridCol>
                <a:gridCol w="748120">
                  <a:extLst>
                    <a:ext uri="{9D8B030D-6E8A-4147-A177-3AD203B41FA5}">
                      <a16:colId xmlns:a16="http://schemas.microsoft.com/office/drawing/2014/main" val="3733842712"/>
                    </a:ext>
                  </a:extLst>
                </a:gridCol>
                <a:gridCol w="748120">
                  <a:extLst>
                    <a:ext uri="{9D8B030D-6E8A-4147-A177-3AD203B41FA5}">
                      <a16:colId xmlns:a16="http://schemas.microsoft.com/office/drawing/2014/main" val="3093452600"/>
                    </a:ext>
                  </a:extLst>
                </a:gridCol>
              </a:tblGrid>
              <a:tr h="306324">
                <a:tc>
                  <a:txBody>
                    <a:bodyPr/>
                    <a:lstStyle/>
                    <a:p>
                      <a:r>
                        <a:rPr lang="en-US" b="1" dirty="0">
                          <a:solidFill>
                            <a:srgbClr val="000000"/>
                          </a:solidFill>
                        </a:rPr>
                        <a:t>     z</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0.00</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0.01</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a:t>
                      </a:r>
                    </a:p>
                  </a:txBody>
                  <a:tcPr marL="0" marR="0" marT="0" marB="0">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0.08</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tc>
                  <a:txBody>
                    <a:bodyPr/>
                    <a:lstStyle/>
                    <a:p>
                      <a:pPr algn="ctr"/>
                      <a:r>
                        <a:rPr lang="en-US" dirty="0">
                          <a:solidFill>
                            <a:srgbClr val="000000"/>
                          </a:solidFill>
                        </a:rPr>
                        <a:t>0.09</a:t>
                      </a:r>
                    </a:p>
                  </a:txBody>
                  <a:tcPr marL="0" marR="0" marT="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solidFill>
                      <a:srgbClr val="FFF4DE"/>
                    </a:solidFill>
                  </a:tcPr>
                </a:tc>
                <a:extLst>
                  <a:ext uri="{0D108BD9-81ED-4DB2-BD59-A6C34878D82A}">
                    <a16:rowId xmlns:a16="http://schemas.microsoft.com/office/drawing/2014/main" val="4018950820"/>
                  </a:ext>
                </a:extLst>
              </a:tr>
              <a:tr h="457200">
                <a:tc>
                  <a:txBody>
                    <a:bodyPr/>
                    <a:lstStyle/>
                    <a:p>
                      <a:r>
                        <a:rPr lang="en-US" sz="1800" b="1" i="0" kern="1200" dirty="0">
                          <a:solidFill>
                            <a:srgbClr val="000000"/>
                          </a:solidFill>
                          <a:effectLst/>
                          <a:latin typeface="+mn-lt"/>
                          <a:ea typeface="+mn-ea"/>
                          <a:cs typeface="+mn-cs"/>
                        </a:rPr>
                        <a:t>     ⋮</a:t>
                      </a:r>
                      <a:endParaRPr lang="en-US" b="1"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endParaRPr lang="en-US" dirty="0">
                        <a:solidFill>
                          <a:srgbClr val="000000"/>
                        </a:solidFill>
                      </a:endParaRPr>
                    </a:p>
                  </a:txBody>
                  <a:tcPr marL="0" marR="0" marT="0" marB="0">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solidFill>
                      <a:srgbClr val="FFF4DE"/>
                    </a:solidFill>
                  </a:tcPr>
                </a:tc>
                <a:extLst>
                  <a:ext uri="{0D108BD9-81ED-4DB2-BD59-A6C34878D82A}">
                    <a16:rowId xmlns:a16="http://schemas.microsoft.com/office/drawing/2014/main" val="3543542877"/>
                  </a:ext>
                </a:extLst>
              </a:tr>
              <a:tr h="306324">
                <a:tc>
                  <a:txBody>
                    <a:bodyPr/>
                    <a:lstStyle/>
                    <a:p>
                      <a:r>
                        <a:rPr lang="en-US" b="1" dirty="0">
                          <a:solidFill>
                            <a:srgbClr val="000000"/>
                          </a:solidFill>
                        </a:rPr>
                        <a:t>   1.1</a:t>
                      </a:r>
                    </a:p>
                  </a:txBody>
                  <a:tcPr marL="0" marR="0" marT="0" marB="0" anchor="ctr">
                    <a:lnL w="12700" cmpd="sng">
                      <a:noFill/>
                    </a:lnL>
                    <a:lnR w="12700" cmpd="sng">
                      <a:noFill/>
                    </a:lnR>
                    <a:lnT w="12700" cmpd="sng">
                      <a:noFill/>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0.8643</a:t>
                      </a:r>
                    </a:p>
                  </a:txBody>
                  <a:tcPr marL="6350" marR="6350" marT="6350" marB="0" anchor="b">
                    <a:lnL w="12700" cmpd="sng">
                      <a:noFill/>
                    </a:lnL>
                    <a:lnR w="12700" cmpd="sng">
                      <a:noFill/>
                    </a:lnR>
                    <a:lnT w="12700" cmpd="sng">
                      <a:noFill/>
                    </a:lnT>
                    <a:lnB w="28575" cap="flat" cmpd="sng" algn="ctr">
                      <a:noFill/>
                      <a:prstDash val="solid"/>
                      <a:round/>
                      <a:headEnd type="none" w="med" len="med"/>
                      <a:tailEnd type="none" w="med" len="med"/>
                    </a:lnB>
                    <a:solidFill>
                      <a:srgbClr val="FFF4DE"/>
                    </a:solidFill>
                  </a:tcPr>
                </a:tc>
                <a:tc>
                  <a:txBody>
                    <a:bodyPr/>
                    <a:lstStyle/>
                    <a:p>
                      <a:pPr algn="ctr" fontAlgn="b"/>
                      <a:r>
                        <a:rPr lang="en-US" sz="1800" kern="1200">
                          <a:solidFill>
                            <a:srgbClr val="000000"/>
                          </a:solidFill>
                          <a:latin typeface="+mn-lt"/>
                          <a:ea typeface="+mn-ea"/>
                          <a:cs typeface="+mn-cs"/>
                        </a:rPr>
                        <a:t>0.8665</a:t>
                      </a:r>
                    </a:p>
                  </a:txBody>
                  <a:tcPr marL="6350" marR="6350" marT="6350" marB="0" anchor="b">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12700" cmpd="sng">
                      <a:noFill/>
                    </a:lnL>
                    <a:lnR w="12700" cmpd="sng">
                      <a:noFill/>
                    </a:lnR>
                    <a:lnT w="12700" cmpd="sng">
                      <a:noFill/>
                    </a:lnT>
                    <a:lnB w="28575" cap="flat" cmpd="sng" algn="ctr">
                      <a:noFill/>
                      <a:prstDash val="solid"/>
                      <a:round/>
                      <a:headEnd type="none" w="med" len="med"/>
                      <a:tailEnd type="none" w="med" len="med"/>
                    </a:lnB>
                    <a:solidFill>
                      <a:srgbClr val="FFF4DE"/>
                    </a:solidFill>
                  </a:tcPr>
                </a:tc>
                <a:tc>
                  <a:txBody>
                    <a:bodyPr/>
                    <a:lstStyle/>
                    <a:p>
                      <a:pPr algn="ctr" fontAlgn="b"/>
                      <a:r>
                        <a:rPr lang="en-US" sz="1800" kern="1200" dirty="0">
                          <a:solidFill>
                            <a:srgbClr val="000000"/>
                          </a:solidFill>
                          <a:latin typeface="+mn-lt"/>
                          <a:ea typeface="+mn-ea"/>
                          <a:cs typeface="+mn-cs"/>
                        </a:rPr>
                        <a:t>0.8810</a:t>
                      </a:r>
                    </a:p>
                  </a:txBody>
                  <a:tcPr marL="6350" marR="6350" marT="6350" marB="0" anchor="b">
                    <a:lnL w="12700" cmpd="sng">
                      <a:noFill/>
                    </a:lnL>
                    <a:lnR w="12700" cmpd="sng">
                      <a:noFill/>
                    </a:lnR>
                    <a:lnT w="12700" cmpd="sng">
                      <a:noFill/>
                    </a:lnT>
                    <a:lnB w="28575" cap="flat" cmpd="sng" algn="ctr">
                      <a:solidFill>
                        <a:srgbClr val="FF0000"/>
                      </a:solidFill>
                      <a:prstDash val="solid"/>
                      <a:round/>
                      <a:headEnd type="none" w="med" len="med"/>
                      <a:tailEnd type="none" w="med" len="med"/>
                    </a:lnB>
                    <a:solidFill>
                      <a:srgbClr val="FFF4DE"/>
                    </a:solidFill>
                  </a:tcPr>
                </a:tc>
                <a:tc>
                  <a:txBody>
                    <a:bodyPr/>
                    <a:lstStyle/>
                    <a:p>
                      <a:pPr algn="ctr" fontAlgn="b"/>
                      <a:r>
                        <a:rPr lang="en-US" sz="1800" kern="1200">
                          <a:solidFill>
                            <a:srgbClr val="000000"/>
                          </a:solidFill>
                          <a:latin typeface="+mn-lt"/>
                          <a:ea typeface="+mn-ea"/>
                          <a:cs typeface="+mn-cs"/>
                        </a:rPr>
                        <a:t>0.8830</a:t>
                      </a:r>
                    </a:p>
                  </a:txBody>
                  <a:tcPr marL="6350" marR="6350" marT="6350" marB="0" anchor="b">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2350892006"/>
                  </a:ext>
                </a:extLst>
              </a:tr>
              <a:tr h="306324">
                <a:tc>
                  <a:txBody>
                    <a:bodyPr/>
                    <a:lstStyle/>
                    <a:p>
                      <a:r>
                        <a:rPr lang="en-US" b="1" dirty="0">
                          <a:solidFill>
                            <a:srgbClr val="000000"/>
                          </a:solidFill>
                        </a:rPr>
                        <a:t>   1.2</a:t>
                      </a:r>
                    </a:p>
                  </a:txBody>
                  <a:tcPr marL="0" marR="0" marT="0" marB="0" anchor="ctr">
                    <a:lnL w="12700" cmpd="sng">
                      <a:noFill/>
                    </a:lnL>
                    <a:lnR w="28575" cap="flat" cmpd="sng" algn="ctr">
                      <a:noFill/>
                      <a:prstDash val="solid"/>
                      <a:round/>
                      <a:headEnd type="none" w="med" len="med"/>
                      <a:tailEnd type="none" w="med" len="med"/>
                    </a:lnR>
                    <a:lnT w="12700" cmpd="sng">
                      <a:noFill/>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0.8849</a:t>
                      </a:r>
                    </a:p>
                  </a:txBody>
                  <a:tcPr marL="6350" marR="6350" marT="6350" marB="0"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kern="1200" dirty="0">
                          <a:solidFill>
                            <a:srgbClr val="000000"/>
                          </a:solidFill>
                          <a:latin typeface="+mn-lt"/>
                          <a:ea typeface="+mn-ea"/>
                          <a:cs typeface="+mn-cs"/>
                        </a:rPr>
                        <a:t>0.8869</a:t>
                      </a:r>
                    </a:p>
                  </a:txBody>
                  <a:tcPr marL="6350" marR="6350" marT="6350" marB="0"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28575" cap="flat" cmpd="sng" algn="ctr">
                      <a:no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kern="1200" dirty="0">
                          <a:solidFill>
                            <a:srgbClr val="000000"/>
                          </a:solidFill>
                          <a:latin typeface="+mn-lt"/>
                          <a:ea typeface="+mn-ea"/>
                          <a:cs typeface="+mn-cs"/>
                        </a:rPr>
                        <a:t>0.8997</a:t>
                      </a:r>
                    </a:p>
                  </a:txBody>
                  <a:tcPr marL="6350" marR="6350" marT="6350" marB="0" anchor="b">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kern="1200">
                          <a:solidFill>
                            <a:srgbClr val="000000"/>
                          </a:solidFill>
                          <a:latin typeface="+mn-lt"/>
                          <a:ea typeface="+mn-ea"/>
                          <a:cs typeface="+mn-cs"/>
                        </a:rPr>
                        <a:t>0.9015</a:t>
                      </a:r>
                    </a:p>
                  </a:txBody>
                  <a:tcPr marL="6350" marR="6350" marT="6350" marB="0" anchor="b">
                    <a:lnL w="28575" cap="flat" cmpd="sng" algn="ctr">
                      <a:solidFill>
                        <a:srgbClr val="FF0000"/>
                      </a:solidFill>
                      <a:prstDash val="solid"/>
                      <a:round/>
                      <a:headEnd type="none" w="med" len="med"/>
                      <a:tailEnd type="none" w="med" len="med"/>
                    </a:lnL>
                    <a:lnR w="12700" cmpd="sng">
                      <a:noFill/>
                    </a:lnR>
                    <a:lnT w="12700" cmpd="sng">
                      <a:noFill/>
                    </a:lnT>
                    <a:lnB w="12700" cmpd="sng">
                      <a:noFill/>
                    </a:lnB>
                    <a:solidFill>
                      <a:srgbClr val="FFF4DE"/>
                    </a:solidFill>
                  </a:tcPr>
                </a:tc>
                <a:extLst>
                  <a:ext uri="{0D108BD9-81ED-4DB2-BD59-A6C34878D82A}">
                    <a16:rowId xmlns:a16="http://schemas.microsoft.com/office/drawing/2014/main" val="3843711739"/>
                  </a:ext>
                </a:extLst>
              </a:tr>
              <a:tr h="306324">
                <a:tc>
                  <a:txBody>
                    <a:bodyPr/>
                    <a:lstStyle/>
                    <a:p>
                      <a:r>
                        <a:rPr lang="en-US" b="1" dirty="0">
                          <a:solidFill>
                            <a:srgbClr val="000000"/>
                          </a:solidFill>
                        </a:rPr>
                        <a:t>   1.3</a:t>
                      </a:r>
                    </a:p>
                  </a:txBody>
                  <a:tcPr marL="0" marR="0" marT="0" marB="0" anchor="ctr">
                    <a:lnL w="12700" cmpd="sng">
                      <a:noFill/>
                    </a:lnL>
                    <a:lnR w="12700" cmpd="sng">
                      <a:noFill/>
                    </a:lnR>
                    <a:lnT w="12700" cmpd="sng">
                      <a:noFill/>
                    </a:lnT>
                    <a:lnB w="12700" cmpd="sng">
                      <a:noFill/>
                    </a:lnB>
                    <a:solidFill>
                      <a:srgbClr val="FFF4DE"/>
                    </a:solidFill>
                  </a:tcPr>
                </a:tc>
                <a:tc>
                  <a:txBody>
                    <a:bodyPr/>
                    <a:lstStyle/>
                    <a:p>
                      <a:pPr algn="ctr" fontAlgn="b"/>
                      <a:r>
                        <a:rPr lang="en-US" sz="1800" kern="1200">
                          <a:solidFill>
                            <a:srgbClr val="000000"/>
                          </a:solidFill>
                          <a:latin typeface="+mn-lt"/>
                          <a:ea typeface="+mn-ea"/>
                          <a:cs typeface="+mn-cs"/>
                        </a:rPr>
                        <a:t>0.9032</a:t>
                      </a:r>
                    </a:p>
                  </a:txBody>
                  <a:tcPr marL="6350" marR="6350" marT="6350" marB="0" anchor="b">
                    <a:lnL w="12700" cmpd="sng">
                      <a:noFill/>
                    </a:lnL>
                    <a:lnR w="12700" cmpd="sng">
                      <a:noFill/>
                    </a:lnR>
                    <a:lnT w="28575" cap="flat" cmpd="sng" algn="ctr">
                      <a:noFill/>
                      <a:prstDash val="solid"/>
                      <a:round/>
                      <a:headEnd type="none" w="med" len="med"/>
                      <a:tailEnd type="none" w="med" len="med"/>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0.9049</a:t>
                      </a:r>
                    </a:p>
                  </a:txBody>
                  <a:tcPr marL="6350" marR="6350" marT="6350" marB="0" anchor="b">
                    <a:lnL w="12700" cmpd="sng">
                      <a:noFill/>
                    </a:lnL>
                    <a:lnR w="12700" cmpd="sng">
                      <a:noFill/>
                    </a:lnR>
                    <a:lnT w="12700" cmpd="sng">
                      <a:noFill/>
                    </a:lnT>
                    <a:lnB w="12700" cmpd="sng">
                      <a:noFill/>
                    </a:lnB>
                    <a:solidFill>
                      <a:srgbClr val="FFF4DE"/>
                    </a:solidFill>
                  </a:tcPr>
                </a:tc>
                <a:tc>
                  <a:txBody>
                    <a:bodyPr/>
                    <a:lstStyle/>
                    <a:p>
                      <a:pPr marL="0" algn="ctr" defTabSz="914400" rtl="0" eaLnBrk="1" fontAlgn="b" latinLnBrk="0" hangingPunct="1"/>
                      <a:r>
                        <a:rPr lang="en-US" sz="1800" kern="1200" dirty="0">
                          <a:solidFill>
                            <a:srgbClr val="000000"/>
                          </a:solidFill>
                          <a:latin typeface="+mn-lt"/>
                          <a:ea typeface="+mn-ea"/>
                          <a:cs typeface="+mn-cs"/>
                        </a:rPr>
                        <a:t>…</a:t>
                      </a:r>
                    </a:p>
                  </a:txBody>
                  <a:tcPr marL="6350" marR="6350" marT="6350" marB="0">
                    <a:lnL w="12700" cmpd="sng">
                      <a:noFill/>
                    </a:lnL>
                    <a:lnR w="12700" cmpd="sng">
                      <a:noFill/>
                    </a:lnR>
                    <a:lnT w="28575" cap="flat" cmpd="sng" algn="ctr">
                      <a:noFill/>
                      <a:prstDash val="solid"/>
                      <a:round/>
                      <a:headEnd type="none" w="med" len="med"/>
                      <a:tailEnd type="none" w="med" len="med"/>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0.9162</a:t>
                      </a:r>
                    </a:p>
                  </a:txBody>
                  <a:tcPr marL="6350" marR="6350" marT="6350" marB="0" anchor="b">
                    <a:lnL w="12700" cmpd="sng">
                      <a:noFill/>
                    </a:lnL>
                    <a:lnR w="12700" cmpd="sng">
                      <a:noFill/>
                    </a:lnR>
                    <a:lnT w="28575" cap="flat" cmpd="sng" algn="ctr">
                      <a:solidFill>
                        <a:srgbClr val="FF0000"/>
                      </a:solidFill>
                      <a:prstDash val="solid"/>
                      <a:round/>
                      <a:headEnd type="none" w="med" len="med"/>
                      <a:tailEnd type="none" w="med" len="med"/>
                    </a:lnT>
                    <a:lnB w="12700" cmpd="sng">
                      <a:noFill/>
                    </a:lnB>
                    <a:solidFill>
                      <a:srgbClr val="FFF4DE"/>
                    </a:solidFill>
                  </a:tcPr>
                </a:tc>
                <a:tc>
                  <a:txBody>
                    <a:bodyPr/>
                    <a:lstStyle/>
                    <a:p>
                      <a:pPr algn="ctr" fontAlgn="b"/>
                      <a:r>
                        <a:rPr lang="en-US" sz="1800" kern="1200" dirty="0">
                          <a:solidFill>
                            <a:srgbClr val="000000"/>
                          </a:solidFill>
                          <a:latin typeface="+mn-lt"/>
                          <a:ea typeface="+mn-ea"/>
                          <a:cs typeface="+mn-cs"/>
                        </a:rPr>
                        <a:t>0.9177</a:t>
                      </a:r>
                    </a:p>
                  </a:txBody>
                  <a:tcPr marL="6350" marR="6350" marT="6350" marB="0" anchor="b">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2748076707"/>
                  </a:ext>
                </a:extLst>
              </a:tr>
              <a:tr h="457200">
                <a:tc>
                  <a:txBody>
                    <a:bodyPr/>
                    <a:lstStyle/>
                    <a:p>
                      <a:r>
                        <a:rPr lang="en-US" sz="1800" b="1" i="0" kern="1200" dirty="0">
                          <a:solidFill>
                            <a:srgbClr val="000000"/>
                          </a:solidFill>
                          <a:effectLst/>
                          <a:latin typeface="+mn-lt"/>
                          <a:ea typeface="+mn-ea"/>
                          <a:cs typeface="+mn-cs"/>
                        </a:rPr>
                        <a:t>     ⋮</a:t>
                      </a:r>
                      <a:endParaRPr lang="en-US" b="1"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tc>
                  <a:txBody>
                    <a:bodyPr/>
                    <a:lstStyle/>
                    <a:p>
                      <a:pPr algn="ctr"/>
                      <a:r>
                        <a:rPr lang="en-US" sz="1800" b="1" i="0" kern="1200" dirty="0">
                          <a:solidFill>
                            <a:srgbClr val="000000"/>
                          </a:solidFill>
                          <a:effectLst/>
                          <a:latin typeface="+mn-lt"/>
                          <a:ea typeface="+mn-ea"/>
                          <a:cs typeface="+mn-cs"/>
                        </a:rPr>
                        <a:t>⋮</a:t>
                      </a:r>
                      <a:endParaRPr lang="en-US" dirty="0">
                        <a:solidFill>
                          <a:srgbClr val="000000"/>
                        </a:solidFill>
                      </a:endParaRPr>
                    </a:p>
                  </a:txBody>
                  <a:tcPr marL="0" marR="0" marT="0" marB="0">
                    <a:lnL w="12700" cmpd="sng">
                      <a:noFill/>
                    </a:lnL>
                    <a:lnR w="12700" cmpd="sng">
                      <a:noFill/>
                    </a:lnR>
                    <a:lnT w="12700" cmpd="sng">
                      <a:noFill/>
                    </a:lnT>
                    <a:lnB w="12700" cmpd="sng">
                      <a:noFill/>
                    </a:lnB>
                    <a:solidFill>
                      <a:srgbClr val="FFF4DE"/>
                    </a:solidFill>
                  </a:tcPr>
                </a:tc>
                <a:extLst>
                  <a:ext uri="{0D108BD9-81ED-4DB2-BD59-A6C34878D82A}">
                    <a16:rowId xmlns:a16="http://schemas.microsoft.com/office/drawing/2014/main" val="1504319095"/>
                  </a:ext>
                </a:extLst>
              </a:tr>
            </a:tbl>
          </a:graphicData>
        </a:graphic>
      </p:graphicFrame>
      <p:pic>
        <p:nvPicPr>
          <p:cNvPr id="7" name="Picture Placeholder 6" descr="A graph plots a normal distribution and probability = 0.10. The horizontal axis is labeled “z” and ranges from negative 2 to positive 2 with tickmarks in increments of 1. A bell-shaped curve peaks at z = 0. The region under the curve to the right of z = 1.3 is shaded dark and labeled “Probability = 0.10.” z = 1.3 is labeled “What is this z-value?”&#10;">
            <a:extLst>
              <a:ext uri="{FF2B5EF4-FFF2-40B4-BE49-F238E27FC236}">
                <a16:creationId xmlns:a16="http://schemas.microsoft.com/office/drawing/2014/main" id="{CF6568D5-DD96-27B0-4B27-A4964D8115A2}"/>
              </a:ext>
            </a:extLst>
          </p:cNvPr>
          <p:cNvPicPr>
            <a:picLocks noGrp="1" noChangeAspect="1"/>
          </p:cNvPicPr>
          <p:nvPr>
            <p:ph type="pic" sz="quarter" idx="23"/>
          </p:nvPr>
        </p:nvPicPr>
        <p:blipFill rotWithShape="1">
          <a:blip r:embed="rId5"/>
          <a:srcRect t="19" b="19"/>
          <a:stretch/>
        </p:blipFill>
        <p:spPr>
          <a:xfrm>
            <a:off x="7265988" y="1386995"/>
            <a:ext cx="4018220" cy="2224909"/>
          </a:xfrm>
        </p:spPr>
      </p:pic>
    </p:spTree>
    <p:extLst>
      <p:ext uri="{BB962C8B-B14F-4D97-AF65-F5344CB8AC3E}">
        <p14:creationId xmlns:p14="http://schemas.microsoft.com/office/powerpoint/2010/main" val="4268298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DC624-EA87-D9C8-81F6-B2745CBACC07}"/>
              </a:ext>
            </a:extLst>
          </p:cNvPr>
          <p:cNvSpPr>
            <a:spLocks noGrp="1"/>
          </p:cNvSpPr>
          <p:nvPr>
            <p:ph type="title"/>
          </p:nvPr>
        </p:nvSpPr>
        <p:spPr/>
        <p:txBody>
          <a:bodyPr/>
          <a:lstStyle/>
          <a:p>
            <a:r>
              <a:rPr lang="en-US" dirty="0"/>
              <a:t>6.2 Computing Probabilities for Any Normal Curve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59F1E58-AF59-E5A2-1023-02F2DC9A7830}"/>
                  </a:ext>
                </a:extLst>
              </p:cNvPr>
              <p:cNvSpPr>
                <a:spLocks noGrp="1"/>
              </p:cNvSpPr>
              <p:nvPr>
                <p:ph type="body" sz="quarter" idx="15"/>
              </p:nvPr>
            </p:nvSpPr>
            <p:spPr>
              <a:xfrm>
                <a:off x="743576" y="1207112"/>
                <a:ext cx="10711543" cy="4600755"/>
              </a:xfrm>
            </p:spPr>
            <p:txBody>
              <a:bodyPr/>
              <a:lstStyle/>
              <a:p>
                <a:pPr>
                  <a:spcAft>
                    <a:spcPts val="600"/>
                  </a:spcAft>
                </a:pPr>
                <a:r>
                  <a:rPr lang="en-US" sz="2000" dirty="0"/>
                  <a:t>We use the following formula to convert any normal random variable </a:t>
                </a:r>
                <a14:m>
                  <m:oMath xmlns:m="http://schemas.openxmlformats.org/officeDocument/2006/math">
                    <m:r>
                      <a:rPr lang="en-US" sz="2000" i="1" dirty="0" smtClean="0">
                        <a:latin typeface="Cambria Math" panose="02040503050406030204" pitchFamily="18" charset="0"/>
                      </a:rPr>
                      <m:t>𝑥</m:t>
                    </m:r>
                  </m:oMath>
                </a14:m>
                <a:r>
                  <a:rPr lang="en-US" sz="2000" dirty="0"/>
                  <a:t> with mean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oMath>
                </a14:m>
                <a:r>
                  <a:rPr lang="en-US" sz="2000" dirty="0"/>
                  <a:t> and standard deviation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t> to the standard normal random variable </a:t>
                </a:r>
                <a14:m>
                  <m:oMath xmlns:m="http://schemas.openxmlformats.org/officeDocument/2006/math">
                    <m:r>
                      <a:rPr lang="en-US" sz="2000" i="1" dirty="0" smtClean="0">
                        <a:latin typeface="Cambria Math" panose="02040503050406030204" pitchFamily="18" charset="0"/>
                      </a:rPr>
                      <m:t>𝑧</m:t>
                    </m:r>
                  </m:oMath>
                </a14:m>
                <a:r>
                  <a:rPr lang="en-US" sz="2000" dirty="0"/>
                  <a:t> (*see notes)</a:t>
                </a:r>
              </a:p>
              <a:p>
                <a:pPr marL="914400">
                  <a:spcAft>
                    <a:spcPts val="600"/>
                  </a:spcAft>
                </a:pPr>
                <a14:m>
                  <m:oMathPara xmlns:m="http://schemas.openxmlformats.org/officeDocument/2006/math">
                    <m:oMathParaPr>
                      <m:jc m:val="left"/>
                    </m:oMathParaPr>
                    <m:oMath xmlns:m="http://schemas.openxmlformats.org/officeDocument/2006/math">
                      <m:r>
                        <a:rPr lang="en-US" sz="2000" b="1" i="1" dirty="0" smtClean="0">
                          <a:latin typeface="Cambria Math" panose="02040503050406030204" pitchFamily="18" charset="0"/>
                        </a:rPr>
                        <m:t>𝒛</m:t>
                      </m:r>
                      <m:r>
                        <a:rPr lang="en-US" sz="2000" b="1" i="1" dirty="0" smtClean="0">
                          <a:latin typeface="Cambria Math" panose="02040503050406030204" pitchFamily="18" charset="0"/>
                        </a:rPr>
                        <m:t>=</m:t>
                      </m:r>
                      <m:f>
                        <m:fPr>
                          <m:ctrlPr>
                            <a:rPr lang="en-US" sz="2000" b="1" i="1" dirty="0" smtClean="0">
                              <a:latin typeface="Cambria Math" panose="02040503050406030204" pitchFamily="18" charset="0"/>
                            </a:rPr>
                          </m:ctrlPr>
                        </m:fPr>
                        <m:num>
                          <m:r>
                            <a:rPr lang="en-US" sz="2000" b="1" i="1" dirty="0" smtClean="0">
                              <a:latin typeface="Cambria Math" panose="02040503050406030204" pitchFamily="18" charset="0"/>
                            </a:rPr>
                            <m:t>𝒙</m:t>
                          </m:r>
                          <m:r>
                            <a:rPr lang="en-US" sz="2000" b="1" i="1" dirty="0" smtClean="0">
                              <a:latin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𝝁</m:t>
                          </m:r>
                        </m:num>
                        <m:den>
                          <m:r>
                            <a:rPr lang="en-US" sz="2000" b="1" i="1">
                              <a:latin typeface="Cambria Math" panose="02040503050406030204" pitchFamily="18" charset="0"/>
                              <a:ea typeface="Cambria Math" panose="02040503050406030204" pitchFamily="18" charset="0"/>
                            </a:rPr>
                            <m:t>𝝈</m:t>
                          </m:r>
                        </m:den>
                      </m:f>
                    </m:oMath>
                  </m:oMathPara>
                </a14:m>
                <a:endParaRPr lang="en-US" sz="2000" b="1" dirty="0"/>
              </a:p>
              <a:p>
                <a:pPr>
                  <a:spcAft>
                    <a:spcPts val="600"/>
                  </a:spcAft>
                </a:pPr>
                <a:r>
                  <a:rPr lang="en-US" sz="2000" dirty="0"/>
                  <a:t>We see that a value of </a:t>
                </a:r>
                <a14:m>
                  <m:oMath xmlns:m="http://schemas.openxmlformats.org/officeDocument/2006/math">
                    <m:r>
                      <a:rPr lang="en-US" sz="2000" i="1" dirty="0" smtClean="0">
                        <a:latin typeface="Cambria Math" panose="02040503050406030204" pitchFamily="18" charset="0"/>
                      </a:rPr>
                      <m:t>𝑥</m:t>
                    </m:r>
                  </m:oMath>
                </a14:m>
                <a:r>
                  <a:rPr lang="en-US" sz="2000" dirty="0"/>
                  <a:t> equal to its mean </a:t>
                </a:r>
                <a14:m>
                  <m:oMath xmlns:m="http://schemas.openxmlformats.org/officeDocument/2006/math">
                    <m:r>
                      <a:rPr lang="en-US" sz="2000" i="1">
                        <a:latin typeface="Cambria Math" panose="02040503050406030204" pitchFamily="18" charset="0"/>
                        <a:ea typeface="Cambria Math" panose="02040503050406030204" pitchFamily="18" charset="0"/>
                      </a:rPr>
                      <m:t>𝜇</m:t>
                    </m:r>
                  </m:oMath>
                </a14:m>
                <a:r>
                  <a:rPr lang="en-US" sz="2000" dirty="0"/>
                  <a:t> corresponds to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=0</m:t>
                    </m:r>
                  </m:oMath>
                </a14:m>
                <a:r>
                  <a:rPr lang="en-US" sz="2000" dirty="0"/>
                  <a:t>, and that a value of </a:t>
                </a:r>
                <a14:m>
                  <m:oMath xmlns:m="http://schemas.openxmlformats.org/officeDocument/2006/math">
                    <m:r>
                      <a:rPr lang="en-US" sz="2000" i="1" dirty="0" smtClean="0">
                        <a:latin typeface="Cambria Math" panose="02040503050406030204" pitchFamily="18" charset="0"/>
                      </a:rPr>
                      <m:t>𝑥</m:t>
                    </m:r>
                  </m:oMath>
                </a14:m>
                <a:r>
                  <a:rPr lang="en-US" sz="2000" dirty="0"/>
                  <a:t> that is one standard deviation above its mean </a:t>
                </a:r>
                <a14:m>
                  <m:oMath xmlns:m="http://schemas.openxmlformats.org/officeDocument/2006/math">
                    <m:r>
                      <a:rPr lang="en-US" sz="2000" i="1">
                        <a:latin typeface="Cambria Math" panose="02040503050406030204" pitchFamily="18" charset="0"/>
                        <a:ea typeface="Cambria Math" panose="02040503050406030204" pitchFamily="18" charset="0"/>
                      </a:rPr>
                      <m:t>𝜇</m:t>
                    </m:r>
                  </m:oMath>
                </a14:m>
                <a:r>
                  <a:rPr lang="en-US" sz="2000" dirty="0"/>
                  <a:t>, that is,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𝜇</m:t>
                    </m:r>
                    <m:r>
                      <a:rPr lang="en-US" sz="2000" i="1" dirty="0" err="1" smtClean="0">
                        <a:latin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𝜎</m:t>
                    </m:r>
                  </m:oMath>
                </a14:m>
                <a:r>
                  <a:rPr lang="en-US" sz="2000" dirty="0"/>
                  <a:t>, has z value</a:t>
                </a:r>
                <a:r>
                  <a:rPr lang="en-US" sz="2000" dirty="0">
                    <a:solidFill>
                      <a:srgbClr val="FF0000"/>
                    </a:solidFill>
                  </a:rPr>
                  <a:t>:</a:t>
                </a:r>
              </a:p>
              <a:p>
                <a:pPr marL="914400">
                  <a:spcAft>
                    <a:spcPts val="600"/>
                  </a:spcAft>
                </a:pP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𝜇</m:t>
                    </m:r>
                    <m:r>
                      <a:rPr lang="en-US" sz="2000" i="1" dirty="0" err="1" smtClean="0">
                        <a:latin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𝜇</m:t>
                    </m:r>
                    <m:r>
                      <a:rPr lang="en-US" sz="2000" i="1" dirty="0" smtClean="0">
                        <a:latin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=1</m:t>
                    </m:r>
                  </m:oMath>
                </a14:m>
                <a:r>
                  <a:rPr lang="en-US" sz="2000" dirty="0"/>
                  <a:t>. </a:t>
                </a:r>
              </a:p>
              <a:p>
                <a:r>
                  <a:rPr lang="en-US" sz="2000" dirty="0"/>
                  <a:t>Thus, we can interpret </a:t>
                </a:r>
                <a14:m>
                  <m:oMath xmlns:m="http://schemas.openxmlformats.org/officeDocument/2006/math">
                    <m:r>
                      <a:rPr lang="en-US" sz="2000" i="1" dirty="0" smtClean="0">
                        <a:latin typeface="Cambria Math" panose="02040503050406030204" pitchFamily="18" charset="0"/>
                      </a:rPr>
                      <m:t>𝑧</m:t>
                    </m:r>
                  </m:oMath>
                </a14:m>
                <a:r>
                  <a:rPr lang="en-US" sz="2000" dirty="0"/>
                  <a:t> as the number of standard deviations that </a:t>
                </a:r>
                <a14:m>
                  <m:oMath xmlns:m="http://schemas.openxmlformats.org/officeDocument/2006/math">
                    <m:r>
                      <a:rPr lang="en-US" sz="2000" i="1" dirty="0" smtClean="0">
                        <a:latin typeface="Cambria Math" panose="02040503050406030204" pitchFamily="18" charset="0"/>
                      </a:rPr>
                      <m:t>𝑥</m:t>
                    </m:r>
                  </m:oMath>
                </a14:m>
                <a:r>
                  <a:rPr lang="en-US" sz="2000" dirty="0"/>
                  <a:t> is from its mean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oMath>
                </a14:m>
                <a:r>
                  <a:rPr lang="en-US" sz="2000" dirty="0"/>
                  <a:t>.</a:t>
                </a:r>
              </a:p>
              <a:p>
                <a:pPr>
                  <a:spcAft>
                    <a:spcPts val="600"/>
                  </a:spcAft>
                </a:pPr>
                <a:r>
                  <a:rPr lang="en-US" sz="2000" dirty="0"/>
                  <a:t>Example: find </a:t>
                </a:r>
                <a14:m>
                  <m:oMath xmlns:m="http://schemas.openxmlformats.org/officeDocument/2006/math">
                    <m:r>
                      <a:rPr lang="en-US" sz="2000" i="1" dirty="0" smtClean="0">
                        <a:latin typeface="Cambria Math" panose="02040503050406030204" pitchFamily="18" charset="0"/>
                      </a:rPr>
                      <m:t>𝑃</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10</m:t>
                        </m:r>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rPr>
                          <m:t>𝑥</m:t>
                        </m:r>
                        <m:r>
                          <a:rPr lang="en-US" sz="2000" i="1" dirty="0">
                            <a:latin typeface="Cambria Math" panose="02040503050406030204" pitchFamily="18" charset="0"/>
                          </a:rPr>
                          <m:t>≤</m:t>
                        </m:r>
                        <m:r>
                          <a:rPr lang="en-US" sz="2000" b="0" i="1" dirty="0" smtClean="0">
                            <a:latin typeface="Cambria Math" panose="02040503050406030204" pitchFamily="18" charset="0"/>
                          </a:rPr>
                          <m:t>14</m:t>
                        </m:r>
                      </m:e>
                    </m:d>
                  </m:oMath>
                </a14:m>
                <a:r>
                  <a:rPr lang="en-US" sz="2000" dirty="0"/>
                  <a:t> for a normal random variable </a:t>
                </a:r>
                <a14:m>
                  <m:oMath xmlns:m="http://schemas.openxmlformats.org/officeDocument/2006/math">
                    <m:r>
                      <a:rPr lang="en-US" sz="2000" i="1" dirty="0" smtClean="0">
                        <a:latin typeface="Cambria Math" panose="02040503050406030204" pitchFamily="18" charset="0"/>
                      </a:rPr>
                      <m:t>𝑥</m:t>
                    </m:r>
                  </m:oMath>
                </a14:m>
                <a:r>
                  <a:rPr lang="en-US" sz="2000" dirty="0"/>
                  <a:t> described by </a:t>
                </a:r>
                <a14:m>
                  <m:oMath xmlns:m="http://schemas.openxmlformats.org/officeDocument/2006/math">
                    <m:r>
                      <a:rPr lang="en-US" sz="2000" i="1">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=10</m:t>
                    </m:r>
                  </m:oMath>
                </a14:m>
                <a:r>
                  <a:rPr lang="en-US" sz="2000" dirty="0"/>
                  <a:t> and </a:t>
                </a:r>
                <a14:m>
                  <m:oMath xmlns:m="http://schemas.openxmlformats.org/officeDocument/2006/math">
                    <m:r>
                      <a:rPr lang="en-US" sz="2000" i="1">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=2</m:t>
                    </m:r>
                  </m:oMath>
                </a14:m>
                <a:r>
                  <a:rPr lang="en-US" sz="2000" dirty="0"/>
                  <a:t>.</a:t>
                </a:r>
              </a:p>
              <a:p>
                <a:pPr marL="914400">
                  <a:spcAft>
                    <a:spcPts val="600"/>
                  </a:spcAft>
                </a:pPr>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𝑃</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10</m:t>
                          </m:r>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rPr>
                            <m:t>𝑥</m:t>
                          </m:r>
                          <m:r>
                            <a:rPr lang="en-US" sz="2000" i="1" dirty="0">
                              <a:latin typeface="Cambria Math" panose="02040503050406030204" pitchFamily="18" charset="0"/>
                            </a:rPr>
                            <m:t>≤</m:t>
                          </m:r>
                          <m:r>
                            <a:rPr lang="en-US" sz="2000" b="0" i="1" dirty="0" smtClean="0">
                              <a:latin typeface="Cambria Math" panose="02040503050406030204" pitchFamily="18" charset="0"/>
                            </a:rPr>
                            <m:t>14</m:t>
                          </m:r>
                        </m:e>
                      </m:d>
                      <m:r>
                        <a:rPr lang="en-US" sz="2000" b="0" i="1" dirty="0" smtClean="0">
                          <a:latin typeface="Cambria Math" panose="02040503050406030204" pitchFamily="18" charset="0"/>
                        </a:rPr>
                        <m:t>=</m:t>
                      </m:r>
                      <m:r>
                        <a:rPr lang="en-US" sz="2000" i="1" dirty="0">
                          <a:latin typeface="Cambria Math" panose="02040503050406030204" pitchFamily="18" charset="0"/>
                        </a:rPr>
                        <m:t>𝑃</m:t>
                      </m:r>
                      <m:d>
                        <m:dPr>
                          <m:ctrlPr>
                            <a:rPr lang="en-US" sz="2000" i="1" dirty="0">
                              <a:latin typeface="Cambria Math" panose="02040503050406030204" pitchFamily="18" charset="0"/>
                            </a:rPr>
                          </m:ctrlPr>
                        </m:dPr>
                        <m:e>
                          <m:f>
                            <m:fPr>
                              <m:ctrlPr>
                                <a:rPr lang="en-US" sz="2000" i="1" dirty="0">
                                  <a:latin typeface="Cambria Math" panose="02040503050406030204" pitchFamily="18" charset="0"/>
                                </a:rPr>
                              </m:ctrlPr>
                            </m:fPr>
                            <m:num>
                              <m:r>
                                <a:rPr lang="en-US" sz="2000" b="0" i="1" dirty="0" smtClean="0">
                                  <a:latin typeface="Cambria Math" panose="02040503050406030204" pitchFamily="18" charset="0"/>
                                </a:rPr>
                                <m:t>10</m:t>
                              </m:r>
                              <m:r>
                                <a:rPr lang="en-US" sz="2000" b="0" i="1" dirty="0">
                                  <a:latin typeface="Cambria Math" panose="02040503050406030204" pitchFamily="18" charset="0"/>
                                </a:rPr>
                                <m:t>−</m:t>
                              </m:r>
                              <m:r>
                                <a:rPr lang="en-US" sz="2000" b="0" i="1" dirty="0">
                                  <a:latin typeface="Cambria Math" panose="02040503050406030204" pitchFamily="18" charset="0"/>
                                  <a:ea typeface="Cambria Math" panose="02040503050406030204" pitchFamily="18" charset="0"/>
                                </a:rPr>
                                <m:t>𝜇</m:t>
                              </m:r>
                            </m:num>
                            <m:den>
                              <m:r>
                                <a:rPr lang="en-US" sz="2000" b="0" i="1">
                                  <a:latin typeface="Cambria Math" panose="02040503050406030204" pitchFamily="18" charset="0"/>
                                  <a:ea typeface="Cambria Math" panose="02040503050406030204" pitchFamily="18" charset="0"/>
                                </a:rPr>
                                <m:t>𝜎</m:t>
                              </m:r>
                            </m:den>
                          </m:f>
                          <m:r>
                            <a:rPr lang="en-US" sz="2000" b="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𝑧</m:t>
                          </m:r>
                          <m:r>
                            <a:rPr lang="en-US" sz="2000" b="0" i="1" dirty="0">
                              <a:latin typeface="Cambria Math" panose="02040503050406030204" pitchFamily="18" charset="0"/>
                            </a:rPr>
                            <m:t>≤</m:t>
                          </m:r>
                          <m:f>
                            <m:fPr>
                              <m:ctrlPr>
                                <a:rPr lang="en-US" sz="2000" i="1" dirty="0">
                                  <a:latin typeface="Cambria Math" panose="02040503050406030204" pitchFamily="18" charset="0"/>
                                </a:rPr>
                              </m:ctrlPr>
                            </m:fPr>
                            <m:num>
                              <m:r>
                                <a:rPr lang="en-US" sz="2000" b="0" i="1" dirty="0">
                                  <a:latin typeface="Cambria Math" panose="02040503050406030204" pitchFamily="18" charset="0"/>
                                </a:rPr>
                                <m:t>1</m:t>
                              </m:r>
                              <m:r>
                                <a:rPr lang="en-US" sz="2000" b="0" i="1" dirty="0" smtClean="0">
                                  <a:latin typeface="Cambria Math" panose="02040503050406030204" pitchFamily="18" charset="0"/>
                                </a:rPr>
                                <m:t>4</m:t>
                              </m:r>
                              <m:r>
                                <a:rPr lang="en-US" sz="2000" b="0" i="1" dirty="0">
                                  <a:latin typeface="Cambria Math" panose="02040503050406030204" pitchFamily="18" charset="0"/>
                                </a:rPr>
                                <m:t>−</m:t>
                              </m:r>
                              <m:r>
                                <a:rPr lang="en-US" sz="2000" b="0" i="1" dirty="0">
                                  <a:latin typeface="Cambria Math" panose="02040503050406030204" pitchFamily="18" charset="0"/>
                                  <a:ea typeface="Cambria Math" panose="02040503050406030204" pitchFamily="18" charset="0"/>
                                </a:rPr>
                                <m:t>𝜇</m:t>
                              </m:r>
                            </m:num>
                            <m:den>
                              <m:r>
                                <a:rPr lang="en-US" sz="2000" b="0" i="1">
                                  <a:latin typeface="Cambria Math" panose="02040503050406030204" pitchFamily="18" charset="0"/>
                                  <a:ea typeface="Cambria Math" panose="02040503050406030204" pitchFamily="18" charset="0"/>
                                </a:rPr>
                                <m:t>𝜎</m:t>
                              </m:r>
                            </m:den>
                          </m:f>
                        </m:e>
                      </m:d>
                      <m:r>
                        <a:rPr lang="en-US" sz="2000" b="0" i="1" dirty="0" smtClean="0">
                          <a:latin typeface="Cambria Math" panose="02040503050406030204" pitchFamily="18" charset="0"/>
                        </a:rPr>
                        <m:t>=</m:t>
                      </m:r>
                      <m:r>
                        <a:rPr lang="en-US" sz="2000" i="1" dirty="0">
                          <a:latin typeface="Cambria Math" panose="02040503050406030204" pitchFamily="18" charset="0"/>
                        </a:rPr>
                        <m:t>𝑃</m:t>
                      </m:r>
                      <m:d>
                        <m:dPr>
                          <m:ctrlPr>
                            <a:rPr lang="en-US" sz="2000" i="1" dirty="0">
                              <a:latin typeface="Cambria Math" panose="02040503050406030204" pitchFamily="18" charset="0"/>
                            </a:rPr>
                          </m:ctrlPr>
                        </m:dPr>
                        <m:e>
                          <m:f>
                            <m:fPr>
                              <m:ctrlPr>
                                <a:rPr lang="en-US" sz="2000" i="1" dirty="0">
                                  <a:latin typeface="Cambria Math" panose="02040503050406030204" pitchFamily="18" charset="0"/>
                                </a:rPr>
                              </m:ctrlPr>
                            </m:fPr>
                            <m:num>
                              <m:r>
                                <a:rPr lang="en-US" sz="2000" i="1" dirty="0">
                                  <a:latin typeface="Cambria Math" panose="02040503050406030204" pitchFamily="18" charset="0"/>
                                </a:rPr>
                                <m:t>10−</m:t>
                              </m:r>
                              <m:r>
                                <a:rPr lang="en-US" sz="2000" b="0" i="1" dirty="0" smtClean="0">
                                  <a:latin typeface="Cambria Math" panose="02040503050406030204" pitchFamily="18" charset="0"/>
                                </a:rPr>
                                <m:t>10</m:t>
                              </m:r>
                            </m:num>
                            <m:den>
                              <m:r>
                                <a:rPr lang="en-US" sz="2000" b="0" i="1" smtClean="0">
                                  <a:latin typeface="Cambria Math" panose="02040503050406030204" pitchFamily="18" charset="0"/>
                                  <a:ea typeface="Cambria Math" panose="02040503050406030204" pitchFamily="18" charset="0"/>
                                </a:rPr>
                                <m:t>2</m:t>
                              </m:r>
                            </m:den>
                          </m:f>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𝑧</m:t>
                          </m:r>
                          <m:r>
                            <a:rPr lang="en-US" sz="2000" i="1" dirty="0">
                              <a:latin typeface="Cambria Math" panose="02040503050406030204" pitchFamily="18" charset="0"/>
                            </a:rPr>
                            <m:t>≤</m:t>
                          </m:r>
                          <m:f>
                            <m:fPr>
                              <m:ctrlPr>
                                <a:rPr lang="en-US" sz="2000" i="1" dirty="0">
                                  <a:latin typeface="Cambria Math" panose="02040503050406030204" pitchFamily="18" charset="0"/>
                                </a:rPr>
                              </m:ctrlPr>
                            </m:fPr>
                            <m:num>
                              <m:r>
                                <a:rPr lang="en-US" sz="2000" i="1" dirty="0">
                                  <a:latin typeface="Cambria Math" panose="02040503050406030204" pitchFamily="18" charset="0"/>
                                </a:rPr>
                                <m:t>14−</m:t>
                              </m:r>
                              <m:r>
                                <a:rPr lang="en-US" sz="2000" b="0" i="1" dirty="0" smtClean="0">
                                  <a:latin typeface="Cambria Math" panose="02040503050406030204" pitchFamily="18" charset="0"/>
                                  <a:ea typeface="Cambria Math" panose="02040503050406030204" pitchFamily="18" charset="0"/>
                                </a:rPr>
                                <m:t>10</m:t>
                              </m:r>
                            </m:num>
                            <m:den>
                              <m:r>
                                <a:rPr lang="en-US" sz="2000" b="0" i="1" dirty="0" smtClean="0">
                                  <a:latin typeface="Cambria Math" panose="02040503050406030204" pitchFamily="18" charset="0"/>
                                  <a:ea typeface="Cambria Math" panose="02040503050406030204" pitchFamily="18" charset="0"/>
                                </a:rPr>
                                <m:t>2</m:t>
                              </m:r>
                            </m:den>
                          </m:f>
                        </m:e>
                      </m:d>
                      <m:r>
                        <a:rPr lang="en-US" sz="2000" b="0" i="1" smtClean="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b="0" i="1" dirty="0" smtClean="0">
                              <a:latin typeface="Cambria Math" panose="02040503050406030204" pitchFamily="18" charset="0"/>
                            </a:rPr>
                            <m:t>0</m:t>
                          </m:r>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𝑧</m:t>
                          </m:r>
                          <m:r>
                            <a:rPr lang="en-US" sz="2000" i="1" dirty="0">
                              <a:latin typeface="Cambria Math" panose="02040503050406030204" pitchFamily="18" charset="0"/>
                            </a:rPr>
                            <m:t>≤</m:t>
                          </m:r>
                          <m:r>
                            <a:rPr lang="en-US" sz="2000" b="0" i="1" dirty="0" smtClean="0">
                              <a:latin typeface="Cambria Math" panose="02040503050406030204" pitchFamily="18" charset="0"/>
                            </a:rPr>
                            <m:t>2</m:t>
                          </m:r>
                        </m:e>
                      </m:d>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𝑃</m:t>
                      </m:r>
                      <m:d>
                        <m:dPr>
                          <m:ctrlPr>
                            <a:rPr lang="en-US" sz="2000" b="0" i="1" dirty="0" smtClean="0">
                              <a:latin typeface="Cambria Math" panose="02040503050406030204" pitchFamily="18" charset="0"/>
                              <a:ea typeface="Cambria Math" panose="02040503050406030204" pitchFamily="18" charset="0"/>
                            </a:rPr>
                          </m:ctrlPr>
                        </m:dPr>
                        <m:e>
                          <m:r>
                            <a:rPr lang="en-US" sz="2000" b="0" i="1" dirty="0" smtClean="0">
                              <a:latin typeface="Cambria Math" panose="02040503050406030204" pitchFamily="18" charset="0"/>
                              <a:ea typeface="Cambria Math" panose="02040503050406030204" pitchFamily="18" charset="0"/>
                            </a:rPr>
                            <m:t>𝑧</m:t>
                          </m:r>
                          <m:r>
                            <a:rPr lang="en-US" sz="2000" b="0" i="1" dirty="0" smtClean="0">
                              <a:latin typeface="Cambria Math" panose="02040503050406030204" pitchFamily="18" charset="0"/>
                              <a:ea typeface="Cambria Math" panose="02040503050406030204" pitchFamily="18" charset="0"/>
                            </a:rPr>
                            <m:t>≤2</m:t>
                          </m:r>
                        </m:e>
                      </m:d>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𝑃</m:t>
                      </m:r>
                      <m:d>
                        <m:dPr>
                          <m:ctrlPr>
                            <a:rPr lang="en-US" sz="2000" b="0" i="1" dirty="0" smtClean="0">
                              <a:latin typeface="Cambria Math" panose="02040503050406030204" pitchFamily="18" charset="0"/>
                              <a:ea typeface="Cambria Math" panose="02040503050406030204" pitchFamily="18" charset="0"/>
                            </a:rPr>
                          </m:ctrlPr>
                        </m:dPr>
                        <m:e>
                          <m:r>
                            <a:rPr lang="en-US" sz="2000" b="0" i="1" dirty="0" smtClean="0">
                              <a:latin typeface="Cambria Math" panose="02040503050406030204" pitchFamily="18" charset="0"/>
                              <a:ea typeface="Cambria Math" panose="02040503050406030204" pitchFamily="18" charset="0"/>
                            </a:rPr>
                            <m:t>𝑧</m:t>
                          </m:r>
                          <m:r>
                            <a:rPr lang="en-US" sz="2000" b="0" i="1" dirty="0" smtClean="0">
                              <a:latin typeface="Cambria Math" panose="02040503050406030204" pitchFamily="18" charset="0"/>
                              <a:ea typeface="Cambria Math" panose="02040503050406030204" pitchFamily="18" charset="0"/>
                            </a:rPr>
                            <m:t>≤0</m:t>
                          </m:r>
                        </m:e>
                      </m:d>
                      <m:r>
                        <a:rPr lang="en-US" sz="2000" b="0" i="1" dirty="0" smtClean="0">
                          <a:latin typeface="Cambria Math" panose="02040503050406030204" pitchFamily="18" charset="0"/>
                          <a:ea typeface="Cambria Math" panose="02040503050406030204" pitchFamily="18" charset="0"/>
                        </a:rPr>
                        <m:t>=0.9772−0.5000=0.4772</m:t>
                      </m:r>
                    </m:oMath>
                  </m:oMathPara>
                </a14:m>
                <a:endParaRPr lang="en-US" sz="2000" dirty="0"/>
              </a:p>
            </p:txBody>
          </p:sp>
        </mc:Choice>
        <mc:Fallback xmlns="">
          <p:sp>
            <p:nvSpPr>
              <p:cNvPr id="3" name="Text Placeholder 2">
                <a:extLst>
                  <a:ext uri="{FF2B5EF4-FFF2-40B4-BE49-F238E27FC236}">
                    <a16:creationId xmlns:a16="http://schemas.microsoft.com/office/drawing/2014/main" id="{A59F1E58-AF59-E5A2-1023-02F2DC9A7830}"/>
                  </a:ext>
                </a:extLst>
              </p:cNvPr>
              <p:cNvSpPr>
                <a:spLocks noGrp="1" noRot="1" noChangeAspect="1" noMove="1" noResize="1" noEditPoints="1" noAdjustHandles="1" noChangeArrowheads="1" noChangeShapeType="1" noTextEdit="1"/>
              </p:cNvSpPr>
              <p:nvPr>
                <p:ph type="body" sz="quarter" idx="15"/>
              </p:nvPr>
            </p:nvSpPr>
            <p:spPr>
              <a:xfrm>
                <a:off x="743576" y="1207112"/>
                <a:ext cx="10711543" cy="4600755"/>
              </a:xfrm>
              <a:blipFill>
                <a:blip r:embed="rId3"/>
                <a:stretch>
                  <a:fillRect l="-1480" t="-1589" r="-512"/>
                </a:stretch>
              </a:blipFill>
            </p:spPr>
            <p:txBody>
              <a:bodyPr/>
              <a:lstStyle/>
              <a:p>
                <a:r>
                  <a:rPr lang="en-US">
                    <a:noFill/>
                  </a:rPr>
                  <a:t> </a:t>
                </a:r>
              </a:p>
            </p:txBody>
          </p:sp>
        </mc:Fallback>
      </mc:AlternateContent>
    </p:spTree>
    <p:extLst>
      <p:ext uri="{BB962C8B-B14F-4D97-AF65-F5344CB8AC3E}">
        <p14:creationId xmlns:p14="http://schemas.microsoft.com/office/powerpoint/2010/main" val="2779420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08D0-2F29-EE7B-B5F9-B27C21936102}"/>
              </a:ext>
            </a:extLst>
          </p:cNvPr>
          <p:cNvSpPr>
            <a:spLocks noGrp="1"/>
          </p:cNvSpPr>
          <p:nvPr>
            <p:ph type="title"/>
          </p:nvPr>
        </p:nvSpPr>
        <p:spPr/>
        <p:txBody>
          <a:bodyPr/>
          <a:lstStyle/>
          <a:p>
            <a:r>
              <a:rPr lang="en-US" dirty="0"/>
              <a:t>6.2 </a:t>
            </a:r>
            <a:r>
              <a:rPr lang="en-US" dirty="0" err="1"/>
              <a:t>Grear</a:t>
            </a:r>
            <a:r>
              <a:rPr lang="en-US" dirty="0"/>
              <a:t> Tire Company Problem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D1ED843-73D3-D249-EE4F-4352BE18D93A}"/>
                  </a:ext>
                </a:extLst>
              </p:cNvPr>
              <p:cNvSpPr>
                <a:spLocks noGrp="1"/>
              </p:cNvSpPr>
              <p:nvPr>
                <p:ph type="body" sz="quarter" idx="15"/>
              </p:nvPr>
            </p:nvSpPr>
            <p:spPr>
              <a:xfrm>
                <a:off x="740228" y="1201475"/>
                <a:ext cx="10711543" cy="4455050"/>
              </a:xfrm>
            </p:spPr>
            <p:txBody>
              <a:bodyPr/>
              <a:lstStyle/>
              <a:p>
                <a:pPr>
                  <a:spcBef>
                    <a:spcPts val="1000"/>
                  </a:spcBef>
                  <a:spcAft>
                    <a:spcPts val="0"/>
                  </a:spcAft>
                </a:pPr>
                <a:r>
                  <a:rPr lang="en-US" sz="2000" dirty="0"/>
                  <a:t>Grear Tire Company has developed a new steel-belted radial tire that is guaranteed to last a certain </a:t>
                </a:r>
                <a:r>
                  <a:rPr lang="en-US" sz="2000" dirty="0">
                    <a:solidFill>
                      <a:srgbClr val="FF0000"/>
                    </a:solidFill>
                  </a:rPr>
                  <a:t>number</a:t>
                </a:r>
                <a:r>
                  <a:rPr lang="en-US" sz="2000" dirty="0"/>
                  <a:t> of miles. From extensive testing, </a:t>
                </a:r>
                <a:r>
                  <a:rPr lang="en-US" sz="2000" dirty="0" err="1"/>
                  <a:t>Grear’s</a:t>
                </a:r>
                <a:r>
                  <a:rPr lang="en-US" sz="2000" dirty="0"/>
                  <a:t> engineering group estimated:</a:t>
                </a:r>
              </a:p>
              <a:p>
                <a:pPr marL="914400">
                  <a:spcAft>
                    <a:spcPts val="0"/>
                  </a:spcAft>
                  <a:tabLst>
                    <a:tab pos="3886200" algn="l"/>
                  </a:tabLst>
                </a:pPr>
                <a:r>
                  <a:rPr lang="en-US" sz="2000" dirty="0"/>
                  <a:t>mean tire lifetime:  	</a:t>
                </a:r>
                <a14:m>
                  <m:oMath xmlns:m="http://schemas.openxmlformats.org/officeDocument/2006/math">
                    <m:r>
                      <m:rPr>
                        <m:sty m:val="p"/>
                      </m:rPr>
                      <a:rPr lang="el-GR" sz="2000" i="1" dirty="0" smtClean="0">
                        <a:latin typeface="Cambria Math" panose="02040503050406030204" pitchFamily="18" charset="0"/>
                        <a:ea typeface="Cambria Math" panose="02040503050406030204" pitchFamily="18" charset="0"/>
                      </a:rPr>
                      <m:t>μ</m:t>
                    </m:r>
                    <m:r>
                      <a:rPr lang="en-US" sz="2000" i="1" dirty="0" smtClean="0">
                        <a:latin typeface="Cambria Math" panose="02040503050406030204" pitchFamily="18" charset="0"/>
                      </a:rPr>
                      <m:t>=36,500</m:t>
                    </m:r>
                  </m:oMath>
                </a14:m>
                <a:r>
                  <a:rPr lang="en-US" sz="2000" dirty="0"/>
                  <a:t> miles</a:t>
                </a:r>
              </a:p>
              <a:p>
                <a:pPr marL="914400">
                  <a:spcAft>
                    <a:spcPts val="0"/>
                  </a:spcAft>
                  <a:tabLst>
                    <a:tab pos="3886200" algn="l"/>
                  </a:tabLst>
                </a:pPr>
                <a:r>
                  <a:rPr lang="en-US" sz="2000" dirty="0"/>
                  <a:t>standard deviation: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𝜎</m:t>
                    </m:r>
                    <m:r>
                      <a:rPr lang="en-US" sz="2000" b="0" i="1" dirty="0" smtClean="0">
                        <a:latin typeface="Cambria Math" panose="02040503050406030204" pitchFamily="18" charset="0"/>
                        <a:ea typeface="Cambria Math" panose="02040503050406030204" pitchFamily="18" charset="0"/>
                      </a:rPr>
                      <m:t>=5,000</m:t>
                    </m:r>
                  </m:oMath>
                </a14:m>
                <a:r>
                  <a:rPr lang="en-US" sz="2000" dirty="0"/>
                  <a:t> miles</a:t>
                </a:r>
              </a:p>
              <a:p>
                <a:pPr>
                  <a:spcBef>
                    <a:spcPts val="1000"/>
                  </a:spcBef>
                  <a:spcAft>
                    <a:spcPts val="0"/>
                  </a:spcAft>
                </a:pPr>
                <a:r>
                  <a:rPr lang="en-US" sz="2000" dirty="0"/>
                  <a:t>The data collected indicate that a normal distribution is a reasonable </a:t>
                </a:r>
                <a:r>
                  <a:rPr lang="en-US" sz="2000" dirty="0" err="1"/>
                  <a:t>assumption.</a:t>
                </a:r>
                <a:endParaRPr lang="en-US" sz="2000" dirty="0"/>
              </a:p>
              <a:p>
                <a:pPr>
                  <a:spcBef>
                    <a:spcPts val="1000"/>
                  </a:spcBef>
                  <a:spcAft>
                    <a:spcPts val="0"/>
                  </a:spcAft>
                </a:pPr>
                <a:r>
                  <a:rPr lang="en-US" sz="2000" dirty="0"/>
                  <a:t>Thus, we define a normal random variable, </a:t>
                </a:r>
                <a14:m>
                  <m:oMath xmlns:m="http://schemas.openxmlformats.org/officeDocument/2006/math">
                    <m:r>
                      <a:rPr lang="en-US" sz="2000" i="1" dirty="0" smtClean="0">
                        <a:latin typeface="Cambria Math" panose="02040503050406030204" pitchFamily="18" charset="0"/>
                      </a:rPr>
                      <m:t>𝑥</m:t>
                    </m:r>
                  </m:oMath>
                </a14:m>
                <a:r>
                  <a:rPr lang="en-US" sz="2000" dirty="0"/>
                  <a:t>, as the number of lifetime miles.</a:t>
                </a:r>
              </a:p>
              <a:p>
                <a:pPr>
                  <a:spcBef>
                    <a:spcPts val="1000"/>
                  </a:spcBef>
                  <a:spcAft>
                    <a:spcPts val="0"/>
                  </a:spcAft>
                </a:pPr>
                <a:r>
                  <a:rPr lang="en-US" sz="2000" dirty="0"/>
                  <a:t>Before finalizing the performance-based sales contract, </a:t>
                </a:r>
                <a:r>
                  <a:rPr lang="en-US" sz="2000" dirty="0" err="1"/>
                  <a:t>Grear’s</a:t>
                </a:r>
                <a:r>
                  <a:rPr lang="en-US" sz="2000" dirty="0"/>
                  <a:t> managers want an answer to the following two questions:</a:t>
                </a:r>
              </a:p>
              <a:p>
                <a:pPr marL="914400" indent="-342900">
                  <a:spcAft>
                    <a:spcPts val="0"/>
                  </a:spcAft>
                  <a:buFont typeface="+mj-lt"/>
                  <a:buAutoNum type="arabicPeriod"/>
                </a:pPr>
                <a:r>
                  <a:rPr lang="en-US" sz="2000" dirty="0"/>
                  <a:t>What is the probability that a tire lifetime will exceed 40,000 miles?</a:t>
                </a:r>
              </a:p>
              <a:p>
                <a:pPr marL="914400" indent="-342900">
                  <a:spcAft>
                    <a:spcPts val="0"/>
                  </a:spcAft>
                  <a:buFont typeface="+mj-lt"/>
                  <a:buAutoNum type="arabicPeriod"/>
                </a:pPr>
                <a:r>
                  <a:rPr lang="en-US" sz="2000" dirty="0"/>
                  <a:t>What should the guaranteed lifetime miles be if </a:t>
                </a:r>
                <a:r>
                  <a:rPr lang="en-US" sz="2000" dirty="0" err="1"/>
                  <a:t>Grear</a:t>
                </a:r>
                <a:r>
                  <a:rPr lang="en-US" sz="2000" dirty="0"/>
                  <a:t> wants no more than 10% of the tires to be eligible for a discount guarantee?</a:t>
                </a:r>
              </a:p>
            </p:txBody>
          </p:sp>
        </mc:Choice>
        <mc:Fallback xmlns="">
          <p:sp>
            <p:nvSpPr>
              <p:cNvPr id="3" name="Text Placeholder 2">
                <a:extLst>
                  <a:ext uri="{FF2B5EF4-FFF2-40B4-BE49-F238E27FC236}">
                    <a16:creationId xmlns:a16="http://schemas.microsoft.com/office/drawing/2014/main" id="{AD1ED843-73D3-D249-EE4F-4352BE18D93A}"/>
                  </a:ext>
                </a:extLst>
              </p:cNvPr>
              <p:cNvSpPr>
                <a:spLocks noGrp="1" noRot="1" noChangeAspect="1" noMove="1" noResize="1" noEditPoints="1" noAdjustHandles="1" noChangeArrowheads="1" noChangeShapeType="1" noTextEdit="1"/>
              </p:cNvSpPr>
              <p:nvPr>
                <p:ph type="body" sz="quarter" idx="15"/>
              </p:nvPr>
            </p:nvSpPr>
            <p:spPr>
              <a:xfrm>
                <a:off x="740228" y="1201475"/>
                <a:ext cx="10711543" cy="4455050"/>
              </a:xfrm>
              <a:blipFill>
                <a:blip r:embed="rId2"/>
                <a:stretch>
                  <a:fillRect l="-1422" t="-1642"/>
                </a:stretch>
              </a:blipFill>
            </p:spPr>
            <p:txBody>
              <a:bodyPr/>
              <a:lstStyle/>
              <a:p>
                <a:r>
                  <a:rPr lang="en-US">
                    <a:noFill/>
                  </a:rPr>
                  <a:t> </a:t>
                </a:r>
              </a:p>
            </p:txBody>
          </p:sp>
        </mc:Fallback>
      </mc:AlternateContent>
    </p:spTree>
    <p:extLst>
      <p:ext uri="{BB962C8B-B14F-4D97-AF65-F5344CB8AC3E}">
        <p14:creationId xmlns:p14="http://schemas.microsoft.com/office/powerpoint/2010/main" val="754599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60C83-24EA-9444-A04D-78851FC9EAD8}"/>
              </a:ext>
            </a:extLst>
          </p:cNvPr>
          <p:cNvSpPr>
            <a:spLocks noGrp="1"/>
          </p:cNvSpPr>
          <p:nvPr>
            <p:ph type="title"/>
          </p:nvPr>
        </p:nvSpPr>
        <p:spPr/>
        <p:txBody>
          <a:bodyPr/>
          <a:lstStyle/>
          <a:p>
            <a:r>
              <a:rPr lang="en-US" dirty="0"/>
              <a:t>6.2 Probability Lifetime Exceeds 40,000 Miles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D96A069-4184-A6C0-9063-BE0BDDE9B8B4}"/>
                  </a:ext>
                </a:extLst>
              </p:cNvPr>
              <p:cNvSpPr>
                <a:spLocks noGrp="1"/>
              </p:cNvSpPr>
              <p:nvPr>
                <p:ph type="body" sz="quarter" idx="15"/>
              </p:nvPr>
            </p:nvSpPr>
            <p:spPr>
              <a:xfrm>
                <a:off x="743576" y="1415334"/>
                <a:ext cx="10610223" cy="357809"/>
              </a:xfrm>
            </p:spPr>
            <p:txBody>
              <a:bodyPr/>
              <a:lstStyle/>
              <a:p>
                <a:r>
                  <a:rPr lang="en-US" sz="2000" dirty="0"/>
                  <a:t>As depicted by the darker area in the figure, we need to find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≥40,000</m:t>
                        </m:r>
                      </m:e>
                    </m:d>
                  </m:oMath>
                </a14:m>
                <a:r>
                  <a:rPr lang="en-US" sz="2000" dirty="0"/>
                  <a:t>.</a:t>
                </a:r>
              </a:p>
            </p:txBody>
          </p:sp>
        </mc:Choice>
        <mc:Fallback xmlns="">
          <p:sp>
            <p:nvSpPr>
              <p:cNvPr id="3" name="Text Placeholder 2">
                <a:extLst>
                  <a:ext uri="{FF2B5EF4-FFF2-40B4-BE49-F238E27FC236}">
                    <a16:creationId xmlns:a16="http://schemas.microsoft.com/office/drawing/2014/main" id="{1D96A069-4184-A6C0-9063-BE0BDDE9B8B4}"/>
                  </a:ext>
                </a:extLst>
              </p:cNvPr>
              <p:cNvSpPr>
                <a:spLocks noGrp="1" noRot="1" noChangeAspect="1" noMove="1" noResize="1" noEditPoints="1" noAdjustHandles="1" noChangeArrowheads="1" noChangeShapeType="1" noTextEdit="1"/>
              </p:cNvSpPr>
              <p:nvPr>
                <p:ph type="body" sz="quarter" idx="15"/>
              </p:nvPr>
            </p:nvSpPr>
            <p:spPr>
              <a:xfrm>
                <a:off x="743576" y="1415334"/>
                <a:ext cx="10610223" cy="357809"/>
              </a:xfrm>
              <a:blipFill>
                <a:blip r:embed="rId2"/>
                <a:stretch>
                  <a:fillRect l="-1494" t="-20339" b="-30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D371B870-F89B-3E69-436D-B7AD2E71B6F9}"/>
                  </a:ext>
                </a:extLst>
              </p:cNvPr>
              <p:cNvSpPr>
                <a:spLocks noGrp="1"/>
              </p:cNvSpPr>
              <p:nvPr>
                <p:ph type="body" sz="quarter" idx="17"/>
              </p:nvPr>
            </p:nvSpPr>
            <p:spPr>
              <a:xfrm>
                <a:off x="743576" y="1858873"/>
                <a:ext cx="5450489" cy="3886200"/>
              </a:xfrm>
            </p:spPr>
            <p:txBody>
              <a:bodyPr/>
              <a:lstStyle/>
              <a:p>
                <a:pPr>
                  <a:spcAft>
                    <a:spcPts val="600"/>
                  </a:spcAft>
                </a:pPr>
                <a:r>
                  <a:rPr lang="en-US" sz="2000" dirty="0"/>
                  <a:t>We can convert the normal random variable </a:t>
                </a:r>
                <a14:m>
                  <m:oMath xmlns:m="http://schemas.openxmlformats.org/officeDocument/2006/math">
                    <m:r>
                      <a:rPr lang="en-US" sz="2000" i="1" dirty="0" smtClean="0">
                        <a:latin typeface="Cambria Math" panose="02040503050406030204" pitchFamily="18" charset="0"/>
                      </a:rPr>
                      <m:t>𝑥</m:t>
                    </m:r>
                  </m:oMath>
                </a14:m>
                <a:r>
                  <a:rPr lang="en-US" sz="2000" dirty="0"/>
                  <a:t> to the standard normal random variable </a:t>
                </a:r>
                <a14:m>
                  <m:oMath xmlns:m="http://schemas.openxmlformats.org/officeDocument/2006/math">
                    <m:r>
                      <a:rPr lang="en-US" sz="2000" i="1" dirty="0" smtClean="0">
                        <a:latin typeface="Cambria Math" panose="02040503050406030204" pitchFamily="18" charset="0"/>
                      </a:rPr>
                      <m:t>𝑧</m:t>
                    </m:r>
                  </m:oMath>
                </a14:m>
                <a:r>
                  <a:rPr lang="en-US" sz="2000" dirty="0"/>
                  <a:t>, as</a:t>
                </a:r>
              </a:p>
              <a:p>
                <a:pPr marL="461963">
                  <a:spcAft>
                    <a:spcPts val="600"/>
                  </a:spcAft>
                </a:pPr>
                <a14:m>
                  <m:oMathPara xmlns:m="http://schemas.openxmlformats.org/officeDocument/2006/math">
                    <m:oMathParaPr>
                      <m:jc m:val="left"/>
                    </m:oMathParaPr>
                    <m:oMath xmlns:m="http://schemas.openxmlformats.org/officeDocument/2006/math">
                      <m:r>
                        <a:rPr lang="en-US" sz="2000" b="0" i="1" dirty="0" smtClean="0">
                          <a:latin typeface="Cambria Math" panose="02040503050406030204" pitchFamily="18" charset="0"/>
                        </a:rPr>
                        <m:t>𝑧</m:t>
                      </m:r>
                      <m:r>
                        <a:rPr lang="en-US" sz="2000" b="0" i="1" dirty="0" smtClean="0">
                          <a:latin typeface="Cambria Math" panose="02040503050406030204" pitchFamily="18" charset="0"/>
                        </a:rPr>
                        <m:t>=</m:t>
                      </m:r>
                      <m:f>
                        <m:fPr>
                          <m:ctrlPr>
                            <a:rPr lang="en-US" sz="2000" i="1" dirty="0" smtClean="0">
                              <a:latin typeface="Cambria Math" panose="02040503050406030204" pitchFamily="18" charset="0"/>
                            </a:rPr>
                          </m:ctrlPr>
                        </m:fPr>
                        <m:num>
                          <m:r>
                            <a:rPr lang="en-US" sz="2000" b="0" i="1" dirty="0" smtClean="0">
                              <a:latin typeface="Cambria Math" panose="02040503050406030204" pitchFamily="18" charset="0"/>
                            </a:rPr>
                            <m:t>𝑥</m:t>
                          </m:r>
                          <m:r>
                            <a:rPr lang="en-US" sz="2000" b="0" i="1" dirty="0" smtClean="0">
                              <a:latin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𝜇</m:t>
                          </m:r>
                        </m:num>
                        <m:den>
                          <m:r>
                            <a:rPr lang="en-US" sz="2000" b="0" i="1">
                              <a:latin typeface="Cambria Math" panose="02040503050406030204" pitchFamily="18" charset="0"/>
                              <a:ea typeface="Cambria Math" panose="02040503050406030204" pitchFamily="18" charset="0"/>
                            </a:rPr>
                            <m:t>𝜎</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40,000−36,500</m:t>
                          </m:r>
                        </m:num>
                        <m:den>
                          <m:r>
                            <a:rPr lang="en-US" sz="2000" b="0" i="1" smtClean="0">
                              <a:latin typeface="Cambria Math" panose="02040503050406030204" pitchFamily="18" charset="0"/>
                              <a:ea typeface="Cambria Math" panose="02040503050406030204" pitchFamily="18" charset="0"/>
                            </a:rPr>
                            <m:t>5,000</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3,500</m:t>
                          </m:r>
                        </m:num>
                        <m:den>
                          <m:r>
                            <a:rPr lang="en-US" sz="2000" b="0" i="1" smtClean="0">
                              <a:latin typeface="Cambria Math" panose="02040503050406030204" pitchFamily="18" charset="0"/>
                              <a:ea typeface="Cambria Math" panose="02040503050406030204" pitchFamily="18" charset="0"/>
                            </a:rPr>
                            <m:t>5,000</m:t>
                          </m:r>
                        </m:den>
                      </m:f>
                      <m:r>
                        <a:rPr lang="en-US" sz="2000" b="0" i="1" smtClean="0">
                          <a:latin typeface="Cambria Math" panose="02040503050406030204" pitchFamily="18" charset="0"/>
                          <a:ea typeface="Cambria Math" panose="02040503050406030204" pitchFamily="18" charset="0"/>
                        </a:rPr>
                        <m:t>=0.70</m:t>
                      </m:r>
                    </m:oMath>
                  </m:oMathPara>
                </a14:m>
                <a:endParaRPr lang="en-US" sz="2000" dirty="0"/>
              </a:p>
              <a:p>
                <a:pPr>
                  <a:spcAft>
                    <a:spcPts val="600"/>
                  </a:spcAft>
                </a:pPr>
                <a:r>
                  <a:rPr lang="en-US" sz="2000" dirty="0"/>
                  <a:t>The probability that </a:t>
                </a:r>
                <a14:m>
                  <m:oMath xmlns:m="http://schemas.openxmlformats.org/officeDocument/2006/math">
                    <m:r>
                      <a:rPr lang="en-US" sz="2000" i="1" dirty="0" smtClean="0">
                        <a:latin typeface="Cambria Math" panose="02040503050406030204" pitchFamily="18" charset="0"/>
                      </a:rPr>
                      <m:t>𝑧</m:t>
                    </m:r>
                  </m:oMath>
                </a14:m>
                <a:r>
                  <a:rPr lang="en-US" sz="2000" dirty="0"/>
                  <a:t> is greater than or equal to 0.70 is the complement to the probability that </a:t>
                </a:r>
                <a14:m>
                  <m:oMath xmlns:m="http://schemas.openxmlformats.org/officeDocument/2006/math">
                    <m:r>
                      <a:rPr lang="en-US" sz="2000" i="1" dirty="0" smtClean="0">
                        <a:latin typeface="Cambria Math" panose="02040503050406030204" pitchFamily="18" charset="0"/>
                      </a:rPr>
                      <m:t>𝑧</m:t>
                    </m:r>
                  </m:oMath>
                </a14:m>
                <a:r>
                  <a:rPr lang="en-US" sz="2000" dirty="0"/>
                  <a:t> is less than or equal to 0.70. Thus,</a:t>
                </a:r>
              </a:p>
              <a:p>
                <a:pPr marL="461963">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≥40,000</m:t>
                          </m:r>
                        </m:e>
                      </m: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0.70</m:t>
                          </m:r>
                        </m:e>
                      </m:d>
                      <m:r>
                        <a:rPr lang="en-US" sz="2000" b="0" i="0" smtClean="0">
                          <a:latin typeface="Cambria Math" panose="02040503050406030204" pitchFamily="18" charset="0"/>
                          <a:ea typeface="Cambria Math" panose="02040503050406030204" pitchFamily="18" charset="0"/>
                        </a:rPr>
                        <m:t>=1−</m:t>
                      </m:r>
                      <m:r>
                        <m:rPr>
                          <m:sty m:val="p"/>
                        </m:rPr>
                        <a:rPr lang="en-US" sz="2000" b="0" i="0" smtClean="0">
                          <a:latin typeface="Cambria Math" panose="02040503050406030204" pitchFamily="18" charset="0"/>
                          <a:ea typeface="Cambria Math" panose="02040503050406030204" pitchFamily="18" charset="0"/>
                        </a:rPr>
                        <m:t>P</m:t>
                      </m:r>
                      <m:d>
                        <m:dPr>
                          <m:ctrlPr>
                            <a:rPr lang="en-US" sz="2000" b="0" i="1" smtClean="0">
                              <a:latin typeface="Cambria Math" panose="02040503050406030204" pitchFamily="18" charset="0"/>
                              <a:ea typeface="Cambria Math" panose="02040503050406030204" pitchFamily="18" charset="0"/>
                            </a:rPr>
                          </m:ctrlPr>
                        </m:dPr>
                        <m:e>
                          <m:r>
                            <m:rPr>
                              <m:sty m:val="p"/>
                            </m:rPr>
                            <a:rPr lang="en-US" sz="2000" b="0" i="0" smtClean="0">
                              <a:latin typeface="Cambria Math" panose="02040503050406030204" pitchFamily="18" charset="0"/>
                              <a:ea typeface="Cambria Math" panose="02040503050406030204" pitchFamily="18" charset="0"/>
                            </a:rPr>
                            <m:t>z</m:t>
                          </m:r>
                          <m:r>
                            <a:rPr lang="en-US" sz="2000" b="0" i="0" smtClean="0">
                              <a:latin typeface="Cambria Math" panose="02040503050406030204" pitchFamily="18" charset="0"/>
                              <a:ea typeface="Cambria Math" panose="02040503050406030204" pitchFamily="18" charset="0"/>
                            </a:rPr>
                            <m:t>&lt;0.70</m:t>
                          </m:r>
                        </m:e>
                      </m:d>
                      <m:r>
                        <a:rPr lang="en-US" sz="2000" b="0" i="0" smtClean="0">
                          <a:latin typeface="Cambria Math" panose="02040503050406030204" pitchFamily="18" charset="0"/>
                          <a:ea typeface="Cambria Math" panose="02040503050406030204" pitchFamily="18" charset="0"/>
                        </a:rPr>
                        <m:t>=1−0.7580=0.2420</m:t>
                      </m:r>
                    </m:oMath>
                  </m:oMathPara>
                </a14:m>
                <a:endParaRPr lang="en-US" sz="2000" dirty="0"/>
              </a:p>
              <a:p>
                <a:r>
                  <a:rPr lang="en-US" sz="2000" dirty="0"/>
                  <a:t>We can conclude that about 24.2% of the tires will exceed 40,000 in lifetime mileage.</a:t>
                </a:r>
              </a:p>
            </p:txBody>
          </p:sp>
        </mc:Choice>
        <mc:Fallback xmlns="">
          <p:sp>
            <p:nvSpPr>
              <p:cNvPr id="5" name="Text Placeholder 4">
                <a:extLst>
                  <a:ext uri="{FF2B5EF4-FFF2-40B4-BE49-F238E27FC236}">
                    <a16:creationId xmlns:a16="http://schemas.microsoft.com/office/drawing/2014/main" id="{D371B870-F89B-3E69-436D-B7AD2E71B6F9}"/>
                  </a:ext>
                </a:extLst>
              </p:cNvPr>
              <p:cNvSpPr>
                <a:spLocks noGrp="1" noRot="1" noChangeAspect="1" noMove="1" noResize="1" noEditPoints="1" noAdjustHandles="1" noChangeArrowheads="1" noChangeShapeType="1" noTextEdit="1"/>
              </p:cNvSpPr>
              <p:nvPr>
                <p:ph type="body" sz="quarter" idx="17"/>
              </p:nvPr>
            </p:nvSpPr>
            <p:spPr>
              <a:xfrm>
                <a:off x="743576" y="1858873"/>
                <a:ext cx="5450489" cy="3886200"/>
              </a:xfrm>
              <a:blipFill>
                <a:blip r:embed="rId3"/>
                <a:stretch>
                  <a:fillRect l="-2908" t="-1884" r="-3356" b="-2041"/>
                </a:stretch>
              </a:blipFill>
            </p:spPr>
            <p:txBody>
              <a:bodyPr/>
              <a:lstStyle/>
              <a:p>
                <a:r>
                  <a:rPr lang="en-US">
                    <a:noFill/>
                  </a:rPr>
                  <a:t> </a:t>
                </a:r>
              </a:p>
            </p:txBody>
          </p:sp>
        </mc:Fallback>
      </mc:AlternateContent>
      <p:pic>
        <p:nvPicPr>
          <p:cNvPr id="7" name="Picture Placeholder 6" descr="A graph plots a normal distribution over x and z. The horizontal axis is labeled “x” and lists mu = 36,500 and 40,000. The horizontal axis is labeled “z” and lists 0 and 0.70. Text at the bottom reads, Note: z = 0 corresponds to x = mu = 36,500. Note: z = 0.70 corresponds to x = 40,000. A bell-shaped curve peaks at mu = 36,500 and is labeled “Sigma = 5,000.” The region under the curve to the left of x = 40,000 is labeled “P(x &lt; 40,000).” The region under the curve to the right of 40,000 is shaded dark and labeled “P(x &gt;= 40,000) = ?”&#10;">
            <a:extLst>
              <a:ext uri="{FF2B5EF4-FFF2-40B4-BE49-F238E27FC236}">
                <a16:creationId xmlns:a16="http://schemas.microsoft.com/office/drawing/2014/main" id="{0F75CA55-CB99-BD9D-14B5-66DE28FC3E34}"/>
              </a:ext>
            </a:extLst>
          </p:cNvPr>
          <p:cNvPicPr>
            <a:picLocks noGrp="1" noChangeAspect="1"/>
          </p:cNvPicPr>
          <p:nvPr>
            <p:ph type="pic" sz="quarter" idx="16"/>
          </p:nvPr>
        </p:nvPicPr>
        <p:blipFill rotWithShape="1">
          <a:blip r:embed="rId4"/>
          <a:srcRect l="24" r="24"/>
          <a:stretch/>
        </p:blipFill>
        <p:spPr>
          <a:xfrm>
            <a:off x="6194065" y="1968410"/>
            <a:ext cx="5257800" cy="3776663"/>
          </a:xfrm>
        </p:spPr>
      </p:pic>
    </p:spTree>
    <p:extLst>
      <p:ext uri="{BB962C8B-B14F-4D97-AF65-F5344CB8AC3E}">
        <p14:creationId xmlns:p14="http://schemas.microsoft.com/office/powerpoint/2010/main" val="2887331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60C83-24EA-9444-A04D-78851FC9EAD8}"/>
              </a:ext>
            </a:extLst>
          </p:cNvPr>
          <p:cNvSpPr>
            <a:spLocks noGrp="1"/>
          </p:cNvSpPr>
          <p:nvPr>
            <p:ph type="title"/>
          </p:nvPr>
        </p:nvSpPr>
        <p:spPr/>
        <p:txBody>
          <a:bodyPr/>
          <a:lstStyle/>
          <a:p>
            <a:r>
              <a:rPr lang="en-US" dirty="0"/>
              <a:t>6.2 Great Tire Guaranteed Mileage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D96A069-4184-A6C0-9063-BE0BDDE9B8B4}"/>
                  </a:ext>
                </a:extLst>
              </p:cNvPr>
              <p:cNvSpPr>
                <a:spLocks noGrp="1"/>
              </p:cNvSpPr>
              <p:nvPr>
                <p:ph type="body" sz="quarter" idx="15"/>
              </p:nvPr>
            </p:nvSpPr>
            <p:spPr>
              <a:xfrm>
                <a:off x="743576" y="1415334"/>
                <a:ext cx="10610223" cy="1443486"/>
              </a:xfrm>
            </p:spPr>
            <p:txBody>
              <a:bodyPr/>
              <a:lstStyle/>
              <a:p>
                <a:r>
                  <a:rPr lang="en-US" sz="2000" dirty="0"/>
                  <a:t>In this inverse problem, we need to find a value of </a:t>
                </a:r>
                <a14:m>
                  <m:oMath xmlns:m="http://schemas.openxmlformats.org/officeDocument/2006/math">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m:t>
                        </m:r>
                      </m:sup>
                    </m:sSup>
                  </m:oMath>
                </a14:m>
                <a:r>
                  <a:rPr lang="en-US" sz="2000" dirty="0"/>
                  <a:t> such that: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𝑥</m:t>
                            </m:r>
                          </m:e>
                          <m:sup>
                            <m:r>
                              <a:rPr lang="en-US" sz="2000" b="0" i="1" smtClean="0">
                                <a:latin typeface="Cambria Math" panose="02040503050406030204" pitchFamily="18" charset="0"/>
                                <a:ea typeface="Cambria Math" panose="02040503050406030204" pitchFamily="18" charset="0"/>
                              </a:rPr>
                              <m:t>∗</m:t>
                            </m:r>
                          </m:sup>
                        </m:sSup>
                      </m:e>
                    </m:d>
                    <m:r>
                      <a:rPr lang="en-US" sz="2000" b="0" i="1" smtClean="0">
                        <a:latin typeface="Cambria Math" panose="02040503050406030204" pitchFamily="18" charset="0"/>
                        <a:ea typeface="Cambria Math" panose="02040503050406030204" pitchFamily="18" charset="0"/>
                      </a:rPr>
                      <m:t>=0.10</m:t>
                    </m:r>
                  </m:oMath>
                </a14:m>
                <a:r>
                  <a:rPr lang="en-US" sz="2000" dirty="0"/>
                  <a:t> </a:t>
                </a:r>
              </a:p>
              <a:p>
                <a:r>
                  <a:rPr lang="en-US" sz="2000" dirty="0"/>
                  <a:t>Table 1 of Appendix B shows the closest probability to 0.1000 to be 0.1003, corresponding to the –1.2 row and the 0.08 column. That is, </a:t>
                </a:r>
                <a14:m>
                  <m:oMath xmlns:m="http://schemas.openxmlformats.org/officeDocument/2006/math">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𝑧</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=−1.28</m:t>
                    </m:r>
                  </m:oMath>
                </a14:m>
                <a:r>
                  <a:rPr lang="en-US" sz="2000" dirty="0"/>
                  <a:t>.</a:t>
                </a:r>
              </a:p>
              <a:p>
                <a:r>
                  <a:rPr lang="en-US" sz="2000" dirty="0"/>
                  <a:t>Thus, we have</a:t>
                </a:r>
              </a:p>
            </p:txBody>
          </p:sp>
        </mc:Choice>
        <mc:Fallback xmlns="">
          <p:sp>
            <p:nvSpPr>
              <p:cNvPr id="3" name="Text Placeholder 2">
                <a:extLst>
                  <a:ext uri="{FF2B5EF4-FFF2-40B4-BE49-F238E27FC236}">
                    <a16:creationId xmlns:a16="http://schemas.microsoft.com/office/drawing/2014/main" id="{1D96A069-4184-A6C0-9063-BE0BDDE9B8B4}"/>
                  </a:ext>
                </a:extLst>
              </p:cNvPr>
              <p:cNvSpPr>
                <a:spLocks noGrp="1" noRot="1" noChangeAspect="1" noMove="1" noResize="1" noEditPoints="1" noAdjustHandles="1" noChangeArrowheads="1" noChangeShapeType="1" noTextEdit="1"/>
              </p:cNvSpPr>
              <p:nvPr>
                <p:ph type="body" sz="quarter" idx="15"/>
              </p:nvPr>
            </p:nvSpPr>
            <p:spPr>
              <a:xfrm>
                <a:off x="743576" y="1415334"/>
                <a:ext cx="10610223" cy="1443486"/>
              </a:xfrm>
              <a:blipFill>
                <a:blip r:embed="rId2"/>
                <a:stretch>
                  <a:fillRect l="-1494" t="-5063" r="-115"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D371B870-F89B-3E69-436D-B7AD2E71B6F9}"/>
                  </a:ext>
                </a:extLst>
              </p:cNvPr>
              <p:cNvSpPr>
                <a:spLocks noGrp="1"/>
              </p:cNvSpPr>
              <p:nvPr>
                <p:ph type="body" sz="quarter" idx="17"/>
              </p:nvPr>
            </p:nvSpPr>
            <p:spPr>
              <a:xfrm>
                <a:off x="743577" y="2858911"/>
                <a:ext cx="5068826" cy="2886252"/>
              </a:xfrm>
            </p:spPr>
            <p:txBody>
              <a:bodyPr/>
              <a:lstStyle/>
              <a:p>
                <a:pPr marL="461963">
                  <a:spcAft>
                    <a:spcPts val="600"/>
                  </a:spcAft>
                </a:pPr>
                <a14:m>
                  <m:oMathPara xmlns:m="http://schemas.openxmlformats.org/officeDocument/2006/math">
                    <m:oMathParaPr>
                      <m:jc m:val="left"/>
                    </m:oMathParaPr>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𝑧</m:t>
                          </m:r>
                        </m:e>
                        <m:sup>
                          <m:r>
                            <a:rPr lang="en-US" sz="2000" i="1">
                              <a:latin typeface="Cambria Math" panose="02040503050406030204" pitchFamily="18" charset="0"/>
                              <a:ea typeface="Cambria Math" panose="02040503050406030204" pitchFamily="18" charset="0"/>
                            </a:rPr>
                            <m:t>∗</m:t>
                          </m:r>
                        </m:sup>
                      </m:sSup>
                      <m:r>
                        <a:rPr lang="en-US" sz="2000" b="0" i="1" dirty="0" smtClean="0">
                          <a:latin typeface="Cambria Math" panose="02040503050406030204" pitchFamily="18" charset="0"/>
                        </a:rPr>
                        <m:t>=</m:t>
                      </m:r>
                      <m:f>
                        <m:fPr>
                          <m:ctrlPr>
                            <a:rPr lang="en-US" sz="2000" i="1" dirty="0" smtClean="0">
                              <a:latin typeface="Cambria Math" panose="02040503050406030204" pitchFamily="18" charset="0"/>
                            </a:rPr>
                          </m:ctrlPr>
                        </m:fPr>
                        <m:num>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m:t>
                              </m:r>
                            </m:sup>
                          </m:sSup>
                          <m:r>
                            <a:rPr lang="en-US" sz="2000" b="0" i="1" dirty="0" smtClean="0">
                              <a:latin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𝜇</m:t>
                          </m:r>
                        </m:num>
                        <m:den>
                          <m:r>
                            <a:rPr lang="en-US" sz="2000" b="0" i="1">
                              <a:latin typeface="Cambria Math" panose="02040503050406030204" pitchFamily="18" charset="0"/>
                              <a:ea typeface="Cambria Math" panose="02040503050406030204" pitchFamily="18" charset="0"/>
                            </a:rPr>
                            <m:t>𝜎</m:t>
                          </m:r>
                        </m:den>
                      </m:f>
                      <m:r>
                        <a:rPr lang="en-US" sz="2000" b="0" i="1" smtClean="0">
                          <a:latin typeface="Cambria Math" panose="02040503050406030204" pitchFamily="18" charset="0"/>
                          <a:ea typeface="Cambria Math" panose="02040503050406030204" pitchFamily="18" charset="0"/>
                        </a:rPr>
                        <m:t>=−1.28</m:t>
                      </m:r>
                    </m:oMath>
                  </m:oMathPara>
                </a14:m>
                <a:endParaRPr lang="en-US" sz="2000" dirty="0"/>
              </a:p>
              <a:p>
                <a:pPr>
                  <a:spcAft>
                    <a:spcPts val="600"/>
                  </a:spcAft>
                </a:pPr>
                <a:r>
                  <a:rPr lang="en-US" sz="2000" dirty="0"/>
                  <a:t>Solving for </a:t>
                </a: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m:t>
                        </m:r>
                      </m:sup>
                    </m:sSup>
                  </m:oMath>
                </a14:m>
                <a:r>
                  <a:rPr lang="en-US" sz="2000" dirty="0"/>
                  <a:t>, we find</a:t>
                </a:r>
              </a:p>
              <a:p>
                <a:pPr marL="396875">
                  <a:spcAft>
                    <a:spcPts val="600"/>
                  </a:spcAft>
                </a:pPr>
                <a14:m>
                  <m:oMath xmlns:m="http://schemas.openxmlformats.org/officeDocument/2006/math">
                    <m:sSup>
                      <m:sSupPr>
                        <m:ctrlPr>
                          <a:rPr lang="en-US" sz="2000" i="1" smtClean="0">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−1.28</m:t>
                    </m:r>
                    <m:r>
                      <a:rPr lang="en-US" sz="2000" b="0" i="1" smtClean="0">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=36,500−1.28</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5,000</m:t>
                        </m:r>
                      </m:e>
                    </m:d>
                    <m:r>
                      <a:rPr lang="en-US" sz="2000" b="0" i="1" smtClean="0">
                        <a:latin typeface="Cambria Math" panose="02040503050406030204" pitchFamily="18" charset="0"/>
                        <a:ea typeface="Cambria Math" panose="02040503050406030204" pitchFamily="18" charset="0"/>
                      </a:rPr>
                      <m:t>=30,100≈30,000</m:t>
                    </m:r>
                  </m:oMath>
                </a14:m>
                <a:r>
                  <a:rPr lang="en-US" sz="2000" dirty="0"/>
                  <a:t> miles</a:t>
                </a:r>
              </a:p>
              <a:p>
                <a:pPr>
                  <a:spcAft>
                    <a:spcPts val="600"/>
                  </a:spcAft>
                </a:pPr>
                <a:r>
                  <a:rPr lang="en-US" sz="2000" dirty="0"/>
                  <a:t>Thus, a guarantee of 30,000 miles will meet the requirement that no more than 10% of the tires will be eligible for the discount.</a:t>
                </a:r>
              </a:p>
            </p:txBody>
          </p:sp>
        </mc:Choice>
        <mc:Fallback xmlns="">
          <p:sp>
            <p:nvSpPr>
              <p:cNvPr id="5" name="Text Placeholder 4">
                <a:extLst>
                  <a:ext uri="{FF2B5EF4-FFF2-40B4-BE49-F238E27FC236}">
                    <a16:creationId xmlns:a16="http://schemas.microsoft.com/office/drawing/2014/main" id="{D371B870-F89B-3E69-436D-B7AD2E71B6F9}"/>
                  </a:ext>
                </a:extLst>
              </p:cNvPr>
              <p:cNvSpPr>
                <a:spLocks noGrp="1" noRot="1" noChangeAspect="1" noMove="1" noResize="1" noEditPoints="1" noAdjustHandles="1" noChangeArrowheads="1" noChangeShapeType="1" noTextEdit="1"/>
              </p:cNvSpPr>
              <p:nvPr>
                <p:ph type="body" sz="quarter" idx="17"/>
              </p:nvPr>
            </p:nvSpPr>
            <p:spPr>
              <a:xfrm>
                <a:off x="743577" y="2858911"/>
                <a:ext cx="5068826" cy="2886252"/>
              </a:xfrm>
              <a:blipFill>
                <a:blip r:embed="rId3"/>
                <a:stretch>
                  <a:fillRect l="-3129" r="-1324" b="-4651"/>
                </a:stretch>
              </a:blipFill>
            </p:spPr>
            <p:txBody>
              <a:bodyPr/>
              <a:lstStyle/>
              <a:p>
                <a:r>
                  <a:rPr lang="en-US">
                    <a:noFill/>
                  </a:rPr>
                  <a:t> </a:t>
                </a:r>
              </a:p>
            </p:txBody>
          </p:sp>
        </mc:Fallback>
      </mc:AlternateContent>
      <p:pic>
        <p:nvPicPr>
          <p:cNvPr id="8" name="Picture Placeholder 7" descr="A graph plots a normal distribution curve over z. The horizontal axis is labeled x and lists guarantee mileage = ? and mu = 36,500. A bell-shaped curve peaks at mu = 36,500 and is labeled “Sigma = 5,000.” The region under the curve to the left of guarantee mileage =  ? is shaded dark and labeled “10% of tires eligible for discount guarantee.”&#10;">
            <a:extLst>
              <a:ext uri="{FF2B5EF4-FFF2-40B4-BE49-F238E27FC236}">
                <a16:creationId xmlns:a16="http://schemas.microsoft.com/office/drawing/2014/main" id="{22BE00CB-9787-5105-8176-358A091ADF8D}"/>
              </a:ext>
            </a:extLst>
          </p:cNvPr>
          <p:cNvPicPr>
            <a:picLocks noGrp="1" noChangeAspect="1"/>
          </p:cNvPicPr>
          <p:nvPr>
            <p:ph type="pic" sz="quarter" idx="16"/>
          </p:nvPr>
        </p:nvPicPr>
        <p:blipFill rotWithShape="1">
          <a:blip r:embed="rId4"/>
          <a:srcRect l="66" r="66"/>
          <a:stretch/>
        </p:blipFill>
        <p:spPr>
          <a:xfrm>
            <a:off x="5888901" y="2637031"/>
            <a:ext cx="5417586" cy="3024492"/>
          </a:xfrm>
        </p:spPr>
      </p:pic>
    </p:spTree>
    <p:extLst>
      <p:ext uri="{BB962C8B-B14F-4D97-AF65-F5344CB8AC3E}">
        <p14:creationId xmlns:p14="http://schemas.microsoft.com/office/powerpoint/2010/main" val="3711532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DDD2-7B81-D666-F406-8957871E7429}"/>
              </a:ext>
            </a:extLst>
          </p:cNvPr>
          <p:cNvSpPr>
            <a:spLocks noGrp="1"/>
          </p:cNvSpPr>
          <p:nvPr>
            <p:ph type="title"/>
          </p:nvPr>
        </p:nvSpPr>
        <p:spPr/>
        <p:txBody>
          <a:bodyPr/>
          <a:lstStyle/>
          <a:p>
            <a:r>
              <a:rPr lang="en-US" dirty="0">
                <a:solidFill>
                  <a:srgbClr val="25894E"/>
                </a:solidFill>
              </a:rPr>
              <a:t>6.2 Excel’s Normal Probability Functions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A8105A4-859B-2D67-2AC9-F070B21EFC09}"/>
                  </a:ext>
                </a:extLst>
              </p:cNvPr>
              <p:cNvSpPr>
                <a:spLocks noGrp="1"/>
              </p:cNvSpPr>
              <p:nvPr>
                <p:ph type="body" sz="quarter" idx="15"/>
              </p:nvPr>
            </p:nvSpPr>
            <p:spPr>
              <a:xfrm>
                <a:off x="740228" y="1107278"/>
                <a:ext cx="10711543" cy="4843464"/>
              </a:xfrm>
            </p:spPr>
            <p:txBody>
              <a:bodyPr/>
              <a:lstStyle/>
              <a:p>
                <a:pPr>
                  <a:spcBef>
                    <a:spcPts val="1000"/>
                  </a:spcBef>
                  <a:spcAft>
                    <a:spcPts val="0"/>
                  </a:spcAft>
                </a:pPr>
                <a:r>
                  <a:rPr lang="en-US" sz="2000" dirty="0">
                    <a:ea typeface="Cambria Math" panose="02040503050406030204" pitchFamily="18" charset="0"/>
                  </a:rPr>
                  <a:t>Excel provides two functions for computing probabilities and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𝑧</m:t>
                    </m:r>
                  </m:oMath>
                </a14:m>
                <a:r>
                  <a:rPr lang="en-US" sz="2000" dirty="0">
                    <a:ea typeface="Cambria Math" panose="02040503050406030204" pitchFamily="18" charset="0"/>
                  </a:rPr>
                  <a:t> values for a standard normal probability distribution.</a:t>
                </a:r>
              </a:p>
              <a:p>
                <a:pPr marL="457200">
                  <a:spcBef>
                    <a:spcPts val="600"/>
                  </a:spcBef>
                  <a:spcAft>
                    <a:spcPts val="0"/>
                  </a:spcAft>
                </a:pPr>
                <a14:m>
                  <m:oMath xmlns:m="http://schemas.openxmlformats.org/officeDocument/2006/math">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NORM</m:t>
                    </m:r>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S</m:t>
                    </m:r>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DIST</m:t>
                    </m:r>
                    <m:r>
                      <a:rPr lang="en-US" sz="2000" b="1" i="1" dirty="0" smtClean="0">
                        <a:latin typeface="Cambria Math" panose="02040503050406030204" pitchFamily="18" charset="0"/>
                        <a:ea typeface="Cambria Math" panose="02040503050406030204" pitchFamily="18" charset="0"/>
                      </a:rPr>
                      <m:t>(</m:t>
                    </m:r>
                    <m:r>
                      <a:rPr lang="en-US" sz="2000" b="1" i="1" dirty="0" err="1" smtClean="0">
                        <a:latin typeface="Cambria Math" panose="02040503050406030204" pitchFamily="18" charset="0"/>
                        <a:ea typeface="Cambria Math" panose="02040503050406030204" pitchFamily="18" charset="0"/>
                      </a:rPr>
                      <m:t>𝒛</m:t>
                    </m:r>
                    <m:r>
                      <a:rPr lang="en-US" sz="2000" b="1" i="1" dirty="0" err="1" smtClean="0">
                        <a:latin typeface="Cambria Math" panose="02040503050406030204" pitchFamily="18" charset="0"/>
                        <a:ea typeface="Cambria Math" panose="02040503050406030204" pitchFamily="18" charset="0"/>
                      </a:rPr>
                      <m:t>,</m:t>
                    </m:r>
                    <m:r>
                      <a:rPr lang="en-US" sz="2000" b="1" i="1" dirty="0" err="1" smtClean="0">
                        <a:latin typeface="Cambria Math" panose="02040503050406030204" pitchFamily="18" charset="0"/>
                        <a:ea typeface="Cambria Math" panose="02040503050406030204" pitchFamily="18" charset="0"/>
                      </a:rPr>
                      <m:t>𝒄𝒖𝒎𝒖𝒍𝒂𝒕𝒊𝒗𝒆</m:t>
                    </m:r>
                    <m:r>
                      <a:rPr lang="en-US" sz="2000" b="1" i="1" dirty="0"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The function provides the area under the standard normal curve to the left of a given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𝑧</m:t>
                    </m:r>
                  </m:oMath>
                </a14:m>
                <a:r>
                  <a:rPr lang="en-US" sz="2000" dirty="0">
                    <a:ea typeface="Cambria Math" panose="02040503050406030204" pitchFamily="18" charset="0"/>
                  </a:rPr>
                  <a:t> value when the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𝑐𝑢𝑚𝑢𝑙𝑎𝑡𝑖𝑣𝑒</m:t>
                    </m:r>
                  </m:oMath>
                </a14:m>
                <a:r>
                  <a:rPr lang="en-US" sz="2000" dirty="0">
                    <a:ea typeface="Cambria Math" panose="02040503050406030204" pitchFamily="18" charset="0"/>
                  </a:rPr>
                  <a:t> field is set to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𝑇𝑅𝑈𝐸</m:t>
                    </m:r>
                  </m:oMath>
                </a14:m>
                <a:r>
                  <a:rPr lang="en-US" sz="2000" dirty="0">
                    <a:ea typeface="Cambria Math" panose="02040503050406030204" pitchFamily="18" charset="0"/>
                  </a:rPr>
                  <a:t>. </a:t>
                </a:r>
              </a:p>
              <a:p>
                <a:pPr marL="914400" indent="-342900">
                  <a:spcBef>
                    <a:spcPts val="300"/>
                  </a:spcBef>
                  <a:spcAft>
                    <a:spcPts val="0"/>
                  </a:spcAft>
                  <a:buFont typeface="Arial" panose="020B0604020202020204" pitchFamily="34" charset="0"/>
                  <a:buChar char="•"/>
                </a:pPr>
                <a:r>
                  <a:rPr lang="en-US" sz="2000" dirty="0">
                    <a:ea typeface="Cambria Math" panose="02040503050406030204" pitchFamily="18" charset="0"/>
                  </a:rPr>
                  <a:t>When the cumulative field is set to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𝐹𝐴𝐿𝑆𝐸</m:t>
                    </m:r>
                  </m:oMath>
                </a14:m>
                <a:r>
                  <a:rPr lang="en-US" sz="2000" dirty="0">
                    <a:ea typeface="Cambria Math" panose="02040503050406030204" pitchFamily="18" charset="0"/>
                  </a:rPr>
                  <a:t>, the function provides the value of the standard normal probability density function at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𝑧</m:t>
                    </m:r>
                  </m:oMath>
                </a14:m>
                <a:r>
                  <a:rPr lang="en-US" sz="2000" dirty="0">
                    <a:ea typeface="Cambria Math" panose="02040503050406030204" pitchFamily="18" charset="0"/>
                  </a:rPr>
                  <a:t>, which is of no interest to us.</a:t>
                </a:r>
              </a:p>
              <a:p>
                <a:pPr marL="457200">
                  <a:spcBef>
                    <a:spcPts val="600"/>
                  </a:spcBef>
                  <a:spcAft>
                    <a:spcPts val="0"/>
                  </a:spcAft>
                </a:pPr>
                <a14:m>
                  <m:oMath xmlns:m="http://schemas.openxmlformats.org/officeDocument/2006/math">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NORM</m:t>
                    </m:r>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S</m:t>
                    </m:r>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INV</m:t>
                    </m:r>
                    <m:r>
                      <a:rPr lang="en-US" sz="2000" b="1" i="1" dirty="0"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𝒑</m:t>
                    </m:r>
                    <m:r>
                      <a:rPr lang="en-US" sz="2000" b="1" i="1" dirty="0"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The function takes a cumulative probability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𝑝</m:t>
                    </m:r>
                  </m:oMath>
                </a14:m>
                <a:r>
                  <a:rPr lang="en-US" sz="2000" dirty="0">
                    <a:ea typeface="Cambria Math" panose="02040503050406030204" pitchFamily="18" charset="0"/>
                  </a:rPr>
                  <a:t> as input and provides the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𝑧</m:t>
                    </m:r>
                  </m:oMath>
                </a14:m>
                <a:r>
                  <a:rPr lang="en-US" sz="2000" dirty="0">
                    <a:ea typeface="Cambria Math" panose="02040503050406030204" pitchFamily="18" charset="0"/>
                  </a:rPr>
                  <a:t> value corresponding to that cumulative probability.</a:t>
                </a:r>
              </a:p>
              <a:p>
                <a:pPr>
                  <a:spcBef>
                    <a:spcPts val="1000"/>
                  </a:spcBef>
                  <a:spcAft>
                    <a:spcPts val="0"/>
                  </a:spcAft>
                </a:pPr>
                <a:r>
                  <a:rPr lang="en-US" sz="2000" dirty="0">
                    <a:ea typeface="Cambria Math" panose="02040503050406030204" pitchFamily="18" charset="0"/>
                  </a:rPr>
                  <a:t>Excel also provides two functions for computing probabilities and values for a normal probability distribution of a random variable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𝑥</m:t>
                    </m:r>
                  </m:oMath>
                </a14:m>
                <a:r>
                  <a:rPr lang="en-US" sz="2000" dirty="0">
                    <a:ea typeface="Cambria Math" panose="02040503050406030204" pitchFamily="18" charset="0"/>
                  </a:rPr>
                  <a:t> having mean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oMath>
                </a14:m>
                <a:r>
                  <a:rPr lang="en-US" sz="2000" dirty="0">
                    <a:ea typeface="Cambria Math" panose="02040503050406030204" pitchFamily="18" charset="0"/>
                  </a:rPr>
                  <a:t> and standard deviation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ea typeface="Cambria Math" panose="02040503050406030204" pitchFamily="18" charset="0"/>
                  </a:rPr>
                  <a:t>.</a:t>
                </a:r>
              </a:p>
              <a:p>
                <a:pPr marL="457200">
                  <a:spcBef>
                    <a:spcPts val="600"/>
                  </a:spcBef>
                  <a:spcAft>
                    <a:spcPts val="0"/>
                  </a:spcAft>
                </a:pPr>
                <a14:m>
                  <m:oMath xmlns:m="http://schemas.openxmlformats.org/officeDocument/2006/math">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NORM</m:t>
                    </m:r>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DIST</m:t>
                    </m:r>
                    <m:r>
                      <a:rPr lang="en-US" sz="2000" b="1" i="1" dirty="0"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𝒙</m:t>
                    </m:r>
                    <m:r>
                      <a:rPr lang="en-US" sz="2000" b="1" i="1" dirty="0"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𝝁</m:t>
                    </m:r>
                    <m:r>
                      <a:rPr lang="en-US" sz="2000" b="1" i="1" dirty="0"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𝝈</m:t>
                    </m:r>
                    <m:r>
                      <a:rPr lang="en-US" sz="2000" b="1" i="1" dirty="0" err="1"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𝒄𝒖𝒎𝒖𝒍𝒂𝒕𝒊𝒗𝒆</m:t>
                    </m:r>
                    <m:r>
                      <a:rPr lang="en-US" sz="2000" b="1" i="1" dirty="0"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The function provides the area under the normal curve to the left of a given value of the random variable </a:t>
                </a:r>
                <a14:m>
                  <m:oMath xmlns:m="http://schemas.openxmlformats.org/officeDocument/2006/math">
                    <m:r>
                      <a:rPr lang="en-US" sz="2000" i="1" dirty="0">
                        <a:latin typeface="Cambria Math" panose="02040503050406030204" pitchFamily="18" charset="0"/>
                        <a:ea typeface="Cambria Math" panose="02040503050406030204" pitchFamily="18" charset="0"/>
                      </a:rPr>
                      <m:t>𝑥</m:t>
                    </m:r>
                  </m:oMath>
                </a14:m>
                <a:r>
                  <a:rPr lang="en-US" sz="2000" dirty="0">
                    <a:ea typeface="Cambria Math" panose="02040503050406030204" pitchFamily="18" charset="0"/>
                  </a:rPr>
                  <a:t> when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𝑐𝑢𝑚𝑢𝑙𝑎𝑡𝑖𝑣𝑒</m:t>
                    </m:r>
                    <m:r>
                      <a:rPr lang="en-US" sz="2000" b="0" i="0"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𝑇𝑅𝑈𝐸</m:t>
                    </m:r>
                  </m:oMath>
                </a14:m>
                <a:r>
                  <a:rPr lang="en-US" sz="2000" dirty="0">
                    <a:ea typeface="Cambria Math" panose="02040503050406030204" pitchFamily="18" charset="0"/>
                  </a:rPr>
                  <a:t>. </a:t>
                </a:r>
              </a:p>
              <a:p>
                <a:pPr marL="457200">
                  <a:spcBef>
                    <a:spcPts val="600"/>
                  </a:spcBef>
                  <a:spcAft>
                    <a:spcPts val="0"/>
                  </a:spcAft>
                </a:pPr>
                <a14:m>
                  <m:oMath xmlns:m="http://schemas.openxmlformats.org/officeDocument/2006/math">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NORM</m:t>
                    </m:r>
                    <m:r>
                      <m:rPr>
                        <m:nor/>
                      </m:rPr>
                      <a:rPr lang="en-US" sz="2000" b="1" i="0" dirty="0" smtClean="0">
                        <a:latin typeface="Cambria Math" panose="02040503050406030204" pitchFamily="18" charset="0"/>
                        <a:ea typeface="Cambria Math" panose="02040503050406030204" pitchFamily="18" charset="0"/>
                      </a:rPr>
                      <m:t>.</m:t>
                    </m:r>
                    <m:r>
                      <m:rPr>
                        <m:nor/>
                      </m:rPr>
                      <a:rPr lang="en-US" sz="2000" b="1" i="0" dirty="0" smtClean="0">
                        <a:latin typeface="Cambria Math" panose="02040503050406030204" pitchFamily="18" charset="0"/>
                        <a:ea typeface="Cambria Math" panose="02040503050406030204" pitchFamily="18" charset="0"/>
                      </a:rPr>
                      <m:t>INV</m:t>
                    </m:r>
                    <m:r>
                      <a:rPr lang="en-US" sz="2000" b="1" i="1" dirty="0"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𝒑</m:t>
                    </m:r>
                    <m:r>
                      <a:rPr lang="en-US" sz="2000" b="1" i="1" dirty="0">
                        <a:latin typeface="Cambria Math" panose="02040503050406030204" pitchFamily="18" charset="0"/>
                        <a:ea typeface="Cambria Math" panose="02040503050406030204" pitchFamily="18" charset="0"/>
                      </a:rPr>
                      <m:t>,</m:t>
                    </m:r>
                    <m:r>
                      <a:rPr lang="en-US" sz="2000" b="1" i="1" dirty="0">
                        <a:latin typeface="Cambria Math" panose="02040503050406030204" pitchFamily="18" charset="0"/>
                        <a:ea typeface="Cambria Math" panose="02040503050406030204" pitchFamily="18" charset="0"/>
                      </a:rPr>
                      <m:t>𝝁</m:t>
                    </m:r>
                    <m:r>
                      <a:rPr lang="en-US" sz="2000" b="1" i="1" dirty="0">
                        <a:latin typeface="Cambria Math" panose="02040503050406030204" pitchFamily="18" charset="0"/>
                        <a:ea typeface="Cambria Math" panose="02040503050406030204" pitchFamily="18" charset="0"/>
                      </a:rPr>
                      <m:t>,</m:t>
                    </m:r>
                    <m:r>
                      <a:rPr lang="en-US" sz="2000" b="1" i="1" dirty="0">
                        <a:latin typeface="Cambria Math" panose="02040503050406030204" pitchFamily="18" charset="0"/>
                        <a:ea typeface="Cambria Math" panose="02040503050406030204" pitchFamily="18" charset="0"/>
                      </a:rPr>
                      <m:t>𝝈</m:t>
                    </m:r>
                    <m:r>
                      <a:rPr lang="en-US" sz="2000" b="1" i="1" dirty="0"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The function takes a cumulative probability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𝑝</m:t>
                    </m:r>
                  </m:oMath>
                </a14:m>
                <a:r>
                  <a:rPr lang="en-US" sz="2000" dirty="0">
                    <a:ea typeface="Cambria Math" panose="02040503050406030204" pitchFamily="18" charset="0"/>
                  </a:rPr>
                  <a:t> as input and provides the value of the random variable </a:t>
                </a:r>
                <a14:m>
                  <m:oMath xmlns:m="http://schemas.openxmlformats.org/officeDocument/2006/math">
                    <m:r>
                      <a:rPr lang="en-US" sz="2000" i="1" dirty="0">
                        <a:latin typeface="Cambria Math" panose="02040503050406030204" pitchFamily="18" charset="0"/>
                        <a:ea typeface="Cambria Math" panose="02040503050406030204" pitchFamily="18" charset="0"/>
                      </a:rPr>
                      <m:t>𝑥</m:t>
                    </m:r>
                    <m:r>
                      <a:rPr lang="en-US" sz="2000" i="1" dirty="0">
                        <a:latin typeface="Cambria Math" panose="02040503050406030204" pitchFamily="18" charset="0"/>
                        <a:ea typeface="Cambria Math" panose="02040503050406030204" pitchFamily="18" charset="0"/>
                      </a:rPr>
                      <m:t> </m:t>
                    </m:r>
                  </m:oMath>
                </a14:m>
                <a:r>
                  <a:rPr lang="en-US" sz="2000" dirty="0">
                    <a:ea typeface="Cambria Math" panose="02040503050406030204" pitchFamily="18" charset="0"/>
                  </a:rPr>
                  <a:t>corresponding to that cumulative probability.</a:t>
                </a:r>
              </a:p>
              <a:p>
                <a:pPr>
                  <a:spcAft>
                    <a:spcPts val="0"/>
                  </a:spcAft>
                </a:pPr>
                <a:endParaRPr lang="en-US" sz="2000" dirty="0">
                  <a:ea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9A8105A4-859B-2D67-2AC9-F070B21EFC09}"/>
                  </a:ext>
                </a:extLst>
              </p:cNvPr>
              <p:cNvSpPr>
                <a:spLocks noGrp="1" noRot="1" noChangeAspect="1" noMove="1" noResize="1" noEditPoints="1" noAdjustHandles="1" noChangeArrowheads="1" noChangeShapeType="1" noTextEdit="1"/>
              </p:cNvSpPr>
              <p:nvPr>
                <p:ph type="body" sz="quarter" idx="15"/>
              </p:nvPr>
            </p:nvSpPr>
            <p:spPr>
              <a:xfrm>
                <a:off x="740228" y="1107278"/>
                <a:ext cx="10711543" cy="4843464"/>
              </a:xfrm>
              <a:blipFill>
                <a:blip r:embed="rId3"/>
                <a:stretch>
                  <a:fillRect l="-1422" t="-1511" r="-626" b="-1134"/>
                </a:stretch>
              </a:blipFill>
            </p:spPr>
            <p:txBody>
              <a:bodyPr/>
              <a:lstStyle/>
              <a:p>
                <a:r>
                  <a:rPr lang="en-US">
                    <a:noFill/>
                  </a:rPr>
                  <a:t> </a:t>
                </a:r>
              </a:p>
            </p:txBody>
          </p:sp>
        </mc:Fallback>
      </mc:AlternateContent>
    </p:spTree>
    <p:extLst>
      <p:ext uri="{BB962C8B-B14F-4D97-AF65-F5344CB8AC3E}">
        <p14:creationId xmlns:p14="http://schemas.microsoft.com/office/powerpoint/2010/main" val="3484120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F09DD-6D35-27B1-B115-22BF7723AFC0}"/>
              </a:ext>
            </a:extLst>
          </p:cNvPr>
          <p:cNvSpPr>
            <a:spLocks noGrp="1"/>
          </p:cNvSpPr>
          <p:nvPr>
            <p:ph type="title"/>
          </p:nvPr>
        </p:nvSpPr>
        <p:spPr/>
        <p:txBody>
          <a:bodyPr/>
          <a:lstStyle/>
          <a:p>
            <a:r>
              <a:rPr lang="en-US" sz="3200" dirty="0">
                <a:solidFill>
                  <a:srgbClr val="25894E"/>
                </a:solidFill>
              </a:rPr>
              <a:t>6.2 Excel: Computing Probabilities for the Standard Normal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AFECCF2-F579-3BAE-6948-51F195795D01}"/>
                  </a:ext>
                </a:extLst>
              </p:cNvPr>
              <p:cNvSpPr>
                <a:spLocks noGrp="1"/>
              </p:cNvSpPr>
              <p:nvPr>
                <p:ph type="body" sz="quarter" idx="15"/>
              </p:nvPr>
            </p:nvSpPr>
            <p:spPr>
              <a:xfrm>
                <a:off x="743575" y="1504352"/>
                <a:ext cx="10610223" cy="2453286"/>
              </a:xfrm>
            </p:spPr>
            <p:txBody>
              <a:bodyPr/>
              <a:lstStyle/>
              <a:p>
                <a:r>
                  <a:rPr lang="en-US" sz="2000" b="1" dirty="0"/>
                  <a:t>Enter/Access Data</a:t>
                </a:r>
                <a:r>
                  <a:rPr lang="en-US" sz="2000" dirty="0"/>
                  <a:t>: Open a blank worksheet. We will enter the </a:t>
                </a:r>
                <a14:m>
                  <m:oMath xmlns:m="http://schemas.openxmlformats.org/officeDocument/2006/math">
                    <m:r>
                      <a:rPr lang="en-US" sz="2000" i="1" dirty="0" smtClean="0">
                        <a:latin typeface="Cambria Math" panose="02040503050406030204" pitchFamily="18" charset="0"/>
                      </a:rPr>
                      <m:t>𝑧</m:t>
                    </m:r>
                  </m:oMath>
                </a14:m>
                <a:r>
                  <a:rPr lang="en-US" sz="2000" dirty="0"/>
                  <a:t> values manually.</a:t>
                </a:r>
              </a:p>
              <a:p>
                <a:r>
                  <a:rPr lang="en-US" sz="2000" b="1" dirty="0"/>
                  <a:t>Enter Functions and Formulas</a:t>
                </a:r>
                <a:r>
                  <a:rPr lang="en-US" sz="2000" dirty="0"/>
                  <a:t>: To compute the cumulative probability to the </a:t>
                </a:r>
                <a:r>
                  <a:rPr lang="en-US" sz="2000" i="1" dirty="0"/>
                  <a:t>left</a:t>
                </a:r>
                <a:r>
                  <a:rPr lang="en-US" sz="2000" dirty="0"/>
                  <a:t> of a given </a:t>
                </a:r>
                <a14:m>
                  <m:oMath xmlns:m="http://schemas.openxmlformats.org/officeDocument/2006/math">
                    <m:r>
                      <a:rPr lang="en-US" sz="2000" i="1" dirty="0" smtClean="0">
                        <a:latin typeface="Cambria Math" panose="02040503050406030204" pitchFamily="18" charset="0"/>
                      </a:rPr>
                      <m:t>𝑧</m:t>
                    </m:r>
                  </m:oMath>
                </a14:m>
                <a:r>
                  <a:rPr lang="en-US" sz="2000" dirty="0"/>
                  <a:t> value (area in </a:t>
                </a:r>
                <a:r>
                  <a:rPr lang="en-US" sz="2000" i="1" dirty="0"/>
                  <a:t>lower</a:t>
                </a:r>
                <a:r>
                  <a:rPr lang="en-US" sz="2000" dirty="0"/>
                  <a:t> tail), we simply evaluate </a:t>
                </a:r>
                <a14:m>
                  <m:oMath xmlns:m="http://schemas.openxmlformats.org/officeDocument/2006/math">
                    <m:r>
                      <m:rPr>
                        <m:nor/>
                      </m:rPr>
                      <a:rPr lang="en-US" sz="2000" i="0" dirty="0" smtClean="0">
                        <a:latin typeface="Cambria Math" panose="02040503050406030204" pitchFamily="18" charset="0"/>
                      </a:rPr>
                      <m:t>NORM</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S</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DIST</m:t>
                    </m:r>
                  </m:oMath>
                </a14:m>
                <a:r>
                  <a:rPr lang="en-US" sz="2000" dirty="0"/>
                  <a:t> at the </a:t>
                </a:r>
                <a14:m>
                  <m:oMath xmlns:m="http://schemas.openxmlformats.org/officeDocument/2006/math">
                    <m:r>
                      <a:rPr lang="en-US" sz="2000" i="1" dirty="0" smtClean="0">
                        <a:latin typeface="Cambria Math" panose="02040503050406030204" pitchFamily="18" charset="0"/>
                      </a:rPr>
                      <m:t>𝑧</m:t>
                    </m:r>
                  </m:oMath>
                </a14:m>
                <a:r>
                  <a:rPr lang="en-US" sz="2000" dirty="0"/>
                  <a:t> value.</a:t>
                </a:r>
              </a:p>
              <a:p>
                <a:r>
                  <a:rPr lang="en-US" sz="2000" dirty="0"/>
                  <a:t>To compute probabilities of </a:t>
                </a:r>
                <a14:m>
                  <m:oMath xmlns:m="http://schemas.openxmlformats.org/officeDocument/2006/math">
                    <m:r>
                      <a:rPr lang="en-US" sz="2000" i="1" dirty="0" smtClean="0">
                        <a:latin typeface="Cambria Math" panose="02040503050406030204" pitchFamily="18" charset="0"/>
                      </a:rPr>
                      <m:t>𝑧</m:t>
                    </m:r>
                  </m:oMath>
                </a14:m>
                <a:r>
                  <a:rPr lang="en-US" sz="2000" dirty="0"/>
                  <a:t> being in an </a:t>
                </a:r>
                <a:r>
                  <a:rPr lang="en-US" sz="2000" i="1" dirty="0"/>
                  <a:t>interval</a:t>
                </a:r>
                <a:r>
                  <a:rPr lang="en-US" sz="2000" dirty="0"/>
                  <a:t>, we compute the probability to the left of the </a:t>
                </a:r>
                <a:r>
                  <a:rPr lang="en-US" sz="2000" i="1" dirty="0"/>
                  <a:t>upper</a:t>
                </a:r>
                <a:r>
                  <a:rPr lang="en-US" sz="2000" dirty="0"/>
                  <a:t> endpoint of the interval and subtract the probability at the </a:t>
                </a:r>
                <a:r>
                  <a:rPr lang="en-US" sz="2000" i="1" dirty="0"/>
                  <a:t>lower</a:t>
                </a:r>
                <a:r>
                  <a:rPr lang="en-US" sz="2000" dirty="0"/>
                  <a:t> endpoint of the interval.</a:t>
                </a:r>
              </a:p>
              <a:p>
                <a:r>
                  <a:rPr lang="en-US" sz="2000" dirty="0"/>
                  <a:t>To compute the probability to the </a:t>
                </a:r>
                <a:r>
                  <a:rPr lang="en-US" sz="2000" i="1" dirty="0"/>
                  <a:t>right</a:t>
                </a:r>
                <a:r>
                  <a:rPr lang="en-US" sz="2000" dirty="0"/>
                  <a:t> of a given </a:t>
                </a:r>
                <a14:m>
                  <m:oMath xmlns:m="http://schemas.openxmlformats.org/officeDocument/2006/math">
                    <m:r>
                      <a:rPr lang="en-US" sz="2000" i="1" dirty="0" smtClean="0">
                        <a:latin typeface="Cambria Math" panose="02040503050406030204" pitchFamily="18" charset="0"/>
                      </a:rPr>
                      <m:t>𝑧</m:t>
                    </m:r>
                  </m:oMath>
                </a14:m>
                <a:r>
                  <a:rPr lang="en-US" sz="2000" dirty="0"/>
                  <a:t> value (</a:t>
                </a:r>
                <a:r>
                  <a:rPr lang="en-US" sz="2000" i="1" dirty="0"/>
                  <a:t>upper</a:t>
                </a:r>
                <a:r>
                  <a:rPr lang="en-US" sz="2000" dirty="0"/>
                  <a:t> tail area), we take the complement (</a:t>
                </a:r>
                <a14:m>
                  <m:oMath xmlns:m="http://schemas.openxmlformats.org/officeDocument/2006/math">
                    <m:r>
                      <a:rPr lang="en-US" sz="2000" i="1" dirty="0" smtClean="0">
                        <a:latin typeface="Cambria Math" panose="02040503050406030204" pitchFamily="18" charset="0"/>
                      </a:rPr>
                      <m:t>1−</m:t>
                    </m:r>
                    <m:r>
                      <a:rPr lang="en-US" sz="2000" i="1" dirty="0" smtClean="0">
                        <a:latin typeface="Cambria Math" panose="02040503050406030204" pitchFamily="18" charset="0"/>
                      </a:rPr>
                      <m:t>𝑝</m:t>
                    </m:r>
                  </m:oMath>
                </a14:m>
                <a:r>
                  <a:rPr lang="en-US" sz="2000" dirty="0"/>
                  <a:t>) of the probability to the left of the same </a:t>
                </a:r>
                <a14:m>
                  <m:oMath xmlns:m="http://schemas.openxmlformats.org/officeDocument/2006/math">
                    <m:r>
                      <a:rPr lang="en-US" sz="2000" i="1" dirty="0" smtClean="0">
                        <a:latin typeface="Cambria Math" panose="02040503050406030204" pitchFamily="18" charset="0"/>
                      </a:rPr>
                      <m:t>𝑧</m:t>
                    </m:r>
                  </m:oMath>
                </a14:m>
                <a:r>
                  <a:rPr lang="en-US" sz="2000" dirty="0"/>
                  <a:t> value (</a:t>
                </a:r>
                <a:r>
                  <a:rPr lang="en-US" sz="2000" i="1" dirty="0"/>
                  <a:t>lower</a:t>
                </a:r>
                <a:r>
                  <a:rPr lang="en-US" sz="2000" dirty="0"/>
                  <a:t> tail area.)</a:t>
                </a:r>
              </a:p>
            </p:txBody>
          </p:sp>
        </mc:Choice>
        <mc:Fallback xmlns="">
          <p:sp>
            <p:nvSpPr>
              <p:cNvPr id="3" name="Text Placeholder 2">
                <a:extLst>
                  <a:ext uri="{FF2B5EF4-FFF2-40B4-BE49-F238E27FC236}">
                    <a16:creationId xmlns:a16="http://schemas.microsoft.com/office/drawing/2014/main" id="{AAFECCF2-F579-3BAE-6948-51F195795D01}"/>
                  </a:ext>
                </a:extLst>
              </p:cNvPr>
              <p:cNvSpPr>
                <a:spLocks noGrp="1" noRot="1" noChangeAspect="1" noMove="1" noResize="1" noEditPoints="1" noAdjustHandles="1" noChangeArrowheads="1" noChangeShapeType="1" noTextEdit="1"/>
              </p:cNvSpPr>
              <p:nvPr>
                <p:ph type="body" sz="quarter" idx="15"/>
              </p:nvPr>
            </p:nvSpPr>
            <p:spPr>
              <a:xfrm>
                <a:off x="743575" y="1504352"/>
                <a:ext cx="10610223" cy="2453286"/>
              </a:xfrm>
              <a:blipFill>
                <a:blip r:embed="rId2"/>
                <a:stretch>
                  <a:fillRect l="-1494" t="-2985" r="-517" b="-2736"/>
                </a:stretch>
              </a:blipFill>
            </p:spPr>
            <p:txBody>
              <a:bodyPr/>
              <a:lstStyle/>
              <a:p>
                <a:r>
                  <a:rPr lang="en-US">
                    <a:noFill/>
                  </a:rPr>
                  <a:t> </a:t>
                </a:r>
              </a:p>
            </p:txBody>
          </p:sp>
        </mc:Fallback>
      </mc:AlternateContent>
      <p:pic>
        <p:nvPicPr>
          <p:cNvPr id="11" name="Picture Placeholder 10" descr="Two Excel worksheets for computing probabilities for the standard normal distribution. Both spreadsheets are titled Probabilities: Standard Normal Distribution. In both spreadsheets, the entries in rows 2 through 5 are as follows. Row 2: D2: P (z is less than or equal to 1). Row 3: D3: P (negative 0.50 less than or equal to z less than or equal to 1.25). Row 4: D4: P (negative 1.00 less than or equal to z less than or equal to 1.00). Row 5: D5: P (z is greater than or equal to 1.58). In the first spreadsheet, the cell entries are as follows. E2: = NORM. S. DIST(1, TRUE). E3: = NORM. S. DIST(1.25, TRUE) minus NORM. S. DIST(negative 0.5, TRUE). E4: = NORM. S. DIST(1, TRUE) minus NORM. S. DIST(negative 1, TRUE). E5: = 1 minus NORM. S. DIST(1.58, TRUE). In the second spreadsheet, the cell entries are as follows. E2: = NORM. S. DIST(1, TRUE). E3: = NORM. S. DIST(1.25, TRUE) minus NORM. S. DIST(negative 0.5, TRUE). E4: = NORM. S. DIST(1, TRUE) minus NORM. S. DIST(negative 1, TRUE). E5: = 1 minus NORM. S. DIST(1.58, TRUE). ">
            <a:extLst>
              <a:ext uri="{FF2B5EF4-FFF2-40B4-BE49-F238E27FC236}">
                <a16:creationId xmlns:a16="http://schemas.microsoft.com/office/drawing/2014/main" id="{F2BE2248-82C3-8C09-4E16-7AEFADD549E7}"/>
              </a:ext>
            </a:extLst>
          </p:cNvPr>
          <p:cNvPicPr>
            <a:picLocks noGrp="1" noChangeAspect="1"/>
          </p:cNvPicPr>
          <p:nvPr>
            <p:ph type="pic" sz="quarter" idx="16"/>
          </p:nvPr>
        </p:nvPicPr>
        <p:blipFill>
          <a:blip r:embed="rId3"/>
          <a:srcRect t="36" b="36"/>
          <a:stretch/>
        </p:blipFill>
        <p:spPr>
          <a:xfrm>
            <a:off x="1066800" y="4007644"/>
            <a:ext cx="10058400" cy="1590675"/>
          </a:xfrm>
          <a:ln>
            <a:solidFill>
              <a:srgbClr val="000000"/>
            </a:solidFill>
          </a:ln>
        </p:spPr>
      </p:pic>
    </p:spTree>
    <p:extLst>
      <p:ext uri="{BB962C8B-B14F-4D97-AF65-F5344CB8AC3E}">
        <p14:creationId xmlns:p14="http://schemas.microsoft.com/office/powerpoint/2010/main" val="1567420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F9F09DD-6D35-27B1-B115-22BF7723AFC0}"/>
                  </a:ext>
                </a:extLst>
              </p:cNvPr>
              <p:cNvSpPr>
                <a:spLocks noGrp="1"/>
              </p:cNvSpPr>
              <p:nvPr>
                <p:ph type="title"/>
              </p:nvPr>
            </p:nvSpPr>
            <p:spPr/>
            <p:txBody>
              <a:bodyPr/>
              <a:lstStyle/>
              <a:p>
                <a:r>
                  <a:rPr lang="en-US" sz="3200" dirty="0">
                    <a:solidFill>
                      <a:srgbClr val="25894E"/>
                    </a:solidFill>
                  </a:rPr>
                  <a:t>6.2 Excel: Computing </a:t>
                </a:r>
                <a14:m>
                  <m:oMath xmlns:m="http://schemas.openxmlformats.org/officeDocument/2006/math">
                    <m:r>
                      <a:rPr lang="en-US" sz="3200" i="1" dirty="0" smtClean="0">
                        <a:solidFill>
                          <a:srgbClr val="25894E"/>
                        </a:solidFill>
                        <a:latin typeface="Cambria Math" panose="02040503050406030204" pitchFamily="18" charset="0"/>
                      </a:rPr>
                      <m:t>𝑧</m:t>
                    </m:r>
                  </m:oMath>
                </a14:m>
                <a:r>
                  <a:rPr lang="en-US" sz="3200" dirty="0">
                    <a:solidFill>
                      <a:srgbClr val="25894E"/>
                    </a:solidFill>
                  </a:rPr>
                  <a:t> Values for the Standard Normal Distribution</a:t>
                </a:r>
              </a:p>
            </p:txBody>
          </p:sp>
        </mc:Choice>
        <mc:Fallback xmlns="">
          <p:sp>
            <p:nvSpPr>
              <p:cNvPr id="2" name="Title 1">
                <a:extLst>
                  <a:ext uri="{FF2B5EF4-FFF2-40B4-BE49-F238E27FC236}">
                    <a16:creationId xmlns:a16="http://schemas.microsoft.com/office/drawing/2014/main" id="{FF9F09DD-6D35-27B1-B115-22BF7723AFC0}"/>
                  </a:ext>
                </a:extLst>
              </p:cNvPr>
              <p:cNvSpPr>
                <a:spLocks noGrp="1" noRot="1" noChangeAspect="1" noMove="1" noResize="1" noEditPoints="1" noAdjustHandles="1" noChangeArrowheads="1" noChangeShapeType="1" noTextEdit="1"/>
              </p:cNvSpPr>
              <p:nvPr>
                <p:ph type="title"/>
              </p:nvPr>
            </p:nvSpPr>
            <p:spPr>
              <a:blipFill>
                <a:blip r:embed="rId2"/>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AFECCF2-F579-3BAE-6948-51F195795D01}"/>
                  </a:ext>
                </a:extLst>
              </p:cNvPr>
              <p:cNvSpPr>
                <a:spLocks noGrp="1"/>
              </p:cNvSpPr>
              <p:nvPr>
                <p:ph type="body" sz="quarter" idx="15"/>
              </p:nvPr>
            </p:nvSpPr>
            <p:spPr>
              <a:xfrm>
                <a:off x="743575" y="1504352"/>
                <a:ext cx="10610223" cy="2746180"/>
              </a:xfrm>
            </p:spPr>
            <p:txBody>
              <a:bodyPr/>
              <a:lstStyle/>
              <a:p>
                <a:r>
                  <a:rPr lang="en-US" sz="2000" b="1" dirty="0"/>
                  <a:t>Enter/Access Data</a:t>
                </a:r>
                <a:r>
                  <a:rPr lang="en-US" sz="2000" dirty="0"/>
                  <a:t>: We will enter the probabilities manually on the same worksheet used for the previous example.</a:t>
                </a:r>
              </a:p>
              <a:p>
                <a:pPr>
                  <a:tabLst>
                    <a:tab pos="9544050" algn="l"/>
                  </a:tabLst>
                </a:pPr>
                <a:r>
                  <a:rPr lang="en-US" sz="2000" b="1" dirty="0"/>
                  <a:t>Enter Functions and Formulas</a:t>
                </a:r>
                <a:r>
                  <a:rPr lang="en-US" sz="2000" dirty="0"/>
                  <a:t>: To compute the </a:t>
                </a:r>
                <a14:m>
                  <m:oMath xmlns:m="http://schemas.openxmlformats.org/officeDocument/2006/math">
                    <m:r>
                      <a:rPr lang="en-US" sz="2000" i="1" dirty="0" smtClean="0">
                        <a:latin typeface="Cambria Math" panose="02040503050406030204" pitchFamily="18" charset="0"/>
                      </a:rPr>
                      <m:t>𝑧</m:t>
                    </m:r>
                  </m:oMath>
                </a14:m>
                <a:r>
                  <a:rPr lang="en-US" sz="2000" dirty="0"/>
                  <a:t> value for a given cumulative probability (</a:t>
                </a:r>
                <a:r>
                  <a:rPr lang="en-US" sz="2000" i="1" dirty="0"/>
                  <a:t>lower</a:t>
                </a:r>
                <a:r>
                  <a:rPr lang="en-US" sz="2000" dirty="0"/>
                  <a:t> tail area), we use the </a:t>
                </a:r>
                <a14:m>
                  <m:oMath xmlns:m="http://schemas.openxmlformats.org/officeDocument/2006/math">
                    <m:r>
                      <m:rPr>
                        <m:nor/>
                      </m:rPr>
                      <a:rPr lang="en-US" sz="2000" i="0" dirty="0" smtClean="0">
                        <a:latin typeface="Cambria Math" panose="02040503050406030204" pitchFamily="18" charset="0"/>
                      </a:rPr>
                      <m:t>NORM</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S</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INV</m:t>
                    </m:r>
                  </m:oMath>
                </a14:m>
                <a:r>
                  <a:rPr lang="en-US" sz="2000" dirty="0"/>
                  <a:t> function. </a:t>
                </a:r>
              </a:p>
              <a:p>
                <a:pPr>
                  <a:tabLst>
                    <a:tab pos="9544050" algn="l"/>
                  </a:tabLst>
                </a:pPr>
                <a:r>
                  <a:rPr lang="en-US" sz="2000" dirty="0"/>
                  <a:t>To find the </a:t>
                </a:r>
                <a14:m>
                  <m:oMath xmlns:m="http://schemas.openxmlformats.org/officeDocument/2006/math">
                    <m:r>
                      <a:rPr lang="en-US" sz="2000" i="1" dirty="0" smtClean="0">
                        <a:latin typeface="Cambria Math" panose="02040503050406030204" pitchFamily="18" charset="0"/>
                      </a:rPr>
                      <m:t>𝑧</m:t>
                    </m:r>
                  </m:oMath>
                </a14:m>
                <a:r>
                  <a:rPr lang="en-US" sz="2000" dirty="0"/>
                  <a:t> value corresponding to an </a:t>
                </a:r>
                <a:r>
                  <a:rPr lang="en-US" sz="2000" i="1" dirty="0"/>
                  <a:t>upper</a:t>
                </a:r>
                <a:r>
                  <a:rPr lang="en-US" sz="2000" dirty="0"/>
                  <a:t> tail probability of </a:t>
                </a:r>
                <a14:m>
                  <m:oMath xmlns:m="http://schemas.openxmlformats.org/officeDocument/2006/math">
                    <m:r>
                      <a:rPr lang="en-US" sz="2000" i="1" dirty="0" smtClean="0">
                        <a:latin typeface="Cambria Math" panose="02040503050406030204" pitchFamily="18" charset="0"/>
                      </a:rPr>
                      <m:t>0.10</m:t>
                    </m:r>
                  </m:oMath>
                </a14:m>
                <a:r>
                  <a:rPr lang="en-US" sz="2000" dirty="0"/>
                  <a:t>, we note that the corresponding </a:t>
                </a:r>
                <a:r>
                  <a:rPr lang="en-US" sz="2000" i="1" dirty="0"/>
                  <a:t>lower</a:t>
                </a:r>
                <a:r>
                  <a:rPr lang="en-US" sz="2000" dirty="0"/>
                  <a:t> tail area is its complement, or </a:t>
                </a:r>
                <a14:m>
                  <m:oMath xmlns:m="http://schemas.openxmlformats.org/officeDocument/2006/math">
                    <m:r>
                      <a:rPr lang="en-US" sz="2000" i="1" dirty="0" smtClean="0">
                        <a:latin typeface="Cambria Math" panose="02040503050406030204" pitchFamily="18" charset="0"/>
                      </a:rPr>
                      <m:t>1−0.10=0.90</m:t>
                    </m:r>
                  </m:oMath>
                </a14:m>
                <a:r>
                  <a:rPr lang="en-US" sz="2000" dirty="0"/>
                  <a:t>. </a:t>
                </a:r>
              </a:p>
              <a:p>
                <a:pPr marL="685800" indent="-342900">
                  <a:buFont typeface="Arial" panose="020B0604020202020204" pitchFamily="34" charset="0"/>
                  <a:buChar char="•"/>
                  <a:tabLst>
                    <a:tab pos="9544050" algn="l"/>
                  </a:tabLst>
                </a:pPr>
                <a:r>
                  <a:rPr lang="en-US" sz="2000" dirty="0"/>
                  <a:t>Therefore, </a:t>
                </a:r>
                <a14:m>
                  <m:oMath xmlns:m="http://schemas.openxmlformats.org/officeDocument/2006/math">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𝑁𝑂𝑅𝑀</m:t>
                    </m:r>
                    <m:r>
                      <a:rPr lang="en-US" sz="2000" i="1" dirty="0" smtClean="0">
                        <a:latin typeface="Cambria Math" panose="02040503050406030204" pitchFamily="18" charset="0"/>
                      </a:rPr>
                      <m:t>.</m:t>
                    </m:r>
                    <m:r>
                      <a:rPr lang="en-US" sz="2000" i="1" dirty="0" smtClean="0">
                        <a:latin typeface="Cambria Math" panose="02040503050406030204" pitchFamily="18" charset="0"/>
                      </a:rPr>
                      <m:t>𝑆</m:t>
                    </m:r>
                    <m:r>
                      <a:rPr lang="en-US" sz="2000" i="1" dirty="0" smtClean="0">
                        <a:latin typeface="Cambria Math" panose="02040503050406030204" pitchFamily="18" charset="0"/>
                      </a:rPr>
                      <m:t>.</m:t>
                    </m:r>
                    <m:r>
                      <a:rPr lang="en-US" sz="2000" i="1" dirty="0" smtClean="0">
                        <a:latin typeface="Cambria Math" panose="02040503050406030204" pitchFamily="18" charset="0"/>
                      </a:rPr>
                      <m:t>𝐼𝑁𝑉</m:t>
                    </m:r>
                    <m:r>
                      <a:rPr lang="en-US" sz="2000" i="1" dirty="0" smtClean="0">
                        <a:latin typeface="Cambria Math" panose="02040503050406030204" pitchFamily="18" charset="0"/>
                      </a:rPr>
                      <m:t>(0.9)</m:t>
                    </m:r>
                  </m:oMath>
                </a14:m>
                <a:r>
                  <a:rPr lang="en-US" sz="2000" dirty="0"/>
                  <a:t> gives us the </a:t>
                </a:r>
                <a14:m>
                  <m:oMath xmlns:m="http://schemas.openxmlformats.org/officeDocument/2006/math">
                    <m:r>
                      <a:rPr lang="en-US" sz="2000" i="1" dirty="0" smtClean="0">
                        <a:latin typeface="Cambria Math" panose="02040503050406030204" pitchFamily="18" charset="0"/>
                      </a:rPr>
                      <m:t>𝑧</m:t>
                    </m:r>
                  </m:oMath>
                </a14:m>
                <a:r>
                  <a:rPr lang="en-US" sz="2000" dirty="0"/>
                  <a:t> value providing a cumulative probability (</a:t>
                </a:r>
                <a:r>
                  <a:rPr lang="en-US" sz="2000" i="1" dirty="0"/>
                  <a:t>lower</a:t>
                </a:r>
                <a:r>
                  <a:rPr lang="en-US" sz="2000" dirty="0"/>
                  <a:t> tail area) of </a:t>
                </a:r>
                <a14:m>
                  <m:oMath xmlns:m="http://schemas.openxmlformats.org/officeDocument/2006/math">
                    <m:r>
                      <a:rPr lang="en-US" sz="2000" i="1" dirty="0" smtClean="0">
                        <a:latin typeface="Cambria Math" panose="02040503050406030204" pitchFamily="18" charset="0"/>
                      </a:rPr>
                      <m:t>0.9</m:t>
                    </m:r>
                  </m:oMath>
                </a14:m>
                <a:r>
                  <a:rPr lang="en-US" sz="2000" dirty="0"/>
                  <a:t>, but it is also the </a:t>
                </a:r>
                <a14:m>
                  <m:oMath xmlns:m="http://schemas.openxmlformats.org/officeDocument/2006/math">
                    <m:r>
                      <a:rPr lang="en-US" sz="2000" i="1" dirty="0" smtClean="0">
                        <a:latin typeface="Cambria Math" panose="02040503050406030204" pitchFamily="18" charset="0"/>
                      </a:rPr>
                      <m:t>𝑧</m:t>
                    </m:r>
                  </m:oMath>
                </a14:m>
                <a:r>
                  <a:rPr lang="en-US" sz="2000" dirty="0"/>
                  <a:t> value associated with an </a:t>
                </a:r>
                <a:r>
                  <a:rPr lang="en-US" sz="2000" i="1" dirty="0"/>
                  <a:t>upper</a:t>
                </a:r>
                <a:r>
                  <a:rPr lang="en-US" sz="2000" dirty="0"/>
                  <a:t> tail area of 0.1.</a:t>
                </a:r>
              </a:p>
            </p:txBody>
          </p:sp>
        </mc:Choice>
        <mc:Fallback xmlns="">
          <p:sp>
            <p:nvSpPr>
              <p:cNvPr id="3" name="Text Placeholder 2">
                <a:extLst>
                  <a:ext uri="{FF2B5EF4-FFF2-40B4-BE49-F238E27FC236}">
                    <a16:creationId xmlns:a16="http://schemas.microsoft.com/office/drawing/2014/main" id="{AAFECCF2-F579-3BAE-6948-51F195795D01}"/>
                  </a:ext>
                </a:extLst>
              </p:cNvPr>
              <p:cNvSpPr>
                <a:spLocks noGrp="1" noRot="1" noChangeAspect="1" noMove="1" noResize="1" noEditPoints="1" noAdjustHandles="1" noChangeArrowheads="1" noChangeShapeType="1" noTextEdit="1"/>
              </p:cNvSpPr>
              <p:nvPr>
                <p:ph type="body" sz="quarter" idx="15"/>
              </p:nvPr>
            </p:nvSpPr>
            <p:spPr>
              <a:xfrm>
                <a:off x="743575" y="1504352"/>
                <a:ext cx="10610223" cy="2746180"/>
              </a:xfrm>
              <a:blipFill>
                <a:blip r:embed="rId3"/>
                <a:stretch>
                  <a:fillRect l="-1494" t="-2667" r="-690" b="-2889"/>
                </a:stretch>
              </a:blipFill>
            </p:spPr>
            <p:txBody>
              <a:bodyPr/>
              <a:lstStyle/>
              <a:p>
                <a:r>
                  <a:rPr lang="en-US">
                    <a:noFill/>
                  </a:rPr>
                  <a:t> </a:t>
                </a:r>
              </a:p>
            </p:txBody>
          </p:sp>
        </mc:Fallback>
      </mc:AlternateContent>
      <p:pic>
        <p:nvPicPr>
          <p:cNvPr id="6" name="Picture Placeholder 5" descr="Two Excel worksheets for computing z values for the standard normal distribution. Both spreadsheets are titled Finding z-values for Given Probabilities. In both spreadsheets, the entries in rows 8 through 10 are as follows. Row 8: D8: z value with 0.10 in upper tail. Row 9: D9: z value with 0.025 in upper tail. Row 10: D10: z value with 0.025 in lower tail.  In the first spreadsheet, the cell entries are as follows: E8: = NORM. S. INV(0.9). E9: = NORM. S. INV(0.975). E10: = NORM. S. INV(0.025). In the second spreadsheet, the cell entries are as follows. E8: 1.28. E9: 1.96. E10: negative 1.96.">
            <a:extLst>
              <a:ext uri="{FF2B5EF4-FFF2-40B4-BE49-F238E27FC236}">
                <a16:creationId xmlns:a16="http://schemas.microsoft.com/office/drawing/2014/main" id="{9DF552B6-B0F0-3F7B-C7AE-A8E9C8381088}"/>
              </a:ext>
            </a:extLst>
          </p:cNvPr>
          <p:cNvPicPr>
            <a:picLocks noGrp="1" noChangeAspect="1"/>
          </p:cNvPicPr>
          <p:nvPr>
            <p:ph type="pic" sz="quarter" idx="16"/>
          </p:nvPr>
        </p:nvPicPr>
        <p:blipFill>
          <a:blip r:embed="rId4"/>
          <a:srcRect t="110" b="110"/>
          <a:stretch/>
        </p:blipFill>
        <p:spPr>
          <a:xfrm>
            <a:off x="1019175" y="4317207"/>
            <a:ext cx="10058400" cy="1335087"/>
          </a:xfrm>
          <a:ln>
            <a:solidFill>
              <a:srgbClr val="000000"/>
            </a:solidFill>
          </a:ln>
        </p:spPr>
      </p:pic>
    </p:spTree>
    <p:extLst>
      <p:ext uri="{BB962C8B-B14F-4D97-AF65-F5344CB8AC3E}">
        <p14:creationId xmlns:p14="http://schemas.microsoft.com/office/powerpoint/2010/main" val="333925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F9F09DD-6D35-27B1-B115-22BF7723AFC0}"/>
                  </a:ext>
                </a:extLst>
              </p:cNvPr>
              <p:cNvSpPr>
                <a:spLocks noGrp="1"/>
              </p:cNvSpPr>
              <p:nvPr>
                <p:ph type="title"/>
              </p:nvPr>
            </p:nvSpPr>
            <p:spPr/>
            <p:txBody>
              <a:bodyPr/>
              <a:lstStyle/>
              <a:p>
                <a:r>
                  <a:rPr lang="en-US" sz="3200" dirty="0">
                    <a:solidFill>
                      <a:srgbClr val="25894E"/>
                    </a:solidFill>
                  </a:rPr>
                  <a:t>6.2 Excel: Computing Probabilities and </a:t>
                </a:r>
                <a14:m>
                  <m:oMath xmlns:m="http://schemas.openxmlformats.org/officeDocument/2006/math">
                    <m:r>
                      <a:rPr lang="en-US" sz="3200" b="1" i="1" dirty="0" smtClean="0">
                        <a:solidFill>
                          <a:srgbClr val="25894E"/>
                        </a:solidFill>
                        <a:latin typeface="Cambria Math" panose="02040503050406030204" pitchFamily="18" charset="0"/>
                      </a:rPr>
                      <m:t>𝒙</m:t>
                    </m:r>
                  </m:oMath>
                </a14:m>
                <a:r>
                  <a:rPr lang="en-US" sz="3200" dirty="0">
                    <a:solidFill>
                      <a:srgbClr val="25894E"/>
                    </a:solidFill>
                  </a:rPr>
                  <a:t> Values for the Normal Distribution</a:t>
                </a:r>
              </a:p>
            </p:txBody>
          </p:sp>
        </mc:Choice>
        <mc:Fallback xmlns="">
          <p:sp>
            <p:nvSpPr>
              <p:cNvPr id="2" name="Title 1">
                <a:extLst>
                  <a:ext uri="{FF2B5EF4-FFF2-40B4-BE49-F238E27FC236}">
                    <a16:creationId xmlns:a16="http://schemas.microsoft.com/office/drawing/2014/main" id="{FF9F09DD-6D35-27B1-B115-22BF7723AFC0}"/>
                  </a:ext>
                </a:extLst>
              </p:cNvPr>
              <p:cNvSpPr>
                <a:spLocks noGrp="1" noRot="1" noChangeAspect="1" noMove="1" noResize="1" noEditPoints="1" noAdjustHandles="1" noChangeArrowheads="1" noChangeShapeType="1" noTextEdit="1"/>
              </p:cNvSpPr>
              <p:nvPr>
                <p:ph type="title"/>
              </p:nvPr>
            </p:nvSpPr>
            <p:spPr>
              <a:blipFill>
                <a:blip r:embed="rId2"/>
                <a:stretch>
                  <a:fillRect t="-26364" r="-4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AFECCF2-F579-3BAE-6948-51F195795D01}"/>
                  </a:ext>
                </a:extLst>
              </p:cNvPr>
              <p:cNvSpPr>
                <a:spLocks noGrp="1"/>
              </p:cNvSpPr>
              <p:nvPr>
                <p:ph type="body" sz="quarter" idx="15"/>
              </p:nvPr>
            </p:nvSpPr>
            <p:spPr>
              <a:xfrm>
                <a:off x="743575" y="1504352"/>
                <a:ext cx="10610223" cy="2024661"/>
              </a:xfrm>
            </p:spPr>
            <p:txBody>
              <a:bodyPr/>
              <a:lstStyle/>
              <a:p>
                <a:r>
                  <a:rPr lang="en-US" sz="2000" b="1" dirty="0"/>
                  <a:t>Enter/Access Data</a:t>
                </a:r>
                <a:r>
                  <a:rPr lang="en-US" sz="2000" dirty="0"/>
                  <a:t>: On a blank worksheet, we enter </a:t>
                </a:r>
                <a14:m>
                  <m:oMath xmlns:m="http://schemas.openxmlformats.org/officeDocument/2006/math">
                    <m:r>
                      <a:rPr lang="en-US" sz="2000" i="1" dirty="0" smtClean="0">
                        <a:latin typeface="Cambria Math" panose="02040503050406030204" pitchFamily="18" charset="0"/>
                      </a:rPr>
                      <m:t>𝑥</m:t>
                    </m:r>
                  </m:oMath>
                </a14:m>
                <a:r>
                  <a:rPr lang="en-US" sz="2000" dirty="0"/>
                  <a:t> values and probabilities manually.</a:t>
                </a:r>
              </a:p>
              <a:p>
                <a:pPr>
                  <a:tabLst>
                    <a:tab pos="9544050" algn="l"/>
                  </a:tabLst>
                </a:pPr>
                <a:r>
                  <a:rPr lang="en-US" sz="2000" b="1" dirty="0"/>
                  <a:t>Enter Functions and Formulas</a:t>
                </a:r>
                <a:r>
                  <a:rPr lang="en-US" sz="2000" dirty="0"/>
                  <a:t>: The </a:t>
                </a:r>
                <a14:m>
                  <m:oMath xmlns:m="http://schemas.openxmlformats.org/officeDocument/2006/math">
                    <m:r>
                      <m:rPr>
                        <m:nor/>
                      </m:rPr>
                      <a:rPr lang="en-US" sz="2000" i="0" dirty="0" smtClean="0">
                        <a:latin typeface="Cambria Math" panose="02040503050406030204" pitchFamily="18" charset="0"/>
                      </a:rPr>
                      <m:t>NORM</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DIST</m:t>
                    </m:r>
                  </m:oMath>
                </a14:m>
                <a:r>
                  <a:rPr lang="en-US" sz="2000" dirty="0"/>
                  <a:t> function is equivalent to its standard normal counterpart </a:t>
                </a:r>
                <a14:m>
                  <m:oMath xmlns:m="http://schemas.openxmlformats.org/officeDocument/2006/math">
                    <m:r>
                      <m:rPr>
                        <m:nor/>
                      </m:rPr>
                      <a:rPr lang="en-US" sz="2000" i="0" dirty="0" smtClean="0">
                        <a:latin typeface="Cambria Math" panose="02040503050406030204" pitchFamily="18" charset="0"/>
                      </a:rPr>
                      <m:t>NORM</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S</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DIST</m:t>
                    </m:r>
                  </m:oMath>
                </a14:m>
                <a:r>
                  <a:rPr lang="en-US" sz="2000" dirty="0"/>
                  <a:t>, but it needs input values for the random variable </a:t>
                </a:r>
                <a14:m>
                  <m:oMath xmlns:m="http://schemas.openxmlformats.org/officeDocument/2006/math">
                    <m:r>
                      <a:rPr lang="en-US" sz="2000" i="1" dirty="0" smtClean="0">
                        <a:latin typeface="Cambria Math" panose="02040503050406030204" pitchFamily="18" charset="0"/>
                      </a:rPr>
                      <m:t>𝑥</m:t>
                    </m:r>
                  </m:oMath>
                </a14:m>
                <a:r>
                  <a:rPr lang="en-US" sz="2000" dirty="0"/>
                  <a:t>, instead of the standard normal variable </a:t>
                </a:r>
                <a14:m>
                  <m:oMath xmlns:m="http://schemas.openxmlformats.org/officeDocument/2006/math">
                    <m:r>
                      <a:rPr lang="en-US" sz="2000" i="1" dirty="0" smtClean="0">
                        <a:latin typeface="Cambria Math" panose="02040503050406030204" pitchFamily="18" charset="0"/>
                      </a:rPr>
                      <m:t>𝑧</m:t>
                    </m:r>
                  </m:oMath>
                </a14:m>
                <a:r>
                  <a:rPr lang="en-US" sz="2000" dirty="0"/>
                  <a:t>, and the parameters mean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𝜇</m:t>
                    </m:r>
                  </m:oMath>
                </a14:m>
                <a:r>
                  <a:rPr lang="en-US" sz="2000" dirty="0"/>
                  <a:t>, and standard deviation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t>.</a:t>
                </a:r>
              </a:p>
              <a:p>
                <a:pPr marL="685800" indent="-342900">
                  <a:buFont typeface="Arial" panose="020B0604020202020204" pitchFamily="34" charset="0"/>
                  <a:buChar char="•"/>
                  <a:tabLst>
                    <a:tab pos="9544050" algn="l"/>
                  </a:tabLst>
                </a:pPr>
                <a:r>
                  <a:rPr lang="en-US" sz="2000" dirty="0"/>
                  <a:t>For this example, we will use the parameters of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𝜇</m:t>
                    </m:r>
                    <m:r>
                      <a:rPr lang="en-US" sz="2000" b="0" i="1" dirty="0" smtClean="0">
                        <a:latin typeface="Cambria Math" panose="02040503050406030204" pitchFamily="18" charset="0"/>
                        <a:ea typeface="Cambria Math" panose="02040503050406030204" pitchFamily="18" charset="0"/>
                      </a:rPr>
                      <m:t>=36,500 </m:t>
                    </m:r>
                  </m:oMath>
                </a14:m>
                <a:r>
                  <a:rPr lang="en-US" sz="2000" dirty="0"/>
                  <a:t>miles and </a:t>
                </a:r>
                <a14:m>
                  <m:oMath xmlns:m="http://schemas.openxmlformats.org/officeDocument/2006/math">
                    <m:r>
                      <a:rPr lang="en-US" sz="2000" i="1">
                        <a:latin typeface="Cambria Math" panose="02040503050406030204" pitchFamily="18" charset="0"/>
                        <a:ea typeface="Cambria Math" panose="02040503050406030204" pitchFamily="18" charset="0"/>
                      </a:rPr>
                      <m:t>𝜎</m:t>
                    </m:r>
                    <m:r>
                      <a:rPr lang="en-US" sz="2000" i="1">
                        <a:latin typeface="Cambria Math" panose="02040503050406030204" pitchFamily="18" charset="0"/>
                        <a:ea typeface="Cambria Math" panose="02040503050406030204" pitchFamily="18" charset="0"/>
                      </a:rPr>
                      <m:t>=5,000</m:t>
                    </m:r>
                  </m:oMath>
                </a14:m>
                <a:r>
                  <a:rPr lang="en-US" sz="2000" dirty="0"/>
                  <a:t> miles provided in the Great Tire Company problem.</a:t>
                </a:r>
              </a:p>
            </p:txBody>
          </p:sp>
        </mc:Choice>
        <mc:Fallback xmlns="">
          <p:sp>
            <p:nvSpPr>
              <p:cNvPr id="3" name="Text Placeholder 2">
                <a:extLst>
                  <a:ext uri="{FF2B5EF4-FFF2-40B4-BE49-F238E27FC236}">
                    <a16:creationId xmlns:a16="http://schemas.microsoft.com/office/drawing/2014/main" id="{AAFECCF2-F579-3BAE-6948-51F195795D01}"/>
                  </a:ext>
                </a:extLst>
              </p:cNvPr>
              <p:cNvSpPr>
                <a:spLocks noGrp="1" noRot="1" noChangeAspect="1" noMove="1" noResize="1" noEditPoints="1" noAdjustHandles="1" noChangeArrowheads="1" noChangeShapeType="1" noTextEdit="1"/>
              </p:cNvSpPr>
              <p:nvPr>
                <p:ph type="body" sz="quarter" idx="15"/>
              </p:nvPr>
            </p:nvSpPr>
            <p:spPr>
              <a:xfrm>
                <a:off x="743575" y="1504352"/>
                <a:ext cx="10610223" cy="2024661"/>
              </a:xfrm>
              <a:blipFill>
                <a:blip r:embed="rId3"/>
                <a:stretch>
                  <a:fillRect l="-1494" t="-3614" r="-1494" b="-5723"/>
                </a:stretch>
              </a:blipFill>
            </p:spPr>
            <p:txBody>
              <a:bodyPr/>
              <a:lstStyle/>
              <a:p>
                <a:r>
                  <a:rPr lang="en-US">
                    <a:noFill/>
                  </a:rPr>
                  <a:t> </a:t>
                </a:r>
              </a:p>
            </p:txBody>
          </p:sp>
        </mc:Fallback>
      </mc:AlternateContent>
      <p:pic>
        <p:nvPicPr>
          <p:cNvPr id="7" name="Picture Placeholder 6" descr="Two Excel worksheets for computing probabilities and x values for the normal distribution. In both spreadsheets, the first section is titled Probabilities: Normal Distribution. The entries in rows 3 through 5 are as follows. Row 3: C3: P (x is less than or equal to 20,000). Row 4: C4: P (20,000 less than or equal to x less than or equal to 40,000). Row 5: C5: P (x is greater than or equal to 40,000). The second section is titled Finding x values Given Probabilities. The entries in rows 9 and 10 are as follows. Row 9: C9: x value with 0.10 in lower tail. Row 10: C10: x value with 0.025 in upper tail. In the first spreadsheet, the cell entries are as follows. D3: = NORM. DIST(20000, 36500, 5000, TRUE). D4: = NORM. DIST(40000, 36500, 5000, TRUE) minus NORM. DIST(20000, 36500, 5000, TRUE). D5: = 1 minus NORM. DIST(40000, 36500, 5000, TRUE). D9: = NORM. INV(0.1, 36500, 5000). D10: = NORM. INV(0.975, 36500, 5000). In the second spreadsheet, the cell entries are as follows. D3: 0.0005. D4: 0.7576. D5: 0.2420. D9: 30092.24. D10: 46299.82.">
            <a:extLst>
              <a:ext uri="{FF2B5EF4-FFF2-40B4-BE49-F238E27FC236}">
                <a16:creationId xmlns:a16="http://schemas.microsoft.com/office/drawing/2014/main" id="{C23F7D90-F0EC-8216-576E-C984C8D0B2B3}"/>
              </a:ext>
            </a:extLst>
          </p:cNvPr>
          <p:cNvPicPr>
            <a:picLocks noGrp="1" noChangeAspect="1"/>
          </p:cNvPicPr>
          <p:nvPr>
            <p:ph type="pic" sz="quarter" idx="16"/>
          </p:nvPr>
        </p:nvPicPr>
        <p:blipFill>
          <a:blip r:embed="rId4"/>
          <a:srcRect t="205" b="205"/>
          <a:stretch/>
        </p:blipFill>
        <p:spPr>
          <a:xfrm>
            <a:off x="1066800" y="3616721"/>
            <a:ext cx="10058400" cy="2130425"/>
          </a:xfrm>
          <a:ln>
            <a:solidFill>
              <a:srgbClr val="000000"/>
            </a:solidFill>
          </a:ln>
        </p:spPr>
      </p:pic>
    </p:spTree>
    <p:extLst>
      <p:ext uri="{BB962C8B-B14F-4D97-AF65-F5344CB8AC3E}">
        <p14:creationId xmlns:p14="http://schemas.microsoft.com/office/powerpoint/2010/main" val="2919606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DDD2-7B81-D666-F406-8957871E7429}"/>
              </a:ext>
            </a:extLst>
          </p:cNvPr>
          <p:cNvSpPr>
            <a:spLocks noGrp="1"/>
          </p:cNvSpPr>
          <p:nvPr>
            <p:ph type="title"/>
          </p:nvPr>
        </p:nvSpPr>
        <p:spPr/>
        <p:txBody>
          <a:bodyPr/>
          <a:lstStyle/>
          <a:p>
            <a:r>
              <a:rPr lang="en-US" dirty="0">
                <a:solidFill>
                  <a:srgbClr val="D14B1E"/>
                </a:solidFill>
              </a:rPr>
              <a:t>6.3 Exponential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A8105A4-859B-2D67-2AC9-F070B21EFC09}"/>
                  </a:ext>
                </a:extLst>
              </p:cNvPr>
              <p:cNvSpPr>
                <a:spLocks noGrp="1"/>
              </p:cNvSpPr>
              <p:nvPr>
                <p:ph type="body" sz="quarter" idx="15"/>
              </p:nvPr>
            </p:nvSpPr>
            <p:spPr>
              <a:xfrm>
                <a:off x="740228" y="1395864"/>
                <a:ext cx="10711543" cy="4119112"/>
              </a:xfrm>
            </p:spPr>
            <p:txBody>
              <a:bodyPr/>
              <a:lstStyle/>
              <a:p>
                <a:pPr>
                  <a:spcBef>
                    <a:spcPts val="1000"/>
                  </a:spcBef>
                  <a:spcAft>
                    <a:spcPts val="0"/>
                  </a:spcAft>
                </a:pPr>
                <a:r>
                  <a:rPr lang="en-US" sz="2000" dirty="0"/>
                  <a:t>The </a:t>
                </a:r>
                <a:r>
                  <a:rPr lang="en-US" sz="2000" b="1" dirty="0">
                    <a:solidFill>
                      <a:srgbClr val="0070C0"/>
                    </a:solidFill>
                  </a:rPr>
                  <a:t>exponential probability distribution </a:t>
                </a:r>
                <a:r>
                  <a:rPr lang="en-US" sz="2000" dirty="0"/>
                  <a:t>is used for a random variable, </a:t>
                </a:r>
                <a14:m>
                  <m:oMath xmlns:m="http://schemas.openxmlformats.org/officeDocument/2006/math">
                    <m:r>
                      <a:rPr lang="en-US" sz="2000" i="1" dirty="0" smtClean="0">
                        <a:latin typeface="Cambria Math" panose="02040503050406030204" pitchFamily="18" charset="0"/>
                      </a:rPr>
                      <m:t>𝑥</m:t>
                    </m:r>
                  </m:oMath>
                </a14:m>
                <a:r>
                  <a:rPr lang="en-US" sz="2000" dirty="0"/>
                  <a:t>, that describes the length of an interval between occurrences.</a:t>
                </a:r>
              </a:p>
              <a:p>
                <a:pPr>
                  <a:spcBef>
                    <a:spcPts val="1000"/>
                  </a:spcBef>
                  <a:spcAft>
                    <a:spcPts val="1200"/>
                  </a:spcAft>
                </a:pPr>
                <a:r>
                  <a:rPr lang="en-US" sz="2000" dirty="0"/>
                  <a:t>The </a:t>
                </a:r>
                <a:r>
                  <a:rPr lang="en-US" sz="2000" b="1" dirty="0">
                    <a:solidFill>
                      <a:srgbClr val="0070C0"/>
                    </a:solidFill>
                  </a:rPr>
                  <a:t>exponential probability density function </a:t>
                </a:r>
                <a:r>
                  <a:rPr lang="en-US" sz="2000" dirty="0"/>
                  <a:t>is</a:t>
                </a:r>
              </a:p>
              <a:p>
                <a:pPr>
                  <a:spcBef>
                    <a:spcPts val="1000"/>
                  </a:spcBef>
                  <a:spcAft>
                    <a:spcPts val="0"/>
                  </a:spcAft>
                </a:pPr>
                <a14:m>
                  <m:oMathPara xmlns:m="http://schemas.openxmlformats.org/officeDocument/2006/math">
                    <m:oMathParaPr>
                      <m:jc m:val="center"/>
                    </m:oMathParaPr>
                    <m:oMath xmlns:m="http://schemas.openxmlformats.org/officeDocument/2006/math">
                      <m:r>
                        <a:rPr lang="en-US" sz="2000" b="1" i="1" smtClean="0">
                          <a:latin typeface="Cambria Math" panose="02040503050406030204" pitchFamily="18" charset="0"/>
                        </a:rPr>
                        <m:t>𝒇</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d>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r>
                            <a:rPr lang="en-US" sz="2000" b="1" i="1" smtClean="0">
                              <a:latin typeface="Cambria Math" panose="02040503050406030204" pitchFamily="18" charset="0"/>
                              <a:ea typeface="Cambria Math" panose="02040503050406030204" pitchFamily="18" charset="0"/>
                            </a:rPr>
                            <m:t>𝝁</m:t>
                          </m:r>
                        </m:den>
                      </m:f>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𝒆</m:t>
                          </m:r>
                        </m:e>
                        <m:sup>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𝒙</m:t>
                              </m:r>
                            </m:num>
                            <m:den>
                              <m:r>
                                <a:rPr lang="en-US" sz="2000" b="1" i="1" smtClean="0">
                                  <a:latin typeface="Cambria Math" panose="02040503050406030204" pitchFamily="18" charset="0"/>
                                  <a:ea typeface="Cambria Math" panose="02040503050406030204" pitchFamily="18" charset="0"/>
                                </a:rPr>
                                <m:t>𝝁</m:t>
                              </m:r>
                            </m:den>
                          </m:f>
                        </m:sup>
                      </m:sSup>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for</m:t>
                      </m:r>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a:spcBef>
                    <a:spcPts val="1000"/>
                  </a:spcBef>
                  <a:spcAft>
                    <a:spcPts val="0"/>
                  </a:spcAft>
                </a:pPr>
                <a:r>
                  <a:rPr lang="en-US" sz="2000" dirty="0"/>
                  <a:t>Where </a:t>
                </a:r>
                <a14:m>
                  <m:oMath xmlns:m="http://schemas.openxmlformats.org/officeDocument/2006/math">
                    <m:r>
                      <a:rPr lang="en-US" sz="2000" b="0" i="1" smtClean="0">
                        <a:latin typeface="Cambria Math" panose="02040503050406030204" pitchFamily="18" charset="0"/>
                        <a:ea typeface="Cambria Math" panose="02040503050406030204" pitchFamily="18" charset="0"/>
                      </a:rPr>
                      <m:t>𝜇</m:t>
                    </m:r>
                  </m:oMath>
                </a14:m>
                <a:r>
                  <a:rPr lang="en-US" sz="2000" dirty="0"/>
                  <a:t> is the expected value or mean.</a:t>
                </a:r>
              </a:p>
              <a:p>
                <a:pPr>
                  <a:spcBef>
                    <a:spcPts val="1000"/>
                  </a:spcBef>
                  <a:spcAft>
                    <a:spcPts val="1200"/>
                  </a:spcAft>
                </a:pPr>
                <a:r>
                  <a:rPr lang="en-US" sz="2000" dirty="0"/>
                  <a:t>To compute exponential probabilities, we use the formula for the cumulative probability of obtaining a value for the exponential random variable that is less than or equal to some specific value denoted by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0</m:t>
                        </m:r>
                      </m:sub>
                    </m:sSub>
                  </m:oMath>
                </a14:m>
                <a:r>
                  <a:rPr lang="en-US" sz="2000" dirty="0"/>
                  <a:t>.</a:t>
                </a:r>
              </a:p>
              <a:p>
                <a:pPr>
                  <a:spcBef>
                    <a:spcPts val="1000"/>
                  </a:spcBef>
                  <a:spcAft>
                    <a:spcPts val="0"/>
                  </a:spcAft>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𝟎</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𝟏</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𝒆</m:t>
                          </m:r>
                        </m:e>
                        <m:sup>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𝟎</m:t>
                                  </m:r>
                                </m:sub>
                              </m:sSub>
                            </m:num>
                            <m:den>
                              <m:r>
                                <a:rPr lang="en-US" sz="2000" b="1" i="1" smtClean="0">
                                  <a:latin typeface="Cambria Math" panose="02040503050406030204" pitchFamily="18" charset="0"/>
                                  <a:ea typeface="Cambria Math" panose="02040503050406030204" pitchFamily="18" charset="0"/>
                                </a:rPr>
                                <m:t>𝝁</m:t>
                              </m:r>
                            </m:den>
                          </m:f>
                        </m:sup>
                      </m:sSup>
                    </m:oMath>
                  </m:oMathPara>
                </a14:m>
                <a:endParaRPr lang="en-US" sz="2000" b="1" dirty="0">
                  <a:ea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9A8105A4-859B-2D67-2AC9-F070B21EFC09}"/>
                  </a:ext>
                </a:extLst>
              </p:cNvPr>
              <p:cNvSpPr>
                <a:spLocks noGrp="1" noRot="1" noChangeAspect="1" noMove="1" noResize="1" noEditPoints="1" noAdjustHandles="1" noChangeArrowheads="1" noChangeShapeType="1" noTextEdit="1"/>
              </p:cNvSpPr>
              <p:nvPr>
                <p:ph type="body" sz="quarter" idx="15"/>
              </p:nvPr>
            </p:nvSpPr>
            <p:spPr>
              <a:xfrm>
                <a:off x="740228" y="1395864"/>
                <a:ext cx="10711543" cy="4119112"/>
              </a:xfrm>
              <a:blipFill>
                <a:blip r:embed="rId2"/>
                <a:stretch>
                  <a:fillRect l="-1422" t="-1775" r="-1763"/>
                </a:stretch>
              </a:blipFill>
            </p:spPr>
            <p:txBody>
              <a:bodyPr/>
              <a:lstStyle/>
              <a:p>
                <a:r>
                  <a:rPr lang="en-US">
                    <a:noFill/>
                  </a:rPr>
                  <a:t> </a:t>
                </a:r>
              </a:p>
            </p:txBody>
          </p:sp>
        </mc:Fallback>
      </mc:AlternateContent>
    </p:spTree>
    <p:extLst>
      <p:ext uri="{BB962C8B-B14F-4D97-AF65-F5344CB8AC3E}">
        <p14:creationId xmlns:p14="http://schemas.microsoft.com/office/powerpoint/2010/main" val="3509913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DDD2-7B81-D666-F406-8957871E7429}"/>
              </a:ext>
            </a:extLst>
          </p:cNvPr>
          <p:cNvSpPr>
            <a:spLocks noGrp="1"/>
          </p:cNvSpPr>
          <p:nvPr>
            <p:ph type="title"/>
          </p:nvPr>
        </p:nvSpPr>
        <p:spPr>
          <a:xfrm>
            <a:off x="683810" y="365125"/>
            <a:ext cx="10797209" cy="672105"/>
          </a:xfrm>
        </p:spPr>
        <p:txBody>
          <a:bodyPr/>
          <a:lstStyle/>
          <a:p>
            <a:r>
              <a:rPr lang="en-US" dirty="0"/>
              <a:t>6.3 Exponential Distribution: Cumulative Probability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A8105A4-859B-2D67-2AC9-F070B21EFC09}"/>
                  </a:ext>
                </a:extLst>
              </p:cNvPr>
              <p:cNvSpPr>
                <a:spLocks noGrp="1"/>
              </p:cNvSpPr>
              <p:nvPr>
                <p:ph type="body" sz="quarter" idx="15"/>
              </p:nvPr>
            </p:nvSpPr>
            <p:spPr>
              <a:xfrm>
                <a:off x="743576" y="1407383"/>
                <a:ext cx="10610223" cy="978010"/>
              </a:xfrm>
            </p:spPr>
            <p:txBody>
              <a:bodyPr/>
              <a:lstStyle/>
              <a:p>
                <a:r>
                  <a:rPr lang="en-US" sz="2000" dirty="0"/>
                  <a:t>To compute exponential probabilities, we use the formula for the cumulative probability of obtaining a value for the exponential random variable that is less than or equal to some specific value denoted by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0</m:t>
                        </m:r>
                      </m:sub>
                    </m:sSub>
                  </m:oMath>
                </a14:m>
                <a:r>
                  <a:rPr lang="en-US" sz="2000" dirty="0"/>
                  <a:t>.</a:t>
                </a:r>
              </a:p>
            </p:txBody>
          </p:sp>
        </mc:Choice>
        <mc:Fallback xmlns="">
          <p:sp>
            <p:nvSpPr>
              <p:cNvPr id="3" name="Text Placeholder 2">
                <a:extLst>
                  <a:ext uri="{FF2B5EF4-FFF2-40B4-BE49-F238E27FC236}">
                    <a16:creationId xmlns:a16="http://schemas.microsoft.com/office/drawing/2014/main" id="{9A8105A4-859B-2D67-2AC9-F070B21EFC09}"/>
                  </a:ext>
                </a:extLst>
              </p:cNvPr>
              <p:cNvSpPr>
                <a:spLocks noGrp="1" noRot="1" noChangeAspect="1" noMove="1" noResize="1" noEditPoints="1" noAdjustHandles="1" noChangeArrowheads="1" noChangeShapeType="1" noTextEdit="1"/>
              </p:cNvSpPr>
              <p:nvPr>
                <p:ph type="body" sz="quarter" idx="15"/>
              </p:nvPr>
            </p:nvSpPr>
            <p:spPr>
              <a:xfrm>
                <a:off x="743576" y="1407383"/>
                <a:ext cx="10610223" cy="978010"/>
              </a:xfrm>
              <a:blipFill>
                <a:blip r:embed="rId2"/>
                <a:stretch>
                  <a:fillRect l="-1494" t="-7500"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CD39B5D-0480-0CBF-2891-3CE5A9EE306A}"/>
                  </a:ext>
                </a:extLst>
              </p:cNvPr>
              <p:cNvSpPr>
                <a:spLocks noGrp="1"/>
              </p:cNvSpPr>
              <p:nvPr>
                <p:ph type="body" sz="quarter" idx="17"/>
              </p:nvPr>
            </p:nvSpPr>
            <p:spPr>
              <a:xfrm>
                <a:off x="743576" y="2361540"/>
                <a:ext cx="6134302" cy="3190875"/>
              </a:xfrm>
            </p:spPr>
            <p:txBody>
              <a:bodyPr/>
              <a:lstStyle/>
              <a:p>
                <a:pPr marL="461963">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𝑷</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𝟎</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𝟏</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𝒆</m:t>
                          </m:r>
                        </m:e>
                        <m:sup>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𝟎</m:t>
                                  </m:r>
                                </m:sub>
                              </m:sSub>
                            </m:num>
                            <m:den>
                              <m:r>
                                <a:rPr lang="en-US" sz="2000" b="1" i="1" smtClean="0">
                                  <a:latin typeface="Cambria Math" panose="02040503050406030204" pitchFamily="18" charset="0"/>
                                  <a:ea typeface="Cambria Math" panose="02040503050406030204" pitchFamily="18" charset="0"/>
                                </a:rPr>
                                <m:t>𝝁</m:t>
                              </m:r>
                            </m:den>
                          </m:f>
                        </m:sup>
                      </m:sSup>
                    </m:oMath>
                  </m:oMathPara>
                </a14:m>
                <a:endParaRPr lang="en-US" sz="2000" b="1" dirty="0">
                  <a:ea typeface="Cambria Math" panose="02040503050406030204" pitchFamily="18" charset="0"/>
                </a:endParaRPr>
              </a:p>
              <a:p>
                <a:pPr>
                  <a:spcAft>
                    <a:spcPts val="0"/>
                  </a:spcAft>
                </a:pPr>
                <a:r>
                  <a:rPr lang="en-US" sz="2000" dirty="0"/>
                  <a:t>For the </a:t>
                </a:r>
                <a:r>
                  <a:rPr lang="en-US" sz="2000" dirty="0" err="1"/>
                  <a:t>Schips</a:t>
                </a:r>
                <a:r>
                  <a:rPr lang="en-US" sz="2000" dirty="0"/>
                  <a:t> loading dock example, with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loading time in minutes and </a:t>
                </a:r>
                <a14:m>
                  <m:oMath xmlns:m="http://schemas.openxmlformats.org/officeDocument/2006/math">
                    <m:r>
                      <a:rPr lang="en-US" sz="2000" i="1">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=15</m:t>
                    </m:r>
                  </m:oMath>
                </a14:m>
                <a:r>
                  <a:rPr lang="en-US" sz="2000" dirty="0"/>
                  <a:t> minutes, we have</a:t>
                </a:r>
              </a:p>
              <a:p>
                <a:pPr marL="461963">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6</m:t>
                          </m:r>
                        </m:e>
                      </m:d>
                      <m:r>
                        <a:rPr lang="en-US" sz="2000" b="0" i="1" smtClean="0">
                          <a:latin typeface="Cambria Math" panose="02040503050406030204" pitchFamily="18" charset="0"/>
                        </a:rPr>
                        <m:t>=1−</m:t>
                      </m:r>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6</m:t>
                              </m:r>
                            </m:num>
                            <m:den>
                              <m:r>
                                <a:rPr lang="en-US" sz="2000" b="0" i="1" smtClean="0">
                                  <a:latin typeface="Cambria Math" panose="02040503050406030204" pitchFamily="18" charset="0"/>
                                  <a:ea typeface="Cambria Math" panose="02040503050406030204" pitchFamily="18" charset="0"/>
                                </a:rPr>
                                <m:t>15</m:t>
                              </m:r>
                            </m:den>
                          </m:f>
                        </m:sup>
                      </m:sSup>
                      <m:r>
                        <a:rPr lang="en-US" sz="2000" b="0" i="1" smtClean="0">
                          <a:latin typeface="Cambria Math" panose="02040503050406030204" pitchFamily="18" charset="0"/>
                          <a:ea typeface="Cambria Math" panose="02040503050406030204" pitchFamily="18" charset="0"/>
                        </a:rPr>
                        <m:t>=0.3297</m:t>
                      </m:r>
                    </m:oMath>
                  </m:oMathPara>
                </a14:m>
                <a:endParaRPr lang="en-US" sz="2000" b="0" i="1" dirty="0">
                  <a:latin typeface="Cambria Math" panose="02040503050406030204" pitchFamily="18" charset="0"/>
                  <a:ea typeface="Cambria Math" panose="02040503050406030204" pitchFamily="18" charset="0"/>
                </a:endParaRPr>
              </a:p>
              <a:p>
                <a:pPr marL="461963">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≤18</m:t>
                          </m:r>
                        </m:e>
                      </m:d>
                      <m:r>
                        <a:rPr lang="en-US" sz="2000" b="0" i="1" smtClean="0">
                          <a:latin typeface="Cambria Math" panose="02040503050406030204" pitchFamily="18" charset="0"/>
                        </a:rPr>
                        <m:t>=1−</m:t>
                      </m:r>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18</m:t>
                              </m:r>
                            </m:num>
                            <m:den>
                              <m:r>
                                <a:rPr lang="en-US" sz="2000" b="0" i="1" smtClean="0">
                                  <a:latin typeface="Cambria Math" panose="02040503050406030204" pitchFamily="18" charset="0"/>
                                  <a:ea typeface="Cambria Math" panose="02040503050406030204" pitchFamily="18" charset="0"/>
                                </a:rPr>
                                <m:t>15</m:t>
                              </m:r>
                            </m:den>
                          </m:f>
                        </m:sup>
                      </m:sSup>
                      <m:r>
                        <a:rPr lang="en-US" sz="2000" b="0" i="1" smtClean="0">
                          <a:latin typeface="Cambria Math" panose="02040503050406030204" pitchFamily="18" charset="0"/>
                          <a:ea typeface="Cambria Math" panose="02040503050406030204" pitchFamily="18" charset="0"/>
                        </a:rPr>
                        <m:t>=0.6988</m:t>
                      </m:r>
                    </m:oMath>
                  </m:oMathPara>
                </a14:m>
                <a:endParaRPr lang="en-US" sz="2000" b="0" i="1" dirty="0">
                  <a:latin typeface="Cambria Math" panose="02040503050406030204" pitchFamily="18" charset="0"/>
                  <a:ea typeface="Cambria Math" panose="02040503050406030204" pitchFamily="18" charset="0"/>
                </a:endParaRPr>
              </a:p>
              <a:p>
                <a:pPr>
                  <a:spcAft>
                    <a:spcPts val="600"/>
                  </a:spcAft>
                </a:pPr>
                <a:r>
                  <a:rPr lang="en-US" sz="2000" dirty="0">
                    <a:latin typeface="Arial" panose="020B0604020202020204" pitchFamily="34" charset="0"/>
                    <a:ea typeface="Cambria Math" panose="02040503050406030204" pitchFamily="18" charset="0"/>
                    <a:cs typeface="Arial" panose="020B0604020202020204" pitchFamily="34" charset="0"/>
                  </a:rPr>
                  <a:t>Thus,</a:t>
                </a:r>
              </a:p>
              <a:p>
                <a:pPr marL="461963">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𝑃</m:t>
                      </m:r>
                      <m:d>
                        <m:dPr>
                          <m:ctrlPr>
                            <a:rPr lang="en-US" sz="2000" i="1" smtClean="0">
                              <a:latin typeface="Cambria Math" panose="02040503050406030204" pitchFamily="18" charset="0"/>
                            </a:rPr>
                          </m:ctrlPr>
                        </m:dPr>
                        <m:e>
                          <m:r>
                            <a:rPr lang="en-US" sz="2000" i="1" smtClean="0">
                              <a:latin typeface="Cambria Math" panose="02040503050406030204" pitchFamily="18" charset="0"/>
                            </a:rPr>
                            <m:t>6≤</m:t>
                          </m:r>
                          <m:r>
                            <a:rPr lang="en-US" sz="2000" i="1" smtClean="0">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18</m:t>
                          </m:r>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18</m:t>
                          </m:r>
                        </m:e>
                      </m:d>
                      <m:r>
                        <a:rPr lang="en-US" sz="2000" b="0" i="1" smtClean="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6</m:t>
                          </m:r>
                        </m:e>
                      </m:d>
                    </m:oMath>
                  </m:oMathPara>
                </a14:m>
                <a:endParaRPr lang="en-US" sz="2000" i="1" dirty="0">
                  <a:latin typeface="Cambria Math" panose="02040503050406030204" pitchFamily="18" charset="0"/>
                </a:endParaRPr>
              </a:p>
              <a:p>
                <a:pPr marL="461963">
                  <a:spcAft>
                    <a:spcPts val="12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=0.6988−0.3297=0.3691</m:t>
                      </m:r>
                    </m:oMath>
                  </m:oMathPara>
                </a14:m>
                <a:endParaRPr lang="en-US" sz="2000" dirty="0"/>
              </a:p>
              <a:p>
                <a:pPr>
                  <a:spcAft>
                    <a:spcPts val="600"/>
                  </a:spcAft>
                </a:pPr>
                <a:endParaRPr lang="en-US" sz="2000" dirty="0"/>
              </a:p>
            </p:txBody>
          </p:sp>
        </mc:Choice>
        <mc:Fallback xmlns="">
          <p:sp>
            <p:nvSpPr>
              <p:cNvPr id="5" name="Text Placeholder 4">
                <a:extLst>
                  <a:ext uri="{FF2B5EF4-FFF2-40B4-BE49-F238E27FC236}">
                    <a16:creationId xmlns:a16="http://schemas.microsoft.com/office/drawing/2014/main" id="{CCD39B5D-0480-0CBF-2891-3CE5A9EE306A}"/>
                  </a:ext>
                </a:extLst>
              </p:cNvPr>
              <p:cNvSpPr>
                <a:spLocks noGrp="1" noRot="1" noChangeAspect="1" noMove="1" noResize="1" noEditPoints="1" noAdjustHandles="1" noChangeArrowheads="1" noChangeShapeType="1" noTextEdit="1"/>
              </p:cNvSpPr>
              <p:nvPr>
                <p:ph type="body" sz="quarter" idx="17"/>
              </p:nvPr>
            </p:nvSpPr>
            <p:spPr>
              <a:xfrm>
                <a:off x="743576" y="2361540"/>
                <a:ext cx="6134302" cy="3190875"/>
              </a:xfrm>
              <a:blipFill>
                <a:blip r:embed="rId3"/>
                <a:stretch>
                  <a:fillRect l="-2584" r="-3380"/>
                </a:stretch>
              </a:blipFill>
            </p:spPr>
            <p:txBody>
              <a:bodyPr/>
              <a:lstStyle/>
              <a:p>
                <a:r>
                  <a:rPr lang="en-US">
                    <a:noFill/>
                  </a:rPr>
                  <a:t> </a:t>
                </a:r>
              </a:p>
            </p:txBody>
          </p:sp>
        </mc:Fallback>
      </mc:AlternateContent>
      <p:pic>
        <p:nvPicPr>
          <p:cNvPr id="7" name="Picture Placeholder 6" descr="A line graph with one line plots f(x) versus loading time. The horizontal axis is labeled “Loading Time” and ranges from 0 to 30 with tickmarks in increments of 6. The vertical axis is labeled “f(x)” and ranges from 0.01 to 0.07 with tickmarks in increments of 0.03. A curve falls in a concave down manner from (0, 0.065) to (30, 0.01). The region under the curve to the left of loading time = 6 is labeled “P(x &lt;= 6).” The region under the curve between loading time = 6 and loading time = 18 is shaded dark and labeled “P(6 &lt;= x &lt;= 18).”&#10;">
            <a:extLst>
              <a:ext uri="{FF2B5EF4-FFF2-40B4-BE49-F238E27FC236}">
                <a16:creationId xmlns:a16="http://schemas.microsoft.com/office/drawing/2014/main" id="{88EA8799-7735-F86D-BD09-B7E0E40D85DE}"/>
              </a:ext>
            </a:extLst>
          </p:cNvPr>
          <p:cNvPicPr>
            <a:picLocks noGrp="1" noChangeAspect="1"/>
          </p:cNvPicPr>
          <p:nvPr>
            <p:ph type="pic" sz="quarter" idx="16"/>
          </p:nvPr>
        </p:nvPicPr>
        <p:blipFill rotWithShape="1">
          <a:blip r:embed="rId4"/>
          <a:srcRect t="33" b="33"/>
          <a:stretch/>
        </p:blipFill>
        <p:spPr>
          <a:xfrm>
            <a:off x="7169815" y="2464906"/>
            <a:ext cx="3968750" cy="3190875"/>
          </a:xfrm>
        </p:spPr>
      </p:pic>
    </p:spTree>
    <p:extLst>
      <p:ext uri="{BB962C8B-B14F-4D97-AF65-F5344CB8AC3E}">
        <p14:creationId xmlns:p14="http://schemas.microsoft.com/office/powerpoint/2010/main" val="2526904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7B69B-C4DB-B0E8-30EE-54EB967B2786}"/>
              </a:ext>
            </a:extLst>
          </p:cNvPr>
          <p:cNvSpPr>
            <a:spLocks noGrp="1"/>
          </p:cNvSpPr>
          <p:nvPr>
            <p:ph type="title"/>
          </p:nvPr>
        </p:nvSpPr>
        <p:spPr/>
        <p:txBody>
          <a:bodyPr/>
          <a:lstStyle/>
          <a:p>
            <a:r>
              <a:rPr lang="en-US" sz="3200" dirty="0"/>
              <a:t>6.3 Poisson vs. Exponential Distributions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A34024C-2EA1-3BEA-5421-CCCC1A49D05B}"/>
                  </a:ext>
                </a:extLst>
              </p:cNvPr>
              <p:cNvSpPr>
                <a:spLocks noGrp="1"/>
              </p:cNvSpPr>
              <p:nvPr>
                <p:ph type="body" sz="quarter" idx="15"/>
              </p:nvPr>
            </p:nvSpPr>
            <p:spPr>
              <a:xfrm>
                <a:off x="743576" y="1117467"/>
                <a:ext cx="10711543" cy="4911856"/>
              </a:xfrm>
            </p:spPr>
            <p:txBody>
              <a:bodyPr/>
              <a:lstStyle/>
              <a:p>
                <a:r>
                  <a:rPr lang="en-US" sz="2000" dirty="0"/>
                  <a:t>In Chapter 5, we introduced the Poisson distribution as a discrete probability distribution that describes the </a:t>
                </a:r>
                <a:r>
                  <a:rPr lang="en-US" sz="2000" i="1" dirty="0"/>
                  <a:t>number of occurrences per interval</a:t>
                </a:r>
                <a:r>
                  <a:rPr lang="en-US" sz="2000" dirty="0">
                    <a:latin typeface="Arial" panose="020B0604020202020204" pitchFamily="34" charset="0"/>
                    <a:cs typeface="Arial" panose="020B0604020202020204" pitchFamily="34" charset="0"/>
                  </a:rPr>
                  <a:t>.</a:t>
                </a:r>
                <a:endParaRPr lang="en-US" sz="2000" dirty="0"/>
              </a:p>
              <a:p>
                <a:r>
                  <a:rPr lang="en-US" sz="2000" dirty="0"/>
                  <a:t>Whereas the exponential distribution describes the </a:t>
                </a:r>
                <a:r>
                  <a:rPr lang="en-US" sz="2000" i="1" dirty="0"/>
                  <a:t>length of the interval between occurrences</a:t>
                </a:r>
                <a:r>
                  <a:rPr lang="en-US" sz="2000" dirty="0"/>
                  <a:t>.</a:t>
                </a:r>
              </a:p>
              <a:p>
                <a:r>
                  <a:rPr lang="en-US" sz="2000" dirty="0"/>
                  <a:t>To see how these two distributions are related, consider the arrival of patients at a hospital emergency room with a mean of 10 patients per hour.</a:t>
                </a:r>
              </a:p>
              <a:p>
                <a:pPr>
                  <a:spcAft>
                    <a:spcPts val="600"/>
                  </a:spcAft>
                </a:pPr>
                <a:r>
                  <a:rPr lang="en-US" sz="2000" dirty="0"/>
                  <a:t>The Poisson distribution that describes the number of </a:t>
                </a:r>
                <a14:m>
                  <m:oMath xmlns:m="http://schemas.openxmlformats.org/officeDocument/2006/math">
                    <m:r>
                      <a:rPr lang="en-US" sz="2000" i="1" dirty="0" smtClean="0">
                        <a:latin typeface="Cambria Math" panose="02040503050406030204" pitchFamily="18" charset="0"/>
                      </a:rPr>
                      <m:t>𝑥</m:t>
                    </m:r>
                  </m:oMath>
                </a14:m>
                <a:r>
                  <a:rPr lang="en-US" sz="2000" dirty="0"/>
                  <a:t> arrivals per hour is</a:t>
                </a:r>
              </a:p>
              <a:p>
                <a:pPr marL="9144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𝑓</m:t>
                      </m:r>
                      <m:d>
                        <m:dPr>
                          <m:ctrlPr>
                            <a:rPr lang="en-US" sz="200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𝑥</m:t>
                          </m:r>
                        </m:e>
                      </m:d>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𝜇</m:t>
                              </m:r>
                            </m:e>
                            <m:sup>
                              <m:r>
                                <a:rPr lang="en-US" sz="2000" i="1">
                                  <a:latin typeface="Cambria Math" panose="02040503050406030204" pitchFamily="18" charset="0"/>
                                  <a:cs typeface="Arial" panose="020B0604020202020204" pitchFamily="34" charset="0"/>
                                </a:rPr>
                                <m:t>𝑥</m:t>
                              </m:r>
                            </m:sup>
                          </m:sSup>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𝑒</m:t>
                              </m:r>
                            </m:e>
                            <m:sup>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𝜇</m:t>
                              </m:r>
                            </m:sup>
                          </m:sSup>
                        </m:num>
                        <m:den>
                          <m:r>
                            <a:rPr lang="en-US" sz="2000" i="1">
                              <a:latin typeface="Cambria Math" panose="02040503050406030204" pitchFamily="18" charset="0"/>
                              <a:cs typeface="Arial" panose="020B0604020202020204" pitchFamily="34" charset="0"/>
                            </a:rPr>
                            <m:t>𝑥</m:t>
                          </m:r>
                          <m:r>
                            <a:rPr lang="en-US" sz="2000" i="1">
                              <a:latin typeface="Cambria Math" panose="02040503050406030204" pitchFamily="18" charset="0"/>
                              <a:cs typeface="Arial" panose="020B0604020202020204" pitchFamily="34" charset="0"/>
                            </a:rPr>
                            <m:t>!</m:t>
                          </m:r>
                        </m:den>
                      </m:f>
                      <m:r>
                        <a:rPr lang="en-US" sz="2000" b="0" i="1" smtClean="0">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2000" b="0" i="1" smtClean="0">
                                  <a:latin typeface="Cambria Math" panose="02040503050406030204" pitchFamily="18" charset="0"/>
                                  <a:cs typeface="Arial" panose="020B0604020202020204" pitchFamily="34" charset="0"/>
                                </a:rPr>
                                <m:t>𝑥</m:t>
                              </m:r>
                            </m:sup>
                          </m:sSup>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𝑒</m:t>
                              </m:r>
                            </m:e>
                            <m:sup>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10</m:t>
                              </m:r>
                            </m:sup>
                          </m:sSup>
                        </m:num>
                        <m:den>
                          <m: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m:t>
                          </m:r>
                        </m:den>
                      </m:f>
                    </m:oMath>
                  </m:oMathPara>
                </a14:m>
                <a:endParaRPr lang="en-US" sz="2000" dirty="0"/>
              </a:p>
              <a:p>
                <a:r>
                  <a:rPr lang="en-US" sz="2000" dirty="0"/>
                  <a:t>If, on average 10 patients arrive per hour, it implies that the interval between arrivals has a mean of </a:t>
                </a:r>
                <a14:m>
                  <m:oMath xmlns:m="http://schemas.openxmlformats.org/officeDocument/2006/math">
                    <m:r>
                      <a:rPr lang="en-US" sz="2000" i="1" dirty="0" smtClean="0">
                        <a:latin typeface="Cambria Math" panose="02040503050406030204" pitchFamily="18" charset="0"/>
                      </a:rPr>
                      <m:t>1/10=0.1</m:t>
                    </m:r>
                  </m:oMath>
                </a14:m>
                <a:r>
                  <a:rPr lang="en-US" sz="2000" dirty="0"/>
                  <a:t> hour/patient. </a:t>
                </a:r>
              </a:p>
              <a:p>
                <a:pPr>
                  <a:spcAft>
                    <a:spcPts val="600"/>
                  </a:spcAft>
                </a:pPr>
                <a:r>
                  <a:rPr lang="en-US" sz="2000" dirty="0"/>
                  <a:t>Thus, the exponential distribution that describes the time between arrivals is</a:t>
                </a:r>
              </a:p>
              <a:p>
                <a:pPr marL="914400"/>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b="0" i="1">
                              <a:latin typeface="Cambria Math" panose="02040503050406030204" pitchFamily="18" charset="0"/>
                            </a:rPr>
                            <m:t>1</m:t>
                          </m:r>
                        </m:num>
                        <m:den>
                          <m:r>
                            <a:rPr lang="en-US" sz="2000" b="0" i="1">
                              <a:latin typeface="Cambria Math" panose="02040503050406030204" pitchFamily="18" charset="0"/>
                              <a:ea typeface="Cambria Math" panose="02040503050406030204" pitchFamily="18" charset="0"/>
                            </a:rPr>
                            <m:t>𝜇</m:t>
                          </m:r>
                        </m:den>
                      </m:f>
                      <m:sSup>
                        <m:sSupPr>
                          <m:ctrlPr>
                            <a:rPr lang="en-US" sz="2000" i="1">
                              <a:latin typeface="Cambria Math" panose="02040503050406030204" pitchFamily="18" charset="0"/>
                            </a:rPr>
                          </m:ctrlPr>
                        </m:sSupPr>
                        <m:e>
                          <m:r>
                            <a:rPr lang="en-US" sz="2000" b="0" i="1">
                              <a:latin typeface="Cambria Math" panose="02040503050406030204" pitchFamily="18" charset="0"/>
                            </a:rPr>
                            <m:t>𝑒</m:t>
                          </m:r>
                        </m:e>
                        <m:sup>
                          <m:r>
                            <a:rPr lang="en-US" sz="2000" b="0" i="1">
                              <a:latin typeface="Cambria Math" panose="02040503050406030204" pitchFamily="18" charset="0"/>
                            </a:rPr>
                            <m:t>−</m:t>
                          </m:r>
                          <m:f>
                            <m:fPr>
                              <m:ctrlPr>
                                <a:rPr lang="en-US" sz="2000" i="1">
                                  <a:latin typeface="Cambria Math" panose="02040503050406030204" pitchFamily="18" charset="0"/>
                                </a:rPr>
                              </m:ctrlPr>
                            </m:fPr>
                            <m:num>
                              <m:r>
                                <a:rPr lang="en-US" sz="2000" b="0" i="1">
                                  <a:latin typeface="Cambria Math" panose="02040503050406030204" pitchFamily="18" charset="0"/>
                                </a:rPr>
                                <m:t>𝑥</m:t>
                              </m:r>
                            </m:num>
                            <m:den>
                              <m:r>
                                <a:rPr lang="en-US" sz="2000" b="0" i="1">
                                  <a:latin typeface="Cambria Math" panose="02040503050406030204" pitchFamily="18" charset="0"/>
                                  <a:ea typeface="Cambria Math" panose="02040503050406030204" pitchFamily="18" charset="0"/>
                                </a:rPr>
                                <m:t>𝜇</m:t>
                              </m:r>
                            </m:den>
                          </m:f>
                        </m:sup>
                      </m:sSup>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0.1</m:t>
                          </m:r>
                        </m:den>
                      </m:f>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𝑥</m:t>
                              </m:r>
                            </m:num>
                            <m:den>
                              <m:r>
                                <a:rPr lang="en-US" sz="2000" b="0" i="1" smtClean="0">
                                  <a:latin typeface="Cambria Math" panose="02040503050406030204" pitchFamily="18" charset="0"/>
                                  <a:ea typeface="Cambria Math" panose="02040503050406030204" pitchFamily="18" charset="0"/>
                                </a:rPr>
                                <m:t>0.1</m:t>
                              </m:r>
                            </m:den>
                          </m:f>
                        </m:sup>
                      </m:sSup>
                      <m:r>
                        <a:rPr lang="en-US" sz="2000" b="0" i="1" smtClean="0">
                          <a:latin typeface="Cambria Math" panose="02040503050406030204" pitchFamily="18" charset="0"/>
                          <a:ea typeface="Cambria Math" panose="02040503050406030204" pitchFamily="18" charset="0"/>
                        </a:rPr>
                        <m:t>=10</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𝑒</m:t>
                          </m:r>
                        </m:e>
                        <m:sup>
                          <m:r>
                            <a:rPr lang="en-US" sz="2000" b="0" i="1" smtClean="0">
                              <a:latin typeface="Cambria Math" panose="02040503050406030204" pitchFamily="18" charset="0"/>
                              <a:ea typeface="Cambria Math" panose="02040503050406030204" pitchFamily="18" charset="0"/>
                            </a:rPr>
                            <m:t>−10</m:t>
                          </m:r>
                          <m:r>
                            <a:rPr lang="en-US" sz="2000" b="0" i="1" smtClean="0">
                              <a:latin typeface="Cambria Math" panose="02040503050406030204" pitchFamily="18" charset="0"/>
                              <a:ea typeface="Cambria Math" panose="02040503050406030204" pitchFamily="18" charset="0"/>
                            </a:rPr>
                            <m:t>𝑥</m:t>
                          </m:r>
                        </m:sup>
                      </m:sSup>
                    </m:oMath>
                  </m:oMathPara>
                </a14:m>
                <a:endParaRPr lang="en-US" sz="2000" dirty="0"/>
              </a:p>
            </p:txBody>
          </p:sp>
        </mc:Choice>
        <mc:Fallback xmlns="">
          <p:sp>
            <p:nvSpPr>
              <p:cNvPr id="3" name="Text Placeholder 2">
                <a:extLst>
                  <a:ext uri="{FF2B5EF4-FFF2-40B4-BE49-F238E27FC236}">
                    <a16:creationId xmlns:a16="http://schemas.microsoft.com/office/drawing/2014/main" id="{EA34024C-2EA1-3BEA-5421-CCCC1A49D05B}"/>
                  </a:ext>
                </a:extLst>
              </p:cNvPr>
              <p:cNvSpPr>
                <a:spLocks noGrp="1" noRot="1" noChangeAspect="1" noMove="1" noResize="1" noEditPoints="1" noAdjustHandles="1" noChangeArrowheads="1" noChangeShapeType="1" noTextEdit="1"/>
              </p:cNvSpPr>
              <p:nvPr>
                <p:ph type="body" sz="quarter" idx="15"/>
              </p:nvPr>
            </p:nvSpPr>
            <p:spPr>
              <a:xfrm>
                <a:off x="743576" y="1117467"/>
                <a:ext cx="10711543" cy="4911856"/>
              </a:xfrm>
              <a:blipFill>
                <a:blip r:embed="rId2"/>
                <a:stretch>
                  <a:fillRect l="-1480" t="-1489" r="-341"/>
                </a:stretch>
              </a:blipFill>
            </p:spPr>
            <p:txBody>
              <a:bodyPr/>
              <a:lstStyle/>
              <a:p>
                <a:r>
                  <a:rPr lang="en-US">
                    <a:noFill/>
                  </a:rPr>
                  <a:t> </a:t>
                </a:r>
              </a:p>
            </p:txBody>
          </p:sp>
        </mc:Fallback>
      </mc:AlternateContent>
    </p:spTree>
    <p:extLst>
      <p:ext uri="{BB962C8B-B14F-4D97-AF65-F5344CB8AC3E}">
        <p14:creationId xmlns:p14="http://schemas.microsoft.com/office/powerpoint/2010/main" val="1513914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F09DD-6D35-27B1-B115-22BF7723AFC0}"/>
              </a:ext>
            </a:extLst>
          </p:cNvPr>
          <p:cNvSpPr>
            <a:spLocks noGrp="1"/>
          </p:cNvSpPr>
          <p:nvPr>
            <p:ph type="title"/>
          </p:nvPr>
        </p:nvSpPr>
        <p:spPr>
          <a:xfrm>
            <a:off x="743575" y="365125"/>
            <a:ext cx="10610224" cy="672105"/>
          </a:xfrm>
        </p:spPr>
        <p:txBody>
          <a:bodyPr/>
          <a:lstStyle/>
          <a:p>
            <a:r>
              <a:rPr lang="en-US">
                <a:solidFill>
                  <a:srgbClr val="25894E"/>
                </a:solidFill>
              </a:rPr>
              <a:t>6.2 Excel: Computing </a:t>
            </a:r>
            <a:r>
              <a:rPr lang="en-US" dirty="0">
                <a:solidFill>
                  <a:srgbClr val="25894E"/>
                </a:solidFill>
              </a:rPr>
              <a:t>Exponential Probabilities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AFECCF2-F579-3BAE-6948-51F195795D01}"/>
                  </a:ext>
                </a:extLst>
              </p:cNvPr>
              <p:cNvSpPr>
                <a:spLocks noGrp="1"/>
              </p:cNvSpPr>
              <p:nvPr>
                <p:ph type="body" sz="quarter" idx="15"/>
              </p:nvPr>
            </p:nvSpPr>
            <p:spPr>
              <a:xfrm>
                <a:off x="743575" y="1221580"/>
                <a:ext cx="10610223" cy="3264693"/>
              </a:xfrm>
            </p:spPr>
            <p:txBody>
              <a:bodyPr/>
              <a:lstStyle/>
              <a:p>
                <a:r>
                  <a:rPr lang="en-US" sz="2000" dirty="0"/>
                  <a:t>We will illustrate the use of the </a:t>
                </a:r>
                <a14:m>
                  <m:oMath xmlns:m="http://schemas.openxmlformats.org/officeDocument/2006/math">
                    <m:r>
                      <m:rPr>
                        <m:nor/>
                      </m:rPr>
                      <a:rPr lang="en-US" sz="2000" i="0" dirty="0" smtClean="0">
                        <a:latin typeface="Cambria Math" panose="02040503050406030204" pitchFamily="18" charset="0"/>
                      </a:rPr>
                      <m:t>EXPON</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DIST</m:t>
                    </m:r>
                    <m:r>
                      <m:rPr>
                        <m:nor/>
                      </m:rPr>
                      <a:rPr lang="en-US" sz="2000" i="0" dirty="0" smtClean="0">
                        <a:latin typeface="Cambria Math" panose="02040503050406030204" pitchFamily="18" charset="0"/>
                      </a:rPr>
                      <m:t> </m:t>
                    </m:r>
                  </m:oMath>
                </a14:m>
                <a:r>
                  <a:rPr lang="en-US" sz="2000" dirty="0"/>
                  <a:t>function by computing probabilities associated with the time it takes to load a truck for the </a:t>
                </a:r>
                <a:r>
                  <a:rPr lang="en-US" sz="2000" dirty="0" err="1"/>
                  <a:t>Schips</a:t>
                </a:r>
                <a:r>
                  <a:rPr lang="en-US" sz="2000" dirty="0"/>
                  <a:t> problem, with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𝜇</m:t>
                    </m:r>
                    <m:r>
                      <a:rPr lang="en-US" sz="2000" b="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15</m:t>
                    </m:r>
                  </m:oMath>
                </a14:m>
                <a:r>
                  <a:rPr lang="en-US" sz="2000" dirty="0"/>
                  <a:t> minutes.</a:t>
                </a:r>
              </a:p>
              <a:p>
                <a:r>
                  <a:rPr lang="en-US" sz="2000" b="1" dirty="0"/>
                  <a:t>Enter/Access Data</a:t>
                </a:r>
                <a:r>
                  <a:rPr lang="en-US" sz="2000" dirty="0"/>
                  <a:t>: Open a blank worksheet. We will enter the values manually.</a:t>
                </a:r>
              </a:p>
              <a:p>
                <a:pPr>
                  <a:tabLst>
                    <a:tab pos="9544050" algn="l"/>
                  </a:tabLst>
                </a:pPr>
                <a:r>
                  <a:rPr lang="en-US" sz="2000" b="1" dirty="0"/>
                  <a:t>Enter Functions and Formulas</a:t>
                </a:r>
                <a:r>
                  <a:rPr lang="en-US" sz="2000" dirty="0"/>
                  <a:t>: We compute cumulative probabilities (</a:t>
                </a:r>
                <a:r>
                  <a:rPr lang="en-US" sz="2000" i="1" dirty="0"/>
                  <a:t>lower</a:t>
                </a:r>
                <a:r>
                  <a:rPr lang="en-US" sz="2000" dirty="0"/>
                  <a:t> tail) as</a:t>
                </a:r>
              </a:p>
              <a:p>
                <a:pPr marL="914400">
                  <a:tabLst>
                    <a:tab pos="9544050" algn="l"/>
                  </a:tabLst>
                </a:pPr>
                <a14:m>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𝐸𝑋𝑃𝑂𝑁</m:t>
                    </m:r>
                    <m:r>
                      <a:rPr lang="en-US" sz="2000" i="1" dirty="0" smtClean="0">
                        <a:latin typeface="Cambria Math" panose="02040503050406030204" pitchFamily="18" charset="0"/>
                      </a:rPr>
                      <m:t>.</m:t>
                    </m:r>
                    <m:r>
                      <a:rPr lang="en-US" sz="2000" i="1" dirty="0" smtClean="0">
                        <a:latin typeface="Cambria Math" panose="02040503050406030204" pitchFamily="18" charset="0"/>
                      </a:rPr>
                      <m:t>𝐷𝐼𝑆𝑇</m:t>
                    </m:r>
                    <m:r>
                      <a:rPr lang="en-US" sz="2000" i="1" dirty="0" smtClean="0">
                        <a:latin typeface="Cambria Math" panose="02040503050406030204" pitchFamily="18" charset="0"/>
                      </a:rPr>
                      <m:t>(</m:t>
                    </m:r>
                    <m:r>
                      <a:rPr lang="en-US" sz="2000" i="1" dirty="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𝜆</m:t>
                    </m:r>
                    <m:r>
                      <a:rPr lang="en-US" sz="2000" i="1" dirty="0" smtClean="0">
                        <a:latin typeface="Cambria Math" panose="02040503050406030204" pitchFamily="18" charset="0"/>
                      </a:rPr>
                      <m:t>,</m:t>
                    </m:r>
                    <m:r>
                      <a:rPr lang="en-US" sz="2000" i="1" dirty="0" smtClean="0">
                        <a:latin typeface="Cambria Math" panose="02040503050406030204" pitchFamily="18" charset="0"/>
                      </a:rPr>
                      <m:t>𝑐𝑢𝑚𝑢𝑙𝑎𝑡𝑖𝑣𝑒</m:t>
                    </m:r>
                    <m:r>
                      <a:rPr lang="en-US" sz="2000" i="1" dirty="0" smtClean="0">
                        <a:latin typeface="Cambria Math" panose="02040503050406030204" pitchFamily="18" charset="0"/>
                      </a:rPr>
                      <m:t>)</m:t>
                    </m:r>
                  </m:oMath>
                </a14:m>
                <a:r>
                  <a:rPr lang="en-US" sz="2000" dirty="0"/>
                  <a:t> </a:t>
                </a:r>
              </a:p>
              <a:p>
                <a:pPr marL="914400">
                  <a:tabLst>
                    <a:tab pos="9544050" algn="l"/>
                  </a:tabLst>
                </a:pPr>
                <a:r>
                  <a:rPr lang="en-US" sz="2000" dirty="0"/>
                  <a:t>Where </a:t>
                </a:r>
                <a14:m>
                  <m:oMath xmlns:m="http://schemas.openxmlformats.org/officeDocument/2006/math">
                    <m:r>
                      <a:rPr lang="en-US" sz="2000" i="1" dirty="0" smtClean="0">
                        <a:latin typeface="Cambria Math" panose="02040503050406030204" pitchFamily="18" charset="0"/>
                      </a:rPr>
                      <m:t>𝑥</m:t>
                    </m:r>
                  </m:oMath>
                </a14:m>
                <a:r>
                  <a:rPr lang="en-US" sz="2000" dirty="0"/>
                  <a:t> is the value of the exponentially distributed random variable, </a:t>
                </a:r>
                <a14:m>
                  <m:oMath xmlns:m="http://schemas.openxmlformats.org/officeDocument/2006/math">
                    <m:r>
                      <a:rPr lang="en-US" sz="2000" i="1" smtClean="0">
                        <a:latin typeface="Cambria Math" panose="02040503050406030204" pitchFamily="18" charset="0"/>
                        <a:ea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𝜇</m:t>
                        </m:r>
                      </m:den>
                    </m:f>
                  </m:oMath>
                </a14:m>
                <a:r>
                  <a:rPr lang="en-US" sz="2000" dirty="0"/>
                  <a:t>, and </a:t>
                </a:r>
                <a14:m>
                  <m:oMath xmlns:m="http://schemas.openxmlformats.org/officeDocument/2006/math">
                    <m:r>
                      <a:rPr lang="en-US" sz="2000" i="1" dirty="0" smtClean="0">
                        <a:latin typeface="Cambria Math" panose="02040503050406030204" pitchFamily="18" charset="0"/>
                      </a:rPr>
                      <m:t>𝑐𝑢𝑚𝑢𝑙𝑎𝑡𝑖𝑣𝑒</m:t>
                    </m:r>
                    <m:r>
                      <a:rPr lang="en-US" sz="2000" i="1" dirty="0" smtClean="0">
                        <a:latin typeface="Cambria Math" panose="02040503050406030204" pitchFamily="18" charset="0"/>
                      </a:rPr>
                      <m:t>=</m:t>
                    </m:r>
                    <m:r>
                      <a:rPr lang="en-US" sz="2000" i="1" dirty="0" smtClean="0">
                        <a:latin typeface="Cambria Math" panose="02040503050406030204" pitchFamily="18" charset="0"/>
                      </a:rPr>
                      <m:t>𝑇𝑅𝑈𝐸</m:t>
                    </m:r>
                  </m:oMath>
                </a14:m>
                <a:r>
                  <a:rPr lang="en-US" sz="2000" dirty="0"/>
                  <a:t>.</a:t>
                </a:r>
              </a:p>
              <a:p>
                <a:pPr>
                  <a:tabLst>
                    <a:tab pos="9544050" algn="l"/>
                  </a:tabLst>
                </a:pPr>
                <a:r>
                  <a:rPr lang="en-US" sz="2000" dirty="0"/>
                  <a:t>We then compute probabilities in an interval and upper tail probabilities as we did for the normal distribution functions.</a:t>
                </a:r>
              </a:p>
            </p:txBody>
          </p:sp>
        </mc:Choice>
        <mc:Fallback xmlns="">
          <p:sp>
            <p:nvSpPr>
              <p:cNvPr id="3" name="Text Placeholder 2">
                <a:extLst>
                  <a:ext uri="{FF2B5EF4-FFF2-40B4-BE49-F238E27FC236}">
                    <a16:creationId xmlns:a16="http://schemas.microsoft.com/office/drawing/2014/main" id="{AAFECCF2-F579-3BAE-6948-51F195795D01}"/>
                  </a:ext>
                </a:extLst>
              </p:cNvPr>
              <p:cNvSpPr>
                <a:spLocks noGrp="1" noRot="1" noChangeAspect="1" noMove="1" noResize="1" noEditPoints="1" noAdjustHandles="1" noChangeArrowheads="1" noChangeShapeType="1" noTextEdit="1"/>
              </p:cNvSpPr>
              <p:nvPr>
                <p:ph type="body" sz="quarter" idx="15"/>
              </p:nvPr>
            </p:nvSpPr>
            <p:spPr>
              <a:xfrm>
                <a:off x="743575" y="1221580"/>
                <a:ext cx="10610223" cy="3264693"/>
              </a:xfrm>
              <a:blipFill>
                <a:blip r:embed="rId3"/>
                <a:stretch>
                  <a:fillRect l="-1494" t="-2239" r="-2069" b="-560"/>
                </a:stretch>
              </a:blipFill>
            </p:spPr>
            <p:txBody>
              <a:bodyPr/>
              <a:lstStyle/>
              <a:p>
                <a:r>
                  <a:rPr lang="en-US">
                    <a:noFill/>
                  </a:rPr>
                  <a:t> </a:t>
                </a:r>
              </a:p>
            </p:txBody>
          </p:sp>
        </mc:Fallback>
      </mc:AlternateContent>
      <p:pic>
        <p:nvPicPr>
          <p:cNvPr id="7" name="Picture Placeholder 6" descr="Two Excel worksheets for computing probabilities for the exponential probability distribution. In both spreadsheets, a section is titled Probabilities: Exponential Distribution. The entries in rows 3 through 5 are as follows. Row 3: C3: P (x is less than or equal to 18). Row 4: C4: P (6 less than or equal to x less than or equal to 18). Row 5: C5: P (x is greater than or equal to 8). In the first spreadsheet, the cell entries are as follows. D3: = EXPON. DIST(18, 1/15, TRUE). D4: = EXPON. DIST(18, 1/15, TRUE) minus EXPON. DIST(6, 1/15, TRUE). D5: = 1 minus EXPON. DIST(8, 1/15, TRUE). In the second spreadsheet, the cell entries are as follows. D3: 0.6988. D4: 0.3691. D5: 0.5866.">
            <a:extLst>
              <a:ext uri="{FF2B5EF4-FFF2-40B4-BE49-F238E27FC236}">
                <a16:creationId xmlns:a16="http://schemas.microsoft.com/office/drawing/2014/main" id="{06672EE7-BB05-55A4-37DF-0201DAA102FF}"/>
              </a:ext>
            </a:extLst>
          </p:cNvPr>
          <p:cNvPicPr>
            <a:picLocks noGrp="1" noChangeAspect="1"/>
          </p:cNvPicPr>
          <p:nvPr>
            <p:ph type="pic" sz="quarter" idx="16"/>
          </p:nvPr>
        </p:nvPicPr>
        <p:blipFill>
          <a:blip r:embed="rId4"/>
          <a:srcRect l="23" r="23"/>
          <a:stretch/>
        </p:blipFill>
        <p:spPr>
          <a:xfrm>
            <a:off x="2232818" y="4437062"/>
            <a:ext cx="7726363" cy="1335088"/>
          </a:xfrm>
          <a:ln>
            <a:solidFill>
              <a:srgbClr val="000000"/>
            </a:solidFill>
          </a:ln>
        </p:spPr>
      </p:pic>
    </p:spTree>
    <p:extLst>
      <p:ext uri="{BB962C8B-B14F-4D97-AF65-F5344CB8AC3E}">
        <p14:creationId xmlns:p14="http://schemas.microsoft.com/office/powerpoint/2010/main" val="3464104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225284"/>
                <a:ext cx="10657500" cy="4407431"/>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discussed probability distributions for continuous random variables. </a:t>
                </a:r>
              </a:p>
              <a:p>
                <a:pPr>
                  <a:lnSpc>
                    <a:spcPct val="100000"/>
                  </a:lnSpc>
                  <a:spcBef>
                    <a:spcPts val="600"/>
                  </a:spcBef>
                </a:pPr>
                <a:r>
                  <a:rPr lang="en-US" dirty="0">
                    <a:latin typeface="Arial" panose="020B0604020202020204" pitchFamily="34" charset="0"/>
                    <a:cs typeface="Arial" panose="020B0604020202020204" pitchFamily="34" charset="0"/>
                  </a:rPr>
                  <a:t>The major conceptual difference between discrete and continuous probability distributions involves the method of computing probabilities. </a:t>
                </a:r>
              </a:p>
              <a:p>
                <a:pPr lvl="1">
                  <a:lnSpc>
                    <a:spcPct val="100000"/>
                  </a:lnSpc>
                  <a:spcBef>
                    <a:spcPts val="600"/>
                  </a:spcBef>
                </a:pPr>
                <a:r>
                  <a:rPr lang="en-US" dirty="0">
                    <a:latin typeface="Arial" panose="020B0604020202020204" pitchFamily="34" charset="0"/>
                    <a:cs typeface="Arial" panose="020B0604020202020204" pitchFamily="34" charset="0"/>
                  </a:rPr>
                  <a:t>With discrete distributions, the probability function </a:t>
                </a:r>
                <a14:m>
                  <m:oMath xmlns:m="http://schemas.openxmlformats.org/officeDocument/2006/math">
                    <m:r>
                      <a:rPr lang="en-US" i="1" dirty="0" smtClean="0">
                        <a:latin typeface="Cambria Math" panose="02040503050406030204" pitchFamily="18" charset="0"/>
                        <a:cs typeface="Arial" panose="020B0604020202020204" pitchFamily="34" charset="0"/>
                      </a:rPr>
                      <m:t>𝑓</m:t>
                    </m:r>
                    <m:r>
                      <a:rPr lang="en-US" i="1" dirty="0" smtClean="0">
                        <a:latin typeface="Cambria Math" panose="02040503050406030204" pitchFamily="18" charset="0"/>
                        <a:cs typeface="Arial" panose="020B0604020202020204" pitchFamily="34" charset="0"/>
                      </a:rPr>
                      <m:t>(</m:t>
                    </m:r>
                    <m:r>
                      <a:rPr lang="en-US" i="1" dirty="0" smtClean="0">
                        <a:latin typeface="Cambria Math" panose="02040503050406030204" pitchFamily="18" charset="0"/>
                        <a:cs typeface="Arial" panose="020B0604020202020204" pitchFamily="34" charset="0"/>
                      </a:rPr>
                      <m:t>𝑥</m:t>
                    </m:r>
                    <m:r>
                      <a:rPr lang="en-US" i="1" dirty="0" smtClean="0">
                        <a:latin typeface="Cambria Math" panose="02040503050406030204" pitchFamily="18" charset="0"/>
                        <a:cs typeface="Arial" panose="020B0604020202020204" pitchFamily="34" charset="0"/>
                      </a:rPr>
                      <m:t>)</m:t>
                    </m:r>
                  </m:oMath>
                </a14:m>
                <a:r>
                  <a:rPr lang="en-US" dirty="0">
                    <a:latin typeface="Arial" panose="020B0604020202020204" pitchFamily="34" charset="0"/>
                    <a:cs typeface="Arial" panose="020B0604020202020204" pitchFamily="34" charset="0"/>
                  </a:rPr>
                  <a:t> provides the probability that the random variable </a:t>
                </a:r>
                <a14:m>
                  <m:oMath xmlns:m="http://schemas.openxmlformats.org/officeDocument/2006/math">
                    <m:r>
                      <a:rPr lang="en-US" i="1" dirty="0" smtClean="0">
                        <a:latin typeface="Cambria Math" panose="02040503050406030204" pitchFamily="18" charset="0"/>
                        <a:cs typeface="Arial" panose="020B0604020202020204" pitchFamily="34" charset="0"/>
                      </a:rPr>
                      <m:t>𝑥</m:t>
                    </m:r>
                  </m:oMath>
                </a14:m>
                <a:r>
                  <a:rPr lang="en-US" dirty="0">
                    <a:latin typeface="Arial" panose="020B0604020202020204" pitchFamily="34" charset="0"/>
                    <a:cs typeface="Arial" panose="020B0604020202020204" pitchFamily="34" charset="0"/>
                  </a:rPr>
                  <a:t> assumes a given value. </a:t>
                </a:r>
              </a:p>
              <a:p>
                <a:pPr lvl="1">
                  <a:lnSpc>
                    <a:spcPct val="100000"/>
                  </a:lnSpc>
                  <a:spcBef>
                    <a:spcPts val="600"/>
                  </a:spcBef>
                </a:pPr>
                <a:r>
                  <a:rPr lang="en-US" dirty="0">
                    <a:latin typeface="Arial" panose="020B0604020202020204" pitchFamily="34" charset="0"/>
                    <a:cs typeface="Arial" panose="020B0604020202020204" pitchFamily="34" charset="0"/>
                  </a:rPr>
                  <a:t>With continuous distributions, probabilities are given by areas under the curve or graph of the prob­ability density function </a:t>
                </a:r>
                <a14:m>
                  <m:oMath xmlns:m="http://schemas.openxmlformats.org/officeDocument/2006/math">
                    <m:r>
                      <a:rPr lang="en-US" i="1" dirty="0" smtClean="0">
                        <a:latin typeface="Cambria Math" panose="02040503050406030204" pitchFamily="18" charset="0"/>
                        <a:cs typeface="Arial" panose="020B0604020202020204" pitchFamily="34" charset="0"/>
                      </a:rPr>
                      <m:t>𝑓</m:t>
                    </m:r>
                    <m:r>
                      <a:rPr lang="en-US" i="1" dirty="0" smtClean="0">
                        <a:latin typeface="Cambria Math" panose="02040503050406030204" pitchFamily="18" charset="0"/>
                        <a:cs typeface="Arial" panose="020B0604020202020204" pitchFamily="34" charset="0"/>
                      </a:rPr>
                      <m:t>(</m:t>
                    </m:r>
                    <m:r>
                      <a:rPr lang="en-US" i="1" dirty="0" smtClean="0">
                        <a:latin typeface="Cambria Math" panose="02040503050406030204" pitchFamily="18" charset="0"/>
                        <a:cs typeface="Arial" panose="020B0604020202020204" pitchFamily="34" charset="0"/>
                      </a:rPr>
                      <m:t>𝑥</m:t>
                    </m:r>
                    <m:r>
                      <a:rPr lang="en-US" i="1" dirty="0" smtClean="0">
                        <a:latin typeface="Cambria Math" panose="02040503050406030204" pitchFamily="18" charset="0"/>
                        <a:cs typeface="Arial" panose="020B0604020202020204" pitchFamily="34" charset="0"/>
                      </a:rPr>
                      <m:t>)</m:t>
                    </m:r>
                  </m:oMath>
                </a14:m>
                <a:r>
                  <a:rPr lang="en-US" dirty="0">
                    <a:latin typeface="Arial" panose="020B0604020202020204" pitchFamily="34" charset="0"/>
                    <a:cs typeface="Arial" panose="020B0604020202020204" pitchFamily="34" charset="0"/>
                  </a:rPr>
                  <a:t>.</a:t>
                </a:r>
              </a:p>
              <a:p>
                <a:pPr>
                  <a:lnSpc>
                    <a:spcPct val="100000"/>
                  </a:lnSpc>
                  <a:spcBef>
                    <a:spcPts val="600"/>
                  </a:spcBef>
                </a:pPr>
                <a:r>
                  <a:rPr lang="en-US" dirty="0">
                    <a:latin typeface="Arial" panose="020B0604020202020204" pitchFamily="34" charset="0"/>
                    <a:cs typeface="Arial" panose="020B0604020202020204" pitchFamily="34" charset="0"/>
                  </a:rPr>
                  <a:t>Because the area under the curve above a single point is zero, we observe that the probability of any particular value is zero for a continuous random variable.</a:t>
                </a:r>
              </a:p>
              <a:p>
                <a:pPr>
                  <a:lnSpc>
                    <a:spcPct val="100000"/>
                  </a:lnSpc>
                  <a:spcBef>
                    <a:spcPts val="600"/>
                  </a:spcBef>
                </a:pPr>
                <a:r>
                  <a:rPr lang="en-US" dirty="0">
                    <a:latin typeface="Arial" panose="020B0604020202020204" pitchFamily="34" charset="0"/>
                    <a:cs typeface="Arial" panose="020B0604020202020204" pitchFamily="34" charset="0"/>
                  </a:rPr>
                  <a:t>Three continuous probability distributions—the uniform, normal, and exponential distributions—were considered in detail. </a:t>
                </a:r>
              </a:p>
              <a:p>
                <a:pPr>
                  <a:lnSpc>
                    <a:spcPct val="100000"/>
                  </a:lnSpc>
                  <a:spcBef>
                    <a:spcPts val="600"/>
                  </a:spcBef>
                </a:pPr>
                <a:r>
                  <a:rPr lang="en-US" dirty="0">
                    <a:latin typeface="Arial" panose="020B0604020202020204" pitchFamily="34" charset="0"/>
                    <a:cs typeface="Arial" panose="020B0604020202020204" pitchFamily="34" charset="0"/>
                  </a:rPr>
                  <a:t>The normal distribution is used widely in statistical inference and will be used extensively throughout the remainder of the text.</a:t>
                </a:r>
              </a:p>
            </p:txBody>
          </p:sp>
        </mc:Choice>
        <mc:Fallback xmlns="">
          <p:sp>
            <p:nvSpPr>
              <p:cNvPr id="3" name="Text Placeholder 2">
                <a:extLst>
                  <a:ext uri="{FF2B5EF4-FFF2-40B4-BE49-F238E27FC236}">
                    <a16:creationId xmlns:a16="http://schemas.microsoft.com/office/drawing/2014/main" id="{87C197FC-1825-404A-BE9E-EA5BA19058B7}"/>
                  </a:ext>
                </a:extLst>
              </p:cNvPr>
              <p:cNvSpPr>
                <a:spLocks noGrp="1" noRot="1" noChangeAspect="1" noMove="1" noResize="1" noEditPoints="1" noAdjustHandles="1" noChangeArrowheads="1" noChangeShapeType="1" noTextEdit="1"/>
              </p:cNvSpPr>
              <p:nvPr>
                <p:ph type="body" sz="quarter" idx="17"/>
              </p:nvPr>
            </p:nvSpPr>
            <p:spPr>
              <a:xfrm>
                <a:off x="751069" y="1225284"/>
                <a:ext cx="10657500" cy="4407431"/>
              </a:xfrm>
              <a:blipFill>
                <a:blip r:embed="rId2"/>
                <a:stretch>
                  <a:fillRect l="-1373" t="-1660" b="-3873"/>
                </a:stretch>
              </a:blipFill>
            </p:spPr>
            <p:txBody>
              <a:bodyPr/>
              <a:lstStyle/>
              <a:p>
                <a:r>
                  <a:rPr lang="en-US">
                    <a:noFill/>
                  </a:rPr>
                  <a:t> </a:t>
                </a:r>
              </a:p>
            </p:txBody>
          </p:sp>
        </mc:Fallback>
      </mc:AlternateContent>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99982</TotalTime>
  <Words>3878</Words>
  <Application>Microsoft Office PowerPoint</Application>
  <PresentationFormat>Widescreen</PresentationFormat>
  <Paragraphs>321</Paragraphs>
  <Slides>30</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Arial</vt:lpstr>
      <vt:lpstr>Calibri</vt:lpstr>
      <vt:lpstr>Cambria Math</vt:lpstr>
      <vt:lpstr>Helvetica</vt:lpstr>
      <vt:lpstr>Open Sans</vt:lpstr>
      <vt:lpstr>Summer Font</vt:lpstr>
      <vt:lpstr>Office Theme</vt:lpstr>
      <vt:lpstr>PowerPoint Presentation</vt:lpstr>
      <vt:lpstr>Chapter Contents</vt:lpstr>
      <vt:lpstr>Chapter Objectives (1 of 2)</vt:lpstr>
      <vt:lpstr>Chapter Objectives (2 of 2)</vt:lpstr>
      <vt:lpstr>Introduction</vt:lpstr>
      <vt:lpstr>6.1 Uniform Probability Distribution</vt:lpstr>
      <vt:lpstr>6.1 Area as a Measure of Probability</vt:lpstr>
      <vt:lpstr>6.1 Properties of a Uniform Probability Distribution</vt:lpstr>
      <vt:lpstr>6.2 Normal Probability Distribution</vt:lpstr>
      <vt:lpstr>6.2 The Mean of the Normal Distribution</vt:lpstr>
      <vt:lpstr>6.2 The Spread of the Normal Distribution</vt:lpstr>
      <vt:lpstr>6.2 Standard Normal Probability Distribution</vt:lpstr>
      <vt:lpstr>6.2 Probability Calculations with the Normal Distribution</vt:lpstr>
      <vt:lpstr>6.2 Cumulative Probability for P(z≤1.00)</vt:lpstr>
      <vt:lpstr>6.2 Cumulative Probability for P(-0.50≤z≤1.25)</vt:lpstr>
      <vt:lpstr>6.2 Cumulative Probability for P(z≥1.58)</vt:lpstr>
      <vt:lpstr>6.2 Find Z Such That P(z≥z^∗ )=0.10</vt:lpstr>
      <vt:lpstr>6.2 Computing Probabilities for Any Normal Curve</vt:lpstr>
      <vt:lpstr>6.2 Grear Tire Company Problem</vt:lpstr>
      <vt:lpstr>6.2 Probability Lifetime Exceeds 40,000 Miles</vt:lpstr>
      <vt:lpstr>6.2 Great Tire Guaranteed Mileage</vt:lpstr>
      <vt:lpstr>6.2 Excel’s Normal Probability Functions</vt:lpstr>
      <vt:lpstr>6.2 Excel: Computing Probabilities for the Standard Normal Distribution</vt:lpstr>
      <vt:lpstr>6.2 Excel: Computing z Values for the Standard Normal Distribution</vt:lpstr>
      <vt:lpstr>6.2 Excel: Computing Probabilities and x Values for the Normal Distribution</vt:lpstr>
      <vt:lpstr>6.3 Exponential Probability Distribution</vt:lpstr>
      <vt:lpstr>6.3 Exponential Distribution: Cumulative Probability</vt:lpstr>
      <vt:lpstr>6.3 Poisson vs. Exponential Distributions</vt:lpstr>
      <vt:lpstr>6.2 Excel: Computing Exponential Probabilities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2488</cp:revision>
  <cp:lastPrinted>2016-10-03T15:29:39Z</cp:lastPrinted>
  <dcterms:created xsi:type="dcterms:W3CDTF">2019-11-14T21:20:16Z</dcterms:created>
  <dcterms:modified xsi:type="dcterms:W3CDTF">2025-12-18T16:04:40Z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