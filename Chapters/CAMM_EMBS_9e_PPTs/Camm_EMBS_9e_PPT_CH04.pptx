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7"/>
  </p:notesMasterIdLst>
  <p:handoutMasterIdLst>
    <p:handoutMasterId r:id="rId38"/>
  </p:handoutMasterIdLst>
  <p:sldIdLst>
    <p:sldId id="457" r:id="rId5"/>
    <p:sldId id="524" r:id="rId6"/>
    <p:sldId id="548" r:id="rId7"/>
    <p:sldId id="596" r:id="rId8"/>
    <p:sldId id="597" r:id="rId9"/>
    <p:sldId id="598" r:id="rId10"/>
    <p:sldId id="599" r:id="rId11"/>
    <p:sldId id="600" r:id="rId12"/>
    <p:sldId id="601" r:id="rId13"/>
    <p:sldId id="602" r:id="rId14"/>
    <p:sldId id="629" r:id="rId15"/>
    <p:sldId id="604" r:id="rId16"/>
    <p:sldId id="605" r:id="rId17"/>
    <p:sldId id="606" r:id="rId18"/>
    <p:sldId id="607" r:id="rId19"/>
    <p:sldId id="608" r:id="rId20"/>
    <p:sldId id="609" r:id="rId21"/>
    <p:sldId id="610" r:id="rId22"/>
    <p:sldId id="626" r:id="rId23"/>
    <p:sldId id="612" r:id="rId24"/>
    <p:sldId id="627" r:id="rId25"/>
    <p:sldId id="630" r:id="rId26"/>
    <p:sldId id="631" r:id="rId27"/>
    <p:sldId id="617" r:id="rId28"/>
    <p:sldId id="618" r:id="rId29"/>
    <p:sldId id="619" r:id="rId30"/>
    <p:sldId id="620" r:id="rId31"/>
    <p:sldId id="632" r:id="rId32"/>
    <p:sldId id="622" r:id="rId33"/>
    <p:sldId id="623" r:id="rId34"/>
    <p:sldId id="633" r:id="rId35"/>
    <p:sldId id="523"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4B1E"/>
    <a:srgbClr val="FF6300"/>
    <a:srgbClr val="25894E"/>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A39931-912A-43DF-9154-BAFD1886CA08}" v="1" dt="2024-02-14T09:49:20.8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64" d="100"/>
          <a:sy n="64" d="100"/>
        </p:scale>
        <p:origin x="900" y="78"/>
      </p:cViewPr>
      <p:guideLst>
        <p:guide orient="horz" pos="2160"/>
        <p:guide pos="3840"/>
      </p:guideLst>
    </p:cSldViewPr>
  </p:slideViewPr>
  <p:outlineViewPr>
    <p:cViewPr>
      <p:scale>
        <a:sx n="33" d="100"/>
        <a:sy n="33" d="100"/>
      </p:scale>
      <p:origin x="0" y="-62604"/>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ani, Ramkumar" userId="8e666dd6-06ae-4a79-8d53-3ec546e990b5" providerId="ADAL" clId="{74A39931-912A-43DF-9154-BAFD1886CA08}"/>
    <pc:docChg chg="modSld modMainMaster">
      <pc:chgData name="Palani, Ramkumar" userId="8e666dd6-06ae-4a79-8d53-3ec546e990b5" providerId="ADAL" clId="{74A39931-912A-43DF-9154-BAFD1886CA08}" dt="2024-02-14T09:49:20.883" v="2" actId="14826"/>
      <pc:docMkLst>
        <pc:docMk/>
      </pc:docMkLst>
      <pc:sldChg chg="modSp mod">
        <pc:chgData name="Palani, Ramkumar" userId="8e666dd6-06ae-4a79-8d53-3ec546e990b5" providerId="ADAL" clId="{74A39931-912A-43DF-9154-BAFD1886CA08}" dt="2024-02-14T09:49:06.184" v="0"/>
        <pc:sldMkLst>
          <pc:docMk/>
          <pc:sldMk cId="2523988135" sldId="457"/>
        </pc:sldMkLst>
        <pc:spChg chg="mod">
          <ac:chgData name="Palani, Ramkumar" userId="8e666dd6-06ae-4a79-8d53-3ec546e990b5" providerId="ADAL" clId="{74A39931-912A-43DF-9154-BAFD1886CA08}" dt="2024-02-14T09:49:06.184" v="0"/>
          <ac:spMkLst>
            <pc:docMk/>
            <pc:sldMk cId="2523988135" sldId="457"/>
            <ac:spMk id="4" creationId="{E0AA78AE-6D3E-44A6-8EEF-9452400EAEDB}"/>
          </ac:spMkLst>
        </pc:spChg>
      </pc:sldChg>
      <pc:sldMasterChg chg="modSldLayout">
        <pc:chgData name="Palani, Ramkumar" userId="8e666dd6-06ae-4a79-8d53-3ec546e990b5" providerId="ADAL" clId="{74A39931-912A-43DF-9154-BAFD1886CA08}" dt="2024-02-14T09:49:20.883" v="2" actId="14826"/>
        <pc:sldMasterMkLst>
          <pc:docMk/>
          <pc:sldMasterMk cId="0" sldId="2147483648"/>
        </pc:sldMasterMkLst>
        <pc:sldLayoutChg chg="modSp mod">
          <pc:chgData name="Palani, Ramkumar" userId="8e666dd6-06ae-4a79-8d53-3ec546e990b5" providerId="ADAL" clId="{74A39931-912A-43DF-9154-BAFD1886CA08}" dt="2024-02-14T09:49:20.883" v="2" actId="14826"/>
          <pc:sldLayoutMkLst>
            <pc:docMk/>
            <pc:sldMasterMk cId="0" sldId="2147483648"/>
            <pc:sldLayoutMk cId="617780156" sldId="2147483722"/>
          </pc:sldLayoutMkLst>
          <pc:spChg chg="mod">
            <ac:chgData name="Palani, Ramkumar" userId="8e666dd6-06ae-4a79-8d53-3ec546e990b5" providerId="ADAL" clId="{74A39931-912A-43DF-9154-BAFD1886CA08}" dt="2024-02-14T09:49:14.434" v="1"/>
            <ac:spMkLst>
              <pc:docMk/>
              <pc:sldMasterMk cId="0" sldId="2147483648"/>
              <pc:sldLayoutMk cId="617780156" sldId="2147483722"/>
              <ac:spMk id="10" creationId="{B3AD984C-7DA8-4BA6-AF0A-89B14549C6C1}"/>
            </ac:spMkLst>
          </pc:spChg>
          <pc:picChg chg="mod">
            <ac:chgData name="Palani, Ramkumar" userId="8e666dd6-06ae-4a79-8d53-3ec546e990b5" providerId="ADAL" clId="{74A39931-912A-43DF-9154-BAFD1886CA08}" dt="2024-02-14T09:49:20.883" v="2" actId="14826"/>
            <ac:picMkLst>
              <pc:docMk/>
              <pc:sldMasterMk cId="0" sldId="2147483648"/>
              <pc:sldLayoutMk cId="617780156" sldId="2147483722"/>
              <ac:picMk id="4" creationId="{C827F863-7622-2925-7A3C-FCE070953133}"/>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2/14/2024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2/14/2024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2858128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in statistics, the notion of an experiment differs somewhat from the notion of an experiment in the physical sciences. In the physical sciences, researchers usually conduct an experiment in a laboratory or a controlled environment in order to learn about cause and effect. In statistical experiments, probability determines outcomes. Even though the experiment is repeated in exactly the same way, an entirely different outcome may occur. Because of this influence of probability on the outcome, the experiments of statistics are sometimes called random experiments.</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22616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1817693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2270918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1385554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176121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4143884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3422925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410598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sz="1800" dirty="0">
                <a:latin typeface="Calibri" panose="020F0502020204030204" pitchFamily="34" charset="0"/>
              </a:rPr>
              <a:t>Do not confuse the notion of mutually exclusive events with that of independent events. Two events with nonzero probabilities cannot be both mutually exclusive and independent. If one mutually exclusive event is known to occur, the other cannot occur. Thus, the probability of the other event occurring is reduced to 0. Therefore, the two events are dependent.</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3711265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2566296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1195247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Bayes’ theorem is used extensively in decision analysis. The prior probabilities are often subjective estimates provided by a decision-maker. Sample information is obtained and posterior probabilities are computed for use in choosing the best decision. We further explore the use of Bayes’ theorem in decision analysis in Chapter 19.</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3740716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1470187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22743310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bg1"/>
                </a:solidFill>
                <a:latin typeface="Arial" panose="020B0604020202020204" pitchFamily="34" charset="0"/>
                <a:cs typeface="Arial" panose="020B0604020202020204" pitchFamily="34" charset="0"/>
              </a:rPr>
              <a:t>Camm, Cochran, Fry, Ohlmann, Anderson, Sweeney, Williams, Essentials of Modern Business Statistics with Microsoft Excel, 9</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827F863-7622-2925-7A3C-FCE070953133}"/>
              </a:ext>
            </a:extLst>
          </p:cNvPr>
          <p:cNvPicPr>
            <a:picLocks noChangeAspect="1"/>
          </p:cNvPicPr>
          <p:nvPr userDrawn="1"/>
        </p:nvPicPr>
        <p:blipFill>
          <a:blip r:embed="rId4"/>
          <a:srcRect/>
          <a:stretch/>
        </p:blipFill>
        <p:spPr>
          <a:xfrm>
            <a:off x="176891" y="158257"/>
            <a:ext cx="3520439"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AA78AE-6D3E-44A6-8EEF-9452400EAEDB}"/>
              </a:ext>
            </a:extLst>
          </p:cNvPr>
          <p:cNvSpPr>
            <a:spLocks noGrp="1"/>
          </p:cNvSpPr>
          <p:nvPr>
            <p:ph type="title"/>
          </p:nvPr>
        </p:nvSpPr>
        <p:spPr/>
        <p:txBody>
          <a:bodyPr/>
          <a:lstStyle/>
          <a:p>
            <a:r>
              <a:rPr lang="en-US" sz="3200" kern="1200" dirty="0">
                <a:solidFill>
                  <a:schemeClr val="bg1"/>
                </a:solidFill>
                <a:latin typeface="Arial" panose="020B0604020202020204" pitchFamily="34" charset="0"/>
                <a:cs typeface="Arial" panose="020B0604020202020204" pitchFamily="34" charset="0"/>
              </a:rPr>
              <a:t>Essentials of Modern Business Statistics with Microsoft Excel, 9</a:t>
            </a:r>
            <a:r>
              <a:rPr lang="en-US" dirty="0"/>
              <a:t>e</a:t>
            </a:r>
          </a:p>
        </p:txBody>
      </p:sp>
      <p:sp>
        <p:nvSpPr>
          <p:cNvPr id="2" name="Text Placeholder 1">
            <a:extLst>
              <a:ext uri="{FF2B5EF4-FFF2-40B4-BE49-F238E27FC236}">
                <a16:creationId xmlns:a16="http://schemas.microsoft.com/office/drawing/2014/main" id="{47C41B3A-543B-4268-9C2F-9300BD6F67A9}"/>
              </a:ext>
            </a:extLst>
          </p:cNvPr>
          <p:cNvSpPr>
            <a:spLocks noGrp="1"/>
          </p:cNvSpPr>
          <p:nvPr>
            <p:ph type="body" sz="quarter" idx="11"/>
          </p:nvPr>
        </p:nvSpPr>
        <p:spPr>
          <a:xfrm>
            <a:off x="3930077" y="4047983"/>
            <a:ext cx="7696928" cy="1009792"/>
          </a:xfrm>
        </p:spPr>
        <p:txBody>
          <a:bodyPr anchor="t"/>
          <a:lstStyle/>
          <a:p>
            <a:r>
              <a:rPr lang="en-US" dirty="0"/>
              <a:t>Chapter 4 – Introduction to Probability</a:t>
            </a:r>
          </a:p>
        </p:txBody>
      </p:sp>
    </p:spTree>
    <p:extLst>
      <p:ext uri="{BB962C8B-B14F-4D97-AF65-F5344CB8AC3E}">
        <p14:creationId xmlns:p14="http://schemas.microsoft.com/office/powerpoint/2010/main" val="2523988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749971"/>
            <a:ext cx="10711543" cy="3892545"/>
          </a:xfrm>
        </p:spPr>
        <p:txBody>
          <a:bodyPr/>
          <a:lstStyle/>
          <a:p>
            <a:pPr marL="1371600" indent="-914400"/>
            <a:r>
              <a:rPr lang="en-US" sz="2000" dirty="0"/>
              <a:t>4.1	Experiments, Counting Rules, and Assigning Probabilities </a:t>
            </a:r>
          </a:p>
          <a:p>
            <a:pPr marL="1371600" indent="-914400"/>
            <a:r>
              <a:rPr lang="en-US" sz="2000" dirty="0"/>
              <a:t>4.2	Events and Their Probability </a:t>
            </a:r>
          </a:p>
          <a:p>
            <a:pPr marL="1371600" indent="-914400"/>
            <a:r>
              <a:rPr lang="en-US" sz="2000" dirty="0"/>
              <a:t>4.3	Some Basic Relationships of Probability </a:t>
            </a:r>
          </a:p>
          <a:p>
            <a:pPr marL="1371600" indent="-914400"/>
            <a:r>
              <a:rPr lang="en-US" sz="2000" dirty="0"/>
              <a:t>4.4	Conditional Probability </a:t>
            </a:r>
          </a:p>
          <a:p>
            <a:pPr marL="1371600" indent="-914400"/>
            <a:r>
              <a:rPr lang="en-US" sz="2000" dirty="0"/>
              <a:t>4.5	Bayes’ Theorem</a:t>
            </a:r>
          </a:p>
          <a:p>
            <a:pPr marL="1371600" indent="-914400"/>
            <a:r>
              <a:rPr lang="en-US" sz="2000" dirty="0"/>
              <a:t>	Summary</a:t>
            </a:r>
          </a:p>
          <a:p>
            <a:pPr marL="914400" indent="-914400">
              <a:spcBef>
                <a:spcPts val="600"/>
              </a:spcBef>
            </a:pPr>
            <a:endParaRPr lang="en-US" sz="2000" dirty="0"/>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a:xfrm>
            <a:off x="743577" y="1192085"/>
            <a:ext cx="10610224" cy="4659113"/>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lvl="1" indent="-1371600">
              <a:spcBef>
                <a:spcPts val="1200"/>
              </a:spcBef>
              <a:buNone/>
            </a:pPr>
            <a:r>
              <a:rPr lang="en-US" sz="2000" dirty="0">
                <a:latin typeface="Arial" panose="020B0604020202020204" pitchFamily="34" charset="0"/>
                <a:cs typeface="Arial" panose="020B0604020202020204" pitchFamily="34" charset="0"/>
              </a:rPr>
              <a:t>LO 4-1	Calculate the number of outcomes (sample points) for random experiments using tree diagrams, combinations, and permutations; list these outcomes.</a:t>
            </a:r>
          </a:p>
          <a:p>
            <a:pPr marL="1828800" lvl="1" indent="-1371600">
              <a:spcBef>
                <a:spcPts val="1200"/>
              </a:spcBef>
              <a:buNone/>
            </a:pPr>
            <a:r>
              <a:rPr lang="en-US" sz="2000" dirty="0">
                <a:latin typeface="Arial" panose="020B0604020202020204" pitchFamily="34" charset="0"/>
                <a:cs typeface="Arial" panose="020B0604020202020204" pitchFamily="34" charset="0"/>
              </a:rPr>
              <a:t>LO 4-2 	Assign probabilities to outcomes and events for a random experiment using the classical method, the relative frequency method, and the subjective method.</a:t>
            </a:r>
          </a:p>
          <a:p>
            <a:pPr marL="1828800" lvl="1" indent="-1371600">
              <a:spcBef>
                <a:spcPts val="1200"/>
              </a:spcBef>
              <a:buNone/>
            </a:pPr>
            <a:r>
              <a:rPr lang="en-US" sz="2000" dirty="0">
                <a:latin typeface="Arial" panose="020B0604020202020204" pitchFamily="34" charset="0"/>
                <a:cs typeface="Arial" panose="020B0604020202020204" pitchFamily="34" charset="0"/>
              </a:rPr>
              <a:t>LO 4-3 	Calculate and interpret the probability of the complement, the union, and the intersection of events.</a:t>
            </a:r>
          </a:p>
          <a:p>
            <a:pPr marL="1828800" lvl="1" indent="-1371600">
              <a:spcBef>
                <a:spcPts val="1200"/>
              </a:spcBef>
              <a:buNone/>
            </a:pPr>
            <a:r>
              <a:rPr lang="en-US" sz="2000" dirty="0">
                <a:latin typeface="Arial" panose="020B0604020202020204" pitchFamily="34" charset="0"/>
                <a:cs typeface="Arial" panose="020B0604020202020204" pitchFamily="34" charset="0"/>
              </a:rPr>
              <a:t>LO 4-4 	Calculate and interpret the conditional probability associated with two events.</a:t>
            </a:r>
          </a:p>
          <a:p>
            <a:pPr marL="1828800" lvl="1" indent="-1371600">
              <a:spcBef>
                <a:spcPts val="1200"/>
              </a:spcBef>
              <a:buNone/>
            </a:pPr>
            <a:r>
              <a:rPr lang="en-US" sz="2000" dirty="0">
                <a:latin typeface="Arial" panose="020B0604020202020204" pitchFamily="34" charset="0"/>
                <a:cs typeface="Arial" panose="020B0604020202020204" pitchFamily="34" charset="0"/>
              </a:rPr>
              <a:t>LO 4-5 	Identify and interpret mutually exclusive events and independent events.</a:t>
            </a:r>
          </a:p>
          <a:p>
            <a:pPr marL="1828800" lvl="1" indent="-1371600">
              <a:spcBef>
                <a:spcPts val="1200"/>
              </a:spcBef>
              <a:buNone/>
            </a:pPr>
            <a:r>
              <a:rPr lang="en-US" sz="2000" dirty="0">
                <a:latin typeface="Arial" panose="020B0604020202020204" pitchFamily="34" charset="0"/>
                <a:cs typeface="Arial" panose="020B0604020202020204" pitchFamily="34" charset="0"/>
              </a:rPr>
              <a:t>LO 4-6 	Create and interpret joint probability tables. </a:t>
            </a:r>
          </a:p>
          <a:p>
            <a:pPr marL="1828800" lvl="1" indent="-1371600">
              <a:spcBef>
                <a:spcPts val="1200"/>
              </a:spcBef>
              <a:buNone/>
            </a:pPr>
            <a:r>
              <a:rPr lang="en-US" sz="2000" dirty="0">
                <a:latin typeface="Arial" panose="020B0604020202020204" pitchFamily="34" charset="0"/>
                <a:cs typeface="Arial" panose="020B0604020202020204" pitchFamily="34" charset="0"/>
              </a:rPr>
              <a:t>LO 4-7 	Identify and interpret prior probabilities and posterior probabilities; apply Bayes’ theorem to calculate posterior probabilities.</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923757" y="1351866"/>
            <a:ext cx="10344485" cy="4154267"/>
          </a:xfrm>
        </p:spPr>
        <p:txBody>
          <a:bodyPr/>
          <a:lstStyle/>
          <a:p>
            <a:pPr>
              <a:lnSpc>
                <a:spcPct val="100000"/>
              </a:lnSpc>
              <a:spcBef>
                <a:spcPts val="600"/>
              </a:spcBef>
              <a:spcAft>
                <a:spcPts val="0"/>
              </a:spcAft>
            </a:pPr>
            <a:r>
              <a:rPr lang="en-US" sz="2000" dirty="0"/>
              <a:t>Managers often base their decisions on an analysis of uncertainties such as:</a:t>
            </a:r>
          </a:p>
          <a:p>
            <a:pPr marL="741363" indent="-457200">
              <a:lnSpc>
                <a:spcPct val="100000"/>
              </a:lnSpc>
              <a:spcBef>
                <a:spcPts val="600"/>
              </a:spcBef>
              <a:spcAft>
                <a:spcPts val="0"/>
              </a:spcAft>
              <a:buFont typeface="+mj-lt"/>
              <a:buAutoNum type="arabicPeriod"/>
            </a:pPr>
            <a:r>
              <a:rPr lang="en-US" sz="2000" dirty="0"/>
              <a:t>What are the chances that the sales will decrease if we increase prices?</a:t>
            </a:r>
          </a:p>
          <a:p>
            <a:pPr marL="741363" indent="-457200">
              <a:lnSpc>
                <a:spcPct val="100000"/>
              </a:lnSpc>
              <a:spcBef>
                <a:spcPts val="600"/>
              </a:spcBef>
              <a:spcAft>
                <a:spcPts val="0"/>
              </a:spcAft>
              <a:buFont typeface="+mj-lt"/>
              <a:buAutoNum type="arabicPeriod"/>
            </a:pPr>
            <a:r>
              <a:rPr lang="en-US" sz="2000" dirty="0"/>
              <a:t>What is the likelihood a new assembly method will increase productivity?</a:t>
            </a:r>
          </a:p>
          <a:p>
            <a:pPr marL="741363" indent="-457200">
              <a:lnSpc>
                <a:spcPct val="100000"/>
              </a:lnSpc>
              <a:spcBef>
                <a:spcPts val="600"/>
              </a:spcBef>
              <a:spcAft>
                <a:spcPts val="0"/>
              </a:spcAft>
              <a:buFont typeface="+mj-lt"/>
              <a:buAutoNum type="arabicPeriod"/>
            </a:pPr>
            <a:r>
              <a:rPr lang="en-US" sz="2000" dirty="0"/>
              <a:t>How likely is it that the project will be finished on time?</a:t>
            </a:r>
          </a:p>
          <a:p>
            <a:pPr marL="741363" indent="-457200">
              <a:lnSpc>
                <a:spcPct val="100000"/>
              </a:lnSpc>
              <a:spcBef>
                <a:spcPts val="600"/>
              </a:spcBef>
              <a:spcAft>
                <a:spcPts val="0"/>
              </a:spcAft>
              <a:buFont typeface="+mj-lt"/>
              <a:buAutoNum type="arabicPeriod"/>
            </a:pPr>
            <a:r>
              <a:rPr lang="en-US" sz="2000" dirty="0"/>
              <a:t>What is the chance that a new investment will be profitable</a:t>
            </a:r>
          </a:p>
          <a:p>
            <a:pPr>
              <a:lnSpc>
                <a:spcPct val="100000"/>
              </a:lnSpc>
              <a:spcBef>
                <a:spcPts val="1200"/>
              </a:spcBef>
              <a:spcAft>
                <a:spcPts val="0"/>
              </a:spcAft>
            </a:pPr>
            <a:r>
              <a:rPr lang="en-US" sz="2000" b="1" dirty="0"/>
              <a:t>Probability</a:t>
            </a:r>
            <a:r>
              <a:rPr lang="en-US" sz="2000" dirty="0"/>
              <a:t> is a numerical measure of the likelihood that an event will occur. </a:t>
            </a:r>
          </a:p>
          <a:p>
            <a:pPr>
              <a:lnSpc>
                <a:spcPct val="100000"/>
              </a:lnSpc>
              <a:spcBef>
                <a:spcPts val="600"/>
              </a:spcBef>
              <a:spcAft>
                <a:spcPts val="0"/>
              </a:spcAft>
            </a:pPr>
            <a:r>
              <a:rPr lang="en-US" sz="2000" dirty="0"/>
              <a:t>Probability values are always assigned on a scale from 0 to 1:</a:t>
            </a:r>
          </a:p>
          <a:p>
            <a:pPr marL="630238" indent="-342900">
              <a:lnSpc>
                <a:spcPct val="100000"/>
              </a:lnSpc>
              <a:spcBef>
                <a:spcPts val="600"/>
              </a:spcBef>
              <a:spcAft>
                <a:spcPts val="0"/>
              </a:spcAft>
              <a:buFont typeface="Arial" panose="020B0604020202020204" pitchFamily="34" charset="0"/>
              <a:buChar char="•"/>
            </a:pPr>
            <a:r>
              <a:rPr lang="en-US" sz="2000" dirty="0"/>
              <a:t>A probability near zero indicates an event is quite unlikely to occur. </a:t>
            </a:r>
          </a:p>
          <a:p>
            <a:pPr marL="630238" indent="-342900">
              <a:lnSpc>
                <a:spcPct val="100000"/>
              </a:lnSpc>
              <a:spcBef>
                <a:spcPts val="600"/>
              </a:spcBef>
              <a:spcAft>
                <a:spcPts val="0"/>
              </a:spcAft>
              <a:buFont typeface="Arial" panose="020B0604020202020204" pitchFamily="34" charset="0"/>
              <a:buChar char="•"/>
            </a:pPr>
            <a:r>
              <a:rPr lang="en-US" sz="2000" dirty="0"/>
              <a:t>A probability near one indicates an event is almost certain to occur.</a:t>
            </a:r>
          </a:p>
          <a:p>
            <a:pPr marL="630238" indent="-342900">
              <a:lnSpc>
                <a:spcPct val="100000"/>
              </a:lnSpc>
              <a:spcBef>
                <a:spcPts val="600"/>
              </a:spcBef>
              <a:spcAft>
                <a:spcPts val="0"/>
              </a:spcAft>
              <a:buFont typeface="Arial" panose="020B0604020202020204" pitchFamily="34" charset="0"/>
              <a:buChar char="•"/>
            </a:pPr>
            <a:r>
              <a:rPr lang="en-US" sz="2000" dirty="0"/>
              <a:t>Other probabilities between 0 and 1 represent degrees of likelihood that an event will occur.</a:t>
            </a:r>
          </a:p>
        </p:txBody>
      </p:sp>
    </p:spTree>
    <p:extLst>
      <p:ext uri="{BB962C8B-B14F-4D97-AF65-F5344CB8AC3E}">
        <p14:creationId xmlns:p14="http://schemas.microsoft.com/office/powerpoint/2010/main" val="257581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70CF9-E757-393C-007C-F14651078F48}"/>
              </a:ext>
            </a:extLst>
          </p:cNvPr>
          <p:cNvSpPr>
            <a:spLocks noGrp="1"/>
          </p:cNvSpPr>
          <p:nvPr>
            <p:ph type="title"/>
          </p:nvPr>
        </p:nvSpPr>
        <p:spPr/>
        <p:txBody>
          <a:bodyPr/>
          <a:lstStyle/>
          <a:p>
            <a:r>
              <a:rPr lang="en-US" sz="3200" dirty="0">
                <a:solidFill>
                  <a:srgbClr val="D14B1E"/>
                </a:solidFill>
              </a:rPr>
              <a:t>4.1 Experiments, Counting Rules, and Assigning Probabilities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8CFD846-F036-1C7E-2AC0-253F15C48A9A}"/>
                  </a:ext>
                </a:extLst>
              </p:cNvPr>
              <p:cNvSpPr>
                <a:spLocks noGrp="1"/>
              </p:cNvSpPr>
              <p:nvPr>
                <p:ph type="body" sz="quarter" idx="15"/>
              </p:nvPr>
            </p:nvSpPr>
            <p:spPr>
              <a:xfrm>
                <a:off x="740228" y="1504410"/>
                <a:ext cx="10711543" cy="4327634"/>
              </a:xfrm>
            </p:spPr>
            <p:txBody>
              <a:bodyPr/>
              <a:lstStyle/>
              <a:p>
                <a:pPr>
                  <a:spcBef>
                    <a:spcPts val="600"/>
                  </a:spcBef>
                </a:pPr>
                <a:r>
                  <a:rPr lang="en-US" sz="2000" dirty="0"/>
                  <a:t>A </a:t>
                </a:r>
                <a:r>
                  <a:rPr lang="en-US" sz="2000" b="1" dirty="0"/>
                  <a:t>Random experiment </a:t>
                </a:r>
                <a:r>
                  <a:rPr lang="en-US" sz="2000" dirty="0"/>
                  <a:t>is a process that generates </a:t>
                </a:r>
                <a:r>
                  <a:rPr lang="en-US" sz="2000" i="1" dirty="0"/>
                  <a:t>experimental outcomes</a:t>
                </a:r>
                <a:r>
                  <a:rPr lang="en-US" sz="2000" dirty="0"/>
                  <a:t>, and possesses the following properties (*see notes):</a:t>
                </a:r>
              </a:p>
              <a:p>
                <a:pPr marL="914400" indent="-457200">
                  <a:spcBef>
                    <a:spcPts val="600"/>
                  </a:spcBef>
                  <a:buFont typeface="+mj-lt"/>
                  <a:buAutoNum type="arabicPeriod"/>
                </a:pPr>
                <a:r>
                  <a:rPr lang="en-US" sz="2000" dirty="0"/>
                  <a:t>The experimental outcomes are well-defined and may also be listed prior to conducting the experiment.</a:t>
                </a:r>
              </a:p>
              <a:p>
                <a:pPr marL="914400" indent="-457200">
                  <a:spcBef>
                    <a:spcPts val="600"/>
                  </a:spcBef>
                  <a:buFont typeface="+mj-lt"/>
                  <a:buAutoNum type="arabicPeriod"/>
                </a:pPr>
                <a:r>
                  <a:rPr lang="en-US" sz="2000" dirty="0"/>
                  <a:t>On any single repetition (</a:t>
                </a:r>
                <a:r>
                  <a:rPr lang="en-US" sz="2000" i="1" dirty="0"/>
                  <a:t>trial</a:t>
                </a:r>
                <a:r>
                  <a:rPr lang="en-US" sz="2000" dirty="0"/>
                  <a:t>) of the experiment, one and only one of the possible experimental outcomes will occur.</a:t>
                </a:r>
              </a:p>
              <a:p>
                <a:pPr marL="914400" indent="-457200">
                  <a:spcBef>
                    <a:spcPts val="600"/>
                  </a:spcBef>
                  <a:spcAft>
                    <a:spcPts val="600"/>
                  </a:spcAft>
                  <a:buFont typeface="+mj-lt"/>
                  <a:buAutoNum type="arabicPeriod"/>
                </a:pPr>
                <a:r>
                  <a:rPr lang="en-US" sz="2000" dirty="0"/>
                  <a:t>The experimental outcome that occurs on any trial is determined solely by chance.</a:t>
                </a:r>
              </a:p>
              <a:p>
                <a:pPr>
                  <a:spcBef>
                    <a:spcPts val="600"/>
                  </a:spcBef>
                </a:pPr>
                <a:r>
                  <a:rPr lang="en-US" sz="2000" dirty="0"/>
                  <a:t>An experimental outcome is also called a </a:t>
                </a:r>
                <a:r>
                  <a:rPr lang="en-US" sz="2000" b="1" dirty="0"/>
                  <a:t>sample point</a:t>
                </a:r>
                <a:r>
                  <a:rPr lang="en-US" sz="2000" dirty="0"/>
                  <a:t>. The </a:t>
                </a:r>
                <a:r>
                  <a:rPr lang="en-US" sz="2000" b="1" dirty="0"/>
                  <a:t>sample space</a:t>
                </a:r>
                <a:r>
                  <a:rPr lang="en-US" sz="2000" dirty="0"/>
                  <a:t>, </a:t>
                </a:r>
                <a:r>
                  <a:rPr lang="en-US" sz="2000" i="1" dirty="0"/>
                  <a:t>S</a:t>
                </a:r>
                <a:r>
                  <a:rPr lang="en-US" sz="2000" dirty="0"/>
                  <a:t>,</a:t>
                </a:r>
                <a:r>
                  <a:rPr lang="en-US" sz="2000" b="1" dirty="0"/>
                  <a:t> </a:t>
                </a:r>
                <a:r>
                  <a:rPr lang="en-US" sz="2000" dirty="0"/>
                  <a:t>for an experiment is the set of all experimental outcomes.</a:t>
                </a:r>
              </a:p>
              <a:p>
                <a:pPr>
                  <a:spcBef>
                    <a:spcPts val="600"/>
                  </a:spcBef>
                </a:pPr>
                <a:r>
                  <a:rPr lang="en-US" sz="2000" dirty="0"/>
                  <a:t>Example: consider the random experiment of tossing a coin.</a:t>
                </a:r>
              </a:p>
              <a:p>
                <a:pPr marL="914400" indent="-457200">
                  <a:spcBef>
                    <a:spcPts val="600"/>
                  </a:spcBef>
                  <a:buFont typeface="Arial" panose="020B0604020202020204" pitchFamily="34" charset="0"/>
                  <a:buChar char="•"/>
                </a:pPr>
                <a:r>
                  <a:rPr lang="en-US" sz="2000" dirty="0"/>
                  <a:t>The experimental outcomes (sample points) are Head and Tail.</a:t>
                </a:r>
              </a:p>
              <a:p>
                <a:pPr marL="914400" indent="-457200">
                  <a:spcBef>
                    <a:spcPts val="600"/>
                  </a:spcBef>
                  <a:buFont typeface="Arial" panose="020B0604020202020204" pitchFamily="34" charset="0"/>
                  <a:buChar char="•"/>
                </a:pPr>
                <a:r>
                  <a:rPr lang="en-US" sz="2000" dirty="0"/>
                  <a:t>The sample space is: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b="0" i="0" smtClean="0">
                            <a:latin typeface="Cambria Math" panose="02040503050406030204" pitchFamily="18" charset="0"/>
                          </a:rPr>
                          <m:t>Head</m:t>
                        </m:r>
                        <m:r>
                          <m:rPr>
                            <m:nor/>
                          </m:rPr>
                          <a:rPr lang="en-US" sz="2000" b="0" i="0" smtClean="0">
                            <a:latin typeface="Cambria Math" panose="02040503050406030204" pitchFamily="18" charset="0"/>
                          </a:rPr>
                          <m:t>, </m:t>
                        </m:r>
                        <m:r>
                          <m:rPr>
                            <m:nor/>
                          </m:rPr>
                          <a:rPr lang="en-US" sz="2000" b="0" i="0" smtClean="0">
                            <a:latin typeface="Cambria Math" panose="02040503050406030204" pitchFamily="18" charset="0"/>
                          </a:rPr>
                          <m:t>Tail</m:t>
                        </m:r>
                      </m:e>
                    </m:d>
                  </m:oMath>
                </a14:m>
                <a:endParaRPr lang="en-US" sz="2000" dirty="0"/>
              </a:p>
              <a:p>
                <a:pPr>
                  <a:spcBef>
                    <a:spcPts val="600"/>
                  </a:spcBef>
                </a:pPr>
                <a:endParaRPr lang="en-US" sz="2000" dirty="0"/>
              </a:p>
            </p:txBody>
          </p:sp>
        </mc:Choice>
        <mc:Fallback xmlns="">
          <p:sp>
            <p:nvSpPr>
              <p:cNvPr id="3" name="Text Placeholder 2">
                <a:extLst>
                  <a:ext uri="{FF2B5EF4-FFF2-40B4-BE49-F238E27FC236}">
                    <a16:creationId xmlns:a16="http://schemas.microsoft.com/office/drawing/2014/main" id="{98CFD846-F036-1C7E-2AC0-253F15C48A9A}"/>
                  </a:ext>
                </a:extLst>
              </p:cNvPr>
              <p:cNvSpPr>
                <a:spLocks noGrp="1" noRot="1" noChangeAspect="1" noMove="1" noResize="1" noEditPoints="1" noAdjustHandles="1" noChangeArrowheads="1" noChangeShapeType="1" noTextEdit="1"/>
              </p:cNvSpPr>
              <p:nvPr>
                <p:ph type="body" sz="quarter" idx="15"/>
              </p:nvPr>
            </p:nvSpPr>
            <p:spPr>
              <a:xfrm>
                <a:off x="740228" y="1504410"/>
                <a:ext cx="10711543" cy="4327634"/>
              </a:xfrm>
              <a:blipFill>
                <a:blip r:embed="rId3"/>
                <a:stretch>
                  <a:fillRect l="-1422" t="-1690" r="-1650" b="-2254"/>
                </a:stretch>
              </a:blipFill>
            </p:spPr>
            <p:txBody>
              <a:bodyPr/>
              <a:lstStyle/>
              <a:p>
                <a:r>
                  <a:rPr lang="en-US">
                    <a:noFill/>
                  </a:rPr>
                  <a:t> </a:t>
                </a:r>
              </a:p>
            </p:txBody>
          </p:sp>
        </mc:Fallback>
      </mc:AlternateContent>
    </p:spTree>
    <p:extLst>
      <p:ext uri="{BB962C8B-B14F-4D97-AF65-F5344CB8AC3E}">
        <p14:creationId xmlns:p14="http://schemas.microsoft.com/office/powerpoint/2010/main" val="698248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E7C52-2A33-E948-37AA-8C6083F62B0E}"/>
              </a:ext>
            </a:extLst>
          </p:cNvPr>
          <p:cNvSpPr>
            <a:spLocks noGrp="1"/>
          </p:cNvSpPr>
          <p:nvPr>
            <p:ph type="title"/>
          </p:nvPr>
        </p:nvSpPr>
        <p:spPr/>
        <p:txBody>
          <a:bodyPr/>
          <a:lstStyle/>
          <a:p>
            <a:r>
              <a:rPr lang="en-US" dirty="0"/>
              <a:t>4.1 Counting Rule for Multiple-Step Experiments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3C5B936-5360-1497-7E55-50A28196393F}"/>
                  </a:ext>
                </a:extLst>
              </p:cNvPr>
              <p:cNvSpPr>
                <a:spLocks noGrp="1"/>
              </p:cNvSpPr>
              <p:nvPr>
                <p:ph type="body" sz="quarter" idx="15"/>
              </p:nvPr>
            </p:nvSpPr>
            <p:spPr>
              <a:xfrm>
                <a:off x="743576" y="1324300"/>
                <a:ext cx="10610223" cy="4548352"/>
              </a:xfrm>
            </p:spPr>
            <p:txBody>
              <a:bodyPr/>
              <a:lstStyle/>
              <a:p>
                <a:r>
                  <a:rPr lang="en-US" sz="2000" dirty="0"/>
                  <a:t>A </a:t>
                </a:r>
                <a:r>
                  <a:rPr lang="en-US" sz="2000" b="1" dirty="0"/>
                  <a:t>multiple-step experiment </a:t>
                </a:r>
                <a:r>
                  <a:rPr lang="en-US" sz="2000" dirty="0"/>
                  <a:t>can be described as a sequence of </a:t>
                </a:r>
                <a:r>
                  <a:rPr lang="en-US" sz="2000" i="1" dirty="0"/>
                  <a:t>k</a:t>
                </a:r>
                <a:r>
                  <a:rPr lang="en-US" sz="2000" dirty="0"/>
                  <a:t> steps with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𝑛</m:t>
                        </m:r>
                      </m:e>
                      <m:sub>
                        <m:r>
                          <a:rPr lang="en-US" sz="2000" b="0" i="1" dirty="0" smtClean="0">
                            <a:latin typeface="Cambria Math" panose="02040503050406030204" pitchFamily="18" charset="0"/>
                          </a:rPr>
                          <m:t>1</m:t>
                        </m:r>
                      </m:sub>
                    </m:sSub>
                  </m:oMath>
                </a14:m>
                <a:r>
                  <a:rPr lang="en-US" sz="2000" dirty="0"/>
                  <a:t> possible outcomes on the first step, </a:t>
                </a:r>
                <a14:m>
                  <m:oMath xmlns:m="http://schemas.openxmlformats.org/officeDocument/2006/math">
                    <m:sSub>
                      <m:sSubPr>
                        <m:ctrlPr>
                          <a:rPr lang="en-US" sz="2000" i="1" dirty="0">
                            <a:latin typeface="Cambria Math" panose="02040503050406030204" pitchFamily="18" charset="0"/>
                          </a:rPr>
                        </m:ctrlPr>
                      </m:sSubPr>
                      <m:e>
                        <m:r>
                          <a:rPr lang="en-US" sz="2000" b="0" i="1" dirty="0">
                            <a:latin typeface="Cambria Math" panose="02040503050406030204" pitchFamily="18" charset="0"/>
                          </a:rPr>
                          <m:t>𝑛</m:t>
                        </m:r>
                      </m:e>
                      <m:sub>
                        <m:r>
                          <a:rPr lang="en-US" sz="2000" b="0" i="1" dirty="0">
                            <a:latin typeface="Cambria Math" panose="02040503050406030204" pitchFamily="18" charset="0"/>
                          </a:rPr>
                          <m:t>2</m:t>
                        </m:r>
                      </m:sub>
                    </m:sSub>
                  </m:oMath>
                </a14:m>
                <a:r>
                  <a:rPr lang="en-US" sz="2000" dirty="0"/>
                  <a:t> possible outcomes on the second step, and so on. </a:t>
                </a:r>
              </a:p>
              <a:p>
                <a:r>
                  <a:rPr lang="en-US" sz="2000" dirty="0"/>
                  <a:t>The total number of experimental outcomes is given by </a:t>
                </a:r>
                <a14:m>
                  <m:oMath xmlns:m="http://schemas.openxmlformats.org/officeDocument/2006/math">
                    <m:r>
                      <a:rPr lang="en-US" sz="2000" b="1" i="1" dirty="0" smtClean="0">
                        <a:latin typeface="Cambria Math" panose="02040503050406030204" pitchFamily="18" charset="0"/>
                      </a:rPr>
                      <m:t>(</m:t>
                    </m:r>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𝒏</m:t>
                        </m:r>
                      </m:e>
                      <m:sub>
                        <m:r>
                          <a:rPr lang="en-US" sz="2000" b="1" i="1" dirty="0" smtClean="0">
                            <a:latin typeface="Cambria Math" panose="02040503050406030204" pitchFamily="18" charset="0"/>
                          </a:rPr>
                          <m:t>𝟏</m:t>
                        </m:r>
                      </m:sub>
                    </m:sSub>
                    <m:r>
                      <a:rPr lang="en-US" sz="2000" b="1" i="1" dirty="0" smtClean="0">
                        <a:latin typeface="Cambria Math" panose="02040503050406030204" pitchFamily="18" charset="0"/>
                      </a:rPr>
                      <m:t>)(</m:t>
                    </m:r>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𝒏</m:t>
                        </m:r>
                      </m:e>
                      <m:sub>
                        <m:r>
                          <a:rPr lang="en-US" sz="2000" b="1" i="1" dirty="0" smtClean="0">
                            <a:latin typeface="Cambria Math" panose="02040503050406030204" pitchFamily="18" charset="0"/>
                          </a:rPr>
                          <m:t>𝟐</m:t>
                        </m:r>
                      </m:sub>
                    </m:sSub>
                    <m:r>
                      <a:rPr lang="en-US" sz="2000" b="1" i="1" dirty="0" smtClean="0">
                        <a:latin typeface="Cambria Math" panose="02040503050406030204" pitchFamily="18" charset="0"/>
                      </a:rPr>
                      <m:t>) . . . (</m:t>
                    </m:r>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𝒏</m:t>
                        </m:r>
                      </m:e>
                      <m:sub>
                        <m:r>
                          <a:rPr lang="en-US" sz="2000" b="1" i="1" dirty="0" smtClean="0">
                            <a:latin typeface="Cambria Math" panose="02040503050406030204" pitchFamily="18" charset="0"/>
                          </a:rPr>
                          <m:t>𝒌</m:t>
                        </m:r>
                      </m:sub>
                    </m:sSub>
                    <m:r>
                      <a:rPr lang="en-US" sz="2000" b="1" i="1" dirty="0" smtClean="0">
                        <a:latin typeface="Cambria Math" panose="02040503050406030204" pitchFamily="18" charset="0"/>
                      </a:rPr>
                      <m:t>)</m:t>
                    </m:r>
                  </m:oMath>
                </a14:m>
                <a:r>
                  <a:rPr lang="en-US" sz="2000" dirty="0"/>
                  <a:t>.</a:t>
                </a:r>
              </a:p>
              <a:p>
                <a:r>
                  <a:rPr lang="en-US" sz="2000" dirty="0"/>
                  <a:t>As an example, consider the random experiment of tossing two coins, one at a time.</a:t>
                </a:r>
              </a:p>
              <a:p>
                <a:r>
                  <a:rPr lang="en-US" sz="2000" dirty="0"/>
                  <a:t>The first tossed coin has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𝑛</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=2</m:t>
                    </m:r>
                  </m:oMath>
                </a14:m>
                <a:r>
                  <a:rPr lang="en-US" sz="2000" dirty="0"/>
                  <a:t> outcomes, and the</a:t>
                </a:r>
              </a:p>
              <a:p>
                <a:pPr>
                  <a:spcBef>
                    <a:spcPts val="0"/>
                  </a:spcBef>
                </a:pPr>
                <a:r>
                  <a:rPr lang="en-US" sz="2000" dirty="0"/>
                  <a:t>second tossed coin has also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𝑛</m:t>
                        </m:r>
                      </m:e>
                      <m:sub>
                        <m:r>
                          <a:rPr lang="en-US" sz="2000" b="0" i="1" dirty="0" smtClean="0">
                            <a:latin typeface="Cambria Math" panose="02040503050406030204" pitchFamily="18" charset="0"/>
                          </a:rPr>
                          <m:t>2</m:t>
                        </m:r>
                      </m:sub>
                    </m:sSub>
                    <m:r>
                      <a:rPr lang="en-US" sz="2000" b="0" i="1" dirty="0" smtClean="0">
                        <a:latin typeface="Cambria Math" panose="02040503050406030204" pitchFamily="18" charset="0"/>
                      </a:rPr>
                      <m:t>=2</m:t>
                    </m:r>
                  </m:oMath>
                </a14:m>
                <a:r>
                  <a:rPr lang="en-US" sz="2000" dirty="0"/>
                  <a:t> outcomes.</a:t>
                </a:r>
              </a:p>
              <a:p>
                <a:pPr>
                  <a:spcAft>
                    <a:spcPts val="600"/>
                  </a:spcAft>
                </a:pPr>
                <a:r>
                  <a:rPr lang="en-US" sz="2000" dirty="0"/>
                  <a:t>From the counting rule, we have: </a:t>
                </a:r>
              </a:p>
              <a:p>
                <a:pPr marL="457200">
                  <a:spcBef>
                    <a:spcPts val="0"/>
                  </a:spcBef>
                </a:pPr>
                <a14:m>
                  <m:oMath xmlns:m="http://schemas.openxmlformats.org/officeDocument/2006/math">
                    <m:d>
                      <m:dPr>
                        <m:ctrlPr>
                          <a:rPr lang="en-US" sz="2000" i="1" dirty="0" smtClean="0">
                            <a:latin typeface="Cambria Math" panose="02040503050406030204" pitchFamily="18" charset="0"/>
                          </a:rPr>
                        </m:ctrlPr>
                      </m:dPr>
                      <m:e>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𝑛</m:t>
                            </m:r>
                          </m:e>
                          <m:sub>
                            <m:r>
                              <a:rPr lang="en-US" sz="2000" b="0" i="1" dirty="0" smtClean="0">
                                <a:latin typeface="Cambria Math" panose="02040503050406030204" pitchFamily="18" charset="0"/>
                              </a:rPr>
                              <m:t>1</m:t>
                            </m:r>
                          </m:sub>
                        </m:sSub>
                      </m:e>
                    </m:d>
                    <m:d>
                      <m:dPr>
                        <m:ctrlPr>
                          <a:rPr lang="en-US" sz="2000" b="0" i="1" dirty="0" smtClean="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𝑛</m:t>
                            </m:r>
                          </m:e>
                          <m:sub>
                            <m:r>
                              <a:rPr lang="en-US" sz="2000" b="0" i="1" dirty="0" smtClean="0">
                                <a:latin typeface="Cambria Math" panose="02040503050406030204" pitchFamily="18" charset="0"/>
                              </a:rPr>
                              <m:t>2</m:t>
                            </m:r>
                          </m:sub>
                        </m:sSub>
                      </m:e>
                    </m:d>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m:t>
                        </m:r>
                      </m:e>
                    </m:d>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m:t>
                        </m:r>
                      </m:e>
                    </m:d>
                    <m:r>
                      <a:rPr lang="en-US" sz="2000" b="0" i="1" dirty="0" smtClean="0">
                        <a:latin typeface="Cambria Math" panose="02040503050406030204" pitchFamily="18" charset="0"/>
                      </a:rPr>
                      <m:t>=4</m:t>
                    </m:r>
                  </m:oMath>
                </a14:m>
                <a:r>
                  <a:rPr lang="en-US" sz="2000" dirty="0"/>
                  <a:t> experimental outcomes</a:t>
                </a:r>
              </a:p>
              <a:p>
                <a:pPr>
                  <a:spcAft>
                    <a:spcPts val="600"/>
                  </a:spcAft>
                </a:pPr>
                <a:r>
                  <a:rPr lang="en-US" sz="2000" dirty="0"/>
                  <a:t>The sample space is :</a:t>
                </a:r>
              </a:p>
              <a:p>
                <a:pPr marL="457200"/>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a:latin typeface="Cambria Math" panose="02040503050406030204" pitchFamily="18" charset="0"/>
                            </a:rPr>
                            <m:t>(</m:t>
                          </m:r>
                          <m:r>
                            <m:rPr>
                              <m:nor/>
                            </m:rPr>
                            <a:rPr lang="en-US" sz="2000">
                              <a:latin typeface="Cambria Math" panose="02040503050406030204" pitchFamily="18" charset="0"/>
                            </a:rPr>
                            <m:t>H</m:t>
                          </m:r>
                          <m:r>
                            <m:rPr>
                              <m:nor/>
                            </m:rPr>
                            <a:rPr lang="en-US" sz="2000">
                              <a:latin typeface="Cambria Math" panose="02040503050406030204" pitchFamily="18" charset="0"/>
                            </a:rPr>
                            <m:t>, </m:t>
                          </m:r>
                          <m:r>
                            <m:rPr>
                              <m:nor/>
                            </m:rPr>
                            <a:rPr lang="en-US" sz="2000" b="0" i="0" smtClean="0">
                              <a:latin typeface="Cambria Math" panose="02040503050406030204" pitchFamily="18" charset="0"/>
                            </a:rPr>
                            <m:t>H</m:t>
                          </m:r>
                          <m:r>
                            <m:rPr>
                              <m:nor/>
                            </m:rPr>
                            <a:rPr lang="en-US" sz="2000">
                              <a:latin typeface="Cambria Math" panose="02040503050406030204" pitchFamily="18" charset="0"/>
                            </a:rPr>
                            <m:t>)</m:t>
                          </m:r>
                          <m:r>
                            <m:rPr>
                              <m:nor/>
                            </m:rPr>
                            <a:rPr lang="en-US" sz="2000" b="0" i="0" smtClean="0">
                              <a:latin typeface="Cambria Math" panose="02040503050406030204" pitchFamily="18" charset="0"/>
                            </a:rPr>
                            <m:t>,</m:t>
                          </m:r>
                          <m:r>
                            <m:rPr>
                              <m:nor/>
                            </m:rPr>
                            <a:rPr lang="en-US" sz="2000">
                              <a:latin typeface="Cambria Math" panose="02040503050406030204" pitchFamily="18" charset="0"/>
                            </a:rPr>
                            <m:t>(</m:t>
                          </m:r>
                          <m:r>
                            <m:rPr>
                              <m:nor/>
                            </m:rPr>
                            <a:rPr lang="en-US" sz="2000">
                              <a:latin typeface="Cambria Math" panose="02040503050406030204" pitchFamily="18" charset="0"/>
                            </a:rPr>
                            <m:t>H</m:t>
                          </m:r>
                          <m:r>
                            <m:rPr>
                              <m:nor/>
                            </m:rPr>
                            <a:rPr lang="en-US" sz="2000">
                              <a:latin typeface="Cambria Math" panose="02040503050406030204" pitchFamily="18" charset="0"/>
                            </a:rPr>
                            <m:t>, </m:t>
                          </m:r>
                          <m:r>
                            <m:rPr>
                              <m:nor/>
                            </m:rPr>
                            <a:rPr lang="en-US" sz="2000" b="0" i="0" smtClean="0">
                              <a:latin typeface="Cambria Math" panose="02040503050406030204" pitchFamily="18" charset="0"/>
                            </a:rPr>
                            <m:t>T</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T</m:t>
                          </m:r>
                          <m:r>
                            <m:rPr>
                              <m:nor/>
                            </m:rPr>
                            <a:rPr lang="en-US" sz="2000">
                              <a:latin typeface="Cambria Math" panose="02040503050406030204" pitchFamily="18" charset="0"/>
                            </a:rPr>
                            <m:t>, </m:t>
                          </m:r>
                          <m:r>
                            <m:rPr>
                              <m:nor/>
                            </m:rPr>
                            <a:rPr lang="en-US" sz="2000">
                              <a:latin typeface="Cambria Math" panose="02040503050406030204" pitchFamily="18" charset="0"/>
                            </a:rPr>
                            <m:t>H</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T</m:t>
                          </m:r>
                          <m:r>
                            <m:rPr>
                              <m:nor/>
                            </m:rPr>
                            <a:rPr lang="en-US" sz="2000">
                              <a:latin typeface="Cambria Math" panose="02040503050406030204" pitchFamily="18" charset="0"/>
                            </a:rPr>
                            <m:t>, </m:t>
                          </m:r>
                          <m:r>
                            <m:rPr>
                              <m:nor/>
                            </m:rPr>
                            <a:rPr lang="en-US" sz="2000" b="0" i="0" smtClean="0">
                              <a:latin typeface="Cambria Math" panose="02040503050406030204" pitchFamily="18" charset="0"/>
                            </a:rPr>
                            <m:t>T</m:t>
                          </m:r>
                          <m:r>
                            <m:rPr>
                              <m:nor/>
                            </m:rPr>
                            <a:rPr lang="en-US" sz="2000">
                              <a:latin typeface="Cambria Math" panose="02040503050406030204" pitchFamily="18" charset="0"/>
                            </a:rPr>
                            <m:t>)</m:t>
                          </m:r>
                        </m:e>
                      </m:d>
                    </m:oMath>
                  </m:oMathPara>
                </a14:m>
                <a:endParaRPr lang="en-US" sz="2000" dirty="0"/>
              </a:p>
              <a:p>
                <a:r>
                  <a:rPr lang="en-US" sz="2000" dirty="0"/>
                  <a:t>The </a:t>
                </a:r>
                <a:r>
                  <a:rPr lang="en-US" sz="2000" b="1" dirty="0"/>
                  <a:t>tree diagram </a:t>
                </a:r>
                <a:r>
                  <a:rPr lang="en-US" sz="2000" dirty="0"/>
                  <a:t>for the two-coin toss shown to the</a:t>
                </a:r>
              </a:p>
              <a:p>
                <a:pPr>
                  <a:spcBef>
                    <a:spcPts val="0"/>
                  </a:spcBef>
                </a:pPr>
                <a:r>
                  <a:rPr lang="en-US" sz="2000" dirty="0"/>
                  <a:t>right is a graphical representation that helps visualizing</a:t>
                </a:r>
              </a:p>
              <a:p>
                <a:pPr>
                  <a:spcBef>
                    <a:spcPts val="0"/>
                  </a:spcBef>
                </a:pPr>
                <a:r>
                  <a:rPr lang="en-US" sz="2000" dirty="0"/>
                  <a:t>a multiple-step experiment.</a:t>
                </a:r>
              </a:p>
            </p:txBody>
          </p:sp>
        </mc:Choice>
        <mc:Fallback xmlns="">
          <p:sp>
            <p:nvSpPr>
              <p:cNvPr id="3" name="Text Placeholder 2">
                <a:extLst>
                  <a:ext uri="{FF2B5EF4-FFF2-40B4-BE49-F238E27FC236}">
                    <a16:creationId xmlns:a16="http://schemas.microsoft.com/office/drawing/2014/main" id="{93C5B936-5360-1497-7E55-50A28196393F}"/>
                  </a:ext>
                </a:extLst>
              </p:cNvPr>
              <p:cNvSpPr>
                <a:spLocks noGrp="1" noRot="1" noChangeAspect="1" noMove="1" noResize="1" noEditPoints="1" noAdjustHandles="1" noChangeArrowheads="1" noChangeShapeType="1" noTextEdit="1"/>
              </p:cNvSpPr>
              <p:nvPr>
                <p:ph type="body" sz="quarter" idx="15"/>
              </p:nvPr>
            </p:nvSpPr>
            <p:spPr>
              <a:xfrm>
                <a:off x="743576" y="1324300"/>
                <a:ext cx="10610223" cy="4548352"/>
              </a:xfrm>
              <a:blipFill>
                <a:blip r:embed="rId2"/>
                <a:stretch>
                  <a:fillRect l="-1494" t="-1609" b="-4155"/>
                </a:stretch>
              </a:blipFill>
            </p:spPr>
            <p:txBody>
              <a:bodyPr/>
              <a:lstStyle/>
              <a:p>
                <a:r>
                  <a:rPr lang="en-US">
                    <a:noFill/>
                  </a:rPr>
                  <a:t> </a:t>
                </a:r>
              </a:p>
            </p:txBody>
          </p:sp>
        </mc:Fallback>
      </mc:AlternateContent>
      <p:pic>
        <p:nvPicPr>
          <p:cNvPr id="6" name="Picture Placeholder 5" descr="A tree diagram shows the experimental outcome when tossing two coins. There are three vertical sections divided by two dashed vertical lines. The first section is titled “Step 1, First Coin.” Two lines radiate from a dot and extend to a dot each on the first dashed vertical line, such that there two dots. The top line is labeled “Head” and the bottom line is labeled “Tail.” The second section is titled “Step 2, Second Coin.” Two lines radiate from each dot on the first dashed line to a dot each on the second dashed line, such that there are four dots. The top and bottom lines from each dot are labeled “Head” and “Tail,” respectively. The third section is titled “Experimental outcome (sample point).” The experimental outcome are as follows: (H, H) for head in both coins, (H, T) for head in the first coin and tail in the second, (T, H) for tail in the first coin and head in the second coin, and (T, T) for tail in both coins.&#10;">
            <a:extLst>
              <a:ext uri="{FF2B5EF4-FFF2-40B4-BE49-F238E27FC236}">
                <a16:creationId xmlns:a16="http://schemas.microsoft.com/office/drawing/2014/main" id="{A89BA7AD-874A-E51B-6D44-EF67E0AC1F68}"/>
              </a:ext>
            </a:extLst>
          </p:cNvPr>
          <p:cNvPicPr>
            <a:picLocks noGrp="1" noChangeAspect="1"/>
          </p:cNvPicPr>
          <p:nvPr>
            <p:ph type="pic" sz="quarter" idx="16"/>
          </p:nvPr>
        </p:nvPicPr>
        <p:blipFill rotWithShape="1">
          <a:blip r:embed="rId3"/>
          <a:srcRect t="17" b="17"/>
          <a:stretch/>
        </p:blipFill>
        <p:spPr>
          <a:xfrm>
            <a:off x="6960145" y="2888039"/>
            <a:ext cx="4314825" cy="2843213"/>
          </a:xfrm>
        </p:spPr>
      </p:pic>
    </p:spTree>
    <p:extLst>
      <p:ext uri="{BB962C8B-B14F-4D97-AF65-F5344CB8AC3E}">
        <p14:creationId xmlns:p14="http://schemas.microsoft.com/office/powerpoint/2010/main" val="1512073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7A23-A565-7EED-3AE6-BE207F25CF21}"/>
              </a:ext>
            </a:extLst>
          </p:cNvPr>
          <p:cNvSpPr>
            <a:spLocks noGrp="1"/>
          </p:cNvSpPr>
          <p:nvPr>
            <p:ph type="title"/>
          </p:nvPr>
        </p:nvSpPr>
        <p:spPr/>
        <p:txBody>
          <a:bodyPr/>
          <a:lstStyle/>
          <a:p>
            <a:r>
              <a:rPr lang="en-US" dirty="0"/>
              <a:t>4.1 The KP&amp;L Project: a Multiple-Step Experiment</a:t>
            </a:r>
          </a:p>
        </p:txBody>
      </p:sp>
      <p:sp>
        <p:nvSpPr>
          <p:cNvPr id="3" name="Text Placeholder 2">
            <a:extLst>
              <a:ext uri="{FF2B5EF4-FFF2-40B4-BE49-F238E27FC236}">
                <a16:creationId xmlns:a16="http://schemas.microsoft.com/office/drawing/2014/main" id="{320B67BB-C255-B3AE-EC29-84619D6C9B08}"/>
              </a:ext>
            </a:extLst>
          </p:cNvPr>
          <p:cNvSpPr>
            <a:spLocks noGrp="1"/>
          </p:cNvSpPr>
          <p:nvPr>
            <p:ph type="body" sz="quarter" idx="15"/>
          </p:nvPr>
        </p:nvSpPr>
        <p:spPr>
          <a:xfrm>
            <a:off x="909114" y="1332186"/>
            <a:ext cx="5972533" cy="4580375"/>
          </a:xfrm>
        </p:spPr>
        <p:txBody>
          <a:bodyPr/>
          <a:lstStyle/>
          <a:p>
            <a:r>
              <a:rPr lang="en-US" dirty="0"/>
              <a:t>The KP&amp;L capacity expansion project consists of two sequential stages: design and construction.</a:t>
            </a:r>
          </a:p>
          <a:p>
            <a:r>
              <a:rPr lang="en-US" dirty="0"/>
              <a:t>Management expects the design stage to last 2, 3, or 4 months, the construction stage 6, 7, or 8 months, with an overall completion goal of 10 months.</a:t>
            </a:r>
          </a:p>
          <a:p>
            <a:r>
              <a:rPr lang="en-US" dirty="0"/>
              <a:t>Application of the counting rule for multiple-step experiments reveals a total of (3)(3) = 9  experimental outcomes.</a:t>
            </a:r>
          </a:p>
          <a:p>
            <a:r>
              <a:rPr lang="en-US" dirty="0"/>
              <a:t>The tree diagram to the right shows how the 9 outcomes (sample points) occur and the project completion time for each outcome.</a:t>
            </a:r>
          </a:p>
          <a:p>
            <a:r>
              <a:rPr lang="en-US" dirty="0"/>
              <a:t>We need to assign probabilities to each of the 9 outcomes before we can compute the probability that the project is completed on time.</a:t>
            </a:r>
          </a:p>
        </p:txBody>
      </p:sp>
      <p:pic>
        <p:nvPicPr>
          <p:cNvPr id="7" name="Picture Placeholder 6" descr="A tree diagram shows the total project completion time of K P and L project. There are three vertical sections divided by two dashed vertical lines. The first section is titled “Step 1, Design.” Three lines radiate from a dot and extend to a dot each on the first dashed vertical line, such that there three dots. The top line is labeled “2 months,” the middle line is labeled “3 months,” and the bottom line is labeled “4 months.” The second section is titled “Step 2, Construction.” Three lines radiate from each dot on the first dashed line to a dot each on the second dashed line, such that there are nine dots. The top, middle, and bottom lines from each dot are labeled “6 months,” “7 months,” and “8 months,” respectively. The third section is titled “Experimental outcome (sample point).” The data from the diagram, presented in the format, Step 1, step 2, experimental outcome: Total project completion time, are as follows. 2 months, 6 months, (2, 6): 8 months. 2 months, 7 months, (2, 7): 9 months. 2 months, 8 months, (2, 8): 10 months. 3 months, 6 months, (3, 6): 9 months. 3 months, 7 months, (3, 7): 10 months. 3 months, 8 months, (3, 8): 11 months. 4 months, 6 months, (4, 6): 10 months. 4 months, 7 months, (4, 7): 11 months. 4 months, 8 months, (4, 8): 12 months.&#10;">
            <a:extLst>
              <a:ext uri="{FF2B5EF4-FFF2-40B4-BE49-F238E27FC236}">
                <a16:creationId xmlns:a16="http://schemas.microsoft.com/office/drawing/2014/main" id="{28938A64-AC2D-B6F4-416E-5246CBCCBB6C}"/>
              </a:ext>
            </a:extLst>
          </p:cNvPr>
          <p:cNvPicPr>
            <a:picLocks noGrp="1" noChangeAspect="1"/>
          </p:cNvPicPr>
          <p:nvPr>
            <p:ph type="pic" sz="quarter" idx="17"/>
          </p:nvPr>
        </p:nvPicPr>
        <p:blipFill rotWithShape="1">
          <a:blip r:embed="rId2"/>
          <a:srcRect l="42" r="42"/>
          <a:stretch/>
        </p:blipFill>
        <p:spPr>
          <a:xfrm>
            <a:off x="6880062" y="1387475"/>
            <a:ext cx="4425950" cy="4456113"/>
          </a:xfrm>
        </p:spPr>
      </p:pic>
    </p:spTree>
    <p:extLst>
      <p:ext uri="{BB962C8B-B14F-4D97-AF65-F5344CB8AC3E}">
        <p14:creationId xmlns:p14="http://schemas.microsoft.com/office/powerpoint/2010/main" val="2671685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4.1 Counting Rule for Combinations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6" y="1403131"/>
                <a:ext cx="10711543" cy="4430109"/>
              </a:xfrm>
            </p:spPr>
            <p:txBody>
              <a:bodyPr/>
              <a:lstStyle/>
              <a:p>
                <a:pPr>
                  <a:spcAft>
                    <a:spcPts val="600"/>
                  </a:spcAft>
                </a:pPr>
                <a:r>
                  <a:rPr lang="en-US" sz="2000" dirty="0"/>
                  <a:t>The </a:t>
                </a:r>
                <a:r>
                  <a:rPr lang="en-US" sz="2000" b="1" dirty="0"/>
                  <a:t>counting rule for combinations </a:t>
                </a:r>
                <a:r>
                  <a:rPr lang="en-US" sz="2000" dirty="0"/>
                  <a:t>dictates that the number of combinations</a:t>
                </a:r>
                <a:r>
                  <a:rPr lang="en-US" sz="2000" b="1" dirty="0"/>
                  <a:t> </a:t>
                </a:r>
                <a:r>
                  <a:rPr lang="en-US" sz="2000" dirty="0"/>
                  <a:t>of </a:t>
                </a:r>
                <a:r>
                  <a:rPr lang="en-US" sz="2000" i="1" dirty="0"/>
                  <a:t>n</a:t>
                </a:r>
                <a:r>
                  <a:rPr lang="en-US" sz="2000" dirty="0"/>
                  <a:t> objects taken </a:t>
                </a:r>
                <a:r>
                  <a:rPr lang="en-US" sz="2000" i="1" dirty="0"/>
                  <a:t>x</a:t>
                </a:r>
                <a:r>
                  <a:rPr lang="en-US" sz="2000" dirty="0"/>
                  <a:t> at a time is</a:t>
                </a:r>
              </a:p>
              <a:p>
                <a:pPr marL="914400">
                  <a:spcAft>
                    <a:spcPts val="600"/>
                  </a:spcAft>
                </a:pPr>
                <a14:m>
                  <m:oMathPara xmlns:m="http://schemas.openxmlformats.org/officeDocument/2006/math">
                    <m:oMathParaPr>
                      <m:jc m:val="left"/>
                    </m:oMathParaPr>
                    <m:oMath xmlns:m="http://schemas.openxmlformats.org/officeDocument/2006/math">
                      <m:sSubSup>
                        <m:sSubSupPr>
                          <m:ctrlPr>
                            <a:rPr lang="en-US" sz="2000" b="1" i="1" smtClean="0">
                              <a:latin typeface="Cambria Math" panose="02040503050406030204" pitchFamily="18" charset="0"/>
                            </a:rPr>
                          </m:ctrlPr>
                        </m:sSubSupPr>
                        <m:e>
                          <m:r>
                            <a:rPr lang="en-US" sz="2000" b="1" i="1" smtClean="0">
                              <a:latin typeface="Cambria Math" panose="02040503050406030204" pitchFamily="18" charset="0"/>
                            </a:rPr>
                            <m:t>𝑪</m:t>
                          </m:r>
                        </m:e>
                        <m:sub>
                          <m:r>
                            <a:rPr lang="en-US" sz="2000" b="1" i="1" smtClean="0">
                              <a:latin typeface="Cambria Math" panose="02040503050406030204" pitchFamily="18" charset="0"/>
                            </a:rPr>
                            <m:t>𝒙</m:t>
                          </m:r>
                        </m:sub>
                        <m:sup>
                          <m:r>
                            <a:rPr lang="en-US" sz="2000" b="1" i="1" smtClean="0">
                              <a:latin typeface="Cambria Math" panose="02040503050406030204" pitchFamily="18" charset="0"/>
                            </a:rPr>
                            <m:t>𝒏</m:t>
                          </m:r>
                        </m:sup>
                      </m:sSubSup>
                      <m:r>
                        <a:rPr lang="en-US" sz="2000" b="1" i="1" smtClean="0">
                          <a:latin typeface="Cambria Math" panose="02040503050406030204" pitchFamily="18" charset="0"/>
                        </a:rPr>
                        <m:t>=</m:t>
                      </m:r>
                      <m:d>
                        <m:dPr>
                          <m:ctrlPr>
                            <a:rPr lang="en-US" sz="2000" b="1" i="1" smtClean="0">
                              <a:latin typeface="Cambria Math" panose="02040503050406030204" pitchFamily="18" charset="0"/>
                            </a:rPr>
                          </m:ctrlPr>
                        </m:dPr>
                        <m:e>
                          <m:f>
                            <m:fPr>
                              <m:type m:val="noBar"/>
                              <m:ctrlPr>
                                <a:rPr lang="en-US" sz="2000" b="1" i="1" smtClean="0">
                                  <a:latin typeface="Cambria Math" panose="02040503050406030204" pitchFamily="18" charset="0"/>
                                </a:rPr>
                              </m:ctrlPr>
                            </m:fPr>
                            <m:num>
                              <m:r>
                                <a:rPr lang="en-US" sz="2000" b="1" i="1" smtClean="0">
                                  <a:latin typeface="Cambria Math" panose="02040503050406030204" pitchFamily="18" charset="0"/>
                                </a:rPr>
                                <m:t>𝒏</m:t>
                              </m:r>
                            </m:num>
                            <m:den>
                              <m:r>
                                <a:rPr lang="en-US" sz="2000" b="1" i="1" smtClean="0">
                                  <a:latin typeface="Cambria Math" panose="02040503050406030204" pitchFamily="18" charset="0"/>
                                </a:rPr>
                                <m:t>𝒙</m:t>
                              </m:r>
                            </m:den>
                          </m:f>
                        </m:e>
                      </m:d>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𝒏</m:t>
                          </m:r>
                          <m:r>
                            <a:rPr lang="en-US" sz="2000" b="1" i="1" smtClean="0">
                              <a:latin typeface="Cambria Math" panose="02040503050406030204" pitchFamily="18" charset="0"/>
                            </a:rPr>
                            <m:t>!</m:t>
                          </m:r>
                        </m:num>
                        <m:den>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𝒏</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den>
                      </m:f>
                    </m:oMath>
                  </m:oMathPara>
                </a14:m>
                <a:endParaRPr lang="en-US" sz="2000" b="1" dirty="0"/>
              </a:p>
              <a:p>
                <a:r>
                  <a:rPr lang="en-US" sz="2000" dirty="0"/>
                  <a:t>Example: consider a quality control in which an inspector randomly selects two of five parts to test for defects. In a group of five parts, how many combinations of two parts may be selected?</a:t>
                </a:r>
              </a:p>
              <a:p>
                <a:pPr>
                  <a:spcAft>
                    <a:spcPts val="600"/>
                  </a:spcAft>
                </a:pPr>
                <a:r>
                  <a:rPr lang="en-US" sz="2000" dirty="0"/>
                  <a:t>The counting rule for combinations shows</a:t>
                </a:r>
              </a:p>
              <a:p>
                <a:pPr marL="914400" indent="-914400"/>
                <a14:m>
                  <m:oMathPara xmlns:m="http://schemas.openxmlformats.org/officeDocument/2006/math">
                    <m:oMathParaPr>
                      <m:jc m:val="left"/>
                    </m:oMathParaPr>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𝐶</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5</m:t>
                          </m:r>
                        </m:sup>
                      </m:sSubSup>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f>
                            <m:fPr>
                              <m:type m:val="noBar"/>
                              <m:ctrlPr>
                                <a:rPr lang="en-US" sz="2000" b="0" i="1" smtClean="0">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2</m:t>
                              </m:r>
                            </m:den>
                          </m:f>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2!(5−2!)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(5)(4)(3)(2)(1)</m:t>
                          </m:r>
                        </m:num>
                        <m:den>
                          <m:r>
                            <a:rPr lang="en-US" sz="2000" b="0" i="1" smtClean="0">
                              <a:latin typeface="Cambria Math" panose="02040503050406030204" pitchFamily="18" charset="0"/>
                            </a:rPr>
                            <m:t>(2)(1)(3)(2)(1)</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120</m:t>
                          </m:r>
                        </m:num>
                        <m:den>
                          <m:r>
                            <a:rPr lang="en-US" sz="2000" b="0" i="1" smtClean="0">
                              <a:latin typeface="Cambria Math" panose="02040503050406030204" pitchFamily="18" charset="0"/>
                            </a:rPr>
                            <m:t>12</m:t>
                          </m:r>
                        </m:den>
                      </m:f>
                      <m:r>
                        <a:rPr lang="en-US" sz="2000" b="0" i="1" smtClean="0">
                          <a:latin typeface="Cambria Math" panose="02040503050406030204" pitchFamily="18" charset="0"/>
                        </a:rPr>
                        <m:t>=10 </m:t>
                      </m:r>
                      <m:r>
                        <m:rPr>
                          <m:nor/>
                        </m:rPr>
                        <a:rPr lang="en-US" sz="2000" b="0" i="0" smtClean="0">
                          <a:latin typeface="Arial" panose="020B0604020202020204" pitchFamily="34" charset="0"/>
                          <a:cs typeface="Arial" panose="020B0604020202020204" pitchFamily="34" charset="0"/>
                        </a:rPr>
                        <m:t>outcomes</m:t>
                      </m:r>
                    </m:oMath>
                  </m:oMathPara>
                </a14:m>
                <a:endParaRPr lang="en-US" sz="2000" dirty="0">
                  <a:latin typeface="Arial" panose="020B0604020202020204" pitchFamily="34" charset="0"/>
                  <a:cs typeface="Arial" panose="020B0604020202020204" pitchFamily="34" charset="0"/>
                </a:endParaRPr>
              </a:p>
              <a:p>
                <a:pPr>
                  <a:spcAft>
                    <a:spcPts val="600"/>
                  </a:spcAft>
                </a:pPr>
                <a:r>
                  <a:rPr lang="en-US" sz="2000" dirty="0"/>
                  <a:t>If we label the five parts A, B, C, D, and E, the sample space of the combinations can be represented as</a:t>
                </a: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a:latin typeface="Cambria Math" panose="02040503050406030204" pitchFamily="18" charset="0"/>
                            </a:rPr>
                            <m:t>(</m:t>
                          </m:r>
                          <m:r>
                            <m:rPr>
                              <m:nor/>
                            </m:rPr>
                            <a:rPr lang="en-US" sz="2000" b="0" i="0" smtClean="0">
                              <a:latin typeface="Cambria Math" panose="02040503050406030204" pitchFamily="18" charset="0"/>
                            </a:rPr>
                            <m:t>A</m:t>
                          </m:r>
                          <m:r>
                            <m:rPr>
                              <m:nor/>
                            </m:rPr>
                            <a:rPr lang="en-US" sz="2000">
                              <a:latin typeface="Cambria Math" panose="02040503050406030204" pitchFamily="18" charset="0"/>
                            </a:rPr>
                            <m:t>, </m:t>
                          </m:r>
                          <m:r>
                            <m:rPr>
                              <m:nor/>
                            </m:rPr>
                            <a:rPr lang="en-US" sz="2000" b="0" i="0" smtClean="0">
                              <a:latin typeface="Cambria Math" panose="02040503050406030204" pitchFamily="18" charset="0"/>
                            </a:rPr>
                            <m:t>B</m:t>
                          </m:r>
                          <m:r>
                            <m:rPr>
                              <m:nor/>
                            </m:rPr>
                            <a:rPr lang="en-US" sz="2000">
                              <a:latin typeface="Cambria Math" panose="02040503050406030204" pitchFamily="18" charset="0"/>
                            </a:rPr>
                            <m:t>)</m:t>
                          </m:r>
                          <m:r>
                            <m:rPr>
                              <m:nor/>
                            </m:rPr>
                            <a:rPr lang="en-US" sz="2000" b="0" i="0"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A</m:t>
                          </m:r>
                          <m:r>
                            <m:rPr>
                              <m:nor/>
                            </m:rPr>
                            <a:rPr lang="en-US" sz="2000">
                              <a:latin typeface="Cambria Math" panose="02040503050406030204" pitchFamily="18" charset="0"/>
                            </a:rPr>
                            <m:t>, </m:t>
                          </m:r>
                          <m:r>
                            <m:rPr>
                              <m:nor/>
                            </m:rPr>
                            <a:rPr lang="en-US" sz="2000" b="0" i="0" smtClean="0">
                              <a:latin typeface="Cambria Math" panose="02040503050406030204" pitchFamily="18" charset="0"/>
                            </a:rPr>
                            <m:t>C</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A</m:t>
                          </m:r>
                          <m:r>
                            <m:rPr>
                              <m:nor/>
                            </m:rPr>
                            <a:rPr lang="en-US" sz="2000">
                              <a:latin typeface="Cambria Math" panose="02040503050406030204" pitchFamily="18" charset="0"/>
                            </a:rPr>
                            <m:t>, </m:t>
                          </m:r>
                          <m:r>
                            <m:rPr>
                              <m:nor/>
                            </m:rPr>
                            <a:rPr lang="en-US" sz="2000" b="0" i="0" smtClean="0">
                              <a:latin typeface="Cambria Math" panose="02040503050406030204" pitchFamily="18" charset="0"/>
                            </a:rPr>
                            <m:t>D</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A</m:t>
                          </m:r>
                          <m:r>
                            <m:rPr>
                              <m:nor/>
                            </m:rPr>
                            <a:rPr lang="en-US" sz="2000">
                              <a:latin typeface="Cambria Math" panose="02040503050406030204" pitchFamily="18" charset="0"/>
                            </a:rPr>
                            <m:t>, </m:t>
                          </m:r>
                          <m:r>
                            <m:rPr>
                              <m:nor/>
                            </m:rPr>
                            <a:rPr lang="en-US" sz="2000" b="0" i="0" smtClean="0">
                              <a:latin typeface="Cambria Math" panose="02040503050406030204" pitchFamily="18" charset="0"/>
                            </a:rPr>
                            <m:t>E</m:t>
                          </m:r>
                          <m:r>
                            <m:rPr>
                              <m:nor/>
                            </m:rPr>
                            <a:rPr lang="en-US" sz="2000">
                              <a:latin typeface="Cambria Math" panose="02040503050406030204" pitchFamily="18" charset="0"/>
                            </a:rPr>
                            <m:t>),(</m:t>
                          </m:r>
                          <m:r>
                            <m:rPr>
                              <m:nor/>
                            </m:rPr>
                            <a:rPr lang="en-US" sz="2000" b="0" i="0" smtClean="0">
                              <a:latin typeface="Cambria Math" panose="02040503050406030204" pitchFamily="18" charset="0"/>
                            </a:rPr>
                            <m:t>B</m:t>
                          </m:r>
                          <m:r>
                            <m:rPr>
                              <m:nor/>
                            </m:rPr>
                            <a:rPr lang="en-US" sz="2000">
                              <a:latin typeface="Cambria Math" panose="02040503050406030204" pitchFamily="18" charset="0"/>
                            </a:rPr>
                            <m:t>, </m:t>
                          </m:r>
                          <m:r>
                            <m:rPr>
                              <m:nor/>
                            </m:rPr>
                            <a:rPr lang="en-US" sz="2000">
                              <a:latin typeface="Cambria Math" panose="02040503050406030204" pitchFamily="18" charset="0"/>
                            </a:rPr>
                            <m:t>C</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B</m:t>
                          </m:r>
                          <m:r>
                            <m:rPr>
                              <m:nor/>
                            </m:rPr>
                            <a:rPr lang="en-US" sz="2000">
                              <a:latin typeface="Cambria Math" panose="02040503050406030204" pitchFamily="18" charset="0"/>
                            </a:rPr>
                            <m:t>, </m:t>
                          </m:r>
                          <m:r>
                            <m:rPr>
                              <m:nor/>
                            </m:rPr>
                            <a:rPr lang="en-US" sz="2000">
                              <a:latin typeface="Cambria Math" panose="02040503050406030204" pitchFamily="18" charset="0"/>
                            </a:rPr>
                            <m:t>D</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B</m:t>
                          </m:r>
                          <m:r>
                            <m:rPr>
                              <m:nor/>
                            </m:rPr>
                            <a:rPr lang="en-US" sz="2000">
                              <a:latin typeface="Cambria Math" panose="02040503050406030204" pitchFamily="18" charset="0"/>
                            </a:rPr>
                            <m:t>, </m:t>
                          </m:r>
                          <m:r>
                            <m:rPr>
                              <m:nor/>
                            </m:rPr>
                            <a:rPr lang="en-US" sz="2000">
                              <a:latin typeface="Cambria Math" panose="02040503050406030204" pitchFamily="18" charset="0"/>
                            </a:rPr>
                            <m:t>E</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C</m:t>
                          </m:r>
                          <m:r>
                            <m:rPr>
                              <m:nor/>
                            </m:rPr>
                            <a:rPr lang="en-US" sz="2000">
                              <a:latin typeface="Cambria Math" panose="02040503050406030204" pitchFamily="18" charset="0"/>
                            </a:rPr>
                            <m:t>, </m:t>
                          </m:r>
                          <m:r>
                            <m:rPr>
                              <m:nor/>
                            </m:rPr>
                            <a:rPr lang="en-US" sz="2000">
                              <a:latin typeface="Cambria Math" panose="02040503050406030204" pitchFamily="18" charset="0"/>
                            </a:rPr>
                            <m:t>D</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C</m:t>
                          </m:r>
                          <m:r>
                            <m:rPr>
                              <m:nor/>
                            </m:rPr>
                            <a:rPr lang="en-US" sz="2000">
                              <a:latin typeface="Cambria Math" panose="02040503050406030204" pitchFamily="18" charset="0"/>
                            </a:rPr>
                            <m:t>, </m:t>
                          </m:r>
                          <m:r>
                            <m:rPr>
                              <m:nor/>
                            </m:rPr>
                            <a:rPr lang="en-US" sz="2000">
                              <a:latin typeface="Cambria Math" panose="02040503050406030204" pitchFamily="18" charset="0"/>
                            </a:rPr>
                            <m:t>E</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D</m:t>
                          </m:r>
                          <m:r>
                            <m:rPr>
                              <m:nor/>
                            </m:rPr>
                            <a:rPr lang="en-US" sz="2000">
                              <a:latin typeface="Cambria Math" panose="02040503050406030204" pitchFamily="18" charset="0"/>
                            </a:rPr>
                            <m:t>, </m:t>
                          </m:r>
                          <m:r>
                            <m:rPr>
                              <m:nor/>
                            </m:rPr>
                            <a:rPr lang="en-US" sz="2000">
                              <a:latin typeface="Cambria Math" panose="02040503050406030204" pitchFamily="18" charset="0"/>
                            </a:rPr>
                            <m:t>E</m:t>
                          </m:r>
                          <m:r>
                            <m:rPr>
                              <m:nor/>
                            </m:rPr>
                            <a:rPr lang="en-US" sz="2000">
                              <a:latin typeface="Cambria Math" panose="02040503050406030204" pitchFamily="18" charset="0"/>
                            </a:rPr>
                            <m:t>)</m:t>
                          </m:r>
                        </m:e>
                      </m:d>
                    </m:oMath>
                  </m:oMathPara>
                </a14:m>
                <a:endParaRPr lang="en-US" sz="2000" dirty="0"/>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6" y="1403131"/>
                <a:ext cx="10711543" cy="4430109"/>
              </a:xfrm>
              <a:blipFill>
                <a:blip r:embed="rId2"/>
                <a:stretch>
                  <a:fillRect l="-1480" t="-1651" r="-569" b="-2751"/>
                </a:stretch>
              </a:blipFill>
            </p:spPr>
            <p:txBody>
              <a:bodyPr/>
              <a:lstStyle/>
              <a:p>
                <a:r>
                  <a:rPr lang="en-US">
                    <a:noFill/>
                  </a:rPr>
                  <a:t> </a:t>
                </a:r>
              </a:p>
            </p:txBody>
          </p:sp>
        </mc:Fallback>
      </mc:AlternateContent>
    </p:spTree>
    <p:extLst>
      <p:ext uri="{BB962C8B-B14F-4D97-AF65-F5344CB8AC3E}">
        <p14:creationId xmlns:p14="http://schemas.microsoft.com/office/powerpoint/2010/main" val="953898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4.1 Counting Rule for Permutations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6" y="1355834"/>
                <a:ext cx="10711543" cy="4477406"/>
              </a:xfrm>
            </p:spPr>
            <p:txBody>
              <a:bodyPr/>
              <a:lstStyle/>
              <a:p>
                <a:pPr>
                  <a:spcAft>
                    <a:spcPts val="0"/>
                  </a:spcAft>
                </a:pPr>
                <a:r>
                  <a:rPr lang="en-US" sz="2000" dirty="0"/>
                  <a:t>When the order of selection matters, we can use the </a:t>
                </a:r>
                <a:r>
                  <a:rPr lang="en-US" sz="2000" b="1" dirty="0"/>
                  <a:t>counting rule for permutations</a:t>
                </a:r>
                <a:r>
                  <a:rPr lang="en-US" sz="2000" dirty="0"/>
                  <a:t>.</a:t>
                </a:r>
              </a:p>
              <a:p>
                <a:pPr>
                  <a:spcAft>
                    <a:spcPts val="600"/>
                  </a:spcAft>
                </a:pPr>
                <a:r>
                  <a:rPr lang="en-US" sz="2000" dirty="0"/>
                  <a:t>The number of permutations</a:t>
                </a:r>
                <a:r>
                  <a:rPr lang="en-US" sz="2000" b="1" dirty="0"/>
                  <a:t> </a:t>
                </a:r>
                <a:r>
                  <a:rPr lang="en-US" sz="2000" dirty="0"/>
                  <a:t>of </a:t>
                </a:r>
                <a:r>
                  <a:rPr lang="en-US" sz="2000" i="1" dirty="0"/>
                  <a:t>n</a:t>
                </a:r>
                <a:r>
                  <a:rPr lang="en-US" sz="2000" dirty="0"/>
                  <a:t> objects taken </a:t>
                </a:r>
                <a:r>
                  <a:rPr lang="en-US" sz="2000" i="1" dirty="0"/>
                  <a:t>x</a:t>
                </a:r>
                <a:r>
                  <a:rPr lang="en-US" sz="2000" dirty="0"/>
                  <a:t> at a time is</a:t>
                </a:r>
              </a:p>
              <a:p>
                <a:pPr marL="914400">
                  <a:spcAft>
                    <a:spcPts val="600"/>
                  </a:spcAft>
                </a:pPr>
                <a14:m>
                  <m:oMathPara xmlns:m="http://schemas.openxmlformats.org/officeDocument/2006/math">
                    <m:oMathParaPr>
                      <m:jc m:val="left"/>
                    </m:oMathParaPr>
                    <m:oMath xmlns:m="http://schemas.openxmlformats.org/officeDocument/2006/math">
                      <m:sSubSup>
                        <m:sSubSupPr>
                          <m:ctrlPr>
                            <a:rPr lang="en-US" sz="2000" b="1" i="1" smtClean="0">
                              <a:latin typeface="Cambria Math" panose="02040503050406030204" pitchFamily="18" charset="0"/>
                            </a:rPr>
                          </m:ctrlPr>
                        </m:sSubSupPr>
                        <m:e>
                          <m:r>
                            <a:rPr lang="en-US" sz="2000" b="1" i="1" smtClean="0">
                              <a:latin typeface="Cambria Math" panose="02040503050406030204" pitchFamily="18" charset="0"/>
                            </a:rPr>
                            <m:t>𝑷</m:t>
                          </m:r>
                        </m:e>
                        <m:sub>
                          <m:r>
                            <a:rPr lang="en-US" sz="2000" b="1" i="1" smtClean="0">
                              <a:latin typeface="Cambria Math" panose="02040503050406030204" pitchFamily="18" charset="0"/>
                            </a:rPr>
                            <m:t>𝒙</m:t>
                          </m:r>
                        </m:sub>
                        <m:sup>
                          <m:r>
                            <a:rPr lang="en-US" sz="2000" b="1" i="1" smtClean="0">
                              <a:latin typeface="Cambria Math" panose="02040503050406030204" pitchFamily="18" charset="0"/>
                            </a:rPr>
                            <m:t>𝒏</m:t>
                          </m:r>
                        </m:sup>
                      </m:sSubSup>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𝒏</m:t>
                          </m:r>
                          <m:r>
                            <a:rPr lang="en-US" sz="2000" b="1" i="1" smtClean="0">
                              <a:latin typeface="Cambria Math" panose="02040503050406030204" pitchFamily="18" charset="0"/>
                            </a:rPr>
                            <m:t>!</m:t>
                          </m:r>
                        </m:num>
                        <m:den>
                          <m:r>
                            <a:rPr lang="en-US" sz="2000" b="1" i="1" smtClean="0">
                              <a:latin typeface="Cambria Math" panose="02040503050406030204" pitchFamily="18" charset="0"/>
                            </a:rPr>
                            <m:t> (</m:t>
                          </m:r>
                          <m:r>
                            <a:rPr lang="en-US" sz="2000" b="1" i="1" smtClean="0">
                              <a:latin typeface="Cambria Math" panose="02040503050406030204" pitchFamily="18" charset="0"/>
                            </a:rPr>
                            <m:t>𝒏</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den>
                      </m:f>
                    </m:oMath>
                  </m:oMathPara>
                </a14:m>
                <a:endParaRPr lang="en-US" sz="2000" b="1" dirty="0"/>
              </a:p>
              <a:p>
                <a:r>
                  <a:rPr lang="en-US" sz="2000" dirty="0"/>
                  <a:t>Example: consider again the inspector’s quality control process. In a group of five parts, how many permutations of two parts may be selected?</a:t>
                </a:r>
              </a:p>
              <a:p>
                <a:pPr>
                  <a:spcAft>
                    <a:spcPts val="600"/>
                  </a:spcAft>
                </a:pPr>
                <a:r>
                  <a:rPr lang="en-US" sz="2000" dirty="0"/>
                  <a:t>The counting rule for permutations shows</a:t>
                </a:r>
              </a:p>
              <a:p>
                <a:pPr marL="914400" indent="-914400">
                  <a:spcAft>
                    <a:spcPts val="600"/>
                  </a:spcAft>
                </a:pPr>
                <a14:m>
                  <m:oMathPara xmlns:m="http://schemas.openxmlformats.org/officeDocument/2006/math">
                    <m:oMathParaPr>
                      <m:jc m:val="left"/>
                    </m:oMathParaPr>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𝑃</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5</m:t>
                          </m:r>
                        </m:sup>
                      </m:sSub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 (5−2!)</m:t>
                          </m:r>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 </m:t>
                          </m:r>
                          <m:r>
                            <a:rPr lang="en-US" sz="2000" b="0" i="1" smtClean="0">
                              <a:latin typeface="Cambria Math" panose="02040503050406030204" pitchFamily="18" charset="0"/>
                            </a:rPr>
                            <m:t>3!</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(5)(4)(3)(2)(1)</m:t>
                          </m:r>
                        </m:num>
                        <m:den>
                          <m:r>
                            <a:rPr lang="en-US" sz="2000" b="0" i="1" smtClean="0">
                              <a:latin typeface="Cambria Math" panose="02040503050406030204" pitchFamily="18" charset="0"/>
                            </a:rPr>
                            <m:t> (3)(2)(1)</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120</m:t>
                          </m:r>
                        </m:num>
                        <m:den>
                          <m:r>
                            <a:rPr lang="en-US" sz="2000" b="0" i="1" smtClean="0">
                              <a:latin typeface="Cambria Math" panose="02040503050406030204" pitchFamily="18" charset="0"/>
                            </a:rPr>
                            <m:t>6</m:t>
                          </m:r>
                        </m:den>
                      </m:f>
                      <m:r>
                        <a:rPr lang="en-US" sz="2000" b="0" i="1" smtClean="0">
                          <a:latin typeface="Cambria Math" panose="02040503050406030204" pitchFamily="18" charset="0"/>
                        </a:rPr>
                        <m:t>=20 </m:t>
                      </m:r>
                      <m:r>
                        <m:rPr>
                          <m:nor/>
                        </m:rPr>
                        <a:rPr lang="en-US" sz="2000" b="0" i="0" smtClean="0">
                          <a:latin typeface="Arial" panose="020B0604020202020204" pitchFamily="34" charset="0"/>
                          <a:cs typeface="Arial" panose="020B0604020202020204" pitchFamily="34" charset="0"/>
                        </a:rPr>
                        <m:t>outcomes</m:t>
                      </m:r>
                    </m:oMath>
                  </m:oMathPara>
                </a14:m>
                <a:endParaRPr lang="en-US" sz="2000" b="0" dirty="0">
                  <a:latin typeface="Arial" panose="020B0604020202020204" pitchFamily="34" charset="0"/>
                  <a:cs typeface="Arial" panose="020B0604020202020204" pitchFamily="34" charset="0"/>
                </a:endParaRPr>
              </a:p>
              <a:p>
                <a:pPr>
                  <a:spcAft>
                    <a:spcPts val="600"/>
                  </a:spcAft>
                </a:pPr>
                <a:r>
                  <a:rPr lang="en-US" sz="2000" dirty="0"/>
                  <a:t>The counting rule for permutations is closely related to the one for combinations because every selection of </a:t>
                </a:r>
                <a14:m>
                  <m:oMath xmlns:m="http://schemas.openxmlformats.org/officeDocument/2006/math">
                    <m:r>
                      <a:rPr lang="en-US" sz="2000" i="1" dirty="0" smtClean="0">
                        <a:latin typeface="Cambria Math" panose="02040503050406030204" pitchFamily="18" charset="0"/>
                      </a:rPr>
                      <m:t>𝑥</m:t>
                    </m:r>
                  </m:oMath>
                </a14:m>
                <a:r>
                  <a:rPr lang="en-US" sz="2000" dirty="0"/>
                  <a:t> objects can be ordered in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t> different ways.</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6" y="1355834"/>
                <a:ext cx="10711543" cy="4477406"/>
              </a:xfrm>
              <a:blipFill>
                <a:blip r:embed="rId2"/>
                <a:stretch>
                  <a:fillRect l="-1480" t="-1633" r="-1594"/>
                </a:stretch>
              </a:blipFill>
            </p:spPr>
            <p:txBody>
              <a:bodyPr/>
              <a:lstStyle/>
              <a:p>
                <a:r>
                  <a:rPr lang="en-US">
                    <a:noFill/>
                  </a:rPr>
                  <a:t> </a:t>
                </a:r>
              </a:p>
            </p:txBody>
          </p:sp>
        </mc:Fallback>
      </mc:AlternateContent>
    </p:spTree>
    <p:extLst>
      <p:ext uri="{BB962C8B-B14F-4D97-AF65-F5344CB8AC3E}">
        <p14:creationId xmlns:p14="http://schemas.microsoft.com/office/powerpoint/2010/main" val="2484972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4.1 Assigning Probabilities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6" y="1277008"/>
                <a:ext cx="10711543" cy="4587764"/>
              </a:xfrm>
            </p:spPr>
            <p:txBody>
              <a:bodyPr/>
              <a:lstStyle/>
              <a:p>
                <a:pPr>
                  <a:spcAft>
                    <a:spcPts val="0"/>
                  </a:spcAft>
                </a:pPr>
                <a:r>
                  <a:rPr lang="en-US" sz="2000" dirty="0"/>
                  <a:t>The basic requirements for assigning probabilities are</a:t>
                </a:r>
              </a:p>
              <a:p>
                <a:pPr marL="914400" indent="-457200">
                  <a:spcAft>
                    <a:spcPts val="600"/>
                  </a:spcAft>
                  <a:buFont typeface="+mj-lt"/>
                  <a:buAutoNum type="arabicPeriod"/>
                </a:pPr>
                <a:r>
                  <a:rPr lang="en-US" sz="2000" dirty="0"/>
                  <a:t>The probability assigned to each experimental outcome must be between 0 and 1, inclusively.</a:t>
                </a:r>
              </a:p>
              <a:p>
                <a:pPr marL="1371600">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𝟎</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𝑷</m:t>
                      </m:r>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𝑬</m:t>
                          </m:r>
                        </m:e>
                        <m:sub>
                          <m:r>
                            <a:rPr lang="en-US" sz="2000" b="1" i="1" smtClean="0">
                              <a:latin typeface="Cambria Math" panose="02040503050406030204" pitchFamily="18" charset="0"/>
                              <a:ea typeface="Cambria Math" panose="02040503050406030204" pitchFamily="18" charset="0"/>
                            </a:rPr>
                            <m:t>𝒊</m:t>
                          </m:r>
                        </m:sub>
                      </m:sSub>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m:t>
                      </m:r>
                    </m:oMath>
                  </m:oMathPara>
                </a14:m>
                <a:endParaRPr lang="en-US" sz="2000" b="1" dirty="0"/>
              </a:p>
              <a:p>
                <a:pPr marL="914400">
                  <a:spcBef>
                    <a:spcPts val="600"/>
                  </a:spcBef>
                  <a:spcAft>
                    <a:spcPts val="0"/>
                  </a:spcAft>
                </a:pPr>
                <a:r>
                  <a:rPr lang="en-US" sz="2000" dirty="0"/>
                  <a:t>where </a:t>
                </a:r>
                <a14:m>
                  <m:oMath xmlns:m="http://schemas.openxmlformats.org/officeDocument/2006/math">
                    <m:r>
                      <a:rPr lang="en-US" sz="2000" i="1" dirty="0" smtClean="0">
                        <a:latin typeface="Cambria Math" panose="02040503050406030204" pitchFamily="18" charset="0"/>
                      </a:rPr>
                      <m:t>𝐸</m:t>
                    </m:r>
                    <m:r>
                      <a:rPr lang="en-US" sz="2000" i="1" baseline="-25000" dirty="0" err="1">
                        <a:latin typeface="Cambria Math" panose="02040503050406030204" pitchFamily="18" charset="0"/>
                      </a:rPr>
                      <m:t>𝑖</m:t>
                    </m:r>
                  </m:oMath>
                </a14:m>
                <a:r>
                  <a:rPr lang="en-US" sz="2000" dirty="0"/>
                  <a:t> is the </a:t>
                </a:r>
                <a14:m>
                  <m:oMath xmlns:m="http://schemas.openxmlformats.org/officeDocument/2006/math">
                    <m:r>
                      <a:rPr lang="en-US" sz="2000" i="1" dirty="0" smtClean="0">
                        <a:latin typeface="Cambria Math" panose="02040503050406030204" pitchFamily="18" charset="0"/>
                      </a:rPr>
                      <m:t>𝑖</m:t>
                    </m:r>
                  </m:oMath>
                </a14:m>
                <a:r>
                  <a:rPr lang="en-US" sz="2000" dirty="0" err="1"/>
                  <a:t>th</a:t>
                </a:r>
                <a:r>
                  <a:rPr lang="en-US" sz="2000" dirty="0"/>
                  <a:t> experimental outcome and </a:t>
                </a:r>
                <a14:m>
                  <m:oMath xmlns:m="http://schemas.openxmlformats.org/officeDocument/2006/math">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err="1">
                        <a:latin typeface="Cambria Math" panose="02040503050406030204" pitchFamily="18" charset="0"/>
                      </a:rPr>
                      <m:t>𝐸</m:t>
                    </m:r>
                    <m:r>
                      <a:rPr lang="en-US" sz="2000" i="1" baseline="-25000" dirty="0" err="1">
                        <a:latin typeface="Cambria Math" panose="02040503050406030204" pitchFamily="18" charset="0"/>
                      </a:rPr>
                      <m:t>𝑖</m:t>
                    </m:r>
                    <m:r>
                      <a:rPr lang="en-US" sz="2000" i="1" dirty="0">
                        <a:latin typeface="Cambria Math" panose="02040503050406030204" pitchFamily="18" charset="0"/>
                      </a:rPr>
                      <m:t>)</m:t>
                    </m:r>
                  </m:oMath>
                </a14:m>
                <a:r>
                  <a:rPr lang="en-US" sz="2000" dirty="0"/>
                  <a:t> its probability.</a:t>
                </a:r>
              </a:p>
              <a:p>
                <a:pPr marL="914400" indent="-457200">
                  <a:spcAft>
                    <a:spcPts val="600"/>
                  </a:spcAft>
                  <a:buFont typeface="+mj-lt"/>
                  <a:buAutoNum type="arabicPeriod" startAt="2"/>
                </a:pPr>
                <a:r>
                  <a:rPr lang="en-US" sz="2000" dirty="0"/>
                  <a:t>The sum of the probabilities for all experimental outcomes must equal 1.</a:t>
                </a:r>
              </a:p>
              <a:p>
                <a:pPr marL="1371600">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ea typeface="Cambria Math" panose="02040503050406030204" pitchFamily="18" charset="0"/>
                        </a:rPr>
                        <m:t>𝑷</m:t>
                      </m:r>
                      <m:d>
                        <m:dPr>
                          <m:ctrlPr>
                            <a:rPr lang="en-US" sz="2000" b="1" i="1" smtClean="0">
                              <a:latin typeface="Cambria Math" panose="02040503050406030204" pitchFamily="18" charset="0"/>
                              <a:ea typeface="Cambria Math" panose="02040503050406030204" pitchFamily="18" charset="0"/>
                            </a:rPr>
                          </m:ctrlPr>
                        </m:dPr>
                        <m:e>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𝑬</m:t>
                              </m:r>
                            </m:e>
                            <m:sub>
                              <m:r>
                                <a:rPr lang="en-US" sz="2000" b="1" i="1" smtClean="0">
                                  <a:latin typeface="Cambria Math" panose="02040503050406030204" pitchFamily="18" charset="0"/>
                                  <a:ea typeface="Cambria Math" panose="02040503050406030204" pitchFamily="18" charset="0"/>
                                </a:rPr>
                                <m:t>𝟏</m:t>
                              </m:r>
                            </m:sub>
                          </m:sSub>
                        </m:e>
                      </m:d>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𝑷</m:t>
                      </m:r>
                      <m:d>
                        <m:dPr>
                          <m:ctrlPr>
                            <a:rPr lang="en-US" sz="2000" b="1" i="1">
                              <a:latin typeface="Cambria Math" panose="02040503050406030204" pitchFamily="18" charset="0"/>
                              <a:ea typeface="Cambria Math" panose="02040503050406030204" pitchFamily="18" charset="0"/>
                            </a:rPr>
                          </m:ctrlPr>
                        </m:dPr>
                        <m:e>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𝑬</m:t>
                              </m:r>
                            </m:e>
                            <m:sub>
                              <m:r>
                                <a:rPr lang="en-US" sz="2000" b="1" i="1" smtClean="0">
                                  <a:latin typeface="Cambria Math" panose="02040503050406030204" pitchFamily="18" charset="0"/>
                                  <a:ea typeface="Cambria Math" panose="02040503050406030204" pitchFamily="18" charset="0"/>
                                </a:rPr>
                                <m:t>𝟐</m:t>
                              </m:r>
                            </m:sub>
                          </m:sSub>
                        </m:e>
                      </m:d>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𝑷</m:t>
                      </m:r>
                      <m:d>
                        <m:dPr>
                          <m:ctrlPr>
                            <a:rPr lang="en-US" sz="2000" b="1" i="1">
                              <a:latin typeface="Cambria Math" panose="02040503050406030204" pitchFamily="18" charset="0"/>
                              <a:ea typeface="Cambria Math" panose="02040503050406030204" pitchFamily="18" charset="0"/>
                            </a:rPr>
                          </m:ctrlPr>
                        </m:dPr>
                        <m:e>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𝑬</m:t>
                              </m:r>
                            </m:e>
                            <m:sub>
                              <m:r>
                                <a:rPr lang="en-US" sz="2000" b="1" i="1" smtClean="0">
                                  <a:latin typeface="Cambria Math" panose="02040503050406030204" pitchFamily="18" charset="0"/>
                                  <a:ea typeface="Cambria Math" panose="02040503050406030204" pitchFamily="18" charset="0"/>
                                </a:rPr>
                                <m:t>𝒏</m:t>
                              </m:r>
                            </m:sub>
                          </m:sSub>
                        </m:e>
                      </m:d>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m:t>
                      </m:r>
                    </m:oMath>
                  </m:oMathPara>
                </a14:m>
                <a:endParaRPr lang="en-US" sz="2000" b="1" dirty="0"/>
              </a:p>
              <a:p>
                <a:pPr marL="914400">
                  <a:spcBef>
                    <a:spcPts val="600"/>
                  </a:spcBef>
                  <a:spcAft>
                    <a:spcPts val="0"/>
                  </a:spcAft>
                </a:pPr>
                <a:r>
                  <a:rPr lang="en-US" sz="2000" dirty="0"/>
                  <a:t>where </a:t>
                </a:r>
                <a14:m>
                  <m:oMath xmlns:m="http://schemas.openxmlformats.org/officeDocument/2006/math">
                    <m:r>
                      <a:rPr lang="en-US" sz="2000" i="1" dirty="0" smtClean="0">
                        <a:latin typeface="Cambria Math" panose="02040503050406030204" pitchFamily="18" charset="0"/>
                      </a:rPr>
                      <m:t>𝑛</m:t>
                    </m:r>
                  </m:oMath>
                </a14:m>
                <a:r>
                  <a:rPr lang="en-US" sz="2000" dirty="0"/>
                  <a:t> is the number of experimental outcomes.</a:t>
                </a:r>
              </a:p>
              <a:p>
                <a:pPr>
                  <a:spcAft>
                    <a:spcPts val="0"/>
                  </a:spcAft>
                </a:pPr>
                <a:r>
                  <a:rPr lang="en-US" sz="2000" dirty="0"/>
                  <a:t>There are three methods of assigning probabilities:</a:t>
                </a:r>
              </a:p>
              <a:p>
                <a:pPr marL="512763" indent="-284163">
                  <a:spcBef>
                    <a:spcPts val="600"/>
                  </a:spcBef>
                  <a:spcAft>
                    <a:spcPts val="0"/>
                  </a:spcAft>
                  <a:buFont typeface="Arial" panose="020B0604020202020204" pitchFamily="34" charset="0"/>
                  <a:buChar char="•"/>
                </a:pPr>
                <a:r>
                  <a:rPr lang="en-US" sz="2000" dirty="0"/>
                  <a:t>The </a:t>
                </a:r>
                <a:r>
                  <a:rPr lang="en-US" sz="2000" b="1" dirty="0"/>
                  <a:t>classical method</a:t>
                </a:r>
                <a:r>
                  <a:rPr lang="en-US" sz="2000" dirty="0"/>
                  <a:t>, is based on the assumption of equally likely outcomes.</a:t>
                </a:r>
              </a:p>
              <a:p>
                <a:pPr marL="512763" indent="-284163">
                  <a:spcBef>
                    <a:spcPts val="600"/>
                  </a:spcBef>
                  <a:spcAft>
                    <a:spcPts val="0"/>
                  </a:spcAft>
                  <a:buFont typeface="Arial" panose="020B0604020202020204" pitchFamily="34" charset="0"/>
                  <a:buChar char="•"/>
                </a:pPr>
                <a:r>
                  <a:rPr lang="en-US" sz="2000" dirty="0"/>
                  <a:t>The </a:t>
                </a:r>
                <a:r>
                  <a:rPr lang="en-US" sz="2000" b="1" dirty="0"/>
                  <a:t>empirical method</a:t>
                </a:r>
                <a:r>
                  <a:rPr lang="en-US" sz="2000" dirty="0"/>
                  <a:t>, based on relative frequencies from experimental or historical data.</a:t>
                </a:r>
              </a:p>
              <a:p>
                <a:pPr marL="512763" indent="-284163">
                  <a:spcBef>
                    <a:spcPts val="600"/>
                  </a:spcBef>
                  <a:spcAft>
                    <a:spcPts val="0"/>
                  </a:spcAft>
                  <a:buFont typeface="Arial" panose="020B0604020202020204" pitchFamily="34" charset="0"/>
                  <a:buChar char="•"/>
                </a:pPr>
                <a:r>
                  <a:rPr lang="en-US" sz="2000" dirty="0"/>
                  <a:t>The </a:t>
                </a:r>
                <a:r>
                  <a:rPr lang="en-US" sz="2000" b="1" dirty="0"/>
                  <a:t>subjective method</a:t>
                </a:r>
                <a:r>
                  <a:rPr lang="en-US" sz="2000" dirty="0"/>
                  <a:t>, based on experience or intuition when no data are available.</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6" y="1277008"/>
                <a:ext cx="10711543" cy="4587764"/>
              </a:xfrm>
              <a:blipFill>
                <a:blip r:embed="rId2"/>
                <a:stretch>
                  <a:fillRect l="-1480" t="-1594" r="-1138" b="-3187"/>
                </a:stretch>
              </a:blipFill>
            </p:spPr>
            <p:txBody>
              <a:bodyPr/>
              <a:lstStyle/>
              <a:p>
                <a:r>
                  <a:rPr lang="en-US">
                    <a:noFill/>
                  </a:rPr>
                  <a:t> </a:t>
                </a:r>
              </a:p>
            </p:txBody>
          </p:sp>
        </mc:Fallback>
      </mc:AlternateContent>
    </p:spTree>
    <p:extLst>
      <p:ext uri="{BB962C8B-B14F-4D97-AF65-F5344CB8AC3E}">
        <p14:creationId xmlns:p14="http://schemas.microsoft.com/office/powerpoint/2010/main" val="3458982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1F1E3-BA00-3108-26F6-C23C391BB3D4}"/>
              </a:ext>
            </a:extLst>
          </p:cNvPr>
          <p:cNvSpPr>
            <a:spLocks noGrp="1"/>
          </p:cNvSpPr>
          <p:nvPr>
            <p:ph type="title"/>
          </p:nvPr>
        </p:nvSpPr>
        <p:spPr/>
        <p:txBody>
          <a:bodyPr/>
          <a:lstStyle/>
          <a:p>
            <a:r>
              <a:rPr lang="en-US" dirty="0"/>
              <a:t>4.1 Assigning Probabilities for the KP&amp;L Project</a:t>
            </a:r>
          </a:p>
        </p:txBody>
      </p:sp>
      <p:sp>
        <p:nvSpPr>
          <p:cNvPr id="3" name="Text Placeholder 2">
            <a:extLst>
              <a:ext uri="{FF2B5EF4-FFF2-40B4-BE49-F238E27FC236}">
                <a16:creationId xmlns:a16="http://schemas.microsoft.com/office/drawing/2014/main" id="{EA5E2E8B-0927-0716-C795-8356FCEBF40A}"/>
              </a:ext>
            </a:extLst>
          </p:cNvPr>
          <p:cNvSpPr>
            <a:spLocks noGrp="1"/>
          </p:cNvSpPr>
          <p:nvPr>
            <p:ph type="body" sz="quarter" idx="15"/>
          </p:nvPr>
        </p:nvSpPr>
        <p:spPr>
          <a:xfrm>
            <a:off x="793194" y="1460533"/>
            <a:ext cx="10607040" cy="1420690"/>
          </a:xfrm>
        </p:spPr>
        <p:txBody>
          <a:bodyPr>
            <a:normAutofit/>
          </a:bodyPr>
          <a:lstStyle/>
          <a:p>
            <a:pPr>
              <a:lnSpc>
                <a:spcPct val="100000"/>
              </a:lnSpc>
              <a:spcBef>
                <a:spcPts val="600"/>
              </a:spcBef>
            </a:pPr>
            <a:r>
              <a:rPr lang="en-US" sz="2000" dirty="0"/>
              <a:t>Using experience and judgment, KP&amp;L management concluded that not all the outcomes were equally likely. Thus, the classical method could not be used.</a:t>
            </a:r>
          </a:p>
          <a:p>
            <a:pPr>
              <a:lnSpc>
                <a:spcPct val="100000"/>
              </a:lnSpc>
              <a:spcBef>
                <a:spcPts val="600"/>
              </a:spcBef>
            </a:pPr>
            <a:r>
              <a:rPr lang="en-US" sz="2000" dirty="0"/>
              <a:t>A study on the completion times of 40 similar projects undertaken over the past three years revealed the frequency distribution shown.</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1A934BD0-02C7-6D45-14F3-BF78C6C816CD}"/>
                  </a:ext>
                </a:extLst>
              </p:cNvPr>
              <p:cNvSpPr>
                <a:spLocks noGrp="1"/>
              </p:cNvSpPr>
              <p:nvPr>
                <p:ph type="body" sz="quarter" idx="18"/>
              </p:nvPr>
            </p:nvSpPr>
            <p:spPr>
              <a:xfrm>
                <a:off x="791766" y="2838093"/>
                <a:ext cx="3776472" cy="2843784"/>
              </a:xfrm>
            </p:spPr>
            <p:txBody>
              <a:bodyPr>
                <a:normAutofit fontScale="92500"/>
              </a:bodyPr>
              <a:lstStyle/>
              <a:p>
                <a:pPr>
                  <a:lnSpc>
                    <a:spcPct val="100000"/>
                  </a:lnSpc>
                  <a:spcBef>
                    <a:spcPts val="600"/>
                  </a:spcBef>
                  <a:spcAft>
                    <a:spcPts val="0"/>
                  </a:spcAft>
                </a:pPr>
                <a:r>
                  <a:rPr lang="en-US" sz="2000" dirty="0"/>
                  <a:t>Using the empirical method, we can assign the probabilities to each of the nine outcomes.</a:t>
                </a:r>
              </a:p>
              <a:p>
                <a:pPr>
                  <a:lnSpc>
                    <a:spcPct val="100000"/>
                  </a:lnSpc>
                  <a:spcBef>
                    <a:spcPts val="600"/>
                  </a:spcBef>
                  <a:spcAft>
                    <a:spcPts val="600"/>
                  </a:spcAft>
                </a:pPr>
                <a:r>
                  <a:rPr lang="en-US" sz="2000" dirty="0"/>
                  <a:t>For example, sample point (2, 6) on the top row, with an expected completion time of 8 months, has probability:</a:t>
                </a:r>
                <a:endParaRPr lang="en-US" sz="2000" b="0" i="1" dirty="0">
                  <a:latin typeface="Cambria Math" panose="02040503050406030204" pitchFamily="18" charset="0"/>
                </a:endParaRPr>
              </a:p>
              <a:p>
                <a:pPr marL="4572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2, 6</m:t>
                          </m:r>
                        </m:e>
                      </m:d>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6</m:t>
                          </m:r>
                        </m:num>
                        <m:den>
                          <m:r>
                            <a:rPr lang="en-US" sz="2000" b="0" i="1" smtClean="0">
                              <a:latin typeface="Cambria Math" panose="02040503050406030204" pitchFamily="18" charset="0"/>
                            </a:rPr>
                            <m:t>40</m:t>
                          </m:r>
                        </m:den>
                      </m:f>
                      <m:r>
                        <a:rPr lang="en-US" sz="2000" b="0" i="1" smtClean="0">
                          <a:latin typeface="Cambria Math" panose="02040503050406030204" pitchFamily="18" charset="0"/>
                        </a:rPr>
                        <m:t>=0.15</m:t>
                      </m:r>
                    </m:oMath>
                  </m:oMathPara>
                </a14:m>
                <a:endParaRPr lang="en-US" sz="2000" dirty="0"/>
              </a:p>
            </p:txBody>
          </p:sp>
        </mc:Choice>
        <mc:Fallback xmlns="">
          <p:sp>
            <p:nvSpPr>
              <p:cNvPr id="5" name="Text Placeholder 4">
                <a:extLst>
                  <a:ext uri="{FF2B5EF4-FFF2-40B4-BE49-F238E27FC236}">
                    <a16:creationId xmlns:a16="http://schemas.microsoft.com/office/drawing/2014/main" id="{1A934BD0-02C7-6D45-14F3-BF78C6C816CD}"/>
                  </a:ext>
                </a:extLst>
              </p:cNvPr>
              <p:cNvSpPr>
                <a:spLocks noGrp="1" noRot="1" noChangeAspect="1" noMove="1" noResize="1" noEditPoints="1" noAdjustHandles="1" noChangeArrowheads="1" noChangeShapeType="1" noTextEdit="1"/>
              </p:cNvSpPr>
              <p:nvPr>
                <p:ph type="body" sz="quarter" idx="18"/>
              </p:nvPr>
            </p:nvSpPr>
            <p:spPr>
              <a:xfrm>
                <a:off x="791766" y="2838093"/>
                <a:ext cx="3776472" cy="2843784"/>
              </a:xfrm>
              <a:blipFill>
                <a:blip r:embed="rId2"/>
                <a:stretch>
                  <a:fillRect l="-4039" t="-3004"/>
                </a:stretch>
              </a:blipFill>
            </p:spPr>
            <p:txBody>
              <a:bodyPr/>
              <a:lstStyle/>
              <a:p>
                <a:r>
                  <a:rPr lang="en-US">
                    <a:noFill/>
                  </a:rPr>
                  <a:t> </a:t>
                </a:r>
              </a:p>
            </p:txBody>
          </p:sp>
        </mc:Fallback>
      </mc:AlternateContent>
      <p:graphicFrame>
        <p:nvGraphicFramePr>
          <p:cNvPr id="7" name="Table Placeholder 6">
            <a:extLst>
              <a:ext uri="{FF2B5EF4-FFF2-40B4-BE49-F238E27FC236}">
                <a16:creationId xmlns:a16="http://schemas.microsoft.com/office/drawing/2014/main" id="{415A6CD2-2BF9-6A76-0A6F-E1FC044D0E20}"/>
              </a:ext>
            </a:extLst>
          </p:cNvPr>
          <p:cNvGraphicFramePr>
            <a:graphicFrameLocks noGrp="1"/>
          </p:cNvGraphicFramePr>
          <p:nvPr>
            <p:ph type="tbl" sz="quarter" idx="22"/>
            <p:extLst>
              <p:ext uri="{D42A27DB-BD31-4B8C-83A1-F6EECF244321}">
                <p14:modId xmlns:p14="http://schemas.microsoft.com/office/powerpoint/2010/main" val="2318644562"/>
              </p:ext>
            </p:extLst>
          </p:nvPr>
        </p:nvGraphicFramePr>
        <p:xfrm>
          <a:off x="4568239" y="2847814"/>
          <a:ext cx="6831995" cy="2865120"/>
        </p:xfrm>
        <a:graphic>
          <a:graphicData uri="http://schemas.openxmlformats.org/drawingml/2006/table">
            <a:tbl>
              <a:tblPr firstRow="1">
                <a:tableStyleId>{5C22544A-7EE6-4342-B048-85BDC9FD1C3A}</a:tableStyleId>
              </a:tblPr>
              <a:tblGrid>
                <a:gridCol w="1062050">
                  <a:extLst>
                    <a:ext uri="{9D8B030D-6E8A-4147-A177-3AD203B41FA5}">
                      <a16:colId xmlns:a16="http://schemas.microsoft.com/office/drawing/2014/main" val="1124974326"/>
                    </a:ext>
                  </a:extLst>
                </a:gridCol>
                <a:gridCol w="1062050">
                  <a:extLst>
                    <a:ext uri="{9D8B030D-6E8A-4147-A177-3AD203B41FA5}">
                      <a16:colId xmlns:a16="http://schemas.microsoft.com/office/drawing/2014/main" val="3948572283"/>
                    </a:ext>
                  </a:extLst>
                </a:gridCol>
                <a:gridCol w="890280">
                  <a:extLst>
                    <a:ext uri="{9D8B030D-6E8A-4147-A177-3AD203B41FA5}">
                      <a16:colId xmlns:a16="http://schemas.microsoft.com/office/drawing/2014/main" val="2325362050"/>
                    </a:ext>
                  </a:extLst>
                </a:gridCol>
                <a:gridCol w="1122860">
                  <a:extLst>
                    <a:ext uri="{9D8B030D-6E8A-4147-A177-3AD203B41FA5}">
                      <a16:colId xmlns:a16="http://schemas.microsoft.com/office/drawing/2014/main" val="2529038188"/>
                    </a:ext>
                  </a:extLst>
                </a:gridCol>
                <a:gridCol w="1220565">
                  <a:extLst>
                    <a:ext uri="{9D8B030D-6E8A-4147-A177-3AD203B41FA5}">
                      <a16:colId xmlns:a16="http://schemas.microsoft.com/office/drawing/2014/main" val="268385229"/>
                    </a:ext>
                  </a:extLst>
                </a:gridCol>
                <a:gridCol w="1474190">
                  <a:extLst>
                    <a:ext uri="{9D8B030D-6E8A-4147-A177-3AD203B41FA5}">
                      <a16:colId xmlns:a16="http://schemas.microsoft.com/office/drawing/2014/main" val="1395208367"/>
                    </a:ext>
                  </a:extLst>
                </a:gridCol>
              </a:tblGrid>
              <a:tr h="176254">
                <a:tc gridSpan="2">
                  <a:txBody>
                    <a:bodyPr/>
                    <a:lstStyle/>
                    <a:p>
                      <a:pPr algn="ctr" fontAlgn="b"/>
                      <a:r>
                        <a:rPr lang="en-US" sz="1400" b="1" u="none" strike="noStrike" dirty="0">
                          <a:solidFill>
                            <a:srgbClr val="0070C0"/>
                          </a:solidFill>
                          <a:effectLst/>
                        </a:rPr>
                        <a:t>Completion Time (months) </a:t>
                      </a:r>
                      <a:endParaRPr lang="en-US" sz="1400" b="1" i="0" u="none" strike="noStrike" dirty="0">
                        <a:solidFill>
                          <a:srgbClr val="0070C0"/>
                        </a:solidFill>
                        <a:effectLst/>
                        <a:latin typeface="Calibri" panose="020F0502020204030204" pitchFamily="34"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hMerge="1">
                  <a:txBody>
                    <a:bodyPr/>
                    <a:lstStyle/>
                    <a:p>
                      <a:endParaRPr lang="en-US"/>
                    </a:p>
                  </a:txBody>
                  <a:tcPr/>
                </a:tc>
                <a:tc>
                  <a:txBody>
                    <a:bodyPr/>
                    <a:lstStyle/>
                    <a:p>
                      <a:pPr algn="l" fontAlgn="b"/>
                      <a:endParaRPr lang="en-US" sz="1400" b="1" i="0" u="none" strike="noStrike">
                        <a:solidFill>
                          <a:srgbClr val="000000"/>
                        </a:solidFill>
                        <a:effectLst/>
                        <a:latin typeface="Calibri" panose="020F0502020204030204" pitchFamily="34"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rowSpan="2">
                  <a:txBody>
                    <a:bodyPr/>
                    <a:lstStyle/>
                    <a:p>
                      <a:pPr algn="ctr" fontAlgn="b"/>
                      <a:r>
                        <a:rPr lang="en-US" sz="1400" b="1" u="none" strike="noStrike" dirty="0">
                          <a:solidFill>
                            <a:srgbClr val="000000"/>
                          </a:solidFill>
                          <a:effectLst/>
                        </a:rPr>
                        <a:t>Number of Past Projects </a:t>
                      </a:r>
                      <a:endParaRPr lang="en-US" sz="1400" b="1" i="0" u="none" strike="noStrike" dirty="0">
                        <a:solidFill>
                          <a:srgbClr val="000000"/>
                        </a:solidFill>
                        <a:effectLst/>
                        <a:latin typeface="Calibri" panose="020F0502020204030204" pitchFamily="34"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rowSpan="2">
                  <a:txBody>
                    <a:bodyPr/>
                    <a:lstStyle/>
                    <a:p>
                      <a:pPr algn="ctr" fontAlgn="b"/>
                      <a:r>
                        <a:rPr lang="en-US" sz="1400" b="1" u="none" strike="noStrike" dirty="0">
                          <a:solidFill>
                            <a:srgbClr val="000000"/>
                          </a:solidFill>
                          <a:effectLst/>
                        </a:rPr>
                        <a:t>Project Completion Time (months)</a:t>
                      </a:r>
                      <a:endParaRPr lang="en-US" sz="1400" b="1" i="0" u="none" strike="noStrike" dirty="0">
                        <a:solidFill>
                          <a:srgbClr val="000000"/>
                        </a:solidFill>
                        <a:effectLst/>
                        <a:latin typeface="Calibri" panose="020F0502020204030204" pitchFamily="34"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endParaRPr lang="en-US" sz="1400" b="1" i="0" u="none" strike="noStrike">
                        <a:solidFill>
                          <a:srgbClr val="000000"/>
                        </a:solidFill>
                        <a:effectLst/>
                        <a:latin typeface="Calibri" panose="020F0502020204030204" pitchFamily="34"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840278505"/>
                  </a:ext>
                </a:extLst>
              </a:tr>
              <a:tr h="301172">
                <a:tc>
                  <a:txBody>
                    <a:bodyPr/>
                    <a:lstStyle/>
                    <a:p>
                      <a:pPr algn="ctr" fontAlgn="b"/>
                      <a:r>
                        <a:rPr lang="en-US" sz="1400" b="1" u="none" strike="noStrike" dirty="0">
                          <a:solidFill>
                            <a:srgbClr val="000000"/>
                          </a:solidFill>
                          <a:effectLst/>
                        </a:rPr>
                        <a:t>Stage 1 Design</a:t>
                      </a:r>
                      <a:endParaRPr lang="en-US" sz="1400" b="1" i="0" u="none" strike="noStrike" dirty="0">
                        <a:solidFill>
                          <a:srgbClr val="000000"/>
                        </a:solidFill>
                        <a:effectLst/>
                        <a:latin typeface="Calibri" panose="020F0502020204030204" pitchFamily="34"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b="1" u="none" strike="noStrike" dirty="0">
                          <a:solidFill>
                            <a:srgbClr val="000000"/>
                          </a:solidFill>
                          <a:effectLst/>
                        </a:rPr>
                        <a:t>Stage 2 Design</a:t>
                      </a:r>
                      <a:endParaRPr lang="en-US" sz="1400" b="1" i="0" u="none" strike="noStrike" dirty="0">
                        <a:solidFill>
                          <a:srgbClr val="000000"/>
                        </a:solidFill>
                        <a:effectLst/>
                        <a:latin typeface="Calibri" panose="020F0502020204030204" pitchFamily="34"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b="1" u="none" strike="noStrike" dirty="0">
                          <a:solidFill>
                            <a:srgbClr val="000000"/>
                          </a:solidFill>
                          <a:effectLst/>
                        </a:rPr>
                        <a:t>Sample Point </a:t>
                      </a:r>
                      <a:endParaRPr lang="en-US" sz="1400" b="1" i="0" u="none" strike="noStrike" dirty="0">
                        <a:solidFill>
                          <a:srgbClr val="000000"/>
                        </a:solidFill>
                        <a:effectLst/>
                        <a:latin typeface="Calibri" panose="020F0502020204030204" pitchFamily="34"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vMerge="1">
                  <a:txBody>
                    <a:bodyPr/>
                    <a:lstStyle/>
                    <a:p>
                      <a:endParaRPr lang="en-US"/>
                    </a:p>
                  </a:txBody>
                  <a:tcPr/>
                </a:tc>
                <a:tc vMerge="1">
                  <a:txBody>
                    <a:bodyPr/>
                    <a:lstStyle/>
                    <a:p>
                      <a:endParaRPr lang="en-US"/>
                    </a:p>
                  </a:txBody>
                  <a:tcPr/>
                </a:tc>
                <a:tc>
                  <a:txBody>
                    <a:bodyPr/>
                    <a:lstStyle/>
                    <a:p>
                      <a:pPr algn="ctr" fontAlgn="b"/>
                      <a:r>
                        <a:rPr lang="en-US" sz="1400" b="1" u="none" strike="noStrike" dirty="0">
                          <a:solidFill>
                            <a:srgbClr val="000000"/>
                          </a:solidFill>
                          <a:effectLst/>
                        </a:rPr>
                        <a:t>Probability of Sample Point</a:t>
                      </a:r>
                      <a:endParaRPr lang="en-US" sz="1400" b="1" i="0" u="none" strike="noStrike" dirty="0">
                        <a:solidFill>
                          <a:srgbClr val="000000"/>
                        </a:solidFill>
                        <a:effectLst/>
                        <a:latin typeface="Calibri" panose="020F0502020204030204" pitchFamily="34"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133329410"/>
                  </a:ext>
                </a:extLst>
              </a:tr>
              <a:tr h="176254">
                <a:tc>
                  <a:txBody>
                    <a:bodyPr/>
                    <a:lstStyle/>
                    <a:p>
                      <a:pPr algn="ctr" fontAlgn="b"/>
                      <a:r>
                        <a:rPr lang="en-US" sz="140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(2, 6)</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  8</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400" i="1" u="none" strike="noStrike" dirty="0">
                          <a:solidFill>
                            <a:srgbClr val="000000"/>
                          </a:solidFill>
                          <a:effectLst/>
                        </a:rPr>
                        <a:t>P</a:t>
                      </a:r>
                      <a:r>
                        <a:rPr lang="en-US" sz="1400" u="none" strike="noStrike" dirty="0">
                          <a:solidFill>
                            <a:srgbClr val="000000"/>
                          </a:solidFill>
                          <a:effectLst/>
                        </a:rPr>
                        <a:t>(2, 6) = 6/40 = 0.15</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29925029"/>
                  </a:ext>
                </a:extLst>
              </a:tr>
              <a:tr h="176254">
                <a:tc>
                  <a:txBody>
                    <a:bodyPr/>
                    <a:lstStyle/>
                    <a:p>
                      <a:pPr algn="ctr" fontAlgn="b"/>
                      <a:r>
                        <a:rPr lang="en-US" sz="140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7</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(2, 7)</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6</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  9</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400" i="1" u="none" strike="noStrike" dirty="0">
                          <a:solidFill>
                            <a:srgbClr val="000000"/>
                          </a:solidFill>
                          <a:effectLst/>
                        </a:rPr>
                        <a:t>P</a:t>
                      </a:r>
                      <a:r>
                        <a:rPr lang="en-US" sz="1400" u="none" strike="noStrike" dirty="0">
                          <a:solidFill>
                            <a:srgbClr val="000000"/>
                          </a:solidFill>
                          <a:effectLst/>
                        </a:rPr>
                        <a:t>(2, 7) = 6/40 = 0.15</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832833313"/>
                  </a:ext>
                </a:extLst>
              </a:tr>
              <a:tr h="176254">
                <a:tc>
                  <a:txBody>
                    <a:bodyPr/>
                    <a:lstStyle/>
                    <a:p>
                      <a:pPr algn="ctr" fontAlgn="b"/>
                      <a:r>
                        <a:rPr lang="en-US" sz="140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8</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(2, 8)</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10</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400" i="1" u="none" strike="noStrike" dirty="0">
                          <a:solidFill>
                            <a:srgbClr val="000000"/>
                          </a:solidFill>
                          <a:effectLst/>
                        </a:rPr>
                        <a:t>P</a:t>
                      </a:r>
                      <a:r>
                        <a:rPr lang="en-US" sz="1400" u="none" strike="noStrike" dirty="0">
                          <a:solidFill>
                            <a:srgbClr val="000000"/>
                          </a:solidFill>
                          <a:effectLst/>
                        </a:rPr>
                        <a:t>(2, 8) = 2/40 = 0.05</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57720234"/>
                  </a:ext>
                </a:extLst>
              </a:tr>
              <a:tr h="176254">
                <a:tc>
                  <a:txBody>
                    <a:bodyPr/>
                    <a:lstStyle/>
                    <a:p>
                      <a:pPr algn="ctr" fontAlgn="b"/>
                      <a:r>
                        <a:rPr lang="en-US" sz="1400" u="none" strike="noStrike">
                          <a:solidFill>
                            <a:srgbClr val="000000"/>
                          </a:solidFill>
                          <a:effectLst/>
                        </a:rPr>
                        <a:t>3</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(3, 6)</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  9</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400" i="1" u="none" strike="noStrike" dirty="0">
                          <a:solidFill>
                            <a:srgbClr val="000000"/>
                          </a:solidFill>
                          <a:effectLst/>
                        </a:rPr>
                        <a:t>P</a:t>
                      </a:r>
                      <a:r>
                        <a:rPr lang="en-US" sz="1400" u="none" strike="noStrike" dirty="0">
                          <a:solidFill>
                            <a:srgbClr val="000000"/>
                          </a:solidFill>
                          <a:effectLst/>
                        </a:rPr>
                        <a:t>(3, 6) = 4/40 = 0.10</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12733819"/>
                  </a:ext>
                </a:extLst>
              </a:tr>
              <a:tr h="176254">
                <a:tc>
                  <a:txBody>
                    <a:bodyPr/>
                    <a:lstStyle/>
                    <a:p>
                      <a:pPr algn="ctr" fontAlgn="b"/>
                      <a:r>
                        <a:rPr lang="en-US" sz="1400" u="none" strike="noStrike">
                          <a:solidFill>
                            <a:srgbClr val="000000"/>
                          </a:solidFill>
                          <a:effectLst/>
                        </a:rPr>
                        <a:t>3</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7</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(3, 7)</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8</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10</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400" i="1" u="none" strike="noStrike" dirty="0">
                          <a:solidFill>
                            <a:srgbClr val="000000"/>
                          </a:solidFill>
                          <a:effectLst/>
                        </a:rPr>
                        <a:t>P</a:t>
                      </a:r>
                      <a:r>
                        <a:rPr lang="en-US" sz="1400" u="none" strike="noStrike" dirty="0">
                          <a:solidFill>
                            <a:srgbClr val="000000"/>
                          </a:solidFill>
                          <a:effectLst/>
                        </a:rPr>
                        <a:t>(3, 7) = 8/40 = 0.20</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844270043"/>
                  </a:ext>
                </a:extLst>
              </a:tr>
              <a:tr h="176254">
                <a:tc>
                  <a:txBody>
                    <a:bodyPr/>
                    <a:lstStyle/>
                    <a:p>
                      <a:pPr algn="ctr" fontAlgn="b"/>
                      <a:r>
                        <a:rPr lang="en-US" sz="1400" u="none" strike="noStrike" dirty="0">
                          <a:solidFill>
                            <a:srgbClr val="000000"/>
                          </a:solidFill>
                          <a:effectLst/>
                        </a:rPr>
                        <a:t>3</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8</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(3, 8)</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11</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400" i="1" u="none" strike="noStrike" dirty="0">
                          <a:solidFill>
                            <a:srgbClr val="000000"/>
                          </a:solidFill>
                          <a:effectLst/>
                        </a:rPr>
                        <a:t>P</a:t>
                      </a:r>
                      <a:r>
                        <a:rPr lang="en-US" sz="1400" u="none" strike="noStrike" dirty="0">
                          <a:solidFill>
                            <a:srgbClr val="000000"/>
                          </a:solidFill>
                          <a:effectLst/>
                        </a:rPr>
                        <a:t>(3, 8) = 2/40 = 0.05</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874695802"/>
                  </a:ext>
                </a:extLst>
              </a:tr>
              <a:tr h="176254">
                <a:tc>
                  <a:txBody>
                    <a:bodyPr/>
                    <a:lstStyle/>
                    <a:p>
                      <a:pPr algn="ctr" fontAlgn="b"/>
                      <a:r>
                        <a:rPr lang="en-US" sz="140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6</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(4, 6)</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10</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400" i="1" u="none" strike="noStrike" dirty="0">
                          <a:solidFill>
                            <a:srgbClr val="000000"/>
                          </a:solidFill>
                          <a:effectLst/>
                        </a:rPr>
                        <a:t>P</a:t>
                      </a:r>
                      <a:r>
                        <a:rPr lang="en-US" sz="1400" u="none" strike="noStrike" dirty="0">
                          <a:solidFill>
                            <a:srgbClr val="000000"/>
                          </a:solidFill>
                          <a:effectLst/>
                        </a:rPr>
                        <a:t>(4, 6) = 2/40 = 0.05</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03444480"/>
                  </a:ext>
                </a:extLst>
              </a:tr>
              <a:tr h="176254">
                <a:tc>
                  <a:txBody>
                    <a:bodyPr/>
                    <a:lstStyle/>
                    <a:p>
                      <a:pPr algn="ctr" fontAlgn="b"/>
                      <a:r>
                        <a:rPr lang="en-US" sz="140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7</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(4, 7)</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11</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400" i="1" u="none" strike="noStrike" dirty="0">
                          <a:solidFill>
                            <a:srgbClr val="000000"/>
                          </a:solidFill>
                          <a:effectLst/>
                        </a:rPr>
                        <a:t>P</a:t>
                      </a:r>
                      <a:r>
                        <a:rPr lang="en-US" sz="1400" u="none" strike="noStrike" dirty="0">
                          <a:solidFill>
                            <a:srgbClr val="000000"/>
                          </a:solidFill>
                          <a:effectLst/>
                        </a:rPr>
                        <a:t>(4, 7) = 4/40 = 0.10</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424485862"/>
                  </a:ext>
                </a:extLst>
              </a:tr>
              <a:tr h="176254">
                <a:tc>
                  <a:txBody>
                    <a:bodyPr/>
                    <a:lstStyle/>
                    <a:p>
                      <a:pPr algn="ctr" fontAlgn="b"/>
                      <a:r>
                        <a:rPr lang="en-US" sz="140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8</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(4, 8)</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a:solidFill>
                            <a:srgbClr val="000000"/>
                          </a:solidFill>
                          <a:effectLst/>
                        </a:rPr>
                        <a:t>12</a:t>
                      </a:r>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400" i="1" u="none" strike="noStrike" dirty="0">
                          <a:solidFill>
                            <a:srgbClr val="000000"/>
                          </a:solidFill>
                          <a:effectLst/>
                        </a:rPr>
                        <a:t>P</a:t>
                      </a:r>
                      <a:r>
                        <a:rPr lang="en-US" sz="1400" u="none" strike="noStrike" dirty="0">
                          <a:solidFill>
                            <a:srgbClr val="000000"/>
                          </a:solidFill>
                          <a:effectLst/>
                        </a:rPr>
                        <a:t>(4, 8) = 6/40 = 0.15</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31565234"/>
                  </a:ext>
                </a:extLst>
              </a:tr>
              <a:tr h="176254">
                <a:tc>
                  <a:txBody>
                    <a:bodyPr/>
                    <a:lstStyle/>
                    <a:p>
                      <a:pPr algn="l" fontAlgn="b"/>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endParaRPr lang="en-US" sz="1400" b="0" i="0" u="none" strike="noStrike">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400" u="none" strike="noStrike" dirty="0">
                          <a:solidFill>
                            <a:srgbClr val="000000"/>
                          </a:solidFill>
                          <a:effectLst/>
                        </a:rPr>
                        <a:t>40</a:t>
                      </a:r>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21194315"/>
                  </a:ext>
                </a:extLst>
              </a:tr>
            </a:tbl>
          </a:graphicData>
        </a:graphic>
      </p:graphicFrame>
    </p:spTree>
    <p:extLst>
      <p:ext uri="{BB962C8B-B14F-4D97-AF65-F5344CB8AC3E}">
        <p14:creationId xmlns:p14="http://schemas.microsoft.com/office/powerpoint/2010/main" val="763003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solidFill>
                  <a:srgbClr val="D14B1E"/>
                </a:solidFill>
              </a:rPr>
              <a:t>4.2 Events and Their Probabilities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0228" y="1292177"/>
                <a:ext cx="10711543" cy="4424746"/>
              </a:xfrm>
            </p:spPr>
            <p:txBody>
              <a:bodyPr/>
              <a:lstStyle/>
              <a:p>
                <a:pPr>
                  <a:spcBef>
                    <a:spcPts val="600"/>
                  </a:spcBef>
                  <a:spcAft>
                    <a:spcPts val="0"/>
                  </a:spcAft>
                </a:pPr>
                <a:r>
                  <a:rPr lang="en-US" sz="2000" dirty="0"/>
                  <a:t>An </a:t>
                </a:r>
                <a:r>
                  <a:rPr lang="en-US" sz="2000" b="1" dirty="0"/>
                  <a:t>event</a:t>
                </a:r>
                <a:r>
                  <a:rPr lang="en-US" sz="2000" dirty="0"/>
                  <a:t> is a collection of sample points.</a:t>
                </a:r>
              </a:p>
              <a:p>
                <a:pPr>
                  <a:spcBef>
                    <a:spcPts val="600"/>
                  </a:spcBef>
                  <a:spcAft>
                    <a:spcPts val="0"/>
                  </a:spcAft>
                </a:pPr>
                <a:r>
                  <a:rPr lang="en-US" sz="2000" dirty="0"/>
                  <a:t>If we can identify all the sample points of an experiment and assign a probability to each, we can compute the probability of an event.</a:t>
                </a:r>
              </a:p>
              <a:p>
                <a:pPr>
                  <a:spcBef>
                    <a:spcPts val="600"/>
                  </a:spcBef>
                  <a:spcAft>
                    <a:spcPts val="0"/>
                  </a:spcAft>
                </a:pPr>
                <a:r>
                  <a:rPr lang="en-US" sz="2000" dirty="0"/>
                  <a:t>In the KP&amp;L example, management was interested in the probability that the project is completed in 10 months or less.</a:t>
                </a:r>
              </a:p>
              <a:p>
                <a:pPr>
                  <a:spcBef>
                    <a:spcPts val="600"/>
                  </a:spcBef>
                  <a:spcAft>
                    <a:spcPts val="0"/>
                  </a:spcAft>
                </a:pPr>
                <a:r>
                  <a:rPr lang="en-US" sz="2000" dirty="0"/>
                  <a:t>From the table in the previous slide, we see that there are six sample points that provide a project completion time of 10 months or less.</a:t>
                </a:r>
              </a:p>
              <a:p>
                <a:pPr>
                  <a:spcBef>
                    <a:spcPts val="600"/>
                  </a:spcBef>
                  <a:spcAft>
                    <a:spcPts val="600"/>
                  </a:spcAft>
                </a:pPr>
                <a:r>
                  <a:rPr lang="en-US" sz="2000" dirty="0"/>
                  <a:t>Let </a:t>
                </a:r>
                <a:r>
                  <a:rPr lang="en-US" sz="2000" i="1" dirty="0"/>
                  <a:t>C</a:t>
                </a:r>
                <a:r>
                  <a:rPr lang="en-US" sz="2000" dirty="0"/>
                  <a:t> denote the event that the project is completed in 10 months or less. Thus, we have:</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𝐶</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r>
                            <m:rPr>
                              <m:nor/>
                            </m:rPr>
                            <a:rPr lang="en-US" sz="2000" b="0" i="0"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7</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8</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3</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r>
                            <m:rPr>
                              <m:nor/>
                            </m:rPr>
                            <a:rPr lang="en-US" sz="2000" b="0" i="0" smtClean="0">
                              <a:latin typeface="Cambria Math" panose="02040503050406030204" pitchFamily="18" charset="0"/>
                            </a:rPr>
                            <m:t>3</m:t>
                          </m:r>
                          <m:r>
                            <m:rPr>
                              <m:nor/>
                            </m:rPr>
                            <a:rPr lang="en-US" sz="2000">
                              <a:latin typeface="Cambria Math" panose="02040503050406030204" pitchFamily="18" charset="0"/>
                            </a:rPr>
                            <m:t>,</m:t>
                          </m:r>
                          <m:r>
                            <m:rPr>
                              <m:nor/>
                            </m:rPr>
                            <a:rPr lang="en-US" sz="2000" b="0" i="0" smtClean="0">
                              <a:latin typeface="Cambria Math" panose="02040503050406030204" pitchFamily="18" charset="0"/>
                            </a:rPr>
                            <m:t> 7</m:t>
                          </m:r>
                          <m:r>
                            <m:rPr>
                              <m:nor/>
                            </m:rPr>
                            <a:rPr lang="en-US" sz="2000">
                              <a:latin typeface="Cambria Math" panose="02040503050406030204" pitchFamily="18" charset="0"/>
                            </a:rPr>
                            <m:t>)</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4</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e>
                      </m:d>
                    </m:oMath>
                  </m:oMathPara>
                </a14:m>
                <a:endParaRPr lang="en-US" sz="2000" dirty="0"/>
              </a:p>
              <a:p>
                <a:pPr>
                  <a:spcBef>
                    <a:spcPts val="600"/>
                  </a:spcBef>
                  <a:spcAft>
                    <a:spcPts val="0"/>
                  </a:spcAft>
                </a:pPr>
                <a:r>
                  <a:rPr lang="en-US" sz="2000" dirty="0"/>
                  <a:t>Other events of interest may be:</a:t>
                </a:r>
              </a:p>
              <a:p>
                <a:pPr marL="284163">
                  <a:spcBef>
                    <a:spcPts val="600"/>
                  </a:spcBef>
                  <a:spcAft>
                    <a:spcPts val="0"/>
                  </a:spcAft>
                  <a:tabLst>
                    <a:tab pos="10515600" algn="r"/>
                  </a:tabLst>
                </a:pPr>
                <a:r>
                  <a:rPr lang="en-US" sz="2000" dirty="0"/>
                  <a:t>L</a:t>
                </a:r>
                <a:r>
                  <a:rPr lang="en-US" sz="2000" i="1" dirty="0"/>
                  <a:t>,</a:t>
                </a:r>
                <a:r>
                  <a:rPr lang="en-US" sz="2000" dirty="0"/>
                  <a:t> the event that the project will complete in less than 10 months:	</a:t>
                </a:r>
                <a14:m>
                  <m:oMath xmlns:m="http://schemas.openxmlformats.org/officeDocument/2006/math">
                    <m:r>
                      <a:rPr lang="en-US" sz="2000" i="1">
                        <a:latin typeface="Cambria Math" panose="02040503050406030204" pitchFamily="18" charset="0"/>
                      </a:rPr>
                      <m:t>𝐿</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r>
                          <m:rPr>
                            <m:nor/>
                          </m:rPr>
                          <a:rPr lang="en-US" sz="2000" b="0" i="0" smtClean="0">
                            <a:latin typeface="Cambria Math" panose="02040503050406030204" pitchFamily="18" charset="0"/>
                          </a:rPr>
                          <m:t>2</m:t>
                        </m:r>
                        <m:r>
                          <m:rPr>
                            <m:nor/>
                          </m:rPr>
                          <a:rPr lang="en-US" sz="2000">
                            <a:latin typeface="Cambria Math" panose="02040503050406030204" pitchFamily="18" charset="0"/>
                          </a:rPr>
                          <m:t>,</m:t>
                        </m:r>
                        <m:r>
                          <m:rPr>
                            <m:nor/>
                          </m:rPr>
                          <a:rPr lang="en-US" sz="2000" b="0" i="0" smtClean="0">
                            <a:latin typeface="Cambria Math" panose="02040503050406030204" pitchFamily="18" charset="0"/>
                          </a:rPr>
                          <m:t> </m:t>
                        </m:r>
                        <m:r>
                          <m:rPr>
                            <m:nor/>
                          </m:rPr>
                          <a:rPr lang="en-US" sz="2000">
                            <a:latin typeface="Cambria Math" panose="02040503050406030204" pitchFamily="18" charset="0"/>
                          </a:rPr>
                          <m:t>7)</m:t>
                        </m:r>
                        <m:r>
                          <a:rPr lang="en-US" sz="2000" i="1">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3</m:t>
                        </m:r>
                        <m:r>
                          <m:rPr>
                            <m:nor/>
                          </m:rPr>
                          <a:rPr lang="en-US" sz="2000">
                            <a:latin typeface="Cambria Math" panose="02040503050406030204" pitchFamily="18" charset="0"/>
                          </a:rPr>
                          <m:t>,</m:t>
                        </m:r>
                        <m:r>
                          <m:rPr>
                            <m:nor/>
                          </m:rPr>
                          <a:rPr lang="en-US" sz="2000" b="0" i="0" smtClean="0">
                            <a:latin typeface="Cambria Math" panose="02040503050406030204" pitchFamily="18" charset="0"/>
                          </a:rPr>
                          <m:t> 6</m:t>
                        </m:r>
                        <m:r>
                          <m:rPr>
                            <m:nor/>
                          </m:rPr>
                          <a:rPr lang="en-US" sz="2000">
                            <a:latin typeface="Cambria Math" panose="02040503050406030204" pitchFamily="18" charset="0"/>
                          </a:rPr>
                          <m:t>)</m:t>
                        </m:r>
                      </m:e>
                    </m:d>
                  </m:oMath>
                </a14:m>
                <a:endParaRPr lang="en-US" sz="2000" dirty="0"/>
              </a:p>
              <a:p>
                <a:pPr marL="284163">
                  <a:spcBef>
                    <a:spcPts val="600"/>
                  </a:spcBef>
                  <a:spcAft>
                    <a:spcPts val="600"/>
                  </a:spcAft>
                  <a:tabLst>
                    <a:tab pos="10515600" algn="r"/>
                  </a:tabLst>
                </a:pPr>
                <a:r>
                  <a:rPr lang="en-US" sz="2000" i="1" dirty="0"/>
                  <a:t>M,</a:t>
                </a:r>
                <a:r>
                  <a:rPr lang="en-US" sz="2000" dirty="0"/>
                  <a:t> the event that the project will complete in more than 10 months:	</a:t>
                </a:r>
                <a14:m>
                  <m:oMath xmlns:m="http://schemas.openxmlformats.org/officeDocument/2006/math">
                    <m:r>
                      <a:rPr lang="en-US" sz="2000" b="0" i="1" smtClean="0">
                        <a:latin typeface="Cambria Math" panose="02040503050406030204" pitchFamily="18" charset="0"/>
                      </a:rPr>
                      <m:t>𝑀</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m:rPr>
                            <m:nor/>
                          </m:rPr>
                          <a:rPr lang="en-US" sz="2000">
                            <a:latin typeface="Cambria Math" panose="02040503050406030204" pitchFamily="18" charset="0"/>
                          </a:rPr>
                          <m:t>(</m:t>
                        </m:r>
                        <m:r>
                          <m:rPr>
                            <m:nor/>
                          </m:rPr>
                          <a:rPr lang="en-US" sz="2000" b="0" i="0" smtClean="0">
                            <a:latin typeface="Cambria Math" panose="02040503050406030204" pitchFamily="18" charset="0"/>
                          </a:rPr>
                          <m:t>3</m:t>
                        </m:r>
                        <m:r>
                          <m:rPr>
                            <m:nor/>
                          </m:rPr>
                          <a:rPr lang="en-US" sz="2000">
                            <a:latin typeface="Cambria Math" panose="02040503050406030204" pitchFamily="18" charset="0"/>
                          </a:rPr>
                          <m:t>,</m:t>
                        </m:r>
                        <m:r>
                          <m:rPr>
                            <m:nor/>
                          </m:rPr>
                          <a:rPr lang="en-US" sz="2000" b="0" i="0" smtClean="0">
                            <a:latin typeface="Cambria Math" panose="02040503050406030204" pitchFamily="18" charset="0"/>
                          </a:rPr>
                          <m:t> 8</m:t>
                        </m:r>
                        <m:r>
                          <m:rPr>
                            <m:nor/>
                          </m:rPr>
                          <a:rPr lang="en-US" sz="2000">
                            <a:latin typeface="Cambria Math" panose="02040503050406030204" pitchFamily="18" charset="0"/>
                          </a:rPr>
                          <m:t>)</m:t>
                        </m:r>
                        <m:r>
                          <m:rPr>
                            <m:nor/>
                          </m:rPr>
                          <a:rPr lang="en-US" sz="2000" b="0" i="0"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4</m:t>
                        </m:r>
                        <m:r>
                          <m:rPr>
                            <m:nor/>
                          </m:rPr>
                          <a:rPr lang="en-US" sz="2000">
                            <a:latin typeface="Cambria Math" panose="02040503050406030204" pitchFamily="18" charset="0"/>
                          </a:rPr>
                          <m:t>,</m:t>
                        </m:r>
                        <m:r>
                          <m:rPr>
                            <m:nor/>
                          </m:rPr>
                          <a:rPr lang="en-US" sz="2000" b="0" i="0" smtClean="0">
                            <a:latin typeface="Cambria Math" panose="02040503050406030204" pitchFamily="18" charset="0"/>
                          </a:rPr>
                          <m:t> 7</m:t>
                        </m:r>
                        <m:r>
                          <m:rPr>
                            <m:nor/>
                          </m:rPr>
                          <a:rPr lang="en-US" sz="2000">
                            <a:latin typeface="Cambria Math" panose="02040503050406030204" pitchFamily="18" charset="0"/>
                          </a:rPr>
                          <m:t>)</m:t>
                        </m:r>
                        <m:r>
                          <a:rPr lang="en-US" sz="2000" b="0" i="1" smtClean="0">
                            <a:latin typeface="Cambria Math" panose="02040503050406030204" pitchFamily="18" charset="0"/>
                          </a:rPr>
                          <m:t>,</m:t>
                        </m:r>
                        <m:r>
                          <m:rPr>
                            <m:nor/>
                          </m:rPr>
                          <a:rPr lang="en-US" sz="2000">
                            <a:latin typeface="Cambria Math" panose="02040503050406030204" pitchFamily="18" charset="0"/>
                          </a:rPr>
                          <m:t>(</m:t>
                        </m:r>
                        <m:r>
                          <m:rPr>
                            <m:nor/>
                          </m:rPr>
                          <a:rPr lang="en-US" sz="2000" b="0" i="0" smtClean="0">
                            <a:latin typeface="Cambria Math" panose="02040503050406030204" pitchFamily="18" charset="0"/>
                          </a:rPr>
                          <m:t>4</m:t>
                        </m:r>
                        <m:r>
                          <m:rPr>
                            <m:nor/>
                          </m:rPr>
                          <a:rPr lang="en-US" sz="2000">
                            <a:latin typeface="Cambria Math" panose="02040503050406030204" pitchFamily="18" charset="0"/>
                          </a:rPr>
                          <m:t>,</m:t>
                        </m:r>
                        <m:r>
                          <m:rPr>
                            <m:nor/>
                          </m:rPr>
                          <a:rPr lang="en-US" sz="2000" b="0" i="0" smtClean="0">
                            <a:latin typeface="Cambria Math" panose="02040503050406030204" pitchFamily="18" charset="0"/>
                          </a:rPr>
                          <m:t> 8</m:t>
                        </m:r>
                        <m:r>
                          <m:rPr>
                            <m:nor/>
                          </m:rPr>
                          <a:rPr lang="en-US" sz="2000">
                            <a:latin typeface="Cambria Math" panose="02040503050406030204" pitchFamily="18" charset="0"/>
                          </a:rPr>
                          <m:t>)</m:t>
                        </m:r>
                      </m:e>
                    </m:d>
                  </m:oMath>
                </a14:m>
                <a:endParaRPr lang="en-US" sz="2000" i="1" dirty="0"/>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0228" y="1292177"/>
                <a:ext cx="10711543" cy="4424746"/>
              </a:xfrm>
              <a:blipFill>
                <a:blip r:embed="rId2"/>
                <a:stretch>
                  <a:fillRect l="-1422" t="-1653"/>
                </a:stretch>
              </a:blipFill>
            </p:spPr>
            <p:txBody>
              <a:bodyPr/>
              <a:lstStyle/>
              <a:p>
                <a:r>
                  <a:rPr lang="en-US">
                    <a:noFill/>
                  </a:rPr>
                  <a:t> </a:t>
                </a:r>
              </a:p>
            </p:txBody>
          </p:sp>
        </mc:Fallback>
      </mc:AlternateContent>
    </p:spTree>
    <p:extLst>
      <p:ext uri="{BB962C8B-B14F-4D97-AF65-F5344CB8AC3E}">
        <p14:creationId xmlns:p14="http://schemas.microsoft.com/office/powerpoint/2010/main" val="3753120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4.2 Probability of an Event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7" y="1362724"/>
                <a:ext cx="10610224" cy="4354197"/>
              </a:xfrm>
            </p:spPr>
            <p:txBody>
              <a:bodyPr/>
              <a:lstStyle/>
              <a:p>
                <a:pPr>
                  <a:spcBef>
                    <a:spcPts val="600"/>
                  </a:spcBef>
                  <a:spcAft>
                    <a:spcPts val="600"/>
                  </a:spcAft>
                </a:pPr>
                <a:r>
                  <a:rPr lang="en-US" sz="2000" dirty="0"/>
                  <a:t>The </a:t>
                </a:r>
                <a:r>
                  <a:rPr lang="en-US" sz="2000" b="1" dirty="0"/>
                  <a:t>probability of an event </a:t>
                </a:r>
                <a:r>
                  <a:rPr lang="en-US" sz="2000" dirty="0"/>
                  <a:t>is equal to the sum of the probabilities of the sample points in the event.</a:t>
                </a:r>
              </a:p>
              <a:p>
                <a:pPr>
                  <a:spcBef>
                    <a:spcPts val="600"/>
                  </a:spcBef>
                  <a:spcAft>
                    <a:spcPts val="600"/>
                  </a:spcAft>
                </a:pPr>
                <a:r>
                  <a:rPr lang="en-US" sz="2000" dirty="0"/>
                  <a:t>We can calculate the probability that the KP&amp;L project is completed in 10 months or less by adding the probabilities of the six sample points belonging to event </a:t>
                </a:r>
                <a:r>
                  <a:rPr lang="en-US" sz="2000" i="1" dirty="0"/>
                  <a:t>C</a:t>
                </a:r>
                <a:r>
                  <a:rPr lang="en-US" sz="2000" dirty="0"/>
                  <a:t>.</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𝐶</m:t>
                      </m:r>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i="1">
                          <a:latin typeface="Cambria Math" panose="02040503050406030204" pitchFamily="18" charset="0"/>
                        </a:rPr>
                        <m:t>(2,</m:t>
                      </m:r>
                      <m:r>
                        <a:rPr lang="en-US" sz="2000" b="0" i="1" smtClean="0">
                          <a:latin typeface="Cambria Math" panose="02040503050406030204" pitchFamily="18" charset="0"/>
                        </a:rPr>
                        <m:t> </m:t>
                      </m:r>
                      <m:r>
                        <a:rPr lang="en-US" sz="2000" i="1">
                          <a:latin typeface="Cambria Math" panose="02040503050406030204" pitchFamily="18" charset="0"/>
                        </a:rPr>
                        <m:t>6)</m:t>
                      </m:r>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i="1">
                          <a:latin typeface="Cambria Math" panose="02040503050406030204" pitchFamily="18" charset="0"/>
                        </a:rPr>
                        <m:t>(2,</m:t>
                      </m:r>
                      <m:r>
                        <a:rPr lang="en-US" sz="2000" b="0" i="1" smtClean="0">
                          <a:latin typeface="Cambria Math" panose="02040503050406030204" pitchFamily="18" charset="0"/>
                        </a:rPr>
                        <m:t> </m:t>
                      </m:r>
                      <m:r>
                        <a:rPr lang="en-US" sz="2000" i="1">
                          <a:latin typeface="Cambria Math" panose="02040503050406030204" pitchFamily="18" charset="0"/>
                        </a:rPr>
                        <m:t>7)+</m:t>
                      </m:r>
                      <m:r>
                        <a:rPr lang="en-US" sz="2000" i="1">
                          <a:latin typeface="Cambria Math" panose="02040503050406030204" pitchFamily="18" charset="0"/>
                        </a:rPr>
                        <m:t>𝑃</m:t>
                      </m:r>
                      <m:r>
                        <a:rPr lang="en-US" sz="2000" i="1">
                          <a:latin typeface="Cambria Math" panose="02040503050406030204" pitchFamily="18" charset="0"/>
                        </a:rPr>
                        <m:t>(2, 8)+</m:t>
                      </m:r>
                      <m:r>
                        <a:rPr lang="en-US" sz="2000" i="1">
                          <a:latin typeface="Cambria Math" panose="02040503050406030204" pitchFamily="18" charset="0"/>
                        </a:rPr>
                        <m:t>𝑃</m:t>
                      </m:r>
                      <m:r>
                        <a:rPr lang="en-US" sz="2000" i="1">
                          <a:latin typeface="Cambria Math" panose="02040503050406030204" pitchFamily="18" charset="0"/>
                        </a:rPr>
                        <m:t>(3, 6)+</m:t>
                      </m:r>
                      <m:r>
                        <a:rPr lang="en-US" sz="2000" i="1">
                          <a:latin typeface="Cambria Math" panose="02040503050406030204" pitchFamily="18" charset="0"/>
                        </a:rPr>
                        <m:t>𝑃</m:t>
                      </m:r>
                      <m:r>
                        <a:rPr lang="en-US" sz="2000" i="1">
                          <a:latin typeface="Cambria Math" panose="02040503050406030204" pitchFamily="18" charset="0"/>
                        </a:rPr>
                        <m:t>(3, 7)+</m:t>
                      </m:r>
                      <m:r>
                        <a:rPr lang="en-US" sz="2000" i="1">
                          <a:latin typeface="Cambria Math" panose="02040503050406030204" pitchFamily="18" charset="0"/>
                        </a:rPr>
                        <m:t>𝑃</m:t>
                      </m:r>
                      <m:r>
                        <a:rPr lang="en-US" sz="2000" i="1">
                          <a:latin typeface="Cambria Math" panose="02040503050406030204" pitchFamily="18" charset="0"/>
                        </a:rPr>
                        <m:t>(4, 6)</m:t>
                      </m:r>
                    </m:oMath>
                  </m:oMathPara>
                </a14:m>
                <a:endParaRPr lang="en-US" sz="2000" dirty="0"/>
              </a:p>
              <a:p>
                <a:pPr>
                  <a:spcBef>
                    <a:spcPts val="600"/>
                  </a:spcBef>
                  <a:spcAft>
                    <a:spcPts val="600"/>
                  </a:spcAft>
                </a:pPr>
                <a:r>
                  <a:rPr lang="en-US" sz="2000" dirty="0"/>
                  <a:t>If we refer to the sample point probabilities listed in the previous table,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𝐶</m:t>
                          </m:r>
                        </m:e>
                      </m:d>
                      <m:r>
                        <a:rPr lang="en-US" sz="2000" b="0" i="1" smtClean="0">
                          <a:latin typeface="Cambria Math" panose="02040503050406030204" pitchFamily="18" charset="0"/>
                        </a:rPr>
                        <m:t>=0.15+0.15+0.05+0.10+0.20+0.05=0.7</m:t>
                      </m:r>
                    </m:oMath>
                  </m:oMathPara>
                </a14:m>
                <a:endParaRPr lang="en-US" sz="2000" dirty="0"/>
              </a:p>
              <a:p>
                <a:pPr>
                  <a:spcBef>
                    <a:spcPts val="600"/>
                  </a:spcBef>
                  <a:spcAft>
                    <a:spcPts val="600"/>
                  </a:spcAft>
                </a:pPr>
                <a:r>
                  <a:rPr lang="en-US" sz="2000" dirty="0"/>
                  <a:t>Similarly, the probability that the KP&amp;L project is completed in less than 10 months is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𝐿</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a:latin typeface="Cambria Math" panose="02040503050406030204" pitchFamily="18" charset="0"/>
                            </a:rPr>
                          </m:ctrlPr>
                        </m:dPr>
                        <m:e>
                          <m:r>
                            <a:rPr lang="en-US" sz="2000" i="1">
                              <a:latin typeface="Cambria Math" panose="02040503050406030204" pitchFamily="18" charset="0"/>
                            </a:rPr>
                            <m:t>2,</m:t>
                          </m:r>
                          <m:r>
                            <a:rPr lang="en-US" sz="2000" b="0" i="1" smtClean="0">
                              <a:latin typeface="Cambria Math" panose="02040503050406030204" pitchFamily="18" charset="0"/>
                            </a:rPr>
                            <m:t> </m:t>
                          </m:r>
                          <m:r>
                            <a:rPr lang="en-US" sz="2000" i="1">
                              <a:latin typeface="Cambria Math" panose="02040503050406030204" pitchFamily="18" charset="0"/>
                            </a:rPr>
                            <m:t>6</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a:latin typeface="Cambria Math" panose="02040503050406030204" pitchFamily="18" charset="0"/>
                            </a:rPr>
                          </m:ctrlPr>
                        </m:dPr>
                        <m:e>
                          <m:r>
                            <a:rPr lang="en-US" sz="2000" i="1">
                              <a:latin typeface="Cambria Math" panose="02040503050406030204" pitchFamily="18" charset="0"/>
                            </a:rPr>
                            <m:t>2,</m:t>
                          </m:r>
                          <m:r>
                            <a:rPr lang="en-US" sz="2000" b="0" i="1" smtClean="0">
                              <a:latin typeface="Cambria Math" panose="02040503050406030204" pitchFamily="18" charset="0"/>
                            </a:rPr>
                            <m:t> </m:t>
                          </m:r>
                          <m:r>
                            <a:rPr lang="en-US" sz="2000" i="1">
                              <a:latin typeface="Cambria Math" panose="02040503050406030204" pitchFamily="18" charset="0"/>
                            </a:rPr>
                            <m:t>7</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3</m:t>
                          </m:r>
                          <m:r>
                            <a:rPr lang="en-US" sz="2000" i="1">
                              <a:latin typeface="Cambria Math" panose="02040503050406030204" pitchFamily="18" charset="0"/>
                            </a:rPr>
                            <m:t>,</m:t>
                          </m:r>
                          <m:r>
                            <a:rPr lang="en-US" sz="2000" b="0" i="1" smtClean="0">
                              <a:latin typeface="Cambria Math" panose="02040503050406030204" pitchFamily="18" charset="0"/>
                            </a:rPr>
                            <m:t> 6</m:t>
                          </m:r>
                        </m:e>
                      </m:d>
                      <m:r>
                        <a:rPr lang="en-US" sz="2000" b="0" i="1" smtClean="0">
                          <a:latin typeface="Cambria Math" panose="02040503050406030204" pitchFamily="18" charset="0"/>
                        </a:rPr>
                        <m:t>=0.15+0.15+0.10=0.4</m:t>
                      </m:r>
                    </m:oMath>
                  </m:oMathPara>
                </a14:m>
                <a:endParaRPr lang="en-US" sz="2000" dirty="0"/>
              </a:p>
              <a:p>
                <a:pPr>
                  <a:spcBef>
                    <a:spcPts val="600"/>
                  </a:spcBef>
                  <a:spcAft>
                    <a:spcPts val="600"/>
                  </a:spcAft>
                </a:pPr>
                <a:r>
                  <a:rPr lang="en-US" sz="2000" dirty="0"/>
                  <a:t>And the probability that the KP&amp;L project is completed in more than 10 months is</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𝑀</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a:latin typeface="Cambria Math" panose="02040503050406030204" pitchFamily="18" charset="0"/>
                            </a:rPr>
                          </m:ctrlPr>
                        </m:dPr>
                        <m:e>
                          <m:r>
                            <a:rPr lang="en-US" sz="2000" b="0" i="1" smtClean="0">
                              <a:latin typeface="Cambria Math" panose="02040503050406030204" pitchFamily="18" charset="0"/>
                            </a:rPr>
                            <m:t>3</m:t>
                          </m:r>
                          <m:r>
                            <a:rPr lang="en-US" sz="2000" i="1">
                              <a:latin typeface="Cambria Math" panose="02040503050406030204" pitchFamily="18" charset="0"/>
                            </a:rPr>
                            <m:t>,</m:t>
                          </m:r>
                          <m:r>
                            <a:rPr lang="en-US" sz="2000" b="0" i="1" smtClean="0">
                              <a:latin typeface="Cambria Math" panose="02040503050406030204" pitchFamily="18" charset="0"/>
                            </a:rPr>
                            <m:t> 8</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a:latin typeface="Cambria Math" panose="02040503050406030204" pitchFamily="18" charset="0"/>
                            </a:rPr>
                          </m:ctrlPr>
                        </m:dPr>
                        <m:e>
                          <m:r>
                            <a:rPr lang="en-US" sz="2000" b="0" i="1" smtClean="0">
                              <a:latin typeface="Cambria Math" panose="02040503050406030204" pitchFamily="18" charset="0"/>
                            </a:rPr>
                            <m:t>4</m:t>
                          </m:r>
                          <m:r>
                            <a:rPr lang="en-US" sz="2000" i="1">
                              <a:latin typeface="Cambria Math" panose="02040503050406030204" pitchFamily="18" charset="0"/>
                            </a:rPr>
                            <m:t>,</m:t>
                          </m:r>
                          <m:r>
                            <a:rPr lang="en-US" sz="2000" b="0" i="1" smtClean="0">
                              <a:latin typeface="Cambria Math" panose="02040503050406030204" pitchFamily="18" charset="0"/>
                            </a:rPr>
                            <m:t> </m:t>
                          </m:r>
                          <m:r>
                            <a:rPr lang="en-US" sz="2000" i="1">
                              <a:latin typeface="Cambria Math" panose="02040503050406030204" pitchFamily="18" charset="0"/>
                            </a:rPr>
                            <m:t>7</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4</m:t>
                          </m:r>
                          <m:r>
                            <a:rPr lang="en-US" sz="2000" i="1">
                              <a:latin typeface="Cambria Math" panose="02040503050406030204" pitchFamily="18" charset="0"/>
                            </a:rPr>
                            <m:t>,</m:t>
                          </m:r>
                          <m:r>
                            <a:rPr lang="en-US" sz="2000" b="0" i="1" smtClean="0">
                              <a:latin typeface="Cambria Math" panose="02040503050406030204" pitchFamily="18" charset="0"/>
                            </a:rPr>
                            <m:t> 8</m:t>
                          </m:r>
                        </m:e>
                      </m:d>
                      <m:r>
                        <a:rPr lang="en-US" sz="2000" b="0" i="1" smtClean="0">
                          <a:latin typeface="Cambria Math" panose="02040503050406030204" pitchFamily="18" charset="0"/>
                        </a:rPr>
                        <m:t>=0.05+0.10+0.15=0.3</m:t>
                      </m:r>
                    </m:oMath>
                  </m:oMathPara>
                </a14:m>
                <a:endParaRPr lang="en-US" sz="2000" dirty="0"/>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7" y="1362724"/>
                <a:ext cx="10610224" cy="4354197"/>
              </a:xfrm>
              <a:blipFill>
                <a:blip r:embed="rId2"/>
                <a:stretch>
                  <a:fillRect l="-1493" t="-1681" r="-1723"/>
                </a:stretch>
              </a:blipFill>
            </p:spPr>
            <p:txBody>
              <a:bodyPr/>
              <a:lstStyle/>
              <a:p>
                <a:r>
                  <a:rPr lang="en-US">
                    <a:noFill/>
                  </a:rPr>
                  <a:t> </a:t>
                </a:r>
              </a:p>
            </p:txBody>
          </p:sp>
        </mc:Fallback>
      </mc:AlternateContent>
    </p:spTree>
    <p:extLst>
      <p:ext uri="{BB962C8B-B14F-4D97-AF65-F5344CB8AC3E}">
        <p14:creationId xmlns:p14="http://schemas.microsoft.com/office/powerpoint/2010/main" val="76280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solidFill>
                  <a:srgbClr val="D14B1E"/>
                </a:solidFill>
              </a:rPr>
              <a:t>4.3 Some Basic Relationships of Probability</a:t>
            </a:r>
          </a:p>
        </p:txBody>
      </p:sp>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7" y="1324304"/>
            <a:ext cx="10610224" cy="4540468"/>
          </a:xfrm>
        </p:spPr>
        <p:txBody>
          <a:bodyPr/>
          <a:lstStyle/>
          <a:p>
            <a:pPr>
              <a:spcAft>
                <a:spcPts val="0"/>
              </a:spcAft>
            </a:pPr>
            <a:r>
              <a:rPr lang="en-US" sz="2000" dirty="0"/>
              <a:t>In an experiment with a large number of sample points, the identification of all the sample points, as well as the determination of their associated probabilities, can become an extremely cumbersome task. </a:t>
            </a:r>
          </a:p>
          <a:p>
            <a:pPr>
              <a:spcAft>
                <a:spcPts val="0"/>
              </a:spcAft>
            </a:pPr>
            <a:r>
              <a:rPr lang="en-US" sz="2000" dirty="0"/>
              <a:t>In this section, we present some basic probability relationships that can be used to compute the probability of an event without knowledge of all the sample point probabilities.</a:t>
            </a:r>
          </a:p>
          <a:p>
            <a:pPr>
              <a:spcAft>
                <a:spcPts val="0"/>
              </a:spcAft>
            </a:pPr>
            <a:r>
              <a:rPr lang="en-US" sz="2000" dirty="0"/>
              <a:t>These basic relationships of probability are:</a:t>
            </a:r>
          </a:p>
          <a:p>
            <a:pPr marL="914400" indent="-342900">
              <a:spcAft>
                <a:spcPts val="0"/>
              </a:spcAft>
              <a:buFont typeface="Arial" panose="020B0604020202020204" pitchFamily="34" charset="0"/>
              <a:buChar char="•"/>
            </a:pPr>
            <a:r>
              <a:rPr lang="en-US" sz="2000" dirty="0"/>
              <a:t>The complement of an event</a:t>
            </a:r>
          </a:p>
          <a:p>
            <a:pPr marL="914400" indent="-342900">
              <a:spcAft>
                <a:spcPts val="0"/>
              </a:spcAft>
              <a:buFont typeface="Arial" panose="020B0604020202020204" pitchFamily="34" charset="0"/>
              <a:buChar char="•"/>
            </a:pPr>
            <a:r>
              <a:rPr lang="en-US" sz="2000" dirty="0"/>
              <a:t>The union of two events</a:t>
            </a:r>
          </a:p>
          <a:p>
            <a:pPr marL="914400" indent="-342900">
              <a:spcAft>
                <a:spcPts val="0"/>
              </a:spcAft>
              <a:buFont typeface="Arial" panose="020B0604020202020204" pitchFamily="34" charset="0"/>
              <a:buChar char="•"/>
            </a:pPr>
            <a:r>
              <a:rPr lang="en-US" sz="2000" dirty="0"/>
              <a:t>The intersection of two events</a:t>
            </a:r>
          </a:p>
          <a:p>
            <a:pPr marL="914400" indent="-342900">
              <a:spcAft>
                <a:spcPts val="0"/>
              </a:spcAft>
              <a:buFont typeface="Arial" panose="020B0604020202020204" pitchFamily="34" charset="0"/>
              <a:buChar char="•"/>
            </a:pPr>
            <a:r>
              <a:rPr lang="en-US" sz="2000" dirty="0"/>
              <a:t>The addition law</a:t>
            </a:r>
          </a:p>
          <a:p>
            <a:pPr marL="914400" indent="-342900">
              <a:spcAft>
                <a:spcPts val="0"/>
              </a:spcAft>
              <a:buFont typeface="Arial" panose="020B0604020202020204" pitchFamily="34" charset="0"/>
              <a:buChar char="•"/>
            </a:pPr>
            <a:r>
              <a:rPr lang="en-US" sz="2000" dirty="0"/>
              <a:t>The multiplication law</a:t>
            </a:r>
          </a:p>
        </p:txBody>
      </p:sp>
    </p:spTree>
    <p:extLst>
      <p:ext uri="{BB962C8B-B14F-4D97-AF65-F5344CB8AC3E}">
        <p14:creationId xmlns:p14="http://schemas.microsoft.com/office/powerpoint/2010/main" val="1088601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t>4.3 Complement of an Event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379033"/>
                <a:ext cx="10610223" cy="4422678"/>
              </a:xfrm>
            </p:spPr>
            <p:txBody>
              <a:bodyPr/>
              <a:lstStyle/>
              <a:p>
                <a:pPr>
                  <a:spcBef>
                    <a:spcPts val="1000"/>
                  </a:spcBef>
                </a:pPr>
                <a:r>
                  <a:rPr lang="en-US" sz="2000" dirty="0"/>
                  <a:t>The </a:t>
                </a:r>
                <a:r>
                  <a:rPr lang="en-US" sz="2000" b="1" dirty="0"/>
                  <a:t>complement</a:t>
                </a:r>
                <a:r>
                  <a:rPr lang="en-US" sz="2000" dirty="0"/>
                  <a:t> </a:t>
                </a:r>
                <a:r>
                  <a:rPr lang="en-US" sz="2000" b="1" dirty="0"/>
                  <a:t>of event </a:t>
                </a:r>
                <a14:m>
                  <m:oMath xmlns:m="http://schemas.openxmlformats.org/officeDocument/2006/math">
                    <m:r>
                      <a:rPr lang="en-US" sz="2000" b="1" i="1" dirty="0" smtClean="0">
                        <a:latin typeface="Cambria Math" panose="02040503050406030204" pitchFamily="18" charset="0"/>
                      </a:rPr>
                      <m:t>𝑨</m:t>
                    </m:r>
                  </m:oMath>
                </a14:m>
                <a:r>
                  <a:rPr lang="en-US" sz="2000" b="1" dirty="0"/>
                  <a:t> </a:t>
                </a:r>
                <a:r>
                  <a:rPr lang="en-US" sz="2000" dirty="0"/>
                  <a:t>is defined as the event consisting of all sample points that are </a:t>
                </a:r>
                <a:r>
                  <a:rPr lang="en-US" sz="2000" i="1" dirty="0"/>
                  <a:t>not</a:t>
                </a:r>
                <a:r>
                  <a:rPr lang="en-US" sz="2000" dirty="0"/>
                  <a:t> in </a:t>
                </a:r>
                <a14:m>
                  <m:oMath xmlns:m="http://schemas.openxmlformats.org/officeDocument/2006/math">
                    <m:r>
                      <a:rPr lang="en-US" sz="2000" i="1" dirty="0" smtClean="0">
                        <a:latin typeface="Cambria Math" panose="02040503050406030204" pitchFamily="18" charset="0"/>
                      </a:rPr>
                      <m:t>𝐴</m:t>
                    </m:r>
                  </m:oMath>
                </a14:m>
                <a:r>
                  <a:rPr lang="en-US" sz="2000" dirty="0"/>
                  <a:t>. </a:t>
                </a:r>
              </a:p>
              <a:p>
                <a:pPr>
                  <a:spcBef>
                    <a:spcPts val="1000"/>
                  </a:spcBef>
                </a:pPr>
                <a:r>
                  <a:rPr lang="en-US" sz="2000" dirty="0"/>
                  <a:t>The complement of </a:t>
                </a:r>
                <a14:m>
                  <m:oMath xmlns:m="http://schemas.openxmlformats.org/officeDocument/2006/math">
                    <m:r>
                      <a:rPr lang="en-US" sz="2000" i="1" dirty="0" smtClean="0">
                        <a:latin typeface="Cambria Math" panose="02040503050406030204" pitchFamily="18" charset="0"/>
                      </a:rPr>
                      <m:t>𝐴</m:t>
                    </m:r>
                  </m:oMath>
                </a14:m>
                <a:r>
                  <a:rPr lang="en-US" sz="2000" dirty="0"/>
                  <a:t> is denoted by </a:t>
                </a:r>
                <a14:m>
                  <m:oMath xmlns:m="http://schemas.openxmlformats.org/officeDocument/2006/math">
                    <m:r>
                      <a:rPr lang="en-US" sz="2000" i="1" dirty="0" smtClean="0">
                        <a:latin typeface="Cambria Math" panose="02040503050406030204" pitchFamily="18" charset="0"/>
                      </a:rPr>
                      <m:t>𝐴</m:t>
                    </m:r>
                    <m:r>
                      <a:rPr lang="en-US" sz="2000" i="1" baseline="30000" dirty="0">
                        <a:latin typeface="Cambria Math" panose="02040503050406030204" pitchFamily="18" charset="0"/>
                      </a:rPr>
                      <m:t>𝐶</m:t>
                    </m:r>
                  </m:oMath>
                </a14:m>
                <a:r>
                  <a:rPr lang="en-US" sz="2000" dirty="0"/>
                  <a:t>. </a:t>
                </a:r>
              </a:p>
              <a:p>
                <a:pPr>
                  <a:spcBef>
                    <a:spcPts val="1000"/>
                  </a:spcBef>
                </a:pPr>
                <a:r>
                  <a:rPr lang="en-US" sz="2000" dirty="0"/>
                  <a:t>In any probability application, either event </a:t>
                </a:r>
                <a14:m>
                  <m:oMath xmlns:m="http://schemas.openxmlformats.org/officeDocument/2006/math">
                    <m:r>
                      <a:rPr lang="en-US" sz="2000" i="1" dirty="0" smtClean="0">
                        <a:latin typeface="Cambria Math" panose="02040503050406030204" pitchFamily="18" charset="0"/>
                      </a:rPr>
                      <m:t>𝐴</m:t>
                    </m:r>
                  </m:oMath>
                </a14:m>
                <a:r>
                  <a:rPr lang="en-US" sz="2000" dirty="0"/>
                  <a:t> or its complement </a:t>
                </a:r>
                <a14:m>
                  <m:oMath xmlns:m="http://schemas.openxmlformats.org/officeDocument/2006/math">
                    <m:r>
                      <a:rPr lang="en-US" sz="2000" i="1" dirty="0" smtClean="0">
                        <a:latin typeface="Cambria Math" panose="02040503050406030204" pitchFamily="18" charset="0"/>
                      </a:rPr>
                      <m:t>𝐴</m:t>
                    </m:r>
                    <m:r>
                      <a:rPr lang="en-US" sz="2000" i="1" baseline="30000" dirty="0">
                        <a:latin typeface="Cambria Math" panose="02040503050406030204" pitchFamily="18" charset="0"/>
                      </a:rPr>
                      <m:t>𝐶</m:t>
                    </m:r>
                  </m:oMath>
                </a14:m>
                <a:r>
                  <a:rPr lang="en-US" sz="2000" dirty="0"/>
                  <a:t> must occur, as shown in the Venn diagram to the right.</a:t>
                </a:r>
              </a:p>
              <a:p>
                <a:pPr>
                  <a:spcBef>
                    <a:spcPts val="1000"/>
                  </a:spcBef>
                  <a:spcAft>
                    <a:spcPts val="600"/>
                  </a:spcAft>
                </a:pPr>
                <a:r>
                  <a:rPr lang="en-US" sz="2000" dirty="0"/>
                  <a:t>Therefore, we have</a:t>
                </a:r>
              </a:p>
              <a:p>
                <a:pPr marL="914400">
                  <a:spcBef>
                    <a:spcPts val="1000"/>
                  </a:spcBef>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𝐴</m:t>
                              </m:r>
                            </m:e>
                            <m:sup>
                              <m:r>
                                <a:rPr lang="en-US" sz="2000" b="0" i="1" smtClean="0">
                                  <a:latin typeface="Cambria Math" panose="02040503050406030204" pitchFamily="18" charset="0"/>
                                </a:rPr>
                                <m:t>𝐶</m:t>
                              </m:r>
                            </m:sup>
                          </m:sSup>
                        </m:e>
                      </m:d>
                      <m:r>
                        <a:rPr lang="en-US" sz="2000" b="0" i="1" smtClean="0">
                          <a:latin typeface="Cambria Math" panose="02040503050406030204" pitchFamily="18" charset="0"/>
                        </a:rPr>
                        <m:t>=1</m:t>
                      </m:r>
                    </m:oMath>
                  </m:oMathPara>
                </a14:m>
                <a:endParaRPr lang="en-US" sz="2000" dirty="0"/>
              </a:p>
              <a:p>
                <a:pPr>
                  <a:spcBef>
                    <a:spcPts val="1000"/>
                  </a:spcBef>
                </a:pPr>
                <a:r>
                  <a:rPr lang="en-US" sz="2000" dirty="0"/>
                  <a:t>Solving for </a:t>
                </a:r>
                <a14:m>
                  <m:oMath xmlns:m="http://schemas.openxmlformats.org/officeDocument/2006/math">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smtClean="0">
                        <a:latin typeface="Cambria Math" panose="02040503050406030204" pitchFamily="18" charset="0"/>
                      </a:rPr>
                      <m:t>𝐴</m:t>
                    </m:r>
                    <m:r>
                      <a:rPr lang="en-US" sz="2000" i="1" dirty="0" smtClean="0">
                        <a:latin typeface="Cambria Math" panose="02040503050406030204" pitchFamily="18" charset="0"/>
                      </a:rPr>
                      <m:t>)</m:t>
                    </m:r>
                  </m:oMath>
                </a14:m>
                <a:r>
                  <a:rPr lang="en-US" sz="2000" dirty="0"/>
                  <a:t>, we obtain the</a:t>
                </a:r>
              </a:p>
              <a:p>
                <a:pPr>
                  <a:spcBef>
                    <a:spcPts val="0"/>
                  </a:spcBef>
                </a:pPr>
                <a:r>
                  <a:rPr lang="en-US" sz="2000" dirty="0"/>
                  <a:t>formula for the probability of</a:t>
                </a:r>
              </a:p>
              <a:p>
                <a:pPr>
                  <a:spcBef>
                    <a:spcPts val="0"/>
                  </a:spcBef>
                  <a:spcAft>
                    <a:spcPts val="600"/>
                  </a:spcAft>
                </a:pPr>
                <a:r>
                  <a:rPr lang="en-US" sz="2000" dirty="0"/>
                  <a:t>the complement of an event</a:t>
                </a:r>
              </a:p>
              <a:p>
                <a:pPr marL="914400">
                  <a:spcBef>
                    <a:spcPts val="1000"/>
                  </a:spcBef>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e>
                      </m:d>
                      <m:r>
                        <a:rPr lang="en-US" sz="2000" b="1" i="1" smtClean="0">
                          <a:latin typeface="Cambria Math" panose="02040503050406030204" pitchFamily="18" charset="0"/>
                        </a:rPr>
                        <m:t>=</m:t>
                      </m:r>
                      <m:r>
                        <a:rPr lang="en-US" sz="2000" b="1" i="1" smtClean="0">
                          <a:latin typeface="Cambria Math" panose="02040503050406030204" pitchFamily="18" charset="0"/>
                        </a:rPr>
                        <m:t>𝟏</m:t>
                      </m:r>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𝑨</m:t>
                              </m:r>
                            </m:e>
                            <m:sup>
                              <m:r>
                                <a:rPr lang="en-US" sz="2000" b="1" i="1" smtClean="0">
                                  <a:latin typeface="Cambria Math" panose="02040503050406030204" pitchFamily="18" charset="0"/>
                                </a:rPr>
                                <m:t>𝑪</m:t>
                              </m:r>
                            </m:sup>
                          </m:sSup>
                        </m:e>
                      </m:d>
                    </m:oMath>
                  </m:oMathPara>
                </a14:m>
                <a:endParaRPr lang="en-US" sz="2000" b="1" dirty="0"/>
              </a:p>
              <a:p>
                <a:pPr>
                  <a:spcBef>
                    <a:spcPts val="1000"/>
                  </a:spcBef>
                </a:pPr>
                <a:endParaRPr lang="en-US" sz="2000" dirty="0"/>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379033"/>
                <a:ext cx="10610223" cy="4422678"/>
              </a:xfrm>
              <a:blipFill>
                <a:blip r:embed="rId3"/>
                <a:stretch>
                  <a:fillRect l="-1493" t="-1653" r="-1206"/>
                </a:stretch>
              </a:blipFill>
            </p:spPr>
            <p:txBody>
              <a:bodyPr/>
              <a:lstStyle/>
              <a:p>
                <a:r>
                  <a:rPr lang="en-US">
                    <a:noFill/>
                  </a:rPr>
                  <a:t> </a:t>
                </a:r>
              </a:p>
            </p:txBody>
          </p:sp>
        </mc:Fallback>
      </mc:AlternateContent>
      <p:pic>
        <p:nvPicPr>
          <p:cNvPr id="8" name="Picture Placeholder 7" descr="A Venn diagram shows complete of event A. A circle, labeled “Event A” is inside a rectangle, labeled “Sample Space S.” The region around the circle inside the rectangle is shaded and labeled “A^c, Complement of Event A.”&#10;">
            <a:extLst>
              <a:ext uri="{FF2B5EF4-FFF2-40B4-BE49-F238E27FC236}">
                <a16:creationId xmlns:a16="http://schemas.microsoft.com/office/drawing/2014/main" id="{9DD4F502-4E9F-5375-EC74-7FD68A81FB44}"/>
              </a:ext>
            </a:extLst>
          </p:cNvPr>
          <p:cNvPicPr>
            <a:picLocks noGrp="1" noChangeAspect="1"/>
          </p:cNvPicPr>
          <p:nvPr>
            <p:ph type="pic" sz="quarter" idx="16"/>
          </p:nvPr>
        </p:nvPicPr>
        <p:blipFill rotWithShape="1">
          <a:blip r:embed="rId4"/>
          <a:srcRect l="115" r="115"/>
          <a:stretch/>
        </p:blipFill>
        <p:spPr>
          <a:xfrm>
            <a:off x="4681264" y="3285646"/>
            <a:ext cx="6254750" cy="2106613"/>
          </a:xfrm>
        </p:spPr>
      </p:pic>
    </p:spTree>
    <p:extLst>
      <p:ext uri="{BB962C8B-B14F-4D97-AF65-F5344CB8AC3E}">
        <p14:creationId xmlns:p14="http://schemas.microsoft.com/office/powerpoint/2010/main" val="4076526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t>4.3 Union of Two Events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532713"/>
                <a:ext cx="10610223" cy="1771471"/>
              </a:xfrm>
            </p:spPr>
            <p:txBody>
              <a:bodyPr/>
              <a:lstStyle/>
              <a:p>
                <a:r>
                  <a:rPr lang="en-US" sz="2000" dirty="0"/>
                  <a:t>The </a:t>
                </a:r>
                <a:r>
                  <a:rPr lang="en-US" sz="2000" b="1" dirty="0"/>
                  <a:t>union</a:t>
                </a:r>
                <a:r>
                  <a:rPr lang="en-US" sz="2000" dirty="0"/>
                  <a:t> </a:t>
                </a:r>
                <a:r>
                  <a:rPr lang="en-US" sz="2000" b="1" dirty="0"/>
                  <a:t>of events </a:t>
                </a:r>
                <a14:m>
                  <m:oMath xmlns:m="http://schemas.openxmlformats.org/officeDocument/2006/math">
                    <m:r>
                      <a:rPr lang="en-US" sz="2000" b="1" i="1" dirty="0" smtClean="0">
                        <a:latin typeface="Cambria Math" panose="02040503050406030204" pitchFamily="18" charset="0"/>
                      </a:rPr>
                      <m:t>𝑨</m:t>
                    </m:r>
                  </m:oMath>
                </a14:m>
                <a:r>
                  <a:rPr lang="en-US" sz="2000" b="1" dirty="0"/>
                  <a:t> and </a:t>
                </a:r>
                <a14:m>
                  <m:oMath xmlns:m="http://schemas.openxmlformats.org/officeDocument/2006/math">
                    <m:r>
                      <a:rPr lang="en-US" sz="2000" b="1" i="1" dirty="0" smtClean="0">
                        <a:latin typeface="Cambria Math" panose="02040503050406030204" pitchFamily="18" charset="0"/>
                      </a:rPr>
                      <m:t>𝑩</m:t>
                    </m:r>
                  </m:oMath>
                </a14:m>
                <a:r>
                  <a:rPr lang="en-US" sz="2000" b="1" dirty="0"/>
                  <a:t> </a:t>
                </a:r>
                <a:r>
                  <a:rPr lang="en-US" sz="2000" dirty="0"/>
                  <a:t>is the event containing all sample points that are in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 or both. </a:t>
                </a:r>
              </a:p>
              <a:p>
                <a:r>
                  <a:rPr lang="en-US" sz="2000" dirty="0"/>
                  <a:t>The union of events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 is denoted by </a:t>
                </a:r>
                <a14:m>
                  <m:oMath xmlns:m="http://schemas.openxmlformats.org/officeDocument/2006/math">
                    <m:r>
                      <a:rPr lang="en-US" sz="2000" b="0" i="1">
                        <a:latin typeface="Cambria Math" panose="02040503050406030204" pitchFamily="18" charset="0"/>
                      </a:rPr>
                      <m:t>𝐴</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𝐵</m:t>
                    </m:r>
                  </m:oMath>
                </a14:m>
                <a:r>
                  <a:rPr lang="en-US" sz="2000" dirty="0"/>
                  <a:t>.</a:t>
                </a:r>
              </a:p>
              <a:p>
                <a:r>
                  <a:rPr lang="en-US" sz="2000" dirty="0"/>
                  <a:t>Note that the two circles in the Venn diagram overlap, indicating that some sample points are contained in both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532713"/>
                <a:ext cx="10610223" cy="1771471"/>
              </a:xfrm>
              <a:blipFill>
                <a:blip r:embed="rId3"/>
                <a:stretch>
                  <a:fillRect l="-1493" t="-4124" r="-287" b="-3780"/>
                </a:stretch>
              </a:blipFill>
            </p:spPr>
            <p:txBody>
              <a:bodyPr/>
              <a:lstStyle/>
              <a:p>
                <a:r>
                  <a:rPr lang="en-US">
                    <a:noFill/>
                  </a:rPr>
                  <a:t> </a:t>
                </a:r>
              </a:p>
            </p:txBody>
          </p:sp>
        </mc:Fallback>
      </mc:AlternateContent>
      <p:pic>
        <p:nvPicPr>
          <p:cNvPr id="6" name="Picture Placeholder 5" descr="A Venn diagram shows the union of events A and B. Two intersecting circles, labeled “Event A” and “Event B” are inside a rectangle labeled “Sample Space S.” The circles are shaded.&#10;">
            <a:extLst>
              <a:ext uri="{FF2B5EF4-FFF2-40B4-BE49-F238E27FC236}">
                <a16:creationId xmlns:a16="http://schemas.microsoft.com/office/drawing/2014/main" id="{E87EAB10-0096-369A-358E-5F85189E4D2B}"/>
              </a:ext>
            </a:extLst>
          </p:cNvPr>
          <p:cNvPicPr>
            <a:picLocks noGrp="1" noChangeAspect="1"/>
          </p:cNvPicPr>
          <p:nvPr>
            <p:ph type="pic" sz="quarter" idx="16"/>
          </p:nvPr>
        </p:nvPicPr>
        <p:blipFill rotWithShape="1">
          <a:blip r:embed="rId4"/>
          <a:srcRect l="40" r="40"/>
          <a:stretch/>
        </p:blipFill>
        <p:spPr>
          <a:xfrm>
            <a:off x="2921313" y="3304184"/>
            <a:ext cx="6254750" cy="2103438"/>
          </a:xfrm>
        </p:spPr>
      </p:pic>
    </p:spTree>
    <p:extLst>
      <p:ext uri="{BB962C8B-B14F-4D97-AF65-F5344CB8AC3E}">
        <p14:creationId xmlns:p14="http://schemas.microsoft.com/office/powerpoint/2010/main" val="821585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t>4.3 Intersection of Two Events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386717"/>
                <a:ext cx="10610223" cy="1996496"/>
              </a:xfrm>
            </p:spPr>
            <p:txBody>
              <a:bodyPr/>
              <a:lstStyle/>
              <a:p>
                <a:r>
                  <a:rPr lang="en-US" sz="2000" dirty="0"/>
                  <a:t>The </a:t>
                </a:r>
                <a:r>
                  <a:rPr lang="en-US" sz="2000" b="1" dirty="0"/>
                  <a:t>intersection</a:t>
                </a:r>
                <a:r>
                  <a:rPr lang="en-US" sz="2000" dirty="0"/>
                  <a:t> </a:t>
                </a:r>
                <a:r>
                  <a:rPr lang="en-US" sz="2000" b="1" dirty="0"/>
                  <a:t>of events </a:t>
                </a:r>
                <a14:m>
                  <m:oMath xmlns:m="http://schemas.openxmlformats.org/officeDocument/2006/math">
                    <m:r>
                      <a:rPr lang="en-US" sz="2000" b="1" i="1" dirty="0" smtClean="0">
                        <a:latin typeface="Cambria Math" panose="02040503050406030204" pitchFamily="18" charset="0"/>
                      </a:rPr>
                      <m:t>𝑨</m:t>
                    </m:r>
                  </m:oMath>
                </a14:m>
                <a:r>
                  <a:rPr lang="en-US" sz="2000" b="1" dirty="0"/>
                  <a:t> and </a:t>
                </a:r>
                <a14:m>
                  <m:oMath xmlns:m="http://schemas.openxmlformats.org/officeDocument/2006/math">
                    <m:r>
                      <a:rPr lang="en-US" sz="2000" b="1" i="1" dirty="0" smtClean="0">
                        <a:latin typeface="Cambria Math" panose="02040503050406030204" pitchFamily="18" charset="0"/>
                      </a:rPr>
                      <m:t>𝑩</m:t>
                    </m:r>
                  </m:oMath>
                </a14:m>
                <a:r>
                  <a:rPr lang="en-US" sz="2000" b="1" dirty="0"/>
                  <a:t> </a:t>
                </a:r>
                <a:r>
                  <a:rPr lang="en-US" sz="2000" dirty="0"/>
                  <a:t>is the event containing all sample points belonging to both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a:t>
                </a:r>
              </a:p>
              <a:p>
                <a:r>
                  <a:rPr lang="en-US" sz="2000" dirty="0"/>
                  <a:t>The intersection of events </a:t>
                </a:r>
                <a14:m>
                  <m:oMath xmlns:m="http://schemas.openxmlformats.org/officeDocument/2006/math">
                    <m:r>
                      <a:rPr lang="en-US" sz="2000" i="1" dirty="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 is denoted by </a:t>
                </a:r>
                <a14:m>
                  <m:oMath xmlns:m="http://schemas.openxmlformats.org/officeDocument/2006/math">
                    <m:r>
                      <a:rPr lang="en-US" sz="2000" b="0" i="1" smtClean="0">
                        <a:latin typeface="Cambria Math" panose="02040503050406030204" pitchFamily="18" charset="0"/>
                      </a:rPr>
                      <m:t>𝐴</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rPr>
                      <m:t>𝐵</m:t>
                    </m:r>
                  </m:oMath>
                </a14:m>
                <a:r>
                  <a:rPr lang="en-US" sz="2000" dirty="0"/>
                  <a:t>.</a:t>
                </a:r>
              </a:p>
              <a:p>
                <a:r>
                  <a:rPr lang="en-US" sz="2000" dirty="0"/>
                  <a:t>Note that the area in the Venn diagram where the two circles overlap is the intersection. </a:t>
                </a:r>
              </a:p>
              <a:p>
                <a:r>
                  <a:rPr lang="en-US" sz="2000" dirty="0"/>
                  <a:t>The intersection contains all the sample points that are in both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386717"/>
                <a:ext cx="10610223" cy="1996496"/>
              </a:xfrm>
              <a:blipFill>
                <a:blip r:embed="rId3"/>
                <a:stretch>
                  <a:fillRect l="-1493" t="-3659"/>
                </a:stretch>
              </a:blipFill>
            </p:spPr>
            <p:txBody>
              <a:bodyPr/>
              <a:lstStyle/>
              <a:p>
                <a:r>
                  <a:rPr lang="en-US">
                    <a:noFill/>
                  </a:rPr>
                  <a:t> </a:t>
                </a:r>
              </a:p>
            </p:txBody>
          </p:sp>
        </mc:Fallback>
      </mc:AlternateContent>
      <p:pic>
        <p:nvPicPr>
          <p:cNvPr id="9" name="Picture Placeholder 8" descr="A Venn diagram shows the intersection of events A and B. Two intersecting circles, labeled “Event A” and “Event B” are inside a rectangle labeled “Sample Space S.” The region of intersection is shaded.&#10;">
            <a:extLst>
              <a:ext uri="{FF2B5EF4-FFF2-40B4-BE49-F238E27FC236}">
                <a16:creationId xmlns:a16="http://schemas.microsoft.com/office/drawing/2014/main" id="{112140A5-6CE4-3982-9B8B-2CCB648DB7FE}"/>
              </a:ext>
            </a:extLst>
          </p:cNvPr>
          <p:cNvPicPr>
            <a:picLocks noGrp="1" noChangeAspect="1"/>
          </p:cNvPicPr>
          <p:nvPr>
            <p:ph type="pic" sz="quarter" idx="16"/>
          </p:nvPr>
        </p:nvPicPr>
        <p:blipFill rotWithShape="1">
          <a:blip r:embed="rId4"/>
          <a:srcRect l="40" r="40"/>
          <a:stretch/>
        </p:blipFill>
        <p:spPr>
          <a:xfrm>
            <a:off x="2968625" y="3383213"/>
            <a:ext cx="6254750" cy="2103438"/>
          </a:xfrm>
        </p:spPr>
      </p:pic>
    </p:spTree>
    <p:extLst>
      <p:ext uri="{BB962C8B-B14F-4D97-AF65-F5344CB8AC3E}">
        <p14:creationId xmlns:p14="http://schemas.microsoft.com/office/powerpoint/2010/main" val="2313739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4.3 Addition Law</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6" y="1865299"/>
                <a:ext cx="10610224" cy="3127402"/>
              </a:xfrm>
            </p:spPr>
            <p:txBody>
              <a:bodyPr/>
              <a:lstStyle/>
              <a:p>
                <a:pPr>
                  <a:spcBef>
                    <a:spcPts val="600"/>
                  </a:spcBef>
                  <a:spcAft>
                    <a:spcPts val="600"/>
                  </a:spcAft>
                </a:pPr>
                <a:r>
                  <a:rPr lang="en-US" sz="2000" dirty="0"/>
                  <a:t>The </a:t>
                </a:r>
                <a:r>
                  <a:rPr lang="en-US" sz="2000" b="1" dirty="0"/>
                  <a:t>addition law </a:t>
                </a:r>
                <a:r>
                  <a:rPr lang="en-US" sz="2000" dirty="0"/>
                  <a:t>provides a way to compute the probability of the union of two events: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𝑩</m:t>
                          </m:r>
                        </m:e>
                      </m:d>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e>
                      </m:d>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𝑩</m:t>
                          </m:r>
                        </m:e>
                      </m:d>
                      <m:r>
                        <a:rPr lang="en-US" sz="2000" b="1" i="1" smtClean="0">
                          <a:latin typeface="Cambria Math" panose="02040503050406030204" pitchFamily="18" charset="0"/>
                        </a:rPr>
                        <m:t>−</m:t>
                      </m:r>
                      <m:r>
                        <a:rPr lang="en-US" sz="2000" b="1" i="1" smtClean="0">
                          <a:latin typeface="Cambria Math" panose="02040503050406030204" pitchFamily="18" charset="0"/>
                        </a:rPr>
                        <m:t>𝑷</m:t>
                      </m:r>
                      <m:r>
                        <a:rPr lang="en-US" sz="2000" b="1" i="1" smtClean="0">
                          <a:latin typeface="Cambria Math" panose="02040503050406030204" pitchFamily="18" charset="0"/>
                        </a:rPr>
                        <m:t>(</m:t>
                      </m:r>
                      <m:r>
                        <a:rPr lang="en-US" sz="2000" b="1" i="1" smtClean="0">
                          <a:latin typeface="Cambria Math" panose="02040503050406030204" pitchFamily="18" charset="0"/>
                        </a:rPr>
                        <m:t>𝑨</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rPr>
                        <m:t>𝑩</m:t>
                      </m:r>
                      <m:r>
                        <a:rPr lang="en-US" sz="2000" b="1" i="1" smtClean="0">
                          <a:latin typeface="Cambria Math" panose="02040503050406030204" pitchFamily="18" charset="0"/>
                        </a:rPr>
                        <m:t>)</m:t>
                      </m:r>
                    </m:oMath>
                  </m:oMathPara>
                </a14:m>
                <a:endParaRPr lang="en-US" sz="2000" dirty="0"/>
              </a:p>
              <a:p>
                <a:pPr>
                  <a:spcBef>
                    <a:spcPts val="600"/>
                  </a:spcBef>
                  <a:spcAft>
                    <a:spcPts val="0"/>
                  </a:spcAft>
                </a:pPr>
                <a:r>
                  <a:rPr lang="en-US" sz="2000" dirty="0"/>
                  <a:t>To understand the addition law intuitively, consider the following:</a:t>
                </a:r>
              </a:p>
              <a:p>
                <a:pPr marL="684213" indent="-342900">
                  <a:spcBef>
                    <a:spcPts val="600"/>
                  </a:spcBef>
                  <a:spcAft>
                    <a:spcPts val="0"/>
                  </a:spcAft>
                  <a:buFont typeface="Arial" panose="020B0604020202020204" pitchFamily="34" charset="0"/>
                  <a:buChar char="•"/>
                </a:pPr>
                <a:r>
                  <a:rPr lang="en-US" sz="2000" dirty="0"/>
                  <a:t>The sample points in the intersection </a:t>
                </a:r>
                <a14:m>
                  <m:oMath xmlns:m="http://schemas.openxmlformats.org/officeDocument/2006/math">
                    <m:r>
                      <a:rPr lang="en-US" sz="2000" i="1" smtClean="0">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oMath>
                </a14:m>
                <a:r>
                  <a:rPr lang="en-US" sz="2000" dirty="0"/>
                  <a:t> are in both </a:t>
                </a:r>
                <a14:m>
                  <m:oMath xmlns:m="http://schemas.openxmlformats.org/officeDocument/2006/math">
                    <m:r>
                      <a:rPr lang="en-US" sz="2000" i="1" dirty="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a:t>
                </a:r>
              </a:p>
              <a:p>
                <a:pPr marL="684213" indent="-342900">
                  <a:spcBef>
                    <a:spcPts val="600"/>
                  </a:spcBef>
                  <a:spcAft>
                    <a:spcPts val="0"/>
                  </a:spcAft>
                  <a:buFont typeface="Arial" panose="020B0604020202020204" pitchFamily="34" charset="0"/>
                  <a:buChar char="•"/>
                </a:pPr>
                <a:r>
                  <a:rPr lang="en-US" sz="2000" dirty="0"/>
                  <a:t>When we compute </a:t>
                </a:r>
                <a14:m>
                  <m:oMath xmlns:m="http://schemas.openxmlformats.org/officeDocument/2006/math">
                    <m:r>
                      <a:rPr lang="en-US" sz="2000" b="0" i="1">
                        <a:latin typeface="Cambria Math" panose="02040503050406030204" pitchFamily="18" charset="0"/>
                      </a:rPr>
                      <m:t>𝑃</m:t>
                    </m:r>
                    <m:d>
                      <m:dPr>
                        <m:ctrlPr>
                          <a:rPr lang="en-US" sz="2000" i="1">
                            <a:latin typeface="Cambria Math" panose="02040503050406030204" pitchFamily="18" charset="0"/>
                          </a:rPr>
                        </m:ctrlPr>
                      </m:dPr>
                      <m:e>
                        <m:r>
                          <a:rPr lang="en-US" sz="2000" b="0" i="1">
                            <a:latin typeface="Cambria Math" panose="02040503050406030204" pitchFamily="18" charset="0"/>
                          </a:rPr>
                          <m:t>𝐴</m:t>
                        </m:r>
                      </m:e>
                    </m:d>
                    <m:r>
                      <a:rPr lang="en-US" sz="2000" b="0" i="1">
                        <a:latin typeface="Cambria Math" panose="02040503050406030204" pitchFamily="18" charset="0"/>
                      </a:rPr>
                      <m:t>+</m:t>
                    </m:r>
                    <m:r>
                      <a:rPr lang="en-US" sz="2000" b="0" i="1">
                        <a:latin typeface="Cambria Math" panose="02040503050406030204" pitchFamily="18" charset="0"/>
                      </a:rPr>
                      <m:t>𝑃</m:t>
                    </m:r>
                    <m:d>
                      <m:dPr>
                        <m:ctrlPr>
                          <a:rPr lang="en-US" sz="2000" i="1">
                            <a:latin typeface="Cambria Math" panose="02040503050406030204" pitchFamily="18" charset="0"/>
                          </a:rPr>
                        </m:ctrlPr>
                      </m:dPr>
                      <m:e>
                        <m:r>
                          <a:rPr lang="en-US" sz="2000" b="0" i="1">
                            <a:latin typeface="Cambria Math" panose="02040503050406030204" pitchFamily="18" charset="0"/>
                          </a:rPr>
                          <m:t>𝐵</m:t>
                        </m:r>
                      </m:e>
                    </m:d>
                  </m:oMath>
                </a14:m>
                <a:r>
                  <a:rPr lang="en-US" sz="2000" dirty="0"/>
                  <a:t>, we are in effect counting each of the sample points in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oMath>
                </a14:m>
                <a:r>
                  <a:rPr lang="en-US" sz="2000" dirty="0"/>
                  <a:t> twice.</a:t>
                </a:r>
              </a:p>
              <a:p>
                <a:pPr marL="684213" indent="-342900">
                  <a:spcBef>
                    <a:spcPts val="600"/>
                  </a:spcBef>
                  <a:spcAft>
                    <a:spcPts val="0"/>
                  </a:spcAft>
                  <a:buFont typeface="Arial" panose="020B0604020202020204" pitchFamily="34" charset="0"/>
                  <a:buChar char="•"/>
                </a:pPr>
                <a:r>
                  <a:rPr lang="en-US" sz="2000" dirty="0"/>
                  <a:t>We correct for this overcounting by subtracting </a:t>
                </a:r>
                <a14:m>
                  <m:oMath xmlns:m="http://schemas.openxmlformats.org/officeDocument/2006/math">
                    <m:r>
                      <a:rPr lang="en-US" sz="2000" b="0" i="1">
                        <a:latin typeface="Cambria Math" panose="02040503050406030204" pitchFamily="18" charset="0"/>
                      </a:rPr>
                      <m:t>𝑃</m:t>
                    </m:r>
                    <m:r>
                      <a:rPr lang="en-US" sz="2000" b="0" i="1">
                        <a:latin typeface="Cambria Math" panose="02040503050406030204" pitchFamily="18" charset="0"/>
                      </a:rPr>
                      <m:t>(</m:t>
                    </m:r>
                    <m:r>
                      <a:rPr lang="en-US" sz="2000" b="0" i="1">
                        <a:latin typeface="Cambria Math" panose="02040503050406030204" pitchFamily="18" charset="0"/>
                      </a:rPr>
                      <m:t>𝐴</m:t>
                    </m:r>
                    <m: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rPr>
                      <m:t>𝐵</m:t>
                    </m:r>
                    <m:r>
                      <a:rPr lang="en-US" sz="2000" b="0" i="1">
                        <a:latin typeface="Cambria Math" panose="02040503050406030204" pitchFamily="18" charset="0"/>
                      </a:rPr>
                      <m:t>)</m:t>
                    </m:r>
                  </m:oMath>
                </a14:m>
                <a:r>
                  <a:rPr lang="en-US" sz="2000" dirty="0"/>
                  <a:t>.</a:t>
                </a:r>
              </a:p>
              <a:p>
                <a:pPr>
                  <a:spcBef>
                    <a:spcPts val="600"/>
                  </a:spcBef>
                  <a:spcAft>
                    <a:spcPts val="0"/>
                  </a:spcAft>
                </a:pPr>
                <a:r>
                  <a:rPr lang="en-US" sz="2000" dirty="0"/>
                  <a:t>In the next slide, we consider an example as an application of the addition law.</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6" y="1865299"/>
                <a:ext cx="10610224" cy="3127402"/>
              </a:xfrm>
              <a:blipFill>
                <a:blip r:embed="rId2"/>
                <a:stretch>
                  <a:fillRect l="-1493" t="-2339"/>
                </a:stretch>
              </a:blipFill>
            </p:spPr>
            <p:txBody>
              <a:bodyPr/>
              <a:lstStyle/>
              <a:p>
                <a:r>
                  <a:rPr lang="en-US">
                    <a:noFill/>
                  </a:rPr>
                  <a:t> </a:t>
                </a:r>
              </a:p>
            </p:txBody>
          </p:sp>
        </mc:Fallback>
      </mc:AlternateContent>
    </p:spTree>
    <p:extLst>
      <p:ext uri="{BB962C8B-B14F-4D97-AF65-F5344CB8AC3E}">
        <p14:creationId xmlns:p14="http://schemas.microsoft.com/office/powerpoint/2010/main" val="548748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4.3 An Application of the Addition Law</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43577" y="1260182"/>
                <a:ext cx="10610224" cy="4564315"/>
              </a:xfrm>
            </p:spPr>
            <p:txBody>
              <a:bodyPr/>
              <a:lstStyle/>
              <a:p>
                <a:pPr>
                  <a:spcBef>
                    <a:spcPts val="600"/>
                  </a:spcBef>
                  <a:spcAft>
                    <a:spcPts val="0"/>
                  </a:spcAft>
                </a:pPr>
                <a:r>
                  <a:rPr lang="en-US" sz="2000" dirty="0"/>
                  <a:t>Consider a group of 50 software engineers who work in online banking. </a:t>
                </a:r>
              </a:p>
              <a:p>
                <a:pPr>
                  <a:spcBef>
                    <a:spcPts val="600"/>
                  </a:spcBef>
                  <a:spcAft>
                    <a:spcPts val="0"/>
                  </a:spcAft>
                </a:pPr>
                <a:r>
                  <a:rPr lang="en-US" sz="2000" dirty="0"/>
                  <a:t>At the end of an evaluation period, a bank manager found that</a:t>
                </a:r>
              </a:p>
              <a:p>
                <a:pPr marL="684213" indent="-342900">
                  <a:spcBef>
                    <a:spcPts val="600"/>
                  </a:spcBef>
                  <a:spcAft>
                    <a:spcPts val="0"/>
                  </a:spcAft>
                  <a:buFont typeface="Arial" panose="020B0604020202020204" pitchFamily="34" charset="0"/>
                  <a:buChar char="•"/>
                </a:pPr>
                <a:r>
                  <a:rPr lang="en-US" sz="2000" dirty="0"/>
                  <a:t>5 engineers completed work late (event </a:t>
                </a:r>
                <a:r>
                  <a:rPr lang="en-US" sz="2000" i="1" dirty="0"/>
                  <a:t>L</a:t>
                </a:r>
                <a:r>
                  <a:rPr lang="en-US" sz="2000" dirty="0"/>
                  <a:t>)</a:t>
                </a:r>
              </a:p>
              <a:p>
                <a:pPr marL="684213" indent="-342900">
                  <a:spcBef>
                    <a:spcPts val="600"/>
                  </a:spcBef>
                  <a:spcAft>
                    <a:spcPts val="0"/>
                  </a:spcAft>
                  <a:buFont typeface="Arial" panose="020B0604020202020204" pitchFamily="34" charset="0"/>
                  <a:buChar char="•"/>
                </a:pPr>
                <a:r>
                  <a:rPr lang="en-US" sz="2000" dirty="0"/>
                  <a:t>6 engineers produced code that contains errors (event </a:t>
                </a:r>
                <a:r>
                  <a:rPr lang="en-US" sz="2000" i="1" dirty="0"/>
                  <a:t>E</a:t>
                </a:r>
                <a:r>
                  <a:rPr lang="en-US" sz="2000" dirty="0"/>
                  <a:t>)</a:t>
                </a:r>
              </a:p>
              <a:p>
                <a:pPr marL="684213" indent="-342900">
                  <a:spcBef>
                    <a:spcPts val="600"/>
                  </a:spcBef>
                  <a:spcAft>
                    <a:spcPts val="0"/>
                  </a:spcAft>
                  <a:buFont typeface="Arial" panose="020B0604020202020204" pitchFamily="34" charset="0"/>
                  <a:buChar char="•"/>
                </a:pPr>
                <a:r>
                  <a:rPr lang="en-US" sz="2000" dirty="0"/>
                  <a:t>2 engineers completed work late and produced code that contains errors (event </a:t>
                </a:r>
                <a14:m>
                  <m:oMath xmlns:m="http://schemas.openxmlformats.org/officeDocument/2006/math">
                    <m:r>
                      <a:rPr lang="en-US" sz="2000" b="0" i="1" smtClean="0">
                        <a:latin typeface="Cambria Math" panose="02040503050406030204" pitchFamily="18" charset="0"/>
                      </a:rPr>
                      <m:t>𝐿</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𝐸</m:t>
                    </m:r>
                  </m:oMath>
                </a14:m>
                <a:r>
                  <a:rPr lang="en-US" sz="2000" dirty="0"/>
                  <a:t>)</a:t>
                </a:r>
              </a:p>
              <a:p>
                <a:pPr>
                  <a:spcBef>
                    <a:spcPts val="600"/>
                  </a:spcBef>
                  <a:spcAft>
                    <a:spcPts val="600"/>
                  </a:spcAft>
                </a:pPr>
                <a:r>
                  <a:rPr lang="en-US" sz="2000" dirty="0"/>
                  <a:t>Thus, we have:</a:t>
                </a:r>
              </a:p>
              <a:p>
                <a:pPr marL="914400" algn="ctr">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𝐿</m:t>
                          </m:r>
                        </m:e>
                      </m:d>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50</m:t>
                          </m:r>
                        </m:den>
                      </m:f>
                      <m:r>
                        <a:rPr lang="en-US" sz="2000" b="0" i="1" smtClean="0">
                          <a:latin typeface="Cambria Math" panose="02040503050406030204" pitchFamily="18" charset="0"/>
                        </a:rPr>
                        <m:t>=0.10</m:t>
                      </m:r>
                    </m:oMath>
                  </m:oMathPara>
                </a14:m>
                <a:endParaRPr lang="en-US" sz="2000" b="0" i="1" dirty="0">
                  <a:latin typeface="Cambria Math" panose="02040503050406030204" pitchFamily="18" charset="0"/>
                </a:endParaRPr>
              </a:p>
              <a:p>
                <a:pPr marL="914400" algn="ctr">
                  <a:spcBef>
                    <a:spcPts val="600"/>
                  </a:spcBef>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𝐸</m:t>
                          </m:r>
                        </m:e>
                      </m:d>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b="0" i="1" smtClean="0">
                              <a:latin typeface="Cambria Math" panose="02040503050406030204" pitchFamily="18" charset="0"/>
                            </a:rPr>
                            <m:t>6</m:t>
                          </m:r>
                        </m:num>
                        <m:den>
                          <m:r>
                            <a:rPr lang="en-US" sz="2000" i="1">
                              <a:latin typeface="Cambria Math" panose="02040503050406030204" pitchFamily="18" charset="0"/>
                            </a:rPr>
                            <m:t>50</m:t>
                          </m:r>
                        </m:den>
                      </m:f>
                      <m:r>
                        <a:rPr lang="en-US" sz="2000" i="1">
                          <a:latin typeface="Cambria Math" panose="02040503050406030204" pitchFamily="18" charset="0"/>
                        </a:rPr>
                        <m:t>=0.1</m:t>
                      </m:r>
                      <m:r>
                        <a:rPr lang="en-US" sz="2000" b="0" i="1" smtClean="0">
                          <a:latin typeface="Cambria Math" panose="02040503050406030204" pitchFamily="18" charset="0"/>
                        </a:rPr>
                        <m:t>2</m:t>
                      </m:r>
                    </m:oMath>
                  </m:oMathPara>
                </a14:m>
                <a:endParaRPr lang="en-US" sz="2000" b="0" i="1" dirty="0">
                  <a:latin typeface="Cambria Math" panose="02040503050406030204" pitchFamily="18" charset="0"/>
                </a:endParaRPr>
              </a:p>
              <a:p>
                <a:pPr marL="914400" algn="ctr">
                  <a:spcBef>
                    <a:spcPts val="600"/>
                  </a:spcBef>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𝐸</m:t>
                          </m:r>
                        </m:e>
                      </m:d>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b="0" i="1" smtClean="0">
                              <a:latin typeface="Cambria Math" panose="02040503050406030204" pitchFamily="18" charset="0"/>
                            </a:rPr>
                            <m:t>2</m:t>
                          </m:r>
                        </m:num>
                        <m:den>
                          <m:r>
                            <a:rPr lang="en-US" sz="2000" i="1">
                              <a:latin typeface="Cambria Math" panose="02040503050406030204" pitchFamily="18" charset="0"/>
                            </a:rPr>
                            <m:t>50</m:t>
                          </m:r>
                        </m:den>
                      </m:f>
                      <m:r>
                        <a:rPr lang="en-US" sz="2000" i="1">
                          <a:latin typeface="Cambria Math" panose="02040503050406030204" pitchFamily="18" charset="0"/>
                        </a:rPr>
                        <m:t>=0.</m:t>
                      </m:r>
                      <m:r>
                        <a:rPr lang="en-US" sz="2000" b="0" i="1" smtClean="0">
                          <a:latin typeface="Cambria Math" panose="02040503050406030204" pitchFamily="18" charset="0"/>
                        </a:rPr>
                        <m:t>04</m:t>
                      </m:r>
                    </m:oMath>
                  </m:oMathPara>
                </a14:m>
                <a:endParaRPr lang="en-US" sz="2000" dirty="0"/>
              </a:p>
              <a:p>
                <a:pPr>
                  <a:spcBef>
                    <a:spcPts val="600"/>
                  </a:spcBef>
                  <a:spcAft>
                    <a:spcPts val="600"/>
                  </a:spcAft>
                </a:pPr>
                <a:r>
                  <a:rPr lang="en-US" sz="2000" dirty="0"/>
                  <a:t>The probability that an engineer completed work late or produced code that contains errors (event </a:t>
                </a:r>
                <a14:m>
                  <m:oMath xmlns:m="http://schemas.openxmlformats.org/officeDocument/2006/math">
                    <m:r>
                      <a:rPr lang="en-US" sz="2000" i="1" smtClean="0">
                        <a:latin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oMath>
                </a14:m>
                <a:r>
                  <a:rPr lang="en-US" sz="2000" dirty="0"/>
                  <a:t>) can be calculated using the addition law as</a:t>
                </a:r>
              </a:p>
              <a:p>
                <a:pPr marL="914400">
                  <a:spcBef>
                    <a:spcPts val="600"/>
                  </a:spcBef>
                  <a:spcAft>
                    <a:spcPts val="600"/>
                  </a:spcAft>
                </a:pPr>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P</m:t>
                      </m:r>
                      <m:d>
                        <m:dPr>
                          <m:ctrlPr>
                            <a:rPr lang="en-US" sz="2000" b="0" i="1" smtClean="0">
                              <a:latin typeface="Cambria Math" panose="02040503050406030204" pitchFamily="18" charset="0"/>
                            </a:rPr>
                          </m:ctrlPr>
                        </m:dPr>
                        <m:e>
                          <m:r>
                            <a:rPr lang="en-US" sz="2000" i="1">
                              <a:latin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𝐿</m:t>
                          </m:r>
                        </m:e>
                      </m:d>
                      <m:r>
                        <a:rPr lang="en-US" sz="2000" b="0" i="0"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𝐸</m:t>
                          </m:r>
                        </m:e>
                      </m:d>
                      <m:r>
                        <a:rPr lang="en-US" sz="2000" b="0" i="1"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𝐸</m:t>
                          </m:r>
                        </m:e>
                      </m:d>
                      <m:r>
                        <a:rPr lang="en-US" sz="2000" b="0" i="1" smtClean="0">
                          <a:latin typeface="Cambria Math" panose="02040503050406030204" pitchFamily="18" charset="0"/>
                        </a:rPr>
                        <m:t>=0.10+0.12−0.04=0.18</m:t>
                      </m:r>
                    </m:oMath>
                  </m:oMathPara>
                </a14:m>
                <a:endParaRPr lang="en-US" sz="2000" dirty="0"/>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43577" y="1260182"/>
                <a:ext cx="10610224" cy="4564315"/>
              </a:xfrm>
              <a:blipFill>
                <a:blip r:embed="rId2"/>
                <a:stretch>
                  <a:fillRect l="-1493" t="-1604"/>
                </a:stretch>
              </a:blipFill>
            </p:spPr>
            <p:txBody>
              <a:bodyPr/>
              <a:lstStyle/>
              <a:p>
                <a:r>
                  <a:rPr lang="en-US">
                    <a:noFill/>
                  </a:rPr>
                  <a:t> </a:t>
                </a:r>
              </a:p>
            </p:txBody>
          </p:sp>
        </mc:Fallback>
      </mc:AlternateContent>
    </p:spTree>
    <p:extLst>
      <p:ext uri="{BB962C8B-B14F-4D97-AF65-F5344CB8AC3E}">
        <p14:creationId xmlns:p14="http://schemas.microsoft.com/office/powerpoint/2010/main" val="3514279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t>4.3 Mutually Exclusive Events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340613"/>
                <a:ext cx="10610223" cy="2259356"/>
              </a:xfrm>
            </p:spPr>
            <p:txBody>
              <a:bodyPr/>
              <a:lstStyle/>
              <a:p>
                <a:r>
                  <a:rPr lang="en-US" sz="2000" dirty="0"/>
                  <a:t>Two events are said to be </a:t>
                </a:r>
                <a:r>
                  <a:rPr lang="en-US" sz="2000" b="1" dirty="0"/>
                  <a:t>mutually exclusive </a:t>
                </a:r>
                <a:r>
                  <a:rPr lang="en-US" sz="2000" dirty="0"/>
                  <a:t>when they have no sample points in common.</a:t>
                </a:r>
              </a:p>
              <a:p>
                <a:pPr>
                  <a:spcAft>
                    <a:spcPts val="0"/>
                  </a:spcAft>
                </a:pPr>
                <a:r>
                  <a:rPr lang="en-US" sz="2000" dirty="0"/>
                  <a:t>In other words, events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 are mutually exclusive if, when one event occurs, the other cannot occur. </a:t>
                </a:r>
              </a:p>
              <a:p>
                <a:pPr>
                  <a:spcAft>
                    <a:spcPts val="0"/>
                  </a:spcAft>
                </a:pPr>
                <a:r>
                  <a:rPr lang="en-US" sz="2000" dirty="0"/>
                  <a:t>Thus, the intersection of </a:t>
                </a:r>
                <a14:m>
                  <m:oMath xmlns:m="http://schemas.openxmlformats.org/officeDocument/2006/math">
                    <m:r>
                      <a:rPr lang="en-US" sz="2000" i="1" dirty="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 does not contain any points, and </a:t>
                </a:r>
                <a14:m>
                  <m:oMath xmlns:m="http://schemas.openxmlformats.org/officeDocument/2006/math">
                    <m:r>
                      <a:rPr lang="en-US" sz="2000" b="0" i="1" smtClean="0">
                        <a:latin typeface="Cambria Math" panose="02040503050406030204" pitchFamily="18" charset="0"/>
                      </a:rPr>
                      <m:t>𝑃</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𝐵</m:t>
                        </m:r>
                      </m:e>
                    </m:d>
                    <m:r>
                      <a:rPr lang="en-US" sz="2000" b="0" i="1" smtClean="0">
                        <a:latin typeface="Cambria Math" panose="02040503050406030204" pitchFamily="18" charset="0"/>
                      </a:rPr>
                      <m:t>=0</m:t>
                    </m:r>
                  </m:oMath>
                </a14:m>
                <a:r>
                  <a:rPr lang="en-US" sz="2000" dirty="0"/>
                  <a:t>.</a:t>
                </a:r>
              </a:p>
              <a:p>
                <a:pPr>
                  <a:spcAft>
                    <a:spcPts val="600"/>
                  </a:spcAft>
                </a:pPr>
                <a:r>
                  <a:rPr lang="en-US" sz="2000" dirty="0"/>
                  <a:t>When two events are mutually exclusive, the addition law simplifies to</a:t>
                </a:r>
              </a:p>
              <a:p>
                <a:pPr marL="914400">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𝑩</m:t>
                          </m:r>
                        </m:e>
                      </m:d>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e>
                      </m:d>
                      <m:r>
                        <a:rPr lang="en-US" sz="2000" b="1" i="1" smtClean="0">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𝑩</m:t>
                          </m:r>
                        </m:e>
                      </m:d>
                    </m:oMath>
                  </m:oMathPara>
                </a14:m>
                <a:endParaRPr lang="en-US" sz="2000" dirty="0"/>
              </a:p>
              <a:p>
                <a:pPr>
                  <a:spcBef>
                    <a:spcPts val="1000"/>
                  </a:spcBef>
                </a:pPr>
                <a:endParaRPr lang="en-US" sz="2000" dirty="0"/>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340613"/>
                <a:ext cx="10610223" cy="2259356"/>
              </a:xfrm>
              <a:blipFill>
                <a:blip r:embed="rId3"/>
                <a:stretch>
                  <a:fillRect l="-1493" t="-3235"/>
                </a:stretch>
              </a:blipFill>
            </p:spPr>
            <p:txBody>
              <a:bodyPr/>
              <a:lstStyle/>
              <a:p>
                <a:r>
                  <a:rPr lang="en-US">
                    <a:noFill/>
                  </a:rPr>
                  <a:t> </a:t>
                </a:r>
              </a:p>
            </p:txBody>
          </p:sp>
        </mc:Fallback>
      </mc:AlternateContent>
      <p:pic>
        <p:nvPicPr>
          <p:cNvPr id="10" name="Picture Placeholder 9" descr="A Venn diagram shows two mutually exclusive events. Two circles, labeled “Event A” and “Event B” are inside a rectangle labeled “Sample Space S.” The circles are shaded.&#10;">
            <a:extLst>
              <a:ext uri="{FF2B5EF4-FFF2-40B4-BE49-F238E27FC236}">
                <a16:creationId xmlns:a16="http://schemas.microsoft.com/office/drawing/2014/main" id="{F5E95DA2-BA18-0322-2B6E-790DF58748F3}"/>
              </a:ext>
            </a:extLst>
          </p:cNvPr>
          <p:cNvPicPr>
            <a:picLocks noGrp="1" noChangeAspect="1"/>
          </p:cNvPicPr>
          <p:nvPr>
            <p:ph type="pic" sz="quarter" idx="16"/>
          </p:nvPr>
        </p:nvPicPr>
        <p:blipFill rotWithShape="1">
          <a:blip r:embed="rId4"/>
          <a:srcRect t="38" b="38"/>
          <a:stretch/>
        </p:blipFill>
        <p:spPr>
          <a:xfrm>
            <a:off x="2853050" y="3669125"/>
            <a:ext cx="6391275" cy="2101850"/>
          </a:xfrm>
        </p:spPr>
      </p:pic>
    </p:spTree>
    <p:extLst>
      <p:ext uri="{BB962C8B-B14F-4D97-AF65-F5344CB8AC3E}">
        <p14:creationId xmlns:p14="http://schemas.microsoft.com/office/powerpoint/2010/main" val="938625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AA984-85E2-36CF-E4CE-769DD7A7E5C6}"/>
              </a:ext>
            </a:extLst>
          </p:cNvPr>
          <p:cNvSpPr>
            <a:spLocks noGrp="1"/>
          </p:cNvSpPr>
          <p:nvPr>
            <p:ph type="title"/>
          </p:nvPr>
        </p:nvSpPr>
        <p:spPr/>
        <p:txBody>
          <a:bodyPr/>
          <a:lstStyle/>
          <a:p>
            <a:r>
              <a:rPr lang="en-US" dirty="0">
                <a:solidFill>
                  <a:srgbClr val="D14B1E"/>
                </a:solidFill>
              </a:rPr>
              <a:t>4.4 Conditional Probability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5BB2014-DC36-47B0-94EF-4DCEDA8D4DFA}"/>
                  </a:ext>
                </a:extLst>
              </p:cNvPr>
              <p:cNvSpPr>
                <a:spLocks noGrp="1"/>
              </p:cNvSpPr>
              <p:nvPr>
                <p:ph type="body" sz="quarter" idx="15"/>
              </p:nvPr>
            </p:nvSpPr>
            <p:spPr>
              <a:xfrm>
                <a:off x="743577" y="1430688"/>
                <a:ext cx="10610222" cy="1746481"/>
              </a:xfrm>
            </p:spPr>
            <p:txBody>
              <a:bodyPr/>
              <a:lstStyle/>
              <a:p>
                <a:r>
                  <a:rPr lang="en-US" sz="2000" dirty="0"/>
                  <a:t>We use the notation </a:t>
                </a:r>
                <a14:m>
                  <m:oMath xmlns:m="http://schemas.openxmlformats.org/officeDocument/2006/math">
                    <m:r>
                      <a:rPr lang="en-US" sz="2000" b="0" i="1" smtClean="0">
                        <a:latin typeface="Cambria Math" panose="02040503050406030204" pitchFamily="18" charset="0"/>
                      </a:rPr>
                      <m:t>𝑃</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 </m:t>
                        </m:r>
                        <m:r>
                          <a:rPr lang="en-US" sz="2000" b="0" i="1" smtClean="0">
                            <a:latin typeface="Cambria Math" panose="02040503050406030204" pitchFamily="18" charset="0"/>
                            <a:ea typeface="Cambria Math" panose="02040503050406030204" pitchFamily="18" charset="0"/>
                          </a:rPr>
                          <m:t>𝐵</m:t>
                        </m:r>
                      </m:e>
                    </m:d>
                  </m:oMath>
                </a14:m>
                <a:r>
                  <a:rPr lang="en-US" sz="2000" dirty="0"/>
                  <a:t> to denote the </a:t>
                </a:r>
                <a:r>
                  <a:rPr lang="en-US" sz="2000" b="1" dirty="0"/>
                  <a:t>conditional probability </a:t>
                </a:r>
                <a:r>
                  <a:rPr lang="en-US" sz="2000" dirty="0"/>
                  <a:t>of event </a:t>
                </a:r>
                <a14:m>
                  <m:oMath xmlns:m="http://schemas.openxmlformats.org/officeDocument/2006/math">
                    <m:r>
                      <a:rPr lang="en-US" sz="2000" i="1" dirty="0">
                        <a:latin typeface="Cambria Math" panose="02040503050406030204" pitchFamily="18" charset="0"/>
                      </a:rPr>
                      <m:t>𝐴</m:t>
                    </m:r>
                  </m:oMath>
                </a14:m>
                <a:r>
                  <a:rPr lang="en-US" sz="2000" dirty="0"/>
                  <a:t>, given that event </a:t>
                </a:r>
                <a14:m>
                  <m:oMath xmlns:m="http://schemas.openxmlformats.org/officeDocument/2006/math">
                    <m:r>
                      <a:rPr lang="en-US" sz="2000" i="1" dirty="0">
                        <a:latin typeface="Cambria Math" panose="02040503050406030204" pitchFamily="18" charset="0"/>
                      </a:rPr>
                      <m:t>𝐵</m:t>
                    </m:r>
                  </m:oMath>
                </a14:m>
                <a:r>
                  <a:rPr lang="en-US" sz="2000" dirty="0"/>
                  <a:t> has occurred.</a:t>
                </a:r>
              </a:p>
              <a:p>
                <a:pPr>
                  <a:spcAft>
                    <a:spcPts val="600"/>
                  </a:spcAft>
                </a:pPr>
                <a:r>
                  <a:rPr lang="en-US" sz="2000" dirty="0"/>
                  <a:t>We calculate the probability of event </a:t>
                </a:r>
                <a14:m>
                  <m:oMath xmlns:m="http://schemas.openxmlformats.org/officeDocument/2006/math">
                    <m:r>
                      <a:rPr lang="en-US" sz="2000" i="1" dirty="0" smtClean="0">
                        <a:latin typeface="Cambria Math" panose="02040503050406030204" pitchFamily="18" charset="0"/>
                      </a:rPr>
                      <m:t>𝐴</m:t>
                    </m:r>
                  </m:oMath>
                </a14:m>
                <a:r>
                  <a:rPr lang="en-US" sz="2000" dirty="0"/>
                  <a:t> given </a:t>
                </a:r>
                <a14:m>
                  <m:oMath xmlns:m="http://schemas.openxmlformats.org/officeDocument/2006/math">
                    <m:r>
                      <a:rPr lang="en-US" sz="2000" i="1" dirty="0">
                        <a:latin typeface="Cambria Math" panose="02040503050406030204" pitchFamily="18" charset="0"/>
                      </a:rPr>
                      <m:t>𝐵</m:t>
                    </m:r>
                  </m:oMath>
                </a14:m>
                <a:r>
                  <a:rPr lang="en-US" sz="2000" dirty="0"/>
                  <a:t> as</a:t>
                </a:r>
              </a:p>
              <a:p>
                <a:pPr marL="914400">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𝑷</m:t>
                      </m:r>
                      <m:d>
                        <m:dPr>
                          <m:endChr m:val="|"/>
                          <m:ctrlPr>
                            <a:rPr lang="en-US" sz="2000" b="1" i="1" smtClean="0">
                              <a:latin typeface="Cambria Math" panose="02040503050406030204" pitchFamily="18" charset="0"/>
                            </a:rPr>
                          </m:ctrlPr>
                        </m:dPr>
                        <m:e>
                          <m:r>
                            <a:rPr lang="en-US" sz="2000" b="1" i="1" smtClean="0">
                              <a:latin typeface="Cambria Math" panose="02040503050406030204" pitchFamily="18" charset="0"/>
                            </a:rPr>
                            <m:t>𝑨</m:t>
                          </m:r>
                          <m:r>
                            <a:rPr lang="en-US" sz="2000" b="1" i="1" smtClean="0">
                              <a:latin typeface="Cambria Math" panose="02040503050406030204" pitchFamily="18" charset="0"/>
                            </a:rPr>
                            <m:t> </m:t>
                          </m:r>
                        </m:e>
                      </m:d>
                      <m:r>
                        <a:rPr lang="en-US" sz="2000" b="1" i="1" smtClean="0">
                          <a:latin typeface="Cambria Math" panose="02040503050406030204" pitchFamily="18" charset="0"/>
                        </a:rPr>
                        <m:t> </m:t>
                      </m:r>
                      <m:r>
                        <a:rPr lang="en-US" sz="2000" b="1" i="1" smtClean="0">
                          <a:latin typeface="Cambria Math" panose="02040503050406030204" pitchFamily="18" charset="0"/>
                        </a:rPr>
                        <m:t>𝑩</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𝑷</m:t>
                          </m:r>
                          <m:r>
                            <a:rPr lang="en-US" sz="2000" b="1" i="1" smtClean="0">
                              <a:latin typeface="Cambria Math" panose="02040503050406030204" pitchFamily="18" charset="0"/>
                            </a:rPr>
                            <m:t>(</m:t>
                          </m:r>
                          <m:r>
                            <a:rPr lang="en-US" sz="2000" b="1" i="1">
                              <a:latin typeface="Cambria Math" panose="02040503050406030204" pitchFamily="18" charset="0"/>
                            </a:rPr>
                            <m:t>𝑨</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rPr>
                            <m:t>𝑩</m:t>
                          </m:r>
                          <m:r>
                            <a:rPr lang="en-US" sz="2000" b="1" i="1" smtClean="0">
                              <a:latin typeface="Cambria Math" panose="02040503050406030204" pitchFamily="18" charset="0"/>
                            </a:rPr>
                            <m:t>)</m:t>
                          </m:r>
                        </m:num>
                        <m:den>
                          <m:r>
                            <a:rPr lang="en-US" sz="2000" b="1" i="1" smtClean="0">
                              <a:latin typeface="Cambria Math" panose="02040503050406030204" pitchFamily="18" charset="0"/>
                            </a:rPr>
                            <m:t>𝑷</m:t>
                          </m:r>
                          <m:r>
                            <a:rPr lang="en-US" sz="2000" b="1" i="1" smtClean="0">
                              <a:latin typeface="Cambria Math" panose="02040503050406030204" pitchFamily="18" charset="0"/>
                            </a:rPr>
                            <m:t>(</m:t>
                          </m:r>
                          <m:r>
                            <a:rPr lang="en-US" sz="2000" b="1" i="1" smtClean="0">
                              <a:latin typeface="Cambria Math" panose="02040503050406030204" pitchFamily="18" charset="0"/>
                            </a:rPr>
                            <m:t>𝑩</m:t>
                          </m:r>
                          <m:r>
                            <a:rPr lang="en-US" sz="2000" b="1" i="1" smtClean="0">
                              <a:latin typeface="Cambria Math" panose="02040503050406030204" pitchFamily="18" charset="0"/>
                            </a:rPr>
                            <m:t>)</m:t>
                          </m:r>
                        </m:den>
                      </m:f>
                    </m:oMath>
                  </m:oMathPara>
                </a14:m>
                <a:endParaRPr lang="en-US" sz="2000" b="1" dirty="0"/>
              </a:p>
            </p:txBody>
          </p:sp>
        </mc:Choice>
        <mc:Fallback xmlns="">
          <p:sp>
            <p:nvSpPr>
              <p:cNvPr id="3" name="Text Placeholder 2">
                <a:extLst>
                  <a:ext uri="{FF2B5EF4-FFF2-40B4-BE49-F238E27FC236}">
                    <a16:creationId xmlns:a16="http://schemas.microsoft.com/office/drawing/2014/main" id="{75BB2014-DC36-47B0-94EF-4DCEDA8D4DFA}"/>
                  </a:ext>
                </a:extLst>
              </p:cNvPr>
              <p:cNvSpPr>
                <a:spLocks noGrp="1" noRot="1" noChangeAspect="1" noMove="1" noResize="1" noEditPoints="1" noAdjustHandles="1" noChangeArrowheads="1" noChangeShapeType="1" noTextEdit="1"/>
              </p:cNvSpPr>
              <p:nvPr>
                <p:ph type="body" sz="quarter" idx="15"/>
              </p:nvPr>
            </p:nvSpPr>
            <p:spPr>
              <a:xfrm>
                <a:off x="743577" y="1430688"/>
                <a:ext cx="10610222" cy="1746481"/>
              </a:xfrm>
              <a:blipFill>
                <a:blip r:embed="rId2"/>
                <a:stretch>
                  <a:fillRect l="-1494" t="-41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62EA7763-9343-651B-8C6F-7510715583CA}"/>
                  </a:ext>
                </a:extLst>
              </p:cNvPr>
              <p:cNvSpPr>
                <a:spLocks noGrp="1"/>
              </p:cNvSpPr>
              <p:nvPr>
                <p:ph type="body" sz="quarter" idx="17"/>
              </p:nvPr>
            </p:nvSpPr>
            <p:spPr>
              <a:xfrm>
                <a:off x="743577" y="3302034"/>
                <a:ext cx="4681351" cy="2118872"/>
              </a:xfrm>
            </p:spPr>
            <p:txBody>
              <a:bodyPr/>
              <a:lstStyle/>
              <a:p>
                <a:pPr>
                  <a:spcAft>
                    <a:spcPts val="600"/>
                  </a:spcAft>
                </a:pPr>
                <a:r>
                  <a:rPr lang="en-US" sz="2000" dirty="0"/>
                  <a:t>We calculate the probability of event </a:t>
                </a:r>
                <a:r>
                  <a:rPr lang="en-US" sz="2000" i="1" dirty="0"/>
                  <a:t>B</a:t>
                </a:r>
                <a:r>
                  <a:rPr lang="en-US" sz="2000" dirty="0"/>
                  <a:t> given </a:t>
                </a:r>
                <a:r>
                  <a:rPr lang="en-US" sz="2000" i="1" dirty="0"/>
                  <a:t>A</a:t>
                </a:r>
                <a:r>
                  <a:rPr lang="en-US" sz="2000" dirty="0"/>
                  <a:t> as</a:t>
                </a:r>
              </a:p>
              <a:p>
                <a:pPr marL="914400" indent="-914400">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𝐴</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𝐴</m:t>
                          </m:r>
                          <m:r>
                            <a:rPr lang="en-US" sz="2000" b="0" i="1" smtClean="0">
                              <a:latin typeface="Cambria Math" panose="02040503050406030204" pitchFamily="18" charset="0"/>
                            </a:rPr>
                            <m:t>)</m:t>
                          </m:r>
                        </m:den>
                      </m:f>
                    </m:oMath>
                  </m:oMathPara>
                </a14:m>
                <a:endParaRPr lang="en-US" sz="2000" dirty="0"/>
              </a:p>
              <a:p>
                <a:pPr>
                  <a:spcAft>
                    <a:spcPts val="600"/>
                  </a:spcAft>
                </a:pPr>
                <a:r>
                  <a:rPr lang="en-US" sz="2000" dirty="0"/>
                  <a:t>Note that</a:t>
                </a:r>
              </a:p>
              <a:p>
                <a:pPr marL="9144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𝐴</m:t>
                      </m:r>
                      <m:r>
                        <a:rPr lang="en-US" sz="2000" b="0" i="1" smtClean="0">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m:t>
                      </m:r>
                    </m:oMath>
                  </m:oMathPara>
                </a14:m>
                <a:endParaRPr lang="en-US" sz="2000" dirty="0"/>
              </a:p>
            </p:txBody>
          </p:sp>
        </mc:Choice>
        <mc:Fallback xmlns="">
          <p:sp>
            <p:nvSpPr>
              <p:cNvPr id="5" name="Text Placeholder 4">
                <a:extLst>
                  <a:ext uri="{FF2B5EF4-FFF2-40B4-BE49-F238E27FC236}">
                    <a16:creationId xmlns:a16="http://schemas.microsoft.com/office/drawing/2014/main" id="{62EA7763-9343-651B-8C6F-7510715583CA}"/>
                  </a:ext>
                </a:extLst>
              </p:cNvPr>
              <p:cNvSpPr>
                <a:spLocks noGrp="1" noRot="1" noChangeAspect="1" noMove="1" noResize="1" noEditPoints="1" noAdjustHandles="1" noChangeArrowheads="1" noChangeShapeType="1" noTextEdit="1"/>
              </p:cNvSpPr>
              <p:nvPr>
                <p:ph type="body" sz="quarter" idx="17"/>
              </p:nvPr>
            </p:nvSpPr>
            <p:spPr>
              <a:xfrm>
                <a:off x="743577" y="3302034"/>
                <a:ext cx="4681351" cy="2118872"/>
              </a:xfrm>
              <a:blipFill>
                <a:blip r:embed="rId3"/>
                <a:stretch>
                  <a:fillRect l="-3385" t="-3458"/>
                </a:stretch>
              </a:blipFill>
            </p:spPr>
            <p:txBody>
              <a:bodyPr/>
              <a:lstStyle/>
              <a:p>
                <a:r>
                  <a:rPr lang="en-US">
                    <a:noFill/>
                  </a:rPr>
                  <a:t> </a:t>
                </a:r>
              </a:p>
            </p:txBody>
          </p:sp>
        </mc:Fallback>
      </mc:AlternateContent>
      <p:pic>
        <p:nvPicPr>
          <p:cNvPr id="6" name="Picture Placeholder 7" descr="A Venn diagram shows an event with conditional probability. Two intersecting circles, labeled “Event A” and “Event B” are inside a rectangle labeled “Sample Space S.” The circle labeled “Event B” is shaded light. The region of intersection is shaded dark and labeled “Event A intersection B.”&#10;">
            <a:extLst>
              <a:ext uri="{FF2B5EF4-FFF2-40B4-BE49-F238E27FC236}">
                <a16:creationId xmlns:a16="http://schemas.microsoft.com/office/drawing/2014/main" id="{227A9B5E-4667-17BA-FB72-48C817AA6551}"/>
              </a:ext>
            </a:extLst>
          </p:cNvPr>
          <p:cNvPicPr>
            <a:picLocks noGrp="1" noChangeAspect="1"/>
          </p:cNvPicPr>
          <p:nvPr>
            <p:ph type="pic" sz="quarter" idx="16"/>
          </p:nvPr>
        </p:nvPicPr>
        <p:blipFill rotWithShape="1">
          <a:blip r:embed="rId4"/>
          <a:srcRect l="24" r="24"/>
          <a:stretch/>
        </p:blipFill>
        <p:spPr>
          <a:xfrm>
            <a:off x="5262161" y="2613016"/>
            <a:ext cx="5815013" cy="2624137"/>
          </a:xfrm>
        </p:spPr>
      </p:pic>
    </p:spTree>
    <p:extLst>
      <p:ext uri="{BB962C8B-B14F-4D97-AF65-F5344CB8AC3E}">
        <p14:creationId xmlns:p14="http://schemas.microsoft.com/office/powerpoint/2010/main" val="1788963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4.4 Application: A Discrimination Case on the Promotion of Police Officers</a:t>
            </a:r>
          </a:p>
        </p:txBody>
      </p:sp>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93194" y="1848719"/>
            <a:ext cx="10529510" cy="2059046"/>
          </a:xfrm>
        </p:spPr>
        <p:txBody>
          <a:bodyPr>
            <a:noAutofit/>
          </a:bodyPr>
          <a:lstStyle/>
          <a:p>
            <a:r>
              <a:rPr lang="en-US" dirty="0"/>
              <a:t>The police force of a major metropolitan area in the eastern U.S. consists of 1200 officers, 960 self-identified males, and 240 self-identified females.</a:t>
            </a:r>
          </a:p>
          <a:p>
            <a:r>
              <a:rPr lang="en-US" dirty="0"/>
              <a:t>The specific breakdown of the promotions of 288 male and 36 female police officers over the past two years is summarized in the crosstabulation shown below.</a:t>
            </a:r>
          </a:p>
          <a:p>
            <a:r>
              <a:rPr lang="en-US" dirty="0"/>
              <a:t>After reviewing the promotion record, a committee of female officers raised a discrimination case on the basis of the low promotion of female officers when compared to male officers.</a:t>
            </a:r>
          </a:p>
        </p:txBody>
      </p:sp>
      <p:sp>
        <p:nvSpPr>
          <p:cNvPr id="4" name="Text Placeholder 3">
            <a:extLst>
              <a:ext uri="{FF2B5EF4-FFF2-40B4-BE49-F238E27FC236}">
                <a16:creationId xmlns:a16="http://schemas.microsoft.com/office/drawing/2014/main" id="{547D39AE-9939-FCB8-EF22-5D26AA7712D0}"/>
              </a:ext>
            </a:extLst>
          </p:cNvPr>
          <p:cNvSpPr>
            <a:spLocks noGrp="1"/>
          </p:cNvSpPr>
          <p:nvPr>
            <p:ph type="body" sz="quarter" idx="18"/>
          </p:nvPr>
        </p:nvSpPr>
        <p:spPr>
          <a:xfrm>
            <a:off x="793194" y="3933645"/>
            <a:ext cx="4713645" cy="1613140"/>
          </a:xfrm>
        </p:spPr>
        <p:txBody>
          <a:bodyPr/>
          <a:lstStyle/>
          <a:p>
            <a:r>
              <a:rPr lang="en-US" sz="2000" dirty="0"/>
              <a:t>The police administration argued that the lower number of promotions for female officers was due to the relatively lower number of female officers in the police force.</a:t>
            </a:r>
          </a:p>
        </p:txBody>
      </p:sp>
      <p:graphicFrame>
        <p:nvGraphicFramePr>
          <p:cNvPr id="6" name="Table 7">
            <a:extLst>
              <a:ext uri="{FF2B5EF4-FFF2-40B4-BE49-F238E27FC236}">
                <a16:creationId xmlns:a16="http://schemas.microsoft.com/office/drawing/2014/main" id="{F6E0D16B-F879-2927-6A48-2F562A4FF2B5}"/>
              </a:ext>
            </a:extLst>
          </p:cNvPr>
          <p:cNvGraphicFramePr>
            <a:graphicFrameLocks noGrp="1"/>
          </p:cNvGraphicFramePr>
          <p:nvPr>
            <p:ph type="tbl" sz="quarter" idx="22"/>
          </p:nvPr>
        </p:nvGraphicFramePr>
        <p:xfrm>
          <a:off x="5739471" y="3933645"/>
          <a:ext cx="5245860" cy="1463040"/>
        </p:xfrm>
        <a:graphic>
          <a:graphicData uri="http://schemas.openxmlformats.org/drawingml/2006/table">
            <a:tbl>
              <a:tblPr firstRow="1" bandRow="1">
                <a:tableStyleId>{5C22544A-7EE6-4342-B048-85BDC9FD1C3A}</a:tableStyleId>
              </a:tblPr>
              <a:tblGrid>
                <a:gridCol w="1610235">
                  <a:extLst>
                    <a:ext uri="{9D8B030D-6E8A-4147-A177-3AD203B41FA5}">
                      <a16:colId xmlns:a16="http://schemas.microsoft.com/office/drawing/2014/main" val="3636198848"/>
                    </a:ext>
                  </a:extLst>
                </a:gridCol>
                <a:gridCol w="1211875">
                  <a:extLst>
                    <a:ext uri="{9D8B030D-6E8A-4147-A177-3AD203B41FA5}">
                      <a16:colId xmlns:a16="http://schemas.microsoft.com/office/drawing/2014/main" val="442229658"/>
                    </a:ext>
                  </a:extLst>
                </a:gridCol>
                <a:gridCol w="1211875">
                  <a:extLst>
                    <a:ext uri="{9D8B030D-6E8A-4147-A177-3AD203B41FA5}">
                      <a16:colId xmlns:a16="http://schemas.microsoft.com/office/drawing/2014/main" val="869538710"/>
                    </a:ext>
                  </a:extLst>
                </a:gridCol>
                <a:gridCol w="1211875">
                  <a:extLst>
                    <a:ext uri="{9D8B030D-6E8A-4147-A177-3AD203B41FA5}">
                      <a16:colId xmlns:a16="http://schemas.microsoft.com/office/drawing/2014/main" val="1501990743"/>
                    </a:ext>
                  </a:extLst>
                </a:gridCol>
              </a:tblGrid>
              <a:tr h="349422">
                <a:tc>
                  <a:txBody>
                    <a:bodyPr/>
                    <a:lstStyle/>
                    <a:p>
                      <a:endParaRPr lang="en-US" dirty="0">
                        <a:solidFill>
                          <a:srgbClr val="000000"/>
                        </a:solidFill>
                      </a:endParaRP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Male</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Female</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Total</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37853087"/>
                  </a:ext>
                </a:extLst>
              </a:tr>
              <a:tr h="349422">
                <a:tc>
                  <a:txBody>
                    <a:bodyPr/>
                    <a:lstStyle/>
                    <a:p>
                      <a:r>
                        <a:rPr lang="en-US" b="1" dirty="0">
                          <a:solidFill>
                            <a:srgbClr val="000000"/>
                          </a:solidFill>
                        </a:rPr>
                        <a:t>Promoted</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288</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36</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324</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66568400"/>
                  </a:ext>
                </a:extLst>
              </a:tr>
              <a:tr h="349422">
                <a:tc>
                  <a:txBody>
                    <a:bodyPr/>
                    <a:lstStyle/>
                    <a:p>
                      <a:r>
                        <a:rPr lang="en-US" b="1" dirty="0">
                          <a:solidFill>
                            <a:srgbClr val="000000"/>
                          </a:solidFill>
                        </a:rPr>
                        <a:t>Not Promoted</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672</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204</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876</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09482273"/>
                  </a:ext>
                </a:extLst>
              </a:tr>
              <a:tr h="349422">
                <a:tc>
                  <a:txBody>
                    <a:bodyPr/>
                    <a:lstStyle/>
                    <a:p>
                      <a:pPr algn="r"/>
                      <a:r>
                        <a:rPr lang="en-US" b="1" dirty="0">
                          <a:solidFill>
                            <a:srgbClr val="000000"/>
                          </a:solidFill>
                        </a:rPr>
                        <a:t>Total</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960</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240</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1,200</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8302646"/>
                  </a:ext>
                </a:extLst>
              </a:tr>
            </a:tbl>
          </a:graphicData>
        </a:graphic>
      </p:graphicFrame>
    </p:spTree>
    <p:extLst>
      <p:ext uri="{BB962C8B-B14F-4D97-AF65-F5344CB8AC3E}">
        <p14:creationId xmlns:p14="http://schemas.microsoft.com/office/powerpoint/2010/main" val="3044907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4.4 Joint Probability Table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93194" y="1242200"/>
                <a:ext cx="10529510" cy="2464184"/>
              </a:xfrm>
            </p:spPr>
            <p:txBody>
              <a:bodyPr>
                <a:noAutofit/>
              </a:bodyPr>
              <a:lstStyle/>
              <a:p>
                <a:r>
                  <a:rPr lang="en-US" dirty="0"/>
                  <a:t>Dividing the data values in the crosstabulation by the total of 1,200 officers enables us to summarize the available information on promotions with a </a:t>
                </a:r>
                <a:r>
                  <a:rPr lang="en-US" b="1" dirty="0"/>
                  <a:t>joint probability table</a:t>
                </a:r>
                <a:r>
                  <a:rPr lang="en-US" dirty="0"/>
                  <a:t>.</a:t>
                </a:r>
              </a:p>
              <a:p>
                <a:r>
                  <a:rPr lang="en-US" dirty="0"/>
                  <a:t>In the body of the table, we have the </a:t>
                </a:r>
                <a:r>
                  <a:rPr lang="en-US" b="1" dirty="0"/>
                  <a:t>joint probabilities</a:t>
                </a:r>
                <a:r>
                  <a:rPr lang="en-US" dirty="0"/>
                  <a:t>, which are the intersection probabilities of the events of whether a police officer was promoted (</a:t>
                </a:r>
                <a14:m>
                  <m:oMath xmlns:m="http://schemas.openxmlformats.org/officeDocument/2006/math">
                    <m:r>
                      <a:rPr lang="en-US" i="1" dirty="0" smtClean="0">
                        <a:latin typeface="Cambria Math" panose="02040503050406030204" pitchFamily="18" charset="0"/>
                      </a:rPr>
                      <m:t>𝐴</m:t>
                    </m:r>
                  </m:oMath>
                </a14:m>
                <a:r>
                  <a:rPr lang="en-US" dirty="0"/>
                  <a:t>) or not (</a:t>
                </a:r>
                <a14:m>
                  <m:oMath xmlns:m="http://schemas.openxmlformats.org/officeDocument/2006/math">
                    <m:r>
                      <a:rPr lang="en-US" i="1" dirty="0" smtClean="0">
                        <a:latin typeface="Cambria Math" panose="02040503050406030204" pitchFamily="18" charset="0"/>
                      </a:rPr>
                      <m:t>𝐴</m:t>
                    </m:r>
                    <m:r>
                      <a:rPr lang="en-US" i="1" baseline="30000" dirty="0">
                        <a:latin typeface="Cambria Math" panose="02040503050406030204" pitchFamily="18" charset="0"/>
                      </a:rPr>
                      <m:t>𝑐</m:t>
                    </m:r>
                  </m:oMath>
                </a14:m>
                <a:r>
                  <a:rPr lang="en-US" dirty="0"/>
                  <a:t>) with whether the police officer is male (</a:t>
                </a:r>
                <a14:m>
                  <m:oMath xmlns:m="http://schemas.openxmlformats.org/officeDocument/2006/math">
                    <m:r>
                      <a:rPr lang="en-US" i="1" dirty="0" smtClean="0">
                        <a:latin typeface="Cambria Math" panose="02040503050406030204" pitchFamily="18" charset="0"/>
                      </a:rPr>
                      <m:t>𝑀</m:t>
                    </m:r>
                  </m:oMath>
                </a14:m>
                <a:r>
                  <a:rPr lang="en-US" dirty="0"/>
                  <a:t>) or female (</a:t>
                </a:r>
                <a14:m>
                  <m:oMath xmlns:m="http://schemas.openxmlformats.org/officeDocument/2006/math">
                    <m:r>
                      <a:rPr lang="en-US" i="1" dirty="0" smtClean="0">
                        <a:latin typeface="Cambria Math" panose="02040503050406030204" pitchFamily="18" charset="0"/>
                      </a:rPr>
                      <m:t>𝐹</m:t>
                    </m:r>
                  </m:oMath>
                </a14:m>
                <a:r>
                  <a:rPr lang="en-US" dirty="0"/>
                  <a:t>).</a:t>
                </a:r>
              </a:p>
              <a:p>
                <a:pPr>
                  <a:spcAft>
                    <a:spcPts val="600"/>
                  </a:spcAft>
                </a:pPr>
                <a:r>
                  <a:rPr lang="en-US" dirty="0"/>
                  <a:t>The joint probability that an officer was promoted (</a:t>
                </a:r>
                <a14:m>
                  <m:oMath xmlns:m="http://schemas.openxmlformats.org/officeDocument/2006/math">
                    <m:r>
                      <a:rPr lang="en-US" i="1" dirty="0" smtClean="0">
                        <a:latin typeface="Cambria Math" panose="02040503050406030204" pitchFamily="18" charset="0"/>
                      </a:rPr>
                      <m:t>𝐴</m:t>
                    </m:r>
                  </m:oMath>
                </a14:m>
                <a:r>
                  <a:rPr lang="en-US" dirty="0"/>
                  <a:t>) and is a male (</a:t>
                </a:r>
                <a14:m>
                  <m:oMath xmlns:m="http://schemas.openxmlformats.org/officeDocument/2006/math">
                    <m:r>
                      <a:rPr lang="en-US" i="1" dirty="0" smtClean="0">
                        <a:latin typeface="Cambria Math" panose="02040503050406030204" pitchFamily="18" charset="0"/>
                      </a:rPr>
                      <m:t>𝑀</m:t>
                    </m:r>
                  </m:oMath>
                </a14:m>
                <a:r>
                  <a:rPr lang="en-US" dirty="0"/>
                  <a:t>)</a:t>
                </a:r>
              </a:p>
              <a:p>
                <a:pPr marL="460375">
                  <a:spcAft>
                    <a:spcPts val="600"/>
                  </a:spcAft>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m:t>
                          </m:r>
                        </m:e>
                      </m:d>
                      <m:r>
                        <a:rPr lang="en-US" b="0" i="1" smtClean="0">
                          <a:latin typeface="Cambria Math" panose="02040503050406030204" pitchFamily="18" charset="0"/>
                          <a:ea typeface="Cambria Math" panose="02040503050406030204" pitchFamily="18" charset="0"/>
                        </a:rPr>
                        <m:t>=</m:t>
                      </m:r>
                      <m:f>
                        <m:fPr>
                          <m:type m:val="lin"/>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288</m:t>
                          </m:r>
                        </m:num>
                        <m:den>
                          <m:r>
                            <a:rPr lang="en-US" b="0" i="1" smtClean="0">
                              <a:latin typeface="Cambria Math" panose="02040503050406030204" pitchFamily="18" charset="0"/>
                              <a:ea typeface="Cambria Math" panose="02040503050406030204" pitchFamily="18" charset="0"/>
                            </a:rPr>
                            <m:t>1200</m:t>
                          </m:r>
                        </m:den>
                      </m:f>
                      <m:r>
                        <a:rPr lang="en-US" b="0" i="1" smtClean="0">
                          <a:latin typeface="Cambria Math" panose="02040503050406030204" pitchFamily="18" charset="0"/>
                          <a:ea typeface="Cambria Math" panose="02040503050406030204" pitchFamily="18" charset="0"/>
                        </a:rPr>
                        <m:t>=0.24</m:t>
                      </m:r>
                    </m:oMath>
                  </m:oMathPara>
                </a14:m>
                <a:endParaRPr lang="en-US" dirty="0"/>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93194" y="1242200"/>
                <a:ext cx="10529510" cy="2464184"/>
              </a:xfrm>
              <a:blipFill>
                <a:blip r:embed="rId3"/>
                <a:stretch>
                  <a:fillRect l="-1448" t="-29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C787D2C-90D1-5C18-F187-82972A97C32E}"/>
                  </a:ext>
                </a:extLst>
              </p:cNvPr>
              <p:cNvSpPr>
                <a:spLocks noGrp="1"/>
              </p:cNvSpPr>
              <p:nvPr>
                <p:ph type="body" sz="quarter" idx="18"/>
              </p:nvPr>
            </p:nvSpPr>
            <p:spPr>
              <a:xfrm>
                <a:off x="793194" y="3771901"/>
                <a:ext cx="4658700" cy="1843900"/>
              </a:xfrm>
            </p:spPr>
            <p:txBody>
              <a:bodyPr>
                <a:noAutofit/>
              </a:bodyPr>
              <a:lstStyle/>
              <a:p>
                <a:r>
                  <a:rPr lang="en-US" dirty="0"/>
                  <a:t>On the margins of the table, we have the </a:t>
                </a:r>
                <a:r>
                  <a:rPr lang="en-US" b="1" dirty="0"/>
                  <a:t>marginal probabilities</a:t>
                </a:r>
                <a:r>
                  <a:rPr lang="en-US" dirty="0"/>
                  <a:t>, providing the probabilities of each separate event.</a:t>
                </a:r>
              </a:p>
              <a:p>
                <a:pPr>
                  <a:spcAft>
                    <a:spcPts val="600"/>
                  </a:spcAft>
                </a:pPr>
                <a:r>
                  <a:rPr lang="en-US" dirty="0"/>
                  <a:t>The probability that an officer is male (</a:t>
                </a:r>
                <a14:m>
                  <m:oMath xmlns:m="http://schemas.openxmlformats.org/officeDocument/2006/math">
                    <m:r>
                      <a:rPr lang="en-US" i="1" dirty="0" smtClean="0">
                        <a:latin typeface="Cambria Math" panose="02040503050406030204" pitchFamily="18" charset="0"/>
                      </a:rPr>
                      <m:t>𝑀</m:t>
                    </m:r>
                  </m:oMath>
                </a14:m>
                <a:r>
                  <a:rPr lang="en-US" dirty="0"/>
                  <a:t>)</a:t>
                </a:r>
              </a:p>
              <a:p>
                <a:pPr marL="460375">
                  <a:spcAft>
                    <a:spcPts val="600"/>
                  </a:spcAft>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𝑀</m:t>
                          </m:r>
                        </m:e>
                      </m:d>
                      <m:r>
                        <a:rPr lang="en-US" b="0" i="1" smtClean="0">
                          <a:latin typeface="Cambria Math" panose="02040503050406030204" pitchFamily="18" charset="0"/>
                          <a:ea typeface="Cambria Math" panose="02040503050406030204" pitchFamily="18" charset="0"/>
                        </a:rPr>
                        <m:t>=</m:t>
                      </m:r>
                      <m:f>
                        <m:fPr>
                          <m:type m:val="lin"/>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960</m:t>
                          </m:r>
                        </m:num>
                        <m:den>
                          <m:r>
                            <a:rPr lang="en-US" b="0" i="1" smtClean="0">
                              <a:latin typeface="Cambria Math" panose="02040503050406030204" pitchFamily="18" charset="0"/>
                              <a:ea typeface="Cambria Math" panose="02040503050406030204" pitchFamily="18" charset="0"/>
                            </a:rPr>
                            <m:t>1200</m:t>
                          </m:r>
                        </m:den>
                      </m:f>
                      <m:r>
                        <a:rPr lang="en-US" b="0" i="1" smtClean="0">
                          <a:latin typeface="Cambria Math" panose="02040503050406030204" pitchFamily="18" charset="0"/>
                          <a:ea typeface="Cambria Math" panose="02040503050406030204" pitchFamily="18" charset="0"/>
                        </a:rPr>
                        <m:t>=0.80</m:t>
                      </m:r>
                    </m:oMath>
                  </m:oMathPara>
                </a14:m>
                <a:endParaRPr lang="en-US" dirty="0"/>
              </a:p>
            </p:txBody>
          </p:sp>
        </mc:Choice>
        <mc:Fallback xmlns="">
          <p:sp>
            <p:nvSpPr>
              <p:cNvPr id="4" name="Text Placeholder 3">
                <a:extLst>
                  <a:ext uri="{FF2B5EF4-FFF2-40B4-BE49-F238E27FC236}">
                    <a16:creationId xmlns:a16="http://schemas.microsoft.com/office/drawing/2014/main" id="{8C787D2C-90D1-5C18-F187-82972A97C32E}"/>
                  </a:ext>
                </a:extLst>
              </p:cNvPr>
              <p:cNvSpPr>
                <a:spLocks noGrp="1" noRot="1" noChangeAspect="1" noMove="1" noResize="1" noEditPoints="1" noAdjustHandles="1" noChangeArrowheads="1" noChangeShapeType="1" noTextEdit="1"/>
              </p:cNvSpPr>
              <p:nvPr>
                <p:ph type="body" sz="quarter" idx="18"/>
              </p:nvPr>
            </p:nvSpPr>
            <p:spPr>
              <a:xfrm>
                <a:off x="793194" y="3771901"/>
                <a:ext cx="4658700" cy="1843900"/>
              </a:xfrm>
              <a:blipFill>
                <a:blip r:embed="rId4"/>
                <a:stretch>
                  <a:fillRect l="-3272" t="-3974" r="-2880"/>
                </a:stretch>
              </a:blipFill>
            </p:spPr>
            <p:txBody>
              <a:bodyPr/>
              <a:lstStyle/>
              <a:p>
                <a:r>
                  <a:rPr lang="en-US">
                    <a:noFill/>
                  </a:rPr>
                  <a:t> </a:t>
                </a:r>
              </a:p>
            </p:txBody>
          </p:sp>
        </mc:Fallback>
      </mc:AlternateContent>
      <p:graphicFrame>
        <p:nvGraphicFramePr>
          <p:cNvPr id="6" name="Table 7">
            <a:extLst>
              <a:ext uri="{FF2B5EF4-FFF2-40B4-BE49-F238E27FC236}">
                <a16:creationId xmlns:a16="http://schemas.microsoft.com/office/drawing/2014/main" id="{88647B9A-BDD7-D65A-6FD8-AA14464E1FF6}"/>
              </a:ext>
            </a:extLst>
          </p:cNvPr>
          <p:cNvGraphicFramePr>
            <a:graphicFrameLocks noGrp="1"/>
          </p:cNvGraphicFramePr>
          <p:nvPr>
            <p:ph type="tbl" sz="quarter" idx="22"/>
            <p:extLst>
              <p:ext uri="{D42A27DB-BD31-4B8C-83A1-F6EECF244321}">
                <p14:modId xmlns:p14="http://schemas.microsoft.com/office/powerpoint/2010/main" val="1468481853"/>
              </p:ext>
            </p:extLst>
          </p:nvPr>
        </p:nvGraphicFramePr>
        <p:xfrm>
          <a:off x="5780419" y="3543299"/>
          <a:ext cx="5245861" cy="1843900"/>
        </p:xfrm>
        <a:graphic>
          <a:graphicData uri="http://schemas.openxmlformats.org/drawingml/2006/table">
            <a:tbl>
              <a:tblPr firstRow="1" bandRow="1">
                <a:tableStyleId>{5C22544A-7EE6-4342-B048-85BDC9FD1C3A}</a:tableStyleId>
              </a:tblPr>
              <a:tblGrid>
                <a:gridCol w="1966102">
                  <a:extLst>
                    <a:ext uri="{9D8B030D-6E8A-4147-A177-3AD203B41FA5}">
                      <a16:colId xmlns:a16="http://schemas.microsoft.com/office/drawing/2014/main" val="3636198848"/>
                    </a:ext>
                  </a:extLst>
                </a:gridCol>
                <a:gridCol w="1203385">
                  <a:extLst>
                    <a:ext uri="{9D8B030D-6E8A-4147-A177-3AD203B41FA5}">
                      <a16:colId xmlns:a16="http://schemas.microsoft.com/office/drawing/2014/main" val="442229658"/>
                    </a:ext>
                  </a:extLst>
                </a:gridCol>
                <a:gridCol w="1203385">
                  <a:extLst>
                    <a:ext uri="{9D8B030D-6E8A-4147-A177-3AD203B41FA5}">
                      <a16:colId xmlns:a16="http://schemas.microsoft.com/office/drawing/2014/main" val="869538710"/>
                    </a:ext>
                  </a:extLst>
                </a:gridCol>
                <a:gridCol w="872989">
                  <a:extLst>
                    <a:ext uri="{9D8B030D-6E8A-4147-A177-3AD203B41FA5}">
                      <a16:colId xmlns:a16="http://schemas.microsoft.com/office/drawing/2014/main" val="1501990743"/>
                    </a:ext>
                  </a:extLst>
                </a:gridCol>
              </a:tblGrid>
              <a:tr h="460975">
                <a:tc>
                  <a:txBody>
                    <a:bodyPr/>
                    <a:lstStyle/>
                    <a:p>
                      <a:endParaRPr lang="en-US" dirty="0">
                        <a:solidFill>
                          <a:srgbClr val="000000"/>
                        </a:solidFill>
                      </a:endParaRP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Male (</a:t>
                      </a:r>
                      <a:r>
                        <a:rPr lang="en-US" i="1" dirty="0">
                          <a:solidFill>
                            <a:srgbClr val="000000"/>
                          </a:solidFill>
                        </a:rPr>
                        <a:t>M</a:t>
                      </a:r>
                      <a:r>
                        <a:rPr lang="en-US" dirty="0">
                          <a:solidFill>
                            <a:srgbClr val="000000"/>
                          </a:solidFill>
                        </a:rPr>
                        <a:t>)</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Female (</a:t>
                      </a:r>
                      <a:r>
                        <a:rPr lang="en-US" i="1" dirty="0">
                          <a:solidFill>
                            <a:srgbClr val="000000"/>
                          </a:solidFill>
                        </a:rPr>
                        <a:t>F</a:t>
                      </a:r>
                      <a:r>
                        <a:rPr lang="en-US" dirty="0">
                          <a:solidFill>
                            <a:srgbClr val="000000"/>
                          </a:solidFill>
                        </a:rPr>
                        <a:t>)</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Total</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37853087"/>
                  </a:ext>
                </a:extLst>
              </a:tr>
              <a:tr h="460975">
                <a:tc>
                  <a:txBody>
                    <a:bodyPr/>
                    <a:lstStyle/>
                    <a:p>
                      <a:r>
                        <a:rPr lang="en-US" b="1" dirty="0">
                          <a:solidFill>
                            <a:srgbClr val="000000"/>
                          </a:solidFill>
                        </a:rPr>
                        <a:t>Promoted (</a:t>
                      </a:r>
                      <a:r>
                        <a:rPr lang="en-US" b="1" i="1" dirty="0">
                          <a:solidFill>
                            <a:srgbClr val="000000"/>
                          </a:solidFill>
                        </a:rPr>
                        <a:t>A</a:t>
                      </a:r>
                      <a:r>
                        <a:rPr lang="en-US" b="1" dirty="0">
                          <a:solidFill>
                            <a:srgbClr val="000000"/>
                          </a:solidFill>
                        </a:rPr>
                        <a:t>)</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0.24</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0.03</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0.27</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66568400"/>
                  </a:ext>
                </a:extLst>
              </a:tr>
              <a:tr h="460975">
                <a:tc>
                  <a:txBody>
                    <a:bodyPr/>
                    <a:lstStyle/>
                    <a:p>
                      <a:r>
                        <a:rPr lang="en-US" b="1" dirty="0">
                          <a:solidFill>
                            <a:srgbClr val="000000"/>
                          </a:solidFill>
                        </a:rPr>
                        <a:t>Not Promoted (</a:t>
                      </a:r>
                      <a:r>
                        <a:rPr lang="en-US" b="1" i="1" dirty="0">
                          <a:solidFill>
                            <a:srgbClr val="000000"/>
                          </a:solidFill>
                        </a:rPr>
                        <a:t>A</a:t>
                      </a:r>
                      <a:r>
                        <a:rPr lang="en-US" b="1" baseline="30000" dirty="0">
                          <a:solidFill>
                            <a:srgbClr val="000000"/>
                          </a:solidFill>
                        </a:rPr>
                        <a:t>c</a:t>
                      </a:r>
                      <a:r>
                        <a:rPr lang="en-US" b="1" dirty="0">
                          <a:solidFill>
                            <a:srgbClr val="000000"/>
                          </a:solidFill>
                        </a:rPr>
                        <a:t>)</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0.56</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0.17</a:t>
                      </a:r>
                    </a:p>
                  </a:txBody>
                  <a:tcP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0.73</a:t>
                      </a:r>
                    </a:p>
                  </a:txBody>
                  <a:tcP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09482273"/>
                  </a:ext>
                </a:extLst>
              </a:tr>
              <a:tr h="460975">
                <a:tc>
                  <a:txBody>
                    <a:bodyPr/>
                    <a:lstStyle/>
                    <a:p>
                      <a:pPr algn="r"/>
                      <a:r>
                        <a:rPr lang="en-US" b="1" dirty="0">
                          <a:solidFill>
                            <a:srgbClr val="000000"/>
                          </a:solidFill>
                        </a:rPr>
                        <a:t>Total</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0.80</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0.20</a:t>
                      </a:r>
                    </a:p>
                  </a:txBody>
                  <a:tcP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a:r>
                        <a:rPr lang="en-US" dirty="0">
                          <a:solidFill>
                            <a:srgbClr val="000000"/>
                          </a:solidFill>
                        </a:rPr>
                        <a:t>1.00</a:t>
                      </a:r>
                    </a:p>
                  </a:txBody>
                  <a:tcP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8302646"/>
                  </a:ext>
                </a:extLst>
              </a:tr>
            </a:tbl>
          </a:graphicData>
        </a:graphic>
      </p:graphicFrame>
    </p:spTree>
    <p:extLst>
      <p:ext uri="{BB962C8B-B14F-4D97-AF65-F5344CB8AC3E}">
        <p14:creationId xmlns:p14="http://schemas.microsoft.com/office/powerpoint/2010/main" val="2421458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4.4 Conditional Probability Analysis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59342" y="1226198"/>
                <a:ext cx="10670657" cy="4595645"/>
              </a:xfrm>
            </p:spPr>
            <p:txBody>
              <a:bodyPr/>
              <a:lstStyle/>
              <a:p>
                <a:pPr>
                  <a:spcAft>
                    <a:spcPts val="600"/>
                  </a:spcAft>
                </a:pPr>
                <a:r>
                  <a:rPr lang="en-US" sz="2000" dirty="0"/>
                  <a:t>We note that the marginal probabilities are found by summing the joint probabilities in the corresponding row or column of the joint probability table. For example</a:t>
                </a:r>
              </a:p>
              <a:p>
                <a:pPr marL="914400">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𝑀</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𝑃</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𝐹</m:t>
                          </m:r>
                        </m:e>
                      </m:d>
                      <m:r>
                        <a:rPr lang="en-US" sz="2000" b="0" i="1" smtClean="0">
                          <a:latin typeface="Cambria Math" panose="02040503050406030204" pitchFamily="18" charset="0"/>
                          <a:ea typeface="Cambria Math" panose="02040503050406030204" pitchFamily="18" charset="0"/>
                        </a:rPr>
                        <m:t>=0.24+0.03=0.27</m:t>
                      </m:r>
                    </m:oMath>
                  </m:oMathPara>
                </a14:m>
                <a:endParaRPr lang="en-US" sz="2000" dirty="0"/>
              </a:p>
              <a:p>
                <a:pPr>
                  <a:spcAft>
                    <a:spcPts val="600"/>
                  </a:spcAft>
                </a:pPr>
                <a:r>
                  <a:rPr lang="en-US" sz="2000" dirty="0"/>
                  <a:t>The conditional probability that an officer was promoted (</a:t>
                </a:r>
                <a:r>
                  <a:rPr lang="en-US" sz="2000" i="1" dirty="0"/>
                  <a:t>A</a:t>
                </a:r>
                <a:r>
                  <a:rPr lang="en-US" sz="2000" dirty="0"/>
                  <a:t>) given that the officer is male (</a:t>
                </a:r>
                <a:r>
                  <a:rPr lang="en-US" sz="2000" i="1" dirty="0"/>
                  <a:t>M</a:t>
                </a:r>
                <a:r>
                  <a:rPr lang="en-US" sz="2000" dirty="0"/>
                  <a:t>)</a:t>
                </a:r>
              </a:p>
              <a:p>
                <a:pPr marL="914400">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𝑀</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𝑀</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𝑀</m:t>
                          </m:r>
                          <m:r>
                            <a:rPr lang="en-US" sz="2000" b="0" i="1" smtClean="0">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288/1200</m:t>
                          </m:r>
                        </m:num>
                        <m:den>
                          <m:r>
                            <a:rPr lang="en-US" sz="2000" b="0" i="1" smtClean="0">
                              <a:latin typeface="Cambria Math" panose="02040503050406030204" pitchFamily="18" charset="0"/>
                            </a:rPr>
                            <m:t>960/1200</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288</m:t>
                          </m:r>
                        </m:num>
                        <m:den>
                          <m:r>
                            <a:rPr lang="en-US" sz="2000" b="0" i="1" smtClean="0">
                              <a:latin typeface="Cambria Math" panose="02040503050406030204" pitchFamily="18" charset="0"/>
                            </a:rPr>
                            <m:t>960</m:t>
                          </m:r>
                        </m:den>
                      </m:f>
                      <m:r>
                        <a:rPr lang="en-US" sz="2000" b="0" i="1" smtClean="0">
                          <a:latin typeface="Cambria Math" panose="02040503050406030204" pitchFamily="18" charset="0"/>
                        </a:rPr>
                        <m:t>=0.30</m:t>
                      </m:r>
                    </m:oMath>
                  </m:oMathPara>
                </a14:m>
                <a:endParaRPr lang="en-US" sz="2000" dirty="0"/>
              </a:p>
              <a:p>
                <a:pPr>
                  <a:spcAft>
                    <a:spcPts val="0"/>
                  </a:spcAft>
                </a:pPr>
                <a:r>
                  <a:rPr lang="en-US" sz="2000" dirty="0"/>
                  <a:t>Note that this could have also been calculated directly from the corresponding values in the crosstabulation using the conditional distribution (column) for </a:t>
                </a:r>
                <a:r>
                  <a:rPr lang="en-US" sz="2000" i="1" dirty="0"/>
                  <a:t>M</a:t>
                </a:r>
                <a:r>
                  <a:rPr lang="en-US" sz="2000" dirty="0"/>
                  <a:t> as </a:t>
                </a: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𝑀</m:t>
                    </m:r>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288</m:t>
                        </m:r>
                      </m:num>
                      <m:den>
                        <m:r>
                          <a:rPr lang="en-US" sz="2000" b="0" i="1" smtClean="0">
                            <a:latin typeface="Cambria Math" panose="02040503050406030204" pitchFamily="18" charset="0"/>
                          </a:rPr>
                          <m:t>960</m:t>
                        </m:r>
                      </m:den>
                    </m:f>
                    <m:r>
                      <a:rPr lang="en-US" sz="2000" b="0" i="1" smtClean="0">
                        <a:latin typeface="Cambria Math" panose="02040503050406030204" pitchFamily="18" charset="0"/>
                      </a:rPr>
                      <m:t>=0.30</m:t>
                    </m:r>
                  </m:oMath>
                </a14:m>
                <a:r>
                  <a:rPr lang="en-US" sz="2000" dirty="0"/>
                  <a:t>.</a:t>
                </a:r>
              </a:p>
              <a:p>
                <a:pPr>
                  <a:spcAft>
                    <a:spcPts val="600"/>
                  </a:spcAft>
                </a:pPr>
                <a:r>
                  <a:rPr lang="en-US" sz="2000" dirty="0"/>
                  <a:t>The conditional probability that an officer was promoted (</a:t>
                </a:r>
                <a:r>
                  <a:rPr lang="en-US" sz="2000" i="1" dirty="0"/>
                  <a:t>A</a:t>
                </a:r>
                <a:r>
                  <a:rPr lang="en-US" sz="2000" dirty="0"/>
                  <a:t>) given that the officer is female (</a:t>
                </a:r>
                <a:r>
                  <a:rPr lang="en-US" sz="2000" i="1" dirty="0"/>
                  <a:t>F</a:t>
                </a:r>
                <a:r>
                  <a:rPr lang="en-US" sz="2000" dirty="0"/>
                  <a:t>)</a:t>
                </a:r>
              </a:p>
              <a:p>
                <a:pPr marL="914400">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𝐹</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36/1200</m:t>
                          </m:r>
                        </m:num>
                        <m:den>
                          <m:r>
                            <a:rPr lang="en-US" sz="2000" b="0" i="1" smtClean="0">
                              <a:latin typeface="Cambria Math" panose="02040503050406030204" pitchFamily="18" charset="0"/>
                            </a:rPr>
                            <m:t>240/1200</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36</m:t>
                          </m:r>
                        </m:num>
                        <m:den>
                          <m:r>
                            <a:rPr lang="en-US" sz="2000" b="0" i="1" smtClean="0">
                              <a:latin typeface="Cambria Math" panose="02040503050406030204" pitchFamily="18" charset="0"/>
                            </a:rPr>
                            <m:t>240</m:t>
                          </m:r>
                        </m:den>
                      </m:f>
                      <m:r>
                        <a:rPr lang="en-US" sz="2000" b="0" i="1" smtClean="0">
                          <a:latin typeface="Cambria Math" panose="02040503050406030204" pitchFamily="18" charset="0"/>
                        </a:rPr>
                        <m:t>=0.15</m:t>
                      </m:r>
                    </m:oMath>
                  </m:oMathPara>
                </a14:m>
                <a:endParaRPr lang="en-US" sz="2000" dirty="0"/>
              </a:p>
              <a:p>
                <a:pPr>
                  <a:spcAft>
                    <a:spcPts val="600"/>
                  </a:spcAft>
                </a:pPr>
                <a:r>
                  <a:rPr lang="en-US" sz="2000" dirty="0"/>
                  <a:t>Thus, because </a:t>
                </a: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𝑀</m:t>
                    </m:r>
                    <m:r>
                      <a:rPr lang="en-US" sz="2000" b="0" i="1" smtClean="0">
                        <a:latin typeface="Cambria Math" panose="02040503050406030204" pitchFamily="18" charset="0"/>
                      </a:rPr>
                      <m:t>)&gt;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𝐹</m:t>
                    </m:r>
                    <m:r>
                      <a:rPr lang="en-US" sz="2000" i="1">
                        <a:latin typeface="Cambria Math" panose="02040503050406030204" pitchFamily="18" charset="0"/>
                      </a:rPr>
                      <m:t>)</m:t>
                    </m:r>
                  </m:oMath>
                </a14:m>
                <a:r>
                  <a:rPr lang="en-US" sz="2000" dirty="0"/>
                  <a:t>, the analysis supports the female officers’ argument.</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59342" y="1226198"/>
                <a:ext cx="10670657" cy="4595645"/>
              </a:xfrm>
              <a:blipFill>
                <a:blip r:embed="rId2"/>
                <a:stretch>
                  <a:fillRect l="-1486" t="-1592" r="-1314" b="-265"/>
                </a:stretch>
              </a:blipFill>
            </p:spPr>
            <p:txBody>
              <a:bodyPr/>
              <a:lstStyle/>
              <a:p>
                <a:r>
                  <a:rPr lang="en-US">
                    <a:noFill/>
                  </a:rPr>
                  <a:t> </a:t>
                </a:r>
              </a:p>
            </p:txBody>
          </p:sp>
        </mc:Fallback>
      </mc:AlternateContent>
    </p:spTree>
    <p:extLst>
      <p:ext uri="{BB962C8B-B14F-4D97-AF65-F5344CB8AC3E}">
        <p14:creationId xmlns:p14="http://schemas.microsoft.com/office/powerpoint/2010/main" val="1288540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4.4 Independent Events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59342" y="1365506"/>
                <a:ext cx="10670657" cy="4359166"/>
              </a:xfrm>
            </p:spPr>
            <p:txBody>
              <a:bodyPr/>
              <a:lstStyle/>
              <a:p>
                <a:pPr>
                  <a:spcAft>
                    <a:spcPts val="0"/>
                  </a:spcAft>
                </a:pPr>
                <a:r>
                  <a:rPr lang="en-US" sz="2000" dirty="0"/>
                  <a:t>Two events </a:t>
                </a:r>
                <a:r>
                  <a:rPr lang="en-US" sz="2000" i="1" dirty="0"/>
                  <a:t>A</a:t>
                </a:r>
                <a:r>
                  <a:rPr lang="en-US" sz="2000" dirty="0"/>
                  <a:t> and </a:t>
                </a:r>
                <a:r>
                  <a:rPr lang="en-US" sz="2000" i="1" dirty="0"/>
                  <a:t>B</a:t>
                </a:r>
                <a:r>
                  <a:rPr lang="en-US" sz="2000" dirty="0"/>
                  <a:t> are </a:t>
                </a:r>
                <a:r>
                  <a:rPr lang="en-US" sz="2000" b="1" dirty="0"/>
                  <a:t>independent</a:t>
                </a:r>
                <a:r>
                  <a:rPr lang="en-US" sz="2000" dirty="0"/>
                  <a:t> if</a:t>
                </a:r>
              </a:p>
              <a:p>
                <a:pPr marL="914400">
                  <a:spcAft>
                    <a:spcPts val="0"/>
                  </a:spcAft>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oMath>
                </a14:m>
                <a:r>
                  <a:rPr lang="en-US" sz="2000" dirty="0"/>
                  <a:t>   or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𝐵</m:t>
                        </m:r>
                      </m:e>
                    </m:d>
                  </m:oMath>
                </a14:m>
                <a:endParaRPr lang="en-US" sz="2000" dirty="0"/>
              </a:p>
              <a:p>
                <a:pPr>
                  <a:spcAft>
                    <a:spcPts val="0"/>
                  </a:spcAft>
                </a:pPr>
                <a:r>
                  <a:rPr lang="en-US" sz="2000" dirty="0"/>
                  <a:t>Otherwise, the events are </a:t>
                </a:r>
                <a:r>
                  <a:rPr lang="en-US" sz="2000" i="1" dirty="0"/>
                  <a:t>dependent</a:t>
                </a:r>
                <a:r>
                  <a:rPr lang="en-US" sz="2000" dirty="0"/>
                  <a:t> if</a:t>
                </a:r>
              </a:p>
              <a:p>
                <a:pPr marL="914400">
                  <a:spcAft>
                    <a:spcPts val="0"/>
                  </a:spcAft>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oMath>
                </a14:m>
                <a:r>
                  <a:rPr lang="en-US" sz="2000" dirty="0"/>
                  <a:t>   or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𝐴</m:t>
                    </m:r>
                    <m:r>
                      <a:rPr lang="en-US" sz="2000" i="1">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𝐵</m:t>
                        </m:r>
                      </m:e>
                    </m:d>
                  </m:oMath>
                </a14:m>
                <a:endParaRPr lang="en-US" sz="2000" dirty="0"/>
              </a:p>
              <a:p>
                <a:pPr>
                  <a:spcAft>
                    <a:spcPts val="0"/>
                  </a:spcAft>
                </a:pPr>
                <a:r>
                  <a:rPr lang="en-US" sz="2000" dirty="0"/>
                  <a:t>In the analysis of the promotion of police officers, we found</a:t>
                </a:r>
              </a:p>
              <a:p>
                <a:pPr marL="914400">
                  <a:spcAft>
                    <a:spcPts val="0"/>
                  </a:spcAft>
                </a:pP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r>
                      <a:rPr lang="en-US" sz="2000" b="0" i="1" smtClean="0">
                        <a:latin typeface="Cambria Math" panose="02040503050406030204" pitchFamily="18" charset="0"/>
                      </a:rPr>
                      <m:t>=0.27</m:t>
                    </m:r>
                  </m:oMath>
                </a14:m>
                <a:r>
                  <a:rPr lang="en-US" sz="2000" dirty="0"/>
                  <a:t>,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𝑀</m:t>
                    </m:r>
                    <m:r>
                      <a:rPr lang="en-US" sz="2000" i="1">
                        <a:latin typeface="Cambria Math" panose="02040503050406030204" pitchFamily="18" charset="0"/>
                      </a:rPr>
                      <m:t>)=</m:t>
                    </m:r>
                    <m:r>
                      <a:rPr lang="en-US" sz="2000" b="0" i="0" smtClean="0">
                        <a:latin typeface="Cambria Math" panose="02040503050406030204" pitchFamily="18" charset="0"/>
                      </a:rPr>
                      <m:t>0.30</m:t>
                    </m:r>
                  </m:oMath>
                </a14:m>
                <a:r>
                  <a:rPr lang="en-US" sz="2000" dirty="0"/>
                  <a:t>, and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𝐹</m:t>
                    </m:r>
                    <m:r>
                      <a:rPr lang="en-US" sz="2000" i="1">
                        <a:latin typeface="Cambria Math" panose="02040503050406030204" pitchFamily="18" charset="0"/>
                      </a:rPr>
                      <m:t>)=</m:t>
                    </m:r>
                    <m:r>
                      <a:rPr lang="en-US" sz="2000">
                        <a:latin typeface="Cambria Math" panose="02040503050406030204" pitchFamily="18" charset="0"/>
                      </a:rPr>
                      <m:t>0.</m:t>
                    </m:r>
                    <m:r>
                      <a:rPr lang="en-US" sz="2000" b="0" i="0" smtClean="0">
                        <a:latin typeface="Cambria Math" panose="02040503050406030204" pitchFamily="18" charset="0"/>
                      </a:rPr>
                      <m:t>15</m:t>
                    </m:r>
                  </m:oMath>
                </a14:m>
                <a:endParaRPr lang="en-US" sz="2000" dirty="0"/>
              </a:p>
              <a:p>
                <a:pPr>
                  <a:spcAft>
                    <a:spcPts val="0"/>
                  </a:spcAft>
                </a:pPr>
                <a:r>
                  <a:rPr lang="en-US" sz="2000" dirty="0"/>
                  <a:t>Because </a:t>
                </a:r>
                <a14:m>
                  <m:oMath xmlns:m="http://schemas.openxmlformats.org/officeDocument/2006/math">
                    <m:r>
                      <a:rPr lang="en-US" sz="2000" i="1" smtClean="0">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𝑀</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oMath>
                </a14:m>
                <a:r>
                  <a:rPr lang="en-US" sz="2000" dirty="0"/>
                  <a:t>, that is, the probability of whether an officer is promoted (</a:t>
                </a:r>
                <a14:m>
                  <m:oMath xmlns:m="http://schemas.openxmlformats.org/officeDocument/2006/math">
                    <m:r>
                      <a:rPr lang="en-US" sz="2000" i="1" dirty="0" smtClean="0">
                        <a:latin typeface="Cambria Math" panose="02040503050406030204" pitchFamily="18" charset="0"/>
                      </a:rPr>
                      <m:t>𝐴</m:t>
                    </m:r>
                  </m:oMath>
                </a14:m>
                <a:r>
                  <a:rPr lang="en-US" sz="2000" dirty="0"/>
                  <a:t>) is altered or affected by knowing whether the officer is male (</a:t>
                </a:r>
                <a14:m>
                  <m:oMath xmlns:m="http://schemas.openxmlformats.org/officeDocument/2006/math">
                    <m:r>
                      <a:rPr lang="en-US" sz="2000" i="1" dirty="0" smtClean="0">
                        <a:latin typeface="Cambria Math" panose="02040503050406030204" pitchFamily="18" charset="0"/>
                      </a:rPr>
                      <m:t>𝑀</m:t>
                    </m:r>
                  </m:oMath>
                </a14:m>
                <a:r>
                  <a:rPr lang="en-US" sz="2000" dirty="0"/>
                  <a:t>), we conclude that the events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𝑀</m:t>
                    </m:r>
                  </m:oMath>
                </a14:m>
                <a:r>
                  <a:rPr lang="en-US" sz="2000" dirty="0"/>
                  <a:t> are dependent.</a:t>
                </a:r>
              </a:p>
              <a:p>
                <a:pPr>
                  <a:spcAft>
                    <a:spcPts val="600"/>
                  </a:spcAft>
                </a:pPr>
                <a:r>
                  <a:rPr lang="en-US" sz="2000" dirty="0"/>
                  <a:t>Similarly, because </a:t>
                </a:r>
                <a14:m>
                  <m:oMath xmlns:m="http://schemas.openxmlformats.org/officeDocument/2006/math">
                    <m:r>
                      <a:rPr lang="en-US" sz="2000" i="1" smtClean="0">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𝐹</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oMath>
                </a14:m>
                <a:r>
                  <a:rPr lang="en-US" sz="2000" dirty="0"/>
                  <a:t>, we would say that events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𝐹</m:t>
                    </m:r>
                  </m:oMath>
                </a14:m>
                <a:r>
                  <a:rPr lang="en-US" sz="2000" dirty="0"/>
                  <a:t> are also dependent (*see notes.)</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59342" y="1365506"/>
                <a:ext cx="10670657" cy="4359166"/>
              </a:xfrm>
              <a:blipFill>
                <a:blip r:embed="rId3"/>
                <a:stretch>
                  <a:fillRect l="-1486" t="-1678" b="-839"/>
                </a:stretch>
              </a:blipFill>
            </p:spPr>
            <p:txBody>
              <a:bodyPr/>
              <a:lstStyle/>
              <a:p>
                <a:r>
                  <a:rPr lang="en-US">
                    <a:noFill/>
                  </a:rPr>
                  <a:t> </a:t>
                </a:r>
              </a:p>
            </p:txBody>
          </p:sp>
        </mc:Fallback>
      </mc:AlternateContent>
    </p:spTree>
    <p:extLst>
      <p:ext uri="{BB962C8B-B14F-4D97-AF65-F5344CB8AC3E}">
        <p14:creationId xmlns:p14="http://schemas.microsoft.com/office/powerpoint/2010/main" val="2857894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B06-3B43-B52B-E40B-D1988BF13505}"/>
              </a:ext>
            </a:extLst>
          </p:cNvPr>
          <p:cNvSpPr>
            <a:spLocks noGrp="1"/>
          </p:cNvSpPr>
          <p:nvPr>
            <p:ph type="title"/>
          </p:nvPr>
        </p:nvSpPr>
        <p:spPr/>
        <p:txBody>
          <a:bodyPr/>
          <a:lstStyle/>
          <a:p>
            <a:r>
              <a:rPr lang="en-US" dirty="0"/>
              <a:t>4.4 Multiplication Law</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5A17A9-E204-2C03-A62D-99D1BD497A64}"/>
                  </a:ext>
                </a:extLst>
              </p:cNvPr>
              <p:cNvSpPr>
                <a:spLocks noGrp="1"/>
              </p:cNvSpPr>
              <p:nvPr>
                <p:ph type="body" sz="quarter" idx="15"/>
              </p:nvPr>
            </p:nvSpPr>
            <p:spPr>
              <a:xfrm>
                <a:off x="759342" y="1439964"/>
                <a:ext cx="10670657" cy="4169380"/>
              </a:xfrm>
            </p:spPr>
            <p:txBody>
              <a:bodyPr/>
              <a:lstStyle/>
              <a:p>
                <a:pPr>
                  <a:spcBef>
                    <a:spcPts val="600"/>
                  </a:spcBef>
                  <a:spcAft>
                    <a:spcPts val="600"/>
                  </a:spcAft>
                </a:pPr>
                <a:r>
                  <a:rPr lang="en-US" sz="2000" dirty="0"/>
                  <a:t>The </a:t>
                </a:r>
                <a:r>
                  <a:rPr lang="en-US" sz="2000" b="1" dirty="0"/>
                  <a:t>multiplication law </a:t>
                </a:r>
                <a:r>
                  <a:rPr lang="en-US" sz="2000" dirty="0"/>
                  <a:t>is based on the definition of conditional probability, and it provides a way to compute the probability of the intersection of two events</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a:latin typeface="Cambria Math" panose="02040503050406030204" pitchFamily="18" charset="0"/>
                        </a:rPr>
                        <m:t>𝑷</m:t>
                      </m:r>
                      <m:d>
                        <m:dPr>
                          <m:ctrlPr>
                            <a:rPr lang="en-US" sz="2000" b="1" i="1">
                              <a:latin typeface="Cambria Math" panose="02040503050406030204" pitchFamily="18" charset="0"/>
                            </a:rPr>
                          </m:ctrlPr>
                        </m:dPr>
                        <m:e>
                          <m:r>
                            <a:rPr lang="en-US" sz="2000" b="1" i="1">
                              <a:latin typeface="Cambria Math" panose="02040503050406030204" pitchFamily="18" charset="0"/>
                            </a:rPr>
                            <m:t>𝑨</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rPr>
                            <m:t>𝑩</m:t>
                          </m:r>
                        </m:e>
                      </m:d>
                      <m:r>
                        <a:rPr lang="en-US" sz="2000" b="1" i="1" smtClean="0">
                          <a:latin typeface="Cambria Math" panose="02040503050406030204" pitchFamily="18" charset="0"/>
                        </a:rPr>
                        <m:t>=</m:t>
                      </m:r>
                      <m:r>
                        <a:rPr lang="en-US" sz="2000" b="1" i="1">
                          <a:latin typeface="Cambria Math" panose="02040503050406030204" pitchFamily="18" charset="0"/>
                        </a:rPr>
                        <m:t>𝑷</m:t>
                      </m:r>
                      <m:d>
                        <m:dPr>
                          <m:endChr m:val="|"/>
                          <m:ctrlPr>
                            <a:rPr lang="en-US" sz="2000" b="1" i="1">
                              <a:latin typeface="Cambria Math" panose="02040503050406030204" pitchFamily="18" charset="0"/>
                            </a:rPr>
                          </m:ctrlPr>
                        </m:dPr>
                        <m:e>
                          <m:r>
                            <a:rPr lang="en-US" sz="2000" b="1" i="1">
                              <a:latin typeface="Cambria Math" panose="02040503050406030204" pitchFamily="18" charset="0"/>
                            </a:rPr>
                            <m:t>𝑨</m:t>
                          </m:r>
                          <m:r>
                            <a:rPr lang="en-US" sz="2000" b="1" i="1">
                              <a:latin typeface="Cambria Math" panose="02040503050406030204" pitchFamily="18" charset="0"/>
                            </a:rPr>
                            <m:t> </m:t>
                          </m:r>
                        </m:e>
                      </m:d>
                      <m:r>
                        <a:rPr lang="en-US" sz="2000" b="1" i="1">
                          <a:latin typeface="Cambria Math" panose="02040503050406030204" pitchFamily="18" charset="0"/>
                        </a:rPr>
                        <m:t> </m:t>
                      </m:r>
                      <m:r>
                        <a:rPr lang="en-US" sz="2000" b="1" i="1">
                          <a:latin typeface="Cambria Math" panose="02040503050406030204" pitchFamily="18" charset="0"/>
                        </a:rPr>
                        <m:t>𝑩</m:t>
                      </m:r>
                      <m:r>
                        <a:rPr lang="en-US" sz="2000" b="1" i="1">
                          <a:latin typeface="Cambria Math" panose="02040503050406030204" pitchFamily="18" charset="0"/>
                        </a:rPr>
                        <m:t>)</m:t>
                      </m:r>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𝑩</m:t>
                          </m:r>
                        </m:e>
                      </m:d>
                    </m:oMath>
                  </m:oMathPara>
                </a14:m>
                <a:endParaRPr lang="en-US" sz="2000" b="1" dirty="0"/>
              </a:p>
              <a:p>
                <a:pPr>
                  <a:spcBef>
                    <a:spcPts val="600"/>
                  </a:spcBef>
                  <a:spcAft>
                    <a:spcPts val="600"/>
                  </a:spcAft>
                </a:pPr>
                <a:r>
                  <a:rPr lang="en-US" sz="2000" dirty="0"/>
                  <a:t>or</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𝐴</m:t>
                          </m:r>
                        </m:e>
                      </m:d>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b="0" i="1" smtClean="0">
                          <a:latin typeface="Cambria Math" panose="02040503050406030204" pitchFamily="18" charset="0"/>
                        </a:rPr>
                        <m:t>𝐴</m:t>
                      </m:r>
                      <m:r>
                        <a:rPr lang="en-US" sz="2000" i="1">
                          <a:latin typeface="Cambria Math" panose="02040503050406030204" pitchFamily="18" charset="0"/>
                        </a:rPr>
                        <m:t>)</m:t>
                      </m:r>
                    </m:oMath>
                  </m:oMathPara>
                </a14:m>
                <a:endParaRPr lang="en-US" sz="2000" dirty="0"/>
              </a:p>
              <a:p>
                <a:pPr>
                  <a:spcBef>
                    <a:spcPts val="600"/>
                  </a:spcBef>
                  <a:spcAft>
                    <a:spcPts val="600"/>
                  </a:spcAft>
                </a:pPr>
                <a:r>
                  <a:rPr lang="en-US" sz="2000" dirty="0"/>
                  <a:t>In the case of independent events, </a:t>
                </a: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oMath>
                </a14:m>
                <a:r>
                  <a:rPr lang="en-US" sz="2000" dirty="0"/>
                  <a:t> or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r>
                      <a:rPr lang="en-US" sz="2000" b="0" i="1" smtClean="0">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𝐵</m:t>
                        </m:r>
                      </m:e>
                    </m:d>
                  </m:oMath>
                </a14:m>
                <a:r>
                  <a:rPr lang="en-US" sz="2000" dirty="0"/>
                  <a:t>, and the </a:t>
                </a:r>
                <a:r>
                  <a:rPr lang="en-US" sz="2000" b="1" dirty="0"/>
                  <a:t>multiplication law for independent events </a:t>
                </a:r>
                <a:r>
                  <a:rPr lang="en-US" sz="2000" dirty="0"/>
                  <a:t>becomes</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e>
                      </m:d>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oMath>
                  </m:oMathPara>
                </a14:m>
                <a:endParaRPr lang="en-US" sz="2000" dirty="0"/>
              </a:p>
              <a:p>
                <a:pPr>
                  <a:spcBef>
                    <a:spcPts val="600"/>
                  </a:spcBef>
                  <a:spcAft>
                    <a:spcPts val="600"/>
                  </a:spcAft>
                </a:pPr>
                <a:r>
                  <a:rPr lang="en-US" sz="2000" dirty="0"/>
                  <a:t>or</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𝐴</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oMath>
                  </m:oMathPara>
                </a14:m>
                <a:endParaRPr lang="en-US" sz="2000" dirty="0"/>
              </a:p>
              <a:p>
                <a:pPr>
                  <a:spcBef>
                    <a:spcPts val="600"/>
                  </a:spcBef>
                  <a:spcAft>
                    <a:spcPts val="600"/>
                  </a:spcAft>
                </a:pPr>
                <a:r>
                  <a:rPr lang="en-US" sz="2000" dirty="0"/>
                  <a:t>Therefore, two events </a:t>
                </a:r>
                <a:r>
                  <a:rPr lang="en-US" sz="2000" i="1" dirty="0"/>
                  <a:t>A</a:t>
                </a:r>
                <a:r>
                  <a:rPr lang="en-US" sz="2000" dirty="0"/>
                  <a:t> and </a:t>
                </a:r>
                <a:r>
                  <a:rPr lang="en-US" sz="2000" i="1" dirty="0"/>
                  <a:t>B</a:t>
                </a:r>
                <a:r>
                  <a:rPr lang="en-US" sz="2000" dirty="0"/>
                  <a:t> are dependent when </a:t>
                </a:r>
                <a14:m>
                  <m:oMath xmlns:m="http://schemas.openxmlformats.org/officeDocument/2006/math">
                    <m:r>
                      <a:rPr lang="en-US" sz="2000" i="1" smtClean="0">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𝐵</m:t>
                        </m:r>
                      </m:e>
                    </m:d>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oMath>
                </a14:m>
                <a:r>
                  <a:rPr lang="en-US" sz="2000" dirty="0"/>
                  <a:t>.</a:t>
                </a:r>
              </a:p>
            </p:txBody>
          </p:sp>
        </mc:Choice>
        <mc:Fallback xmlns="">
          <p:sp>
            <p:nvSpPr>
              <p:cNvPr id="3" name="Text Placeholder 2">
                <a:extLst>
                  <a:ext uri="{FF2B5EF4-FFF2-40B4-BE49-F238E27FC236}">
                    <a16:creationId xmlns:a16="http://schemas.microsoft.com/office/drawing/2014/main" id="{6C5A17A9-E204-2C03-A62D-99D1BD497A64}"/>
                  </a:ext>
                </a:extLst>
              </p:cNvPr>
              <p:cNvSpPr>
                <a:spLocks noGrp="1" noRot="1" noChangeAspect="1" noMove="1" noResize="1" noEditPoints="1" noAdjustHandles="1" noChangeArrowheads="1" noChangeShapeType="1" noTextEdit="1"/>
              </p:cNvSpPr>
              <p:nvPr>
                <p:ph type="body" sz="quarter" idx="15"/>
              </p:nvPr>
            </p:nvSpPr>
            <p:spPr>
              <a:xfrm>
                <a:off x="759342" y="1439964"/>
                <a:ext cx="10670657" cy="4169380"/>
              </a:xfrm>
              <a:blipFill>
                <a:blip r:embed="rId2"/>
                <a:stretch>
                  <a:fillRect l="-1486" t="-1754" r="-1086" b="-2632"/>
                </a:stretch>
              </a:blipFill>
            </p:spPr>
            <p:txBody>
              <a:bodyPr/>
              <a:lstStyle/>
              <a:p>
                <a:r>
                  <a:rPr lang="en-US">
                    <a:noFill/>
                  </a:rPr>
                  <a:t> </a:t>
                </a:r>
              </a:p>
            </p:txBody>
          </p:sp>
        </mc:Fallback>
      </mc:AlternateContent>
    </p:spTree>
    <p:extLst>
      <p:ext uri="{BB962C8B-B14F-4D97-AF65-F5344CB8AC3E}">
        <p14:creationId xmlns:p14="http://schemas.microsoft.com/office/powerpoint/2010/main" val="3261984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solidFill>
                  <a:srgbClr val="D14B1E"/>
                </a:solidFill>
              </a:rPr>
              <a:t>4.5 Bayes’ Theorem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7" y="1293634"/>
                <a:ext cx="10610223" cy="3220736"/>
              </a:xfrm>
            </p:spPr>
            <p:txBody>
              <a:bodyPr/>
              <a:lstStyle/>
              <a:p>
                <a:pPr>
                  <a:spcAft>
                    <a:spcPts val="600"/>
                  </a:spcAft>
                </a:pPr>
                <a:r>
                  <a:rPr lang="en-US" sz="2000" dirty="0"/>
                  <a:t>The </a:t>
                </a:r>
                <a:r>
                  <a:rPr lang="en-US" sz="2000" b="1" dirty="0"/>
                  <a:t>Bayes’ theorem (two-event case) </a:t>
                </a:r>
                <a:r>
                  <a:rPr lang="en-US" sz="2000" dirty="0"/>
                  <a:t>states that</a:t>
                </a:r>
              </a:p>
              <a:p>
                <a:pPr marL="914400"/>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b="0" i="1" smtClean="0">
                                  <a:latin typeface="Cambria Math" panose="02040503050406030204" pitchFamily="18" charset="0"/>
                                </a:rPr>
                                <m:t> </m:t>
                              </m:r>
                              <m:r>
                                <a:rPr lang="en-US" sz="2000" i="1">
                                  <a:latin typeface="Cambria Math" panose="02040503050406030204" pitchFamily="18" charset="0"/>
                                </a:rPr>
                                <m:t>𝐴</m:t>
                              </m:r>
                            </m:e>
                            <m:sub>
                              <m:r>
                                <a:rPr lang="en-US" sz="2000" i="1">
                                  <a:latin typeface="Cambria Math" panose="02040503050406030204" pitchFamily="18" charset="0"/>
                                </a:rPr>
                                <m:t>𝑖</m:t>
                              </m:r>
                            </m:sub>
                          </m:sSub>
                          <m:r>
                            <a:rPr lang="en-US" sz="2000" i="1">
                              <a:latin typeface="Cambria Math" panose="02040503050406030204" pitchFamily="18" charset="0"/>
                            </a:rPr>
                            <m:t>)</m:t>
                          </m:r>
                        </m:num>
                        <m:den>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den>
                      </m:f>
                      <m:r>
                        <a:rPr lang="en-US" sz="2000" b="0" i="1" smtClean="0">
                          <a:latin typeface="Cambria Math" panose="02040503050406030204" pitchFamily="18" charset="0"/>
                        </a:rPr>
                        <m:t>    </m:t>
                      </m:r>
                      <m:r>
                        <m:rPr>
                          <m:nor/>
                        </m:rPr>
                        <a:rPr lang="en-US" sz="2000" b="0" i="0" smtClean="0">
                          <a:latin typeface="Arial" panose="020B0604020202020204" pitchFamily="34" charset="0"/>
                          <a:cs typeface="Arial" panose="020B0604020202020204" pitchFamily="34" charset="0"/>
                        </a:rPr>
                        <m:t>with</m:t>
                      </m:r>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=1,2</m:t>
                      </m:r>
                    </m:oMath>
                  </m:oMathPara>
                </a14:m>
                <a:endParaRPr lang="en-US" sz="2000" dirty="0"/>
              </a:p>
              <a:p>
                <a:r>
                  <a:rPr lang="en-US" sz="2000" dirty="0"/>
                  <a:t>Where:</a:t>
                </a:r>
              </a:p>
              <a:p>
                <a:pPr marL="457200"/>
                <a14:m>
                  <m:oMath xmlns:m="http://schemas.openxmlformats.org/officeDocument/2006/math">
                    <m:r>
                      <a:rPr lang="en-US" sz="2000" i="1" smtClean="0">
                        <a:latin typeface="Cambria Math" panose="02040503050406030204" pitchFamily="18" charset="0"/>
                      </a:rPr>
                      <m:t>𝑃</m:t>
                    </m:r>
                    <m:r>
                      <a:rPr lang="en-US" sz="200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oMath>
                </a14:m>
                <a:r>
                  <a:rPr lang="en-US" sz="2000" dirty="0"/>
                  <a:t> and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oMath>
                </a14:m>
                <a:r>
                  <a:rPr lang="en-US" sz="2000" dirty="0"/>
                  <a:t> are the initial or </a:t>
                </a:r>
                <a:r>
                  <a:rPr lang="en-US" sz="2000" b="1" dirty="0"/>
                  <a:t>prior probabilities</a:t>
                </a:r>
                <a:r>
                  <a:rPr lang="en-US" sz="2000" dirty="0"/>
                  <a:t>, available at the beginning.</a:t>
                </a:r>
              </a:p>
              <a:p>
                <a:pPr marL="457200"/>
                <a14:m>
                  <m:oMath xmlns:m="http://schemas.openxmlformats.org/officeDocument/2006/math">
                    <m:r>
                      <a:rPr lang="en-US" sz="2000" i="1" smtClean="0">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oMath>
                </a14:m>
                <a:r>
                  <a:rPr lang="en-US" sz="2000" dirty="0"/>
                  <a:t> and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oMath>
                </a14:m>
                <a:r>
                  <a:rPr lang="en-US" sz="2000" dirty="0"/>
                  <a:t> are conditional probabilities calculated from </a:t>
                </a:r>
                <a:r>
                  <a:rPr lang="en-US" sz="2000" dirty="0">
                    <a:cs typeface="Arial" panose="020B0604020202020204" pitchFamily="34" charset="0"/>
                  </a:rPr>
                  <a:t>a sample, special report, or product test.</a:t>
                </a:r>
              </a:p>
              <a:p>
                <a:pPr marL="457200"/>
                <a:r>
                  <a:rPr lang="en-US" sz="2000" b="0" dirty="0"/>
                  <a:t>Bayes’ theorem provides a mean to calculate the revised or </a:t>
                </a:r>
                <a:r>
                  <a:rPr lang="en-US" sz="2000" b="1" dirty="0"/>
                  <a:t>posterior probabilities </a:t>
                </a: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oMath>
                </a14:m>
                <a:r>
                  <a:rPr lang="en-US" sz="2000" dirty="0"/>
                  <a:t> and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m:t>
                    </m:r>
                  </m:oMath>
                </a14:m>
                <a:r>
                  <a:rPr lang="en-US" sz="2000" dirty="0"/>
                  <a:t>.</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7" y="1293634"/>
                <a:ext cx="10610223" cy="3220736"/>
              </a:xfrm>
              <a:blipFill>
                <a:blip r:embed="rId3"/>
                <a:stretch>
                  <a:fillRect l="-1493" t="-2268" b="-3025"/>
                </a:stretch>
              </a:blipFill>
            </p:spPr>
            <p:txBody>
              <a:bodyPr/>
              <a:lstStyle/>
              <a:p>
                <a:r>
                  <a:rPr lang="en-US">
                    <a:noFill/>
                  </a:rPr>
                  <a:t> </a:t>
                </a:r>
              </a:p>
            </p:txBody>
          </p:sp>
        </mc:Fallback>
      </mc:AlternateContent>
      <p:pic>
        <p:nvPicPr>
          <p:cNvPr id="6" name="Picture Placeholder 5" descr="A flow diagram shows four steps in the probability revision using Bayes’ theorem. The steps are as follows: Prior probabilities, new information, application of Bayes’ theorem, and posterior probabilities. &#10;">
            <a:extLst>
              <a:ext uri="{FF2B5EF4-FFF2-40B4-BE49-F238E27FC236}">
                <a16:creationId xmlns:a16="http://schemas.microsoft.com/office/drawing/2014/main" id="{C94AB63F-F7D0-6B8E-82C0-C366223CCAD7}"/>
              </a:ext>
            </a:extLst>
          </p:cNvPr>
          <p:cNvPicPr>
            <a:picLocks noGrp="1" noChangeAspect="1"/>
          </p:cNvPicPr>
          <p:nvPr>
            <p:ph type="pic" sz="quarter" idx="16"/>
          </p:nvPr>
        </p:nvPicPr>
        <p:blipFill rotWithShape="1">
          <a:blip r:embed="rId4"/>
          <a:srcRect t="9" b="9"/>
          <a:stretch/>
        </p:blipFill>
        <p:spPr>
          <a:xfrm>
            <a:off x="2518882" y="4770774"/>
            <a:ext cx="7059612" cy="914400"/>
          </a:xfrm>
        </p:spPr>
      </p:pic>
    </p:spTree>
    <p:extLst>
      <p:ext uri="{BB962C8B-B14F-4D97-AF65-F5344CB8AC3E}">
        <p14:creationId xmlns:p14="http://schemas.microsoft.com/office/powerpoint/2010/main" val="1344282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4.5 An Application of Bayes’ Theorem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93194" y="1380226"/>
                <a:ext cx="10529510" cy="2249942"/>
              </a:xfrm>
            </p:spPr>
            <p:txBody>
              <a:bodyPr/>
              <a:lstStyle/>
              <a:p>
                <a:pPr>
                  <a:spcAft>
                    <a:spcPts val="0"/>
                  </a:spcAft>
                </a:pPr>
                <a:r>
                  <a:rPr lang="en-US" sz="2000" dirty="0"/>
                  <a:t>Consider a manufacturing firm that purchases 65% of its parts from supplier 1 and 35% from supplier 2.</a:t>
                </a:r>
              </a:p>
              <a:p>
                <a:pPr>
                  <a:spcAft>
                    <a:spcPts val="600"/>
                  </a:spcAft>
                </a:pPr>
                <a:r>
                  <a:rPr lang="en-US" sz="2000" dirty="0"/>
                  <a:t>If we let </a:t>
                </a:r>
                <a:r>
                  <a:rPr lang="en-US" sz="2000" i="1" dirty="0"/>
                  <a:t>A</a:t>
                </a:r>
                <a:r>
                  <a:rPr lang="en-US" sz="2000" baseline="-25000" dirty="0"/>
                  <a:t>1</a:t>
                </a:r>
                <a:r>
                  <a:rPr lang="en-US" sz="2000" dirty="0"/>
                  <a:t> denote that event that a part is from supplier 1, and </a:t>
                </a:r>
                <a14:m>
                  <m:oMath xmlns:m="http://schemas.openxmlformats.org/officeDocument/2006/math">
                    <m:r>
                      <a:rPr lang="en-US" sz="2000" i="1" dirty="0" smtClean="0">
                        <a:latin typeface="Cambria Math" panose="02040503050406030204" pitchFamily="18" charset="0"/>
                      </a:rPr>
                      <m:t>𝐴</m:t>
                    </m:r>
                    <m:r>
                      <a:rPr lang="en-US" sz="2000" i="1" baseline="-25000" dirty="0">
                        <a:latin typeface="Cambria Math" panose="02040503050406030204" pitchFamily="18" charset="0"/>
                      </a:rPr>
                      <m:t>2</m:t>
                    </m:r>
                  </m:oMath>
                </a14:m>
                <a:r>
                  <a:rPr lang="en-US" sz="2000" dirty="0"/>
                  <a:t> the event that the part is from supplier 2, we can write the </a:t>
                </a:r>
                <a:r>
                  <a:rPr lang="en-US" sz="2000" i="1" dirty="0"/>
                  <a:t>prior probabilities </a:t>
                </a:r>
                <a:r>
                  <a:rPr lang="en-US" sz="2000" dirty="0"/>
                  <a:t>as</a:t>
                </a:r>
              </a:p>
              <a:p>
                <a:pPr marL="914400">
                  <a:spcAft>
                    <a:spcPts val="0"/>
                  </a:spcAft>
                  <a:tabLst>
                    <a:tab pos="3144838" algn="l"/>
                  </a:tabLst>
                </a:pP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e>
                    </m:d>
                    <m:r>
                      <a:rPr lang="en-US" sz="2000" b="0" i="1" smtClean="0">
                        <a:latin typeface="Cambria Math" panose="02040503050406030204" pitchFamily="18" charset="0"/>
                      </a:rPr>
                      <m:t>=0.65</m:t>
                    </m:r>
                  </m:oMath>
                </a14:m>
                <a:r>
                  <a:rPr lang="en-US" sz="2000" dirty="0"/>
                  <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e>
                    </m:d>
                    <m:r>
                      <a:rPr lang="en-US" sz="2000" i="1">
                        <a:latin typeface="Cambria Math" panose="02040503050406030204" pitchFamily="18" charset="0"/>
                      </a:rPr>
                      <m:t>=0.</m:t>
                    </m:r>
                    <m:r>
                      <a:rPr lang="en-US" sz="2000" b="0" i="1" smtClean="0">
                        <a:latin typeface="Cambria Math" panose="02040503050406030204" pitchFamily="18" charset="0"/>
                      </a:rPr>
                      <m:t>3</m:t>
                    </m:r>
                    <m:r>
                      <a:rPr lang="en-US" sz="2000" i="1">
                        <a:latin typeface="Cambria Math" panose="02040503050406030204" pitchFamily="18" charset="0"/>
                      </a:rPr>
                      <m:t>5</m:t>
                    </m:r>
                  </m:oMath>
                </a14:m>
                <a:endParaRPr lang="en-US" sz="2000" dirty="0"/>
              </a:p>
              <a:p>
                <a:pPr>
                  <a:spcAft>
                    <a:spcPts val="0"/>
                  </a:spcAft>
                </a:pPr>
                <a:r>
                  <a:rPr lang="en-US" sz="2000" dirty="0"/>
                  <a:t>Historical data for the quality ratings of the two suppliers are shown in the table below.</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93194" y="1380226"/>
                <a:ext cx="10529510" cy="2249942"/>
              </a:xfrm>
              <a:blipFill>
                <a:blip r:embed="rId3"/>
                <a:stretch>
                  <a:fillRect l="-1448" t="-3243" r="-405" b="-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89544D1-D49E-0EDB-AE29-A39C01120C05}"/>
                  </a:ext>
                </a:extLst>
              </p:cNvPr>
              <p:cNvSpPr>
                <a:spLocks noGrp="1"/>
              </p:cNvSpPr>
              <p:nvPr>
                <p:ph type="body" sz="quarter" idx="18"/>
              </p:nvPr>
            </p:nvSpPr>
            <p:spPr>
              <a:xfrm>
                <a:off x="793194" y="3621543"/>
                <a:ext cx="5302806" cy="1856232"/>
              </a:xfrm>
            </p:spPr>
            <p:txBody>
              <a:bodyPr>
                <a:normAutofit fontScale="92500"/>
              </a:bodyPr>
              <a:lstStyle/>
              <a:p>
                <a:pPr>
                  <a:spcAft>
                    <a:spcPts val="0"/>
                  </a:spcAft>
                </a:pPr>
                <a:r>
                  <a:rPr lang="en-US" sz="2000" dirty="0"/>
                  <a:t>Thus, we can write the </a:t>
                </a:r>
                <a:r>
                  <a:rPr lang="en-US" sz="2000" i="1" dirty="0"/>
                  <a:t>conditional probabilities </a:t>
                </a:r>
              </a:p>
              <a:p>
                <a:pPr>
                  <a:spcBef>
                    <a:spcPts val="0"/>
                  </a:spcBef>
                  <a:spcAft>
                    <a:spcPts val="0"/>
                  </a:spcAft>
                </a:pPr>
                <a:r>
                  <a:rPr lang="en-US" sz="2000" dirty="0"/>
                  <a:t>of receiving a good (</a:t>
                </a:r>
                <a14:m>
                  <m:oMath xmlns:m="http://schemas.openxmlformats.org/officeDocument/2006/math">
                    <m:r>
                      <a:rPr lang="en-US" sz="2000" i="1" dirty="0" smtClean="0">
                        <a:latin typeface="Cambria Math" panose="02040503050406030204" pitchFamily="18" charset="0"/>
                      </a:rPr>
                      <m:t>𝐺</m:t>
                    </m:r>
                  </m:oMath>
                </a14:m>
                <a:r>
                  <a:rPr lang="en-US" sz="2000" dirty="0"/>
                  <a:t>) or bad (</a:t>
                </a:r>
                <a14:m>
                  <m:oMath xmlns:m="http://schemas.openxmlformats.org/officeDocument/2006/math">
                    <m:r>
                      <a:rPr lang="en-US" sz="2000" i="1" dirty="0" smtClean="0">
                        <a:latin typeface="Cambria Math" panose="02040503050406030204" pitchFamily="18" charset="0"/>
                      </a:rPr>
                      <m:t>𝐵</m:t>
                    </m:r>
                  </m:oMath>
                </a14:m>
                <a:r>
                  <a:rPr lang="en-US" sz="2000" dirty="0"/>
                  <a:t>) part from</a:t>
                </a:r>
              </a:p>
              <a:p>
                <a:pPr>
                  <a:spcBef>
                    <a:spcPts val="0"/>
                  </a:spcBef>
                  <a:spcAft>
                    <a:spcPts val="0"/>
                  </a:spcAft>
                </a:pPr>
                <a:r>
                  <a:rPr lang="en-US" sz="2000" dirty="0"/>
                  <a:t>either supplier as:</a:t>
                </a:r>
              </a:p>
              <a:p>
                <a:pPr marL="914400">
                  <a:spcAft>
                    <a:spcPts val="600"/>
                  </a:spcAft>
                  <a:tabLst>
                    <a:tab pos="3144838" algn="l"/>
                  </a:tabLst>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𝐺</m:t>
                        </m:r>
                        <m:r>
                          <a:rPr lang="en-US" sz="2000" b="0" i="1" smtClean="0">
                            <a:latin typeface="Cambria Math" panose="02040503050406030204" pitchFamily="18" charset="0"/>
                          </a:rPr>
                          <m:t> </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)=0.98</m:t>
                    </m:r>
                  </m:oMath>
                </a14:m>
                <a:r>
                  <a:rPr lang="en-US" sz="2000" dirty="0"/>
                  <a:t>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rPr>
                      <m:t>)=0.</m:t>
                    </m:r>
                    <m:r>
                      <a:rPr lang="en-US" sz="2000" b="0" i="1" smtClean="0">
                        <a:latin typeface="Cambria Math" panose="02040503050406030204" pitchFamily="18" charset="0"/>
                      </a:rPr>
                      <m:t>02</m:t>
                    </m:r>
                  </m:oMath>
                </a14:m>
                <a:endParaRPr lang="en-US" sz="2000" dirty="0"/>
              </a:p>
              <a:p>
                <a:pPr marL="914400">
                  <a:spcAft>
                    <a:spcPts val="0"/>
                  </a:spcAft>
                  <a:tabLst>
                    <a:tab pos="3144838" algn="l"/>
                  </a:tabLst>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𝐺</m:t>
                        </m:r>
                        <m:r>
                          <a:rPr lang="en-US" sz="2000" b="0" i="1" smtClean="0">
                            <a:latin typeface="Cambria Math" panose="02040503050406030204" pitchFamily="18" charset="0"/>
                          </a:rPr>
                          <m:t> </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)=0.95</m:t>
                    </m:r>
                  </m:oMath>
                </a14:m>
                <a:r>
                  <a:rPr lang="en-US" sz="2000" dirty="0"/>
                  <a:t>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)=0.</m:t>
                    </m:r>
                    <m:r>
                      <a:rPr lang="en-US" sz="2000" b="0" i="1" smtClean="0">
                        <a:latin typeface="Cambria Math" panose="02040503050406030204" pitchFamily="18" charset="0"/>
                      </a:rPr>
                      <m:t>05</m:t>
                    </m:r>
                  </m:oMath>
                </a14:m>
                <a:endParaRPr lang="en-US" sz="2000" dirty="0"/>
              </a:p>
            </p:txBody>
          </p:sp>
        </mc:Choice>
        <mc:Fallback xmlns="">
          <p:sp>
            <p:nvSpPr>
              <p:cNvPr id="4" name="Text Placeholder 3">
                <a:extLst>
                  <a:ext uri="{FF2B5EF4-FFF2-40B4-BE49-F238E27FC236}">
                    <a16:creationId xmlns:a16="http://schemas.microsoft.com/office/drawing/2014/main" id="{089544D1-D49E-0EDB-AE29-A39C01120C05}"/>
                  </a:ext>
                </a:extLst>
              </p:cNvPr>
              <p:cNvSpPr>
                <a:spLocks noGrp="1" noRot="1" noChangeAspect="1" noMove="1" noResize="1" noEditPoints="1" noAdjustHandles="1" noChangeArrowheads="1" noChangeShapeType="1" noTextEdit="1"/>
              </p:cNvSpPr>
              <p:nvPr>
                <p:ph type="body" sz="quarter" idx="18"/>
              </p:nvPr>
            </p:nvSpPr>
            <p:spPr>
              <a:xfrm>
                <a:off x="793194" y="3621543"/>
                <a:ext cx="5302806" cy="1856232"/>
              </a:xfrm>
              <a:blipFill>
                <a:blip r:embed="rId4"/>
                <a:stretch>
                  <a:fillRect l="-2759" t="-5574"/>
                </a:stretch>
              </a:blipFill>
            </p:spPr>
            <p:txBody>
              <a:bodyPr/>
              <a:lstStyle/>
              <a:p>
                <a:r>
                  <a:rPr lang="en-US">
                    <a:noFill/>
                  </a:rPr>
                  <a:t> </a:t>
                </a:r>
              </a:p>
            </p:txBody>
          </p:sp>
        </mc:Fallback>
      </mc:AlternateContent>
      <p:graphicFrame>
        <p:nvGraphicFramePr>
          <p:cNvPr id="6" name="Table 7">
            <a:extLst>
              <a:ext uri="{FF2B5EF4-FFF2-40B4-BE49-F238E27FC236}">
                <a16:creationId xmlns:a16="http://schemas.microsoft.com/office/drawing/2014/main" id="{B4D2B90A-94D5-B20A-85D0-99B968445BD0}"/>
              </a:ext>
            </a:extLst>
          </p:cNvPr>
          <p:cNvGraphicFramePr>
            <a:graphicFrameLocks noGrp="1"/>
          </p:cNvGraphicFramePr>
          <p:nvPr>
            <p:ph type="tbl" sz="quarter" idx="22"/>
          </p:nvPr>
        </p:nvGraphicFramePr>
        <p:xfrm>
          <a:off x="6326040" y="3712322"/>
          <a:ext cx="4913103" cy="1493520"/>
        </p:xfrm>
        <a:graphic>
          <a:graphicData uri="http://schemas.openxmlformats.org/drawingml/2006/table">
            <a:tbl>
              <a:tblPr firstRow="1" bandRow="1">
                <a:tableStyleId>{5C22544A-7EE6-4342-B048-85BDC9FD1C3A}</a:tableStyleId>
              </a:tblPr>
              <a:tblGrid>
                <a:gridCol w="1587261">
                  <a:extLst>
                    <a:ext uri="{9D8B030D-6E8A-4147-A177-3AD203B41FA5}">
                      <a16:colId xmlns:a16="http://schemas.microsoft.com/office/drawing/2014/main" val="2898919934"/>
                    </a:ext>
                  </a:extLst>
                </a:gridCol>
                <a:gridCol w="1662921">
                  <a:extLst>
                    <a:ext uri="{9D8B030D-6E8A-4147-A177-3AD203B41FA5}">
                      <a16:colId xmlns:a16="http://schemas.microsoft.com/office/drawing/2014/main" val="3347420797"/>
                    </a:ext>
                  </a:extLst>
                </a:gridCol>
                <a:gridCol w="1662921">
                  <a:extLst>
                    <a:ext uri="{9D8B030D-6E8A-4147-A177-3AD203B41FA5}">
                      <a16:colId xmlns:a16="http://schemas.microsoft.com/office/drawing/2014/main" val="627144360"/>
                    </a:ext>
                  </a:extLst>
                </a:gridCol>
              </a:tblGrid>
              <a:tr h="448058">
                <a:tc>
                  <a:txBody>
                    <a:bodyPr/>
                    <a:lstStyle/>
                    <a:p>
                      <a:endParaRPr lang="en-US" sz="2000"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Percentage Good Parts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Percentage Bad Parts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5645940"/>
                  </a:ext>
                </a:extLst>
              </a:tr>
              <a:tr h="370840">
                <a:tc>
                  <a:txBody>
                    <a:bodyPr/>
                    <a:lstStyle/>
                    <a:p>
                      <a:r>
                        <a:rPr lang="en-US" sz="2000" b="1" dirty="0">
                          <a:solidFill>
                            <a:srgbClr val="000000"/>
                          </a:solidFill>
                        </a:rPr>
                        <a:t>Supplier 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98</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37266378"/>
                  </a:ext>
                </a:extLst>
              </a:tr>
              <a:tr h="370840">
                <a:tc>
                  <a:txBody>
                    <a:bodyPr/>
                    <a:lstStyle/>
                    <a:p>
                      <a:r>
                        <a:rPr lang="en-US" sz="2000" b="1" dirty="0">
                          <a:solidFill>
                            <a:srgbClr val="000000"/>
                          </a:solidFill>
                        </a:rPr>
                        <a:t>Supplier 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95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rPr>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810379386"/>
                  </a:ext>
                </a:extLst>
              </a:tr>
            </a:tbl>
          </a:graphicData>
        </a:graphic>
      </p:graphicFrame>
    </p:spTree>
    <p:extLst>
      <p:ext uri="{BB962C8B-B14F-4D97-AF65-F5344CB8AC3E}">
        <p14:creationId xmlns:p14="http://schemas.microsoft.com/office/powerpoint/2010/main" val="773376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4.5 Posterior Probabilities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656863" y="1261240"/>
                <a:ext cx="10899258" cy="4556235"/>
              </a:xfrm>
            </p:spPr>
            <p:txBody>
              <a:bodyPr/>
              <a:lstStyle/>
              <a:p>
                <a:pPr>
                  <a:spcAft>
                    <a:spcPts val="1200"/>
                  </a:spcAft>
                  <a:tabLst>
                    <a:tab pos="3144838" algn="l"/>
                  </a:tabLst>
                </a:pPr>
                <a:r>
                  <a:rPr lang="en-US" sz="2000" dirty="0"/>
                  <a:t>Using Bayes’ theorem and the prior and conditional probabilities, we can compute the </a:t>
                </a:r>
                <a:r>
                  <a:rPr lang="en-US" sz="2000" i="1" dirty="0"/>
                  <a:t>posterior probabilities</a:t>
                </a:r>
                <a:r>
                  <a:rPr lang="en-US" sz="2000" dirty="0"/>
                  <a:t> that either supplier ships a bad part</a:t>
                </a:r>
              </a:p>
              <a:p>
                <a:pPr>
                  <a:spcAft>
                    <a:spcPts val="600"/>
                  </a:spcAft>
                  <a:tabLst>
                    <a:tab pos="3144838" algn="l"/>
                  </a:tabLs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b="0" i="1" smtClean="0">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num>
                        <m:den>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0.65</m:t>
                          </m:r>
                          <m:d>
                            <m:dPr>
                              <m:ctrlPr>
                                <a:rPr lang="en-US" sz="2000" i="1">
                                  <a:latin typeface="Cambria Math" panose="02040503050406030204" pitchFamily="18" charset="0"/>
                                </a:rPr>
                              </m:ctrlPr>
                            </m:dPr>
                            <m:e>
                              <m:r>
                                <a:rPr lang="en-US" sz="2000" i="1">
                                  <a:latin typeface="Cambria Math" panose="02040503050406030204" pitchFamily="18" charset="0"/>
                                </a:rPr>
                                <m:t>0.02</m:t>
                              </m:r>
                            </m:e>
                          </m:d>
                        </m:num>
                        <m:den>
                          <m:r>
                            <a:rPr lang="en-US" sz="2000" b="0" i="1" smtClean="0">
                              <a:latin typeface="Cambria Math" panose="02040503050406030204" pitchFamily="18" charset="0"/>
                            </a:rPr>
                            <m:t>0.65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0.02</m:t>
                              </m:r>
                            </m:e>
                          </m:d>
                          <m:r>
                            <a:rPr lang="en-US" sz="2000" b="0" i="1" smtClean="0">
                              <a:latin typeface="Cambria Math" panose="02040503050406030204" pitchFamily="18" charset="0"/>
                            </a:rPr>
                            <m:t>+0.35(0.05)</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0.130</m:t>
                          </m:r>
                        </m:num>
                        <m:den>
                          <m:r>
                            <a:rPr lang="en-US" sz="2000" b="0" i="1" smtClean="0">
                              <a:latin typeface="Cambria Math" panose="02040503050406030204" pitchFamily="18" charset="0"/>
                            </a:rPr>
                            <m:t>0.130+0.175</m:t>
                          </m:r>
                        </m:den>
                      </m:f>
                      <m:r>
                        <a:rPr lang="en-US" sz="2000" b="0" i="1" smtClean="0">
                          <a:latin typeface="Cambria Math" panose="02040503050406030204" pitchFamily="18" charset="0"/>
                        </a:rPr>
                        <m:t>=0.426</m:t>
                      </m:r>
                    </m:oMath>
                  </m:oMathPara>
                </a14:m>
                <a:endParaRPr lang="en-US" sz="2000" dirty="0"/>
              </a:p>
              <a:p>
                <a:pPr marL="914400">
                  <a:spcBef>
                    <a:spcPts val="0"/>
                  </a:spcBef>
                  <a:spcAft>
                    <a:spcPts val="0"/>
                  </a:spcAft>
                  <a:tabLst>
                    <a:tab pos="3144838" algn="l"/>
                  </a:tabLst>
                </a:pPr>
                <a:endParaRPr lang="en-US" sz="2000" dirty="0"/>
              </a:p>
              <a:p>
                <a:pPr>
                  <a:spcAft>
                    <a:spcPts val="0"/>
                  </a:spcAft>
                  <a:tabLst>
                    <a:tab pos="3144838" algn="l"/>
                  </a:tabLs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b="0" i="1" smtClean="0">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b="0" i="1" smtClean="0">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num>
                        <m:den>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0.</m:t>
                          </m:r>
                          <m:r>
                            <a:rPr lang="en-US" sz="2000" b="0" i="1" smtClean="0">
                              <a:latin typeface="Cambria Math" panose="02040503050406030204" pitchFamily="18" charset="0"/>
                            </a:rPr>
                            <m:t>3</m:t>
                          </m:r>
                          <m:r>
                            <a:rPr lang="en-US" sz="2000" i="1">
                              <a:latin typeface="Cambria Math" panose="02040503050406030204" pitchFamily="18" charset="0"/>
                            </a:rPr>
                            <m:t>5</m:t>
                          </m:r>
                          <m:d>
                            <m:dPr>
                              <m:ctrlPr>
                                <a:rPr lang="en-US" sz="2000" i="1">
                                  <a:latin typeface="Cambria Math" panose="02040503050406030204" pitchFamily="18" charset="0"/>
                                </a:rPr>
                              </m:ctrlPr>
                            </m:dPr>
                            <m:e>
                              <m:r>
                                <a:rPr lang="en-US" sz="2000" i="1">
                                  <a:latin typeface="Cambria Math" panose="02040503050406030204" pitchFamily="18" charset="0"/>
                                </a:rPr>
                                <m:t>0.0</m:t>
                              </m:r>
                              <m:r>
                                <a:rPr lang="en-US" sz="2000" b="0" i="1" smtClean="0">
                                  <a:latin typeface="Cambria Math" panose="02040503050406030204" pitchFamily="18" charset="0"/>
                                </a:rPr>
                                <m:t>5</m:t>
                              </m:r>
                            </m:e>
                          </m:d>
                        </m:num>
                        <m:den>
                          <m:r>
                            <a:rPr lang="en-US" sz="2000" b="0" i="1" smtClean="0">
                              <a:latin typeface="Cambria Math" panose="02040503050406030204" pitchFamily="18" charset="0"/>
                            </a:rPr>
                            <m:t>0.65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0.02</m:t>
                              </m:r>
                            </m:e>
                          </m:d>
                          <m:r>
                            <a:rPr lang="en-US" sz="2000" b="0" i="1" smtClean="0">
                              <a:latin typeface="Cambria Math" panose="02040503050406030204" pitchFamily="18" charset="0"/>
                            </a:rPr>
                            <m:t>+0.35(0.05)</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0.175</m:t>
                          </m:r>
                        </m:num>
                        <m:den>
                          <m:r>
                            <a:rPr lang="en-US" sz="2000" b="0" i="1" smtClean="0">
                              <a:latin typeface="Cambria Math" panose="02040503050406030204" pitchFamily="18" charset="0"/>
                            </a:rPr>
                            <m:t>0.130+0.175</m:t>
                          </m:r>
                        </m:den>
                      </m:f>
                      <m:r>
                        <a:rPr lang="en-US" sz="2000" b="0" i="1" smtClean="0">
                          <a:latin typeface="Cambria Math" panose="02040503050406030204" pitchFamily="18" charset="0"/>
                        </a:rPr>
                        <m:t>=0.574</m:t>
                      </m:r>
                    </m:oMath>
                  </m:oMathPara>
                </a14:m>
                <a:endParaRPr lang="en-US" sz="2000" dirty="0"/>
              </a:p>
              <a:p>
                <a:pPr>
                  <a:spcBef>
                    <a:spcPts val="1200"/>
                  </a:spcBef>
                  <a:spcAft>
                    <a:spcPts val="0"/>
                  </a:spcAft>
                  <a:tabLst>
                    <a:tab pos="3144838" algn="l"/>
                  </a:tabLst>
                </a:pPr>
                <a:r>
                  <a:rPr lang="en-US" sz="2000" dirty="0"/>
                  <a:t>Note that, for supplier 1, we began with an initial probability of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e>
                    </m:d>
                    <m:r>
                      <a:rPr lang="en-US" sz="2000" b="0" i="1" smtClean="0">
                        <a:latin typeface="Cambria Math" panose="02040503050406030204" pitchFamily="18" charset="0"/>
                      </a:rPr>
                      <m:t>=0.65</m:t>
                    </m:r>
                    <m:r>
                      <a:rPr lang="en-US" sz="2000" b="0" i="0" smtClean="0">
                        <a:latin typeface="Cambria Math" panose="02040503050406030204" pitchFamily="18" charset="0"/>
                      </a:rPr>
                      <m:t>.</m:t>
                    </m:r>
                  </m:oMath>
                </a14:m>
                <a:r>
                  <a:rPr lang="en-US" sz="2000" dirty="0"/>
                  <a:t> However, given the information that the part was bad, the revised probability drops to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)=0.426</m:t>
                    </m:r>
                  </m:oMath>
                </a14:m>
                <a:r>
                  <a:rPr lang="en-US" sz="2000" dirty="0"/>
                  <a:t>.</a:t>
                </a:r>
              </a:p>
              <a:p>
                <a:pPr>
                  <a:spcBef>
                    <a:spcPts val="600"/>
                  </a:spcBef>
                  <a:spcAft>
                    <a:spcPts val="0"/>
                  </a:spcAft>
                  <a:tabLst>
                    <a:tab pos="3144838" algn="l"/>
                  </a:tabLst>
                </a:pPr>
                <a:r>
                  <a:rPr lang="en-US" sz="2000" dirty="0"/>
                  <a:t>Conversely, for supplier 2, we began with an initial probability of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=0.35</m:t>
                    </m:r>
                  </m:oMath>
                </a14:m>
                <a:r>
                  <a:rPr lang="en-US" sz="2000" dirty="0"/>
                  <a:t> and when we include the information that the part was bad, the revised probability grows to </a:t>
                </a:r>
                <a14:m>
                  <m:oMath xmlns:m="http://schemas.openxmlformats.org/officeDocument/2006/math">
                    <m:r>
                      <a:rPr lang="en-US" sz="2000" i="1">
                        <a:latin typeface="Cambria Math" panose="02040503050406030204" pitchFamily="18" charset="0"/>
                      </a:rPr>
                      <m:t>𝑃</m:t>
                    </m:r>
                    <m:d>
                      <m:dPr>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rPr>
                          <m:t> </m:t>
                        </m:r>
                      </m:e>
                    </m:d>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)=0.574</m:t>
                    </m:r>
                  </m:oMath>
                </a14:m>
                <a:r>
                  <a:rPr lang="en-US" sz="2000" dirty="0"/>
                  <a:t>.</a:t>
                </a:r>
              </a:p>
              <a:p>
                <a:pPr>
                  <a:spcBef>
                    <a:spcPts val="600"/>
                  </a:spcBef>
                  <a:spcAft>
                    <a:spcPts val="0"/>
                  </a:spcAft>
                  <a:tabLst>
                    <a:tab pos="3144838" algn="l"/>
                  </a:tabLst>
                </a:pPr>
                <a:r>
                  <a:rPr lang="en-US" sz="2000" dirty="0"/>
                  <a:t>In conclusion, despite the fact more parts come from supplier 1 than supplier 2, there is more than a 50-50 chance that a bad part comes from supplier 2 (*see notes.)</a:t>
                </a:r>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656863" y="1261240"/>
                <a:ext cx="10899258" cy="4556235"/>
              </a:xfrm>
              <a:blipFill>
                <a:blip r:embed="rId3"/>
                <a:stretch>
                  <a:fillRect l="-1454" t="-1606" r="-336" b="-3748"/>
                </a:stretch>
              </a:blipFill>
            </p:spPr>
            <p:txBody>
              <a:bodyPr/>
              <a:lstStyle/>
              <a:p>
                <a:r>
                  <a:rPr lang="en-US">
                    <a:noFill/>
                  </a:rPr>
                  <a:t> </a:t>
                </a:r>
              </a:p>
            </p:txBody>
          </p:sp>
        </mc:Fallback>
      </mc:AlternateContent>
    </p:spTree>
    <p:extLst>
      <p:ext uri="{BB962C8B-B14F-4D97-AF65-F5344CB8AC3E}">
        <p14:creationId xmlns:p14="http://schemas.microsoft.com/office/powerpoint/2010/main" val="3020940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4.5 Bayes’ Theorem with a Probability Tree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5" y="1219501"/>
                <a:ext cx="10666035" cy="4800601"/>
              </a:xfrm>
            </p:spPr>
            <p:txBody>
              <a:bodyPr/>
              <a:lstStyle/>
              <a:p>
                <a:pPr>
                  <a:spcAft>
                    <a:spcPts val="0"/>
                  </a:spcAft>
                  <a:tabLst>
                    <a:tab pos="3144838" algn="l"/>
                  </a:tabLst>
                </a:pPr>
                <a:r>
                  <a:rPr lang="en-US" sz="2000" dirty="0"/>
                  <a:t>Bayes’ theorem can be visualized with a</a:t>
                </a:r>
              </a:p>
              <a:p>
                <a:pPr>
                  <a:spcBef>
                    <a:spcPts val="0"/>
                  </a:spcBef>
                  <a:spcAft>
                    <a:spcPts val="0"/>
                  </a:spcAft>
                  <a:tabLst>
                    <a:tab pos="3144838" algn="l"/>
                  </a:tabLst>
                </a:pPr>
                <a:r>
                  <a:rPr lang="en-US" sz="2000" b="1" dirty="0"/>
                  <a:t>probability tree</a:t>
                </a:r>
                <a:r>
                  <a:rPr lang="en-US" sz="2000" dirty="0"/>
                  <a:t>. From left to right:</a:t>
                </a:r>
              </a:p>
              <a:p>
                <a:pPr>
                  <a:spcAft>
                    <a:spcPts val="0"/>
                  </a:spcAft>
                  <a:tabLst>
                    <a:tab pos="3144838" algn="l"/>
                  </a:tabLst>
                </a:pPr>
                <a:r>
                  <a:rPr lang="en-US" sz="2000" b="1" dirty="0"/>
                  <a:t>Step 1</a:t>
                </a:r>
                <a:r>
                  <a:rPr lang="en-US" sz="2000" dirty="0"/>
                  <a:t> includes the two branches for the</a:t>
                </a:r>
              </a:p>
              <a:p>
                <a:pPr>
                  <a:spcBef>
                    <a:spcPts val="0"/>
                  </a:spcBef>
                  <a:spcAft>
                    <a:spcPts val="0"/>
                  </a:spcAft>
                  <a:tabLst>
                    <a:tab pos="3144838" algn="l"/>
                  </a:tabLst>
                </a:pPr>
                <a:r>
                  <a:rPr lang="en-US" sz="2000" dirty="0"/>
                  <a:t>prior probabilities of the two suppliers.</a:t>
                </a:r>
              </a:p>
              <a:p>
                <a:pPr>
                  <a:spcAft>
                    <a:spcPts val="0"/>
                  </a:spcAft>
                  <a:tabLst>
                    <a:tab pos="3144838" algn="l"/>
                  </a:tabLst>
                </a:pPr>
                <a:r>
                  <a:rPr lang="en-US" sz="2000" b="1" dirty="0"/>
                  <a:t>Step 2</a:t>
                </a:r>
                <a:r>
                  <a:rPr lang="en-US" sz="2000" dirty="0"/>
                  <a:t> branches out the four conditional</a:t>
                </a:r>
              </a:p>
              <a:p>
                <a:pPr>
                  <a:spcBef>
                    <a:spcPts val="0"/>
                  </a:spcBef>
                  <a:spcAft>
                    <a:spcPts val="0"/>
                  </a:spcAft>
                  <a:tabLst>
                    <a:tab pos="3144838" algn="l"/>
                  </a:tabLst>
                </a:pPr>
                <a:r>
                  <a:rPr lang="en-US" sz="2000" dirty="0"/>
                  <a:t>probabilities of receiving a good (</a:t>
                </a:r>
                <a14:m>
                  <m:oMath xmlns:m="http://schemas.openxmlformats.org/officeDocument/2006/math">
                    <m:r>
                      <a:rPr lang="en-US" sz="2000" i="1" dirty="0" smtClean="0">
                        <a:latin typeface="Cambria Math" panose="02040503050406030204" pitchFamily="18" charset="0"/>
                      </a:rPr>
                      <m:t>𝐺</m:t>
                    </m:r>
                  </m:oMath>
                </a14:m>
                <a:r>
                  <a:rPr lang="en-US" sz="2000" dirty="0"/>
                  <a:t>) or bad</a:t>
                </a:r>
              </a:p>
              <a:p>
                <a:pPr>
                  <a:spcBef>
                    <a:spcPts val="0"/>
                  </a:spcBef>
                  <a:spcAft>
                    <a:spcPts val="0"/>
                  </a:spcAft>
                  <a:tabLst>
                    <a:tab pos="3144838" algn="l"/>
                  </a:tabLst>
                </a:pPr>
                <a:r>
                  <a:rPr lang="en-US" sz="2000" dirty="0"/>
                  <a:t>(</a:t>
                </a:r>
                <a14:m>
                  <m:oMath xmlns:m="http://schemas.openxmlformats.org/officeDocument/2006/math">
                    <m:r>
                      <a:rPr lang="en-US" sz="2000" i="1" dirty="0" smtClean="0">
                        <a:latin typeface="Cambria Math" panose="02040503050406030204" pitchFamily="18" charset="0"/>
                      </a:rPr>
                      <m:t>𝐵</m:t>
                    </m:r>
                  </m:oMath>
                </a14:m>
                <a:r>
                  <a:rPr lang="en-US" sz="2000" dirty="0"/>
                  <a:t>) part from either supplier 1 (</a:t>
                </a:r>
                <a14:m>
                  <m:oMath xmlns:m="http://schemas.openxmlformats.org/officeDocument/2006/math">
                    <m:r>
                      <a:rPr lang="en-US" sz="2000" i="1" dirty="0" smtClean="0">
                        <a:latin typeface="Cambria Math" panose="02040503050406030204" pitchFamily="18" charset="0"/>
                      </a:rPr>
                      <m:t>𝐴</m:t>
                    </m:r>
                    <m:r>
                      <a:rPr lang="en-US" sz="2000" i="1" baseline="-25000" dirty="0">
                        <a:latin typeface="Cambria Math" panose="02040503050406030204" pitchFamily="18" charset="0"/>
                      </a:rPr>
                      <m:t>1</m:t>
                    </m:r>
                  </m:oMath>
                </a14:m>
                <a:r>
                  <a:rPr lang="en-US" sz="2000" dirty="0"/>
                  <a:t>) or 2 (</a:t>
                </a:r>
                <a14:m>
                  <m:oMath xmlns:m="http://schemas.openxmlformats.org/officeDocument/2006/math">
                    <m:r>
                      <a:rPr lang="en-US" sz="2000" i="1" dirty="0" smtClean="0">
                        <a:latin typeface="Cambria Math" panose="02040503050406030204" pitchFamily="18" charset="0"/>
                      </a:rPr>
                      <m:t>𝐴</m:t>
                    </m:r>
                    <m:r>
                      <a:rPr lang="en-US" sz="2000" i="1" baseline="-25000" dirty="0">
                        <a:latin typeface="Cambria Math" panose="02040503050406030204" pitchFamily="18" charset="0"/>
                      </a:rPr>
                      <m:t>2</m:t>
                    </m:r>
                  </m:oMath>
                </a14:m>
                <a:r>
                  <a:rPr lang="en-US" sz="2000" dirty="0"/>
                  <a:t>).</a:t>
                </a:r>
              </a:p>
              <a:p>
                <a:pPr>
                  <a:spcAft>
                    <a:spcPts val="0"/>
                  </a:spcAft>
                  <a:tabLst>
                    <a:tab pos="3144838" algn="l"/>
                  </a:tabLst>
                </a:pPr>
                <a:r>
                  <a:rPr lang="en-US" sz="2000" dirty="0"/>
                  <a:t>The resulting four outcomes represent the</a:t>
                </a:r>
              </a:p>
              <a:p>
                <a:pPr>
                  <a:spcBef>
                    <a:spcPts val="0"/>
                  </a:spcBef>
                  <a:spcAft>
                    <a:spcPts val="0"/>
                  </a:spcAft>
                  <a:tabLst>
                    <a:tab pos="3144838" algn="l"/>
                  </a:tabLst>
                </a:pPr>
                <a:r>
                  <a:rPr lang="en-US" sz="2000" dirty="0"/>
                  <a:t>possible intersections of supplier (</a:t>
                </a:r>
                <a:r>
                  <a:rPr lang="en-US" sz="2000" i="1" dirty="0"/>
                  <a:t>A</a:t>
                </a:r>
                <a:r>
                  <a:rPr lang="en-US" sz="2000" baseline="-25000" dirty="0"/>
                  <a:t>1</a:t>
                </a:r>
                <a:r>
                  <a:rPr lang="en-US" sz="2000" dirty="0"/>
                  <a:t>) or (</a:t>
                </a:r>
                <a:r>
                  <a:rPr lang="en-US" sz="2000" i="1" dirty="0"/>
                  <a:t>A</a:t>
                </a:r>
                <a:r>
                  <a:rPr lang="en-US" sz="2000" baseline="-25000" dirty="0"/>
                  <a:t>2</a:t>
                </a:r>
                <a:r>
                  <a:rPr lang="en-US" sz="2000" dirty="0"/>
                  <a:t>)</a:t>
                </a:r>
              </a:p>
              <a:p>
                <a:pPr>
                  <a:spcBef>
                    <a:spcPts val="0"/>
                  </a:spcBef>
                  <a:spcAft>
                    <a:spcPts val="0"/>
                  </a:spcAft>
                  <a:tabLst>
                    <a:tab pos="3144838" algn="l"/>
                  </a:tabLst>
                </a:pPr>
                <a:r>
                  <a:rPr lang="en-US" sz="2000" dirty="0"/>
                  <a:t>with either a good (</a:t>
                </a:r>
                <a14:m>
                  <m:oMath xmlns:m="http://schemas.openxmlformats.org/officeDocument/2006/math">
                    <m:r>
                      <a:rPr lang="en-US" sz="2000" i="1" dirty="0" smtClean="0">
                        <a:latin typeface="Cambria Math" panose="02040503050406030204" pitchFamily="18" charset="0"/>
                      </a:rPr>
                      <m:t>𝐺</m:t>
                    </m:r>
                  </m:oMath>
                </a14:m>
                <a:r>
                  <a:rPr lang="en-US" sz="2000" dirty="0"/>
                  <a:t>) or bad (</a:t>
                </a:r>
                <a14:m>
                  <m:oMath xmlns:m="http://schemas.openxmlformats.org/officeDocument/2006/math">
                    <m:r>
                      <a:rPr lang="en-US" sz="2000" i="1" dirty="0" smtClean="0">
                        <a:latin typeface="Cambria Math" panose="02040503050406030204" pitchFamily="18" charset="0"/>
                      </a:rPr>
                      <m:t>𝐵</m:t>
                    </m:r>
                  </m:oMath>
                </a14:m>
                <a:r>
                  <a:rPr lang="en-US" sz="2000" dirty="0"/>
                  <a:t>) part.</a:t>
                </a:r>
              </a:p>
              <a:p>
                <a:pPr>
                  <a:spcAft>
                    <a:spcPts val="0"/>
                  </a:spcAft>
                  <a:tabLst>
                    <a:tab pos="3144838" algn="l"/>
                  </a:tabLst>
                </a:pPr>
                <a:r>
                  <a:rPr lang="en-US" sz="2000" dirty="0"/>
                  <a:t>Because </a:t>
                </a:r>
                <a14:m>
                  <m:oMath xmlns:m="http://schemas.openxmlformats.org/officeDocument/2006/math">
                    <m:r>
                      <a:rPr lang="en-US" sz="2000" i="1">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oMath>
                </a14:m>
                <a:r>
                  <a:rPr lang="en-US" sz="2000" dirty="0"/>
                  <a:t>, the</a:t>
                </a:r>
              </a:p>
              <a:p>
                <a:pPr>
                  <a:spcBef>
                    <a:spcPts val="0"/>
                  </a:spcBef>
                  <a:spcAft>
                    <a:spcPts val="1200"/>
                  </a:spcAft>
                  <a:tabLst>
                    <a:tab pos="3144838" algn="l"/>
                  </a:tabLst>
                </a:pPr>
                <a:r>
                  <a:rPr lang="en-US" sz="2000" dirty="0"/>
                  <a:t>posterior probabilities in Bayes’ theorem can be calculated from the joint probabilities as</a:t>
                </a:r>
              </a:p>
              <a:p>
                <a:pPr>
                  <a:spcAft>
                    <a:spcPts val="0"/>
                  </a:spcAft>
                  <a:tabLst>
                    <a:tab pos="3144838" algn="l"/>
                  </a:tabLs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𝑖</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r>
                            <a:rPr lang="en-US" sz="2000" i="1" smtClean="0">
                              <a:latin typeface="Cambria Math" panose="02040503050406030204" pitchFamily="18" charset="0"/>
                            </a:rPr>
                            <m:t> </m:t>
                          </m:r>
                        </m:num>
                        <m:den>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𝑖</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i="1">
                                  <a:latin typeface="Cambria Math" panose="02040503050406030204" pitchFamily="18" charset="0"/>
                                </a:rPr>
                                <m:t>𝑖</m:t>
                              </m:r>
                            </m:sub>
                          </m:sSub>
                          <m:r>
                            <a:rPr lang="en-US" sz="2000" i="1">
                              <a:latin typeface="Cambria Math" panose="02040503050406030204" pitchFamily="18" charset="0"/>
                            </a:rPr>
                            <m:t>)</m:t>
                          </m:r>
                        </m:num>
                        <m:den>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𝑃</m:t>
                          </m:r>
                          <m:d>
                            <m:dPr>
                              <m:endChr m:val="|"/>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 </m:t>
                              </m:r>
                            </m:e>
                          </m:d>
                          <m:sSub>
                            <m:sSubPr>
                              <m:ctrlPr>
                                <a:rPr lang="en-US" sz="2000" i="1">
                                  <a:latin typeface="Cambria Math" panose="02040503050406030204" pitchFamily="18" charset="0"/>
                                </a:rPr>
                              </m:ctrlPr>
                            </m:sSubPr>
                            <m:e>
                              <m:r>
                                <a:rPr lang="en-US" sz="2000" i="1">
                                  <a:latin typeface="Cambria Math" panose="02040503050406030204" pitchFamily="18" charset="0"/>
                                </a:rPr>
                                <m:t> </m:t>
                              </m:r>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i="1">
                              <a:latin typeface="Cambria Math" panose="02040503050406030204" pitchFamily="18" charset="0"/>
                            </a:rPr>
                            <m:t>)</m:t>
                          </m:r>
                        </m:den>
                      </m:f>
                      <m:r>
                        <a:rPr lang="en-US" sz="2000" i="1" smtClean="0">
                          <a:latin typeface="Cambria Math" panose="02040503050406030204" pitchFamily="18" charset="0"/>
                        </a:rPr>
                        <m:t> </m:t>
                      </m:r>
                      <m:r>
                        <m:rPr>
                          <m:nor/>
                        </m:rPr>
                        <a:rPr lang="en-US" sz="2000" b="0" i="0" smtClean="0">
                          <a:latin typeface="Cambria Math" panose="02040503050406030204" pitchFamily="18" charset="0"/>
                        </a:rPr>
                        <m:t> </m:t>
                      </m:r>
                      <m:r>
                        <m:rPr>
                          <m:nor/>
                        </m:rPr>
                        <a:rPr lang="en-US" sz="2000">
                          <a:latin typeface="Arial" panose="020B0604020202020204" pitchFamily="34" charset="0"/>
                          <a:cs typeface="Arial" panose="020B0604020202020204" pitchFamily="34" charset="0"/>
                        </a:rPr>
                        <m:t>with</m:t>
                      </m:r>
                      <m:r>
                        <a:rPr lang="en-US" sz="2000" i="1">
                          <a:latin typeface="Cambria Math" panose="02040503050406030204" pitchFamily="18" charset="0"/>
                        </a:rPr>
                        <m:t> </m:t>
                      </m:r>
                      <m:r>
                        <a:rPr lang="en-US" sz="2000" i="1">
                          <a:latin typeface="Cambria Math" panose="02040503050406030204" pitchFamily="18" charset="0"/>
                        </a:rPr>
                        <m:t>𝑖</m:t>
                      </m:r>
                      <m:r>
                        <a:rPr lang="en-US" sz="2000" i="1">
                          <a:latin typeface="Cambria Math" panose="02040503050406030204" pitchFamily="18" charset="0"/>
                        </a:rPr>
                        <m:t>=1,2</m:t>
                      </m:r>
                    </m:oMath>
                  </m:oMathPara>
                </a14:m>
                <a:endParaRPr lang="en-US" sz="2000" dirty="0"/>
              </a:p>
              <a:p>
                <a:pPr>
                  <a:spcBef>
                    <a:spcPts val="0"/>
                  </a:spcBef>
                  <a:spcAft>
                    <a:spcPts val="0"/>
                  </a:spcAft>
                  <a:tabLst>
                    <a:tab pos="3144838" algn="l"/>
                  </a:tabLst>
                </a:pPr>
                <a:endParaRPr lang="en-US" sz="2000" dirty="0"/>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5" y="1219501"/>
                <a:ext cx="10666035" cy="4800601"/>
              </a:xfrm>
              <a:blipFill>
                <a:blip r:embed="rId3"/>
                <a:stretch>
                  <a:fillRect l="-1486" t="-1523"/>
                </a:stretch>
              </a:blipFill>
            </p:spPr>
            <p:txBody>
              <a:bodyPr/>
              <a:lstStyle/>
              <a:p>
                <a:r>
                  <a:rPr lang="en-US">
                    <a:noFill/>
                  </a:rPr>
                  <a:t> </a:t>
                </a:r>
              </a:p>
            </p:txBody>
          </p:sp>
        </mc:Fallback>
      </mc:AlternateContent>
      <p:pic>
        <p:nvPicPr>
          <p:cNvPr id="15" name="Picture Placeholder 14" descr="A tree diagram shows the probability outcome for a two-supplier example. There are three vertical sections divided by two dashed vertical lines. The first section is titled “Step 1, Supplier.” Two lines radiate from a dot and extend to a dot each on the first dashed vertical line, such that there two dots. The top line is labeled “P(A_1), 0.65” and the bottom line is labeled “P(A_2), 0.35.” The second section is titled “Step 2, Condition.” Two lines radiate from each dot on the first dashed line to a dot each on the second dashed line, such that there are four dots. The top line from the top dot is labeled “P(G | A_1), 0.98” and the bottom line is labeled “P(B | A_1), 0.02.” The top line from the bottom dot is labeled “P(G | A_2), 0.95” and the bottom line is labeled “P(B | A_2), 0.05.” The third section is titled “Probability of outcome.” The data from the diagram is presented in the format, Step 1, step 2: Probability of outcome. P(A_1), P(G | A_1): P(A_1 intersection G) = P(A_1)P(G | A_1) = 0.6370. P(A_1), P(B | A_1): P(A_1 intersection B) = P(A_1)P(B | A_1) = 0.0130. P(A_2), P(G | A_2): P(A_2 intersection G) = P(A_2)P(G | A_2) = 0.3325. P(A_2), P(B | A_2): P(A_2 intersection B) = P(A_2)P(B | A_2) = 0.0175.&#10;">
            <a:extLst>
              <a:ext uri="{FF2B5EF4-FFF2-40B4-BE49-F238E27FC236}">
                <a16:creationId xmlns:a16="http://schemas.microsoft.com/office/drawing/2014/main" id="{29FDC139-C83F-318D-64D3-2143C66332F1}"/>
              </a:ext>
            </a:extLst>
          </p:cNvPr>
          <p:cNvPicPr>
            <a:picLocks noGrp="1" noChangeAspect="1"/>
          </p:cNvPicPr>
          <p:nvPr>
            <p:ph type="pic" sz="quarter" idx="16"/>
          </p:nvPr>
        </p:nvPicPr>
        <p:blipFill rotWithShape="1">
          <a:blip r:embed="rId4"/>
          <a:srcRect l="13" r="13"/>
          <a:stretch/>
        </p:blipFill>
        <p:spPr>
          <a:xfrm>
            <a:off x="5777405" y="1306211"/>
            <a:ext cx="5632205" cy="3452653"/>
          </a:xfrm>
        </p:spPr>
      </p:pic>
    </p:spTree>
    <p:extLst>
      <p:ext uri="{BB962C8B-B14F-4D97-AF65-F5344CB8AC3E}">
        <p14:creationId xmlns:p14="http://schemas.microsoft.com/office/powerpoint/2010/main" val="4117637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t>4.5 Tabular Approach to Bayes’ Theorem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BC9964-79FA-0C2E-1E53-50748DD150F9}"/>
                  </a:ext>
                </a:extLst>
              </p:cNvPr>
              <p:cNvSpPr>
                <a:spLocks noGrp="1"/>
              </p:cNvSpPr>
              <p:nvPr>
                <p:ph type="body" sz="quarter" idx="15"/>
              </p:nvPr>
            </p:nvSpPr>
            <p:spPr>
              <a:xfrm>
                <a:off x="743576" y="1242207"/>
                <a:ext cx="10610223" cy="4531142"/>
              </a:xfrm>
            </p:spPr>
            <p:txBody>
              <a:bodyPr/>
              <a:lstStyle/>
              <a:p>
                <a:pPr>
                  <a:lnSpc>
                    <a:spcPct val="100000"/>
                  </a:lnSpc>
                  <a:spcBef>
                    <a:spcPts val="600"/>
                  </a:spcBef>
                  <a:spcAft>
                    <a:spcPts val="0"/>
                  </a:spcAft>
                </a:pPr>
                <a:r>
                  <a:rPr lang="en-US" sz="2000" dirty="0"/>
                  <a:t>A tabular approach is helpful in conducting Bayes’ theorem calculations (see table below.)</a:t>
                </a:r>
              </a:p>
              <a:p>
                <a:pPr marL="969963" indent="-969963">
                  <a:lnSpc>
                    <a:spcPct val="100000"/>
                  </a:lnSpc>
                  <a:spcBef>
                    <a:spcPts val="600"/>
                  </a:spcBef>
                  <a:spcAft>
                    <a:spcPts val="0"/>
                  </a:spcAft>
                </a:pPr>
                <a:r>
                  <a:rPr lang="en-US" sz="2000" b="1" dirty="0"/>
                  <a:t>Step 1:</a:t>
                </a:r>
                <a:r>
                  <a:rPr lang="en-US" sz="2000" dirty="0"/>
                  <a:t>	Create three columns: (1) with the two events </a:t>
                </a:r>
                <a14:m>
                  <m:oMath xmlns:m="http://schemas.openxmlformats.org/officeDocument/2006/math">
                    <m:r>
                      <a:rPr lang="en-US" sz="2000" i="1" dirty="0" smtClean="0">
                        <a:latin typeface="Cambria Math" panose="02040503050406030204" pitchFamily="18" charset="0"/>
                      </a:rPr>
                      <m:t>𝐴</m:t>
                    </m:r>
                    <m:r>
                      <a:rPr lang="en-US" sz="2000" i="1" baseline="-25000" dirty="0">
                        <a:latin typeface="Cambria Math" panose="02040503050406030204" pitchFamily="18" charset="0"/>
                      </a:rPr>
                      <m:t>1</m:t>
                    </m:r>
                  </m:oMath>
                </a14:m>
                <a:r>
                  <a:rPr lang="en-US" sz="2000" dirty="0"/>
                  <a:t> and </a:t>
                </a:r>
                <a14:m>
                  <m:oMath xmlns:m="http://schemas.openxmlformats.org/officeDocument/2006/math">
                    <m:r>
                      <a:rPr lang="en-US" sz="2000" i="1" dirty="0" smtClean="0">
                        <a:latin typeface="Cambria Math" panose="02040503050406030204" pitchFamily="18" charset="0"/>
                      </a:rPr>
                      <m:t>𝐴</m:t>
                    </m:r>
                    <m:r>
                      <a:rPr lang="en-US" sz="2000" i="1" baseline="-25000" dirty="0">
                        <a:latin typeface="Cambria Math" panose="02040503050406030204" pitchFamily="18" charset="0"/>
                      </a:rPr>
                      <m:t>2</m:t>
                    </m:r>
                  </m:oMath>
                </a14:m>
                <a:r>
                  <a:rPr lang="en-US" sz="2000" dirty="0"/>
                  <a:t> for which posterior probabilities are desired, (2) with the prior probabilities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e>
                    </m:d>
                  </m:oMath>
                </a14:m>
                <a:r>
                  <a:rPr lang="en-US" sz="2000" dirty="0"/>
                  <a:t> and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e>
                    </m:d>
                  </m:oMath>
                </a14:m>
                <a:r>
                  <a:rPr lang="en-US" sz="2000" dirty="0"/>
                  <a:t>, and (3) with the conditional probabilities from the available data for event </a:t>
                </a:r>
                <a14:m>
                  <m:oMath xmlns:m="http://schemas.openxmlformats.org/officeDocument/2006/math">
                    <m:r>
                      <a:rPr lang="en-US" sz="2000" i="1" dirty="0" smtClean="0">
                        <a:latin typeface="Cambria Math" panose="02040503050406030204" pitchFamily="18" charset="0"/>
                      </a:rPr>
                      <m:t>𝐵</m:t>
                    </m:r>
                  </m:oMath>
                </a14:m>
                <a:r>
                  <a:rPr lang="en-US" sz="2000" dirty="0"/>
                  <a:t>.</a:t>
                </a:r>
              </a:p>
              <a:p>
                <a:pPr marL="969963" indent="-969963">
                  <a:lnSpc>
                    <a:spcPct val="100000"/>
                  </a:lnSpc>
                  <a:spcBef>
                    <a:spcPts val="600"/>
                  </a:spcBef>
                  <a:spcAft>
                    <a:spcPts val="0"/>
                  </a:spcAft>
                </a:pPr>
                <a:r>
                  <a:rPr lang="en-US" sz="2000" b="1" dirty="0"/>
                  <a:t>Step 2:</a:t>
                </a:r>
                <a:r>
                  <a:rPr lang="en-US" sz="2000" dirty="0"/>
                  <a:t>	In column (4), for each of the two rows compute the joint probabilities </a:t>
                </a:r>
                <a14:m>
                  <m:oMath xmlns:m="http://schemas.openxmlformats.org/officeDocument/2006/math">
                    <m:r>
                      <a:rPr lang="en-US" sz="2000" i="1" smtClean="0">
                        <a:latin typeface="Cambria Math" panose="02040503050406030204" pitchFamily="18" charset="0"/>
                      </a:rPr>
                      <m:t>𝑃</m:t>
                    </m:r>
                    <m:r>
                      <a:rPr lang="en-US" sz="200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𝑖</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oMath>
                </a14:m>
                <a:r>
                  <a:rPr lang="en-US" sz="2000" dirty="0"/>
                  <a:t> by multiplying the values in columns (1) and (2).</a:t>
                </a:r>
              </a:p>
              <a:p>
                <a:pPr marL="969963" indent="-969963">
                  <a:lnSpc>
                    <a:spcPct val="100000"/>
                  </a:lnSpc>
                  <a:spcBef>
                    <a:spcPts val="600"/>
                  </a:spcBef>
                  <a:spcAft>
                    <a:spcPts val="0"/>
                  </a:spcAft>
                </a:pPr>
                <a:r>
                  <a:rPr lang="en-US" sz="2000" b="1" dirty="0"/>
                  <a:t>Step 3:</a:t>
                </a:r>
                <a:r>
                  <a:rPr lang="en-US" sz="2000" dirty="0"/>
                  <a:t>	Sum the joint probabilities in column (4) to obtain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oMath>
                </a14:m>
                <a:r>
                  <a:rPr lang="en-US" sz="2000" dirty="0"/>
                  <a:t>.</a:t>
                </a:r>
              </a:p>
              <a:p>
                <a:pPr marL="969963" indent="-969963">
                  <a:lnSpc>
                    <a:spcPct val="100000"/>
                  </a:lnSpc>
                  <a:spcBef>
                    <a:spcPts val="600"/>
                  </a:spcBef>
                  <a:spcAft>
                    <a:spcPts val="1200"/>
                  </a:spcAft>
                </a:pPr>
                <a:r>
                  <a:rPr lang="en-US" sz="2000" b="1" dirty="0"/>
                  <a:t>Step 4:	</a:t>
                </a:r>
                <a:r>
                  <a:rPr lang="en-US" sz="2000" dirty="0"/>
                  <a:t>In column (5), compute the posterior probabilities using the values from column (4):</a:t>
                </a:r>
              </a:p>
              <a:p>
                <a:pPr marL="969963" indent="-969963">
                  <a:lnSpc>
                    <a:spcPct val="100000"/>
                  </a:lnSpc>
                  <a:spcBef>
                    <a:spcPts val="600"/>
                  </a:spcBef>
                  <a:spcAft>
                    <a:spcPts val="12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m:t>
                          </m:r>
                        </m:den>
                      </m:f>
                    </m:oMath>
                  </m:oMathPara>
                </a14:m>
                <a:endParaRPr lang="en-US" sz="2000" dirty="0"/>
              </a:p>
              <a:p>
                <a:pPr marL="969963" indent="-969963">
                  <a:lnSpc>
                    <a:spcPct val="100000"/>
                  </a:lnSpc>
                  <a:spcBef>
                    <a:spcPts val="600"/>
                  </a:spcBef>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𝑃</m:t>
                          </m:r>
                          <m:r>
                            <a:rPr lang="en-US" sz="2000" i="1">
                              <a:latin typeface="Cambria Math" panose="02040503050406030204" pitchFamily="18" charset="0"/>
                            </a:rPr>
                            <m:t>(</m:t>
                          </m:r>
                          <m:sSub>
                            <m:sSubPr>
                              <m:ctrlPr>
                                <a:rPr lang="en-US" sz="2000" i="1" smtClean="0">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m:t>
                          </m:r>
                        </m:den>
                      </m:f>
                    </m:oMath>
                  </m:oMathPara>
                </a14:m>
                <a:endParaRPr lang="en-US" sz="2000" dirty="0"/>
              </a:p>
            </p:txBody>
          </p:sp>
        </mc:Choice>
        <mc:Fallback xmlns="">
          <p:sp>
            <p:nvSpPr>
              <p:cNvPr id="3" name="Text Placeholder 2">
                <a:extLst>
                  <a:ext uri="{FF2B5EF4-FFF2-40B4-BE49-F238E27FC236}">
                    <a16:creationId xmlns:a16="http://schemas.microsoft.com/office/drawing/2014/main" id="{5BBC9964-79FA-0C2E-1E53-50748DD150F9}"/>
                  </a:ext>
                </a:extLst>
              </p:cNvPr>
              <p:cNvSpPr>
                <a:spLocks noGrp="1" noRot="1" noChangeAspect="1" noMove="1" noResize="1" noEditPoints="1" noAdjustHandles="1" noChangeArrowheads="1" noChangeShapeType="1" noTextEdit="1"/>
              </p:cNvSpPr>
              <p:nvPr>
                <p:ph type="body" sz="quarter" idx="15"/>
              </p:nvPr>
            </p:nvSpPr>
            <p:spPr>
              <a:xfrm>
                <a:off x="743576" y="1242207"/>
                <a:ext cx="10610223" cy="4531142"/>
              </a:xfrm>
              <a:blipFill>
                <a:blip r:embed="rId3"/>
                <a:stretch>
                  <a:fillRect l="-1494" t="-1615" r="-747"/>
                </a:stretch>
              </a:blipFill>
            </p:spPr>
            <p:txBody>
              <a:bodyPr/>
              <a:lstStyle/>
              <a:p>
                <a:r>
                  <a:rPr lang="en-US">
                    <a:noFill/>
                  </a:rPr>
                  <a:t> </a:t>
                </a:r>
              </a:p>
            </p:txBody>
          </p:sp>
        </mc:Fallback>
      </mc:AlternateContent>
      <p:graphicFrame>
        <p:nvGraphicFramePr>
          <p:cNvPr id="7" name="Table 7">
            <a:extLst>
              <a:ext uri="{FF2B5EF4-FFF2-40B4-BE49-F238E27FC236}">
                <a16:creationId xmlns:a16="http://schemas.microsoft.com/office/drawing/2014/main" id="{30DFB324-0BD1-1AE4-C8A2-280351F048C5}"/>
              </a:ext>
            </a:extLst>
          </p:cNvPr>
          <p:cNvGraphicFramePr>
            <a:graphicFrameLocks noGrp="1"/>
          </p:cNvGraphicFramePr>
          <p:nvPr>
            <p:ph type="tbl" sz="quarter" idx="16"/>
          </p:nvPr>
        </p:nvGraphicFramePr>
        <p:xfrm>
          <a:off x="4410763" y="4065557"/>
          <a:ext cx="6872587" cy="1860550"/>
        </p:xfrm>
        <a:graphic>
          <a:graphicData uri="http://schemas.openxmlformats.org/drawingml/2006/table">
            <a:tbl>
              <a:tblPr firstRow="1" bandRow="1">
                <a:tableStyleId>{5C22544A-7EE6-4342-B048-85BDC9FD1C3A}</a:tableStyleId>
              </a:tblPr>
              <a:tblGrid>
                <a:gridCol w="963494">
                  <a:extLst>
                    <a:ext uri="{9D8B030D-6E8A-4147-A177-3AD203B41FA5}">
                      <a16:colId xmlns:a16="http://schemas.microsoft.com/office/drawing/2014/main" val="3171866313"/>
                    </a:ext>
                  </a:extLst>
                </a:gridCol>
                <a:gridCol w="1206077">
                  <a:extLst>
                    <a:ext uri="{9D8B030D-6E8A-4147-A177-3AD203B41FA5}">
                      <a16:colId xmlns:a16="http://schemas.microsoft.com/office/drawing/2014/main" val="649675411"/>
                    </a:ext>
                  </a:extLst>
                </a:gridCol>
                <a:gridCol w="1206077">
                  <a:extLst>
                    <a:ext uri="{9D8B030D-6E8A-4147-A177-3AD203B41FA5}">
                      <a16:colId xmlns:a16="http://schemas.microsoft.com/office/drawing/2014/main" val="2119458474"/>
                    </a:ext>
                  </a:extLst>
                </a:gridCol>
                <a:gridCol w="1206077">
                  <a:extLst>
                    <a:ext uri="{9D8B030D-6E8A-4147-A177-3AD203B41FA5}">
                      <a16:colId xmlns:a16="http://schemas.microsoft.com/office/drawing/2014/main" val="3127550476"/>
                    </a:ext>
                  </a:extLst>
                </a:gridCol>
                <a:gridCol w="1652509">
                  <a:extLst>
                    <a:ext uri="{9D8B030D-6E8A-4147-A177-3AD203B41FA5}">
                      <a16:colId xmlns:a16="http://schemas.microsoft.com/office/drawing/2014/main" val="1175915852"/>
                    </a:ext>
                  </a:extLst>
                </a:gridCol>
                <a:gridCol w="638353">
                  <a:extLst>
                    <a:ext uri="{9D8B030D-6E8A-4147-A177-3AD203B41FA5}">
                      <a16:colId xmlns:a16="http://schemas.microsoft.com/office/drawing/2014/main" val="1780086931"/>
                    </a:ext>
                  </a:extLst>
                </a:gridCol>
              </a:tblGrid>
              <a:tr h="242558">
                <a:tc>
                  <a:txBody>
                    <a:bodyPr/>
                    <a:lstStyle/>
                    <a:p>
                      <a:pPr algn="ctr" fontAlgn="b"/>
                      <a:r>
                        <a:rPr lang="en-US" sz="1600" b="1" i="0" u="none" strike="noStrike" dirty="0">
                          <a:solidFill>
                            <a:srgbClr val="000000"/>
                          </a:solidFill>
                          <a:effectLst/>
                          <a:latin typeface="Calibri" panose="020F0502020204030204" pitchFamily="34" charset="0"/>
                        </a:rPr>
                        <a:t>(1)</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(2)</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a:solidFill>
                            <a:srgbClr val="000000"/>
                          </a:solidFill>
                          <a:effectLst/>
                          <a:latin typeface="Calibri" panose="020F0502020204030204" pitchFamily="34" charset="0"/>
                        </a:rPr>
                        <a:t>(3)</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a:solidFill>
                            <a:srgbClr val="000000"/>
                          </a:solidFill>
                          <a:effectLst/>
                          <a:latin typeface="Calibri" panose="020F0502020204030204" pitchFamily="34" charset="0"/>
                        </a:rPr>
                        <a:t>(4)</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gridSpan="2">
                  <a:txBody>
                    <a:bodyPr/>
                    <a:lstStyle/>
                    <a:p>
                      <a:pPr algn="ctr" fontAlgn="b"/>
                      <a:r>
                        <a:rPr lang="en-US" sz="1600" b="1" i="0" u="none" strike="noStrike" dirty="0">
                          <a:solidFill>
                            <a:srgbClr val="000000"/>
                          </a:solidFill>
                          <a:effectLst/>
                          <a:latin typeface="Calibri" panose="020F0502020204030204" pitchFamily="34" charset="0"/>
                        </a:rPr>
                        <a:t>(5)</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hMerge="1">
                  <a:txBody>
                    <a:bodyPr/>
                    <a:lstStyle/>
                    <a:p>
                      <a:pPr algn="ctr" fontAlgn="b"/>
                      <a:endParaRPr lang="en-US" sz="1600" b="1"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13645990"/>
                  </a:ext>
                </a:extLst>
              </a:tr>
              <a:tr h="242558">
                <a:tc>
                  <a:txBody>
                    <a:bodyPr/>
                    <a:lstStyle/>
                    <a:p>
                      <a:pPr algn="ctr" fontAlgn="b"/>
                      <a:r>
                        <a:rPr lang="en-US" sz="1600" b="1" i="0" u="none" strike="noStrike" dirty="0">
                          <a:solidFill>
                            <a:srgbClr val="000000"/>
                          </a:solidFill>
                          <a:effectLst/>
                          <a:latin typeface="Calibri" panose="020F0502020204030204" pitchFamily="34" charset="0"/>
                        </a:rPr>
                        <a:t>Events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Prior Probabilities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Conditional Probabilities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Joint Probabilities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gridSpan="2">
                  <a:txBody>
                    <a:bodyPr/>
                    <a:lstStyle/>
                    <a:p>
                      <a:pPr algn="ctr" fontAlgn="b"/>
                      <a:r>
                        <a:rPr lang="en-US" sz="1600" b="1" i="0" u="none" strike="noStrike" dirty="0">
                          <a:solidFill>
                            <a:srgbClr val="000000"/>
                          </a:solidFill>
                          <a:effectLst/>
                          <a:latin typeface="Calibri" panose="020F0502020204030204" pitchFamily="34" charset="0"/>
                        </a:rPr>
                        <a:t>Posterior</a:t>
                      </a:r>
                    </a:p>
                    <a:p>
                      <a:pPr algn="ctr" fontAlgn="b"/>
                      <a:r>
                        <a:rPr lang="en-US" sz="1600" b="1" i="0" u="none" strike="noStrike" dirty="0">
                          <a:solidFill>
                            <a:srgbClr val="000000"/>
                          </a:solidFill>
                          <a:effectLst/>
                          <a:latin typeface="Calibri" panose="020F0502020204030204" pitchFamily="34" charset="0"/>
                        </a:rPr>
                        <a:t>Probabilities</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hMerge="1">
                  <a:txBody>
                    <a:bodyPr/>
                    <a:lstStyle/>
                    <a:p>
                      <a:pPr algn="ctr" fontAlgn="b"/>
                      <a:endParaRPr lang="en-US" sz="1600" b="1"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76711847"/>
                  </a:ext>
                </a:extLst>
              </a:tr>
              <a:tr h="36576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1" u="none" strike="noStrike" dirty="0">
                          <a:solidFill>
                            <a:srgbClr val="000000"/>
                          </a:solidFill>
                          <a:effectLst/>
                          <a:latin typeface="Calibri" panose="020F0502020204030204" pitchFamily="34" charset="0"/>
                        </a:rPr>
                        <a:t>A</a:t>
                      </a:r>
                      <a:r>
                        <a:rPr lang="en-US" sz="1600" b="1" i="0" u="none" strike="noStrike" baseline="-25000" dirty="0">
                          <a:solidFill>
                            <a:srgbClr val="000000"/>
                          </a:solidFill>
                          <a:effectLst/>
                          <a:latin typeface="Calibri" panose="020F0502020204030204" pitchFamily="34" charset="0"/>
                        </a:rPr>
                        <a:t>i</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1" u="none" strike="noStrike" dirty="0">
                          <a:solidFill>
                            <a:srgbClr val="000000"/>
                          </a:solidFill>
                          <a:effectLst/>
                          <a:latin typeface="Calibri" panose="020F0502020204030204" pitchFamily="34" charset="0"/>
                        </a:rPr>
                        <a:t>P</a:t>
                      </a:r>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A</a:t>
                      </a:r>
                      <a:r>
                        <a:rPr lang="en-US" sz="1600" b="1" i="0" u="none" strike="noStrike" baseline="-25000" dirty="0">
                          <a:solidFill>
                            <a:srgbClr val="000000"/>
                          </a:solidFill>
                          <a:effectLst/>
                          <a:latin typeface="Calibri" panose="020F0502020204030204" pitchFamily="34" charset="0"/>
                        </a:rPr>
                        <a:t>i</a:t>
                      </a:r>
                      <a:r>
                        <a:rPr lang="en-US" sz="1600" b="1" i="0" u="none" strike="noStrike" dirty="0">
                          <a:solidFill>
                            <a:srgbClr val="000000"/>
                          </a:solidFill>
                          <a:effectLst/>
                          <a:latin typeface="Calibri" panose="020F0502020204030204" pitchFamily="34" charset="0"/>
                        </a:rPr>
                        <a:t>)</a:t>
                      </a:r>
                      <a:endParaRPr lang="en-US" sz="1600" b="1" i="0" u="none" strike="noStrike" baseline="-25000" dirty="0">
                        <a:solidFill>
                          <a:srgbClr val="000000"/>
                        </a:solidFill>
                        <a:effectLst/>
                        <a:latin typeface="Calibri" panose="020F0502020204030204" pitchFamily="34" charset="0"/>
                      </a:endParaRP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1" u="none" strike="noStrike" dirty="0">
                          <a:solidFill>
                            <a:srgbClr val="000000"/>
                          </a:solidFill>
                          <a:effectLst/>
                          <a:latin typeface="Calibri" panose="020F0502020204030204" pitchFamily="34" charset="0"/>
                        </a:rPr>
                        <a:t>P</a:t>
                      </a:r>
                      <a:r>
                        <a:rPr lang="en-US" sz="1600" b="1" i="0" u="none" strike="noStrike" dirty="0">
                          <a:solidFill>
                            <a:srgbClr val="000000"/>
                          </a:solidFill>
                          <a:effectLst/>
                          <a:latin typeface="Calibri" panose="020F0502020204030204" pitchFamily="34" charset="0"/>
                        </a:rPr>
                        <a:t>(</a:t>
                      </a:r>
                      <a:r>
                        <a:rPr lang="en-US" sz="1600" b="1" i="1" u="none" strike="noStrike" dirty="0" err="1">
                          <a:solidFill>
                            <a:srgbClr val="000000"/>
                          </a:solidFill>
                          <a:effectLst/>
                          <a:latin typeface="Calibri" panose="020F0502020204030204" pitchFamily="34" charset="0"/>
                        </a:rPr>
                        <a:t>B</a:t>
                      </a:r>
                      <a:r>
                        <a:rPr lang="en-US" sz="1600" b="1" i="0" u="none" strike="noStrike" dirty="0" err="1">
                          <a:solidFill>
                            <a:srgbClr val="000000"/>
                          </a:solidFill>
                          <a:effectLst/>
                          <a:latin typeface="Calibri" panose="020F0502020204030204" pitchFamily="34" charset="0"/>
                        </a:rPr>
                        <a:t>|</a:t>
                      </a:r>
                      <a:r>
                        <a:rPr lang="en-US" sz="1600" b="1" i="1" u="none" strike="noStrike" dirty="0" err="1">
                          <a:solidFill>
                            <a:srgbClr val="000000"/>
                          </a:solidFill>
                          <a:effectLst/>
                          <a:latin typeface="Calibri" panose="020F0502020204030204" pitchFamily="34" charset="0"/>
                        </a:rPr>
                        <a:t>A</a:t>
                      </a:r>
                      <a:r>
                        <a:rPr lang="en-US" sz="1600" b="1" i="0" u="none" strike="noStrike" baseline="-25000" dirty="0" err="1">
                          <a:solidFill>
                            <a:srgbClr val="000000"/>
                          </a:solidFill>
                          <a:effectLst/>
                          <a:latin typeface="Calibri" panose="020F0502020204030204" pitchFamily="34" charset="0"/>
                        </a:rPr>
                        <a:t>i</a:t>
                      </a:r>
                      <a:r>
                        <a:rPr lang="en-US" sz="1600" b="1" i="0" u="none" strike="noStrike" dirty="0">
                          <a:solidFill>
                            <a:srgbClr val="000000"/>
                          </a:solidFill>
                          <a:effectLst/>
                          <a:latin typeface="Calibri" panose="020F0502020204030204" pitchFamily="34" charset="0"/>
                        </a:rPr>
                        <a:t>)</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1" u="none" strike="noStrike" dirty="0">
                          <a:solidFill>
                            <a:srgbClr val="000000"/>
                          </a:solidFill>
                          <a:effectLst/>
                          <a:latin typeface="Calibri" panose="020F0502020204030204" pitchFamily="34" charset="0"/>
                        </a:rPr>
                        <a:t>P</a:t>
                      </a:r>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A</a:t>
                      </a:r>
                      <a:r>
                        <a:rPr lang="en-US" sz="1600" b="1" i="0" u="none" strike="noStrike" baseline="-25000" dirty="0">
                          <a:solidFill>
                            <a:srgbClr val="000000"/>
                          </a:solidFill>
                          <a:effectLst/>
                          <a:latin typeface="Calibri" panose="020F0502020204030204" pitchFamily="34" charset="0"/>
                        </a:rPr>
                        <a:t>i</a:t>
                      </a:r>
                      <a:r>
                        <a:rPr lang="en-US" sz="1600" b="1" i="1" u="none" strike="noStrike" dirty="0">
                          <a:solidFill>
                            <a:srgbClr val="000000"/>
                          </a:solidFill>
                          <a:effectLst/>
                          <a:latin typeface="Calibri" panose="020F0502020204030204" pitchFamily="34" charset="0"/>
                        </a:rPr>
                        <a:t> </a:t>
                      </a:r>
                      <a:r>
                        <a:rPr lang="en-US" sz="1600" b="1" i="1" u="none" strike="noStrike" dirty="0">
                          <a:solidFill>
                            <a:srgbClr val="000000"/>
                          </a:solidFill>
                          <a:effectLst/>
                          <a:latin typeface="Calibri" panose="020F0502020204030204" pitchFamily="34" charset="0"/>
                          <a:cs typeface="Calibri" panose="020F0502020204030204" pitchFamily="34" charset="0"/>
                        </a:rPr>
                        <a:t>∩ </a:t>
                      </a:r>
                      <a:r>
                        <a:rPr lang="en-US" sz="1600" b="1" i="1" u="none" strike="noStrike" dirty="0">
                          <a:solidFill>
                            <a:srgbClr val="000000"/>
                          </a:solidFill>
                          <a:effectLst/>
                          <a:latin typeface="Calibri" panose="020F0502020204030204" pitchFamily="34" charset="0"/>
                        </a:rPr>
                        <a:t>B</a:t>
                      </a:r>
                      <a:r>
                        <a:rPr lang="en-US" sz="1600" b="1" i="0" u="none" strike="noStrike" dirty="0">
                          <a:solidFill>
                            <a:srgbClr val="000000"/>
                          </a:solidFill>
                          <a:effectLst/>
                          <a:latin typeface="Calibri" panose="020F0502020204030204" pitchFamily="34" charset="0"/>
                        </a:rPr>
                        <a:t>)</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grid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1" u="none" strike="noStrike" dirty="0">
                          <a:solidFill>
                            <a:srgbClr val="000000"/>
                          </a:solidFill>
                          <a:effectLst/>
                          <a:latin typeface="Calibri" panose="020F0502020204030204" pitchFamily="34" charset="0"/>
                        </a:rPr>
                        <a:t>P</a:t>
                      </a:r>
                      <a:r>
                        <a:rPr lang="en-US" sz="1600" b="1" i="0" u="none" strike="noStrike" dirty="0">
                          <a:solidFill>
                            <a:srgbClr val="000000"/>
                          </a:solidFill>
                          <a:effectLst/>
                          <a:latin typeface="Calibri" panose="020F0502020204030204" pitchFamily="34" charset="0"/>
                        </a:rPr>
                        <a:t>(</a:t>
                      </a:r>
                      <a:r>
                        <a:rPr lang="en-US" sz="1600" b="1" i="1" u="none" strike="noStrike" dirty="0" err="1">
                          <a:solidFill>
                            <a:srgbClr val="000000"/>
                          </a:solidFill>
                          <a:effectLst/>
                          <a:latin typeface="Calibri" panose="020F0502020204030204" pitchFamily="34" charset="0"/>
                        </a:rPr>
                        <a:t>A</a:t>
                      </a:r>
                      <a:r>
                        <a:rPr lang="en-US" sz="1600" b="1" i="0" u="none" strike="noStrike" baseline="-25000" dirty="0" err="1">
                          <a:solidFill>
                            <a:srgbClr val="000000"/>
                          </a:solidFill>
                          <a:effectLst/>
                          <a:latin typeface="Calibri" panose="020F0502020204030204" pitchFamily="34" charset="0"/>
                        </a:rPr>
                        <a:t>i</a:t>
                      </a:r>
                      <a:r>
                        <a:rPr lang="en-US" sz="1600" b="1" i="0" u="none" strike="noStrike" dirty="0" err="1">
                          <a:solidFill>
                            <a:srgbClr val="000000"/>
                          </a:solidFill>
                          <a:effectLst/>
                          <a:latin typeface="Calibri" panose="020F0502020204030204" pitchFamily="34" charset="0"/>
                        </a:rPr>
                        <a:t>|</a:t>
                      </a:r>
                      <a:r>
                        <a:rPr lang="en-US" sz="1600" b="1" i="1" u="none" strike="noStrike" dirty="0" err="1">
                          <a:solidFill>
                            <a:srgbClr val="000000"/>
                          </a:solidFill>
                          <a:effectLst/>
                          <a:latin typeface="Calibri" panose="020F0502020204030204" pitchFamily="34" charset="0"/>
                        </a:rPr>
                        <a:t>B</a:t>
                      </a:r>
                      <a:r>
                        <a:rPr lang="en-US" sz="1600" b="1" i="0" u="none" strike="noStrike" dirty="0">
                          <a:solidFill>
                            <a:srgbClr val="000000"/>
                          </a:solidFill>
                          <a:effectLst/>
                          <a:latin typeface="Calibri" panose="020F0502020204030204" pitchFamily="34" charset="0"/>
                        </a:rPr>
                        <a:t>)</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hMerge="1">
                  <a:txBody>
                    <a:bodyPr/>
                    <a:lstStyle/>
                    <a:p>
                      <a:pPr algn="l" fontAlgn="b"/>
                      <a:endParaRPr lang="en-US" sz="1600" b="1" i="0" u="none" strike="noStrike" dirty="0">
                        <a:solidFill>
                          <a:srgbClr val="000000"/>
                        </a:solidFill>
                        <a:effectLst/>
                        <a:latin typeface="Calibri" panose="020F0502020204030204" pitchFamily="34" charset="0"/>
                      </a:endParaRP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662120716"/>
                  </a:ext>
                </a:extLst>
              </a:tr>
              <a:tr h="242558">
                <a:tc>
                  <a:txBody>
                    <a:bodyPr/>
                    <a:lstStyle/>
                    <a:p>
                      <a:pPr algn="ctr" fontAlgn="b"/>
                      <a:r>
                        <a:rPr lang="en-US" sz="1600" b="0" i="1" u="none" strike="noStrike" dirty="0">
                          <a:solidFill>
                            <a:srgbClr val="000000"/>
                          </a:solidFill>
                          <a:effectLst/>
                          <a:latin typeface="Calibri" panose="020F0502020204030204" pitchFamily="34" charset="0"/>
                        </a:rPr>
                        <a:t>A</a:t>
                      </a:r>
                      <a:r>
                        <a:rPr lang="en-US" sz="1600" b="0" i="0" u="none" strike="noStrike" baseline="-25000" dirty="0">
                          <a:solidFill>
                            <a:srgbClr val="000000"/>
                          </a:solidFill>
                          <a:effectLst/>
                          <a:latin typeface="Calibri" panose="020F0502020204030204" pitchFamily="34" charset="0"/>
                        </a:rPr>
                        <a:t>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Calibri" panose="020F0502020204030204" pitchFamily="34" charset="0"/>
                        </a:rPr>
                        <a:t>0.65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0.02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Calibri" panose="020F0502020204030204" pitchFamily="34" charset="0"/>
                        </a:rPr>
                        <a:t>0.0130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gridSpan="2">
                  <a:txBody>
                    <a:bodyPr/>
                    <a:lstStyle/>
                    <a:p>
                      <a:pPr algn="r" fontAlgn="b"/>
                      <a:r>
                        <a:rPr lang="en-US" sz="1600" b="0" i="0" u="none" strike="noStrike" dirty="0">
                          <a:solidFill>
                            <a:srgbClr val="000000"/>
                          </a:solidFill>
                          <a:effectLst/>
                          <a:latin typeface="Calibri" panose="020F0502020204030204" pitchFamily="34" charset="0"/>
                        </a:rPr>
                        <a:t>0.0130 / 0.0305 = 0.4262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hMerge="1">
                  <a:txBody>
                    <a:bodyPr/>
                    <a:lstStyle/>
                    <a:p>
                      <a:pPr algn="r" fontAlgn="b"/>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79096025"/>
                  </a:ext>
                </a:extLst>
              </a:tr>
              <a:tr h="242558">
                <a:tc>
                  <a:txBody>
                    <a:bodyPr/>
                    <a:lstStyle/>
                    <a:p>
                      <a:pPr algn="ctr" fontAlgn="b"/>
                      <a:r>
                        <a:rPr lang="en-US" sz="1600" b="0" i="1" u="none" strike="noStrike" dirty="0">
                          <a:solidFill>
                            <a:srgbClr val="000000"/>
                          </a:solidFill>
                          <a:effectLst/>
                          <a:latin typeface="Calibri" panose="020F0502020204030204" pitchFamily="34" charset="0"/>
                        </a:rPr>
                        <a:t>A</a:t>
                      </a:r>
                      <a:r>
                        <a:rPr lang="en-US" sz="1600" b="0" i="0" u="none" strike="noStrike" baseline="-25000" dirty="0">
                          <a:solidFill>
                            <a:srgbClr val="000000"/>
                          </a:solidFill>
                          <a:effectLst/>
                          <a:latin typeface="Calibri" panose="020F0502020204030204" pitchFamily="34" charset="0"/>
                        </a:rPr>
                        <a:t>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0.35</a:t>
                      </a:r>
                    </a:p>
                  </a:txBody>
                  <a:tcPr marL="6350" marR="6350" marT="6350" marB="0" anchor="b">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Calibri" panose="020F0502020204030204" pitchFamily="34" charset="0"/>
                        </a:rPr>
                        <a:t>0.05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0.0175</a:t>
                      </a:r>
                    </a:p>
                  </a:txBody>
                  <a:tcPr marL="6350" marR="6350" marT="6350" marB="0" anchor="b">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gridSpan="2">
                  <a:txBody>
                    <a:bodyPr/>
                    <a:lstStyle/>
                    <a:p>
                      <a:pPr algn="r" fontAlgn="b"/>
                      <a:r>
                        <a:rPr lang="en-US" sz="1600" b="0" i="0" u="none" strike="noStrike" dirty="0">
                          <a:solidFill>
                            <a:srgbClr val="000000"/>
                          </a:solidFill>
                          <a:effectLst/>
                          <a:latin typeface="Calibri" panose="020F0502020204030204" pitchFamily="34" charset="0"/>
                        </a:rPr>
                        <a:t>0.0175 / 0.0305 = 0.5738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hMerge="1">
                  <a:txBody>
                    <a:bodyPr/>
                    <a:lstStyle/>
                    <a:p>
                      <a:pPr algn="r" fontAlgn="b"/>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53099870"/>
                  </a:ext>
                </a:extLst>
              </a:tr>
              <a:tr h="242558">
                <a:tc>
                  <a:txBody>
                    <a:bodyPr/>
                    <a:lstStyle/>
                    <a:p>
                      <a:pPr algn="l" fontAlgn="b"/>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Calibri" panose="020F0502020204030204" pitchFamily="34" charset="0"/>
                        </a:rPr>
                        <a:t>1.00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endParaRPr lang="en-US" sz="16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Calibri" panose="020F0502020204030204" pitchFamily="34" charset="0"/>
                        </a:rPr>
                        <a:t>0.0305</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Calibri" panose="020F0502020204030204" pitchFamily="34" charset="0"/>
                        </a:rPr>
                        <a:t>1.0000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856074408"/>
                  </a:ext>
                </a:extLst>
              </a:tr>
            </a:tbl>
          </a:graphicData>
        </a:graphic>
      </p:graphicFrame>
    </p:spTree>
    <p:extLst>
      <p:ext uri="{BB962C8B-B14F-4D97-AF65-F5344CB8AC3E}">
        <p14:creationId xmlns:p14="http://schemas.microsoft.com/office/powerpoint/2010/main" val="645203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169112"/>
            <a:ext cx="10657500" cy="4682358"/>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introduced basic probability concepts and illustrated how probability analysis can be used to provide helpful information for decision-making. </a:t>
            </a:r>
          </a:p>
          <a:p>
            <a:pPr>
              <a:lnSpc>
                <a:spcPct val="100000"/>
              </a:lnSpc>
              <a:spcBef>
                <a:spcPts val="600"/>
              </a:spcBef>
            </a:pPr>
            <a:r>
              <a:rPr lang="en-US" dirty="0">
                <a:latin typeface="Arial" panose="020B0604020202020204" pitchFamily="34" charset="0"/>
                <a:cs typeface="Arial" panose="020B0604020202020204" pitchFamily="34" charset="0"/>
              </a:rPr>
              <a:t>We described how probability can be interpreted as a numerical measure of the likelihood that an event will occur. </a:t>
            </a:r>
          </a:p>
          <a:p>
            <a:pPr>
              <a:lnSpc>
                <a:spcPct val="100000"/>
              </a:lnSpc>
              <a:spcBef>
                <a:spcPts val="600"/>
              </a:spcBef>
            </a:pPr>
            <a:r>
              <a:rPr lang="en-US" dirty="0">
                <a:latin typeface="Arial" panose="020B0604020202020204" pitchFamily="34" charset="0"/>
                <a:cs typeface="Arial" panose="020B0604020202020204" pitchFamily="34" charset="0"/>
              </a:rPr>
              <a:t>In addition, we saw that the probability of an event can be computed by either:</a:t>
            </a:r>
          </a:p>
          <a:p>
            <a:pPr lvl="1">
              <a:lnSpc>
                <a:spcPct val="100000"/>
              </a:lnSpc>
              <a:spcBef>
                <a:spcPts val="600"/>
              </a:spcBef>
            </a:pPr>
            <a:r>
              <a:rPr lang="en-US" dirty="0">
                <a:latin typeface="Arial" panose="020B0604020202020204" pitchFamily="34" charset="0"/>
                <a:cs typeface="Arial" panose="020B0604020202020204" pitchFamily="34" charset="0"/>
              </a:rPr>
              <a:t>Summing the probabilities of the experimental outcomes (sample points) that comprise the event.</a:t>
            </a:r>
          </a:p>
          <a:p>
            <a:pPr lvl="1">
              <a:lnSpc>
                <a:spcPct val="100000"/>
              </a:lnSpc>
              <a:spcBef>
                <a:spcPts val="600"/>
              </a:spcBef>
            </a:pPr>
            <a:r>
              <a:rPr lang="en-US" dirty="0">
                <a:latin typeface="Arial" panose="020B0604020202020204" pitchFamily="34" charset="0"/>
                <a:cs typeface="Arial" panose="020B0604020202020204" pitchFamily="34" charset="0"/>
              </a:rPr>
              <a:t>Using the relationships established by different laws of probability, such as:</a:t>
            </a:r>
          </a:p>
          <a:p>
            <a:pPr lvl="2">
              <a:lnSpc>
                <a:spcPct val="100000"/>
              </a:lnSpc>
              <a:spcBef>
                <a:spcPts val="600"/>
              </a:spcBef>
            </a:pPr>
            <a:r>
              <a:rPr lang="en-US" dirty="0">
                <a:latin typeface="Arial" panose="020B0604020202020204" pitchFamily="34" charset="0"/>
                <a:cs typeface="Arial" panose="020B0604020202020204" pitchFamily="34" charset="0"/>
              </a:rPr>
              <a:t>addition law</a:t>
            </a:r>
          </a:p>
          <a:p>
            <a:pPr lvl="2">
              <a:lnSpc>
                <a:spcPct val="100000"/>
              </a:lnSpc>
              <a:spcBef>
                <a:spcPts val="600"/>
              </a:spcBef>
            </a:pPr>
            <a:r>
              <a:rPr lang="en-US" dirty="0">
                <a:latin typeface="Arial" panose="020B0604020202020204" pitchFamily="34" charset="0"/>
                <a:cs typeface="Arial" panose="020B0604020202020204" pitchFamily="34" charset="0"/>
              </a:rPr>
              <a:t>conditional probability</a:t>
            </a:r>
          </a:p>
          <a:p>
            <a:pPr lvl="2">
              <a:lnSpc>
                <a:spcPct val="100000"/>
              </a:lnSpc>
              <a:spcBef>
                <a:spcPts val="600"/>
              </a:spcBef>
            </a:pPr>
            <a:r>
              <a:rPr lang="en-US" dirty="0">
                <a:latin typeface="Arial" panose="020B0604020202020204" pitchFamily="34" charset="0"/>
                <a:cs typeface="Arial" panose="020B0604020202020204" pitchFamily="34" charset="0"/>
              </a:rPr>
              <a:t>multiplication law</a:t>
            </a:r>
          </a:p>
          <a:p>
            <a:pPr>
              <a:lnSpc>
                <a:spcPct val="100000"/>
              </a:lnSpc>
              <a:spcBef>
                <a:spcPts val="600"/>
              </a:spcBef>
            </a:pPr>
            <a:r>
              <a:rPr lang="en-US" dirty="0">
                <a:latin typeface="Arial" panose="020B0604020202020204" pitchFamily="34" charset="0"/>
                <a:cs typeface="Arial" panose="020B0604020202020204" pitchFamily="34" charset="0"/>
              </a:rPr>
              <a:t>For cases in which additional information is available, we showed how Bayes’ theorem can be used to obtain revised or posterior probabilities.</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2.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99540</TotalTime>
  <Words>4394</Words>
  <Application>Microsoft Office PowerPoint</Application>
  <PresentationFormat>Widescreen</PresentationFormat>
  <Paragraphs>418</Paragraphs>
  <Slides>32</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arial</vt:lpstr>
      <vt:lpstr>Calibri</vt:lpstr>
      <vt:lpstr>Cambria Math</vt:lpstr>
      <vt:lpstr>Helvetica</vt:lpstr>
      <vt:lpstr>Open Sans</vt:lpstr>
      <vt:lpstr>Summer Font</vt:lpstr>
      <vt:lpstr>Office Theme</vt:lpstr>
      <vt:lpstr>Essentials of Modern Business Statistics with Microsoft Excel, 9e</vt:lpstr>
      <vt:lpstr>Chapter Contents</vt:lpstr>
      <vt:lpstr>Chapter Objectives</vt:lpstr>
      <vt:lpstr>Introduction</vt:lpstr>
      <vt:lpstr>4.1 Experiments, Counting Rules, and Assigning Probabilities</vt:lpstr>
      <vt:lpstr>4.1 Counting Rule for Multiple-Step Experiments</vt:lpstr>
      <vt:lpstr>4.1 The KP&amp;L Project: a Multiple-Step Experiment</vt:lpstr>
      <vt:lpstr>4.1 Counting Rule for Combinations</vt:lpstr>
      <vt:lpstr>4.1 Counting Rule for Permutations</vt:lpstr>
      <vt:lpstr>4.1 Assigning Probabilities</vt:lpstr>
      <vt:lpstr>4.1 Assigning Probabilities for the KP&amp;L Project</vt:lpstr>
      <vt:lpstr>4.2 Events and Their Probabilities</vt:lpstr>
      <vt:lpstr>4.2 Probability of an Event</vt:lpstr>
      <vt:lpstr>4.3 Some Basic Relationships of Probability</vt:lpstr>
      <vt:lpstr>4.3 Complement of an Event</vt:lpstr>
      <vt:lpstr>4.3 Union of Two Events</vt:lpstr>
      <vt:lpstr>4.3 Intersection of Two Events</vt:lpstr>
      <vt:lpstr>4.3 Addition Law</vt:lpstr>
      <vt:lpstr>4.3 An Application of the Addition Law</vt:lpstr>
      <vt:lpstr>4.3 Mutually Exclusive Events</vt:lpstr>
      <vt:lpstr>4.4 Conditional Probability</vt:lpstr>
      <vt:lpstr>4.4 Application: A Discrimination Case on the Promotion of Police Officers</vt:lpstr>
      <vt:lpstr>4.4 Joint Probability Table</vt:lpstr>
      <vt:lpstr>4.4 Conditional Probability Analysis</vt:lpstr>
      <vt:lpstr>4.4 Independent Events</vt:lpstr>
      <vt:lpstr>4.4 Multiplication Law</vt:lpstr>
      <vt:lpstr>4.5 Bayes’ Theorem</vt:lpstr>
      <vt:lpstr>4.5 An Application of Bayes’ Theorem</vt:lpstr>
      <vt:lpstr>4.5 Posterior Probabilities</vt:lpstr>
      <vt:lpstr>4.5 Bayes’ Theorem with a Probability Tree</vt:lpstr>
      <vt:lpstr>4.5 Tabular Approach to Bayes’ Theorem</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Palani, Ramkumar</cp:lastModifiedBy>
  <cp:revision>2462</cp:revision>
  <cp:lastPrinted>2016-10-03T15:29:39Z</cp:lastPrinted>
  <dcterms:created xsi:type="dcterms:W3CDTF">2019-11-14T21:20:16Z</dcterms:created>
  <dcterms:modified xsi:type="dcterms:W3CDTF">2024-02-14T09:49:28Z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SP Production">
    <vt:bool>false</vt:bool>
  </property>
  <property fmtid="{D5CDD505-2E9C-101B-9397-08002B2CF9AE}" pid="14" name="SP Content Authoring/Dev">
    <vt:bool>false</vt:bool>
  </property>
  <property fmtid="{D5CDD505-2E9C-101B-9397-08002B2CF9AE}" pid="15" name="SP E2E">
    <vt:bool>false</vt:bool>
  </property>
</Properties>
</file>