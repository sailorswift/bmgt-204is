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4"/>
  </p:notesMasterIdLst>
  <p:handoutMasterIdLst>
    <p:handoutMasterId r:id="rId35"/>
  </p:handoutMasterIdLst>
  <p:sldIdLst>
    <p:sldId id="678" r:id="rId5"/>
    <p:sldId id="524" r:id="rId6"/>
    <p:sldId id="548" r:id="rId7"/>
    <p:sldId id="596" r:id="rId8"/>
    <p:sldId id="642" r:id="rId9"/>
    <p:sldId id="641" r:id="rId10"/>
    <p:sldId id="643" r:id="rId11"/>
    <p:sldId id="620" r:id="rId12"/>
    <p:sldId id="675" r:id="rId13"/>
    <p:sldId id="601" r:id="rId14"/>
    <p:sldId id="644" r:id="rId15"/>
    <p:sldId id="645" r:id="rId16"/>
    <p:sldId id="646" r:id="rId17"/>
    <p:sldId id="647" r:id="rId18"/>
    <p:sldId id="649" r:id="rId19"/>
    <p:sldId id="676" r:id="rId20"/>
    <p:sldId id="660" r:id="rId21"/>
    <p:sldId id="650" r:id="rId22"/>
    <p:sldId id="651" r:id="rId23"/>
    <p:sldId id="652" r:id="rId24"/>
    <p:sldId id="653" r:id="rId25"/>
    <p:sldId id="656" r:id="rId26"/>
    <p:sldId id="655" r:id="rId27"/>
    <p:sldId id="657" r:id="rId28"/>
    <p:sldId id="658" r:id="rId29"/>
    <p:sldId id="670" r:id="rId30"/>
    <p:sldId id="677" r:id="rId31"/>
    <p:sldId id="640" r:id="rId32"/>
    <p:sldId id="523" r:id="rId3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76B0C9-7F17-146C-A919-1E9004EE7E10}" name="Lumina SME" initials="SME" userId="Lumina SME"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 id="2" name="pcatasti@vcu.edu" initials="p" lastIdx="1" clrIdx="1">
    <p:extLst>
      <p:ext uri="{19B8F6BF-5375-455C-9EA6-DF929625EA0E}">
        <p15:presenceInfo xmlns:p15="http://schemas.microsoft.com/office/powerpoint/2012/main" userId="S::pcatasti@vcu.edu::5e6bb2ce-2eef-4c7a-b628-7542cf8731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D14B1E"/>
    <a:srgbClr val="25894E"/>
    <a:srgbClr val="FF6300"/>
    <a:srgbClr val="FFF4DE"/>
    <a:srgbClr val="CDC800"/>
    <a:srgbClr val="006699"/>
    <a:srgbClr val="2A601F"/>
    <a:srgbClr val="01FFD5"/>
    <a:srgbClr val="E3E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22" autoAdjust="0"/>
    <p:restoredTop sz="92918" autoAdjust="0"/>
  </p:normalViewPr>
  <p:slideViewPr>
    <p:cSldViewPr snapToGrid="0" snapToObjects="1">
      <p:cViewPr varScale="1">
        <p:scale>
          <a:sx n="58" d="100"/>
          <a:sy n="58" d="100"/>
        </p:scale>
        <p:origin x="68" y="88"/>
      </p:cViewPr>
      <p:guideLst>
        <p:guide orient="horz" pos="2160"/>
        <p:guide pos="3840"/>
      </p:guideLst>
    </p:cSldViewPr>
  </p:slideViewPr>
  <p:outlineViewPr>
    <p:cViewPr>
      <p:scale>
        <a:sx n="33" d="100"/>
        <a:sy n="33" d="100"/>
      </p:scale>
      <p:origin x="0" y="-31476"/>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77" d="100"/>
          <a:sy n="77" d="100"/>
        </p:scale>
        <p:origin x="274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notesMaster" Target="notesMasters/notesMaster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handoutMaster" Target="handoutMasters/handout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12/18/2025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12/18/2025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a:t>
            </a:fld>
            <a:endParaRPr lang="en-US" dirty="0"/>
          </a:p>
        </p:txBody>
      </p:sp>
    </p:spTree>
    <p:extLst>
      <p:ext uri="{BB962C8B-B14F-4D97-AF65-F5344CB8AC3E}">
        <p14:creationId xmlns:p14="http://schemas.microsoft.com/office/powerpoint/2010/main" val="2578678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3</a:t>
            </a:fld>
            <a:endParaRPr lang="en-US" dirty="0"/>
          </a:p>
        </p:txBody>
      </p:sp>
    </p:spTree>
    <p:extLst>
      <p:ext uri="{BB962C8B-B14F-4D97-AF65-F5344CB8AC3E}">
        <p14:creationId xmlns:p14="http://schemas.microsoft.com/office/powerpoint/2010/main" val="2428474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5</a:t>
            </a:fld>
            <a:endParaRPr lang="en-US" dirty="0"/>
          </a:p>
        </p:txBody>
      </p:sp>
    </p:spTree>
    <p:extLst>
      <p:ext uri="{BB962C8B-B14F-4D97-AF65-F5344CB8AC3E}">
        <p14:creationId xmlns:p14="http://schemas.microsoft.com/office/powerpoint/2010/main" val="1153263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b="0" i="0" dirty="0">
                    <a:effectLst/>
                    <a:latin typeface="Times New Roman" panose="02020603050405020304" pitchFamily="18" charset="0"/>
                  </a:rPr>
                  <a:t>If both populations have a normal distribution, or if the sample sizes are large enough that the central limit theorem enables us to conclude that the sampling distributions of </a:t>
                </a:r>
                <a14:m>
                  <m:oMath xmlns:m="http://schemas.openxmlformats.org/officeDocument/2006/math">
                    <m:sSub>
                      <m:sSubPr>
                        <m:ctrlPr>
                          <a:rPr lang="en-US" sz="1200" b="0" i="1" smtClean="0">
                            <a:latin typeface="Cambria Math" panose="02040503050406030204" pitchFamily="18" charset="0"/>
                            <a:cs typeface="Arial" panose="020B0604020202020204" pitchFamily="34" charset="0"/>
                          </a:rPr>
                        </m:ctrlPr>
                      </m:sSubPr>
                      <m:e>
                        <m:acc>
                          <m:accPr>
                            <m:chr m:val="̅"/>
                            <m:ctrlPr>
                              <a:rPr lang="en-US" sz="1200" b="0" i="1" smtClean="0">
                                <a:latin typeface="Cambria Math" panose="02040503050406030204" pitchFamily="18" charset="0"/>
                                <a:cs typeface="Arial" panose="020B0604020202020204" pitchFamily="34" charset="0"/>
                              </a:rPr>
                            </m:ctrlPr>
                          </m:accPr>
                          <m:e>
                            <m:r>
                              <a:rPr lang="en-US" sz="1200" b="0" i="1" smtClean="0">
                                <a:latin typeface="Cambria Math" panose="02040503050406030204" pitchFamily="18" charset="0"/>
                                <a:cs typeface="Arial" panose="020B0604020202020204" pitchFamily="34" charset="0"/>
                              </a:rPr>
                              <m:t>𝑥</m:t>
                            </m:r>
                          </m:e>
                        </m:acc>
                      </m:e>
                      <m:sub>
                        <m:r>
                          <a:rPr lang="en-US" sz="1200" b="0" i="1" smtClean="0">
                            <a:latin typeface="Cambria Math" panose="02040503050406030204" pitchFamily="18" charset="0"/>
                            <a:cs typeface="Arial" panose="020B0604020202020204" pitchFamily="34" charset="0"/>
                          </a:rPr>
                          <m:t>1</m:t>
                        </m:r>
                      </m:sub>
                    </m:sSub>
                  </m:oMath>
                </a14:m>
                <a:r>
                  <a:rPr lang="en-US" b="0" i="0" dirty="0">
                    <a:effectLst/>
                    <a:latin typeface="Times New Roman" panose="02020603050405020304" pitchFamily="18" charset="0"/>
                  </a:rPr>
                  <a:t> and </a:t>
                </a:r>
                <a14:m>
                  <m:oMath xmlns:m="http://schemas.openxmlformats.org/officeDocument/2006/math">
                    <m:sSub>
                      <m:sSubPr>
                        <m:ctrlPr>
                          <a:rPr lang="en-US" sz="1200" b="0" i="1" smtClean="0">
                            <a:latin typeface="Cambria Math" panose="02040503050406030204" pitchFamily="18" charset="0"/>
                            <a:cs typeface="Arial" panose="020B0604020202020204" pitchFamily="34" charset="0"/>
                          </a:rPr>
                        </m:ctrlPr>
                      </m:sSubPr>
                      <m:e>
                        <m:acc>
                          <m:accPr>
                            <m:chr m:val="̅"/>
                            <m:ctrlPr>
                              <a:rPr lang="en-US" sz="1200" b="0" i="1" smtClean="0">
                                <a:latin typeface="Cambria Math" panose="02040503050406030204" pitchFamily="18" charset="0"/>
                                <a:cs typeface="Arial" panose="020B0604020202020204" pitchFamily="34" charset="0"/>
                              </a:rPr>
                            </m:ctrlPr>
                          </m:accPr>
                          <m:e>
                            <m:r>
                              <a:rPr lang="en-US" sz="1200" b="0" i="1" smtClean="0">
                                <a:latin typeface="Cambria Math" panose="02040503050406030204" pitchFamily="18" charset="0"/>
                                <a:cs typeface="Arial" panose="020B0604020202020204" pitchFamily="34" charset="0"/>
                              </a:rPr>
                              <m:t>𝑥</m:t>
                            </m:r>
                          </m:e>
                        </m:acc>
                      </m:e>
                      <m:sub>
                        <m:r>
                          <a:rPr lang="en-US" sz="1200" b="0" i="1" smtClean="0">
                            <a:latin typeface="Cambria Math" panose="02040503050406030204" pitchFamily="18" charset="0"/>
                            <a:cs typeface="Arial" panose="020B0604020202020204" pitchFamily="34" charset="0"/>
                          </a:rPr>
                          <m:t>2</m:t>
                        </m:r>
                      </m:sub>
                    </m:sSub>
                  </m:oMath>
                </a14:m>
                <a:r>
                  <a:rPr lang="en-US" b="0" i="0" dirty="0">
                    <a:effectLst/>
                    <a:latin typeface="Times New Roman" panose="02020603050405020304" pitchFamily="18" charset="0"/>
                  </a:rPr>
                  <a:t> can be approximated by a normal distribution, the sampling distribution of </a:t>
                </a:r>
                <a14:m>
                  <m:oMath xmlns:m="http://schemas.openxmlformats.org/officeDocument/2006/math">
                    <m:sSub>
                      <m:sSubPr>
                        <m:ctrlPr>
                          <a:rPr lang="en-US" sz="1200" b="0" i="1" smtClean="0">
                            <a:latin typeface="Cambria Math" panose="02040503050406030204" pitchFamily="18" charset="0"/>
                            <a:cs typeface="Arial" panose="020B0604020202020204" pitchFamily="34" charset="0"/>
                          </a:rPr>
                        </m:ctrlPr>
                      </m:sSubPr>
                      <m:e>
                        <m:acc>
                          <m:accPr>
                            <m:chr m:val="̅"/>
                            <m:ctrlPr>
                              <a:rPr lang="en-US" sz="1200" b="0" i="1" smtClean="0">
                                <a:latin typeface="Cambria Math" panose="02040503050406030204" pitchFamily="18" charset="0"/>
                                <a:cs typeface="Arial" panose="020B0604020202020204" pitchFamily="34" charset="0"/>
                              </a:rPr>
                            </m:ctrlPr>
                          </m:accPr>
                          <m:e>
                            <m:r>
                              <a:rPr lang="en-US" sz="1200" b="0" i="1" smtClean="0">
                                <a:latin typeface="Cambria Math" panose="02040503050406030204" pitchFamily="18" charset="0"/>
                                <a:cs typeface="Arial" panose="020B0604020202020204" pitchFamily="34" charset="0"/>
                              </a:rPr>
                              <m:t>𝑥</m:t>
                            </m:r>
                          </m:e>
                        </m:acc>
                      </m:e>
                      <m:sub>
                        <m:r>
                          <a:rPr lang="en-US" sz="1200" b="0" i="1" smtClean="0">
                            <a:latin typeface="Cambria Math" panose="02040503050406030204" pitchFamily="18" charset="0"/>
                            <a:cs typeface="Arial" panose="020B0604020202020204" pitchFamily="34" charset="0"/>
                          </a:rPr>
                          <m:t>1</m:t>
                        </m:r>
                      </m:sub>
                    </m:sSub>
                    <m:r>
                      <a:rPr lang="en-US" sz="1200" b="0" i="1" smtClean="0">
                        <a:latin typeface="Cambria Math" panose="02040503050406030204" pitchFamily="18" charset="0"/>
                        <a:cs typeface="Arial" panose="020B0604020202020204" pitchFamily="34" charset="0"/>
                      </a:rPr>
                      <m:t>−</m:t>
                    </m:r>
                    <m:sSub>
                      <m:sSubPr>
                        <m:ctrlPr>
                          <a:rPr lang="en-US" sz="1200" b="0" i="1">
                            <a:latin typeface="Cambria Math" panose="02040503050406030204" pitchFamily="18" charset="0"/>
                            <a:cs typeface="Arial" panose="020B0604020202020204" pitchFamily="34" charset="0"/>
                          </a:rPr>
                        </m:ctrlPr>
                      </m:sSubPr>
                      <m:e>
                        <m:acc>
                          <m:accPr>
                            <m:chr m:val="̅"/>
                            <m:ctrlPr>
                              <a:rPr lang="en-US" sz="1200" b="0" i="1" smtClean="0">
                                <a:latin typeface="Cambria Math" panose="02040503050406030204" pitchFamily="18" charset="0"/>
                                <a:cs typeface="Arial" panose="020B0604020202020204" pitchFamily="34" charset="0"/>
                              </a:rPr>
                            </m:ctrlPr>
                          </m:accPr>
                          <m:e>
                            <m:r>
                              <a:rPr lang="en-US" sz="1200" b="0" i="1" smtClean="0">
                                <a:latin typeface="Cambria Math" panose="02040503050406030204" pitchFamily="18" charset="0"/>
                                <a:cs typeface="Arial" panose="020B0604020202020204" pitchFamily="34" charset="0"/>
                              </a:rPr>
                              <m:t>𝑥</m:t>
                            </m:r>
                          </m:e>
                        </m:acc>
                      </m:e>
                      <m:sub>
                        <m:r>
                          <a:rPr lang="en-US" sz="1200" b="0" i="1" smtClean="0">
                            <a:latin typeface="Cambria Math" panose="02040503050406030204" pitchFamily="18" charset="0"/>
                            <a:cs typeface="Arial" panose="020B0604020202020204" pitchFamily="34" charset="0"/>
                          </a:rPr>
                          <m:t>2</m:t>
                        </m:r>
                      </m:sub>
                    </m:sSub>
                  </m:oMath>
                </a14:m>
                <a:r>
                  <a:rPr lang="en-US" b="0" i="0" dirty="0">
                    <a:effectLst/>
                    <a:latin typeface="Times New Roman" panose="02020603050405020304" pitchFamily="18" charset="0"/>
                  </a:rPr>
                  <a:t> will have a normal distribution with mean given by </a:t>
                </a:r>
                <a14:m>
                  <m:oMath xmlns:m="http://schemas.openxmlformats.org/officeDocument/2006/math">
                    <m:sSub>
                      <m:sSubPr>
                        <m:ctrlPr>
                          <a:rPr lang="en-US" sz="1200" i="1" smtClean="0">
                            <a:solidFill>
                              <a:srgbClr val="000000"/>
                            </a:solidFill>
                            <a:latin typeface="Cambria Math" panose="02040503050406030204" pitchFamily="18" charset="0"/>
                            <a:cs typeface="Arial" panose="020B0604020202020204" pitchFamily="34" charset="0"/>
                          </a:rPr>
                        </m:ctrlPr>
                      </m:sSubPr>
                      <m:e>
                        <m:r>
                          <a:rPr lang="en-US" sz="1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1200" b="0" i="1" smtClean="0">
                            <a:solidFill>
                              <a:srgbClr val="000000"/>
                            </a:solidFill>
                            <a:latin typeface="Cambria Math" panose="02040503050406030204" pitchFamily="18" charset="0"/>
                            <a:cs typeface="Arial" panose="020B0604020202020204" pitchFamily="34" charset="0"/>
                          </a:rPr>
                          <m:t>1</m:t>
                        </m:r>
                      </m:sub>
                    </m:sSub>
                    <m:r>
                      <a:rPr lang="en-US" sz="1200" b="0" i="1" smtClean="0">
                        <a:solidFill>
                          <a:srgbClr val="000000"/>
                        </a:solidFill>
                        <a:latin typeface="Cambria Math" panose="02040503050406030204" pitchFamily="18" charset="0"/>
                        <a:cs typeface="Arial" panose="020B0604020202020204" pitchFamily="34" charset="0"/>
                      </a:rPr>
                      <m:t>−</m:t>
                    </m:r>
                    <m:sSub>
                      <m:sSubPr>
                        <m:ctrlPr>
                          <a:rPr lang="en-US" sz="1200" i="1" smtClean="0">
                            <a:solidFill>
                              <a:srgbClr val="000000"/>
                            </a:solidFill>
                            <a:latin typeface="Cambria Math" panose="02040503050406030204" pitchFamily="18" charset="0"/>
                            <a:cs typeface="Arial" panose="020B0604020202020204" pitchFamily="34" charset="0"/>
                          </a:rPr>
                        </m:ctrlPr>
                      </m:sSubPr>
                      <m:e>
                        <m:r>
                          <a:rPr lang="en-US" sz="12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𝜇</m:t>
                        </m:r>
                      </m:e>
                      <m:sub>
                        <m:r>
                          <a:rPr lang="en-US" sz="1200" b="0" i="1" smtClean="0">
                            <a:solidFill>
                              <a:srgbClr val="000000"/>
                            </a:solidFill>
                            <a:latin typeface="Cambria Math" panose="02040503050406030204" pitchFamily="18" charset="0"/>
                            <a:cs typeface="Arial" panose="020B0604020202020204" pitchFamily="34" charset="0"/>
                          </a:rPr>
                          <m:t>2</m:t>
                        </m:r>
                      </m:sub>
                    </m:sSub>
                  </m:oMath>
                </a14:m>
                <a:r>
                  <a:rPr lang="en-US" b="0" i="0" dirty="0">
                    <a:effectLst/>
                    <a:latin typeface="Times New Roman" panose="02020603050405020304" pitchFamily="18" charset="0"/>
                  </a:rPr>
                  <a:t>.</a:t>
                </a:r>
                <a:endParaRPr lang="en-US" dirty="0"/>
              </a:p>
            </p:txBody>
          </p:sp>
        </mc:Choice>
        <mc:Fallback xmlns="">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*Note: </a:t>
                </a:r>
                <a:r>
                  <a:rPr lang="en-US" b="0" i="0" dirty="0">
                    <a:effectLst/>
                    <a:latin typeface="Times New Roman" panose="02020603050405020304" pitchFamily="18" charset="0"/>
                  </a:rPr>
                  <a:t>If both populations have a normal distribution, or if the sample sizes are large enough that the central limit theorem enables us to conclude that the sampling distributions of </a:t>
                </a:r>
                <a:r>
                  <a:rPr lang="en-US" sz="1200" b="0" i="0">
                    <a:latin typeface="Cambria Math" panose="02040503050406030204" pitchFamily="18" charset="0"/>
                    <a:cs typeface="Arial" panose="020B0604020202020204" pitchFamily="34" charset="0"/>
                  </a:rPr>
                  <a:t>𝑥 ̅_1</a:t>
                </a:r>
                <a:r>
                  <a:rPr lang="en-US" b="0" i="0" dirty="0">
                    <a:effectLst/>
                    <a:latin typeface="Times New Roman" panose="02020603050405020304" pitchFamily="18" charset="0"/>
                  </a:rPr>
                  <a:t> and </a:t>
                </a:r>
                <a:r>
                  <a:rPr lang="en-US" sz="1200" b="0" i="0">
                    <a:latin typeface="Cambria Math" panose="02040503050406030204" pitchFamily="18" charset="0"/>
                    <a:cs typeface="Arial" panose="020B0604020202020204" pitchFamily="34" charset="0"/>
                  </a:rPr>
                  <a:t>𝑥 ̅_2</a:t>
                </a:r>
                <a:r>
                  <a:rPr lang="en-US" b="0" i="0" dirty="0">
                    <a:effectLst/>
                    <a:latin typeface="Times New Roman" panose="02020603050405020304" pitchFamily="18" charset="0"/>
                  </a:rPr>
                  <a:t> can be approximated by a normal distribution, the sampling distribution of </a:t>
                </a:r>
                <a:r>
                  <a:rPr lang="en-US" sz="1200" b="0" i="0">
                    <a:latin typeface="Cambria Math" panose="02040503050406030204" pitchFamily="18" charset="0"/>
                    <a:cs typeface="Arial" panose="020B0604020202020204" pitchFamily="34" charset="0"/>
                  </a:rPr>
                  <a:t>𝑥 ̅_1−𝑥 ̅_2</a:t>
                </a:r>
                <a:r>
                  <a:rPr lang="en-US" b="0" i="0" dirty="0">
                    <a:effectLst/>
                    <a:latin typeface="Times New Roman" panose="02020603050405020304" pitchFamily="18" charset="0"/>
                  </a:rPr>
                  <a:t> will have a normal distribution with mean given by </a:t>
                </a:r>
                <a:r>
                  <a:rPr lang="en-US" sz="1200" b="0" i="0">
                    <a:solidFill>
                      <a:srgbClr val="000000"/>
                    </a:solidFill>
                    <a:latin typeface="Cambria Math" panose="02040503050406030204" pitchFamily="18" charset="0"/>
                    <a:ea typeface="Cambria Math" panose="02040503050406030204" pitchFamily="18" charset="0"/>
                    <a:cs typeface="Arial" panose="020B0604020202020204" pitchFamily="34" charset="0"/>
                  </a:rPr>
                  <a:t>𝜇_</a:t>
                </a:r>
                <a:r>
                  <a:rPr lang="en-US" sz="1200" b="0" i="0">
                    <a:solidFill>
                      <a:srgbClr val="000000"/>
                    </a:solidFill>
                    <a:latin typeface="Cambria Math" panose="02040503050406030204" pitchFamily="18" charset="0"/>
                    <a:cs typeface="Arial" panose="020B0604020202020204" pitchFamily="34" charset="0"/>
                  </a:rPr>
                  <a:t>1−</a:t>
                </a:r>
                <a:r>
                  <a:rPr lang="en-US" sz="1200" b="0" i="0">
                    <a:solidFill>
                      <a:srgbClr val="000000"/>
                    </a:solidFill>
                    <a:latin typeface="Cambria Math" panose="02040503050406030204" pitchFamily="18" charset="0"/>
                    <a:ea typeface="Cambria Math" panose="02040503050406030204" pitchFamily="18" charset="0"/>
                    <a:cs typeface="Arial" panose="020B0604020202020204" pitchFamily="34" charset="0"/>
                  </a:rPr>
                  <a:t>𝜇_</a:t>
                </a:r>
                <a:r>
                  <a:rPr lang="en-US" sz="1200" b="0" i="0">
                    <a:solidFill>
                      <a:srgbClr val="000000"/>
                    </a:solidFill>
                    <a:latin typeface="Cambria Math" panose="02040503050406030204" pitchFamily="18" charset="0"/>
                    <a:cs typeface="Arial" panose="020B0604020202020204" pitchFamily="34" charset="0"/>
                  </a:rPr>
                  <a:t>2</a:t>
                </a:r>
                <a:r>
                  <a:rPr lang="en-US" b="0" i="0" dirty="0">
                    <a:effectLst/>
                    <a:latin typeface="Times New Roman" panose="02020603050405020304" pitchFamily="18" charset="0"/>
                  </a:rPr>
                  <a:t>.</a:t>
                </a:r>
                <a:endParaRPr lang="en-US" dirty="0"/>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6</a:t>
            </a:fld>
            <a:endParaRPr lang="en-US" dirty="0"/>
          </a:p>
        </p:txBody>
      </p:sp>
    </p:spTree>
    <p:extLst>
      <p:ext uri="{BB962C8B-B14F-4D97-AF65-F5344CB8AC3E}">
        <p14:creationId xmlns:p14="http://schemas.microsoft.com/office/powerpoint/2010/main" val="16121951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7</a:t>
            </a:fld>
            <a:endParaRPr lang="en-US" dirty="0"/>
          </a:p>
        </p:txBody>
      </p:sp>
    </p:spTree>
    <p:extLst>
      <p:ext uri="{BB962C8B-B14F-4D97-AF65-F5344CB8AC3E}">
        <p14:creationId xmlns:p14="http://schemas.microsoft.com/office/powerpoint/2010/main" val="1153263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8</a:t>
            </a:fld>
            <a:endParaRPr lang="en-US" dirty="0"/>
          </a:p>
        </p:txBody>
      </p:sp>
    </p:spTree>
    <p:extLst>
      <p:ext uri="{BB962C8B-B14F-4D97-AF65-F5344CB8AC3E}">
        <p14:creationId xmlns:p14="http://schemas.microsoft.com/office/powerpoint/2010/main" val="5987024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10</a:t>
            </a:fld>
            <a:endParaRPr lang="en-US" dirty="0"/>
          </a:p>
        </p:txBody>
      </p:sp>
    </p:spTree>
    <p:extLst>
      <p:ext uri="{BB962C8B-B14F-4D97-AF65-F5344CB8AC3E}">
        <p14:creationId xmlns:p14="http://schemas.microsoft.com/office/powerpoint/2010/main" val="345325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11</a:t>
            </a:fld>
            <a:endParaRPr lang="en-US" dirty="0"/>
          </a:p>
        </p:txBody>
      </p:sp>
    </p:spTree>
    <p:extLst>
      <p:ext uri="{BB962C8B-B14F-4D97-AF65-F5344CB8AC3E}">
        <p14:creationId xmlns:p14="http://schemas.microsoft.com/office/powerpoint/2010/main" val="26647159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12</a:t>
            </a:fld>
            <a:endParaRPr lang="en-US" dirty="0"/>
          </a:p>
        </p:txBody>
      </p:sp>
    </p:spTree>
    <p:extLst>
      <p:ext uri="{BB962C8B-B14F-4D97-AF65-F5344CB8AC3E}">
        <p14:creationId xmlns:p14="http://schemas.microsoft.com/office/powerpoint/2010/main" val="28641101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13</a:t>
            </a:fld>
            <a:endParaRPr lang="en-US" dirty="0"/>
          </a:p>
        </p:txBody>
      </p:sp>
    </p:spTree>
    <p:extLst>
      <p:ext uri="{BB962C8B-B14F-4D97-AF65-F5344CB8AC3E}">
        <p14:creationId xmlns:p14="http://schemas.microsoft.com/office/powerpoint/2010/main" val="28703297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14</a:t>
            </a:fld>
            <a:endParaRPr lang="en-US" dirty="0"/>
          </a:p>
        </p:txBody>
      </p:sp>
    </p:spTree>
    <p:extLst>
      <p:ext uri="{BB962C8B-B14F-4D97-AF65-F5344CB8AC3E}">
        <p14:creationId xmlns:p14="http://schemas.microsoft.com/office/powerpoint/2010/main" val="39908271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15</a:t>
            </a:fld>
            <a:endParaRPr lang="en-US" dirty="0"/>
          </a:p>
        </p:txBody>
      </p:sp>
    </p:spTree>
    <p:extLst>
      <p:ext uri="{BB962C8B-B14F-4D97-AF65-F5344CB8AC3E}">
        <p14:creationId xmlns:p14="http://schemas.microsoft.com/office/powerpoint/2010/main" val="31156704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18</a:t>
            </a:fld>
            <a:endParaRPr lang="en-US" dirty="0"/>
          </a:p>
        </p:txBody>
      </p:sp>
    </p:spTree>
    <p:extLst>
      <p:ext uri="{BB962C8B-B14F-4D97-AF65-F5344CB8AC3E}">
        <p14:creationId xmlns:p14="http://schemas.microsoft.com/office/powerpoint/2010/main" val="17111547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19</a:t>
            </a:fld>
            <a:endParaRPr lang="en-US" dirty="0"/>
          </a:p>
        </p:txBody>
      </p:sp>
    </p:spTree>
    <p:extLst>
      <p:ext uri="{BB962C8B-B14F-4D97-AF65-F5344CB8AC3E}">
        <p14:creationId xmlns:p14="http://schemas.microsoft.com/office/powerpoint/2010/main" val="3023049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*Note: </a:t>
                </a:r>
                <a:r>
                  <a:rPr lang="en-US" sz="1800" dirty="0">
                    <a:latin typeface="Calibri" panose="020F0502020204030204" pitchFamily="34" charset="0"/>
                  </a:rPr>
                  <a:t>Because the F test statistic is constructed with the larger sample variance </a:t>
                </a:r>
                <a14:m>
                  <m:oMath xmlns:m="http://schemas.openxmlformats.org/officeDocument/2006/math">
                    <m:sSubSup>
                      <m:sSubSupPr>
                        <m:ctrlPr>
                          <a:rPr lang="en-US" sz="1800" i="1" smtClean="0">
                            <a:latin typeface="Cambria Math" panose="02040503050406030204" pitchFamily="18" charset="0"/>
                          </a:rPr>
                        </m:ctrlPr>
                      </m:sSubSupPr>
                      <m:e>
                        <m:r>
                          <a:rPr lang="en-US" sz="1800" b="0" i="1">
                            <a:latin typeface="Cambria Math" panose="02040503050406030204" pitchFamily="18" charset="0"/>
                          </a:rPr>
                          <m:t>𝑠</m:t>
                        </m:r>
                      </m:e>
                      <m:sub>
                        <m:r>
                          <a:rPr lang="en-US" sz="1800" b="0" i="1">
                            <a:latin typeface="Cambria Math" panose="02040503050406030204" pitchFamily="18" charset="0"/>
                          </a:rPr>
                          <m:t>1</m:t>
                        </m:r>
                      </m:sub>
                      <m:sup>
                        <m:r>
                          <a:rPr lang="en-US" sz="1800" b="0" i="1">
                            <a:latin typeface="Cambria Math" panose="02040503050406030204" pitchFamily="18" charset="0"/>
                          </a:rPr>
                          <m:t>2</m:t>
                        </m:r>
                      </m:sup>
                    </m:sSubSup>
                  </m:oMath>
                </a14:m>
                <a:r>
                  <a:rPr lang="en-US" sz="1800" dirty="0">
                    <a:latin typeface="Calibri" panose="020F0502020204030204" pitchFamily="34" charset="0"/>
                  </a:rPr>
                  <a:t> in the numerator, the value of the test statistic will be in the upper tail of the </a:t>
                </a:r>
                <a:r>
                  <a:rPr lang="en-US" sz="1800" i="1" dirty="0">
                    <a:latin typeface="Calibri" panose="020F0502020204030204" pitchFamily="34" charset="0"/>
                  </a:rPr>
                  <a:t>F</a:t>
                </a:r>
                <a:r>
                  <a:rPr lang="en-US" sz="1800" i="0" dirty="0">
                    <a:latin typeface="Calibri" panose="020F0502020204030204" pitchFamily="34" charset="0"/>
                  </a:rPr>
                  <a:t> distribution. Therefore, the </a:t>
                </a:r>
                <a:r>
                  <a:rPr lang="en-US" sz="1800" i="1" dirty="0">
                    <a:latin typeface="Calibri" panose="020F0502020204030204" pitchFamily="34" charset="0"/>
                  </a:rPr>
                  <a:t>F</a:t>
                </a:r>
                <a:r>
                  <a:rPr lang="en-US" sz="1800" i="0" dirty="0">
                    <a:latin typeface="Calibri" panose="020F0502020204030204" pitchFamily="34" charset="0"/>
                  </a:rPr>
                  <a:t> distribution table as shown in Table 4 in Appendix B need only provide upper tail areas or probabilities. If we did not construct the test statistic in this manner, lower tail areas or probabilities would be needed. In this case, additional calculations or more extensive </a:t>
                </a:r>
                <a:r>
                  <a:rPr lang="en-US" sz="1800" i="1" dirty="0">
                    <a:latin typeface="Calibri" panose="020F0502020204030204" pitchFamily="34" charset="0"/>
                  </a:rPr>
                  <a:t>F</a:t>
                </a:r>
                <a:r>
                  <a:rPr lang="en-US" sz="1800" i="0" dirty="0">
                    <a:latin typeface="Calibri" panose="020F0502020204030204" pitchFamily="34" charset="0"/>
                  </a:rPr>
                  <a:t> distribution tables would be required.</a:t>
                </a:r>
                <a:endParaRPr lang="en-US" dirty="0"/>
              </a:p>
            </p:txBody>
          </p:sp>
        </mc:Choice>
        <mc:Fallback xmlns="">
          <p:sp>
            <p:nvSpPr>
              <p:cNvPr id="3" name="Notes Placeholder 2"/>
              <p:cNvSpPr>
                <a:spLocks noGrp="1"/>
              </p:cNvSpPr>
              <p:nvPr>
                <p:ph type="body" idx="1"/>
              </p:nvPr>
            </p:nvSpPr>
            <p:spPr/>
            <p:txBody>
              <a:bodyPr/>
              <a:lstStyle/>
              <a:p>
                <a:r>
                  <a:rPr lang="en-US" dirty="0"/>
                  <a:t>*Note: </a:t>
                </a:r>
                <a:r>
                  <a:rPr lang="en-US" sz="1800" dirty="0">
                    <a:latin typeface="Calibri" panose="020F0502020204030204" pitchFamily="34" charset="0"/>
                  </a:rPr>
                  <a:t>Because the F test statistic is constructed with the larger sample variance </a:t>
                </a:r>
                <a:r>
                  <a:rPr lang="en-US" sz="1800" b="0" i="0">
                    <a:latin typeface="Cambria Math" panose="02040503050406030204" pitchFamily="18" charset="0"/>
                  </a:rPr>
                  <a:t>𝑠_1^2</a:t>
                </a:r>
                <a:r>
                  <a:rPr lang="en-US" sz="1800" dirty="0">
                    <a:latin typeface="Calibri" panose="020F0502020204030204" pitchFamily="34" charset="0"/>
                  </a:rPr>
                  <a:t> in the numerator, the value of the test statistic will be in the upper tail of the </a:t>
                </a:r>
                <a:r>
                  <a:rPr lang="en-US" sz="1800" i="1" dirty="0">
                    <a:latin typeface="Calibri" panose="020F0502020204030204" pitchFamily="34" charset="0"/>
                  </a:rPr>
                  <a:t>F</a:t>
                </a:r>
                <a:r>
                  <a:rPr lang="en-US" sz="1800" i="0" dirty="0">
                    <a:latin typeface="Calibri" panose="020F0502020204030204" pitchFamily="34" charset="0"/>
                  </a:rPr>
                  <a:t> distribution. Therefore, the </a:t>
                </a:r>
                <a:r>
                  <a:rPr lang="en-US" sz="1800" i="1" dirty="0">
                    <a:latin typeface="Calibri" panose="020F0502020204030204" pitchFamily="34" charset="0"/>
                  </a:rPr>
                  <a:t>F</a:t>
                </a:r>
                <a:r>
                  <a:rPr lang="en-US" sz="1800" i="0" dirty="0">
                    <a:latin typeface="Calibri" panose="020F0502020204030204" pitchFamily="34" charset="0"/>
                  </a:rPr>
                  <a:t> distribution table as shown in Table 4 of Appendix B need only provide upper tail areas or probabilities. If we did not construct the test statistic in this manner, lower tail areas or probabilities would be needed. In this case, additional calculations or more extensive </a:t>
                </a:r>
                <a:r>
                  <a:rPr lang="en-US" sz="1800" i="1" dirty="0">
                    <a:latin typeface="Calibri" panose="020F0502020204030204" pitchFamily="34" charset="0"/>
                  </a:rPr>
                  <a:t>F</a:t>
                </a:r>
                <a:r>
                  <a:rPr lang="en-US" sz="1800" i="0" dirty="0">
                    <a:latin typeface="Calibri" panose="020F0502020204030204" pitchFamily="34" charset="0"/>
                  </a:rPr>
                  <a:t> distribution tables would be required.</a:t>
                </a:r>
                <a:endParaRPr lang="en-US" dirty="0"/>
              </a:p>
            </p:txBody>
          </p:sp>
        </mc:Fallback>
      </mc:AlternateContent>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20</a:t>
            </a:fld>
            <a:endParaRPr lang="en-US" dirty="0"/>
          </a:p>
        </p:txBody>
      </p:sp>
    </p:spTree>
    <p:extLst>
      <p:ext uri="{BB962C8B-B14F-4D97-AF65-F5344CB8AC3E}">
        <p14:creationId xmlns:p14="http://schemas.microsoft.com/office/powerpoint/2010/main" val="5340400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21</a:t>
            </a:fld>
            <a:endParaRPr lang="en-US" dirty="0"/>
          </a:p>
        </p:txBody>
      </p:sp>
    </p:spTree>
    <p:extLst>
      <p:ext uri="{BB962C8B-B14F-4D97-AF65-F5344CB8AC3E}">
        <p14:creationId xmlns:p14="http://schemas.microsoft.com/office/powerpoint/2010/main" val="32973337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22</a:t>
            </a:fld>
            <a:endParaRPr lang="en-US" dirty="0"/>
          </a:p>
        </p:txBody>
      </p:sp>
    </p:spTree>
    <p:extLst>
      <p:ext uri="{BB962C8B-B14F-4D97-AF65-F5344CB8AC3E}">
        <p14:creationId xmlns:p14="http://schemas.microsoft.com/office/powerpoint/2010/main" val="2635007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23</a:t>
            </a:fld>
            <a:endParaRPr lang="en-US" dirty="0"/>
          </a:p>
        </p:txBody>
      </p:sp>
    </p:spTree>
    <p:extLst>
      <p:ext uri="{BB962C8B-B14F-4D97-AF65-F5344CB8AC3E}">
        <p14:creationId xmlns:p14="http://schemas.microsoft.com/office/powerpoint/2010/main" val="22719601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24</a:t>
            </a:fld>
            <a:endParaRPr lang="en-US" dirty="0"/>
          </a:p>
        </p:txBody>
      </p:sp>
    </p:spTree>
    <p:extLst>
      <p:ext uri="{BB962C8B-B14F-4D97-AF65-F5344CB8AC3E}">
        <p14:creationId xmlns:p14="http://schemas.microsoft.com/office/powerpoint/2010/main" val="22489644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25</a:t>
            </a:fld>
            <a:endParaRPr lang="en-US" dirty="0"/>
          </a:p>
        </p:txBody>
      </p:sp>
    </p:spTree>
    <p:extLst>
      <p:ext uri="{BB962C8B-B14F-4D97-AF65-F5344CB8AC3E}">
        <p14:creationId xmlns:p14="http://schemas.microsoft.com/office/powerpoint/2010/main" val="29713446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population 1 has the larger variance.</a:t>
            </a:r>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28</a:t>
            </a:fld>
            <a:endParaRPr lang="en-US" dirty="0"/>
          </a:p>
        </p:txBody>
      </p:sp>
    </p:spTree>
    <p:extLst>
      <p:ext uri="{BB962C8B-B14F-4D97-AF65-F5344CB8AC3E}">
        <p14:creationId xmlns:p14="http://schemas.microsoft.com/office/powerpoint/2010/main" val="7004022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91CAE60C-72A0-D14D-8733-C13212F694AD}" type="slidenum">
              <a:rPr lang="en-US" smtClean="0"/>
              <a:pPr>
                <a:defRPr/>
              </a:pPr>
              <a:t>29</a:t>
            </a:fld>
            <a:endParaRPr lang="en-US" dirty="0"/>
          </a:p>
        </p:txBody>
      </p:sp>
    </p:spTree>
    <p:extLst>
      <p:ext uri="{BB962C8B-B14F-4D97-AF65-F5344CB8AC3E}">
        <p14:creationId xmlns:p14="http://schemas.microsoft.com/office/powerpoint/2010/main" val="223414940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ster Slide Title">
    <p:spTree>
      <p:nvGrpSpPr>
        <p:cNvPr id="1" name=""/>
        <p:cNvGrpSpPr/>
        <p:nvPr/>
      </p:nvGrpSpPr>
      <p:grpSpPr>
        <a:xfrm>
          <a:off x="0" y="0"/>
          <a:ext cx="0" cy="0"/>
          <a:chOff x="0" y="0"/>
          <a:chExt cx="0" cy="0"/>
        </a:xfrm>
      </p:grpSpPr>
      <p:pic>
        <p:nvPicPr>
          <p:cNvPr id="2" name="Picture 1" descr="Background">
            <a:extLst>
              <a:ext uri="{C183D7F6-B498-43B3-948B-1728B52AA6E4}">
                <adec:decorative xmlns:adec="http://schemas.microsoft.com/office/drawing/2017/decorative" val="0"/>
              </a:ext>
            </a:extLst>
          </p:cNvPr>
          <p:cNvPicPr>
            <a:picLocks noChangeAspect="1"/>
          </p:cNvPicPr>
          <p:nvPr userDrawn="1"/>
        </p:nvPicPr>
        <p:blipFill>
          <a:blip r:embed="rId2"/>
          <a:stretch>
            <a:fillRect/>
          </a:stretch>
        </p:blipFill>
        <p:spPr>
          <a:xfrm>
            <a:off x="192" y="-21416"/>
            <a:ext cx="12191807" cy="6865874"/>
          </a:xfrm>
          <a:prstGeom prst="rect">
            <a:avLst/>
          </a:prstGeom>
        </p:spPr>
      </p:pic>
      <p:sp>
        <p:nvSpPr>
          <p:cNvPr id="12" name="Title Placeholder 1">
            <a:extLst>
              <a:ext uri="{FF2B5EF4-FFF2-40B4-BE49-F238E27FC236}">
                <a16:creationId xmlns:a16="http://schemas.microsoft.com/office/drawing/2014/main" id="{9B100DED-6515-4BB6-AA58-A062C44139F8}"/>
              </a:ext>
            </a:extLst>
          </p:cNvPr>
          <p:cNvSpPr>
            <a:spLocks noGrp="1"/>
          </p:cNvSpPr>
          <p:nvPr>
            <p:ph type="title"/>
          </p:nvPr>
        </p:nvSpPr>
        <p:spPr bwMode="auto">
          <a:xfrm>
            <a:off x="3930077" y="2317698"/>
            <a:ext cx="795535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lvl1pPr>
              <a:defRPr>
                <a:solidFill>
                  <a:schemeClr val="bg1"/>
                </a:solidFill>
              </a:defRPr>
            </a:lvl1pPr>
          </a:lstStyle>
          <a:p>
            <a:pPr lvl="0"/>
            <a:r>
              <a:rPr lang="en-US" altLang="en-US" dirty="0"/>
              <a:t>Click to edit Master title style</a:t>
            </a:r>
          </a:p>
        </p:txBody>
      </p:sp>
      <p:sp>
        <p:nvSpPr>
          <p:cNvPr id="6" name="Text Placeholder 5"/>
          <p:cNvSpPr>
            <a:spLocks noGrp="1"/>
          </p:cNvSpPr>
          <p:nvPr>
            <p:ph type="body" sz="quarter" idx="11" hasCustomPrompt="1"/>
          </p:nvPr>
        </p:nvSpPr>
        <p:spPr>
          <a:xfrm>
            <a:off x="3930077" y="3962923"/>
            <a:ext cx="7955350"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a:t>
            </a:r>
          </a:p>
        </p:txBody>
      </p:sp>
      <p:pic>
        <p:nvPicPr>
          <p:cNvPr id="8" name="Picture 7" descr="Cengage Logo"/>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Footer">
            <a:extLst>
              <a:ext uri="{FF2B5EF4-FFF2-40B4-BE49-F238E27FC236}">
                <a16:creationId xmlns:a16="http://schemas.microsoft.com/office/drawing/2014/main" id="{B3AD984C-7DA8-4BA6-AF0A-89B14549C6C1}"/>
              </a:ext>
            </a:extLst>
          </p:cNvPr>
          <p:cNvSpPr txBox="1"/>
          <p:nvPr userDrawn="1"/>
        </p:nvSpPr>
        <p:spPr>
          <a:xfrm>
            <a:off x="3007866" y="6147324"/>
            <a:ext cx="8956009" cy="692497"/>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err="1">
                <a:solidFill>
                  <a:schemeClr val="bg1"/>
                </a:solidFill>
                <a:latin typeface="Arial" panose="020B0604020202020204" pitchFamily="34" charset="0"/>
                <a:cs typeface="Arial" panose="020B0604020202020204" pitchFamily="34" charset="0"/>
              </a:rPr>
              <a:t>Camm</a:t>
            </a:r>
            <a:r>
              <a:rPr lang="en-US" sz="1400" kern="1200" dirty="0">
                <a:solidFill>
                  <a:schemeClr val="bg1"/>
                </a:solidFill>
                <a:latin typeface="Arial" panose="020B0604020202020204" pitchFamily="34" charset="0"/>
                <a:cs typeface="Arial" panose="020B0604020202020204" pitchFamily="34" charset="0"/>
              </a:rPr>
              <a:t>, Cochran, Fry, Ohlmann, Anderson, Sweeney, Williams, Modern Business Statistics with Microsoft Excel, 8</a:t>
            </a:r>
            <a:r>
              <a:rPr lang="en-US" sz="1400" kern="1200" baseline="30000" dirty="0">
                <a:solidFill>
                  <a:schemeClr val="bg1"/>
                </a:solidFill>
                <a:latin typeface="Arial" panose="020B0604020202020204" pitchFamily="34" charset="0"/>
                <a:cs typeface="Arial" panose="020B0604020202020204" pitchFamily="34" charset="0"/>
              </a:rPr>
              <a:t>th</a:t>
            </a:r>
            <a:r>
              <a:rPr lang="en-US" sz="1400" kern="1200" dirty="0">
                <a:solidFill>
                  <a:schemeClr val="bg1"/>
                </a:solidFill>
                <a:latin typeface="Arial" panose="020B0604020202020204" pitchFamily="34" charset="0"/>
                <a:cs typeface="Arial" panose="020B0604020202020204" pitchFamily="34" charset="0"/>
              </a:rPr>
              <a:t> Edition. © 2025 Cengage Group. All Rights Reserved. May not be scanned, copied or duplicated, or posted to a publicly accessible website, in whole or in part.</a:t>
            </a:r>
            <a:endParaRPr lang="en" sz="1400" kern="1200" dirty="0">
              <a:solidFill>
                <a:schemeClr val="bg1"/>
              </a:solidFill>
              <a:latin typeface="Arial" panose="020B0604020202020204" pitchFamily="34" charset="0"/>
              <a:cs typeface="Arial" panose="020B0604020202020204" pitchFamily="34" charset="0"/>
            </a:endParaRPr>
          </a:p>
        </p:txBody>
      </p:sp>
      <p:pic>
        <p:nvPicPr>
          <p:cNvPr id="4" name="Picture 3" descr="A white bridge with a blue background&#10;&#10;Description automatically generated with medium confidence">
            <a:extLst>
              <a:ext uri="{FF2B5EF4-FFF2-40B4-BE49-F238E27FC236}">
                <a16:creationId xmlns:a16="http://schemas.microsoft.com/office/drawing/2014/main" id="{C827F863-7622-2925-7A3C-FCE070953133}"/>
              </a:ext>
            </a:extLst>
          </p:cNvPr>
          <p:cNvPicPr>
            <a:picLocks noChangeAspect="1"/>
          </p:cNvPicPr>
          <p:nvPr userDrawn="1"/>
        </p:nvPicPr>
        <p:blipFill>
          <a:blip r:embed="rId4"/>
          <a:stretch>
            <a:fillRect/>
          </a:stretch>
        </p:blipFill>
        <p:spPr>
          <a:xfrm>
            <a:off x="176891" y="158257"/>
            <a:ext cx="3520440" cy="4508389"/>
          </a:xfrm>
          <a:prstGeom prst="rect">
            <a:avLst/>
          </a:prstGeom>
        </p:spPr>
      </p:pic>
    </p:spTree>
    <p:extLst>
      <p:ext uri="{BB962C8B-B14F-4D97-AF65-F5344CB8AC3E}">
        <p14:creationId xmlns:p14="http://schemas.microsoft.com/office/powerpoint/2010/main" val="617780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lnSpc>
                <a:spcPct val="100000"/>
              </a:lnSpc>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0350673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9D0A500-7D1C-4C6E-BF2C-55F75C6E6CB2}"/>
              </a:ext>
            </a:extLst>
          </p:cNvPr>
          <p:cNvSpPr>
            <a:spLocks noGrp="1"/>
          </p:cNvSpPr>
          <p:nvPr>
            <p:ph type="tbl" sz="quarter" idx="16"/>
          </p:nvPr>
        </p:nvSpPr>
        <p:spPr>
          <a:xfrm>
            <a:off x="7145338" y="1581150"/>
            <a:ext cx="4208462" cy="4252913"/>
          </a:xfrm>
        </p:spPr>
        <p:txBody>
          <a:bodyPr/>
          <a:lstStyle/>
          <a:p>
            <a:endParaRPr lang="en-US"/>
          </a:p>
        </p:txBody>
      </p:sp>
    </p:spTree>
    <p:extLst>
      <p:ext uri="{BB962C8B-B14F-4D97-AF65-F5344CB8AC3E}">
        <p14:creationId xmlns:p14="http://schemas.microsoft.com/office/powerpoint/2010/main" val="9889722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425302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Tree>
    <p:extLst>
      <p:ext uri="{BB962C8B-B14F-4D97-AF65-F5344CB8AC3E}">
        <p14:creationId xmlns:p14="http://schemas.microsoft.com/office/powerpoint/2010/main" val="2927627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wo Contents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6195940"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1"/>
            <a:ext cx="4314825" cy="2083884"/>
          </a:xfrm>
        </p:spPr>
        <p:txBody>
          <a:bodyPr/>
          <a:lstStyle/>
          <a:p>
            <a:endParaRPr lang="en-US" dirty="0"/>
          </a:p>
        </p:txBody>
      </p:sp>
      <p:sp>
        <p:nvSpPr>
          <p:cNvPr id="8" name="Text Placeholder 5">
            <a:extLst>
              <a:ext uri="{FF2B5EF4-FFF2-40B4-BE49-F238E27FC236}">
                <a16:creationId xmlns:a16="http://schemas.microsoft.com/office/drawing/2014/main" id="{479BB18C-DD3C-B338-94DD-78651EF67E3E}"/>
              </a:ext>
            </a:extLst>
          </p:cNvPr>
          <p:cNvSpPr>
            <a:spLocks noGrp="1"/>
          </p:cNvSpPr>
          <p:nvPr>
            <p:ph type="body" sz="quarter" idx="17" hasCustomPrompt="1"/>
          </p:nvPr>
        </p:nvSpPr>
        <p:spPr>
          <a:xfrm>
            <a:off x="743576" y="3764553"/>
            <a:ext cx="10610223" cy="2083884"/>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8111013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ection, and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2133599"/>
            <a:ext cx="6195940" cy="3700131"/>
          </a:xfrm>
        </p:spPr>
        <p:txBody>
          <a:bodyPr>
            <a:noAutofit/>
          </a:bodyPr>
          <a:lstStyle>
            <a:lvl1pPr marL="0" indent="0" algn="l">
              <a:lnSpc>
                <a:spcPct val="100000"/>
              </a:lnSpc>
              <a:spcBef>
                <a:spcPts val="600"/>
              </a:spcBef>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7038975" y="1581150"/>
            <a:ext cx="4314825" cy="4252913"/>
          </a:xfrm>
        </p:spPr>
        <p:txBody>
          <a:bodyPr/>
          <a:lstStyle/>
          <a:p>
            <a:endParaRPr lang="en-US"/>
          </a:p>
        </p:txBody>
      </p:sp>
      <p:sp>
        <p:nvSpPr>
          <p:cNvPr id="8" name="Text Placeholder 5">
            <a:extLst>
              <a:ext uri="{FF2B5EF4-FFF2-40B4-BE49-F238E27FC236}">
                <a16:creationId xmlns:a16="http://schemas.microsoft.com/office/drawing/2014/main" id="{D06E54DE-5F36-1FCE-27A0-BD19D4BD4755}"/>
              </a:ext>
            </a:extLst>
          </p:cNvPr>
          <p:cNvSpPr>
            <a:spLocks noGrp="1"/>
          </p:cNvSpPr>
          <p:nvPr>
            <p:ph type="body" sz="quarter" idx="17" hasCustomPrompt="1"/>
          </p:nvPr>
        </p:nvSpPr>
        <p:spPr>
          <a:xfrm>
            <a:off x="743578" y="1581150"/>
            <a:ext cx="61959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20719324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7" y="1580707"/>
            <a:ext cx="5999194" cy="4253024"/>
          </a:xfrm>
        </p:spPr>
        <p:txBody>
          <a:bodyPr>
            <a:noAutofit/>
          </a:bodyPr>
          <a:lstStyle>
            <a:lvl1pPr marL="0" indent="0" algn="l">
              <a:lnSpc>
                <a:spcPct val="100000"/>
              </a:lnSpc>
              <a:spcBef>
                <a:spcPts val="600"/>
              </a:spcBef>
              <a:buFont typeface="Arial" panose="020B0604020202020204" pitchFamily="34" charset="0"/>
              <a:buNone/>
              <a:defRPr sz="20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p>
        </p:txBody>
      </p:sp>
      <p:sp>
        <p:nvSpPr>
          <p:cNvPr id="7" name="Footer">
            <a:extLst>
              <a:ext uri="{FF2B5EF4-FFF2-40B4-BE49-F238E27FC236}">
                <a16:creationId xmlns:a16="http://schemas.microsoft.com/office/drawing/2014/main" id="{0570013D-3B1C-4AF8-AD98-AB90ACB2D259}"/>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2B6934A1-7BBA-4016-870B-731F27FB98E1}"/>
              </a:ext>
            </a:extLst>
          </p:cNvPr>
          <p:cNvSpPr>
            <a:spLocks noGrp="1"/>
          </p:cNvSpPr>
          <p:nvPr>
            <p:ph type="pic" sz="quarter" idx="16"/>
          </p:nvPr>
        </p:nvSpPr>
        <p:spPr>
          <a:xfrm>
            <a:off x="6846846" y="1581151"/>
            <a:ext cx="4562856" cy="2098751"/>
          </a:xfrm>
        </p:spPr>
        <p:txBody>
          <a:bodyPr/>
          <a:lstStyle/>
          <a:p>
            <a:endParaRPr lang="en-US" dirty="0"/>
          </a:p>
        </p:txBody>
      </p:sp>
      <p:sp>
        <p:nvSpPr>
          <p:cNvPr id="4" name="Picture Placeholder 3">
            <a:extLst>
              <a:ext uri="{FF2B5EF4-FFF2-40B4-BE49-F238E27FC236}">
                <a16:creationId xmlns:a16="http://schemas.microsoft.com/office/drawing/2014/main" id="{3ECEBE1D-025F-4B90-E515-0E08F23F3E85}"/>
              </a:ext>
            </a:extLst>
          </p:cNvPr>
          <p:cNvSpPr>
            <a:spLocks noGrp="1"/>
          </p:cNvSpPr>
          <p:nvPr>
            <p:ph type="pic" sz="quarter" idx="17"/>
          </p:nvPr>
        </p:nvSpPr>
        <p:spPr>
          <a:xfrm>
            <a:off x="6846846" y="3740149"/>
            <a:ext cx="4562856" cy="2103120"/>
          </a:xfrm>
        </p:spPr>
        <p:txBody>
          <a:bodyPr/>
          <a:lstStyle/>
          <a:p>
            <a:endParaRPr lang="en-US" dirty="0"/>
          </a:p>
        </p:txBody>
      </p:sp>
    </p:spTree>
    <p:extLst>
      <p:ext uri="{BB962C8B-B14F-4D97-AF65-F5344CB8AC3E}">
        <p14:creationId xmlns:p14="http://schemas.microsoft.com/office/powerpoint/2010/main" val="29966458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9366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71741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2164062"/>
            <a:ext cx="10711543" cy="3489977"/>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0" name="Footer">
            <a:extLst>
              <a:ext uri="{FF2B5EF4-FFF2-40B4-BE49-F238E27FC236}">
                <a16:creationId xmlns:a16="http://schemas.microsoft.com/office/drawing/2014/main" id="{9D76B700-6743-49A6-AB3E-162BD392333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4801315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0"/>
            <a:ext cx="5200024" cy="3562595"/>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59007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0"/>
            <a:ext cx="5200024" cy="3562595"/>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6"/>
            <a:ext cx="5200024" cy="34902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933825"/>
            <a:ext cx="5230812" cy="1555750"/>
          </a:xfrm>
        </p:spPr>
        <p:txBody>
          <a:bodyPr/>
          <a:lstStyle/>
          <a:p>
            <a:endParaRPr lang="en-US"/>
          </a:p>
        </p:txBody>
      </p:sp>
    </p:spTree>
    <p:extLst>
      <p:ext uri="{BB962C8B-B14F-4D97-AF65-F5344CB8AC3E}">
        <p14:creationId xmlns:p14="http://schemas.microsoft.com/office/powerpoint/2010/main" val="10667300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Comparison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86867"/>
            <a:ext cx="5200024" cy="292315"/>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926331"/>
            <a:ext cx="5200024" cy="1809242"/>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86867"/>
            <a:ext cx="5200024" cy="292316"/>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926331"/>
            <a:ext cx="5200024" cy="1809241"/>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669B0CE8-551A-4D26-B868-2B7B38256262}"/>
              </a:ext>
            </a:extLst>
          </p:cNvPr>
          <p:cNvSpPr>
            <a:spLocks noGrp="1"/>
          </p:cNvSpPr>
          <p:nvPr>
            <p:ph type="tbl" sz="quarter" idx="23"/>
          </p:nvPr>
        </p:nvSpPr>
        <p:spPr>
          <a:xfrm>
            <a:off x="6122988" y="3848766"/>
            <a:ext cx="5230812" cy="1555750"/>
          </a:xfrm>
        </p:spPr>
        <p:txBody>
          <a:bodyPr/>
          <a:lstStyle/>
          <a:p>
            <a:endParaRPr lang="en-US"/>
          </a:p>
        </p:txBody>
      </p:sp>
      <p:sp>
        <p:nvSpPr>
          <p:cNvPr id="10" name="Table Placeholder 4">
            <a:extLst>
              <a:ext uri="{FF2B5EF4-FFF2-40B4-BE49-F238E27FC236}">
                <a16:creationId xmlns:a16="http://schemas.microsoft.com/office/drawing/2014/main" id="{BFBD6013-A996-47C7-87DD-3ACE6A10E002}"/>
              </a:ext>
            </a:extLst>
          </p:cNvPr>
          <p:cNvSpPr>
            <a:spLocks noGrp="1"/>
          </p:cNvSpPr>
          <p:nvPr>
            <p:ph type="tbl" sz="quarter" idx="24"/>
          </p:nvPr>
        </p:nvSpPr>
        <p:spPr>
          <a:xfrm>
            <a:off x="722312" y="3848769"/>
            <a:ext cx="5230812" cy="1555750"/>
          </a:xfrm>
        </p:spPr>
        <p:txBody>
          <a:bodyPr/>
          <a:lstStyle/>
          <a:p>
            <a:endParaRPr lang="en-US"/>
          </a:p>
        </p:txBody>
      </p:sp>
    </p:spTree>
    <p:extLst>
      <p:ext uri="{BB962C8B-B14F-4D97-AF65-F5344CB8AC3E}">
        <p14:creationId xmlns:p14="http://schemas.microsoft.com/office/powerpoint/2010/main" val="1243244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Comparison with Bottom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1406630"/>
            <a:ext cx="5200024" cy="36221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843015"/>
            <a:ext cx="5200024" cy="218933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1406630"/>
            <a:ext cx="5200024" cy="36221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1843015"/>
            <a:ext cx="5200024" cy="2189339"/>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marL="0" marR="0" lvl="0" indent="0" algn="l" defTabSz="914400" rtl="0" eaLnBrk="1" fontAlgn="base" latinLnBrk="0" hangingPunct="1">
              <a:lnSpc>
                <a:spcPct val="90000"/>
              </a:lnSpc>
              <a:spcBef>
                <a:spcPts val="1000"/>
              </a:spcBef>
              <a:spcAft>
                <a:spcPct val="0"/>
              </a:spcAft>
              <a:buClr>
                <a:srgbClr val="004A78"/>
              </a:buClr>
              <a:buSzTx/>
              <a:buFont typeface="Arial" charset="0"/>
              <a:buNone/>
              <a:tabLst/>
              <a:defRPr/>
            </a:pPr>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932C6E39-4812-4C9F-8462-1DDCB1C8A9E1}"/>
              </a:ext>
            </a:extLst>
          </p:cNvPr>
          <p:cNvSpPr>
            <a:spLocks noGrp="1"/>
          </p:cNvSpPr>
          <p:nvPr>
            <p:ph type="pic" sz="quarter" idx="23"/>
          </p:nvPr>
        </p:nvSpPr>
        <p:spPr>
          <a:xfrm>
            <a:off x="3882454" y="4159772"/>
            <a:ext cx="4302177" cy="1746094"/>
          </a:xfrm>
        </p:spPr>
        <p:txBody>
          <a:bodyPr/>
          <a:lstStyle/>
          <a:p>
            <a:endParaRPr lang="en-US" dirty="0"/>
          </a:p>
        </p:txBody>
      </p:sp>
    </p:spTree>
    <p:extLst>
      <p:ext uri="{BB962C8B-B14F-4D97-AF65-F5344CB8AC3E}">
        <p14:creationId xmlns:p14="http://schemas.microsoft.com/office/powerpoint/2010/main" val="23818031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Comparison with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44690"/>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817245"/>
            <a:ext cx="5200024" cy="3076212"/>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44689"/>
            <a:ext cx="5200024"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817245"/>
            <a:ext cx="5200024" cy="3076212"/>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49990"/>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Tree>
    <p:extLst>
      <p:ext uri="{BB962C8B-B14F-4D97-AF65-F5344CB8AC3E}">
        <p14:creationId xmlns:p14="http://schemas.microsoft.com/office/powerpoint/2010/main" val="3989233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Comparison with Two Images and Top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5" y="2202162"/>
            <a:ext cx="5200024" cy="363831"/>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647133"/>
            <a:ext cx="5200024" cy="1612988"/>
          </a:xfrm>
        </p:spPr>
        <p:txBody>
          <a:bodyPr>
            <a:normAutofit/>
          </a:bodyPr>
          <a:lstStyle>
            <a:lvl1pPr marL="0" indent="0">
              <a:lnSpc>
                <a:spcPct val="100000"/>
              </a:lnSpc>
              <a:spcBef>
                <a:spcPts val="600"/>
              </a:spcBef>
              <a:buClr>
                <a:srgbClr val="004A78"/>
              </a:buClr>
              <a:buFont typeface="Arial" charset="0"/>
              <a:buNone/>
              <a:defRPr sz="20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a:t>
            </a:r>
            <a:endParaRPr lang="en-US" dirty="0"/>
          </a:p>
          <a:p>
            <a:pPr lvl="0"/>
            <a:r>
              <a:rPr lang="en-US" dirty="0"/>
              <a:t>d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1" name="Text Placeholder 5">
            <a:extLst>
              <a:ext uri="{FF2B5EF4-FFF2-40B4-BE49-F238E27FC236}">
                <a16:creationId xmlns:a16="http://schemas.microsoft.com/office/drawing/2014/main" id="{0AC24C91-37E1-4B91-8D52-7CF491B0013E}"/>
              </a:ext>
            </a:extLst>
          </p:cNvPr>
          <p:cNvSpPr>
            <a:spLocks noGrp="1"/>
          </p:cNvSpPr>
          <p:nvPr>
            <p:ph type="body" sz="quarter" idx="22" hasCustomPrompt="1"/>
          </p:nvPr>
        </p:nvSpPr>
        <p:spPr>
          <a:xfrm>
            <a:off x="6122680" y="2202162"/>
            <a:ext cx="5200024" cy="363832"/>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4" name="Text Placeholder 3"/>
          <p:cNvSpPr>
            <a:spLocks noGrp="1"/>
          </p:cNvSpPr>
          <p:nvPr>
            <p:ph type="body" sz="quarter" idx="18" hasCustomPrompt="1"/>
          </p:nvPr>
        </p:nvSpPr>
        <p:spPr>
          <a:xfrm>
            <a:off x="6122680" y="2647133"/>
            <a:ext cx="5200024" cy="1612988"/>
          </a:xfrm>
        </p:spPr>
        <p:txBody>
          <a:bodyPr>
            <a:normAutofit/>
          </a:bodyPr>
          <a:lstStyle>
            <a:lvl1pPr>
              <a:lnSpc>
                <a:spcPct val="100000"/>
              </a:lnSpc>
              <a:spcBef>
                <a:spcPts val="600"/>
              </a:spcBef>
              <a:buClr>
                <a:srgbClr val="004A78"/>
              </a:buClr>
              <a:defRPr sz="20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0" name="Text Placeholder 2">
            <a:extLst>
              <a:ext uri="{FF2B5EF4-FFF2-40B4-BE49-F238E27FC236}">
                <a16:creationId xmlns:a16="http://schemas.microsoft.com/office/drawing/2014/main" id="{EB608122-F2C9-4E86-9F56-B820F387CA18}"/>
              </a:ext>
            </a:extLst>
          </p:cNvPr>
          <p:cNvSpPr>
            <a:spLocks noGrp="1"/>
          </p:cNvSpPr>
          <p:nvPr>
            <p:ph type="body" sz="quarter" idx="16" hasCustomPrompt="1"/>
          </p:nvPr>
        </p:nvSpPr>
        <p:spPr>
          <a:xfrm>
            <a:off x="740228" y="1307462"/>
            <a:ext cx="10711543" cy="825500"/>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20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dirty="0"/>
              <a:t>Click to add content.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a:t>
            </a:r>
            <a:endPar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endParaRPr>
          </a:p>
        </p:txBody>
      </p:sp>
      <p:sp>
        <p:nvSpPr>
          <p:cNvPr id="5" name="Picture Placeholder 4">
            <a:extLst>
              <a:ext uri="{FF2B5EF4-FFF2-40B4-BE49-F238E27FC236}">
                <a16:creationId xmlns:a16="http://schemas.microsoft.com/office/drawing/2014/main" id="{81A3663D-1B8C-C824-C7CF-41B9E80BDD28}"/>
              </a:ext>
            </a:extLst>
          </p:cNvPr>
          <p:cNvSpPr>
            <a:spLocks noGrp="1"/>
          </p:cNvSpPr>
          <p:nvPr>
            <p:ph type="pic" sz="quarter" idx="23"/>
          </p:nvPr>
        </p:nvSpPr>
        <p:spPr>
          <a:xfrm>
            <a:off x="742950" y="4316747"/>
            <a:ext cx="5200650" cy="1612900"/>
          </a:xfrm>
        </p:spPr>
        <p:txBody>
          <a:bodyPr/>
          <a:lstStyle/>
          <a:p>
            <a:endParaRPr lang="en-US"/>
          </a:p>
        </p:txBody>
      </p:sp>
      <p:sp>
        <p:nvSpPr>
          <p:cNvPr id="12" name="Picture Placeholder 4">
            <a:extLst>
              <a:ext uri="{FF2B5EF4-FFF2-40B4-BE49-F238E27FC236}">
                <a16:creationId xmlns:a16="http://schemas.microsoft.com/office/drawing/2014/main" id="{BD70375B-824A-4FDD-8853-6162FA066C41}"/>
              </a:ext>
            </a:extLst>
          </p:cNvPr>
          <p:cNvSpPr>
            <a:spLocks noGrp="1"/>
          </p:cNvSpPr>
          <p:nvPr>
            <p:ph type="pic" sz="quarter" idx="24"/>
          </p:nvPr>
        </p:nvSpPr>
        <p:spPr>
          <a:xfrm>
            <a:off x="6122054" y="4316747"/>
            <a:ext cx="5200650" cy="1612900"/>
          </a:xfrm>
        </p:spPr>
        <p:txBody>
          <a:bodyPr/>
          <a:lstStyle/>
          <a:p>
            <a:endParaRPr lang="en-US"/>
          </a:p>
        </p:txBody>
      </p:sp>
    </p:spTree>
    <p:extLst>
      <p:ext uri="{BB962C8B-B14F-4D97-AF65-F5344CB8AC3E}">
        <p14:creationId xmlns:p14="http://schemas.microsoft.com/office/powerpoint/2010/main" val="15464162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with Sec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4"/>
            <a:ext cx="5200024" cy="3562595"/>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794530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 with Section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2141814"/>
            <a:ext cx="5200024" cy="35625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Tree>
    <p:extLst>
      <p:ext uri="{BB962C8B-B14F-4D97-AF65-F5344CB8AC3E}">
        <p14:creationId xmlns:p14="http://schemas.microsoft.com/office/powerpoint/2010/main" val="83804553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664494"/>
            <a:ext cx="5200024" cy="1793081"/>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521869"/>
            <a:ext cx="5200024" cy="2141136"/>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664494"/>
            <a:ext cx="5267325" cy="3998119"/>
          </a:xfrm>
        </p:spPr>
        <p:txBody>
          <a:bodyPr/>
          <a:lstStyle/>
          <a:p>
            <a:endParaRPr lang="en-US"/>
          </a:p>
        </p:txBody>
      </p:sp>
    </p:spTree>
    <p:extLst>
      <p:ext uri="{BB962C8B-B14F-4D97-AF65-F5344CB8AC3E}">
        <p14:creationId xmlns:p14="http://schemas.microsoft.com/office/powerpoint/2010/main" val="399152231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4" y="151805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2141815"/>
            <a:ext cx="5200024"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2141538"/>
            <a:ext cx="5267325" cy="3521075"/>
          </a:xfrm>
        </p:spPr>
        <p:txBody>
          <a:bodyPr/>
          <a:lstStyle/>
          <a:p>
            <a:endParaRPr lang="en-US"/>
          </a:p>
        </p:txBody>
      </p:sp>
    </p:spTree>
    <p:extLst>
      <p:ext uri="{BB962C8B-B14F-4D97-AF65-F5344CB8AC3E}">
        <p14:creationId xmlns:p14="http://schemas.microsoft.com/office/powerpoint/2010/main" val="37706701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s with Section,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542E2FD-95B9-4097-A050-23445A4F14AF}"/>
              </a:ext>
            </a:extLst>
          </p:cNvPr>
          <p:cNvSpPr>
            <a:spLocks noGrp="1"/>
          </p:cNvSpPr>
          <p:nvPr>
            <p:ph type="body" sz="quarter" idx="21" hasCustomPrompt="1"/>
          </p:nvPr>
        </p:nvSpPr>
        <p:spPr>
          <a:xfrm>
            <a:off x="743572" y="3486150"/>
            <a:ext cx="5200026" cy="398279"/>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ext Placeholder 3"/>
          <p:cNvSpPr>
            <a:spLocks noGrp="1"/>
          </p:cNvSpPr>
          <p:nvPr>
            <p:ph type="body" sz="quarter" idx="15" hasCustomPrompt="1"/>
          </p:nvPr>
        </p:nvSpPr>
        <p:spPr>
          <a:xfrm>
            <a:off x="743576" y="1518057"/>
            <a:ext cx="5200024" cy="1873930"/>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1"/>
            <a:ext cx="5200024" cy="1742614"/>
          </a:xfrm>
        </p:spPr>
        <p:txBody>
          <a:bodyPr/>
          <a:lstStyle/>
          <a:p>
            <a:endParaRPr lang="en-US" dirty="0"/>
          </a:p>
        </p:txBody>
      </p:sp>
      <p:sp>
        <p:nvSpPr>
          <p:cNvPr id="6" name="Picture Placeholder 5">
            <a:extLst>
              <a:ext uri="{FF2B5EF4-FFF2-40B4-BE49-F238E27FC236}">
                <a16:creationId xmlns:a16="http://schemas.microsoft.com/office/drawing/2014/main" id="{E6DBC352-4EC3-4444-88AA-46EC23FA4DCF}"/>
              </a:ext>
            </a:extLst>
          </p:cNvPr>
          <p:cNvSpPr>
            <a:spLocks noGrp="1"/>
          </p:cNvSpPr>
          <p:nvPr>
            <p:ph type="pic" sz="quarter" idx="23"/>
          </p:nvPr>
        </p:nvSpPr>
        <p:spPr>
          <a:xfrm>
            <a:off x="6072187" y="1518056"/>
            <a:ext cx="5267325" cy="2296707"/>
          </a:xfrm>
        </p:spPr>
        <p:txBody>
          <a:bodyPr/>
          <a:lstStyle/>
          <a:p>
            <a:endParaRPr lang="en-US" dirty="0"/>
          </a:p>
        </p:txBody>
      </p:sp>
      <p:sp>
        <p:nvSpPr>
          <p:cNvPr id="8" name="Text Placeholder 3">
            <a:extLst>
              <a:ext uri="{FF2B5EF4-FFF2-40B4-BE49-F238E27FC236}">
                <a16:creationId xmlns:a16="http://schemas.microsoft.com/office/drawing/2014/main" id="{132852D7-7305-4783-BC51-A96CDD825281}"/>
              </a:ext>
            </a:extLst>
          </p:cNvPr>
          <p:cNvSpPr>
            <a:spLocks noGrp="1"/>
          </p:cNvSpPr>
          <p:nvPr>
            <p:ph type="body" sz="quarter" idx="24" hasCustomPrompt="1"/>
          </p:nvPr>
        </p:nvSpPr>
        <p:spPr>
          <a:xfrm>
            <a:off x="6072187" y="3942432"/>
            <a:ext cx="5250516" cy="1742614"/>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Tree>
    <p:extLst>
      <p:ext uri="{BB962C8B-B14F-4D97-AF65-F5344CB8AC3E}">
        <p14:creationId xmlns:p14="http://schemas.microsoft.com/office/powerpoint/2010/main" val="156288484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with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93194" y="1650311"/>
            <a:ext cx="5150404" cy="2134879"/>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a:t>
            </a:r>
          </a:p>
        </p:txBody>
      </p:sp>
      <p:sp>
        <p:nvSpPr>
          <p:cNvPr id="14" name="Text Placeholder 3"/>
          <p:cNvSpPr>
            <a:spLocks noGrp="1"/>
          </p:cNvSpPr>
          <p:nvPr>
            <p:ph type="body" sz="quarter" idx="18" hasCustomPrompt="1"/>
          </p:nvPr>
        </p:nvSpPr>
        <p:spPr>
          <a:xfrm>
            <a:off x="6122680" y="1658680"/>
            <a:ext cx="5200024" cy="4045730"/>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743574" y="3920390"/>
            <a:ext cx="5200024" cy="1784019"/>
          </a:xfrm>
        </p:spPr>
        <p:txBody>
          <a:bodyPr/>
          <a:lstStyle/>
          <a:p>
            <a:endParaRPr lang="en-US" dirty="0"/>
          </a:p>
        </p:txBody>
      </p:sp>
    </p:spTree>
    <p:extLst>
      <p:ext uri="{BB962C8B-B14F-4D97-AF65-F5344CB8AC3E}">
        <p14:creationId xmlns:p14="http://schemas.microsoft.com/office/powerpoint/2010/main" val="27378974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wo Content with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
        <p:nvSpPr>
          <p:cNvPr id="8" name="Picture Placeholder 5">
            <a:extLst>
              <a:ext uri="{FF2B5EF4-FFF2-40B4-BE49-F238E27FC236}">
                <a16:creationId xmlns:a16="http://schemas.microsoft.com/office/drawing/2014/main" id="{61FEC39F-B328-4CE7-2F1D-35822585607B}"/>
              </a:ext>
            </a:extLst>
          </p:cNvPr>
          <p:cNvSpPr>
            <a:spLocks noGrp="1"/>
          </p:cNvSpPr>
          <p:nvPr>
            <p:ph type="pic" sz="quarter" idx="24"/>
          </p:nvPr>
        </p:nvSpPr>
        <p:spPr>
          <a:xfrm>
            <a:off x="6058884" y="3699589"/>
            <a:ext cx="5199062" cy="2048750"/>
          </a:xfrm>
        </p:spPr>
        <p:txBody>
          <a:bodyPr/>
          <a:lstStyle/>
          <a:p>
            <a:endParaRPr lang="en-US"/>
          </a:p>
        </p:txBody>
      </p:sp>
    </p:spTree>
    <p:extLst>
      <p:ext uri="{BB962C8B-B14F-4D97-AF65-F5344CB8AC3E}">
        <p14:creationId xmlns:p14="http://schemas.microsoft.com/office/powerpoint/2010/main" val="1490737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Content with Imag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6" name="Picture Placeholder 5">
            <a:extLst>
              <a:ext uri="{FF2B5EF4-FFF2-40B4-BE49-F238E27FC236}">
                <a16:creationId xmlns:a16="http://schemas.microsoft.com/office/drawing/2014/main" id="{7AA9C5A4-F6E1-4AC4-ABB3-A6B1A6CDECC6}"/>
              </a:ext>
            </a:extLst>
          </p:cNvPr>
          <p:cNvSpPr>
            <a:spLocks noGrp="1"/>
          </p:cNvSpPr>
          <p:nvPr>
            <p:ph type="pic" sz="quarter" idx="23"/>
          </p:nvPr>
        </p:nvSpPr>
        <p:spPr>
          <a:xfrm>
            <a:off x="743576" y="3699589"/>
            <a:ext cx="5199062" cy="2048750"/>
          </a:xfrm>
        </p:spPr>
        <p:txBody>
          <a:bodyPr/>
          <a:lstStyle/>
          <a:p>
            <a:endParaRPr lang="en-US"/>
          </a:p>
        </p:txBody>
      </p:sp>
    </p:spTree>
    <p:extLst>
      <p:ext uri="{BB962C8B-B14F-4D97-AF65-F5344CB8AC3E}">
        <p14:creationId xmlns:p14="http://schemas.microsoft.com/office/powerpoint/2010/main" val="301307634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wo Content with Two Tabl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31089"/>
            <a:ext cx="5200024" cy="2105246"/>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058884" y="1531089"/>
            <a:ext cx="5200024" cy="2105246"/>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Table Placeholder 4">
            <a:extLst>
              <a:ext uri="{FF2B5EF4-FFF2-40B4-BE49-F238E27FC236}">
                <a16:creationId xmlns:a16="http://schemas.microsoft.com/office/drawing/2014/main" id="{5146E2AD-8FA1-4555-8FAA-A3BA850C16F5}"/>
              </a:ext>
            </a:extLst>
          </p:cNvPr>
          <p:cNvSpPr>
            <a:spLocks noGrp="1"/>
          </p:cNvSpPr>
          <p:nvPr>
            <p:ph type="tbl" sz="quarter" idx="22"/>
          </p:nvPr>
        </p:nvSpPr>
        <p:spPr>
          <a:xfrm>
            <a:off x="6058884" y="3700130"/>
            <a:ext cx="5200024" cy="2048208"/>
          </a:xfrm>
        </p:spPr>
        <p:txBody>
          <a:bodyPr/>
          <a:lstStyle/>
          <a:p>
            <a:endParaRPr lang="en-US" dirty="0"/>
          </a:p>
        </p:txBody>
      </p:sp>
      <p:sp>
        <p:nvSpPr>
          <p:cNvPr id="7" name="Table Placeholder 6">
            <a:extLst>
              <a:ext uri="{FF2B5EF4-FFF2-40B4-BE49-F238E27FC236}">
                <a16:creationId xmlns:a16="http://schemas.microsoft.com/office/drawing/2014/main" id="{56099177-DEE6-411F-9E87-D1D3CED5105A}"/>
              </a:ext>
            </a:extLst>
          </p:cNvPr>
          <p:cNvSpPr>
            <a:spLocks noGrp="1"/>
          </p:cNvSpPr>
          <p:nvPr>
            <p:ph type="tbl" sz="quarter" idx="23"/>
          </p:nvPr>
        </p:nvSpPr>
        <p:spPr>
          <a:xfrm>
            <a:off x="742950" y="3714347"/>
            <a:ext cx="5200650" cy="2033991"/>
          </a:xfrm>
        </p:spPr>
        <p:txBody>
          <a:bodyPr/>
          <a:lstStyle/>
          <a:p>
            <a:endParaRPr lang="en-US"/>
          </a:p>
        </p:txBody>
      </p:sp>
    </p:spTree>
    <p:extLst>
      <p:ext uri="{BB962C8B-B14F-4D97-AF65-F5344CB8AC3E}">
        <p14:creationId xmlns:p14="http://schemas.microsoft.com/office/powerpoint/2010/main" val="13328300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wo Columns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3770152"/>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 Fermentum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4" name="Text Placeholder 3"/>
          <p:cNvSpPr>
            <a:spLocks noGrp="1"/>
          </p:cNvSpPr>
          <p:nvPr>
            <p:ph type="body" sz="quarter" idx="18" hasCustomPrompt="1"/>
          </p:nvPr>
        </p:nvSpPr>
        <p:spPr>
          <a:xfrm>
            <a:off x="6122680" y="1596326"/>
            <a:ext cx="5200024" cy="3770153"/>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8278831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lumns Content with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1596327"/>
            <a:ext cx="5200024" cy="2008808"/>
          </a:xfrm>
        </p:spPr>
        <p:txBody>
          <a:bodyPr>
            <a:normAutofit/>
          </a:bodyPr>
          <a:lstStyle>
            <a:lvl1pPr marL="0" indent="0">
              <a:lnSpc>
                <a:spcPct val="100000"/>
              </a:lnSpc>
              <a:spcBef>
                <a:spcPts val="600"/>
              </a:spcBef>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1596326"/>
            <a:ext cx="5200024" cy="4144907"/>
          </a:xfrm>
        </p:spPr>
        <p:txBody>
          <a:bodyPr>
            <a:normAutofit/>
          </a:bodyPr>
          <a:lstStyle>
            <a:lvl1pPr>
              <a:lnSpc>
                <a:spcPct val="100000"/>
              </a:lnSpc>
              <a:spcBef>
                <a:spcPts val="600"/>
              </a:spcBef>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3695700"/>
            <a:ext cx="5200650" cy="2046288"/>
          </a:xfrm>
        </p:spPr>
        <p:txBody>
          <a:bodyPr/>
          <a:lstStyle/>
          <a:p>
            <a:endParaRPr lang="en-US"/>
          </a:p>
        </p:txBody>
      </p:sp>
    </p:spTree>
    <p:extLst>
      <p:ext uri="{BB962C8B-B14F-4D97-AF65-F5344CB8AC3E}">
        <p14:creationId xmlns:p14="http://schemas.microsoft.com/office/powerpoint/2010/main" val="73875027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s Content with SEction and Imag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5" hasCustomPrompt="1"/>
          </p:nvPr>
        </p:nvSpPr>
        <p:spPr>
          <a:xfrm>
            <a:off x="743576" y="2143462"/>
            <a:ext cx="5200024" cy="200880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sed </a:t>
            </a:r>
            <a:r>
              <a:rPr lang="en-US" dirty="0" err="1"/>
              <a:t>euismod</a:t>
            </a:r>
            <a:r>
              <a:rPr lang="en-US" dirty="0"/>
              <a:t> nisi porta lorem.</a:t>
            </a:r>
          </a:p>
        </p:txBody>
      </p:sp>
      <p:sp>
        <p:nvSpPr>
          <p:cNvPr id="14" name="Text Placeholder 3"/>
          <p:cNvSpPr>
            <a:spLocks noGrp="1"/>
          </p:cNvSpPr>
          <p:nvPr>
            <p:ph type="body" sz="quarter" idx="18" hasCustomPrompt="1"/>
          </p:nvPr>
        </p:nvSpPr>
        <p:spPr>
          <a:xfrm>
            <a:off x="6122680" y="2143461"/>
            <a:ext cx="5200024" cy="3710195"/>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13" name="Footer">
            <a:extLst>
              <a:ext uri="{FF2B5EF4-FFF2-40B4-BE49-F238E27FC236}">
                <a16:creationId xmlns:a16="http://schemas.microsoft.com/office/drawing/2014/main" id="{C32D58F0-8CFB-431E-8C5F-ADDA41A34DC5}"/>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5" name="Picture Placeholder 4">
            <a:extLst>
              <a:ext uri="{FF2B5EF4-FFF2-40B4-BE49-F238E27FC236}">
                <a16:creationId xmlns:a16="http://schemas.microsoft.com/office/drawing/2014/main" id="{4BBC8357-3E99-4156-9AE6-DD43579C6DDA}"/>
              </a:ext>
            </a:extLst>
          </p:cNvPr>
          <p:cNvSpPr>
            <a:spLocks noGrp="1"/>
          </p:cNvSpPr>
          <p:nvPr>
            <p:ph type="pic" sz="quarter" idx="19"/>
          </p:nvPr>
        </p:nvSpPr>
        <p:spPr>
          <a:xfrm>
            <a:off x="742950" y="4242835"/>
            <a:ext cx="5200650" cy="1610821"/>
          </a:xfrm>
        </p:spPr>
        <p:txBody>
          <a:bodyPr/>
          <a:lstStyle/>
          <a:p>
            <a:endParaRPr lang="en-US"/>
          </a:p>
        </p:txBody>
      </p:sp>
      <p:sp>
        <p:nvSpPr>
          <p:cNvPr id="7" name="Text Placeholder 5">
            <a:extLst>
              <a:ext uri="{FF2B5EF4-FFF2-40B4-BE49-F238E27FC236}">
                <a16:creationId xmlns:a16="http://schemas.microsoft.com/office/drawing/2014/main" id="{8444C66A-1B54-4533-8FE1-8117CA7502E1}"/>
              </a:ext>
            </a:extLst>
          </p:cNvPr>
          <p:cNvSpPr>
            <a:spLocks noGrp="1"/>
          </p:cNvSpPr>
          <p:nvPr>
            <p:ph type="body" sz="quarter" idx="21" hasCustomPrompt="1"/>
          </p:nvPr>
        </p:nvSpPr>
        <p:spPr>
          <a:xfrm>
            <a:off x="743574" y="1593005"/>
            <a:ext cx="10579129"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Tree>
    <p:extLst>
      <p:ext uri="{BB962C8B-B14F-4D97-AF65-F5344CB8AC3E}">
        <p14:creationId xmlns:p14="http://schemas.microsoft.com/office/powerpoint/2010/main" val="41496303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516101"/>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516101"/>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1" name="Footer">
            <a:extLst>
              <a:ext uri="{FF2B5EF4-FFF2-40B4-BE49-F238E27FC236}">
                <a16:creationId xmlns:a16="http://schemas.microsoft.com/office/drawing/2014/main" id="{3EABB9F7-0E63-4C11-89F0-5D4EE5D0E201}"/>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3771846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ln>
                  <a:solidFill>
                    <a:srgbClr val="000000"/>
                  </a:solidFill>
                </a:ln>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 et dolore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95AC73A5-F85D-40B2-8EEE-19F048BABEE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4748055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410347"/>
            <a:ext cx="10721999" cy="416904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54601417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8711927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mage and Two_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33118" y="1620838"/>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2538376"/>
            <a:ext cx="10620681" cy="190926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733116" y="4578244"/>
            <a:ext cx="10620682" cy="83707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90823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wo Sections Two Columns and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6124352" y="3600893"/>
            <a:ext cx="5257798" cy="2147777"/>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7"/>
            <a:ext cx="5362882"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6"/>
            <a:ext cx="5259470" cy="492443"/>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1">
            <a:extLst>
              <a:ext uri="{FF2B5EF4-FFF2-40B4-BE49-F238E27FC236}">
                <a16:creationId xmlns:a16="http://schemas.microsoft.com/office/drawing/2014/main" id="{2A755FF3-A642-6FDA-A1ED-D43743042AD8}"/>
              </a:ext>
            </a:extLst>
          </p:cNvPr>
          <p:cNvSpPr>
            <a:spLocks noGrp="1"/>
          </p:cNvSpPr>
          <p:nvPr>
            <p:ph type="body" sz="quarter" idx="15" hasCustomPrompt="1"/>
          </p:nvPr>
        </p:nvSpPr>
        <p:spPr>
          <a:xfrm>
            <a:off x="704766" y="2092271"/>
            <a:ext cx="5362883" cy="3656399"/>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a:t>
            </a:r>
            <a:r>
              <a:rPr lang="en-US" dirty="0" err="1"/>
              <a:t>lacus</a:t>
            </a:r>
            <a:r>
              <a:rPr lang="en-US" dirty="0"/>
              <a:t>.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sociis.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13" name="Text Placeholder 1">
            <a:extLst>
              <a:ext uri="{FF2B5EF4-FFF2-40B4-BE49-F238E27FC236}">
                <a16:creationId xmlns:a16="http://schemas.microsoft.com/office/drawing/2014/main" id="{8CAAF508-1A88-756B-0297-754CC6EED50B}"/>
              </a:ext>
            </a:extLst>
          </p:cNvPr>
          <p:cNvSpPr>
            <a:spLocks noGrp="1"/>
          </p:cNvSpPr>
          <p:nvPr>
            <p:ph type="body" sz="quarter" idx="23" hasCustomPrompt="1"/>
          </p:nvPr>
        </p:nvSpPr>
        <p:spPr>
          <a:xfrm>
            <a:off x="6124352" y="2092272"/>
            <a:ext cx="5257798" cy="1508622"/>
          </a:xfrm>
        </p:spPr>
        <p:txBody>
          <a:bodyPr>
            <a:noAutofit/>
          </a:bodyPr>
          <a:lstStyle>
            <a:lvl1pPr marL="0" indent="0" algn="l">
              <a:buFont typeface="Arial" panose="020B0604020202020204" pitchFamily="34" charset="0"/>
              <a:buNone/>
              <a:defRPr sz="20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p>
        </p:txBody>
      </p:sp>
    </p:spTree>
    <p:extLst>
      <p:ext uri="{BB962C8B-B14F-4D97-AF65-F5344CB8AC3E}">
        <p14:creationId xmlns:p14="http://schemas.microsoft.com/office/powerpoint/2010/main" val="26134631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Sections Two Columns, Image and Tabl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704766" y="1972220"/>
            <a:ext cx="5362882"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501657"/>
            <a:ext cx="5257798" cy="2147777"/>
          </a:xfrm>
        </p:spPr>
        <p:txBody>
          <a:bodyPr/>
          <a:lstStyle/>
          <a:p>
            <a:r>
              <a:rPr lang="en-US" dirty="0"/>
              <a:t>Click icon to </a:t>
            </a:r>
            <a:r>
              <a:rPr lang="en-US"/>
              <a:t>add picture</a:t>
            </a:r>
            <a:endParaRPr lang="en-US" dirty="0"/>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57798" cy="14586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704766" y="1536488"/>
            <a:ext cx="5362882"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2680" y="1536487"/>
            <a:ext cx="5259470"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4" name="Table Placeholder 3">
            <a:extLst>
              <a:ext uri="{FF2B5EF4-FFF2-40B4-BE49-F238E27FC236}">
                <a16:creationId xmlns:a16="http://schemas.microsoft.com/office/drawing/2014/main" id="{0E11B547-DCBC-47EE-ADDA-185E1B56A831}"/>
              </a:ext>
            </a:extLst>
          </p:cNvPr>
          <p:cNvSpPr>
            <a:spLocks noGrp="1"/>
          </p:cNvSpPr>
          <p:nvPr>
            <p:ph type="tbl" sz="quarter" idx="23"/>
          </p:nvPr>
        </p:nvSpPr>
        <p:spPr>
          <a:xfrm>
            <a:off x="704766" y="3501657"/>
            <a:ext cx="5362882" cy="2147777"/>
          </a:xfrm>
        </p:spPr>
        <p:txBody>
          <a:bodyPr/>
          <a:lstStyle/>
          <a:p>
            <a:endParaRPr lang="en-US"/>
          </a:p>
        </p:txBody>
      </p:sp>
    </p:spTree>
    <p:extLst>
      <p:ext uri="{BB962C8B-B14F-4D97-AF65-F5344CB8AC3E}">
        <p14:creationId xmlns:p14="http://schemas.microsoft.com/office/powerpoint/2010/main" val="158308465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Sections Two Columns and Two Imag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0" name="Text Placeholder 9"/>
          <p:cNvSpPr>
            <a:spLocks noGrp="1"/>
          </p:cNvSpPr>
          <p:nvPr>
            <p:ph type="body" sz="quarter" idx="11" hasCustomPrompt="1"/>
          </p:nvPr>
        </p:nvSpPr>
        <p:spPr>
          <a:xfrm>
            <a:off x="830893"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6124352" y="3728545"/>
            <a:ext cx="5212080" cy="2215055"/>
          </a:xfrm>
        </p:spPr>
        <p:txBody>
          <a:bodyPr/>
          <a:lstStyle/>
          <a:p>
            <a:r>
              <a:rPr lang="en-US" dirty="0"/>
              <a:t>Click icon to add picture</a:t>
            </a:r>
          </a:p>
        </p:txBody>
      </p:sp>
      <p:sp>
        <p:nvSpPr>
          <p:cNvPr id="8" name="Text Placeholder 9">
            <a:extLst>
              <a:ext uri="{FF2B5EF4-FFF2-40B4-BE49-F238E27FC236}">
                <a16:creationId xmlns:a16="http://schemas.microsoft.com/office/drawing/2014/main" id="{10FB200A-F692-41F0-90CC-375B18C05D31}"/>
              </a:ext>
            </a:extLst>
          </p:cNvPr>
          <p:cNvSpPr>
            <a:spLocks noGrp="1"/>
          </p:cNvSpPr>
          <p:nvPr>
            <p:ph type="body" sz="quarter" idx="12" hasCustomPrompt="1"/>
          </p:nvPr>
        </p:nvSpPr>
        <p:spPr>
          <a:xfrm>
            <a:off x="6124352" y="1972220"/>
            <a:ext cx="5212080" cy="16932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9" name="Text Placeholder 5">
            <a:extLst>
              <a:ext uri="{FF2B5EF4-FFF2-40B4-BE49-F238E27FC236}">
                <a16:creationId xmlns:a16="http://schemas.microsoft.com/office/drawing/2014/main" id="{0F2BA215-4436-45C0-A4AD-325A0A9D08CA}"/>
              </a:ext>
            </a:extLst>
          </p:cNvPr>
          <p:cNvSpPr>
            <a:spLocks noGrp="1"/>
          </p:cNvSpPr>
          <p:nvPr>
            <p:ph type="body" sz="quarter" idx="21" hasCustomPrompt="1"/>
          </p:nvPr>
        </p:nvSpPr>
        <p:spPr>
          <a:xfrm>
            <a:off x="838200" y="1536488"/>
            <a:ext cx="5204773"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marL="0" marR="0" lvl="0" indent="0" algn="l" defTabSz="914400" rtl="0" eaLnBrk="1" fontAlgn="base" latinLnBrk="0" hangingPunct="1">
              <a:lnSpc>
                <a:spcPct val="90000"/>
              </a:lnSpc>
              <a:spcBef>
                <a:spcPts val="1000"/>
              </a:spcBef>
              <a:spcAft>
                <a:spcPct val="0"/>
              </a:spcAft>
              <a:buClrTx/>
              <a:buSzTx/>
              <a:buFont typeface="Arial" charset="0"/>
              <a:buNone/>
              <a:tabLst/>
              <a:defRPr/>
            </a:pPr>
            <a:r>
              <a:rPr lang="en-US" dirty="0"/>
              <a:t>Section Header</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p:txBody>
      </p:sp>
      <p:sp>
        <p:nvSpPr>
          <p:cNvPr id="11" name="Text Placeholder 5">
            <a:extLst>
              <a:ext uri="{FF2B5EF4-FFF2-40B4-BE49-F238E27FC236}">
                <a16:creationId xmlns:a16="http://schemas.microsoft.com/office/drawing/2014/main" id="{FD16F9F0-2F6A-4A5C-9862-9C1B7C28E084}"/>
              </a:ext>
            </a:extLst>
          </p:cNvPr>
          <p:cNvSpPr>
            <a:spLocks noGrp="1"/>
          </p:cNvSpPr>
          <p:nvPr>
            <p:ph type="body" sz="quarter" idx="22" hasCustomPrompt="1"/>
          </p:nvPr>
        </p:nvSpPr>
        <p:spPr>
          <a:xfrm>
            <a:off x="6124352" y="1536487"/>
            <a:ext cx="5229448" cy="334844"/>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Picture Placeholder 5">
            <a:extLst>
              <a:ext uri="{FF2B5EF4-FFF2-40B4-BE49-F238E27FC236}">
                <a16:creationId xmlns:a16="http://schemas.microsoft.com/office/drawing/2014/main" id="{8E149885-95F1-5549-F19E-AFD2164B0405}"/>
              </a:ext>
            </a:extLst>
          </p:cNvPr>
          <p:cNvSpPr>
            <a:spLocks noGrp="1"/>
          </p:cNvSpPr>
          <p:nvPr>
            <p:ph type="pic" sz="quarter" idx="23"/>
          </p:nvPr>
        </p:nvSpPr>
        <p:spPr>
          <a:xfrm>
            <a:off x="830893" y="3728545"/>
            <a:ext cx="5212080" cy="2215054"/>
          </a:xfrm>
        </p:spPr>
        <p:txBody>
          <a:bodyPr/>
          <a:lstStyle/>
          <a:p>
            <a:r>
              <a:rPr lang="en-US" dirty="0"/>
              <a:t>Click icon to add picture</a:t>
            </a:r>
          </a:p>
        </p:txBody>
      </p:sp>
    </p:spTree>
    <p:extLst>
      <p:ext uri="{BB962C8B-B14F-4D97-AF65-F5344CB8AC3E}">
        <p14:creationId xmlns:p14="http://schemas.microsoft.com/office/powerpoint/2010/main" val="366584973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Section with Image">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987827"/>
            <a:ext cx="10721999" cy="3890994"/>
          </a:xfrm>
        </p:spPr>
        <p:txBody>
          <a:bodyPr/>
          <a:lstStyle/>
          <a:p>
            <a:r>
              <a:rPr lang="en-US" dirty="0"/>
              <a:t>Click icon to </a:t>
            </a:r>
            <a:r>
              <a:rPr lang="en-US"/>
              <a:t>add picture</a:t>
            </a:r>
            <a:endParaRPr lang="en-US" dirty="0"/>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790217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Section with 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4" y="1535854"/>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8" y="1987827"/>
            <a:ext cx="6477000" cy="389099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401339" y="1987827"/>
            <a:ext cx="4054039" cy="389099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828578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mage with side-by-sid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Click to edit Master title style</a:t>
            </a:r>
          </a:p>
        </p:txBody>
      </p:sp>
      <p:sp>
        <p:nvSpPr>
          <p:cNvPr id="6" name="Picture Placeholder 5"/>
          <p:cNvSpPr>
            <a:spLocks noGrp="1"/>
          </p:cNvSpPr>
          <p:nvPr>
            <p:ph type="pic" sz="quarter" idx="10"/>
          </p:nvPr>
        </p:nvSpPr>
        <p:spPr>
          <a:xfrm>
            <a:off x="733118" y="1987827"/>
            <a:ext cx="10725764" cy="1561285"/>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8" y="3735092"/>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Text Placeholder 9">
            <a:extLst>
              <a:ext uri="{FF2B5EF4-FFF2-40B4-BE49-F238E27FC236}">
                <a16:creationId xmlns:a16="http://schemas.microsoft.com/office/drawing/2014/main" id="{ABACDB79-AB3E-4609-A9BA-27CEE73B6C86}"/>
              </a:ext>
            </a:extLst>
          </p:cNvPr>
          <p:cNvSpPr>
            <a:spLocks noGrp="1"/>
          </p:cNvSpPr>
          <p:nvPr>
            <p:ph type="body" sz="quarter" idx="12" hasCustomPrompt="1"/>
          </p:nvPr>
        </p:nvSpPr>
        <p:spPr>
          <a:xfrm>
            <a:off x="6155410" y="3735091"/>
            <a:ext cx="5303472" cy="1836549"/>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9764216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wo Sections with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0653491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wo Sections, two Images and Two Bottom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2" name="Text Placeholder 9">
            <a:extLst>
              <a:ext uri="{FF2B5EF4-FFF2-40B4-BE49-F238E27FC236}">
                <a16:creationId xmlns:a16="http://schemas.microsoft.com/office/drawing/2014/main" id="{9009D503-6648-4D8F-BAC8-538B706D3C6A}"/>
              </a:ext>
            </a:extLst>
          </p:cNvPr>
          <p:cNvSpPr>
            <a:spLocks noGrp="1"/>
          </p:cNvSpPr>
          <p:nvPr>
            <p:ph type="body" sz="quarter" idx="18" hasCustomPrompt="1"/>
          </p:nvPr>
        </p:nvSpPr>
        <p:spPr>
          <a:xfrm>
            <a:off x="6096001"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labore</a:t>
            </a:r>
          </a:p>
        </p:txBody>
      </p:sp>
    </p:spTree>
    <p:extLst>
      <p:ext uri="{BB962C8B-B14F-4D97-AF65-F5344CB8AC3E}">
        <p14:creationId xmlns:p14="http://schemas.microsoft.com/office/powerpoint/2010/main" val="139893051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Section with 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1061022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20907285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wo Images and Bottom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67543"/>
            <a:ext cx="5253155" cy="3236932"/>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10722260"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Picture Placeholder 3">
            <a:extLst>
              <a:ext uri="{FF2B5EF4-FFF2-40B4-BE49-F238E27FC236}">
                <a16:creationId xmlns:a16="http://schemas.microsoft.com/office/drawing/2014/main" id="{5346247A-C507-4283-8B77-F8CF179C69D5}"/>
              </a:ext>
            </a:extLst>
          </p:cNvPr>
          <p:cNvSpPr>
            <a:spLocks noGrp="1"/>
          </p:cNvSpPr>
          <p:nvPr>
            <p:ph type="pic" sz="quarter" idx="12"/>
          </p:nvPr>
        </p:nvSpPr>
        <p:spPr>
          <a:xfrm>
            <a:off x="6237288" y="1566863"/>
            <a:ext cx="5257800" cy="3236912"/>
          </a:xfrm>
        </p:spPr>
        <p:txBody>
          <a:bodyPr/>
          <a:lstStyle/>
          <a:p>
            <a:endParaRPr lang="en-US"/>
          </a:p>
        </p:txBody>
      </p:sp>
    </p:spTree>
    <p:extLst>
      <p:ext uri="{BB962C8B-B14F-4D97-AF65-F5344CB8AC3E}">
        <p14:creationId xmlns:p14="http://schemas.microsoft.com/office/powerpoint/2010/main" val="1749308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7" y="1536437"/>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550570"/>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536437"/>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550569"/>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111647643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hree Images and Three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1" name="Picture Placeholder 5">
            <a:extLst>
              <a:ext uri="{FF2B5EF4-FFF2-40B4-BE49-F238E27FC236}">
                <a16:creationId xmlns:a16="http://schemas.microsoft.com/office/drawing/2014/main" id="{003A6136-F1E0-41CE-A954-E76F34185774}"/>
              </a:ext>
            </a:extLst>
          </p:cNvPr>
          <p:cNvSpPr>
            <a:spLocks noGrp="1"/>
          </p:cNvSpPr>
          <p:nvPr>
            <p:ph type="pic" sz="quarter" idx="19"/>
          </p:nvPr>
        </p:nvSpPr>
        <p:spPr>
          <a:xfrm>
            <a:off x="733119" y="1465594"/>
            <a:ext cx="5253155" cy="946378"/>
          </a:xfrm>
        </p:spPr>
        <p:txBody>
          <a:bodyPr/>
          <a:lstStyle/>
          <a:p>
            <a:r>
              <a:rPr lang="en-US" dirty="0"/>
              <a:t>Click icon to </a:t>
            </a:r>
            <a:r>
              <a:rPr lang="en-US"/>
              <a:t>add picture</a:t>
            </a:r>
            <a:endParaRPr lang="en-US" dirty="0"/>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2476928"/>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6" name="Picture Placeholder 5"/>
          <p:cNvSpPr>
            <a:spLocks noGrp="1"/>
          </p:cNvSpPr>
          <p:nvPr>
            <p:ph type="pic" sz="quarter" idx="10"/>
          </p:nvPr>
        </p:nvSpPr>
        <p:spPr>
          <a:xfrm>
            <a:off x="733117" y="3747538"/>
            <a:ext cx="5253155" cy="946378"/>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782915"/>
            <a:ext cx="5253153" cy="119457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465594"/>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482056"/>
            <a:ext cx="5253153" cy="1495436"/>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3260967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hree Contents and Three Table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13" name="Text Placeholder 9">
            <a:extLst>
              <a:ext uri="{FF2B5EF4-FFF2-40B4-BE49-F238E27FC236}">
                <a16:creationId xmlns:a16="http://schemas.microsoft.com/office/drawing/2014/main" id="{ADFA1A0F-71D5-4512-A4AA-C7B8F5DCC6CC}"/>
              </a:ext>
            </a:extLst>
          </p:cNvPr>
          <p:cNvSpPr>
            <a:spLocks noGrp="1"/>
          </p:cNvSpPr>
          <p:nvPr>
            <p:ph type="body" sz="quarter" idx="20" hasCustomPrompt="1"/>
          </p:nvPr>
        </p:nvSpPr>
        <p:spPr>
          <a:xfrm>
            <a:off x="733121" y="1564481"/>
            <a:ext cx="5253153" cy="2421732"/>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baseline="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0" name="Text Placeholder 9"/>
          <p:cNvSpPr>
            <a:spLocks noGrp="1"/>
          </p:cNvSpPr>
          <p:nvPr>
            <p:ph type="body" sz="quarter" idx="11" hasCustomPrompt="1"/>
          </p:nvPr>
        </p:nvSpPr>
        <p:spPr>
          <a:xfrm>
            <a:off x="6100647" y="1564481"/>
            <a:ext cx="5253153" cy="85010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5885" y="3603376"/>
            <a:ext cx="5253153" cy="875757"/>
          </a:xfrm>
        </p:spPr>
        <p:txBody>
          <a:bodyPr/>
          <a:lstStyle>
            <a:lvl1pPr marL="0" marR="0" indent="0" algn="l" defTabSz="914400" rtl="0" eaLnBrk="0" fontAlgn="base" latinLnBrk="0" hangingPunct="0">
              <a:lnSpc>
                <a:spcPct val="100000"/>
              </a:lnSpc>
              <a:spcBef>
                <a:spcPts val="600"/>
              </a:spcBef>
              <a:spcAft>
                <a:spcPct val="0"/>
              </a:spcAft>
              <a:buClrTx/>
              <a:buSzTx/>
              <a:buFontTx/>
              <a:buNone/>
              <a:tabLst/>
              <a:defRPr sz="1800">
                <a:solidFill>
                  <a:srgbClr val="000000"/>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15" name="Table Placeholder 14">
            <a:extLst>
              <a:ext uri="{FF2B5EF4-FFF2-40B4-BE49-F238E27FC236}">
                <a16:creationId xmlns:a16="http://schemas.microsoft.com/office/drawing/2014/main" id="{0FBB3941-1ADF-44A3-B3B6-B2B7D20C6039}"/>
              </a:ext>
            </a:extLst>
          </p:cNvPr>
          <p:cNvSpPr>
            <a:spLocks noGrp="1"/>
          </p:cNvSpPr>
          <p:nvPr>
            <p:ph type="tbl" sz="quarter" idx="21"/>
          </p:nvPr>
        </p:nvSpPr>
        <p:spPr>
          <a:xfrm>
            <a:off x="733425" y="4043362"/>
            <a:ext cx="5253038" cy="1529557"/>
          </a:xfrm>
        </p:spPr>
        <p:txBody>
          <a:bodyPr/>
          <a:lstStyle/>
          <a:p>
            <a:endParaRPr lang="en-US"/>
          </a:p>
        </p:txBody>
      </p:sp>
      <p:sp>
        <p:nvSpPr>
          <p:cNvPr id="16" name="Table Placeholder 14">
            <a:extLst>
              <a:ext uri="{FF2B5EF4-FFF2-40B4-BE49-F238E27FC236}">
                <a16:creationId xmlns:a16="http://schemas.microsoft.com/office/drawing/2014/main" id="{033851EA-E182-44EE-A6BD-2B5B5D8B927B}"/>
              </a:ext>
            </a:extLst>
          </p:cNvPr>
          <p:cNvSpPr>
            <a:spLocks noGrp="1"/>
          </p:cNvSpPr>
          <p:nvPr>
            <p:ph type="tbl" sz="quarter" idx="22"/>
          </p:nvPr>
        </p:nvSpPr>
        <p:spPr>
          <a:xfrm>
            <a:off x="6096000" y="2493172"/>
            <a:ext cx="5253038" cy="1021553"/>
          </a:xfrm>
        </p:spPr>
        <p:txBody>
          <a:bodyPr/>
          <a:lstStyle/>
          <a:p>
            <a:endParaRPr lang="en-US"/>
          </a:p>
        </p:txBody>
      </p:sp>
      <p:sp>
        <p:nvSpPr>
          <p:cNvPr id="17" name="Table Placeholder 14">
            <a:extLst>
              <a:ext uri="{FF2B5EF4-FFF2-40B4-BE49-F238E27FC236}">
                <a16:creationId xmlns:a16="http://schemas.microsoft.com/office/drawing/2014/main" id="{9F8070B9-5F3E-4727-90E8-3E47529B9B5A}"/>
              </a:ext>
            </a:extLst>
          </p:cNvPr>
          <p:cNvSpPr>
            <a:spLocks noGrp="1"/>
          </p:cNvSpPr>
          <p:nvPr>
            <p:ph type="tbl" sz="quarter" idx="23"/>
          </p:nvPr>
        </p:nvSpPr>
        <p:spPr>
          <a:xfrm>
            <a:off x="6093618" y="4560097"/>
            <a:ext cx="5253038" cy="1021553"/>
          </a:xfrm>
        </p:spPr>
        <p:txBody>
          <a:bodyPr/>
          <a:lstStyle/>
          <a:p>
            <a:endParaRPr lang="en-US"/>
          </a:p>
        </p:txBody>
      </p:sp>
    </p:spTree>
    <p:extLst>
      <p:ext uri="{BB962C8B-B14F-4D97-AF65-F5344CB8AC3E}">
        <p14:creationId xmlns:p14="http://schemas.microsoft.com/office/powerpoint/2010/main" val="281447604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10721999" cy="1514131"/>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733117" y="3856204"/>
            <a:ext cx="10721999" cy="151413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72795423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Two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0943475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Section Header and Two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1071154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146239" cy="3709063"/>
          </a:xfrm>
        </p:spPr>
        <p:txBody>
          <a:bodyPr/>
          <a:lstStyle/>
          <a:p>
            <a:r>
              <a:rPr lang="en-US" dirty="0"/>
              <a:t>Click icon to </a:t>
            </a:r>
            <a:r>
              <a:rPr lang="en-US"/>
              <a:t>add picture</a:t>
            </a:r>
            <a:endParaRPr lang="en-US" dirty="0"/>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709064"/>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9700963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ree Sections and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7"/>
            <a:ext cx="5146239" cy="1671834"/>
          </a:xfrm>
        </p:spPr>
        <p:txBody>
          <a:bodyPr/>
          <a:lstStyle/>
          <a:p>
            <a:r>
              <a:rPr lang="en-US" dirty="0"/>
              <a:t>Click icon to </a:t>
            </a:r>
            <a:r>
              <a:rPr lang="en-US"/>
              <a:t>add picture</a:t>
            </a:r>
            <a:endParaRPr lang="en-US" dirty="0"/>
          </a:p>
        </p:txBody>
      </p:sp>
      <p:sp>
        <p:nvSpPr>
          <p:cNvPr id="8" name="Text Placeholder 5">
            <a:extLst>
              <a:ext uri="{FF2B5EF4-FFF2-40B4-BE49-F238E27FC236}">
                <a16:creationId xmlns:a16="http://schemas.microsoft.com/office/drawing/2014/main" id="{260FE8C2-07E1-4D09-A0DC-DF642DCDCD10}"/>
              </a:ext>
            </a:extLst>
          </p:cNvPr>
          <p:cNvSpPr>
            <a:spLocks noGrp="1"/>
          </p:cNvSpPr>
          <p:nvPr>
            <p:ph type="body" sz="quarter" idx="19" hasCustomPrompt="1"/>
          </p:nvPr>
        </p:nvSpPr>
        <p:spPr>
          <a:xfrm>
            <a:off x="733118" y="3547432"/>
            <a:ext cx="5146238"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722660" y="4013909"/>
            <a:ext cx="5146239" cy="1671834"/>
          </a:xfrm>
        </p:spPr>
        <p:txBody>
          <a:bodyPr/>
          <a:lstStyle/>
          <a:p>
            <a:r>
              <a:rPr lang="en-US" dirty="0"/>
              <a:t>Click icon to </a:t>
            </a:r>
            <a:r>
              <a:rPr lang="en-US"/>
              <a:t>add picture</a:t>
            </a:r>
            <a:endParaRPr lang="en-US" dirty="0"/>
          </a:p>
        </p:txBody>
      </p:sp>
      <p:sp>
        <p:nvSpPr>
          <p:cNvPr id="9" name="Text Placeholder 5"/>
          <p:cNvSpPr>
            <a:spLocks noGrp="1"/>
          </p:cNvSpPr>
          <p:nvPr>
            <p:ph type="body" sz="quarter" idx="17" hasCustomPrompt="1"/>
          </p:nvPr>
        </p:nvSpPr>
        <p:spPr>
          <a:xfrm>
            <a:off x="5983940" y="1290690"/>
            <a:ext cx="5471175"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5983940" y="1757165"/>
            <a:ext cx="5471175" cy="3928578"/>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6356833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815242" y="1660454"/>
            <a:ext cx="5183174" cy="4025289"/>
          </a:xfrm>
        </p:spPr>
        <p:txBody>
          <a:bodyPr/>
          <a:lstStyle/>
          <a:p>
            <a:r>
              <a:rPr lang="en-US" dirty="0"/>
              <a:t>Click icon to </a:t>
            </a:r>
            <a:r>
              <a:rPr lang="en-US"/>
              <a:t>add picture</a:t>
            </a:r>
            <a:endParaRPr lang="en-US" dirty="0"/>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6096001" y="1660454"/>
            <a:ext cx="5254282" cy="1973899"/>
          </a:xfrm>
        </p:spPr>
        <p:txBody>
          <a:bodyPr/>
          <a:lstStyle/>
          <a:p>
            <a:r>
              <a:rPr lang="en-US" dirty="0"/>
              <a:t>Click icon to </a:t>
            </a:r>
            <a:r>
              <a:rPr lang="en-US"/>
              <a:t>add picture</a:t>
            </a:r>
            <a:endParaRPr lang="en-US" dirty="0"/>
          </a:p>
        </p:txBody>
      </p:sp>
      <p:sp>
        <p:nvSpPr>
          <p:cNvPr id="11" name="Picture Placeholder 5">
            <a:extLst>
              <a:ext uri="{FF2B5EF4-FFF2-40B4-BE49-F238E27FC236}">
                <a16:creationId xmlns:a16="http://schemas.microsoft.com/office/drawing/2014/main" id="{8C746CF2-FE60-4CC1-B2EE-0CA47905BF15}"/>
              </a:ext>
            </a:extLst>
          </p:cNvPr>
          <p:cNvSpPr>
            <a:spLocks noGrp="1"/>
          </p:cNvSpPr>
          <p:nvPr>
            <p:ph type="pic" sz="quarter" idx="20"/>
          </p:nvPr>
        </p:nvSpPr>
        <p:spPr>
          <a:xfrm>
            <a:off x="6096002" y="3711844"/>
            <a:ext cx="5243824" cy="1973899"/>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37204985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Sections and Images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5" hasCustomPrompt="1"/>
          </p:nvPr>
        </p:nvSpPr>
        <p:spPr>
          <a:xfrm>
            <a:off x="743575" y="1290690"/>
            <a:ext cx="5260766"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Picture Placeholder 5">
            <a:extLst>
              <a:ext uri="{FF2B5EF4-FFF2-40B4-BE49-F238E27FC236}">
                <a16:creationId xmlns:a16="http://schemas.microsoft.com/office/drawing/2014/main" id="{D2B6F3D7-1DC5-4912-9B59-FD5D92EDBB81}"/>
              </a:ext>
            </a:extLst>
          </p:cNvPr>
          <p:cNvSpPr>
            <a:spLocks noGrp="1"/>
          </p:cNvSpPr>
          <p:nvPr>
            <p:ph type="pic" sz="quarter" idx="10"/>
          </p:nvPr>
        </p:nvSpPr>
        <p:spPr>
          <a:xfrm>
            <a:off x="733117" y="1757166"/>
            <a:ext cx="5265901" cy="1514131"/>
          </a:xfrm>
        </p:spPr>
        <p:txBody>
          <a:bodyPr/>
          <a:lstStyle/>
          <a:p>
            <a:r>
              <a:rPr lang="en-US" dirty="0"/>
              <a:t>Click icon to </a:t>
            </a:r>
            <a:r>
              <a:rPr lang="en-US"/>
              <a:t>add picture</a:t>
            </a:r>
            <a:endParaRPr lang="en-US" dirty="0"/>
          </a:p>
        </p:txBody>
      </p:sp>
      <p:sp>
        <p:nvSpPr>
          <p:cNvPr id="11" name="Text Placeholder 9">
            <a:extLst>
              <a:ext uri="{FF2B5EF4-FFF2-40B4-BE49-F238E27FC236}">
                <a16:creationId xmlns:a16="http://schemas.microsoft.com/office/drawing/2014/main" id="{C7D9FB6E-264C-49D3-BF90-8D03C190DF69}"/>
              </a:ext>
            </a:extLst>
          </p:cNvPr>
          <p:cNvSpPr>
            <a:spLocks noGrp="1"/>
          </p:cNvSpPr>
          <p:nvPr>
            <p:ph type="body" sz="quarter" idx="11" hasCustomPrompt="1"/>
          </p:nvPr>
        </p:nvSpPr>
        <p:spPr>
          <a:xfrm>
            <a:off x="733117" y="3429000"/>
            <a:ext cx="5271224" cy="1980608"/>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9" name="Text Placeholder 5"/>
          <p:cNvSpPr>
            <a:spLocks noGrp="1"/>
          </p:cNvSpPr>
          <p:nvPr>
            <p:ph type="body" sz="quarter" idx="17" hasCustomPrompt="1"/>
          </p:nvPr>
        </p:nvSpPr>
        <p:spPr>
          <a:xfrm>
            <a:off x="6198116" y="1290690"/>
            <a:ext cx="526076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3" name="Picture Placeholder 5">
            <a:extLst>
              <a:ext uri="{FF2B5EF4-FFF2-40B4-BE49-F238E27FC236}">
                <a16:creationId xmlns:a16="http://schemas.microsoft.com/office/drawing/2014/main" id="{33EE713D-FD1D-4016-B0CA-2BE9370A4AF1}"/>
              </a:ext>
            </a:extLst>
          </p:cNvPr>
          <p:cNvSpPr>
            <a:spLocks noGrp="1"/>
          </p:cNvSpPr>
          <p:nvPr>
            <p:ph type="pic" sz="quarter" idx="18"/>
          </p:nvPr>
        </p:nvSpPr>
        <p:spPr>
          <a:xfrm>
            <a:off x="6187661" y="1757167"/>
            <a:ext cx="5265902" cy="3652441"/>
          </a:xfrm>
        </p:spPr>
        <p:txBody>
          <a:bodyPr/>
          <a:lstStyle/>
          <a:p>
            <a:r>
              <a:rPr lang="en-US" dirty="0"/>
              <a:t>Click icon to </a:t>
            </a:r>
            <a:r>
              <a:rPr lang="en-US"/>
              <a:t>add picture</a:t>
            </a:r>
            <a:endParaRPr lang="en-US" dirty="0"/>
          </a:p>
        </p:txBody>
      </p:sp>
      <p:sp>
        <p:nvSpPr>
          <p:cNvPr id="14" name="Footer">
            <a:extLst>
              <a:ext uri="{FF2B5EF4-FFF2-40B4-BE49-F238E27FC236}">
                <a16:creationId xmlns:a16="http://schemas.microsoft.com/office/drawing/2014/main" id="{1F7F3A0A-B6C1-4EEC-AB96-2823BAABF6D3}"/>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3605806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7" name="Footer">
            <a:extLst>
              <a:ext uri="{FF2B5EF4-FFF2-40B4-BE49-F238E27FC236}">
                <a16:creationId xmlns:a16="http://schemas.microsoft.com/office/drawing/2014/main" id="{CE4CA0EE-D5E1-440F-BC2D-69119081D20A}"/>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058116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3426471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574183"/>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91517302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7" name="Footer">
            <a:extLst>
              <a:ext uri="{FF2B5EF4-FFF2-40B4-BE49-F238E27FC236}">
                <a16:creationId xmlns:a16="http://schemas.microsoft.com/office/drawing/2014/main" id="{E80F7FA6-7141-4BC3-A2CF-56ED6EFB0146}"/>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76403493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Sections with Images and Two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6" name="Picture Placeholder 5"/>
          <p:cNvSpPr>
            <a:spLocks noGrp="1"/>
          </p:cNvSpPr>
          <p:nvPr>
            <p:ph type="pic" sz="quarter" idx="10"/>
          </p:nvPr>
        </p:nvSpPr>
        <p:spPr>
          <a:xfrm>
            <a:off x="733117" y="1879341"/>
            <a:ext cx="5253155" cy="2925134"/>
          </a:xfrm>
        </p:spPr>
        <p:txBody>
          <a:bodyPr/>
          <a:lstStyle/>
          <a:p>
            <a:r>
              <a:rPr lang="en-US" dirty="0"/>
              <a:t>Click icon to </a:t>
            </a:r>
            <a:r>
              <a:rPr lang="en-US"/>
              <a:t>add picture</a:t>
            </a:r>
            <a:endParaRPr lang="en-US" dirty="0"/>
          </a:p>
        </p:txBody>
      </p:sp>
      <p:sp>
        <p:nvSpPr>
          <p:cNvPr id="10" name="Text Placeholder 9"/>
          <p:cNvSpPr>
            <a:spLocks noGrp="1"/>
          </p:cNvSpPr>
          <p:nvPr>
            <p:ph type="body" sz="quarter" idx="11" hasCustomPrompt="1"/>
          </p:nvPr>
        </p:nvSpPr>
        <p:spPr>
          <a:xfrm>
            <a:off x="733119" y="4928460"/>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Picture Placeholder 5">
            <a:extLst>
              <a:ext uri="{FF2B5EF4-FFF2-40B4-BE49-F238E27FC236}">
                <a16:creationId xmlns:a16="http://schemas.microsoft.com/office/drawing/2014/main" id="{E17D136E-4F7D-46BF-AE52-D49824D479CD}"/>
              </a:ext>
            </a:extLst>
          </p:cNvPr>
          <p:cNvSpPr>
            <a:spLocks noGrp="1"/>
          </p:cNvSpPr>
          <p:nvPr>
            <p:ph type="pic" sz="quarter" idx="16"/>
          </p:nvPr>
        </p:nvSpPr>
        <p:spPr>
          <a:xfrm>
            <a:off x="6096001" y="1879341"/>
            <a:ext cx="5257799" cy="2925134"/>
          </a:xfrm>
        </p:spPr>
        <p:txBody>
          <a:bodyPr/>
          <a:lstStyle/>
          <a:p>
            <a:r>
              <a:rPr lang="en-US" dirty="0"/>
              <a:t>Click icon to </a:t>
            </a:r>
            <a:r>
              <a:rPr lang="en-US"/>
              <a:t>add picture</a:t>
            </a:r>
            <a:endParaRPr lang="en-US" dirty="0"/>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4928459"/>
            <a:ext cx="5253153" cy="852407"/>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Tree>
    <p:extLst>
      <p:ext uri="{BB962C8B-B14F-4D97-AF65-F5344CB8AC3E}">
        <p14:creationId xmlns:p14="http://schemas.microsoft.com/office/powerpoint/2010/main" val="212901468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Sections with Two tables and Captions">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9" name="Text Placeholder 5">
            <a:extLst>
              <a:ext uri="{FF2B5EF4-FFF2-40B4-BE49-F238E27FC236}">
                <a16:creationId xmlns:a16="http://schemas.microsoft.com/office/drawing/2014/main" id="{1FE18D74-90FB-411F-A23D-20EDFF682D2E}"/>
              </a:ext>
            </a:extLst>
          </p:cNvPr>
          <p:cNvSpPr>
            <a:spLocks noGrp="1"/>
          </p:cNvSpPr>
          <p:nvPr>
            <p:ph type="body" sz="quarter" idx="15" hasCustomPrompt="1"/>
          </p:nvPr>
        </p:nvSpPr>
        <p:spPr>
          <a:xfrm>
            <a:off x="743575" y="1427368"/>
            <a:ext cx="5242697"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0" name="Text Placeholder 9"/>
          <p:cNvSpPr>
            <a:spLocks noGrp="1"/>
          </p:cNvSpPr>
          <p:nvPr>
            <p:ph type="body" sz="quarter" idx="11" hasCustomPrompt="1"/>
          </p:nvPr>
        </p:nvSpPr>
        <p:spPr>
          <a:xfrm>
            <a:off x="733119" y="3650514"/>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11" name="Text Placeholder 5">
            <a:extLst>
              <a:ext uri="{FF2B5EF4-FFF2-40B4-BE49-F238E27FC236}">
                <a16:creationId xmlns:a16="http://schemas.microsoft.com/office/drawing/2014/main" id="{60F0504B-3865-4CC8-A076-812C6EF4B4E8}"/>
              </a:ext>
            </a:extLst>
          </p:cNvPr>
          <p:cNvSpPr>
            <a:spLocks noGrp="1"/>
          </p:cNvSpPr>
          <p:nvPr>
            <p:ph type="body" sz="quarter" idx="17" hasCustomPrompt="1"/>
          </p:nvPr>
        </p:nvSpPr>
        <p:spPr>
          <a:xfrm>
            <a:off x="6096001" y="1427368"/>
            <a:ext cx="5257800"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2" name="Text Placeholder 9">
            <a:extLst>
              <a:ext uri="{FF2B5EF4-FFF2-40B4-BE49-F238E27FC236}">
                <a16:creationId xmlns:a16="http://schemas.microsoft.com/office/drawing/2014/main" id="{CC39118D-AF06-4D1E-A28A-244A65DAF08F}"/>
              </a:ext>
            </a:extLst>
          </p:cNvPr>
          <p:cNvSpPr>
            <a:spLocks noGrp="1"/>
          </p:cNvSpPr>
          <p:nvPr>
            <p:ph type="body" sz="quarter" idx="18" hasCustomPrompt="1"/>
          </p:nvPr>
        </p:nvSpPr>
        <p:spPr>
          <a:xfrm>
            <a:off x="6096000" y="3650513"/>
            <a:ext cx="5253153" cy="2130354"/>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sed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7" name="Footer">
            <a:extLst>
              <a:ext uri="{FF2B5EF4-FFF2-40B4-BE49-F238E27FC236}">
                <a16:creationId xmlns:a16="http://schemas.microsoft.com/office/drawing/2014/main" id="{A474DE8B-2827-4A7C-9B2C-FEC71A002342}"/>
              </a:ext>
            </a:extLst>
          </p:cNvPr>
          <p:cNvSpPr txBox="1"/>
          <p:nvPr userDrawn="1"/>
        </p:nvSpPr>
        <p:spPr>
          <a:xfrm>
            <a:off x="3007866" y="6578211"/>
            <a:ext cx="8956009" cy="261610"/>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 2025 Cengage Group. All Rights Reserved.</a:t>
            </a:r>
          </a:p>
        </p:txBody>
      </p:sp>
      <p:sp>
        <p:nvSpPr>
          <p:cNvPr id="4" name="Table Placeholder 3">
            <a:extLst>
              <a:ext uri="{FF2B5EF4-FFF2-40B4-BE49-F238E27FC236}">
                <a16:creationId xmlns:a16="http://schemas.microsoft.com/office/drawing/2014/main" id="{7F1EBD22-5216-4DDB-B1B4-D58F01937246}"/>
              </a:ext>
            </a:extLst>
          </p:cNvPr>
          <p:cNvSpPr>
            <a:spLocks noGrp="1"/>
          </p:cNvSpPr>
          <p:nvPr>
            <p:ph type="tbl" sz="quarter" idx="19"/>
          </p:nvPr>
        </p:nvSpPr>
        <p:spPr>
          <a:xfrm>
            <a:off x="733425" y="1849438"/>
            <a:ext cx="5253038" cy="1722437"/>
          </a:xfrm>
        </p:spPr>
        <p:txBody>
          <a:bodyPr/>
          <a:lstStyle/>
          <a:p>
            <a:endParaRPr lang="en-US"/>
          </a:p>
        </p:txBody>
      </p:sp>
      <p:sp>
        <p:nvSpPr>
          <p:cNvPr id="13" name="Table Placeholder 3">
            <a:extLst>
              <a:ext uri="{FF2B5EF4-FFF2-40B4-BE49-F238E27FC236}">
                <a16:creationId xmlns:a16="http://schemas.microsoft.com/office/drawing/2014/main" id="{EC5574CB-EFD0-4E9E-8446-1B7A54F8B5A1}"/>
              </a:ext>
            </a:extLst>
          </p:cNvPr>
          <p:cNvSpPr>
            <a:spLocks noGrp="1"/>
          </p:cNvSpPr>
          <p:nvPr>
            <p:ph type="tbl" sz="quarter" idx="20"/>
          </p:nvPr>
        </p:nvSpPr>
        <p:spPr>
          <a:xfrm>
            <a:off x="6095777" y="1849438"/>
            <a:ext cx="5253038" cy="1722437"/>
          </a:xfrm>
        </p:spPr>
        <p:txBody>
          <a:bodyPr/>
          <a:lstStyle/>
          <a:p>
            <a:endParaRPr lang="en-US"/>
          </a:p>
        </p:txBody>
      </p:sp>
    </p:spTree>
    <p:extLst>
      <p:ext uri="{BB962C8B-B14F-4D97-AF65-F5344CB8AC3E}">
        <p14:creationId xmlns:p14="http://schemas.microsoft.com/office/powerpoint/2010/main" val="62687880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5" name="Content Placeholder 4"/>
          <p:cNvSpPr>
            <a:spLocks noGrp="1"/>
          </p:cNvSpPr>
          <p:nvPr>
            <p:ph sz="quarter" idx="13"/>
          </p:nvPr>
        </p:nvSpPr>
        <p:spPr>
          <a:xfrm>
            <a:off x="838688" y="1476104"/>
            <a:ext cx="10514624" cy="444137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p:cNvSpPr>
            <a:spLocks noGrp="1"/>
          </p:cNvSpPr>
          <p:nvPr>
            <p:ph type="sldNum" sz="quarter" idx="12"/>
          </p:nvPr>
        </p:nvSpPr>
        <p:spPr/>
        <p:txBody>
          <a:bodyPr/>
          <a:lstStyle/>
          <a:p>
            <a:fld id="{949EBC64-41CB-41B8-B6DF-9B1367312BD4}" type="slidenum">
              <a:rPr lang="en-US" smtClean="0"/>
              <a:t>‹#›</a:t>
            </a:fld>
            <a:endParaRPr lang="en-US"/>
          </a:p>
        </p:txBody>
      </p:sp>
      <p:sp>
        <p:nvSpPr>
          <p:cNvPr id="7" name="Rectangle 6">
            <a:extLst>
              <a:ext uri="{FF2B5EF4-FFF2-40B4-BE49-F238E27FC236}">
                <a16:creationId xmlns:a16="http://schemas.microsoft.com/office/drawing/2014/main" id="{832DC7FF-32F2-4F88-BCAA-5E9F3DC9E7F8}"/>
              </a:ext>
            </a:extLst>
          </p:cNvPr>
          <p:cNvSpPr>
            <a:spLocks noChangeArrowheads="1"/>
          </p:cNvSpPr>
          <p:nvPr userDrawn="1"/>
        </p:nvSpPr>
        <p:spPr bwMode="auto">
          <a:xfrm>
            <a:off x="838201" y="6448510"/>
            <a:ext cx="9442837" cy="335989"/>
          </a:xfrm>
          <a:prstGeom prst="rect">
            <a:avLst/>
          </a:prstGeom>
          <a:noFill/>
          <a:ln w="12700">
            <a:noFill/>
            <a:miter lim="800000"/>
            <a:headEnd/>
            <a:tailEnd/>
          </a:ln>
          <a:effectLst/>
        </p:spPr>
        <p:txBody>
          <a:bodyPr wrap="square" lIns="90264" tIns="44340" rIns="90264" bIns="44340">
            <a:spAutoFit/>
          </a:bodyPr>
          <a:lstStyle>
            <a:defPPr>
              <a:defRPr lang="en-US"/>
            </a:defPPr>
            <a:lvl1pPr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1pPr>
            <a:lvl2pPr marL="4572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2pPr>
            <a:lvl3pPr marL="9144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3pPr>
            <a:lvl4pPr marL="13716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4pPr>
            <a:lvl5pPr marL="1828800" algn="ctr" rtl="0" eaLnBrk="0" fontAlgn="base" hangingPunct="0">
              <a:spcBef>
                <a:spcPct val="0"/>
              </a:spcBef>
              <a:spcAft>
                <a:spcPct val="0"/>
              </a:spcAft>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5pPr>
            <a:lvl6pPr marL="22860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6pPr>
            <a:lvl7pPr marL="27432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7pPr>
            <a:lvl8pPr marL="32004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8pPr>
            <a:lvl9pPr marL="3657600" algn="l" defTabSz="914400" rtl="0" eaLnBrk="1" latinLnBrk="0" hangingPunct="1">
              <a:defRPr sz="2200" kern="1200">
                <a:solidFill>
                  <a:schemeClr val="tx1"/>
                </a:solidFill>
                <a:effectLst>
                  <a:outerShdw blurRad="38100" dist="38100" dir="2700000" algn="tl">
                    <a:srgbClr val="000000">
                      <a:alpha val="43137"/>
                    </a:srgbClr>
                  </a:outerShdw>
                </a:effectLst>
                <a:latin typeface="Book Antiqua" pitchFamily="18" charset="0"/>
                <a:ea typeface="+mn-ea"/>
                <a:cs typeface="+mn-cs"/>
              </a:defRPr>
            </a:lvl9pPr>
          </a:lstStyle>
          <a:p>
            <a:pPr algn="l">
              <a:defRPr/>
            </a:pPr>
            <a:r>
              <a:rPr lang="en-US" sz="798">
                <a:solidFill>
                  <a:srgbClr val="000000"/>
                </a:solidFill>
                <a:effectLst/>
                <a:latin typeface="+mj-lt"/>
                <a:cs typeface="Arial" panose="020B0604020202020204" pitchFamily="34" charset="0"/>
              </a:rPr>
              <a:t>© 2020  Cengage.  </a:t>
            </a:r>
            <a:r>
              <a:rPr lang="en-US" sz="798" dirty="0">
                <a:solidFill>
                  <a:srgbClr val="000000"/>
                </a:solidFill>
                <a:effectLst/>
                <a:latin typeface="+mj-lt"/>
                <a:cs typeface="Arial" panose="020B0604020202020204" pitchFamily="34" charset="0"/>
              </a:rPr>
              <a:t>May not be scanned, copied or duplicated, or posted to a publicly accessible website, in whole or in part, except for use as permitted</a:t>
            </a:r>
            <a:r>
              <a:rPr lang="en-US" sz="798" baseline="0" dirty="0">
                <a:solidFill>
                  <a:srgbClr val="000000"/>
                </a:solidFill>
                <a:effectLst/>
                <a:latin typeface="+mj-lt"/>
                <a:cs typeface="Arial" panose="020B0604020202020204" pitchFamily="34" charset="0"/>
              </a:rPr>
              <a:t> </a:t>
            </a:r>
            <a:r>
              <a:rPr lang="en-US" sz="798" dirty="0">
                <a:solidFill>
                  <a:srgbClr val="000000"/>
                </a:solidFill>
                <a:effectLst/>
                <a:latin typeface="+mj-lt"/>
                <a:cs typeface="Arial" panose="020B0604020202020204" pitchFamily="34" charset="0"/>
              </a:rPr>
              <a:t>in a license distributed with a certain product or service or otherwise on a password-protected website or</a:t>
            </a:r>
            <a:r>
              <a:rPr lang="en-US" sz="798" baseline="0" dirty="0">
                <a:solidFill>
                  <a:srgbClr val="000000"/>
                </a:solidFill>
                <a:effectLst/>
                <a:latin typeface="+mj-lt"/>
                <a:cs typeface="Arial" panose="020B0604020202020204" pitchFamily="34" charset="0"/>
              </a:rPr>
              <a:t> school-approved learning management system f</a:t>
            </a:r>
            <a:r>
              <a:rPr lang="en-US" sz="798" dirty="0">
                <a:solidFill>
                  <a:srgbClr val="000000"/>
                </a:solidFill>
                <a:effectLst/>
                <a:latin typeface="+mj-lt"/>
                <a:cs typeface="Arial" panose="020B0604020202020204" pitchFamily="34" charset="0"/>
              </a:rPr>
              <a:t>or classroom use.</a:t>
            </a:r>
          </a:p>
        </p:txBody>
      </p:sp>
    </p:spTree>
    <p:extLst>
      <p:ext uri="{BB962C8B-B14F-4D97-AF65-F5344CB8AC3E}">
        <p14:creationId xmlns:p14="http://schemas.microsoft.com/office/powerpoint/2010/main" val="209651950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descr="Cengage Logo"/>
          <p:cNvPicPr>
            <a:picLocks noChangeAspect="1"/>
          </p:cNvPicPr>
          <p:nvPr userDrawn="1"/>
        </p:nvPicPr>
        <p:blipFill>
          <a:blip r:embed="rId60">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736056" y="6176963"/>
            <a:ext cx="8999882" cy="672104"/>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tx2"/>
                </a:solidFill>
                <a:latin typeface="arial" charset="0"/>
              </a:defRPr>
            </a:lvl1pPr>
          </a:lstStyle>
          <a:p>
            <a:r>
              <a:rPr lang="en-US" dirty="0" err="1">
                <a:latin typeface="Arial" panose="020B0604020202020204" pitchFamily="34" charset="0"/>
                <a:cs typeface="Arial" panose="020B0604020202020204" pitchFamily="34" charset="0"/>
              </a:rPr>
              <a:t>Camm</a:t>
            </a:r>
            <a:r>
              <a:rPr lang="en-US" dirty="0">
                <a:latin typeface="Arial" panose="020B0604020202020204" pitchFamily="34" charset="0"/>
                <a:cs typeface="Arial" panose="020B0604020202020204" pitchFamily="34" charset="0"/>
              </a:rPr>
              <a:t>, Cochran, Fry, Ohlmann, Anderson, Sweeney, Williams, An Introduction to Management Science - Quantitative Approaches to Decision Making, 16th Edition. © 2025 Cengage Group.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22" r:id="rId1"/>
    <p:sldLayoutId id="2147483714" r:id="rId2"/>
    <p:sldLayoutId id="2147483752" r:id="rId3"/>
    <p:sldLayoutId id="2147483766" r:id="rId4"/>
    <p:sldLayoutId id="2147483769" r:id="rId5"/>
    <p:sldLayoutId id="2147483768" r:id="rId6"/>
    <p:sldLayoutId id="2147483767" r:id="rId7"/>
    <p:sldLayoutId id="2147483718" r:id="rId8"/>
    <p:sldLayoutId id="2147483738" r:id="rId9"/>
    <p:sldLayoutId id="2147483715" r:id="rId10"/>
    <p:sldLayoutId id="2147483760" r:id="rId11"/>
    <p:sldLayoutId id="2147483761" r:id="rId12"/>
    <p:sldLayoutId id="2147483747" r:id="rId13"/>
    <p:sldLayoutId id="2147483744" r:id="rId14"/>
    <p:sldLayoutId id="2147483771" r:id="rId15"/>
    <p:sldLayoutId id="2147483737" r:id="rId16"/>
    <p:sldLayoutId id="2147483753" r:id="rId17"/>
    <p:sldLayoutId id="2147483762" r:id="rId18"/>
    <p:sldLayoutId id="2147483758" r:id="rId19"/>
    <p:sldLayoutId id="2147483759" r:id="rId20"/>
    <p:sldLayoutId id="2147483755" r:id="rId21"/>
    <p:sldLayoutId id="2147483772" r:id="rId22"/>
    <p:sldLayoutId id="2147483754" r:id="rId23"/>
    <p:sldLayoutId id="2147483765" r:id="rId24"/>
    <p:sldLayoutId id="2147483736" r:id="rId25"/>
    <p:sldLayoutId id="2147483748" r:id="rId26"/>
    <p:sldLayoutId id="2147483749" r:id="rId27"/>
    <p:sldLayoutId id="2147483716" r:id="rId28"/>
    <p:sldLayoutId id="2147483719" r:id="rId29"/>
    <p:sldLayoutId id="2147483726" r:id="rId30"/>
    <p:sldLayoutId id="2147483720" r:id="rId31"/>
    <p:sldLayoutId id="2147483743" r:id="rId32"/>
    <p:sldLayoutId id="2147483746" r:id="rId33"/>
    <p:sldLayoutId id="2147483764" r:id="rId34"/>
    <p:sldLayoutId id="2147483773" r:id="rId35"/>
    <p:sldLayoutId id="2147483735" r:id="rId36"/>
    <p:sldLayoutId id="2147483730" r:id="rId37"/>
    <p:sldLayoutId id="2147483733" r:id="rId38"/>
    <p:sldLayoutId id="2147483732" r:id="rId39"/>
    <p:sldLayoutId id="2147483757" r:id="rId40"/>
    <p:sldLayoutId id="2147483740" r:id="rId41"/>
    <p:sldLayoutId id="2147483742" r:id="rId42"/>
    <p:sldLayoutId id="2147483745" r:id="rId43"/>
    <p:sldLayoutId id="2147483750" r:id="rId44"/>
    <p:sldLayoutId id="2147483763" r:id="rId45"/>
    <p:sldLayoutId id="2147483725" r:id="rId46"/>
    <p:sldLayoutId id="2147483728" r:id="rId47"/>
    <p:sldLayoutId id="2147483731" r:id="rId48"/>
    <p:sldLayoutId id="2147483729" r:id="rId49"/>
    <p:sldLayoutId id="2147483734" r:id="rId50"/>
    <p:sldLayoutId id="2147483727" r:id="rId51"/>
    <p:sldLayoutId id="2147483723" r:id="rId52"/>
    <p:sldLayoutId id="2147483724" r:id="rId53"/>
    <p:sldLayoutId id="2147483713" r:id="rId54"/>
    <p:sldLayoutId id="2147483717" r:id="rId55"/>
    <p:sldLayoutId id="2147483751" r:id="rId56"/>
    <p:sldLayoutId id="2147483756" r:id="rId57"/>
    <p:sldLayoutId id="2147483770" r:id="rId58"/>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1.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1.xml"/><Relationship Id="rId5" Type="http://schemas.openxmlformats.org/officeDocument/2006/relationships/image" Target="../media/image15.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20.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9.xml"/><Relationship Id="rId1" Type="http://schemas.openxmlformats.org/officeDocument/2006/relationships/slideLayout" Target="../slideLayouts/slideLayout2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1.xml"/><Relationship Id="rId5" Type="http://schemas.openxmlformats.org/officeDocument/2006/relationships/image" Target="../media/image25.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1.xml"/><Relationship Id="rId5" Type="http://schemas.openxmlformats.org/officeDocument/2006/relationships/image" Target="../media/image29.png"/><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300.png"/><Relationship Id="rId1" Type="http://schemas.openxmlformats.org/officeDocument/2006/relationships/slideLayout" Target="../slideLayouts/slideLayout55.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31.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1.xml"/><Relationship Id="rId5" Type="http://schemas.openxmlformats.org/officeDocument/2006/relationships/image" Target="../media/image34.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1.xml"/><Relationship Id="rId6" Type="http://schemas.openxmlformats.org/officeDocument/2006/relationships/image" Target="../media/image37.png"/><Relationship Id="rId5" Type="http://schemas.openxmlformats.org/officeDocument/2006/relationships/image" Target="../media/image41.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8.xml"/><Relationship Id="rId1" Type="http://schemas.openxmlformats.org/officeDocument/2006/relationships/slideLayout" Target="../slideLayouts/slideLayout21.xml"/><Relationship Id="rId5" Type="http://schemas.openxmlformats.org/officeDocument/2006/relationships/image" Target="../media/image440.png"/><Relationship Id="rId4" Type="http://schemas.openxmlformats.org/officeDocument/2006/relationships/image" Target="../media/image44.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0.xml"/><Relationship Id="rId1" Type="http://schemas.openxmlformats.org/officeDocument/2006/relationships/slideLayout" Target="../slideLayouts/slideLayout21.xml"/><Relationship Id="rId5" Type="http://schemas.openxmlformats.org/officeDocument/2006/relationships/image" Target="../media/image48.png"/><Relationship Id="rId4" Type="http://schemas.openxmlformats.org/officeDocument/2006/relationships/image" Target="../media/image47.png"/></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1" Type="http://schemas.openxmlformats.org/officeDocument/2006/relationships/slideLayout" Target="../slideLayouts/slideLayout5.xml"/><Relationship Id="rId5" Type="http://schemas.openxmlformats.org/officeDocument/2006/relationships/image" Target="../media/image45.png"/><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notesSlide" Target="../notesSlides/notesSlide21.xml"/><Relationship Id="rId1" Type="http://schemas.openxmlformats.org/officeDocument/2006/relationships/slideLayout" Target="../slideLayouts/slideLayout5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04F6B78-37B6-6E0F-1787-0B6EF7DEDB5F}"/>
              </a:ext>
            </a:extLst>
          </p:cNvPr>
          <p:cNvSpPr>
            <a:spLocks noGrp="1"/>
          </p:cNvSpPr>
          <p:nvPr>
            <p:ph type="title"/>
          </p:nvPr>
        </p:nvSpPr>
        <p:spPr/>
        <p:txBody>
          <a:bodyPr/>
          <a:lstStyle/>
          <a:p>
            <a:endParaRPr lang="en-US"/>
          </a:p>
        </p:txBody>
      </p:sp>
      <p:pic>
        <p:nvPicPr>
          <p:cNvPr id="6" name="Picture 5">
            <a:extLst>
              <a:ext uri="{FF2B5EF4-FFF2-40B4-BE49-F238E27FC236}">
                <a16:creationId xmlns:a16="http://schemas.microsoft.com/office/drawing/2014/main" id="{6523C92A-EEFA-6E17-64C0-6FACB2987EAB}"/>
              </a:ext>
            </a:extLst>
          </p:cNvPr>
          <p:cNvPicPr>
            <a:picLocks noChangeAspect="1"/>
          </p:cNvPicPr>
          <p:nvPr/>
        </p:nvPicPr>
        <p:blipFill>
          <a:blip r:embed="rId2"/>
          <a:stretch>
            <a:fillRect/>
          </a:stretch>
        </p:blipFill>
        <p:spPr>
          <a:xfrm>
            <a:off x="-1" y="-1"/>
            <a:ext cx="12192001" cy="6858001"/>
          </a:xfrm>
          <a:prstGeom prst="rect">
            <a:avLst/>
          </a:prstGeom>
        </p:spPr>
      </p:pic>
    </p:spTree>
    <p:extLst>
      <p:ext uri="{BB962C8B-B14F-4D97-AF65-F5344CB8AC3E}">
        <p14:creationId xmlns:p14="http://schemas.microsoft.com/office/powerpoint/2010/main" val="12035974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A01ED-EFA0-4AED-AD41-B1BC5043F1A7}"/>
              </a:ext>
            </a:extLst>
          </p:cNvPr>
          <p:cNvSpPr>
            <a:spLocks noGrp="1"/>
          </p:cNvSpPr>
          <p:nvPr>
            <p:ph type="title"/>
          </p:nvPr>
        </p:nvSpPr>
        <p:spPr/>
        <p:txBody>
          <a:bodyPr/>
          <a:lstStyle/>
          <a:p>
            <a:r>
              <a:rPr lang="en-US" dirty="0"/>
              <a:t>Chapter Contents</a:t>
            </a:r>
          </a:p>
        </p:txBody>
      </p:sp>
      <p:sp>
        <p:nvSpPr>
          <p:cNvPr id="4" name="Text Placeholder 3">
            <a:extLst>
              <a:ext uri="{FF2B5EF4-FFF2-40B4-BE49-F238E27FC236}">
                <a16:creationId xmlns:a16="http://schemas.microsoft.com/office/drawing/2014/main" id="{C9A0ABD4-C052-4227-B2EE-3395C907212B}"/>
              </a:ext>
            </a:extLst>
          </p:cNvPr>
          <p:cNvSpPr>
            <a:spLocks noGrp="1"/>
          </p:cNvSpPr>
          <p:nvPr>
            <p:ph type="body" sz="quarter" idx="15"/>
          </p:nvPr>
        </p:nvSpPr>
        <p:spPr>
          <a:xfrm>
            <a:off x="743576" y="1560791"/>
            <a:ext cx="10711543" cy="3894081"/>
          </a:xfrm>
        </p:spPr>
        <p:txBody>
          <a:bodyPr/>
          <a:lstStyle/>
          <a:p>
            <a:pPr marL="1371600" indent="-914400">
              <a:spcAft>
                <a:spcPts val="600"/>
              </a:spcAft>
              <a:buNone/>
            </a:pPr>
            <a:r>
              <a:rPr lang="en-US" sz="2000" dirty="0"/>
              <a:t>11.1	Inferences about a Population Variance</a:t>
            </a:r>
          </a:p>
          <a:p>
            <a:pPr marL="1371600" indent="-914400">
              <a:spcAft>
                <a:spcPts val="600"/>
              </a:spcAft>
              <a:buNone/>
            </a:pPr>
            <a:r>
              <a:rPr lang="en-US" sz="2000" dirty="0"/>
              <a:t>11.2	Inferences about Two Populations Variances</a:t>
            </a:r>
          </a:p>
          <a:p>
            <a:pPr marL="1371600" indent="-914400">
              <a:spcAft>
                <a:spcPts val="600"/>
              </a:spcAft>
              <a:buNone/>
            </a:pPr>
            <a:r>
              <a:rPr lang="en-US" sz="2000" dirty="0"/>
              <a:t>	Summary</a:t>
            </a:r>
          </a:p>
        </p:txBody>
      </p:sp>
    </p:spTree>
    <p:extLst>
      <p:ext uri="{BB962C8B-B14F-4D97-AF65-F5344CB8AC3E}">
        <p14:creationId xmlns:p14="http://schemas.microsoft.com/office/powerpoint/2010/main" val="3323841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Chapter Objectives</a:t>
            </a:r>
          </a:p>
        </p:txBody>
      </p:sp>
      <p:sp>
        <p:nvSpPr>
          <p:cNvPr id="2" name="Text Placeholder 1"/>
          <p:cNvSpPr>
            <a:spLocks noGrp="1"/>
          </p:cNvSpPr>
          <p:nvPr>
            <p:ph type="body" sz="quarter" idx="15"/>
          </p:nvPr>
        </p:nvSpPr>
        <p:spPr>
          <a:xfrm>
            <a:off x="743576" y="1284894"/>
            <a:ext cx="10610224" cy="4537261"/>
          </a:xfrm>
        </p:spPr>
        <p:txBody>
          <a:bodyPr/>
          <a:lstStyle/>
          <a:p>
            <a:pPr>
              <a:spcBef>
                <a:spcPts val="1200"/>
              </a:spcBef>
            </a:pPr>
            <a:r>
              <a:rPr lang="en-US" sz="2000" dirty="0">
                <a:latin typeface="Arial" panose="020B0604020202020204" pitchFamily="34" charset="0"/>
                <a:cs typeface="Arial" panose="020B0604020202020204" pitchFamily="34" charset="0"/>
              </a:rPr>
              <a:t>After completing this chapter, you will be able to:</a:t>
            </a:r>
          </a:p>
          <a:p>
            <a:pPr marL="1828800" indent="-1371600">
              <a:spcBef>
                <a:spcPts val="1200"/>
              </a:spcBef>
            </a:pPr>
            <a:r>
              <a:rPr lang="en-US" sz="2000" dirty="0">
                <a:latin typeface="Arial" panose="020B0604020202020204" pitchFamily="34" charset="0"/>
                <a:cs typeface="Arial" panose="020B0604020202020204" pitchFamily="34" charset="0"/>
              </a:rPr>
              <a:t>LO 11-1 	Describe the distribution form and parameters of the sampling distribution of the sample variance and report values from this distribution. </a:t>
            </a:r>
          </a:p>
          <a:p>
            <a:pPr marL="1828800" indent="-1371600">
              <a:spcBef>
                <a:spcPts val="1200"/>
              </a:spcBef>
            </a:pPr>
            <a:r>
              <a:rPr lang="en-US" sz="2000" dirty="0">
                <a:latin typeface="Arial" panose="020B0604020202020204" pitchFamily="34" charset="0"/>
                <a:cs typeface="Arial" panose="020B0604020202020204" pitchFamily="34" charset="0"/>
              </a:rPr>
              <a:t>LO 11-2 	Calculate and interpret the interval estimate at a given level of confidence for a population variance and a population standard deviation. </a:t>
            </a:r>
          </a:p>
          <a:p>
            <a:pPr marL="1828800" indent="-1371600">
              <a:spcBef>
                <a:spcPts val="1200"/>
              </a:spcBef>
            </a:pPr>
            <a:r>
              <a:rPr lang="en-US" sz="2000" dirty="0">
                <a:latin typeface="Arial" panose="020B0604020202020204" pitchFamily="34" charset="0"/>
                <a:cs typeface="Arial" panose="020B0604020202020204" pitchFamily="34" charset="0"/>
              </a:rPr>
              <a:t>LO 11-3 	Conduct a hypothesis test about the population variance using either the p-value approach or the critical value approach.</a:t>
            </a:r>
          </a:p>
          <a:p>
            <a:pPr marL="1828800" indent="-1371600">
              <a:spcBef>
                <a:spcPts val="1200"/>
              </a:spcBef>
            </a:pPr>
            <a:r>
              <a:rPr lang="en-US" sz="2000" dirty="0">
                <a:latin typeface="Arial" panose="020B0604020202020204" pitchFamily="34" charset="0"/>
                <a:cs typeface="Arial" panose="020B0604020202020204" pitchFamily="34" charset="0"/>
              </a:rPr>
              <a:t>LO 11-4 	Describe the distribution form and parameters of the sampling distribution of the ratio of the sample variances of two different populations and report values from this distribution. </a:t>
            </a:r>
          </a:p>
          <a:p>
            <a:pPr marL="1828800" indent="-1371600">
              <a:spcBef>
                <a:spcPts val="1200"/>
              </a:spcBef>
            </a:pPr>
            <a:r>
              <a:rPr lang="en-US" sz="2000" dirty="0">
                <a:latin typeface="Arial" panose="020B0604020202020204" pitchFamily="34" charset="0"/>
                <a:cs typeface="Arial" panose="020B0604020202020204" pitchFamily="34" charset="0"/>
              </a:rPr>
              <a:t>LO 11-5 	Conduct a hypothesis test about the ratio between two population variances using either the p-value approach or the critical value approach.</a:t>
            </a:r>
          </a:p>
        </p:txBody>
      </p:sp>
    </p:spTree>
    <p:extLst>
      <p:ext uri="{BB962C8B-B14F-4D97-AF65-F5344CB8AC3E}">
        <p14:creationId xmlns:p14="http://schemas.microsoft.com/office/powerpoint/2010/main" val="169914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p:txBody>
          <a:bodyPr/>
          <a:lstStyle/>
          <a:p>
            <a:r>
              <a:rPr lang="en-US" dirty="0"/>
              <a:t>Introduction</a:t>
            </a:r>
          </a:p>
        </p:txBody>
      </p:sp>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347951"/>
            <a:ext cx="10711543" cy="4162098"/>
          </a:xfrm>
        </p:spPr>
        <p:txBody>
          <a:bodyPr/>
          <a:lstStyle/>
          <a:p>
            <a:pPr>
              <a:lnSpc>
                <a:spcPct val="100000"/>
              </a:lnSpc>
            </a:pPr>
            <a:r>
              <a:rPr lang="en-US" sz="2000" dirty="0">
                <a:solidFill>
                  <a:srgbClr val="000000"/>
                </a:solidFill>
                <a:cs typeface="Arial" panose="020B0604020202020204" pitchFamily="34" charset="0"/>
              </a:rPr>
              <a:t>In this chapter, we examine methods of statistical inference involving population variances.</a:t>
            </a:r>
          </a:p>
          <a:p>
            <a:pPr>
              <a:lnSpc>
                <a:spcPct val="100000"/>
              </a:lnSpc>
            </a:pPr>
            <a:r>
              <a:rPr lang="en-US" sz="2000" dirty="0">
                <a:solidFill>
                  <a:srgbClr val="000000"/>
                </a:solidFill>
                <a:cs typeface="Arial" panose="020B0604020202020204" pitchFamily="34" charset="0"/>
              </a:rPr>
              <a:t>A variance can provide important decision-making information, suc</a:t>
            </a:r>
            <a:r>
              <a:rPr lang="en-US" sz="2000" dirty="0">
                <a:cs typeface="Arial" panose="020B0604020202020204" pitchFamily="34" charset="0"/>
              </a:rPr>
              <a:t>h as in the case of </a:t>
            </a:r>
            <a:r>
              <a:rPr lang="en-US" sz="2000" dirty="0">
                <a:solidFill>
                  <a:srgbClr val="000000"/>
                </a:solidFill>
                <a:cs typeface="Arial" panose="020B0604020202020204" pitchFamily="34" charset="0"/>
              </a:rPr>
              <a:t>the production process of filling containers with a liquid detergent product:</a:t>
            </a:r>
          </a:p>
          <a:p>
            <a:pPr marL="630238" indent="-342900">
              <a:lnSpc>
                <a:spcPct val="100000"/>
              </a:lnSpc>
              <a:buFont typeface="Arial" panose="020B0604020202020204" pitchFamily="34" charset="0"/>
              <a:buChar char="•"/>
            </a:pPr>
            <a:r>
              <a:rPr lang="en-US" sz="2000" dirty="0">
                <a:solidFill>
                  <a:srgbClr val="000000"/>
                </a:solidFill>
                <a:cs typeface="Arial" panose="020B0604020202020204" pitchFamily="34" charset="0"/>
              </a:rPr>
              <a:t>The mean filling weight is important, but also so is the variance of the filling weights.</a:t>
            </a:r>
          </a:p>
          <a:p>
            <a:pPr marL="630238" indent="-342900">
              <a:lnSpc>
                <a:spcPct val="100000"/>
              </a:lnSpc>
              <a:buFont typeface="Arial" panose="020B0604020202020204" pitchFamily="34" charset="0"/>
              <a:buChar char="•"/>
            </a:pPr>
            <a:r>
              <a:rPr lang="en-US" sz="2000" dirty="0">
                <a:solidFill>
                  <a:srgbClr val="000000"/>
                </a:solidFill>
                <a:cs typeface="Arial" panose="020B0604020202020204" pitchFamily="34" charset="0"/>
              </a:rPr>
              <a:t>By selecting a sample of containers, we can compute a sample variance for the amount of detergent placed in a container.</a:t>
            </a:r>
          </a:p>
          <a:p>
            <a:pPr marL="630238" indent="-342900">
              <a:lnSpc>
                <a:spcPct val="100000"/>
              </a:lnSpc>
              <a:buFont typeface="Arial" panose="020B0604020202020204" pitchFamily="34" charset="0"/>
              <a:buChar char="•"/>
            </a:pPr>
            <a:r>
              <a:rPr lang="en-US" sz="2000" dirty="0">
                <a:solidFill>
                  <a:srgbClr val="000000"/>
                </a:solidFill>
                <a:cs typeface="Arial" panose="020B0604020202020204" pitchFamily="34" charset="0"/>
              </a:rPr>
              <a:t>If the sample variance is excessive, overfilling and underfilling may be occurring even though the mean is correct.</a:t>
            </a:r>
          </a:p>
          <a:p>
            <a:pPr>
              <a:lnSpc>
                <a:spcPct val="100000"/>
              </a:lnSpc>
            </a:pPr>
            <a:r>
              <a:rPr lang="en-US" sz="2000" dirty="0">
                <a:solidFill>
                  <a:srgbClr val="000000"/>
                </a:solidFill>
                <a:cs typeface="Arial" panose="020B0604020202020204" pitchFamily="34" charset="0"/>
              </a:rPr>
              <a:t>In the first section, we consider inferences about the variance of a single population.</a:t>
            </a:r>
          </a:p>
          <a:p>
            <a:pPr>
              <a:lnSpc>
                <a:spcPct val="100000"/>
              </a:lnSpc>
            </a:pPr>
            <a:r>
              <a:rPr lang="en-US" sz="2000" dirty="0">
                <a:solidFill>
                  <a:srgbClr val="000000"/>
                </a:solidFill>
                <a:cs typeface="Arial" panose="020B0604020202020204" pitchFamily="34" charset="0"/>
              </a:rPr>
              <a:t>Subsequently, we will discuss procedures that can be used to make inferences about the variances of two populations.</a:t>
            </a:r>
          </a:p>
        </p:txBody>
      </p:sp>
    </p:spTree>
    <p:extLst>
      <p:ext uri="{BB962C8B-B14F-4D97-AF65-F5344CB8AC3E}">
        <p14:creationId xmlns:p14="http://schemas.microsoft.com/office/powerpoint/2010/main" val="2575815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5C5ED-9F61-2E4E-E5CF-8ADF8667BEEB}"/>
              </a:ext>
            </a:extLst>
          </p:cNvPr>
          <p:cNvSpPr>
            <a:spLocks noGrp="1"/>
          </p:cNvSpPr>
          <p:nvPr>
            <p:ph type="title"/>
          </p:nvPr>
        </p:nvSpPr>
        <p:spPr/>
        <p:txBody>
          <a:bodyPr/>
          <a:lstStyle/>
          <a:p>
            <a:r>
              <a:rPr lang="en-US" dirty="0">
                <a:solidFill>
                  <a:srgbClr val="D14B1E"/>
                </a:solidFill>
              </a:rPr>
              <a:t>11.1 Inferences About a Population Variance </a:t>
            </a:r>
            <a:endParaRPr lang="en-US" i="1" dirty="0">
              <a:solidFill>
                <a:srgbClr val="D14B1E"/>
              </a:solidFill>
            </a:endParaRP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9D86671-B176-8A67-A5AB-2B4385DD5EED}"/>
                  </a:ext>
                </a:extLst>
              </p:cNvPr>
              <p:cNvSpPr>
                <a:spLocks noGrp="1"/>
              </p:cNvSpPr>
              <p:nvPr>
                <p:ph type="body" sz="quarter" idx="15"/>
              </p:nvPr>
            </p:nvSpPr>
            <p:spPr>
              <a:xfrm>
                <a:off x="743576" y="1037230"/>
                <a:ext cx="10610223" cy="1951815"/>
              </a:xfrm>
            </p:spPr>
            <p:txBody>
              <a:bodyPr/>
              <a:lstStyle/>
              <a:p>
                <a:pPr>
                  <a:spcAft>
                    <a:spcPts val="0"/>
                  </a:spcAft>
                </a:pPr>
                <a:r>
                  <a:rPr lang="en-US" b="1" dirty="0">
                    <a:solidFill>
                      <a:srgbClr val="0070C0"/>
                    </a:solidFill>
                  </a:rPr>
                  <a:t>Sampling Distribution of </a:t>
                </a:r>
                <a14:m>
                  <m:oMath xmlns:m="http://schemas.openxmlformats.org/officeDocument/2006/math">
                    <m:d>
                      <m:dPr>
                        <m:ctrlPr>
                          <a:rPr lang="en-US" b="1" i="1">
                            <a:solidFill>
                              <a:srgbClr val="0070C0"/>
                            </a:solidFill>
                            <a:latin typeface="Cambria Math" panose="02040503050406030204" pitchFamily="18" charset="0"/>
                          </a:rPr>
                        </m:ctrlPr>
                      </m:dPr>
                      <m:e>
                        <m:r>
                          <a:rPr lang="en-US" b="1" i="1">
                            <a:solidFill>
                              <a:srgbClr val="0070C0"/>
                            </a:solidFill>
                            <a:latin typeface="Cambria Math" panose="02040503050406030204" pitchFamily="18" charset="0"/>
                          </a:rPr>
                          <m:t>𝐧</m:t>
                        </m:r>
                        <m:r>
                          <a:rPr lang="en-US" b="1">
                            <a:solidFill>
                              <a:srgbClr val="0070C0"/>
                            </a:solidFill>
                            <a:latin typeface="Cambria Math" panose="02040503050406030204" pitchFamily="18" charset="0"/>
                          </a:rPr>
                          <m:t>−</m:t>
                        </m:r>
                        <m:r>
                          <a:rPr lang="en-US" b="1">
                            <a:solidFill>
                              <a:srgbClr val="0070C0"/>
                            </a:solidFill>
                            <a:latin typeface="Cambria Math" panose="02040503050406030204" pitchFamily="18" charset="0"/>
                          </a:rPr>
                          <m:t>𝟏</m:t>
                        </m:r>
                      </m:e>
                    </m:d>
                    <m:sSup>
                      <m:sSupPr>
                        <m:ctrlPr>
                          <a:rPr lang="en-US" b="1" i="1">
                            <a:solidFill>
                              <a:srgbClr val="0070C0"/>
                            </a:solidFill>
                            <a:latin typeface="Cambria Math" panose="02040503050406030204" pitchFamily="18" charset="0"/>
                          </a:rPr>
                        </m:ctrlPr>
                      </m:sSupPr>
                      <m:e>
                        <m:r>
                          <a:rPr lang="en-US" b="1" i="1">
                            <a:solidFill>
                              <a:srgbClr val="0070C0"/>
                            </a:solidFill>
                            <a:latin typeface="Cambria Math" panose="02040503050406030204" pitchFamily="18" charset="0"/>
                          </a:rPr>
                          <m:t>𝐬</m:t>
                        </m:r>
                      </m:e>
                      <m:sup>
                        <m:r>
                          <a:rPr lang="en-US" b="1">
                            <a:solidFill>
                              <a:srgbClr val="0070C0"/>
                            </a:solidFill>
                            <a:latin typeface="Cambria Math" panose="02040503050406030204" pitchFamily="18" charset="0"/>
                          </a:rPr>
                          <m:t>𝟐</m:t>
                        </m:r>
                      </m:sup>
                    </m:sSup>
                    <m:r>
                      <a:rPr lang="en-US" b="1">
                        <a:solidFill>
                          <a:srgbClr val="0070C0"/>
                        </a:solidFill>
                        <a:latin typeface="Cambria Math" panose="02040503050406030204" pitchFamily="18" charset="0"/>
                      </a:rPr>
                      <m:t>/</m:t>
                    </m:r>
                    <m:sSup>
                      <m:sSupPr>
                        <m:ctrlPr>
                          <a:rPr lang="en-US" b="1" i="1">
                            <a:solidFill>
                              <a:srgbClr val="0070C0"/>
                            </a:solidFill>
                            <a:latin typeface="Cambria Math" panose="02040503050406030204" pitchFamily="18" charset="0"/>
                          </a:rPr>
                        </m:ctrlPr>
                      </m:sSupPr>
                      <m:e>
                        <m:r>
                          <a:rPr lang="en-US" b="1" i="1">
                            <a:solidFill>
                              <a:srgbClr val="0070C0"/>
                            </a:solidFill>
                            <a:latin typeface="Cambria Math" panose="02040503050406030204" pitchFamily="18" charset="0"/>
                          </a:rPr>
                          <m:t>𝛔</m:t>
                        </m:r>
                      </m:e>
                      <m:sup>
                        <m:r>
                          <a:rPr lang="en-US" b="1">
                            <a:solidFill>
                              <a:srgbClr val="0070C0"/>
                            </a:solidFill>
                            <a:latin typeface="Cambria Math" panose="02040503050406030204" pitchFamily="18" charset="0"/>
                          </a:rPr>
                          <m:t>𝟐</m:t>
                        </m:r>
                      </m:sup>
                    </m:sSup>
                  </m:oMath>
                </a14:m>
                <a:endParaRPr lang="en-US" sz="2000" b="1" dirty="0">
                  <a:solidFill>
                    <a:srgbClr val="0070C0"/>
                  </a:solidFill>
                </a:endParaRPr>
              </a:p>
              <a:p>
                <a:pPr>
                  <a:spcAft>
                    <a:spcPts val="600"/>
                  </a:spcAft>
                </a:pPr>
                <a:r>
                  <a:rPr lang="en-US" sz="2000" dirty="0"/>
                  <a:t>Whenever a simple random sample of size </a:t>
                </a:r>
                <a:r>
                  <a:rPr lang="en-US" sz="2000" i="1" dirty="0"/>
                  <a:t>n</a:t>
                </a:r>
                <a:r>
                  <a:rPr lang="en-US" sz="2000" dirty="0"/>
                  <a:t> is selected from a normal population, the sampling distribution of</a:t>
                </a:r>
              </a:p>
              <a:p>
                <a:pPr marL="914400">
                  <a:spcAft>
                    <a:spcPts val="600"/>
                  </a:spcAft>
                </a:pPr>
                <a14:m>
                  <m:oMathPara xmlns:m="http://schemas.openxmlformats.org/officeDocument/2006/math">
                    <m:oMathParaPr>
                      <m:jc m:val="left"/>
                    </m:oMathParaPr>
                    <m:oMath xmlns:m="http://schemas.openxmlformats.org/officeDocument/2006/math">
                      <m:f>
                        <m:fPr>
                          <m:ctrlPr>
                            <a:rPr lang="en-US" sz="2000" b="1" i="1" smtClean="0">
                              <a:latin typeface="Cambria Math" panose="02040503050406030204" pitchFamily="18" charset="0"/>
                            </a:rPr>
                          </m:ctrlPr>
                        </m:fPr>
                        <m:num>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𝒏</m:t>
                              </m:r>
                              <m:r>
                                <a:rPr lang="en-US" sz="2000" b="1" i="1" smtClean="0">
                                  <a:latin typeface="Cambria Math" panose="02040503050406030204" pitchFamily="18" charset="0"/>
                                </a:rPr>
                                <m:t>−</m:t>
                              </m:r>
                              <m:r>
                                <a:rPr lang="en-US" sz="2000" b="1" i="1" smtClean="0">
                                  <a:latin typeface="Cambria Math" panose="02040503050406030204" pitchFamily="18" charset="0"/>
                                </a:rPr>
                                <m:t>𝟏</m:t>
                              </m:r>
                            </m:e>
                          </m:d>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𝒔</m:t>
                              </m:r>
                            </m:e>
                            <m:sup>
                              <m:r>
                                <a:rPr lang="en-US" sz="2000" b="1" i="1" smtClean="0">
                                  <a:latin typeface="Cambria Math" panose="02040503050406030204" pitchFamily="18" charset="0"/>
                                </a:rPr>
                                <m:t>𝟐</m:t>
                              </m:r>
                            </m:sup>
                          </m:sSup>
                        </m:num>
                        <m:den>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ea typeface="Cambria Math" panose="02040503050406030204" pitchFamily="18" charset="0"/>
                                </a:rPr>
                                <m:t>𝝈</m:t>
                              </m:r>
                            </m:e>
                            <m:sup>
                              <m:r>
                                <a:rPr lang="en-US" sz="2000" b="1" i="1" smtClean="0">
                                  <a:latin typeface="Cambria Math" panose="02040503050406030204" pitchFamily="18" charset="0"/>
                                </a:rPr>
                                <m:t>𝟐</m:t>
                              </m:r>
                            </m:sup>
                          </m:sSup>
                        </m:den>
                      </m:f>
                    </m:oMath>
                  </m:oMathPara>
                </a14:m>
                <a:endParaRPr lang="en-US" sz="2000" b="1" dirty="0"/>
              </a:p>
            </p:txBody>
          </p:sp>
        </mc:Choice>
        <mc:Fallback xmlns="">
          <p:sp>
            <p:nvSpPr>
              <p:cNvPr id="3" name="Text Placeholder 2">
                <a:extLst>
                  <a:ext uri="{FF2B5EF4-FFF2-40B4-BE49-F238E27FC236}">
                    <a16:creationId xmlns:a16="http://schemas.microsoft.com/office/drawing/2014/main" id="{29D86671-B176-8A67-A5AB-2B4385DD5EED}"/>
                  </a:ext>
                </a:extLst>
              </p:cNvPr>
              <p:cNvSpPr>
                <a:spLocks noGrp="1" noRot="1" noChangeAspect="1" noMove="1" noResize="1" noEditPoints="1" noAdjustHandles="1" noChangeArrowheads="1" noChangeShapeType="1" noTextEdit="1"/>
              </p:cNvSpPr>
              <p:nvPr>
                <p:ph type="body" sz="quarter" idx="15"/>
              </p:nvPr>
            </p:nvSpPr>
            <p:spPr>
              <a:xfrm>
                <a:off x="743576" y="1037230"/>
                <a:ext cx="10610223" cy="1951815"/>
              </a:xfrm>
              <a:blipFill>
                <a:blip r:embed="rId4"/>
                <a:stretch>
                  <a:fillRect l="-1782" t="-40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Placeholder 8">
                <a:extLst>
                  <a:ext uri="{FF2B5EF4-FFF2-40B4-BE49-F238E27FC236}">
                    <a16:creationId xmlns:a16="http://schemas.microsoft.com/office/drawing/2014/main" id="{54599B37-5E46-7899-3F00-8839AE4869E1}"/>
                  </a:ext>
                </a:extLst>
              </p:cNvPr>
              <p:cNvSpPr>
                <a:spLocks noGrp="1"/>
              </p:cNvSpPr>
              <p:nvPr>
                <p:ph type="body" sz="quarter" idx="17"/>
              </p:nvPr>
            </p:nvSpPr>
            <p:spPr>
              <a:xfrm>
                <a:off x="726167" y="2931893"/>
                <a:ext cx="4149211" cy="2877209"/>
              </a:xfrm>
            </p:spPr>
            <p:txBody>
              <a:bodyPr/>
              <a:lstStyle/>
              <a:p>
                <a:r>
                  <a:rPr lang="en-US" sz="2000" dirty="0"/>
                  <a:t>is a </a:t>
                </a:r>
                <a:r>
                  <a:rPr lang="en-US" sz="2000" b="1" dirty="0"/>
                  <a:t>chi-square distribution </a:t>
                </a:r>
                <a:r>
                  <a:rPr lang="en-US" sz="2000" dirty="0"/>
                  <a:t>with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−1</m:t>
                    </m:r>
                  </m:oMath>
                </a14:m>
                <a:r>
                  <a:rPr lang="en-US" sz="2000" dirty="0"/>
                  <a:t> degrees of freedom.</a:t>
                </a:r>
              </a:p>
              <a:p>
                <a:r>
                  <a:rPr lang="en-US" sz="2000" dirty="0"/>
                  <a:t>The figure to the right shows the form of chi-</a:t>
                </a:r>
                <a:r>
                  <a:rPr lang="en-US" sz="2000" dirty="0">
                    <a:solidFill>
                      <a:srgbClr val="FF0000"/>
                    </a:solidFill>
                  </a:rPr>
                  <a:t>s</a:t>
                </a:r>
                <a:r>
                  <a:rPr lang="en-US" sz="2000" dirty="0"/>
                  <a:t>quare distributions for different degrees of freedom.</a:t>
                </a:r>
              </a:p>
              <a:p>
                <a:r>
                  <a:rPr lang="en-US" sz="2000" dirty="0"/>
                  <a:t>We can use the chi-square distribution to develop interval estimates and conduct hypothesis tests about a population variance.</a:t>
                </a:r>
              </a:p>
            </p:txBody>
          </p:sp>
        </mc:Choice>
        <mc:Fallback xmlns="">
          <p:sp>
            <p:nvSpPr>
              <p:cNvPr id="9" name="Text Placeholder 8">
                <a:extLst>
                  <a:ext uri="{FF2B5EF4-FFF2-40B4-BE49-F238E27FC236}">
                    <a16:creationId xmlns:a16="http://schemas.microsoft.com/office/drawing/2014/main" id="{54599B37-5E46-7899-3F00-8839AE4869E1}"/>
                  </a:ext>
                </a:extLst>
              </p:cNvPr>
              <p:cNvSpPr>
                <a:spLocks noGrp="1" noRot="1" noChangeAspect="1" noMove="1" noResize="1" noEditPoints="1" noAdjustHandles="1" noChangeArrowheads="1" noChangeShapeType="1" noTextEdit="1"/>
              </p:cNvSpPr>
              <p:nvPr>
                <p:ph type="body" sz="quarter" idx="17"/>
              </p:nvPr>
            </p:nvSpPr>
            <p:spPr>
              <a:xfrm>
                <a:off x="726167" y="2931893"/>
                <a:ext cx="4149211" cy="2877209"/>
              </a:xfrm>
              <a:blipFill>
                <a:blip r:embed="rId5"/>
                <a:stretch>
                  <a:fillRect l="-3671" t="-2542" b="-6144"/>
                </a:stretch>
              </a:blipFill>
            </p:spPr>
            <p:txBody>
              <a:bodyPr/>
              <a:lstStyle/>
              <a:p>
                <a:r>
                  <a:rPr lang="en-US">
                    <a:noFill/>
                  </a:rPr>
                  <a:t> </a:t>
                </a:r>
              </a:p>
            </p:txBody>
          </p:sp>
        </mc:Fallback>
      </mc:AlternateContent>
      <p:pic>
        <p:nvPicPr>
          <p:cNvPr id="6" name="Picture Placeholder 5" descr="A graph shows three distribution curves for different degrees of freedom. The horizontal axis is labeled “(n minus 1)s^2/sigma^2” and lists 0. The curve labeled “With 2 degrees of freedom” falls in a concave up manner from the vertical axis. The curve labeled “With 5 degrees of freedom” rises sharply from the origin, peaks at a small value of the horizontal axis, and falls gradually. The curve labeled “With 10 degrees of freedom” rises gradually from the origin, peaks at a moderate value of the horizontal axis, and falls gradually. The third curve is broad and has a short peak. &#10;">
            <a:extLst>
              <a:ext uri="{FF2B5EF4-FFF2-40B4-BE49-F238E27FC236}">
                <a16:creationId xmlns:a16="http://schemas.microsoft.com/office/drawing/2014/main" id="{F92C35AF-E38C-29A6-6209-841895D174DD}"/>
              </a:ext>
            </a:extLst>
          </p:cNvPr>
          <p:cNvPicPr>
            <a:picLocks noGrp="1" noChangeAspect="1"/>
          </p:cNvPicPr>
          <p:nvPr>
            <p:ph type="pic" sz="quarter" idx="16"/>
          </p:nvPr>
        </p:nvPicPr>
        <p:blipFill rotWithShape="1">
          <a:blip r:embed="rId6"/>
          <a:srcRect l="87" r="87"/>
          <a:stretch/>
        </p:blipFill>
        <p:spPr>
          <a:xfrm>
            <a:off x="4802252" y="2476262"/>
            <a:ext cx="6551547" cy="3344508"/>
          </a:xfrm>
        </p:spPr>
      </p:pic>
    </p:spTree>
    <p:extLst>
      <p:ext uri="{BB962C8B-B14F-4D97-AF65-F5344CB8AC3E}">
        <p14:creationId xmlns:p14="http://schemas.microsoft.com/office/powerpoint/2010/main" val="14385979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D7BF-C012-4BEC-8F65-9E08ED0C7F38}"/>
              </a:ext>
            </a:extLst>
          </p:cNvPr>
          <p:cNvSpPr>
            <a:spLocks noGrp="1"/>
          </p:cNvSpPr>
          <p:nvPr>
            <p:ph type="title"/>
          </p:nvPr>
        </p:nvSpPr>
        <p:spPr>
          <a:xfrm>
            <a:off x="677919" y="365125"/>
            <a:ext cx="10841421" cy="672105"/>
          </a:xfrm>
        </p:spPr>
        <p:txBody>
          <a:bodyPr/>
          <a:lstStyle/>
          <a:p>
            <a:r>
              <a:rPr lang="en-US" dirty="0"/>
              <a:t>11.1 Interval Estimation of a Population Variance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5FBEC8BB-8104-4C26-9140-469D3A662CF8}"/>
                  </a:ext>
                </a:extLst>
              </p:cNvPr>
              <p:cNvSpPr>
                <a:spLocks noGrp="1"/>
              </p:cNvSpPr>
              <p:nvPr>
                <p:ph type="body" sz="quarter" idx="15"/>
              </p:nvPr>
            </p:nvSpPr>
            <p:spPr>
              <a:xfrm>
                <a:off x="740228" y="1485900"/>
                <a:ext cx="10711543" cy="4158156"/>
              </a:xfrm>
            </p:spPr>
            <p:txBody>
              <a:bodyPr/>
              <a:lstStyle/>
              <a:p>
                <a:pPr>
                  <a:spcBef>
                    <a:spcPts val="600"/>
                  </a:spcBef>
                  <a:spcAft>
                    <a:spcPts val="600"/>
                  </a:spcAft>
                </a:pPr>
                <a:r>
                  <a:rPr lang="en-US" sz="2000" dirty="0">
                    <a:cs typeface="Arial" panose="020B0604020202020204" pitchFamily="34" charset="0"/>
                  </a:rPr>
                  <a:t>T</a:t>
                </a:r>
                <a:r>
                  <a:rPr lang="en-US" sz="2000" dirty="0">
                    <a:solidFill>
                      <a:srgbClr val="000000"/>
                    </a:solidFill>
                    <a:cs typeface="Arial" panose="020B0604020202020204" pitchFamily="34" charset="0"/>
                  </a:rPr>
                  <a:t>he interval estimate of a population variance, </a:t>
                </a:r>
                <a14:m>
                  <m:oMath xmlns:m="http://schemas.openxmlformats.org/officeDocument/2006/math">
                    <m:sSup>
                      <m:sSupPr>
                        <m:ctrlPr>
                          <a:rPr lang="en-US" sz="2000" i="1" smtClean="0">
                            <a:solidFill>
                              <a:srgbClr val="000000"/>
                            </a:solidFill>
                            <a:latin typeface="Cambria Math" panose="02040503050406030204" pitchFamily="18" charset="0"/>
                            <a:cs typeface="Arial" panose="020B0604020202020204" pitchFamily="34" charset="0"/>
                          </a:rPr>
                        </m:ctrlPr>
                      </m:sSupPr>
                      <m:e>
                        <m:r>
                          <a:rPr lang="en-US" sz="200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𝜎</m:t>
                        </m:r>
                      </m:e>
                      <m:sup>
                        <m:r>
                          <a:rPr lang="en-US" sz="2000" b="0" i="1" smtClean="0">
                            <a:solidFill>
                              <a:srgbClr val="000000"/>
                            </a:solidFill>
                            <a:latin typeface="Cambria Math" panose="02040503050406030204" pitchFamily="18" charset="0"/>
                            <a:cs typeface="Arial" panose="020B0604020202020204" pitchFamily="34" charset="0"/>
                          </a:rPr>
                          <m:t>2</m:t>
                        </m:r>
                      </m:sup>
                    </m:sSup>
                  </m:oMath>
                </a14:m>
                <a:r>
                  <a:rPr lang="en-US" sz="2000" dirty="0">
                    <a:solidFill>
                      <a:srgbClr val="000000"/>
                    </a:solidFill>
                    <a:cs typeface="Arial" panose="020B0604020202020204" pitchFamily="34" charset="0"/>
                  </a:rPr>
                  <a:t>, can be written as follows.</a:t>
                </a:r>
              </a:p>
              <a:p>
                <a:pPr marL="914400">
                  <a:spcBef>
                    <a:spcPts val="600"/>
                  </a:spcBef>
                  <a:spcAft>
                    <a:spcPts val="600"/>
                  </a:spcAft>
                </a:pPr>
                <a14:m>
                  <m:oMathPara xmlns:m="http://schemas.openxmlformats.org/officeDocument/2006/math">
                    <m:oMathParaPr>
                      <m:jc m:val="left"/>
                    </m:oMathParaPr>
                    <m:oMath xmlns:m="http://schemas.openxmlformats.org/officeDocument/2006/math">
                      <m:f>
                        <m:fPr>
                          <m:ctrlPr>
                            <a:rPr lang="en-US" sz="2000" b="1" i="1">
                              <a:latin typeface="Cambria Math" panose="02040503050406030204" pitchFamily="18" charset="0"/>
                            </a:rPr>
                          </m:ctrlPr>
                        </m:fPr>
                        <m:num>
                          <m:d>
                            <m:dPr>
                              <m:ctrlPr>
                                <a:rPr lang="en-US" sz="2000" b="1" i="1">
                                  <a:latin typeface="Cambria Math" panose="02040503050406030204" pitchFamily="18" charset="0"/>
                                </a:rPr>
                              </m:ctrlPr>
                            </m:dPr>
                            <m:e>
                              <m:r>
                                <a:rPr lang="en-US" sz="2000" b="1" i="1">
                                  <a:latin typeface="Cambria Math" panose="02040503050406030204" pitchFamily="18" charset="0"/>
                                </a:rPr>
                                <m:t>𝒏</m:t>
                              </m:r>
                              <m:r>
                                <a:rPr lang="en-US" sz="2000" b="1" i="1">
                                  <a:latin typeface="Cambria Math" panose="02040503050406030204" pitchFamily="18" charset="0"/>
                                </a:rPr>
                                <m:t>−</m:t>
                              </m:r>
                              <m:r>
                                <a:rPr lang="en-US" sz="2000" b="1" i="1">
                                  <a:latin typeface="Cambria Math" panose="02040503050406030204" pitchFamily="18" charset="0"/>
                                </a:rPr>
                                <m:t>𝟏</m:t>
                              </m:r>
                            </m:e>
                          </m:d>
                          <m:sSup>
                            <m:sSupPr>
                              <m:ctrlPr>
                                <a:rPr lang="en-US" sz="2000" b="1" i="1">
                                  <a:latin typeface="Cambria Math" panose="02040503050406030204" pitchFamily="18" charset="0"/>
                                </a:rPr>
                              </m:ctrlPr>
                            </m:sSupPr>
                            <m:e>
                              <m:r>
                                <a:rPr lang="en-US" sz="2000" b="1" i="1">
                                  <a:latin typeface="Cambria Math" panose="02040503050406030204" pitchFamily="18" charset="0"/>
                                </a:rPr>
                                <m:t>𝒔</m:t>
                              </m:r>
                            </m:e>
                            <m:sup>
                              <m:r>
                                <a:rPr lang="en-US" sz="2000" b="1" i="1">
                                  <a:latin typeface="Cambria Math" panose="02040503050406030204" pitchFamily="18" charset="0"/>
                                </a:rPr>
                                <m:t>𝟐</m:t>
                              </m:r>
                            </m:sup>
                          </m:sSup>
                        </m:num>
                        <m:den>
                          <m:sSubSup>
                            <m:sSubSupPr>
                              <m:ctrlPr>
                                <a:rPr lang="en-US" sz="2000" b="1" i="1" smtClean="0">
                                  <a:latin typeface="Cambria Math" panose="02040503050406030204" pitchFamily="18" charset="0"/>
                                </a:rPr>
                              </m:ctrlPr>
                            </m:sSubSupPr>
                            <m:e>
                              <m:r>
                                <a:rPr lang="el-GR" sz="2000" b="1" i="1" smtClean="0">
                                  <a:latin typeface="Cambria Math" panose="02040503050406030204" pitchFamily="18" charset="0"/>
                                  <a:ea typeface="Cambria Math" panose="02040503050406030204" pitchFamily="18" charset="0"/>
                                </a:rPr>
                                <m:t>𝜲</m:t>
                              </m:r>
                            </m:e>
                            <m:sub>
                              <m:f>
                                <m:fPr>
                                  <m:type m:val="lin"/>
                                  <m:ctrlPr>
                                    <a:rPr lang="en-US" sz="2000" b="1" i="1" smtClean="0">
                                      <a:latin typeface="Cambria Math" panose="02040503050406030204" pitchFamily="18" charset="0"/>
                                    </a:rPr>
                                  </m:ctrlPr>
                                </m:fPr>
                                <m:num>
                                  <m:r>
                                    <a:rPr lang="en-US" sz="2000" b="1" i="1" smtClean="0">
                                      <a:latin typeface="Cambria Math" panose="02040503050406030204" pitchFamily="18" charset="0"/>
                                      <a:ea typeface="Cambria Math" panose="02040503050406030204" pitchFamily="18" charset="0"/>
                                    </a:rPr>
                                    <m:t>𝜶</m:t>
                                  </m:r>
                                </m:num>
                                <m:den>
                                  <m:r>
                                    <a:rPr lang="en-US" sz="2000" b="1" i="1" smtClean="0">
                                      <a:latin typeface="Cambria Math" panose="02040503050406030204" pitchFamily="18" charset="0"/>
                                    </a:rPr>
                                    <m:t>𝟐</m:t>
                                  </m:r>
                                </m:den>
                              </m:f>
                            </m:sub>
                            <m:sup>
                              <m:r>
                                <a:rPr lang="en-US" sz="2000" b="1" i="1" smtClean="0">
                                  <a:latin typeface="Cambria Math" panose="02040503050406030204" pitchFamily="18" charset="0"/>
                                </a:rPr>
                                <m:t>𝟐</m:t>
                              </m:r>
                            </m:sup>
                          </m:sSubSup>
                        </m:den>
                      </m:f>
                      <m:r>
                        <a:rPr lang="en-US" sz="2000" b="1"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2000" b="1" i="1">
                              <a:latin typeface="Cambria Math" panose="02040503050406030204" pitchFamily="18" charset="0"/>
                              <a:cs typeface="Arial" panose="020B0604020202020204" pitchFamily="34" charset="0"/>
                            </a:rPr>
                          </m:ctrlPr>
                        </m:sSupPr>
                        <m:e>
                          <m:r>
                            <a:rPr lang="en-US" sz="2000" b="1" i="1">
                              <a:latin typeface="Cambria Math" panose="02040503050406030204" pitchFamily="18" charset="0"/>
                              <a:ea typeface="Cambria Math" panose="02040503050406030204" pitchFamily="18" charset="0"/>
                              <a:cs typeface="Arial" panose="020B0604020202020204" pitchFamily="34" charset="0"/>
                            </a:rPr>
                            <m:t>𝝈</m:t>
                          </m:r>
                        </m:e>
                        <m:sup>
                          <m:r>
                            <a:rPr lang="en-US" sz="2000" b="1" i="1">
                              <a:latin typeface="Cambria Math" panose="02040503050406030204" pitchFamily="18" charset="0"/>
                              <a:cs typeface="Arial" panose="020B0604020202020204" pitchFamily="34" charset="0"/>
                            </a:rPr>
                            <m:t>𝟐</m:t>
                          </m:r>
                        </m:sup>
                      </m:sSup>
                      <m:r>
                        <a:rPr lang="en-US" sz="2000" b="1"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b="1" i="1">
                              <a:latin typeface="Cambria Math" panose="02040503050406030204" pitchFamily="18" charset="0"/>
                            </a:rPr>
                          </m:ctrlPr>
                        </m:fPr>
                        <m:num>
                          <m:d>
                            <m:dPr>
                              <m:ctrlPr>
                                <a:rPr lang="en-US" sz="2000" b="1" i="1">
                                  <a:latin typeface="Cambria Math" panose="02040503050406030204" pitchFamily="18" charset="0"/>
                                </a:rPr>
                              </m:ctrlPr>
                            </m:dPr>
                            <m:e>
                              <m:r>
                                <a:rPr lang="en-US" sz="2000" b="1" i="1">
                                  <a:latin typeface="Cambria Math" panose="02040503050406030204" pitchFamily="18" charset="0"/>
                                </a:rPr>
                                <m:t>𝒏</m:t>
                              </m:r>
                              <m:r>
                                <a:rPr lang="en-US" sz="2000" b="1" i="1">
                                  <a:latin typeface="Cambria Math" panose="02040503050406030204" pitchFamily="18" charset="0"/>
                                </a:rPr>
                                <m:t>−</m:t>
                              </m:r>
                              <m:r>
                                <a:rPr lang="en-US" sz="2000" b="1" i="1">
                                  <a:latin typeface="Cambria Math" panose="02040503050406030204" pitchFamily="18" charset="0"/>
                                </a:rPr>
                                <m:t>𝟏</m:t>
                              </m:r>
                            </m:e>
                          </m:d>
                          <m:sSup>
                            <m:sSupPr>
                              <m:ctrlPr>
                                <a:rPr lang="en-US" sz="2000" b="1" i="1">
                                  <a:latin typeface="Cambria Math" panose="02040503050406030204" pitchFamily="18" charset="0"/>
                                </a:rPr>
                              </m:ctrlPr>
                            </m:sSupPr>
                            <m:e>
                              <m:r>
                                <a:rPr lang="en-US" sz="2000" b="1" i="1">
                                  <a:latin typeface="Cambria Math" panose="02040503050406030204" pitchFamily="18" charset="0"/>
                                </a:rPr>
                                <m:t>𝒔</m:t>
                              </m:r>
                            </m:e>
                            <m:sup>
                              <m:r>
                                <a:rPr lang="en-US" sz="2000" b="1" i="1">
                                  <a:latin typeface="Cambria Math" panose="02040503050406030204" pitchFamily="18" charset="0"/>
                                </a:rPr>
                                <m:t>𝟐</m:t>
                              </m:r>
                            </m:sup>
                          </m:sSup>
                        </m:num>
                        <m:den>
                          <m:sSubSup>
                            <m:sSubSupPr>
                              <m:ctrlPr>
                                <a:rPr lang="en-US" sz="2000" b="1" i="1">
                                  <a:latin typeface="Cambria Math" panose="02040503050406030204" pitchFamily="18" charset="0"/>
                                </a:rPr>
                              </m:ctrlPr>
                            </m:sSubSupPr>
                            <m:e>
                              <m:r>
                                <a:rPr lang="el-GR" sz="2000" b="1" i="1">
                                  <a:latin typeface="Cambria Math" panose="02040503050406030204" pitchFamily="18" charset="0"/>
                                  <a:ea typeface="Cambria Math" panose="02040503050406030204" pitchFamily="18" charset="0"/>
                                </a:rPr>
                                <m:t>𝜲</m:t>
                              </m:r>
                            </m:e>
                            <m:sub>
                              <m:f>
                                <m:fPr>
                                  <m:type m:val="lin"/>
                                  <m:ctrlPr>
                                    <a:rPr lang="en-US" sz="2000" b="1" i="1">
                                      <a:latin typeface="Cambria Math" panose="02040503050406030204" pitchFamily="18" charset="0"/>
                                    </a:rPr>
                                  </m:ctrlPr>
                                </m:fPr>
                                <m:num>
                                  <m:r>
                                    <a:rPr lang="en-US" sz="2000" b="1" i="1" smtClean="0">
                                      <a:latin typeface="Cambria Math" panose="02040503050406030204" pitchFamily="18" charset="0"/>
                                    </a:rPr>
                                    <m:t>𝟏</m:t>
                                  </m:r>
                                  <m:r>
                                    <a:rPr lang="en-US" sz="2000" b="1" i="1" smtClean="0">
                                      <a:latin typeface="Cambria Math" panose="02040503050406030204" pitchFamily="18" charset="0"/>
                                    </a:rPr>
                                    <m:t>−</m:t>
                                  </m:r>
                                  <m:r>
                                    <a:rPr lang="en-US" sz="2000" b="1" i="1">
                                      <a:latin typeface="Cambria Math" panose="02040503050406030204" pitchFamily="18" charset="0"/>
                                      <a:ea typeface="Cambria Math" panose="02040503050406030204" pitchFamily="18" charset="0"/>
                                    </a:rPr>
                                    <m:t>𝜶</m:t>
                                  </m:r>
                                </m:num>
                                <m:den>
                                  <m:r>
                                    <a:rPr lang="en-US" sz="2000" b="1" i="1">
                                      <a:latin typeface="Cambria Math" panose="02040503050406030204" pitchFamily="18" charset="0"/>
                                    </a:rPr>
                                    <m:t>𝟐</m:t>
                                  </m:r>
                                </m:den>
                              </m:f>
                            </m:sub>
                            <m:sup>
                              <m:r>
                                <a:rPr lang="en-US" sz="2000" b="1" i="1">
                                  <a:latin typeface="Cambria Math" panose="02040503050406030204" pitchFamily="18" charset="0"/>
                                </a:rPr>
                                <m:t>𝟐</m:t>
                              </m:r>
                            </m:sup>
                          </m:sSubSup>
                        </m:den>
                      </m:f>
                    </m:oMath>
                  </m:oMathPara>
                </a14:m>
                <a:endParaRPr lang="en-US" sz="2000" b="1" dirty="0">
                  <a:cs typeface="Arial" panose="020B0604020202020204" pitchFamily="34" charset="0"/>
                </a:endParaRPr>
              </a:p>
              <a:p>
                <a:pPr>
                  <a:spcBef>
                    <a:spcPts val="600"/>
                  </a:spcBef>
                </a:pPr>
                <a:r>
                  <a:rPr lang="en-US" sz="2000" dirty="0">
                    <a:cs typeface="Arial" panose="020B0604020202020204" pitchFamily="34" charset="0"/>
                  </a:rPr>
                  <a:t>Where</a:t>
                </a:r>
              </a:p>
              <a:p>
                <a:pPr marL="914400">
                  <a:spcBef>
                    <a:spcPts val="600"/>
                  </a:spcBef>
                  <a:spcAft>
                    <a:spcPts val="600"/>
                  </a:spcAft>
                </a:pPr>
                <a14:m>
                  <m:oMath xmlns:m="http://schemas.openxmlformats.org/officeDocument/2006/math">
                    <m:r>
                      <a:rPr lang="en-US" sz="2000" i="1">
                        <a:latin typeface="Cambria Math" panose="02040503050406030204" pitchFamily="18" charset="0"/>
                        <a:cs typeface="Arial" panose="020B0604020202020204" pitchFamily="34" charset="0"/>
                      </a:rPr>
                      <m:t>1−</m:t>
                    </m:r>
                    <m:r>
                      <a:rPr lang="en-US" sz="2000" i="1">
                        <a:latin typeface="Cambria Math" panose="02040503050406030204" pitchFamily="18" charset="0"/>
                        <a:ea typeface="Cambria Math" panose="02040503050406030204" pitchFamily="18" charset="0"/>
                        <a:cs typeface="Arial" panose="020B0604020202020204" pitchFamily="34" charset="0"/>
                      </a:rPr>
                      <m:t>𝛼</m:t>
                    </m:r>
                    <m:r>
                      <m:rPr>
                        <m:nor/>
                      </m:rPr>
                      <a:rPr lang="en-US" sz="2000">
                        <a:latin typeface="Cambria Math" panose="02040503050406030204" pitchFamily="18" charset="0"/>
                        <a:ea typeface="Cambria Math" panose="02040503050406030204" pitchFamily="18" charset="0"/>
                        <a:cs typeface="Arial" panose="020B0604020202020204" pitchFamily="34"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confidence</m:t>
                    </m:r>
                    <m:r>
                      <m:rPr>
                        <m:nor/>
                      </m:rPr>
                      <a:rPr lang="en-US" sz="2000" dirty="0">
                        <a:cs typeface="Arial" panose="020B0604020202020204" pitchFamily="34" charset="0"/>
                      </a:rPr>
                      <m:t> </m:t>
                    </m:r>
                    <m:r>
                      <m:rPr>
                        <m:nor/>
                      </m:rPr>
                      <a:rPr lang="en-US" sz="2000" dirty="0">
                        <a:cs typeface="Arial" panose="020B0604020202020204" pitchFamily="34" charset="0"/>
                      </a:rPr>
                      <m:t>coefficient</m:t>
                    </m:r>
                  </m:oMath>
                </a14:m>
                <a:r>
                  <a:rPr lang="en-US" sz="2000" dirty="0">
                    <a:cs typeface="Arial" panose="020B0604020202020204" pitchFamily="34" charset="0"/>
                  </a:rPr>
                  <a:t> </a:t>
                </a:r>
              </a:p>
              <a:p>
                <a:pPr marL="914400">
                  <a:spcBef>
                    <a:spcPts val="600"/>
                  </a:spcBef>
                  <a:spcAft>
                    <a:spcPts val="600"/>
                  </a:spcAft>
                </a:pPr>
                <a14:m>
                  <m:oMath xmlns:m="http://schemas.openxmlformats.org/officeDocument/2006/math">
                    <m:sSup>
                      <m:sSupPr>
                        <m:ctrlPr>
                          <a:rPr lang="en-US" sz="2000" i="1" smtClean="0">
                            <a:latin typeface="Cambria Math" panose="02040503050406030204" pitchFamily="18" charset="0"/>
                          </a:rPr>
                        </m:ctrlPr>
                      </m:sSupPr>
                      <m:e>
                        <m:r>
                          <a:rPr lang="en-US" sz="2000" i="1">
                            <a:latin typeface="Cambria Math" panose="02040503050406030204" pitchFamily="18" charset="0"/>
                          </a:rPr>
                          <m:t>𝑠</m:t>
                        </m:r>
                      </m:e>
                      <m:sup>
                        <m:r>
                          <a:rPr lang="en-US" sz="2000" i="1">
                            <a:latin typeface="Cambria Math" panose="02040503050406030204" pitchFamily="18" charset="0"/>
                          </a:rPr>
                          <m:t>2</m:t>
                        </m:r>
                      </m:sup>
                    </m:sSup>
                    <m:r>
                      <a:rPr lang="en-US" sz="2000" b="0" i="1" smtClean="0">
                        <a:latin typeface="Cambria Math" panose="02040503050406030204" pitchFamily="18" charset="0"/>
                      </a:rPr>
                      <m:t> </m:t>
                    </m:r>
                    <m:r>
                      <m:rPr>
                        <m:nor/>
                      </m:rPr>
                      <a:rPr lang="en-US" sz="2000" b="0" i="0" smtClean="0">
                        <a:latin typeface="Arial" panose="020B0604020202020204" pitchFamily="34" charset="0"/>
                        <a:cs typeface="Arial" panose="020B0604020202020204" pitchFamily="34" charset="0"/>
                      </a:rPr>
                      <m:t>is</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the</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sample</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variance</m:t>
                    </m:r>
                  </m:oMath>
                </a14:m>
                <a:r>
                  <a:rPr lang="en-US" sz="2000" dirty="0">
                    <a:latin typeface="Arial" panose="020B0604020202020204" pitchFamily="34" charset="0"/>
                    <a:cs typeface="Arial" panose="020B0604020202020204" pitchFamily="34" charset="0"/>
                  </a:rPr>
                  <a:t> </a:t>
                </a:r>
              </a:p>
              <a:p>
                <a:pPr marL="914400">
                  <a:spcBef>
                    <a:spcPts val="600"/>
                  </a:spcBef>
                  <a:spcAft>
                    <a:spcPts val="600"/>
                  </a:spcAft>
                </a:pPr>
                <a14:m>
                  <m:oMath xmlns:m="http://schemas.openxmlformats.org/officeDocument/2006/math">
                    <m:sSubSup>
                      <m:sSubSupPr>
                        <m:ctrlPr>
                          <a:rPr lang="en-US" sz="2000" i="1" smtClean="0">
                            <a:latin typeface="Cambria Math" panose="02040503050406030204" pitchFamily="18" charset="0"/>
                          </a:rPr>
                        </m:ctrlPr>
                      </m:sSubSupPr>
                      <m:e>
                        <m:r>
                          <m:rPr>
                            <m:sty m:val="p"/>
                          </m:rPr>
                          <a:rPr lang="el-GR" sz="2000" i="1" smtClean="0">
                            <a:latin typeface="Cambria Math" panose="02040503050406030204" pitchFamily="18" charset="0"/>
                            <a:ea typeface="Cambria Math" panose="02040503050406030204" pitchFamily="18" charset="0"/>
                          </a:rPr>
                          <m:t>Χ</m:t>
                        </m:r>
                      </m:e>
                      <m:sub>
                        <m:f>
                          <m:fPr>
                            <m:type m:val="lin"/>
                            <m:ctrlPr>
                              <a:rPr lang="en-US" sz="2000" i="1" smtClean="0">
                                <a:latin typeface="Cambria Math" panose="02040503050406030204" pitchFamily="18" charset="0"/>
                              </a:rPr>
                            </m:ctrlPr>
                          </m:fPr>
                          <m:num>
                            <m:r>
                              <a:rPr lang="en-US" sz="2000" i="1" smtClean="0">
                                <a:latin typeface="Cambria Math" panose="02040503050406030204" pitchFamily="18" charset="0"/>
                                <a:ea typeface="Cambria Math" panose="02040503050406030204" pitchFamily="18" charset="0"/>
                              </a:rPr>
                              <m:t>𝛼</m:t>
                            </m:r>
                          </m:num>
                          <m:den>
                            <m:r>
                              <a:rPr lang="en-US" sz="2000" b="0" i="1" smtClean="0">
                                <a:latin typeface="Cambria Math" panose="02040503050406030204" pitchFamily="18" charset="0"/>
                              </a:rPr>
                              <m:t>2</m:t>
                            </m:r>
                          </m:den>
                        </m:f>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 </m:t>
                    </m:r>
                    <m:r>
                      <m:rPr>
                        <m:nor/>
                      </m:rPr>
                      <a:rPr lang="en-US" sz="2000" b="0" i="0" smtClean="0">
                        <a:latin typeface="Arial" panose="020B0604020202020204" pitchFamily="34" charset="0"/>
                        <a:cs typeface="Arial" panose="020B0604020202020204" pitchFamily="34" charset="0"/>
                      </a:rPr>
                      <m:t>and</m:t>
                    </m:r>
                    <m:r>
                      <a:rPr lang="en-US" sz="2000" b="0" i="1" smtClean="0">
                        <a:latin typeface="Cambria Math" panose="02040503050406030204" pitchFamily="18" charset="0"/>
                      </a:rPr>
                      <m:t> </m:t>
                    </m:r>
                    <m:sSubSup>
                      <m:sSubSupPr>
                        <m:ctrlPr>
                          <a:rPr lang="en-US" sz="2000" i="1">
                            <a:latin typeface="Cambria Math" panose="02040503050406030204" pitchFamily="18" charset="0"/>
                          </a:rPr>
                        </m:ctrlPr>
                      </m:sSubSupPr>
                      <m:e>
                        <m:r>
                          <m:rPr>
                            <m:sty m:val="p"/>
                          </m:rPr>
                          <a:rPr lang="el-GR" sz="2000" i="1">
                            <a:latin typeface="Cambria Math" panose="02040503050406030204" pitchFamily="18" charset="0"/>
                            <a:ea typeface="Cambria Math" panose="02040503050406030204" pitchFamily="18" charset="0"/>
                          </a:rPr>
                          <m:t>Χ</m:t>
                        </m:r>
                      </m:e>
                      <m:sub>
                        <m:f>
                          <m:fPr>
                            <m:type m:val="lin"/>
                            <m:ctrlPr>
                              <a:rPr lang="en-US" sz="2000" i="1">
                                <a:latin typeface="Cambria Math" panose="02040503050406030204" pitchFamily="18" charset="0"/>
                              </a:rPr>
                            </m:ctrlPr>
                          </m:fPr>
                          <m:num>
                            <m:r>
                              <a:rPr lang="en-US" sz="2000" i="1">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𝛼</m:t>
                            </m:r>
                          </m:num>
                          <m:den>
                            <m:r>
                              <a:rPr lang="en-US" sz="2000" i="1">
                                <a:latin typeface="Cambria Math" panose="02040503050406030204" pitchFamily="18" charset="0"/>
                              </a:rPr>
                              <m:t>2</m:t>
                            </m:r>
                          </m:den>
                        </m:f>
                      </m:sub>
                      <m:sup>
                        <m:r>
                          <a:rPr lang="en-US" sz="2000" i="1">
                            <a:latin typeface="Cambria Math" panose="02040503050406030204" pitchFamily="18" charset="0"/>
                          </a:rPr>
                          <m:t>2</m:t>
                        </m:r>
                      </m:sup>
                    </m:sSubSup>
                    <m:r>
                      <a:rPr lang="en-US" sz="2000" b="0" i="1" smtClean="0">
                        <a:latin typeface="Cambria Math" panose="02040503050406030204" pitchFamily="18" charset="0"/>
                      </a:rPr>
                      <m:t> </m:t>
                    </m:r>
                    <m:r>
                      <m:rPr>
                        <m:nor/>
                      </m:rPr>
                      <a:rPr lang="en-US" sz="2000" b="0" i="0" smtClean="0">
                        <a:latin typeface="Arial" panose="020B0604020202020204" pitchFamily="34" charset="0"/>
                        <a:cs typeface="Arial" panose="020B0604020202020204" pitchFamily="34" charset="0"/>
                      </a:rPr>
                      <m:t>are</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values</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from</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a</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chi</m:t>
                    </m:r>
                    <m:r>
                      <m:rPr>
                        <m:nor/>
                      </m:rPr>
                      <a:rPr lang="en-US" sz="2000" b="0" i="0" smtClean="0">
                        <a:latin typeface="Arial" panose="020B0604020202020204" pitchFamily="34" charset="0"/>
                        <a:cs typeface="Arial" panose="020B0604020202020204" pitchFamily="34" charset="0"/>
                      </a:rPr>
                      <m:t>−</m:t>
                    </m:r>
                    <m:r>
                      <m:rPr>
                        <m:nor/>
                      </m:rPr>
                      <a:rPr lang="en-US" sz="2000" b="0" i="0" smtClean="0">
                        <a:latin typeface="Arial" panose="020B0604020202020204" pitchFamily="34" charset="0"/>
                        <a:cs typeface="Arial" panose="020B0604020202020204" pitchFamily="34" charset="0"/>
                      </a:rPr>
                      <m:t>square</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distribution</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with</m:t>
                    </m:r>
                    <m:r>
                      <m:rPr>
                        <m:nor/>
                      </m:rPr>
                      <a:rPr lang="en-US" sz="2000" b="0" i="0" smtClean="0">
                        <a:latin typeface="Arial" panose="020B0604020202020204" pitchFamily="34" charset="0"/>
                        <a:cs typeface="Arial" panose="020B0604020202020204" pitchFamily="34" charset="0"/>
                      </a:rPr>
                      <m:t> </m:t>
                    </m:r>
                    <m:r>
                      <a:rPr lang="en-US" sz="2000" b="0" i="1" smtClean="0">
                        <a:latin typeface="Cambria Math" panose="02040503050406030204" pitchFamily="18" charset="0"/>
                      </a:rPr>
                      <m:t>𝑛</m:t>
                    </m:r>
                    <m:r>
                      <a:rPr lang="en-US" sz="2000" b="0" i="1" smtClean="0">
                        <a:latin typeface="Cambria Math" panose="02040503050406030204" pitchFamily="18" charset="0"/>
                      </a:rPr>
                      <m:t>−1 </m:t>
                    </m:r>
                    <m:r>
                      <m:rPr>
                        <m:nor/>
                      </m:rPr>
                      <a:rPr lang="en-US" sz="2000" b="0" i="0" smtClean="0">
                        <a:latin typeface="Arial" panose="020B0604020202020204" pitchFamily="34" charset="0"/>
                        <a:cs typeface="Arial" panose="020B0604020202020204" pitchFamily="34" charset="0"/>
                      </a:rPr>
                      <m:t>degrees</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of</m:t>
                    </m:r>
                    <m:r>
                      <m:rPr>
                        <m:nor/>
                      </m:rPr>
                      <a:rPr lang="en-US" sz="2000" b="0" i="0" smtClean="0">
                        <a:latin typeface="Arial" panose="020B0604020202020204" pitchFamily="34" charset="0"/>
                        <a:cs typeface="Arial" panose="020B0604020202020204" pitchFamily="34" charset="0"/>
                      </a:rPr>
                      <m:t> </m:t>
                    </m:r>
                    <m:r>
                      <m:rPr>
                        <m:nor/>
                      </m:rPr>
                      <a:rPr lang="en-US" sz="2000" b="0" i="0" smtClean="0">
                        <a:latin typeface="Arial" panose="020B0604020202020204" pitchFamily="34" charset="0"/>
                        <a:cs typeface="Arial" panose="020B0604020202020204" pitchFamily="34" charset="0"/>
                      </a:rPr>
                      <m:t>freedom</m:t>
                    </m:r>
                  </m:oMath>
                </a14:m>
                <a:r>
                  <a:rPr lang="en-US" sz="2000" dirty="0">
                    <a:latin typeface="Arial" panose="020B0604020202020204" pitchFamily="34" charset="0"/>
                    <a:cs typeface="Arial" panose="020B0604020202020204" pitchFamily="34" charset="0"/>
                  </a:rPr>
                  <a:t> </a:t>
                </a:r>
              </a:p>
              <a:p>
                <a:pPr marL="1828800">
                  <a:spcBef>
                    <a:spcPts val="600"/>
                  </a:spcBef>
                  <a:spcAft>
                    <a:spcPts val="600"/>
                  </a:spcAft>
                </a:pPr>
                <a14:m>
                  <m:oMath xmlns:m="http://schemas.openxmlformats.org/officeDocument/2006/math">
                    <m:sSubSup>
                      <m:sSubSupPr>
                        <m:ctrlPr>
                          <a:rPr lang="en-US" sz="2000" i="1">
                            <a:latin typeface="Cambria Math" panose="02040503050406030204" pitchFamily="18" charset="0"/>
                          </a:rPr>
                        </m:ctrlPr>
                      </m:sSubSupPr>
                      <m:e>
                        <m:r>
                          <m:rPr>
                            <m:sty m:val="p"/>
                          </m:rPr>
                          <a:rPr lang="el-GR" sz="2000" i="1">
                            <a:latin typeface="Cambria Math" panose="02040503050406030204" pitchFamily="18" charset="0"/>
                            <a:ea typeface="Cambria Math" panose="02040503050406030204" pitchFamily="18" charset="0"/>
                          </a:rPr>
                          <m:t>Χ</m:t>
                        </m:r>
                      </m:e>
                      <m:sub>
                        <m:f>
                          <m:fPr>
                            <m:type m:val="lin"/>
                            <m:ctrlPr>
                              <a:rPr lang="en-US" sz="2000" i="1">
                                <a:latin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𝛼</m:t>
                            </m:r>
                          </m:num>
                          <m:den>
                            <m:r>
                              <a:rPr lang="en-US" sz="2000" i="1">
                                <a:latin typeface="Cambria Math" panose="02040503050406030204" pitchFamily="18" charset="0"/>
                              </a:rPr>
                              <m:t>2</m:t>
                            </m:r>
                          </m:den>
                        </m:f>
                      </m:sub>
                      <m:sup>
                        <m:r>
                          <a:rPr lang="en-US" sz="2000" i="1">
                            <a:latin typeface="Cambria Math" panose="02040503050406030204" pitchFamily="18" charset="0"/>
                          </a:rPr>
                          <m:t>2</m:t>
                        </m:r>
                      </m:sup>
                    </m:sSubSup>
                    <m:r>
                      <m:rPr>
                        <m:nor/>
                      </m:rPr>
                      <a:rPr lang="en-US" sz="2000" b="0" i="0" smtClean="0">
                        <a:latin typeface="Cambria Math" panose="02040503050406030204" pitchFamily="18"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critical</m:t>
                    </m:r>
                    <m:r>
                      <m:rPr>
                        <m:nor/>
                      </m:rPr>
                      <a:rPr lang="en-US" sz="2000" dirty="0">
                        <a:cs typeface="Arial" panose="020B0604020202020204" pitchFamily="34" charset="0"/>
                      </a:rPr>
                      <m:t> </m:t>
                    </m:r>
                    <m:r>
                      <m:rPr>
                        <m:nor/>
                      </m:rPr>
                      <a:rPr lang="en-US" sz="2000" dirty="0">
                        <a:cs typeface="Arial" panose="020B0604020202020204" pitchFamily="34" charset="0"/>
                      </a:rPr>
                      <m:t>value</m:t>
                    </m:r>
                    <m:r>
                      <m:rPr>
                        <m:nor/>
                      </m:rPr>
                      <a:rPr lang="en-US" sz="2000" dirty="0">
                        <a:cs typeface="Arial" panose="020B0604020202020204" pitchFamily="34" charset="0"/>
                      </a:rPr>
                      <m:t> </m:t>
                    </m:r>
                    <m:r>
                      <m:rPr>
                        <m:nor/>
                      </m:rPr>
                      <a:rPr lang="en-US" sz="2000" dirty="0">
                        <a:cs typeface="Arial" panose="020B0604020202020204" pitchFamily="34" charset="0"/>
                      </a:rPr>
                      <m:t>such</m:t>
                    </m:r>
                    <m:r>
                      <m:rPr>
                        <m:nor/>
                      </m:rPr>
                      <a:rPr lang="en-US" sz="2000" dirty="0">
                        <a:cs typeface="Arial" panose="020B0604020202020204" pitchFamily="34" charset="0"/>
                      </a:rPr>
                      <m:t> </m:t>
                    </m:r>
                    <m:r>
                      <m:rPr>
                        <m:nor/>
                      </m:rPr>
                      <a:rPr lang="en-US" sz="2000" dirty="0">
                        <a:cs typeface="Arial" panose="020B0604020202020204" pitchFamily="34" charset="0"/>
                      </a:rPr>
                      <m:t>that</m:t>
                    </m:r>
                    <m:r>
                      <a:rPr lang="en-US" sz="2000" b="0" i="1" dirty="0" smtClean="0">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sSup>
                          <m:sSupPr>
                            <m:ctrlPr>
                              <a:rPr lang="en-US" sz="2000" b="0" i="1" smtClean="0">
                                <a:latin typeface="Cambria Math" panose="02040503050406030204" pitchFamily="18" charset="0"/>
                                <a:cs typeface="Arial" panose="020B0604020202020204" pitchFamily="34" charset="0"/>
                              </a:rPr>
                            </m:ctrlPr>
                          </m:sSupPr>
                          <m:e>
                            <m:r>
                              <m:rPr>
                                <m:sty m:val="p"/>
                              </m:rPr>
                              <a:rPr lang="el-GR" sz="2000" b="0" i="1" smtClean="0">
                                <a:latin typeface="Cambria Math" panose="02040503050406030204" pitchFamily="18" charset="0"/>
                                <a:ea typeface="Cambria Math" panose="02040503050406030204" pitchFamily="18" charset="0"/>
                                <a:cs typeface="Arial" panose="020B0604020202020204" pitchFamily="34" charset="0"/>
                              </a:rPr>
                              <m:t>Χ</m:t>
                            </m:r>
                          </m:e>
                          <m:sup>
                            <m:r>
                              <a:rPr lang="en-US" sz="2000" b="0" i="1" smtClean="0">
                                <a:latin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m:t>
                        </m:r>
                        <m:sSubSup>
                          <m:sSubSupPr>
                            <m:ctrlPr>
                              <a:rPr lang="en-US" sz="2000" i="1">
                                <a:latin typeface="Cambria Math" panose="02040503050406030204" pitchFamily="18" charset="0"/>
                              </a:rPr>
                            </m:ctrlPr>
                          </m:sSubSupPr>
                          <m:e>
                            <m:r>
                              <m:rPr>
                                <m:sty m:val="p"/>
                              </m:rPr>
                              <a:rPr lang="el-GR" sz="2000" i="1">
                                <a:latin typeface="Cambria Math" panose="02040503050406030204" pitchFamily="18" charset="0"/>
                                <a:ea typeface="Cambria Math" panose="02040503050406030204" pitchFamily="18" charset="0"/>
                              </a:rPr>
                              <m:t>Χ</m:t>
                            </m:r>
                          </m:e>
                          <m:sub>
                            <m:f>
                              <m:fPr>
                                <m:type m:val="lin"/>
                                <m:ctrlPr>
                                  <a:rPr lang="en-US" sz="2000" i="1">
                                    <a:latin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𝛼</m:t>
                                </m:r>
                              </m:num>
                              <m:den>
                                <m:r>
                                  <a:rPr lang="en-US" sz="2000" i="1">
                                    <a:latin typeface="Cambria Math" panose="02040503050406030204" pitchFamily="18" charset="0"/>
                                  </a:rPr>
                                  <m:t>2</m:t>
                                </m:r>
                              </m:den>
                            </m:f>
                          </m:sub>
                          <m:sup>
                            <m:r>
                              <a:rPr lang="en-US" sz="2000" i="1">
                                <a:latin typeface="Cambria Math" panose="02040503050406030204" pitchFamily="18" charset="0"/>
                              </a:rPr>
                              <m:t>2</m:t>
                            </m:r>
                          </m:sup>
                        </m:sSubSup>
                      </m:e>
                    </m:d>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oMath>
                </a14:m>
                <a:r>
                  <a:rPr lang="en-US" sz="2000" dirty="0">
                    <a:cs typeface="Arial" panose="020B0604020202020204" pitchFamily="34" charset="0"/>
                  </a:rPr>
                  <a:t> </a:t>
                </a:r>
              </a:p>
              <a:p>
                <a:pPr marL="1828800">
                  <a:spcBef>
                    <a:spcPts val="600"/>
                  </a:spcBef>
                  <a:spcAft>
                    <a:spcPts val="600"/>
                  </a:spcAft>
                </a:pPr>
                <a14:m>
                  <m:oMath xmlns:m="http://schemas.openxmlformats.org/officeDocument/2006/math">
                    <m:sSubSup>
                      <m:sSubSupPr>
                        <m:ctrlPr>
                          <a:rPr lang="en-US" sz="2000" i="1" smtClean="0">
                            <a:latin typeface="Cambria Math" panose="02040503050406030204" pitchFamily="18" charset="0"/>
                          </a:rPr>
                        </m:ctrlPr>
                      </m:sSubSupPr>
                      <m:e>
                        <m:r>
                          <m:rPr>
                            <m:sty m:val="p"/>
                          </m:rPr>
                          <a:rPr lang="el-GR" sz="2000" i="1">
                            <a:latin typeface="Cambria Math" panose="02040503050406030204" pitchFamily="18" charset="0"/>
                            <a:ea typeface="Cambria Math" panose="02040503050406030204" pitchFamily="18" charset="0"/>
                          </a:rPr>
                          <m:t>Χ</m:t>
                        </m:r>
                      </m:e>
                      <m:sub>
                        <m:f>
                          <m:fPr>
                            <m:type m:val="lin"/>
                            <m:ctrlPr>
                              <a:rPr lang="en-US" sz="2000" i="1">
                                <a:latin typeface="Cambria Math" panose="02040503050406030204" pitchFamily="18" charset="0"/>
                              </a:rPr>
                            </m:ctrlPr>
                          </m:fPr>
                          <m:num>
                            <m:r>
                              <a:rPr lang="en-US" sz="2000" b="0" i="1" smtClean="0">
                                <a:latin typeface="Cambria Math" panose="02040503050406030204" pitchFamily="18" charset="0"/>
                              </a:rPr>
                              <m:t>1−</m:t>
                            </m:r>
                            <m:r>
                              <a:rPr lang="en-US" sz="2000" i="1">
                                <a:latin typeface="Cambria Math" panose="02040503050406030204" pitchFamily="18" charset="0"/>
                                <a:ea typeface="Cambria Math" panose="02040503050406030204" pitchFamily="18" charset="0"/>
                              </a:rPr>
                              <m:t>𝛼</m:t>
                            </m:r>
                          </m:num>
                          <m:den>
                            <m:r>
                              <a:rPr lang="en-US" sz="2000" i="1">
                                <a:latin typeface="Cambria Math" panose="02040503050406030204" pitchFamily="18" charset="0"/>
                              </a:rPr>
                              <m:t>2</m:t>
                            </m:r>
                          </m:den>
                        </m:f>
                      </m:sub>
                      <m:sup>
                        <m:r>
                          <a:rPr lang="en-US" sz="2000" i="1">
                            <a:latin typeface="Cambria Math" panose="02040503050406030204" pitchFamily="18" charset="0"/>
                          </a:rPr>
                          <m:t>2</m:t>
                        </m:r>
                      </m:sup>
                    </m:sSubSup>
                    <m:r>
                      <m:rPr>
                        <m:nor/>
                      </m:rPr>
                      <a:rPr lang="en-US" sz="2000" b="0" i="0" smtClean="0">
                        <a:latin typeface="Cambria Math" panose="02040503050406030204" pitchFamily="18" charset="0"/>
                      </a:rPr>
                      <m:t> </m:t>
                    </m:r>
                    <m:r>
                      <m:rPr>
                        <m:nor/>
                      </m:rPr>
                      <a:rPr lang="en-US" sz="2000" dirty="0">
                        <a:cs typeface="Arial" panose="020B0604020202020204" pitchFamily="34" charset="0"/>
                      </a:rPr>
                      <m:t>is</m:t>
                    </m:r>
                    <m:r>
                      <m:rPr>
                        <m:nor/>
                      </m:rPr>
                      <a:rPr lang="en-US" sz="2000" dirty="0">
                        <a:cs typeface="Arial" panose="020B0604020202020204" pitchFamily="34" charset="0"/>
                      </a:rPr>
                      <m:t> </m:t>
                    </m:r>
                    <m:r>
                      <m:rPr>
                        <m:nor/>
                      </m:rPr>
                      <a:rPr lang="en-US" sz="2000" dirty="0">
                        <a:cs typeface="Arial" panose="020B0604020202020204" pitchFamily="34" charset="0"/>
                      </a:rPr>
                      <m:t>the</m:t>
                    </m:r>
                    <m:r>
                      <m:rPr>
                        <m:nor/>
                      </m:rPr>
                      <a:rPr lang="en-US" sz="2000" dirty="0">
                        <a:cs typeface="Arial" panose="020B0604020202020204" pitchFamily="34" charset="0"/>
                      </a:rPr>
                      <m:t> </m:t>
                    </m:r>
                    <m:r>
                      <m:rPr>
                        <m:nor/>
                      </m:rPr>
                      <a:rPr lang="en-US" sz="2000" dirty="0">
                        <a:cs typeface="Arial" panose="020B0604020202020204" pitchFamily="34" charset="0"/>
                      </a:rPr>
                      <m:t>critical</m:t>
                    </m:r>
                    <m:r>
                      <m:rPr>
                        <m:nor/>
                      </m:rPr>
                      <a:rPr lang="en-US" sz="2000" dirty="0">
                        <a:cs typeface="Arial" panose="020B0604020202020204" pitchFamily="34" charset="0"/>
                      </a:rPr>
                      <m:t> </m:t>
                    </m:r>
                    <m:r>
                      <m:rPr>
                        <m:nor/>
                      </m:rPr>
                      <a:rPr lang="en-US" sz="2000" dirty="0">
                        <a:cs typeface="Arial" panose="020B0604020202020204" pitchFamily="34" charset="0"/>
                      </a:rPr>
                      <m:t>value</m:t>
                    </m:r>
                    <m:r>
                      <m:rPr>
                        <m:nor/>
                      </m:rPr>
                      <a:rPr lang="en-US" sz="2000" dirty="0">
                        <a:cs typeface="Arial" panose="020B0604020202020204" pitchFamily="34" charset="0"/>
                      </a:rPr>
                      <m:t> </m:t>
                    </m:r>
                    <m:r>
                      <m:rPr>
                        <m:nor/>
                      </m:rPr>
                      <a:rPr lang="en-US" sz="2000" dirty="0">
                        <a:cs typeface="Arial" panose="020B0604020202020204" pitchFamily="34" charset="0"/>
                      </a:rPr>
                      <m:t>such</m:t>
                    </m:r>
                    <m:r>
                      <m:rPr>
                        <m:nor/>
                      </m:rPr>
                      <a:rPr lang="en-US" sz="2000" dirty="0">
                        <a:cs typeface="Arial" panose="020B0604020202020204" pitchFamily="34" charset="0"/>
                      </a:rPr>
                      <m:t> </m:t>
                    </m:r>
                    <m:r>
                      <m:rPr>
                        <m:nor/>
                      </m:rPr>
                      <a:rPr lang="en-US" sz="2000" dirty="0">
                        <a:cs typeface="Arial" panose="020B0604020202020204" pitchFamily="34" charset="0"/>
                      </a:rPr>
                      <m:t>that</m:t>
                    </m:r>
                    <m:r>
                      <a:rPr lang="en-US" sz="2000" b="0" i="1" dirty="0" smtClean="0">
                        <a:latin typeface="Cambria Math" panose="02040503050406030204" pitchFamily="18" charset="0"/>
                        <a:cs typeface="Arial" panose="020B0604020202020204" pitchFamily="34" charset="0"/>
                      </a:rPr>
                      <m:t> </m:t>
                    </m:r>
                    <m:r>
                      <a:rPr lang="en-US" sz="2000" b="0" i="1" smtClean="0">
                        <a:latin typeface="Cambria Math" panose="02040503050406030204" pitchFamily="18" charset="0"/>
                        <a:cs typeface="Arial" panose="020B0604020202020204" pitchFamily="34" charset="0"/>
                      </a:rPr>
                      <m:t>𝑃</m:t>
                    </m:r>
                    <m:d>
                      <m:dPr>
                        <m:ctrlPr>
                          <a:rPr lang="en-US" sz="2000" b="0" i="1" smtClean="0">
                            <a:latin typeface="Cambria Math" panose="02040503050406030204" pitchFamily="18" charset="0"/>
                            <a:cs typeface="Arial" panose="020B0604020202020204" pitchFamily="34" charset="0"/>
                          </a:rPr>
                        </m:ctrlPr>
                      </m:dPr>
                      <m:e>
                        <m:sSup>
                          <m:sSupPr>
                            <m:ctrlPr>
                              <a:rPr lang="en-US" sz="2000" b="0" i="1" smtClean="0">
                                <a:latin typeface="Cambria Math" panose="02040503050406030204" pitchFamily="18" charset="0"/>
                                <a:cs typeface="Arial" panose="020B0604020202020204" pitchFamily="34" charset="0"/>
                              </a:rPr>
                            </m:ctrlPr>
                          </m:sSupPr>
                          <m:e>
                            <m:r>
                              <m:rPr>
                                <m:sty m:val="p"/>
                              </m:rPr>
                              <a:rPr lang="el-GR" sz="2000" b="0" i="1" smtClean="0">
                                <a:latin typeface="Cambria Math" panose="02040503050406030204" pitchFamily="18" charset="0"/>
                                <a:ea typeface="Cambria Math" panose="02040503050406030204" pitchFamily="18" charset="0"/>
                                <a:cs typeface="Arial" panose="020B0604020202020204" pitchFamily="34" charset="0"/>
                              </a:rPr>
                              <m:t>Χ</m:t>
                            </m:r>
                          </m:e>
                          <m:sup>
                            <m:r>
                              <a:rPr lang="en-US" sz="2000" b="0" i="1" smtClean="0">
                                <a:latin typeface="Cambria Math" panose="02040503050406030204" pitchFamily="18" charset="0"/>
                                <a:cs typeface="Arial" panose="020B0604020202020204" pitchFamily="34"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m:t>
                        </m:r>
                        <m:sSubSup>
                          <m:sSubSupPr>
                            <m:ctrlPr>
                              <a:rPr lang="en-US" sz="2000" i="1">
                                <a:latin typeface="Cambria Math" panose="02040503050406030204" pitchFamily="18" charset="0"/>
                              </a:rPr>
                            </m:ctrlPr>
                          </m:sSubSupPr>
                          <m:e>
                            <m:r>
                              <m:rPr>
                                <m:sty m:val="p"/>
                              </m:rPr>
                              <a:rPr lang="el-GR" sz="2000" i="1">
                                <a:latin typeface="Cambria Math" panose="02040503050406030204" pitchFamily="18" charset="0"/>
                                <a:ea typeface="Cambria Math" panose="02040503050406030204" pitchFamily="18" charset="0"/>
                              </a:rPr>
                              <m:t>Χ</m:t>
                            </m:r>
                          </m:e>
                          <m:sub>
                            <m:r>
                              <a:rPr lang="en-US" sz="2000" b="0" i="1" smtClean="0">
                                <a:latin typeface="Cambria Math" panose="02040503050406030204" pitchFamily="18" charset="0"/>
                                <a:ea typeface="Cambria Math" panose="02040503050406030204" pitchFamily="18" charset="0"/>
                              </a:rPr>
                              <m:t>1−</m:t>
                            </m:r>
                            <m:f>
                              <m:fPr>
                                <m:type m:val="lin"/>
                                <m:ctrlPr>
                                  <a:rPr lang="en-US" sz="2000" i="1">
                                    <a:latin typeface="Cambria Math" panose="02040503050406030204" pitchFamily="18" charset="0"/>
                                  </a:rPr>
                                </m:ctrlPr>
                              </m:fPr>
                              <m:num>
                                <m:r>
                                  <a:rPr lang="en-US" sz="2000" i="1">
                                    <a:latin typeface="Cambria Math" panose="02040503050406030204" pitchFamily="18" charset="0"/>
                                    <a:ea typeface="Cambria Math" panose="02040503050406030204" pitchFamily="18" charset="0"/>
                                  </a:rPr>
                                  <m:t>𝛼</m:t>
                                </m:r>
                              </m:num>
                              <m:den>
                                <m:r>
                                  <a:rPr lang="en-US" sz="2000" i="1">
                                    <a:latin typeface="Cambria Math" panose="02040503050406030204" pitchFamily="18" charset="0"/>
                                  </a:rPr>
                                  <m:t>2</m:t>
                                </m:r>
                              </m:den>
                            </m:f>
                          </m:sub>
                          <m:sup>
                            <m:r>
                              <a:rPr lang="en-US" sz="2000" i="1">
                                <a:latin typeface="Cambria Math" panose="02040503050406030204" pitchFamily="18" charset="0"/>
                              </a:rPr>
                              <m:t>2</m:t>
                            </m:r>
                          </m:sup>
                        </m:sSubSup>
                      </m:e>
                    </m:d>
                    <m:r>
                      <a:rPr lang="en-US" sz="2000" b="0" i="1" smtClean="0">
                        <a:latin typeface="Cambria Math" panose="02040503050406030204" pitchFamily="18" charset="0"/>
                        <a:ea typeface="Cambria Math" panose="02040503050406030204" pitchFamily="18" charset="0"/>
                        <a:cs typeface="Arial" panose="020B0604020202020204" pitchFamily="34" charset="0"/>
                      </a:rPr>
                      <m:t>=</m:t>
                    </m:r>
                    <m:f>
                      <m:fPr>
                        <m:type m:val="lin"/>
                        <m:ctrlPr>
                          <a:rPr lang="en-US" sz="2000" b="0" i="1" smtClean="0">
                            <a:latin typeface="Cambria Math" panose="02040503050406030204" pitchFamily="18" charset="0"/>
                            <a:ea typeface="Cambria Math" panose="02040503050406030204" pitchFamily="18" charset="0"/>
                            <a:cs typeface="Arial" panose="020B0604020202020204" pitchFamily="34" charset="0"/>
                          </a:rPr>
                        </m:ctrlPr>
                      </m:fPr>
                      <m:num>
                        <m:r>
                          <a:rPr lang="en-US" sz="2000" b="0" i="1" smtClean="0">
                            <a:latin typeface="Cambria Math" panose="02040503050406030204" pitchFamily="18" charset="0"/>
                            <a:ea typeface="Cambria Math" panose="02040503050406030204" pitchFamily="18" charset="0"/>
                            <a:cs typeface="Arial" panose="020B0604020202020204" pitchFamily="34" charset="0"/>
                          </a:rPr>
                          <m:t>1−</m:t>
                        </m:r>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num>
                      <m:den>
                        <m:r>
                          <a:rPr lang="en-US" sz="2000" b="0" i="1" smtClean="0">
                            <a:latin typeface="Cambria Math" panose="02040503050406030204" pitchFamily="18" charset="0"/>
                            <a:ea typeface="Cambria Math" panose="02040503050406030204" pitchFamily="18" charset="0"/>
                            <a:cs typeface="Arial" panose="020B0604020202020204" pitchFamily="34" charset="0"/>
                          </a:rPr>
                          <m:t>2</m:t>
                        </m:r>
                      </m:den>
                    </m:f>
                  </m:oMath>
                </a14:m>
                <a:r>
                  <a:rPr lang="en-US" sz="2000" dirty="0">
                    <a:cs typeface="Arial" panose="020B0604020202020204" pitchFamily="34" charset="0"/>
                  </a:rPr>
                  <a:t> </a:t>
                </a:r>
              </a:p>
            </p:txBody>
          </p:sp>
        </mc:Choice>
        <mc:Fallback xmlns="">
          <p:sp>
            <p:nvSpPr>
              <p:cNvPr id="3" name="Text Placeholder 2">
                <a:extLst>
                  <a:ext uri="{FF2B5EF4-FFF2-40B4-BE49-F238E27FC236}">
                    <a16:creationId xmlns:a16="http://schemas.microsoft.com/office/drawing/2014/main" id="{5FBEC8BB-8104-4C26-9140-469D3A662CF8}"/>
                  </a:ext>
                </a:extLst>
              </p:cNvPr>
              <p:cNvSpPr>
                <a:spLocks noGrp="1" noRot="1" noChangeAspect="1" noMove="1" noResize="1" noEditPoints="1" noAdjustHandles="1" noChangeArrowheads="1" noChangeShapeType="1" noTextEdit="1"/>
              </p:cNvSpPr>
              <p:nvPr>
                <p:ph type="body" sz="quarter" idx="15"/>
              </p:nvPr>
            </p:nvSpPr>
            <p:spPr>
              <a:xfrm>
                <a:off x="740228" y="1485900"/>
                <a:ext cx="10711543" cy="4158156"/>
              </a:xfrm>
              <a:blipFill>
                <a:blip r:embed="rId3"/>
                <a:stretch>
                  <a:fillRect l="-1422" t="-1760" r="-853" b="-12903"/>
                </a:stretch>
              </a:blipFill>
            </p:spPr>
            <p:txBody>
              <a:bodyPr/>
              <a:lstStyle/>
              <a:p>
                <a:r>
                  <a:rPr lang="en-US">
                    <a:noFill/>
                  </a:rPr>
                  <a:t> </a:t>
                </a:r>
              </a:p>
            </p:txBody>
          </p:sp>
        </mc:Fallback>
      </mc:AlternateContent>
    </p:spTree>
    <p:extLst>
      <p:ext uri="{BB962C8B-B14F-4D97-AF65-F5344CB8AC3E}">
        <p14:creationId xmlns:p14="http://schemas.microsoft.com/office/powerpoint/2010/main" val="31791816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5C5ED-9F61-2E4E-E5CF-8ADF8667BEEB}"/>
              </a:ext>
            </a:extLst>
          </p:cNvPr>
          <p:cNvSpPr>
            <a:spLocks noGrp="1"/>
          </p:cNvSpPr>
          <p:nvPr>
            <p:ph type="title"/>
          </p:nvPr>
        </p:nvSpPr>
        <p:spPr>
          <a:xfrm>
            <a:off x="654273" y="365125"/>
            <a:ext cx="10857186" cy="672105"/>
          </a:xfrm>
        </p:spPr>
        <p:txBody>
          <a:bodyPr/>
          <a:lstStyle/>
          <a:p>
            <a:r>
              <a:rPr lang="en-US" sz="3200" dirty="0"/>
              <a:t>11.1 An Interval Estimate of a Production Filling Process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9D86671-B176-8A67-A5AB-2B4385DD5EED}"/>
                  </a:ext>
                </a:extLst>
              </p:cNvPr>
              <p:cNvSpPr>
                <a:spLocks noGrp="1"/>
              </p:cNvSpPr>
              <p:nvPr>
                <p:ph type="body" sz="quarter" idx="15"/>
              </p:nvPr>
            </p:nvSpPr>
            <p:spPr>
              <a:xfrm>
                <a:off x="743576" y="1152522"/>
                <a:ext cx="10610223" cy="1745889"/>
              </a:xfrm>
            </p:spPr>
            <p:txBody>
              <a:bodyPr/>
              <a:lstStyle/>
              <a:p>
                <a:r>
                  <a:rPr lang="en-US" sz="2000" dirty="0"/>
                  <a:t>Suppose that we are interested in estimating the population variance for a production filling process. A sample of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=20</m:t>
                    </m:r>
                  </m:oMath>
                </a14:m>
                <a:r>
                  <a:rPr lang="en-US" sz="2000" dirty="0"/>
                  <a:t> containers is taken, and the sample standard deviation for the filling quantities is found to be </a:t>
                </a:r>
                <a14:m>
                  <m:oMath xmlns:m="http://schemas.openxmlformats.org/officeDocument/2006/math">
                    <m:r>
                      <m:rPr>
                        <m:sty m:val="p"/>
                      </m:rPr>
                      <a:rPr lang="en-US" sz="2000" b="0" i="0" dirty="0" smtClean="0">
                        <a:latin typeface="Cambria Math" panose="02040503050406030204" pitchFamily="18" charset="0"/>
                      </a:rPr>
                      <m:t>s</m:t>
                    </m:r>
                    <m:r>
                      <a:rPr lang="en-US" sz="2000" b="0" i="1" dirty="0" smtClean="0">
                        <a:latin typeface="Cambria Math" panose="02040503050406030204" pitchFamily="18" charset="0"/>
                      </a:rPr>
                      <m:t>=</m:t>
                    </m:r>
                    <m:r>
                      <a:rPr lang="en-US" sz="2000" i="1" dirty="0">
                        <a:latin typeface="Cambria Math" panose="02040503050406030204" pitchFamily="18" charset="0"/>
                      </a:rPr>
                      <m:t>0.0</m:t>
                    </m:r>
                    <m:r>
                      <a:rPr lang="en-US" sz="2000" b="0" i="1" dirty="0" smtClean="0">
                        <a:latin typeface="Cambria Math" panose="02040503050406030204" pitchFamily="18" charset="0"/>
                      </a:rPr>
                      <m:t>5</m:t>
                    </m:r>
                  </m:oMath>
                </a14:m>
                <a:r>
                  <a:rPr lang="en-US" sz="2000" dirty="0"/>
                  <a:t>. </a:t>
                </a:r>
              </a:p>
              <a:p>
                <a:r>
                  <a:rPr lang="en-US" sz="2000" dirty="0"/>
                  <a:t>Thus, the sample variance is  </a:t>
                </a:r>
                <a14:m>
                  <m:oMath xmlns:m="http://schemas.openxmlformats.org/officeDocument/2006/math">
                    <m:sSup>
                      <m:sSupPr>
                        <m:ctrlPr>
                          <a:rPr lang="en-US" sz="2000" i="1" dirty="0" smtClean="0">
                            <a:latin typeface="Cambria Math" panose="02040503050406030204" pitchFamily="18" charset="0"/>
                          </a:rPr>
                        </m:ctrlPr>
                      </m:sSupPr>
                      <m:e>
                        <m:r>
                          <a:rPr lang="en-US" sz="2000" b="0" i="1" dirty="0" smtClean="0">
                            <a:latin typeface="Cambria Math" panose="02040503050406030204" pitchFamily="18" charset="0"/>
                          </a:rPr>
                          <m:t>𝑠</m:t>
                        </m:r>
                      </m:e>
                      <m:sup>
                        <m:r>
                          <a:rPr lang="en-US" sz="2000" b="0" i="1" dirty="0" smtClean="0">
                            <a:latin typeface="Cambria Math" panose="02040503050406030204" pitchFamily="18" charset="0"/>
                          </a:rPr>
                          <m:t>2</m:t>
                        </m:r>
                      </m:sup>
                    </m:sSup>
                    <m:r>
                      <a:rPr lang="en-US" sz="2000" i="1" dirty="0" smtClean="0">
                        <a:latin typeface="Cambria Math" panose="02040503050406030204" pitchFamily="18" charset="0"/>
                      </a:rPr>
                      <m:t>=</m:t>
                    </m:r>
                    <m:sSup>
                      <m:sSupPr>
                        <m:ctrlPr>
                          <a:rPr lang="en-US" sz="2000" i="1" dirty="0" smtClean="0">
                            <a:latin typeface="Cambria Math" panose="02040503050406030204" pitchFamily="18" charset="0"/>
                          </a:rPr>
                        </m:ctrlPr>
                      </m:sSupPr>
                      <m:e>
                        <m:r>
                          <a:rPr lang="en-US" sz="2000" b="0" i="1" dirty="0" smtClean="0">
                            <a:latin typeface="Cambria Math" panose="02040503050406030204" pitchFamily="18" charset="0"/>
                          </a:rPr>
                          <m:t>0.05</m:t>
                        </m:r>
                      </m:e>
                      <m:sup>
                        <m:r>
                          <a:rPr lang="en-US" sz="2000" b="0" i="1" dirty="0" smtClean="0">
                            <a:latin typeface="Cambria Math" panose="02040503050406030204" pitchFamily="18" charset="0"/>
                          </a:rPr>
                          <m:t>2</m:t>
                        </m:r>
                      </m:sup>
                    </m:sSup>
                    <m:r>
                      <a:rPr lang="en-US" sz="2000" b="0" i="1" dirty="0" smtClean="0">
                        <a:latin typeface="Cambria Math" panose="02040503050406030204" pitchFamily="18" charset="0"/>
                      </a:rPr>
                      <m:t>=</m:t>
                    </m:r>
                    <m:r>
                      <a:rPr lang="en-US" sz="2000" i="1" dirty="0" smtClean="0">
                        <a:latin typeface="Cambria Math" panose="02040503050406030204" pitchFamily="18" charset="0"/>
                      </a:rPr>
                      <m:t>0.0025</m:t>
                    </m:r>
                  </m:oMath>
                </a14:m>
                <a:r>
                  <a:rPr lang="en-US" sz="2000" dirty="0"/>
                  <a:t>.</a:t>
                </a:r>
              </a:p>
              <a:p>
                <a:r>
                  <a:rPr lang="en-US" sz="2000" dirty="0"/>
                  <a:t>The interval estimate for the population variance at a 95% confidence level is</a:t>
                </a:r>
              </a:p>
            </p:txBody>
          </p:sp>
        </mc:Choice>
        <mc:Fallback xmlns="">
          <p:sp>
            <p:nvSpPr>
              <p:cNvPr id="3" name="Text Placeholder 2">
                <a:extLst>
                  <a:ext uri="{FF2B5EF4-FFF2-40B4-BE49-F238E27FC236}">
                    <a16:creationId xmlns:a16="http://schemas.microsoft.com/office/drawing/2014/main" id="{29D86671-B176-8A67-A5AB-2B4385DD5EED}"/>
                  </a:ext>
                </a:extLst>
              </p:cNvPr>
              <p:cNvSpPr>
                <a:spLocks noGrp="1" noRot="1" noChangeAspect="1" noMove="1" noResize="1" noEditPoints="1" noAdjustHandles="1" noChangeArrowheads="1" noChangeShapeType="1" noTextEdit="1"/>
              </p:cNvSpPr>
              <p:nvPr>
                <p:ph type="body" sz="quarter" idx="15"/>
              </p:nvPr>
            </p:nvSpPr>
            <p:spPr>
              <a:xfrm>
                <a:off x="743576" y="1152522"/>
                <a:ext cx="10610223" cy="1745889"/>
              </a:xfrm>
              <a:blipFill>
                <a:blip r:embed="rId3"/>
                <a:stretch>
                  <a:fillRect l="-1494" t="-4196" b="-55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Placeholder 8">
                <a:extLst>
                  <a:ext uri="{FF2B5EF4-FFF2-40B4-BE49-F238E27FC236}">
                    <a16:creationId xmlns:a16="http://schemas.microsoft.com/office/drawing/2014/main" id="{54599B37-5E46-7899-3F00-8839AE4869E1}"/>
                  </a:ext>
                </a:extLst>
              </p:cNvPr>
              <p:cNvSpPr>
                <a:spLocks noGrp="1"/>
              </p:cNvSpPr>
              <p:nvPr>
                <p:ph type="body" sz="quarter" idx="17"/>
              </p:nvPr>
            </p:nvSpPr>
            <p:spPr>
              <a:xfrm>
                <a:off x="734050" y="2898412"/>
                <a:ext cx="5257799" cy="2979180"/>
              </a:xfrm>
            </p:spPr>
            <p:txBody>
              <a:bodyPr/>
              <a:lstStyle/>
              <a:p>
                <a:pPr marL="457200">
                  <a:spcAft>
                    <a:spcPts val="1200"/>
                  </a:spcAft>
                </a:pPr>
                <a14:m>
                  <m:oMathPara xmlns:m="http://schemas.openxmlformats.org/officeDocument/2006/math">
                    <m:oMathParaPr>
                      <m:jc m:val="left"/>
                    </m:oMathParaPr>
                    <m:oMath xmlns:m="http://schemas.openxmlformats.org/officeDocument/2006/math">
                      <m:f>
                        <m:fPr>
                          <m:ctrlPr>
                            <a:rPr lang="en-US" sz="2000" i="1" smtClean="0">
                              <a:latin typeface="Cambria Math" panose="02040503050406030204" pitchFamily="18" charset="0"/>
                            </a:rPr>
                          </m:ctrlPr>
                        </m:fPr>
                        <m:num>
                          <m:d>
                            <m:dPr>
                              <m:ctrlPr>
                                <a:rPr lang="en-US" sz="2000" i="1">
                                  <a:latin typeface="Cambria Math" panose="02040503050406030204" pitchFamily="18" charset="0"/>
                                </a:rPr>
                              </m:ctrlPr>
                            </m:dPr>
                            <m:e>
                              <m:r>
                                <a:rPr lang="en-US" sz="2000" i="1">
                                  <a:latin typeface="Cambria Math" panose="02040503050406030204" pitchFamily="18" charset="0"/>
                                </a:rPr>
                                <m:t>𝑛</m:t>
                              </m:r>
                              <m:r>
                                <a:rPr lang="en-US" sz="2000" i="1">
                                  <a:latin typeface="Cambria Math" panose="02040503050406030204" pitchFamily="18" charset="0"/>
                                </a:rPr>
                                <m:t>−1</m:t>
                              </m:r>
                            </m:e>
                          </m:d>
                          <m:sSup>
                            <m:sSupPr>
                              <m:ctrlPr>
                                <a:rPr lang="en-US" sz="2000" i="1">
                                  <a:latin typeface="Cambria Math" panose="02040503050406030204" pitchFamily="18" charset="0"/>
                                </a:rPr>
                              </m:ctrlPr>
                            </m:sSupPr>
                            <m:e>
                              <m:r>
                                <a:rPr lang="en-US" sz="2000" i="1">
                                  <a:latin typeface="Cambria Math" panose="02040503050406030204" pitchFamily="18" charset="0"/>
                                </a:rPr>
                                <m:t>𝑠</m:t>
                              </m:r>
                            </m:e>
                            <m:sup>
                              <m:r>
                                <a:rPr lang="en-US" sz="2000" i="1">
                                  <a:latin typeface="Cambria Math" panose="02040503050406030204" pitchFamily="18" charset="0"/>
                                </a:rPr>
                                <m:t>2</m:t>
                              </m:r>
                            </m:sup>
                          </m:sSup>
                        </m:num>
                        <m:den>
                          <m:sSubSup>
                            <m:sSubSupPr>
                              <m:ctrlPr>
                                <a:rPr lang="en-US" sz="2000" i="1" smtClean="0">
                                  <a:latin typeface="Cambria Math" panose="02040503050406030204" pitchFamily="18" charset="0"/>
                                </a:rPr>
                              </m:ctrlPr>
                            </m:sSubSupPr>
                            <m:e>
                              <m:r>
                                <m:rPr>
                                  <m:sty m:val="p"/>
                                </m:rPr>
                                <a:rPr lang="el-GR" sz="2000" i="1" smtClean="0">
                                  <a:latin typeface="Cambria Math" panose="02040503050406030204" pitchFamily="18" charset="0"/>
                                  <a:ea typeface="Cambria Math" panose="02040503050406030204" pitchFamily="18" charset="0"/>
                                </a:rPr>
                                <m:t>Χ</m:t>
                              </m:r>
                            </m:e>
                            <m:sub>
                              <m:r>
                                <a:rPr lang="en-US" sz="2000" b="0" i="1" smtClean="0">
                                  <a:latin typeface="Cambria Math" panose="02040503050406030204" pitchFamily="18" charset="0"/>
                                  <a:ea typeface="Cambria Math" panose="02040503050406030204" pitchFamily="18" charset="0"/>
                                </a:rPr>
                                <m:t>.0.025</m:t>
                              </m:r>
                            </m:sub>
                            <m:sup>
                              <m:r>
                                <a:rPr lang="en-US" sz="2000" b="0" i="1" smtClean="0">
                                  <a:latin typeface="Cambria Math" panose="02040503050406030204" pitchFamily="18" charset="0"/>
                                </a:rPr>
                                <m:t>2</m:t>
                              </m:r>
                            </m:sup>
                          </m:sSubSup>
                        </m:den>
                      </m:f>
                      <m:r>
                        <a:rPr lang="en-US" sz="200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𝜎</m:t>
                          </m:r>
                        </m:e>
                        <m:sup>
                          <m:r>
                            <a:rPr lang="en-US" sz="2000" i="1">
                              <a:latin typeface="Cambria Math" panose="02040503050406030204" pitchFamily="18" charset="0"/>
                              <a:cs typeface="Arial" panose="020B0604020202020204" pitchFamily="34" charset="0"/>
                            </a:rPr>
                            <m:t>2</m:t>
                          </m:r>
                        </m:sup>
                      </m:sSup>
                      <m:r>
                        <a:rPr lang="en-US" sz="200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rPr>
                          </m:ctrlPr>
                        </m:fPr>
                        <m:num>
                          <m:d>
                            <m:dPr>
                              <m:ctrlPr>
                                <a:rPr lang="en-US" sz="2000" i="1">
                                  <a:latin typeface="Cambria Math" panose="02040503050406030204" pitchFamily="18" charset="0"/>
                                </a:rPr>
                              </m:ctrlPr>
                            </m:dPr>
                            <m:e>
                              <m:r>
                                <a:rPr lang="en-US" sz="2000" i="1">
                                  <a:latin typeface="Cambria Math" panose="02040503050406030204" pitchFamily="18" charset="0"/>
                                </a:rPr>
                                <m:t>𝑛</m:t>
                              </m:r>
                              <m:r>
                                <a:rPr lang="en-US" sz="2000" i="1">
                                  <a:latin typeface="Cambria Math" panose="02040503050406030204" pitchFamily="18" charset="0"/>
                                </a:rPr>
                                <m:t>−1</m:t>
                              </m:r>
                            </m:e>
                          </m:d>
                          <m:sSup>
                            <m:sSupPr>
                              <m:ctrlPr>
                                <a:rPr lang="en-US" sz="2000" i="1">
                                  <a:latin typeface="Cambria Math" panose="02040503050406030204" pitchFamily="18" charset="0"/>
                                </a:rPr>
                              </m:ctrlPr>
                            </m:sSupPr>
                            <m:e>
                              <m:r>
                                <a:rPr lang="en-US" sz="2000" i="1">
                                  <a:latin typeface="Cambria Math" panose="02040503050406030204" pitchFamily="18" charset="0"/>
                                </a:rPr>
                                <m:t>𝑠</m:t>
                              </m:r>
                            </m:e>
                            <m:sup>
                              <m:r>
                                <a:rPr lang="en-US" sz="2000" i="1">
                                  <a:latin typeface="Cambria Math" panose="02040503050406030204" pitchFamily="18" charset="0"/>
                                </a:rPr>
                                <m:t>2</m:t>
                              </m:r>
                            </m:sup>
                          </m:sSup>
                        </m:num>
                        <m:den>
                          <m:sSubSup>
                            <m:sSubSupPr>
                              <m:ctrlPr>
                                <a:rPr lang="en-US" sz="2000" i="1">
                                  <a:latin typeface="Cambria Math" panose="02040503050406030204" pitchFamily="18" charset="0"/>
                                </a:rPr>
                              </m:ctrlPr>
                            </m:sSubSupPr>
                            <m:e>
                              <m:r>
                                <m:rPr>
                                  <m:sty m:val="p"/>
                                </m:rPr>
                                <a:rPr lang="el-GR" sz="2000" i="1">
                                  <a:latin typeface="Cambria Math" panose="02040503050406030204" pitchFamily="18" charset="0"/>
                                  <a:ea typeface="Cambria Math" panose="02040503050406030204" pitchFamily="18" charset="0"/>
                                </a:rPr>
                                <m:t>Χ</m:t>
                              </m:r>
                            </m:e>
                            <m:sub>
                              <m:r>
                                <a:rPr lang="en-US" sz="2000" b="0" i="1" smtClean="0">
                                  <a:latin typeface="Cambria Math" panose="02040503050406030204" pitchFamily="18" charset="0"/>
                                  <a:ea typeface="Cambria Math" panose="02040503050406030204" pitchFamily="18" charset="0"/>
                                </a:rPr>
                                <m:t>.975</m:t>
                              </m:r>
                            </m:sub>
                            <m:sup>
                              <m:r>
                                <a:rPr lang="en-US" sz="2000" i="1">
                                  <a:latin typeface="Cambria Math" panose="02040503050406030204" pitchFamily="18" charset="0"/>
                                </a:rPr>
                                <m:t>2</m:t>
                              </m:r>
                            </m:sup>
                          </m:sSubSup>
                        </m:den>
                      </m:f>
                    </m:oMath>
                  </m:oMathPara>
                </a14:m>
                <a:endParaRPr lang="en-US" sz="2000" dirty="0"/>
              </a:p>
              <a:p>
                <a:pPr marL="457200">
                  <a:spcAft>
                    <a:spcPts val="600"/>
                  </a:spcAft>
                </a:pPr>
                <a14:m>
                  <m:oMathPara xmlns:m="http://schemas.openxmlformats.org/officeDocument/2006/math">
                    <m:oMathParaPr>
                      <m:jc m:val="left"/>
                    </m:oMathParaPr>
                    <m:oMath xmlns:m="http://schemas.openxmlformats.org/officeDocument/2006/math">
                      <m:f>
                        <m:fPr>
                          <m:ctrlPr>
                            <a:rPr lang="en-US" sz="2000" i="1" smtClean="0">
                              <a:latin typeface="Cambria Math" panose="02040503050406030204" pitchFamily="18" charset="0"/>
                            </a:rPr>
                          </m:ctrlPr>
                        </m:fPr>
                        <m:num>
                          <m:d>
                            <m:dPr>
                              <m:ctrlPr>
                                <a:rPr lang="en-US" sz="2000" i="1">
                                  <a:latin typeface="Cambria Math" panose="02040503050406030204" pitchFamily="18" charset="0"/>
                                </a:rPr>
                              </m:ctrlPr>
                            </m:dPr>
                            <m:e>
                              <m:r>
                                <a:rPr lang="en-US" sz="2000" b="0" i="1" smtClean="0">
                                  <a:latin typeface="Cambria Math" panose="02040503050406030204" pitchFamily="18" charset="0"/>
                                </a:rPr>
                                <m:t>20−1</m:t>
                              </m:r>
                            </m:e>
                          </m:d>
                          <m:r>
                            <a:rPr lang="en-US" sz="2000" b="0" i="1" smtClean="0">
                              <a:latin typeface="Cambria Math" panose="02040503050406030204" pitchFamily="18" charset="0"/>
                            </a:rPr>
                            <m:t>(0.0025)</m:t>
                          </m:r>
                        </m:num>
                        <m:den>
                          <m:r>
                            <a:rPr lang="en-US" sz="2000" b="0" i="1" smtClean="0">
                              <a:latin typeface="Cambria Math" panose="02040503050406030204" pitchFamily="18" charset="0"/>
                            </a:rPr>
                            <m:t>32.852</m:t>
                          </m:r>
                        </m:den>
                      </m:f>
                      <m:r>
                        <a:rPr lang="en-US" sz="200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𝜎</m:t>
                          </m:r>
                        </m:e>
                        <m:sup>
                          <m:r>
                            <a:rPr lang="en-US" sz="2000" i="1">
                              <a:latin typeface="Cambria Math" panose="02040503050406030204" pitchFamily="18" charset="0"/>
                              <a:cs typeface="Arial" panose="020B0604020202020204" pitchFamily="34" charset="0"/>
                            </a:rPr>
                            <m:t>2</m:t>
                          </m:r>
                        </m:sup>
                      </m:sSup>
                      <m:r>
                        <a:rPr lang="en-US" sz="2000" i="1" smtClean="0">
                          <a:latin typeface="Cambria Math" panose="02040503050406030204" pitchFamily="18" charset="0"/>
                          <a:ea typeface="Cambria Math" panose="02040503050406030204" pitchFamily="18" charset="0"/>
                          <a:cs typeface="Arial" panose="020B0604020202020204" pitchFamily="34" charset="0"/>
                        </a:rPr>
                        <m:t>≤</m:t>
                      </m:r>
                      <m:f>
                        <m:fPr>
                          <m:ctrlPr>
                            <a:rPr lang="en-US" sz="2000" i="1">
                              <a:latin typeface="Cambria Math" panose="02040503050406030204" pitchFamily="18" charset="0"/>
                            </a:rPr>
                          </m:ctrlPr>
                        </m:fPr>
                        <m:num>
                          <m:d>
                            <m:dPr>
                              <m:ctrlPr>
                                <a:rPr lang="en-US" sz="2000" i="1">
                                  <a:latin typeface="Cambria Math" panose="02040503050406030204" pitchFamily="18" charset="0"/>
                                </a:rPr>
                              </m:ctrlPr>
                            </m:dPr>
                            <m:e>
                              <m:r>
                                <a:rPr lang="en-US" sz="2000" b="0" i="1" smtClean="0">
                                  <a:latin typeface="Cambria Math" panose="02040503050406030204" pitchFamily="18" charset="0"/>
                                </a:rPr>
                                <m:t>20−1</m:t>
                              </m:r>
                            </m:e>
                          </m:d>
                          <m:r>
                            <a:rPr lang="en-US" sz="2000" b="0" i="1" smtClean="0">
                              <a:latin typeface="Cambria Math" panose="02040503050406030204" pitchFamily="18" charset="0"/>
                            </a:rPr>
                            <m:t>(0.0025)</m:t>
                          </m:r>
                        </m:num>
                        <m:den>
                          <m:r>
                            <a:rPr lang="en-US" sz="2000" b="0" i="1" smtClean="0">
                              <a:latin typeface="Cambria Math" panose="02040503050406030204" pitchFamily="18" charset="0"/>
                            </a:rPr>
                            <m:t>8.907</m:t>
                          </m:r>
                        </m:den>
                      </m:f>
                    </m:oMath>
                  </m:oMathPara>
                </a14:m>
                <a:endParaRPr lang="en-US" sz="2000" dirty="0"/>
              </a:p>
              <a:p>
                <a:pPr marL="457200"/>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0.0014</m:t>
                    </m:r>
                    <m:r>
                      <a:rPr lang="en-US" sz="2000" i="1" smtClean="0">
                        <a:latin typeface="Cambria Math" panose="02040503050406030204" pitchFamily="18" charset="0"/>
                        <a:ea typeface="Cambria Math" panose="02040503050406030204" pitchFamily="18" charset="0"/>
                        <a:cs typeface="Arial" panose="020B0604020202020204" pitchFamily="34" charset="0"/>
                      </a:rPr>
                      <m:t>≤</m:t>
                    </m:r>
                    <m:sSup>
                      <m:sSupPr>
                        <m:ctrlPr>
                          <a:rPr lang="en-US" sz="2000" i="1">
                            <a:latin typeface="Cambria Math" panose="02040503050406030204" pitchFamily="18" charset="0"/>
                            <a:cs typeface="Arial" panose="020B0604020202020204" pitchFamily="34" charset="0"/>
                          </a:rPr>
                        </m:ctrlPr>
                      </m:sSupPr>
                      <m:e>
                        <m:r>
                          <a:rPr lang="en-US" sz="2000" i="1">
                            <a:latin typeface="Cambria Math" panose="02040503050406030204" pitchFamily="18" charset="0"/>
                            <a:ea typeface="Cambria Math" panose="02040503050406030204" pitchFamily="18" charset="0"/>
                            <a:cs typeface="Arial" panose="020B0604020202020204" pitchFamily="34" charset="0"/>
                          </a:rPr>
                          <m:t>𝜎</m:t>
                        </m:r>
                      </m:e>
                      <m:sup>
                        <m:r>
                          <a:rPr lang="en-US" sz="2000" i="1">
                            <a:latin typeface="Cambria Math" panose="02040503050406030204" pitchFamily="18" charset="0"/>
                            <a:cs typeface="Arial" panose="020B0604020202020204" pitchFamily="34" charset="0"/>
                          </a:rPr>
                          <m:t>2</m:t>
                        </m:r>
                      </m:sup>
                    </m:sSup>
                    <m: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0.0053</m:t>
                    </m:r>
                  </m:oMath>
                </a14:m>
                <a:r>
                  <a:rPr lang="en-US" sz="2000" dirty="0"/>
                  <a:t> </a:t>
                </a:r>
              </a:p>
              <a:p>
                <a:r>
                  <a:rPr lang="en-US" sz="2000" dirty="0"/>
                  <a:t>The square root gives the interval estimate of the population standard deviation</a:t>
                </a:r>
              </a:p>
              <a:p>
                <a:pPr marL="457200"/>
                <a14:m>
                  <m:oMath xmlns:m="http://schemas.openxmlformats.org/officeDocument/2006/math">
                    <m:r>
                      <a:rPr lang="en-US" sz="2000" b="0" i="1" smtClean="0">
                        <a:latin typeface="Cambria Math" panose="02040503050406030204" pitchFamily="18" charset="0"/>
                        <a:ea typeface="Cambria Math" panose="02040503050406030204" pitchFamily="18" charset="0"/>
                        <a:cs typeface="Arial" panose="020B0604020202020204" pitchFamily="34" charset="0"/>
                      </a:rPr>
                      <m:t>0.038</m:t>
                    </m:r>
                    <m: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i="1">
                        <a:latin typeface="Cambria Math" panose="02040503050406030204" pitchFamily="18" charset="0"/>
                        <a:ea typeface="Cambria Math" panose="02040503050406030204" pitchFamily="18" charset="0"/>
                        <a:cs typeface="Arial" panose="020B0604020202020204" pitchFamily="34" charset="0"/>
                      </a:rPr>
                      <m:t>𝜎</m:t>
                    </m:r>
                    <m: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0.073</m:t>
                    </m:r>
                  </m:oMath>
                </a14:m>
                <a:r>
                  <a:rPr lang="en-US" sz="2000" dirty="0"/>
                  <a:t> </a:t>
                </a:r>
              </a:p>
            </p:txBody>
          </p:sp>
        </mc:Choice>
        <mc:Fallback xmlns="">
          <p:sp>
            <p:nvSpPr>
              <p:cNvPr id="9" name="Text Placeholder 8">
                <a:extLst>
                  <a:ext uri="{FF2B5EF4-FFF2-40B4-BE49-F238E27FC236}">
                    <a16:creationId xmlns:a16="http://schemas.microsoft.com/office/drawing/2014/main" id="{54599B37-5E46-7899-3F00-8839AE4869E1}"/>
                  </a:ext>
                </a:extLst>
              </p:cNvPr>
              <p:cNvSpPr>
                <a:spLocks noGrp="1" noRot="1" noChangeAspect="1" noMove="1" noResize="1" noEditPoints="1" noAdjustHandles="1" noChangeArrowheads="1" noChangeShapeType="1" noTextEdit="1"/>
              </p:cNvSpPr>
              <p:nvPr>
                <p:ph type="body" sz="quarter" idx="17"/>
              </p:nvPr>
            </p:nvSpPr>
            <p:spPr>
              <a:xfrm>
                <a:off x="734050" y="2898412"/>
                <a:ext cx="5257799" cy="2979180"/>
              </a:xfrm>
              <a:blipFill>
                <a:blip r:embed="rId4"/>
                <a:stretch>
                  <a:fillRect l="-2897" r="-811" b="-1022"/>
                </a:stretch>
              </a:blipFill>
            </p:spPr>
            <p:txBody>
              <a:bodyPr/>
              <a:lstStyle/>
              <a:p>
                <a:r>
                  <a:rPr lang="en-US">
                    <a:noFill/>
                  </a:rPr>
                  <a:t> </a:t>
                </a:r>
              </a:p>
            </p:txBody>
          </p:sp>
        </mc:Fallback>
      </mc:AlternateContent>
      <p:pic>
        <p:nvPicPr>
          <p:cNvPr id="6" name="Picture Placeholder 5" descr="A graph plots a chi-square distribution. The horizontal axis is labeled “chi^2” and lists 0, chi^2_0.975 = 8.907, and chi^2_0.025 = 32.852. A curve rises sharply from the origin, peaks at a small value of chi^2, and falls gradually. The region under the curve to the left of chi^2_0.975 = 8.907 and to the right of chi^2_0.025 = 32.852 is shaded and labeled “0.025.” The remaining region under the curve is labeled “0.95 of the possible chi^2 value.”&#10;">
            <a:extLst>
              <a:ext uri="{FF2B5EF4-FFF2-40B4-BE49-F238E27FC236}">
                <a16:creationId xmlns:a16="http://schemas.microsoft.com/office/drawing/2014/main" id="{9EEFD0FC-29B4-5460-0DDB-8129EB28CDDF}"/>
              </a:ext>
            </a:extLst>
          </p:cNvPr>
          <p:cNvPicPr>
            <a:picLocks noGrp="1" noChangeAspect="1"/>
          </p:cNvPicPr>
          <p:nvPr>
            <p:ph type="pic" sz="quarter" idx="16"/>
          </p:nvPr>
        </p:nvPicPr>
        <p:blipFill rotWithShape="1">
          <a:blip r:embed="rId5"/>
          <a:srcRect t="28" b="28"/>
          <a:stretch/>
        </p:blipFill>
        <p:spPr>
          <a:xfrm>
            <a:off x="6095999" y="3148618"/>
            <a:ext cx="5257800" cy="2430463"/>
          </a:xfrm>
        </p:spPr>
      </p:pic>
    </p:spTree>
    <p:extLst>
      <p:ext uri="{BB962C8B-B14F-4D97-AF65-F5344CB8AC3E}">
        <p14:creationId xmlns:p14="http://schemas.microsoft.com/office/powerpoint/2010/main" val="4038562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472968" y="365125"/>
            <a:ext cx="11201400" cy="672105"/>
          </a:xfrm>
        </p:spPr>
        <p:txBody>
          <a:bodyPr/>
          <a:lstStyle/>
          <a:p>
            <a:r>
              <a:rPr lang="en-US" dirty="0"/>
              <a:t>11.1 Determination of Chi-Square Values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371599"/>
                <a:ext cx="10515599" cy="1056289"/>
              </a:xfrm>
            </p:spPr>
            <p:txBody>
              <a:bodyPr>
                <a:normAutofit/>
              </a:bodyPr>
              <a:lstStyle/>
              <a:p>
                <a:pPr>
                  <a:lnSpc>
                    <a:spcPct val="100000"/>
                  </a:lnSpc>
                  <a:spcBef>
                    <a:spcPts val="600"/>
                  </a:spcBef>
                </a:pPr>
                <a:r>
                  <a:rPr lang="en-US" sz="2000" dirty="0"/>
                  <a:t>Table 3 in Appendix B provides the values of a chi-square distribution with different degrees of freedom such that </a:t>
                </a:r>
                <a14:m>
                  <m:oMath xmlns:m="http://schemas.openxmlformats.org/officeDocument/2006/math">
                    <m:r>
                      <a:rPr lang="en-US" sz="2000" i="1" dirty="0">
                        <a:latin typeface="Cambria Math" panose="02040503050406030204" pitchFamily="18" charset="0"/>
                      </a:rPr>
                      <m:t>𝑃</m:t>
                    </m:r>
                    <m:r>
                      <a:rPr lang="en-US" sz="2000" i="1" dirty="0">
                        <a:latin typeface="Cambria Math" panose="02040503050406030204" pitchFamily="18" charset="0"/>
                      </a:rPr>
                      <m:t>(</m:t>
                    </m:r>
                    <m:sSup>
                      <m:sSupPr>
                        <m:ctrlPr>
                          <a:rPr lang="en-US" sz="2000" i="1">
                            <a:latin typeface="Cambria Math" panose="02040503050406030204" pitchFamily="18" charset="0"/>
                          </a:rPr>
                        </m:ctrlPr>
                      </m:sSupPr>
                      <m:e>
                        <m:r>
                          <m:rPr>
                            <m:sty m:val="p"/>
                          </m:rPr>
                          <a:rPr lang="el-GR" sz="2000" i="1">
                            <a:latin typeface="Cambria Math" panose="02040503050406030204" pitchFamily="18" charset="0"/>
                            <a:ea typeface="Cambria Math" panose="02040503050406030204" pitchFamily="18" charset="0"/>
                          </a:rPr>
                          <m:t>Χ</m:t>
                        </m:r>
                      </m:e>
                      <m:sup>
                        <m:r>
                          <a:rPr lang="en-US" sz="2000" i="1">
                            <a:latin typeface="Cambria Math" panose="02040503050406030204" pitchFamily="18" charset="0"/>
                          </a:rPr>
                          <m:t>2</m:t>
                        </m:r>
                      </m:sup>
                    </m:sSup>
                    <m:r>
                      <a:rPr lang="en-US" sz="2000" i="1" dirty="0">
                        <a:latin typeface="Cambria Math" panose="02040503050406030204" pitchFamily="18" charset="0"/>
                      </a:rPr>
                      <m:t>≥</m:t>
                    </m:r>
                    <m:sSubSup>
                      <m:sSubSupPr>
                        <m:ctrlPr>
                          <a:rPr lang="en-US" sz="2000" i="1">
                            <a:latin typeface="Cambria Math" panose="02040503050406030204" pitchFamily="18" charset="0"/>
                          </a:rPr>
                        </m:ctrlPr>
                      </m:sSubSupPr>
                      <m:e>
                        <m:r>
                          <m:rPr>
                            <m:sty m:val="p"/>
                          </m:rPr>
                          <a:rPr lang="el-GR" sz="2000" i="1">
                            <a:latin typeface="Cambria Math" panose="02040503050406030204" pitchFamily="18" charset="0"/>
                            <a:ea typeface="Cambria Math" panose="02040503050406030204" pitchFamily="18" charset="0"/>
                          </a:rPr>
                          <m:t>Χ</m:t>
                        </m:r>
                      </m:e>
                      <m:sub>
                        <m:r>
                          <a:rPr lang="en-US" sz="2000" i="1" smtClean="0">
                            <a:latin typeface="Cambria Math" panose="02040503050406030204" pitchFamily="18" charset="0"/>
                            <a:ea typeface="Cambria Math" panose="02040503050406030204" pitchFamily="18" charset="0"/>
                          </a:rPr>
                          <m:t>𝛼</m:t>
                        </m:r>
                      </m:sub>
                      <m:sup>
                        <m:r>
                          <a:rPr lang="en-US" sz="2000" i="1">
                            <a:latin typeface="Cambria Math" panose="02040503050406030204" pitchFamily="18" charset="0"/>
                          </a:rPr>
                          <m:t>2</m:t>
                        </m:r>
                      </m:sup>
                    </m:sSubSup>
                    <m:r>
                      <a:rPr lang="en-US" sz="2000" i="1" dirty="0">
                        <a:latin typeface="Cambria Math" panose="02040503050406030204" pitchFamily="18" charset="0"/>
                      </a:rPr>
                      <m:t>)</m:t>
                    </m:r>
                  </m:oMath>
                </a14:m>
                <a:r>
                  <a:rPr lang="en-US" sz="2000" dirty="0"/>
                  <a:t>.</a:t>
                </a:r>
              </a:p>
              <a:p>
                <a:pPr>
                  <a:lnSpc>
                    <a:spcPct val="100000"/>
                  </a:lnSpc>
                  <a:spcBef>
                    <a:spcPts val="600"/>
                  </a:spcBef>
                </a:pPr>
                <a:r>
                  <a:rPr lang="en-US" sz="2000" dirty="0"/>
                  <a:t>The line on the table for 19 degrees of freedom provides the following information.</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0" y="1371599"/>
                <a:ext cx="10515599" cy="1056289"/>
              </a:xfrm>
              <a:blipFill>
                <a:blip r:embed="rId3"/>
                <a:stretch>
                  <a:fillRect l="-1508" t="-6936" b="-86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8">
                <a:extLst>
                  <a:ext uri="{FF2B5EF4-FFF2-40B4-BE49-F238E27FC236}">
                    <a16:creationId xmlns:a16="http://schemas.microsoft.com/office/drawing/2014/main" id="{CDB9419C-0AD3-A305-CD3E-771787D79A2C}"/>
                  </a:ext>
                </a:extLst>
              </p:cNvPr>
              <p:cNvGraphicFramePr>
                <a:graphicFrameLocks noGrp="1"/>
              </p:cNvGraphicFramePr>
              <p:nvPr>
                <p:ph type="tbl" sz="quarter" idx="22"/>
                <p:extLst>
                  <p:ext uri="{D42A27DB-BD31-4B8C-83A1-F6EECF244321}">
                    <p14:modId xmlns:p14="http://schemas.microsoft.com/office/powerpoint/2010/main" val="2007311892"/>
                  </p:ext>
                </p:extLst>
              </p:nvPr>
            </p:nvGraphicFramePr>
            <p:xfrm>
              <a:off x="1411013" y="2475186"/>
              <a:ext cx="8498396" cy="914400"/>
            </p:xfrm>
            <a:graphic>
              <a:graphicData uri="http://schemas.openxmlformats.org/drawingml/2006/table">
                <a:tbl>
                  <a:tblPr firstRow="1" bandRow="1">
                    <a:tableStyleId>{5C22544A-7EE6-4342-B048-85BDC9FD1C3A}</a:tableStyleId>
                  </a:tblPr>
                  <a:tblGrid>
                    <a:gridCol w="1958658">
                      <a:extLst>
                        <a:ext uri="{9D8B030D-6E8A-4147-A177-3AD203B41FA5}">
                          <a16:colId xmlns:a16="http://schemas.microsoft.com/office/drawing/2014/main" val="2911801945"/>
                        </a:ext>
                      </a:extLst>
                    </a:gridCol>
                    <a:gridCol w="685800">
                      <a:extLst>
                        <a:ext uri="{9D8B030D-6E8A-4147-A177-3AD203B41FA5}">
                          <a16:colId xmlns:a16="http://schemas.microsoft.com/office/drawing/2014/main" val="30212076"/>
                        </a:ext>
                      </a:extLst>
                    </a:gridCol>
                    <a:gridCol w="685800">
                      <a:extLst>
                        <a:ext uri="{9D8B030D-6E8A-4147-A177-3AD203B41FA5}">
                          <a16:colId xmlns:a16="http://schemas.microsoft.com/office/drawing/2014/main" val="1784810728"/>
                        </a:ext>
                      </a:extLst>
                    </a:gridCol>
                    <a:gridCol w="685800">
                      <a:extLst>
                        <a:ext uri="{9D8B030D-6E8A-4147-A177-3AD203B41FA5}">
                          <a16:colId xmlns:a16="http://schemas.microsoft.com/office/drawing/2014/main" val="605603493"/>
                        </a:ext>
                      </a:extLst>
                    </a:gridCol>
                    <a:gridCol w="1739138">
                      <a:extLst>
                        <a:ext uri="{9D8B030D-6E8A-4147-A177-3AD203B41FA5}">
                          <a16:colId xmlns:a16="http://schemas.microsoft.com/office/drawing/2014/main" val="250809597"/>
                        </a:ext>
                      </a:extLst>
                    </a:gridCol>
                    <a:gridCol w="685800">
                      <a:extLst>
                        <a:ext uri="{9D8B030D-6E8A-4147-A177-3AD203B41FA5}">
                          <a16:colId xmlns:a16="http://schemas.microsoft.com/office/drawing/2014/main" val="2232661565"/>
                        </a:ext>
                      </a:extLst>
                    </a:gridCol>
                    <a:gridCol w="685800">
                      <a:extLst>
                        <a:ext uri="{9D8B030D-6E8A-4147-A177-3AD203B41FA5}">
                          <a16:colId xmlns:a16="http://schemas.microsoft.com/office/drawing/2014/main" val="3297454400"/>
                        </a:ext>
                      </a:extLst>
                    </a:gridCol>
                    <a:gridCol w="685800">
                      <a:extLst>
                        <a:ext uri="{9D8B030D-6E8A-4147-A177-3AD203B41FA5}">
                          <a16:colId xmlns:a16="http://schemas.microsoft.com/office/drawing/2014/main" val="3078131080"/>
                        </a:ext>
                      </a:extLst>
                    </a:gridCol>
                    <a:gridCol w="685800">
                      <a:extLst>
                        <a:ext uri="{9D8B030D-6E8A-4147-A177-3AD203B41FA5}">
                          <a16:colId xmlns:a16="http://schemas.microsoft.com/office/drawing/2014/main" val="1873949250"/>
                        </a:ext>
                      </a:extLst>
                    </a:gridCol>
                  </a:tblGrid>
                  <a:tr h="153911">
                    <a:tc>
                      <a:txBody>
                        <a:bodyPr/>
                        <a:lstStyle/>
                        <a:p>
                          <a:pPr algn="l">
                            <a:tabLst>
                              <a:tab pos="284163" algn="l"/>
                            </a:tabLst>
                          </a:pPr>
                          <a:r>
                            <a:rPr lang="en-US" sz="1800" b="1" dirty="0">
                              <a:solidFill>
                                <a:srgbClr val="0070C0"/>
                              </a:solidFill>
                            </a:rPr>
                            <a:t>Degrees</a:t>
                          </a:r>
                          <a:r>
                            <a:rPr lang="en-US" sz="1800" dirty="0">
                              <a:solidFill>
                                <a:srgbClr val="0070C0"/>
                              </a:solidFill>
                            </a:rPr>
                            <a:t> </a:t>
                          </a:r>
                          <a:r>
                            <a:rPr lang="en-US" sz="1800" b="1" kern="1200" dirty="0">
                              <a:solidFill>
                                <a:srgbClr val="0070C0"/>
                              </a:solidFill>
                              <a:latin typeface="+mn-lt"/>
                              <a:ea typeface="+mn-ea"/>
                              <a:cs typeface="+mn-cs"/>
                            </a:rPr>
                            <a:t>of Freedom</a:t>
                          </a: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highlight>
                              <a:srgbClr val="FFFF00"/>
                            </a:highlight>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70C0"/>
                              </a:solidFill>
                            </a:rPr>
                            <a:t>Area in Upper Tail</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highlight>
                              <a:srgbClr val="FFFF00"/>
                            </a:highlight>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8382314"/>
                      </a:ext>
                    </a:extLst>
                  </a:tr>
                  <a:tr h="153911">
                    <a:tc>
                      <a:txBody>
                        <a:bodyPr/>
                        <a:lstStyle/>
                        <a:p>
                          <a:pPr algn="l">
                            <a:tabLst>
                              <a:tab pos="284163" algn="l"/>
                            </a:tabLst>
                          </a:pPr>
                          <a:r>
                            <a:rPr lang="en-US" sz="1800" b="1" kern="1200" dirty="0">
                              <a:solidFill>
                                <a:srgbClr val="0070C0"/>
                              </a:solidFill>
                              <a:latin typeface="+mn-lt"/>
                              <a:ea typeface="+mn-ea"/>
                              <a:cs typeface="+mn-cs"/>
                            </a:rPr>
                            <a:t>	</a:t>
                          </a: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0.99</a:t>
                          </a: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0.975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0.95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0.90</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0.10</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0.025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0.01</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65760">
                    <a:tc>
                      <a:txBody>
                        <a:bodyPr/>
                        <a:lstStyle/>
                        <a:p>
                          <a:pPr algn="ctr"/>
                          <a14:m>
                            <m:oMath xmlns:m="http://schemas.openxmlformats.org/officeDocument/2006/math">
                              <m:sSup>
                                <m:sSupPr>
                                  <m:ctrlPr>
                                    <a:rPr lang="en-US" sz="1800" b="1" i="1" smtClean="0">
                                      <a:latin typeface="Cambria Math" panose="02040503050406030204" pitchFamily="18" charset="0"/>
                                    </a:rPr>
                                  </m:ctrlPr>
                                </m:sSupPr>
                                <m:e>
                                  <m:r>
                                    <a:rPr lang="el-GR" sz="1800" b="1" i="1">
                                      <a:latin typeface="Cambria Math" panose="02040503050406030204" pitchFamily="18" charset="0"/>
                                      <a:ea typeface="Cambria Math" panose="02040503050406030204" pitchFamily="18" charset="0"/>
                                    </a:rPr>
                                    <m:t>𝜲</m:t>
                                  </m:r>
                                </m:e>
                                <m:sup>
                                  <m:r>
                                    <a:rPr lang="en-US" sz="1800" b="1" i="1">
                                      <a:latin typeface="Cambria Math" panose="02040503050406030204" pitchFamily="18" charset="0"/>
                                    </a:rPr>
                                    <m:t>𝟐</m:t>
                                  </m:r>
                                </m:sup>
                              </m:sSup>
                            </m:oMath>
                          </a14:m>
                          <a:r>
                            <a:rPr lang="en-US" sz="1800" b="1" i="0" u="none" strike="noStrike" kern="1200" dirty="0">
                              <a:solidFill>
                                <a:srgbClr val="000000"/>
                              </a:solidFill>
                              <a:effectLst/>
                              <a:latin typeface="Calibri" panose="020F0502020204030204" pitchFamily="34" charset="0"/>
                              <a:ea typeface="+mn-ea"/>
                              <a:cs typeface="+mn-cs"/>
                            </a:rPr>
                            <a:t> Value (19 </a:t>
                          </a:r>
                          <a:r>
                            <a:rPr lang="en-US" sz="1800" b="1" i="0" u="none" strike="noStrike" kern="1200" dirty="0" err="1">
                              <a:solidFill>
                                <a:srgbClr val="000000"/>
                              </a:solidFill>
                              <a:effectLst/>
                              <a:latin typeface="Calibri" panose="020F0502020204030204" pitchFamily="34" charset="0"/>
                              <a:ea typeface="+mn-ea"/>
                              <a:cs typeface="+mn-cs"/>
                            </a:rPr>
                            <a:t>df</a:t>
                          </a:r>
                          <a:r>
                            <a:rPr lang="en-US" sz="1800" b="1" i="0" u="none" strike="noStrike" kern="1200" dirty="0">
                              <a:solidFill>
                                <a:srgbClr val="000000"/>
                              </a:solidFill>
                              <a:effectLst/>
                              <a:latin typeface="Calibri" panose="020F0502020204030204" pitchFamily="34" charset="0"/>
                              <a:ea typeface="+mn-ea"/>
                              <a:cs typeface="+mn-cs"/>
                            </a:rPr>
                            <a:t>)</a:t>
                          </a: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7.633</a:t>
                          </a: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8.907</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10.117</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11.651</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27.204</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30.144</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32.852</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36.191</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Choice>
        <mc:Fallback xmlns="">
          <p:graphicFrame>
            <p:nvGraphicFramePr>
              <p:cNvPr id="7" name="Table 8">
                <a:extLst>
                  <a:ext uri="{FF2B5EF4-FFF2-40B4-BE49-F238E27FC236}">
                    <a16:creationId xmlns:a16="http://schemas.microsoft.com/office/drawing/2014/main" id="{CDB9419C-0AD3-A305-CD3E-771787D79A2C}"/>
                  </a:ext>
                </a:extLst>
              </p:cNvPr>
              <p:cNvGraphicFramePr>
                <a:graphicFrameLocks noGrp="1"/>
              </p:cNvGraphicFramePr>
              <p:nvPr>
                <p:ph type="tbl" sz="quarter" idx="22"/>
                <p:extLst>
                  <p:ext uri="{D42A27DB-BD31-4B8C-83A1-F6EECF244321}">
                    <p14:modId xmlns:p14="http://schemas.microsoft.com/office/powerpoint/2010/main" val="2007311892"/>
                  </p:ext>
                </p:extLst>
              </p:nvPr>
            </p:nvGraphicFramePr>
            <p:xfrm>
              <a:off x="1411013" y="2475186"/>
              <a:ext cx="8498396" cy="914400"/>
            </p:xfrm>
            <a:graphic>
              <a:graphicData uri="http://schemas.openxmlformats.org/drawingml/2006/table">
                <a:tbl>
                  <a:tblPr firstRow="1" bandRow="1">
                    <a:tableStyleId>{5C22544A-7EE6-4342-B048-85BDC9FD1C3A}</a:tableStyleId>
                  </a:tblPr>
                  <a:tblGrid>
                    <a:gridCol w="1958658">
                      <a:extLst>
                        <a:ext uri="{9D8B030D-6E8A-4147-A177-3AD203B41FA5}">
                          <a16:colId xmlns:a16="http://schemas.microsoft.com/office/drawing/2014/main" val="2911801945"/>
                        </a:ext>
                      </a:extLst>
                    </a:gridCol>
                    <a:gridCol w="685800">
                      <a:extLst>
                        <a:ext uri="{9D8B030D-6E8A-4147-A177-3AD203B41FA5}">
                          <a16:colId xmlns:a16="http://schemas.microsoft.com/office/drawing/2014/main" val="30212076"/>
                        </a:ext>
                      </a:extLst>
                    </a:gridCol>
                    <a:gridCol w="685800">
                      <a:extLst>
                        <a:ext uri="{9D8B030D-6E8A-4147-A177-3AD203B41FA5}">
                          <a16:colId xmlns:a16="http://schemas.microsoft.com/office/drawing/2014/main" val="1784810728"/>
                        </a:ext>
                      </a:extLst>
                    </a:gridCol>
                    <a:gridCol w="685800">
                      <a:extLst>
                        <a:ext uri="{9D8B030D-6E8A-4147-A177-3AD203B41FA5}">
                          <a16:colId xmlns:a16="http://schemas.microsoft.com/office/drawing/2014/main" val="605603493"/>
                        </a:ext>
                      </a:extLst>
                    </a:gridCol>
                    <a:gridCol w="1739138">
                      <a:extLst>
                        <a:ext uri="{9D8B030D-6E8A-4147-A177-3AD203B41FA5}">
                          <a16:colId xmlns:a16="http://schemas.microsoft.com/office/drawing/2014/main" val="250809597"/>
                        </a:ext>
                      </a:extLst>
                    </a:gridCol>
                    <a:gridCol w="685800">
                      <a:extLst>
                        <a:ext uri="{9D8B030D-6E8A-4147-A177-3AD203B41FA5}">
                          <a16:colId xmlns:a16="http://schemas.microsoft.com/office/drawing/2014/main" val="2232661565"/>
                        </a:ext>
                      </a:extLst>
                    </a:gridCol>
                    <a:gridCol w="685800">
                      <a:extLst>
                        <a:ext uri="{9D8B030D-6E8A-4147-A177-3AD203B41FA5}">
                          <a16:colId xmlns:a16="http://schemas.microsoft.com/office/drawing/2014/main" val="3297454400"/>
                        </a:ext>
                      </a:extLst>
                    </a:gridCol>
                    <a:gridCol w="685800">
                      <a:extLst>
                        <a:ext uri="{9D8B030D-6E8A-4147-A177-3AD203B41FA5}">
                          <a16:colId xmlns:a16="http://schemas.microsoft.com/office/drawing/2014/main" val="3078131080"/>
                        </a:ext>
                      </a:extLst>
                    </a:gridCol>
                    <a:gridCol w="685800">
                      <a:extLst>
                        <a:ext uri="{9D8B030D-6E8A-4147-A177-3AD203B41FA5}">
                          <a16:colId xmlns:a16="http://schemas.microsoft.com/office/drawing/2014/main" val="1873949250"/>
                        </a:ext>
                      </a:extLst>
                    </a:gridCol>
                  </a:tblGrid>
                  <a:tr h="274320">
                    <a:tc>
                      <a:txBody>
                        <a:bodyPr/>
                        <a:lstStyle/>
                        <a:p>
                          <a:pPr algn="l">
                            <a:tabLst>
                              <a:tab pos="284163" algn="l"/>
                            </a:tabLst>
                          </a:pPr>
                          <a:r>
                            <a:rPr lang="en-US" sz="1800" b="1" dirty="0">
                              <a:solidFill>
                                <a:srgbClr val="0070C0"/>
                              </a:solidFill>
                            </a:rPr>
                            <a:t>Degrees</a:t>
                          </a:r>
                          <a:r>
                            <a:rPr lang="en-US" sz="1800" dirty="0">
                              <a:solidFill>
                                <a:srgbClr val="0070C0"/>
                              </a:solidFill>
                            </a:rPr>
                            <a:t> </a:t>
                          </a:r>
                          <a:r>
                            <a:rPr lang="en-US" sz="1800" b="1" kern="1200" dirty="0">
                              <a:solidFill>
                                <a:srgbClr val="0070C0"/>
                              </a:solidFill>
                              <a:latin typeface="+mn-lt"/>
                              <a:ea typeface="+mn-ea"/>
                              <a:cs typeface="+mn-cs"/>
                            </a:rPr>
                            <a:t>of Freedom</a:t>
                          </a: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highlight>
                              <a:srgbClr val="FFFF00"/>
                            </a:highlight>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70C0"/>
                              </a:solidFill>
                            </a:rPr>
                            <a:t>Area in Upper Tail</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highlight>
                              <a:srgbClr val="FFFF00"/>
                            </a:highlight>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48382314"/>
                      </a:ext>
                    </a:extLst>
                  </a:tr>
                  <a:tr h="274320">
                    <a:tc>
                      <a:txBody>
                        <a:bodyPr/>
                        <a:lstStyle/>
                        <a:p>
                          <a:pPr algn="l">
                            <a:tabLst>
                              <a:tab pos="284163" algn="l"/>
                            </a:tabLst>
                          </a:pPr>
                          <a:r>
                            <a:rPr lang="en-US" sz="1800" b="1" kern="1200" dirty="0">
                              <a:solidFill>
                                <a:srgbClr val="0070C0"/>
                              </a:solidFill>
                              <a:latin typeface="+mn-lt"/>
                              <a:ea typeface="+mn-ea"/>
                              <a:cs typeface="+mn-cs"/>
                            </a:rPr>
                            <a:t>	</a:t>
                          </a: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0.99</a:t>
                          </a: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0.975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0.95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0.90</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0.10</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0.025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0.01</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65760">
                    <a:tc>
                      <a:txBody>
                        <a:bodyPr/>
                        <a:lstStyle/>
                        <a:p>
                          <a:endParaRPr lang="en-US"/>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73333" r="-333540" b="-38333"/>
                          </a:stretch>
                        </a:blipFill>
                      </a:tcPr>
                    </a:tc>
                    <a:tc>
                      <a:txBody>
                        <a:bodyPr/>
                        <a:lstStyle/>
                        <a:p>
                          <a:pPr algn="ctr" fontAlgn="b"/>
                          <a:r>
                            <a:rPr lang="en-US" sz="1800" b="0" i="0" u="none" strike="noStrike" dirty="0">
                              <a:solidFill>
                                <a:srgbClr val="000000"/>
                              </a:solidFill>
                              <a:effectLst/>
                              <a:latin typeface="Calibri" panose="020F0502020204030204" pitchFamily="34" charset="0"/>
                            </a:rPr>
                            <a:t>7.633</a:t>
                          </a: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8.907</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10.117</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11.651</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27.204</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30.144</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32.852</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36.191</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8200" y="3657599"/>
                <a:ext cx="10484504" cy="2159876"/>
              </a:xfrm>
            </p:spPr>
            <p:txBody>
              <a:bodyPr>
                <a:noAutofit/>
              </a:bodyPr>
              <a:lstStyle/>
              <a:p>
                <a:pPr>
                  <a:lnSpc>
                    <a:spcPct val="110000"/>
                  </a:lnSpc>
                  <a:spcBef>
                    <a:spcPts val="600"/>
                  </a:spcBef>
                </a:pPr>
                <a:r>
                  <a:rPr lang="en-US" sz="2000" dirty="0">
                    <a:solidFill>
                      <a:srgbClr val="000000"/>
                    </a:solidFill>
                    <a:cs typeface="Arial" panose="020B0604020202020204" pitchFamily="34" charset="0"/>
                  </a:rPr>
                  <a:t>Thus, as shown in the previous slide, we have</a:t>
                </a:r>
              </a:p>
              <a:p>
                <a:pPr marL="914400">
                  <a:lnSpc>
                    <a:spcPct val="110000"/>
                  </a:lnSpc>
                  <a:spcBef>
                    <a:spcPts val="600"/>
                  </a:spcBef>
                </a:pPr>
                <a14:m>
                  <m:oMath xmlns:m="http://schemas.openxmlformats.org/officeDocument/2006/math">
                    <m:sSubSup>
                      <m:sSubSupPr>
                        <m:ctrlPr>
                          <a:rPr lang="en-US" sz="2000" i="1">
                            <a:latin typeface="Cambria Math" panose="02040503050406030204" pitchFamily="18" charset="0"/>
                          </a:rPr>
                        </m:ctrlPr>
                      </m:sSubSupPr>
                      <m:e>
                        <m:r>
                          <m:rPr>
                            <m:sty m:val="p"/>
                          </m:rPr>
                          <a:rPr lang="el-GR" sz="2000" i="1">
                            <a:latin typeface="Cambria Math" panose="02040503050406030204" pitchFamily="18" charset="0"/>
                            <a:ea typeface="Cambria Math" panose="02040503050406030204" pitchFamily="18" charset="0"/>
                          </a:rPr>
                          <m:t>Χ</m:t>
                        </m:r>
                      </m:e>
                      <m:sub>
                        <m:r>
                          <a:rPr lang="en-US" sz="2000" i="1">
                            <a:latin typeface="Cambria Math" panose="02040503050406030204" pitchFamily="18" charset="0"/>
                            <a:ea typeface="Cambria Math" panose="02040503050406030204" pitchFamily="18" charset="0"/>
                          </a:rPr>
                          <m:t>.975</m:t>
                        </m:r>
                      </m:sub>
                      <m:sup>
                        <m:r>
                          <a:rPr lang="en-US" sz="2000" i="1">
                            <a:latin typeface="Cambria Math" panose="02040503050406030204" pitchFamily="18" charset="0"/>
                          </a:rPr>
                          <m:t>2</m:t>
                        </m:r>
                      </m:sup>
                    </m:sSubSup>
                    <m:r>
                      <a:rPr lang="en-US" sz="2000" i="1">
                        <a:latin typeface="Cambria Math" panose="02040503050406030204" pitchFamily="18" charset="0"/>
                      </a:rPr>
                      <m:t>=8.907</m:t>
                    </m:r>
                  </m:oMath>
                </a14:m>
                <a:r>
                  <a:rPr lang="en-US" sz="2000" dirty="0"/>
                  <a:t>   and   </a:t>
                </a:r>
                <a14:m>
                  <m:oMath xmlns:m="http://schemas.openxmlformats.org/officeDocument/2006/math">
                    <m:sSubSup>
                      <m:sSubSupPr>
                        <m:ctrlPr>
                          <a:rPr lang="en-US" sz="2000" i="1" smtClean="0">
                            <a:latin typeface="Cambria Math" panose="02040503050406030204" pitchFamily="18" charset="0"/>
                          </a:rPr>
                        </m:ctrlPr>
                      </m:sSubSupPr>
                      <m:e>
                        <m:r>
                          <m:rPr>
                            <m:sty m:val="p"/>
                          </m:rPr>
                          <a:rPr lang="el-GR" sz="2000" i="1" smtClean="0">
                            <a:latin typeface="Cambria Math" panose="02040503050406030204" pitchFamily="18" charset="0"/>
                            <a:ea typeface="Cambria Math" panose="02040503050406030204" pitchFamily="18" charset="0"/>
                          </a:rPr>
                          <m:t>Χ</m:t>
                        </m:r>
                      </m:e>
                      <m:sub>
                        <m:r>
                          <a:rPr lang="en-US" sz="2000" b="0" i="1" smtClean="0">
                            <a:latin typeface="Cambria Math" panose="02040503050406030204" pitchFamily="18" charset="0"/>
                            <a:ea typeface="Cambria Math" panose="02040503050406030204" pitchFamily="18" charset="0"/>
                          </a:rPr>
                          <m:t>.0.025</m:t>
                        </m:r>
                      </m:sub>
                      <m:sup>
                        <m:r>
                          <a:rPr lang="en-US" sz="2000" b="0" i="1" smtClean="0">
                            <a:latin typeface="Cambria Math" panose="02040503050406030204" pitchFamily="18" charset="0"/>
                          </a:rPr>
                          <m:t>2</m:t>
                        </m:r>
                      </m:sup>
                    </m:sSubSup>
                    <m:r>
                      <a:rPr lang="en-US" sz="2000" b="0" i="1" smtClean="0">
                        <a:latin typeface="Cambria Math" panose="02040503050406030204" pitchFamily="18" charset="0"/>
                      </a:rPr>
                      <m:t>=32.852</m:t>
                    </m:r>
                  </m:oMath>
                </a14:m>
                <a:endParaRPr lang="en-US" sz="2000" dirty="0">
                  <a:solidFill>
                    <a:srgbClr val="000000"/>
                  </a:solidFill>
                  <a:cs typeface="Arial" panose="020B0604020202020204" pitchFamily="34" charset="0"/>
                </a:endParaRPr>
              </a:p>
              <a:p>
                <a:pPr>
                  <a:lnSpc>
                    <a:spcPct val="110000"/>
                  </a:lnSpc>
                  <a:spcBef>
                    <a:spcPts val="1200"/>
                  </a:spcBef>
                </a:pPr>
                <a:r>
                  <a:rPr lang="en-US" sz="2000" dirty="0">
                    <a:solidFill>
                      <a:srgbClr val="000000"/>
                    </a:solidFill>
                    <a:cs typeface="Arial" panose="020B0604020202020204" pitchFamily="34" charset="0"/>
                  </a:rPr>
                  <a:t>We can also use Excel to compute the values</a:t>
                </a:r>
              </a:p>
              <a:p>
                <a:pPr marL="914400">
                  <a:lnSpc>
                    <a:spcPct val="110000"/>
                  </a:lnSpc>
                  <a:spcBef>
                    <a:spcPts val="600"/>
                  </a:spcBef>
                </a:pP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CHISQ</m:t>
                    </m:r>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INV</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RT</m:t>
                    </m:r>
                    <m:r>
                      <m:rPr>
                        <m:nor/>
                      </m:rPr>
                      <a:rPr lang="en-US" sz="2000" i="0" dirty="0" smtClean="0">
                        <a:latin typeface="Cambria Math" panose="02040503050406030204" pitchFamily="18" charset="0"/>
                        <a:cs typeface="Arial" panose="020B0604020202020204" pitchFamily="34" charset="0"/>
                      </a:rPr>
                      <m:t>(0.975,19)</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8.907</m:t>
                    </m:r>
                  </m:oMath>
                </a14:m>
                <a:r>
                  <a:rPr lang="en-US" sz="2000" dirty="0">
                    <a:solidFill>
                      <a:srgbClr val="000000"/>
                    </a:solidFill>
                    <a:cs typeface="Arial" panose="020B0604020202020204" pitchFamily="34" charset="0"/>
                  </a:rPr>
                  <a:t> </a:t>
                </a:r>
              </a:p>
              <a:p>
                <a:pPr marL="914400">
                  <a:lnSpc>
                    <a:spcPct val="110000"/>
                  </a:lnSpc>
                  <a:spcBef>
                    <a:spcPts val="600"/>
                  </a:spcBef>
                </a:pP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CHISQ</m:t>
                    </m:r>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INV</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RT</m:t>
                    </m:r>
                    <m:r>
                      <m:rPr>
                        <m:nor/>
                      </m:rPr>
                      <a:rPr lang="en-US" sz="2000" i="0" dirty="0" smtClean="0">
                        <a:latin typeface="Cambria Math" panose="02040503050406030204" pitchFamily="18" charset="0"/>
                        <a:cs typeface="Arial" panose="020B0604020202020204" pitchFamily="34" charset="0"/>
                      </a:rPr>
                      <m:t>(0.025,19)</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32.852</m:t>
                    </m:r>
                  </m:oMath>
                </a14:m>
                <a:r>
                  <a:rPr lang="en-US" sz="2000" dirty="0">
                    <a:solidFill>
                      <a:srgbClr val="000000"/>
                    </a:solidFill>
                    <a:cs typeface="Arial" panose="020B0604020202020204" pitchFamily="34" charset="0"/>
                  </a:rPr>
                  <a:t> </a:t>
                </a: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8200" y="3657599"/>
                <a:ext cx="10484504" cy="2159876"/>
              </a:xfrm>
              <a:blipFill>
                <a:blip r:embed="rId5"/>
                <a:stretch>
                  <a:fillRect l="-1513" t="-3390" b="-282"/>
                </a:stretch>
              </a:blipFill>
            </p:spPr>
            <p:txBody>
              <a:bodyPr/>
              <a:lstStyle/>
              <a:p>
                <a:r>
                  <a:rPr lang="en-US">
                    <a:noFill/>
                  </a:rPr>
                  <a:t> </a:t>
                </a:r>
              </a:p>
            </p:txBody>
          </p:sp>
        </mc:Fallback>
      </mc:AlternateContent>
    </p:spTree>
    <p:extLst>
      <p:ext uri="{BB962C8B-B14F-4D97-AF65-F5344CB8AC3E}">
        <p14:creationId xmlns:p14="http://schemas.microsoft.com/office/powerpoint/2010/main" val="611856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dirty="0">
                <a:solidFill>
                  <a:srgbClr val="25894E"/>
                </a:solidFill>
              </a:rPr>
              <a:t>11.1 Excel: Construct a 95% Confidence Interval</a:t>
            </a:r>
          </a:p>
        </p:txBody>
      </p:sp>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6" y="1185861"/>
            <a:ext cx="10610223" cy="1043801"/>
          </a:xfrm>
        </p:spPr>
        <p:txBody>
          <a:bodyPr/>
          <a:lstStyle/>
          <a:p>
            <a:r>
              <a:rPr lang="en-US" sz="2000" dirty="0"/>
              <a:t>We use Excel to construct a 95% confidence interval of the population variance for the example involving filling containers with a liquid detergent product.</a:t>
            </a:r>
          </a:p>
          <a:p>
            <a:r>
              <a:rPr lang="en-US" sz="2000" b="1" dirty="0"/>
              <a:t>Enter/Access Data</a:t>
            </a:r>
            <a:r>
              <a:rPr lang="en-US" sz="2000" dirty="0"/>
              <a:t>: Open the file </a:t>
            </a:r>
            <a:r>
              <a:rPr lang="en-US" sz="2000" i="1" dirty="0" err="1"/>
              <a:t>detergent_mod</a:t>
            </a:r>
            <a:r>
              <a:rPr lang="en-US" sz="2000" dirty="0"/>
              <a:t>. The data are in cells A2:A21.</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CE12EEE5-F80B-10B7-8B58-BD0B567449FD}"/>
                  </a:ext>
                </a:extLst>
              </p:cNvPr>
              <p:cNvSpPr>
                <a:spLocks noGrp="1"/>
              </p:cNvSpPr>
              <p:nvPr>
                <p:ph type="body" sz="quarter" idx="17"/>
              </p:nvPr>
            </p:nvSpPr>
            <p:spPr>
              <a:xfrm>
                <a:off x="743577" y="2259398"/>
                <a:ext cx="4242762" cy="3635609"/>
              </a:xfrm>
            </p:spPr>
            <p:txBody>
              <a:bodyPr/>
              <a:lstStyle/>
              <a:p>
                <a:r>
                  <a:rPr lang="en-US" sz="2000" b="1" dirty="0"/>
                  <a:t>Enter Functions and Formulas</a:t>
                </a:r>
                <a:r>
                  <a:rPr lang="en-US" sz="2000" dirty="0"/>
                  <a:t>: The descriptive statistics needed are provided in cells C3:C4.</a:t>
                </a:r>
              </a:p>
              <a:p>
                <a:r>
                  <a:rPr lang="en-US" sz="2000" dirty="0"/>
                  <a:t>The level of significance, </a:t>
                </a:r>
                <a14:m>
                  <m:oMath xmlns:m="http://schemas.openxmlformats.org/officeDocument/2006/math">
                    <m:r>
                      <a:rPr lang="en-US" sz="2000" i="1" smtClean="0">
                        <a:latin typeface="Cambria Math" panose="02040503050406030204" pitchFamily="18" charset="0"/>
                        <a:ea typeface="Cambria Math" panose="02040503050406030204" pitchFamily="18" charset="0"/>
                      </a:rPr>
                      <m:t>𝛼</m:t>
                    </m:r>
                  </m:oMath>
                </a14:m>
                <a:r>
                  <a:rPr lang="en-US" sz="2000" dirty="0"/>
                  <a:t>, is computed in cell C7.</a:t>
                </a:r>
              </a:p>
              <a:p>
                <a:r>
                  <a:rPr lang="en-US" sz="2000" dirty="0"/>
                  <a:t>As shown in the previous slide, the two </a:t>
                </a:r>
                <a:r>
                  <a:rPr lang="en-US" sz="2000" dirty="0">
                    <a:solidFill>
                      <a:srgbClr val="FF0000"/>
                    </a:solidFill>
                  </a:rPr>
                  <a:t>c</a:t>
                </a:r>
                <a:r>
                  <a:rPr lang="en-US" sz="2000" dirty="0"/>
                  <a:t>hi-</a:t>
                </a:r>
                <a:r>
                  <a:rPr lang="en-US" sz="2000" dirty="0">
                    <a:solidFill>
                      <a:srgbClr val="FF0000"/>
                    </a:solidFill>
                  </a:rPr>
                  <a:t>s</a:t>
                </a:r>
                <a:r>
                  <a:rPr lang="en-US" sz="2000" dirty="0"/>
                  <a:t>quare values are computed in cells C8:C9 using the functions CHISQ.INV and CHISQ.INV.RT.</a:t>
                </a:r>
              </a:p>
              <a:p>
                <a:r>
                  <a:rPr lang="en-US" sz="2000" dirty="0"/>
                  <a:t>The confidence interval limits are computed as usual in cells C11:C13.</a:t>
                </a:r>
              </a:p>
            </p:txBody>
          </p:sp>
        </mc:Choice>
        <mc:Fallback xmlns="">
          <p:sp>
            <p:nvSpPr>
              <p:cNvPr id="6" name="Text Placeholder 5">
                <a:extLst>
                  <a:ext uri="{FF2B5EF4-FFF2-40B4-BE49-F238E27FC236}">
                    <a16:creationId xmlns:a16="http://schemas.microsoft.com/office/drawing/2014/main" id="{CE12EEE5-F80B-10B7-8B58-BD0B567449FD}"/>
                  </a:ext>
                </a:extLst>
              </p:cNvPr>
              <p:cNvSpPr>
                <a:spLocks noGrp="1" noRot="1" noChangeAspect="1" noMove="1" noResize="1" noEditPoints="1" noAdjustHandles="1" noChangeArrowheads="1" noChangeShapeType="1" noTextEdit="1"/>
              </p:cNvSpPr>
              <p:nvPr>
                <p:ph type="body" sz="quarter" idx="17"/>
              </p:nvPr>
            </p:nvSpPr>
            <p:spPr>
              <a:xfrm>
                <a:off x="743577" y="2259398"/>
                <a:ext cx="4242762" cy="3635609"/>
              </a:xfrm>
              <a:blipFill>
                <a:blip r:embed="rId3"/>
                <a:stretch>
                  <a:fillRect l="-3736" t="-2013" r="-2299" b="-2852"/>
                </a:stretch>
              </a:blipFill>
            </p:spPr>
            <p:txBody>
              <a:bodyPr/>
              <a:lstStyle/>
              <a:p>
                <a:r>
                  <a:rPr lang="en-US">
                    <a:noFill/>
                  </a:rPr>
                  <a:t> </a:t>
                </a:r>
              </a:p>
            </p:txBody>
          </p:sp>
        </mc:Fallback>
      </mc:AlternateContent>
      <p:pic>
        <p:nvPicPr>
          <p:cNvPr id="7" name="Picture Placeholder 6" descr="Two screenshots of Excel spreadsheets show the interval estimate of a population variance. In both the spreadsheets, column A is labeled ounces. The entries under this column are as follows. Row 2: 15.92. Row 3: 16.02. Row 4: 15.91. Row 5: 16.02. Row 6: 15.91. Row 7: 15.98. Row 8: 16.06. Row 9: 15.97. Row 10: 15.97. Row 11: 16.07. Row 12: 15.94. Row 13: 15.96. Row 14: 16.04. Row 15: 16.01. Row 16: 16.07. Row 17: 16.01. Row 18: 15.90. Row 19: 15.96. Row 20: 16.00. Row 21: 15.99. The entries under columns B and C in the first spreadsheet are as follows. B 3: Sample size. C 3: =COUNT(A 2:A 21). B 4: Variance. C 4: =VAR.S(A 2:A 21). B 6: Confidence coefficient. C 6: 0.95. B 7: Level of significance (alpha). C 7: 1 minus C 6. B 8: Chi-square value (lower tail). C 8: =CHISQ.INV(C 7/2,C 3 minus 1). B 9: Chi-square value (upper tail). C 9: =CHISQ.INV.RT(C 7/2,C 3 minus 1). B 11: Point estimate. C 11: =C 4. B 12: Lower limit. C 12: =((C 3 minus)*C 4)/C 9. B 13: Upper limit. C 13: =((C 3 minus 1)*C 4)/C 8. The entries under columns B and C in the second spreadsheet are as follows. B 3: Sample size. C 3: 20. B 4: Variance. C 4: 0.0025. B 6: Confidence coefficient. C 6: 0.95. B 7: Level of significance (alpha). C 7: 0.05. B 8: Chi-square value (lower tail). C 8: 8.0965. B 9: Chi-square value (upper tail). C 9: 32.8523. B 11: Point estimate. C 11: 0.0025. B 12: Lower limit. C 12: 0.0014. B 13: Upper limit. C 13: 0.0053.">
            <a:extLst>
              <a:ext uri="{FF2B5EF4-FFF2-40B4-BE49-F238E27FC236}">
                <a16:creationId xmlns:a16="http://schemas.microsoft.com/office/drawing/2014/main" id="{4DB76449-FE7B-F88A-88D0-C11496E338B3}"/>
              </a:ext>
            </a:extLst>
          </p:cNvPr>
          <p:cNvPicPr>
            <a:picLocks noGrp="1" noChangeAspect="1"/>
          </p:cNvPicPr>
          <p:nvPr>
            <p:ph type="pic" sz="quarter" idx="16"/>
          </p:nvPr>
        </p:nvPicPr>
        <p:blipFill>
          <a:blip r:embed="rId4"/>
          <a:srcRect t="121" b="121"/>
          <a:stretch/>
        </p:blipFill>
        <p:spPr>
          <a:xfrm>
            <a:off x="5053012" y="2319161"/>
            <a:ext cx="6300788" cy="3511550"/>
          </a:xfrm>
          <a:ln>
            <a:solidFill>
              <a:srgbClr val="000000"/>
            </a:solidFill>
          </a:ln>
        </p:spPr>
      </p:pic>
    </p:spTree>
    <p:extLst>
      <p:ext uri="{BB962C8B-B14F-4D97-AF65-F5344CB8AC3E}">
        <p14:creationId xmlns:p14="http://schemas.microsoft.com/office/powerpoint/2010/main" val="1967146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A2DD1-FE1E-F138-7908-7831A6C81511}"/>
              </a:ext>
            </a:extLst>
          </p:cNvPr>
          <p:cNvSpPr>
            <a:spLocks noGrp="1"/>
          </p:cNvSpPr>
          <p:nvPr>
            <p:ph type="title"/>
          </p:nvPr>
        </p:nvSpPr>
        <p:spPr>
          <a:xfrm>
            <a:off x="394140" y="365125"/>
            <a:ext cx="11353800" cy="672105"/>
          </a:xfrm>
        </p:spPr>
        <p:txBody>
          <a:bodyPr/>
          <a:lstStyle/>
          <a:p>
            <a:r>
              <a:rPr lang="en-US" dirty="0"/>
              <a:t>11.1 Hypothesis Tests About a Population Variance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3B19AC0-1583-E5FA-3D0F-A97E7D529C75}"/>
                  </a:ext>
                </a:extLst>
              </p:cNvPr>
              <p:cNvSpPr>
                <a:spLocks noGrp="1"/>
              </p:cNvSpPr>
              <p:nvPr>
                <p:ph type="body" sz="quarter" idx="15"/>
              </p:nvPr>
            </p:nvSpPr>
            <p:spPr>
              <a:xfrm>
                <a:off x="743575" y="1314445"/>
                <a:ext cx="10610223" cy="4319752"/>
              </a:xfrm>
            </p:spPr>
            <p:txBody>
              <a:bodyPr/>
              <a:lstStyle/>
              <a:p>
                <a:pPr>
                  <a:lnSpc>
                    <a:spcPct val="100000"/>
                  </a:lnSpc>
                </a:pPr>
                <a:r>
                  <a:rPr lang="en-US" sz="2000" dirty="0"/>
                  <a:t>In general, a hypothesis test about a</a:t>
                </a:r>
                <a:r>
                  <a:rPr lang="en-US" sz="2000" dirty="0">
                    <a:cs typeface="Arial" panose="020B0604020202020204" pitchFamily="34" charset="0"/>
                  </a:rPr>
                  <a:t> population variance, </a:t>
                </a:r>
                <a14:m>
                  <m:oMath xmlns:m="http://schemas.openxmlformats.org/officeDocument/2006/math">
                    <m:sSup>
                      <m:sSupPr>
                        <m:ctrlPr>
                          <a:rPr lang="en-US" sz="2000" i="1" dirty="0" smtClean="0">
                            <a:latin typeface="Cambria Math" panose="02040503050406030204" pitchFamily="18" charset="0"/>
                          </a:rPr>
                        </m:ctrlPr>
                      </m:sSupPr>
                      <m:e>
                        <m:r>
                          <a:rPr lang="en-US" sz="2000" i="1" dirty="0">
                            <a:latin typeface="Cambria Math" panose="02040503050406030204" pitchFamily="18" charset="0"/>
                            <a:ea typeface="Cambria Math" panose="02040503050406030204" pitchFamily="18" charset="0"/>
                          </a:rPr>
                          <m:t>𝜎</m:t>
                        </m:r>
                      </m:e>
                      <m:sup>
                        <m:r>
                          <a:rPr lang="en-US" sz="2000" b="0" i="1" dirty="0" smtClean="0">
                            <a:latin typeface="Cambria Math" panose="02040503050406030204" pitchFamily="18" charset="0"/>
                          </a:rPr>
                          <m:t>2</m:t>
                        </m:r>
                      </m:sup>
                    </m:sSup>
                  </m:oMath>
                </a14:m>
                <a:r>
                  <a:rPr lang="en-US" sz="2000" dirty="0">
                    <a:cs typeface="Arial" panose="020B0604020202020204" pitchFamily="34" charset="0"/>
                  </a:rPr>
                  <a:t>, </a:t>
                </a:r>
                <a:r>
                  <a:rPr lang="en-US" sz="2000" dirty="0"/>
                  <a:t>must take one of three forms</a:t>
                </a:r>
              </a:p>
              <a:p>
                <a:pPr>
                  <a:lnSpc>
                    <a:spcPct val="100000"/>
                  </a:lnSpc>
                </a:pPr>
                <a:endParaRPr lang="en-US" sz="2000" dirty="0"/>
              </a:p>
              <a:p>
                <a:pPr>
                  <a:lnSpc>
                    <a:spcPct val="100000"/>
                  </a:lnSpc>
                </a:pPr>
                <a:endParaRPr lang="en-US" sz="2000" dirty="0"/>
              </a:p>
              <a:p>
                <a:pPr>
                  <a:lnSpc>
                    <a:spcPct val="100000"/>
                  </a:lnSpc>
                </a:pPr>
                <a:endParaRPr lang="en-US" sz="2000" dirty="0"/>
              </a:p>
              <a:p>
                <a:pPr>
                  <a:lnSpc>
                    <a:spcPct val="100000"/>
                  </a:lnSpc>
                </a:pPr>
                <a:endParaRPr lang="en-US" sz="2000" dirty="0"/>
              </a:p>
              <a:p>
                <a:pPr>
                  <a:lnSpc>
                    <a:spcPct val="100000"/>
                  </a:lnSpc>
                </a:pPr>
                <a:r>
                  <a:rPr lang="en-US" sz="2000" dirty="0"/>
                  <a:t>Where </a:t>
                </a:r>
                <a14:m>
                  <m:oMath xmlns:m="http://schemas.openxmlformats.org/officeDocument/2006/math">
                    <m:sSubSup>
                      <m:sSubSupPr>
                        <m:ctrlPr>
                          <a:rPr lang="en-US" sz="2000" i="1" dirty="0" smtClean="0">
                            <a:latin typeface="Cambria Math" panose="02040503050406030204" pitchFamily="18" charset="0"/>
                          </a:rPr>
                        </m:ctrlPr>
                      </m:sSubSupPr>
                      <m:e>
                        <m:r>
                          <a:rPr lang="en-US" sz="2000" i="1" dirty="0" smtClean="0">
                            <a:latin typeface="Cambria Math" panose="02040503050406030204" pitchFamily="18" charset="0"/>
                            <a:ea typeface="Cambria Math" panose="02040503050406030204" pitchFamily="18" charset="0"/>
                          </a:rPr>
                          <m:t>𝜎</m:t>
                        </m:r>
                      </m:e>
                      <m:sub>
                        <m:r>
                          <a:rPr lang="en-US" sz="2000" b="0" i="1" dirty="0" smtClean="0">
                            <a:latin typeface="Cambria Math" panose="02040503050406030204" pitchFamily="18" charset="0"/>
                          </a:rPr>
                          <m:t>0</m:t>
                        </m:r>
                      </m:sub>
                      <m:sup>
                        <m:r>
                          <a:rPr lang="en-US" sz="2000" b="0" i="1" dirty="0" smtClean="0">
                            <a:latin typeface="Cambria Math" panose="02040503050406030204" pitchFamily="18" charset="0"/>
                          </a:rPr>
                          <m:t>2</m:t>
                        </m:r>
                      </m:sup>
                    </m:sSubSup>
                  </m:oMath>
                </a14:m>
                <a:r>
                  <a:rPr lang="en-US" sz="2000" dirty="0"/>
                  <a:t> denotes the hypothesized value of the population variance.</a:t>
                </a:r>
              </a:p>
              <a:p>
                <a:pPr>
                  <a:lnSpc>
                    <a:spcPct val="100000"/>
                  </a:lnSpc>
                  <a:spcAft>
                    <a:spcPts val="600"/>
                  </a:spcAft>
                </a:pPr>
                <a:r>
                  <a:rPr lang="en-US" sz="2000" dirty="0"/>
                  <a:t>Assuming that the population has a normal distribution, the test statistic used to conduct a hypothesis test about a population variance follows a chi-square distribution with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−1</m:t>
                    </m:r>
                  </m:oMath>
                </a14:m>
                <a:r>
                  <a:rPr lang="en-US" sz="2000" dirty="0"/>
                  <a:t> degrees of freedom.</a:t>
                </a:r>
              </a:p>
              <a:p>
                <a:pPr marL="914400">
                  <a:lnSpc>
                    <a:spcPct val="100000"/>
                  </a:lnSpc>
                </a:pPr>
                <a14:m>
                  <m:oMathPara xmlns:m="http://schemas.openxmlformats.org/officeDocument/2006/math">
                    <m:oMathParaPr>
                      <m:jc m:val="left"/>
                    </m:oMathParaPr>
                    <m:oMath xmlns:m="http://schemas.openxmlformats.org/officeDocument/2006/math">
                      <m:sSup>
                        <m:sSupPr>
                          <m:ctrlPr>
                            <a:rPr lang="en-US" sz="2000" b="1" i="1">
                              <a:latin typeface="Cambria Math" panose="02040503050406030204" pitchFamily="18" charset="0"/>
                            </a:rPr>
                          </m:ctrlPr>
                        </m:sSupPr>
                        <m:e>
                          <m:r>
                            <a:rPr lang="el-GR" sz="2000" b="1" i="1">
                              <a:latin typeface="Cambria Math" panose="02040503050406030204" pitchFamily="18" charset="0"/>
                              <a:ea typeface="Cambria Math" panose="02040503050406030204" pitchFamily="18" charset="0"/>
                            </a:rPr>
                            <m:t>𝜲</m:t>
                          </m:r>
                        </m:e>
                        <m:sup>
                          <m:r>
                            <a:rPr lang="en-US" sz="2000" b="1" i="1">
                              <a:latin typeface="Cambria Math" panose="02040503050406030204" pitchFamily="18" charset="0"/>
                            </a:rPr>
                            <m:t>𝟐</m:t>
                          </m:r>
                        </m:sup>
                      </m:sSup>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𝒏</m:t>
                              </m:r>
                              <m:r>
                                <a:rPr lang="en-US" sz="2000" b="1" i="1" smtClean="0">
                                  <a:latin typeface="Cambria Math" panose="02040503050406030204" pitchFamily="18" charset="0"/>
                                </a:rPr>
                                <m:t>−</m:t>
                              </m:r>
                              <m:r>
                                <a:rPr lang="en-US" sz="2000" b="1" i="1" smtClean="0">
                                  <a:latin typeface="Cambria Math" panose="02040503050406030204" pitchFamily="18" charset="0"/>
                                </a:rPr>
                                <m:t>𝟏</m:t>
                              </m:r>
                            </m:e>
                          </m:d>
                          <m:sSup>
                            <m:sSupPr>
                              <m:ctrlPr>
                                <a:rPr lang="en-US" sz="2000" b="1" i="1" smtClean="0">
                                  <a:latin typeface="Cambria Math" panose="02040503050406030204" pitchFamily="18" charset="0"/>
                                </a:rPr>
                              </m:ctrlPr>
                            </m:sSupPr>
                            <m:e>
                              <m:r>
                                <a:rPr lang="en-US" sz="2000" b="1" i="1" smtClean="0">
                                  <a:latin typeface="Cambria Math" panose="02040503050406030204" pitchFamily="18" charset="0"/>
                                </a:rPr>
                                <m:t>𝒔</m:t>
                              </m:r>
                            </m:e>
                            <m:sup>
                              <m:r>
                                <a:rPr lang="en-US" sz="2000" b="1" i="1" smtClean="0">
                                  <a:latin typeface="Cambria Math" panose="02040503050406030204" pitchFamily="18" charset="0"/>
                                </a:rPr>
                                <m:t>𝟐</m:t>
                              </m:r>
                            </m:sup>
                          </m:sSup>
                        </m:num>
                        <m:den>
                          <m:sSup>
                            <m:sSupPr>
                              <m:ctrlPr>
                                <a:rPr lang="en-US" sz="2000" b="1" i="1" smtClean="0">
                                  <a:latin typeface="Cambria Math" panose="02040503050406030204" pitchFamily="18" charset="0"/>
                                </a:rPr>
                              </m:ctrlPr>
                            </m:sSupPr>
                            <m:e>
                              <m:sSub>
                                <m:sSubPr>
                                  <m:ctrlPr>
                                    <a:rPr lang="en-US" sz="2000" b="1" i="1" smtClean="0">
                                      <a:solidFill>
                                        <a:srgbClr val="FF0000"/>
                                      </a:solidFill>
                                      <a:latin typeface="Cambria Math" panose="02040503050406030204" pitchFamily="18" charset="0"/>
                                    </a:rPr>
                                  </m:ctrlPr>
                                </m:sSubPr>
                                <m:e>
                                  <m:r>
                                    <a:rPr lang="en-US" sz="2000" b="1" i="1" smtClean="0">
                                      <a:solidFill>
                                        <a:srgbClr val="FF0000"/>
                                      </a:solidFill>
                                      <a:latin typeface="Cambria Math" panose="02040503050406030204" pitchFamily="18" charset="0"/>
                                      <a:ea typeface="Cambria Math" panose="02040503050406030204" pitchFamily="18" charset="0"/>
                                    </a:rPr>
                                    <m:t>𝝈</m:t>
                                  </m:r>
                                </m:e>
                                <m:sub>
                                  <m:r>
                                    <a:rPr lang="en-US" sz="2000" b="1" i="1" smtClean="0">
                                      <a:solidFill>
                                        <a:srgbClr val="FF0000"/>
                                      </a:solidFill>
                                      <a:latin typeface="Cambria Math" panose="02040503050406030204" pitchFamily="18" charset="0"/>
                                    </a:rPr>
                                    <m:t>𝟎</m:t>
                                  </m:r>
                                </m:sub>
                              </m:sSub>
                            </m:e>
                            <m:sup>
                              <m:r>
                                <a:rPr lang="en-US" sz="2000" b="1" i="1" smtClean="0">
                                  <a:latin typeface="Cambria Math" panose="02040503050406030204" pitchFamily="18" charset="0"/>
                                </a:rPr>
                                <m:t>𝟐</m:t>
                              </m:r>
                            </m:sup>
                          </m:sSup>
                        </m:den>
                      </m:f>
                    </m:oMath>
                  </m:oMathPara>
                </a14:m>
                <a:endParaRPr lang="en-US" sz="2000" b="1" dirty="0"/>
              </a:p>
            </p:txBody>
          </p:sp>
        </mc:Choice>
        <mc:Fallback xmlns="">
          <p:sp>
            <p:nvSpPr>
              <p:cNvPr id="3" name="Text Placeholder 2">
                <a:extLst>
                  <a:ext uri="{FF2B5EF4-FFF2-40B4-BE49-F238E27FC236}">
                    <a16:creationId xmlns:a16="http://schemas.microsoft.com/office/drawing/2014/main" id="{83B19AC0-1583-E5FA-3D0F-A97E7D529C75}"/>
                  </a:ext>
                </a:extLst>
              </p:cNvPr>
              <p:cNvSpPr>
                <a:spLocks noGrp="1" noRot="1" noChangeAspect="1" noMove="1" noResize="1" noEditPoints="1" noAdjustHandles="1" noChangeArrowheads="1" noChangeShapeType="1" noTextEdit="1"/>
              </p:cNvSpPr>
              <p:nvPr>
                <p:ph type="body" sz="quarter" idx="15"/>
              </p:nvPr>
            </p:nvSpPr>
            <p:spPr>
              <a:xfrm>
                <a:off x="743575" y="1314445"/>
                <a:ext cx="10610223" cy="4319752"/>
              </a:xfrm>
              <a:blipFill>
                <a:blip r:embed="rId4"/>
                <a:stretch>
                  <a:fillRect l="-1494" t="-169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5" name="Table 5">
                <a:extLst>
                  <a:ext uri="{FF2B5EF4-FFF2-40B4-BE49-F238E27FC236}">
                    <a16:creationId xmlns:a16="http://schemas.microsoft.com/office/drawing/2014/main" id="{949D3E33-8804-E853-E582-29FEBCCEEA7C}"/>
                  </a:ext>
                </a:extLst>
              </p:cNvPr>
              <p:cNvGraphicFramePr>
                <a:graphicFrameLocks noGrp="1"/>
              </p:cNvGraphicFramePr>
              <p:nvPr>
                <p:ph type="tbl" sz="quarter" idx="16"/>
                <p:extLst>
                  <p:ext uri="{D42A27DB-BD31-4B8C-83A1-F6EECF244321}">
                    <p14:modId xmlns:p14="http://schemas.microsoft.com/office/powerpoint/2010/main" val="2912542470"/>
                  </p:ext>
                </p:extLst>
              </p:nvPr>
            </p:nvGraphicFramePr>
            <p:xfrm>
              <a:off x="2112579" y="1627917"/>
              <a:ext cx="7179216" cy="1637512"/>
            </p:xfrm>
            <a:graphic>
              <a:graphicData uri="http://schemas.openxmlformats.org/drawingml/2006/table">
                <a:tbl>
                  <a:tblPr firstRow="1" bandRow="1">
                    <a:tableStyleId>{5C22544A-7EE6-4342-B048-85BDC9FD1C3A}</a:tableStyleId>
                  </a:tblPr>
                  <a:tblGrid>
                    <a:gridCol w="2393072">
                      <a:extLst>
                        <a:ext uri="{9D8B030D-6E8A-4147-A177-3AD203B41FA5}">
                          <a16:colId xmlns:a16="http://schemas.microsoft.com/office/drawing/2014/main" val="62038558"/>
                        </a:ext>
                      </a:extLst>
                    </a:gridCol>
                    <a:gridCol w="2393072">
                      <a:extLst>
                        <a:ext uri="{9D8B030D-6E8A-4147-A177-3AD203B41FA5}">
                          <a16:colId xmlns:a16="http://schemas.microsoft.com/office/drawing/2014/main" val="949252079"/>
                        </a:ext>
                      </a:extLst>
                    </a:gridCol>
                    <a:gridCol w="2393072">
                      <a:extLst>
                        <a:ext uri="{9D8B030D-6E8A-4147-A177-3AD203B41FA5}">
                          <a16:colId xmlns:a16="http://schemas.microsoft.com/office/drawing/2014/main" val="2132953150"/>
                        </a:ext>
                      </a:extLst>
                    </a:gridCol>
                  </a:tblGrid>
                  <a:tr h="768628">
                    <a:tc>
                      <a:txBody>
                        <a:bodyPr/>
                        <a:lstStyle/>
                        <a:p>
                          <a:pPr algn="ctr"/>
                          <a:r>
                            <a:rPr lang="en-US" sz="2000" dirty="0">
                              <a:solidFill>
                                <a:srgbClr val="000000"/>
                              </a:solidFill>
                              <a:latin typeface="Arial" panose="020B0604020202020204" pitchFamily="34" charset="0"/>
                              <a:cs typeface="Arial" panose="020B0604020202020204" pitchFamily="34" charset="0"/>
                            </a:rPr>
                            <a:t>One-tailed (Lower-tail)</a:t>
                          </a:r>
                        </a:p>
                      </a:txBody>
                      <a:tcPr anchor="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Arial" panose="020B0604020202020204" pitchFamily="34" charset="0"/>
                              <a:cs typeface="Arial" panose="020B0604020202020204" pitchFamily="34" charset="0"/>
                            </a:rPr>
                            <a:t>One-tailed (Upper-tail)</a:t>
                          </a:r>
                        </a:p>
                      </a:txBody>
                      <a:tcPr anchor="b">
                        <a:noFill/>
                      </a:tcPr>
                    </a:tc>
                    <a:tc>
                      <a:txBody>
                        <a:bodyPr/>
                        <a:lstStyle/>
                        <a:p>
                          <a:pPr algn="ctr"/>
                          <a:r>
                            <a:rPr lang="en-US" sz="2000" dirty="0">
                              <a:solidFill>
                                <a:srgbClr val="000000"/>
                              </a:solidFill>
                              <a:latin typeface="Arial" panose="020B0604020202020204" pitchFamily="34" charset="0"/>
                              <a:cs typeface="Arial" panose="020B0604020202020204" pitchFamily="34" charset="0"/>
                            </a:rPr>
                            <a:t>Two-tailed</a:t>
                          </a:r>
                        </a:p>
                        <a:p>
                          <a:pPr algn="ctr"/>
                          <a:endParaRPr lang="en-US" sz="2000" dirty="0">
                            <a:solidFill>
                              <a:srgbClr val="000000"/>
                            </a:solidFill>
                            <a:latin typeface="Arial" panose="020B0604020202020204" pitchFamily="34" charset="0"/>
                            <a:cs typeface="Arial" panose="020B0604020202020204" pitchFamily="34" charset="0"/>
                          </a:endParaRPr>
                        </a:p>
                      </a:txBody>
                      <a:tcPr anchor="b">
                        <a:noFill/>
                      </a:tcPr>
                    </a:tc>
                    <a:extLst>
                      <a:ext uri="{0D108BD9-81ED-4DB2-BD59-A6C34878D82A}">
                        <a16:rowId xmlns:a16="http://schemas.microsoft.com/office/drawing/2014/main" val="3040413604"/>
                      </a:ext>
                    </a:extLst>
                  </a:tr>
                  <a:tr h="434442">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m:t>
                                </m:r>
                                <m:sSup>
                                  <m:sSupPr>
                                    <m:ctrlPr>
                                      <a:rPr lang="en-US" sz="2000" i="1" dirty="0" smtClean="0">
                                        <a:latin typeface="Cambria Math" panose="02040503050406030204" pitchFamily="18" charset="0"/>
                                      </a:rPr>
                                    </m:ctrlPr>
                                  </m:sSupPr>
                                  <m:e>
                                    <m:r>
                                      <a:rPr lang="en-US" sz="2000" i="1" dirty="0">
                                        <a:latin typeface="Cambria Math" panose="02040503050406030204" pitchFamily="18" charset="0"/>
                                        <a:ea typeface="Cambria Math" panose="02040503050406030204" pitchFamily="18" charset="0"/>
                                      </a:rPr>
                                      <m:t>𝜎</m:t>
                                    </m:r>
                                  </m:e>
                                  <m:sup>
                                    <m:r>
                                      <a:rPr lang="en-US" sz="2000" b="0" i="1" dirty="0" smtClean="0">
                                        <a:latin typeface="Cambria Math" panose="02040503050406030204" pitchFamily="18" charset="0"/>
                                      </a:rPr>
                                      <m:t>2</m:t>
                                    </m:r>
                                  </m:sup>
                                </m:sSup>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Sup>
                                  <m:sSubSupPr>
                                    <m:ctrlPr>
                                      <a:rPr lang="en-US" sz="2000" i="1" dirty="0" smtClean="0">
                                        <a:latin typeface="Cambria Math" panose="02040503050406030204" pitchFamily="18" charset="0"/>
                                      </a:rPr>
                                    </m:ctrlPr>
                                  </m:sSubSupPr>
                                  <m:e>
                                    <m:r>
                                      <a:rPr lang="en-US" sz="2000" i="1" dirty="0" smtClean="0">
                                        <a:latin typeface="Cambria Math" panose="02040503050406030204" pitchFamily="18" charset="0"/>
                                        <a:ea typeface="Cambria Math" panose="02040503050406030204" pitchFamily="18" charset="0"/>
                                      </a:rPr>
                                      <m:t>𝜎</m:t>
                                    </m:r>
                                  </m:e>
                                  <m:sub>
                                    <m:r>
                                      <a:rPr lang="en-US" sz="2000" b="0" i="1" dirty="0" smtClean="0">
                                        <a:latin typeface="Cambria Math" panose="02040503050406030204" pitchFamily="18" charset="0"/>
                                      </a:rPr>
                                      <m:t>0</m:t>
                                    </m:r>
                                  </m:sub>
                                  <m:sup>
                                    <m:r>
                                      <a:rPr lang="en-US" sz="2000" b="0" i="1" dirty="0" smtClean="0">
                                        <a:latin typeface="Cambria Math" panose="02040503050406030204" pitchFamily="18" charset="0"/>
                                      </a:rPr>
                                      <m:t>2</m:t>
                                    </m:r>
                                  </m:sup>
                                </m:sSubSup>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m:t>
                                </m:r>
                                <m:sSup>
                                  <m:sSupPr>
                                    <m:ctrlPr>
                                      <a:rPr lang="en-US" sz="2000" i="1" dirty="0" smtClean="0">
                                        <a:latin typeface="Cambria Math" panose="02040503050406030204" pitchFamily="18" charset="0"/>
                                      </a:rPr>
                                    </m:ctrlPr>
                                  </m:sSupPr>
                                  <m:e>
                                    <m:r>
                                      <a:rPr lang="en-US" sz="2000" i="1" dirty="0">
                                        <a:latin typeface="Cambria Math" panose="02040503050406030204" pitchFamily="18" charset="0"/>
                                        <a:ea typeface="Cambria Math" panose="02040503050406030204" pitchFamily="18" charset="0"/>
                                      </a:rPr>
                                      <m:t>𝜎</m:t>
                                    </m:r>
                                  </m:e>
                                  <m:sup>
                                    <m:r>
                                      <a:rPr lang="en-US" sz="2000" b="0" i="1" dirty="0" smtClean="0">
                                        <a:latin typeface="Cambria Math" panose="02040503050406030204" pitchFamily="18" charset="0"/>
                                      </a:rPr>
                                      <m:t>2</m:t>
                                    </m:r>
                                  </m:sup>
                                </m:sSup>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Sup>
                                  <m:sSubSupPr>
                                    <m:ctrlPr>
                                      <a:rPr lang="en-US" sz="2000" i="1" dirty="0" smtClean="0">
                                        <a:latin typeface="Cambria Math" panose="02040503050406030204" pitchFamily="18" charset="0"/>
                                      </a:rPr>
                                    </m:ctrlPr>
                                  </m:sSubSupPr>
                                  <m:e>
                                    <m:r>
                                      <a:rPr lang="en-US" sz="2000" i="1" dirty="0" smtClean="0">
                                        <a:latin typeface="Cambria Math" panose="02040503050406030204" pitchFamily="18" charset="0"/>
                                        <a:ea typeface="Cambria Math" panose="02040503050406030204" pitchFamily="18" charset="0"/>
                                      </a:rPr>
                                      <m:t>𝜎</m:t>
                                    </m:r>
                                  </m:e>
                                  <m:sub>
                                    <m:r>
                                      <a:rPr lang="en-US" sz="2000" b="0" i="1" dirty="0" smtClean="0">
                                        <a:latin typeface="Cambria Math" panose="02040503050406030204" pitchFamily="18" charset="0"/>
                                      </a:rPr>
                                      <m:t>0</m:t>
                                    </m:r>
                                  </m:sub>
                                  <m:sup>
                                    <m:r>
                                      <a:rPr lang="en-US" sz="2000" b="0" i="1" dirty="0" smtClean="0">
                                        <a:latin typeface="Cambria Math" panose="02040503050406030204" pitchFamily="18" charset="0"/>
                                      </a:rPr>
                                      <m:t>2</m:t>
                                    </m:r>
                                  </m:sup>
                                </m:sSubSup>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0</m:t>
                                    </m:r>
                                  </m:sub>
                                </m:sSub>
                                <m:r>
                                  <a:rPr lang="en-US" sz="2000" b="0" i="1" smtClean="0">
                                    <a:solidFill>
                                      <a:srgbClr val="000000"/>
                                    </a:solidFill>
                                    <a:latin typeface="Cambria Math" panose="02040503050406030204" pitchFamily="18" charset="0"/>
                                    <a:cs typeface="Arial" panose="020B0604020202020204" pitchFamily="34" charset="0"/>
                                  </a:rPr>
                                  <m:t>:</m:t>
                                </m:r>
                                <m:sSup>
                                  <m:sSupPr>
                                    <m:ctrlPr>
                                      <a:rPr lang="en-US" sz="2000" i="1" dirty="0" smtClean="0">
                                        <a:latin typeface="Cambria Math" panose="02040503050406030204" pitchFamily="18" charset="0"/>
                                      </a:rPr>
                                    </m:ctrlPr>
                                  </m:sSupPr>
                                  <m:e>
                                    <m:r>
                                      <a:rPr lang="en-US" sz="2000" i="1" dirty="0">
                                        <a:latin typeface="Cambria Math" panose="02040503050406030204" pitchFamily="18" charset="0"/>
                                        <a:ea typeface="Cambria Math" panose="02040503050406030204" pitchFamily="18" charset="0"/>
                                      </a:rPr>
                                      <m:t>𝜎</m:t>
                                    </m:r>
                                  </m:e>
                                  <m:sup>
                                    <m:r>
                                      <a:rPr lang="en-US" sz="2000" b="0" i="1" dirty="0" smtClean="0">
                                        <a:latin typeface="Cambria Math" panose="02040503050406030204" pitchFamily="18" charset="0"/>
                                      </a:rPr>
                                      <m:t>2</m:t>
                                    </m:r>
                                  </m:sup>
                                </m:sSup>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Sup>
                                  <m:sSubSupPr>
                                    <m:ctrlPr>
                                      <a:rPr lang="en-US" sz="2000" i="1" dirty="0" smtClean="0">
                                        <a:latin typeface="Cambria Math" panose="02040503050406030204" pitchFamily="18" charset="0"/>
                                      </a:rPr>
                                    </m:ctrlPr>
                                  </m:sSubSupPr>
                                  <m:e>
                                    <m:r>
                                      <a:rPr lang="en-US" sz="2000" i="1" dirty="0" smtClean="0">
                                        <a:latin typeface="Cambria Math" panose="02040503050406030204" pitchFamily="18" charset="0"/>
                                        <a:ea typeface="Cambria Math" panose="02040503050406030204" pitchFamily="18" charset="0"/>
                                      </a:rPr>
                                      <m:t>𝜎</m:t>
                                    </m:r>
                                  </m:e>
                                  <m:sub>
                                    <m:r>
                                      <a:rPr lang="en-US" sz="2000" b="0" i="1" dirty="0" smtClean="0">
                                        <a:latin typeface="Cambria Math" panose="02040503050406030204" pitchFamily="18" charset="0"/>
                                      </a:rPr>
                                      <m:t>0</m:t>
                                    </m:r>
                                  </m:sub>
                                  <m:sup>
                                    <m:r>
                                      <a:rPr lang="en-US" sz="2000" b="0" i="1" dirty="0" smtClean="0">
                                        <a:latin typeface="Cambria Math" panose="02040503050406030204" pitchFamily="18" charset="0"/>
                                      </a:rPr>
                                      <m:t>2</m:t>
                                    </m:r>
                                  </m:sup>
                                </m:sSubSup>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2735330957"/>
                      </a:ext>
                    </a:extLst>
                  </a:tr>
                  <a:tr h="434442">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m:t>
                                </m:r>
                                <m:sSup>
                                  <m:sSupPr>
                                    <m:ctrlPr>
                                      <a:rPr lang="en-US" sz="2000" i="1" dirty="0" smtClean="0">
                                        <a:latin typeface="Cambria Math" panose="02040503050406030204" pitchFamily="18" charset="0"/>
                                      </a:rPr>
                                    </m:ctrlPr>
                                  </m:sSupPr>
                                  <m:e>
                                    <m:r>
                                      <a:rPr lang="en-US" sz="2000" i="1" dirty="0">
                                        <a:latin typeface="Cambria Math" panose="02040503050406030204" pitchFamily="18" charset="0"/>
                                        <a:ea typeface="Cambria Math" panose="02040503050406030204" pitchFamily="18" charset="0"/>
                                      </a:rPr>
                                      <m:t>𝜎</m:t>
                                    </m:r>
                                  </m:e>
                                  <m:sup>
                                    <m:r>
                                      <a:rPr lang="en-US" sz="2000" b="0" i="1" dirty="0" smtClean="0">
                                        <a:latin typeface="Cambria Math" panose="02040503050406030204" pitchFamily="18" charset="0"/>
                                      </a:rPr>
                                      <m:t>2</m:t>
                                    </m:r>
                                  </m:sup>
                                </m:sSup>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&lt;</m:t>
                                </m:r>
                                <m:sSubSup>
                                  <m:sSubSupPr>
                                    <m:ctrlPr>
                                      <a:rPr lang="en-US" sz="2000" i="1" dirty="0" smtClean="0">
                                        <a:latin typeface="Cambria Math" panose="02040503050406030204" pitchFamily="18" charset="0"/>
                                      </a:rPr>
                                    </m:ctrlPr>
                                  </m:sSubSupPr>
                                  <m:e>
                                    <m:r>
                                      <a:rPr lang="en-US" sz="2000" i="1" dirty="0" smtClean="0">
                                        <a:latin typeface="Cambria Math" panose="02040503050406030204" pitchFamily="18" charset="0"/>
                                        <a:ea typeface="Cambria Math" panose="02040503050406030204" pitchFamily="18" charset="0"/>
                                      </a:rPr>
                                      <m:t>𝜎</m:t>
                                    </m:r>
                                  </m:e>
                                  <m:sub>
                                    <m:r>
                                      <a:rPr lang="en-US" sz="2000" b="0" i="1" dirty="0" smtClean="0">
                                        <a:latin typeface="Cambria Math" panose="02040503050406030204" pitchFamily="18" charset="0"/>
                                      </a:rPr>
                                      <m:t>0</m:t>
                                    </m:r>
                                  </m:sub>
                                  <m:sup>
                                    <m:r>
                                      <a:rPr lang="en-US" sz="2000" b="0" i="1" dirty="0" smtClean="0">
                                        <a:latin typeface="Cambria Math" panose="02040503050406030204" pitchFamily="18" charset="0"/>
                                      </a:rPr>
                                      <m:t>2</m:t>
                                    </m:r>
                                  </m:sup>
                                </m:sSubSup>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m:t>
                                </m:r>
                                <m:sSup>
                                  <m:sSupPr>
                                    <m:ctrlPr>
                                      <a:rPr lang="en-US" sz="2000" i="1" dirty="0" smtClean="0">
                                        <a:latin typeface="Cambria Math" panose="02040503050406030204" pitchFamily="18" charset="0"/>
                                      </a:rPr>
                                    </m:ctrlPr>
                                  </m:sSupPr>
                                  <m:e>
                                    <m:r>
                                      <a:rPr lang="en-US" sz="2000" i="1" dirty="0">
                                        <a:latin typeface="Cambria Math" panose="02040503050406030204" pitchFamily="18" charset="0"/>
                                        <a:ea typeface="Cambria Math" panose="02040503050406030204" pitchFamily="18" charset="0"/>
                                      </a:rPr>
                                      <m:t>𝜎</m:t>
                                    </m:r>
                                  </m:e>
                                  <m:sup>
                                    <m:r>
                                      <a:rPr lang="en-US" sz="2000" b="0" i="1" dirty="0" smtClean="0">
                                        <a:latin typeface="Cambria Math" panose="02040503050406030204" pitchFamily="18" charset="0"/>
                                      </a:rPr>
                                      <m:t>2</m:t>
                                    </m:r>
                                  </m:sup>
                                </m:sSup>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&gt;</m:t>
                                </m:r>
                                <m:sSubSup>
                                  <m:sSubSupPr>
                                    <m:ctrlPr>
                                      <a:rPr lang="en-US" sz="2000" i="1" dirty="0" smtClean="0">
                                        <a:latin typeface="Cambria Math" panose="02040503050406030204" pitchFamily="18" charset="0"/>
                                      </a:rPr>
                                    </m:ctrlPr>
                                  </m:sSubSupPr>
                                  <m:e>
                                    <m:r>
                                      <a:rPr lang="en-US" sz="2000" i="1" dirty="0" smtClean="0">
                                        <a:latin typeface="Cambria Math" panose="02040503050406030204" pitchFamily="18" charset="0"/>
                                        <a:ea typeface="Cambria Math" panose="02040503050406030204" pitchFamily="18" charset="0"/>
                                      </a:rPr>
                                      <m:t>𝜎</m:t>
                                    </m:r>
                                  </m:e>
                                  <m:sub>
                                    <m:r>
                                      <a:rPr lang="en-US" sz="2000" b="0" i="1" dirty="0" smtClean="0">
                                        <a:latin typeface="Cambria Math" panose="02040503050406030204" pitchFamily="18" charset="0"/>
                                      </a:rPr>
                                      <m:t>0</m:t>
                                    </m:r>
                                  </m:sub>
                                  <m:sup>
                                    <m:r>
                                      <a:rPr lang="en-US" sz="2000" b="0" i="1" dirty="0" smtClean="0">
                                        <a:latin typeface="Cambria Math" panose="02040503050406030204" pitchFamily="18" charset="0"/>
                                      </a:rPr>
                                      <m:t>2</m:t>
                                    </m:r>
                                  </m:sup>
                                </m:sSubSup>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tc>
                      <a:txBody>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cs typeface="Arial" panose="020B0604020202020204" pitchFamily="34" charset="0"/>
                                      </a:rPr>
                                      <m:t>𝐻</m:t>
                                    </m:r>
                                  </m:e>
                                  <m:sub>
                                    <m:r>
                                      <a:rPr lang="en-US" sz="2000" b="0" i="1" smtClean="0">
                                        <a:solidFill>
                                          <a:srgbClr val="000000"/>
                                        </a:solidFill>
                                        <a:latin typeface="Cambria Math" panose="02040503050406030204" pitchFamily="18" charset="0"/>
                                        <a:cs typeface="Arial" panose="020B0604020202020204" pitchFamily="34" charset="0"/>
                                      </a:rPr>
                                      <m:t>𝑎</m:t>
                                    </m:r>
                                  </m:sub>
                                </m:sSub>
                                <m:r>
                                  <a:rPr lang="en-US" sz="2000" b="0" i="1" smtClean="0">
                                    <a:solidFill>
                                      <a:srgbClr val="000000"/>
                                    </a:solidFill>
                                    <a:latin typeface="Cambria Math" panose="02040503050406030204" pitchFamily="18" charset="0"/>
                                    <a:cs typeface="Arial" panose="020B0604020202020204" pitchFamily="34" charset="0"/>
                                  </a:rPr>
                                  <m:t>:</m:t>
                                </m:r>
                                <m:sSup>
                                  <m:sSupPr>
                                    <m:ctrlPr>
                                      <a:rPr lang="en-US" sz="2000" i="1" dirty="0" smtClean="0">
                                        <a:latin typeface="Cambria Math" panose="02040503050406030204" pitchFamily="18" charset="0"/>
                                      </a:rPr>
                                    </m:ctrlPr>
                                  </m:sSupPr>
                                  <m:e>
                                    <m:r>
                                      <a:rPr lang="en-US" sz="2000" i="1" dirty="0">
                                        <a:latin typeface="Cambria Math" panose="02040503050406030204" pitchFamily="18" charset="0"/>
                                        <a:ea typeface="Cambria Math" panose="02040503050406030204" pitchFamily="18" charset="0"/>
                                      </a:rPr>
                                      <m:t>𝜎</m:t>
                                    </m:r>
                                  </m:e>
                                  <m:sup>
                                    <m:r>
                                      <a:rPr lang="en-US" sz="2000" b="0" i="1" dirty="0" smtClean="0">
                                        <a:latin typeface="Cambria Math" panose="02040503050406030204" pitchFamily="18" charset="0"/>
                                      </a:rPr>
                                      <m:t>2</m:t>
                                    </m:r>
                                  </m:sup>
                                </m:sSup>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m:t>
                                </m:r>
                                <m:sSubSup>
                                  <m:sSubSupPr>
                                    <m:ctrlPr>
                                      <a:rPr lang="en-US" sz="2000" i="1" dirty="0" smtClean="0">
                                        <a:latin typeface="Cambria Math" panose="02040503050406030204" pitchFamily="18" charset="0"/>
                                      </a:rPr>
                                    </m:ctrlPr>
                                  </m:sSubSupPr>
                                  <m:e>
                                    <m:r>
                                      <a:rPr lang="en-US" sz="2000" i="1" dirty="0" smtClean="0">
                                        <a:latin typeface="Cambria Math" panose="02040503050406030204" pitchFamily="18" charset="0"/>
                                        <a:ea typeface="Cambria Math" panose="02040503050406030204" pitchFamily="18" charset="0"/>
                                      </a:rPr>
                                      <m:t>𝜎</m:t>
                                    </m:r>
                                  </m:e>
                                  <m:sub>
                                    <m:r>
                                      <a:rPr lang="en-US" sz="2000" b="0" i="1" dirty="0" smtClean="0">
                                        <a:latin typeface="Cambria Math" panose="02040503050406030204" pitchFamily="18" charset="0"/>
                                      </a:rPr>
                                      <m:t>0</m:t>
                                    </m:r>
                                  </m:sub>
                                  <m:sup>
                                    <m:r>
                                      <a:rPr lang="en-US" sz="2000" b="0" i="1" dirty="0" smtClean="0">
                                        <a:latin typeface="Cambria Math" panose="02040503050406030204" pitchFamily="18" charset="0"/>
                                      </a:rPr>
                                      <m:t>2</m:t>
                                    </m:r>
                                  </m:sup>
                                </m:sSubSup>
                              </m:oMath>
                            </m:oMathPara>
                          </a14:m>
                          <a:endParaRPr lang="en-US" sz="2000" dirty="0">
                            <a:solidFill>
                              <a:srgbClr val="000000"/>
                            </a:solidFill>
                            <a:latin typeface="Arial" panose="020B0604020202020204" pitchFamily="34" charset="0"/>
                            <a:cs typeface="Arial" panose="020B0604020202020204" pitchFamily="34" charset="0"/>
                          </a:endParaRPr>
                        </a:p>
                      </a:txBody>
                      <a:tcPr anchor="ctr">
                        <a:noFill/>
                      </a:tcPr>
                    </a:tc>
                    <a:extLst>
                      <a:ext uri="{0D108BD9-81ED-4DB2-BD59-A6C34878D82A}">
                        <a16:rowId xmlns:a16="http://schemas.microsoft.com/office/drawing/2014/main" val="4015236200"/>
                      </a:ext>
                    </a:extLst>
                  </a:tr>
                </a:tbl>
              </a:graphicData>
            </a:graphic>
          </p:graphicFrame>
        </mc:Choice>
        <mc:Fallback xmlns="">
          <p:graphicFrame>
            <p:nvGraphicFramePr>
              <p:cNvPr id="5" name="Table 5">
                <a:extLst>
                  <a:ext uri="{FF2B5EF4-FFF2-40B4-BE49-F238E27FC236}">
                    <a16:creationId xmlns:a16="http://schemas.microsoft.com/office/drawing/2014/main" id="{949D3E33-8804-E853-E582-29FEBCCEEA7C}"/>
                  </a:ext>
                </a:extLst>
              </p:cNvPr>
              <p:cNvGraphicFramePr>
                <a:graphicFrameLocks noGrp="1"/>
              </p:cNvGraphicFramePr>
              <p:nvPr>
                <p:ph type="tbl" sz="quarter" idx="16"/>
                <p:extLst>
                  <p:ext uri="{D42A27DB-BD31-4B8C-83A1-F6EECF244321}">
                    <p14:modId xmlns:p14="http://schemas.microsoft.com/office/powerpoint/2010/main" val="2912542470"/>
                  </p:ext>
                </p:extLst>
              </p:nvPr>
            </p:nvGraphicFramePr>
            <p:xfrm>
              <a:off x="2112579" y="1627917"/>
              <a:ext cx="7179216" cy="1637512"/>
            </p:xfrm>
            <a:graphic>
              <a:graphicData uri="http://schemas.openxmlformats.org/drawingml/2006/table">
                <a:tbl>
                  <a:tblPr firstRow="1" bandRow="1">
                    <a:tableStyleId>{5C22544A-7EE6-4342-B048-85BDC9FD1C3A}</a:tableStyleId>
                  </a:tblPr>
                  <a:tblGrid>
                    <a:gridCol w="2393072">
                      <a:extLst>
                        <a:ext uri="{9D8B030D-6E8A-4147-A177-3AD203B41FA5}">
                          <a16:colId xmlns:a16="http://schemas.microsoft.com/office/drawing/2014/main" val="62038558"/>
                        </a:ext>
                      </a:extLst>
                    </a:gridCol>
                    <a:gridCol w="2393072">
                      <a:extLst>
                        <a:ext uri="{9D8B030D-6E8A-4147-A177-3AD203B41FA5}">
                          <a16:colId xmlns:a16="http://schemas.microsoft.com/office/drawing/2014/main" val="949252079"/>
                        </a:ext>
                      </a:extLst>
                    </a:gridCol>
                    <a:gridCol w="2393072">
                      <a:extLst>
                        <a:ext uri="{9D8B030D-6E8A-4147-A177-3AD203B41FA5}">
                          <a16:colId xmlns:a16="http://schemas.microsoft.com/office/drawing/2014/main" val="2132953150"/>
                        </a:ext>
                      </a:extLst>
                    </a:gridCol>
                  </a:tblGrid>
                  <a:tr h="768628">
                    <a:tc>
                      <a:txBody>
                        <a:bodyPr/>
                        <a:lstStyle/>
                        <a:p>
                          <a:pPr algn="ctr"/>
                          <a:r>
                            <a:rPr lang="en-US" sz="2000" dirty="0">
                              <a:solidFill>
                                <a:srgbClr val="000000"/>
                              </a:solidFill>
                              <a:latin typeface="Arial" panose="020B0604020202020204" pitchFamily="34" charset="0"/>
                              <a:cs typeface="Arial" panose="020B0604020202020204" pitchFamily="34" charset="0"/>
                            </a:rPr>
                            <a:t>One-tailed (Lower-tail)</a:t>
                          </a:r>
                        </a:p>
                      </a:txBody>
                      <a:tcPr anchor="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solidFill>
                                <a:srgbClr val="000000"/>
                              </a:solidFill>
                              <a:latin typeface="Arial" panose="020B0604020202020204" pitchFamily="34" charset="0"/>
                              <a:cs typeface="Arial" panose="020B0604020202020204" pitchFamily="34" charset="0"/>
                            </a:rPr>
                            <a:t>One-tailed (Upper-tail)</a:t>
                          </a:r>
                        </a:p>
                      </a:txBody>
                      <a:tcPr anchor="b">
                        <a:noFill/>
                      </a:tcPr>
                    </a:tc>
                    <a:tc>
                      <a:txBody>
                        <a:bodyPr/>
                        <a:lstStyle/>
                        <a:p>
                          <a:pPr algn="ctr"/>
                          <a:r>
                            <a:rPr lang="en-US" sz="2000" dirty="0">
                              <a:solidFill>
                                <a:srgbClr val="000000"/>
                              </a:solidFill>
                              <a:latin typeface="Arial" panose="020B0604020202020204" pitchFamily="34" charset="0"/>
                              <a:cs typeface="Arial" panose="020B0604020202020204" pitchFamily="34" charset="0"/>
                            </a:rPr>
                            <a:t>Two-tailed</a:t>
                          </a:r>
                        </a:p>
                        <a:p>
                          <a:pPr algn="ctr"/>
                          <a:endParaRPr lang="en-US" sz="2000" dirty="0">
                            <a:solidFill>
                              <a:srgbClr val="000000"/>
                            </a:solidFill>
                            <a:latin typeface="Arial" panose="020B0604020202020204" pitchFamily="34" charset="0"/>
                            <a:cs typeface="Arial" panose="020B0604020202020204" pitchFamily="34" charset="0"/>
                          </a:endParaRPr>
                        </a:p>
                      </a:txBody>
                      <a:tcPr anchor="b">
                        <a:noFill/>
                      </a:tcPr>
                    </a:tc>
                    <a:extLst>
                      <a:ext uri="{0D108BD9-81ED-4DB2-BD59-A6C34878D82A}">
                        <a16:rowId xmlns:a16="http://schemas.microsoft.com/office/drawing/2014/main" val="3040413604"/>
                      </a:ext>
                    </a:extLst>
                  </a:tr>
                  <a:tr h="434442">
                    <a:tc>
                      <a:txBody>
                        <a:bodyPr/>
                        <a:lstStyle/>
                        <a:p>
                          <a:endParaRPr lang="en-US"/>
                        </a:p>
                      </a:txBody>
                      <a:tcPr anchor="ctr">
                        <a:blipFill>
                          <a:blip r:embed="rId5"/>
                          <a:stretch>
                            <a:fillRect l="-254" t="-176389" r="-201018" b="-101389"/>
                          </a:stretch>
                        </a:blipFill>
                      </a:tcPr>
                    </a:tc>
                    <a:tc>
                      <a:txBody>
                        <a:bodyPr/>
                        <a:lstStyle/>
                        <a:p>
                          <a:endParaRPr lang="en-US"/>
                        </a:p>
                      </a:txBody>
                      <a:tcPr anchor="ctr">
                        <a:blipFill>
                          <a:blip r:embed="rId5"/>
                          <a:stretch>
                            <a:fillRect l="-100254" t="-176389" r="-101018" b="-101389"/>
                          </a:stretch>
                        </a:blipFill>
                      </a:tcPr>
                    </a:tc>
                    <a:tc>
                      <a:txBody>
                        <a:bodyPr/>
                        <a:lstStyle/>
                        <a:p>
                          <a:endParaRPr lang="en-US"/>
                        </a:p>
                      </a:txBody>
                      <a:tcPr anchor="ctr">
                        <a:blipFill>
                          <a:blip r:embed="rId5"/>
                          <a:stretch>
                            <a:fillRect l="-200254" t="-176389" r="-1018" b="-101389"/>
                          </a:stretch>
                        </a:blipFill>
                      </a:tcPr>
                    </a:tc>
                    <a:extLst>
                      <a:ext uri="{0D108BD9-81ED-4DB2-BD59-A6C34878D82A}">
                        <a16:rowId xmlns:a16="http://schemas.microsoft.com/office/drawing/2014/main" val="2735330957"/>
                      </a:ext>
                    </a:extLst>
                  </a:tr>
                  <a:tr h="434442">
                    <a:tc>
                      <a:txBody>
                        <a:bodyPr/>
                        <a:lstStyle/>
                        <a:p>
                          <a:endParaRPr lang="en-US"/>
                        </a:p>
                      </a:txBody>
                      <a:tcPr anchor="ctr">
                        <a:blipFill>
                          <a:blip r:embed="rId5"/>
                          <a:stretch>
                            <a:fillRect l="-254" t="-280282" r="-201018" b="-2817"/>
                          </a:stretch>
                        </a:blipFill>
                      </a:tcPr>
                    </a:tc>
                    <a:tc>
                      <a:txBody>
                        <a:bodyPr/>
                        <a:lstStyle/>
                        <a:p>
                          <a:endParaRPr lang="en-US"/>
                        </a:p>
                      </a:txBody>
                      <a:tcPr anchor="ctr">
                        <a:blipFill>
                          <a:blip r:embed="rId5"/>
                          <a:stretch>
                            <a:fillRect l="-100254" t="-280282" r="-101018" b="-2817"/>
                          </a:stretch>
                        </a:blipFill>
                      </a:tcPr>
                    </a:tc>
                    <a:tc>
                      <a:txBody>
                        <a:bodyPr/>
                        <a:lstStyle/>
                        <a:p>
                          <a:endParaRPr lang="en-US"/>
                        </a:p>
                      </a:txBody>
                      <a:tcPr anchor="ctr">
                        <a:blipFill>
                          <a:blip r:embed="rId5"/>
                          <a:stretch>
                            <a:fillRect l="-200254" t="-280282" r="-1018" b="-2817"/>
                          </a:stretch>
                        </a:blipFill>
                      </a:tcPr>
                    </a:tc>
                    <a:extLst>
                      <a:ext uri="{0D108BD9-81ED-4DB2-BD59-A6C34878D82A}">
                        <a16:rowId xmlns:a16="http://schemas.microsoft.com/office/drawing/2014/main" val="4015236200"/>
                      </a:ext>
                    </a:extLst>
                  </a:tr>
                </a:tbl>
              </a:graphicData>
            </a:graphic>
          </p:graphicFrame>
        </mc:Fallback>
      </mc:AlternateContent>
    </p:spTree>
    <p:extLst>
      <p:ext uri="{BB962C8B-B14F-4D97-AF65-F5344CB8AC3E}">
        <p14:creationId xmlns:p14="http://schemas.microsoft.com/office/powerpoint/2010/main" val="22506104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5C5ED-9F61-2E4E-E5CF-8ADF8667BEEB}"/>
              </a:ext>
            </a:extLst>
          </p:cNvPr>
          <p:cNvSpPr>
            <a:spLocks noGrp="1"/>
          </p:cNvSpPr>
          <p:nvPr>
            <p:ph type="title"/>
          </p:nvPr>
        </p:nvSpPr>
        <p:spPr/>
        <p:txBody>
          <a:bodyPr/>
          <a:lstStyle/>
          <a:p>
            <a:r>
              <a:rPr lang="en-US" sz="3200" dirty="0"/>
              <a:t>11.1 A One-Tailed Test Hypothesis Test About a Population Variance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9D86671-B176-8A67-A5AB-2B4385DD5EED}"/>
                  </a:ext>
                </a:extLst>
              </p:cNvPr>
              <p:cNvSpPr>
                <a:spLocks noGrp="1"/>
              </p:cNvSpPr>
              <p:nvPr>
                <p:ph type="body" sz="quarter" idx="15"/>
              </p:nvPr>
            </p:nvSpPr>
            <p:spPr>
              <a:xfrm>
                <a:off x="743577" y="1749971"/>
                <a:ext cx="10610223" cy="4020208"/>
              </a:xfrm>
            </p:spPr>
            <p:txBody>
              <a:bodyPr/>
              <a:lstStyle/>
              <a:p>
                <a:r>
                  <a:rPr lang="en-US" sz="2000" dirty="0"/>
                  <a:t>To promote an image of reliability, the St. Louis Metro Bus Company sets a standard policy on the arrival time of its drivers’ schedules with a standard deviation, </a:t>
                </a:r>
                <a14:m>
                  <m:oMath xmlns:m="http://schemas.openxmlformats.org/officeDocument/2006/math">
                    <m:sSub>
                      <m:sSubPr>
                        <m:ctrlPr>
                          <a:rPr lang="en-US" sz="2000" i="1" smtClean="0">
                            <a:latin typeface="Cambria Math" panose="02040503050406030204" pitchFamily="18" charset="0"/>
                          </a:rPr>
                        </m:ctrlPr>
                      </m:sSubPr>
                      <m:e>
                        <m:r>
                          <a:rPr lang="en-US" sz="2000" i="1" smtClean="0">
                            <a:latin typeface="Cambria Math" panose="02040503050406030204" pitchFamily="18" charset="0"/>
                            <a:ea typeface="Cambria Math" panose="02040503050406030204" pitchFamily="18" charset="0"/>
                          </a:rPr>
                          <m:t>𝜎</m:t>
                        </m:r>
                      </m:e>
                      <m:sub>
                        <m:r>
                          <a:rPr lang="en-US" sz="2000" b="0" i="1" smtClean="0">
                            <a:latin typeface="Cambria Math" panose="02040503050406030204" pitchFamily="18" charset="0"/>
                          </a:rPr>
                          <m:t>0</m:t>
                        </m:r>
                      </m:sub>
                    </m:sSub>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rPr>
                      <m:t>2</m:t>
                    </m:r>
                  </m:oMath>
                </a14:m>
                <a:r>
                  <a:rPr lang="en-US" sz="2000" dirty="0"/>
                  <a:t> minutes.</a:t>
                </a:r>
              </a:p>
              <a:p>
                <a:pPr>
                  <a:spcAft>
                    <a:spcPts val="600"/>
                  </a:spcAft>
                </a:pPr>
                <a:r>
                  <a:rPr lang="en-US" sz="2000" dirty="0"/>
                  <a:t>We tentatively assume the null hypothesis as </a:t>
                </a:r>
                <a14:m>
                  <m:oMath xmlns:m="http://schemas.openxmlformats.org/officeDocument/2006/math">
                    <m:sSup>
                      <m:sSupPr>
                        <m:ctrlPr>
                          <a:rPr lang="en-US" sz="2000" i="1">
                            <a:solidFill>
                              <a:srgbClr val="011892"/>
                            </a:solidFill>
                            <a:latin typeface="Cambria Math" panose="02040503050406030204" pitchFamily="18" charset="0"/>
                          </a:rPr>
                        </m:ctrlPr>
                      </m:sSupPr>
                      <m:e>
                        <m:r>
                          <a:rPr lang="en-US" sz="2000" i="1">
                            <a:solidFill>
                              <a:srgbClr val="011892"/>
                            </a:solidFill>
                            <a:latin typeface="Cambria Math" panose="02040503050406030204" pitchFamily="18" charset="0"/>
                            <a:ea typeface="Cambria Math" panose="02040503050406030204" pitchFamily="18" charset="0"/>
                          </a:rPr>
                          <m:t>𝜎</m:t>
                        </m:r>
                      </m:e>
                      <m:sup>
                        <m:r>
                          <a:rPr lang="en-US" sz="2000" i="1">
                            <a:solidFill>
                              <a:srgbClr val="011892"/>
                            </a:solidFill>
                            <a:latin typeface="Cambria Math" panose="02040503050406030204" pitchFamily="18"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m:t>
                    </m:r>
                    <m:sSubSup>
                      <m:sSubSupPr>
                        <m:ctrlPr>
                          <a:rPr lang="en-US" sz="2000" i="1" dirty="0">
                            <a:latin typeface="Cambria Math" panose="02040503050406030204" pitchFamily="18" charset="0"/>
                          </a:rPr>
                        </m:ctrlPr>
                      </m:sSubSupPr>
                      <m:e>
                        <m:r>
                          <a:rPr lang="en-US" sz="2000" i="1" dirty="0">
                            <a:latin typeface="Cambria Math" panose="02040503050406030204" pitchFamily="18" charset="0"/>
                            <a:ea typeface="Cambria Math" panose="02040503050406030204" pitchFamily="18" charset="0"/>
                          </a:rPr>
                          <m:t>𝜎</m:t>
                        </m:r>
                      </m:e>
                      <m:sub>
                        <m:r>
                          <a:rPr lang="en-US" sz="2000" i="1" dirty="0">
                            <a:latin typeface="Cambria Math" panose="02040503050406030204" pitchFamily="18" charset="0"/>
                          </a:rPr>
                          <m:t>0</m:t>
                        </m:r>
                      </m:sub>
                      <m:sup>
                        <m:r>
                          <a:rPr lang="en-US" sz="2000" i="1" dirty="0">
                            <a:latin typeface="Cambria Math" panose="02040503050406030204" pitchFamily="18" charset="0"/>
                          </a:rPr>
                          <m:t>2</m:t>
                        </m:r>
                      </m:sup>
                    </m:sSubSup>
                    <m:r>
                      <a:rPr lang="en-US" sz="2000" i="1" dirty="0">
                        <a:latin typeface="Cambria Math" panose="02040503050406030204" pitchFamily="18" charset="0"/>
                      </a:rPr>
                      <m:t>=</m:t>
                    </m:r>
                    <m:sSup>
                      <m:sSupPr>
                        <m:ctrlPr>
                          <a:rPr lang="en-US" sz="2000" i="1" dirty="0" smtClean="0">
                            <a:latin typeface="Cambria Math" panose="02040503050406030204" pitchFamily="18" charset="0"/>
                          </a:rPr>
                        </m:ctrlPr>
                      </m:sSupPr>
                      <m:e>
                        <m:r>
                          <a:rPr lang="en-US" sz="2000" b="0" i="1" dirty="0" smtClean="0">
                            <a:latin typeface="Cambria Math" panose="02040503050406030204" pitchFamily="18" charset="0"/>
                          </a:rPr>
                          <m:t>2</m:t>
                        </m:r>
                      </m:e>
                      <m:sup>
                        <m:r>
                          <a:rPr lang="en-US" sz="2000" b="0" i="1" dirty="0" smtClean="0">
                            <a:latin typeface="Cambria Math" panose="02040503050406030204" pitchFamily="18" charset="0"/>
                          </a:rPr>
                          <m:t>2</m:t>
                        </m:r>
                      </m:sup>
                    </m:sSup>
                    <m:r>
                      <a:rPr lang="en-US" sz="2000" b="0" i="1" dirty="0" smtClean="0">
                        <a:latin typeface="Cambria Math" panose="02040503050406030204" pitchFamily="18" charset="0"/>
                      </a:rPr>
                      <m:t>=</m:t>
                    </m:r>
                    <m:r>
                      <a:rPr lang="en-US" sz="2000" i="1" dirty="0">
                        <a:latin typeface="Cambria Math" panose="02040503050406030204" pitchFamily="18" charset="0"/>
                      </a:rPr>
                      <m:t>4</m:t>
                    </m:r>
                  </m:oMath>
                </a14:m>
                <a:r>
                  <a:rPr lang="en-US" sz="2000" dirty="0"/>
                  <a:t>, true, and test the company’s claim by setting the alternative hypothesis as </a:t>
                </a:r>
                <a14:m>
                  <m:oMath xmlns:m="http://schemas.openxmlformats.org/officeDocument/2006/math">
                    <m:sSup>
                      <m:sSupPr>
                        <m:ctrlPr>
                          <a:rPr lang="en-US" sz="2000" i="1">
                            <a:solidFill>
                              <a:srgbClr val="011892"/>
                            </a:solidFill>
                            <a:latin typeface="Cambria Math" panose="02040503050406030204" pitchFamily="18" charset="0"/>
                          </a:rPr>
                        </m:ctrlPr>
                      </m:sSupPr>
                      <m:e>
                        <m:r>
                          <a:rPr lang="en-US" sz="2000" i="1">
                            <a:solidFill>
                              <a:srgbClr val="011892"/>
                            </a:solidFill>
                            <a:latin typeface="Cambria Math" panose="02040503050406030204" pitchFamily="18" charset="0"/>
                            <a:ea typeface="Cambria Math" panose="02040503050406030204" pitchFamily="18" charset="0"/>
                          </a:rPr>
                          <m:t>𝜎</m:t>
                        </m:r>
                      </m:e>
                      <m:sup>
                        <m:r>
                          <a:rPr lang="en-US" sz="2000" i="1">
                            <a:solidFill>
                              <a:srgbClr val="011892"/>
                            </a:solidFill>
                            <a:latin typeface="Cambria Math" panose="02040503050406030204" pitchFamily="18" charset="0"/>
                          </a:rPr>
                          <m:t>2</m:t>
                        </m:r>
                      </m:sup>
                    </m:sSup>
                    <m:r>
                      <a:rPr lang="en-US" sz="2000" i="1">
                        <a:latin typeface="Cambria Math" panose="02040503050406030204" pitchFamily="18" charset="0"/>
                        <a:ea typeface="Cambria Math" panose="02040503050406030204" pitchFamily="18" charset="0"/>
                        <a:cs typeface="Arial" panose="020B0604020202020204" pitchFamily="34" charset="0"/>
                      </a:rPr>
                      <m:t>&gt;4</m:t>
                    </m:r>
                  </m:oMath>
                </a14:m>
                <a:r>
                  <a:rPr lang="en-US" sz="2000" dirty="0">
                    <a:latin typeface="Arial" panose="020B0604020202020204" pitchFamily="34" charset="0"/>
                  </a:rPr>
                  <a:t> </a:t>
                </a:r>
                <a:r>
                  <a:rPr lang="en-US" sz="2000" dirty="0"/>
                  <a:t>, at a significance level, </a:t>
                </a:r>
                <a14:m>
                  <m:oMath xmlns:m="http://schemas.openxmlformats.org/officeDocument/2006/math">
                    <m:r>
                      <m:rPr>
                        <m:sty m:val="p"/>
                      </m:rPr>
                      <a:rPr lang="el-GR" sz="2000" b="0" i="1" smtClean="0">
                        <a:latin typeface="Cambria Math" panose="02040503050406030204" pitchFamily="18" charset="0"/>
                        <a:ea typeface="Cambria Math" panose="02040503050406030204" pitchFamily="18" charset="0"/>
                      </a:rPr>
                      <m:t>α</m:t>
                    </m:r>
                    <m:r>
                      <a:rPr lang="en-US" sz="2000" b="0" i="1" smtClean="0">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rPr>
                      <m:t>.05</m:t>
                    </m:r>
                  </m:oMath>
                </a14:m>
                <a:r>
                  <a:rPr lang="en-US" sz="2000" dirty="0"/>
                  <a:t>.</a:t>
                </a:r>
              </a:p>
              <a:p>
                <a:pPr marL="914400" fontAlgn="ctr">
                  <a:spcBef>
                    <a:spcPts val="0"/>
                  </a:spcBef>
                  <a:spcAft>
                    <a:spcPts val="600"/>
                  </a:spcAft>
                </a:pPr>
                <a14:m>
                  <m:oMathPara xmlns:m="http://schemas.openxmlformats.org/officeDocument/2006/math">
                    <m:oMathParaPr>
                      <m:jc m:val="left"/>
                    </m:oMathParaPr>
                    <m:oMath xmlns:m="http://schemas.openxmlformats.org/officeDocument/2006/math">
                      <m:sSub>
                        <m:sSubPr>
                          <m:ctrlPr>
                            <a:rPr lang="en-US" sz="2000" b="1" i="1" u="none" strike="noStrike" kern="1200" smtClean="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cs typeface="Arial" panose="020B0604020202020204" pitchFamily="34" charset="0"/>
                            </a:rPr>
                            <m:t>𝐻</m:t>
                          </m:r>
                        </m:e>
                        <m:sub>
                          <m:r>
                            <a:rPr lang="en-US" sz="2000" b="0" i="1" u="none" strike="noStrike" kern="1200">
                              <a:solidFill>
                                <a:srgbClr val="000000"/>
                              </a:solidFill>
                              <a:effectLst/>
                              <a:latin typeface="Cambria Math" panose="02040503050406030204" pitchFamily="18" charset="0"/>
                              <a:cs typeface="Arial" panose="020B0604020202020204" pitchFamily="34" charset="0"/>
                            </a:rPr>
                            <m:t>0</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p>
                        <m:sSupPr>
                          <m:ctrlPr>
                            <a:rPr lang="en-US" sz="2000" i="1">
                              <a:solidFill>
                                <a:srgbClr val="011892"/>
                              </a:solidFill>
                              <a:latin typeface="Cambria Math" panose="02040503050406030204" pitchFamily="18" charset="0"/>
                            </a:rPr>
                          </m:ctrlPr>
                        </m:sSupPr>
                        <m:e>
                          <m:r>
                            <a:rPr lang="en-US" sz="2000" i="1">
                              <a:solidFill>
                                <a:srgbClr val="011892"/>
                              </a:solidFill>
                              <a:latin typeface="Cambria Math" panose="02040503050406030204" pitchFamily="18" charset="0"/>
                              <a:ea typeface="Cambria Math" panose="02040503050406030204" pitchFamily="18" charset="0"/>
                            </a:rPr>
                            <m:t>𝜎</m:t>
                          </m:r>
                        </m:e>
                        <m:sup>
                          <m:r>
                            <a:rPr lang="en-US" sz="2000" i="1">
                              <a:solidFill>
                                <a:srgbClr val="011892"/>
                              </a:solidFill>
                              <a:latin typeface="Cambria Math" panose="02040503050406030204" pitchFamily="18" charset="0"/>
                            </a:rPr>
                            <m:t>2</m:t>
                          </m:r>
                        </m:sup>
                      </m:sSup>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m:t>
                      </m:r>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4</m:t>
                      </m:r>
                    </m:oMath>
                  </m:oMathPara>
                </a14:m>
                <a:endParaRPr lang="en-US" sz="2000" b="0" i="0" u="none" strike="noStrike" dirty="0">
                  <a:effectLst/>
                  <a:latin typeface="Arial" panose="020B0604020202020204" pitchFamily="34" charset="0"/>
                </a:endParaRPr>
              </a:p>
              <a:p>
                <a:pPr marL="914400" algn="l" rtl="0" eaLnBrk="1" fontAlgn="ctr" latinLnBrk="0" hangingPunct="1">
                  <a:spcAft>
                    <a:spcPts val="600"/>
                  </a:spcAft>
                </a:pPr>
                <a14:m>
                  <m:oMath xmlns:m="http://schemas.openxmlformats.org/officeDocument/2006/math">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cs typeface="Arial" panose="020B0604020202020204" pitchFamily="34" charset="0"/>
                          </a:rPr>
                          <m:t>𝐻</m:t>
                        </m:r>
                      </m:e>
                      <m:sub>
                        <m:r>
                          <a:rPr lang="en-US" sz="2000" b="0" i="1" u="none" strike="noStrike" kern="1200">
                            <a:solidFill>
                              <a:srgbClr val="000000"/>
                            </a:solidFill>
                            <a:effectLst/>
                            <a:latin typeface="Cambria Math" panose="02040503050406030204" pitchFamily="18" charset="0"/>
                            <a:cs typeface="Arial" panose="020B0604020202020204" pitchFamily="34" charset="0"/>
                          </a:rPr>
                          <m:t>𝑎</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p>
                      <m:sSupPr>
                        <m:ctrlPr>
                          <a:rPr lang="en-US" sz="2000" b="0" i="1" u="none" strike="noStrike" kern="1200">
                            <a:solidFill>
                              <a:srgbClr val="011892"/>
                            </a:solidFill>
                            <a:effectLst/>
                            <a:latin typeface="Cambria Math" panose="02040503050406030204" pitchFamily="18" charset="0"/>
                          </a:rPr>
                        </m:ctrlPr>
                      </m:sSupPr>
                      <m:e>
                        <m:r>
                          <a:rPr lang="en-US" sz="2000" b="0" i="1" u="none" strike="noStrike" kern="1200">
                            <a:solidFill>
                              <a:srgbClr val="011892"/>
                            </a:solidFill>
                            <a:effectLst/>
                            <a:latin typeface="Cambria Math" panose="02040503050406030204" pitchFamily="18" charset="0"/>
                            <a:ea typeface="Cambria Math" panose="02040503050406030204" pitchFamily="18" charset="0"/>
                          </a:rPr>
                          <m:t>𝜎</m:t>
                        </m:r>
                      </m:e>
                      <m:sup>
                        <m:r>
                          <a:rPr lang="en-US" sz="2000" b="0" i="1" u="none" strike="noStrike" kern="1200">
                            <a:solidFill>
                              <a:srgbClr val="011892"/>
                            </a:solidFill>
                            <a:effectLst/>
                            <a:latin typeface="Cambria Math" panose="02040503050406030204" pitchFamily="18" charset="0"/>
                          </a:rPr>
                          <m:t>2</m:t>
                        </m:r>
                      </m:sup>
                    </m:sSup>
                    <m:r>
                      <a:rPr lang="en-US" sz="2000" b="0" i="1" u="none" strike="noStrike" kern="120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&gt;</m:t>
                    </m:r>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4</m:t>
                    </m:r>
                  </m:oMath>
                </a14:m>
                <a:r>
                  <a:rPr lang="en-US" sz="2000" b="0" i="0" u="none" strike="noStrike" dirty="0">
                    <a:effectLst/>
                    <a:latin typeface="Arial" panose="020B0604020202020204" pitchFamily="34" charset="0"/>
                  </a:rPr>
                  <a:t> </a:t>
                </a:r>
              </a:p>
              <a:p>
                <a:pPr>
                  <a:spcAft>
                    <a:spcPts val="0"/>
                  </a:spcAft>
                </a:pPr>
                <a:r>
                  <a:rPr lang="en-US" sz="2000" dirty="0"/>
                  <a:t>Suppose that a random sample of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=24</m:t>
                    </m:r>
                  </m:oMath>
                </a14:m>
                <a:r>
                  <a:rPr lang="en-US" sz="2000" dirty="0"/>
                  <a:t> bus arrivals provided a sample variance, </a:t>
                </a:r>
                <a14:m>
                  <m:oMath xmlns:m="http://schemas.openxmlformats.org/officeDocument/2006/math">
                    <m:sSup>
                      <m:sSupPr>
                        <m:ctrlPr>
                          <a:rPr lang="en-US" sz="2000" i="1" dirty="0" smtClean="0">
                            <a:latin typeface="Cambria Math" panose="02040503050406030204" pitchFamily="18" charset="0"/>
                          </a:rPr>
                        </m:ctrlPr>
                      </m:sSupPr>
                      <m:e>
                        <m:r>
                          <a:rPr lang="en-US" sz="2000" b="0" i="1" dirty="0" smtClean="0">
                            <a:latin typeface="Cambria Math" panose="02040503050406030204" pitchFamily="18" charset="0"/>
                          </a:rPr>
                          <m:t>𝑠</m:t>
                        </m:r>
                      </m:e>
                      <m:sup>
                        <m:r>
                          <a:rPr lang="en-US" sz="2000" b="0" i="1" dirty="0" smtClean="0">
                            <a:latin typeface="Cambria Math" panose="02040503050406030204" pitchFamily="18" charset="0"/>
                          </a:rPr>
                          <m:t>2</m:t>
                        </m:r>
                      </m:sup>
                    </m:sSup>
                    <m:r>
                      <a:rPr lang="en-US" sz="2000" i="1" dirty="0" smtClean="0">
                        <a:latin typeface="Cambria Math" panose="02040503050406030204" pitchFamily="18" charset="0"/>
                      </a:rPr>
                      <m:t>=4.9</m:t>
                    </m:r>
                  </m:oMath>
                </a14:m>
                <a:r>
                  <a:rPr lang="en-US" sz="2000" dirty="0"/>
                  <a:t>.</a:t>
                </a:r>
              </a:p>
              <a:p>
                <a:pPr>
                  <a:spcAft>
                    <a:spcPts val="600"/>
                  </a:spcAft>
                </a:pPr>
                <a:r>
                  <a:rPr lang="en-US" sz="2000" dirty="0"/>
                  <a:t>Assuming that the population distribution of arrival times is approximately normal, the value of the test statistic is</a:t>
                </a:r>
              </a:p>
              <a:p>
                <a:pPr marL="914400" indent="-457200">
                  <a:spcAft>
                    <a:spcPts val="0"/>
                  </a:spcAft>
                </a:pPr>
                <a14:m>
                  <m:oMathPara xmlns:m="http://schemas.openxmlformats.org/officeDocument/2006/math">
                    <m:oMathParaPr>
                      <m:jc m:val="left"/>
                    </m:oMathParaPr>
                    <m:oMath xmlns:m="http://schemas.openxmlformats.org/officeDocument/2006/math">
                      <m:sSup>
                        <m:sSupPr>
                          <m:ctrlPr>
                            <a:rPr lang="en-US" sz="2000" i="1" smtClean="0">
                              <a:latin typeface="Cambria Math" panose="02040503050406030204" pitchFamily="18" charset="0"/>
                            </a:rPr>
                          </m:ctrlPr>
                        </m:sSupPr>
                        <m:e>
                          <m:r>
                            <a:rPr lang="el-GR" sz="2000" b="0" i="1">
                              <a:latin typeface="Cambria Math" panose="02040503050406030204" pitchFamily="18" charset="0"/>
                              <a:ea typeface="Cambria Math" panose="02040503050406030204" pitchFamily="18" charset="0"/>
                            </a:rPr>
                            <m:t>𝛸</m:t>
                          </m:r>
                        </m:e>
                        <m:sup>
                          <m:r>
                            <a:rPr lang="en-US" sz="2000" b="0" i="1">
                              <a:latin typeface="Cambria Math" panose="02040503050406030204" pitchFamily="18" charset="0"/>
                            </a:rPr>
                            <m:t>2</m:t>
                          </m:r>
                        </m:sup>
                      </m:sSup>
                      <m:r>
                        <a:rPr lang="en-US" sz="2000" b="0" i="1" smtClean="0">
                          <a:latin typeface="Cambria Math" panose="02040503050406030204" pitchFamily="18" charset="0"/>
                        </a:rPr>
                        <m:t>=</m:t>
                      </m:r>
                      <m:f>
                        <m:fPr>
                          <m:ctrlPr>
                            <a:rPr lang="en-US" sz="2000" i="1" smtClean="0">
                              <a:latin typeface="Cambria Math" panose="02040503050406030204" pitchFamily="18" charset="0"/>
                            </a:rPr>
                          </m:ctrlPr>
                        </m:fPr>
                        <m:num>
                          <m:d>
                            <m:dPr>
                              <m:ctrlPr>
                                <a:rPr lang="en-US" sz="2000" i="1" smtClean="0">
                                  <a:latin typeface="Cambria Math" panose="02040503050406030204" pitchFamily="18" charset="0"/>
                                </a:rPr>
                              </m:ctrlPr>
                            </m:dPr>
                            <m:e>
                              <m:r>
                                <a:rPr lang="en-US" sz="2000" b="0" i="1" smtClean="0">
                                  <a:latin typeface="Cambria Math" panose="02040503050406030204" pitchFamily="18" charset="0"/>
                                </a:rPr>
                                <m:t>𝑛</m:t>
                              </m:r>
                              <m:r>
                                <a:rPr lang="en-US" sz="2000" b="0" i="1" smtClean="0">
                                  <a:latin typeface="Cambria Math" panose="02040503050406030204" pitchFamily="18" charset="0"/>
                                </a:rPr>
                                <m:t>−1</m:t>
                              </m:r>
                            </m:e>
                          </m:d>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𝑠</m:t>
                              </m:r>
                            </m:e>
                            <m:sup>
                              <m:r>
                                <a:rPr lang="en-US" sz="2000" b="0" i="1" smtClean="0">
                                  <a:latin typeface="Cambria Math" panose="02040503050406030204" pitchFamily="18" charset="0"/>
                                </a:rPr>
                                <m:t>2</m:t>
                              </m:r>
                            </m:sup>
                          </m:sSup>
                        </m:num>
                        <m:den>
                          <m:sSup>
                            <m:sSupPr>
                              <m:ctrlPr>
                                <a:rPr lang="en-US" sz="2000" i="1" smtClean="0">
                                  <a:latin typeface="Cambria Math" panose="02040503050406030204" pitchFamily="18" charset="0"/>
                                </a:rPr>
                              </m:ctrlPr>
                            </m:sSupPr>
                            <m:e>
                              <m:sSub>
                                <m:sSubPr>
                                  <m:ctrlPr>
                                    <a:rPr lang="en-US" sz="2000" i="1" smtClean="0">
                                      <a:solidFill>
                                        <a:srgbClr val="FF0000"/>
                                      </a:solidFill>
                                      <a:latin typeface="Cambria Math" panose="02040503050406030204" pitchFamily="18" charset="0"/>
                                    </a:rPr>
                                  </m:ctrlPr>
                                </m:sSubPr>
                                <m:e>
                                  <m:r>
                                    <a:rPr lang="en-US" sz="2000" i="1" smtClean="0">
                                      <a:solidFill>
                                        <a:srgbClr val="FF0000"/>
                                      </a:solidFill>
                                      <a:latin typeface="Cambria Math" panose="02040503050406030204" pitchFamily="18" charset="0"/>
                                      <a:ea typeface="Cambria Math" panose="02040503050406030204" pitchFamily="18" charset="0"/>
                                    </a:rPr>
                                    <m:t>𝜎</m:t>
                                  </m:r>
                                </m:e>
                                <m:sub>
                                  <m:r>
                                    <a:rPr lang="en-US" sz="2000" b="0" i="1" smtClean="0">
                                      <a:solidFill>
                                        <a:srgbClr val="FF0000"/>
                                      </a:solidFill>
                                      <a:latin typeface="Cambria Math" panose="02040503050406030204" pitchFamily="18" charset="0"/>
                                    </a:rPr>
                                    <m:t>0</m:t>
                                  </m:r>
                                </m:sub>
                              </m:sSub>
                            </m:e>
                            <m:sup>
                              <m:r>
                                <a:rPr lang="en-US" sz="2000" b="0" i="1" smtClean="0">
                                  <a:latin typeface="Cambria Math" panose="02040503050406030204" pitchFamily="18" charset="0"/>
                                </a:rPr>
                                <m:t>2</m:t>
                              </m:r>
                            </m:sup>
                          </m:sSup>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d>
                            <m:dPr>
                              <m:ctrlPr>
                                <a:rPr lang="en-US" sz="2000" b="0" i="1" smtClean="0">
                                  <a:latin typeface="Cambria Math" panose="02040503050406030204" pitchFamily="18" charset="0"/>
                                </a:rPr>
                              </m:ctrlPr>
                            </m:dPr>
                            <m:e>
                              <m:r>
                                <a:rPr lang="en-US" sz="2000" b="0" i="1" smtClean="0">
                                  <a:latin typeface="Cambria Math" panose="02040503050406030204" pitchFamily="18" charset="0"/>
                                </a:rPr>
                                <m:t>24−1</m:t>
                              </m:r>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4.9</m:t>
                              </m:r>
                            </m:e>
                          </m:d>
                        </m:num>
                        <m:den>
                          <m:r>
                            <a:rPr lang="en-US" sz="2000" b="0" i="1" smtClean="0">
                              <a:latin typeface="Cambria Math" panose="02040503050406030204" pitchFamily="18" charset="0"/>
                            </a:rPr>
                            <m:t>4</m:t>
                          </m:r>
                        </m:den>
                      </m:f>
                      <m:r>
                        <a:rPr lang="en-US" sz="2000" b="0" i="1" smtClean="0">
                          <a:latin typeface="Cambria Math" panose="02040503050406030204" pitchFamily="18" charset="0"/>
                        </a:rPr>
                        <m:t>=28.18</m:t>
                      </m:r>
                    </m:oMath>
                  </m:oMathPara>
                </a14:m>
                <a:endParaRPr lang="en-US" sz="2000" dirty="0"/>
              </a:p>
              <a:p>
                <a:endParaRPr lang="en-US" sz="2000" dirty="0"/>
              </a:p>
            </p:txBody>
          </p:sp>
        </mc:Choice>
        <mc:Fallback xmlns="">
          <p:sp>
            <p:nvSpPr>
              <p:cNvPr id="3" name="Text Placeholder 2">
                <a:extLst>
                  <a:ext uri="{FF2B5EF4-FFF2-40B4-BE49-F238E27FC236}">
                    <a16:creationId xmlns:a16="http://schemas.microsoft.com/office/drawing/2014/main" id="{29D86671-B176-8A67-A5AB-2B4385DD5EED}"/>
                  </a:ext>
                </a:extLst>
              </p:cNvPr>
              <p:cNvSpPr>
                <a:spLocks noGrp="1" noRot="1" noChangeAspect="1" noMove="1" noResize="1" noEditPoints="1" noAdjustHandles="1" noChangeArrowheads="1" noChangeShapeType="1" noTextEdit="1"/>
              </p:cNvSpPr>
              <p:nvPr>
                <p:ph type="body" sz="quarter" idx="15"/>
              </p:nvPr>
            </p:nvSpPr>
            <p:spPr>
              <a:xfrm>
                <a:off x="743577" y="1749971"/>
                <a:ext cx="10610223" cy="4020208"/>
              </a:xfrm>
              <a:blipFill>
                <a:blip r:embed="rId4"/>
                <a:stretch>
                  <a:fillRect l="-1493" t="-1818" r="-1149" b="-152"/>
                </a:stretch>
              </a:blipFill>
            </p:spPr>
            <p:txBody>
              <a:bodyPr/>
              <a:lstStyle/>
              <a:p>
                <a:r>
                  <a:rPr lang="en-US">
                    <a:noFill/>
                  </a:rPr>
                  <a:t> </a:t>
                </a:r>
              </a:p>
            </p:txBody>
          </p:sp>
        </mc:Fallback>
      </mc:AlternateContent>
    </p:spTree>
    <p:extLst>
      <p:ext uri="{BB962C8B-B14F-4D97-AF65-F5344CB8AC3E}">
        <p14:creationId xmlns:p14="http://schemas.microsoft.com/office/powerpoint/2010/main" val="1755090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5C5ED-9F61-2E4E-E5CF-8ADF8667BEEB}"/>
              </a:ext>
            </a:extLst>
          </p:cNvPr>
          <p:cNvSpPr>
            <a:spLocks noGrp="1"/>
          </p:cNvSpPr>
          <p:nvPr>
            <p:ph type="title"/>
          </p:nvPr>
        </p:nvSpPr>
        <p:spPr/>
        <p:txBody>
          <a:bodyPr/>
          <a:lstStyle/>
          <a:p>
            <a:r>
              <a:rPr lang="en-US" sz="3200" dirty="0"/>
              <a:t>11.1 </a:t>
            </a:r>
            <a:r>
              <a:rPr lang="en-US" sz="3200" i="1" dirty="0"/>
              <a:t>p</a:t>
            </a:r>
            <a:r>
              <a:rPr lang="en-US" sz="3200" dirty="0"/>
              <a:t>-Value Approach to a One-Tailed Test About a Population Variance</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D62937FD-964D-EDA3-C25C-97B3F1E109E7}"/>
                  </a:ext>
                </a:extLst>
              </p:cNvPr>
              <p:cNvSpPr>
                <a:spLocks noGrp="1"/>
              </p:cNvSpPr>
              <p:nvPr>
                <p:ph type="body" sz="quarter" idx="15"/>
              </p:nvPr>
            </p:nvSpPr>
            <p:spPr>
              <a:xfrm>
                <a:off x="743576" y="1535257"/>
                <a:ext cx="10515332" cy="999277"/>
              </a:xfrm>
            </p:spPr>
            <p:txBody>
              <a:bodyPr>
                <a:normAutofit/>
              </a:bodyPr>
              <a:lstStyle/>
              <a:p>
                <a:pPr>
                  <a:lnSpc>
                    <a:spcPct val="100000"/>
                  </a:lnSpc>
                  <a:spcBef>
                    <a:spcPts val="600"/>
                  </a:spcBef>
                </a:pPr>
                <a:r>
                  <a:rPr lang="en-US" sz="2000" dirty="0"/>
                  <a:t>The chi-square distribution with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−1=24−1=23</m:t>
                    </m:r>
                  </m:oMath>
                </a14:m>
                <a:r>
                  <a:rPr lang="en-US" sz="2000" dirty="0"/>
                  <a:t> degrees of freedom is shown in the figure below. Because this is an upper-tail test, we have </a:t>
                </a:r>
                <a14:m>
                  <m:oMath xmlns:m="http://schemas.openxmlformats.org/officeDocument/2006/math">
                    <m:r>
                      <a:rPr lang="en-US" sz="2000" b="0" i="1" smtClean="0">
                        <a:latin typeface="Cambria Math" panose="02040503050406030204" pitchFamily="18" charset="0"/>
                      </a:rPr>
                      <m:t>𝑝</m:t>
                    </m:r>
                    <m:r>
                      <m:rPr>
                        <m:nor/>
                      </m:rPr>
                      <a:rPr lang="en-US" sz="2000" b="0" i="0" smtClean="0">
                        <a:latin typeface="Arial" panose="020B0604020202020204" pitchFamily="34" charset="0"/>
                        <a:cs typeface="Arial" panose="020B0604020202020204" pitchFamily="34" charset="0"/>
                      </a:rPr>
                      <m:t>−</m:t>
                    </m:r>
                    <m:r>
                      <m:rPr>
                        <m:nor/>
                      </m:rPr>
                      <a:rPr lang="en-US" sz="2000" b="0" i="0" smtClean="0">
                        <a:latin typeface="Arial" panose="020B0604020202020204" pitchFamily="34" charset="0"/>
                        <a:cs typeface="Arial" panose="020B0604020202020204" pitchFamily="34" charset="0"/>
                      </a:rPr>
                      <m:t>value</m:t>
                    </m:r>
                    <m:r>
                      <a:rPr lang="en-US" sz="2000" b="0" i="1" smtClean="0">
                        <a:latin typeface="Cambria Math" panose="02040503050406030204" pitchFamily="18" charset="0"/>
                      </a:rPr>
                      <m:t>=</m:t>
                    </m:r>
                    <m:r>
                      <a:rPr lang="en-US" sz="2000" b="0" i="1" smtClean="0">
                        <a:latin typeface="Cambria Math" panose="02040503050406030204" pitchFamily="18" charset="0"/>
                      </a:rPr>
                      <m:t>𝑃</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m:rPr>
                            <m:sty m:val="p"/>
                          </m:rPr>
                          <a:rPr lang="el-GR" sz="2000" b="0" i="1" smtClean="0">
                            <a:latin typeface="Cambria Math" panose="02040503050406030204" pitchFamily="18" charset="0"/>
                            <a:ea typeface="Cambria Math" panose="02040503050406030204" pitchFamily="18" charset="0"/>
                          </a:rPr>
                          <m:t>Χ</m:t>
                        </m:r>
                      </m:e>
                      <m:sup>
                        <m:r>
                          <a:rPr lang="en-US" sz="2000" b="0" i="1" smtClean="0">
                            <a:latin typeface="Cambria Math" panose="02040503050406030204" pitchFamily="18" charset="0"/>
                          </a:rPr>
                          <m:t>2</m:t>
                        </m:r>
                      </m:sup>
                    </m:sSup>
                    <m:r>
                      <a:rPr lang="en-US" sz="2000" b="0" i="1" smtClean="0">
                        <a:latin typeface="Cambria Math" panose="02040503050406030204" pitchFamily="18" charset="0"/>
                        <a:ea typeface="Cambria Math" panose="02040503050406030204" pitchFamily="18" charset="0"/>
                      </a:rPr>
                      <m:t>≥28.18)</m:t>
                    </m:r>
                  </m:oMath>
                </a14:m>
                <a:r>
                  <a:rPr lang="en-US" sz="2000" dirty="0"/>
                  <a:t>.</a:t>
                </a:r>
              </a:p>
              <a:p>
                <a:pPr>
                  <a:lnSpc>
                    <a:spcPct val="100000"/>
                  </a:lnSpc>
                  <a:spcBef>
                    <a:spcPts val="600"/>
                  </a:spcBef>
                </a:pPr>
                <a:r>
                  <a:rPr lang="en-US" sz="2000" dirty="0"/>
                  <a:t>Like the </a:t>
                </a:r>
                <a:r>
                  <a:rPr lang="en-US" sz="2000" i="1" dirty="0"/>
                  <a:t>t</a:t>
                </a:r>
                <a:r>
                  <a:rPr lang="en-US" sz="2000" dirty="0"/>
                  <a:t> distribution, the chi-square distribution only allows us to obtain a range of </a:t>
                </a:r>
                <a:r>
                  <a:rPr lang="en-US" sz="2000" i="1" dirty="0"/>
                  <a:t>p</a:t>
                </a:r>
                <a:r>
                  <a:rPr lang="en-US" sz="2000" dirty="0"/>
                  <a:t>-values.</a:t>
                </a:r>
              </a:p>
              <a:p>
                <a:pPr>
                  <a:lnSpc>
                    <a:spcPct val="100000"/>
                  </a:lnSpc>
                  <a:spcBef>
                    <a:spcPts val="600"/>
                  </a:spcBef>
                </a:pPr>
                <a:endParaRPr lang="en-US" sz="2000" dirty="0"/>
              </a:p>
            </p:txBody>
          </p:sp>
        </mc:Choice>
        <mc:Fallback xmlns="">
          <p:sp>
            <p:nvSpPr>
              <p:cNvPr id="5" name="Text Placeholder 4">
                <a:extLst>
                  <a:ext uri="{FF2B5EF4-FFF2-40B4-BE49-F238E27FC236}">
                    <a16:creationId xmlns:a16="http://schemas.microsoft.com/office/drawing/2014/main" id="{D62937FD-964D-EDA3-C25C-97B3F1E109E7}"/>
                  </a:ext>
                </a:extLst>
              </p:cNvPr>
              <p:cNvSpPr>
                <a:spLocks noGrp="1" noRot="1" noChangeAspect="1" noMove="1" noResize="1" noEditPoints="1" noAdjustHandles="1" noChangeArrowheads="1" noChangeShapeType="1" noTextEdit="1"/>
              </p:cNvSpPr>
              <p:nvPr>
                <p:ph type="body" sz="quarter" idx="15"/>
              </p:nvPr>
            </p:nvSpPr>
            <p:spPr>
              <a:xfrm>
                <a:off x="743576" y="1535257"/>
                <a:ext cx="10515332" cy="999277"/>
              </a:xfrm>
              <a:blipFill>
                <a:blip r:embed="rId3"/>
                <a:stretch>
                  <a:fillRect l="-1507" t="-7317" r="-290" b="-146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1" name="Table 8">
                <a:extLst>
                  <a:ext uri="{FF2B5EF4-FFF2-40B4-BE49-F238E27FC236}">
                    <a16:creationId xmlns:a16="http://schemas.microsoft.com/office/drawing/2014/main" id="{5C78143E-791E-99D9-268C-DF8FB1373935}"/>
                  </a:ext>
                </a:extLst>
              </p:cNvPr>
              <p:cNvGraphicFramePr>
                <a:graphicFrameLocks noGrp="1"/>
              </p:cNvGraphicFramePr>
              <p:nvPr>
                <p:ph type="tbl" sz="quarter" idx="22"/>
                <p:extLst>
                  <p:ext uri="{D42A27DB-BD31-4B8C-83A1-F6EECF244321}">
                    <p14:modId xmlns:p14="http://schemas.microsoft.com/office/powerpoint/2010/main" val="961828515"/>
                  </p:ext>
                </p:extLst>
              </p:nvPr>
            </p:nvGraphicFramePr>
            <p:xfrm>
              <a:off x="838200" y="2598660"/>
              <a:ext cx="5851005" cy="999275"/>
            </p:xfrm>
            <a:graphic>
              <a:graphicData uri="http://schemas.openxmlformats.org/drawingml/2006/table">
                <a:tbl>
                  <a:tblPr firstRow="1" bandRow="1">
                    <a:tableStyleId>{5C22544A-7EE6-4342-B048-85BDC9FD1C3A}</a:tableStyleId>
                  </a:tblPr>
                  <a:tblGrid>
                    <a:gridCol w="1958658">
                      <a:extLst>
                        <a:ext uri="{9D8B030D-6E8A-4147-A177-3AD203B41FA5}">
                          <a16:colId xmlns:a16="http://schemas.microsoft.com/office/drawing/2014/main" val="2911801945"/>
                        </a:ext>
                      </a:extLst>
                    </a:gridCol>
                    <a:gridCol w="701675">
                      <a:extLst>
                        <a:ext uri="{9D8B030D-6E8A-4147-A177-3AD203B41FA5}">
                          <a16:colId xmlns:a16="http://schemas.microsoft.com/office/drawing/2014/main" val="2232661565"/>
                        </a:ext>
                      </a:extLst>
                    </a:gridCol>
                    <a:gridCol w="1739138">
                      <a:extLst>
                        <a:ext uri="{9D8B030D-6E8A-4147-A177-3AD203B41FA5}">
                          <a16:colId xmlns:a16="http://schemas.microsoft.com/office/drawing/2014/main" val="3297454400"/>
                        </a:ext>
                      </a:extLst>
                    </a:gridCol>
                    <a:gridCol w="725767">
                      <a:extLst>
                        <a:ext uri="{9D8B030D-6E8A-4147-A177-3AD203B41FA5}">
                          <a16:colId xmlns:a16="http://schemas.microsoft.com/office/drawing/2014/main" val="3078131080"/>
                        </a:ext>
                      </a:extLst>
                    </a:gridCol>
                    <a:gridCol w="725767">
                      <a:extLst>
                        <a:ext uri="{9D8B030D-6E8A-4147-A177-3AD203B41FA5}">
                          <a16:colId xmlns:a16="http://schemas.microsoft.com/office/drawing/2014/main" val="1873949250"/>
                        </a:ext>
                      </a:extLst>
                    </a:gridCol>
                  </a:tblGrid>
                  <a:tr h="343698">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4163" algn="l"/>
                            </a:tabLst>
                            <a:defRPr/>
                          </a:pPr>
                          <a:r>
                            <a:rPr lang="en-US" sz="1800" dirty="0">
                              <a:solidFill>
                                <a:srgbClr val="0070C0"/>
                              </a:solidFill>
                            </a:rPr>
                            <a:t>Degrees</a:t>
                          </a:r>
                          <a:r>
                            <a:rPr lang="en-US" sz="1800" b="1" kern="1200" dirty="0">
                              <a:solidFill>
                                <a:srgbClr val="0070C0"/>
                              </a:solidFill>
                              <a:latin typeface="+mn-lt"/>
                              <a:ea typeface="+mn-ea"/>
                              <a:cs typeface="+mn-cs"/>
                            </a:rPr>
                            <a:t> of Freedom</a:t>
                          </a:r>
                          <a:endParaRPr lang="en-US" sz="1800" dirty="0">
                            <a:solidFill>
                              <a:srgbClr val="0070C0"/>
                            </a:solidFill>
                          </a:endParaRP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highlight>
                              <a:srgbClr val="FFFF00"/>
                            </a:highlight>
                          </a:endParaRP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70C0"/>
                              </a:solidFill>
                            </a:rPr>
                            <a:t>Area in Upper Tail</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619086"/>
                      </a:ext>
                    </a:extLst>
                  </a:tr>
                  <a:tr h="343698">
                    <a:tc>
                      <a:txBody>
                        <a:bodyPr/>
                        <a:lstStyle/>
                        <a:p>
                          <a:pPr algn="l">
                            <a:tabLst>
                              <a:tab pos="284163" algn="l"/>
                            </a:tabLst>
                          </a:pPr>
                          <a:endParaRPr lang="en-US" sz="1800" b="1" kern="1200" dirty="0">
                            <a:solidFill>
                              <a:srgbClr val="0070C0"/>
                            </a:solidFill>
                            <a:latin typeface="+mn-lt"/>
                            <a:ea typeface="+mn-ea"/>
                            <a:cs typeface="+mn-cs"/>
                          </a:endParaRP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0.10</a:t>
                          </a: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0.025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0.01</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1187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lang="en-US" sz="1600" b="1" i="1" smtClean="0">
                                      <a:latin typeface="Cambria Math" panose="02040503050406030204" pitchFamily="18" charset="0"/>
                                    </a:rPr>
                                  </m:ctrlPr>
                                </m:sSupPr>
                                <m:e>
                                  <m:r>
                                    <a:rPr lang="el-GR" sz="1600" b="1" i="1">
                                      <a:latin typeface="Cambria Math" panose="02040503050406030204" pitchFamily="18" charset="0"/>
                                      <a:ea typeface="Cambria Math" panose="02040503050406030204" pitchFamily="18" charset="0"/>
                                    </a:rPr>
                                    <m:t>𝜲</m:t>
                                  </m:r>
                                </m:e>
                                <m:sup>
                                  <m:r>
                                    <a:rPr lang="en-US" sz="1600" b="1" i="1">
                                      <a:latin typeface="Cambria Math" panose="02040503050406030204" pitchFamily="18" charset="0"/>
                                    </a:rPr>
                                    <m:t>𝟐</m:t>
                                  </m:r>
                                </m:sup>
                              </m:sSup>
                            </m:oMath>
                          </a14:m>
                          <a:r>
                            <a:rPr lang="en-US" sz="1600" b="1" i="0" u="none" strike="noStrike" kern="1200" dirty="0">
                              <a:solidFill>
                                <a:srgbClr val="000000"/>
                              </a:solidFill>
                              <a:effectLst/>
                              <a:latin typeface="Calibri" panose="020F0502020204030204" pitchFamily="34" charset="0"/>
                              <a:ea typeface="+mn-ea"/>
                              <a:cs typeface="+mn-cs"/>
                            </a:rPr>
                            <a:t> Value (23 </a:t>
                          </a:r>
                          <a:r>
                            <a:rPr lang="en-US" sz="1600" b="1" i="0" u="none" strike="noStrike" kern="1200" dirty="0" err="1">
                              <a:solidFill>
                                <a:srgbClr val="000000"/>
                              </a:solidFill>
                              <a:effectLst/>
                              <a:latin typeface="Calibri" panose="020F0502020204030204" pitchFamily="34" charset="0"/>
                              <a:ea typeface="+mn-ea"/>
                              <a:cs typeface="+mn-cs"/>
                            </a:rPr>
                            <a:t>df</a:t>
                          </a:r>
                          <a:r>
                            <a:rPr lang="en-US" sz="1600" b="1" i="0" u="none" strike="noStrike" kern="1200" dirty="0">
                              <a:solidFill>
                                <a:srgbClr val="000000"/>
                              </a:solidFill>
                              <a:effectLst/>
                              <a:latin typeface="Calibri" panose="020F0502020204030204" pitchFamily="34" charset="0"/>
                              <a:ea typeface="+mn-ea"/>
                              <a:cs typeface="+mn-cs"/>
                            </a:rPr>
                            <a:t>)</a:t>
                          </a: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0" i="0" u="none" strike="noStrike" dirty="0">
                              <a:solidFill>
                                <a:srgbClr val="000000"/>
                              </a:solidFill>
                              <a:effectLst/>
                              <a:highlight>
                                <a:srgbClr val="FFFF00"/>
                              </a:highlight>
                              <a:latin typeface="Calibri" panose="020F0502020204030204" pitchFamily="34" charset="0"/>
                            </a:rPr>
                            <a:t>32.007</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0" i="0" u="none" strike="noStrike" dirty="0">
                              <a:solidFill>
                                <a:srgbClr val="000000"/>
                              </a:solidFill>
                              <a:effectLst/>
                              <a:latin typeface="Calibri" panose="020F0502020204030204" pitchFamily="34" charset="0"/>
                            </a:rPr>
                            <a:t>35.172</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0" i="0" u="none" strike="noStrike" dirty="0">
                              <a:solidFill>
                                <a:srgbClr val="000000"/>
                              </a:solidFill>
                              <a:effectLst/>
                              <a:latin typeface="Calibri" panose="020F0502020204030204" pitchFamily="34" charset="0"/>
                            </a:rPr>
                            <a:t>38.076</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0" i="0" u="none" strike="noStrike" dirty="0">
                              <a:solidFill>
                                <a:srgbClr val="000000"/>
                              </a:solidFill>
                              <a:effectLst/>
                              <a:latin typeface="Calibri" panose="020F0502020204030204" pitchFamily="34" charset="0"/>
                            </a:rPr>
                            <a:t>41.638</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Choice>
        <mc:Fallback xmlns="">
          <p:graphicFrame>
            <p:nvGraphicFramePr>
              <p:cNvPr id="11" name="Table 8">
                <a:extLst>
                  <a:ext uri="{FF2B5EF4-FFF2-40B4-BE49-F238E27FC236}">
                    <a16:creationId xmlns:a16="http://schemas.microsoft.com/office/drawing/2014/main" id="{5C78143E-791E-99D9-268C-DF8FB1373935}"/>
                  </a:ext>
                </a:extLst>
              </p:cNvPr>
              <p:cNvGraphicFramePr>
                <a:graphicFrameLocks noGrp="1"/>
              </p:cNvGraphicFramePr>
              <p:nvPr>
                <p:ph type="tbl" sz="quarter" idx="22"/>
                <p:extLst>
                  <p:ext uri="{D42A27DB-BD31-4B8C-83A1-F6EECF244321}">
                    <p14:modId xmlns:p14="http://schemas.microsoft.com/office/powerpoint/2010/main" val="961828515"/>
                  </p:ext>
                </p:extLst>
              </p:nvPr>
            </p:nvGraphicFramePr>
            <p:xfrm>
              <a:off x="838200" y="2598660"/>
              <a:ext cx="5851005" cy="999275"/>
            </p:xfrm>
            <a:graphic>
              <a:graphicData uri="http://schemas.openxmlformats.org/drawingml/2006/table">
                <a:tbl>
                  <a:tblPr firstRow="1" bandRow="1">
                    <a:tableStyleId>{5C22544A-7EE6-4342-B048-85BDC9FD1C3A}</a:tableStyleId>
                  </a:tblPr>
                  <a:tblGrid>
                    <a:gridCol w="1958658">
                      <a:extLst>
                        <a:ext uri="{9D8B030D-6E8A-4147-A177-3AD203B41FA5}">
                          <a16:colId xmlns:a16="http://schemas.microsoft.com/office/drawing/2014/main" val="2911801945"/>
                        </a:ext>
                      </a:extLst>
                    </a:gridCol>
                    <a:gridCol w="701675">
                      <a:extLst>
                        <a:ext uri="{9D8B030D-6E8A-4147-A177-3AD203B41FA5}">
                          <a16:colId xmlns:a16="http://schemas.microsoft.com/office/drawing/2014/main" val="2232661565"/>
                        </a:ext>
                      </a:extLst>
                    </a:gridCol>
                    <a:gridCol w="1739138">
                      <a:extLst>
                        <a:ext uri="{9D8B030D-6E8A-4147-A177-3AD203B41FA5}">
                          <a16:colId xmlns:a16="http://schemas.microsoft.com/office/drawing/2014/main" val="3297454400"/>
                        </a:ext>
                      </a:extLst>
                    </a:gridCol>
                    <a:gridCol w="725767">
                      <a:extLst>
                        <a:ext uri="{9D8B030D-6E8A-4147-A177-3AD203B41FA5}">
                          <a16:colId xmlns:a16="http://schemas.microsoft.com/office/drawing/2014/main" val="3078131080"/>
                        </a:ext>
                      </a:extLst>
                    </a:gridCol>
                    <a:gridCol w="725767">
                      <a:extLst>
                        <a:ext uri="{9D8B030D-6E8A-4147-A177-3AD203B41FA5}">
                          <a16:colId xmlns:a16="http://schemas.microsoft.com/office/drawing/2014/main" val="1873949250"/>
                        </a:ext>
                      </a:extLst>
                    </a:gridCol>
                  </a:tblGrid>
                  <a:tr h="343698">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4163" algn="l"/>
                            </a:tabLst>
                            <a:defRPr/>
                          </a:pPr>
                          <a:r>
                            <a:rPr lang="en-US" sz="1800" dirty="0">
                              <a:solidFill>
                                <a:srgbClr val="0070C0"/>
                              </a:solidFill>
                            </a:rPr>
                            <a:t>Degrees</a:t>
                          </a:r>
                          <a:r>
                            <a:rPr lang="en-US" sz="1800" b="1" kern="1200" dirty="0">
                              <a:solidFill>
                                <a:srgbClr val="0070C0"/>
                              </a:solidFill>
                              <a:latin typeface="+mn-lt"/>
                              <a:ea typeface="+mn-ea"/>
                              <a:cs typeface="+mn-cs"/>
                            </a:rPr>
                            <a:t> of Freedom</a:t>
                          </a:r>
                          <a:endParaRPr lang="en-US" sz="1800" dirty="0">
                            <a:solidFill>
                              <a:srgbClr val="0070C0"/>
                            </a:solidFill>
                          </a:endParaRP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highlight>
                              <a:srgbClr val="FFFF00"/>
                            </a:highlight>
                          </a:endParaRP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70C0"/>
                              </a:solidFill>
                            </a:rPr>
                            <a:t>Area in Upper Tail</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619086"/>
                      </a:ext>
                    </a:extLst>
                  </a:tr>
                  <a:tr h="343698">
                    <a:tc>
                      <a:txBody>
                        <a:bodyPr/>
                        <a:lstStyle/>
                        <a:p>
                          <a:pPr algn="l">
                            <a:tabLst>
                              <a:tab pos="284163" algn="l"/>
                            </a:tabLst>
                          </a:pPr>
                          <a:endParaRPr lang="en-US" sz="1800" b="1" kern="1200" dirty="0">
                            <a:solidFill>
                              <a:srgbClr val="0070C0"/>
                            </a:solidFill>
                            <a:latin typeface="+mn-lt"/>
                            <a:ea typeface="+mn-ea"/>
                            <a:cs typeface="+mn-cs"/>
                          </a:endParaRP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0.10</a:t>
                          </a: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0.025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0.01</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11879">
                    <a:tc>
                      <a:txBody>
                        <a:bodyPr/>
                        <a:lstStyle/>
                        <a:p>
                          <a:endParaRPr lang="en-US"/>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49020" r="-198758" b="-45098"/>
                          </a:stretch>
                        </a:blipFill>
                      </a:tcPr>
                    </a:tc>
                    <a:tc>
                      <a:txBody>
                        <a:bodyPr/>
                        <a:lstStyle/>
                        <a:p>
                          <a:pPr algn="r" fontAlgn="b"/>
                          <a:r>
                            <a:rPr lang="en-US" sz="1800" b="0" i="0" u="none" strike="noStrike" dirty="0">
                              <a:solidFill>
                                <a:srgbClr val="000000"/>
                              </a:solidFill>
                              <a:effectLst/>
                              <a:highlight>
                                <a:srgbClr val="FFFF00"/>
                              </a:highlight>
                              <a:latin typeface="Calibri" panose="020F0502020204030204" pitchFamily="34" charset="0"/>
                            </a:rPr>
                            <a:t>32.007</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0" i="0" u="none" strike="noStrike" dirty="0">
                              <a:solidFill>
                                <a:srgbClr val="000000"/>
                              </a:solidFill>
                              <a:effectLst/>
                              <a:latin typeface="Calibri" panose="020F0502020204030204" pitchFamily="34" charset="0"/>
                            </a:rPr>
                            <a:t>35.172</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0" i="0" u="none" strike="noStrike" dirty="0">
                              <a:solidFill>
                                <a:srgbClr val="000000"/>
                              </a:solidFill>
                              <a:effectLst/>
                              <a:latin typeface="Calibri" panose="020F0502020204030204" pitchFamily="34" charset="0"/>
                            </a:rPr>
                            <a:t>38.076</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0" i="0" u="none" strike="noStrike" dirty="0">
                              <a:solidFill>
                                <a:srgbClr val="000000"/>
                              </a:solidFill>
                              <a:effectLst/>
                              <a:latin typeface="Calibri" panose="020F0502020204030204" pitchFamily="34" charset="0"/>
                            </a:rPr>
                            <a:t>41.638</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Fallback>
      </mc:AlternateContent>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E2E378FE-2401-33C1-16A7-D4420B7E9785}"/>
                  </a:ext>
                </a:extLst>
              </p:cNvPr>
              <p:cNvSpPr>
                <a:spLocks noGrp="1"/>
              </p:cNvSpPr>
              <p:nvPr>
                <p:ph type="body" sz="quarter" idx="18"/>
              </p:nvPr>
            </p:nvSpPr>
            <p:spPr>
              <a:xfrm>
                <a:off x="743094" y="3662013"/>
                <a:ext cx="10515813" cy="2263142"/>
              </a:xfrm>
            </p:spPr>
            <p:txBody>
              <a:bodyPr>
                <a:noAutofit/>
              </a:bodyPr>
              <a:lstStyle/>
              <a:p>
                <a:pPr>
                  <a:lnSpc>
                    <a:spcPct val="100000"/>
                  </a:lnSpc>
                  <a:spcBef>
                    <a:spcPts val="600"/>
                  </a:spcBef>
                  <a:spcAft>
                    <a:spcPts val="600"/>
                  </a:spcAft>
                </a:pPr>
                <a:r>
                  <a:rPr lang="en-US" sz="2000" dirty="0"/>
                  <a:t>Thus, we have</a:t>
                </a:r>
              </a:p>
              <a:p>
                <a:pPr marL="914400">
                  <a:lnSpc>
                    <a:spcPct val="100000"/>
                  </a:lnSpc>
                  <a:spcBef>
                    <a:spcPts val="600"/>
                  </a:spcBef>
                  <a:spcAft>
                    <a:spcPts val="600"/>
                  </a:spcAft>
                </a:pPr>
                <a14:m>
                  <m:oMathPara xmlns:m="http://schemas.openxmlformats.org/officeDocument/2006/math">
                    <m:oMathParaPr>
                      <m:jc m:val="left"/>
                    </m:oMathParaPr>
                    <m:oMath xmlns:m="http://schemas.openxmlformats.org/officeDocument/2006/math">
                      <m:r>
                        <a:rPr lang="en-US" sz="2000" b="0" i="1" smtClean="0">
                          <a:latin typeface="Cambria Math" panose="02040503050406030204" pitchFamily="18" charset="0"/>
                        </a:rPr>
                        <m:t>𝑝</m:t>
                      </m:r>
                      <m:r>
                        <m:rPr>
                          <m:nor/>
                        </m:rPr>
                        <a:rPr lang="en-US" sz="2000" b="0" i="0" smtClean="0">
                          <a:latin typeface="Arial" panose="020B0604020202020204" pitchFamily="34" charset="0"/>
                          <a:cs typeface="Arial" panose="020B0604020202020204" pitchFamily="34" charset="0"/>
                        </a:rPr>
                        <m:t>−</m:t>
                      </m:r>
                      <m:r>
                        <m:rPr>
                          <m:nor/>
                        </m:rPr>
                        <a:rPr lang="en-US" sz="2000" b="0" i="0" smtClean="0">
                          <a:latin typeface="Arial" panose="020B0604020202020204" pitchFamily="34" charset="0"/>
                          <a:cs typeface="Arial" panose="020B0604020202020204" pitchFamily="34" charset="0"/>
                        </a:rPr>
                        <m:t>value</m:t>
                      </m:r>
                      <m:r>
                        <a:rPr lang="en-US" sz="2000" b="0" i="1" smtClean="0">
                          <a:latin typeface="Cambria Math" panose="02040503050406030204" pitchFamily="18" charset="0"/>
                          <a:cs typeface="Arial" panose="020B0604020202020204" pitchFamily="34" charset="0"/>
                        </a:rPr>
                        <m:t>&gt;</m:t>
                      </m:r>
                      <m:r>
                        <a:rPr lang="en-US" sz="2000" b="0" i="1" smtClean="0">
                          <a:latin typeface="Cambria Math" panose="02040503050406030204" pitchFamily="18" charset="0"/>
                          <a:ea typeface="Cambria Math" panose="02040503050406030204" pitchFamily="18" charset="0"/>
                          <a:cs typeface="Arial" panose="020B0604020202020204" pitchFamily="34" charset="0"/>
                        </a:rPr>
                        <m:t>0.10</m:t>
                      </m:r>
                    </m:oMath>
                  </m:oMathPara>
                </a14:m>
                <a:endParaRPr lang="en-US" sz="2000" dirty="0"/>
              </a:p>
              <a:p>
                <a:pPr>
                  <a:lnSpc>
                    <a:spcPct val="100000"/>
                  </a:lnSpc>
                  <a:spcBef>
                    <a:spcPts val="600"/>
                  </a:spcBef>
                  <a:spcAft>
                    <a:spcPts val="600"/>
                  </a:spcAft>
                </a:pPr>
                <a:r>
                  <a:rPr lang="en-US" sz="2000" dirty="0"/>
                  <a:t>Excel provides the exact </a:t>
                </a:r>
                <a:r>
                  <a:rPr lang="en-US" sz="2000" i="1" dirty="0"/>
                  <a:t>p</a:t>
                </a:r>
                <a:r>
                  <a:rPr lang="en-US" sz="2000" dirty="0"/>
                  <a:t>-value as</a:t>
                </a:r>
              </a:p>
              <a:p>
                <a:pPr marL="457200">
                  <a:lnSpc>
                    <a:spcPct val="100000"/>
                  </a:lnSpc>
                  <a:spcBef>
                    <a:spcPts val="600"/>
                  </a:spcBef>
                </a:pPr>
                <a14:m>
                  <m:oMathPara xmlns:m="http://schemas.openxmlformats.org/officeDocument/2006/math">
                    <m:oMathParaPr>
                      <m:jc m:val="left"/>
                    </m:oMathParaPr>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CHISQ</m:t>
                      </m:r>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DIST</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RT</m:t>
                      </m:r>
                      <m:r>
                        <m:rPr>
                          <m:nor/>
                        </m:rPr>
                        <a:rPr lang="en-US" sz="2000" i="0" dirty="0" smtClean="0">
                          <a:latin typeface="Cambria Math" panose="02040503050406030204" pitchFamily="18" charset="0"/>
                          <a:cs typeface="Arial" panose="020B0604020202020204" pitchFamily="34" charset="0"/>
                        </a:rPr>
                        <m:t>(28.18,23)</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0.2091</m:t>
                      </m:r>
                    </m:oMath>
                  </m:oMathPara>
                </a14:m>
                <a:endParaRPr lang="en-US" sz="2000" dirty="0"/>
              </a:p>
              <a:p>
                <a:pPr>
                  <a:lnSpc>
                    <a:spcPct val="100000"/>
                  </a:lnSpc>
                  <a:spcBef>
                    <a:spcPts val="600"/>
                  </a:spcBef>
                </a:pPr>
                <a:r>
                  <a:rPr lang="en-US" sz="2000" dirty="0"/>
                  <a:t>With </a:t>
                </a:r>
                <a14:m>
                  <m:oMath xmlns:m="http://schemas.openxmlformats.org/officeDocument/2006/math">
                    <m:r>
                      <a:rPr lang="en-US" sz="2000" b="0" i="1" smtClean="0">
                        <a:latin typeface="Cambria Math" panose="02040503050406030204" pitchFamily="18" charset="0"/>
                      </a:rPr>
                      <m:t>𝑝</m:t>
                    </m:r>
                    <m:r>
                      <m:rPr>
                        <m:nor/>
                      </m:rPr>
                      <a:rPr lang="en-US" sz="2000" b="0" i="0" smtClean="0">
                        <a:latin typeface="Arial" panose="020B0604020202020204" pitchFamily="34" charset="0"/>
                        <a:cs typeface="Arial" panose="020B0604020202020204" pitchFamily="34" charset="0"/>
                      </a:rPr>
                      <m:t>−</m:t>
                    </m:r>
                    <m:r>
                      <m:rPr>
                        <m:nor/>
                      </m:rPr>
                      <a:rPr lang="en-US" sz="2000" b="0" i="0" smtClean="0">
                        <a:latin typeface="Arial" panose="020B0604020202020204" pitchFamily="34" charset="0"/>
                        <a:cs typeface="Arial" panose="020B0604020202020204" pitchFamily="34" charset="0"/>
                      </a:rPr>
                      <m:t>value</m:t>
                    </m:r>
                    <m:r>
                      <a:rPr lang="en-US" sz="2000" b="0" i="1" smtClean="0">
                        <a:latin typeface="Cambria Math" panose="02040503050406030204" pitchFamily="18" charset="0"/>
                        <a:cs typeface="Arial" panose="020B0604020202020204" pitchFamily="34" charset="0"/>
                      </a:rPr>
                      <m:t>&gt;</m:t>
                    </m:r>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latin typeface="Cambria Math" panose="02040503050406030204" pitchFamily="18" charset="0"/>
                        <a:ea typeface="Cambria Math" panose="02040503050406030204" pitchFamily="18" charset="0"/>
                        <a:cs typeface="Arial" panose="020B0604020202020204" pitchFamily="34" charset="0"/>
                      </a:rPr>
                      <m:t>=0.05</m:t>
                    </m:r>
                  </m:oMath>
                </a14:m>
                <a:r>
                  <a:rPr lang="en-US" sz="2000" dirty="0"/>
                  <a:t>, we cannot reject the null hypothesis. The sample does not support the conclusion that the population variance of the arrival times is excessive.</a:t>
                </a:r>
              </a:p>
            </p:txBody>
          </p:sp>
        </mc:Choice>
        <mc:Fallback xmlns="">
          <p:sp>
            <p:nvSpPr>
              <p:cNvPr id="6" name="Text Placeholder 5">
                <a:extLst>
                  <a:ext uri="{FF2B5EF4-FFF2-40B4-BE49-F238E27FC236}">
                    <a16:creationId xmlns:a16="http://schemas.microsoft.com/office/drawing/2014/main" id="{E2E378FE-2401-33C1-16A7-D4420B7E9785}"/>
                  </a:ext>
                </a:extLst>
              </p:cNvPr>
              <p:cNvSpPr>
                <a:spLocks noGrp="1" noRot="1" noChangeAspect="1" noMove="1" noResize="1" noEditPoints="1" noAdjustHandles="1" noChangeArrowheads="1" noChangeShapeType="1" noTextEdit="1"/>
              </p:cNvSpPr>
              <p:nvPr>
                <p:ph type="body" sz="quarter" idx="18"/>
              </p:nvPr>
            </p:nvSpPr>
            <p:spPr>
              <a:xfrm>
                <a:off x="743094" y="3662013"/>
                <a:ext cx="10515813" cy="2263142"/>
              </a:xfrm>
              <a:blipFill>
                <a:blip r:embed="rId5"/>
                <a:stretch>
                  <a:fillRect l="-1507" t="-3235" r="-580" b="-4582"/>
                </a:stretch>
              </a:blipFill>
            </p:spPr>
            <p:txBody>
              <a:bodyPr/>
              <a:lstStyle/>
              <a:p>
                <a:r>
                  <a:rPr lang="en-IN">
                    <a:noFill/>
                  </a:rPr>
                  <a:t> </a:t>
                </a:r>
              </a:p>
            </p:txBody>
          </p:sp>
        </mc:Fallback>
      </mc:AlternateContent>
      <p:pic>
        <p:nvPicPr>
          <p:cNvPr id="13" name="Picture Placeholder 12" descr="A graph plots a chi-square distribution and p-value. The horizontal axis is labeled “chi^2” and lists 0 and 28.18. A curve labeled “chi^2 = (n minus 1) s^2/sigma_0^2” rises sharply from the origin, peaks at a small value of chi^2, and falls gradually. The region under the curve to the right of chi^2 = 28.18 is shaded and labeled “p-value.”&#10;">
            <a:extLst>
              <a:ext uri="{FF2B5EF4-FFF2-40B4-BE49-F238E27FC236}">
                <a16:creationId xmlns:a16="http://schemas.microsoft.com/office/drawing/2014/main" id="{230E40FF-C963-1091-4F3E-E00CB919F135}"/>
              </a:ext>
            </a:extLst>
          </p:cNvPr>
          <p:cNvPicPr>
            <a:picLocks noGrp="1" noChangeAspect="1"/>
          </p:cNvPicPr>
          <p:nvPr>
            <p:ph type="pic" sz="quarter" idx="23"/>
          </p:nvPr>
        </p:nvPicPr>
        <p:blipFill rotWithShape="1">
          <a:blip r:embed="rId6"/>
          <a:srcRect t="54" b="54"/>
          <a:stretch/>
        </p:blipFill>
        <p:spPr>
          <a:xfrm>
            <a:off x="6818755" y="2732902"/>
            <a:ext cx="5199062" cy="2139950"/>
          </a:xfrm>
        </p:spPr>
      </p:pic>
    </p:spTree>
    <p:extLst>
      <p:ext uri="{BB962C8B-B14F-4D97-AF65-F5344CB8AC3E}">
        <p14:creationId xmlns:p14="http://schemas.microsoft.com/office/powerpoint/2010/main" val="712024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472968" y="365125"/>
            <a:ext cx="11201400" cy="672105"/>
          </a:xfrm>
        </p:spPr>
        <p:txBody>
          <a:bodyPr/>
          <a:lstStyle/>
          <a:p>
            <a:r>
              <a:rPr lang="en-US" sz="3200" dirty="0"/>
              <a:t>11.1 Critical Value approach to a One-Tailed Test About a Population Variance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811437"/>
                <a:ext cx="10515599" cy="672105"/>
              </a:xfrm>
            </p:spPr>
            <p:txBody>
              <a:bodyPr>
                <a:normAutofit/>
              </a:bodyPr>
              <a:lstStyle/>
              <a:p>
                <a:pPr>
                  <a:lnSpc>
                    <a:spcPct val="100000"/>
                  </a:lnSpc>
                  <a:spcBef>
                    <a:spcPts val="600"/>
                  </a:spcBef>
                </a:pPr>
                <a:r>
                  <a:rPr lang="en-US" sz="2000" dirty="0"/>
                  <a:t>With </a:t>
                </a:r>
                <a14:m>
                  <m:oMath xmlns:m="http://schemas.openxmlformats.org/officeDocument/2006/math">
                    <m:r>
                      <a:rPr lang="el-GR" sz="2000" b="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rPr>
                      <m:t>.05</m:t>
                    </m:r>
                  </m:oMath>
                </a14:m>
                <a:r>
                  <a:rPr lang="en-US" sz="2000" dirty="0"/>
                  <a:t>, </a:t>
                </a:r>
                <a14:m>
                  <m:oMath xmlns:m="http://schemas.openxmlformats.org/officeDocument/2006/math">
                    <m:sSubSup>
                      <m:sSubSupPr>
                        <m:ctrlPr>
                          <a:rPr lang="en-US" sz="2000" i="1">
                            <a:latin typeface="Cambria Math" panose="02040503050406030204" pitchFamily="18" charset="0"/>
                          </a:rPr>
                        </m:ctrlPr>
                      </m:sSubSupPr>
                      <m:e>
                        <m:r>
                          <a:rPr lang="el-GR" sz="2000" i="1">
                            <a:latin typeface="Cambria Math" panose="02040503050406030204" pitchFamily="18" charset="0"/>
                            <a:ea typeface="Cambria Math" panose="02040503050406030204" pitchFamily="18" charset="0"/>
                          </a:rPr>
                          <m:t>𝛸</m:t>
                        </m:r>
                      </m:e>
                      <m:sub>
                        <m:r>
                          <a:rPr lang="en-US" sz="2000" b="0" i="1" smtClean="0">
                            <a:latin typeface="Cambria Math" panose="02040503050406030204" pitchFamily="18" charset="0"/>
                            <a:ea typeface="Cambria Math" panose="02040503050406030204" pitchFamily="18" charset="0"/>
                          </a:rPr>
                          <m:t>.05</m:t>
                        </m:r>
                      </m:sub>
                      <m:sup>
                        <m:r>
                          <a:rPr lang="en-US" sz="2000" i="1">
                            <a:latin typeface="Cambria Math" panose="02040503050406030204" pitchFamily="18" charset="0"/>
                          </a:rPr>
                          <m:t>2</m:t>
                        </m:r>
                      </m:sup>
                    </m:sSubSup>
                  </m:oMath>
                </a14:m>
                <a:r>
                  <a:rPr lang="en-US" sz="2000" dirty="0"/>
                  <a:t> provides the value for the upper tail hypothesis test. Using Table 3 in Appendix B, with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−1=23</m:t>
                    </m:r>
                  </m:oMath>
                </a14:m>
                <a:r>
                  <a:rPr lang="en-US" sz="2000" dirty="0"/>
                  <a:t> degrees of freedom</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0" y="1811437"/>
                <a:ext cx="10515599" cy="672105"/>
              </a:xfrm>
              <a:blipFill>
                <a:blip r:embed="rId3"/>
                <a:stretch>
                  <a:fillRect l="-1508" t="-10000" b="-163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Placeholder 8">
                <a:extLst>
                  <a:ext uri="{FF2B5EF4-FFF2-40B4-BE49-F238E27FC236}">
                    <a16:creationId xmlns:a16="http://schemas.microsoft.com/office/drawing/2014/main" id="{530B38E5-FF86-AB16-24ED-0D8DBDBD2632}"/>
                  </a:ext>
                </a:extLst>
              </p:cNvPr>
              <p:cNvGraphicFramePr>
                <a:graphicFrameLocks noGrp="1"/>
              </p:cNvGraphicFramePr>
              <p:nvPr>
                <p:ph type="tbl" sz="quarter" idx="22"/>
                <p:extLst>
                  <p:ext uri="{D42A27DB-BD31-4B8C-83A1-F6EECF244321}">
                    <p14:modId xmlns:p14="http://schemas.microsoft.com/office/powerpoint/2010/main" val="1731434075"/>
                  </p:ext>
                </p:extLst>
              </p:nvPr>
            </p:nvGraphicFramePr>
            <p:xfrm>
              <a:off x="1546989" y="2489196"/>
              <a:ext cx="7140910" cy="1014798"/>
            </p:xfrm>
            <a:graphic>
              <a:graphicData uri="http://schemas.openxmlformats.org/drawingml/2006/table">
                <a:tbl>
                  <a:tblPr firstRow="1" bandRow="1">
                    <a:tableStyleId>{5C22544A-7EE6-4342-B048-85BDC9FD1C3A}</a:tableStyleId>
                  </a:tblPr>
                  <a:tblGrid>
                    <a:gridCol w="2378030">
                      <a:extLst>
                        <a:ext uri="{9D8B030D-6E8A-4147-A177-3AD203B41FA5}">
                          <a16:colId xmlns:a16="http://schemas.microsoft.com/office/drawing/2014/main" val="2911801945"/>
                        </a:ext>
                      </a:extLst>
                    </a:gridCol>
                    <a:gridCol w="996900">
                      <a:extLst>
                        <a:ext uri="{9D8B030D-6E8A-4147-A177-3AD203B41FA5}">
                          <a16:colId xmlns:a16="http://schemas.microsoft.com/office/drawing/2014/main" val="2232661565"/>
                        </a:ext>
                      </a:extLst>
                    </a:gridCol>
                    <a:gridCol w="1013421">
                      <a:extLst>
                        <a:ext uri="{9D8B030D-6E8A-4147-A177-3AD203B41FA5}">
                          <a16:colId xmlns:a16="http://schemas.microsoft.com/office/drawing/2014/main" val="3297454400"/>
                        </a:ext>
                      </a:extLst>
                    </a:gridCol>
                    <a:gridCol w="1739138">
                      <a:extLst>
                        <a:ext uri="{9D8B030D-6E8A-4147-A177-3AD203B41FA5}">
                          <a16:colId xmlns:a16="http://schemas.microsoft.com/office/drawing/2014/main" val="3078131080"/>
                        </a:ext>
                      </a:extLst>
                    </a:gridCol>
                    <a:gridCol w="1013421">
                      <a:extLst>
                        <a:ext uri="{9D8B030D-6E8A-4147-A177-3AD203B41FA5}">
                          <a16:colId xmlns:a16="http://schemas.microsoft.com/office/drawing/2014/main" val="1873949250"/>
                        </a:ext>
                      </a:extLst>
                    </a:gridCol>
                  </a:tblGrid>
                  <a:tr h="349037">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4163" algn="l"/>
                            </a:tabLst>
                            <a:defRPr/>
                          </a:pPr>
                          <a:endParaRPr lang="en-US" sz="1800" b="1" dirty="0">
                            <a:solidFill>
                              <a:srgbClr val="0070C0"/>
                            </a:solidFill>
                          </a:endParaRP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highlight>
                              <a:srgbClr val="FFFF00"/>
                            </a:highlight>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70C0"/>
                              </a:solidFill>
                            </a:rPr>
                            <a:t>Area in Upper Tail</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0213167"/>
                      </a:ext>
                    </a:extLst>
                  </a:tr>
                  <a:tr h="349037">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4163" algn="l"/>
                            </a:tabLst>
                            <a:defRPr/>
                          </a:pPr>
                          <a:r>
                            <a:rPr lang="en-US" sz="1800" b="1" dirty="0">
                              <a:solidFill>
                                <a:srgbClr val="0070C0"/>
                              </a:solidFill>
                            </a:rPr>
                            <a:t>	Degrees of Freedom</a:t>
                          </a: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0.10</a:t>
                          </a: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0.025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0.01</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167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lang="en-US" sz="1600" b="1" i="1" smtClean="0">
                                      <a:latin typeface="Cambria Math" panose="02040503050406030204" pitchFamily="18" charset="0"/>
                                    </a:rPr>
                                  </m:ctrlPr>
                                </m:sSupPr>
                                <m:e>
                                  <m:r>
                                    <a:rPr lang="el-GR" sz="1600" b="1" i="1">
                                      <a:latin typeface="Cambria Math" panose="02040503050406030204" pitchFamily="18" charset="0"/>
                                      <a:ea typeface="Cambria Math" panose="02040503050406030204" pitchFamily="18" charset="0"/>
                                    </a:rPr>
                                    <m:t>𝜲</m:t>
                                  </m:r>
                                </m:e>
                                <m:sup>
                                  <m:r>
                                    <a:rPr lang="en-US" sz="1600" b="1" i="1">
                                      <a:latin typeface="Cambria Math" panose="02040503050406030204" pitchFamily="18" charset="0"/>
                                    </a:rPr>
                                    <m:t>𝟐</m:t>
                                  </m:r>
                                </m:sup>
                              </m:sSup>
                            </m:oMath>
                          </a14:m>
                          <a:r>
                            <a:rPr lang="en-US" sz="1600" b="1" i="0" u="none" strike="noStrike" kern="1200" dirty="0">
                              <a:solidFill>
                                <a:srgbClr val="000000"/>
                              </a:solidFill>
                              <a:effectLst/>
                              <a:latin typeface="Calibri" panose="020F0502020204030204" pitchFamily="34" charset="0"/>
                              <a:ea typeface="+mn-ea"/>
                              <a:cs typeface="+mn-cs"/>
                            </a:rPr>
                            <a:t> Value (23 </a:t>
                          </a:r>
                          <a:r>
                            <a:rPr lang="en-US" sz="1600" b="1" i="0" u="none" strike="noStrike" kern="1200" dirty="0" err="1">
                              <a:solidFill>
                                <a:srgbClr val="000000"/>
                              </a:solidFill>
                              <a:effectLst/>
                              <a:latin typeface="Calibri" panose="020F0502020204030204" pitchFamily="34" charset="0"/>
                              <a:ea typeface="+mn-ea"/>
                              <a:cs typeface="+mn-cs"/>
                            </a:rPr>
                            <a:t>df</a:t>
                          </a:r>
                          <a:r>
                            <a:rPr lang="en-US" sz="1600" b="1" i="0" u="none" strike="noStrike" kern="1200" dirty="0">
                              <a:solidFill>
                                <a:srgbClr val="000000"/>
                              </a:solidFill>
                              <a:effectLst/>
                              <a:latin typeface="Calibri" panose="020F0502020204030204" pitchFamily="34" charset="0"/>
                              <a:ea typeface="+mn-ea"/>
                              <a:cs typeface="+mn-cs"/>
                            </a:rPr>
                            <a:t>)</a:t>
                          </a: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32.007</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35.172</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38.076</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41.638</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Choice>
        <mc:Fallback xmlns="">
          <p:graphicFrame>
            <p:nvGraphicFramePr>
              <p:cNvPr id="9" name="Table Placeholder 8">
                <a:extLst>
                  <a:ext uri="{FF2B5EF4-FFF2-40B4-BE49-F238E27FC236}">
                    <a16:creationId xmlns:a16="http://schemas.microsoft.com/office/drawing/2014/main" id="{530B38E5-FF86-AB16-24ED-0D8DBDBD2632}"/>
                  </a:ext>
                </a:extLst>
              </p:cNvPr>
              <p:cNvGraphicFramePr>
                <a:graphicFrameLocks noGrp="1"/>
              </p:cNvGraphicFramePr>
              <p:nvPr>
                <p:ph type="tbl" sz="quarter" idx="22"/>
                <p:extLst>
                  <p:ext uri="{D42A27DB-BD31-4B8C-83A1-F6EECF244321}">
                    <p14:modId xmlns:p14="http://schemas.microsoft.com/office/powerpoint/2010/main" val="1731434075"/>
                  </p:ext>
                </p:extLst>
              </p:nvPr>
            </p:nvGraphicFramePr>
            <p:xfrm>
              <a:off x="1546989" y="2489196"/>
              <a:ext cx="7140910" cy="1014798"/>
            </p:xfrm>
            <a:graphic>
              <a:graphicData uri="http://schemas.openxmlformats.org/drawingml/2006/table">
                <a:tbl>
                  <a:tblPr firstRow="1" bandRow="1">
                    <a:tableStyleId>{5C22544A-7EE6-4342-B048-85BDC9FD1C3A}</a:tableStyleId>
                  </a:tblPr>
                  <a:tblGrid>
                    <a:gridCol w="2378030">
                      <a:extLst>
                        <a:ext uri="{9D8B030D-6E8A-4147-A177-3AD203B41FA5}">
                          <a16:colId xmlns:a16="http://schemas.microsoft.com/office/drawing/2014/main" val="2911801945"/>
                        </a:ext>
                      </a:extLst>
                    </a:gridCol>
                    <a:gridCol w="996900">
                      <a:extLst>
                        <a:ext uri="{9D8B030D-6E8A-4147-A177-3AD203B41FA5}">
                          <a16:colId xmlns:a16="http://schemas.microsoft.com/office/drawing/2014/main" val="2232661565"/>
                        </a:ext>
                      </a:extLst>
                    </a:gridCol>
                    <a:gridCol w="1013421">
                      <a:extLst>
                        <a:ext uri="{9D8B030D-6E8A-4147-A177-3AD203B41FA5}">
                          <a16:colId xmlns:a16="http://schemas.microsoft.com/office/drawing/2014/main" val="3297454400"/>
                        </a:ext>
                      </a:extLst>
                    </a:gridCol>
                    <a:gridCol w="1739138">
                      <a:extLst>
                        <a:ext uri="{9D8B030D-6E8A-4147-A177-3AD203B41FA5}">
                          <a16:colId xmlns:a16="http://schemas.microsoft.com/office/drawing/2014/main" val="3078131080"/>
                        </a:ext>
                      </a:extLst>
                    </a:gridCol>
                    <a:gridCol w="1013421">
                      <a:extLst>
                        <a:ext uri="{9D8B030D-6E8A-4147-A177-3AD203B41FA5}">
                          <a16:colId xmlns:a16="http://schemas.microsoft.com/office/drawing/2014/main" val="1873949250"/>
                        </a:ext>
                      </a:extLst>
                    </a:gridCol>
                  </a:tblGrid>
                  <a:tr h="349037">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4163" algn="l"/>
                            </a:tabLst>
                            <a:defRPr/>
                          </a:pPr>
                          <a:endParaRPr lang="en-US" sz="1800" b="1" dirty="0">
                            <a:solidFill>
                              <a:srgbClr val="0070C0"/>
                            </a:solidFill>
                          </a:endParaRP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highlight>
                              <a:srgbClr val="FFFF00"/>
                            </a:highlight>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solidFill>
                                <a:srgbClr val="0070C0"/>
                              </a:solidFill>
                            </a:rPr>
                            <a:t>Area in Upper Tail</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70213167"/>
                      </a:ext>
                    </a:extLst>
                  </a:tr>
                  <a:tr h="349037">
                    <a:tc>
                      <a:txBody>
                        <a:bodyPr/>
                        <a:lstStyle/>
                        <a:p>
                          <a:pPr marL="0" marR="0" lvl="0" indent="0" algn="l" defTabSz="914400" rtl="0" eaLnBrk="1" fontAlgn="auto" latinLnBrk="0" hangingPunct="1">
                            <a:lnSpc>
                              <a:spcPct val="100000"/>
                            </a:lnSpc>
                            <a:spcBef>
                              <a:spcPts val="0"/>
                            </a:spcBef>
                            <a:spcAft>
                              <a:spcPts val="0"/>
                            </a:spcAft>
                            <a:buClrTx/>
                            <a:buSzTx/>
                            <a:buFontTx/>
                            <a:buNone/>
                            <a:tabLst>
                              <a:tab pos="284163" algn="l"/>
                            </a:tabLst>
                            <a:defRPr/>
                          </a:pPr>
                          <a:r>
                            <a:rPr lang="en-US" sz="1800" b="1" dirty="0">
                              <a:solidFill>
                                <a:srgbClr val="0070C0"/>
                              </a:solidFill>
                            </a:rPr>
                            <a:t>	Degrees of Freedom</a:t>
                          </a: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0.10</a:t>
                          </a: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0.025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0.01</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16724">
                    <a:tc>
                      <a:txBody>
                        <a:bodyPr/>
                        <a:lstStyle/>
                        <a:p>
                          <a:endParaRPr lang="en-US"/>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21154" r="-200256" b="-44231"/>
                          </a:stretch>
                        </a:blipFill>
                      </a:tcPr>
                    </a:tc>
                    <a:tc>
                      <a:txBody>
                        <a:bodyPr/>
                        <a:lstStyle/>
                        <a:p>
                          <a:pPr algn="ctr" fontAlgn="b"/>
                          <a:r>
                            <a:rPr lang="en-US" sz="1800" b="0" i="0" u="none" strike="noStrike" dirty="0">
                              <a:solidFill>
                                <a:srgbClr val="000000"/>
                              </a:solidFill>
                              <a:effectLst/>
                              <a:latin typeface="Calibri" panose="020F0502020204030204" pitchFamily="34" charset="0"/>
                            </a:rPr>
                            <a:t>32.007</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35.172</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38.076</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41.638</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8200" y="3685140"/>
                <a:ext cx="10484504" cy="2075964"/>
              </a:xfrm>
            </p:spPr>
            <p:txBody>
              <a:bodyPr>
                <a:noAutofit/>
              </a:bodyPr>
              <a:lstStyle/>
              <a:p>
                <a:pPr>
                  <a:lnSpc>
                    <a:spcPct val="100000"/>
                  </a:lnSpc>
                  <a:spcBef>
                    <a:spcPts val="600"/>
                  </a:spcBef>
                  <a:spcAft>
                    <a:spcPts val="0"/>
                  </a:spcAft>
                </a:pPr>
                <a:r>
                  <a:rPr lang="en-US" sz="2000" dirty="0"/>
                  <a:t>We obtain the critical value, </a:t>
                </a:r>
                <a14:m>
                  <m:oMath xmlns:m="http://schemas.openxmlformats.org/officeDocument/2006/math">
                    <m:sSubSup>
                      <m:sSubSupPr>
                        <m:ctrlPr>
                          <a:rPr lang="en-US" sz="2000" i="1">
                            <a:latin typeface="Cambria Math" panose="02040503050406030204" pitchFamily="18" charset="0"/>
                          </a:rPr>
                        </m:ctrlPr>
                      </m:sSubSupPr>
                      <m:e>
                        <m:r>
                          <m:rPr>
                            <m:sty m:val="p"/>
                          </m:rPr>
                          <a:rPr lang="el-GR" sz="2000" i="1">
                            <a:latin typeface="Cambria Math" panose="02040503050406030204" pitchFamily="18" charset="0"/>
                            <a:ea typeface="Cambria Math" panose="02040503050406030204" pitchFamily="18" charset="0"/>
                          </a:rPr>
                          <m:t>Χ</m:t>
                        </m:r>
                      </m:e>
                      <m:sub>
                        <m:r>
                          <a:rPr lang="en-US" sz="2000" i="1">
                            <a:latin typeface="Cambria Math" panose="02040503050406030204" pitchFamily="18" charset="0"/>
                            <a:ea typeface="Cambria Math" panose="02040503050406030204" pitchFamily="18" charset="0"/>
                          </a:rPr>
                          <m:t>.05</m:t>
                        </m:r>
                      </m:sub>
                      <m:sup>
                        <m:r>
                          <a:rPr lang="en-US" sz="2000" i="1">
                            <a:latin typeface="Cambria Math" panose="02040503050406030204" pitchFamily="18" charset="0"/>
                          </a:rPr>
                          <m:t>2</m:t>
                        </m:r>
                      </m:sup>
                    </m:sSubSup>
                    <m:r>
                      <a:rPr lang="en-US" sz="2000" i="1">
                        <a:latin typeface="Cambria Math" panose="02040503050406030204" pitchFamily="18" charset="0"/>
                      </a:rPr>
                      <m:t>=35.172</m:t>
                    </m:r>
                  </m:oMath>
                </a14:m>
                <a:r>
                  <a:rPr lang="en-US" sz="2000" dirty="0"/>
                  <a:t>.</a:t>
                </a:r>
              </a:p>
              <a:p>
                <a:pPr>
                  <a:lnSpc>
                    <a:spcPct val="100000"/>
                  </a:lnSpc>
                  <a:spcBef>
                    <a:spcPts val="600"/>
                  </a:spcBef>
                  <a:spcAft>
                    <a:spcPts val="0"/>
                  </a:spcAft>
                </a:pPr>
                <a:r>
                  <a:rPr lang="en-US" sz="2000" dirty="0">
                    <a:solidFill>
                      <a:srgbClr val="000000"/>
                    </a:solidFill>
                    <a:cs typeface="Arial" panose="020B0604020202020204" pitchFamily="34" charset="0"/>
                  </a:rPr>
                  <a:t>We can also use Excel to compute the critical value: </a:t>
                </a: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CHISQ</m:t>
                    </m:r>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INV</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RT</m:t>
                    </m:r>
                    <m:r>
                      <m:rPr>
                        <m:nor/>
                      </m:rPr>
                      <a:rPr lang="en-US" sz="2000" i="0" dirty="0" smtClean="0">
                        <a:latin typeface="Cambria Math" panose="02040503050406030204" pitchFamily="18" charset="0"/>
                        <a:cs typeface="Arial" panose="020B0604020202020204" pitchFamily="34" charset="0"/>
                      </a:rPr>
                      <m:t>(0.05,23)</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35.172</m:t>
                    </m:r>
                  </m:oMath>
                </a14:m>
                <a:endParaRPr lang="en-US" sz="2000" dirty="0">
                  <a:solidFill>
                    <a:srgbClr val="000000"/>
                  </a:solidFill>
                  <a:cs typeface="Arial" panose="020B0604020202020204" pitchFamily="34" charset="0"/>
                </a:endParaRPr>
              </a:p>
              <a:p>
                <a:pPr>
                  <a:lnSpc>
                    <a:spcPct val="100000"/>
                  </a:lnSpc>
                  <a:spcBef>
                    <a:spcPts val="600"/>
                  </a:spcBef>
                  <a:spcAft>
                    <a:spcPts val="600"/>
                  </a:spcAft>
                </a:pPr>
                <a:r>
                  <a:rPr lang="en-US" sz="2000" dirty="0">
                    <a:solidFill>
                      <a:srgbClr val="000000"/>
                    </a:solidFill>
                    <a:cs typeface="Arial" panose="020B0604020202020204" pitchFamily="34" charset="0"/>
                  </a:rPr>
                  <a:t>Thus, the rejection rule for the bus arrival time example is:</a:t>
                </a:r>
              </a:p>
              <a:p>
                <a:pPr marL="914400">
                  <a:lnSpc>
                    <a:spcPct val="100000"/>
                  </a:lnSpc>
                  <a:spcBef>
                    <a:spcPts val="600"/>
                  </a:spcBef>
                  <a:spcAft>
                    <a:spcPts val="600"/>
                  </a:spcAft>
                </a:pPr>
                <a:r>
                  <a:rPr lang="en-US" sz="2000" dirty="0">
                    <a:solidFill>
                      <a:srgbClr val="000000"/>
                    </a:solidFill>
                    <a:cs typeface="Arial" panose="020B0604020202020204" pitchFamily="34" charset="0"/>
                  </a:rPr>
                  <a:t>Reject </a:t>
                </a:r>
                <a:r>
                  <a:rPr lang="en-US" sz="2000" i="1" dirty="0">
                    <a:solidFill>
                      <a:srgbClr val="000000"/>
                    </a:solidFill>
                    <a:cs typeface="Arial" panose="020B0604020202020204" pitchFamily="34" charset="0"/>
                  </a:rPr>
                  <a:t>H</a:t>
                </a:r>
                <a:r>
                  <a:rPr lang="en-US" sz="2000" baseline="-25000" dirty="0">
                    <a:solidFill>
                      <a:srgbClr val="000000"/>
                    </a:solidFill>
                    <a:cs typeface="Arial" panose="020B0604020202020204" pitchFamily="34" charset="0"/>
                  </a:rPr>
                  <a:t>0</a:t>
                </a:r>
                <a:r>
                  <a:rPr lang="en-US" sz="2000" dirty="0">
                    <a:solidFill>
                      <a:srgbClr val="000000"/>
                    </a:solidFill>
                    <a:cs typeface="Arial" panose="020B0604020202020204" pitchFamily="34" charset="0"/>
                  </a:rPr>
                  <a:t> if </a:t>
                </a:r>
                <a14:m>
                  <m:oMath xmlns:m="http://schemas.openxmlformats.org/officeDocument/2006/math">
                    <m:sSubSup>
                      <m:sSubSupPr>
                        <m:ctrlPr>
                          <a:rPr lang="en-US" sz="2000" i="1" smtClean="0">
                            <a:latin typeface="Cambria Math" panose="02040503050406030204" pitchFamily="18" charset="0"/>
                          </a:rPr>
                        </m:ctrlPr>
                      </m:sSubSupPr>
                      <m:e>
                        <m:r>
                          <m:rPr>
                            <m:sty m:val="p"/>
                          </m:rPr>
                          <a:rPr lang="el-GR" sz="2000" i="1">
                            <a:latin typeface="Cambria Math" panose="02040503050406030204" pitchFamily="18" charset="0"/>
                            <a:ea typeface="Cambria Math" panose="02040503050406030204" pitchFamily="18" charset="0"/>
                          </a:rPr>
                          <m:t>Χ</m:t>
                        </m:r>
                      </m:e>
                      <m:sub>
                        <m:r>
                          <a:rPr lang="en-US" sz="2000" b="0" i="1" smtClean="0">
                            <a:latin typeface="Cambria Math" panose="02040503050406030204" pitchFamily="18" charset="0"/>
                            <a:ea typeface="Cambria Math" panose="02040503050406030204" pitchFamily="18" charset="0"/>
                          </a:rPr>
                          <m:t>.05</m:t>
                        </m:r>
                      </m:sub>
                      <m:sup>
                        <m:r>
                          <a:rPr lang="en-US" sz="2000" i="1">
                            <a:latin typeface="Cambria Math" panose="02040503050406030204" pitchFamily="18" charset="0"/>
                          </a:rPr>
                          <m:t>2</m:t>
                        </m:r>
                      </m:sup>
                    </m:sSubSup>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35.172</m:t>
                    </m:r>
                  </m:oMath>
                </a14:m>
                <a:endParaRPr lang="en-US" sz="2000" dirty="0">
                  <a:solidFill>
                    <a:srgbClr val="000000"/>
                  </a:solidFill>
                  <a:cs typeface="Arial" panose="020B0604020202020204" pitchFamily="34" charset="0"/>
                </a:endParaRPr>
              </a:p>
              <a:p>
                <a:pPr>
                  <a:lnSpc>
                    <a:spcPct val="100000"/>
                  </a:lnSpc>
                  <a:spcBef>
                    <a:spcPts val="600"/>
                  </a:spcBef>
                  <a:spcAft>
                    <a:spcPts val="0"/>
                  </a:spcAft>
                </a:pPr>
                <a:r>
                  <a:rPr lang="en-US" sz="2000" dirty="0">
                    <a:solidFill>
                      <a:srgbClr val="000000"/>
                    </a:solidFill>
                    <a:cs typeface="Arial" panose="020B0604020202020204" pitchFamily="34" charset="0"/>
                  </a:rPr>
                  <a:t>Because </a:t>
                </a:r>
                <a14:m>
                  <m:oMath xmlns:m="http://schemas.openxmlformats.org/officeDocument/2006/math">
                    <m:sSup>
                      <m:sSupPr>
                        <m:ctrlPr>
                          <a:rPr lang="en-US" sz="2000" i="1" smtClean="0">
                            <a:latin typeface="Cambria Math" panose="02040503050406030204" pitchFamily="18" charset="0"/>
                          </a:rPr>
                        </m:ctrlPr>
                      </m:sSupPr>
                      <m:e>
                        <m:r>
                          <a:rPr lang="el-GR" sz="2000" b="0" i="1">
                            <a:latin typeface="Cambria Math" panose="02040503050406030204" pitchFamily="18" charset="0"/>
                            <a:ea typeface="Cambria Math" panose="02040503050406030204" pitchFamily="18" charset="0"/>
                          </a:rPr>
                          <m:t>𝛸</m:t>
                        </m:r>
                      </m:e>
                      <m:sup>
                        <m:r>
                          <a:rPr lang="en-US" sz="2000" b="0" i="1">
                            <a:latin typeface="Cambria Math" panose="02040503050406030204" pitchFamily="18" charset="0"/>
                          </a:rPr>
                          <m:t>2</m:t>
                        </m:r>
                      </m:sup>
                    </m:sSup>
                    <m:r>
                      <a:rPr lang="en-US" sz="2000" b="0" i="1" smtClean="0">
                        <a:latin typeface="Cambria Math" panose="02040503050406030204" pitchFamily="18" charset="0"/>
                      </a:rPr>
                      <m:t>=28.18</m:t>
                    </m:r>
                  </m:oMath>
                </a14:m>
                <a:r>
                  <a:rPr lang="en-US" sz="2000" dirty="0">
                    <a:solidFill>
                      <a:srgbClr val="000000"/>
                    </a:solidFill>
                    <a:cs typeface="Arial" panose="020B0604020202020204" pitchFamily="34" charset="0"/>
                  </a:rPr>
                  <a:t>, we cannot reject the null hypothesis.</a:t>
                </a:r>
              </a:p>
              <a:p>
                <a:pPr>
                  <a:lnSpc>
                    <a:spcPct val="110000"/>
                  </a:lnSpc>
                  <a:spcBef>
                    <a:spcPts val="600"/>
                  </a:spcBef>
                </a:pPr>
                <a:endParaRPr lang="en-US" sz="2000" dirty="0">
                  <a:solidFill>
                    <a:srgbClr val="000000"/>
                  </a:solidFill>
                  <a:cs typeface="Arial" panose="020B0604020202020204" pitchFamily="34" charset="0"/>
                </a:endParaRP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8200" y="3685140"/>
                <a:ext cx="10484504" cy="2075964"/>
              </a:xfrm>
              <a:blipFill>
                <a:blip r:embed="rId5"/>
                <a:stretch>
                  <a:fillRect l="-1513" t="-3235" b="-4118"/>
                </a:stretch>
              </a:blipFill>
            </p:spPr>
            <p:txBody>
              <a:bodyPr/>
              <a:lstStyle/>
              <a:p>
                <a:r>
                  <a:rPr lang="en-US">
                    <a:noFill/>
                  </a:rPr>
                  <a:t> </a:t>
                </a:r>
              </a:p>
            </p:txBody>
          </p:sp>
        </mc:Fallback>
      </mc:AlternateContent>
    </p:spTree>
    <p:extLst>
      <p:ext uri="{BB962C8B-B14F-4D97-AF65-F5344CB8AC3E}">
        <p14:creationId xmlns:p14="http://schemas.microsoft.com/office/powerpoint/2010/main" val="23494080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5C5ED-9F61-2E4E-E5CF-8ADF8667BEEB}"/>
              </a:ext>
            </a:extLst>
          </p:cNvPr>
          <p:cNvSpPr>
            <a:spLocks noGrp="1"/>
          </p:cNvSpPr>
          <p:nvPr>
            <p:ph type="title"/>
          </p:nvPr>
        </p:nvSpPr>
        <p:spPr>
          <a:xfrm>
            <a:off x="940679" y="365125"/>
            <a:ext cx="10292255" cy="672105"/>
          </a:xfrm>
        </p:spPr>
        <p:txBody>
          <a:bodyPr/>
          <a:lstStyle/>
          <a:p>
            <a:r>
              <a:rPr lang="en-US" sz="3200" dirty="0"/>
              <a:t>11.1 A Two-Tailed Hypothesis Test About a Population Variance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9D86671-B176-8A67-A5AB-2B4385DD5EED}"/>
                  </a:ext>
                </a:extLst>
              </p:cNvPr>
              <p:cNvSpPr>
                <a:spLocks noGrp="1"/>
              </p:cNvSpPr>
              <p:nvPr>
                <p:ph type="body" sz="quarter" idx="15"/>
              </p:nvPr>
            </p:nvSpPr>
            <p:spPr>
              <a:xfrm>
                <a:off x="743577" y="1655379"/>
                <a:ext cx="10610223" cy="4327631"/>
              </a:xfrm>
            </p:spPr>
            <p:txBody>
              <a:bodyPr/>
              <a:lstStyle/>
              <a:p>
                <a:pPr>
                  <a:spcAft>
                    <a:spcPts val="600"/>
                  </a:spcAft>
                </a:pPr>
                <a:r>
                  <a:rPr lang="en-US" sz="2000" dirty="0"/>
                  <a:t>Historically, the variance in test scores for individuals applying for driver’s licenses has been </a:t>
                </a:r>
                <a14:m>
                  <m:oMath xmlns:m="http://schemas.openxmlformats.org/officeDocument/2006/math">
                    <m:sSup>
                      <m:sSupPr>
                        <m:ctrlPr>
                          <a:rPr lang="en-US" sz="2000" i="1" smtClean="0">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𝜎</m:t>
                        </m:r>
                      </m:e>
                      <m:sup>
                        <m:r>
                          <a:rPr lang="en-US" sz="2000" i="1">
                            <a:solidFill>
                              <a:srgbClr val="000000"/>
                            </a:solidFill>
                            <a:latin typeface="Cambria Math" panose="02040503050406030204" pitchFamily="18" charset="0"/>
                          </a:rPr>
                          <m:t>2</m:t>
                        </m:r>
                      </m:sup>
                    </m:sSup>
                    <m:r>
                      <a:rPr lang="en-US" sz="2000" b="0" i="1" smtClean="0">
                        <a:solidFill>
                          <a:srgbClr val="000000"/>
                        </a:solidFill>
                        <a:latin typeface="Cambria Math" panose="02040503050406030204" pitchFamily="18" charset="0"/>
                      </a:rPr>
                      <m:t>=100</m:t>
                    </m:r>
                  </m:oMath>
                </a14:m>
                <a:r>
                  <a:rPr lang="en-US" sz="2000" dirty="0">
                    <a:solidFill>
                      <a:schemeClr val="tx1"/>
                    </a:solidFill>
                  </a:rPr>
                  <a:t>. </a:t>
                </a:r>
                <a:r>
                  <a:rPr lang="en-US" sz="2000" dirty="0"/>
                  <a:t>To evaluate the variance in the test scores for a new examination recently developed, administrators proposed the following two-tailed hypothesis test.</a:t>
                </a:r>
              </a:p>
              <a:p>
                <a:pPr marL="914400">
                  <a:spcAft>
                    <a:spcPts val="0"/>
                  </a:spcAft>
                </a:pPr>
                <a14:m>
                  <m:oMathPara xmlns:m="http://schemas.openxmlformats.org/officeDocument/2006/math">
                    <m:oMathParaPr>
                      <m:jc m:val="left"/>
                    </m:oMathParaPr>
                    <m:oMath xmlns:m="http://schemas.openxmlformats.org/officeDocument/2006/math">
                      <m:sSub>
                        <m:sSubPr>
                          <m:ctrlPr>
                            <a:rPr lang="en-US" sz="2000" b="1" i="1" u="none" strike="noStrike" kern="1200" smtClean="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cs typeface="Arial" panose="020B0604020202020204" pitchFamily="34" charset="0"/>
                            </a:rPr>
                            <m:t>𝐻</m:t>
                          </m:r>
                        </m:e>
                        <m:sub>
                          <m:r>
                            <a:rPr lang="en-US" sz="2000" b="0" i="1" u="none" strike="noStrike" kern="1200">
                              <a:solidFill>
                                <a:srgbClr val="000000"/>
                              </a:solidFill>
                              <a:effectLst/>
                              <a:latin typeface="Cambria Math" panose="02040503050406030204" pitchFamily="18" charset="0"/>
                              <a:cs typeface="Arial" panose="020B0604020202020204" pitchFamily="34" charset="0"/>
                            </a:rPr>
                            <m:t>0</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p>
                        <m:sSupPr>
                          <m:ctrlPr>
                            <a:rPr lang="en-US" sz="2000" i="1">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𝜎</m:t>
                          </m:r>
                        </m:e>
                        <m:sup>
                          <m:r>
                            <a:rPr lang="en-US" sz="2000" i="1">
                              <a:solidFill>
                                <a:srgbClr val="000000"/>
                              </a:solidFill>
                              <a:latin typeface="Cambria Math" panose="02040503050406030204" pitchFamily="18" charset="0"/>
                            </a:rPr>
                            <m:t>2</m:t>
                          </m:r>
                        </m:sup>
                      </m:sSup>
                      <m:r>
                        <a:rPr lang="en-US" sz="2000" b="0" i="1" smtClean="0">
                          <a:solidFill>
                            <a:srgbClr val="000000"/>
                          </a:solidFill>
                          <a:latin typeface="Cambria Math" panose="02040503050406030204" pitchFamily="18" charset="0"/>
                        </a:rPr>
                        <m:t>=100</m:t>
                      </m:r>
                    </m:oMath>
                  </m:oMathPara>
                </a14:m>
                <a:endParaRPr lang="en-US" sz="2000" b="0" i="0" u="none" strike="noStrike" dirty="0">
                  <a:solidFill>
                    <a:srgbClr val="000000"/>
                  </a:solidFill>
                  <a:effectLst/>
                  <a:latin typeface="Arial" panose="020B0604020202020204" pitchFamily="34" charset="0"/>
                </a:endParaRPr>
              </a:p>
              <a:p>
                <a:pPr marL="914400" algn="l" rtl="0" eaLnBrk="1" fontAlgn="ctr" latinLnBrk="0" hangingPunct="1">
                  <a:spcAft>
                    <a:spcPts val="0"/>
                  </a:spcAft>
                </a:pPr>
                <a14:m>
                  <m:oMath xmlns:m="http://schemas.openxmlformats.org/officeDocument/2006/math">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cs typeface="Arial" panose="020B0604020202020204" pitchFamily="34" charset="0"/>
                          </a:rPr>
                          <m:t>𝐻</m:t>
                        </m:r>
                      </m:e>
                      <m:sub>
                        <m:r>
                          <a:rPr lang="en-US" sz="2000" b="0" i="1" u="none" strike="noStrike" kern="1200">
                            <a:solidFill>
                              <a:srgbClr val="000000"/>
                            </a:solidFill>
                            <a:effectLst/>
                            <a:latin typeface="Cambria Math" panose="02040503050406030204" pitchFamily="18" charset="0"/>
                            <a:cs typeface="Arial" panose="020B0604020202020204" pitchFamily="34" charset="0"/>
                          </a:rPr>
                          <m:t>𝑎</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p>
                      <m:sSupPr>
                        <m:ctrlPr>
                          <a:rPr lang="en-US" sz="2000" b="0" i="1" u="none" strike="noStrike" kern="1200">
                            <a:solidFill>
                              <a:srgbClr val="011892"/>
                            </a:solidFill>
                            <a:effectLst/>
                            <a:latin typeface="Cambria Math" panose="02040503050406030204" pitchFamily="18" charset="0"/>
                          </a:rPr>
                        </m:ctrlPr>
                      </m:sSupPr>
                      <m:e>
                        <m:r>
                          <a:rPr lang="en-US" sz="2000" b="0" i="1" u="none" strike="noStrike" kern="1200">
                            <a:solidFill>
                              <a:srgbClr val="011892"/>
                            </a:solidFill>
                            <a:effectLst/>
                            <a:latin typeface="Cambria Math" panose="02040503050406030204" pitchFamily="18" charset="0"/>
                            <a:ea typeface="Cambria Math" panose="02040503050406030204" pitchFamily="18" charset="0"/>
                          </a:rPr>
                          <m:t>𝜎</m:t>
                        </m:r>
                      </m:e>
                      <m:sup>
                        <m:r>
                          <a:rPr lang="en-US" sz="2000" b="0" i="1" u="none" strike="noStrike" kern="1200">
                            <a:solidFill>
                              <a:srgbClr val="011892"/>
                            </a:solidFill>
                            <a:effectLst/>
                            <a:latin typeface="Cambria Math" panose="02040503050406030204" pitchFamily="18" charset="0"/>
                          </a:rPr>
                          <m:t>2</m:t>
                        </m:r>
                      </m:sup>
                    </m:sSup>
                    <m:r>
                      <a:rPr lang="en-US" sz="2000" i="1">
                        <a:latin typeface="Cambria Math" panose="02040503050406030204" pitchFamily="18" charset="0"/>
                        <a:ea typeface="Cambria Math" panose="02040503050406030204" pitchFamily="18" charset="0"/>
                      </a:rPr>
                      <m:t>≠</m:t>
                    </m:r>
                    <m:r>
                      <a:rPr lang="en-US" sz="2000" b="0" i="1" u="none" strike="noStrike" kern="1200" smtClean="0">
                        <a:solidFill>
                          <a:srgbClr val="000000"/>
                        </a:solidFill>
                        <a:effectLst/>
                        <a:latin typeface="Cambria Math" panose="02040503050406030204" pitchFamily="18" charset="0"/>
                        <a:ea typeface="Cambria Math" panose="02040503050406030204" pitchFamily="18" charset="0"/>
                        <a:cs typeface="Arial" panose="020B0604020202020204" pitchFamily="34" charset="0"/>
                      </a:rPr>
                      <m:t>100</m:t>
                    </m:r>
                  </m:oMath>
                </a14:m>
                <a:r>
                  <a:rPr lang="en-US" sz="2000" b="0" i="0" u="none" strike="noStrike" dirty="0">
                    <a:effectLst/>
                    <a:latin typeface="Arial" panose="020B0604020202020204" pitchFamily="34" charset="0"/>
                  </a:rPr>
                  <a:t> </a:t>
                </a:r>
              </a:p>
              <a:p>
                <a:pPr>
                  <a:spcAft>
                    <a:spcPts val="0"/>
                  </a:spcAft>
                </a:pPr>
                <a:r>
                  <a:rPr lang="en-US" sz="2000" dirty="0"/>
                  <a:t>Rejection of </a:t>
                </a:r>
                <a14:m>
                  <m:oMath xmlns:m="http://schemas.openxmlformats.org/officeDocument/2006/math">
                    <m:sSub>
                      <m:sSubPr>
                        <m:ctrlPr>
                          <a:rPr lang="en-US" sz="2000" b="1"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oMath>
                </a14:m>
                <a:r>
                  <a:rPr lang="en-US" sz="2000" dirty="0"/>
                  <a:t> will support the decision to revise the questions in the new examination.</a:t>
                </a:r>
              </a:p>
              <a:p>
                <a:pPr>
                  <a:spcAft>
                    <a:spcPts val="0"/>
                  </a:spcAft>
                </a:pPr>
                <a:r>
                  <a:rPr lang="en-US" sz="2000" dirty="0"/>
                  <a:t>We will use a level of significance </a:t>
                </a:r>
                <a14:m>
                  <m:oMath xmlns:m="http://schemas.openxmlformats.org/officeDocument/2006/math">
                    <m:r>
                      <a:rPr lang="el-GR" sz="2000" b="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rPr>
                      <m:t>.05</m:t>
                    </m:r>
                  </m:oMath>
                </a14:m>
                <a:r>
                  <a:rPr lang="en-US" sz="2000" dirty="0"/>
                  <a:t> to conduct the hypothesis test.</a:t>
                </a:r>
              </a:p>
              <a:p>
                <a:pPr>
                  <a:spcAft>
                    <a:spcPts val="0"/>
                  </a:spcAft>
                </a:pPr>
                <a:r>
                  <a:rPr lang="en-US" sz="2000" dirty="0"/>
                  <a:t>A sample of </a:t>
                </a:r>
                <a14:m>
                  <m:oMath xmlns:m="http://schemas.openxmlformats.org/officeDocument/2006/math">
                    <m:r>
                      <a:rPr lang="en-US" sz="2000" i="1" dirty="0" smtClean="0">
                        <a:latin typeface="Cambria Math" panose="02040503050406030204" pitchFamily="18" charset="0"/>
                      </a:rPr>
                      <m:t>𝑛</m:t>
                    </m:r>
                    <m:r>
                      <a:rPr lang="en-US" sz="2000" i="1" dirty="0" smtClean="0">
                        <a:latin typeface="Cambria Math" panose="02040503050406030204" pitchFamily="18" charset="0"/>
                      </a:rPr>
                      <m:t>=30</m:t>
                    </m:r>
                  </m:oMath>
                </a14:m>
                <a:r>
                  <a:rPr lang="en-US" sz="2000" dirty="0"/>
                  <a:t> applicants for a driver’s license using the new examination provided test scores with sample variance, </a:t>
                </a:r>
                <a14:m>
                  <m:oMath xmlns:m="http://schemas.openxmlformats.org/officeDocument/2006/math">
                    <m:sSup>
                      <m:sSupPr>
                        <m:ctrlPr>
                          <a:rPr lang="en-US" sz="2000" i="1" dirty="0" smtClean="0">
                            <a:latin typeface="Cambria Math" panose="02040503050406030204" pitchFamily="18" charset="0"/>
                          </a:rPr>
                        </m:ctrlPr>
                      </m:sSupPr>
                      <m:e>
                        <m:r>
                          <a:rPr lang="en-US" sz="2000" b="0" i="1" dirty="0" smtClean="0">
                            <a:latin typeface="Cambria Math" panose="02040503050406030204" pitchFamily="18" charset="0"/>
                          </a:rPr>
                          <m:t>𝑠</m:t>
                        </m:r>
                      </m:e>
                      <m:sup>
                        <m:r>
                          <a:rPr lang="en-US" sz="2000" b="0" i="1" dirty="0" smtClean="0">
                            <a:latin typeface="Cambria Math" panose="02040503050406030204" pitchFamily="18" charset="0"/>
                          </a:rPr>
                          <m:t>2</m:t>
                        </m:r>
                      </m:sup>
                    </m:sSup>
                    <m:r>
                      <a:rPr lang="en-US" sz="2000" i="1" dirty="0" smtClean="0">
                        <a:latin typeface="Cambria Math" panose="02040503050406030204" pitchFamily="18" charset="0"/>
                      </a:rPr>
                      <m:t>=</m:t>
                    </m:r>
                    <m:r>
                      <a:rPr lang="en-US" sz="2000" b="0" i="1" dirty="0" smtClean="0">
                        <a:latin typeface="Cambria Math" panose="02040503050406030204" pitchFamily="18" charset="0"/>
                      </a:rPr>
                      <m:t>162</m:t>
                    </m:r>
                  </m:oMath>
                </a14:m>
                <a:r>
                  <a:rPr lang="en-US" sz="2000" dirty="0"/>
                  <a:t>.</a:t>
                </a:r>
              </a:p>
              <a:p>
                <a:pPr>
                  <a:spcAft>
                    <a:spcPts val="600"/>
                  </a:spcAft>
                </a:pPr>
                <a:r>
                  <a:rPr lang="en-US" sz="2000" dirty="0"/>
                  <a:t>With a population distribution of test scores assumed normal, the value of the test statistic is</a:t>
                </a:r>
              </a:p>
              <a:p>
                <a:pPr marL="914400">
                  <a:spcAft>
                    <a:spcPts val="0"/>
                  </a:spcAft>
                </a:pPr>
                <a14:m>
                  <m:oMathPara xmlns:m="http://schemas.openxmlformats.org/officeDocument/2006/math">
                    <m:oMathParaPr>
                      <m:jc m:val="left"/>
                    </m:oMathParaPr>
                    <m:oMath xmlns:m="http://schemas.openxmlformats.org/officeDocument/2006/math">
                      <m:sSup>
                        <m:sSupPr>
                          <m:ctrlPr>
                            <a:rPr lang="en-US" sz="2000" i="1" smtClean="0">
                              <a:latin typeface="Cambria Math" panose="02040503050406030204" pitchFamily="18" charset="0"/>
                            </a:rPr>
                          </m:ctrlPr>
                        </m:sSupPr>
                        <m:e>
                          <m:r>
                            <a:rPr lang="el-GR" sz="2000" b="0" i="1">
                              <a:latin typeface="Cambria Math" panose="02040503050406030204" pitchFamily="18" charset="0"/>
                              <a:ea typeface="Cambria Math" panose="02040503050406030204" pitchFamily="18" charset="0"/>
                            </a:rPr>
                            <m:t>𝛸</m:t>
                          </m:r>
                        </m:e>
                        <m:sup>
                          <m:r>
                            <a:rPr lang="en-US" sz="2000" b="0" i="1">
                              <a:latin typeface="Cambria Math" panose="02040503050406030204" pitchFamily="18" charset="0"/>
                            </a:rPr>
                            <m:t>2</m:t>
                          </m:r>
                        </m:sup>
                      </m:sSup>
                      <m:r>
                        <a:rPr lang="en-US" sz="2000" b="0" i="1" smtClean="0">
                          <a:latin typeface="Cambria Math" panose="02040503050406030204" pitchFamily="18" charset="0"/>
                        </a:rPr>
                        <m:t>=</m:t>
                      </m:r>
                      <m:f>
                        <m:fPr>
                          <m:ctrlPr>
                            <a:rPr lang="en-US" sz="2000" i="1" smtClean="0">
                              <a:latin typeface="Cambria Math" panose="02040503050406030204" pitchFamily="18" charset="0"/>
                            </a:rPr>
                          </m:ctrlPr>
                        </m:fPr>
                        <m:num>
                          <m:d>
                            <m:dPr>
                              <m:ctrlPr>
                                <a:rPr lang="en-US" sz="2000" i="1" smtClean="0">
                                  <a:latin typeface="Cambria Math" panose="02040503050406030204" pitchFamily="18" charset="0"/>
                                </a:rPr>
                              </m:ctrlPr>
                            </m:dPr>
                            <m:e>
                              <m:r>
                                <a:rPr lang="en-US" sz="2000" b="0" i="1" smtClean="0">
                                  <a:latin typeface="Cambria Math" panose="02040503050406030204" pitchFamily="18" charset="0"/>
                                </a:rPr>
                                <m:t>𝑛</m:t>
                              </m:r>
                              <m:r>
                                <a:rPr lang="en-US" sz="2000" b="0" i="1" smtClean="0">
                                  <a:latin typeface="Cambria Math" panose="02040503050406030204" pitchFamily="18" charset="0"/>
                                </a:rPr>
                                <m:t>−1</m:t>
                              </m:r>
                            </m:e>
                          </m:d>
                          <m:sSup>
                            <m:sSupPr>
                              <m:ctrlPr>
                                <a:rPr lang="en-US" sz="2000" i="1" smtClean="0">
                                  <a:latin typeface="Cambria Math" panose="02040503050406030204" pitchFamily="18" charset="0"/>
                                </a:rPr>
                              </m:ctrlPr>
                            </m:sSupPr>
                            <m:e>
                              <m:r>
                                <a:rPr lang="en-US" sz="2000" b="0" i="1" smtClean="0">
                                  <a:latin typeface="Cambria Math" panose="02040503050406030204" pitchFamily="18" charset="0"/>
                                </a:rPr>
                                <m:t>𝑠</m:t>
                              </m:r>
                            </m:e>
                            <m:sup>
                              <m:r>
                                <a:rPr lang="en-US" sz="2000" b="0" i="1" smtClean="0">
                                  <a:latin typeface="Cambria Math" panose="02040503050406030204" pitchFamily="18" charset="0"/>
                                </a:rPr>
                                <m:t>2</m:t>
                              </m:r>
                            </m:sup>
                          </m:sSup>
                        </m:num>
                        <m:den>
                          <m:sSup>
                            <m:sSupPr>
                              <m:ctrlPr>
                                <a:rPr lang="en-US" sz="2000" i="1" smtClean="0">
                                  <a:latin typeface="Cambria Math" panose="02040503050406030204" pitchFamily="18" charset="0"/>
                                </a:rPr>
                              </m:ctrlPr>
                            </m:sSupPr>
                            <m:e>
                              <m:sSub>
                                <m:sSubPr>
                                  <m:ctrlPr>
                                    <a:rPr lang="en-US" sz="2000" i="1" smtClean="0">
                                      <a:solidFill>
                                        <a:srgbClr val="FF0000"/>
                                      </a:solidFill>
                                      <a:latin typeface="Cambria Math" panose="02040503050406030204" pitchFamily="18" charset="0"/>
                                    </a:rPr>
                                  </m:ctrlPr>
                                </m:sSubPr>
                                <m:e>
                                  <m:r>
                                    <a:rPr lang="en-US" sz="2000" i="1" smtClean="0">
                                      <a:solidFill>
                                        <a:srgbClr val="FF0000"/>
                                      </a:solidFill>
                                      <a:latin typeface="Cambria Math" panose="02040503050406030204" pitchFamily="18" charset="0"/>
                                      <a:ea typeface="Cambria Math" panose="02040503050406030204" pitchFamily="18" charset="0"/>
                                    </a:rPr>
                                    <m:t>𝜎</m:t>
                                  </m:r>
                                </m:e>
                                <m:sub>
                                  <m:r>
                                    <a:rPr lang="en-US" sz="2000" b="0" i="1" smtClean="0">
                                      <a:solidFill>
                                        <a:srgbClr val="FF0000"/>
                                      </a:solidFill>
                                      <a:latin typeface="Cambria Math" panose="02040503050406030204" pitchFamily="18" charset="0"/>
                                    </a:rPr>
                                    <m:t>0</m:t>
                                  </m:r>
                                </m:sub>
                              </m:sSub>
                            </m:e>
                            <m:sup>
                              <m:r>
                                <a:rPr lang="en-US" sz="2000" b="0" i="1" smtClean="0">
                                  <a:latin typeface="Cambria Math" panose="02040503050406030204" pitchFamily="18" charset="0"/>
                                </a:rPr>
                                <m:t>2</m:t>
                              </m:r>
                            </m:sup>
                          </m:sSup>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d>
                            <m:dPr>
                              <m:ctrlPr>
                                <a:rPr lang="en-US" sz="2000" b="0" i="1" smtClean="0">
                                  <a:latin typeface="Cambria Math" panose="02040503050406030204" pitchFamily="18" charset="0"/>
                                </a:rPr>
                              </m:ctrlPr>
                            </m:dPr>
                            <m:e>
                              <m:r>
                                <a:rPr lang="en-US" sz="2000" b="0" i="1" smtClean="0">
                                  <a:latin typeface="Cambria Math" panose="02040503050406030204" pitchFamily="18" charset="0"/>
                                </a:rPr>
                                <m:t>30−1</m:t>
                              </m:r>
                            </m:e>
                          </m:d>
                          <m:d>
                            <m:dPr>
                              <m:ctrlPr>
                                <a:rPr lang="en-US" sz="2000" b="0" i="1" smtClean="0">
                                  <a:latin typeface="Cambria Math" panose="02040503050406030204" pitchFamily="18" charset="0"/>
                                </a:rPr>
                              </m:ctrlPr>
                            </m:dPr>
                            <m:e>
                              <m:r>
                                <a:rPr lang="en-US" sz="2000" b="0" i="1" smtClean="0">
                                  <a:latin typeface="Cambria Math" panose="02040503050406030204" pitchFamily="18" charset="0"/>
                                </a:rPr>
                                <m:t>162</m:t>
                              </m:r>
                            </m:e>
                          </m:d>
                        </m:num>
                        <m:den>
                          <m:r>
                            <a:rPr lang="en-US" sz="2000" b="0" i="1" smtClean="0">
                              <a:latin typeface="Cambria Math" panose="02040503050406030204" pitchFamily="18" charset="0"/>
                            </a:rPr>
                            <m:t>100</m:t>
                          </m:r>
                        </m:den>
                      </m:f>
                      <m:r>
                        <a:rPr lang="en-US" sz="2000" b="0" i="1" smtClean="0">
                          <a:latin typeface="Cambria Math" panose="02040503050406030204" pitchFamily="18" charset="0"/>
                        </a:rPr>
                        <m:t>=46.98</m:t>
                      </m:r>
                    </m:oMath>
                  </m:oMathPara>
                </a14:m>
                <a:endParaRPr lang="en-US" sz="2000" dirty="0"/>
              </a:p>
              <a:p>
                <a:endParaRPr lang="en-US" sz="2000" dirty="0"/>
              </a:p>
            </p:txBody>
          </p:sp>
        </mc:Choice>
        <mc:Fallback xmlns="">
          <p:sp>
            <p:nvSpPr>
              <p:cNvPr id="3" name="Text Placeholder 2">
                <a:extLst>
                  <a:ext uri="{FF2B5EF4-FFF2-40B4-BE49-F238E27FC236}">
                    <a16:creationId xmlns:a16="http://schemas.microsoft.com/office/drawing/2014/main" id="{29D86671-B176-8A67-A5AB-2B4385DD5EED}"/>
                  </a:ext>
                </a:extLst>
              </p:cNvPr>
              <p:cNvSpPr>
                <a:spLocks noGrp="1" noRot="1" noChangeAspect="1" noMove="1" noResize="1" noEditPoints="1" noAdjustHandles="1" noChangeArrowheads="1" noChangeShapeType="1" noTextEdit="1"/>
              </p:cNvSpPr>
              <p:nvPr>
                <p:ph type="body" sz="quarter" idx="15"/>
              </p:nvPr>
            </p:nvSpPr>
            <p:spPr>
              <a:xfrm>
                <a:off x="743577" y="1655379"/>
                <a:ext cx="10610223" cy="4327631"/>
              </a:xfrm>
              <a:blipFill>
                <a:blip r:embed="rId4"/>
                <a:stretch>
                  <a:fillRect l="-1493" t="-1693"/>
                </a:stretch>
              </a:blipFill>
            </p:spPr>
            <p:txBody>
              <a:bodyPr/>
              <a:lstStyle/>
              <a:p>
                <a:r>
                  <a:rPr lang="en-US">
                    <a:noFill/>
                  </a:rPr>
                  <a:t> </a:t>
                </a:r>
              </a:p>
            </p:txBody>
          </p:sp>
        </mc:Fallback>
      </mc:AlternateContent>
    </p:spTree>
    <p:extLst>
      <p:ext uri="{BB962C8B-B14F-4D97-AF65-F5344CB8AC3E}">
        <p14:creationId xmlns:p14="http://schemas.microsoft.com/office/powerpoint/2010/main" val="22826488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472968" y="365125"/>
            <a:ext cx="11201400" cy="672105"/>
          </a:xfrm>
        </p:spPr>
        <p:txBody>
          <a:bodyPr/>
          <a:lstStyle/>
          <a:p>
            <a:r>
              <a:rPr lang="en-US" sz="3200" dirty="0"/>
              <a:t>11.1 </a:t>
            </a:r>
            <a:r>
              <a:rPr lang="en-US" sz="3200" i="1" dirty="0"/>
              <a:t>p</a:t>
            </a:r>
            <a:r>
              <a:rPr lang="en-US" sz="3200" dirty="0"/>
              <a:t>-Value Approach to a Two-Tailed Test About a Population Variance</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762945"/>
                <a:ext cx="10515599" cy="1034715"/>
              </a:xfrm>
            </p:spPr>
            <p:txBody>
              <a:bodyPr>
                <a:noAutofit/>
              </a:bodyPr>
              <a:lstStyle/>
              <a:p>
                <a:pPr>
                  <a:lnSpc>
                    <a:spcPct val="100000"/>
                  </a:lnSpc>
                  <a:spcBef>
                    <a:spcPts val="600"/>
                  </a:spcBef>
                </a:pPr>
                <a:r>
                  <a:rPr lang="en-US" sz="2000" dirty="0"/>
                  <a:t>In a two-tailed test, the </a:t>
                </a:r>
                <a:r>
                  <a:rPr lang="en-US" sz="2000" i="1" dirty="0"/>
                  <a:t>p</a:t>
                </a:r>
                <a:r>
                  <a:rPr lang="en-US" sz="2000" dirty="0"/>
                  <a:t>-value is twice the area in the upper tail of a chi-square distribution with </a:t>
                </a:r>
                <a14:m>
                  <m:oMath xmlns:m="http://schemas.openxmlformats.org/officeDocument/2006/math">
                    <m:r>
                      <a:rPr lang="en-US" sz="2000" i="1" dirty="0">
                        <a:latin typeface="Cambria Math" panose="02040503050406030204" pitchFamily="18" charset="0"/>
                      </a:rPr>
                      <m:t>𝑛</m:t>
                    </m:r>
                    <m:r>
                      <a:rPr lang="en-US" sz="2000" i="1" dirty="0">
                        <a:latin typeface="Cambria Math" panose="02040503050406030204" pitchFamily="18" charset="0"/>
                      </a:rPr>
                      <m:t>−1=30−1=29</m:t>
                    </m:r>
                  </m:oMath>
                </a14:m>
                <a:r>
                  <a:rPr lang="en-US" sz="2000" dirty="0"/>
                  <a:t> degrees of freedom such that: </a:t>
                </a:r>
                <a14:m>
                  <m:oMath xmlns:m="http://schemas.openxmlformats.org/officeDocument/2006/math">
                    <m:r>
                      <a:rPr lang="en-US" sz="2000" b="0" i="1" smtClean="0">
                        <a:latin typeface="Cambria Math" panose="02040503050406030204" pitchFamily="18" charset="0"/>
                      </a:rPr>
                      <m:t>𝑝</m:t>
                    </m:r>
                    <m:r>
                      <m:rPr>
                        <m:nor/>
                      </m:rPr>
                      <a:rPr lang="en-US" sz="2000" b="0" i="0" smtClean="0">
                        <a:latin typeface="Arial" panose="020B0604020202020204" pitchFamily="34" charset="0"/>
                        <a:cs typeface="Arial" panose="020B0604020202020204" pitchFamily="34" charset="0"/>
                      </a:rPr>
                      <m:t>−</m:t>
                    </m:r>
                    <m:r>
                      <m:rPr>
                        <m:nor/>
                      </m:rPr>
                      <a:rPr lang="en-US" sz="2000" b="0" i="0" smtClean="0">
                        <a:latin typeface="Arial" panose="020B0604020202020204" pitchFamily="34" charset="0"/>
                        <a:cs typeface="Arial" panose="020B0604020202020204" pitchFamily="34" charset="0"/>
                      </a:rPr>
                      <m:t>value</m:t>
                    </m:r>
                    <m:r>
                      <a:rPr lang="en-US" sz="2000" b="0" i="0" smtClean="0">
                        <a:latin typeface="Cambria Math" panose="02040503050406030204" pitchFamily="18" charset="0"/>
                      </a:rPr>
                      <m:t>=</m:t>
                    </m:r>
                    <m:r>
                      <a:rPr lang="en-US" sz="2000" b="0" i="1" smtClean="0">
                        <a:latin typeface="Cambria Math" panose="02040503050406030204" pitchFamily="18" charset="0"/>
                      </a:rPr>
                      <m:t>2</m:t>
                    </m:r>
                    <m:r>
                      <a:rPr lang="en-US" sz="2000" b="0" i="1" smtClean="0">
                        <a:latin typeface="Cambria Math" panose="02040503050406030204" pitchFamily="18" charset="0"/>
                      </a:rPr>
                      <m:t>𝑃</m:t>
                    </m:r>
                    <m:r>
                      <a:rPr lang="en-US" sz="2000" b="0" i="1" smtClean="0">
                        <a:latin typeface="Cambria Math" panose="02040503050406030204" pitchFamily="18" charset="0"/>
                      </a:rPr>
                      <m:t>(</m:t>
                    </m:r>
                    <m:sSup>
                      <m:sSupPr>
                        <m:ctrlPr>
                          <a:rPr lang="en-US" sz="2000" b="0" i="1" smtClean="0">
                            <a:latin typeface="Cambria Math" panose="02040503050406030204" pitchFamily="18" charset="0"/>
                          </a:rPr>
                        </m:ctrlPr>
                      </m:sSupPr>
                      <m:e>
                        <m:r>
                          <m:rPr>
                            <m:sty m:val="p"/>
                          </m:rPr>
                          <a:rPr lang="el-GR" sz="2000" b="0" i="1" smtClean="0">
                            <a:latin typeface="Cambria Math" panose="02040503050406030204" pitchFamily="18" charset="0"/>
                            <a:ea typeface="Cambria Math" panose="02040503050406030204" pitchFamily="18" charset="0"/>
                          </a:rPr>
                          <m:t>Χ</m:t>
                        </m:r>
                      </m:e>
                      <m:sup>
                        <m:r>
                          <a:rPr lang="en-US" sz="2000" b="0" i="1" smtClean="0">
                            <a:latin typeface="Cambria Math" panose="02040503050406030204" pitchFamily="18" charset="0"/>
                          </a:rPr>
                          <m:t>2</m:t>
                        </m:r>
                      </m:sup>
                    </m:sSup>
                    <m:r>
                      <a:rPr lang="en-US" sz="2000" b="0" i="1" smtClean="0">
                        <a:latin typeface="Cambria Math" panose="02040503050406030204" pitchFamily="18" charset="0"/>
                        <a:ea typeface="Cambria Math" panose="02040503050406030204" pitchFamily="18" charset="0"/>
                      </a:rPr>
                      <m:t>≥46.98)</m:t>
                    </m:r>
                  </m:oMath>
                </a14:m>
                <a:r>
                  <a:rPr lang="en-US" sz="2000" dirty="0"/>
                  <a:t>.</a:t>
                </a:r>
              </a:p>
              <a:p>
                <a:pPr>
                  <a:lnSpc>
                    <a:spcPct val="100000"/>
                  </a:lnSpc>
                  <a:spcBef>
                    <a:spcPts val="600"/>
                  </a:spcBef>
                </a:pPr>
                <a:r>
                  <a:rPr lang="en-US" sz="2000" dirty="0"/>
                  <a:t>Table 3 in Appendix B provides the following information.</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0" y="1762945"/>
                <a:ext cx="10515599" cy="1034715"/>
              </a:xfrm>
              <a:blipFill>
                <a:blip r:embed="rId3"/>
                <a:stretch>
                  <a:fillRect l="-1508" t="-7059" b="-11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9" name="Table Placeholder 8">
                <a:extLst>
                  <a:ext uri="{FF2B5EF4-FFF2-40B4-BE49-F238E27FC236}">
                    <a16:creationId xmlns:a16="http://schemas.microsoft.com/office/drawing/2014/main" id="{530B38E5-FF86-AB16-24ED-0D8DBDBD2632}"/>
                  </a:ext>
                </a:extLst>
              </p:cNvPr>
              <p:cNvGraphicFramePr>
                <a:graphicFrameLocks noGrp="1"/>
              </p:cNvGraphicFramePr>
              <p:nvPr>
                <p:ph type="tbl" sz="quarter" idx="22"/>
                <p:extLst>
                  <p:ext uri="{D42A27DB-BD31-4B8C-83A1-F6EECF244321}">
                    <p14:modId xmlns:p14="http://schemas.microsoft.com/office/powerpoint/2010/main" val="744748870"/>
                  </p:ext>
                </p:extLst>
              </p:nvPr>
            </p:nvGraphicFramePr>
            <p:xfrm>
              <a:off x="1673114" y="2864424"/>
              <a:ext cx="5755196" cy="1034716"/>
            </p:xfrm>
            <a:graphic>
              <a:graphicData uri="http://schemas.openxmlformats.org/drawingml/2006/table">
                <a:tbl>
                  <a:tblPr firstRow="1" bandRow="1">
                    <a:tableStyleId>{5C22544A-7EE6-4342-B048-85BDC9FD1C3A}</a:tableStyleId>
                  </a:tblPr>
                  <a:tblGrid>
                    <a:gridCol w="1958658">
                      <a:extLst>
                        <a:ext uri="{9D8B030D-6E8A-4147-A177-3AD203B41FA5}">
                          <a16:colId xmlns:a16="http://schemas.microsoft.com/office/drawing/2014/main" val="2911801945"/>
                        </a:ext>
                      </a:extLst>
                    </a:gridCol>
                    <a:gridCol w="685800">
                      <a:extLst>
                        <a:ext uri="{9D8B030D-6E8A-4147-A177-3AD203B41FA5}">
                          <a16:colId xmlns:a16="http://schemas.microsoft.com/office/drawing/2014/main" val="2232661565"/>
                        </a:ext>
                      </a:extLst>
                    </a:gridCol>
                    <a:gridCol w="1739138">
                      <a:extLst>
                        <a:ext uri="{9D8B030D-6E8A-4147-A177-3AD203B41FA5}">
                          <a16:colId xmlns:a16="http://schemas.microsoft.com/office/drawing/2014/main" val="3297454400"/>
                        </a:ext>
                      </a:extLst>
                    </a:gridCol>
                    <a:gridCol w="685800">
                      <a:extLst>
                        <a:ext uri="{9D8B030D-6E8A-4147-A177-3AD203B41FA5}">
                          <a16:colId xmlns:a16="http://schemas.microsoft.com/office/drawing/2014/main" val="3078131080"/>
                        </a:ext>
                      </a:extLst>
                    </a:gridCol>
                    <a:gridCol w="685800">
                      <a:extLst>
                        <a:ext uri="{9D8B030D-6E8A-4147-A177-3AD203B41FA5}">
                          <a16:colId xmlns:a16="http://schemas.microsoft.com/office/drawing/2014/main" val="1873949250"/>
                        </a:ext>
                      </a:extLst>
                    </a:gridCol>
                  </a:tblGrid>
                  <a:tr h="355888">
                    <a:tc>
                      <a:txBody>
                        <a:bodyPr/>
                        <a:lstStyle/>
                        <a:p>
                          <a:pPr algn="l">
                            <a:tabLst>
                              <a:tab pos="284163" algn="l"/>
                            </a:tabLst>
                          </a:pPr>
                          <a:endParaRPr lang="en-US" sz="1800" b="1" kern="1200" dirty="0">
                            <a:solidFill>
                              <a:srgbClr val="0070C0"/>
                            </a:solidFill>
                            <a:latin typeface="+mn-lt"/>
                            <a:ea typeface="+mn-ea"/>
                            <a:cs typeface="+mn-cs"/>
                          </a:endParaRP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rgbClr val="0070C0"/>
                              </a:solidFill>
                            </a:rPr>
                            <a:t>Area in Upper Tail</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highlight>
                              <a:srgbClr val="FFFF00"/>
                            </a:highlight>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highlight>
                              <a:srgbClr val="FFFF00"/>
                            </a:highlight>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0598215"/>
                      </a:ext>
                    </a:extLst>
                  </a:tr>
                  <a:tr h="355888">
                    <a:tc>
                      <a:txBody>
                        <a:bodyPr/>
                        <a:lstStyle/>
                        <a:p>
                          <a:pPr algn="l">
                            <a:tabLst>
                              <a:tab pos="284163" algn="l"/>
                            </a:tabLst>
                          </a:pPr>
                          <a:r>
                            <a:rPr lang="en-US" sz="1800" b="1" dirty="0">
                              <a:solidFill>
                                <a:srgbClr val="0070C0"/>
                              </a:solidFill>
                            </a:rPr>
                            <a:t>Degrees </a:t>
                          </a:r>
                          <a:r>
                            <a:rPr lang="en-US" sz="1800" b="1" kern="1200" dirty="0">
                              <a:solidFill>
                                <a:srgbClr val="0070C0"/>
                              </a:solidFill>
                              <a:latin typeface="+mn-lt"/>
                              <a:ea typeface="+mn-ea"/>
                              <a:cs typeface="+mn-cs"/>
                            </a:rPr>
                            <a:t>of Freedom</a:t>
                          </a: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0.10</a:t>
                          </a: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0.025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0.01</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229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lang="en-US" sz="1600" b="1" i="1" smtClean="0">
                                      <a:latin typeface="Cambria Math" panose="02040503050406030204" pitchFamily="18" charset="0"/>
                                    </a:rPr>
                                  </m:ctrlPr>
                                </m:sSupPr>
                                <m:e>
                                  <m:r>
                                    <a:rPr lang="el-GR" sz="1600" b="1" i="1">
                                      <a:latin typeface="Cambria Math" panose="02040503050406030204" pitchFamily="18" charset="0"/>
                                      <a:ea typeface="Cambria Math" panose="02040503050406030204" pitchFamily="18" charset="0"/>
                                    </a:rPr>
                                    <m:t>𝜲</m:t>
                                  </m:r>
                                </m:e>
                                <m:sup>
                                  <m:r>
                                    <a:rPr lang="en-US" sz="1600" b="1" i="1">
                                      <a:latin typeface="Cambria Math" panose="02040503050406030204" pitchFamily="18" charset="0"/>
                                    </a:rPr>
                                    <m:t>𝟐</m:t>
                                  </m:r>
                                </m:sup>
                              </m:sSup>
                            </m:oMath>
                          </a14:m>
                          <a:r>
                            <a:rPr lang="en-US" sz="1600" b="1" i="0" u="none" strike="noStrike" kern="1200" dirty="0">
                              <a:solidFill>
                                <a:srgbClr val="000000"/>
                              </a:solidFill>
                              <a:effectLst/>
                              <a:latin typeface="Calibri" panose="020F0502020204030204" pitchFamily="34" charset="0"/>
                              <a:ea typeface="+mn-ea"/>
                              <a:cs typeface="+mn-cs"/>
                            </a:rPr>
                            <a:t> Value (29 </a:t>
                          </a:r>
                          <a:r>
                            <a:rPr lang="en-US" sz="1600" b="1" i="0" u="none" strike="noStrike" kern="1200" dirty="0" err="1">
                              <a:solidFill>
                                <a:srgbClr val="000000"/>
                              </a:solidFill>
                              <a:effectLst/>
                              <a:latin typeface="Calibri" panose="020F0502020204030204" pitchFamily="34" charset="0"/>
                              <a:ea typeface="+mn-ea"/>
                              <a:cs typeface="+mn-cs"/>
                            </a:rPr>
                            <a:t>df</a:t>
                          </a:r>
                          <a:r>
                            <a:rPr lang="en-US" sz="1600" b="1" i="0" u="none" strike="noStrike" kern="1200" dirty="0">
                              <a:solidFill>
                                <a:srgbClr val="000000"/>
                              </a:solidFill>
                              <a:effectLst/>
                              <a:latin typeface="Calibri" panose="020F0502020204030204" pitchFamily="34" charset="0"/>
                              <a:ea typeface="+mn-ea"/>
                              <a:cs typeface="+mn-cs"/>
                            </a:rPr>
                            <a:t>)</a:t>
                          </a: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0" i="0" u="none" strike="noStrike" dirty="0">
                              <a:solidFill>
                                <a:srgbClr val="000000"/>
                              </a:solidFill>
                              <a:effectLst/>
                              <a:latin typeface="Calibri" panose="020F0502020204030204" pitchFamily="34" charset="0"/>
                            </a:rPr>
                            <a:t>39.087</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0" i="0" u="none" strike="noStrike" dirty="0">
                              <a:solidFill>
                                <a:srgbClr val="000000"/>
                              </a:solidFill>
                              <a:effectLst/>
                              <a:latin typeface="Calibri" panose="020F0502020204030204" pitchFamily="34" charset="0"/>
                            </a:rPr>
                            <a:t>42.557</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0" i="0" u="none" strike="noStrike" dirty="0">
                              <a:solidFill>
                                <a:srgbClr val="000000"/>
                              </a:solidFill>
                              <a:effectLst/>
                              <a:highlight>
                                <a:srgbClr val="FFFF00"/>
                              </a:highlight>
                              <a:latin typeface="Calibri" panose="020F0502020204030204" pitchFamily="34" charset="0"/>
                            </a:rPr>
                            <a:t>45.722</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0" i="0" u="none" strike="noStrike" dirty="0">
                              <a:solidFill>
                                <a:srgbClr val="000000"/>
                              </a:solidFill>
                              <a:effectLst/>
                              <a:highlight>
                                <a:srgbClr val="FFFF00"/>
                              </a:highlight>
                              <a:latin typeface="Calibri" panose="020F0502020204030204" pitchFamily="34" charset="0"/>
                            </a:rPr>
                            <a:t>49.588</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Choice>
        <mc:Fallback xmlns="">
          <p:graphicFrame>
            <p:nvGraphicFramePr>
              <p:cNvPr id="9" name="Table Placeholder 8">
                <a:extLst>
                  <a:ext uri="{FF2B5EF4-FFF2-40B4-BE49-F238E27FC236}">
                    <a16:creationId xmlns:a16="http://schemas.microsoft.com/office/drawing/2014/main" id="{530B38E5-FF86-AB16-24ED-0D8DBDBD2632}"/>
                  </a:ext>
                </a:extLst>
              </p:cNvPr>
              <p:cNvGraphicFramePr>
                <a:graphicFrameLocks noGrp="1"/>
              </p:cNvGraphicFramePr>
              <p:nvPr>
                <p:ph type="tbl" sz="quarter" idx="22"/>
                <p:extLst>
                  <p:ext uri="{D42A27DB-BD31-4B8C-83A1-F6EECF244321}">
                    <p14:modId xmlns:p14="http://schemas.microsoft.com/office/powerpoint/2010/main" val="744748870"/>
                  </p:ext>
                </p:extLst>
              </p:nvPr>
            </p:nvGraphicFramePr>
            <p:xfrm>
              <a:off x="1673114" y="2864424"/>
              <a:ext cx="5755196" cy="1034716"/>
            </p:xfrm>
            <a:graphic>
              <a:graphicData uri="http://schemas.openxmlformats.org/drawingml/2006/table">
                <a:tbl>
                  <a:tblPr firstRow="1" bandRow="1">
                    <a:tableStyleId>{5C22544A-7EE6-4342-B048-85BDC9FD1C3A}</a:tableStyleId>
                  </a:tblPr>
                  <a:tblGrid>
                    <a:gridCol w="1958658">
                      <a:extLst>
                        <a:ext uri="{9D8B030D-6E8A-4147-A177-3AD203B41FA5}">
                          <a16:colId xmlns:a16="http://schemas.microsoft.com/office/drawing/2014/main" val="2911801945"/>
                        </a:ext>
                      </a:extLst>
                    </a:gridCol>
                    <a:gridCol w="685800">
                      <a:extLst>
                        <a:ext uri="{9D8B030D-6E8A-4147-A177-3AD203B41FA5}">
                          <a16:colId xmlns:a16="http://schemas.microsoft.com/office/drawing/2014/main" val="2232661565"/>
                        </a:ext>
                      </a:extLst>
                    </a:gridCol>
                    <a:gridCol w="1739138">
                      <a:extLst>
                        <a:ext uri="{9D8B030D-6E8A-4147-A177-3AD203B41FA5}">
                          <a16:colId xmlns:a16="http://schemas.microsoft.com/office/drawing/2014/main" val="3297454400"/>
                        </a:ext>
                      </a:extLst>
                    </a:gridCol>
                    <a:gridCol w="685800">
                      <a:extLst>
                        <a:ext uri="{9D8B030D-6E8A-4147-A177-3AD203B41FA5}">
                          <a16:colId xmlns:a16="http://schemas.microsoft.com/office/drawing/2014/main" val="3078131080"/>
                        </a:ext>
                      </a:extLst>
                    </a:gridCol>
                    <a:gridCol w="685800">
                      <a:extLst>
                        <a:ext uri="{9D8B030D-6E8A-4147-A177-3AD203B41FA5}">
                          <a16:colId xmlns:a16="http://schemas.microsoft.com/office/drawing/2014/main" val="1873949250"/>
                        </a:ext>
                      </a:extLst>
                    </a:gridCol>
                  </a:tblGrid>
                  <a:tr h="355888">
                    <a:tc>
                      <a:txBody>
                        <a:bodyPr/>
                        <a:lstStyle/>
                        <a:p>
                          <a:pPr algn="l">
                            <a:tabLst>
                              <a:tab pos="284163" algn="l"/>
                            </a:tabLst>
                          </a:pPr>
                          <a:endParaRPr lang="en-US" sz="1800" b="1" kern="1200" dirty="0">
                            <a:solidFill>
                              <a:srgbClr val="0070C0"/>
                            </a:solidFill>
                            <a:latin typeface="+mn-lt"/>
                            <a:ea typeface="+mn-ea"/>
                            <a:cs typeface="+mn-cs"/>
                          </a:endParaRP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endParaRP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rgbClr val="0070C0"/>
                              </a:solidFill>
                            </a:rPr>
                            <a:t>Area in Upper Tail</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highlight>
                              <a:srgbClr val="FFFF00"/>
                            </a:highlight>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800" b="1" dirty="0">
                            <a:solidFill>
                              <a:srgbClr val="000000"/>
                            </a:solidFill>
                            <a:highlight>
                              <a:srgbClr val="FFFF00"/>
                            </a:highlight>
                          </a:endParaRP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0598215"/>
                      </a:ext>
                    </a:extLst>
                  </a:tr>
                  <a:tr h="355888">
                    <a:tc>
                      <a:txBody>
                        <a:bodyPr/>
                        <a:lstStyle/>
                        <a:p>
                          <a:pPr algn="l">
                            <a:tabLst>
                              <a:tab pos="284163" algn="l"/>
                            </a:tabLst>
                          </a:pPr>
                          <a:r>
                            <a:rPr lang="en-US" sz="1800" b="1" dirty="0">
                              <a:solidFill>
                                <a:srgbClr val="0070C0"/>
                              </a:solidFill>
                            </a:rPr>
                            <a:t>Degrees </a:t>
                          </a:r>
                          <a:r>
                            <a:rPr lang="en-US" sz="1800" b="1" kern="1200" dirty="0">
                              <a:solidFill>
                                <a:srgbClr val="0070C0"/>
                              </a:solidFill>
                              <a:latin typeface="+mn-lt"/>
                              <a:ea typeface="+mn-ea"/>
                              <a:cs typeface="+mn-cs"/>
                            </a:rPr>
                            <a:t>of Freedom</a:t>
                          </a:r>
                        </a:p>
                      </a:txBody>
                      <a:tcPr marL="0" marR="0" marT="0" marB="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0.10</a:t>
                          </a:r>
                        </a:p>
                      </a:txBody>
                      <a:tcPr marL="0" marR="0" marT="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0.025</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0.01</a:t>
                          </a:r>
                        </a:p>
                      </a:txBody>
                      <a:tcPr marL="0" marR="0" marT="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22940">
                    <a:tc>
                      <a:txBody>
                        <a:bodyPr/>
                        <a:lstStyle/>
                        <a:p>
                          <a:endParaRPr lang="en-US"/>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222642" r="-193789" b="-43396"/>
                          </a:stretch>
                        </a:blipFill>
                      </a:tcPr>
                    </a:tc>
                    <a:tc>
                      <a:txBody>
                        <a:bodyPr/>
                        <a:lstStyle/>
                        <a:p>
                          <a:pPr algn="r" fontAlgn="b"/>
                          <a:r>
                            <a:rPr lang="en-US" sz="1800" b="0" i="0" u="none" strike="noStrike" dirty="0">
                              <a:solidFill>
                                <a:srgbClr val="000000"/>
                              </a:solidFill>
                              <a:effectLst/>
                              <a:latin typeface="Calibri" panose="020F0502020204030204" pitchFamily="34" charset="0"/>
                            </a:rPr>
                            <a:t>39.087</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0" i="0" u="none" strike="noStrike" dirty="0">
                              <a:solidFill>
                                <a:srgbClr val="000000"/>
                              </a:solidFill>
                              <a:effectLst/>
                              <a:latin typeface="Calibri" panose="020F0502020204030204" pitchFamily="34" charset="0"/>
                            </a:rPr>
                            <a:t>42.557</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0" i="0" u="none" strike="noStrike" dirty="0">
                              <a:solidFill>
                                <a:srgbClr val="000000"/>
                              </a:solidFill>
                              <a:effectLst/>
                              <a:highlight>
                                <a:srgbClr val="FFFF00"/>
                              </a:highlight>
                              <a:latin typeface="Calibri" panose="020F0502020204030204" pitchFamily="34" charset="0"/>
                            </a:rPr>
                            <a:t>45.722</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b"/>
                          <a:r>
                            <a:rPr lang="en-US" sz="1800" b="0" i="0" u="none" strike="noStrike" dirty="0">
                              <a:solidFill>
                                <a:srgbClr val="000000"/>
                              </a:solidFill>
                              <a:effectLst/>
                              <a:highlight>
                                <a:srgbClr val="FFFF00"/>
                              </a:highlight>
                              <a:latin typeface="Calibri" panose="020F0502020204030204" pitchFamily="34" charset="0"/>
                            </a:rPr>
                            <a:t>49.588</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1416" y="4060341"/>
                <a:ext cx="10484504" cy="1700521"/>
              </a:xfrm>
            </p:spPr>
            <p:txBody>
              <a:bodyPr>
                <a:noAutofit/>
              </a:bodyPr>
              <a:lstStyle/>
              <a:p>
                <a:pPr>
                  <a:lnSpc>
                    <a:spcPct val="100000"/>
                  </a:lnSpc>
                  <a:spcBef>
                    <a:spcPts val="600"/>
                  </a:spcBef>
                  <a:spcAft>
                    <a:spcPts val="0"/>
                  </a:spcAft>
                </a:pPr>
                <a:r>
                  <a:rPr lang="en-US" sz="2000" dirty="0">
                    <a:cs typeface="Arial" panose="020B0604020202020204" pitchFamily="34" charset="0"/>
                  </a:rPr>
                  <a:t>Thus, the </a:t>
                </a:r>
                <a:r>
                  <a:rPr lang="en-US" sz="2000" i="1" dirty="0">
                    <a:cs typeface="Arial" panose="020B0604020202020204" pitchFamily="34" charset="0"/>
                  </a:rPr>
                  <a:t>p</a:t>
                </a:r>
                <a:r>
                  <a:rPr lang="en-US" sz="2000" dirty="0">
                    <a:cs typeface="Arial" panose="020B0604020202020204" pitchFamily="34" charset="0"/>
                  </a:rPr>
                  <a:t>-value is twice the 0.01 to 0.025 range, or </a:t>
                </a:r>
                <a14:m>
                  <m:oMath xmlns:m="http://schemas.openxmlformats.org/officeDocument/2006/math">
                    <m:r>
                      <a:rPr lang="en-US" sz="2000" i="1" dirty="0">
                        <a:latin typeface="Cambria Math" panose="02040503050406030204" pitchFamily="18" charset="0"/>
                        <a:cs typeface="Arial" panose="020B0604020202020204" pitchFamily="34" charset="0"/>
                      </a:rPr>
                      <m:t>0.</m:t>
                    </m:r>
                    <m:r>
                      <a:rPr lang="en-US" sz="2000" b="0" i="1" dirty="0" smtClean="0">
                        <a:latin typeface="Cambria Math" panose="02040503050406030204" pitchFamily="18" charset="0"/>
                        <a:cs typeface="Arial" panose="020B0604020202020204" pitchFamily="34" charset="0"/>
                      </a:rPr>
                      <m:t>02</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𝑝</m:t>
                    </m:r>
                    <m:r>
                      <m:rPr>
                        <m:nor/>
                      </m:rPr>
                      <a:rPr lang="en-US" sz="2000" i="0" dirty="0">
                        <a:latin typeface="Cambria Math" panose="02040503050406030204" pitchFamily="18" charset="0"/>
                        <a:cs typeface="Arial" panose="020B0604020202020204" pitchFamily="34" charset="0"/>
                      </a:rPr>
                      <m:t>−</m:t>
                    </m:r>
                    <m:r>
                      <m:rPr>
                        <m:nor/>
                      </m:rPr>
                      <a:rPr lang="en-US" sz="2000" dirty="0">
                        <a:latin typeface="Cambria Math" panose="02040503050406030204" pitchFamily="18" charset="0"/>
                        <a:cs typeface="Arial" panose="020B0604020202020204" pitchFamily="34" charset="0"/>
                      </a:rPr>
                      <m:t>value</m:t>
                    </m:r>
                    <m:r>
                      <a:rPr lang="en-US" sz="2000" i="1" dirty="0">
                        <a:latin typeface="Cambria Math" panose="02040503050406030204" pitchFamily="18" charset="0"/>
                        <a:cs typeface="Arial" panose="020B0604020202020204" pitchFamily="34" charset="0"/>
                      </a:rPr>
                      <m:t>≤ 0.</m:t>
                    </m:r>
                    <m:r>
                      <a:rPr lang="en-US" sz="2000" b="0" i="1" dirty="0" smtClean="0">
                        <a:latin typeface="Cambria Math" panose="02040503050406030204" pitchFamily="18" charset="0"/>
                        <a:cs typeface="Arial" panose="020B0604020202020204" pitchFamily="34" charset="0"/>
                      </a:rPr>
                      <m:t>05</m:t>
                    </m:r>
                  </m:oMath>
                </a14:m>
                <a:r>
                  <a:rPr lang="en-US" sz="2000" dirty="0">
                    <a:cs typeface="Arial" panose="020B0604020202020204" pitchFamily="34" charset="0"/>
                  </a:rPr>
                  <a:t>. </a:t>
                </a:r>
              </a:p>
              <a:p>
                <a:pPr>
                  <a:lnSpc>
                    <a:spcPct val="100000"/>
                  </a:lnSpc>
                  <a:spcBef>
                    <a:spcPts val="600"/>
                  </a:spcBef>
                  <a:spcAft>
                    <a:spcPts val="0"/>
                  </a:spcAft>
                </a:pPr>
                <a:r>
                  <a:rPr lang="en-US" sz="2000" dirty="0"/>
                  <a:t>Excel provides the exact </a:t>
                </a:r>
                <a:r>
                  <a:rPr lang="en-US" sz="2000" i="1" dirty="0"/>
                  <a:t>p</a:t>
                </a:r>
                <a:r>
                  <a:rPr lang="en-US" sz="2000" dirty="0"/>
                  <a:t>-value as </a:t>
                </a: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2</m:t>
                    </m:r>
                    <m:r>
                      <m:rPr>
                        <m:nor/>
                      </m:rPr>
                      <a:rPr lang="en-US" sz="2000" b="0" i="0" dirty="0" smtClean="0">
                        <a:latin typeface="Cambria Math" panose="02040503050406030204" pitchFamily="18" charset="0"/>
                        <a:ea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CHISQ</m:t>
                    </m:r>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DIST</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RT</m:t>
                    </m:r>
                    <m:r>
                      <m:rPr>
                        <m:nor/>
                      </m:rPr>
                      <a:rPr lang="en-US" sz="2000" i="0" dirty="0" smtClean="0">
                        <a:latin typeface="Cambria Math" panose="02040503050406030204" pitchFamily="18" charset="0"/>
                        <a:cs typeface="Arial" panose="020B0604020202020204" pitchFamily="34" charset="0"/>
                      </a:rPr>
                      <m:t>(46.98,29)</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0.0374</m:t>
                    </m:r>
                  </m:oMath>
                </a14:m>
                <a:endParaRPr lang="en-US" sz="2000" dirty="0"/>
              </a:p>
              <a:p>
                <a:pPr>
                  <a:lnSpc>
                    <a:spcPct val="100000"/>
                  </a:lnSpc>
                  <a:spcBef>
                    <a:spcPts val="600"/>
                  </a:spcBef>
                  <a:spcAft>
                    <a:spcPts val="0"/>
                  </a:spcAft>
                </a:pPr>
                <a:r>
                  <a:rPr lang="en-US" sz="2000" dirty="0"/>
                  <a:t>With </a:t>
                </a:r>
                <a14:m>
                  <m:oMath xmlns:m="http://schemas.openxmlformats.org/officeDocument/2006/math">
                    <m:r>
                      <a:rPr lang="en-US" sz="2000" b="0" i="1" smtClean="0">
                        <a:latin typeface="Cambria Math" panose="02040503050406030204" pitchFamily="18" charset="0"/>
                      </a:rPr>
                      <m:t>𝑝</m:t>
                    </m:r>
                    <m:r>
                      <m:rPr>
                        <m:nor/>
                      </m:rPr>
                      <a:rPr lang="en-US" sz="2000" b="0" i="0" smtClean="0">
                        <a:latin typeface="Arial" panose="020B0604020202020204" pitchFamily="34" charset="0"/>
                        <a:cs typeface="Arial" panose="020B0604020202020204" pitchFamily="34" charset="0"/>
                      </a:rPr>
                      <m:t>−</m:t>
                    </m:r>
                    <m:r>
                      <m:rPr>
                        <m:nor/>
                      </m:rPr>
                      <a:rPr lang="en-US" sz="2000" b="0" i="0" smtClean="0">
                        <a:latin typeface="Arial" panose="020B0604020202020204" pitchFamily="34" charset="0"/>
                        <a:cs typeface="Arial" panose="020B0604020202020204" pitchFamily="34" charset="0"/>
                      </a:rPr>
                      <m:t>value</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latin typeface="Cambria Math" panose="02040503050406030204" pitchFamily="18" charset="0"/>
                        <a:ea typeface="Cambria Math" panose="02040503050406030204" pitchFamily="18" charset="0"/>
                        <a:cs typeface="Arial" panose="020B0604020202020204" pitchFamily="34" charset="0"/>
                      </a:rPr>
                      <m:t>=0.05</m:t>
                    </m:r>
                  </m:oMath>
                </a14:m>
                <a:r>
                  <a:rPr lang="en-US" sz="2000" dirty="0"/>
                  <a:t>, we reject the null hypothesis and conclude that the new examination test scores have a population variance different from the historical variance of </a:t>
                </a:r>
                <a14:m>
                  <m:oMath xmlns:m="http://schemas.openxmlformats.org/officeDocument/2006/math">
                    <m:sSup>
                      <m:sSupPr>
                        <m:ctrlPr>
                          <a:rPr lang="en-US" sz="2000" i="1" smtClean="0">
                            <a:solidFill>
                              <a:srgbClr val="000000"/>
                            </a:solidFill>
                            <a:latin typeface="Cambria Math" panose="02040503050406030204" pitchFamily="18" charset="0"/>
                          </a:rPr>
                        </m:ctrlPr>
                      </m:sSupPr>
                      <m:e>
                        <m:r>
                          <a:rPr lang="en-US" sz="2000" i="1">
                            <a:solidFill>
                              <a:srgbClr val="000000"/>
                            </a:solidFill>
                            <a:latin typeface="Cambria Math" panose="02040503050406030204" pitchFamily="18" charset="0"/>
                            <a:ea typeface="Cambria Math" panose="02040503050406030204" pitchFamily="18" charset="0"/>
                          </a:rPr>
                          <m:t>𝜎</m:t>
                        </m:r>
                      </m:e>
                      <m:sup>
                        <m:r>
                          <a:rPr lang="en-US" sz="2000" i="1">
                            <a:solidFill>
                              <a:srgbClr val="000000"/>
                            </a:solidFill>
                            <a:latin typeface="Cambria Math" panose="02040503050406030204" pitchFamily="18" charset="0"/>
                          </a:rPr>
                          <m:t>2</m:t>
                        </m:r>
                      </m:sup>
                    </m:sSup>
                    <m:r>
                      <a:rPr lang="en-US" sz="2000" i="1">
                        <a:solidFill>
                          <a:srgbClr val="000000"/>
                        </a:solidFill>
                        <a:latin typeface="Cambria Math" panose="02040503050406030204" pitchFamily="18" charset="0"/>
                      </a:rPr>
                      <m:t>=100</m:t>
                    </m:r>
                  </m:oMath>
                </a14:m>
                <a:r>
                  <a:rPr lang="en-US" sz="2000" dirty="0"/>
                  <a:t>. The conclusion supports a revision of the new examination’s test questions.</a:t>
                </a:r>
              </a:p>
              <a:p>
                <a:pPr>
                  <a:lnSpc>
                    <a:spcPct val="100000"/>
                  </a:lnSpc>
                  <a:spcBef>
                    <a:spcPts val="600"/>
                  </a:spcBef>
                </a:pPr>
                <a:endParaRPr lang="en-US" sz="2000" dirty="0"/>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1416" y="4060341"/>
                <a:ext cx="10484504" cy="1700521"/>
              </a:xfrm>
              <a:blipFill>
                <a:blip r:embed="rId5"/>
                <a:stretch>
                  <a:fillRect l="-1453" t="-4301" b="-8244"/>
                </a:stretch>
              </a:blipFill>
            </p:spPr>
            <p:txBody>
              <a:bodyPr/>
              <a:lstStyle/>
              <a:p>
                <a:r>
                  <a:rPr lang="en-US">
                    <a:noFill/>
                  </a:rPr>
                  <a:t> </a:t>
                </a:r>
              </a:p>
            </p:txBody>
          </p:sp>
        </mc:Fallback>
      </mc:AlternateContent>
    </p:spTree>
    <p:extLst>
      <p:ext uri="{BB962C8B-B14F-4D97-AF65-F5344CB8AC3E}">
        <p14:creationId xmlns:p14="http://schemas.microsoft.com/office/powerpoint/2010/main" val="17080955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dirty="0">
                <a:solidFill>
                  <a:srgbClr val="25894E"/>
                </a:solidFill>
              </a:rPr>
              <a:t>11.1 Excel: Conduct a Hypothesis Test</a:t>
            </a:r>
          </a:p>
        </p:txBody>
      </p:sp>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6" y="1185861"/>
            <a:ext cx="10610223" cy="1043801"/>
          </a:xfrm>
        </p:spPr>
        <p:txBody>
          <a:bodyPr/>
          <a:lstStyle/>
          <a:p>
            <a:r>
              <a:rPr lang="en-US" sz="2000" dirty="0"/>
              <a:t>We now adapt the hypothesis test approach described in the previous chapters and use Excel to conduct a hypothesis test of the population variance for the St. Louis Metro Bus example.</a:t>
            </a:r>
          </a:p>
          <a:p>
            <a:r>
              <a:rPr lang="en-US" sz="2000" b="1" dirty="0"/>
              <a:t>Enter/Access Data</a:t>
            </a:r>
            <a:r>
              <a:rPr lang="en-US" sz="2000" dirty="0"/>
              <a:t>: Open the file </a:t>
            </a:r>
            <a:r>
              <a:rPr lang="en-US" sz="2000" i="1" dirty="0" err="1"/>
              <a:t>bustimes_mod</a:t>
            </a:r>
            <a:r>
              <a:rPr lang="en-US" sz="2000" dirty="0"/>
              <a:t>. The 24 arrival times are in cells A2:A25.</a:t>
            </a:r>
          </a:p>
        </p:txBody>
      </p:sp>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CE12EEE5-F80B-10B7-8B58-BD0B567449FD}"/>
                  </a:ext>
                </a:extLst>
              </p:cNvPr>
              <p:cNvSpPr>
                <a:spLocks noGrp="1"/>
              </p:cNvSpPr>
              <p:nvPr>
                <p:ph type="body" sz="quarter" idx="17"/>
              </p:nvPr>
            </p:nvSpPr>
            <p:spPr>
              <a:xfrm>
                <a:off x="743576" y="2259398"/>
                <a:ext cx="5298449" cy="3635609"/>
              </a:xfrm>
            </p:spPr>
            <p:txBody>
              <a:bodyPr/>
              <a:lstStyle/>
              <a:p>
                <a:r>
                  <a:rPr lang="en-US" sz="2000" b="1" dirty="0"/>
                  <a:t>Enter Functions and Formulas</a:t>
                </a:r>
                <a:r>
                  <a:rPr lang="en-US" sz="2000" dirty="0"/>
                  <a:t>: The descriptive statistics needed are provided in cells C3:C5.</a:t>
                </a:r>
              </a:p>
              <a:p>
                <a:r>
                  <a:rPr lang="en-US" sz="2000" dirty="0"/>
                  <a:t>The </a:t>
                </a:r>
                <a14:m>
                  <m:oMath xmlns:m="http://schemas.openxmlformats.org/officeDocument/2006/math">
                    <m:sSup>
                      <m:sSupPr>
                        <m:ctrlPr>
                          <a:rPr lang="en-US" sz="2000" i="1" smtClean="0">
                            <a:latin typeface="Cambria Math" panose="02040503050406030204" pitchFamily="18" charset="0"/>
                          </a:rPr>
                        </m:ctrlPr>
                      </m:sSupPr>
                      <m:e>
                        <m:r>
                          <a:rPr lang="el-GR" sz="2000" b="0" i="1">
                            <a:latin typeface="Cambria Math" panose="02040503050406030204" pitchFamily="18" charset="0"/>
                            <a:ea typeface="Cambria Math" panose="02040503050406030204" pitchFamily="18" charset="0"/>
                          </a:rPr>
                          <m:t>𝛸</m:t>
                        </m:r>
                      </m:e>
                      <m:sup>
                        <m:r>
                          <a:rPr lang="en-US" sz="2000" b="0" i="1">
                            <a:latin typeface="Cambria Math" panose="02040503050406030204" pitchFamily="18" charset="0"/>
                          </a:rPr>
                          <m:t>2</m:t>
                        </m:r>
                      </m:sup>
                    </m:sSup>
                    <m:r>
                      <a:rPr lang="en-US" sz="2000" b="0" i="1" smtClean="0">
                        <a:latin typeface="Cambria Math" panose="02040503050406030204" pitchFamily="18" charset="0"/>
                      </a:rPr>
                      <m:t>=28.18</m:t>
                    </m:r>
                  </m:oMath>
                </a14:m>
                <a:r>
                  <a:rPr lang="en-US" sz="2000" dirty="0"/>
                  <a:t> test statistic is computed in cell C9 using the descriptive statistics and the hypothesized value, 4.</a:t>
                </a:r>
              </a:p>
              <a:p>
                <a:r>
                  <a:rPr lang="en-US" sz="2000" dirty="0"/>
                  <a:t>To compute a lower tail </a:t>
                </a:r>
                <a14:m>
                  <m:oMath xmlns:m="http://schemas.openxmlformats.org/officeDocument/2006/math">
                    <m:r>
                      <a:rPr lang="en-US" sz="2000" i="1" dirty="0" smtClean="0">
                        <a:latin typeface="Cambria Math" panose="02040503050406030204" pitchFamily="18" charset="0"/>
                      </a:rPr>
                      <m:t>𝑝</m:t>
                    </m:r>
                  </m:oMath>
                </a14:m>
                <a:r>
                  <a:rPr lang="en-US" sz="2000" dirty="0"/>
                  <a:t>-value, we enter </a:t>
                </a:r>
                <a14:m>
                  <m:oMath xmlns:m="http://schemas.openxmlformats.org/officeDocument/2006/math">
                    <m:r>
                      <m:rPr>
                        <m:nor/>
                      </m:rPr>
                      <a:rPr lang="en-US" sz="2000" b="0" i="0" dirty="0" smtClean="0">
                        <a:latin typeface="Cambria Math" panose="02040503050406030204" pitchFamily="18" charset="0"/>
                      </a:rPr>
                      <m:t>=</m:t>
                    </m:r>
                    <m:r>
                      <a:rPr lang="en-US" sz="2000" i="1" dirty="0" smtClean="0">
                        <a:latin typeface="Cambria Math" panose="02040503050406030204" pitchFamily="18" charset="0"/>
                      </a:rPr>
                      <m:t>𝐶𝐻𝐼𝑆𝑄</m:t>
                    </m:r>
                    <m:r>
                      <a:rPr lang="en-US" sz="2000" i="1" dirty="0" smtClean="0">
                        <a:latin typeface="Cambria Math" panose="02040503050406030204" pitchFamily="18" charset="0"/>
                      </a:rPr>
                      <m:t>.</m:t>
                    </m:r>
                    <m:r>
                      <a:rPr lang="en-US" sz="2000" i="1" dirty="0" smtClean="0">
                        <a:latin typeface="Cambria Math" panose="02040503050406030204" pitchFamily="18" charset="0"/>
                      </a:rPr>
                      <m:t>𝐷𝐼𝑆𝑇</m:t>
                    </m:r>
                    <m:d>
                      <m:dPr>
                        <m:ctrlPr>
                          <a:rPr lang="en-US" sz="2000" i="1" dirty="0" smtClean="0">
                            <a:latin typeface="Cambria Math" panose="02040503050406030204" pitchFamily="18" charset="0"/>
                          </a:rPr>
                        </m:ctrlPr>
                      </m:dPr>
                      <m:e>
                        <m:sSup>
                          <m:sSupPr>
                            <m:ctrlPr>
                              <a:rPr lang="en-US" sz="2000" i="1" smtClean="0">
                                <a:latin typeface="Cambria Math" panose="02040503050406030204" pitchFamily="18" charset="0"/>
                              </a:rPr>
                            </m:ctrlPr>
                          </m:sSupPr>
                          <m:e>
                            <m:r>
                              <a:rPr lang="el-GR" sz="2000" b="0" i="1">
                                <a:latin typeface="Cambria Math" panose="02040503050406030204" pitchFamily="18" charset="0"/>
                                <a:ea typeface="Cambria Math" panose="02040503050406030204" pitchFamily="18" charset="0"/>
                              </a:rPr>
                              <m:t>𝛸</m:t>
                            </m:r>
                          </m:e>
                          <m:sup>
                            <m:r>
                              <a:rPr lang="en-US" sz="2000" b="0" i="1">
                                <a:latin typeface="Cambria Math" panose="02040503050406030204" pitchFamily="18" charset="0"/>
                              </a:rPr>
                              <m:t>2</m:t>
                            </m:r>
                          </m:sup>
                        </m:sSup>
                        <m:r>
                          <a:rPr lang="en-US" sz="2000" i="1" dirty="0" smtClean="0">
                            <a:latin typeface="Cambria Math" panose="02040503050406030204" pitchFamily="18" charset="0"/>
                          </a:rPr>
                          <m:t>,</m:t>
                        </m:r>
                        <m:r>
                          <a:rPr lang="en-US" sz="2000" i="1" dirty="0" smtClean="0">
                            <a:latin typeface="Cambria Math" panose="02040503050406030204" pitchFamily="18" charset="0"/>
                          </a:rPr>
                          <m:t>𝑑𝑓</m:t>
                        </m:r>
                        <m:r>
                          <a:rPr lang="en-US" sz="2000" i="1" dirty="0" smtClean="0">
                            <a:latin typeface="Cambria Math" panose="02040503050406030204" pitchFamily="18" charset="0"/>
                          </a:rPr>
                          <m:t>,</m:t>
                        </m:r>
                        <m:r>
                          <a:rPr lang="en-US" sz="2000" i="1" dirty="0" smtClean="0">
                            <a:latin typeface="Cambria Math" panose="02040503050406030204" pitchFamily="18" charset="0"/>
                          </a:rPr>
                          <m:t>𝑇𝑅𝑈𝐸</m:t>
                        </m:r>
                      </m:e>
                    </m:d>
                  </m:oMath>
                </a14:m>
                <a:r>
                  <a:rPr lang="en-US" sz="2000" dirty="0"/>
                  <a:t> in cell C12, with </a:t>
                </a:r>
                <a14:m>
                  <m:oMath xmlns:m="http://schemas.openxmlformats.org/officeDocument/2006/math">
                    <m:sSup>
                      <m:sSupPr>
                        <m:ctrlPr>
                          <a:rPr lang="en-US" sz="2000" i="1">
                            <a:latin typeface="Cambria Math" panose="02040503050406030204" pitchFamily="18" charset="0"/>
                          </a:rPr>
                        </m:ctrlPr>
                      </m:sSupPr>
                      <m:e>
                        <m:r>
                          <a:rPr lang="el-GR" sz="2000" i="1">
                            <a:latin typeface="Cambria Math" panose="02040503050406030204" pitchFamily="18" charset="0"/>
                            <a:ea typeface="Cambria Math" panose="02040503050406030204" pitchFamily="18" charset="0"/>
                          </a:rPr>
                          <m:t>𝛸</m:t>
                        </m:r>
                      </m:e>
                      <m:sup>
                        <m:r>
                          <a:rPr lang="en-US" sz="2000" i="1">
                            <a:latin typeface="Cambria Math" panose="02040503050406030204" pitchFamily="18" charset="0"/>
                          </a:rPr>
                          <m:t>2</m:t>
                        </m:r>
                      </m:sup>
                    </m:sSup>
                    <m:r>
                      <a:rPr lang="en-US" sz="2000" b="0" i="1" smtClean="0">
                        <a:latin typeface="Cambria Math" panose="02040503050406030204" pitchFamily="18" charset="0"/>
                      </a:rPr>
                      <m:t>=28.18</m:t>
                    </m:r>
                  </m:oMath>
                </a14:m>
                <a:r>
                  <a:rPr lang="en-US" sz="2000" dirty="0"/>
                  <a:t> (cell C9) and </a:t>
                </a:r>
                <a14:m>
                  <m:oMath xmlns:m="http://schemas.openxmlformats.org/officeDocument/2006/math">
                    <m:r>
                      <a:rPr lang="en-US" sz="2000" i="1" dirty="0">
                        <a:latin typeface="Cambria Math" panose="02040503050406030204" pitchFamily="18" charset="0"/>
                      </a:rPr>
                      <m:t>𝑑𝑓</m:t>
                    </m:r>
                    <m:r>
                      <a:rPr lang="en-US" sz="2000" b="0" i="1" dirty="0" smtClean="0">
                        <a:latin typeface="Cambria Math" panose="02040503050406030204" pitchFamily="18" charset="0"/>
                      </a:rPr>
                      <m:t>=23</m:t>
                    </m:r>
                  </m:oMath>
                </a14:m>
                <a:r>
                  <a:rPr lang="en-US" sz="2000" dirty="0"/>
                  <a:t> (cell C10.)</a:t>
                </a:r>
              </a:p>
              <a:p>
                <a:r>
                  <a:rPr lang="en-US" sz="2000" dirty="0"/>
                  <a:t>To compute an upper tail </a:t>
                </a:r>
                <a14:m>
                  <m:oMath xmlns:m="http://schemas.openxmlformats.org/officeDocument/2006/math">
                    <m:r>
                      <a:rPr lang="en-US" sz="2000" i="1" dirty="0" smtClean="0">
                        <a:latin typeface="Cambria Math" panose="02040503050406030204" pitchFamily="18" charset="0"/>
                      </a:rPr>
                      <m:t>𝑝</m:t>
                    </m:r>
                  </m:oMath>
                </a14:m>
                <a:r>
                  <a:rPr lang="en-US" sz="2000" dirty="0"/>
                  <a:t>-value, we enter instead </a:t>
                </a:r>
                <a14:m>
                  <m:oMath xmlns:m="http://schemas.openxmlformats.org/officeDocument/2006/math">
                    <m:r>
                      <m:rPr>
                        <m:nor/>
                      </m:rPr>
                      <a:rPr lang="en-US" sz="2000" b="0" i="0" dirty="0" smtClean="0">
                        <a:latin typeface="Cambria Math" panose="02040503050406030204" pitchFamily="18" charset="0"/>
                      </a:rPr>
                      <m:t>=</m:t>
                    </m:r>
                    <m:r>
                      <a:rPr lang="en-US" sz="2000" i="1" dirty="0">
                        <a:latin typeface="Cambria Math" panose="02040503050406030204" pitchFamily="18" charset="0"/>
                      </a:rPr>
                      <m:t>𝐶𝐻𝐼𝑆𝑄</m:t>
                    </m:r>
                    <m:r>
                      <a:rPr lang="en-US" sz="2000" i="1" dirty="0">
                        <a:latin typeface="Cambria Math" panose="02040503050406030204" pitchFamily="18" charset="0"/>
                      </a:rPr>
                      <m:t>.</m:t>
                    </m:r>
                    <m:r>
                      <a:rPr lang="en-US" sz="2000" i="1" dirty="0">
                        <a:latin typeface="Cambria Math" panose="02040503050406030204" pitchFamily="18" charset="0"/>
                      </a:rPr>
                      <m:t>𝐷𝐼𝑆𝑇</m:t>
                    </m:r>
                    <m:r>
                      <a:rPr lang="en-US" sz="2000" b="0" i="1" dirty="0" smtClean="0">
                        <a:latin typeface="Cambria Math" panose="02040503050406030204" pitchFamily="18" charset="0"/>
                      </a:rPr>
                      <m:t>.</m:t>
                    </m:r>
                    <m:r>
                      <a:rPr lang="en-US" sz="2000" b="0" i="1" dirty="0" smtClean="0">
                        <a:latin typeface="Cambria Math" panose="02040503050406030204" pitchFamily="18" charset="0"/>
                      </a:rPr>
                      <m:t>𝑅𝑇</m:t>
                    </m:r>
                    <m:d>
                      <m:dPr>
                        <m:ctrlPr>
                          <a:rPr lang="en-US" sz="2000" i="1" dirty="0">
                            <a:latin typeface="Cambria Math" panose="02040503050406030204" pitchFamily="18" charset="0"/>
                          </a:rPr>
                        </m:ctrlPr>
                      </m:dPr>
                      <m:e>
                        <m:sSup>
                          <m:sSupPr>
                            <m:ctrlPr>
                              <a:rPr lang="en-US" sz="2000" i="1">
                                <a:latin typeface="Cambria Math" panose="02040503050406030204" pitchFamily="18" charset="0"/>
                              </a:rPr>
                            </m:ctrlPr>
                          </m:sSupPr>
                          <m:e>
                            <m:r>
                              <a:rPr lang="el-GR" sz="2000" i="1">
                                <a:latin typeface="Cambria Math" panose="02040503050406030204" pitchFamily="18" charset="0"/>
                                <a:ea typeface="Cambria Math" panose="02040503050406030204" pitchFamily="18" charset="0"/>
                              </a:rPr>
                              <m:t>𝛸</m:t>
                            </m:r>
                          </m:e>
                          <m:sup>
                            <m:r>
                              <a:rPr lang="en-US" sz="2000" i="1">
                                <a:latin typeface="Cambria Math" panose="02040503050406030204" pitchFamily="18" charset="0"/>
                              </a:rPr>
                              <m:t>2</m:t>
                            </m:r>
                          </m:sup>
                        </m:sSup>
                        <m:r>
                          <a:rPr lang="en-US" sz="2000" i="1" dirty="0">
                            <a:latin typeface="Cambria Math" panose="02040503050406030204" pitchFamily="18" charset="0"/>
                          </a:rPr>
                          <m:t>,</m:t>
                        </m:r>
                        <m:r>
                          <a:rPr lang="en-US" sz="2000" i="1" dirty="0">
                            <a:latin typeface="Cambria Math" panose="02040503050406030204" pitchFamily="18" charset="0"/>
                          </a:rPr>
                          <m:t>𝑑𝑓</m:t>
                        </m:r>
                      </m:e>
                    </m:d>
                  </m:oMath>
                </a14:m>
                <a:r>
                  <a:rPr lang="en-US" sz="2000" dirty="0"/>
                  <a:t>.</a:t>
                </a:r>
              </a:p>
            </p:txBody>
          </p:sp>
        </mc:Choice>
        <mc:Fallback xmlns="">
          <p:sp>
            <p:nvSpPr>
              <p:cNvPr id="6" name="Text Placeholder 5">
                <a:extLst>
                  <a:ext uri="{FF2B5EF4-FFF2-40B4-BE49-F238E27FC236}">
                    <a16:creationId xmlns:a16="http://schemas.microsoft.com/office/drawing/2014/main" id="{CE12EEE5-F80B-10B7-8B58-BD0B567449FD}"/>
                  </a:ext>
                </a:extLst>
              </p:cNvPr>
              <p:cNvSpPr>
                <a:spLocks noGrp="1" noRot="1" noChangeAspect="1" noMove="1" noResize="1" noEditPoints="1" noAdjustHandles="1" noChangeArrowheads="1" noChangeShapeType="1" noTextEdit="1"/>
              </p:cNvSpPr>
              <p:nvPr>
                <p:ph type="body" sz="quarter" idx="17"/>
              </p:nvPr>
            </p:nvSpPr>
            <p:spPr>
              <a:xfrm>
                <a:off x="743576" y="2259398"/>
                <a:ext cx="5298449" cy="3635609"/>
              </a:xfrm>
              <a:blipFill>
                <a:blip r:embed="rId2"/>
                <a:stretch>
                  <a:fillRect l="-2992" t="-2013" r="-345" b="-2852"/>
                </a:stretch>
              </a:blipFill>
            </p:spPr>
            <p:txBody>
              <a:bodyPr/>
              <a:lstStyle/>
              <a:p>
                <a:r>
                  <a:rPr lang="en-US">
                    <a:noFill/>
                  </a:rPr>
                  <a:t> </a:t>
                </a:r>
              </a:p>
            </p:txBody>
          </p:sp>
        </mc:Fallback>
      </mc:AlternateContent>
      <p:pic>
        <p:nvPicPr>
          <p:cNvPr id="8" name="Picture Placeholder 7" descr="Two screenshots of Excel spreadsheets show the hypothesis test about a population variation. In both the sheets, column A is labeled times. The entries under the column are as follows. Row 2: 15.7. Row 3: 16.9. Row 4: 12.8. Row 5: 15.6. Row 6: 14.0. Row 7: 16.2. Row 8: 14.8. Row 9: 19.8. Row 10: 13.2. Row 11: 15.3. Row 12: 14.7. Row 13: 10.2. Row 14: 16.7. Row 15: 13.6. Row 25: 12.7. The entries under columns B and C in the first spreadsheet are as follows. B 3: Sample size. C 3: =COUNT(A:A). B 4: Sample mean. C 4: =AVERAGE(A:A). B 5: Sample variance. C 5: =VAR.S(A:A). B 7: Hypothesized value. C 7: 4. B 9: Test statistic. C 9: =(C 3 minus 1)*C 5/C 7. B 10: Degrees of Freedom. C 10: =C 3 minus 1. B 12: p-value (Lower Tail). C 12: =CHISQ.DIST(C 9,C 10,TRUE). B 13: p-value (Upper tail). C 13: =CHISQ.DIST.RT(C 9,C 10). B 14: p-value (Two Tail). C 14: =2*MIN(C 12, C 13). The entries under columns B and C in the second spreadsheet are as follows. B 3: Sample size. C 3: 24. B 4: Sample mean. C 4: 14.76. B 5: Sample variance. C 5: 4.9. B 7: Hypothesized value. C 7: 4. B 9: Test statistic. C 9: 28.18. B 10: Degrees of Freedom. C 10: 23. B 12: p-value (Lower Tail). C 12: 0.7909. B 13: p-value (Upper tail). C 13: 0.2091. B 14: p-value (Two Tail). C 14: 0.4181.">
            <a:extLst>
              <a:ext uri="{FF2B5EF4-FFF2-40B4-BE49-F238E27FC236}">
                <a16:creationId xmlns:a16="http://schemas.microsoft.com/office/drawing/2014/main" id="{571FC56D-24AC-4DCD-921A-F307C950793A}"/>
              </a:ext>
            </a:extLst>
          </p:cNvPr>
          <p:cNvPicPr>
            <a:picLocks noGrp="1" noChangeAspect="1"/>
          </p:cNvPicPr>
          <p:nvPr>
            <p:ph type="pic" sz="quarter" idx="16"/>
          </p:nvPr>
        </p:nvPicPr>
        <p:blipFill>
          <a:blip r:embed="rId3"/>
          <a:srcRect l="9" r="9"/>
          <a:stretch/>
        </p:blipFill>
        <p:spPr>
          <a:xfrm>
            <a:off x="6149975" y="2332539"/>
            <a:ext cx="5203825" cy="3489325"/>
          </a:xfrm>
          <a:ln>
            <a:solidFill>
              <a:srgbClr val="000000"/>
            </a:solidFill>
          </a:ln>
        </p:spPr>
      </p:pic>
    </p:spTree>
    <p:extLst>
      <p:ext uri="{BB962C8B-B14F-4D97-AF65-F5344CB8AC3E}">
        <p14:creationId xmlns:p14="http://schemas.microsoft.com/office/powerpoint/2010/main" val="21077296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CCE02-D48C-3CCC-D10F-DF6E0595C233}"/>
              </a:ext>
            </a:extLst>
          </p:cNvPr>
          <p:cNvSpPr>
            <a:spLocks noGrp="1"/>
          </p:cNvSpPr>
          <p:nvPr>
            <p:ph type="title"/>
          </p:nvPr>
        </p:nvSpPr>
        <p:spPr>
          <a:xfrm>
            <a:off x="1365130" y="385193"/>
            <a:ext cx="9461740" cy="672105"/>
          </a:xfrm>
        </p:spPr>
        <p:txBody>
          <a:bodyPr/>
          <a:lstStyle/>
          <a:p>
            <a:r>
              <a:rPr lang="en-US" sz="3200" dirty="0"/>
              <a:t>11.1 Summary of Hypothesis Tests About a Population Variance</a:t>
            </a:r>
          </a:p>
        </p:txBody>
      </p:sp>
      <mc:AlternateContent xmlns:mc="http://schemas.openxmlformats.org/markup-compatibility/2006" xmlns:a14="http://schemas.microsoft.com/office/drawing/2010/main">
        <mc:Choice Requires="a14">
          <p:graphicFrame>
            <p:nvGraphicFramePr>
              <p:cNvPr id="4" name="Table 6">
                <a:extLst>
                  <a:ext uri="{FF2B5EF4-FFF2-40B4-BE49-F238E27FC236}">
                    <a16:creationId xmlns:a16="http://schemas.microsoft.com/office/drawing/2014/main" id="{ADD71645-0A73-C729-FA3B-DBBE91A57F6C}"/>
                  </a:ext>
                </a:extLst>
              </p:cNvPr>
              <p:cNvGraphicFramePr>
                <a:graphicFrameLocks noGrp="1"/>
              </p:cNvGraphicFramePr>
              <p:nvPr>
                <p:ph type="tbl" sz="quarter" idx="10"/>
              </p:nvPr>
            </p:nvGraphicFramePr>
            <p:xfrm>
              <a:off x="1106214" y="1751881"/>
              <a:ext cx="9979571" cy="4145915"/>
            </p:xfrm>
            <a:graphic>
              <a:graphicData uri="http://schemas.openxmlformats.org/drawingml/2006/table">
                <a:tbl>
                  <a:tblPr firstRow="1" bandRow="1">
                    <a:tableStyleId>{5C22544A-7EE6-4342-B048-85BDC9FD1C3A}</a:tableStyleId>
                  </a:tblPr>
                  <a:tblGrid>
                    <a:gridCol w="1836683">
                      <a:extLst>
                        <a:ext uri="{9D8B030D-6E8A-4147-A177-3AD203B41FA5}">
                          <a16:colId xmlns:a16="http://schemas.microsoft.com/office/drawing/2014/main" val="531627181"/>
                        </a:ext>
                      </a:extLst>
                    </a:gridCol>
                    <a:gridCol w="2714296">
                      <a:extLst>
                        <a:ext uri="{9D8B030D-6E8A-4147-A177-3AD203B41FA5}">
                          <a16:colId xmlns:a16="http://schemas.microsoft.com/office/drawing/2014/main" val="3045617659"/>
                        </a:ext>
                      </a:extLst>
                    </a:gridCol>
                    <a:gridCol w="2714296">
                      <a:extLst>
                        <a:ext uri="{9D8B030D-6E8A-4147-A177-3AD203B41FA5}">
                          <a16:colId xmlns:a16="http://schemas.microsoft.com/office/drawing/2014/main" val="816499844"/>
                        </a:ext>
                      </a:extLst>
                    </a:gridCol>
                    <a:gridCol w="2714296">
                      <a:extLst>
                        <a:ext uri="{9D8B030D-6E8A-4147-A177-3AD203B41FA5}">
                          <a16:colId xmlns:a16="http://schemas.microsoft.com/office/drawing/2014/main" val="1172697014"/>
                        </a:ext>
                      </a:extLst>
                    </a:gridCol>
                  </a:tblGrid>
                  <a:tr h="370840">
                    <a:tc>
                      <a:txBody>
                        <a:bodyPr/>
                        <a:lstStyle/>
                        <a:p>
                          <a:endParaRPr lang="en-US" sz="2000" b="1" dirty="0">
                            <a:solidFill>
                              <a:srgbClr val="000000"/>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Lower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Upper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Two-Tailed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30469303"/>
                      </a:ext>
                    </a:extLst>
                  </a:tr>
                  <a:tr h="370840">
                    <a:tc>
                      <a:txBody>
                        <a:bodyPr/>
                        <a:lstStyle/>
                        <a:p>
                          <a:pPr algn="l"/>
                          <a:r>
                            <a:rPr lang="en-US" sz="2000" b="1" dirty="0">
                              <a:solidFill>
                                <a:srgbClr val="000000"/>
                              </a:solidFill>
                            </a:rPr>
                            <a:t>Hypotheses</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0</m:t>
                                    </m:r>
                                  </m:sub>
                                </m:sSub>
                                <m:r>
                                  <a:rPr lang="en-US" sz="2000" b="0" i="1" smtClean="0">
                                    <a:solidFill>
                                      <a:srgbClr val="000000"/>
                                    </a:solidFill>
                                    <a:latin typeface="Cambria Math" panose="02040503050406030204" pitchFamily="18" charset="0"/>
                                  </a:rPr>
                                  <m:t>: </m:t>
                                </m:r>
                                <m:sSup>
                                  <m:sSupPr>
                                    <m:ctrlPr>
                                      <a:rPr lang="en-US" sz="2000" b="0" i="1" smtClean="0">
                                        <a:solidFill>
                                          <a:srgbClr val="000000"/>
                                        </a:solidFill>
                                        <a:latin typeface="Cambria Math" panose="02040503050406030204" pitchFamily="18" charset="0"/>
                                      </a:rPr>
                                    </m:ctrlPr>
                                  </m:sSupPr>
                                  <m:e>
                                    <m:r>
                                      <a:rPr lang="en-US" sz="2000" b="0" i="1" smtClean="0">
                                        <a:solidFill>
                                          <a:srgbClr val="000000"/>
                                        </a:solidFill>
                                        <a:latin typeface="Cambria Math" panose="02040503050406030204" pitchFamily="18" charset="0"/>
                                        <a:ea typeface="Cambria Math" panose="02040503050406030204" pitchFamily="18" charset="0"/>
                                      </a:rPr>
                                      <m:t>𝜎</m:t>
                                    </m:r>
                                  </m:e>
                                  <m:sup>
                                    <m:r>
                                      <a:rPr lang="en-US" sz="2000" b="0" i="1" smtClean="0">
                                        <a:solidFill>
                                          <a:srgbClr val="000000"/>
                                        </a:solidFill>
                                        <a:latin typeface="Cambria Math" panose="02040503050406030204" pitchFamily="18" charset="0"/>
                                      </a:rPr>
                                      <m:t>2</m:t>
                                    </m:r>
                                  </m:sup>
                                </m:sSup>
                                <m:r>
                                  <a:rPr lang="en-US" sz="2000" b="0" i="1" smtClean="0">
                                    <a:solidFill>
                                      <a:srgbClr val="000000"/>
                                    </a:solidFill>
                                    <a:latin typeface="Cambria Math" panose="02040503050406030204" pitchFamily="18" charset="0"/>
                                    <a:ea typeface="Cambria Math" panose="02040503050406030204" pitchFamily="18" charset="0"/>
                                  </a:rPr>
                                  <m:t>≥</m:t>
                                </m:r>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0</m:t>
                                    </m:r>
                                  </m:sub>
                                  <m:sup>
                                    <m:r>
                                      <a:rPr lang="en-US" sz="2000" b="0" i="1" smtClean="0">
                                        <a:solidFill>
                                          <a:srgbClr val="000000"/>
                                        </a:solidFill>
                                        <a:latin typeface="Cambria Math" panose="02040503050406030204" pitchFamily="18" charset="0"/>
                                        <a:ea typeface="Cambria Math" panose="02040503050406030204" pitchFamily="18" charset="0"/>
                                      </a:rPr>
                                      <m:t>2</m:t>
                                    </m:r>
                                  </m:sup>
                                </m:sSubSup>
                              </m:oMath>
                            </m:oMathPara>
                          </a14:m>
                          <a:endParaRPr lang="en-US" sz="2000" b="0"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𝑎</m:t>
                                    </m:r>
                                  </m:sub>
                                </m:sSub>
                                <m:r>
                                  <a:rPr lang="en-US" sz="2000" b="0" i="1" smtClean="0">
                                    <a:solidFill>
                                      <a:srgbClr val="000000"/>
                                    </a:solidFill>
                                    <a:latin typeface="Cambria Math" panose="02040503050406030204" pitchFamily="18" charset="0"/>
                                  </a:rPr>
                                  <m:t>: </m:t>
                                </m:r>
                                <m:sSup>
                                  <m:sSupPr>
                                    <m:ctrlPr>
                                      <a:rPr lang="en-US" sz="2000" b="0" i="1" smtClean="0">
                                        <a:solidFill>
                                          <a:srgbClr val="000000"/>
                                        </a:solidFill>
                                        <a:latin typeface="Cambria Math" panose="02040503050406030204" pitchFamily="18" charset="0"/>
                                      </a:rPr>
                                    </m:ctrlPr>
                                  </m:sSupPr>
                                  <m:e>
                                    <m:r>
                                      <a:rPr lang="en-US" sz="2000" b="0" i="1" smtClean="0">
                                        <a:solidFill>
                                          <a:srgbClr val="000000"/>
                                        </a:solidFill>
                                        <a:latin typeface="Cambria Math" panose="02040503050406030204" pitchFamily="18" charset="0"/>
                                        <a:ea typeface="Cambria Math" panose="02040503050406030204" pitchFamily="18" charset="0"/>
                                      </a:rPr>
                                      <m:t>𝜎</m:t>
                                    </m:r>
                                  </m:e>
                                  <m:sup>
                                    <m:r>
                                      <a:rPr lang="en-US" sz="2000" b="0" i="1" smtClean="0">
                                        <a:solidFill>
                                          <a:srgbClr val="000000"/>
                                        </a:solidFill>
                                        <a:latin typeface="Cambria Math" panose="02040503050406030204" pitchFamily="18" charset="0"/>
                                      </a:rPr>
                                      <m:t>2</m:t>
                                    </m:r>
                                  </m:sup>
                                </m:sSup>
                                <m:r>
                                  <a:rPr lang="en-US" sz="2000" b="0" i="1" smtClean="0">
                                    <a:solidFill>
                                      <a:srgbClr val="000000"/>
                                    </a:solidFill>
                                    <a:latin typeface="Cambria Math" panose="02040503050406030204" pitchFamily="18" charset="0"/>
                                    <a:ea typeface="Cambria Math" panose="02040503050406030204" pitchFamily="18" charset="0"/>
                                  </a:rPr>
                                  <m:t>&lt;</m:t>
                                </m:r>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0</m:t>
                                    </m:r>
                                  </m:sub>
                                  <m:sup>
                                    <m:r>
                                      <a:rPr lang="en-US" sz="2000" b="0" i="1" smtClean="0">
                                        <a:solidFill>
                                          <a:srgbClr val="000000"/>
                                        </a:solidFill>
                                        <a:latin typeface="Cambria Math" panose="02040503050406030204" pitchFamily="18" charset="0"/>
                                        <a:ea typeface="Cambria Math" panose="02040503050406030204" pitchFamily="18" charset="0"/>
                                      </a:rPr>
                                      <m:t>2</m:t>
                                    </m:r>
                                  </m:sup>
                                </m:sSubSup>
                              </m:oMath>
                            </m:oMathPara>
                          </a14:m>
                          <a:endParaRPr lang="en-US" sz="2000" b="0" dirty="0">
                            <a:solidFill>
                              <a:srgbClr val="000000"/>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0</m:t>
                                    </m:r>
                                  </m:sub>
                                </m:sSub>
                                <m:r>
                                  <a:rPr lang="en-US" sz="2000" b="0" i="1" smtClean="0">
                                    <a:solidFill>
                                      <a:srgbClr val="000000"/>
                                    </a:solidFill>
                                    <a:latin typeface="Cambria Math" panose="02040503050406030204" pitchFamily="18" charset="0"/>
                                  </a:rPr>
                                  <m:t>: </m:t>
                                </m:r>
                                <m:sSup>
                                  <m:sSupPr>
                                    <m:ctrlPr>
                                      <a:rPr lang="en-US" sz="2000" b="0" i="1" smtClean="0">
                                        <a:solidFill>
                                          <a:srgbClr val="000000"/>
                                        </a:solidFill>
                                        <a:latin typeface="Cambria Math" panose="02040503050406030204" pitchFamily="18" charset="0"/>
                                      </a:rPr>
                                    </m:ctrlPr>
                                  </m:sSupPr>
                                  <m:e>
                                    <m:r>
                                      <a:rPr lang="en-US" sz="2000" b="0" i="1" smtClean="0">
                                        <a:solidFill>
                                          <a:srgbClr val="000000"/>
                                        </a:solidFill>
                                        <a:latin typeface="Cambria Math" panose="02040503050406030204" pitchFamily="18" charset="0"/>
                                        <a:ea typeface="Cambria Math" panose="02040503050406030204" pitchFamily="18" charset="0"/>
                                      </a:rPr>
                                      <m:t>𝜎</m:t>
                                    </m:r>
                                  </m:e>
                                  <m:sup>
                                    <m:r>
                                      <a:rPr lang="en-US" sz="2000" b="0" i="1" smtClean="0">
                                        <a:solidFill>
                                          <a:srgbClr val="000000"/>
                                        </a:solidFill>
                                        <a:latin typeface="Cambria Math" panose="02040503050406030204" pitchFamily="18" charset="0"/>
                                      </a:rPr>
                                      <m:t>2</m:t>
                                    </m:r>
                                  </m:sup>
                                </m:sSup>
                                <m:r>
                                  <a:rPr lang="en-US" sz="2000" b="0" i="1" smtClean="0">
                                    <a:solidFill>
                                      <a:srgbClr val="000000"/>
                                    </a:solidFill>
                                    <a:latin typeface="Cambria Math" panose="02040503050406030204" pitchFamily="18" charset="0"/>
                                    <a:ea typeface="Cambria Math" panose="02040503050406030204" pitchFamily="18" charset="0"/>
                                  </a:rPr>
                                  <m:t>≤</m:t>
                                </m:r>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0</m:t>
                                    </m:r>
                                  </m:sub>
                                  <m:sup>
                                    <m:r>
                                      <a:rPr lang="en-US" sz="2000" b="0" i="1" smtClean="0">
                                        <a:solidFill>
                                          <a:srgbClr val="000000"/>
                                        </a:solidFill>
                                        <a:latin typeface="Cambria Math" panose="02040503050406030204" pitchFamily="18" charset="0"/>
                                        <a:ea typeface="Cambria Math" panose="02040503050406030204" pitchFamily="18" charset="0"/>
                                      </a:rPr>
                                      <m:t>2</m:t>
                                    </m:r>
                                  </m:sup>
                                </m:sSubSup>
                              </m:oMath>
                            </m:oMathPara>
                          </a14:m>
                          <a:endParaRPr lang="en-US" sz="2000" b="0"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𝑎</m:t>
                                    </m:r>
                                  </m:sub>
                                </m:sSub>
                                <m:r>
                                  <a:rPr lang="en-US" sz="2000" b="0" i="1" smtClean="0">
                                    <a:solidFill>
                                      <a:srgbClr val="000000"/>
                                    </a:solidFill>
                                    <a:latin typeface="Cambria Math" panose="02040503050406030204" pitchFamily="18" charset="0"/>
                                  </a:rPr>
                                  <m:t>:</m:t>
                                </m:r>
                                <m:sSup>
                                  <m:sSupPr>
                                    <m:ctrlPr>
                                      <a:rPr lang="en-US" sz="2000" b="0" i="1" smtClean="0">
                                        <a:solidFill>
                                          <a:srgbClr val="000000"/>
                                        </a:solidFill>
                                        <a:latin typeface="Cambria Math" panose="02040503050406030204" pitchFamily="18" charset="0"/>
                                      </a:rPr>
                                    </m:ctrlPr>
                                  </m:sSupPr>
                                  <m:e>
                                    <m:r>
                                      <a:rPr lang="en-US" sz="2000" b="0" i="1" smtClean="0">
                                        <a:solidFill>
                                          <a:srgbClr val="000000"/>
                                        </a:solidFill>
                                        <a:latin typeface="Cambria Math" panose="02040503050406030204" pitchFamily="18" charset="0"/>
                                      </a:rPr>
                                      <m:t> </m:t>
                                    </m:r>
                                    <m:r>
                                      <a:rPr lang="en-US" sz="2000" b="0" i="1" smtClean="0">
                                        <a:solidFill>
                                          <a:srgbClr val="000000"/>
                                        </a:solidFill>
                                        <a:latin typeface="Cambria Math" panose="02040503050406030204" pitchFamily="18" charset="0"/>
                                        <a:ea typeface="Cambria Math" panose="02040503050406030204" pitchFamily="18" charset="0"/>
                                      </a:rPr>
                                      <m:t>𝜎</m:t>
                                    </m:r>
                                  </m:e>
                                  <m:sup>
                                    <m:r>
                                      <a:rPr lang="en-US" sz="2000" b="0" i="1" smtClean="0">
                                        <a:solidFill>
                                          <a:srgbClr val="000000"/>
                                        </a:solidFill>
                                        <a:latin typeface="Cambria Math" panose="02040503050406030204" pitchFamily="18" charset="0"/>
                                      </a:rPr>
                                      <m:t>2</m:t>
                                    </m:r>
                                  </m:sup>
                                </m:sSup>
                                <m:r>
                                  <a:rPr lang="en-US" sz="2000" b="0" i="1" smtClean="0">
                                    <a:solidFill>
                                      <a:srgbClr val="000000"/>
                                    </a:solidFill>
                                    <a:latin typeface="Cambria Math" panose="02040503050406030204" pitchFamily="18" charset="0"/>
                                    <a:ea typeface="Cambria Math" panose="02040503050406030204" pitchFamily="18" charset="0"/>
                                  </a:rPr>
                                  <m:t>&gt;</m:t>
                                </m:r>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0</m:t>
                                    </m:r>
                                  </m:sub>
                                  <m:sup>
                                    <m:r>
                                      <a:rPr lang="en-US" sz="2000" b="0" i="1" smtClean="0">
                                        <a:solidFill>
                                          <a:srgbClr val="000000"/>
                                        </a:solidFill>
                                        <a:latin typeface="Cambria Math" panose="02040503050406030204" pitchFamily="18" charset="0"/>
                                        <a:ea typeface="Cambria Math" panose="02040503050406030204" pitchFamily="18" charset="0"/>
                                      </a:rPr>
                                      <m:t>2</m:t>
                                    </m:r>
                                  </m:sup>
                                </m:sSubSup>
                              </m:oMath>
                            </m:oMathPara>
                          </a14:m>
                          <a:endParaRPr lang="en-US" sz="2000" b="0" dirty="0">
                            <a:solidFill>
                              <a:srgbClr val="000000"/>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0</m:t>
                                    </m:r>
                                  </m:sub>
                                </m:sSub>
                                <m:r>
                                  <a:rPr lang="en-US" sz="2000" b="0" i="1" smtClean="0">
                                    <a:solidFill>
                                      <a:srgbClr val="000000"/>
                                    </a:solidFill>
                                    <a:latin typeface="Cambria Math" panose="02040503050406030204" pitchFamily="18" charset="0"/>
                                  </a:rPr>
                                  <m:t>: </m:t>
                                </m:r>
                                <m:sSup>
                                  <m:sSupPr>
                                    <m:ctrlPr>
                                      <a:rPr lang="en-US" sz="2000" b="0" i="1" smtClean="0">
                                        <a:solidFill>
                                          <a:srgbClr val="000000"/>
                                        </a:solidFill>
                                        <a:latin typeface="Cambria Math" panose="02040503050406030204" pitchFamily="18" charset="0"/>
                                      </a:rPr>
                                    </m:ctrlPr>
                                  </m:sSupPr>
                                  <m:e>
                                    <m:r>
                                      <a:rPr lang="en-US" sz="2000" b="0" i="1" smtClean="0">
                                        <a:solidFill>
                                          <a:srgbClr val="000000"/>
                                        </a:solidFill>
                                        <a:latin typeface="Cambria Math" panose="02040503050406030204" pitchFamily="18" charset="0"/>
                                        <a:ea typeface="Cambria Math" panose="02040503050406030204" pitchFamily="18" charset="0"/>
                                      </a:rPr>
                                      <m:t>𝜎</m:t>
                                    </m:r>
                                  </m:e>
                                  <m:sup>
                                    <m:r>
                                      <a:rPr lang="en-US" sz="2000" b="0" i="1" smtClean="0">
                                        <a:solidFill>
                                          <a:srgbClr val="000000"/>
                                        </a:solidFill>
                                        <a:latin typeface="Cambria Math" panose="02040503050406030204" pitchFamily="18" charset="0"/>
                                      </a:rPr>
                                      <m:t>2</m:t>
                                    </m:r>
                                  </m:sup>
                                </m:sSup>
                                <m:r>
                                  <a:rPr lang="en-US" sz="2000" b="0" i="1" smtClean="0">
                                    <a:solidFill>
                                      <a:srgbClr val="000000"/>
                                    </a:solidFill>
                                    <a:latin typeface="Cambria Math" panose="02040503050406030204" pitchFamily="18" charset="0"/>
                                    <a:ea typeface="Cambria Math" panose="02040503050406030204" pitchFamily="18" charset="0"/>
                                  </a:rPr>
                                  <m:t>=</m:t>
                                </m:r>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0</m:t>
                                    </m:r>
                                  </m:sub>
                                  <m:sup>
                                    <m:r>
                                      <a:rPr lang="en-US" sz="2000" b="0" i="1" smtClean="0">
                                        <a:solidFill>
                                          <a:srgbClr val="000000"/>
                                        </a:solidFill>
                                        <a:latin typeface="Cambria Math" panose="02040503050406030204" pitchFamily="18" charset="0"/>
                                        <a:ea typeface="Cambria Math" panose="02040503050406030204" pitchFamily="18" charset="0"/>
                                      </a:rPr>
                                      <m:t>2</m:t>
                                    </m:r>
                                  </m:sup>
                                </m:sSubSup>
                              </m:oMath>
                            </m:oMathPara>
                          </a14:m>
                          <a:endParaRPr lang="en-US" sz="2000" b="0"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𝑎</m:t>
                                    </m:r>
                                  </m:sub>
                                </m:sSub>
                                <m:r>
                                  <a:rPr lang="en-US" sz="2000" b="0" i="1" smtClean="0">
                                    <a:solidFill>
                                      <a:srgbClr val="000000"/>
                                    </a:solidFill>
                                    <a:latin typeface="Cambria Math" panose="02040503050406030204" pitchFamily="18" charset="0"/>
                                  </a:rPr>
                                  <m:t>: </m:t>
                                </m:r>
                                <m:sSup>
                                  <m:sSupPr>
                                    <m:ctrlPr>
                                      <a:rPr lang="en-US" sz="2000" b="0" i="1" smtClean="0">
                                        <a:solidFill>
                                          <a:srgbClr val="000000"/>
                                        </a:solidFill>
                                        <a:latin typeface="Cambria Math" panose="02040503050406030204" pitchFamily="18" charset="0"/>
                                      </a:rPr>
                                    </m:ctrlPr>
                                  </m:sSupPr>
                                  <m:e>
                                    <m:r>
                                      <a:rPr lang="en-US" sz="2000" b="0" i="1" smtClean="0">
                                        <a:solidFill>
                                          <a:srgbClr val="000000"/>
                                        </a:solidFill>
                                        <a:latin typeface="Cambria Math" panose="02040503050406030204" pitchFamily="18" charset="0"/>
                                        <a:ea typeface="Cambria Math" panose="02040503050406030204" pitchFamily="18" charset="0"/>
                                      </a:rPr>
                                      <m:t>𝜎</m:t>
                                    </m:r>
                                  </m:e>
                                  <m:sup>
                                    <m:r>
                                      <a:rPr lang="en-US" sz="2000" b="0" i="1" smtClean="0">
                                        <a:solidFill>
                                          <a:srgbClr val="000000"/>
                                        </a:solidFill>
                                        <a:latin typeface="Cambria Math" panose="02040503050406030204" pitchFamily="18" charset="0"/>
                                      </a:rPr>
                                      <m:t>2</m:t>
                                    </m:r>
                                  </m:sup>
                                </m:sSup>
                                <m:r>
                                  <a:rPr lang="en-US" sz="2000" b="0" i="1" smtClean="0">
                                    <a:solidFill>
                                      <a:srgbClr val="000000"/>
                                    </a:solidFill>
                                    <a:latin typeface="Cambria Math" panose="02040503050406030204" pitchFamily="18" charset="0"/>
                                    <a:ea typeface="Cambria Math" panose="02040503050406030204" pitchFamily="18" charset="0"/>
                                  </a:rPr>
                                  <m:t>≠</m:t>
                                </m:r>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0</m:t>
                                    </m:r>
                                  </m:sub>
                                  <m:sup>
                                    <m:r>
                                      <a:rPr lang="en-US" sz="2000" b="0" i="1" smtClean="0">
                                        <a:solidFill>
                                          <a:srgbClr val="000000"/>
                                        </a:solidFill>
                                        <a:latin typeface="Cambria Math" panose="02040503050406030204" pitchFamily="18" charset="0"/>
                                        <a:ea typeface="Cambria Math" panose="02040503050406030204" pitchFamily="18" charset="0"/>
                                      </a:rPr>
                                      <m:t>2</m:t>
                                    </m:r>
                                  </m:sup>
                                </m:sSubSup>
                              </m:oMath>
                            </m:oMathPara>
                          </a14:m>
                          <a:endParaRPr lang="en-US" sz="2000" b="0" dirty="0">
                            <a:solidFill>
                              <a:srgbClr val="000000"/>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649420473"/>
                      </a:ext>
                    </a:extLst>
                  </a:tr>
                  <a:tr h="914400">
                    <a:tc>
                      <a:txBody>
                        <a:bodyPr/>
                        <a:lstStyle/>
                        <a:p>
                          <a:pPr algn="l"/>
                          <a:r>
                            <a:rPr lang="en-US" sz="2000" b="1" dirty="0">
                              <a:solidFill>
                                <a:srgbClr val="000000"/>
                              </a:solidFill>
                            </a:rPr>
                            <a:t>Test Statistic</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sSup>
                                  <m:sSupPr>
                                    <m:ctrlPr>
                                      <a:rPr lang="en-US" sz="2000" b="0" i="1" smtClean="0">
                                        <a:solidFill>
                                          <a:srgbClr val="000000"/>
                                        </a:solidFill>
                                        <a:latin typeface="Cambria Math" panose="02040503050406030204" pitchFamily="18" charset="0"/>
                                      </a:rPr>
                                    </m:ctrlPr>
                                  </m:sSupPr>
                                  <m:e>
                                    <m:r>
                                      <a:rPr lang="el-GR" sz="2000" b="0" i="1" smtClean="0">
                                        <a:solidFill>
                                          <a:srgbClr val="000000"/>
                                        </a:solidFill>
                                        <a:latin typeface="Cambria Math" panose="02040503050406030204" pitchFamily="18" charset="0"/>
                                        <a:ea typeface="Cambria Math" panose="02040503050406030204" pitchFamily="18" charset="0"/>
                                      </a:rPr>
                                      <m:t>𝛸</m:t>
                                    </m:r>
                                  </m:e>
                                  <m:sup>
                                    <m:r>
                                      <a:rPr lang="en-US" sz="2000" b="0" i="1" smtClean="0">
                                        <a:solidFill>
                                          <a:srgbClr val="000000"/>
                                        </a:solidFill>
                                        <a:latin typeface="Cambria Math" panose="02040503050406030204" pitchFamily="18" charset="0"/>
                                      </a:rPr>
                                      <m:t>2</m:t>
                                    </m:r>
                                  </m:sup>
                                </m:sSup>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d>
                                      <m:dPr>
                                        <m:ctrlPr>
                                          <a:rPr lang="en-US" sz="2000" b="0" i="1" smtClean="0">
                                            <a:solidFill>
                                              <a:srgbClr val="000000"/>
                                            </a:solidFill>
                                            <a:latin typeface="Cambria Math" panose="02040503050406030204" pitchFamily="18" charset="0"/>
                                          </a:rPr>
                                        </m:ctrlPr>
                                      </m:dPr>
                                      <m:e>
                                        <m:r>
                                          <a:rPr lang="en-US" sz="2000" b="0" i="1" smtClean="0">
                                            <a:solidFill>
                                              <a:srgbClr val="000000"/>
                                            </a:solidFill>
                                            <a:latin typeface="Cambria Math" panose="02040503050406030204" pitchFamily="18" charset="0"/>
                                          </a:rPr>
                                          <m:t>𝑛</m:t>
                                        </m:r>
                                        <m:r>
                                          <a:rPr lang="en-US" sz="2000" b="0" i="1" smtClean="0">
                                            <a:solidFill>
                                              <a:srgbClr val="000000"/>
                                            </a:solidFill>
                                            <a:latin typeface="Cambria Math" panose="02040503050406030204" pitchFamily="18" charset="0"/>
                                          </a:rPr>
                                          <m:t>−1</m:t>
                                        </m:r>
                                      </m:e>
                                    </m:d>
                                    <m:sSup>
                                      <m:sSupPr>
                                        <m:ctrlPr>
                                          <a:rPr lang="en-US" sz="2000" b="0" i="1" smtClean="0">
                                            <a:solidFill>
                                              <a:srgbClr val="000000"/>
                                            </a:solidFill>
                                            <a:latin typeface="Cambria Math" panose="02040503050406030204" pitchFamily="18" charset="0"/>
                                          </a:rPr>
                                        </m:ctrlPr>
                                      </m:sSupPr>
                                      <m:e>
                                        <m:r>
                                          <a:rPr lang="en-US" sz="2000" b="0" i="1" smtClean="0">
                                            <a:solidFill>
                                              <a:srgbClr val="000000"/>
                                            </a:solidFill>
                                            <a:latin typeface="Cambria Math" panose="02040503050406030204" pitchFamily="18" charset="0"/>
                                          </a:rPr>
                                          <m:t>𝑠</m:t>
                                        </m:r>
                                      </m:e>
                                      <m:sup>
                                        <m:r>
                                          <a:rPr lang="en-US" sz="2000" b="0" i="1" smtClean="0">
                                            <a:solidFill>
                                              <a:srgbClr val="000000"/>
                                            </a:solidFill>
                                            <a:latin typeface="Cambria Math" panose="02040503050406030204" pitchFamily="18" charset="0"/>
                                          </a:rPr>
                                          <m:t>2</m:t>
                                        </m:r>
                                      </m:sup>
                                    </m:sSup>
                                  </m:num>
                                  <m:den>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0</m:t>
                                        </m:r>
                                      </m:sub>
                                      <m:sup>
                                        <m:r>
                                          <a:rPr lang="en-US" sz="2000" b="0" i="1" smtClean="0">
                                            <a:solidFill>
                                              <a:srgbClr val="000000"/>
                                            </a:solidFill>
                                            <a:latin typeface="Cambria Math" panose="02040503050406030204" pitchFamily="18" charset="0"/>
                                            <a:ea typeface="Cambria Math" panose="02040503050406030204" pitchFamily="18" charset="0"/>
                                          </a:rPr>
                                          <m:t>2</m:t>
                                        </m:r>
                                      </m:sup>
                                    </m:sSubSup>
                                  </m:den>
                                </m:f>
                              </m:oMath>
                            </m:oMathPara>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sSup>
                                  <m:sSupPr>
                                    <m:ctrlPr>
                                      <a:rPr lang="en-US" sz="2000" b="0" i="1" smtClean="0">
                                        <a:solidFill>
                                          <a:srgbClr val="000000"/>
                                        </a:solidFill>
                                        <a:latin typeface="Cambria Math" panose="02040503050406030204" pitchFamily="18" charset="0"/>
                                      </a:rPr>
                                    </m:ctrlPr>
                                  </m:sSupPr>
                                  <m:e>
                                    <m:r>
                                      <a:rPr lang="el-GR" sz="2000" b="0" i="1" smtClean="0">
                                        <a:solidFill>
                                          <a:srgbClr val="000000"/>
                                        </a:solidFill>
                                        <a:latin typeface="Cambria Math" panose="02040503050406030204" pitchFamily="18" charset="0"/>
                                        <a:ea typeface="Cambria Math" panose="02040503050406030204" pitchFamily="18" charset="0"/>
                                      </a:rPr>
                                      <m:t>𝛸</m:t>
                                    </m:r>
                                  </m:e>
                                  <m:sup>
                                    <m:r>
                                      <a:rPr lang="en-US" sz="2000" b="0" i="1" smtClean="0">
                                        <a:solidFill>
                                          <a:srgbClr val="000000"/>
                                        </a:solidFill>
                                        <a:latin typeface="Cambria Math" panose="02040503050406030204" pitchFamily="18" charset="0"/>
                                      </a:rPr>
                                      <m:t>2</m:t>
                                    </m:r>
                                  </m:sup>
                                </m:sSup>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d>
                                      <m:dPr>
                                        <m:ctrlPr>
                                          <a:rPr lang="en-US" sz="2000" b="0" i="1" smtClean="0">
                                            <a:solidFill>
                                              <a:srgbClr val="000000"/>
                                            </a:solidFill>
                                            <a:latin typeface="Cambria Math" panose="02040503050406030204" pitchFamily="18" charset="0"/>
                                          </a:rPr>
                                        </m:ctrlPr>
                                      </m:dPr>
                                      <m:e>
                                        <m:r>
                                          <a:rPr lang="en-US" sz="2000" b="0" i="1" smtClean="0">
                                            <a:solidFill>
                                              <a:srgbClr val="000000"/>
                                            </a:solidFill>
                                            <a:latin typeface="Cambria Math" panose="02040503050406030204" pitchFamily="18" charset="0"/>
                                          </a:rPr>
                                          <m:t>𝑛</m:t>
                                        </m:r>
                                        <m:r>
                                          <a:rPr lang="en-US" sz="2000" b="0" i="1" smtClean="0">
                                            <a:solidFill>
                                              <a:srgbClr val="000000"/>
                                            </a:solidFill>
                                            <a:latin typeface="Cambria Math" panose="02040503050406030204" pitchFamily="18" charset="0"/>
                                          </a:rPr>
                                          <m:t>−1</m:t>
                                        </m:r>
                                      </m:e>
                                    </m:d>
                                    <m:sSup>
                                      <m:sSupPr>
                                        <m:ctrlPr>
                                          <a:rPr lang="en-US" sz="2000" b="0" i="1" smtClean="0">
                                            <a:solidFill>
                                              <a:srgbClr val="000000"/>
                                            </a:solidFill>
                                            <a:latin typeface="Cambria Math" panose="02040503050406030204" pitchFamily="18" charset="0"/>
                                          </a:rPr>
                                        </m:ctrlPr>
                                      </m:sSupPr>
                                      <m:e>
                                        <m:r>
                                          <a:rPr lang="en-US" sz="2000" b="0" i="1" smtClean="0">
                                            <a:solidFill>
                                              <a:srgbClr val="000000"/>
                                            </a:solidFill>
                                            <a:latin typeface="Cambria Math" panose="02040503050406030204" pitchFamily="18" charset="0"/>
                                          </a:rPr>
                                          <m:t>𝑠</m:t>
                                        </m:r>
                                      </m:e>
                                      <m:sup>
                                        <m:r>
                                          <a:rPr lang="en-US" sz="2000" b="0" i="1" smtClean="0">
                                            <a:solidFill>
                                              <a:srgbClr val="000000"/>
                                            </a:solidFill>
                                            <a:latin typeface="Cambria Math" panose="02040503050406030204" pitchFamily="18" charset="0"/>
                                          </a:rPr>
                                          <m:t>2</m:t>
                                        </m:r>
                                      </m:sup>
                                    </m:sSup>
                                  </m:num>
                                  <m:den>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0</m:t>
                                        </m:r>
                                      </m:sub>
                                      <m:sup>
                                        <m:r>
                                          <a:rPr lang="en-US" sz="2000" b="0" i="1" smtClean="0">
                                            <a:solidFill>
                                              <a:srgbClr val="000000"/>
                                            </a:solidFill>
                                            <a:latin typeface="Cambria Math" panose="02040503050406030204" pitchFamily="18" charset="0"/>
                                            <a:ea typeface="Cambria Math" panose="02040503050406030204" pitchFamily="18" charset="0"/>
                                          </a:rPr>
                                          <m:t>2</m:t>
                                        </m:r>
                                      </m:sup>
                                    </m:sSubSup>
                                  </m:den>
                                </m:f>
                              </m:oMath>
                            </m:oMathPara>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sSup>
                                  <m:sSupPr>
                                    <m:ctrlPr>
                                      <a:rPr lang="en-US" sz="2000" b="0" i="1" smtClean="0">
                                        <a:solidFill>
                                          <a:srgbClr val="000000"/>
                                        </a:solidFill>
                                        <a:latin typeface="Cambria Math" panose="02040503050406030204" pitchFamily="18" charset="0"/>
                                      </a:rPr>
                                    </m:ctrlPr>
                                  </m:sSupPr>
                                  <m:e>
                                    <m:r>
                                      <a:rPr lang="el-GR" sz="2000" b="0" i="1" smtClean="0">
                                        <a:solidFill>
                                          <a:srgbClr val="000000"/>
                                        </a:solidFill>
                                        <a:latin typeface="Cambria Math" panose="02040503050406030204" pitchFamily="18" charset="0"/>
                                        <a:ea typeface="Cambria Math" panose="02040503050406030204" pitchFamily="18" charset="0"/>
                                      </a:rPr>
                                      <m:t>𝛸</m:t>
                                    </m:r>
                                  </m:e>
                                  <m:sup>
                                    <m:r>
                                      <a:rPr lang="en-US" sz="2000" b="0" i="1" smtClean="0">
                                        <a:solidFill>
                                          <a:srgbClr val="000000"/>
                                        </a:solidFill>
                                        <a:latin typeface="Cambria Math" panose="02040503050406030204" pitchFamily="18" charset="0"/>
                                      </a:rPr>
                                      <m:t>2</m:t>
                                    </m:r>
                                  </m:sup>
                                </m:sSup>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d>
                                      <m:dPr>
                                        <m:ctrlPr>
                                          <a:rPr lang="en-US" sz="2000" b="0" i="1" smtClean="0">
                                            <a:solidFill>
                                              <a:srgbClr val="000000"/>
                                            </a:solidFill>
                                            <a:latin typeface="Cambria Math" panose="02040503050406030204" pitchFamily="18" charset="0"/>
                                          </a:rPr>
                                        </m:ctrlPr>
                                      </m:dPr>
                                      <m:e>
                                        <m:r>
                                          <a:rPr lang="en-US" sz="2000" b="0" i="1" smtClean="0">
                                            <a:solidFill>
                                              <a:srgbClr val="000000"/>
                                            </a:solidFill>
                                            <a:latin typeface="Cambria Math" panose="02040503050406030204" pitchFamily="18" charset="0"/>
                                          </a:rPr>
                                          <m:t>𝑛</m:t>
                                        </m:r>
                                        <m:r>
                                          <a:rPr lang="en-US" sz="2000" b="0" i="1" smtClean="0">
                                            <a:solidFill>
                                              <a:srgbClr val="000000"/>
                                            </a:solidFill>
                                            <a:latin typeface="Cambria Math" panose="02040503050406030204" pitchFamily="18" charset="0"/>
                                          </a:rPr>
                                          <m:t>−1</m:t>
                                        </m:r>
                                      </m:e>
                                    </m:d>
                                    <m:sSup>
                                      <m:sSupPr>
                                        <m:ctrlPr>
                                          <a:rPr lang="en-US" sz="2000" b="0" i="1" smtClean="0">
                                            <a:solidFill>
                                              <a:srgbClr val="000000"/>
                                            </a:solidFill>
                                            <a:latin typeface="Cambria Math" panose="02040503050406030204" pitchFamily="18" charset="0"/>
                                          </a:rPr>
                                        </m:ctrlPr>
                                      </m:sSupPr>
                                      <m:e>
                                        <m:r>
                                          <a:rPr lang="en-US" sz="2000" b="0" i="1" smtClean="0">
                                            <a:solidFill>
                                              <a:srgbClr val="000000"/>
                                            </a:solidFill>
                                            <a:latin typeface="Cambria Math" panose="02040503050406030204" pitchFamily="18" charset="0"/>
                                          </a:rPr>
                                          <m:t>𝑠</m:t>
                                        </m:r>
                                      </m:e>
                                      <m:sup>
                                        <m:r>
                                          <a:rPr lang="en-US" sz="2000" b="0" i="1" smtClean="0">
                                            <a:solidFill>
                                              <a:srgbClr val="000000"/>
                                            </a:solidFill>
                                            <a:latin typeface="Cambria Math" panose="02040503050406030204" pitchFamily="18" charset="0"/>
                                          </a:rPr>
                                          <m:t>2</m:t>
                                        </m:r>
                                      </m:sup>
                                    </m:sSup>
                                  </m:num>
                                  <m:den>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0</m:t>
                                        </m:r>
                                      </m:sub>
                                      <m:sup>
                                        <m:r>
                                          <a:rPr lang="en-US" sz="2000" b="0" i="1" smtClean="0">
                                            <a:solidFill>
                                              <a:srgbClr val="000000"/>
                                            </a:solidFill>
                                            <a:latin typeface="Cambria Math" panose="02040503050406030204" pitchFamily="18" charset="0"/>
                                            <a:ea typeface="Cambria Math" panose="02040503050406030204" pitchFamily="18" charset="0"/>
                                          </a:rPr>
                                          <m:t>2</m:t>
                                        </m:r>
                                      </m:sup>
                                    </m:sSubSup>
                                  </m:den>
                                </m:f>
                              </m:oMath>
                            </m:oMathPara>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807792594"/>
                      </a:ext>
                    </a:extLst>
                  </a:tr>
                  <a:tr h="370840">
                    <a:tc>
                      <a:txBody>
                        <a:bodyPr/>
                        <a:lstStyle/>
                        <a:p>
                          <a:pPr marL="228600" indent="-228600" algn="l"/>
                          <a:r>
                            <a:rPr lang="en-US" sz="2000" b="1" dirty="0">
                              <a:solidFill>
                                <a:srgbClr val="000000"/>
                              </a:solidFill>
                            </a:rPr>
                            <a:t>Rejection Rule: </a:t>
                          </a:r>
                          <a:r>
                            <a:rPr lang="en-US" sz="2000" b="1" i="1" dirty="0">
                              <a:solidFill>
                                <a:srgbClr val="000000"/>
                              </a:solidFill>
                            </a:rPr>
                            <a:t>p</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algn="ctr"/>
                          <a:r>
                            <a:rPr lang="en-US" sz="2000" b="0" i="1" dirty="0">
                              <a:solidFill>
                                <a:srgbClr val="000000"/>
                              </a:solidFill>
                              <a:latin typeface="Cambria Math" panose="02040503050406030204" pitchFamily="18" charset="0"/>
                              <a:ea typeface="Cambria Math" panose="02040503050406030204" pitchFamily="18" charset="0"/>
                            </a:rPr>
                            <a:t>p</a:t>
                          </a:r>
                          <a:r>
                            <a:rPr lang="en-US" sz="2000" b="0" i="0" dirty="0">
                              <a:solidFill>
                                <a:srgbClr val="000000"/>
                              </a:solidFill>
                              <a:latin typeface="Cambria Math" panose="02040503050406030204" pitchFamily="18" charset="0"/>
                              <a:ea typeface="Cambria Math" panose="02040503050406030204" pitchFamily="18" charset="0"/>
                            </a:rPr>
                            <a:t>-</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dirty="0">
                              <a:solidFill>
                                <a:srgbClr val="000000"/>
                              </a:solidFill>
                              <a:latin typeface="+mj-lt"/>
                              <a:cs typeface="Arial" panose="020B0604020202020204" pitchFamily="34" charset="0"/>
                            </a:rPr>
                            <a:t>α</a:t>
                          </a:r>
                          <a:endParaRPr lang="en-US" sz="2000" b="0" i="1" dirty="0">
                            <a:solidFill>
                              <a:srgbClr val="000000"/>
                            </a:solidFill>
                            <a:latin typeface="+mj-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343589073"/>
                      </a:ext>
                    </a:extLst>
                  </a:tr>
                  <a:tr h="370840">
                    <a:tc>
                      <a:txBody>
                        <a:bodyPr/>
                        <a:lstStyle/>
                        <a:p>
                          <a:pPr marL="173038" indent="-173038" algn="l"/>
                          <a:r>
                            <a:rPr lang="en-US" sz="2000" b="1" dirty="0">
                              <a:solidFill>
                                <a:srgbClr val="000000"/>
                              </a:solidFill>
                            </a:rPr>
                            <a:t>Rejection Rule: </a:t>
                          </a:r>
                          <a:r>
                            <a:rPr lang="en-US" sz="2000" b="1" i="0" dirty="0">
                              <a:solidFill>
                                <a:srgbClr val="000000"/>
                              </a:solidFill>
                            </a:rPr>
                            <a:t>Critical </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algn="ctr"/>
                          <a14:m>
                            <m:oMath xmlns:m="http://schemas.openxmlformats.org/officeDocument/2006/math">
                              <m:sSup>
                                <m:sSupPr>
                                  <m:ctrlPr>
                                    <a:rPr lang="en-US" sz="2000" b="0" i="1" smtClean="0">
                                      <a:solidFill>
                                        <a:srgbClr val="000000"/>
                                      </a:solidFill>
                                      <a:latin typeface="Cambria Math" panose="02040503050406030204" pitchFamily="18" charset="0"/>
                                    </a:rPr>
                                  </m:ctrlPr>
                                </m:sSupPr>
                                <m:e>
                                  <m:r>
                                    <a:rPr lang="el-GR" sz="2000" b="0" i="1" smtClean="0">
                                      <a:solidFill>
                                        <a:srgbClr val="000000"/>
                                      </a:solidFill>
                                      <a:latin typeface="Cambria Math" panose="02040503050406030204" pitchFamily="18" charset="0"/>
                                      <a:ea typeface="Cambria Math" panose="02040503050406030204" pitchFamily="18" charset="0"/>
                                    </a:rPr>
                                    <m:t>𝛸</m:t>
                                  </m:r>
                                </m:e>
                                <m:sup>
                                  <m:r>
                                    <a:rPr lang="en-US" sz="2000" b="0" i="1" smtClean="0">
                                      <a:solidFill>
                                        <a:srgbClr val="000000"/>
                                      </a:solidFill>
                                      <a:latin typeface="Cambria Math" panose="02040503050406030204" pitchFamily="18" charset="0"/>
                                    </a:rPr>
                                    <m:t>2</m:t>
                                  </m:r>
                                </m:sup>
                              </m:sSup>
                            </m:oMath>
                          </a14:m>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a:t>
                          </a:r>
                          <a14:m>
                            <m:oMath xmlns:m="http://schemas.openxmlformats.org/officeDocument/2006/math">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l-GR" sz="2000" b="0" i="1" smtClean="0">
                                      <a:solidFill>
                                        <a:srgbClr val="000000"/>
                                      </a:solidFill>
                                      <a:latin typeface="Cambria Math" panose="02040503050406030204" pitchFamily="18" charset="0"/>
                                      <a:ea typeface="Cambria Math" panose="02040503050406030204" pitchFamily="18" charset="0"/>
                                    </a:rPr>
                                    <m:t>𝛸</m:t>
                                  </m:r>
                                </m:e>
                                <m:sub>
                                  <m:r>
                                    <a:rPr lang="en-US" sz="2000" b="0" i="1" smtClean="0">
                                      <a:solidFill>
                                        <a:srgbClr val="000000"/>
                                      </a:solidFill>
                                      <a:latin typeface="Cambria Math" panose="02040503050406030204" pitchFamily="18" charset="0"/>
                                      <a:ea typeface="Cambria Math" panose="02040503050406030204" pitchFamily="18" charset="0"/>
                                    </a:rPr>
                                    <m:t>1−</m:t>
                                  </m:r>
                                  <m:r>
                                    <a:rPr lang="en-US" sz="2000" b="0" i="1" smtClean="0">
                                      <a:solidFill>
                                        <a:srgbClr val="000000"/>
                                      </a:solidFill>
                                      <a:latin typeface="Cambria Math" panose="02040503050406030204" pitchFamily="18" charset="0"/>
                                      <a:ea typeface="Cambria Math" panose="02040503050406030204" pitchFamily="18" charset="0"/>
                                    </a:rPr>
                                    <m:t>𝛼</m:t>
                                  </m:r>
                                </m:sub>
                                <m:sup>
                                  <m:r>
                                    <a:rPr lang="en-US" sz="2000" b="0" i="1" smtClean="0">
                                      <a:solidFill>
                                        <a:srgbClr val="000000"/>
                                      </a:solidFill>
                                      <a:latin typeface="Cambria Math" panose="02040503050406030204" pitchFamily="18" charset="0"/>
                                      <a:ea typeface="Cambria Math" panose="02040503050406030204" pitchFamily="18" charset="0"/>
                                    </a:rPr>
                                    <m:t>2</m:t>
                                  </m:r>
                                </m:sup>
                              </m:sSubSup>
                            </m:oMath>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lang="en-US" sz="2000" b="0" i="1" smtClean="0">
                                      <a:solidFill>
                                        <a:srgbClr val="000000"/>
                                      </a:solidFill>
                                      <a:latin typeface="Cambria Math" panose="02040503050406030204" pitchFamily="18" charset="0"/>
                                    </a:rPr>
                                  </m:ctrlPr>
                                </m:sSupPr>
                                <m:e>
                                  <m:r>
                                    <a:rPr lang="el-GR" sz="2000" b="0" i="1" smtClean="0">
                                      <a:solidFill>
                                        <a:srgbClr val="000000"/>
                                      </a:solidFill>
                                      <a:latin typeface="Cambria Math" panose="02040503050406030204" pitchFamily="18" charset="0"/>
                                      <a:ea typeface="Cambria Math" panose="02040503050406030204" pitchFamily="18" charset="0"/>
                                    </a:rPr>
                                    <m:t>𝛸</m:t>
                                  </m:r>
                                </m:e>
                                <m:sup>
                                  <m:r>
                                    <a:rPr lang="en-US" sz="2000" b="0" i="1" smtClean="0">
                                      <a:solidFill>
                                        <a:srgbClr val="000000"/>
                                      </a:solidFill>
                                      <a:latin typeface="Cambria Math" panose="02040503050406030204" pitchFamily="18" charset="0"/>
                                    </a:rPr>
                                    <m:t>2</m:t>
                                  </m:r>
                                </m:sup>
                              </m:sSup>
                            </m:oMath>
                          </a14:m>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a:t>
                          </a:r>
                          <a14:m>
                            <m:oMath xmlns:m="http://schemas.openxmlformats.org/officeDocument/2006/math">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l-GR" sz="2000" b="0" i="1" smtClean="0">
                                      <a:solidFill>
                                        <a:srgbClr val="000000"/>
                                      </a:solidFill>
                                      <a:latin typeface="Cambria Math" panose="02040503050406030204" pitchFamily="18" charset="0"/>
                                      <a:ea typeface="Cambria Math" panose="02040503050406030204" pitchFamily="18" charset="0"/>
                                    </a:rPr>
                                    <m:t>𝛸</m:t>
                                  </m:r>
                                </m:e>
                                <m:sub>
                                  <m:r>
                                    <a:rPr lang="en-US" sz="2000" b="0" i="1" smtClean="0">
                                      <a:solidFill>
                                        <a:srgbClr val="000000"/>
                                      </a:solidFill>
                                      <a:latin typeface="Cambria Math" panose="02040503050406030204" pitchFamily="18" charset="0"/>
                                      <a:ea typeface="Cambria Math" panose="02040503050406030204" pitchFamily="18" charset="0"/>
                                    </a:rPr>
                                    <m:t>𝛼</m:t>
                                  </m:r>
                                </m:sub>
                                <m:sup>
                                  <m:r>
                                    <a:rPr lang="en-US" sz="2000" b="0" i="1" smtClean="0">
                                      <a:solidFill>
                                        <a:srgbClr val="000000"/>
                                      </a:solidFill>
                                      <a:latin typeface="Cambria Math" panose="02040503050406030204" pitchFamily="18" charset="0"/>
                                      <a:ea typeface="Cambria Math" panose="02040503050406030204" pitchFamily="18" charset="0"/>
                                    </a:rPr>
                                    <m:t>2</m:t>
                                  </m:r>
                                </m:sup>
                              </m:sSubSup>
                            </m:oMath>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lang="en-US" sz="2000" b="0" i="1" smtClean="0">
                                      <a:solidFill>
                                        <a:srgbClr val="000000"/>
                                      </a:solidFill>
                                      <a:latin typeface="Cambria Math" panose="02040503050406030204" pitchFamily="18" charset="0"/>
                                    </a:rPr>
                                  </m:ctrlPr>
                                </m:sSupPr>
                                <m:e>
                                  <m:r>
                                    <a:rPr lang="el-GR" sz="2000" b="0" i="1" smtClean="0">
                                      <a:solidFill>
                                        <a:srgbClr val="000000"/>
                                      </a:solidFill>
                                      <a:latin typeface="Cambria Math" panose="02040503050406030204" pitchFamily="18" charset="0"/>
                                      <a:ea typeface="Cambria Math" panose="02040503050406030204" pitchFamily="18" charset="0"/>
                                    </a:rPr>
                                    <m:t>𝛸</m:t>
                                  </m:r>
                                </m:e>
                                <m:sup>
                                  <m:r>
                                    <a:rPr lang="en-US" sz="2000" b="0" i="1" smtClean="0">
                                      <a:solidFill>
                                        <a:srgbClr val="000000"/>
                                      </a:solidFill>
                                      <a:latin typeface="Cambria Math" panose="02040503050406030204" pitchFamily="18" charset="0"/>
                                    </a:rPr>
                                    <m:t>2</m:t>
                                  </m:r>
                                </m:sup>
                              </m:sSup>
                            </m:oMath>
                          </a14:m>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a:t>
                          </a:r>
                          <a14:m>
                            <m:oMath xmlns:m="http://schemas.openxmlformats.org/officeDocument/2006/math">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l-GR" sz="2000" b="0" i="1" smtClean="0">
                                      <a:solidFill>
                                        <a:srgbClr val="000000"/>
                                      </a:solidFill>
                                      <a:latin typeface="Cambria Math" panose="02040503050406030204" pitchFamily="18" charset="0"/>
                                      <a:ea typeface="Cambria Math" panose="02040503050406030204" pitchFamily="18" charset="0"/>
                                    </a:rPr>
                                    <m:t>𝛸</m:t>
                                  </m:r>
                                </m:e>
                                <m:sub>
                                  <m:r>
                                    <a:rPr lang="en-US" sz="2000" b="0" i="1" smtClean="0">
                                      <a:solidFill>
                                        <a:srgbClr val="000000"/>
                                      </a:solidFill>
                                      <a:latin typeface="Cambria Math" panose="02040503050406030204" pitchFamily="18" charset="0"/>
                                      <a:ea typeface="Cambria Math" panose="02040503050406030204" pitchFamily="18" charset="0"/>
                                    </a:rPr>
                                    <m:t>1−</m:t>
                                  </m:r>
                                  <m:f>
                                    <m:fPr>
                                      <m:type m:val="lin"/>
                                      <m:ctrlPr>
                                        <a:rPr lang="en-US" sz="2000" b="0" i="1" smtClean="0">
                                          <a:solidFill>
                                            <a:srgbClr val="000000"/>
                                          </a:solidFill>
                                          <a:latin typeface="Cambria Math" panose="02040503050406030204" pitchFamily="18" charset="0"/>
                                          <a:ea typeface="Cambria Math" panose="02040503050406030204" pitchFamily="18" charset="0"/>
                                        </a:rPr>
                                      </m:ctrlPr>
                                    </m:fPr>
                                    <m:num>
                                      <m:r>
                                        <a:rPr lang="en-US" sz="2000" b="0" i="1" smtClean="0">
                                          <a:solidFill>
                                            <a:srgbClr val="000000"/>
                                          </a:solidFill>
                                          <a:latin typeface="Cambria Math" panose="02040503050406030204" pitchFamily="18" charset="0"/>
                                          <a:ea typeface="Cambria Math" panose="02040503050406030204" pitchFamily="18" charset="0"/>
                                        </a:rPr>
                                        <m:t>𝛼</m:t>
                                      </m:r>
                                    </m:num>
                                    <m:den>
                                      <m:r>
                                        <a:rPr lang="en-US" sz="2000" b="0" i="1" smtClean="0">
                                          <a:solidFill>
                                            <a:srgbClr val="000000"/>
                                          </a:solidFill>
                                          <a:latin typeface="Cambria Math" panose="02040503050406030204" pitchFamily="18" charset="0"/>
                                          <a:ea typeface="Cambria Math" panose="02040503050406030204" pitchFamily="18" charset="0"/>
                                        </a:rPr>
                                        <m:t>2</m:t>
                                      </m:r>
                                    </m:den>
                                  </m:f>
                                </m:sub>
                                <m:sup>
                                  <m:r>
                                    <a:rPr lang="en-US" sz="2000" b="0" i="1" smtClean="0">
                                      <a:solidFill>
                                        <a:srgbClr val="000000"/>
                                      </a:solidFill>
                                      <a:latin typeface="Cambria Math" panose="02040503050406030204" pitchFamily="18" charset="0"/>
                                      <a:ea typeface="Cambria Math" panose="02040503050406030204" pitchFamily="18" charset="0"/>
                                    </a:rPr>
                                    <m:t>2</m:t>
                                  </m:r>
                                </m:sup>
                              </m:sSubSup>
                            </m:oMath>
                          </a14:m>
                          <a:endParaRPr lang="en-US" sz="2000" b="0" dirty="0">
                            <a:solidFill>
                              <a:srgbClr val="000000"/>
                            </a:solidFil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rPr>
                            <a:t>or </a:t>
                          </a:r>
                          <a14:m>
                            <m:oMath xmlns:m="http://schemas.openxmlformats.org/officeDocument/2006/math">
                              <m:sSup>
                                <m:sSupPr>
                                  <m:ctrlPr>
                                    <a:rPr lang="en-US" sz="2000" b="0" i="1" smtClean="0">
                                      <a:solidFill>
                                        <a:srgbClr val="000000"/>
                                      </a:solidFill>
                                      <a:latin typeface="Cambria Math" panose="02040503050406030204" pitchFamily="18" charset="0"/>
                                    </a:rPr>
                                  </m:ctrlPr>
                                </m:sSupPr>
                                <m:e>
                                  <m:r>
                                    <a:rPr lang="el-GR" sz="2000" b="0" i="1" smtClean="0">
                                      <a:solidFill>
                                        <a:srgbClr val="000000"/>
                                      </a:solidFill>
                                      <a:latin typeface="Cambria Math" panose="02040503050406030204" pitchFamily="18" charset="0"/>
                                      <a:ea typeface="Cambria Math" panose="02040503050406030204" pitchFamily="18" charset="0"/>
                                    </a:rPr>
                                    <m:t>𝛸</m:t>
                                  </m:r>
                                </m:e>
                                <m:sup>
                                  <m:r>
                                    <a:rPr lang="en-US" sz="2000" b="0" i="1" smtClean="0">
                                      <a:solidFill>
                                        <a:srgbClr val="000000"/>
                                      </a:solidFill>
                                      <a:latin typeface="Cambria Math" panose="02040503050406030204" pitchFamily="18" charset="0"/>
                                    </a:rPr>
                                    <m:t>2</m:t>
                                  </m:r>
                                </m:sup>
                              </m:sSup>
                            </m:oMath>
                          </a14:m>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a:t>
                          </a:r>
                          <a14:m>
                            <m:oMath xmlns:m="http://schemas.openxmlformats.org/officeDocument/2006/math">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l-GR" sz="2000" b="0" i="1" smtClean="0">
                                      <a:solidFill>
                                        <a:srgbClr val="000000"/>
                                      </a:solidFill>
                                      <a:latin typeface="Cambria Math" panose="02040503050406030204" pitchFamily="18" charset="0"/>
                                      <a:ea typeface="Cambria Math" panose="02040503050406030204" pitchFamily="18" charset="0"/>
                                    </a:rPr>
                                    <m:t>𝛸</m:t>
                                  </m:r>
                                </m:e>
                                <m:sub>
                                  <m:f>
                                    <m:fPr>
                                      <m:type m:val="lin"/>
                                      <m:ctrlPr>
                                        <a:rPr lang="el-GR" sz="2000" b="0" i="1" smtClean="0">
                                          <a:solidFill>
                                            <a:srgbClr val="000000"/>
                                          </a:solidFill>
                                          <a:latin typeface="Cambria Math" panose="02040503050406030204" pitchFamily="18" charset="0"/>
                                          <a:ea typeface="Cambria Math" panose="02040503050406030204" pitchFamily="18" charset="0"/>
                                        </a:rPr>
                                      </m:ctrlPr>
                                    </m:fPr>
                                    <m:num>
                                      <m:r>
                                        <a:rPr lang="el-GR" sz="2000" b="0" i="1" smtClean="0">
                                          <a:solidFill>
                                            <a:srgbClr val="000000"/>
                                          </a:solidFill>
                                          <a:latin typeface="Cambria Math" panose="02040503050406030204" pitchFamily="18" charset="0"/>
                                          <a:ea typeface="Cambria Math" panose="02040503050406030204" pitchFamily="18" charset="0"/>
                                        </a:rPr>
                                        <m:t>𝛼</m:t>
                                      </m:r>
                                    </m:num>
                                    <m:den>
                                      <m:r>
                                        <a:rPr lang="en-US" sz="2000" b="0" i="1" smtClean="0">
                                          <a:solidFill>
                                            <a:srgbClr val="000000"/>
                                          </a:solidFill>
                                          <a:latin typeface="Cambria Math" panose="02040503050406030204" pitchFamily="18" charset="0"/>
                                          <a:ea typeface="Cambria Math" panose="02040503050406030204" pitchFamily="18" charset="0"/>
                                        </a:rPr>
                                        <m:t>2</m:t>
                                      </m:r>
                                    </m:den>
                                  </m:f>
                                </m:sub>
                                <m:sup>
                                  <m:r>
                                    <a:rPr lang="en-US" sz="2000" b="0" i="1" smtClean="0">
                                      <a:solidFill>
                                        <a:srgbClr val="000000"/>
                                      </a:solidFill>
                                      <a:latin typeface="Cambria Math" panose="02040503050406030204" pitchFamily="18" charset="0"/>
                                      <a:ea typeface="Cambria Math" panose="02040503050406030204" pitchFamily="18" charset="0"/>
                                    </a:rPr>
                                    <m:t>2</m:t>
                                  </m:r>
                                </m:sup>
                              </m:sSubSup>
                            </m:oMath>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163916060"/>
                      </a:ext>
                    </a:extLst>
                  </a:tr>
                </a:tbl>
              </a:graphicData>
            </a:graphic>
          </p:graphicFrame>
        </mc:Choice>
        <mc:Fallback xmlns="">
          <p:graphicFrame>
            <p:nvGraphicFramePr>
              <p:cNvPr id="4" name="Table 6">
                <a:extLst>
                  <a:ext uri="{FF2B5EF4-FFF2-40B4-BE49-F238E27FC236}">
                    <a16:creationId xmlns:a16="http://schemas.microsoft.com/office/drawing/2014/main" id="{ADD71645-0A73-C729-FA3B-DBBE91A57F6C}"/>
                  </a:ext>
                </a:extLst>
              </p:cNvPr>
              <p:cNvGraphicFramePr>
                <a:graphicFrameLocks noGrp="1"/>
              </p:cNvGraphicFramePr>
              <p:nvPr>
                <p:ph type="tbl" sz="quarter" idx="10"/>
                <p:extLst>
                  <p:ext uri="{D42A27DB-BD31-4B8C-83A1-F6EECF244321}">
                    <p14:modId xmlns:p14="http://schemas.microsoft.com/office/powerpoint/2010/main" val="3663969986"/>
                  </p:ext>
                </p:extLst>
              </p:nvPr>
            </p:nvGraphicFramePr>
            <p:xfrm>
              <a:off x="1106214" y="1751881"/>
              <a:ext cx="9979571" cy="4145915"/>
            </p:xfrm>
            <a:graphic>
              <a:graphicData uri="http://schemas.openxmlformats.org/drawingml/2006/table">
                <a:tbl>
                  <a:tblPr firstRow="1" bandRow="1">
                    <a:tableStyleId>{5C22544A-7EE6-4342-B048-85BDC9FD1C3A}</a:tableStyleId>
                  </a:tblPr>
                  <a:tblGrid>
                    <a:gridCol w="1836683">
                      <a:extLst>
                        <a:ext uri="{9D8B030D-6E8A-4147-A177-3AD203B41FA5}">
                          <a16:colId xmlns:a16="http://schemas.microsoft.com/office/drawing/2014/main" val="531627181"/>
                        </a:ext>
                      </a:extLst>
                    </a:gridCol>
                    <a:gridCol w="2714296">
                      <a:extLst>
                        <a:ext uri="{9D8B030D-6E8A-4147-A177-3AD203B41FA5}">
                          <a16:colId xmlns:a16="http://schemas.microsoft.com/office/drawing/2014/main" val="3045617659"/>
                        </a:ext>
                      </a:extLst>
                    </a:gridCol>
                    <a:gridCol w="2714296">
                      <a:extLst>
                        <a:ext uri="{9D8B030D-6E8A-4147-A177-3AD203B41FA5}">
                          <a16:colId xmlns:a16="http://schemas.microsoft.com/office/drawing/2014/main" val="816499844"/>
                        </a:ext>
                      </a:extLst>
                    </a:gridCol>
                    <a:gridCol w="2714296">
                      <a:extLst>
                        <a:ext uri="{9D8B030D-6E8A-4147-A177-3AD203B41FA5}">
                          <a16:colId xmlns:a16="http://schemas.microsoft.com/office/drawing/2014/main" val="1172697014"/>
                        </a:ext>
                      </a:extLst>
                    </a:gridCol>
                  </a:tblGrid>
                  <a:tr h="396240">
                    <a:tc>
                      <a:txBody>
                        <a:bodyPr/>
                        <a:lstStyle/>
                        <a:p>
                          <a:endParaRPr lang="en-US" sz="2000" b="1" dirty="0">
                            <a:solidFill>
                              <a:srgbClr val="000000"/>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Lower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Upper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Two-Tailed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30469303"/>
                      </a:ext>
                    </a:extLst>
                  </a:tr>
                  <a:tr h="712978">
                    <a:tc>
                      <a:txBody>
                        <a:bodyPr/>
                        <a:lstStyle/>
                        <a:p>
                          <a:pPr algn="l"/>
                          <a:r>
                            <a:rPr lang="en-US" sz="2000" b="1" dirty="0">
                              <a:solidFill>
                                <a:srgbClr val="000000"/>
                              </a:solidFill>
                            </a:rPr>
                            <a:t>Hypotheses</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l="-67489" t="-59829" r="-199776" b="-504274"/>
                          </a:stretch>
                        </a:blipFill>
                      </a:tcPr>
                    </a:tc>
                    <a:tc>
                      <a:txBody>
                        <a:bodyPr/>
                        <a:lstStyle/>
                        <a:p>
                          <a:endParaRPr lang="en-US"/>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l="-167865" t="-59829" r="-100225" b="-504274"/>
                          </a:stretch>
                        </a:blipFill>
                      </a:tcPr>
                    </a:tc>
                    <a:tc>
                      <a:txBody>
                        <a:bodyPr/>
                        <a:lstStyle/>
                        <a:p>
                          <a:endParaRPr lang="en-US"/>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2"/>
                          <a:stretch>
                            <a:fillRect l="-267265" t="-59829" b="-504274"/>
                          </a:stretch>
                        </a:blipFill>
                      </a:tcPr>
                    </a:tc>
                    <a:extLst>
                      <a:ext uri="{0D108BD9-81ED-4DB2-BD59-A6C34878D82A}">
                        <a16:rowId xmlns:a16="http://schemas.microsoft.com/office/drawing/2014/main" val="3649420473"/>
                      </a:ext>
                    </a:extLst>
                  </a:tr>
                  <a:tr h="914400">
                    <a:tc>
                      <a:txBody>
                        <a:bodyPr/>
                        <a:lstStyle/>
                        <a:p>
                          <a:pPr algn="l"/>
                          <a:r>
                            <a:rPr lang="en-US" sz="2000" b="1" dirty="0">
                              <a:solidFill>
                                <a:srgbClr val="000000"/>
                              </a:solidFill>
                            </a:rPr>
                            <a:t>Test Statistic</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67489" t="-124667" r="-199776" b="-293333"/>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167865" t="-124667" r="-100225" b="-293333"/>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267265" t="-124667" b="-293333"/>
                          </a:stretch>
                        </a:blipFill>
                      </a:tcPr>
                    </a:tc>
                    <a:extLst>
                      <a:ext uri="{0D108BD9-81ED-4DB2-BD59-A6C34878D82A}">
                        <a16:rowId xmlns:a16="http://schemas.microsoft.com/office/drawing/2014/main" val="807792594"/>
                      </a:ext>
                    </a:extLst>
                  </a:tr>
                  <a:tr h="1005840">
                    <a:tc>
                      <a:txBody>
                        <a:bodyPr/>
                        <a:lstStyle/>
                        <a:p>
                          <a:pPr marL="228600" indent="-228600" algn="l"/>
                          <a:r>
                            <a:rPr lang="en-US" sz="2000" b="1" dirty="0">
                              <a:solidFill>
                                <a:srgbClr val="000000"/>
                              </a:solidFill>
                            </a:rPr>
                            <a:t>Rejection Rule: </a:t>
                          </a:r>
                          <a:r>
                            <a:rPr lang="en-US" sz="2000" b="1" i="1" dirty="0">
                              <a:solidFill>
                                <a:srgbClr val="000000"/>
                              </a:solidFill>
                            </a:rPr>
                            <a:t>p</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ct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algn="ctr"/>
                          <a:r>
                            <a:rPr lang="en-US" sz="2000" b="0" i="1" dirty="0">
                              <a:solidFill>
                                <a:srgbClr val="000000"/>
                              </a:solidFill>
                              <a:latin typeface="Cambria Math" panose="02040503050406030204" pitchFamily="18" charset="0"/>
                              <a:ea typeface="Cambria Math" panose="02040503050406030204" pitchFamily="18" charset="0"/>
                            </a:rPr>
                            <a:t>p</a:t>
                          </a:r>
                          <a:r>
                            <a:rPr lang="en-US" sz="2000" b="0" i="0" dirty="0">
                              <a:solidFill>
                                <a:srgbClr val="000000"/>
                              </a:solidFill>
                              <a:latin typeface="Cambria Math" panose="02040503050406030204" pitchFamily="18" charset="0"/>
                              <a:ea typeface="Cambria Math" panose="02040503050406030204" pitchFamily="18" charset="0"/>
                            </a:rPr>
                            <a:t>-</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dirty="0">
                              <a:solidFill>
                                <a:srgbClr val="000000"/>
                              </a:solidFill>
                              <a:latin typeface="+mj-lt"/>
                              <a:cs typeface="Arial" panose="020B0604020202020204" pitchFamily="34" charset="0"/>
                            </a:rPr>
                            <a:t>α</a:t>
                          </a:r>
                          <a:endParaRPr lang="en-US" sz="2000" b="0" i="1" dirty="0">
                            <a:solidFill>
                              <a:srgbClr val="000000"/>
                            </a:solidFill>
                            <a:latin typeface="+mj-lt"/>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343589073"/>
                      </a:ext>
                    </a:extLst>
                  </a:tr>
                  <a:tr h="1116457">
                    <a:tc>
                      <a:txBody>
                        <a:bodyPr/>
                        <a:lstStyle/>
                        <a:p>
                          <a:pPr marL="173038" indent="-173038" algn="l"/>
                          <a:r>
                            <a:rPr lang="en-US" sz="2000" b="1" dirty="0">
                              <a:solidFill>
                                <a:srgbClr val="000000"/>
                              </a:solidFill>
                            </a:rPr>
                            <a:t>Rejection Rule: </a:t>
                          </a:r>
                          <a:r>
                            <a:rPr lang="en-US" sz="2000" b="1" i="0" dirty="0">
                              <a:solidFill>
                                <a:srgbClr val="000000"/>
                              </a:solidFill>
                            </a:rPr>
                            <a:t>Critical </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67489" t="-274863" r="-199776" b="-49727"/>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167865" t="-274863" r="-100225" b="-49727"/>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2"/>
                          <a:stretch>
                            <a:fillRect l="-267265" t="-274863" b="-49727"/>
                          </a:stretch>
                        </a:blipFill>
                      </a:tcPr>
                    </a:tc>
                    <a:extLst>
                      <a:ext uri="{0D108BD9-81ED-4DB2-BD59-A6C34878D82A}">
                        <a16:rowId xmlns:a16="http://schemas.microsoft.com/office/drawing/2014/main" val="3163916060"/>
                      </a:ext>
                    </a:extLst>
                  </a:tr>
                </a:tbl>
              </a:graphicData>
            </a:graphic>
          </p:graphicFrame>
        </mc:Fallback>
      </mc:AlternateContent>
    </p:spTree>
    <p:extLst>
      <p:ext uri="{BB962C8B-B14F-4D97-AF65-F5344CB8AC3E}">
        <p14:creationId xmlns:p14="http://schemas.microsoft.com/office/powerpoint/2010/main" val="11838951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5C5ED-9F61-2E4E-E5CF-8ADF8667BEEB}"/>
              </a:ext>
            </a:extLst>
          </p:cNvPr>
          <p:cNvSpPr>
            <a:spLocks noGrp="1"/>
          </p:cNvSpPr>
          <p:nvPr>
            <p:ph type="title"/>
          </p:nvPr>
        </p:nvSpPr>
        <p:spPr/>
        <p:txBody>
          <a:bodyPr/>
          <a:lstStyle/>
          <a:p>
            <a:r>
              <a:rPr lang="en-US" dirty="0">
                <a:solidFill>
                  <a:srgbClr val="D14B1E"/>
                </a:solidFill>
              </a:rPr>
              <a:t>11.2 Inferences About Two Population Variances </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9D86671-B176-8A67-A5AB-2B4385DD5EED}"/>
                  </a:ext>
                </a:extLst>
              </p:cNvPr>
              <p:cNvSpPr>
                <a:spLocks noGrp="1"/>
              </p:cNvSpPr>
              <p:nvPr>
                <p:ph type="body" sz="quarter" idx="15"/>
              </p:nvPr>
            </p:nvSpPr>
            <p:spPr>
              <a:xfrm>
                <a:off x="743576" y="1243014"/>
                <a:ext cx="10610223" cy="1710067"/>
              </a:xfrm>
            </p:spPr>
            <p:txBody>
              <a:bodyPr/>
              <a:lstStyle/>
              <a:p>
                <a:pPr>
                  <a:spcAft>
                    <a:spcPts val="600"/>
                  </a:spcAft>
                </a:pPr>
                <a:r>
                  <a:rPr lang="en-US" b="1" dirty="0">
                    <a:solidFill>
                      <a:srgbClr val="0070C0"/>
                    </a:solidFill>
                  </a:rPr>
                  <a:t>Sampling Distribution of </a:t>
                </a:r>
                <a14:m>
                  <m:oMath xmlns:m="http://schemas.openxmlformats.org/officeDocument/2006/math">
                    <m:sSubSup>
                      <m:sSubSupPr>
                        <m:ctrlPr>
                          <a:rPr lang="en-US" b="1" i="1">
                            <a:solidFill>
                              <a:srgbClr val="0070C0"/>
                            </a:solidFill>
                            <a:latin typeface="Cambria Math" panose="02040503050406030204" pitchFamily="18" charset="0"/>
                          </a:rPr>
                        </m:ctrlPr>
                      </m:sSubSupPr>
                      <m:e>
                        <m:r>
                          <a:rPr lang="en-US" b="1" i="1">
                            <a:solidFill>
                              <a:srgbClr val="0070C0"/>
                            </a:solidFill>
                            <a:latin typeface="Cambria Math" panose="02040503050406030204" pitchFamily="18" charset="0"/>
                          </a:rPr>
                          <m:t>𝐬</m:t>
                        </m:r>
                      </m:e>
                      <m:sub>
                        <m:r>
                          <a:rPr lang="en-US" b="1">
                            <a:solidFill>
                              <a:srgbClr val="0070C0"/>
                            </a:solidFill>
                            <a:latin typeface="Cambria Math" panose="02040503050406030204" pitchFamily="18" charset="0"/>
                          </a:rPr>
                          <m:t>𝟏</m:t>
                        </m:r>
                      </m:sub>
                      <m:sup>
                        <m:r>
                          <a:rPr lang="en-US" b="1">
                            <a:solidFill>
                              <a:srgbClr val="0070C0"/>
                            </a:solidFill>
                            <a:latin typeface="Cambria Math" panose="02040503050406030204" pitchFamily="18" charset="0"/>
                          </a:rPr>
                          <m:t>𝟐</m:t>
                        </m:r>
                      </m:sup>
                    </m:sSubSup>
                    <m:r>
                      <a:rPr lang="en-US" b="1">
                        <a:solidFill>
                          <a:srgbClr val="0070C0"/>
                        </a:solidFill>
                        <a:latin typeface="Cambria Math" panose="02040503050406030204" pitchFamily="18" charset="0"/>
                      </a:rPr>
                      <m:t>/</m:t>
                    </m:r>
                    <m:sSubSup>
                      <m:sSubSupPr>
                        <m:ctrlPr>
                          <a:rPr lang="en-US" b="1" i="1">
                            <a:solidFill>
                              <a:srgbClr val="0070C0"/>
                            </a:solidFill>
                            <a:latin typeface="Cambria Math" panose="02040503050406030204" pitchFamily="18" charset="0"/>
                          </a:rPr>
                        </m:ctrlPr>
                      </m:sSubSupPr>
                      <m:e>
                        <m:r>
                          <a:rPr lang="en-US" b="1" i="1">
                            <a:solidFill>
                              <a:srgbClr val="0070C0"/>
                            </a:solidFill>
                            <a:latin typeface="Cambria Math" panose="02040503050406030204" pitchFamily="18" charset="0"/>
                          </a:rPr>
                          <m:t>𝐬</m:t>
                        </m:r>
                      </m:e>
                      <m:sub>
                        <m:r>
                          <a:rPr lang="en-US" b="1">
                            <a:solidFill>
                              <a:srgbClr val="0070C0"/>
                            </a:solidFill>
                            <a:latin typeface="Cambria Math" panose="02040503050406030204" pitchFamily="18" charset="0"/>
                          </a:rPr>
                          <m:t>𝟐</m:t>
                        </m:r>
                      </m:sub>
                      <m:sup>
                        <m:r>
                          <a:rPr lang="en-US" b="1">
                            <a:solidFill>
                              <a:srgbClr val="0070C0"/>
                            </a:solidFill>
                            <a:latin typeface="Cambria Math" panose="02040503050406030204" pitchFamily="18" charset="0"/>
                          </a:rPr>
                          <m:t>𝟐</m:t>
                        </m:r>
                      </m:sup>
                    </m:sSubSup>
                  </m:oMath>
                </a14:m>
                <a:r>
                  <a:rPr lang="en-US" b="1" dirty="0">
                    <a:solidFill>
                      <a:srgbClr val="0070C0"/>
                    </a:solidFill>
                  </a:rPr>
                  <a:t> When </a:t>
                </a:r>
                <a14:m>
                  <m:oMath xmlns:m="http://schemas.openxmlformats.org/officeDocument/2006/math">
                    <m:sSubSup>
                      <m:sSubSupPr>
                        <m:ctrlPr>
                          <a:rPr lang="en-US" b="1" i="1">
                            <a:solidFill>
                              <a:srgbClr val="0070C0"/>
                            </a:solidFill>
                            <a:latin typeface="Cambria Math" panose="02040503050406030204" pitchFamily="18" charset="0"/>
                          </a:rPr>
                        </m:ctrlPr>
                      </m:sSubSupPr>
                      <m:e>
                        <m:r>
                          <a:rPr lang="en-US" b="1" i="1">
                            <a:solidFill>
                              <a:srgbClr val="0070C0"/>
                            </a:solidFill>
                            <a:latin typeface="Cambria Math" panose="02040503050406030204" pitchFamily="18" charset="0"/>
                          </a:rPr>
                          <m:t>𝛔</m:t>
                        </m:r>
                      </m:e>
                      <m:sub>
                        <m:r>
                          <a:rPr lang="en-US" b="1">
                            <a:solidFill>
                              <a:srgbClr val="0070C0"/>
                            </a:solidFill>
                            <a:latin typeface="Cambria Math" panose="02040503050406030204" pitchFamily="18" charset="0"/>
                          </a:rPr>
                          <m:t>𝟏</m:t>
                        </m:r>
                      </m:sub>
                      <m:sup>
                        <m:r>
                          <a:rPr lang="en-US" b="1">
                            <a:solidFill>
                              <a:srgbClr val="0070C0"/>
                            </a:solidFill>
                            <a:latin typeface="Cambria Math" panose="02040503050406030204" pitchFamily="18" charset="0"/>
                          </a:rPr>
                          <m:t>𝟐</m:t>
                        </m:r>
                      </m:sup>
                    </m:sSubSup>
                    <m:r>
                      <a:rPr lang="en-US" b="1">
                        <a:solidFill>
                          <a:srgbClr val="0070C0"/>
                        </a:solidFill>
                        <a:latin typeface="Cambria Math" panose="02040503050406030204" pitchFamily="18" charset="0"/>
                      </a:rPr>
                      <m:t>=</m:t>
                    </m:r>
                    <m:sSubSup>
                      <m:sSubSupPr>
                        <m:ctrlPr>
                          <a:rPr lang="en-US" b="1" i="1">
                            <a:solidFill>
                              <a:srgbClr val="0070C0"/>
                            </a:solidFill>
                            <a:latin typeface="Cambria Math" panose="02040503050406030204" pitchFamily="18" charset="0"/>
                          </a:rPr>
                        </m:ctrlPr>
                      </m:sSubSupPr>
                      <m:e>
                        <m:r>
                          <a:rPr lang="en-US" b="1" i="1">
                            <a:solidFill>
                              <a:srgbClr val="0070C0"/>
                            </a:solidFill>
                            <a:latin typeface="Cambria Math" panose="02040503050406030204" pitchFamily="18" charset="0"/>
                          </a:rPr>
                          <m:t>𝛔</m:t>
                        </m:r>
                      </m:e>
                      <m:sub>
                        <m:r>
                          <a:rPr lang="en-US" b="1">
                            <a:solidFill>
                              <a:srgbClr val="0070C0"/>
                            </a:solidFill>
                            <a:latin typeface="Cambria Math" panose="02040503050406030204" pitchFamily="18" charset="0"/>
                          </a:rPr>
                          <m:t>𝟐</m:t>
                        </m:r>
                      </m:sub>
                      <m:sup>
                        <m:r>
                          <a:rPr lang="en-US" b="1">
                            <a:solidFill>
                              <a:srgbClr val="0070C0"/>
                            </a:solidFill>
                            <a:latin typeface="Cambria Math" panose="02040503050406030204" pitchFamily="18" charset="0"/>
                          </a:rPr>
                          <m:t>𝟐</m:t>
                        </m:r>
                      </m:sup>
                    </m:sSubSup>
                  </m:oMath>
                </a14:m>
                <a:endParaRPr lang="en-US" sz="2000" b="1" dirty="0"/>
              </a:p>
              <a:p>
                <a:pPr>
                  <a:spcAft>
                    <a:spcPts val="600"/>
                  </a:spcAft>
                </a:pPr>
                <a:r>
                  <a:rPr lang="en-US" sz="2000" dirty="0"/>
                  <a:t>Whenever independent simple random samples of sizes </a:t>
                </a:r>
                <a:r>
                  <a:rPr lang="en-US" sz="2000" i="1" dirty="0"/>
                  <a:t>n</a:t>
                </a:r>
                <a:r>
                  <a:rPr lang="en-US" sz="2000" baseline="-25000" dirty="0"/>
                  <a:t>1</a:t>
                </a:r>
                <a:r>
                  <a:rPr lang="en-US" sz="2000" dirty="0"/>
                  <a:t> and </a:t>
                </a:r>
                <a:r>
                  <a:rPr lang="en-US" sz="2000" i="1" dirty="0"/>
                  <a:t>n</a:t>
                </a:r>
                <a:r>
                  <a:rPr lang="en-US" sz="2000" baseline="-25000" dirty="0"/>
                  <a:t>2</a:t>
                </a:r>
                <a:r>
                  <a:rPr lang="en-US" sz="2000" dirty="0"/>
                  <a:t> are selected from two normal populations with equal variances (</a:t>
                </a:r>
                <a14:m>
                  <m:oMath xmlns:m="http://schemas.openxmlformats.org/officeDocument/2006/math">
                    <m:sSubSup>
                      <m:sSubSupPr>
                        <m:ctrlPr>
                          <a:rPr lang="en-US" sz="2000" i="1" smtClean="0">
                            <a:latin typeface="Cambria Math" panose="02040503050406030204" pitchFamily="18" charset="0"/>
                          </a:rPr>
                        </m:ctrlPr>
                      </m:sSubSupPr>
                      <m:e>
                        <m:r>
                          <a:rPr lang="en-US" sz="2000" b="0" i="1" smtClean="0">
                            <a:latin typeface="Cambria Math" panose="02040503050406030204" pitchFamily="18" charset="0"/>
                            <a:ea typeface="Cambria Math" panose="02040503050406030204" pitchFamily="18" charset="0"/>
                          </a:rPr>
                          <m:t>𝜎</m:t>
                        </m:r>
                      </m:e>
                      <m:sub>
                        <m:r>
                          <a:rPr lang="en-US" sz="2000" b="0" i="1">
                            <a:latin typeface="Cambria Math" panose="02040503050406030204" pitchFamily="18" charset="0"/>
                          </a:rPr>
                          <m:t>1</m:t>
                        </m:r>
                      </m:sub>
                      <m:sup>
                        <m:r>
                          <a:rPr lang="en-US" sz="2000" b="0" i="1">
                            <a:latin typeface="Cambria Math" panose="02040503050406030204" pitchFamily="18" charset="0"/>
                          </a:rPr>
                          <m:t>2</m:t>
                        </m:r>
                      </m:sup>
                    </m:sSubSup>
                    <m:r>
                      <a:rPr lang="en-US" sz="2000" b="0" i="1" smtClean="0">
                        <a:latin typeface="Cambria Math" panose="02040503050406030204" pitchFamily="18" charset="0"/>
                      </a:rPr>
                      <m:t>=</m:t>
                    </m:r>
                    <m:sSubSup>
                      <m:sSubSupPr>
                        <m:ctrlPr>
                          <a:rPr lang="en-US" sz="2400" i="1">
                            <a:latin typeface="Cambria Math" panose="02040503050406030204" pitchFamily="18" charset="0"/>
                          </a:rPr>
                        </m:ctrlPr>
                      </m:sSubSupPr>
                      <m:e>
                        <m:r>
                          <a:rPr lang="en-US" sz="2400" b="0" i="1">
                            <a:latin typeface="Cambria Math" panose="02040503050406030204" pitchFamily="18" charset="0"/>
                            <a:ea typeface="Cambria Math" panose="02040503050406030204" pitchFamily="18" charset="0"/>
                          </a:rPr>
                          <m:t>𝜎</m:t>
                        </m:r>
                      </m:e>
                      <m:sub>
                        <m:r>
                          <a:rPr lang="en-US" sz="2400" b="0" i="1" smtClean="0">
                            <a:latin typeface="Cambria Math" panose="02040503050406030204" pitchFamily="18" charset="0"/>
                          </a:rPr>
                          <m:t>2</m:t>
                        </m:r>
                      </m:sub>
                      <m:sup>
                        <m:r>
                          <a:rPr lang="en-US" sz="2400" b="0" i="1">
                            <a:latin typeface="Cambria Math" panose="02040503050406030204" pitchFamily="18" charset="0"/>
                          </a:rPr>
                          <m:t>2</m:t>
                        </m:r>
                      </m:sup>
                    </m:sSubSup>
                  </m:oMath>
                </a14:m>
                <a:r>
                  <a:rPr lang="en-US" sz="2000" dirty="0"/>
                  <a:t>), the sampling distribution of</a:t>
                </a:r>
              </a:p>
              <a:p>
                <a:pPr marL="914400">
                  <a:spcAft>
                    <a:spcPts val="600"/>
                  </a:spcAft>
                </a:pPr>
                <a14:m>
                  <m:oMathPara xmlns:m="http://schemas.openxmlformats.org/officeDocument/2006/math">
                    <m:oMathParaPr>
                      <m:jc m:val="left"/>
                    </m:oMathParaPr>
                    <m:oMath xmlns:m="http://schemas.openxmlformats.org/officeDocument/2006/math">
                      <m:f>
                        <m:fPr>
                          <m:type m:val="lin"/>
                          <m:ctrlPr>
                            <a:rPr lang="en-US" sz="2000" b="1" i="1" smtClean="0">
                              <a:latin typeface="Cambria Math" panose="02040503050406030204" pitchFamily="18" charset="0"/>
                            </a:rPr>
                          </m:ctrlPr>
                        </m:fPr>
                        <m:num>
                          <m:sSubSup>
                            <m:sSubSupPr>
                              <m:ctrlPr>
                                <a:rPr lang="en-US" sz="2000" b="1" i="1">
                                  <a:latin typeface="Cambria Math" panose="02040503050406030204" pitchFamily="18" charset="0"/>
                                </a:rPr>
                              </m:ctrlPr>
                            </m:sSubSupPr>
                            <m:e>
                              <m:r>
                                <a:rPr lang="en-US" sz="2000" b="1" i="1">
                                  <a:latin typeface="Cambria Math" panose="02040503050406030204" pitchFamily="18" charset="0"/>
                                </a:rPr>
                                <m:t>𝒔</m:t>
                              </m:r>
                            </m:e>
                            <m:sub>
                              <m:r>
                                <a:rPr lang="en-US" sz="2000" b="1" i="1">
                                  <a:latin typeface="Cambria Math" panose="02040503050406030204" pitchFamily="18" charset="0"/>
                                </a:rPr>
                                <m:t>𝟏</m:t>
                              </m:r>
                            </m:sub>
                            <m:sup>
                              <m:r>
                                <a:rPr lang="en-US" sz="2000" b="1" i="1">
                                  <a:latin typeface="Cambria Math" panose="02040503050406030204" pitchFamily="18" charset="0"/>
                                </a:rPr>
                                <m:t>𝟐</m:t>
                              </m:r>
                            </m:sup>
                          </m:sSubSup>
                        </m:num>
                        <m:den>
                          <m:sSubSup>
                            <m:sSubSupPr>
                              <m:ctrlPr>
                                <a:rPr lang="en-US" sz="2000" b="1" i="1">
                                  <a:latin typeface="Cambria Math" panose="02040503050406030204" pitchFamily="18" charset="0"/>
                                </a:rPr>
                              </m:ctrlPr>
                            </m:sSubSupPr>
                            <m:e>
                              <m:r>
                                <a:rPr lang="en-US" sz="2000" i="1">
                                  <a:latin typeface="Cambria Math" panose="02040503050406030204" pitchFamily="18" charset="0"/>
                                </a:rPr>
                                <m:t>𝒔</m:t>
                              </m:r>
                            </m:e>
                            <m:sub>
                              <m:r>
                                <a:rPr lang="en-US" sz="2000" b="1" i="1">
                                  <a:latin typeface="Cambria Math" panose="02040503050406030204" pitchFamily="18" charset="0"/>
                                </a:rPr>
                                <m:t>𝟐</m:t>
                              </m:r>
                            </m:sub>
                            <m:sup>
                              <m:r>
                                <a:rPr lang="en-US" sz="2000" i="1">
                                  <a:latin typeface="Cambria Math" panose="02040503050406030204" pitchFamily="18" charset="0"/>
                                </a:rPr>
                                <m:t>𝟐</m:t>
                              </m:r>
                            </m:sup>
                          </m:sSubSup>
                        </m:den>
                      </m:f>
                    </m:oMath>
                  </m:oMathPara>
                </a14:m>
                <a:endParaRPr lang="en-US" sz="2000" b="1" dirty="0"/>
              </a:p>
            </p:txBody>
          </p:sp>
        </mc:Choice>
        <mc:Fallback xmlns="">
          <p:sp>
            <p:nvSpPr>
              <p:cNvPr id="3" name="Text Placeholder 2">
                <a:extLst>
                  <a:ext uri="{FF2B5EF4-FFF2-40B4-BE49-F238E27FC236}">
                    <a16:creationId xmlns:a16="http://schemas.microsoft.com/office/drawing/2014/main" id="{29D86671-B176-8A67-A5AB-2B4385DD5EED}"/>
                  </a:ext>
                </a:extLst>
              </p:cNvPr>
              <p:cNvSpPr>
                <a:spLocks noGrp="1" noRot="1" noChangeAspect="1" noMove="1" noResize="1" noEditPoints="1" noAdjustHandles="1" noChangeArrowheads="1" noChangeShapeType="1" noTextEdit="1"/>
              </p:cNvSpPr>
              <p:nvPr>
                <p:ph type="body" sz="quarter" idx="15"/>
              </p:nvPr>
            </p:nvSpPr>
            <p:spPr>
              <a:xfrm>
                <a:off x="743576" y="1243014"/>
                <a:ext cx="10610223" cy="1710067"/>
              </a:xfrm>
              <a:blipFill>
                <a:blip r:embed="rId3"/>
                <a:stretch>
                  <a:fillRect l="-1782" t="-42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Placeholder 8">
                <a:extLst>
                  <a:ext uri="{FF2B5EF4-FFF2-40B4-BE49-F238E27FC236}">
                    <a16:creationId xmlns:a16="http://schemas.microsoft.com/office/drawing/2014/main" id="{54599B37-5E46-7899-3F00-8839AE4869E1}"/>
                  </a:ext>
                </a:extLst>
              </p:cNvPr>
              <p:cNvSpPr>
                <a:spLocks noGrp="1"/>
              </p:cNvSpPr>
              <p:nvPr>
                <p:ph type="body" sz="quarter" idx="17"/>
              </p:nvPr>
            </p:nvSpPr>
            <p:spPr>
              <a:xfrm>
                <a:off x="726167" y="3017378"/>
                <a:ext cx="4481627" cy="2764172"/>
              </a:xfrm>
            </p:spPr>
            <p:txBody>
              <a:bodyPr/>
              <a:lstStyle/>
              <a:p>
                <a:r>
                  <a:rPr lang="en-US" sz="2000" dirty="0"/>
                  <a:t>is an </a:t>
                </a:r>
                <a:r>
                  <a:rPr lang="en-US" sz="2000" b="1" i="1" dirty="0"/>
                  <a:t>F</a:t>
                </a:r>
                <a:r>
                  <a:rPr lang="en-US" sz="2000" b="1" dirty="0"/>
                  <a:t> distribution </a:t>
                </a:r>
                <a:r>
                  <a:rPr lang="en-US" sz="2000" dirty="0"/>
                  <a:t>with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𝑛</m:t>
                        </m:r>
                      </m:e>
                      <m:sub>
                        <m:r>
                          <a:rPr lang="en-US" sz="2000" b="0" i="1" dirty="0" smtClean="0">
                            <a:latin typeface="Cambria Math" panose="02040503050406030204" pitchFamily="18" charset="0"/>
                          </a:rPr>
                          <m:t>1</m:t>
                        </m:r>
                      </m:sub>
                    </m:sSub>
                    <m:r>
                      <a:rPr lang="en-US" sz="2000" i="1" dirty="0" smtClean="0">
                        <a:latin typeface="Cambria Math" panose="02040503050406030204" pitchFamily="18" charset="0"/>
                      </a:rPr>
                      <m:t>−1</m:t>
                    </m:r>
                  </m:oMath>
                </a14:m>
                <a:r>
                  <a:rPr lang="en-US" sz="2000" dirty="0"/>
                  <a:t> degrees of freedom for the numerator and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𝑛</m:t>
                        </m:r>
                      </m:e>
                      <m:sub>
                        <m:r>
                          <a:rPr lang="en-US" sz="2000" b="0" i="1" dirty="0" smtClean="0">
                            <a:latin typeface="Cambria Math" panose="02040503050406030204" pitchFamily="18" charset="0"/>
                          </a:rPr>
                          <m:t>2</m:t>
                        </m:r>
                      </m:sub>
                    </m:sSub>
                    <m:r>
                      <a:rPr lang="en-US" sz="2000" i="1" dirty="0">
                        <a:latin typeface="Cambria Math" panose="02040503050406030204" pitchFamily="18" charset="0"/>
                      </a:rPr>
                      <m:t>−1</m:t>
                    </m:r>
                  </m:oMath>
                </a14:m>
                <a:r>
                  <a:rPr lang="en-US" sz="2000" dirty="0"/>
                  <a:t> degrees of freedom for the denominator.</a:t>
                </a:r>
              </a:p>
              <a:p>
                <a14:m>
                  <m:oMath xmlns:m="http://schemas.openxmlformats.org/officeDocument/2006/math">
                    <m:sSubSup>
                      <m:sSubSupPr>
                        <m:ctrlPr>
                          <a:rPr lang="en-US" sz="2000" i="1" smtClean="0">
                            <a:latin typeface="Cambria Math" panose="02040503050406030204" pitchFamily="18" charset="0"/>
                          </a:rPr>
                        </m:ctrlPr>
                      </m:sSubSupPr>
                      <m:e>
                        <m:r>
                          <a:rPr lang="en-US" sz="2000" b="0" i="1">
                            <a:latin typeface="Cambria Math" panose="02040503050406030204" pitchFamily="18" charset="0"/>
                          </a:rPr>
                          <m:t>𝑠</m:t>
                        </m:r>
                      </m:e>
                      <m:sub>
                        <m:r>
                          <a:rPr lang="en-US" sz="2000" b="0" i="1">
                            <a:latin typeface="Cambria Math" panose="02040503050406030204" pitchFamily="18" charset="0"/>
                          </a:rPr>
                          <m:t>1</m:t>
                        </m:r>
                      </m:sub>
                      <m:sup>
                        <m:r>
                          <a:rPr lang="en-US" sz="2000" b="0" i="1">
                            <a:latin typeface="Cambria Math" panose="02040503050406030204" pitchFamily="18" charset="0"/>
                          </a:rPr>
                          <m:t>2</m:t>
                        </m:r>
                      </m:sup>
                    </m:sSubSup>
                  </m:oMath>
                </a14:m>
                <a:r>
                  <a:rPr lang="en-US" sz="2000" dirty="0"/>
                  <a:t> is the sample variance for the random sample of </a:t>
                </a:r>
                <a:r>
                  <a:rPr lang="en-US" sz="2000" i="1" dirty="0"/>
                  <a:t>n</a:t>
                </a:r>
                <a:r>
                  <a:rPr lang="en-US" sz="2000" baseline="-25000" dirty="0"/>
                  <a:t>1</a:t>
                </a:r>
                <a:r>
                  <a:rPr lang="en-US" sz="2000" dirty="0"/>
                  <a:t> items from population 1, and </a:t>
                </a:r>
                <a14:m>
                  <m:oMath xmlns:m="http://schemas.openxmlformats.org/officeDocument/2006/math">
                    <m:sSubSup>
                      <m:sSubSupPr>
                        <m:ctrlPr>
                          <a:rPr lang="en-US" sz="2000" i="1">
                            <a:latin typeface="Cambria Math" panose="02040503050406030204" pitchFamily="18" charset="0"/>
                          </a:rPr>
                        </m:ctrlPr>
                      </m:sSubSupPr>
                      <m:e>
                        <m:r>
                          <a:rPr lang="en-US" sz="2000" i="1">
                            <a:latin typeface="Cambria Math" panose="02040503050406030204" pitchFamily="18" charset="0"/>
                          </a:rPr>
                          <m:t>𝑠</m:t>
                        </m:r>
                      </m:e>
                      <m:sub>
                        <m:r>
                          <a:rPr lang="en-US" sz="2000" b="0" i="1" smtClean="0">
                            <a:latin typeface="Cambria Math" panose="02040503050406030204" pitchFamily="18" charset="0"/>
                          </a:rPr>
                          <m:t>2</m:t>
                        </m:r>
                      </m:sub>
                      <m:sup>
                        <m:r>
                          <a:rPr lang="en-US" sz="2000" i="1">
                            <a:latin typeface="Cambria Math" panose="02040503050406030204" pitchFamily="18" charset="0"/>
                          </a:rPr>
                          <m:t>2</m:t>
                        </m:r>
                      </m:sup>
                    </m:sSubSup>
                  </m:oMath>
                </a14:m>
                <a:r>
                  <a:rPr lang="en-US" sz="2000" dirty="0"/>
                  <a:t> is the sample variance for the random sample of </a:t>
                </a:r>
                <a:r>
                  <a:rPr lang="en-US" sz="2000" i="1" dirty="0"/>
                  <a:t>n</a:t>
                </a:r>
                <a:r>
                  <a:rPr lang="en-US" sz="2000" baseline="-25000" dirty="0"/>
                  <a:t>2</a:t>
                </a:r>
                <a:r>
                  <a:rPr lang="en-US" sz="2000" dirty="0"/>
                  <a:t> items from population 2.</a:t>
                </a:r>
              </a:p>
            </p:txBody>
          </p:sp>
        </mc:Choice>
        <mc:Fallback xmlns="">
          <p:sp>
            <p:nvSpPr>
              <p:cNvPr id="9" name="Text Placeholder 8">
                <a:extLst>
                  <a:ext uri="{FF2B5EF4-FFF2-40B4-BE49-F238E27FC236}">
                    <a16:creationId xmlns:a16="http://schemas.microsoft.com/office/drawing/2014/main" id="{54599B37-5E46-7899-3F00-8839AE4869E1}"/>
                  </a:ext>
                </a:extLst>
              </p:cNvPr>
              <p:cNvSpPr>
                <a:spLocks noGrp="1" noRot="1" noChangeAspect="1" noMove="1" noResize="1" noEditPoints="1" noAdjustHandles="1" noChangeArrowheads="1" noChangeShapeType="1" noTextEdit="1"/>
              </p:cNvSpPr>
              <p:nvPr>
                <p:ph type="body" sz="quarter" idx="17"/>
              </p:nvPr>
            </p:nvSpPr>
            <p:spPr>
              <a:xfrm>
                <a:off x="726167" y="3017378"/>
                <a:ext cx="4481627" cy="2764172"/>
              </a:xfrm>
              <a:blipFill>
                <a:blip r:embed="rId4"/>
                <a:stretch>
                  <a:fillRect l="-3401" t="-2649" r="-136" b="-7947"/>
                </a:stretch>
              </a:blipFill>
            </p:spPr>
            <p:txBody>
              <a:bodyPr/>
              <a:lstStyle/>
              <a:p>
                <a:r>
                  <a:rPr lang="en-US">
                    <a:noFill/>
                  </a:rPr>
                  <a:t> </a:t>
                </a:r>
              </a:p>
            </p:txBody>
          </p:sp>
        </mc:Fallback>
      </mc:AlternateContent>
      <p:pic>
        <p:nvPicPr>
          <p:cNvPr id="12" name="Picture Placeholder 11" descr="A graph plots an F distribution with 20 degrees of freedom for the Numerator and 20 degrees of freedom for the Denominator. The horizontal axis is labeled “F” and lists 0 and F_0.05 = 2.12. A curve rises sharply from the origin, peaks at a small value of F, and falls gradually. The region under the curve to the right of F_0.05 = 2.12 is shaded and labeled “0.05.”&#10;">
            <a:extLst>
              <a:ext uri="{FF2B5EF4-FFF2-40B4-BE49-F238E27FC236}">
                <a16:creationId xmlns:a16="http://schemas.microsoft.com/office/drawing/2014/main" id="{9C8F6C71-2DA3-84EF-1F01-737E3C6C5257}"/>
              </a:ext>
            </a:extLst>
          </p:cNvPr>
          <p:cNvPicPr>
            <a:picLocks noGrp="1" noChangeAspect="1"/>
          </p:cNvPicPr>
          <p:nvPr>
            <p:ph type="pic" sz="quarter" idx="16"/>
          </p:nvPr>
        </p:nvPicPr>
        <p:blipFill rotWithShape="1">
          <a:blip r:embed="rId5"/>
          <a:srcRect t="35" b="35"/>
          <a:stretch/>
        </p:blipFill>
        <p:spPr>
          <a:xfrm>
            <a:off x="5487850" y="2541387"/>
            <a:ext cx="5670688" cy="3717077"/>
          </a:xfrm>
        </p:spPr>
      </p:pic>
    </p:spTree>
    <p:extLst>
      <p:ext uri="{BB962C8B-B14F-4D97-AF65-F5344CB8AC3E}">
        <p14:creationId xmlns:p14="http://schemas.microsoft.com/office/powerpoint/2010/main" val="627159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5C5ED-9F61-2E4E-E5CF-8ADF8667BEEB}"/>
              </a:ext>
            </a:extLst>
          </p:cNvPr>
          <p:cNvSpPr>
            <a:spLocks noGrp="1"/>
          </p:cNvSpPr>
          <p:nvPr>
            <p:ph type="title"/>
          </p:nvPr>
        </p:nvSpPr>
        <p:spPr/>
        <p:txBody>
          <a:bodyPr/>
          <a:lstStyle/>
          <a:p>
            <a:r>
              <a:rPr lang="en-US" dirty="0"/>
              <a:t>11.2 Extracting Values for the </a:t>
            </a:r>
            <a:r>
              <a:rPr lang="en-US" i="1" dirty="0"/>
              <a:t>F</a:t>
            </a:r>
            <a:r>
              <a:rPr lang="en-US" dirty="0"/>
              <a:t> Distribution</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9D86671-B176-8A67-A5AB-2B4385DD5EED}"/>
                  </a:ext>
                </a:extLst>
              </p:cNvPr>
              <p:cNvSpPr>
                <a:spLocks noGrp="1"/>
              </p:cNvSpPr>
              <p:nvPr>
                <p:ph type="body" sz="quarter" idx="15"/>
              </p:nvPr>
            </p:nvSpPr>
            <p:spPr>
              <a:xfrm>
                <a:off x="793194" y="1179187"/>
                <a:ext cx="10515600" cy="2318699"/>
              </a:xfrm>
            </p:spPr>
            <p:txBody>
              <a:bodyPr>
                <a:noAutofit/>
              </a:bodyPr>
              <a:lstStyle/>
              <a:p>
                <a:pPr>
                  <a:lnSpc>
                    <a:spcPct val="100000"/>
                  </a:lnSpc>
                  <a:spcBef>
                    <a:spcPts val="600"/>
                  </a:spcBef>
                  <a:spcAft>
                    <a:spcPts val="0"/>
                  </a:spcAft>
                </a:pPr>
                <a:r>
                  <a:rPr lang="en-US" sz="2000" dirty="0"/>
                  <a:t>We use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𝐹</m:t>
                        </m:r>
                      </m:e>
                      <m:sub>
                        <m:r>
                          <a:rPr lang="en-US" sz="2000" i="1" dirty="0" smtClean="0">
                            <a:latin typeface="Cambria Math" panose="02040503050406030204" pitchFamily="18" charset="0"/>
                            <a:ea typeface="Cambria Math" panose="02040503050406030204" pitchFamily="18" charset="0"/>
                          </a:rPr>
                          <m:t>𝛼</m:t>
                        </m:r>
                      </m:sub>
                    </m:sSub>
                  </m:oMath>
                </a14:m>
                <a:r>
                  <a:rPr lang="en-US" sz="2000" dirty="0"/>
                  <a:t> to denote the value that provides an area or probability of </a:t>
                </a:r>
                <a14:m>
                  <m:oMath xmlns:m="http://schemas.openxmlformats.org/officeDocument/2006/math">
                    <m:r>
                      <a:rPr lang="en-US" sz="2000" i="1">
                        <a:latin typeface="Cambria Math" panose="02040503050406030204" pitchFamily="18" charset="0"/>
                        <a:ea typeface="Cambria Math" panose="02040503050406030204" pitchFamily="18" charset="0"/>
                        <a:cs typeface="Arial" panose="020B0604020202020204" pitchFamily="34" charset="0"/>
                      </a:rPr>
                      <m:t>𝛼</m:t>
                    </m:r>
                  </m:oMath>
                </a14:m>
                <a:r>
                  <a:rPr lang="en-US" sz="2000" dirty="0"/>
                  <a:t> in the upper tail of an </a:t>
                </a:r>
                <a:r>
                  <a:rPr lang="en-US" sz="2000" i="1" dirty="0"/>
                  <a:t>F</a:t>
                </a:r>
                <a:r>
                  <a:rPr lang="en-US" sz="2000" dirty="0"/>
                  <a:t> distribution </a:t>
                </a:r>
                <a14:m>
                  <m:oMath xmlns:m="http://schemas.openxmlformats.org/officeDocument/2006/math">
                    <m:r>
                      <a:rPr lang="en-US" sz="2000" i="1" dirty="0">
                        <a:latin typeface="Cambria Math" panose="02040503050406030204" pitchFamily="18" charset="0"/>
                      </a:rPr>
                      <m:t>𝑃</m:t>
                    </m:r>
                    <m:r>
                      <a:rPr lang="en-US" sz="2000" i="1" dirty="0">
                        <a:latin typeface="Cambria Math" panose="02040503050406030204" pitchFamily="18" charset="0"/>
                      </a:rPr>
                      <m:t>(</m:t>
                    </m:r>
                    <m:r>
                      <a:rPr lang="en-US" sz="2000" i="1">
                        <a:latin typeface="Cambria Math" panose="02040503050406030204" pitchFamily="18" charset="0"/>
                      </a:rPr>
                      <m:t>𝐹</m:t>
                    </m:r>
                    <m:r>
                      <a:rPr lang="en-US" sz="2000" i="1" dirty="0">
                        <a:latin typeface="Cambria Math" panose="02040503050406030204" pitchFamily="18" charset="0"/>
                      </a:rPr>
                      <m:t>≥</m:t>
                    </m:r>
                    <m:sSub>
                      <m:sSubPr>
                        <m:ctrlPr>
                          <a:rPr lang="en-US" sz="2000" i="1" dirty="0">
                            <a:latin typeface="Cambria Math" panose="02040503050406030204" pitchFamily="18" charset="0"/>
                          </a:rPr>
                        </m:ctrlPr>
                      </m:sSubPr>
                      <m:e>
                        <m:r>
                          <a:rPr lang="en-US" sz="2000" i="1" dirty="0">
                            <a:latin typeface="Cambria Math" panose="02040503050406030204" pitchFamily="18" charset="0"/>
                          </a:rPr>
                          <m:t>𝐹</m:t>
                        </m:r>
                      </m:e>
                      <m:sub>
                        <m:r>
                          <a:rPr lang="en-US" sz="2000" i="1" dirty="0">
                            <a:latin typeface="Cambria Math" panose="02040503050406030204" pitchFamily="18" charset="0"/>
                            <a:ea typeface="Cambria Math" panose="02040503050406030204" pitchFamily="18" charset="0"/>
                          </a:rPr>
                          <m:t>𝛼</m:t>
                        </m:r>
                      </m:sub>
                    </m:sSub>
                    <m:r>
                      <a:rPr lang="en-US" sz="2000" i="1" dirty="0">
                        <a:latin typeface="Cambria Math" panose="02040503050406030204" pitchFamily="18" charset="0"/>
                      </a:rPr>
                      <m:t>)</m:t>
                    </m:r>
                  </m:oMath>
                </a14:m>
                <a:r>
                  <a:rPr lang="en-US" sz="2000" dirty="0"/>
                  <a:t>.</a:t>
                </a:r>
              </a:p>
              <a:p>
                <a:pPr>
                  <a:lnSpc>
                    <a:spcPct val="100000"/>
                  </a:lnSpc>
                  <a:spcBef>
                    <a:spcPts val="600"/>
                  </a:spcBef>
                  <a:spcAft>
                    <a:spcPts val="0"/>
                  </a:spcAft>
                </a:pPr>
                <a:r>
                  <a:rPr lang="en-US" sz="2000" dirty="0"/>
                  <a:t>Table 4 in Appendix B provides the values of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𝐹</m:t>
                        </m:r>
                      </m:e>
                      <m:sub>
                        <m:r>
                          <a:rPr lang="en-US" sz="2000" i="1" dirty="0">
                            <a:latin typeface="Cambria Math" panose="02040503050406030204" pitchFamily="18" charset="0"/>
                            <a:ea typeface="Cambria Math" panose="02040503050406030204" pitchFamily="18" charset="0"/>
                          </a:rPr>
                          <m:t>𝛼</m:t>
                        </m:r>
                      </m:sub>
                    </m:sSub>
                  </m:oMath>
                </a14:m>
                <a:r>
                  <a:rPr lang="en-US" sz="2000" dirty="0"/>
                  <a:t> for several combinations of degrees of freedom for numerator and denominator.</a:t>
                </a:r>
              </a:p>
              <a:p>
                <a:pPr>
                  <a:lnSpc>
                    <a:spcPct val="100000"/>
                  </a:lnSpc>
                  <a:spcBef>
                    <a:spcPts val="600"/>
                  </a:spcBef>
                  <a:spcAft>
                    <a:spcPts val="600"/>
                  </a:spcAft>
                </a:pPr>
                <a:r>
                  <a:rPr lang="en-US" sz="2000" dirty="0"/>
                  <a:t>The excerpt of the </a:t>
                </a:r>
                <a:r>
                  <a:rPr lang="en-US" sz="2000" i="1" dirty="0"/>
                  <a:t>F</a:t>
                </a:r>
                <a:r>
                  <a:rPr lang="en-US" sz="2000" dirty="0"/>
                  <a:t> table to the right shows that an upper tail area of </a:t>
                </a:r>
                <a14:m>
                  <m:oMath xmlns:m="http://schemas.openxmlformats.org/officeDocument/2006/math">
                    <m:r>
                      <a:rPr lang="en-US" sz="2000" i="1" dirty="0">
                        <a:latin typeface="Cambria Math" panose="02040503050406030204" pitchFamily="18" charset="0"/>
                        <a:ea typeface="Cambria Math" panose="02040503050406030204" pitchFamily="18" charset="0"/>
                      </a:rPr>
                      <m:t>𝛼</m:t>
                    </m:r>
                    <m:r>
                      <a:rPr lang="en-US" sz="2000" i="1" dirty="0">
                        <a:latin typeface="Cambria Math" panose="02040503050406030204" pitchFamily="18" charset="0"/>
                        <a:ea typeface="Cambria Math" panose="02040503050406030204" pitchFamily="18" charset="0"/>
                      </a:rPr>
                      <m:t>=0.05</m:t>
                    </m:r>
                  </m:oMath>
                </a14:m>
                <a:r>
                  <a:rPr lang="en-US" sz="2000" dirty="0"/>
                  <a:t> for an </a:t>
                </a:r>
                <a:r>
                  <a:rPr lang="en-US" sz="2000" i="1" dirty="0"/>
                  <a:t>F</a:t>
                </a:r>
                <a:r>
                  <a:rPr lang="en-US" sz="2000" dirty="0"/>
                  <a:t> distribution with 20 degrees of freedom for the numerator and  20 degrees of freedom for the denominator is </a:t>
                </a:r>
                <a14:m>
                  <m:oMath xmlns:m="http://schemas.openxmlformats.org/officeDocument/2006/math">
                    <m:sSub>
                      <m:sSubPr>
                        <m:ctrlPr>
                          <a:rPr lang="en-US" sz="2000" i="1" dirty="0" smtClean="0">
                            <a:latin typeface="Cambria Math" panose="02040503050406030204" pitchFamily="18" charset="0"/>
                          </a:rPr>
                        </m:ctrlPr>
                      </m:sSubPr>
                      <m:e>
                        <m:r>
                          <a:rPr lang="en-US" sz="2000" i="1" dirty="0">
                            <a:latin typeface="Cambria Math" panose="02040503050406030204" pitchFamily="18" charset="0"/>
                          </a:rPr>
                          <m:t>𝐹</m:t>
                        </m:r>
                      </m:e>
                      <m:sub>
                        <m:r>
                          <a:rPr lang="en-US" sz="2000" b="0" i="1" dirty="0" smtClean="0">
                            <a:latin typeface="Cambria Math" panose="02040503050406030204" pitchFamily="18" charset="0"/>
                          </a:rPr>
                          <m:t>0.05</m:t>
                        </m:r>
                      </m:sub>
                    </m:sSub>
                    <m:r>
                      <a:rPr lang="en-US" sz="2000" b="0" i="1" dirty="0" smtClean="0">
                        <a:latin typeface="Cambria Math" panose="02040503050406030204" pitchFamily="18" charset="0"/>
                        <a:ea typeface="Cambria Math" panose="02040503050406030204" pitchFamily="18" charset="0"/>
                      </a:rPr>
                      <m:t>=2.12</m:t>
                    </m:r>
                  </m:oMath>
                </a14:m>
                <a:r>
                  <a:rPr lang="en-US" sz="2000" dirty="0"/>
                  <a:t>, as shown in the previous slide.</a:t>
                </a:r>
              </a:p>
            </p:txBody>
          </p:sp>
        </mc:Choice>
        <mc:Fallback xmlns="">
          <p:sp>
            <p:nvSpPr>
              <p:cNvPr id="3" name="Text Placeholder 2">
                <a:extLst>
                  <a:ext uri="{FF2B5EF4-FFF2-40B4-BE49-F238E27FC236}">
                    <a16:creationId xmlns:a16="http://schemas.microsoft.com/office/drawing/2014/main" id="{29D86671-B176-8A67-A5AB-2B4385DD5EED}"/>
                  </a:ext>
                </a:extLst>
              </p:cNvPr>
              <p:cNvSpPr>
                <a:spLocks noGrp="1" noRot="1" noChangeAspect="1" noMove="1" noResize="1" noEditPoints="1" noAdjustHandles="1" noChangeArrowheads="1" noChangeShapeType="1" noTextEdit="1"/>
              </p:cNvSpPr>
              <p:nvPr>
                <p:ph type="body" sz="quarter" idx="15"/>
              </p:nvPr>
            </p:nvSpPr>
            <p:spPr>
              <a:xfrm>
                <a:off x="793194" y="1179187"/>
                <a:ext cx="10515600" cy="2318699"/>
              </a:xfrm>
              <a:blipFill>
                <a:blip r:embed="rId4"/>
                <a:stretch>
                  <a:fillRect l="-1449" t="-3150" r="-638" b="-5512"/>
                </a:stretch>
              </a:blipFill>
            </p:spPr>
            <p:txBody>
              <a:bodyPr/>
              <a:lstStyle/>
              <a:p>
                <a:r>
                  <a:rPr lang="en-US">
                    <a:noFill/>
                  </a:rPr>
                  <a:t> </a:t>
                </a:r>
              </a:p>
            </p:txBody>
          </p:sp>
        </mc:Fallback>
      </mc:AlternateContent>
      <p:graphicFrame>
        <p:nvGraphicFramePr>
          <p:cNvPr id="6" name="Table 7">
            <a:extLst>
              <a:ext uri="{FF2B5EF4-FFF2-40B4-BE49-F238E27FC236}">
                <a16:creationId xmlns:a16="http://schemas.microsoft.com/office/drawing/2014/main" id="{4B5DB789-0BF1-F927-65C8-303036C8D66D}"/>
              </a:ext>
            </a:extLst>
          </p:cNvPr>
          <p:cNvGraphicFramePr>
            <a:graphicFrameLocks noGrp="1"/>
          </p:cNvGraphicFramePr>
          <p:nvPr>
            <p:ph type="tbl" sz="quarter" idx="22"/>
            <p:extLst>
              <p:ext uri="{D42A27DB-BD31-4B8C-83A1-F6EECF244321}">
                <p14:modId xmlns:p14="http://schemas.microsoft.com/office/powerpoint/2010/main" val="3550619915"/>
              </p:ext>
            </p:extLst>
          </p:nvPr>
        </p:nvGraphicFramePr>
        <p:xfrm>
          <a:off x="1811784" y="3558317"/>
          <a:ext cx="8568433" cy="2011680"/>
        </p:xfrm>
        <a:graphic>
          <a:graphicData uri="http://schemas.openxmlformats.org/drawingml/2006/table">
            <a:tbl>
              <a:tblPr firstRow="1" bandRow="1">
                <a:tableStyleId>{5C22544A-7EE6-4342-B048-85BDC9FD1C3A}</a:tableStyleId>
              </a:tblPr>
              <a:tblGrid>
                <a:gridCol w="1901415">
                  <a:extLst>
                    <a:ext uri="{9D8B030D-6E8A-4147-A177-3AD203B41FA5}">
                      <a16:colId xmlns:a16="http://schemas.microsoft.com/office/drawing/2014/main" val="310955987"/>
                    </a:ext>
                  </a:extLst>
                </a:gridCol>
                <a:gridCol w="1261640">
                  <a:extLst>
                    <a:ext uri="{9D8B030D-6E8A-4147-A177-3AD203B41FA5}">
                      <a16:colId xmlns:a16="http://schemas.microsoft.com/office/drawing/2014/main" val="143705792"/>
                    </a:ext>
                  </a:extLst>
                </a:gridCol>
                <a:gridCol w="406400">
                  <a:extLst>
                    <a:ext uri="{9D8B030D-6E8A-4147-A177-3AD203B41FA5}">
                      <a16:colId xmlns:a16="http://schemas.microsoft.com/office/drawing/2014/main" val="903781492"/>
                    </a:ext>
                  </a:extLst>
                </a:gridCol>
                <a:gridCol w="762643">
                  <a:extLst>
                    <a:ext uri="{9D8B030D-6E8A-4147-A177-3AD203B41FA5}">
                      <a16:colId xmlns:a16="http://schemas.microsoft.com/office/drawing/2014/main" val="1706420498"/>
                    </a:ext>
                  </a:extLst>
                </a:gridCol>
                <a:gridCol w="2453833">
                  <a:extLst>
                    <a:ext uri="{9D8B030D-6E8A-4147-A177-3AD203B41FA5}">
                      <a16:colId xmlns:a16="http://schemas.microsoft.com/office/drawing/2014/main" val="1682982021"/>
                    </a:ext>
                  </a:extLst>
                </a:gridCol>
                <a:gridCol w="1006998">
                  <a:extLst>
                    <a:ext uri="{9D8B030D-6E8A-4147-A177-3AD203B41FA5}">
                      <a16:colId xmlns:a16="http://schemas.microsoft.com/office/drawing/2014/main" val="1160014685"/>
                    </a:ext>
                  </a:extLst>
                </a:gridCol>
                <a:gridCol w="775504">
                  <a:extLst>
                    <a:ext uri="{9D8B030D-6E8A-4147-A177-3AD203B41FA5}">
                      <a16:colId xmlns:a16="http://schemas.microsoft.com/office/drawing/2014/main" val="3234561782"/>
                    </a:ext>
                  </a:extLst>
                </a:gridCol>
              </a:tblGrid>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70C0"/>
                          </a:solidFill>
                        </a:rPr>
                        <a:t>Denominator Degrees of Freedom</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marL="112713"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rgbClr val="000000"/>
                          </a:solidFill>
                        </a:rPr>
                        <a:t>Area in Upper Tail</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endParaRPr lang="en-US" sz="1800" b="1" dirty="0">
                        <a:solidFill>
                          <a:srgbClr val="000000"/>
                        </a:solidFill>
                      </a:endParaRPr>
                    </a:p>
                  </a:txBody>
                  <a:tcPr marL="0" marR="0" marT="0" marB="914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endParaRPr lang="en-US" sz="1800" b="1" dirty="0">
                        <a:solidFill>
                          <a:srgbClr val="000000"/>
                        </a:solidFill>
                      </a:endParaRPr>
                    </a:p>
                  </a:txBody>
                  <a:tcPr marL="0" marR="0" marT="0" marB="914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srgbClr val="0070C0"/>
                          </a:solidFill>
                        </a:rPr>
                        <a:t>Numerator Degrees of Freedom</a:t>
                      </a:r>
                    </a:p>
                  </a:txBody>
                  <a:tcPr marL="0" marR="0" marT="0" marB="914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endParaRPr lang="en-US" sz="1800" b="1" dirty="0">
                        <a:solidFill>
                          <a:srgbClr val="000000"/>
                        </a:solidFill>
                      </a:endParaRPr>
                    </a:p>
                  </a:txBody>
                  <a:tcPr marL="0" marR="0" marT="0" marB="914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endParaRPr lang="en-US" sz="1800" b="1" dirty="0">
                        <a:solidFill>
                          <a:srgbClr val="000000"/>
                        </a:solidFill>
                      </a:endParaRPr>
                    </a:p>
                  </a:txBody>
                  <a:tcPr marL="0" marR="0" marT="0" marB="914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868864099"/>
                  </a:ext>
                </a:extLst>
              </a:tr>
              <a:tr h="0">
                <a:tc>
                  <a:txBody>
                    <a:bodyPr/>
                    <a:lstStyle/>
                    <a:p>
                      <a:pPr marL="457200" indent="0" algn="l"/>
                      <a:endParaRPr lang="en-US" sz="1600" b="1" dirty="0">
                        <a:solidFill>
                          <a:srgbClr val="000000"/>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marL="112713" indent="0" algn="l"/>
                      <a:endParaRPr lang="en-US" sz="1600" dirty="0">
                        <a:solidFill>
                          <a:srgbClr val="000000"/>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800" b="1" dirty="0">
                          <a:solidFill>
                            <a:srgbClr val="000000"/>
                          </a:solidFill>
                        </a:rPr>
                        <a:t>10</a:t>
                      </a:r>
                    </a:p>
                  </a:txBody>
                  <a:tcPr marL="0" marR="0" marT="0" marB="914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800" b="1" dirty="0">
                          <a:solidFill>
                            <a:srgbClr val="000000"/>
                          </a:solidFill>
                        </a:rPr>
                        <a:t>15</a:t>
                      </a:r>
                    </a:p>
                  </a:txBody>
                  <a:tcPr marL="0" marR="0" marT="0" marB="914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800" b="1" dirty="0">
                          <a:solidFill>
                            <a:srgbClr val="000000"/>
                          </a:solidFill>
                        </a:rPr>
                        <a:t>20</a:t>
                      </a:r>
                    </a:p>
                  </a:txBody>
                  <a:tcPr marL="0" marR="0" marT="0" marB="914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800" b="1" dirty="0">
                          <a:solidFill>
                            <a:srgbClr val="000000"/>
                          </a:solidFill>
                        </a:rPr>
                        <a:t>25</a:t>
                      </a:r>
                    </a:p>
                  </a:txBody>
                  <a:tcPr marL="0" marR="0" marT="0" marB="914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800" b="1" dirty="0">
                          <a:solidFill>
                            <a:srgbClr val="000000"/>
                          </a:solidFill>
                        </a:rPr>
                        <a:t>30</a:t>
                      </a:r>
                    </a:p>
                  </a:txBody>
                  <a:tcPr marL="0" marR="0" marT="0" marB="9144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202870151"/>
                  </a:ext>
                </a:extLst>
              </a:tr>
              <a:tr h="65480">
                <a:tc>
                  <a:txBody>
                    <a:bodyPr/>
                    <a:lstStyle/>
                    <a:p>
                      <a:pPr marL="457200" indent="0" algn="l"/>
                      <a:r>
                        <a:rPr lang="en-US" sz="1800" b="1" dirty="0">
                          <a:solidFill>
                            <a:srgbClr val="000000"/>
                          </a:solidFill>
                        </a:rPr>
                        <a:t>20</a:t>
                      </a:r>
                      <a:endParaRPr lang="en-US" sz="1600" b="1" dirty="0">
                        <a:solidFill>
                          <a:srgbClr val="000000"/>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marL="112713" indent="0" algn="l"/>
                      <a:r>
                        <a:rPr lang="en-US" sz="1600" dirty="0">
                          <a:solidFill>
                            <a:srgbClr val="000000"/>
                          </a:solidFill>
                        </a:rPr>
                        <a:t>0.10</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1.94</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1.84</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1.79</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1.76</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1.74</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218803426"/>
                  </a:ext>
                </a:extLst>
              </a:tr>
              <a:tr h="65480">
                <a:tc>
                  <a:txBody>
                    <a:bodyPr/>
                    <a:lstStyle/>
                    <a:p>
                      <a:endParaRPr lang="en-US" sz="1600" dirty="0">
                        <a:solidFill>
                          <a:srgbClr val="000000"/>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marL="112713" indent="0" algn="l"/>
                      <a:r>
                        <a:rPr lang="en-US" sz="1600" dirty="0">
                          <a:solidFill>
                            <a:srgbClr val="000000"/>
                          </a:solidFill>
                        </a:rPr>
                        <a:t>0.05</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2.35</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2.20</a:t>
                      </a:r>
                    </a:p>
                  </a:txBody>
                  <a:tcPr marL="0" marR="0" marT="0" marB="0">
                    <a:lnL w="12700" cap="flat" cmpd="sng" algn="ctr">
                      <a:noFill/>
                      <a:prstDash val="solid"/>
                      <a:round/>
                      <a:headEnd type="none" w="med" len="med"/>
                      <a:tailEnd type="none" w="med" len="med"/>
                    </a:lnL>
                    <a:lnR w="28575" cap="flat" cmpd="sng" algn="ctr">
                      <a:solidFill>
                        <a:srgbClr val="FF0000"/>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2.12</a:t>
                      </a:r>
                    </a:p>
                  </a:txBody>
                  <a:tcPr marL="0" marR="0" marT="0" marB="0">
                    <a:lnL w="28575" cap="flat" cmpd="sng" algn="ctr">
                      <a:solidFill>
                        <a:srgbClr val="FF0000"/>
                      </a:solidFill>
                      <a:prstDash val="solid"/>
                      <a:round/>
                      <a:headEnd type="none" w="med" len="med"/>
                      <a:tailEnd type="none" w="med" len="med"/>
                    </a:lnL>
                    <a:lnR w="28575" cap="flat" cmpd="sng" algn="ctr">
                      <a:solidFill>
                        <a:srgbClr val="FF0000"/>
                      </a:solidFill>
                      <a:prstDash val="solid"/>
                      <a:round/>
                      <a:headEnd type="none" w="med" len="med"/>
                      <a:tailEnd type="none" w="med" len="med"/>
                    </a:lnR>
                    <a:lnT w="28575" cap="flat" cmpd="sng" algn="ctr">
                      <a:solidFill>
                        <a:srgbClr val="FF0000"/>
                      </a:solidFill>
                      <a:prstDash val="solid"/>
                      <a:round/>
                      <a:headEnd type="none" w="med" len="med"/>
                      <a:tailEnd type="none" w="med" len="med"/>
                    </a:lnT>
                    <a:lnB w="28575" cap="flat" cmpd="sng" algn="ctr">
                      <a:solidFill>
                        <a:srgbClr val="FF0000"/>
                      </a:solid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2.07</a:t>
                      </a:r>
                    </a:p>
                  </a:txBody>
                  <a:tcPr marL="0" marR="0" marT="0" marB="0">
                    <a:lnL w="28575" cap="flat" cmpd="sng" algn="ctr">
                      <a:solidFill>
                        <a:srgbClr val="FF0000"/>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2.04</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146687130"/>
                  </a:ext>
                </a:extLst>
              </a:tr>
              <a:tr h="65480">
                <a:tc>
                  <a:txBody>
                    <a:bodyPr/>
                    <a:lstStyle/>
                    <a:p>
                      <a:endParaRPr lang="en-US" sz="1600" dirty="0">
                        <a:solidFill>
                          <a:srgbClr val="000000"/>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marL="112713" indent="0" algn="l"/>
                      <a:r>
                        <a:rPr lang="en-US" sz="1600" dirty="0">
                          <a:solidFill>
                            <a:srgbClr val="000000"/>
                          </a:solidFill>
                        </a:rPr>
                        <a:t>0.025</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2.77</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2.57</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2.46</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rgbClr val="FF0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2.40</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2.35</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4020324138"/>
                  </a:ext>
                </a:extLst>
              </a:tr>
              <a:tr h="65480">
                <a:tc>
                  <a:txBody>
                    <a:bodyPr/>
                    <a:lstStyle/>
                    <a:p>
                      <a:endParaRPr lang="en-US" sz="1600" dirty="0">
                        <a:solidFill>
                          <a:srgbClr val="000000"/>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marL="112713" indent="0" algn="l"/>
                      <a:r>
                        <a:rPr lang="en-US" sz="1600" dirty="0">
                          <a:solidFill>
                            <a:srgbClr val="000000"/>
                          </a:solidFill>
                        </a:rPr>
                        <a:t>0.01</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a:solidFill>
                            <a:srgbClr val="000000"/>
                          </a:solidFill>
                        </a:rPr>
                        <a:t>3.37</a:t>
                      </a:r>
                      <a:endParaRPr lang="en-US" sz="1600" dirty="0">
                        <a:solidFill>
                          <a:srgbClr val="000000"/>
                        </a:solidFill>
                      </a:endParaRP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3.09</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2.94</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2.84</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tc>
                  <a:txBody>
                    <a:bodyPr/>
                    <a:lstStyle/>
                    <a:p>
                      <a:pPr algn="ctr"/>
                      <a:r>
                        <a:rPr lang="en-US" sz="1600" dirty="0">
                          <a:solidFill>
                            <a:srgbClr val="000000"/>
                          </a:solidFill>
                        </a:rPr>
                        <a:t>2.78</a:t>
                      </a:r>
                    </a:p>
                  </a:txBody>
                  <a:tcPr marL="0" marR="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4DC"/>
                    </a:solidFill>
                  </a:tcPr>
                </a:tc>
                <a:extLst>
                  <a:ext uri="{0D108BD9-81ED-4DB2-BD59-A6C34878D82A}">
                    <a16:rowId xmlns:a16="http://schemas.microsoft.com/office/drawing/2014/main" val="2510459654"/>
                  </a:ext>
                </a:extLst>
              </a:tr>
            </a:tbl>
          </a:graphicData>
        </a:graphic>
      </p:graphicFrame>
      <mc:AlternateContent xmlns:mc="http://schemas.openxmlformats.org/markup-compatibility/2006" xmlns:a14="http://schemas.microsoft.com/office/drawing/2010/main">
        <mc:Choice Requires="a14">
          <p:sp>
            <p:nvSpPr>
              <p:cNvPr id="9" name="Text Placeholder 8">
                <a:extLst>
                  <a:ext uri="{FF2B5EF4-FFF2-40B4-BE49-F238E27FC236}">
                    <a16:creationId xmlns:a16="http://schemas.microsoft.com/office/drawing/2014/main" id="{54599B37-5E46-7899-3F00-8839AE4869E1}"/>
                  </a:ext>
                </a:extLst>
              </p:cNvPr>
              <p:cNvSpPr>
                <a:spLocks noGrp="1"/>
              </p:cNvSpPr>
              <p:nvPr>
                <p:ph type="body" sz="quarter" idx="18"/>
              </p:nvPr>
            </p:nvSpPr>
            <p:spPr>
              <a:xfrm>
                <a:off x="779282" y="5703200"/>
                <a:ext cx="10529511" cy="336431"/>
              </a:xfrm>
            </p:spPr>
            <p:txBody>
              <a:bodyPr/>
              <a:lstStyle/>
              <a:p>
                <a:r>
                  <a:rPr lang="en-US" sz="2000" dirty="0">
                    <a:cs typeface="Arial" panose="020B0604020202020204" pitchFamily="34" charset="0"/>
                  </a:rPr>
                  <a:t>We can also use Excel to compute </a:t>
                </a:r>
                <a14:m>
                  <m:oMath xmlns:m="http://schemas.openxmlformats.org/officeDocument/2006/math">
                    <m:sSub>
                      <m:sSubPr>
                        <m:ctrlPr>
                          <a:rPr lang="en-US" sz="2000" i="1" dirty="0" smtClean="0">
                            <a:latin typeface="Cambria Math" panose="02040503050406030204" pitchFamily="18" charset="0"/>
                          </a:rPr>
                        </m:ctrlPr>
                      </m:sSubPr>
                      <m:e>
                        <m:r>
                          <a:rPr lang="en-US" sz="2000" b="0" i="1" dirty="0" smtClean="0">
                            <a:latin typeface="Cambria Math" panose="02040503050406030204" pitchFamily="18" charset="0"/>
                          </a:rPr>
                          <m:t>𝐹</m:t>
                        </m:r>
                      </m:e>
                      <m:sub>
                        <m:r>
                          <a:rPr lang="en-US" sz="2000" i="1" dirty="0" smtClean="0">
                            <a:latin typeface="Cambria Math" panose="02040503050406030204" pitchFamily="18" charset="0"/>
                            <a:ea typeface="Cambria Math" panose="02040503050406030204" pitchFamily="18" charset="0"/>
                          </a:rPr>
                          <m:t>𝛼</m:t>
                        </m:r>
                      </m:sub>
                    </m:sSub>
                  </m:oMath>
                </a14:m>
                <a:r>
                  <a:rPr lang="en-US" sz="2000" dirty="0"/>
                  <a:t> as </a:t>
                </a: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F</m:t>
                    </m:r>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INV</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RT</m:t>
                    </m:r>
                    <m:r>
                      <m:rPr>
                        <m:nor/>
                      </m:rPr>
                      <a:rPr lang="en-US" sz="2000" i="0" dirty="0" smtClean="0">
                        <a:latin typeface="Cambria Math" panose="02040503050406030204" pitchFamily="18" charset="0"/>
                        <a:cs typeface="Arial" panose="020B0604020202020204" pitchFamily="34" charset="0"/>
                      </a:rPr>
                      <m:t>(0.05,20,20)</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2.12</m:t>
                    </m:r>
                  </m:oMath>
                </a14:m>
                <a:r>
                  <a:rPr lang="en-US" sz="2000" dirty="0"/>
                  <a:t> </a:t>
                </a:r>
              </a:p>
            </p:txBody>
          </p:sp>
        </mc:Choice>
        <mc:Fallback xmlns="">
          <p:sp>
            <p:nvSpPr>
              <p:cNvPr id="9" name="Text Placeholder 8">
                <a:extLst>
                  <a:ext uri="{FF2B5EF4-FFF2-40B4-BE49-F238E27FC236}">
                    <a16:creationId xmlns:a16="http://schemas.microsoft.com/office/drawing/2014/main" id="{54599B37-5E46-7899-3F00-8839AE4869E1}"/>
                  </a:ext>
                </a:extLst>
              </p:cNvPr>
              <p:cNvSpPr>
                <a:spLocks noGrp="1" noRot="1" noChangeAspect="1" noMove="1" noResize="1" noEditPoints="1" noAdjustHandles="1" noChangeArrowheads="1" noChangeShapeType="1" noTextEdit="1"/>
              </p:cNvSpPr>
              <p:nvPr>
                <p:ph type="body" sz="quarter" idx="18"/>
              </p:nvPr>
            </p:nvSpPr>
            <p:spPr>
              <a:xfrm>
                <a:off x="779282" y="5703200"/>
                <a:ext cx="10529511" cy="336431"/>
              </a:xfrm>
              <a:blipFill>
                <a:blip r:embed="rId5"/>
                <a:stretch>
                  <a:fillRect l="-1506" t="-30909" b="-29091"/>
                </a:stretch>
              </a:blipFill>
            </p:spPr>
            <p:txBody>
              <a:bodyPr/>
              <a:lstStyle/>
              <a:p>
                <a:r>
                  <a:rPr lang="en-IN">
                    <a:noFill/>
                  </a:rPr>
                  <a:t> </a:t>
                </a:r>
              </a:p>
            </p:txBody>
          </p:sp>
        </mc:Fallback>
      </mc:AlternateContent>
    </p:spTree>
    <p:extLst>
      <p:ext uri="{BB962C8B-B14F-4D97-AF65-F5344CB8AC3E}">
        <p14:creationId xmlns:p14="http://schemas.microsoft.com/office/powerpoint/2010/main" val="3094704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5C5ED-9F61-2E4E-E5CF-8ADF8667BEEB}"/>
              </a:ext>
            </a:extLst>
          </p:cNvPr>
          <p:cNvSpPr>
            <a:spLocks noGrp="1"/>
          </p:cNvSpPr>
          <p:nvPr>
            <p:ph type="title"/>
          </p:nvPr>
        </p:nvSpPr>
        <p:spPr>
          <a:xfrm>
            <a:off x="796166" y="365125"/>
            <a:ext cx="10715291" cy="672105"/>
          </a:xfrm>
        </p:spPr>
        <p:txBody>
          <a:bodyPr/>
          <a:lstStyle/>
          <a:p>
            <a:r>
              <a:rPr lang="en-US" sz="3200" dirty="0"/>
              <a:t>11.2 Hypothesis Test For the Equality of Two Population Variances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9D86671-B176-8A67-A5AB-2B4385DD5EED}"/>
                  </a:ext>
                </a:extLst>
              </p:cNvPr>
              <p:cNvSpPr>
                <a:spLocks noGrp="1"/>
              </p:cNvSpPr>
              <p:nvPr>
                <p:ph type="body" sz="quarter" idx="15"/>
              </p:nvPr>
            </p:nvSpPr>
            <p:spPr>
              <a:xfrm>
                <a:off x="688398" y="1568668"/>
                <a:ext cx="10610223" cy="4414341"/>
              </a:xfrm>
            </p:spPr>
            <p:txBody>
              <a:bodyPr/>
              <a:lstStyle/>
              <a:p>
                <a:pPr>
                  <a:spcAft>
                    <a:spcPts val="600"/>
                  </a:spcAft>
                </a:pPr>
                <a:r>
                  <a:rPr lang="en-US" sz="2000" dirty="0">
                    <a:latin typeface="Arial" panose="020B0604020202020204" pitchFamily="34" charset="0"/>
                    <a:cs typeface="Arial" panose="020B0604020202020204" pitchFamily="34" charset="0"/>
                  </a:rPr>
                  <a:t>A</a:t>
                </a:r>
                <a:r>
                  <a:rPr lang="en-US" sz="2000" u="none" strike="noStrike" kern="1200" dirty="0">
                    <a:solidFill>
                      <a:srgbClr val="000000"/>
                    </a:solidFill>
                    <a:effectLst/>
                    <a:latin typeface="Arial" panose="020B0604020202020204" pitchFamily="34" charset="0"/>
                    <a:cs typeface="Arial" panose="020B0604020202020204" pitchFamily="34" charset="0"/>
                  </a:rPr>
                  <a:t> hypothesis test of the equality of two population variances is stated as follows.</a:t>
                </a:r>
              </a:p>
              <a:p>
                <a:pPr marL="914400">
                  <a:spcAft>
                    <a:spcPts val="600"/>
                  </a:spcAft>
                </a:pPr>
                <a14:m>
                  <m:oMathPara xmlns:m="http://schemas.openxmlformats.org/officeDocument/2006/math">
                    <m:oMathParaPr>
                      <m:jc m:val="left"/>
                    </m:oMathParaPr>
                    <m:oMath xmlns:m="http://schemas.openxmlformats.org/officeDocument/2006/math">
                      <m:sSub>
                        <m:sSubPr>
                          <m:ctrlPr>
                            <a:rPr lang="en-US" sz="2000" b="1" i="1" u="none" strike="noStrike" kern="1200" smtClean="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cs typeface="Arial" panose="020B0604020202020204" pitchFamily="34" charset="0"/>
                            </a:rPr>
                            <m:t>𝐻</m:t>
                          </m:r>
                        </m:e>
                        <m:sub>
                          <m:r>
                            <a:rPr lang="en-US" sz="2000" b="0" i="1" u="none" strike="noStrike" kern="1200">
                              <a:solidFill>
                                <a:srgbClr val="000000"/>
                              </a:solidFill>
                              <a:effectLst/>
                              <a:latin typeface="Cambria Math" panose="02040503050406030204" pitchFamily="18" charset="0"/>
                              <a:cs typeface="Arial" panose="020B0604020202020204" pitchFamily="34" charset="0"/>
                            </a:rPr>
                            <m:t>0</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Sup>
                        <m:sSubSupPr>
                          <m:ctrlPr>
                            <a:rPr lang="en-US" sz="2000" i="1" smtClean="0">
                              <a:solidFill>
                                <a:srgbClr val="000000"/>
                              </a:solidFill>
                              <a:latin typeface="Cambria Math" panose="02040503050406030204" pitchFamily="18" charset="0"/>
                            </a:rPr>
                          </m:ctrlPr>
                        </m:sSubSupPr>
                        <m:e>
                          <m:r>
                            <a:rPr lang="en-US" sz="2000" i="1">
                              <a:solidFill>
                                <a:srgbClr val="000000"/>
                              </a:solidFill>
                              <a:latin typeface="Cambria Math" panose="02040503050406030204" pitchFamily="18" charset="0"/>
                              <a:ea typeface="Cambria Math" panose="02040503050406030204" pitchFamily="18" charset="0"/>
                            </a:rPr>
                            <m:t>𝜎</m:t>
                          </m:r>
                        </m:e>
                        <m:sub>
                          <m:r>
                            <a:rPr lang="en-US" sz="2000" i="1">
                              <a:solidFill>
                                <a:srgbClr val="000000"/>
                              </a:solidFill>
                              <a:latin typeface="Cambria Math" panose="02040503050406030204" pitchFamily="18" charset="0"/>
                            </a:rPr>
                            <m:t>1</m:t>
                          </m:r>
                        </m:sub>
                        <m:sup>
                          <m:r>
                            <a:rPr lang="en-US" sz="2000" i="1">
                              <a:solidFill>
                                <a:srgbClr val="000000"/>
                              </a:solidFill>
                              <a:latin typeface="Cambria Math" panose="02040503050406030204" pitchFamily="18" charset="0"/>
                            </a:rPr>
                            <m:t>2</m:t>
                          </m:r>
                        </m:sup>
                      </m:sSubSup>
                      <m:r>
                        <a:rPr lang="en-US" sz="2000" i="1">
                          <a:solidFill>
                            <a:srgbClr val="000000"/>
                          </a:solidFill>
                          <a:latin typeface="Cambria Math" panose="02040503050406030204" pitchFamily="18" charset="0"/>
                        </a:rPr>
                        <m:t>=</m:t>
                      </m:r>
                      <m:sSubSup>
                        <m:sSubSupPr>
                          <m:ctrlPr>
                            <a:rPr lang="en-US" sz="2000" i="1">
                              <a:solidFill>
                                <a:srgbClr val="000000"/>
                              </a:solidFill>
                              <a:latin typeface="Cambria Math" panose="02040503050406030204" pitchFamily="18" charset="0"/>
                            </a:rPr>
                          </m:ctrlPr>
                        </m:sSubSupPr>
                        <m:e>
                          <m:r>
                            <a:rPr lang="en-US" sz="2000" i="1">
                              <a:solidFill>
                                <a:srgbClr val="000000"/>
                              </a:solidFill>
                              <a:latin typeface="Cambria Math" panose="02040503050406030204" pitchFamily="18" charset="0"/>
                              <a:ea typeface="Cambria Math" panose="02040503050406030204" pitchFamily="18" charset="0"/>
                            </a:rPr>
                            <m:t>𝜎</m:t>
                          </m:r>
                        </m:e>
                        <m:sub>
                          <m:r>
                            <a:rPr lang="en-US" sz="2000" i="1">
                              <a:solidFill>
                                <a:srgbClr val="000000"/>
                              </a:solidFill>
                              <a:latin typeface="Cambria Math" panose="02040503050406030204" pitchFamily="18" charset="0"/>
                            </a:rPr>
                            <m:t>2</m:t>
                          </m:r>
                        </m:sub>
                        <m:sup>
                          <m:r>
                            <a:rPr lang="en-US" sz="2000" i="1">
                              <a:solidFill>
                                <a:srgbClr val="000000"/>
                              </a:solidFill>
                              <a:latin typeface="Cambria Math" panose="02040503050406030204" pitchFamily="18" charset="0"/>
                            </a:rPr>
                            <m:t>2</m:t>
                          </m:r>
                        </m:sup>
                      </m:sSubSup>
                    </m:oMath>
                  </m:oMathPara>
                </a14:m>
                <a:endParaRPr lang="en-US" sz="2000" b="0" i="0" u="none" strike="noStrike" dirty="0">
                  <a:effectLst/>
                  <a:latin typeface="Arial" panose="020B0604020202020204" pitchFamily="34" charset="0"/>
                </a:endParaRPr>
              </a:p>
              <a:p>
                <a:pPr marL="914400" fontAlgn="ctr">
                  <a:spcAft>
                    <a:spcPts val="600"/>
                  </a:spcAft>
                </a:pPr>
                <a14:m>
                  <m:oMathPara xmlns:m="http://schemas.openxmlformats.org/officeDocument/2006/math">
                    <m:oMathParaPr>
                      <m:jc m:val="left"/>
                    </m:oMathParaPr>
                    <m:oMath xmlns:m="http://schemas.openxmlformats.org/officeDocument/2006/math">
                      <m:sSub>
                        <m:sSubPr>
                          <m:ctrlPr>
                            <a:rPr lang="en-US" sz="2000" b="0" i="1" u="none" strike="noStrike" kern="1200">
                              <a:solidFill>
                                <a:srgbClr val="000000"/>
                              </a:solidFill>
                              <a:effectLst/>
                              <a:latin typeface="Cambria Math" panose="02040503050406030204" pitchFamily="18" charset="0"/>
                              <a:cs typeface="Arial" panose="020B0604020202020204" pitchFamily="34" charset="0"/>
                            </a:rPr>
                          </m:ctrlPr>
                        </m:sSubPr>
                        <m:e>
                          <m:r>
                            <a:rPr lang="en-US" sz="2000" b="0" i="1" u="none" strike="noStrike" kern="1200">
                              <a:solidFill>
                                <a:srgbClr val="000000"/>
                              </a:solidFill>
                              <a:effectLst/>
                              <a:latin typeface="Cambria Math" panose="02040503050406030204" pitchFamily="18" charset="0"/>
                              <a:cs typeface="Arial" panose="020B0604020202020204" pitchFamily="34" charset="0"/>
                            </a:rPr>
                            <m:t>𝐻</m:t>
                          </m:r>
                        </m:e>
                        <m:sub>
                          <m:r>
                            <a:rPr lang="en-US" sz="2000" b="0" i="1" u="none" strike="noStrike" kern="1200">
                              <a:solidFill>
                                <a:srgbClr val="000000"/>
                              </a:solidFill>
                              <a:effectLst/>
                              <a:latin typeface="Cambria Math" panose="02040503050406030204" pitchFamily="18" charset="0"/>
                              <a:cs typeface="Arial" panose="020B0604020202020204" pitchFamily="34" charset="0"/>
                            </a:rPr>
                            <m:t>𝑎</m:t>
                          </m:r>
                        </m:sub>
                      </m:sSub>
                      <m:r>
                        <a:rPr lang="en-US" sz="2000" b="0" i="1" u="none" strike="noStrike" kern="1200">
                          <a:solidFill>
                            <a:srgbClr val="000000"/>
                          </a:solidFill>
                          <a:effectLst/>
                          <a:latin typeface="Cambria Math" panose="02040503050406030204" pitchFamily="18" charset="0"/>
                          <a:cs typeface="Arial" panose="020B0604020202020204" pitchFamily="34"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1</m:t>
                          </m:r>
                        </m:sub>
                        <m:sup>
                          <m:r>
                            <a:rPr lang="en-US" sz="2000" i="1">
                              <a:latin typeface="Cambria Math" panose="02040503050406030204" pitchFamily="18" charset="0"/>
                            </a:rPr>
                            <m:t>2</m:t>
                          </m:r>
                        </m:sup>
                      </m:sSubSup>
                      <m:r>
                        <a:rPr lang="en-US" sz="2000" i="1">
                          <a:latin typeface="Cambria Math" panose="02040503050406030204" pitchFamily="18" charset="0"/>
                          <a:ea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2</m:t>
                          </m:r>
                        </m:sub>
                        <m:sup>
                          <m:r>
                            <a:rPr lang="en-US" sz="2000" i="1">
                              <a:latin typeface="Cambria Math" panose="02040503050406030204" pitchFamily="18" charset="0"/>
                            </a:rPr>
                            <m:t>2</m:t>
                          </m:r>
                        </m:sup>
                      </m:sSubSup>
                    </m:oMath>
                  </m:oMathPara>
                </a14:m>
                <a:endParaRPr lang="en-US" sz="2000" b="0" i="0" u="none" strike="noStrike" dirty="0">
                  <a:effectLst/>
                  <a:latin typeface="Arial" panose="020B0604020202020204" pitchFamily="34" charset="0"/>
                </a:endParaRPr>
              </a:p>
              <a:p>
                <a:pPr>
                  <a:spcAft>
                    <a:spcPts val="0"/>
                  </a:spcAft>
                </a:pPr>
                <a:r>
                  <a:rPr lang="en-US" sz="2000" dirty="0"/>
                  <a:t>We make the tentative assumption that the population variances are equal. If </a:t>
                </a:r>
                <a:r>
                  <a:rPr lang="en-US" sz="2000" i="1" dirty="0"/>
                  <a:t>H</a:t>
                </a:r>
                <a:r>
                  <a:rPr lang="en-US" sz="2000" baseline="-25000" dirty="0"/>
                  <a:t>0</a:t>
                </a:r>
                <a:r>
                  <a:rPr lang="en-US" sz="2000" dirty="0"/>
                  <a:t> is rejected, we will draw the conclusion that the population variances are not equal.</a:t>
                </a:r>
              </a:p>
              <a:p>
                <a:pPr>
                  <a:spcAft>
                    <a:spcPts val="0"/>
                  </a:spcAft>
                </a:pPr>
                <a:r>
                  <a:rPr lang="en-US" sz="2000" dirty="0"/>
                  <a:t>To conduct a test for the equality of two population variances, we first select two random samples, one from each population. Then, we compute the sample variances.</a:t>
                </a:r>
              </a:p>
              <a:p>
                <a:pPr>
                  <a:spcAft>
                    <a:spcPts val="0"/>
                  </a:spcAft>
                </a:pPr>
                <a:r>
                  <a:rPr lang="en-US" sz="2000" dirty="0"/>
                  <a:t>Index 1 will denote the population with the larger sample variance, and index 2 the other one.</a:t>
                </a:r>
              </a:p>
              <a:p>
                <a:pPr>
                  <a:spcAft>
                    <a:spcPts val="600"/>
                  </a:spcAft>
                </a:pPr>
                <a:r>
                  <a:rPr lang="en-US" sz="2000" dirty="0"/>
                  <a:t>Based on the assumption that both populations have a normal distribution, the ratio of sample variances provides the following </a:t>
                </a:r>
                <a:r>
                  <a:rPr lang="en-US" sz="2000" i="1" dirty="0"/>
                  <a:t>F</a:t>
                </a:r>
                <a:r>
                  <a:rPr lang="en-US" sz="2000" dirty="0"/>
                  <a:t> test statistic (*see notes.)</a:t>
                </a:r>
              </a:p>
              <a:p>
                <a:pPr marL="914400">
                  <a:spcAft>
                    <a:spcPts val="0"/>
                  </a:spcAft>
                </a:pPr>
                <a14:m>
                  <m:oMathPara xmlns:m="http://schemas.openxmlformats.org/officeDocument/2006/math">
                    <m:oMathParaPr>
                      <m:jc m:val="left"/>
                    </m:oMathParaPr>
                    <m:oMath xmlns:m="http://schemas.openxmlformats.org/officeDocument/2006/math">
                      <m:r>
                        <a:rPr lang="en-US" sz="2000" b="1" i="1" smtClean="0">
                          <a:latin typeface="Cambria Math" panose="02040503050406030204" pitchFamily="18" charset="0"/>
                        </a:rPr>
                        <m:t>𝑭</m:t>
                      </m:r>
                      <m:r>
                        <a:rPr lang="en-US" sz="2000" b="1" i="1" smtClean="0">
                          <a:latin typeface="Cambria Math" panose="02040503050406030204" pitchFamily="18" charset="0"/>
                        </a:rPr>
                        <m:t>=</m:t>
                      </m:r>
                      <m:f>
                        <m:fPr>
                          <m:ctrlPr>
                            <a:rPr lang="en-US" sz="2000" b="1" i="1" smtClean="0">
                              <a:latin typeface="Cambria Math" panose="02040503050406030204" pitchFamily="18" charset="0"/>
                            </a:rPr>
                          </m:ctrlPr>
                        </m:fPr>
                        <m:num>
                          <m:sSubSup>
                            <m:sSubSupPr>
                              <m:ctrlPr>
                                <a:rPr lang="en-US" sz="2000" b="1" i="1">
                                  <a:latin typeface="Cambria Math" panose="02040503050406030204" pitchFamily="18" charset="0"/>
                                </a:rPr>
                              </m:ctrlPr>
                            </m:sSubSupPr>
                            <m:e>
                              <m:r>
                                <a:rPr lang="en-US" sz="2000" b="1" i="1">
                                  <a:latin typeface="Cambria Math" panose="02040503050406030204" pitchFamily="18" charset="0"/>
                                </a:rPr>
                                <m:t>𝒔</m:t>
                              </m:r>
                            </m:e>
                            <m:sub>
                              <m:r>
                                <a:rPr lang="en-US" sz="2000" b="1" i="1">
                                  <a:latin typeface="Cambria Math" panose="02040503050406030204" pitchFamily="18" charset="0"/>
                                </a:rPr>
                                <m:t>𝟏</m:t>
                              </m:r>
                            </m:sub>
                            <m:sup>
                              <m:r>
                                <a:rPr lang="en-US" sz="2000" b="1" i="1">
                                  <a:latin typeface="Cambria Math" panose="02040503050406030204" pitchFamily="18" charset="0"/>
                                </a:rPr>
                                <m:t>𝟐</m:t>
                              </m:r>
                            </m:sup>
                          </m:sSubSup>
                        </m:num>
                        <m:den>
                          <m:sSubSup>
                            <m:sSubSupPr>
                              <m:ctrlPr>
                                <a:rPr lang="en-US" sz="2000" b="1" i="1">
                                  <a:latin typeface="Cambria Math" panose="02040503050406030204" pitchFamily="18" charset="0"/>
                                </a:rPr>
                              </m:ctrlPr>
                            </m:sSubSupPr>
                            <m:e>
                              <m:r>
                                <a:rPr lang="en-US" sz="2000" b="1" i="1">
                                  <a:latin typeface="Cambria Math" panose="02040503050406030204" pitchFamily="18" charset="0"/>
                                </a:rPr>
                                <m:t>𝒔</m:t>
                              </m:r>
                            </m:e>
                            <m:sub>
                              <m:r>
                                <a:rPr lang="en-US" sz="2000" b="1" i="1" smtClean="0">
                                  <a:latin typeface="Cambria Math" panose="02040503050406030204" pitchFamily="18" charset="0"/>
                                </a:rPr>
                                <m:t>𝟐</m:t>
                              </m:r>
                            </m:sub>
                            <m:sup>
                              <m:r>
                                <a:rPr lang="en-US" sz="2000" b="1" i="1">
                                  <a:latin typeface="Cambria Math" panose="02040503050406030204" pitchFamily="18" charset="0"/>
                                </a:rPr>
                                <m:t>𝟐</m:t>
                              </m:r>
                            </m:sup>
                          </m:sSubSup>
                        </m:den>
                      </m:f>
                    </m:oMath>
                  </m:oMathPara>
                </a14:m>
                <a:endParaRPr lang="en-US" sz="2000" b="1" dirty="0"/>
              </a:p>
            </p:txBody>
          </p:sp>
        </mc:Choice>
        <mc:Fallback xmlns="">
          <p:sp>
            <p:nvSpPr>
              <p:cNvPr id="3" name="Text Placeholder 2">
                <a:extLst>
                  <a:ext uri="{FF2B5EF4-FFF2-40B4-BE49-F238E27FC236}">
                    <a16:creationId xmlns:a16="http://schemas.microsoft.com/office/drawing/2014/main" id="{29D86671-B176-8A67-A5AB-2B4385DD5EED}"/>
                  </a:ext>
                </a:extLst>
              </p:cNvPr>
              <p:cNvSpPr>
                <a:spLocks noGrp="1" noRot="1" noChangeAspect="1" noMove="1" noResize="1" noEditPoints="1" noAdjustHandles="1" noChangeArrowheads="1" noChangeShapeType="1" noTextEdit="1"/>
              </p:cNvSpPr>
              <p:nvPr>
                <p:ph type="body" sz="quarter" idx="15"/>
              </p:nvPr>
            </p:nvSpPr>
            <p:spPr>
              <a:xfrm>
                <a:off x="688398" y="1568668"/>
                <a:ext cx="10610223" cy="4414341"/>
              </a:xfrm>
              <a:blipFill>
                <a:blip r:embed="rId3"/>
                <a:stretch>
                  <a:fillRect l="-1494" t="-1657" r="-1034"/>
                </a:stretch>
              </a:blipFill>
            </p:spPr>
            <p:txBody>
              <a:bodyPr/>
              <a:lstStyle/>
              <a:p>
                <a:r>
                  <a:rPr lang="en-US">
                    <a:noFill/>
                  </a:rPr>
                  <a:t> </a:t>
                </a:r>
              </a:p>
            </p:txBody>
          </p:sp>
        </mc:Fallback>
      </mc:AlternateContent>
    </p:spTree>
    <p:extLst>
      <p:ext uri="{BB962C8B-B14F-4D97-AF65-F5344CB8AC3E}">
        <p14:creationId xmlns:p14="http://schemas.microsoft.com/office/powerpoint/2010/main" val="3928516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5C5ED-9F61-2E4E-E5CF-8ADF8667BEEB}"/>
              </a:ext>
            </a:extLst>
          </p:cNvPr>
          <p:cNvSpPr>
            <a:spLocks noGrp="1"/>
          </p:cNvSpPr>
          <p:nvPr>
            <p:ph type="title"/>
          </p:nvPr>
        </p:nvSpPr>
        <p:spPr>
          <a:xfrm>
            <a:off x="940679" y="365125"/>
            <a:ext cx="10292255" cy="672105"/>
          </a:xfrm>
        </p:spPr>
        <p:txBody>
          <a:bodyPr/>
          <a:lstStyle/>
          <a:p>
            <a:r>
              <a:rPr lang="en-US" sz="3200" dirty="0"/>
              <a:t>11.2 A Two-Tailed Test About the Equality of Two Population Variances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9D86671-B176-8A67-A5AB-2B4385DD5EED}"/>
                  </a:ext>
                </a:extLst>
              </p:cNvPr>
              <p:cNvSpPr>
                <a:spLocks noGrp="1"/>
              </p:cNvSpPr>
              <p:nvPr>
                <p:ph type="body" sz="quarter" idx="15"/>
              </p:nvPr>
            </p:nvSpPr>
            <p:spPr>
              <a:xfrm>
                <a:off x="743577" y="1611139"/>
                <a:ext cx="10610223" cy="4279298"/>
              </a:xfrm>
            </p:spPr>
            <p:txBody>
              <a:bodyPr/>
              <a:lstStyle/>
              <a:p>
                <a:pPr>
                  <a:spcAft>
                    <a:spcPts val="0"/>
                  </a:spcAft>
                </a:pPr>
                <a:r>
                  <a:rPr lang="en-US" sz="2000" dirty="0"/>
                  <a:t>Dullus School administrators plan to use the variance of bus arrival times to compare the quality of Milbank and Gulf Park, two competing bus service companies.</a:t>
                </a:r>
              </a:p>
              <a:p>
                <a:pPr>
                  <a:spcAft>
                    <a:spcPts val="600"/>
                  </a:spcAft>
                </a:pPr>
                <a:r>
                  <a:rPr lang="en-US" sz="2000" dirty="0"/>
                  <a:t>If </a:t>
                </a:r>
                <a:r>
                  <a:rPr lang="en-US" sz="2000" i="1" dirty="0"/>
                  <a:t>H</a:t>
                </a:r>
                <a:r>
                  <a:rPr lang="en-US" sz="2000" baseline="-25000" dirty="0"/>
                  <a:t>0</a:t>
                </a:r>
                <a:r>
                  <a:rPr lang="en-US" sz="2000" dirty="0"/>
                  <a:t> is rejected at </a:t>
                </a:r>
                <a14:m>
                  <m:oMath xmlns:m="http://schemas.openxmlformats.org/officeDocument/2006/math">
                    <m:r>
                      <a:rPr lang="el-GR" sz="2000" b="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rPr>
                      <m:t>.10</m:t>
                    </m:r>
                  </m:oMath>
                </a14:m>
                <a:r>
                  <a:rPr lang="en-US" sz="2000" dirty="0"/>
                  <a:t>, a conclusion of unequal service quality is appropriate. If not, the administrators will select the company with the better financial terms. The hypotheses are</a:t>
                </a:r>
              </a:p>
              <a:p>
                <a:pPr marL="914400">
                  <a:spcAft>
                    <a:spcPts val="600"/>
                  </a:spcAft>
                </a:pPr>
                <a14:m>
                  <m:oMath xmlns:m="http://schemas.openxmlformats.org/officeDocument/2006/math">
                    <m:sSub>
                      <m:sSubPr>
                        <m:ctrlPr>
                          <a:rPr lang="en-US" sz="2000" b="1"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r>
                      <a:rPr lang="en-US" sz="2000" i="1">
                        <a:latin typeface="Cambria Math" panose="02040503050406030204" pitchFamily="18" charset="0"/>
                        <a:cs typeface="Arial" panose="020B0604020202020204" pitchFamily="34"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1</m:t>
                        </m:r>
                      </m:sub>
                      <m:sup>
                        <m:r>
                          <a:rPr lang="en-US" sz="2000" i="1">
                            <a:latin typeface="Cambria Math" panose="02040503050406030204" pitchFamily="18" charset="0"/>
                          </a:rPr>
                          <m:t>2</m:t>
                        </m:r>
                      </m:sup>
                    </m:sSubSup>
                    <m:r>
                      <a:rPr lang="en-US" sz="2000" i="1">
                        <a:latin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2</m:t>
                        </m:r>
                      </m:sub>
                      <m:sup>
                        <m:r>
                          <a:rPr lang="en-US" sz="2000" i="1">
                            <a:latin typeface="Cambria Math" panose="02040503050406030204" pitchFamily="18" charset="0"/>
                          </a:rPr>
                          <m:t>2</m:t>
                        </m:r>
                      </m:sup>
                    </m:sSubSup>
                  </m:oMath>
                </a14:m>
                <a:r>
                  <a:rPr lang="en-US" sz="2000" dirty="0">
                    <a:latin typeface="Arial" panose="020B0604020202020204" pitchFamily="34" charset="0"/>
                  </a:rPr>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𝑎</m:t>
                        </m:r>
                      </m:sub>
                    </m:sSub>
                    <m:r>
                      <a:rPr lang="en-US" sz="2000" i="1">
                        <a:latin typeface="Cambria Math" panose="02040503050406030204" pitchFamily="18" charset="0"/>
                        <a:cs typeface="Arial" panose="020B0604020202020204" pitchFamily="34"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1</m:t>
                        </m:r>
                      </m:sub>
                      <m:sup>
                        <m:r>
                          <a:rPr lang="en-US" sz="2000" i="1">
                            <a:latin typeface="Cambria Math" panose="02040503050406030204" pitchFamily="18" charset="0"/>
                          </a:rPr>
                          <m:t>2</m:t>
                        </m:r>
                      </m:sup>
                    </m:sSubSup>
                    <m:r>
                      <a:rPr lang="en-US" sz="2000" i="1">
                        <a:latin typeface="Cambria Math" panose="02040503050406030204" pitchFamily="18" charset="0"/>
                        <a:ea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2</m:t>
                        </m:r>
                      </m:sub>
                      <m:sup>
                        <m:r>
                          <a:rPr lang="en-US" sz="2000" i="1">
                            <a:latin typeface="Cambria Math" panose="02040503050406030204" pitchFamily="18" charset="0"/>
                          </a:rPr>
                          <m:t>2</m:t>
                        </m:r>
                      </m:sup>
                    </m:sSubSup>
                  </m:oMath>
                </a14:m>
                <a:endParaRPr lang="en-US" sz="2000" dirty="0">
                  <a:latin typeface="Arial" panose="020B0604020202020204" pitchFamily="34" charset="0"/>
                </a:endParaRPr>
              </a:p>
              <a:p>
                <a:pPr>
                  <a:spcAft>
                    <a:spcPts val="0"/>
                  </a:spcAft>
                </a:pPr>
                <a:r>
                  <a:rPr lang="en-US" sz="2000" dirty="0"/>
                  <a:t>Sample results are as follows: </a:t>
                </a:r>
                <a:r>
                  <a:rPr lang="en-US" sz="2000" b="1" dirty="0"/>
                  <a:t>		Company	</a:t>
                </a:r>
                <a:r>
                  <a:rPr lang="en-US" sz="2000" b="1" i="1" dirty="0"/>
                  <a:t>n</a:t>
                </a:r>
                <a:r>
                  <a:rPr lang="en-US" sz="2000" b="1" dirty="0"/>
                  <a:t>	</a:t>
                </a:r>
                <a14:m>
                  <m:oMath xmlns:m="http://schemas.openxmlformats.org/officeDocument/2006/math">
                    <m:sSup>
                      <m:sSupPr>
                        <m:ctrlPr>
                          <a:rPr lang="en-US" sz="2000" b="1" i="1" dirty="0" smtClean="0">
                            <a:latin typeface="Cambria Math" panose="02040503050406030204" pitchFamily="18" charset="0"/>
                          </a:rPr>
                        </m:ctrlPr>
                      </m:sSupPr>
                      <m:e>
                        <m:r>
                          <a:rPr lang="en-US" sz="2000" b="1" i="1" dirty="0">
                            <a:latin typeface="Cambria Math" panose="02040503050406030204" pitchFamily="18" charset="0"/>
                          </a:rPr>
                          <m:t>𝒔</m:t>
                        </m:r>
                      </m:e>
                      <m:sup>
                        <m:r>
                          <a:rPr lang="en-US" sz="2000" b="1" i="1" dirty="0" smtClean="0">
                            <a:latin typeface="Cambria Math" panose="02040503050406030204" pitchFamily="18" charset="0"/>
                          </a:rPr>
                          <m:t>𝟐</m:t>
                        </m:r>
                      </m:sup>
                    </m:sSup>
                  </m:oMath>
                </a14:m>
                <a:r>
                  <a:rPr lang="en-US" sz="2000" b="1" i="1" dirty="0"/>
                  <a:t>      Index</a:t>
                </a:r>
              </a:p>
              <a:p>
                <a:pPr>
                  <a:spcAft>
                    <a:spcPts val="0"/>
                  </a:spcAft>
                </a:pPr>
                <a:r>
                  <a:rPr lang="en-US" sz="2000" dirty="0"/>
                  <a:t>					Milbank		26	48	1</a:t>
                </a:r>
              </a:p>
              <a:p>
                <a:pPr>
                  <a:spcAft>
                    <a:spcPts val="600"/>
                  </a:spcAft>
                </a:pPr>
                <a:r>
                  <a:rPr lang="en-US" sz="2000" dirty="0"/>
                  <a:t>					Gulf Park	16	20	2</a:t>
                </a:r>
              </a:p>
              <a:p>
                <a:pPr>
                  <a:spcAft>
                    <a:spcPts val="600"/>
                  </a:spcAft>
                </a:pPr>
                <a:r>
                  <a:rPr lang="en-US" sz="2000" dirty="0"/>
                  <a:t>The test statistic value for an </a:t>
                </a:r>
                <a:r>
                  <a:rPr lang="en-US" sz="2000" i="1" dirty="0"/>
                  <a:t>F</a:t>
                </a:r>
                <a:r>
                  <a:rPr lang="en-US" sz="2000" dirty="0"/>
                  <a:t> distribution with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=25</m:t>
                    </m:r>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=1</m:t>
                    </m:r>
                    <m:r>
                      <a:rPr lang="en-US" sz="2000" i="1">
                        <a:latin typeface="Cambria Math" panose="02040503050406030204" pitchFamily="18" charset="0"/>
                      </a:rPr>
                      <m:t>5</m:t>
                    </m:r>
                  </m:oMath>
                </a14:m>
                <a:r>
                  <a:rPr lang="en-US" sz="2000" dirty="0"/>
                  <a:t> degrees of freedom, is</a:t>
                </a:r>
              </a:p>
              <a:p>
                <a:pPr marL="914400">
                  <a:spcAft>
                    <a:spcPts val="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𝐹</m:t>
                      </m:r>
                      <m:r>
                        <a:rPr lang="en-US" sz="2000" i="1">
                          <a:latin typeface="Cambria Math" panose="02040503050406030204" pitchFamily="18" charset="0"/>
                        </a:rPr>
                        <m:t>=</m:t>
                      </m:r>
                      <m:f>
                        <m:fPr>
                          <m:ctrlPr>
                            <a:rPr lang="en-US" sz="2000" i="1">
                              <a:latin typeface="Cambria Math" panose="02040503050406030204" pitchFamily="18" charset="0"/>
                            </a:rPr>
                          </m:ctrlPr>
                        </m:fPr>
                        <m:num>
                          <m:sSubSup>
                            <m:sSubSupPr>
                              <m:ctrlPr>
                                <a:rPr lang="en-US" sz="2000" i="1">
                                  <a:latin typeface="Cambria Math" panose="02040503050406030204" pitchFamily="18" charset="0"/>
                                </a:rPr>
                              </m:ctrlPr>
                            </m:sSubSupPr>
                            <m:e>
                              <m:r>
                                <a:rPr lang="en-US" sz="2000" i="1">
                                  <a:latin typeface="Cambria Math" panose="02040503050406030204" pitchFamily="18" charset="0"/>
                                </a:rPr>
                                <m:t>𝑠</m:t>
                              </m:r>
                            </m:e>
                            <m:sub>
                              <m:r>
                                <a:rPr lang="en-US" sz="2000" i="1">
                                  <a:latin typeface="Cambria Math" panose="02040503050406030204" pitchFamily="18" charset="0"/>
                                </a:rPr>
                                <m:t>1</m:t>
                              </m:r>
                            </m:sub>
                            <m:sup>
                              <m:r>
                                <a:rPr lang="en-US" sz="2000" i="1">
                                  <a:latin typeface="Cambria Math" panose="02040503050406030204" pitchFamily="18" charset="0"/>
                                </a:rPr>
                                <m:t>2</m:t>
                              </m:r>
                            </m:sup>
                          </m:sSubSup>
                        </m:num>
                        <m:den>
                          <m:sSubSup>
                            <m:sSubSupPr>
                              <m:ctrlPr>
                                <a:rPr lang="en-US" sz="2000" i="1">
                                  <a:latin typeface="Cambria Math" panose="02040503050406030204" pitchFamily="18" charset="0"/>
                                </a:rPr>
                              </m:ctrlPr>
                            </m:sSubSupPr>
                            <m:e>
                              <m:r>
                                <a:rPr lang="en-US" sz="2000" i="1">
                                  <a:latin typeface="Cambria Math" panose="02040503050406030204" pitchFamily="18" charset="0"/>
                                </a:rPr>
                                <m:t>𝑠</m:t>
                              </m:r>
                            </m:e>
                            <m:sub>
                              <m:r>
                                <a:rPr lang="en-US" sz="2000" i="1">
                                  <a:latin typeface="Cambria Math" panose="02040503050406030204" pitchFamily="18" charset="0"/>
                                </a:rPr>
                                <m:t>2</m:t>
                              </m:r>
                            </m:sub>
                            <m:sup>
                              <m:r>
                                <a:rPr lang="en-US" sz="2000" i="1">
                                  <a:latin typeface="Cambria Math" panose="02040503050406030204" pitchFamily="18" charset="0"/>
                                </a:rPr>
                                <m:t>2</m:t>
                              </m:r>
                            </m:sup>
                          </m:sSubSup>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48</m:t>
                          </m:r>
                        </m:num>
                        <m:den>
                          <m:r>
                            <a:rPr lang="en-US" sz="2000" b="0" i="1" smtClean="0">
                              <a:latin typeface="Cambria Math" panose="02040503050406030204" pitchFamily="18" charset="0"/>
                            </a:rPr>
                            <m:t>20</m:t>
                          </m:r>
                        </m:den>
                      </m:f>
                      <m:r>
                        <a:rPr lang="en-US" sz="2000" b="0" i="1" smtClean="0">
                          <a:latin typeface="Cambria Math" panose="02040503050406030204" pitchFamily="18" charset="0"/>
                        </a:rPr>
                        <m:t>=2.40</m:t>
                      </m:r>
                    </m:oMath>
                  </m:oMathPara>
                </a14:m>
                <a:endParaRPr lang="en-US" sz="2000" dirty="0"/>
              </a:p>
            </p:txBody>
          </p:sp>
        </mc:Choice>
        <mc:Fallback xmlns="">
          <p:sp>
            <p:nvSpPr>
              <p:cNvPr id="3" name="Text Placeholder 2">
                <a:extLst>
                  <a:ext uri="{FF2B5EF4-FFF2-40B4-BE49-F238E27FC236}">
                    <a16:creationId xmlns:a16="http://schemas.microsoft.com/office/drawing/2014/main" id="{29D86671-B176-8A67-A5AB-2B4385DD5EED}"/>
                  </a:ext>
                </a:extLst>
              </p:cNvPr>
              <p:cNvSpPr>
                <a:spLocks noGrp="1" noRot="1" noChangeAspect="1" noMove="1" noResize="1" noEditPoints="1" noAdjustHandles="1" noChangeArrowheads="1" noChangeShapeType="1" noTextEdit="1"/>
              </p:cNvSpPr>
              <p:nvPr>
                <p:ph type="body" sz="quarter" idx="15"/>
              </p:nvPr>
            </p:nvSpPr>
            <p:spPr>
              <a:xfrm>
                <a:off x="743577" y="1611139"/>
                <a:ext cx="10610223" cy="4279298"/>
              </a:xfrm>
              <a:blipFill>
                <a:blip r:embed="rId3"/>
                <a:stretch>
                  <a:fillRect l="-1493" t="-1709"/>
                </a:stretch>
              </a:blipFill>
            </p:spPr>
            <p:txBody>
              <a:bodyPr/>
              <a:lstStyle/>
              <a:p>
                <a:r>
                  <a:rPr lang="en-US">
                    <a:noFill/>
                  </a:rPr>
                  <a:t> </a:t>
                </a:r>
              </a:p>
            </p:txBody>
          </p:sp>
        </mc:Fallback>
      </mc:AlternateContent>
    </p:spTree>
    <p:extLst>
      <p:ext uri="{BB962C8B-B14F-4D97-AF65-F5344CB8AC3E}">
        <p14:creationId xmlns:p14="http://schemas.microsoft.com/office/powerpoint/2010/main" val="2846125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472968" y="365125"/>
            <a:ext cx="11201400" cy="672105"/>
          </a:xfrm>
        </p:spPr>
        <p:txBody>
          <a:bodyPr/>
          <a:lstStyle/>
          <a:p>
            <a:r>
              <a:rPr lang="en-US" sz="3200" dirty="0"/>
              <a:t>11.2 </a:t>
            </a:r>
            <a:r>
              <a:rPr lang="en-US" sz="3200" i="1" dirty="0"/>
              <a:t>p</a:t>
            </a:r>
            <a:r>
              <a:rPr lang="en-US" sz="3200" dirty="0"/>
              <a:t>-Value Approach to a Two-Tailed Test About Two Population Variances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760689"/>
                <a:ext cx="10515599" cy="1034715"/>
              </a:xfrm>
            </p:spPr>
            <p:txBody>
              <a:bodyPr>
                <a:noAutofit/>
              </a:bodyPr>
              <a:lstStyle/>
              <a:p>
                <a:pPr>
                  <a:lnSpc>
                    <a:spcPct val="100000"/>
                  </a:lnSpc>
                  <a:spcBef>
                    <a:spcPts val="600"/>
                  </a:spcBef>
                </a:pPr>
                <a:r>
                  <a:rPr lang="en-US" sz="2000" dirty="0"/>
                  <a:t>In a two-tailed test, the </a:t>
                </a:r>
                <a:r>
                  <a:rPr lang="en-US" sz="2000" i="1" dirty="0"/>
                  <a:t>p</a:t>
                </a:r>
                <a:r>
                  <a:rPr lang="en-US" sz="2000" dirty="0"/>
                  <a:t>-value is twice the area in the upper tail of an </a:t>
                </a:r>
                <a:r>
                  <a:rPr lang="en-US" sz="2000" i="1" dirty="0"/>
                  <a:t>F</a:t>
                </a:r>
                <a:r>
                  <a:rPr lang="en-US" sz="2000" dirty="0"/>
                  <a:t> distribution with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𝑑𝑓</m:t>
                        </m:r>
                      </m:e>
                      <m:sub>
                        <m:r>
                          <a:rPr lang="en-US" sz="2000" i="1">
                            <a:latin typeface="Cambria Math" panose="02040503050406030204" pitchFamily="18" charset="0"/>
                          </a:rPr>
                          <m:t>1</m:t>
                        </m:r>
                      </m:sub>
                    </m:sSub>
                    <m:r>
                      <a:rPr lang="en-US" sz="2000" i="1">
                        <a:latin typeface="Cambria Math" panose="02040503050406030204" pitchFamily="18" charset="0"/>
                      </a:rPr>
                      <m:t>=25</m:t>
                    </m:r>
                  </m:oMath>
                </a14:m>
                <a:r>
                  <a:rPr lang="en-US" sz="2000" dirty="0">
                    <a:latin typeface="Calibri" panose="020F0502020204030204" pitchFamily="34" charset="0"/>
                  </a:rPr>
                  <a:t> </a:t>
                </a:r>
                <a:r>
                  <a:rPr lang="en-US" sz="2000" dirty="0">
                    <a:latin typeface="Arial" panose="020B0604020202020204" pitchFamily="34" charset="0"/>
                    <a:cs typeface="Arial" panose="020B0604020202020204" pitchFamily="34" charset="0"/>
                  </a:rPr>
                  <a:t>and</a:t>
                </a:r>
                <a:r>
                  <a:rPr lang="en-US" sz="2000" dirty="0">
                    <a:latin typeface="Calibri" panose="020F0502020204030204" pitchFamily="34" charset="0"/>
                  </a:rPr>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𝑑𝑓</m:t>
                        </m:r>
                      </m:e>
                      <m:sub>
                        <m:r>
                          <a:rPr lang="en-US" sz="2000" i="1">
                            <a:latin typeface="Cambria Math" panose="02040503050406030204" pitchFamily="18" charset="0"/>
                          </a:rPr>
                          <m:t>2</m:t>
                        </m:r>
                      </m:sub>
                    </m:sSub>
                    <m:r>
                      <a:rPr lang="en-US" sz="2000" i="1">
                        <a:latin typeface="Cambria Math" panose="02040503050406030204" pitchFamily="18" charset="0"/>
                      </a:rPr>
                      <m:t>=15</m:t>
                    </m:r>
                  </m:oMath>
                </a14:m>
                <a:r>
                  <a:rPr lang="en-US" sz="2000" dirty="0"/>
                  <a:t>, such that: </a:t>
                </a:r>
                <a14:m>
                  <m:oMath xmlns:m="http://schemas.openxmlformats.org/officeDocument/2006/math">
                    <m:r>
                      <a:rPr lang="en-US" sz="2000" i="1">
                        <a:latin typeface="Cambria Math" panose="02040503050406030204" pitchFamily="18" charset="0"/>
                      </a:rPr>
                      <m:t>𝑝</m:t>
                    </m:r>
                    <m:r>
                      <m:rPr>
                        <m:nor/>
                      </m:rPr>
                      <a:rPr lang="en-US" sz="2000" i="0">
                        <a:latin typeface="Arial" panose="020B0604020202020204" pitchFamily="34" charset="0"/>
                        <a:cs typeface="Arial" panose="020B0604020202020204" pitchFamily="34" charset="0"/>
                      </a:rPr>
                      <m:t>−</m:t>
                    </m:r>
                    <m:r>
                      <m:rPr>
                        <m:nor/>
                      </m:rPr>
                      <a:rPr lang="en-US" sz="2000">
                        <a:latin typeface="Arial" panose="020B0604020202020204" pitchFamily="34" charset="0"/>
                        <a:cs typeface="Arial" panose="020B0604020202020204" pitchFamily="34" charset="0"/>
                      </a:rPr>
                      <m:t>value</m:t>
                    </m:r>
                    <m:r>
                      <a:rPr lang="en-US" sz="2000">
                        <a:latin typeface="Cambria Math" panose="02040503050406030204" pitchFamily="18" charset="0"/>
                      </a:rPr>
                      <m:t>=</m:t>
                    </m:r>
                    <m:r>
                      <a:rPr lang="en-US" sz="2000" i="1">
                        <a:latin typeface="Cambria Math" panose="02040503050406030204" pitchFamily="18" charset="0"/>
                      </a:rPr>
                      <m:t>2</m:t>
                    </m:r>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𝐹</m:t>
                    </m:r>
                    <m:r>
                      <a:rPr lang="en-US" sz="2000" i="1">
                        <a:latin typeface="Cambria Math" panose="02040503050406030204" pitchFamily="18" charset="0"/>
                        <a:ea typeface="Cambria Math" panose="02040503050406030204" pitchFamily="18" charset="0"/>
                      </a:rPr>
                      <m:t>≥2.40)</m:t>
                    </m:r>
                  </m:oMath>
                </a14:m>
                <a:r>
                  <a:rPr lang="en-US" sz="2000" dirty="0"/>
                  <a:t>.</a:t>
                </a:r>
              </a:p>
              <a:p>
                <a:pPr>
                  <a:lnSpc>
                    <a:spcPct val="100000"/>
                  </a:lnSpc>
                  <a:spcBef>
                    <a:spcPts val="600"/>
                  </a:spcBef>
                </a:pPr>
                <a:r>
                  <a:rPr lang="en-US" sz="2000" dirty="0"/>
                  <a:t>Table 4 in Appendix B provides the following information.</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0" y="1760689"/>
                <a:ext cx="10515599" cy="1034715"/>
              </a:xfrm>
              <a:blipFill>
                <a:blip r:embed="rId4"/>
                <a:stretch>
                  <a:fillRect l="-1508" t="-7059" b="-105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699A4297-B870-E801-3AA1-756910434A14}"/>
                  </a:ext>
                </a:extLst>
              </p:cNvPr>
              <p:cNvGraphicFramePr>
                <a:graphicFrameLocks noGrp="1"/>
              </p:cNvGraphicFramePr>
              <p:nvPr>
                <p:ph type="tbl" sz="quarter" idx="22"/>
              </p:nvPr>
            </p:nvGraphicFramePr>
            <p:xfrm>
              <a:off x="1736177" y="2887767"/>
              <a:ext cx="5810847" cy="694183"/>
            </p:xfrm>
            <a:graphic>
              <a:graphicData uri="http://schemas.openxmlformats.org/drawingml/2006/table">
                <a:tbl>
                  <a:tblPr firstRow="1" bandRow="1">
                    <a:tableStyleId>{5C22544A-7EE6-4342-B048-85BDC9FD1C3A}</a:tableStyleId>
                  </a:tblPr>
                  <a:tblGrid>
                    <a:gridCol w="3067647">
                      <a:extLst>
                        <a:ext uri="{9D8B030D-6E8A-4147-A177-3AD203B41FA5}">
                          <a16:colId xmlns:a16="http://schemas.microsoft.com/office/drawing/2014/main" val="2911801945"/>
                        </a:ext>
                      </a:extLst>
                    </a:gridCol>
                    <a:gridCol w="685800">
                      <a:extLst>
                        <a:ext uri="{9D8B030D-6E8A-4147-A177-3AD203B41FA5}">
                          <a16:colId xmlns:a16="http://schemas.microsoft.com/office/drawing/2014/main" val="2232661565"/>
                        </a:ext>
                      </a:extLst>
                    </a:gridCol>
                    <a:gridCol w="685800">
                      <a:extLst>
                        <a:ext uri="{9D8B030D-6E8A-4147-A177-3AD203B41FA5}">
                          <a16:colId xmlns:a16="http://schemas.microsoft.com/office/drawing/2014/main" val="3297454400"/>
                        </a:ext>
                      </a:extLst>
                    </a:gridCol>
                    <a:gridCol w="685800">
                      <a:extLst>
                        <a:ext uri="{9D8B030D-6E8A-4147-A177-3AD203B41FA5}">
                          <a16:colId xmlns:a16="http://schemas.microsoft.com/office/drawing/2014/main" val="3078131080"/>
                        </a:ext>
                      </a:extLst>
                    </a:gridCol>
                    <a:gridCol w="685800">
                      <a:extLst>
                        <a:ext uri="{9D8B030D-6E8A-4147-A177-3AD203B41FA5}">
                          <a16:colId xmlns:a16="http://schemas.microsoft.com/office/drawing/2014/main" val="1873949250"/>
                        </a:ext>
                      </a:extLst>
                    </a:gridCol>
                  </a:tblGrid>
                  <a:tr h="3675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000000"/>
                              </a:solidFill>
                            </a:rPr>
                            <a:t>Area in Upper Tail</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0.10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0.025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266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600" b="1" i="1" smtClean="0">
                                  <a:latin typeface="Cambria Math" panose="02040503050406030204" pitchFamily="18" charset="0"/>
                                </a:rPr>
                                <m:t>𝑭</m:t>
                              </m:r>
                            </m:oMath>
                          </a14:m>
                          <a:r>
                            <a:rPr lang="en-US" sz="1600" b="1" i="0" u="none" strike="noStrike" kern="1200" dirty="0">
                              <a:solidFill>
                                <a:srgbClr val="000000"/>
                              </a:solidFill>
                              <a:effectLst/>
                              <a:latin typeface="Calibri" panose="020F0502020204030204" pitchFamily="34" charset="0"/>
                              <a:ea typeface="+mn-ea"/>
                              <a:cs typeface="+mn-cs"/>
                            </a:rPr>
                            <a:t> Value (</a:t>
                          </a:r>
                          <a14:m>
                            <m:oMath xmlns:m="http://schemas.openxmlformats.org/officeDocument/2006/math">
                              <m:sSub>
                                <m:sSubPr>
                                  <m:ctrlPr>
                                    <a:rPr lang="en-US" sz="1600" b="1" i="1" u="none" strike="noStrike" kern="1200" smtClean="0">
                                      <a:solidFill>
                                        <a:srgbClr val="000000"/>
                                      </a:solidFill>
                                      <a:effectLst/>
                                      <a:latin typeface="Cambria Math" panose="02040503050406030204" pitchFamily="18" charset="0"/>
                                      <a:ea typeface="+mn-ea"/>
                                      <a:cs typeface="+mn-cs"/>
                                    </a:rPr>
                                  </m:ctrlPr>
                                </m:sSubPr>
                                <m:e>
                                  <m:r>
                                    <a:rPr lang="en-US" sz="1600" b="1" i="1" u="none" strike="noStrike" kern="1200" smtClean="0">
                                      <a:solidFill>
                                        <a:srgbClr val="000000"/>
                                      </a:solidFill>
                                      <a:effectLst/>
                                      <a:latin typeface="Cambria Math" panose="02040503050406030204" pitchFamily="18" charset="0"/>
                                      <a:ea typeface="+mn-ea"/>
                                      <a:cs typeface="+mn-cs"/>
                                    </a:rPr>
                                    <m:t>𝒅𝒇</m:t>
                                  </m:r>
                                </m:e>
                                <m:sub>
                                  <m:r>
                                    <a:rPr lang="en-US" sz="1600" b="1" i="1" u="none" strike="noStrike" kern="1200" smtClean="0">
                                      <a:solidFill>
                                        <a:srgbClr val="000000"/>
                                      </a:solidFill>
                                      <a:effectLst/>
                                      <a:latin typeface="Cambria Math" panose="02040503050406030204" pitchFamily="18" charset="0"/>
                                      <a:ea typeface="+mn-ea"/>
                                      <a:cs typeface="+mn-cs"/>
                                    </a:rPr>
                                    <m:t>𝟏</m:t>
                                  </m:r>
                                </m:sub>
                              </m:sSub>
                              <m:r>
                                <a:rPr lang="en-US" sz="1600" b="1" i="1" u="none" strike="noStrike" kern="1200" smtClean="0">
                                  <a:solidFill>
                                    <a:srgbClr val="000000"/>
                                  </a:solidFill>
                                  <a:effectLst/>
                                  <a:latin typeface="Cambria Math" panose="02040503050406030204" pitchFamily="18" charset="0"/>
                                  <a:ea typeface="+mn-ea"/>
                                  <a:cs typeface="+mn-cs"/>
                                </a:rPr>
                                <m:t>=</m:t>
                              </m:r>
                              <m:r>
                                <a:rPr lang="en-US" sz="1600" b="1" i="1" u="none" strike="noStrike" kern="1200" smtClean="0">
                                  <a:solidFill>
                                    <a:srgbClr val="000000"/>
                                  </a:solidFill>
                                  <a:effectLst/>
                                  <a:latin typeface="Cambria Math" panose="02040503050406030204" pitchFamily="18" charset="0"/>
                                  <a:ea typeface="+mn-ea"/>
                                  <a:cs typeface="+mn-cs"/>
                                </a:rPr>
                                <m:t>𝟐𝟓</m:t>
                              </m:r>
                              <m:r>
                                <a:rPr lang="en-US" sz="1600" b="1" i="1" u="none" strike="noStrike" kern="1200" smtClean="0">
                                  <a:solidFill>
                                    <a:srgbClr val="000000"/>
                                  </a:solidFill>
                                  <a:effectLst/>
                                  <a:latin typeface="Cambria Math" panose="02040503050406030204" pitchFamily="18" charset="0"/>
                                  <a:ea typeface="+mn-ea"/>
                                  <a:cs typeface="+mn-cs"/>
                                </a:rPr>
                                <m:t>,</m:t>
                              </m:r>
                            </m:oMath>
                          </a14:m>
                          <a:r>
                            <a:rPr lang="en-US" sz="1600" b="1" i="0" u="none" strike="noStrike" kern="1200" dirty="0">
                              <a:solidFill>
                                <a:srgbClr val="000000"/>
                              </a:solidFill>
                              <a:effectLst/>
                              <a:latin typeface="Calibri" panose="020F0502020204030204" pitchFamily="34" charset="0"/>
                              <a:ea typeface="+mn-ea"/>
                              <a:cs typeface="+mn-cs"/>
                            </a:rPr>
                            <a:t> </a:t>
                          </a:r>
                          <a14:m>
                            <m:oMath xmlns:m="http://schemas.openxmlformats.org/officeDocument/2006/math">
                              <m:sSub>
                                <m:sSubPr>
                                  <m:ctrlPr>
                                    <a:rPr lang="en-US" sz="1600" b="1" i="1" u="none" strike="noStrike" kern="1200" smtClean="0">
                                      <a:solidFill>
                                        <a:srgbClr val="000000"/>
                                      </a:solidFill>
                                      <a:effectLst/>
                                      <a:latin typeface="Cambria Math" panose="02040503050406030204" pitchFamily="18" charset="0"/>
                                      <a:ea typeface="+mn-ea"/>
                                      <a:cs typeface="+mn-cs"/>
                                    </a:rPr>
                                  </m:ctrlPr>
                                </m:sSubPr>
                                <m:e>
                                  <m:r>
                                    <a:rPr lang="en-US" sz="1600" b="1" i="1" u="none" strike="noStrike" kern="1200" smtClean="0">
                                      <a:solidFill>
                                        <a:srgbClr val="000000"/>
                                      </a:solidFill>
                                      <a:effectLst/>
                                      <a:latin typeface="Cambria Math" panose="02040503050406030204" pitchFamily="18" charset="0"/>
                                      <a:ea typeface="+mn-ea"/>
                                      <a:cs typeface="+mn-cs"/>
                                    </a:rPr>
                                    <m:t>𝒅𝒇</m:t>
                                  </m:r>
                                </m:e>
                                <m:sub>
                                  <m:r>
                                    <a:rPr lang="en-US" sz="1600" b="1" i="1" u="none" strike="noStrike" kern="1200" smtClean="0">
                                      <a:solidFill>
                                        <a:srgbClr val="000000"/>
                                      </a:solidFill>
                                      <a:effectLst/>
                                      <a:latin typeface="Cambria Math" panose="02040503050406030204" pitchFamily="18" charset="0"/>
                                      <a:ea typeface="+mn-ea"/>
                                      <a:cs typeface="+mn-cs"/>
                                    </a:rPr>
                                    <m:t>𝟐</m:t>
                                  </m:r>
                                </m:sub>
                              </m:sSub>
                              <m:r>
                                <a:rPr lang="en-US" sz="1600" b="1" i="1" u="none" strike="noStrike" kern="1200" smtClean="0">
                                  <a:solidFill>
                                    <a:srgbClr val="000000"/>
                                  </a:solidFill>
                                  <a:effectLst/>
                                  <a:latin typeface="Cambria Math" panose="02040503050406030204" pitchFamily="18" charset="0"/>
                                  <a:ea typeface="+mn-ea"/>
                                  <a:cs typeface="+mn-cs"/>
                                </a:rPr>
                                <m:t>=</m:t>
                              </m:r>
                              <m:r>
                                <a:rPr lang="en-US" sz="1600" b="1" i="1" u="none" strike="noStrike" kern="1200" smtClean="0">
                                  <a:solidFill>
                                    <a:srgbClr val="000000"/>
                                  </a:solidFill>
                                  <a:effectLst/>
                                  <a:latin typeface="Cambria Math" panose="02040503050406030204" pitchFamily="18" charset="0"/>
                                  <a:ea typeface="+mn-ea"/>
                                  <a:cs typeface="+mn-cs"/>
                                </a:rPr>
                                <m:t>𝟏𝟓</m:t>
                              </m:r>
                            </m:oMath>
                          </a14:m>
                          <a:r>
                            <a:rPr lang="en-US" sz="1600" b="1" i="0" u="none" strike="noStrike" kern="1200" dirty="0">
                              <a:solidFill>
                                <a:srgbClr val="000000"/>
                              </a:solidFill>
                              <a:effectLst/>
                              <a:latin typeface="Calibri" panose="020F0502020204030204" pitchFamily="34" charset="0"/>
                              <a:ea typeface="+mn-ea"/>
                              <a:cs typeface="+mn-cs"/>
                            </a:rPr>
                            <a:t>)</a:t>
                          </a: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1.89</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2.28</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2.69</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3.28</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Choice>
        <mc:Fallback xmlns="">
          <p:graphicFrame>
            <p:nvGraphicFramePr>
              <p:cNvPr id="8" name="Table 8">
                <a:extLst>
                  <a:ext uri="{FF2B5EF4-FFF2-40B4-BE49-F238E27FC236}">
                    <a16:creationId xmlns:a16="http://schemas.microsoft.com/office/drawing/2014/main" id="{699A4297-B870-E801-3AA1-756910434A14}"/>
                  </a:ext>
                </a:extLst>
              </p:cNvPr>
              <p:cNvGraphicFramePr>
                <a:graphicFrameLocks noGrp="1"/>
              </p:cNvGraphicFramePr>
              <p:nvPr>
                <p:ph type="tbl" sz="quarter" idx="22"/>
                <p:extLst>
                  <p:ext uri="{D42A27DB-BD31-4B8C-83A1-F6EECF244321}">
                    <p14:modId xmlns:p14="http://schemas.microsoft.com/office/powerpoint/2010/main" val="2638115412"/>
                  </p:ext>
                </p:extLst>
              </p:nvPr>
            </p:nvGraphicFramePr>
            <p:xfrm>
              <a:off x="1736177" y="2887767"/>
              <a:ext cx="5810847" cy="694183"/>
            </p:xfrm>
            <a:graphic>
              <a:graphicData uri="http://schemas.openxmlformats.org/drawingml/2006/table">
                <a:tbl>
                  <a:tblPr firstRow="1" bandRow="1">
                    <a:tableStyleId>{5C22544A-7EE6-4342-B048-85BDC9FD1C3A}</a:tableStyleId>
                  </a:tblPr>
                  <a:tblGrid>
                    <a:gridCol w="3067647">
                      <a:extLst>
                        <a:ext uri="{9D8B030D-6E8A-4147-A177-3AD203B41FA5}">
                          <a16:colId xmlns:a16="http://schemas.microsoft.com/office/drawing/2014/main" val="2911801945"/>
                        </a:ext>
                      </a:extLst>
                    </a:gridCol>
                    <a:gridCol w="685800">
                      <a:extLst>
                        <a:ext uri="{9D8B030D-6E8A-4147-A177-3AD203B41FA5}">
                          <a16:colId xmlns:a16="http://schemas.microsoft.com/office/drawing/2014/main" val="2232661565"/>
                        </a:ext>
                      </a:extLst>
                    </a:gridCol>
                    <a:gridCol w="685800">
                      <a:extLst>
                        <a:ext uri="{9D8B030D-6E8A-4147-A177-3AD203B41FA5}">
                          <a16:colId xmlns:a16="http://schemas.microsoft.com/office/drawing/2014/main" val="3297454400"/>
                        </a:ext>
                      </a:extLst>
                    </a:gridCol>
                    <a:gridCol w="685800">
                      <a:extLst>
                        <a:ext uri="{9D8B030D-6E8A-4147-A177-3AD203B41FA5}">
                          <a16:colId xmlns:a16="http://schemas.microsoft.com/office/drawing/2014/main" val="3078131080"/>
                        </a:ext>
                      </a:extLst>
                    </a:gridCol>
                    <a:gridCol w="685800">
                      <a:extLst>
                        <a:ext uri="{9D8B030D-6E8A-4147-A177-3AD203B41FA5}">
                          <a16:colId xmlns:a16="http://schemas.microsoft.com/office/drawing/2014/main" val="1873949250"/>
                        </a:ext>
                      </a:extLst>
                    </a:gridCol>
                  </a:tblGrid>
                  <a:tr h="3675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000000"/>
                              </a:solidFill>
                            </a:rPr>
                            <a:t>Area in Upper Tail</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0.10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0.025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26674">
                    <a:tc>
                      <a:txBody>
                        <a:bodyPr/>
                        <a:lstStyle/>
                        <a:p>
                          <a:endParaRPr lang="en-US"/>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t="-122222" r="-89683" b="-42593"/>
                          </a:stretch>
                        </a:blipFill>
                      </a:tcPr>
                    </a:tc>
                    <a:tc>
                      <a:txBody>
                        <a:bodyPr/>
                        <a:lstStyle/>
                        <a:p>
                          <a:pPr algn="ctr" fontAlgn="b"/>
                          <a:r>
                            <a:rPr lang="en-US" sz="1800" b="0" i="0" u="none" strike="noStrike" dirty="0">
                              <a:solidFill>
                                <a:srgbClr val="000000"/>
                              </a:solidFill>
                              <a:effectLst/>
                              <a:latin typeface="Calibri" panose="020F0502020204030204" pitchFamily="34" charset="0"/>
                            </a:rPr>
                            <a:t>1.89</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2.28</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2.69</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3.28</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8200" y="3771193"/>
                <a:ext cx="10484504" cy="1797905"/>
              </a:xfrm>
            </p:spPr>
            <p:txBody>
              <a:bodyPr>
                <a:noAutofit/>
              </a:bodyPr>
              <a:lstStyle/>
              <a:p>
                <a:pPr>
                  <a:lnSpc>
                    <a:spcPct val="100000"/>
                  </a:lnSpc>
                  <a:spcBef>
                    <a:spcPts val="600"/>
                  </a:spcBef>
                  <a:spcAft>
                    <a:spcPts val="0"/>
                  </a:spcAft>
                </a:pPr>
                <a:r>
                  <a:rPr lang="en-US" sz="2000" dirty="0">
                    <a:cs typeface="Arial" panose="020B0604020202020204" pitchFamily="34" charset="0"/>
                  </a:rPr>
                  <a:t>Thus, the </a:t>
                </a:r>
                <a:r>
                  <a:rPr lang="en-US" sz="2000" i="1" dirty="0">
                    <a:cs typeface="Arial" panose="020B0604020202020204" pitchFamily="34" charset="0"/>
                  </a:rPr>
                  <a:t>p</a:t>
                </a:r>
                <a:r>
                  <a:rPr lang="en-US" sz="2000" dirty="0">
                    <a:cs typeface="Arial" panose="020B0604020202020204" pitchFamily="34" charset="0"/>
                  </a:rPr>
                  <a:t>-value is twice the 0.025 to 0.05 range, or </a:t>
                </a:r>
                <a14:m>
                  <m:oMath xmlns:m="http://schemas.openxmlformats.org/officeDocument/2006/math">
                    <m:r>
                      <a:rPr lang="en-US" sz="2000" i="1" dirty="0">
                        <a:latin typeface="Cambria Math" panose="02040503050406030204" pitchFamily="18" charset="0"/>
                        <a:cs typeface="Arial" panose="020B0604020202020204" pitchFamily="34" charset="0"/>
                      </a:rPr>
                      <m:t>0.</m:t>
                    </m:r>
                    <m:r>
                      <a:rPr lang="en-US" sz="2000" b="0" i="1" dirty="0" smtClean="0">
                        <a:latin typeface="Cambria Math" panose="02040503050406030204" pitchFamily="18" charset="0"/>
                        <a:cs typeface="Arial" panose="020B0604020202020204" pitchFamily="34" charset="0"/>
                      </a:rPr>
                      <m:t>05</m:t>
                    </m:r>
                    <m:r>
                      <a:rPr lang="en-US" sz="2000" i="1" dirty="0">
                        <a:latin typeface="Cambria Math" panose="02040503050406030204" pitchFamily="18" charset="0"/>
                        <a:cs typeface="Arial" panose="020B0604020202020204" pitchFamily="34" charset="0"/>
                      </a:rPr>
                      <m:t>≤</m:t>
                    </m:r>
                    <m:r>
                      <a:rPr lang="en-US" sz="2000" i="1" dirty="0">
                        <a:latin typeface="Cambria Math" panose="02040503050406030204" pitchFamily="18" charset="0"/>
                        <a:cs typeface="Arial" panose="020B0604020202020204" pitchFamily="34" charset="0"/>
                      </a:rPr>
                      <m:t>𝑝</m:t>
                    </m:r>
                    <m:r>
                      <m:rPr>
                        <m:nor/>
                      </m:rPr>
                      <a:rPr lang="en-US" sz="2000" i="0" dirty="0">
                        <a:latin typeface="Cambria Math" panose="02040503050406030204" pitchFamily="18" charset="0"/>
                        <a:cs typeface="Arial" panose="020B0604020202020204" pitchFamily="34" charset="0"/>
                      </a:rPr>
                      <m:t>−</m:t>
                    </m:r>
                    <m:r>
                      <m:rPr>
                        <m:nor/>
                      </m:rPr>
                      <a:rPr lang="en-US" sz="2000" dirty="0">
                        <a:latin typeface="Cambria Math" panose="02040503050406030204" pitchFamily="18" charset="0"/>
                        <a:cs typeface="Arial" panose="020B0604020202020204" pitchFamily="34" charset="0"/>
                      </a:rPr>
                      <m:t>value</m:t>
                    </m:r>
                    <m:r>
                      <a:rPr lang="en-US" sz="2000" i="1" dirty="0">
                        <a:latin typeface="Cambria Math" panose="02040503050406030204" pitchFamily="18" charset="0"/>
                        <a:cs typeface="Arial" panose="020B0604020202020204" pitchFamily="34" charset="0"/>
                      </a:rPr>
                      <m:t>≤ 0.</m:t>
                    </m:r>
                    <m:r>
                      <a:rPr lang="en-US" sz="2000" b="0" i="1" dirty="0" smtClean="0">
                        <a:latin typeface="Cambria Math" panose="02040503050406030204" pitchFamily="18" charset="0"/>
                        <a:cs typeface="Arial" panose="020B0604020202020204" pitchFamily="34" charset="0"/>
                      </a:rPr>
                      <m:t>10</m:t>
                    </m:r>
                  </m:oMath>
                </a14:m>
                <a:r>
                  <a:rPr lang="en-US" sz="2000" dirty="0">
                    <a:cs typeface="Arial" panose="020B0604020202020204" pitchFamily="34" charset="0"/>
                  </a:rPr>
                  <a:t>. </a:t>
                </a:r>
              </a:p>
              <a:p>
                <a:pPr>
                  <a:lnSpc>
                    <a:spcPct val="100000"/>
                  </a:lnSpc>
                  <a:spcBef>
                    <a:spcPts val="600"/>
                  </a:spcBef>
                  <a:spcAft>
                    <a:spcPts val="0"/>
                  </a:spcAft>
                </a:pPr>
                <a:r>
                  <a:rPr lang="en-US" sz="2000" dirty="0"/>
                  <a:t>Excel provides the exact </a:t>
                </a:r>
                <a:r>
                  <a:rPr lang="en-US" sz="2000" i="1" dirty="0"/>
                  <a:t>p</a:t>
                </a:r>
                <a:r>
                  <a:rPr lang="en-US" sz="2000" dirty="0"/>
                  <a:t>-value as </a:t>
                </a: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2</m:t>
                    </m:r>
                    <m:r>
                      <m:rPr>
                        <m:nor/>
                      </m:rPr>
                      <a:rPr lang="en-US" sz="2000" b="0" i="0" dirty="0" smtClean="0">
                        <a:latin typeface="Cambria Math" panose="02040503050406030204" pitchFamily="18" charset="0"/>
                        <a:ea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F</m:t>
                    </m:r>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DIST</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RT</m:t>
                    </m:r>
                    <m:r>
                      <m:rPr>
                        <m:nor/>
                      </m:rPr>
                      <a:rPr lang="en-US" sz="2000" i="0" dirty="0" smtClean="0">
                        <a:latin typeface="Cambria Math" panose="02040503050406030204" pitchFamily="18" charset="0"/>
                        <a:cs typeface="Arial" panose="020B0604020202020204" pitchFamily="34" charset="0"/>
                      </a:rPr>
                      <m:t>(2.40,25,15)</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0.081</m:t>
                    </m:r>
                    <m:r>
                      <a:rPr lang="en-US" sz="2000" b="0" i="1" dirty="0" smtClean="0">
                        <a:solidFill>
                          <a:srgbClr val="FF0000"/>
                        </a:solidFill>
                        <a:latin typeface="Cambria Math" panose="02040503050406030204" pitchFamily="18" charset="0"/>
                        <a:cs typeface="Arial" panose="020B0604020202020204" pitchFamily="34" charset="0"/>
                      </a:rPr>
                      <m:t>2</m:t>
                    </m:r>
                  </m:oMath>
                </a14:m>
                <a:endParaRPr lang="en-US" sz="2000" dirty="0"/>
              </a:p>
              <a:p>
                <a:pPr>
                  <a:lnSpc>
                    <a:spcPct val="100000"/>
                  </a:lnSpc>
                  <a:spcBef>
                    <a:spcPts val="600"/>
                  </a:spcBef>
                  <a:spcAft>
                    <a:spcPts val="0"/>
                  </a:spcAft>
                </a:pPr>
                <a:r>
                  <a:rPr lang="en-US" sz="2000" dirty="0"/>
                  <a:t>With </a:t>
                </a:r>
                <a14:m>
                  <m:oMath xmlns:m="http://schemas.openxmlformats.org/officeDocument/2006/math">
                    <m:r>
                      <a:rPr lang="en-US" sz="2000" b="0" i="1" smtClean="0">
                        <a:latin typeface="Cambria Math" panose="02040503050406030204" pitchFamily="18" charset="0"/>
                      </a:rPr>
                      <m:t>𝑝</m:t>
                    </m:r>
                    <m:r>
                      <m:rPr>
                        <m:nor/>
                      </m:rPr>
                      <a:rPr lang="en-US" sz="2000" b="0" i="0" smtClean="0">
                        <a:latin typeface="Arial" panose="020B0604020202020204" pitchFamily="34" charset="0"/>
                        <a:cs typeface="Arial" panose="020B0604020202020204" pitchFamily="34" charset="0"/>
                      </a:rPr>
                      <m:t>−</m:t>
                    </m:r>
                    <m:r>
                      <m:rPr>
                        <m:nor/>
                      </m:rPr>
                      <a:rPr lang="en-US" sz="2000" b="0" i="0" smtClean="0">
                        <a:latin typeface="Arial" panose="020B0604020202020204" pitchFamily="34" charset="0"/>
                        <a:cs typeface="Arial" panose="020B0604020202020204" pitchFamily="34" charset="0"/>
                      </a:rPr>
                      <m:t>value</m:t>
                    </m:r>
                    <m:r>
                      <a:rPr lang="en-US" sz="2000" i="1">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latin typeface="Cambria Math" panose="02040503050406030204" pitchFamily="18" charset="0"/>
                        <a:ea typeface="Cambria Math" panose="02040503050406030204" pitchFamily="18" charset="0"/>
                        <a:cs typeface="Arial" panose="020B0604020202020204" pitchFamily="34" charset="0"/>
                      </a:rPr>
                      <m:t>=0.10</m:t>
                    </m:r>
                  </m:oMath>
                </a14:m>
                <a:r>
                  <a:rPr lang="en-US" sz="2000" dirty="0"/>
                  <a:t>, we reject the null hypothesis and conclude that the </a:t>
                </a:r>
                <a:r>
                  <a:rPr lang="en-US" sz="2000" dirty="0" err="1"/>
                  <a:t>Dullus</a:t>
                </a:r>
                <a:r>
                  <a:rPr lang="en-US" sz="2000" dirty="0"/>
                  <a:t> County School administrators give special consideration to the better (lower) variance service offered by the Gulf Park Company.</a:t>
                </a:r>
              </a:p>
              <a:p>
                <a:pPr>
                  <a:lnSpc>
                    <a:spcPct val="100000"/>
                  </a:lnSpc>
                  <a:spcBef>
                    <a:spcPts val="600"/>
                  </a:spcBef>
                </a:pPr>
                <a:endParaRPr lang="en-US" sz="2000" dirty="0"/>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8200" y="3771193"/>
                <a:ext cx="10484504" cy="1797905"/>
              </a:xfrm>
              <a:blipFill>
                <a:blip r:embed="rId6"/>
                <a:stretch>
                  <a:fillRect l="-1513" t="-4068" r="-1803" b="-2034"/>
                </a:stretch>
              </a:blipFill>
            </p:spPr>
            <p:txBody>
              <a:bodyPr/>
              <a:lstStyle/>
              <a:p>
                <a:r>
                  <a:rPr lang="en-US">
                    <a:noFill/>
                  </a:rPr>
                  <a:t> </a:t>
                </a:r>
              </a:p>
            </p:txBody>
          </p:sp>
        </mc:Fallback>
      </mc:AlternateContent>
    </p:spTree>
    <p:extLst>
      <p:ext uri="{BB962C8B-B14F-4D97-AF65-F5344CB8AC3E}">
        <p14:creationId xmlns:p14="http://schemas.microsoft.com/office/powerpoint/2010/main" val="20939425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472968" y="365125"/>
            <a:ext cx="11201400" cy="672105"/>
          </a:xfrm>
        </p:spPr>
        <p:txBody>
          <a:bodyPr/>
          <a:lstStyle/>
          <a:p>
            <a:r>
              <a:rPr lang="en-US" sz="3200" dirty="0"/>
              <a:t>11.2 Critical Value Approach to a Two-Tailed Test About Two Population Variances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889071"/>
                <a:ext cx="10515599" cy="672105"/>
              </a:xfrm>
            </p:spPr>
            <p:txBody>
              <a:bodyPr>
                <a:normAutofit/>
              </a:bodyPr>
              <a:lstStyle/>
              <a:p>
                <a:pPr>
                  <a:lnSpc>
                    <a:spcPct val="100000"/>
                  </a:lnSpc>
                  <a:spcBef>
                    <a:spcPts val="600"/>
                  </a:spcBef>
                </a:pPr>
                <a:r>
                  <a:rPr lang="en-US" sz="2000" dirty="0"/>
                  <a:t>With </a:t>
                </a:r>
                <a14:m>
                  <m:oMath xmlns:m="http://schemas.openxmlformats.org/officeDocument/2006/math">
                    <m:r>
                      <a:rPr lang="el-GR" sz="2000" b="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rPr>
                      <m:t>.10</m:t>
                    </m:r>
                  </m:oMath>
                </a14:m>
                <a:r>
                  <a:rPr lang="en-US" sz="2000" dirty="0"/>
                  <a:t> for a two-tailed test, </a:t>
                </a:r>
                <a14:m>
                  <m:oMath xmlns:m="http://schemas.openxmlformats.org/officeDocument/2006/math">
                    <m:sSub>
                      <m:sSubPr>
                        <m:ctrlPr>
                          <a:rPr lang="en-US" sz="2000" i="1">
                            <a:latin typeface="Cambria Math" panose="02040503050406030204" pitchFamily="18" charset="0"/>
                          </a:rPr>
                        </m:ctrlPr>
                      </m:sSubPr>
                      <m:e>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𝐹</m:t>
                            </m:r>
                          </m:e>
                          <m:sub>
                            <m:f>
                              <m:fPr>
                                <m:type m:val="lin"/>
                                <m:ctrlPr>
                                  <a:rPr lang="en-US" sz="2000" i="1" smtClean="0">
                                    <a:latin typeface="Cambria Math" panose="02040503050406030204" pitchFamily="18" charset="0"/>
                                  </a:rPr>
                                </m:ctrlPr>
                              </m:fPr>
                              <m:num>
                                <m:r>
                                  <a:rPr lang="en-US" sz="2000" i="1" smtClean="0">
                                    <a:latin typeface="Cambria Math" panose="02040503050406030204" pitchFamily="18" charset="0"/>
                                    <a:ea typeface="Cambria Math" panose="02040503050406030204" pitchFamily="18" charset="0"/>
                                  </a:rPr>
                                  <m:t>𝛼</m:t>
                                </m:r>
                              </m:num>
                              <m:den>
                                <m:r>
                                  <a:rPr lang="en-US" sz="2000" b="0" i="1" smtClean="0">
                                    <a:latin typeface="Cambria Math" panose="02040503050406030204" pitchFamily="18" charset="0"/>
                                  </a:rPr>
                                  <m:t>2</m:t>
                                </m:r>
                              </m:den>
                            </m:f>
                          </m:sub>
                        </m:sSub>
                        <m:r>
                          <a:rPr lang="en-US" sz="2000" b="0" i="1" smtClean="0">
                            <a:latin typeface="Cambria Math" panose="02040503050406030204" pitchFamily="18" charset="0"/>
                          </a:rPr>
                          <m:t>=</m:t>
                        </m:r>
                        <m:r>
                          <a:rPr lang="en-US" sz="2000" i="1">
                            <a:latin typeface="Cambria Math" panose="02040503050406030204" pitchFamily="18" charset="0"/>
                          </a:rPr>
                          <m:t>𝐹</m:t>
                        </m:r>
                      </m:e>
                      <m:sub>
                        <m:r>
                          <a:rPr lang="en-US" sz="2000" i="1">
                            <a:latin typeface="Cambria Math" panose="02040503050406030204" pitchFamily="18" charset="0"/>
                          </a:rPr>
                          <m:t>0.05</m:t>
                        </m:r>
                      </m:sub>
                    </m:sSub>
                  </m:oMath>
                </a14:m>
                <a:r>
                  <a:rPr lang="en-US" sz="2000" dirty="0"/>
                  <a:t> provides the value for the upper tail hypothesis test. Using Table 4 in Appendix B, with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𝑑𝑓</m:t>
                        </m:r>
                      </m:e>
                      <m:sub>
                        <m:r>
                          <a:rPr lang="en-US" sz="2000" i="1">
                            <a:latin typeface="Cambria Math" panose="02040503050406030204" pitchFamily="18" charset="0"/>
                          </a:rPr>
                          <m:t>1</m:t>
                        </m:r>
                      </m:sub>
                    </m:sSub>
                    <m:r>
                      <a:rPr lang="en-US" sz="2000" i="1">
                        <a:latin typeface="Cambria Math" panose="02040503050406030204" pitchFamily="18" charset="0"/>
                      </a:rPr>
                      <m:t>=25</m:t>
                    </m:r>
                  </m:oMath>
                </a14:m>
                <a:r>
                  <a:rPr lang="en-US" sz="2000" dirty="0">
                    <a:latin typeface="Calibri" panose="020F0502020204030204" pitchFamily="34" charset="0"/>
                  </a:rPr>
                  <a:t> </a:t>
                </a:r>
                <a:r>
                  <a:rPr lang="en-US" sz="2000" dirty="0">
                    <a:latin typeface="Arial" panose="020B0604020202020204" pitchFamily="34" charset="0"/>
                    <a:cs typeface="Arial" panose="020B0604020202020204" pitchFamily="34" charset="0"/>
                  </a:rPr>
                  <a:t>and</a:t>
                </a:r>
                <a:r>
                  <a:rPr lang="en-US" sz="2000" dirty="0">
                    <a:latin typeface="Calibri" panose="020F0502020204030204" pitchFamily="34" charset="0"/>
                  </a:rPr>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𝑑𝑓</m:t>
                        </m:r>
                      </m:e>
                      <m:sub>
                        <m:r>
                          <a:rPr lang="en-US" sz="2000" i="1">
                            <a:latin typeface="Cambria Math" panose="02040503050406030204" pitchFamily="18" charset="0"/>
                          </a:rPr>
                          <m:t>2</m:t>
                        </m:r>
                      </m:sub>
                    </m:sSub>
                    <m:r>
                      <a:rPr lang="en-US" sz="2000" i="1">
                        <a:latin typeface="Cambria Math" panose="02040503050406030204" pitchFamily="18" charset="0"/>
                      </a:rPr>
                      <m:t>=15</m:t>
                    </m:r>
                  </m:oMath>
                </a14:m>
                <a:r>
                  <a:rPr lang="en-US" sz="2000" dirty="0"/>
                  <a:t> we have</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0" y="1889071"/>
                <a:ext cx="10515599" cy="672105"/>
              </a:xfrm>
              <a:blipFill>
                <a:blip r:embed="rId3"/>
                <a:stretch>
                  <a:fillRect l="-1508" t="-40909" b="-3818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D66F5813-8D3E-A28F-05F5-86A235B1E8BE}"/>
                  </a:ext>
                </a:extLst>
              </p:cNvPr>
              <p:cNvGraphicFramePr>
                <a:graphicFrameLocks noGrp="1"/>
              </p:cNvGraphicFramePr>
              <p:nvPr>
                <p:ph type="tbl" sz="quarter" idx="22"/>
              </p:nvPr>
            </p:nvGraphicFramePr>
            <p:xfrm>
              <a:off x="1767709" y="2655056"/>
              <a:ext cx="5810847" cy="694183"/>
            </p:xfrm>
            <a:graphic>
              <a:graphicData uri="http://schemas.openxmlformats.org/drawingml/2006/table">
                <a:tbl>
                  <a:tblPr firstRow="1" bandRow="1">
                    <a:tableStyleId>{5C22544A-7EE6-4342-B048-85BDC9FD1C3A}</a:tableStyleId>
                  </a:tblPr>
                  <a:tblGrid>
                    <a:gridCol w="3067647">
                      <a:extLst>
                        <a:ext uri="{9D8B030D-6E8A-4147-A177-3AD203B41FA5}">
                          <a16:colId xmlns:a16="http://schemas.microsoft.com/office/drawing/2014/main" val="2911801945"/>
                        </a:ext>
                      </a:extLst>
                    </a:gridCol>
                    <a:gridCol w="685800">
                      <a:extLst>
                        <a:ext uri="{9D8B030D-6E8A-4147-A177-3AD203B41FA5}">
                          <a16:colId xmlns:a16="http://schemas.microsoft.com/office/drawing/2014/main" val="2232661565"/>
                        </a:ext>
                      </a:extLst>
                    </a:gridCol>
                    <a:gridCol w="685800">
                      <a:extLst>
                        <a:ext uri="{9D8B030D-6E8A-4147-A177-3AD203B41FA5}">
                          <a16:colId xmlns:a16="http://schemas.microsoft.com/office/drawing/2014/main" val="3297454400"/>
                        </a:ext>
                      </a:extLst>
                    </a:gridCol>
                    <a:gridCol w="685800">
                      <a:extLst>
                        <a:ext uri="{9D8B030D-6E8A-4147-A177-3AD203B41FA5}">
                          <a16:colId xmlns:a16="http://schemas.microsoft.com/office/drawing/2014/main" val="3078131080"/>
                        </a:ext>
                      </a:extLst>
                    </a:gridCol>
                    <a:gridCol w="685800">
                      <a:extLst>
                        <a:ext uri="{9D8B030D-6E8A-4147-A177-3AD203B41FA5}">
                          <a16:colId xmlns:a16="http://schemas.microsoft.com/office/drawing/2014/main" val="1873949250"/>
                        </a:ext>
                      </a:extLst>
                    </a:gridCol>
                  </a:tblGrid>
                  <a:tr h="3675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000000"/>
                              </a:solidFill>
                            </a:rPr>
                            <a:t>Area in Upper Tail</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0.10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0.025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266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600" b="1" i="1" smtClean="0">
                                  <a:latin typeface="Cambria Math" panose="02040503050406030204" pitchFamily="18" charset="0"/>
                                </a:rPr>
                                <m:t>𝑭</m:t>
                              </m:r>
                            </m:oMath>
                          </a14:m>
                          <a:r>
                            <a:rPr lang="en-US" sz="1600" b="1" i="0" u="none" strike="noStrike" kern="1200" dirty="0">
                              <a:solidFill>
                                <a:srgbClr val="000000"/>
                              </a:solidFill>
                              <a:effectLst/>
                              <a:latin typeface="Calibri" panose="020F0502020204030204" pitchFamily="34" charset="0"/>
                              <a:ea typeface="+mn-ea"/>
                              <a:cs typeface="+mn-cs"/>
                            </a:rPr>
                            <a:t> Value (</a:t>
                          </a:r>
                          <a14:m>
                            <m:oMath xmlns:m="http://schemas.openxmlformats.org/officeDocument/2006/math">
                              <m:sSub>
                                <m:sSubPr>
                                  <m:ctrlPr>
                                    <a:rPr lang="en-US" sz="1600" b="1" i="1" u="none" strike="noStrike" kern="1200" smtClean="0">
                                      <a:solidFill>
                                        <a:srgbClr val="000000"/>
                                      </a:solidFill>
                                      <a:effectLst/>
                                      <a:latin typeface="Cambria Math" panose="02040503050406030204" pitchFamily="18" charset="0"/>
                                      <a:ea typeface="+mn-ea"/>
                                      <a:cs typeface="+mn-cs"/>
                                    </a:rPr>
                                  </m:ctrlPr>
                                </m:sSubPr>
                                <m:e>
                                  <m:r>
                                    <a:rPr lang="en-US" sz="1600" b="1" i="1" u="none" strike="noStrike" kern="1200" smtClean="0">
                                      <a:solidFill>
                                        <a:srgbClr val="000000"/>
                                      </a:solidFill>
                                      <a:effectLst/>
                                      <a:latin typeface="Cambria Math" panose="02040503050406030204" pitchFamily="18" charset="0"/>
                                      <a:ea typeface="+mn-ea"/>
                                      <a:cs typeface="+mn-cs"/>
                                    </a:rPr>
                                    <m:t>𝒅𝒇</m:t>
                                  </m:r>
                                </m:e>
                                <m:sub>
                                  <m:r>
                                    <a:rPr lang="en-US" sz="1600" b="1" i="1" u="none" strike="noStrike" kern="1200" smtClean="0">
                                      <a:solidFill>
                                        <a:srgbClr val="000000"/>
                                      </a:solidFill>
                                      <a:effectLst/>
                                      <a:latin typeface="Cambria Math" panose="02040503050406030204" pitchFamily="18" charset="0"/>
                                      <a:ea typeface="+mn-ea"/>
                                      <a:cs typeface="+mn-cs"/>
                                    </a:rPr>
                                    <m:t>𝟏</m:t>
                                  </m:r>
                                </m:sub>
                              </m:sSub>
                              <m:r>
                                <a:rPr lang="en-US" sz="1600" b="1" i="1" u="none" strike="noStrike" kern="1200" smtClean="0">
                                  <a:solidFill>
                                    <a:srgbClr val="000000"/>
                                  </a:solidFill>
                                  <a:effectLst/>
                                  <a:latin typeface="Cambria Math" panose="02040503050406030204" pitchFamily="18" charset="0"/>
                                  <a:ea typeface="+mn-ea"/>
                                  <a:cs typeface="+mn-cs"/>
                                </a:rPr>
                                <m:t>=</m:t>
                              </m:r>
                              <m:r>
                                <a:rPr lang="en-US" sz="1600" b="1" i="1" u="none" strike="noStrike" kern="1200" smtClean="0">
                                  <a:solidFill>
                                    <a:srgbClr val="000000"/>
                                  </a:solidFill>
                                  <a:effectLst/>
                                  <a:latin typeface="Cambria Math" panose="02040503050406030204" pitchFamily="18" charset="0"/>
                                  <a:ea typeface="+mn-ea"/>
                                  <a:cs typeface="+mn-cs"/>
                                </a:rPr>
                                <m:t>𝟐𝟓</m:t>
                              </m:r>
                              <m:r>
                                <a:rPr lang="en-US" sz="1600" b="1" i="1" u="none" strike="noStrike" kern="1200" smtClean="0">
                                  <a:solidFill>
                                    <a:srgbClr val="000000"/>
                                  </a:solidFill>
                                  <a:effectLst/>
                                  <a:latin typeface="Cambria Math" panose="02040503050406030204" pitchFamily="18" charset="0"/>
                                  <a:ea typeface="+mn-ea"/>
                                  <a:cs typeface="+mn-cs"/>
                                </a:rPr>
                                <m:t>,</m:t>
                              </m:r>
                            </m:oMath>
                          </a14:m>
                          <a:r>
                            <a:rPr lang="en-US" sz="1600" b="1" i="0" u="none" strike="noStrike" kern="1200" dirty="0">
                              <a:solidFill>
                                <a:srgbClr val="000000"/>
                              </a:solidFill>
                              <a:effectLst/>
                              <a:latin typeface="Calibri" panose="020F0502020204030204" pitchFamily="34" charset="0"/>
                              <a:ea typeface="+mn-ea"/>
                              <a:cs typeface="+mn-cs"/>
                            </a:rPr>
                            <a:t> </a:t>
                          </a:r>
                          <a14:m>
                            <m:oMath xmlns:m="http://schemas.openxmlformats.org/officeDocument/2006/math">
                              <m:sSub>
                                <m:sSubPr>
                                  <m:ctrlPr>
                                    <a:rPr lang="en-US" sz="1600" b="1" i="1" u="none" strike="noStrike" kern="1200" smtClean="0">
                                      <a:solidFill>
                                        <a:srgbClr val="000000"/>
                                      </a:solidFill>
                                      <a:effectLst/>
                                      <a:latin typeface="Cambria Math" panose="02040503050406030204" pitchFamily="18" charset="0"/>
                                      <a:ea typeface="+mn-ea"/>
                                      <a:cs typeface="+mn-cs"/>
                                    </a:rPr>
                                  </m:ctrlPr>
                                </m:sSubPr>
                                <m:e>
                                  <m:r>
                                    <a:rPr lang="en-US" sz="1600" b="1" i="1" u="none" strike="noStrike" kern="1200" smtClean="0">
                                      <a:solidFill>
                                        <a:srgbClr val="000000"/>
                                      </a:solidFill>
                                      <a:effectLst/>
                                      <a:latin typeface="Cambria Math" panose="02040503050406030204" pitchFamily="18" charset="0"/>
                                      <a:ea typeface="+mn-ea"/>
                                      <a:cs typeface="+mn-cs"/>
                                    </a:rPr>
                                    <m:t>𝒅𝒇</m:t>
                                  </m:r>
                                </m:e>
                                <m:sub>
                                  <m:r>
                                    <a:rPr lang="en-US" sz="1600" b="1" i="1" u="none" strike="noStrike" kern="1200" smtClean="0">
                                      <a:solidFill>
                                        <a:srgbClr val="000000"/>
                                      </a:solidFill>
                                      <a:effectLst/>
                                      <a:latin typeface="Cambria Math" panose="02040503050406030204" pitchFamily="18" charset="0"/>
                                      <a:ea typeface="+mn-ea"/>
                                      <a:cs typeface="+mn-cs"/>
                                    </a:rPr>
                                    <m:t>𝟐</m:t>
                                  </m:r>
                                </m:sub>
                              </m:sSub>
                              <m:r>
                                <a:rPr lang="en-US" sz="1600" b="1" i="1" u="none" strike="noStrike" kern="1200" smtClean="0">
                                  <a:solidFill>
                                    <a:srgbClr val="000000"/>
                                  </a:solidFill>
                                  <a:effectLst/>
                                  <a:latin typeface="Cambria Math" panose="02040503050406030204" pitchFamily="18" charset="0"/>
                                  <a:ea typeface="+mn-ea"/>
                                  <a:cs typeface="+mn-cs"/>
                                </a:rPr>
                                <m:t>=</m:t>
                              </m:r>
                              <m:r>
                                <a:rPr lang="en-US" sz="1600" b="1" i="1" u="none" strike="noStrike" kern="1200" smtClean="0">
                                  <a:solidFill>
                                    <a:srgbClr val="000000"/>
                                  </a:solidFill>
                                  <a:effectLst/>
                                  <a:latin typeface="Cambria Math" panose="02040503050406030204" pitchFamily="18" charset="0"/>
                                  <a:ea typeface="+mn-ea"/>
                                  <a:cs typeface="+mn-cs"/>
                                </a:rPr>
                                <m:t>𝟏𝟓</m:t>
                              </m:r>
                            </m:oMath>
                          </a14:m>
                          <a:r>
                            <a:rPr lang="en-US" sz="1600" b="1" i="0" u="none" strike="noStrike" kern="1200" dirty="0">
                              <a:solidFill>
                                <a:srgbClr val="000000"/>
                              </a:solidFill>
                              <a:effectLst/>
                              <a:latin typeface="Calibri" panose="020F0502020204030204" pitchFamily="34" charset="0"/>
                              <a:ea typeface="+mn-ea"/>
                              <a:cs typeface="+mn-cs"/>
                            </a:rPr>
                            <a:t>)</a:t>
                          </a: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1.89</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2.28</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2.69</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3.28</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Choice>
        <mc:Fallback xmlns="">
          <p:graphicFrame>
            <p:nvGraphicFramePr>
              <p:cNvPr id="8" name="Table 8">
                <a:extLst>
                  <a:ext uri="{FF2B5EF4-FFF2-40B4-BE49-F238E27FC236}">
                    <a16:creationId xmlns:a16="http://schemas.microsoft.com/office/drawing/2014/main" id="{D66F5813-8D3E-A28F-05F5-86A235B1E8BE}"/>
                  </a:ext>
                </a:extLst>
              </p:cNvPr>
              <p:cNvGraphicFramePr>
                <a:graphicFrameLocks noGrp="1"/>
              </p:cNvGraphicFramePr>
              <p:nvPr>
                <p:ph type="tbl" sz="quarter" idx="22"/>
                <p:extLst>
                  <p:ext uri="{D42A27DB-BD31-4B8C-83A1-F6EECF244321}">
                    <p14:modId xmlns:p14="http://schemas.microsoft.com/office/powerpoint/2010/main" val="300471230"/>
                  </p:ext>
                </p:extLst>
              </p:nvPr>
            </p:nvGraphicFramePr>
            <p:xfrm>
              <a:off x="1767709" y="2655056"/>
              <a:ext cx="5810847" cy="694183"/>
            </p:xfrm>
            <a:graphic>
              <a:graphicData uri="http://schemas.openxmlformats.org/drawingml/2006/table">
                <a:tbl>
                  <a:tblPr firstRow="1" bandRow="1">
                    <a:tableStyleId>{5C22544A-7EE6-4342-B048-85BDC9FD1C3A}</a:tableStyleId>
                  </a:tblPr>
                  <a:tblGrid>
                    <a:gridCol w="3067647">
                      <a:extLst>
                        <a:ext uri="{9D8B030D-6E8A-4147-A177-3AD203B41FA5}">
                          <a16:colId xmlns:a16="http://schemas.microsoft.com/office/drawing/2014/main" val="2911801945"/>
                        </a:ext>
                      </a:extLst>
                    </a:gridCol>
                    <a:gridCol w="685800">
                      <a:extLst>
                        <a:ext uri="{9D8B030D-6E8A-4147-A177-3AD203B41FA5}">
                          <a16:colId xmlns:a16="http://schemas.microsoft.com/office/drawing/2014/main" val="2232661565"/>
                        </a:ext>
                      </a:extLst>
                    </a:gridCol>
                    <a:gridCol w="685800">
                      <a:extLst>
                        <a:ext uri="{9D8B030D-6E8A-4147-A177-3AD203B41FA5}">
                          <a16:colId xmlns:a16="http://schemas.microsoft.com/office/drawing/2014/main" val="3297454400"/>
                        </a:ext>
                      </a:extLst>
                    </a:gridCol>
                    <a:gridCol w="685800">
                      <a:extLst>
                        <a:ext uri="{9D8B030D-6E8A-4147-A177-3AD203B41FA5}">
                          <a16:colId xmlns:a16="http://schemas.microsoft.com/office/drawing/2014/main" val="3078131080"/>
                        </a:ext>
                      </a:extLst>
                    </a:gridCol>
                    <a:gridCol w="685800">
                      <a:extLst>
                        <a:ext uri="{9D8B030D-6E8A-4147-A177-3AD203B41FA5}">
                          <a16:colId xmlns:a16="http://schemas.microsoft.com/office/drawing/2014/main" val="1873949250"/>
                        </a:ext>
                      </a:extLst>
                    </a:gridCol>
                  </a:tblGrid>
                  <a:tr h="3675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000000"/>
                              </a:solidFill>
                            </a:rPr>
                            <a:t>Area in Upper Tail</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0.10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0.05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0.025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26674">
                    <a:tc>
                      <a:txBody>
                        <a:bodyPr/>
                        <a:lstStyle/>
                        <a:p>
                          <a:endParaRPr lang="en-US"/>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22222" r="-89683" b="-42593"/>
                          </a:stretch>
                        </a:blipFill>
                      </a:tcPr>
                    </a:tc>
                    <a:tc>
                      <a:txBody>
                        <a:bodyPr/>
                        <a:lstStyle/>
                        <a:p>
                          <a:pPr algn="ctr" fontAlgn="b"/>
                          <a:r>
                            <a:rPr lang="en-US" sz="1800" b="0" i="0" u="none" strike="noStrike" dirty="0">
                              <a:solidFill>
                                <a:srgbClr val="000000"/>
                              </a:solidFill>
                              <a:effectLst/>
                              <a:latin typeface="Calibri" panose="020F0502020204030204" pitchFamily="34" charset="0"/>
                            </a:rPr>
                            <a:t>1.89</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2.28</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2.69</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3.28</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8200" y="3529613"/>
                <a:ext cx="10484504" cy="2075964"/>
              </a:xfrm>
            </p:spPr>
            <p:txBody>
              <a:bodyPr>
                <a:noAutofit/>
              </a:bodyPr>
              <a:lstStyle/>
              <a:p>
                <a:pPr>
                  <a:lnSpc>
                    <a:spcPct val="100000"/>
                  </a:lnSpc>
                  <a:spcBef>
                    <a:spcPts val="600"/>
                  </a:spcBef>
                  <a:spcAft>
                    <a:spcPts val="0"/>
                  </a:spcAft>
                </a:pPr>
                <a:r>
                  <a:rPr lang="en-US" sz="2000" dirty="0"/>
                  <a:t>We obtain the critical value,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𝐹</m:t>
                        </m:r>
                      </m:e>
                      <m:sub>
                        <m:r>
                          <a:rPr lang="en-US" sz="2000" b="0" i="1" smtClean="0">
                            <a:latin typeface="Cambria Math" panose="02040503050406030204" pitchFamily="18" charset="0"/>
                          </a:rPr>
                          <m:t>0.05</m:t>
                        </m:r>
                      </m:sub>
                    </m:sSub>
                    <m:r>
                      <a:rPr lang="en-US" sz="2000" i="1">
                        <a:latin typeface="Cambria Math" panose="02040503050406030204" pitchFamily="18" charset="0"/>
                      </a:rPr>
                      <m:t>=</m:t>
                    </m:r>
                    <m:r>
                      <a:rPr lang="en-US" sz="2000" b="0" i="1" smtClean="0">
                        <a:latin typeface="Cambria Math" panose="02040503050406030204" pitchFamily="18" charset="0"/>
                      </a:rPr>
                      <m:t>2.28</m:t>
                    </m:r>
                  </m:oMath>
                </a14:m>
                <a:r>
                  <a:rPr lang="en-US" sz="2000" dirty="0"/>
                  <a:t>.</a:t>
                </a:r>
              </a:p>
              <a:p>
                <a:pPr>
                  <a:lnSpc>
                    <a:spcPct val="100000"/>
                  </a:lnSpc>
                  <a:spcBef>
                    <a:spcPts val="600"/>
                  </a:spcBef>
                  <a:spcAft>
                    <a:spcPts val="0"/>
                  </a:spcAft>
                </a:pPr>
                <a:r>
                  <a:rPr lang="en-US" sz="2000" dirty="0">
                    <a:solidFill>
                      <a:srgbClr val="000000"/>
                    </a:solidFill>
                    <a:cs typeface="Arial" panose="020B0604020202020204" pitchFamily="34" charset="0"/>
                  </a:rPr>
                  <a:t>We can also use Excel to compute the critical value: </a:t>
                </a: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F</m:t>
                    </m:r>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INV</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RT</m:t>
                    </m:r>
                    <m:r>
                      <m:rPr>
                        <m:nor/>
                      </m:rPr>
                      <a:rPr lang="en-US" sz="2000" i="0" dirty="0" smtClean="0">
                        <a:latin typeface="Cambria Math" panose="02040503050406030204" pitchFamily="18" charset="0"/>
                        <a:cs typeface="Arial" panose="020B0604020202020204" pitchFamily="34" charset="0"/>
                      </a:rPr>
                      <m:t>(0.05,25,15)</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2.28</m:t>
                    </m:r>
                  </m:oMath>
                </a14:m>
                <a:endParaRPr lang="en-US" sz="2000" dirty="0">
                  <a:solidFill>
                    <a:srgbClr val="000000"/>
                  </a:solidFill>
                  <a:cs typeface="Arial" panose="020B0604020202020204" pitchFamily="34" charset="0"/>
                </a:endParaRPr>
              </a:p>
              <a:p>
                <a:pPr>
                  <a:lnSpc>
                    <a:spcPct val="100000"/>
                  </a:lnSpc>
                  <a:spcBef>
                    <a:spcPts val="600"/>
                  </a:spcBef>
                  <a:spcAft>
                    <a:spcPts val="600"/>
                  </a:spcAft>
                </a:pPr>
                <a:r>
                  <a:rPr lang="en-US" sz="2000" dirty="0">
                    <a:solidFill>
                      <a:srgbClr val="000000"/>
                    </a:solidFill>
                    <a:cs typeface="Arial" panose="020B0604020202020204" pitchFamily="34" charset="0"/>
                  </a:rPr>
                  <a:t>Thus, the rejection rule for the two bus service companies is:</a:t>
                </a:r>
              </a:p>
              <a:p>
                <a:pPr marL="914400">
                  <a:lnSpc>
                    <a:spcPct val="100000"/>
                  </a:lnSpc>
                  <a:spcBef>
                    <a:spcPts val="600"/>
                  </a:spcBef>
                  <a:spcAft>
                    <a:spcPts val="600"/>
                  </a:spcAft>
                </a:pPr>
                <a:r>
                  <a:rPr lang="en-US" sz="2000" dirty="0">
                    <a:solidFill>
                      <a:srgbClr val="000000"/>
                    </a:solidFill>
                    <a:cs typeface="Arial" panose="020B0604020202020204" pitchFamily="34" charset="0"/>
                  </a:rPr>
                  <a:t>Reject </a:t>
                </a:r>
                <a:r>
                  <a:rPr lang="en-US" sz="2000" i="1" dirty="0">
                    <a:solidFill>
                      <a:srgbClr val="000000"/>
                    </a:solidFill>
                    <a:cs typeface="Arial" panose="020B0604020202020204" pitchFamily="34" charset="0"/>
                  </a:rPr>
                  <a:t>H</a:t>
                </a:r>
                <a:r>
                  <a:rPr lang="en-US" sz="2000" baseline="-25000" dirty="0">
                    <a:solidFill>
                      <a:srgbClr val="000000"/>
                    </a:solidFill>
                    <a:cs typeface="Arial" panose="020B0604020202020204" pitchFamily="34" charset="0"/>
                  </a:rPr>
                  <a:t>0</a:t>
                </a:r>
                <a:r>
                  <a:rPr lang="en-US" sz="2000" dirty="0">
                    <a:solidFill>
                      <a:srgbClr val="000000"/>
                    </a:solidFill>
                    <a:cs typeface="Arial" panose="020B0604020202020204" pitchFamily="34" charset="0"/>
                  </a:rPr>
                  <a:t> if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0.05</m:t>
                        </m:r>
                      </m:sub>
                    </m:sSub>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2.28</m:t>
                    </m:r>
                  </m:oMath>
                </a14:m>
                <a:endParaRPr lang="en-US" sz="2000" dirty="0">
                  <a:solidFill>
                    <a:srgbClr val="000000"/>
                  </a:solidFill>
                  <a:cs typeface="Arial" panose="020B0604020202020204" pitchFamily="34" charset="0"/>
                </a:endParaRPr>
              </a:p>
              <a:p>
                <a:pPr>
                  <a:lnSpc>
                    <a:spcPct val="100000"/>
                  </a:lnSpc>
                  <a:spcBef>
                    <a:spcPts val="600"/>
                  </a:spcBef>
                  <a:spcAft>
                    <a:spcPts val="0"/>
                  </a:spcAft>
                </a:pPr>
                <a:r>
                  <a:rPr lang="en-US" sz="2000" dirty="0">
                    <a:solidFill>
                      <a:srgbClr val="000000"/>
                    </a:solidFill>
                    <a:cs typeface="Arial" panose="020B0604020202020204" pitchFamily="34" charset="0"/>
                  </a:rPr>
                  <a:t>Because </a:t>
                </a:r>
                <a14:m>
                  <m:oMath xmlns:m="http://schemas.openxmlformats.org/officeDocument/2006/math">
                    <m:r>
                      <a:rPr lang="en-US" sz="2000" i="1" smtClean="0">
                        <a:latin typeface="Cambria Math" panose="02040503050406030204" pitchFamily="18" charset="0"/>
                      </a:rPr>
                      <m:t>𝐹</m:t>
                    </m:r>
                    <m:r>
                      <a:rPr lang="en-US" sz="2000" b="0" i="1" smtClean="0">
                        <a:latin typeface="Cambria Math" panose="02040503050406030204" pitchFamily="18" charset="0"/>
                      </a:rPr>
                      <m:t>=2.40</m:t>
                    </m:r>
                  </m:oMath>
                </a14:m>
                <a:r>
                  <a:rPr lang="en-US" sz="2000" dirty="0">
                    <a:solidFill>
                      <a:srgbClr val="000000"/>
                    </a:solidFill>
                    <a:cs typeface="Arial" panose="020B0604020202020204" pitchFamily="34" charset="0"/>
                  </a:rPr>
                  <a:t>, we reject the null hypothesis.</a:t>
                </a:r>
              </a:p>
              <a:p>
                <a:pPr>
                  <a:lnSpc>
                    <a:spcPct val="110000"/>
                  </a:lnSpc>
                  <a:spcBef>
                    <a:spcPts val="600"/>
                  </a:spcBef>
                </a:pPr>
                <a:endParaRPr lang="en-US" sz="2000" dirty="0">
                  <a:solidFill>
                    <a:srgbClr val="000000"/>
                  </a:solidFill>
                  <a:cs typeface="Arial" panose="020B0604020202020204" pitchFamily="34" charset="0"/>
                </a:endParaRPr>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8200" y="3529613"/>
                <a:ext cx="10484504" cy="2075964"/>
              </a:xfrm>
              <a:blipFill>
                <a:blip r:embed="rId5"/>
                <a:stretch>
                  <a:fillRect l="-1513" t="-3519" b="-3226"/>
                </a:stretch>
              </a:blipFill>
            </p:spPr>
            <p:txBody>
              <a:bodyPr/>
              <a:lstStyle/>
              <a:p>
                <a:r>
                  <a:rPr lang="en-US">
                    <a:noFill/>
                  </a:rPr>
                  <a:t> </a:t>
                </a:r>
              </a:p>
            </p:txBody>
          </p:sp>
        </mc:Fallback>
      </mc:AlternateContent>
    </p:spTree>
    <p:extLst>
      <p:ext uri="{BB962C8B-B14F-4D97-AF65-F5344CB8AC3E}">
        <p14:creationId xmlns:p14="http://schemas.microsoft.com/office/powerpoint/2010/main" val="12744824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5C5ED-9F61-2E4E-E5CF-8ADF8667BEEB}"/>
              </a:ext>
            </a:extLst>
          </p:cNvPr>
          <p:cNvSpPr>
            <a:spLocks noGrp="1"/>
          </p:cNvSpPr>
          <p:nvPr>
            <p:ph type="title"/>
          </p:nvPr>
        </p:nvSpPr>
        <p:spPr>
          <a:xfrm>
            <a:off x="1781489" y="367643"/>
            <a:ext cx="8534397" cy="672105"/>
          </a:xfrm>
        </p:spPr>
        <p:txBody>
          <a:bodyPr/>
          <a:lstStyle/>
          <a:p>
            <a:r>
              <a:rPr lang="en-US" sz="3200" dirty="0"/>
              <a:t>11.2 A One-Tailed Test About Two Population Variances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29D86671-B176-8A67-A5AB-2B4385DD5EED}"/>
                  </a:ext>
                </a:extLst>
              </p:cNvPr>
              <p:cNvSpPr>
                <a:spLocks noGrp="1"/>
              </p:cNvSpPr>
              <p:nvPr>
                <p:ph type="body" sz="quarter" idx="15"/>
              </p:nvPr>
            </p:nvSpPr>
            <p:spPr>
              <a:xfrm>
                <a:off x="743577" y="1545023"/>
                <a:ext cx="10610223" cy="4564116"/>
              </a:xfrm>
            </p:spPr>
            <p:txBody>
              <a:bodyPr/>
              <a:lstStyle/>
              <a:p>
                <a:pPr>
                  <a:spcAft>
                    <a:spcPts val="0"/>
                  </a:spcAft>
                </a:pPr>
                <a:r>
                  <a:rPr lang="en-US" sz="2000" dirty="0"/>
                  <a:t>A researcher conducted a survey to find out whether females show a greater variation in attitude on political issues than males do.</a:t>
                </a:r>
              </a:p>
              <a:p>
                <a:pPr>
                  <a:spcAft>
                    <a:spcPts val="600"/>
                  </a:spcAft>
                </a:pPr>
                <a:r>
                  <a:rPr lang="en-US" sz="2000" dirty="0"/>
                  <a:t>In the form of a one-tailed hypothesis test, females are denoted as population 1 and males as population 2. We use a significance level, </a:t>
                </a:r>
                <a14:m>
                  <m:oMath xmlns:m="http://schemas.openxmlformats.org/officeDocument/2006/math">
                    <m:r>
                      <a:rPr lang="el-GR" sz="2000" b="0" i="1" smtClean="0">
                        <a:latin typeface="Cambria Math" panose="02040503050406030204" pitchFamily="18" charset="0"/>
                        <a:ea typeface="Cambria Math" panose="02040503050406030204" pitchFamily="18" charset="0"/>
                      </a:rPr>
                      <m:t>𝛼</m:t>
                    </m:r>
                    <m:r>
                      <a:rPr lang="en-US" sz="2000" b="0" i="1" smtClean="0">
                        <a:latin typeface="Cambria Math" panose="02040503050406030204" pitchFamily="18" charset="0"/>
                        <a:ea typeface="Cambria Math" panose="02040503050406030204" pitchFamily="18" charset="0"/>
                      </a:rPr>
                      <m:t>=0</m:t>
                    </m:r>
                    <m:r>
                      <a:rPr lang="en-US" sz="2000" b="0" i="1" smtClean="0">
                        <a:latin typeface="Cambria Math" panose="02040503050406030204" pitchFamily="18" charset="0"/>
                      </a:rPr>
                      <m:t>.05</m:t>
                    </m:r>
                  </m:oMath>
                </a14:m>
                <a:r>
                  <a:rPr lang="en-US" sz="2000" dirty="0"/>
                  <a:t> and state the hypotheses as follows</a:t>
                </a:r>
                <a:r>
                  <a:rPr lang="en-US" sz="2000" b="1" i="1" dirty="0">
                    <a:latin typeface="Cambria Math" panose="02040503050406030204" pitchFamily="18" charset="0"/>
                    <a:cs typeface="Arial" panose="020B0604020202020204" pitchFamily="34" charset="0"/>
                  </a:rPr>
                  <a:t>.</a:t>
                </a:r>
              </a:p>
              <a:p>
                <a:pPr marL="914400">
                  <a:spcAft>
                    <a:spcPts val="600"/>
                  </a:spcAft>
                </a:pPr>
                <a14:m>
                  <m:oMath xmlns:m="http://schemas.openxmlformats.org/officeDocument/2006/math">
                    <m:sSub>
                      <m:sSubPr>
                        <m:ctrlPr>
                          <a:rPr lang="en-US" sz="2000" b="1"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0</m:t>
                        </m:r>
                      </m:sub>
                    </m:sSub>
                    <m:r>
                      <a:rPr lang="en-US" sz="2000" i="1">
                        <a:latin typeface="Cambria Math" panose="02040503050406030204" pitchFamily="18" charset="0"/>
                        <a:cs typeface="Arial" panose="020B0604020202020204" pitchFamily="34"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1</m:t>
                        </m:r>
                      </m:sub>
                      <m:sup>
                        <m:r>
                          <a:rPr lang="en-US" sz="2000" i="1">
                            <a:latin typeface="Cambria Math" panose="02040503050406030204" pitchFamily="18" charset="0"/>
                          </a:rPr>
                          <m:t>2</m:t>
                        </m:r>
                      </m:sup>
                    </m:sSubSup>
                    <m:r>
                      <a:rPr lang="en-US" sz="2000" i="1">
                        <a:latin typeface="Cambria Math" panose="02040503050406030204" pitchFamily="18" charset="0"/>
                        <a:ea typeface="Cambria Math" panose="02040503050406030204" pitchFamily="18"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2</m:t>
                        </m:r>
                      </m:sub>
                      <m:sup>
                        <m:r>
                          <a:rPr lang="en-US" sz="2000" i="1">
                            <a:latin typeface="Cambria Math" panose="02040503050406030204" pitchFamily="18" charset="0"/>
                          </a:rPr>
                          <m:t>2</m:t>
                        </m:r>
                      </m:sup>
                    </m:sSubSup>
                  </m:oMath>
                </a14:m>
                <a:r>
                  <a:rPr lang="en-US" sz="2000" dirty="0">
                    <a:latin typeface="Arial" panose="020B0604020202020204" pitchFamily="34" charset="0"/>
                  </a:rPr>
                  <a:t>    and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i="1">
                            <a:latin typeface="Cambria Math" panose="02040503050406030204" pitchFamily="18" charset="0"/>
                            <a:cs typeface="Arial" panose="020B0604020202020204" pitchFamily="34" charset="0"/>
                          </a:rPr>
                          <m:t>𝐻</m:t>
                        </m:r>
                      </m:e>
                      <m:sub>
                        <m:r>
                          <a:rPr lang="en-US" sz="2000" i="1">
                            <a:latin typeface="Cambria Math" panose="02040503050406030204" pitchFamily="18" charset="0"/>
                            <a:cs typeface="Arial" panose="020B0604020202020204" pitchFamily="34" charset="0"/>
                          </a:rPr>
                          <m:t>𝑎</m:t>
                        </m:r>
                      </m:sub>
                    </m:sSub>
                    <m:r>
                      <a:rPr lang="en-US" sz="2000" i="1">
                        <a:latin typeface="Cambria Math" panose="02040503050406030204" pitchFamily="18" charset="0"/>
                        <a:cs typeface="Arial" panose="020B0604020202020204" pitchFamily="34" charset="0"/>
                      </a:rPr>
                      <m:t>:</m:t>
                    </m:r>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1</m:t>
                        </m:r>
                      </m:sub>
                      <m:sup>
                        <m:r>
                          <a:rPr lang="en-US" sz="2000" i="1">
                            <a:latin typeface="Cambria Math" panose="02040503050406030204" pitchFamily="18" charset="0"/>
                          </a:rPr>
                          <m:t>2</m:t>
                        </m:r>
                      </m:sup>
                    </m:sSubSup>
                    <m:r>
                      <a:rPr lang="en-US" sz="2000" i="1" smtClean="0">
                        <a:latin typeface="Cambria Math" panose="02040503050406030204" pitchFamily="18" charset="0"/>
                        <a:ea typeface="Cambria Math" panose="02040503050406030204" pitchFamily="18" charset="0"/>
                      </a:rPr>
                      <m:t>&gt;</m:t>
                    </m:r>
                    <m:sSubSup>
                      <m:sSubSupPr>
                        <m:ctrlPr>
                          <a:rPr lang="en-US" sz="2000" i="1">
                            <a:latin typeface="Cambria Math" panose="02040503050406030204" pitchFamily="18" charset="0"/>
                          </a:rPr>
                        </m:ctrlPr>
                      </m:sSubSupPr>
                      <m:e>
                        <m:r>
                          <a:rPr lang="en-US" sz="2000" i="1">
                            <a:latin typeface="Cambria Math" panose="02040503050406030204" pitchFamily="18" charset="0"/>
                            <a:ea typeface="Cambria Math" panose="02040503050406030204" pitchFamily="18" charset="0"/>
                          </a:rPr>
                          <m:t>𝜎</m:t>
                        </m:r>
                      </m:e>
                      <m:sub>
                        <m:r>
                          <a:rPr lang="en-US" sz="2000" i="1">
                            <a:latin typeface="Cambria Math" panose="02040503050406030204" pitchFamily="18" charset="0"/>
                          </a:rPr>
                          <m:t>2</m:t>
                        </m:r>
                      </m:sub>
                      <m:sup>
                        <m:r>
                          <a:rPr lang="en-US" sz="2000" i="1">
                            <a:latin typeface="Cambria Math" panose="02040503050406030204" pitchFamily="18" charset="0"/>
                          </a:rPr>
                          <m:t>2</m:t>
                        </m:r>
                      </m:sup>
                    </m:sSubSup>
                  </m:oMath>
                </a14:m>
                <a:endParaRPr lang="en-US" sz="2000" dirty="0">
                  <a:latin typeface="Arial" panose="020B0604020202020204" pitchFamily="34" charset="0"/>
                </a:endParaRPr>
              </a:p>
              <a:p>
                <a:pPr>
                  <a:spcAft>
                    <a:spcPts val="0"/>
                  </a:spcAft>
                  <a:tabLst>
                    <a:tab pos="914400" algn="l"/>
                    <a:tab pos="2743200" algn="r"/>
                    <a:tab pos="3775075" algn="r"/>
                    <a:tab pos="4800600" algn="r"/>
                  </a:tabLst>
                </a:pPr>
                <a:r>
                  <a:rPr lang="en-US" sz="2000" dirty="0"/>
                  <a:t>Sample results are as follows:	</a:t>
                </a:r>
                <a:r>
                  <a:rPr lang="en-US" sz="2000" b="1" dirty="0"/>
                  <a:t>	Gender	</a:t>
                </a:r>
                <a:r>
                  <a:rPr lang="en-US" sz="2000" b="1" i="1" dirty="0"/>
                  <a:t>n</a:t>
                </a:r>
                <a:r>
                  <a:rPr lang="en-US" sz="2000" b="1" dirty="0"/>
                  <a:t>	</a:t>
                </a:r>
                <a14:m>
                  <m:oMath xmlns:m="http://schemas.openxmlformats.org/officeDocument/2006/math">
                    <m:sSup>
                      <m:sSupPr>
                        <m:ctrlPr>
                          <a:rPr lang="en-US" sz="2000" b="1" i="1" dirty="0" smtClean="0">
                            <a:latin typeface="Cambria Math" panose="02040503050406030204" pitchFamily="18" charset="0"/>
                          </a:rPr>
                        </m:ctrlPr>
                      </m:sSupPr>
                      <m:e>
                        <m:r>
                          <a:rPr lang="en-US" sz="2000" b="1" i="1" dirty="0">
                            <a:latin typeface="Cambria Math" panose="02040503050406030204" pitchFamily="18" charset="0"/>
                          </a:rPr>
                          <m:t>𝒔</m:t>
                        </m:r>
                      </m:e>
                      <m:sup>
                        <m:r>
                          <a:rPr lang="en-US" sz="2000" b="1" i="1" dirty="0" smtClean="0">
                            <a:latin typeface="Cambria Math" panose="02040503050406030204" pitchFamily="18" charset="0"/>
                          </a:rPr>
                          <m:t>𝟐</m:t>
                        </m:r>
                      </m:sup>
                    </m:sSup>
                  </m:oMath>
                </a14:m>
                <a:r>
                  <a:rPr lang="en-US" sz="2000" b="1" i="1" dirty="0"/>
                  <a:t>	Index</a:t>
                </a:r>
              </a:p>
              <a:p>
                <a:pPr>
                  <a:spcAft>
                    <a:spcPts val="0"/>
                  </a:spcAft>
                  <a:tabLst>
                    <a:tab pos="914400" algn="l"/>
                    <a:tab pos="2743200" algn="r"/>
                    <a:tab pos="3775075" algn="r"/>
                    <a:tab pos="4800600" algn="r"/>
                  </a:tabLst>
                </a:pPr>
                <a:r>
                  <a:rPr lang="en-US" sz="2000" dirty="0"/>
                  <a:t>				Males	31	80	2</a:t>
                </a:r>
              </a:p>
              <a:p>
                <a:pPr>
                  <a:spcAft>
                    <a:spcPts val="600"/>
                  </a:spcAft>
                  <a:tabLst>
                    <a:tab pos="914400" algn="l"/>
                    <a:tab pos="2743200" algn="r"/>
                    <a:tab pos="3775075" algn="r"/>
                    <a:tab pos="4800600" algn="r"/>
                  </a:tabLst>
                </a:pPr>
                <a:r>
                  <a:rPr lang="en-US" sz="2000" dirty="0"/>
                  <a:t>				Females	41	120	1</a:t>
                </a:r>
              </a:p>
              <a:p>
                <a:pPr>
                  <a:spcAft>
                    <a:spcPts val="600"/>
                  </a:spcAft>
                </a:pPr>
                <a:r>
                  <a:rPr lang="en-US" sz="2000" dirty="0"/>
                  <a:t>The test statistic value for an </a:t>
                </a:r>
                <a:r>
                  <a:rPr lang="en-US" sz="2000" i="1" dirty="0"/>
                  <a:t>F</a:t>
                </a:r>
                <a:r>
                  <a:rPr lang="en-US" sz="2000" dirty="0"/>
                  <a:t> distribution with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𝑛</m:t>
                        </m:r>
                      </m:e>
                      <m:sub>
                        <m:r>
                          <a:rPr lang="en-US" sz="2000" b="0" i="1" smtClean="0">
                            <a:latin typeface="Cambria Math" panose="02040503050406030204" pitchFamily="18" charset="0"/>
                          </a:rPr>
                          <m:t>1</m:t>
                        </m:r>
                      </m:sub>
                    </m:sSub>
                    <m:r>
                      <a:rPr lang="en-US" sz="2000" b="0" i="1" smtClean="0">
                        <a:latin typeface="Cambria Math" panose="02040503050406030204" pitchFamily="18" charset="0"/>
                      </a:rPr>
                      <m:t>=40</m:t>
                    </m:r>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𝑛</m:t>
                        </m:r>
                      </m:e>
                      <m:sub>
                        <m:r>
                          <a:rPr lang="en-US" sz="2000" b="0" i="1" smtClean="0">
                            <a:latin typeface="Cambria Math" panose="02040503050406030204" pitchFamily="18" charset="0"/>
                          </a:rPr>
                          <m:t>2</m:t>
                        </m:r>
                      </m:sub>
                    </m:sSub>
                    <m:r>
                      <a:rPr lang="en-US" sz="2000" b="0" i="1" smtClean="0">
                        <a:latin typeface="Cambria Math" panose="02040503050406030204" pitchFamily="18" charset="0"/>
                      </a:rPr>
                      <m:t>=30</m:t>
                    </m:r>
                  </m:oMath>
                </a14:m>
                <a:r>
                  <a:rPr lang="en-US" sz="2000" dirty="0"/>
                  <a:t> degrees of freedom, is</a:t>
                </a:r>
              </a:p>
              <a:p>
                <a:pPr marL="914400">
                  <a:spcAft>
                    <a:spcPts val="0"/>
                  </a:spcAft>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𝐹</m:t>
                      </m:r>
                      <m:r>
                        <a:rPr lang="en-US" sz="2000" i="1">
                          <a:latin typeface="Cambria Math" panose="02040503050406030204" pitchFamily="18" charset="0"/>
                        </a:rPr>
                        <m:t>=</m:t>
                      </m:r>
                      <m:f>
                        <m:fPr>
                          <m:ctrlPr>
                            <a:rPr lang="en-US" sz="2000" i="1">
                              <a:latin typeface="Cambria Math" panose="02040503050406030204" pitchFamily="18" charset="0"/>
                            </a:rPr>
                          </m:ctrlPr>
                        </m:fPr>
                        <m:num>
                          <m:sSubSup>
                            <m:sSubSupPr>
                              <m:ctrlPr>
                                <a:rPr lang="en-US" sz="2000" i="1">
                                  <a:latin typeface="Cambria Math" panose="02040503050406030204" pitchFamily="18" charset="0"/>
                                </a:rPr>
                              </m:ctrlPr>
                            </m:sSubSupPr>
                            <m:e>
                              <m:r>
                                <a:rPr lang="en-US" sz="2000" i="1">
                                  <a:latin typeface="Cambria Math" panose="02040503050406030204" pitchFamily="18" charset="0"/>
                                </a:rPr>
                                <m:t>𝑠</m:t>
                              </m:r>
                            </m:e>
                            <m:sub>
                              <m:r>
                                <a:rPr lang="en-US" sz="2000" i="1">
                                  <a:latin typeface="Cambria Math" panose="02040503050406030204" pitchFamily="18" charset="0"/>
                                </a:rPr>
                                <m:t>1</m:t>
                              </m:r>
                            </m:sub>
                            <m:sup>
                              <m:r>
                                <a:rPr lang="en-US" sz="2000" i="1">
                                  <a:latin typeface="Cambria Math" panose="02040503050406030204" pitchFamily="18" charset="0"/>
                                </a:rPr>
                                <m:t>2</m:t>
                              </m:r>
                            </m:sup>
                          </m:sSubSup>
                        </m:num>
                        <m:den>
                          <m:sSubSup>
                            <m:sSubSupPr>
                              <m:ctrlPr>
                                <a:rPr lang="en-US" sz="2000" i="1">
                                  <a:latin typeface="Cambria Math" panose="02040503050406030204" pitchFamily="18" charset="0"/>
                                </a:rPr>
                              </m:ctrlPr>
                            </m:sSubSupPr>
                            <m:e>
                              <m:r>
                                <a:rPr lang="en-US" sz="2000" i="1">
                                  <a:latin typeface="Cambria Math" panose="02040503050406030204" pitchFamily="18" charset="0"/>
                                </a:rPr>
                                <m:t>𝑠</m:t>
                              </m:r>
                            </m:e>
                            <m:sub>
                              <m:r>
                                <a:rPr lang="en-US" sz="2000" i="1">
                                  <a:latin typeface="Cambria Math" panose="02040503050406030204" pitchFamily="18" charset="0"/>
                                </a:rPr>
                                <m:t>2</m:t>
                              </m:r>
                            </m:sub>
                            <m:sup>
                              <m:r>
                                <a:rPr lang="en-US" sz="2000" i="1">
                                  <a:latin typeface="Cambria Math" panose="02040503050406030204" pitchFamily="18" charset="0"/>
                                </a:rPr>
                                <m:t>2</m:t>
                              </m:r>
                            </m:sup>
                          </m:sSubSup>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120</m:t>
                          </m:r>
                        </m:num>
                        <m:den>
                          <m:r>
                            <a:rPr lang="en-US" sz="2000" b="0" i="1" smtClean="0">
                              <a:latin typeface="Cambria Math" panose="02040503050406030204" pitchFamily="18" charset="0"/>
                            </a:rPr>
                            <m:t>80</m:t>
                          </m:r>
                        </m:den>
                      </m:f>
                      <m:r>
                        <a:rPr lang="en-US" sz="2000" b="0" i="1" smtClean="0">
                          <a:latin typeface="Cambria Math" panose="02040503050406030204" pitchFamily="18" charset="0"/>
                        </a:rPr>
                        <m:t>=1.50</m:t>
                      </m:r>
                    </m:oMath>
                  </m:oMathPara>
                </a14:m>
                <a:endParaRPr lang="en-US" sz="2000" dirty="0"/>
              </a:p>
            </p:txBody>
          </p:sp>
        </mc:Choice>
        <mc:Fallback xmlns="">
          <p:sp>
            <p:nvSpPr>
              <p:cNvPr id="3" name="Text Placeholder 2">
                <a:extLst>
                  <a:ext uri="{FF2B5EF4-FFF2-40B4-BE49-F238E27FC236}">
                    <a16:creationId xmlns:a16="http://schemas.microsoft.com/office/drawing/2014/main" id="{29D86671-B176-8A67-A5AB-2B4385DD5EED}"/>
                  </a:ext>
                </a:extLst>
              </p:cNvPr>
              <p:cNvSpPr>
                <a:spLocks noGrp="1" noRot="1" noChangeAspect="1" noMove="1" noResize="1" noEditPoints="1" noAdjustHandles="1" noChangeArrowheads="1" noChangeShapeType="1" noTextEdit="1"/>
              </p:cNvSpPr>
              <p:nvPr>
                <p:ph type="body" sz="quarter" idx="15"/>
              </p:nvPr>
            </p:nvSpPr>
            <p:spPr>
              <a:xfrm>
                <a:off x="743577" y="1545023"/>
                <a:ext cx="10610223" cy="4564116"/>
              </a:xfrm>
              <a:blipFill>
                <a:blip r:embed="rId4"/>
                <a:stretch>
                  <a:fillRect l="-1493" t="-1602" r="-804"/>
                </a:stretch>
              </a:blipFill>
            </p:spPr>
            <p:txBody>
              <a:bodyPr/>
              <a:lstStyle/>
              <a:p>
                <a:r>
                  <a:rPr lang="en-US">
                    <a:noFill/>
                  </a:rPr>
                  <a:t> </a:t>
                </a:r>
              </a:p>
            </p:txBody>
          </p:sp>
        </mc:Fallback>
      </mc:AlternateContent>
    </p:spTree>
    <p:extLst>
      <p:ext uri="{BB962C8B-B14F-4D97-AF65-F5344CB8AC3E}">
        <p14:creationId xmlns:p14="http://schemas.microsoft.com/office/powerpoint/2010/main" val="7706631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D7675-663E-422F-3C10-82DDE8432F48}"/>
              </a:ext>
            </a:extLst>
          </p:cNvPr>
          <p:cNvSpPr>
            <a:spLocks noGrp="1"/>
          </p:cNvSpPr>
          <p:nvPr>
            <p:ph type="title"/>
          </p:nvPr>
        </p:nvSpPr>
        <p:spPr>
          <a:xfrm>
            <a:off x="472968" y="365125"/>
            <a:ext cx="11201400" cy="672105"/>
          </a:xfrm>
        </p:spPr>
        <p:txBody>
          <a:bodyPr/>
          <a:lstStyle/>
          <a:p>
            <a:r>
              <a:rPr lang="en-US" sz="3200" dirty="0"/>
              <a:t>11.2 </a:t>
            </a:r>
            <a:r>
              <a:rPr lang="en-US" sz="3200" i="1" dirty="0"/>
              <a:t>p</a:t>
            </a:r>
            <a:r>
              <a:rPr lang="en-US" sz="3200" dirty="0"/>
              <a:t>-Value Approach to a One-Tailed Test About Two Population Variances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6CBAAD7-45ED-9EEF-49B8-AA9C45B010E7}"/>
                  </a:ext>
                </a:extLst>
              </p:cNvPr>
              <p:cNvSpPr>
                <a:spLocks noGrp="1"/>
              </p:cNvSpPr>
              <p:nvPr>
                <p:ph type="body" sz="quarter" idx="15"/>
              </p:nvPr>
            </p:nvSpPr>
            <p:spPr>
              <a:xfrm>
                <a:off x="838200" y="1718159"/>
                <a:ext cx="10515599" cy="1034715"/>
              </a:xfrm>
            </p:spPr>
            <p:txBody>
              <a:bodyPr>
                <a:noAutofit/>
              </a:bodyPr>
              <a:lstStyle/>
              <a:p>
                <a:pPr>
                  <a:lnSpc>
                    <a:spcPct val="100000"/>
                  </a:lnSpc>
                  <a:spcBef>
                    <a:spcPts val="600"/>
                  </a:spcBef>
                </a:pPr>
                <a:r>
                  <a:rPr lang="en-US" sz="2000" dirty="0"/>
                  <a:t>In a one-tailed test, the </a:t>
                </a:r>
                <a:r>
                  <a:rPr lang="en-US" sz="2000" i="1" dirty="0"/>
                  <a:t>p</a:t>
                </a:r>
                <a:r>
                  <a:rPr lang="en-US" sz="2000" dirty="0"/>
                  <a:t>-value is the area in the upper tail of an </a:t>
                </a:r>
                <a:r>
                  <a:rPr lang="en-US" sz="2000" i="1" dirty="0"/>
                  <a:t>F</a:t>
                </a:r>
                <a:r>
                  <a:rPr lang="en-US" sz="2000" dirty="0"/>
                  <a:t> distribution with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𝑑𝑓</m:t>
                        </m:r>
                      </m:e>
                      <m:sub>
                        <m:r>
                          <a:rPr lang="en-US" sz="2000" i="1">
                            <a:latin typeface="Cambria Math" panose="02040503050406030204" pitchFamily="18" charset="0"/>
                          </a:rPr>
                          <m:t>1</m:t>
                        </m:r>
                      </m:sub>
                    </m:sSub>
                    <m:r>
                      <a:rPr lang="en-US" sz="2000" i="1">
                        <a:latin typeface="Cambria Math" panose="02040503050406030204" pitchFamily="18" charset="0"/>
                      </a:rPr>
                      <m:t>=</m:t>
                    </m:r>
                    <m:r>
                      <a:rPr lang="en-US" sz="2000" b="0" i="1" smtClean="0">
                        <a:latin typeface="Cambria Math" panose="02040503050406030204" pitchFamily="18" charset="0"/>
                      </a:rPr>
                      <m:t>40</m:t>
                    </m:r>
                  </m:oMath>
                </a14:m>
                <a:r>
                  <a:rPr lang="en-US" sz="2000" dirty="0">
                    <a:latin typeface="Calibri" panose="020F0502020204030204" pitchFamily="34" charset="0"/>
                  </a:rPr>
                  <a:t> </a:t>
                </a:r>
                <a:r>
                  <a:rPr lang="en-US" sz="2000" dirty="0">
                    <a:latin typeface="Arial" panose="020B0604020202020204" pitchFamily="34" charset="0"/>
                    <a:cs typeface="Arial" panose="020B0604020202020204" pitchFamily="34" charset="0"/>
                  </a:rPr>
                  <a:t>and</a:t>
                </a:r>
                <a:r>
                  <a:rPr lang="en-US" sz="2000" dirty="0">
                    <a:latin typeface="Calibri" panose="020F0502020204030204" pitchFamily="34" charset="0"/>
                  </a:rPr>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𝑑𝑓</m:t>
                        </m:r>
                      </m:e>
                      <m:sub>
                        <m:r>
                          <a:rPr lang="en-US" sz="2000" i="1">
                            <a:latin typeface="Cambria Math" panose="02040503050406030204" pitchFamily="18" charset="0"/>
                          </a:rPr>
                          <m:t>2</m:t>
                        </m:r>
                      </m:sub>
                    </m:sSub>
                    <m:r>
                      <a:rPr lang="en-US" sz="2000" i="1">
                        <a:latin typeface="Cambria Math" panose="02040503050406030204" pitchFamily="18" charset="0"/>
                      </a:rPr>
                      <m:t>=</m:t>
                    </m:r>
                    <m:r>
                      <a:rPr lang="en-US" sz="2000" b="0" i="1" smtClean="0">
                        <a:latin typeface="Cambria Math" panose="02040503050406030204" pitchFamily="18" charset="0"/>
                      </a:rPr>
                      <m:t>30</m:t>
                    </m:r>
                  </m:oMath>
                </a14:m>
                <a:r>
                  <a:rPr lang="en-US" sz="2000" dirty="0"/>
                  <a:t>, such that: </a:t>
                </a:r>
                <a14:m>
                  <m:oMath xmlns:m="http://schemas.openxmlformats.org/officeDocument/2006/math">
                    <m:r>
                      <a:rPr lang="en-US" sz="2000" i="1">
                        <a:latin typeface="Cambria Math" panose="02040503050406030204" pitchFamily="18" charset="0"/>
                      </a:rPr>
                      <m:t>𝑝</m:t>
                    </m:r>
                    <m:r>
                      <m:rPr>
                        <m:nor/>
                      </m:rPr>
                      <a:rPr lang="en-US" sz="2000" i="0">
                        <a:latin typeface="Arial" panose="020B0604020202020204" pitchFamily="34" charset="0"/>
                        <a:cs typeface="Arial" panose="020B0604020202020204" pitchFamily="34" charset="0"/>
                      </a:rPr>
                      <m:t>−</m:t>
                    </m:r>
                    <m:r>
                      <m:rPr>
                        <m:nor/>
                      </m:rPr>
                      <a:rPr lang="en-US" sz="2000">
                        <a:latin typeface="Arial" panose="020B0604020202020204" pitchFamily="34" charset="0"/>
                        <a:cs typeface="Arial" panose="020B0604020202020204" pitchFamily="34" charset="0"/>
                      </a:rPr>
                      <m:t>value</m:t>
                    </m:r>
                    <m:r>
                      <a:rPr lang="en-US" sz="2000">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𝐹</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1.50</m:t>
                    </m:r>
                    <m:r>
                      <a:rPr lang="en-US" sz="2000" i="1">
                        <a:latin typeface="Cambria Math" panose="02040503050406030204" pitchFamily="18" charset="0"/>
                        <a:ea typeface="Cambria Math" panose="02040503050406030204" pitchFamily="18" charset="0"/>
                      </a:rPr>
                      <m:t>)</m:t>
                    </m:r>
                  </m:oMath>
                </a14:m>
                <a:r>
                  <a:rPr lang="en-US" sz="2000" dirty="0"/>
                  <a:t>.</a:t>
                </a:r>
              </a:p>
              <a:p>
                <a:pPr>
                  <a:lnSpc>
                    <a:spcPct val="100000"/>
                  </a:lnSpc>
                  <a:spcBef>
                    <a:spcPts val="600"/>
                  </a:spcBef>
                </a:pPr>
                <a:r>
                  <a:rPr lang="en-US" sz="2000" dirty="0"/>
                  <a:t>Table 4 in Appendix B provides the following information.</a:t>
                </a:r>
              </a:p>
            </p:txBody>
          </p:sp>
        </mc:Choice>
        <mc:Fallback xmlns="">
          <p:sp>
            <p:nvSpPr>
              <p:cNvPr id="3" name="Text Placeholder 2">
                <a:extLst>
                  <a:ext uri="{FF2B5EF4-FFF2-40B4-BE49-F238E27FC236}">
                    <a16:creationId xmlns:a16="http://schemas.microsoft.com/office/drawing/2014/main" id="{16CBAAD7-45ED-9EEF-49B8-AA9C45B010E7}"/>
                  </a:ext>
                </a:extLst>
              </p:cNvPr>
              <p:cNvSpPr>
                <a:spLocks noGrp="1" noRot="1" noChangeAspect="1" noMove="1" noResize="1" noEditPoints="1" noAdjustHandles="1" noChangeArrowheads="1" noChangeShapeType="1" noTextEdit="1"/>
              </p:cNvSpPr>
              <p:nvPr>
                <p:ph type="body" sz="quarter" idx="15"/>
              </p:nvPr>
            </p:nvSpPr>
            <p:spPr>
              <a:xfrm>
                <a:off x="838200" y="1718159"/>
                <a:ext cx="10515599" cy="1034715"/>
              </a:xfrm>
              <a:blipFill>
                <a:blip r:embed="rId3"/>
                <a:stretch>
                  <a:fillRect l="-1508" t="-8235" b="-105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8" name="Table 8">
                <a:extLst>
                  <a:ext uri="{FF2B5EF4-FFF2-40B4-BE49-F238E27FC236}">
                    <a16:creationId xmlns:a16="http://schemas.microsoft.com/office/drawing/2014/main" id="{699A4297-B870-E801-3AA1-756910434A14}"/>
                  </a:ext>
                </a:extLst>
              </p:cNvPr>
              <p:cNvGraphicFramePr>
                <a:graphicFrameLocks noGrp="1"/>
              </p:cNvGraphicFramePr>
              <p:nvPr>
                <p:ph type="tbl" sz="quarter" idx="22"/>
              </p:nvPr>
            </p:nvGraphicFramePr>
            <p:xfrm>
              <a:off x="1736177" y="2845237"/>
              <a:ext cx="5810847" cy="694183"/>
            </p:xfrm>
            <a:graphic>
              <a:graphicData uri="http://schemas.openxmlformats.org/drawingml/2006/table">
                <a:tbl>
                  <a:tblPr firstRow="1" bandRow="1">
                    <a:tableStyleId>{5C22544A-7EE6-4342-B048-85BDC9FD1C3A}</a:tableStyleId>
                  </a:tblPr>
                  <a:tblGrid>
                    <a:gridCol w="3067647">
                      <a:extLst>
                        <a:ext uri="{9D8B030D-6E8A-4147-A177-3AD203B41FA5}">
                          <a16:colId xmlns:a16="http://schemas.microsoft.com/office/drawing/2014/main" val="2911801945"/>
                        </a:ext>
                      </a:extLst>
                    </a:gridCol>
                    <a:gridCol w="685800">
                      <a:extLst>
                        <a:ext uri="{9D8B030D-6E8A-4147-A177-3AD203B41FA5}">
                          <a16:colId xmlns:a16="http://schemas.microsoft.com/office/drawing/2014/main" val="2232661565"/>
                        </a:ext>
                      </a:extLst>
                    </a:gridCol>
                    <a:gridCol w="685800">
                      <a:extLst>
                        <a:ext uri="{9D8B030D-6E8A-4147-A177-3AD203B41FA5}">
                          <a16:colId xmlns:a16="http://schemas.microsoft.com/office/drawing/2014/main" val="3297454400"/>
                        </a:ext>
                      </a:extLst>
                    </a:gridCol>
                    <a:gridCol w="685800">
                      <a:extLst>
                        <a:ext uri="{9D8B030D-6E8A-4147-A177-3AD203B41FA5}">
                          <a16:colId xmlns:a16="http://schemas.microsoft.com/office/drawing/2014/main" val="3078131080"/>
                        </a:ext>
                      </a:extLst>
                    </a:gridCol>
                    <a:gridCol w="685800">
                      <a:extLst>
                        <a:ext uri="{9D8B030D-6E8A-4147-A177-3AD203B41FA5}">
                          <a16:colId xmlns:a16="http://schemas.microsoft.com/office/drawing/2014/main" val="1873949250"/>
                        </a:ext>
                      </a:extLst>
                    </a:gridCol>
                  </a:tblGrid>
                  <a:tr h="3675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000000"/>
                              </a:solidFill>
                            </a:rPr>
                            <a:t>Area in Upper Tail</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0.10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0.025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2667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sz="1600" b="1" i="1" smtClean="0">
                                  <a:latin typeface="Cambria Math" panose="02040503050406030204" pitchFamily="18" charset="0"/>
                                </a:rPr>
                                <m:t>𝑭</m:t>
                              </m:r>
                            </m:oMath>
                          </a14:m>
                          <a:r>
                            <a:rPr lang="en-US" sz="1600" b="1" i="0" u="none" strike="noStrike" kern="1200" dirty="0">
                              <a:solidFill>
                                <a:srgbClr val="000000"/>
                              </a:solidFill>
                              <a:effectLst/>
                              <a:latin typeface="Calibri" panose="020F0502020204030204" pitchFamily="34" charset="0"/>
                              <a:ea typeface="+mn-ea"/>
                              <a:cs typeface="+mn-cs"/>
                            </a:rPr>
                            <a:t> Value (</a:t>
                          </a:r>
                          <a14:m>
                            <m:oMath xmlns:m="http://schemas.openxmlformats.org/officeDocument/2006/math">
                              <m:sSub>
                                <m:sSubPr>
                                  <m:ctrlPr>
                                    <a:rPr lang="en-US" sz="1600" b="1" i="1" u="none" strike="noStrike" kern="1200" smtClean="0">
                                      <a:solidFill>
                                        <a:srgbClr val="000000"/>
                                      </a:solidFill>
                                      <a:effectLst/>
                                      <a:latin typeface="Cambria Math" panose="02040503050406030204" pitchFamily="18" charset="0"/>
                                      <a:ea typeface="+mn-ea"/>
                                      <a:cs typeface="+mn-cs"/>
                                    </a:rPr>
                                  </m:ctrlPr>
                                </m:sSubPr>
                                <m:e>
                                  <m:r>
                                    <a:rPr lang="en-US" sz="1600" b="1" i="1" u="none" strike="noStrike" kern="1200" smtClean="0">
                                      <a:solidFill>
                                        <a:srgbClr val="000000"/>
                                      </a:solidFill>
                                      <a:effectLst/>
                                      <a:latin typeface="Cambria Math" panose="02040503050406030204" pitchFamily="18" charset="0"/>
                                      <a:ea typeface="+mn-ea"/>
                                      <a:cs typeface="+mn-cs"/>
                                    </a:rPr>
                                    <m:t>𝒅𝒇</m:t>
                                  </m:r>
                                </m:e>
                                <m:sub>
                                  <m:r>
                                    <a:rPr lang="en-US" sz="1600" b="1" i="1" u="none" strike="noStrike" kern="1200" smtClean="0">
                                      <a:solidFill>
                                        <a:srgbClr val="000000"/>
                                      </a:solidFill>
                                      <a:effectLst/>
                                      <a:latin typeface="Cambria Math" panose="02040503050406030204" pitchFamily="18" charset="0"/>
                                      <a:ea typeface="+mn-ea"/>
                                      <a:cs typeface="+mn-cs"/>
                                    </a:rPr>
                                    <m:t>𝟏</m:t>
                                  </m:r>
                                </m:sub>
                              </m:sSub>
                              <m:r>
                                <a:rPr lang="en-US" sz="1600" b="1" i="1" u="none" strike="noStrike" kern="1200" smtClean="0">
                                  <a:solidFill>
                                    <a:srgbClr val="000000"/>
                                  </a:solidFill>
                                  <a:effectLst/>
                                  <a:latin typeface="Cambria Math" panose="02040503050406030204" pitchFamily="18" charset="0"/>
                                  <a:ea typeface="+mn-ea"/>
                                  <a:cs typeface="+mn-cs"/>
                                </a:rPr>
                                <m:t>=</m:t>
                              </m:r>
                              <m:r>
                                <a:rPr lang="en-US" sz="1600" b="1" i="1" u="none" strike="noStrike" kern="1200" smtClean="0">
                                  <a:solidFill>
                                    <a:srgbClr val="000000"/>
                                  </a:solidFill>
                                  <a:effectLst/>
                                  <a:latin typeface="Cambria Math" panose="02040503050406030204" pitchFamily="18" charset="0"/>
                                  <a:ea typeface="+mn-ea"/>
                                  <a:cs typeface="+mn-cs"/>
                                </a:rPr>
                                <m:t>𝟒𝟎</m:t>
                              </m:r>
                              <m:r>
                                <a:rPr lang="en-US" sz="1600" b="1" i="1" u="none" strike="noStrike" kern="1200" smtClean="0">
                                  <a:solidFill>
                                    <a:srgbClr val="000000"/>
                                  </a:solidFill>
                                  <a:effectLst/>
                                  <a:latin typeface="Cambria Math" panose="02040503050406030204" pitchFamily="18" charset="0"/>
                                  <a:ea typeface="+mn-ea"/>
                                  <a:cs typeface="+mn-cs"/>
                                </a:rPr>
                                <m:t>,</m:t>
                              </m:r>
                            </m:oMath>
                          </a14:m>
                          <a:r>
                            <a:rPr lang="en-US" sz="1600" b="1" i="0" u="none" strike="noStrike" kern="1200" dirty="0">
                              <a:solidFill>
                                <a:srgbClr val="000000"/>
                              </a:solidFill>
                              <a:effectLst/>
                              <a:latin typeface="Calibri" panose="020F0502020204030204" pitchFamily="34" charset="0"/>
                              <a:ea typeface="+mn-ea"/>
                              <a:cs typeface="+mn-cs"/>
                            </a:rPr>
                            <a:t> </a:t>
                          </a:r>
                          <a14:m>
                            <m:oMath xmlns:m="http://schemas.openxmlformats.org/officeDocument/2006/math">
                              <m:sSub>
                                <m:sSubPr>
                                  <m:ctrlPr>
                                    <a:rPr lang="en-US" sz="1600" b="1" i="1" u="none" strike="noStrike" kern="1200" smtClean="0">
                                      <a:solidFill>
                                        <a:srgbClr val="000000"/>
                                      </a:solidFill>
                                      <a:effectLst/>
                                      <a:latin typeface="Cambria Math" panose="02040503050406030204" pitchFamily="18" charset="0"/>
                                      <a:ea typeface="+mn-ea"/>
                                      <a:cs typeface="+mn-cs"/>
                                    </a:rPr>
                                  </m:ctrlPr>
                                </m:sSubPr>
                                <m:e>
                                  <m:r>
                                    <a:rPr lang="en-US" sz="1600" b="1" i="1" u="none" strike="noStrike" kern="1200" smtClean="0">
                                      <a:solidFill>
                                        <a:srgbClr val="000000"/>
                                      </a:solidFill>
                                      <a:effectLst/>
                                      <a:latin typeface="Cambria Math" panose="02040503050406030204" pitchFamily="18" charset="0"/>
                                      <a:ea typeface="+mn-ea"/>
                                      <a:cs typeface="+mn-cs"/>
                                    </a:rPr>
                                    <m:t>𝒅𝒇</m:t>
                                  </m:r>
                                </m:e>
                                <m:sub>
                                  <m:r>
                                    <a:rPr lang="en-US" sz="1600" b="1" i="1" u="none" strike="noStrike" kern="1200" smtClean="0">
                                      <a:solidFill>
                                        <a:srgbClr val="000000"/>
                                      </a:solidFill>
                                      <a:effectLst/>
                                      <a:latin typeface="Cambria Math" panose="02040503050406030204" pitchFamily="18" charset="0"/>
                                      <a:ea typeface="+mn-ea"/>
                                      <a:cs typeface="+mn-cs"/>
                                    </a:rPr>
                                    <m:t>𝟐</m:t>
                                  </m:r>
                                </m:sub>
                              </m:sSub>
                              <m:r>
                                <a:rPr lang="en-US" sz="1600" b="1" i="1" u="none" strike="noStrike" kern="1200" smtClean="0">
                                  <a:solidFill>
                                    <a:srgbClr val="000000"/>
                                  </a:solidFill>
                                  <a:effectLst/>
                                  <a:latin typeface="Cambria Math" panose="02040503050406030204" pitchFamily="18" charset="0"/>
                                  <a:ea typeface="+mn-ea"/>
                                  <a:cs typeface="+mn-cs"/>
                                </a:rPr>
                                <m:t>=</m:t>
                              </m:r>
                              <m:r>
                                <a:rPr lang="en-US" sz="1600" b="1" i="1" u="none" strike="noStrike" kern="1200" smtClean="0">
                                  <a:solidFill>
                                    <a:srgbClr val="000000"/>
                                  </a:solidFill>
                                  <a:effectLst/>
                                  <a:latin typeface="Cambria Math" panose="02040503050406030204" pitchFamily="18" charset="0"/>
                                  <a:ea typeface="+mn-ea"/>
                                  <a:cs typeface="+mn-cs"/>
                                </a:rPr>
                                <m:t>𝟑𝟎</m:t>
                              </m:r>
                            </m:oMath>
                          </a14:m>
                          <a:r>
                            <a:rPr lang="en-US" sz="1600" b="1" i="0" u="none" strike="noStrike" kern="1200" dirty="0">
                              <a:solidFill>
                                <a:srgbClr val="000000"/>
                              </a:solidFill>
                              <a:effectLst/>
                              <a:latin typeface="Calibri" panose="020F0502020204030204" pitchFamily="34" charset="0"/>
                              <a:ea typeface="+mn-ea"/>
                              <a:cs typeface="+mn-cs"/>
                            </a:rPr>
                            <a:t>)</a:t>
                          </a:r>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1.57</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1.79</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2.01</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2.30</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Choice>
        <mc:Fallback xmlns="">
          <p:graphicFrame>
            <p:nvGraphicFramePr>
              <p:cNvPr id="8" name="Table 8">
                <a:extLst>
                  <a:ext uri="{FF2B5EF4-FFF2-40B4-BE49-F238E27FC236}">
                    <a16:creationId xmlns:a16="http://schemas.microsoft.com/office/drawing/2014/main" id="{699A4297-B870-E801-3AA1-756910434A14}"/>
                  </a:ext>
                </a:extLst>
              </p:cNvPr>
              <p:cNvGraphicFramePr>
                <a:graphicFrameLocks noGrp="1"/>
              </p:cNvGraphicFramePr>
              <p:nvPr>
                <p:ph type="tbl" sz="quarter" idx="22"/>
                <p:extLst>
                  <p:ext uri="{D42A27DB-BD31-4B8C-83A1-F6EECF244321}">
                    <p14:modId xmlns:p14="http://schemas.microsoft.com/office/powerpoint/2010/main" val="3728683935"/>
                  </p:ext>
                </p:extLst>
              </p:nvPr>
            </p:nvGraphicFramePr>
            <p:xfrm>
              <a:off x="1736177" y="2845237"/>
              <a:ext cx="5810847" cy="694183"/>
            </p:xfrm>
            <a:graphic>
              <a:graphicData uri="http://schemas.openxmlformats.org/drawingml/2006/table">
                <a:tbl>
                  <a:tblPr firstRow="1" bandRow="1">
                    <a:tableStyleId>{5C22544A-7EE6-4342-B048-85BDC9FD1C3A}</a:tableStyleId>
                  </a:tblPr>
                  <a:tblGrid>
                    <a:gridCol w="3067647">
                      <a:extLst>
                        <a:ext uri="{9D8B030D-6E8A-4147-A177-3AD203B41FA5}">
                          <a16:colId xmlns:a16="http://schemas.microsoft.com/office/drawing/2014/main" val="2911801945"/>
                        </a:ext>
                      </a:extLst>
                    </a:gridCol>
                    <a:gridCol w="685800">
                      <a:extLst>
                        <a:ext uri="{9D8B030D-6E8A-4147-A177-3AD203B41FA5}">
                          <a16:colId xmlns:a16="http://schemas.microsoft.com/office/drawing/2014/main" val="2232661565"/>
                        </a:ext>
                      </a:extLst>
                    </a:gridCol>
                    <a:gridCol w="685800">
                      <a:extLst>
                        <a:ext uri="{9D8B030D-6E8A-4147-A177-3AD203B41FA5}">
                          <a16:colId xmlns:a16="http://schemas.microsoft.com/office/drawing/2014/main" val="3297454400"/>
                        </a:ext>
                      </a:extLst>
                    </a:gridCol>
                    <a:gridCol w="685800">
                      <a:extLst>
                        <a:ext uri="{9D8B030D-6E8A-4147-A177-3AD203B41FA5}">
                          <a16:colId xmlns:a16="http://schemas.microsoft.com/office/drawing/2014/main" val="3078131080"/>
                        </a:ext>
                      </a:extLst>
                    </a:gridCol>
                    <a:gridCol w="685800">
                      <a:extLst>
                        <a:ext uri="{9D8B030D-6E8A-4147-A177-3AD203B41FA5}">
                          <a16:colId xmlns:a16="http://schemas.microsoft.com/office/drawing/2014/main" val="1873949250"/>
                        </a:ext>
                      </a:extLst>
                    </a:gridCol>
                  </a:tblGrid>
                  <a:tr h="36750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rgbClr val="000000"/>
                              </a:solidFill>
                            </a:rPr>
                            <a:t>Area in Upper Tail</a:t>
                          </a: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highlight>
                                <a:srgbClr val="FFFF00"/>
                              </a:highlight>
                            </a:rPr>
                            <a:t>0.10</a:t>
                          </a:r>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0.025</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800" b="1" dirty="0">
                              <a:solidFill>
                                <a:srgbClr val="000000"/>
                              </a:solidFill>
                            </a:rPr>
                            <a:t>0.01</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2662261"/>
                      </a:ext>
                    </a:extLst>
                  </a:tr>
                  <a:tr h="326674">
                    <a:tc>
                      <a:txBody>
                        <a:bodyPr/>
                        <a:lstStyle/>
                        <a:p>
                          <a:endParaRPr lang="en-US"/>
                        </a:p>
                      </a:txBody>
                      <a:tcPr marL="0" marR="0" marT="0" marB="0" anchor="b">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122222" r="-89683" b="-42593"/>
                          </a:stretch>
                        </a:blipFill>
                      </a:tcPr>
                    </a:tc>
                    <a:tc>
                      <a:txBody>
                        <a:bodyPr/>
                        <a:lstStyle/>
                        <a:p>
                          <a:pPr algn="ctr" fontAlgn="b"/>
                          <a:r>
                            <a:rPr lang="en-US" sz="1800" b="0" i="0" u="none" strike="noStrike" dirty="0">
                              <a:solidFill>
                                <a:srgbClr val="000000"/>
                              </a:solidFill>
                              <a:effectLst/>
                              <a:highlight>
                                <a:srgbClr val="FFFF00"/>
                              </a:highlight>
                              <a:latin typeface="Calibri" panose="020F0502020204030204" pitchFamily="34" charset="0"/>
                            </a:rPr>
                            <a:t>1.57</a:t>
                          </a:r>
                        </a:p>
                      </a:txBody>
                      <a:tcPr marL="6350" marR="6350" marT="6350" marB="0" anchor="b">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1.79</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2.01</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b"/>
                          <a:r>
                            <a:rPr lang="en-US" sz="1800" b="0" i="0" u="none" strike="noStrike" dirty="0">
                              <a:solidFill>
                                <a:srgbClr val="000000"/>
                              </a:solidFill>
                              <a:effectLst/>
                              <a:latin typeface="Calibri" panose="020F0502020204030204" pitchFamily="34" charset="0"/>
                            </a:rPr>
                            <a:t>2.30</a:t>
                          </a: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7495538"/>
                      </a:ext>
                    </a:extLst>
                  </a:tr>
                </a:tbl>
              </a:graphicData>
            </a:graphic>
          </p:graphicFrame>
        </mc:Fallback>
      </mc:AlternateContent>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A5E75F5-65A9-F1D7-C320-94E7722DB095}"/>
                  </a:ext>
                </a:extLst>
              </p:cNvPr>
              <p:cNvSpPr>
                <a:spLocks noGrp="1"/>
              </p:cNvSpPr>
              <p:nvPr>
                <p:ph type="body" sz="quarter" idx="18"/>
              </p:nvPr>
            </p:nvSpPr>
            <p:spPr>
              <a:xfrm>
                <a:off x="838200" y="3728663"/>
                <a:ext cx="10484504" cy="1797905"/>
              </a:xfrm>
            </p:spPr>
            <p:txBody>
              <a:bodyPr>
                <a:noAutofit/>
              </a:bodyPr>
              <a:lstStyle/>
              <a:p>
                <a:pPr>
                  <a:lnSpc>
                    <a:spcPct val="100000"/>
                  </a:lnSpc>
                  <a:spcBef>
                    <a:spcPts val="600"/>
                  </a:spcBef>
                  <a:spcAft>
                    <a:spcPts val="0"/>
                  </a:spcAft>
                </a:pPr>
                <a:r>
                  <a:rPr lang="en-US" sz="2000" dirty="0">
                    <a:cs typeface="Arial" panose="020B0604020202020204" pitchFamily="34" charset="0"/>
                  </a:rPr>
                  <a:t>Thus, the </a:t>
                </a:r>
                <a:r>
                  <a:rPr lang="en-US" sz="2000" i="1" dirty="0">
                    <a:cs typeface="Arial" panose="020B0604020202020204" pitchFamily="34" charset="0"/>
                  </a:rPr>
                  <a:t>p</a:t>
                </a:r>
                <a:r>
                  <a:rPr lang="en-US" sz="2000" dirty="0">
                    <a:cs typeface="Arial" panose="020B0604020202020204" pitchFamily="34" charset="0"/>
                  </a:rPr>
                  <a:t>-value is greater than 0.10. </a:t>
                </a:r>
              </a:p>
              <a:p>
                <a:pPr>
                  <a:lnSpc>
                    <a:spcPct val="100000"/>
                  </a:lnSpc>
                  <a:spcBef>
                    <a:spcPts val="600"/>
                  </a:spcBef>
                  <a:spcAft>
                    <a:spcPts val="0"/>
                  </a:spcAft>
                </a:pPr>
                <a:r>
                  <a:rPr lang="en-US" sz="2000" dirty="0"/>
                  <a:t>Excel provides the exact </a:t>
                </a:r>
                <a:r>
                  <a:rPr lang="en-US" sz="2000" i="1" dirty="0"/>
                  <a:t>p</a:t>
                </a:r>
                <a:r>
                  <a:rPr lang="en-US" sz="2000" dirty="0"/>
                  <a:t>-value as </a:t>
                </a:r>
                <a14:m>
                  <m:oMath xmlns:m="http://schemas.openxmlformats.org/officeDocument/2006/math">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F</m:t>
                    </m:r>
                    <m:r>
                      <m:rPr>
                        <m:nor/>
                      </m:rPr>
                      <a:rPr lang="en-US" sz="2000" i="0" dirty="0" smtClean="0">
                        <a:latin typeface="Cambria Math" panose="02040503050406030204" pitchFamily="18" charset="0"/>
                        <a:cs typeface="Arial" panose="020B0604020202020204" pitchFamily="34" charset="0"/>
                      </a:rPr>
                      <m:t>.</m:t>
                    </m:r>
                    <m:r>
                      <m:rPr>
                        <m:nor/>
                      </m:rPr>
                      <a:rPr lang="en-US" sz="2000" b="0" i="0" dirty="0" smtClean="0">
                        <a:latin typeface="Cambria Math" panose="02040503050406030204" pitchFamily="18" charset="0"/>
                        <a:cs typeface="Arial" panose="020B0604020202020204" pitchFamily="34" charset="0"/>
                      </a:rPr>
                      <m:t>DIST</m:t>
                    </m:r>
                    <m:r>
                      <m:rPr>
                        <m:nor/>
                      </m:rPr>
                      <a:rPr lang="en-US" sz="2000" i="0" dirty="0" smtClean="0">
                        <a:latin typeface="Cambria Math" panose="02040503050406030204" pitchFamily="18" charset="0"/>
                        <a:cs typeface="Arial" panose="020B0604020202020204" pitchFamily="34" charset="0"/>
                      </a:rPr>
                      <m:t>.</m:t>
                    </m:r>
                    <m:r>
                      <m:rPr>
                        <m:nor/>
                      </m:rPr>
                      <a:rPr lang="en-US" sz="2000" i="0" dirty="0" smtClean="0">
                        <a:latin typeface="Cambria Math" panose="02040503050406030204" pitchFamily="18" charset="0"/>
                        <a:cs typeface="Arial" panose="020B0604020202020204" pitchFamily="34" charset="0"/>
                      </a:rPr>
                      <m:t>RT</m:t>
                    </m:r>
                    <m:r>
                      <m:rPr>
                        <m:nor/>
                      </m:rPr>
                      <a:rPr lang="en-US" sz="2000" i="0" dirty="0" smtClean="0">
                        <a:latin typeface="Cambria Math" panose="02040503050406030204" pitchFamily="18" charset="0"/>
                        <a:cs typeface="Arial" panose="020B0604020202020204" pitchFamily="34" charset="0"/>
                      </a:rPr>
                      <m:t>(1.50,40,30)</m:t>
                    </m:r>
                    <m:r>
                      <a:rPr lang="en-US" sz="2000" i="1" dirty="0" smtClean="0">
                        <a:latin typeface="Cambria Math" panose="02040503050406030204" pitchFamily="18" charset="0"/>
                        <a:cs typeface="Arial" panose="020B0604020202020204" pitchFamily="34" charset="0"/>
                      </a:rPr>
                      <m:t>=</m:t>
                    </m:r>
                    <m:r>
                      <a:rPr lang="en-US" sz="2000" b="0" i="1" dirty="0" smtClean="0">
                        <a:latin typeface="Cambria Math" panose="02040503050406030204" pitchFamily="18" charset="0"/>
                        <a:cs typeface="Arial" panose="020B0604020202020204" pitchFamily="34" charset="0"/>
                      </a:rPr>
                      <m:t>0.1256</m:t>
                    </m:r>
                  </m:oMath>
                </a14:m>
                <a:endParaRPr lang="en-US" sz="2000" dirty="0"/>
              </a:p>
              <a:p>
                <a:pPr>
                  <a:lnSpc>
                    <a:spcPct val="100000"/>
                  </a:lnSpc>
                  <a:spcBef>
                    <a:spcPts val="600"/>
                  </a:spcBef>
                  <a:spcAft>
                    <a:spcPts val="0"/>
                  </a:spcAft>
                </a:pPr>
                <a:r>
                  <a:rPr lang="en-US" sz="2000" dirty="0"/>
                  <a:t>With </a:t>
                </a:r>
                <a14:m>
                  <m:oMath xmlns:m="http://schemas.openxmlformats.org/officeDocument/2006/math">
                    <m:r>
                      <a:rPr lang="en-US" sz="2000" b="0" i="1" smtClean="0">
                        <a:latin typeface="Cambria Math" panose="02040503050406030204" pitchFamily="18" charset="0"/>
                      </a:rPr>
                      <m:t>𝑝</m:t>
                    </m:r>
                    <m:r>
                      <m:rPr>
                        <m:nor/>
                      </m:rPr>
                      <a:rPr lang="en-US" sz="2000" b="0" i="0" smtClean="0">
                        <a:latin typeface="Arial" panose="020B0604020202020204" pitchFamily="34" charset="0"/>
                        <a:cs typeface="Arial" panose="020B0604020202020204" pitchFamily="34" charset="0"/>
                      </a:rPr>
                      <m:t>−</m:t>
                    </m:r>
                    <m:r>
                      <m:rPr>
                        <m:nor/>
                      </m:rPr>
                      <a:rPr lang="en-US" sz="2000" b="0" i="0" smtClean="0">
                        <a:latin typeface="Arial" panose="020B0604020202020204" pitchFamily="34" charset="0"/>
                        <a:cs typeface="Arial" panose="020B0604020202020204" pitchFamily="34" charset="0"/>
                      </a:rPr>
                      <m:t>value</m:t>
                    </m:r>
                    <m:r>
                      <a:rPr lang="en-US" sz="2000" b="0" i="1" smtClean="0">
                        <a:latin typeface="Cambria Math" panose="02040503050406030204" pitchFamily="18" charset="0"/>
                        <a:cs typeface="Arial" panose="020B0604020202020204" pitchFamily="34" charset="0"/>
                      </a:rPr>
                      <m:t>&gt;</m:t>
                    </m:r>
                    <m:r>
                      <a:rPr lang="en-US" sz="2000" b="0" i="1" smtClean="0">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latin typeface="Cambria Math" panose="02040503050406030204" pitchFamily="18" charset="0"/>
                        <a:ea typeface="Cambria Math" panose="02040503050406030204" pitchFamily="18" charset="0"/>
                        <a:cs typeface="Arial" panose="020B0604020202020204" pitchFamily="34" charset="0"/>
                      </a:rPr>
                      <m:t>=0.05</m:t>
                    </m:r>
                  </m:oMath>
                </a14:m>
                <a:r>
                  <a:rPr lang="en-US" sz="2000" dirty="0"/>
                  <a:t>, the null hypothesis cannot be rejected.</a:t>
                </a:r>
              </a:p>
              <a:p>
                <a:pPr>
                  <a:lnSpc>
                    <a:spcPct val="100000"/>
                  </a:lnSpc>
                  <a:spcBef>
                    <a:spcPts val="600"/>
                  </a:spcBef>
                  <a:spcAft>
                    <a:spcPts val="0"/>
                  </a:spcAft>
                </a:pPr>
                <a:r>
                  <a:rPr lang="en-US" sz="2000" dirty="0"/>
                  <a:t>The sample results do not support the conclusion that females show greater variation in attitude on political issues than males do.</a:t>
                </a:r>
              </a:p>
              <a:p>
                <a:pPr>
                  <a:lnSpc>
                    <a:spcPct val="100000"/>
                  </a:lnSpc>
                  <a:spcBef>
                    <a:spcPts val="600"/>
                  </a:spcBef>
                </a:pPr>
                <a:endParaRPr lang="en-US" sz="2000" dirty="0"/>
              </a:p>
            </p:txBody>
          </p:sp>
        </mc:Choice>
        <mc:Fallback xmlns="">
          <p:sp>
            <p:nvSpPr>
              <p:cNvPr id="4" name="Text Placeholder 3">
                <a:extLst>
                  <a:ext uri="{FF2B5EF4-FFF2-40B4-BE49-F238E27FC236}">
                    <a16:creationId xmlns:a16="http://schemas.microsoft.com/office/drawing/2014/main" id="{0A5E75F5-65A9-F1D7-C320-94E7722DB095}"/>
                  </a:ext>
                </a:extLst>
              </p:cNvPr>
              <p:cNvSpPr>
                <a:spLocks noGrp="1" noRot="1" noChangeAspect="1" noMove="1" noResize="1" noEditPoints="1" noAdjustHandles="1" noChangeArrowheads="1" noChangeShapeType="1" noTextEdit="1"/>
              </p:cNvSpPr>
              <p:nvPr>
                <p:ph type="body" sz="quarter" idx="18"/>
              </p:nvPr>
            </p:nvSpPr>
            <p:spPr>
              <a:xfrm>
                <a:off x="838200" y="3728663"/>
                <a:ext cx="10484504" cy="1797905"/>
              </a:xfrm>
              <a:blipFill>
                <a:blip r:embed="rId5"/>
                <a:stretch>
                  <a:fillRect l="-1513" t="-4068" b="-6102"/>
                </a:stretch>
              </a:blipFill>
            </p:spPr>
            <p:txBody>
              <a:bodyPr/>
              <a:lstStyle/>
              <a:p>
                <a:r>
                  <a:rPr lang="en-US">
                    <a:noFill/>
                  </a:rPr>
                  <a:t> </a:t>
                </a:r>
              </a:p>
            </p:txBody>
          </p:sp>
        </mc:Fallback>
      </mc:AlternateContent>
    </p:spTree>
    <p:extLst>
      <p:ext uri="{BB962C8B-B14F-4D97-AF65-F5344CB8AC3E}">
        <p14:creationId xmlns:p14="http://schemas.microsoft.com/office/powerpoint/2010/main" val="25594121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sz="3200" dirty="0">
                <a:solidFill>
                  <a:srgbClr val="25894E"/>
                </a:solidFill>
              </a:rPr>
              <a:t>11.2 Excel: Dialog Box for </a:t>
            </a:r>
            <a:r>
              <a:rPr lang="en-US" sz="3200" i="1" dirty="0">
                <a:solidFill>
                  <a:srgbClr val="25894E"/>
                </a:solidFill>
              </a:rPr>
              <a:t>F</a:t>
            </a:r>
            <a:r>
              <a:rPr lang="en-US" sz="3200" dirty="0">
                <a:solidFill>
                  <a:srgbClr val="25894E"/>
                </a:solidFill>
              </a:rPr>
              <a:t>-Test: Two Sample for Variances Tool</a:t>
            </a:r>
          </a:p>
        </p:txBody>
      </p:sp>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7" y="1503370"/>
            <a:ext cx="10704846" cy="1382710"/>
          </a:xfrm>
        </p:spPr>
        <p:txBody>
          <a:bodyPr/>
          <a:lstStyle/>
          <a:p>
            <a:r>
              <a:rPr lang="en-US" sz="2000" b="1" dirty="0"/>
              <a:t>Enter/Access Data</a:t>
            </a:r>
            <a:r>
              <a:rPr lang="en-US" sz="2000" dirty="0"/>
              <a:t>: Open the file </a:t>
            </a:r>
            <a:r>
              <a:rPr lang="en-US" sz="2000" i="1" dirty="0" err="1"/>
              <a:t>schoolbus</a:t>
            </a:r>
            <a:r>
              <a:rPr lang="en-US" sz="2000" dirty="0"/>
              <a:t>, containing arrival times for the two companies.  </a:t>
            </a:r>
          </a:p>
          <a:p>
            <a:r>
              <a:rPr lang="en-US" sz="2000" b="1" dirty="0"/>
              <a:t>Apply Tools</a:t>
            </a:r>
            <a:r>
              <a:rPr lang="en-US" sz="2000" dirty="0"/>
              <a:t>: Follow these steps in the </a:t>
            </a:r>
            <a:r>
              <a:rPr lang="en-US" sz="2000" i="1" dirty="0"/>
              <a:t>F</a:t>
            </a:r>
            <a:r>
              <a:rPr lang="en-US" sz="2000" dirty="0"/>
              <a:t>-Test: Two Sample for Variances dialog box.</a:t>
            </a:r>
          </a:p>
          <a:p>
            <a:pPr marL="914400" indent="-800100"/>
            <a:r>
              <a:rPr lang="en-US" sz="1800" b="1" dirty="0"/>
              <a:t>Step 1</a:t>
            </a:r>
            <a:r>
              <a:rPr lang="en-US" sz="1800" dirty="0"/>
              <a:t>. Click the </a:t>
            </a:r>
            <a:r>
              <a:rPr lang="en-US" sz="1800" b="1" dirty="0"/>
              <a:t>Data</a:t>
            </a:r>
            <a:r>
              <a:rPr lang="en-US" sz="1800" dirty="0"/>
              <a:t> tab on the Ribbon</a:t>
            </a:r>
          </a:p>
          <a:p>
            <a:pPr marL="914400" indent="-800100">
              <a:spcBef>
                <a:spcPts val="300"/>
              </a:spcBef>
            </a:pPr>
            <a:r>
              <a:rPr lang="en-US" sz="1800" b="1" dirty="0"/>
              <a:t>Step 2</a:t>
            </a:r>
            <a:r>
              <a:rPr lang="en-US" sz="1800" dirty="0"/>
              <a:t>. In the </a:t>
            </a:r>
            <a:r>
              <a:rPr lang="en-US" sz="1800" b="1" dirty="0"/>
              <a:t>Analyze</a:t>
            </a:r>
            <a:r>
              <a:rPr lang="en-US" sz="1800" dirty="0"/>
              <a:t> group, click </a:t>
            </a:r>
            <a:r>
              <a:rPr lang="en-US" sz="1800" b="1" dirty="0"/>
              <a:t>Data Analysis</a:t>
            </a:r>
          </a:p>
          <a:p>
            <a:endParaRPr lang="en-US" sz="2000" dirty="0"/>
          </a:p>
        </p:txBody>
      </p:sp>
      <p:sp>
        <p:nvSpPr>
          <p:cNvPr id="4" name="Text Placeholder 3">
            <a:extLst>
              <a:ext uri="{FF2B5EF4-FFF2-40B4-BE49-F238E27FC236}">
                <a16:creationId xmlns:a16="http://schemas.microsoft.com/office/drawing/2014/main" id="{4792A5DD-B984-0EC7-2899-6D8CF34B94C3}"/>
              </a:ext>
            </a:extLst>
          </p:cNvPr>
          <p:cNvSpPr>
            <a:spLocks noGrp="1"/>
          </p:cNvSpPr>
          <p:nvPr>
            <p:ph type="body" sz="quarter" idx="17"/>
          </p:nvPr>
        </p:nvSpPr>
        <p:spPr>
          <a:xfrm>
            <a:off x="743576" y="2886080"/>
            <a:ext cx="6007267" cy="3036086"/>
          </a:xfrm>
        </p:spPr>
        <p:txBody>
          <a:bodyPr/>
          <a:lstStyle/>
          <a:p>
            <a:pPr marL="914400" indent="-800100">
              <a:spcBef>
                <a:spcPts val="300"/>
              </a:spcBef>
            </a:pPr>
            <a:r>
              <a:rPr lang="en-US" sz="1800" b="1" dirty="0"/>
              <a:t>Step 3</a:t>
            </a:r>
            <a:r>
              <a:rPr lang="en-US" sz="1800" dirty="0"/>
              <a:t>. Choose </a:t>
            </a:r>
            <a:r>
              <a:rPr lang="en-US" sz="1800" b="1" dirty="0"/>
              <a:t>F-Test: Two Sample for Variances </a:t>
            </a:r>
            <a:r>
              <a:rPr lang="en-US" sz="1800" dirty="0"/>
              <a:t>from the list of Analysis Tools</a:t>
            </a:r>
            <a:endParaRPr lang="en-US" sz="1800" b="1" dirty="0"/>
          </a:p>
          <a:p>
            <a:pPr marL="914400" indent="-800100">
              <a:spcBef>
                <a:spcPts val="300"/>
              </a:spcBef>
            </a:pPr>
            <a:r>
              <a:rPr lang="en-US" sz="1800" b="1" dirty="0"/>
              <a:t>Step 4</a:t>
            </a:r>
            <a:r>
              <a:rPr lang="en-US" sz="1800" dirty="0"/>
              <a:t>.	In the dialog box:</a:t>
            </a:r>
          </a:p>
          <a:p>
            <a:pPr marL="1143000">
              <a:spcBef>
                <a:spcPts val="300"/>
              </a:spcBef>
            </a:pPr>
            <a:r>
              <a:rPr lang="en-US" sz="1800" dirty="0"/>
              <a:t>Enter </a:t>
            </a:r>
            <a:r>
              <a:rPr lang="en-US" sz="1800" i="1" dirty="0"/>
              <a:t>A1:A27 </a:t>
            </a:r>
            <a:r>
              <a:rPr lang="en-US" sz="1800" dirty="0"/>
              <a:t>in the </a:t>
            </a:r>
            <a:r>
              <a:rPr lang="en-US" sz="1800" b="1" dirty="0"/>
              <a:t>Variable 1 Range: </a:t>
            </a:r>
            <a:r>
              <a:rPr lang="en-US" sz="1800" dirty="0"/>
              <a:t>box</a:t>
            </a:r>
          </a:p>
          <a:p>
            <a:pPr marL="1143000">
              <a:spcBef>
                <a:spcPts val="300"/>
              </a:spcBef>
            </a:pPr>
            <a:r>
              <a:rPr lang="en-US" sz="1800" dirty="0"/>
              <a:t>Enter </a:t>
            </a:r>
            <a:r>
              <a:rPr lang="en-US" sz="1800" i="1" dirty="0"/>
              <a:t>B1:B17 </a:t>
            </a:r>
            <a:r>
              <a:rPr lang="en-US" sz="1800" dirty="0"/>
              <a:t>in the </a:t>
            </a:r>
            <a:r>
              <a:rPr lang="en-US" sz="1800" b="1" dirty="0"/>
              <a:t>Variable 2 Range: </a:t>
            </a:r>
            <a:r>
              <a:rPr lang="en-US" sz="1800" dirty="0"/>
              <a:t>box</a:t>
            </a:r>
          </a:p>
          <a:p>
            <a:pPr marL="1371600" indent="-228600">
              <a:spcBef>
                <a:spcPts val="300"/>
              </a:spcBef>
            </a:pPr>
            <a:r>
              <a:rPr lang="en-US" sz="1800" dirty="0"/>
              <a:t>Select the check box for </a:t>
            </a:r>
            <a:r>
              <a:rPr lang="en-US" sz="1800" b="1" dirty="0"/>
              <a:t>Labels</a:t>
            </a:r>
          </a:p>
          <a:p>
            <a:pPr marL="1371600" indent="-228600">
              <a:spcBef>
                <a:spcPts val="300"/>
              </a:spcBef>
            </a:pPr>
            <a:r>
              <a:rPr lang="en-US" sz="1800" dirty="0"/>
              <a:t>Enter 0.05 in the </a:t>
            </a:r>
            <a:r>
              <a:rPr lang="en-US" sz="1800" b="1" dirty="0"/>
              <a:t>Alpha:</a:t>
            </a:r>
            <a:r>
              <a:rPr lang="en-US" sz="1800" dirty="0"/>
              <a:t> box (</a:t>
            </a:r>
            <a:r>
              <a:rPr lang="en-US" sz="1800" i="1" dirty="0"/>
              <a:t>note</a:t>
            </a:r>
            <a:r>
              <a:rPr lang="en-US" sz="1800" dirty="0"/>
              <a:t>: this Excel procedure applies alpha to the upper tail)</a:t>
            </a:r>
          </a:p>
          <a:p>
            <a:pPr marL="1371600" indent="-228600">
              <a:spcBef>
                <a:spcPts val="300"/>
              </a:spcBef>
            </a:pPr>
            <a:r>
              <a:rPr lang="en-US" sz="1800" dirty="0"/>
              <a:t>Select </a:t>
            </a:r>
            <a:r>
              <a:rPr lang="en-US" sz="1800" b="1" dirty="0"/>
              <a:t>Output Range: </a:t>
            </a:r>
            <a:r>
              <a:rPr lang="en-US" sz="1800" dirty="0"/>
              <a:t>and enter </a:t>
            </a:r>
            <a:r>
              <a:rPr lang="en-US" sz="1800" i="1" dirty="0"/>
              <a:t>D1</a:t>
            </a:r>
            <a:r>
              <a:rPr lang="en-US" sz="1800" dirty="0"/>
              <a:t> in the box</a:t>
            </a:r>
          </a:p>
          <a:p>
            <a:pPr marL="1371600" indent="-228600">
              <a:spcBef>
                <a:spcPts val="300"/>
              </a:spcBef>
            </a:pPr>
            <a:r>
              <a:rPr lang="en-US" sz="1800" dirty="0"/>
              <a:t>Click </a:t>
            </a:r>
            <a:r>
              <a:rPr lang="en-US" sz="1800" b="1" dirty="0"/>
              <a:t>OK</a:t>
            </a:r>
          </a:p>
        </p:txBody>
      </p:sp>
      <p:pic>
        <p:nvPicPr>
          <p:cNvPr id="7" name="Picture Placeholder 6" descr="A screenshot shows an Excel spreadsheet with the F-test dialog box for two-sample for variances. Column A is labeled Milbank and column B is labeled Gulf Park. The entries under column A are as follows. Row 2: 35.9. Row 3: 29.9. Row 4: 31.2. Row 5: 16.2. Row 6: 19.0. Row 7: 15.9. Row 8: 18.8. Row 9: 22.2. Row 10: 19.9. Row 11: 16.4. Row 16: 18.0. Row 17: 28.1. Row 18: 12.1. Row 26: 15.2. Row 27: 28.2. The entries under column 2 are as follows. Row 2: 21.6. Row 3: 20.5. Row 4: 23.3. Row 5: 18.8. Row 6: 17.2. Row 7: 7.7. Row 8: 18.6. Row 9: 18.7. Row 10: 20.4. Row 11: 22.4. Row 16: 27.9. Row 17: 20.8. The F-test dialog box consists of two sections. The first section is titled input and consists of the following elements. Entry field labeled Variable 1 range with entry dollar sign A dollar sign 1 colon dollar sign A dollar sign 27. Entry field labeled Variable 2 range with entry dollar sign B dollar sign 1 colon dollar sign B dollar sign 17. Checked checkbox labeled Labels. Entry field labeled alpha with entry 0.05. The second section is titled output options and consists of the following elements. Selected radio button labeled output range with an entry field with entry D 1. A radio button labeled new worksheet ply with a grayed-out entry field. A radio button labeled new workbook. There are three buttons labeled O K, Cancel, and Help on the right.">
            <a:extLst>
              <a:ext uri="{FF2B5EF4-FFF2-40B4-BE49-F238E27FC236}">
                <a16:creationId xmlns:a16="http://schemas.microsoft.com/office/drawing/2014/main" id="{76D178BC-7C4A-A256-29B0-D2EDD9065A12}"/>
              </a:ext>
            </a:extLst>
          </p:cNvPr>
          <p:cNvPicPr>
            <a:picLocks noGrp="1" noChangeAspect="1"/>
          </p:cNvPicPr>
          <p:nvPr>
            <p:ph type="pic" sz="quarter" idx="16"/>
          </p:nvPr>
        </p:nvPicPr>
        <p:blipFill>
          <a:blip r:embed="rId2"/>
          <a:srcRect t="151" b="151"/>
          <a:stretch/>
        </p:blipFill>
        <p:spPr>
          <a:xfrm>
            <a:off x="6803398" y="2986879"/>
            <a:ext cx="4645025" cy="2935287"/>
          </a:xfrm>
        </p:spPr>
      </p:pic>
    </p:spTree>
    <p:extLst>
      <p:ext uri="{BB962C8B-B14F-4D97-AF65-F5344CB8AC3E}">
        <p14:creationId xmlns:p14="http://schemas.microsoft.com/office/powerpoint/2010/main" val="1852785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D246D-10F1-C78C-A335-E046DA81E71E}"/>
              </a:ext>
            </a:extLst>
          </p:cNvPr>
          <p:cNvSpPr>
            <a:spLocks noGrp="1"/>
          </p:cNvSpPr>
          <p:nvPr>
            <p:ph type="title"/>
          </p:nvPr>
        </p:nvSpPr>
        <p:spPr/>
        <p:txBody>
          <a:bodyPr/>
          <a:lstStyle/>
          <a:p>
            <a:r>
              <a:rPr lang="en-US" dirty="0">
                <a:solidFill>
                  <a:srgbClr val="25894E"/>
                </a:solidFill>
              </a:rPr>
              <a:t>11.2 Excel: Conduct a Hypothesis Test</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13F67481-EAAE-CE91-B7C4-4C15C967A1D6}"/>
                  </a:ext>
                </a:extLst>
              </p:cNvPr>
              <p:cNvSpPr>
                <a:spLocks noGrp="1"/>
              </p:cNvSpPr>
              <p:nvPr>
                <p:ph type="body" sz="quarter" idx="15"/>
              </p:nvPr>
            </p:nvSpPr>
            <p:spPr>
              <a:xfrm>
                <a:off x="743576" y="1097257"/>
                <a:ext cx="10610223" cy="672106"/>
              </a:xfrm>
            </p:spPr>
            <p:txBody>
              <a:bodyPr/>
              <a:lstStyle/>
              <a:p>
                <a:r>
                  <a:rPr lang="en-US" sz="2000" dirty="0"/>
                  <a:t>The descriptive statistics needed are provided in cells E4:F6.</a:t>
                </a:r>
              </a:p>
              <a:p>
                <a:r>
                  <a:rPr lang="en-US" sz="2000" dirty="0"/>
                  <a:t>The test statistic, </a:t>
                </a:r>
                <a14:m>
                  <m:oMath xmlns:m="http://schemas.openxmlformats.org/officeDocument/2006/math">
                    <m:r>
                      <a:rPr lang="en-US" sz="2000" i="1" dirty="0" smtClean="0">
                        <a:latin typeface="Cambria Math" panose="02040503050406030204" pitchFamily="18" charset="0"/>
                      </a:rPr>
                      <m:t>𝐹</m:t>
                    </m:r>
                    <m:r>
                      <a:rPr lang="en-US" sz="2000" i="1" dirty="0" smtClean="0">
                        <a:latin typeface="Cambria Math" panose="02040503050406030204" pitchFamily="18" charset="0"/>
                      </a:rPr>
                      <m:t>=2.4010</m:t>
                    </m:r>
                  </m:oMath>
                </a14:m>
                <a:r>
                  <a:rPr lang="en-US" sz="2000" dirty="0"/>
                  <a:t>, is located in cell </a:t>
                </a:r>
                <a:r>
                  <a:rPr lang="en-US" sz="2000" dirty="0">
                    <a:solidFill>
                      <a:srgbClr val="FF0000"/>
                    </a:solidFill>
                  </a:rPr>
                  <a:t>E</a:t>
                </a:r>
                <a:r>
                  <a:rPr lang="en-US" sz="2000" dirty="0"/>
                  <a:t>8. </a:t>
                </a:r>
              </a:p>
            </p:txBody>
          </p:sp>
        </mc:Choice>
        <mc:Fallback xmlns="">
          <p:sp>
            <p:nvSpPr>
              <p:cNvPr id="3" name="Text Placeholder 2">
                <a:extLst>
                  <a:ext uri="{FF2B5EF4-FFF2-40B4-BE49-F238E27FC236}">
                    <a16:creationId xmlns:a16="http://schemas.microsoft.com/office/drawing/2014/main" id="{13F67481-EAAE-CE91-B7C4-4C15C967A1D6}"/>
                  </a:ext>
                </a:extLst>
              </p:cNvPr>
              <p:cNvSpPr>
                <a:spLocks noGrp="1" noRot="1" noChangeAspect="1" noMove="1" noResize="1" noEditPoints="1" noAdjustHandles="1" noChangeArrowheads="1" noChangeShapeType="1" noTextEdit="1"/>
              </p:cNvSpPr>
              <p:nvPr>
                <p:ph type="body" sz="quarter" idx="15"/>
              </p:nvPr>
            </p:nvSpPr>
            <p:spPr>
              <a:xfrm>
                <a:off x="743576" y="1097257"/>
                <a:ext cx="10610223" cy="672106"/>
              </a:xfrm>
              <a:blipFill>
                <a:blip r:embed="rId3"/>
                <a:stretch>
                  <a:fillRect l="-1494" t="-10909" b="-2545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CE12EEE5-F80B-10B7-8B58-BD0B567449FD}"/>
                  </a:ext>
                </a:extLst>
              </p:cNvPr>
              <p:cNvSpPr>
                <a:spLocks noGrp="1"/>
              </p:cNvSpPr>
              <p:nvPr>
                <p:ph type="body" sz="quarter" idx="17"/>
              </p:nvPr>
            </p:nvSpPr>
            <p:spPr>
              <a:xfrm>
                <a:off x="743576" y="1843681"/>
                <a:ext cx="3942724" cy="4172744"/>
              </a:xfrm>
            </p:spPr>
            <p:txBody>
              <a:bodyPr/>
              <a:lstStyle/>
              <a:p>
                <a:r>
                  <a:rPr lang="en-US" sz="2000" dirty="0"/>
                  <a:t>The value of 0.0405 in cell E9, labeled “P(F&lt;=f) one-tail,” is the one-tail area associated with the test statistic, </a:t>
                </a:r>
                <a14:m>
                  <m:oMath xmlns:m="http://schemas.openxmlformats.org/officeDocument/2006/math">
                    <m:r>
                      <a:rPr lang="en-US" sz="2000" i="1" dirty="0">
                        <a:latin typeface="Cambria Math" panose="02040503050406030204" pitchFamily="18" charset="0"/>
                      </a:rPr>
                      <m:t>𝐹</m:t>
                    </m:r>
                    <m:r>
                      <a:rPr lang="en-US" sz="2000" i="1" dirty="0">
                        <a:latin typeface="Cambria Math" panose="02040503050406030204" pitchFamily="18" charset="0"/>
                      </a:rPr>
                      <m:t>=2.401</m:t>
                    </m:r>
                  </m:oMath>
                </a14:m>
                <a:r>
                  <a:rPr lang="en-US" sz="2000" dirty="0"/>
                  <a:t>0. </a:t>
                </a:r>
              </a:p>
              <a:p>
                <a:r>
                  <a:rPr lang="en-US" sz="2000" dirty="0"/>
                  <a:t>Thus, the two-tailed </a:t>
                </a:r>
                <a14:m>
                  <m:oMath xmlns:m="http://schemas.openxmlformats.org/officeDocument/2006/math">
                    <m:r>
                      <a:rPr lang="en-US" sz="2000" i="1" dirty="0" smtClean="0">
                        <a:latin typeface="Cambria Math" panose="02040503050406030204" pitchFamily="18" charset="0"/>
                      </a:rPr>
                      <m:t>𝑝</m:t>
                    </m:r>
                  </m:oMath>
                </a14:m>
                <a:r>
                  <a:rPr lang="en-US" sz="2000" dirty="0"/>
                  <a:t>-value is </a:t>
                </a:r>
                <a14:m>
                  <m:oMath xmlns:m="http://schemas.openxmlformats.org/officeDocument/2006/math">
                    <m:r>
                      <a:rPr lang="en-US" sz="2000" i="1" dirty="0" smtClean="0">
                        <a:latin typeface="Cambria Math" panose="02040503050406030204" pitchFamily="18" charset="0"/>
                      </a:rPr>
                      <m:t>2(0.0405)=0.081</m:t>
                    </m:r>
                    <m:r>
                      <a:rPr lang="en-US" sz="2000" b="0" i="1" dirty="0" smtClean="0">
                        <a:latin typeface="Cambria Math" panose="02040503050406030204" pitchFamily="18" charset="0"/>
                      </a:rPr>
                      <m:t>0</m:t>
                    </m:r>
                  </m:oMath>
                </a14:m>
                <a:r>
                  <a:rPr lang="en-US" sz="2000" dirty="0"/>
                  <a:t>.</a:t>
                </a:r>
              </a:p>
              <a:p>
                <a:r>
                  <a:rPr lang="en-US" sz="2000" dirty="0"/>
                  <a:t>We reject the null hypothesis at the 0.10 level of significance. </a:t>
                </a:r>
              </a:p>
              <a:p>
                <a:r>
                  <a:rPr lang="en-US" sz="2000" dirty="0"/>
                  <a:t>If the hypothesis test had been a one-tail test (with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𝛼</m:t>
                    </m:r>
                    <m:r>
                      <a:rPr lang="en-US" sz="2000" b="0" i="1" dirty="0" smtClean="0">
                        <a:latin typeface="Cambria Math" panose="02040503050406030204" pitchFamily="18" charset="0"/>
                        <a:ea typeface="Cambria Math" panose="02040503050406030204" pitchFamily="18" charset="0"/>
                      </a:rPr>
                      <m:t>=0.05</m:t>
                    </m:r>
                  </m:oMath>
                </a14:m>
                <a:r>
                  <a:rPr lang="en-US" sz="2000" dirty="0"/>
                  <a:t>), the one-tail area in cell E9 would provide the </a:t>
                </a:r>
                <a14:m>
                  <m:oMath xmlns:m="http://schemas.openxmlformats.org/officeDocument/2006/math">
                    <m:r>
                      <a:rPr lang="en-US" sz="2000" i="1" dirty="0" smtClean="0">
                        <a:latin typeface="Cambria Math" panose="02040503050406030204" pitchFamily="18" charset="0"/>
                      </a:rPr>
                      <m:t>𝑝</m:t>
                    </m:r>
                  </m:oMath>
                </a14:m>
                <a:r>
                  <a:rPr lang="en-US" sz="2000" dirty="0"/>
                  <a:t>-value directly, without needing to double it.</a:t>
                </a:r>
              </a:p>
            </p:txBody>
          </p:sp>
        </mc:Choice>
        <mc:Fallback xmlns="">
          <p:sp>
            <p:nvSpPr>
              <p:cNvPr id="6" name="Text Placeholder 5">
                <a:extLst>
                  <a:ext uri="{FF2B5EF4-FFF2-40B4-BE49-F238E27FC236}">
                    <a16:creationId xmlns:a16="http://schemas.microsoft.com/office/drawing/2014/main" id="{CE12EEE5-F80B-10B7-8B58-BD0B567449FD}"/>
                  </a:ext>
                </a:extLst>
              </p:cNvPr>
              <p:cNvSpPr>
                <a:spLocks noGrp="1" noRot="1" noChangeAspect="1" noMove="1" noResize="1" noEditPoints="1" noAdjustHandles="1" noChangeArrowheads="1" noChangeShapeType="1" noTextEdit="1"/>
              </p:cNvSpPr>
              <p:nvPr>
                <p:ph type="body" sz="quarter" idx="17"/>
              </p:nvPr>
            </p:nvSpPr>
            <p:spPr>
              <a:xfrm>
                <a:off x="743576" y="1843681"/>
                <a:ext cx="3942724" cy="4172744"/>
              </a:xfrm>
              <a:blipFill>
                <a:blip r:embed="rId4"/>
                <a:stretch>
                  <a:fillRect l="-4019" t="-1752" b="-4234"/>
                </a:stretch>
              </a:blipFill>
            </p:spPr>
            <p:txBody>
              <a:bodyPr/>
              <a:lstStyle/>
              <a:p>
                <a:r>
                  <a:rPr lang="en-US">
                    <a:noFill/>
                  </a:rPr>
                  <a:t> </a:t>
                </a:r>
              </a:p>
            </p:txBody>
          </p:sp>
        </mc:Fallback>
      </mc:AlternateContent>
      <p:pic>
        <p:nvPicPr>
          <p:cNvPr id="7" name="Picture Placeholder 6" descr="A screenshot shows an Excel spreadsheet with the results of the F-test. Column A is labeled Milbank and column B is labeled Gulf Park. The entries under column A are as follows. Row 2: 35.9. Row 3: 29.9. Row 4: 31.2. Row 5: 16.2. Row 6: 19.0. Row 7: 15.9. Row 8: 18.8. Row 9: 22.2. Row 10: 19.9. Row 11: 16.4. Row 16: 18.0. Row 17: 28.1. Row 18: 12.1. Row 26: 15.2. Row 27: 28.2. The entries under column 2 are as follows. Row 2: 21.6. Row 3: 20.5. Row 4: 23.3. Row 5: 18.8. Row 6: 17.2. Row 7: 7.7. Row 8: 18.6. Row 9: 18.7. Row 10: 20.4. Row 11: 22.4. Row 16: 27.9. Row 17: 20.8. The data from the results of the F-test, presented in the format, Test: Milbank, Gulf Park, are as follows. Mean: 20.2308, 20.2438. Variance: 48.0206, 20.0000. Observations: 26, 16. d f: 25, 15. F: 2.4010, no data. P(F&lt;=f) one-tail: 0.0405, no data. F critical one-tail: 2.2797, no data.">
            <a:extLst>
              <a:ext uri="{FF2B5EF4-FFF2-40B4-BE49-F238E27FC236}">
                <a16:creationId xmlns:a16="http://schemas.microsoft.com/office/drawing/2014/main" id="{B42D37E1-912F-9EAA-5096-370738F3BC44}"/>
              </a:ext>
            </a:extLst>
          </p:cNvPr>
          <p:cNvPicPr>
            <a:picLocks noGrp="1" noChangeAspect="1"/>
          </p:cNvPicPr>
          <p:nvPr>
            <p:ph type="pic" sz="quarter" idx="16"/>
          </p:nvPr>
        </p:nvPicPr>
        <p:blipFill>
          <a:blip r:embed="rId5"/>
          <a:srcRect l="9" r="9"/>
          <a:stretch/>
        </p:blipFill>
        <p:spPr>
          <a:xfrm>
            <a:off x="4754351" y="1843681"/>
            <a:ext cx="6643900" cy="4172744"/>
          </a:xfrm>
          <a:ln>
            <a:solidFill>
              <a:srgbClr val="000000"/>
            </a:solidFill>
          </a:ln>
        </p:spPr>
      </p:pic>
    </p:spTree>
    <p:extLst>
      <p:ext uri="{BB962C8B-B14F-4D97-AF65-F5344CB8AC3E}">
        <p14:creationId xmlns:p14="http://schemas.microsoft.com/office/powerpoint/2010/main" val="23741676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79E3C-DB42-5458-C961-D022FACAB6CD}"/>
              </a:ext>
            </a:extLst>
          </p:cNvPr>
          <p:cNvSpPr>
            <a:spLocks noGrp="1"/>
          </p:cNvSpPr>
          <p:nvPr>
            <p:ph type="title"/>
          </p:nvPr>
        </p:nvSpPr>
        <p:spPr>
          <a:xfrm>
            <a:off x="1274379" y="407057"/>
            <a:ext cx="9643241" cy="672105"/>
          </a:xfrm>
        </p:spPr>
        <p:txBody>
          <a:bodyPr/>
          <a:lstStyle/>
          <a:p>
            <a:r>
              <a:rPr lang="en-US" sz="3200" dirty="0"/>
              <a:t>11.2 Summary of Hypothesis Tests About Two Population Variances</a:t>
            </a:r>
          </a:p>
        </p:txBody>
      </p:sp>
      <mc:AlternateContent xmlns:mc="http://schemas.openxmlformats.org/markup-compatibility/2006" xmlns:a14="http://schemas.microsoft.com/office/drawing/2010/main">
        <mc:Choice Requires="a14">
          <p:graphicFrame>
            <p:nvGraphicFramePr>
              <p:cNvPr id="6" name="Table 6">
                <a:extLst>
                  <a:ext uri="{FF2B5EF4-FFF2-40B4-BE49-F238E27FC236}">
                    <a16:creationId xmlns:a16="http://schemas.microsoft.com/office/drawing/2014/main" id="{A8081616-52DD-231D-607E-511C6F68FD22}"/>
                  </a:ext>
                </a:extLst>
              </p:cNvPr>
              <p:cNvGraphicFramePr>
                <a:graphicFrameLocks noGrp="1"/>
              </p:cNvGraphicFramePr>
              <p:nvPr>
                <p:ph type="tbl" sz="quarter" idx="10"/>
              </p:nvPr>
            </p:nvGraphicFramePr>
            <p:xfrm>
              <a:off x="2463361" y="1741296"/>
              <a:ext cx="7265275" cy="4031488"/>
            </p:xfrm>
            <a:graphic>
              <a:graphicData uri="http://schemas.openxmlformats.org/drawingml/2006/table">
                <a:tbl>
                  <a:tblPr firstRow="1" bandRow="1">
                    <a:tableStyleId>{5C22544A-7EE6-4342-B048-85BDC9FD1C3A}</a:tableStyleId>
                  </a:tblPr>
                  <a:tblGrid>
                    <a:gridCol w="1836683">
                      <a:extLst>
                        <a:ext uri="{9D8B030D-6E8A-4147-A177-3AD203B41FA5}">
                          <a16:colId xmlns:a16="http://schemas.microsoft.com/office/drawing/2014/main" val="531627181"/>
                        </a:ext>
                      </a:extLst>
                    </a:gridCol>
                    <a:gridCol w="2714296">
                      <a:extLst>
                        <a:ext uri="{9D8B030D-6E8A-4147-A177-3AD203B41FA5}">
                          <a16:colId xmlns:a16="http://schemas.microsoft.com/office/drawing/2014/main" val="816499844"/>
                        </a:ext>
                      </a:extLst>
                    </a:gridCol>
                    <a:gridCol w="2714296">
                      <a:extLst>
                        <a:ext uri="{9D8B030D-6E8A-4147-A177-3AD203B41FA5}">
                          <a16:colId xmlns:a16="http://schemas.microsoft.com/office/drawing/2014/main" val="1172697014"/>
                        </a:ext>
                      </a:extLst>
                    </a:gridCol>
                  </a:tblGrid>
                  <a:tr h="370840">
                    <a:tc>
                      <a:txBody>
                        <a:bodyPr/>
                        <a:lstStyle/>
                        <a:p>
                          <a:endParaRPr lang="en-US" sz="2000" b="1" dirty="0">
                            <a:solidFill>
                              <a:srgbClr val="000000"/>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Upper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Two-Tailed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30469303"/>
                      </a:ext>
                    </a:extLst>
                  </a:tr>
                  <a:tr h="370840">
                    <a:tc>
                      <a:txBody>
                        <a:bodyPr/>
                        <a:lstStyle/>
                        <a:p>
                          <a:pPr algn="l"/>
                          <a:r>
                            <a:rPr lang="en-US" sz="2000" b="1" dirty="0">
                              <a:solidFill>
                                <a:srgbClr val="000000"/>
                              </a:solidFill>
                            </a:rPr>
                            <a:t>Hypotheses (*see notes)</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0</m:t>
                                    </m:r>
                                  </m:sub>
                                </m:sSub>
                                <m:r>
                                  <a:rPr lang="en-US" sz="2000" b="0" i="1" smtClean="0">
                                    <a:solidFill>
                                      <a:srgbClr val="000000"/>
                                    </a:solidFill>
                                    <a:latin typeface="Cambria Math" panose="02040503050406030204" pitchFamily="18" charset="0"/>
                                  </a:rPr>
                                  <m:t>:</m:t>
                                </m:r>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1</m:t>
                                    </m:r>
                                  </m:sub>
                                  <m:sup>
                                    <m:r>
                                      <a:rPr lang="en-US" sz="2000" b="0" i="1" smtClean="0">
                                        <a:solidFill>
                                          <a:srgbClr val="000000"/>
                                        </a:solidFill>
                                        <a:latin typeface="Cambria Math" panose="02040503050406030204" pitchFamily="18" charset="0"/>
                                        <a:ea typeface="Cambria Math" panose="02040503050406030204" pitchFamily="18" charset="0"/>
                                      </a:rPr>
                                      <m:t>2</m:t>
                                    </m:r>
                                  </m:sup>
                                </m:sSubSup>
                                <m:r>
                                  <a:rPr lang="en-US" sz="2000" b="0" i="1" smtClean="0">
                                    <a:solidFill>
                                      <a:srgbClr val="000000"/>
                                    </a:solidFill>
                                    <a:latin typeface="Cambria Math" panose="02040503050406030204" pitchFamily="18" charset="0"/>
                                    <a:ea typeface="Cambria Math" panose="02040503050406030204" pitchFamily="18" charset="0"/>
                                  </a:rPr>
                                  <m:t>≤</m:t>
                                </m:r>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2</m:t>
                                    </m:r>
                                  </m:sub>
                                  <m:sup>
                                    <m:r>
                                      <a:rPr lang="en-US" sz="2000" b="0" i="1" smtClean="0">
                                        <a:solidFill>
                                          <a:srgbClr val="000000"/>
                                        </a:solidFill>
                                        <a:latin typeface="Cambria Math" panose="02040503050406030204" pitchFamily="18" charset="0"/>
                                        <a:ea typeface="Cambria Math" panose="02040503050406030204" pitchFamily="18" charset="0"/>
                                      </a:rPr>
                                      <m:t>2</m:t>
                                    </m:r>
                                  </m:sup>
                                </m:sSubSup>
                              </m:oMath>
                            </m:oMathPara>
                          </a14:m>
                          <a:endParaRPr lang="en-US" sz="2000" b="0"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𝑎</m:t>
                                    </m:r>
                                  </m:sub>
                                </m:sSub>
                                <m:r>
                                  <a:rPr lang="en-US" sz="2000" b="0" i="1" smtClean="0">
                                    <a:solidFill>
                                      <a:srgbClr val="000000"/>
                                    </a:solidFill>
                                    <a:latin typeface="Cambria Math" panose="02040503050406030204" pitchFamily="18" charset="0"/>
                                  </a:rPr>
                                  <m:t>:</m:t>
                                </m:r>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1</m:t>
                                    </m:r>
                                  </m:sub>
                                  <m:sup>
                                    <m:r>
                                      <a:rPr lang="en-US" sz="2000" b="0" i="1" smtClean="0">
                                        <a:solidFill>
                                          <a:srgbClr val="000000"/>
                                        </a:solidFill>
                                        <a:latin typeface="Cambria Math" panose="02040503050406030204" pitchFamily="18" charset="0"/>
                                        <a:ea typeface="Cambria Math" panose="02040503050406030204" pitchFamily="18" charset="0"/>
                                      </a:rPr>
                                      <m:t>2</m:t>
                                    </m:r>
                                  </m:sup>
                                </m:sSubSup>
                                <m:r>
                                  <a:rPr lang="en-US" sz="2000" b="0" i="1" smtClean="0">
                                    <a:solidFill>
                                      <a:srgbClr val="000000"/>
                                    </a:solidFill>
                                    <a:latin typeface="Cambria Math" panose="02040503050406030204" pitchFamily="18" charset="0"/>
                                    <a:ea typeface="Cambria Math" panose="02040503050406030204" pitchFamily="18" charset="0"/>
                                  </a:rPr>
                                  <m:t>&gt;</m:t>
                                </m:r>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2</m:t>
                                    </m:r>
                                  </m:sub>
                                  <m:sup>
                                    <m:r>
                                      <a:rPr lang="en-US" sz="2000" b="0" i="1" smtClean="0">
                                        <a:solidFill>
                                          <a:srgbClr val="000000"/>
                                        </a:solidFill>
                                        <a:latin typeface="Cambria Math" panose="02040503050406030204" pitchFamily="18" charset="0"/>
                                        <a:ea typeface="Cambria Math" panose="02040503050406030204" pitchFamily="18" charset="0"/>
                                      </a:rPr>
                                      <m:t>2</m:t>
                                    </m:r>
                                  </m:sup>
                                </m:sSubSup>
                              </m:oMath>
                            </m:oMathPara>
                          </a14:m>
                          <a:endParaRPr lang="en-US" sz="2000" b="0" dirty="0">
                            <a:solidFill>
                              <a:srgbClr val="000000"/>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0</m:t>
                                    </m:r>
                                  </m:sub>
                                </m:sSub>
                                <m:r>
                                  <a:rPr lang="en-US" sz="2000" b="0" i="1" smtClean="0">
                                    <a:solidFill>
                                      <a:srgbClr val="000000"/>
                                    </a:solidFill>
                                    <a:latin typeface="Cambria Math" panose="02040503050406030204" pitchFamily="18" charset="0"/>
                                  </a:rPr>
                                  <m:t>:</m:t>
                                </m:r>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1</m:t>
                                    </m:r>
                                  </m:sub>
                                  <m:sup>
                                    <m:r>
                                      <a:rPr lang="en-US" sz="2000" b="0" i="1" smtClean="0">
                                        <a:solidFill>
                                          <a:srgbClr val="000000"/>
                                        </a:solidFill>
                                        <a:latin typeface="Cambria Math" panose="02040503050406030204" pitchFamily="18" charset="0"/>
                                        <a:ea typeface="Cambria Math" panose="02040503050406030204" pitchFamily="18" charset="0"/>
                                      </a:rPr>
                                      <m:t>2</m:t>
                                    </m:r>
                                  </m:sup>
                                </m:sSubSup>
                                <m:r>
                                  <a:rPr lang="en-US" sz="2000" b="0" i="1" smtClean="0">
                                    <a:solidFill>
                                      <a:srgbClr val="000000"/>
                                    </a:solidFill>
                                    <a:latin typeface="Cambria Math" panose="02040503050406030204" pitchFamily="18" charset="0"/>
                                    <a:ea typeface="Cambria Math" panose="02040503050406030204" pitchFamily="18" charset="0"/>
                                  </a:rPr>
                                  <m:t>=</m:t>
                                </m:r>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2</m:t>
                                    </m:r>
                                  </m:sub>
                                  <m:sup>
                                    <m:r>
                                      <a:rPr lang="en-US" sz="2000" b="0" i="1" smtClean="0">
                                        <a:solidFill>
                                          <a:srgbClr val="000000"/>
                                        </a:solidFill>
                                        <a:latin typeface="Cambria Math" panose="02040503050406030204" pitchFamily="18" charset="0"/>
                                        <a:ea typeface="Cambria Math" panose="02040503050406030204" pitchFamily="18" charset="0"/>
                                      </a:rPr>
                                      <m:t>2</m:t>
                                    </m:r>
                                  </m:sup>
                                </m:sSubSup>
                              </m:oMath>
                            </m:oMathPara>
                          </a14:m>
                          <a:endParaRPr lang="en-US" sz="2000" b="0" dirty="0">
                            <a:solidFill>
                              <a:srgbClr val="0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en-US" sz="2000" b="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𝐻</m:t>
                                    </m:r>
                                  </m:e>
                                  <m:sub>
                                    <m:r>
                                      <a:rPr lang="en-US" sz="2000" b="0" i="1" smtClean="0">
                                        <a:solidFill>
                                          <a:srgbClr val="000000"/>
                                        </a:solidFill>
                                        <a:latin typeface="Cambria Math" panose="02040503050406030204" pitchFamily="18" charset="0"/>
                                      </a:rPr>
                                      <m:t>𝑎</m:t>
                                    </m:r>
                                  </m:sub>
                                </m:sSub>
                                <m:r>
                                  <a:rPr lang="en-US" sz="2000" b="0" i="1" smtClean="0">
                                    <a:solidFill>
                                      <a:srgbClr val="000000"/>
                                    </a:solidFill>
                                    <a:latin typeface="Cambria Math" panose="02040503050406030204" pitchFamily="18" charset="0"/>
                                  </a:rPr>
                                  <m:t>:</m:t>
                                </m:r>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1</m:t>
                                    </m:r>
                                  </m:sub>
                                  <m:sup>
                                    <m:r>
                                      <a:rPr lang="en-US" sz="2000" b="0" i="1" smtClean="0">
                                        <a:solidFill>
                                          <a:srgbClr val="000000"/>
                                        </a:solidFill>
                                        <a:latin typeface="Cambria Math" panose="02040503050406030204" pitchFamily="18" charset="0"/>
                                        <a:ea typeface="Cambria Math" panose="02040503050406030204" pitchFamily="18" charset="0"/>
                                      </a:rPr>
                                      <m:t>2</m:t>
                                    </m:r>
                                  </m:sup>
                                </m:sSubSup>
                                <m:r>
                                  <a:rPr lang="en-US" sz="2000" b="0" i="1" smtClean="0">
                                    <a:solidFill>
                                      <a:srgbClr val="000000"/>
                                    </a:solidFill>
                                    <a:latin typeface="Cambria Math" panose="02040503050406030204" pitchFamily="18" charset="0"/>
                                    <a:ea typeface="Cambria Math" panose="02040503050406030204" pitchFamily="18" charset="0"/>
                                  </a:rPr>
                                  <m:t>≠</m:t>
                                </m:r>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𝜎</m:t>
                                    </m:r>
                                  </m:e>
                                  <m:sub>
                                    <m:r>
                                      <a:rPr lang="en-US" sz="2000" b="0" i="1" smtClean="0">
                                        <a:solidFill>
                                          <a:srgbClr val="000000"/>
                                        </a:solidFill>
                                        <a:latin typeface="Cambria Math" panose="02040503050406030204" pitchFamily="18" charset="0"/>
                                        <a:ea typeface="Cambria Math" panose="02040503050406030204" pitchFamily="18" charset="0"/>
                                      </a:rPr>
                                      <m:t>2</m:t>
                                    </m:r>
                                  </m:sub>
                                  <m:sup>
                                    <m:r>
                                      <a:rPr lang="en-US" sz="2000" b="0" i="1" smtClean="0">
                                        <a:solidFill>
                                          <a:srgbClr val="000000"/>
                                        </a:solidFill>
                                        <a:latin typeface="Cambria Math" panose="02040503050406030204" pitchFamily="18" charset="0"/>
                                        <a:ea typeface="Cambria Math" panose="02040503050406030204" pitchFamily="18" charset="0"/>
                                      </a:rPr>
                                      <m:t>2</m:t>
                                    </m:r>
                                  </m:sup>
                                </m:sSubSup>
                              </m:oMath>
                            </m:oMathPara>
                          </a14:m>
                          <a:endParaRPr lang="en-US" sz="2000" b="0" dirty="0">
                            <a:solidFill>
                              <a:srgbClr val="000000"/>
                            </a:solidFill>
                          </a:endParaRP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649420473"/>
                      </a:ext>
                    </a:extLst>
                  </a:tr>
                  <a:tr h="914400">
                    <a:tc>
                      <a:txBody>
                        <a:bodyPr/>
                        <a:lstStyle/>
                        <a:p>
                          <a:pPr algn="l"/>
                          <a:r>
                            <a:rPr lang="en-US" sz="2000" b="1" dirty="0">
                              <a:solidFill>
                                <a:srgbClr val="000000"/>
                              </a:solidFill>
                            </a:rPr>
                            <a:t>Test Statistic</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𝐹</m:t>
                                </m:r>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𝑠</m:t>
                                        </m:r>
                                      </m:e>
                                      <m:sub>
                                        <m:r>
                                          <a:rPr lang="en-US" sz="2000" b="0" i="1" smtClean="0">
                                            <a:solidFill>
                                              <a:srgbClr val="000000"/>
                                            </a:solidFill>
                                            <a:latin typeface="Cambria Math" panose="02040503050406030204" pitchFamily="18" charset="0"/>
                                            <a:ea typeface="Cambria Math" panose="02040503050406030204" pitchFamily="18" charset="0"/>
                                          </a:rPr>
                                          <m:t>1</m:t>
                                        </m:r>
                                      </m:sub>
                                      <m:sup>
                                        <m:r>
                                          <a:rPr lang="en-US" sz="2000" b="0" i="1" smtClean="0">
                                            <a:solidFill>
                                              <a:srgbClr val="000000"/>
                                            </a:solidFill>
                                            <a:latin typeface="Cambria Math" panose="02040503050406030204" pitchFamily="18" charset="0"/>
                                            <a:ea typeface="Cambria Math" panose="02040503050406030204" pitchFamily="18" charset="0"/>
                                          </a:rPr>
                                          <m:t>2</m:t>
                                        </m:r>
                                      </m:sup>
                                    </m:sSubSup>
                                  </m:num>
                                  <m:den>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𝑠</m:t>
                                        </m:r>
                                      </m:e>
                                      <m:sub>
                                        <m:r>
                                          <a:rPr lang="en-US" sz="2000" b="0" i="1" smtClean="0">
                                            <a:solidFill>
                                              <a:srgbClr val="000000"/>
                                            </a:solidFill>
                                            <a:latin typeface="Cambria Math" panose="02040503050406030204" pitchFamily="18" charset="0"/>
                                            <a:ea typeface="Cambria Math" panose="02040503050406030204" pitchFamily="18" charset="0"/>
                                          </a:rPr>
                                          <m:t>2</m:t>
                                        </m:r>
                                      </m:sub>
                                      <m:sup>
                                        <m:r>
                                          <a:rPr lang="en-US" sz="2000" b="0" i="1" smtClean="0">
                                            <a:solidFill>
                                              <a:srgbClr val="000000"/>
                                            </a:solidFill>
                                            <a:latin typeface="Cambria Math" panose="02040503050406030204" pitchFamily="18" charset="0"/>
                                            <a:ea typeface="Cambria Math" panose="02040503050406030204" pitchFamily="18" charset="0"/>
                                          </a:rPr>
                                          <m:t>2</m:t>
                                        </m:r>
                                      </m:sup>
                                    </m:sSubSup>
                                  </m:den>
                                </m:f>
                              </m:oMath>
                            </m:oMathPara>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algn="l"/>
                          <a14:m>
                            <m:oMathPara xmlns:m="http://schemas.openxmlformats.org/officeDocument/2006/math">
                              <m:oMathParaPr>
                                <m:jc m:val="centerGroup"/>
                              </m:oMathParaPr>
                              <m:oMath xmlns:m="http://schemas.openxmlformats.org/officeDocument/2006/math">
                                <m:r>
                                  <a:rPr lang="en-US" sz="2000" b="0" i="1" smtClean="0">
                                    <a:solidFill>
                                      <a:srgbClr val="000000"/>
                                    </a:solidFill>
                                    <a:latin typeface="Cambria Math" panose="02040503050406030204" pitchFamily="18" charset="0"/>
                                  </a:rPr>
                                  <m:t>𝐹</m:t>
                                </m:r>
                                <m:r>
                                  <a:rPr lang="en-US" sz="2000" b="0" i="1" smtClean="0">
                                    <a:solidFill>
                                      <a:srgbClr val="000000"/>
                                    </a:solidFill>
                                    <a:latin typeface="Cambria Math" panose="02040503050406030204" pitchFamily="18" charset="0"/>
                                  </a:rPr>
                                  <m:t>=</m:t>
                                </m:r>
                                <m:f>
                                  <m:fPr>
                                    <m:ctrlPr>
                                      <a:rPr lang="en-US" sz="2000" b="0" i="1" smtClean="0">
                                        <a:solidFill>
                                          <a:srgbClr val="000000"/>
                                        </a:solidFill>
                                        <a:latin typeface="Cambria Math" panose="02040503050406030204" pitchFamily="18" charset="0"/>
                                      </a:rPr>
                                    </m:ctrlPr>
                                  </m:fPr>
                                  <m:num>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𝑠</m:t>
                                        </m:r>
                                      </m:e>
                                      <m:sub>
                                        <m:r>
                                          <a:rPr lang="en-US" sz="2000" b="0" i="1" smtClean="0">
                                            <a:solidFill>
                                              <a:srgbClr val="000000"/>
                                            </a:solidFill>
                                            <a:latin typeface="Cambria Math" panose="02040503050406030204" pitchFamily="18" charset="0"/>
                                            <a:ea typeface="Cambria Math" panose="02040503050406030204" pitchFamily="18" charset="0"/>
                                          </a:rPr>
                                          <m:t>1</m:t>
                                        </m:r>
                                      </m:sub>
                                      <m:sup>
                                        <m:r>
                                          <a:rPr lang="en-US" sz="2000" b="0" i="1" smtClean="0">
                                            <a:solidFill>
                                              <a:srgbClr val="000000"/>
                                            </a:solidFill>
                                            <a:latin typeface="Cambria Math" panose="02040503050406030204" pitchFamily="18" charset="0"/>
                                            <a:ea typeface="Cambria Math" panose="02040503050406030204" pitchFamily="18" charset="0"/>
                                          </a:rPr>
                                          <m:t>2</m:t>
                                        </m:r>
                                      </m:sup>
                                    </m:sSubSup>
                                  </m:num>
                                  <m:den>
                                    <m:sSubSup>
                                      <m:sSubSupPr>
                                        <m:ctrlPr>
                                          <a:rPr lang="en-US" sz="2000" b="0" i="1" smtClean="0">
                                            <a:solidFill>
                                              <a:srgbClr val="000000"/>
                                            </a:solidFill>
                                            <a:latin typeface="Cambria Math" panose="02040503050406030204" pitchFamily="18" charset="0"/>
                                            <a:ea typeface="Cambria Math" panose="02040503050406030204" pitchFamily="18" charset="0"/>
                                          </a:rPr>
                                        </m:ctrlPr>
                                      </m:sSubSupPr>
                                      <m:e>
                                        <m:r>
                                          <a:rPr lang="en-US" sz="2000" b="0" i="1" smtClean="0">
                                            <a:solidFill>
                                              <a:srgbClr val="000000"/>
                                            </a:solidFill>
                                            <a:latin typeface="Cambria Math" panose="02040503050406030204" pitchFamily="18" charset="0"/>
                                            <a:ea typeface="Cambria Math" panose="02040503050406030204" pitchFamily="18" charset="0"/>
                                          </a:rPr>
                                          <m:t>𝑠</m:t>
                                        </m:r>
                                      </m:e>
                                      <m:sub>
                                        <m:r>
                                          <a:rPr lang="en-US" sz="2000" b="0" i="1" smtClean="0">
                                            <a:solidFill>
                                              <a:srgbClr val="000000"/>
                                            </a:solidFill>
                                            <a:latin typeface="Cambria Math" panose="02040503050406030204" pitchFamily="18" charset="0"/>
                                            <a:ea typeface="Cambria Math" panose="02040503050406030204" pitchFamily="18" charset="0"/>
                                          </a:rPr>
                                          <m:t>2</m:t>
                                        </m:r>
                                      </m:sub>
                                      <m:sup>
                                        <m:r>
                                          <a:rPr lang="en-US" sz="2000" b="0" i="1" smtClean="0">
                                            <a:solidFill>
                                              <a:srgbClr val="000000"/>
                                            </a:solidFill>
                                            <a:latin typeface="Cambria Math" panose="02040503050406030204" pitchFamily="18" charset="0"/>
                                            <a:ea typeface="Cambria Math" panose="02040503050406030204" pitchFamily="18" charset="0"/>
                                          </a:rPr>
                                          <m:t>2</m:t>
                                        </m:r>
                                      </m:sup>
                                    </m:sSubSup>
                                  </m:den>
                                </m:f>
                              </m:oMath>
                            </m:oMathPara>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807792594"/>
                      </a:ext>
                    </a:extLst>
                  </a:tr>
                  <a:tr h="370840">
                    <a:tc>
                      <a:txBody>
                        <a:bodyPr/>
                        <a:lstStyle/>
                        <a:p>
                          <a:pPr marL="228600" indent="-228600" algn="l"/>
                          <a:r>
                            <a:rPr lang="en-US" sz="2000" b="1" dirty="0">
                              <a:solidFill>
                                <a:srgbClr val="000000"/>
                              </a:solidFill>
                            </a:rPr>
                            <a:t>Rejection Rule: </a:t>
                          </a:r>
                          <a:r>
                            <a:rPr lang="en-US" sz="2000" b="1" i="1" dirty="0">
                              <a:solidFill>
                                <a:srgbClr val="000000"/>
                              </a:solidFill>
                            </a:rPr>
                            <a:t>p</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343589073"/>
                      </a:ext>
                    </a:extLst>
                  </a:tr>
                  <a:tr h="370840">
                    <a:tc>
                      <a:txBody>
                        <a:bodyPr/>
                        <a:lstStyle/>
                        <a:p>
                          <a:pPr marL="173038" indent="-173038" algn="l"/>
                          <a:r>
                            <a:rPr lang="en-US" sz="2000" b="1" dirty="0">
                              <a:solidFill>
                                <a:srgbClr val="000000"/>
                              </a:solidFill>
                            </a:rPr>
                            <a:t>Rejection Rule: </a:t>
                          </a:r>
                          <a:r>
                            <a:rPr lang="en-US" sz="2000" b="1" i="0" dirty="0">
                              <a:solidFill>
                                <a:srgbClr val="000000"/>
                              </a:solidFill>
                            </a:rPr>
                            <a:t>Critical </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F</a:t>
                          </a:r>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𝐹</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sub>
                              </m:sSub>
                            </m:oMath>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F</a:t>
                          </a:r>
                          <a:r>
                            <a:rPr lang="en-US" sz="2000" b="0" dirty="0">
                              <a:solidFill>
                                <a:srgbClr val="000000"/>
                              </a:solidFill>
                              <a:latin typeface="Cambria Math" panose="02040503050406030204" pitchFamily="18" charset="0"/>
                              <a:ea typeface="Cambria Math" panose="02040503050406030204" pitchFamily="18" charset="0"/>
                            </a:rPr>
                            <a:t>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14:m>
                            <m:oMath xmlns:m="http://schemas.openxmlformats.org/officeDocument/2006/math">
                              <m:sSub>
                                <m:sSubPr>
                                  <m:ctrlP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ctrlPr>
                                </m:sSubPr>
                                <m:e>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𝐹</m:t>
                                  </m:r>
                                </m:e>
                                <m:sub>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𝛼</m:t>
                                  </m:r>
                                  <m:r>
                                    <a:rPr lang="en-US" sz="2000" b="0" i="1" smtClean="0">
                                      <a:solidFill>
                                        <a:srgbClr val="000000"/>
                                      </a:solidFill>
                                      <a:latin typeface="Cambria Math" panose="02040503050406030204" pitchFamily="18" charset="0"/>
                                      <a:ea typeface="Cambria Math" panose="02040503050406030204" pitchFamily="18" charset="0"/>
                                      <a:cs typeface="Arial" panose="020B0604020202020204" pitchFamily="34" charset="0"/>
                                    </a:rPr>
                                    <m:t>/2</m:t>
                                  </m:r>
                                </m:sub>
                              </m:sSub>
                            </m:oMath>
                          </a14:m>
                          <a:endParaRPr lang="en-US" sz="2000" b="0" dirty="0">
                            <a:solidFill>
                              <a:srgbClr val="000000"/>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3163916060"/>
                      </a:ext>
                    </a:extLst>
                  </a:tr>
                </a:tbl>
              </a:graphicData>
            </a:graphic>
          </p:graphicFrame>
        </mc:Choice>
        <mc:Fallback xmlns="">
          <p:graphicFrame>
            <p:nvGraphicFramePr>
              <p:cNvPr id="6" name="Table 6">
                <a:extLst>
                  <a:ext uri="{FF2B5EF4-FFF2-40B4-BE49-F238E27FC236}">
                    <a16:creationId xmlns:a16="http://schemas.microsoft.com/office/drawing/2014/main" id="{A8081616-52DD-231D-607E-511C6F68FD22}"/>
                  </a:ext>
                </a:extLst>
              </p:cNvPr>
              <p:cNvGraphicFramePr>
                <a:graphicFrameLocks noGrp="1"/>
              </p:cNvGraphicFramePr>
              <p:nvPr>
                <p:ph type="tbl" sz="quarter" idx="10"/>
                <p:extLst>
                  <p:ext uri="{D42A27DB-BD31-4B8C-83A1-F6EECF244321}">
                    <p14:modId xmlns:p14="http://schemas.microsoft.com/office/powerpoint/2010/main" val="2111876951"/>
                  </p:ext>
                </p:extLst>
              </p:nvPr>
            </p:nvGraphicFramePr>
            <p:xfrm>
              <a:off x="2463361" y="1741296"/>
              <a:ext cx="7265275" cy="4031488"/>
            </p:xfrm>
            <a:graphic>
              <a:graphicData uri="http://schemas.openxmlformats.org/drawingml/2006/table">
                <a:tbl>
                  <a:tblPr firstRow="1" bandRow="1">
                    <a:tableStyleId>{5C22544A-7EE6-4342-B048-85BDC9FD1C3A}</a:tableStyleId>
                  </a:tblPr>
                  <a:tblGrid>
                    <a:gridCol w="1836683">
                      <a:extLst>
                        <a:ext uri="{9D8B030D-6E8A-4147-A177-3AD203B41FA5}">
                          <a16:colId xmlns:a16="http://schemas.microsoft.com/office/drawing/2014/main" val="531627181"/>
                        </a:ext>
                      </a:extLst>
                    </a:gridCol>
                    <a:gridCol w="2714296">
                      <a:extLst>
                        <a:ext uri="{9D8B030D-6E8A-4147-A177-3AD203B41FA5}">
                          <a16:colId xmlns:a16="http://schemas.microsoft.com/office/drawing/2014/main" val="816499844"/>
                        </a:ext>
                      </a:extLst>
                    </a:gridCol>
                    <a:gridCol w="2714296">
                      <a:extLst>
                        <a:ext uri="{9D8B030D-6E8A-4147-A177-3AD203B41FA5}">
                          <a16:colId xmlns:a16="http://schemas.microsoft.com/office/drawing/2014/main" val="1172697014"/>
                        </a:ext>
                      </a:extLst>
                    </a:gridCol>
                  </a:tblGrid>
                  <a:tr h="396240">
                    <a:tc>
                      <a:txBody>
                        <a:bodyPr/>
                        <a:lstStyle/>
                        <a:p>
                          <a:endParaRPr lang="en-US" sz="2000" b="1" dirty="0">
                            <a:solidFill>
                              <a:srgbClr val="000000"/>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Upper Tail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tc>
                      <a:txBody>
                        <a:bodyPr/>
                        <a:lstStyle/>
                        <a:p>
                          <a:pPr algn="ctr"/>
                          <a:r>
                            <a:rPr lang="en-US" sz="2000" b="1" dirty="0">
                              <a:solidFill>
                                <a:srgbClr val="000000"/>
                              </a:solidFill>
                            </a:rPr>
                            <a:t>Two-Tailed Test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530469303"/>
                      </a:ext>
                    </a:extLst>
                  </a:tr>
                  <a:tr h="709168">
                    <a:tc>
                      <a:txBody>
                        <a:bodyPr/>
                        <a:lstStyle/>
                        <a:p>
                          <a:pPr algn="l"/>
                          <a:r>
                            <a:rPr lang="en-US" sz="2000" b="1" dirty="0">
                              <a:solidFill>
                                <a:srgbClr val="000000"/>
                              </a:solidFill>
                            </a:rPr>
                            <a:t>Hypotheses (*see notes)</a:t>
                          </a:r>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3"/>
                          <a:stretch>
                            <a:fillRect l="-67489" t="-59829" r="-99776" b="-425641"/>
                          </a:stretch>
                        </a:blipFill>
                      </a:tcPr>
                    </a:tc>
                    <a:tc>
                      <a:txBody>
                        <a:bodyPr/>
                        <a:lstStyle/>
                        <a:p>
                          <a:endParaRPr lang="en-US"/>
                        </a:p>
                      </a:txBody>
                      <a:tcPr anchor="ctr">
                        <a:lnL w="12700" cmpd="sng">
                          <a:noFill/>
                        </a:lnL>
                        <a:lnR w="12700" cmpd="sng">
                          <a:noFill/>
                        </a:lnR>
                        <a:lnT w="38100" cmpd="sng">
                          <a:noFill/>
                        </a:lnT>
                        <a:lnB w="12700" cmpd="sng">
                          <a:noFill/>
                        </a:lnB>
                        <a:lnTlToBr w="12700" cmpd="sng">
                          <a:noFill/>
                          <a:prstDash val="solid"/>
                        </a:lnTlToBr>
                        <a:lnBlToTr w="12700" cmpd="sng">
                          <a:noFill/>
                          <a:prstDash val="solid"/>
                        </a:lnBlToTr>
                        <a:blipFill>
                          <a:blip r:embed="rId3"/>
                          <a:stretch>
                            <a:fillRect l="-167865" t="-59829" b="-425641"/>
                          </a:stretch>
                        </a:blipFill>
                      </a:tcPr>
                    </a:tc>
                    <a:extLst>
                      <a:ext uri="{0D108BD9-81ED-4DB2-BD59-A6C34878D82A}">
                        <a16:rowId xmlns:a16="http://schemas.microsoft.com/office/drawing/2014/main" val="3649420473"/>
                      </a:ext>
                    </a:extLst>
                  </a:tr>
                  <a:tr h="914400">
                    <a:tc>
                      <a:txBody>
                        <a:bodyPr/>
                        <a:lstStyle/>
                        <a:p>
                          <a:pPr algn="l"/>
                          <a:r>
                            <a:rPr lang="en-US" sz="2000" b="1" dirty="0">
                              <a:solidFill>
                                <a:srgbClr val="000000"/>
                              </a:solidFill>
                            </a:rPr>
                            <a:t>Test Statistic</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67489" t="-124667" r="-99776" b="-232000"/>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167865" t="-124667" b="-232000"/>
                          </a:stretch>
                        </a:blipFill>
                      </a:tcPr>
                    </a:tc>
                    <a:extLst>
                      <a:ext uri="{0D108BD9-81ED-4DB2-BD59-A6C34878D82A}">
                        <a16:rowId xmlns:a16="http://schemas.microsoft.com/office/drawing/2014/main" val="807792594"/>
                      </a:ext>
                    </a:extLst>
                  </a:tr>
                  <a:tr h="1005840">
                    <a:tc>
                      <a:txBody>
                        <a:bodyPr/>
                        <a:lstStyle/>
                        <a:p>
                          <a:pPr marL="228600" indent="-228600" algn="l"/>
                          <a:r>
                            <a:rPr lang="en-US" sz="2000" b="1" dirty="0">
                              <a:solidFill>
                                <a:srgbClr val="000000"/>
                              </a:solidFill>
                            </a:rPr>
                            <a:t>Rejection Rule: </a:t>
                          </a:r>
                          <a:r>
                            <a:rPr lang="en-US" sz="2000" b="1" i="1" dirty="0">
                              <a:solidFill>
                                <a:srgbClr val="000000"/>
                              </a:solidFill>
                            </a:rPr>
                            <a:t>p</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dirty="0">
                              <a:solidFill>
                                <a:srgbClr val="000000"/>
                              </a:solidFill>
                              <a:latin typeface="Cambria Math" panose="02040503050406030204" pitchFamily="18" charset="0"/>
                              <a:ea typeface="Cambria Math" panose="02040503050406030204" pitchFamily="18" charset="0"/>
                            </a:rPr>
                            <a:t>Reject </a:t>
                          </a:r>
                          <a:r>
                            <a:rPr lang="en-US" sz="2000" b="0" i="1" dirty="0">
                              <a:solidFill>
                                <a:srgbClr val="000000"/>
                              </a:solidFill>
                              <a:latin typeface="Cambria Math" panose="02040503050406030204" pitchFamily="18" charset="0"/>
                              <a:ea typeface="Cambria Math" panose="02040503050406030204" pitchFamily="18" charset="0"/>
                            </a:rPr>
                            <a:t>H</a:t>
                          </a:r>
                          <a:r>
                            <a:rPr lang="en-US" sz="2000" b="0" baseline="-25000" dirty="0">
                              <a:solidFill>
                                <a:srgbClr val="000000"/>
                              </a:solidFill>
                              <a:latin typeface="Cambria Math" panose="02040503050406030204" pitchFamily="18" charset="0"/>
                              <a:ea typeface="Cambria Math" panose="02040503050406030204" pitchFamily="18" charset="0"/>
                            </a:rPr>
                            <a:t>0</a:t>
                          </a:r>
                          <a:r>
                            <a:rPr lang="en-US" sz="2000" b="0" dirty="0">
                              <a:solidFill>
                                <a:srgbClr val="000000"/>
                              </a:solidFill>
                              <a:latin typeface="Cambria Math" panose="02040503050406030204" pitchFamily="18" charset="0"/>
                              <a:ea typeface="Cambria Math" panose="02040503050406030204" pitchFamily="18" charset="0"/>
                            </a:rPr>
                            <a:t> if</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0" i="1" dirty="0">
                              <a:solidFill>
                                <a:srgbClr val="000000"/>
                              </a:solidFill>
                              <a:latin typeface="Cambria Math" panose="02040503050406030204" pitchFamily="18" charset="0"/>
                              <a:ea typeface="Cambria Math" panose="02040503050406030204" pitchFamily="18" charset="0"/>
                            </a:rPr>
                            <a:t>p</a:t>
                          </a:r>
                          <a:r>
                            <a:rPr lang="en-US" sz="2000" b="0" dirty="0">
                              <a:solidFill>
                                <a:srgbClr val="000000"/>
                              </a:solidFill>
                              <a:latin typeface="Cambria Math" panose="02040503050406030204" pitchFamily="18" charset="0"/>
                              <a:ea typeface="Cambria Math" panose="02040503050406030204" pitchFamily="18" charset="0"/>
                            </a:rPr>
                            <a:t>-value </a:t>
                          </a:r>
                          <a:r>
                            <a:rPr lang="en-US" sz="2000" b="0" dirty="0">
                              <a:solidFill>
                                <a:srgbClr val="000000"/>
                              </a:solidFill>
                              <a:latin typeface="Cambria Math" panose="02040503050406030204" pitchFamily="18" charset="0"/>
                              <a:ea typeface="Cambria Math" panose="02040503050406030204" pitchFamily="18" charset="0"/>
                              <a:cs typeface="Arial" panose="020B0604020202020204" pitchFamily="34" charset="0"/>
                            </a:rPr>
                            <a:t>≤ </a:t>
                          </a:r>
                          <a:r>
                            <a:rPr lang="el-GR" sz="2000" b="0" i="1" kern="1200" dirty="0">
                              <a:solidFill>
                                <a:srgbClr val="000000"/>
                              </a:solidFill>
                              <a:latin typeface="+mn-lt"/>
                              <a:ea typeface="+mn-ea"/>
                              <a:cs typeface="Arial" panose="020B0604020202020204" pitchFamily="34" charset="0"/>
                            </a:rPr>
                            <a:t>α</a:t>
                          </a:r>
                          <a:endParaRPr lang="en-US" sz="2000" b="0" i="1" kern="1200" dirty="0">
                            <a:solidFill>
                              <a:srgbClr val="000000"/>
                            </a:solidFill>
                            <a:latin typeface="+mn-lt"/>
                            <a:ea typeface="+mn-ea"/>
                            <a:cs typeface="+mn-cs"/>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extLst>
                      <a:ext uri="{0D108BD9-81ED-4DB2-BD59-A6C34878D82A}">
                        <a16:rowId xmlns:a16="http://schemas.microsoft.com/office/drawing/2014/main" val="2343589073"/>
                      </a:ext>
                    </a:extLst>
                  </a:tr>
                  <a:tr h="1005840">
                    <a:tc>
                      <a:txBody>
                        <a:bodyPr/>
                        <a:lstStyle/>
                        <a:p>
                          <a:pPr marL="173038" indent="-173038" algn="l"/>
                          <a:r>
                            <a:rPr lang="en-US" sz="2000" b="1" dirty="0">
                              <a:solidFill>
                                <a:srgbClr val="000000"/>
                              </a:solidFill>
                            </a:rPr>
                            <a:t>Rejection Rule: </a:t>
                          </a:r>
                          <a:r>
                            <a:rPr lang="en-US" sz="2000" b="1" i="0" dirty="0">
                              <a:solidFill>
                                <a:srgbClr val="000000"/>
                              </a:solidFill>
                            </a:rPr>
                            <a:t>Critical </a:t>
                          </a:r>
                          <a:r>
                            <a:rPr lang="en-US" sz="2000" b="1" dirty="0">
                              <a:solidFill>
                                <a:srgbClr val="000000"/>
                              </a:solidFill>
                            </a:rPr>
                            <a:t>Value Approach</a:t>
                          </a: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FFF4DE"/>
                        </a:solid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67489" t="-304242" r="-99776" b="-10909"/>
                          </a:stretch>
                        </a:blipFill>
                      </a:tcPr>
                    </a:tc>
                    <a:tc>
                      <a:txBody>
                        <a:bodyPr/>
                        <a:lstStyle/>
                        <a:p>
                          <a:endParaRPr lang="en-US"/>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blipFill>
                          <a:blip r:embed="rId3"/>
                          <a:stretch>
                            <a:fillRect l="-167865" t="-304242" b="-10909"/>
                          </a:stretch>
                        </a:blipFill>
                      </a:tcPr>
                    </a:tc>
                    <a:extLst>
                      <a:ext uri="{0D108BD9-81ED-4DB2-BD59-A6C34878D82A}">
                        <a16:rowId xmlns:a16="http://schemas.microsoft.com/office/drawing/2014/main" val="3163916060"/>
                      </a:ext>
                    </a:extLst>
                  </a:tr>
                </a:tbl>
              </a:graphicData>
            </a:graphic>
          </p:graphicFrame>
        </mc:Fallback>
      </mc:AlternateContent>
    </p:spTree>
    <p:extLst>
      <p:ext uri="{BB962C8B-B14F-4D97-AF65-F5344CB8AC3E}">
        <p14:creationId xmlns:p14="http://schemas.microsoft.com/office/powerpoint/2010/main" val="8976177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03111-11D8-4FB8-BD21-A8C57EDF6315}"/>
              </a:ext>
            </a:extLst>
          </p:cNvPr>
          <p:cNvSpPr>
            <a:spLocks noGrp="1"/>
          </p:cNvSpPr>
          <p:nvPr>
            <p:ph type="title"/>
          </p:nvPr>
        </p:nvSpPr>
        <p:spPr/>
        <p:txBody>
          <a:bodyPr/>
          <a:lstStyle/>
          <a:p>
            <a:r>
              <a:rPr lang="en-US" dirty="0"/>
              <a:t>Summary</a:t>
            </a:r>
          </a:p>
        </p:txBody>
      </p:sp>
      <p:sp>
        <p:nvSpPr>
          <p:cNvPr id="3" name="Text Placeholder 2">
            <a:extLst>
              <a:ext uri="{FF2B5EF4-FFF2-40B4-BE49-F238E27FC236}">
                <a16:creationId xmlns:a16="http://schemas.microsoft.com/office/drawing/2014/main" id="{87C197FC-1825-404A-BE9E-EA5BA19058B7}"/>
              </a:ext>
            </a:extLst>
          </p:cNvPr>
          <p:cNvSpPr>
            <a:spLocks noGrp="1"/>
          </p:cNvSpPr>
          <p:nvPr>
            <p:ph type="body" sz="quarter" idx="17"/>
          </p:nvPr>
        </p:nvSpPr>
        <p:spPr>
          <a:xfrm>
            <a:off x="751069" y="1466196"/>
            <a:ext cx="10657500" cy="4122680"/>
          </a:xfrm>
        </p:spPr>
        <p:txBody>
          <a:bodyPr>
            <a:noAutofit/>
          </a:bodyPr>
          <a:lstStyle/>
          <a:p>
            <a:pPr>
              <a:lnSpc>
                <a:spcPct val="100000"/>
              </a:lnSpc>
              <a:spcBef>
                <a:spcPts val="600"/>
              </a:spcBef>
            </a:pPr>
            <a:r>
              <a:rPr lang="en-US" dirty="0">
                <a:latin typeface="Arial" panose="020B0604020202020204" pitchFamily="34" charset="0"/>
                <a:cs typeface="Arial" panose="020B0604020202020204" pitchFamily="34" charset="0"/>
              </a:rPr>
              <a:t>In this chapter, we presented statistical procedures that can be used to make inferences about population variances. </a:t>
            </a:r>
          </a:p>
          <a:p>
            <a:pPr>
              <a:lnSpc>
                <a:spcPct val="100000"/>
              </a:lnSpc>
              <a:spcBef>
                <a:spcPts val="600"/>
              </a:spcBef>
            </a:pPr>
            <a:r>
              <a:rPr lang="en-US" dirty="0">
                <a:latin typeface="Arial" panose="020B0604020202020204" pitchFamily="34" charset="0"/>
                <a:cs typeface="Arial" panose="020B0604020202020204" pitchFamily="34" charset="0"/>
              </a:rPr>
              <a:t>In the process, we introduced two new probability distributions:</a:t>
            </a:r>
          </a:p>
          <a:p>
            <a:pPr lvl="1">
              <a:lnSpc>
                <a:spcPct val="100000"/>
              </a:lnSpc>
              <a:spcBef>
                <a:spcPts val="600"/>
              </a:spcBef>
            </a:pPr>
            <a:r>
              <a:rPr lang="en-US" dirty="0">
                <a:latin typeface="Arial" panose="020B0604020202020204" pitchFamily="34" charset="0"/>
                <a:cs typeface="Arial" panose="020B0604020202020204" pitchFamily="34" charset="0"/>
              </a:rPr>
              <a:t>The chi-square distribution can be used as the basis for interval estimation and hypothesis tests about the variance of a normal population.</a:t>
            </a:r>
          </a:p>
          <a:p>
            <a:pPr lvl="1">
              <a:lnSpc>
                <a:spcPct val="100000"/>
              </a:lnSpc>
              <a:spcBef>
                <a:spcPts val="600"/>
              </a:spcBef>
            </a:pPr>
            <a:r>
              <a:rPr lang="en-US" dirty="0">
                <a:latin typeface="Arial" panose="020B0604020202020204" pitchFamily="34" charset="0"/>
                <a:cs typeface="Arial" panose="020B0604020202020204" pitchFamily="34" charset="0"/>
              </a:rPr>
              <a:t>The </a:t>
            </a:r>
            <a:r>
              <a:rPr lang="en-US" i="1" dirty="0">
                <a:latin typeface="Arial" panose="020B0604020202020204" pitchFamily="34" charset="0"/>
                <a:cs typeface="Arial" panose="020B0604020202020204" pitchFamily="34" charset="0"/>
              </a:rPr>
              <a:t>F</a:t>
            </a:r>
            <a:r>
              <a:rPr lang="en-US" dirty="0">
                <a:latin typeface="Arial" panose="020B0604020202020204" pitchFamily="34" charset="0"/>
                <a:cs typeface="Arial" panose="020B0604020202020204" pitchFamily="34" charset="0"/>
              </a:rPr>
              <a:t> distribution can be used in hypothesis tests about the variances of two normal populations.</a:t>
            </a:r>
          </a:p>
        </p:txBody>
      </p:sp>
    </p:spTree>
    <p:extLst>
      <p:ext uri="{BB962C8B-B14F-4D97-AF65-F5344CB8AC3E}">
        <p14:creationId xmlns:p14="http://schemas.microsoft.com/office/powerpoint/2010/main" val="2999070165"/>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rgbClr val="000000"/>
          </a:solidFill>
          <a:prstDash val="lgDash"/>
        </a:ln>
      </a:spPr>
      <a:bodyPr/>
      <a:lstStyle/>
      <a:style>
        <a:lnRef idx="1">
          <a:schemeClr val="dk1"/>
        </a:lnRef>
        <a:fillRef idx="0">
          <a:schemeClr val="dk1"/>
        </a:fillRef>
        <a:effectRef idx="0">
          <a:schemeClr val="dk1"/>
        </a:effectRef>
        <a:fontRef idx="minor">
          <a:schemeClr val="tx1"/>
        </a:fontRef>
      </a:style>
    </a:lnDef>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cc1e726a-7c3b-4654-9122-87de3e28a51c">
      <UserInfo>
        <DisplayName/>
        <AccountId xsi:nil="true"/>
        <AccountType/>
      </UserInfo>
    </SharedWithUsers>
    <AdminNotes xmlns="c8ecdccd-e3b0-4392-94c4-49d90f16d1d5" xsi:nil="true"/>
    <Topic xmlns="c8ecdccd-e3b0-4392-94c4-49d90f16d1d5">Accessibility</Topic>
    <Copy xmlns="c8ecdccd-e3b0-4392-94c4-49d90f16d1d5">true</Copy>
    <MasterLocation_x0028_ifCopy_x003d_Yes_x0029_ xmlns="c8ecdccd-e3b0-4392-94c4-49d90f16d1d5">LCoE</MasterLocation_x0028_ifCopy_x003d_Yes_x0029_>
    <Owner xmlns="c8ecdccd-e3b0-4392-94c4-49d90f16d1d5">LCoE</Owner>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5A683995A7B1D46BAE4BA042997DC16" ma:contentTypeVersion="18" ma:contentTypeDescription="Create a new document." ma:contentTypeScope="" ma:versionID="6b2a7157397caa02a1ce799840706cf4">
  <xsd:schema xmlns:xsd="http://www.w3.org/2001/XMLSchema" xmlns:xs="http://www.w3.org/2001/XMLSchema" xmlns:p="http://schemas.microsoft.com/office/2006/metadata/properties" xmlns:ns2="c8ecdccd-e3b0-4392-94c4-49d90f16d1d5" xmlns:ns3="cc1e726a-7c3b-4654-9122-87de3e28a51c" targetNamespace="http://schemas.microsoft.com/office/2006/metadata/properties" ma:root="true" ma:fieldsID="f7ec463e446db2c0a3b7b3165a862926" ns2:_="" ns3:_="">
    <xsd:import namespace="c8ecdccd-e3b0-4392-94c4-49d90f16d1d5"/>
    <xsd:import namespace="cc1e726a-7c3b-4654-9122-87de3e28a51c"/>
    <xsd:element name="properties">
      <xsd:complexType>
        <xsd:sequence>
          <xsd:element name="documentManagement">
            <xsd:complexType>
              <xsd:all>
                <xsd:element ref="ns2:MediaServiceMetadata" minOccurs="0"/>
                <xsd:element ref="ns2:MediaServiceFastMetadata" minOccurs="0"/>
                <xsd:element ref="ns2:MediaServiceAutoTags" minOccurs="0"/>
                <xsd:element ref="ns2:Topic" minOccurs="0"/>
                <xsd:element ref="ns3:SharedWithUsers" minOccurs="0"/>
                <xsd:element ref="ns3:SharedWithDetails" minOccurs="0"/>
                <xsd:element ref="ns2:MediaServiceAutoKeyPoints" minOccurs="0"/>
                <xsd:element ref="ns2:MediaServiceKeyPoints" minOccurs="0"/>
                <xsd:element ref="ns2:MediaServiceDateTaken" minOccurs="0"/>
                <xsd:element ref="ns2:Owner" minOccurs="0"/>
                <xsd:element ref="ns2:Copy" minOccurs="0"/>
                <xsd:element ref="ns2:MasterLocation_x0028_ifCopy_x003d_Yes_x0029_" minOccurs="0"/>
                <xsd:element ref="ns2:Admin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ecdccd-e3b0-4392-94c4-49d90f16d1d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internalName="MediaServiceAutoTags" ma:readOnly="true">
      <xsd:simpleType>
        <xsd:restriction base="dms:Text"/>
      </xsd:simpleType>
    </xsd:element>
    <xsd:element name="Topic" ma:index="11" nillable="true" ma:displayName="Topic" ma:default="Unassigned" ma:format="Dropdown" ma:internalName="Topic">
      <xsd:simpleType>
        <xsd:restriction base="dms:Choice">
          <xsd:enumeration value="Accessibility"/>
          <xsd:enumeration value="Archiving"/>
          <xsd:enumeration value="CenDoc"/>
          <xsd:enumeration value="Content Corrections/Reprints"/>
          <xsd:enumeration value="Content Creation"/>
          <xsd:enumeration value="Files to Printer"/>
          <xsd:enumeration value="Invoicing"/>
          <xsd:enumeration value="Partner Programs"/>
          <xsd:enumeration value="Project Management"/>
          <xsd:enumeration value="Other"/>
          <xsd:enumeration value="Unassigned"/>
          <xsd:enumeration value="Source Document Only"/>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Owner" ma:index="17" nillable="true" ma:displayName="Owner" ma:format="Dropdown" ma:internalName="Owner">
      <xsd:simpleType>
        <xsd:restriction base="dms:Choice">
          <xsd:enumeration value="Content Corrections"/>
          <xsd:enumeration value="Content Creation"/>
          <xsd:enumeration value="Content Management Services"/>
          <xsd:enumeration value="Creative Studio"/>
          <xsd:enumeration value="Digital Production"/>
          <xsd:enumeration value="Finance"/>
          <xsd:enumeration value="LCoE"/>
          <xsd:enumeration value="Manufacturing"/>
          <xsd:enumeration value="Strategic Sourcing"/>
        </xsd:restriction>
      </xsd:simpleType>
    </xsd:element>
    <xsd:element name="Copy" ma:index="18" nillable="true" ma:displayName="Copy " ma:default="0" ma:description="This is a VIP copy of a master document that is posted/available internally" ma:format="Dropdown" ma:internalName="Copy">
      <xsd:simpleType>
        <xsd:restriction base="dms:Boolean"/>
      </xsd:simpleType>
    </xsd:element>
    <xsd:element name="MasterLocation_x0028_ifCopy_x003d_Yes_x0029_" ma:index="19" nillable="true" ma:displayName="Master Location (if Copy = Yes)" ma:default="n/a" ma:description="Site/document library where master version is maintained" ma:format="Dropdown" ma:internalName="MasterLocation_x0028_ifCopy_x003d_Yes_x0029_">
      <xsd:simpleType>
        <xsd:restriction base="dms:Choice">
          <xsd:enumeration value="Catalyst / Finance"/>
          <xsd:enumeration value="Content Creation"/>
          <xsd:enumeration value="Content Management Services"/>
          <xsd:enumeration value="GPMOT"/>
          <xsd:enumeration value="LCoE"/>
          <xsd:enumeration value="Strategic Sourcing"/>
          <xsd:enumeration value="VIP Documents"/>
          <xsd:enumeration value="n/a"/>
        </xsd:restriction>
      </xsd:simpleType>
    </xsd:element>
    <xsd:element name="AdminNotes" ma:index="20" nillable="true" ma:displayName="Admin Notes" ma:format="Dropdown" ma:internalName="AdminNotes">
      <xsd:simpleType>
        <xsd:union memberTypes="dms:Text">
          <xsd:simpleType>
            <xsd:restriction base="dms:Choice">
              <xsd:enumeration value="See Source Documents"/>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cc1e726a-7c3b-4654-9122-87de3e28a51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2.xml><?xml version="1.0" encoding="utf-8"?>
<ds:datastoreItem xmlns:ds="http://schemas.openxmlformats.org/officeDocument/2006/customXml" ds:itemID="{BA9BA192-EF86-48DF-982C-2C526A268392}">
  <ds:schemaRefs>
    <ds:schemaRef ds:uri="http://purl.org/dc/elements/1.1/"/>
    <ds:schemaRef ds:uri="http://www.w3.org/XML/1998/namespace"/>
    <ds:schemaRef ds:uri="http://schemas.openxmlformats.org/package/2006/metadata/core-properties"/>
    <ds:schemaRef ds:uri="http://purl.org/dc/terms/"/>
    <ds:schemaRef ds:uri="cc1e726a-7c3b-4654-9122-87de3e28a51c"/>
    <ds:schemaRef ds:uri="http://schemas.microsoft.com/office/2006/documentManagement/types"/>
    <ds:schemaRef ds:uri="http://schemas.microsoft.com/office/2006/metadata/properties"/>
    <ds:schemaRef ds:uri="http://schemas.microsoft.com/office/infopath/2007/PartnerControls"/>
    <ds:schemaRef ds:uri="c8ecdccd-e3b0-4392-94c4-49d90f16d1d5"/>
    <ds:schemaRef ds:uri="http://purl.org/dc/dcmitype/"/>
  </ds:schemaRefs>
</ds:datastoreItem>
</file>

<file path=customXml/itemProps3.xml><?xml version="1.0" encoding="utf-8"?>
<ds:datastoreItem xmlns:ds="http://schemas.openxmlformats.org/officeDocument/2006/customXml" ds:itemID="{72CEB1C7-5C0A-4F1C-B184-5FA4EC60702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ecdccd-e3b0-4392-94c4-49d90f16d1d5"/>
    <ds:schemaRef ds:uri="cc1e726a-7c3b-4654-9122-87de3e28a51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100323</TotalTime>
  <Words>3721</Words>
  <Application>Microsoft Office PowerPoint</Application>
  <PresentationFormat>Widescreen</PresentationFormat>
  <Paragraphs>397</Paragraphs>
  <Slides>29</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29</vt:i4>
      </vt:variant>
    </vt:vector>
  </HeadingPairs>
  <TitlesOfParts>
    <vt:vector size="38" baseType="lpstr">
      <vt:lpstr>arial</vt:lpstr>
      <vt:lpstr>arial</vt:lpstr>
      <vt:lpstr>Calibri</vt:lpstr>
      <vt:lpstr>Cambria Math</vt:lpstr>
      <vt:lpstr>Helvetica</vt:lpstr>
      <vt:lpstr>Open Sans</vt:lpstr>
      <vt:lpstr>Summer Font</vt:lpstr>
      <vt:lpstr>Times New Roman</vt:lpstr>
      <vt:lpstr>Office Theme</vt:lpstr>
      <vt:lpstr>PowerPoint Presentation</vt:lpstr>
      <vt:lpstr>Chapter Contents</vt:lpstr>
      <vt:lpstr>Chapter Objectives</vt:lpstr>
      <vt:lpstr>Introduction</vt:lpstr>
      <vt:lpstr>11.1 Inferences About a Population Variance </vt:lpstr>
      <vt:lpstr>11.1 Interval Estimation of a Population Variance</vt:lpstr>
      <vt:lpstr>11.1 An Interval Estimate of a Production Filling Process</vt:lpstr>
      <vt:lpstr>11.1 Determination of Chi-Square Values</vt:lpstr>
      <vt:lpstr>11.1 Excel: Construct a 95% Confidence Interval</vt:lpstr>
      <vt:lpstr>11.1 Hypothesis Tests About a Population Variance</vt:lpstr>
      <vt:lpstr>11.1 A One-Tailed Test Hypothesis Test About a Population Variance</vt:lpstr>
      <vt:lpstr>11.1 p-Value Approach to a One-Tailed Test About a Population Variance</vt:lpstr>
      <vt:lpstr>11.1 Critical Value approach to a One-Tailed Test About a Population Variance</vt:lpstr>
      <vt:lpstr>11.1 A Two-Tailed Hypothesis Test About a Population Variance</vt:lpstr>
      <vt:lpstr>11.1 p-Value Approach to a Two-Tailed Test About a Population Variance</vt:lpstr>
      <vt:lpstr>11.1 Excel: Conduct a Hypothesis Test</vt:lpstr>
      <vt:lpstr>11.1 Summary of Hypothesis Tests About a Population Variance</vt:lpstr>
      <vt:lpstr>11.2 Inferences About Two Population Variances </vt:lpstr>
      <vt:lpstr>11.2 Extracting Values for the F Distribution</vt:lpstr>
      <vt:lpstr>11.2 Hypothesis Test For the Equality of Two Population Variances</vt:lpstr>
      <vt:lpstr>11.2 A Two-Tailed Test About the Equality of Two Population Variances</vt:lpstr>
      <vt:lpstr>11.2 p-Value Approach to a Two-Tailed Test About Two Population Variances</vt:lpstr>
      <vt:lpstr>11.2 Critical Value Approach to a Two-Tailed Test About Two Population Variances</vt:lpstr>
      <vt:lpstr>11.2 A One-Tailed Test About Two Population Variances</vt:lpstr>
      <vt:lpstr>11.2 p-Value Approach to a One-Tailed Test About Two Population Variances</vt:lpstr>
      <vt:lpstr>11.2 Excel: Dialog Box for F-Test: Two Sample for Variances Tool</vt:lpstr>
      <vt:lpstr>11.2 Excel: Conduct a Hypothesis Test</vt:lpstr>
      <vt:lpstr>11.2 Summary of Hypothesis Tests About Two Population Variances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Cowan, Flannery</cp:lastModifiedBy>
  <cp:revision>2508</cp:revision>
  <cp:lastPrinted>2016-10-03T15:29:39Z</cp:lastPrinted>
  <dcterms:created xsi:type="dcterms:W3CDTF">2019-11-14T21:20:16Z</dcterms:created>
  <dcterms:modified xsi:type="dcterms:W3CDTF">2025-12-18T16:16:32Z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0x01010025A683995A7B1D46BAE4BA042997DC16</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SP Reprints">
    <vt:bool>false</vt:bool>
  </property>
  <property fmtid="{D5CDD505-2E9C-101B-9397-08002B2CF9AE}" pid="13" name="_SourceUrl">
    <vt:lpwstr/>
  </property>
  <property fmtid="{D5CDD505-2E9C-101B-9397-08002B2CF9AE}" pid="14" name="_SharedFileIndex">
    <vt:lpwstr/>
  </property>
  <property fmtid="{D5CDD505-2E9C-101B-9397-08002B2CF9AE}" pid="15" name="SP Production">
    <vt:bool>false</vt:bool>
  </property>
  <property fmtid="{D5CDD505-2E9C-101B-9397-08002B2CF9AE}" pid="16" name="SP Content Authoring/Dev">
    <vt:bool>false</vt:bool>
  </property>
  <property fmtid="{D5CDD505-2E9C-101B-9397-08002B2CF9AE}" pid="17" name="SP E2E">
    <vt:bool>false</vt:bool>
  </property>
</Properties>
</file>