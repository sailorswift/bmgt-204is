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handoutMasterIdLst>
    <p:handoutMasterId r:id="rId57"/>
  </p:handoutMasterIdLst>
  <p:sldIdLst>
    <p:sldId id="676" r:id="rId5"/>
    <p:sldId id="524" r:id="rId6"/>
    <p:sldId id="548" r:id="rId7"/>
    <p:sldId id="597" r:id="rId8"/>
    <p:sldId id="596" r:id="rId9"/>
    <p:sldId id="598" r:id="rId10"/>
    <p:sldId id="599" r:id="rId11"/>
    <p:sldId id="602" r:id="rId12"/>
    <p:sldId id="606" r:id="rId13"/>
    <p:sldId id="662" r:id="rId14"/>
    <p:sldId id="601" r:id="rId15"/>
    <p:sldId id="603" r:id="rId16"/>
    <p:sldId id="637" r:id="rId17"/>
    <p:sldId id="663" r:id="rId18"/>
    <p:sldId id="607" r:id="rId19"/>
    <p:sldId id="608" r:id="rId20"/>
    <p:sldId id="609" r:id="rId21"/>
    <p:sldId id="665" r:id="rId22"/>
    <p:sldId id="610" r:id="rId23"/>
    <p:sldId id="613" r:id="rId24"/>
    <p:sldId id="614" r:id="rId25"/>
    <p:sldId id="638" r:id="rId26"/>
    <p:sldId id="616" r:id="rId27"/>
    <p:sldId id="667" r:id="rId28"/>
    <p:sldId id="617" r:id="rId29"/>
    <p:sldId id="668" r:id="rId30"/>
    <p:sldId id="669" r:id="rId31"/>
    <p:sldId id="618" r:id="rId32"/>
    <p:sldId id="639" r:id="rId33"/>
    <p:sldId id="620" r:id="rId34"/>
    <p:sldId id="621" r:id="rId35"/>
    <p:sldId id="622" r:id="rId36"/>
    <p:sldId id="623" r:id="rId37"/>
    <p:sldId id="624" r:id="rId38"/>
    <p:sldId id="625" r:id="rId39"/>
    <p:sldId id="626" r:id="rId40"/>
    <p:sldId id="670" r:id="rId41"/>
    <p:sldId id="627" r:id="rId42"/>
    <p:sldId id="671" r:id="rId43"/>
    <p:sldId id="628" r:id="rId44"/>
    <p:sldId id="640" r:id="rId45"/>
    <p:sldId id="631" r:id="rId46"/>
    <p:sldId id="632" r:id="rId47"/>
    <p:sldId id="634" r:id="rId48"/>
    <p:sldId id="635" r:id="rId49"/>
    <p:sldId id="672" r:id="rId50"/>
    <p:sldId id="636" r:id="rId51"/>
    <p:sldId id="673" r:id="rId52"/>
    <p:sldId id="674" r:id="rId53"/>
    <p:sldId id="675" r:id="rId54"/>
    <p:sldId id="523" r:id="rId5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4DE"/>
    <a:srgbClr val="D14B1E"/>
    <a:srgbClr val="FF6300"/>
    <a:srgbClr val="25894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9" d="100"/>
          <a:sy n="59" d="100"/>
        </p:scale>
        <p:origin x="884" y="52"/>
      </p:cViewPr>
      <p:guideLst>
        <p:guide orient="horz" pos="2160"/>
        <p:guide pos="3840"/>
      </p:guideLst>
    </p:cSldViewPr>
  </p:slideViewPr>
  <p:outlineViewPr>
    <p:cViewPr>
      <p:scale>
        <a:sx n="33" d="100"/>
        <a:sy n="33" d="100"/>
      </p:scale>
      <p:origin x="0" y="-62604"/>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2/24/2026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34152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2062851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1003392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4138937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4121572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4234251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43381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35285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3231109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although a detailed explanation is beyond the scope of this text, it can be shown that if the sum of the squared deviations about the sample mean is divided by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r>
                  <a:rPr lang="en-US" dirty="0"/>
                  <a:t>, and not </a:t>
                </a:r>
                <a:r>
                  <a:rPr lang="en-US" i="1" dirty="0"/>
                  <a:t>n</a:t>
                </a:r>
                <a:r>
                  <a:rPr lang="en-US" dirty="0"/>
                  <a:t>, the resulting sample variance provides an unbiased estimate of the population variance.</a:t>
                </a:r>
              </a:p>
            </p:txBody>
          </p:sp>
        </mc:Choice>
        <mc:Fallback xmlns="">
          <p:sp>
            <p:nvSpPr>
              <p:cNvPr id="3" name="Notes Placeholder 2"/>
              <p:cNvSpPr>
                <a:spLocks noGrp="1"/>
              </p:cNvSpPr>
              <p:nvPr>
                <p:ph type="body" idx="1"/>
              </p:nvPr>
            </p:nvSpPr>
            <p:spPr/>
            <p:txBody>
              <a:bodyPr/>
              <a:lstStyle/>
              <a:p>
                <a:r>
                  <a:rPr lang="en-US" dirty="0"/>
                  <a:t>*Note: although a detailed explanation is beyond the scope of this text, it can be shown that if the sum of the squared deviations about the sample mean is divided by </a:t>
                </a:r>
                <a:r>
                  <a:rPr lang="en-US" i="0" dirty="0">
                    <a:latin typeface="Cambria Math" panose="02040503050406030204" pitchFamily="18" charset="0"/>
                  </a:rPr>
                  <a:t>𝑛−1</a:t>
                </a:r>
                <a:r>
                  <a:rPr lang="en-US" dirty="0"/>
                  <a:t>, and not </a:t>
                </a:r>
                <a:r>
                  <a:rPr lang="en-US" i="1" dirty="0"/>
                  <a:t>n</a:t>
                </a:r>
                <a:r>
                  <a:rPr lang="en-US" dirty="0"/>
                  <a:t>, the resulting sample variance provides an unbiased estimate of the population variance.</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3733488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3096147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292203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2548196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1084356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2707035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a:t>
                </a:r>
                <a14:m>
                  <m:oMath xmlns:m="http://schemas.openxmlformats.org/officeDocument/2006/math">
                    <m:r>
                      <m:rPr>
                        <m:sty m:val="p"/>
                      </m:rPr>
                      <a:rPr lang="en-US" sz="1200" b="0" i="0" smtClean="0">
                        <a:latin typeface="Cambria Math" panose="02040503050406030204" pitchFamily="18" charset="0"/>
                      </a:rPr>
                      <m:t>skewness</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𝑛</m:t>
                        </m:r>
                      </m:num>
                      <m:den>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−1)(</m:t>
                        </m:r>
                        <m:r>
                          <a:rPr lang="en-US" sz="1200" b="0" i="1" smtClean="0">
                            <a:latin typeface="Cambria Math" panose="02040503050406030204" pitchFamily="18" charset="0"/>
                          </a:rPr>
                          <m:t>𝑛</m:t>
                        </m:r>
                        <m:r>
                          <a:rPr lang="en-US" sz="1200" b="0" i="1" smtClean="0">
                            <a:latin typeface="Cambria Math" panose="02040503050406030204" pitchFamily="18" charset="0"/>
                          </a:rPr>
                          <m:t>−2)</m:t>
                        </m:r>
                      </m:den>
                    </m:f>
                    <m:nary>
                      <m:naryPr>
                        <m:chr m:val="∑"/>
                        <m:subHide m:val="on"/>
                        <m:supHide m:val="on"/>
                        <m:ctrlPr>
                          <a:rPr lang="en-US" sz="1200" b="0" i="1" smtClean="0">
                            <a:latin typeface="Cambria Math" panose="02040503050406030204" pitchFamily="18" charset="0"/>
                          </a:rPr>
                        </m:ctrlPr>
                      </m:naryPr>
                      <m:sub/>
                      <m:sup/>
                      <m:e>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𝑥</m:t>
                                        </m:r>
                                      </m:e>
                                    </m:acc>
                                  </m:num>
                                  <m:den>
                                    <m:r>
                                      <a:rPr lang="en-US" sz="1200" b="0" i="1" smtClean="0">
                                        <a:latin typeface="Cambria Math" panose="02040503050406030204" pitchFamily="18" charset="0"/>
                                      </a:rPr>
                                      <m:t>𝑠</m:t>
                                    </m:r>
                                  </m:den>
                                </m:f>
                              </m:e>
                            </m:d>
                          </m:e>
                          <m:sup>
                            <m:r>
                              <a:rPr lang="en-US" sz="1200" b="0" i="1" smtClean="0">
                                <a:latin typeface="Cambria Math" panose="02040503050406030204" pitchFamily="18" charset="0"/>
                              </a:rPr>
                              <m:t>3</m:t>
                            </m:r>
                          </m:sup>
                        </m:sSup>
                      </m:e>
                    </m:nary>
                  </m:oMath>
                </a14:m>
                <a:endParaRPr lang="en-US" dirty="0"/>
              </a:p>
            </p:txBody>
          </p:sp>
        </mc:Choice>
        <mc:Fallback xmlns="">
          <p:sp>
            <p:nvSpPr>
              <p:cNvPr id="3" name="Notes Placeholder 2"/>
              <p:cNvSpPr>
                <a:spLocks noGrp="1"/>
              </p:cNvSpPr>
              <p:nvPr>
                <p:ph type="body" idx="1"/>
              </p:nvPr>
            </p:nvSpPr>
            <p:spPr/>
            <p:txBody>
              <a:bodyPr/>
              <a:lstStyle/>
              <a:p>
                <a:r>
                  <a:rPr lang="en-US" dirty="0"/>
                  <a:t>*Note: </a:t>
                </a:r>
                <a:r>
                  <a:rPr lang="en-US" sz="1200" b="0" i="0">
                    <a:latin typeface="Cambria Math" panose="02040503050406030204" pitchFamily="18" charset="0"/>
                  </a:rPr>
                  <a:t>skewness=𝑛/((𝑛−1)(𝑛−2)) ∑▒((𝑥_𝑖−𝑥 ̅)/𝑠)^3 </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3148286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481916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3678619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4033054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442064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3402183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19469733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1945874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Step 1</a:t>
            </a:r>
            <a:r>
              <a:rPr lang="en-US" b="0" i="0" dirty="0"/>
              <a:t>. Click on </a:t>
            </a:r>
            <a:r>
              <a:rPr lang="en-US" b="1" i="0" dirty="0"/>
              <a:t>Chart Title </a:t>
            </a:r>
            <a:r>
              <a:rPr lang="en-US" b="0" i="0" dirty="0"/>
              <a:t>and press the </a:t>
            </a:r>
            <a:r>
              <a:rPr lang="en-US" b="1" i="0" dirty="0"/>
              <a:t>Delete</a:t>
            </a:r>
            <a:r>
              <a:rPr lang="en-US" b="0" i="0" dirty="0"/>
              <a:t> key</a:t>
            </a:r>
          </a:p>
          <a:p>
            <a:r>
              <a:rPr lang="en-US" b="1" i="0" dirty="0"/>
              <a:t>Step 2</a:t>
            </a:r>
            <a:r>
              <a:rPr lang="en-US" b="0" i="0" dirty="0"/>
              <a:t>. Click on the 1 below the horizontal axis and press the </a:t>
            </a:r>
            <a:r>
              <a:rPr lang="en-US" b="1" i="0" dirty="0"/>
              <a:t>Delete</a:t>
            </a:r>
            <a:r>
              <a:rPr lang="en-US" b="0" i="0" dirty="0"/>
              <a:t> key</a:t>
            </a:r>
          </a:p>
          <a:p>
            <a:r>
              <a:rPr lang="en-US" b="1" i="0" dirty="0"/>
              <a:t>Step 3</a:t>
            </a:r>
            <a:r>
              <a:rPr lang="en-US" b="0" i="0" dirty="0"/>
              <a:t>. Click on the </a:t>
            </a:r>
            <a:r>
              <a:rPr lang="en-US" b="1" i="0" dirty="0"/>
              <a:t>Chart Elements </a:t>
            </a:r>
            <a:r>
              <a:rPr lang="en-US" b="0" i="0" dirty="0"/>
              <a:t>button</a:t>
            </a:r>
          </a:p>
          <a:p>
            <a:r>
              <a:rPr lang="en-US" b="1" i="0" dirty="0"/>
              <a:t>Step 4.</a:t>
            </a:r>
            <a:r>
              <a:rPr lang="en-US" b="0" i="0" dirty="0"/>
              <a:t> When the list of chart elements appears:</a:t>
            </a:r>
          </a:p>
          <a:p>
            <a:pPr lvl="1"/>
            <a:r>
              <a:rPr lang="en-US" b="0" i="0" dirty="0"/>
              <a:t>Deselect </a:t>
            </a:r>
            <a:r>
              <a:rPr lang="en-US" b="1" i="0" dirty="0"/>
              <a:t>Gridlines</a:t>
            </a:r>
            <a:r>
              <a:rPr lang="en-US" b="0" i="0" dirty="0"/>
              <a:t> to remove the horizontal gridlines from the chart</a:t>
            </a:r>
          </a:p>
          <a:p>
            <a:pPr lvl="1"/>
            <a:r>
              <a:rPr lang="en-US" b="0" i="0" dirty="0"/>
              <a:t>Click </a:t>
            </a:r>
            <a:r>
              <a:rPr lang="en-US" b="1" i="0" dirty="0"/>
              <a:t>Axis Titles </a:t>
            </a:r>
            <a:r>
              <a:rPr lang="en-US" b="0" i="0" dirty="0"/>
              <a:t>to create placeholders for the axis titles</a:t>
            </a:r>
          </a:p>
          <a:p>
            <a:pPr lvl="1"/>
            <a:r>
              <a:rPr lang="en-US" b="0" i="0" dirty="0"/>
              <a:t>Click on the horizontal </a:t>
            </a:r>
            <a:r>
              <a:rPr lang="en-US" b="1" i="0" dirty="0"/>
              <a:t>Axis Title </a:t>
            </a:r>
            <a:r>
              <a:rPr lang="en-US" b="0" i="0" dirty="0"/>
              <a:t>and press the </a:t>
            </a:r>
            <a:r>
              <a:rPr lang="en-US" b="1" i="0" dirty="0"/>
              <a:t>Delete</a:t>
            </a:r>
            <a:r>
              <a:rPr lang="en-US" b="0" i="0" dirty="0"/>
              <a:t> key</a:t>
            </a:r>
          </a:p>
          <a:p>
            <a:pPr lvl="1"/>
            <a:r>
              <a:rPr lang="en-US" b="0" i="0" dirty="0"/>
              <a:t>Click on the vertical </a:t>
            </a:r>
            <a:r>
              <a:rPr lang="en-US" b="1" i="0" dirty="0"/>
              <a:t>Axis Title </a:t>
            </a:r>
            <a:r>
              <a:rPr lang="en-US" b="0" i="0" dirty="0"/>
              <a:t>placeholder and replace it with </a:t>
            </a:r>
            <a:r>
              <a:rPr lang="en-US" b="0" i="1" dirty="0"/>
              <a:t>Monthly Starting Salary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1772489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215427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Step 1</a:t>
            </a:r>
            <a:r>
              <a:rPr lang="en-US" b="0" i="0" dirty="0"/>
              <a:t>. Click on </a:t>
            </a:r>
            <a:r>
              <a:rPr lang="en-US" b="1" i="0" dirty="0"/>
              <a:t>Chart Title </a:t>
            </a:r>
            <a:r>
              <a:rPr lang="en-US" b="0" i="0" dirty="0"/>
              <a:t>and replace it with </a:t>
            </a:r>
            <a:r>
              <a:rPr lang="en-US" b="0" i="1" dirty="0"/>
              <a:t>Comparative Analysis of Monthly Starting Salary by Major</a:t>
            </a:r>
          </a:p>
          <a:p>
            <a:r>
              <a:rPr lang="en-US" b="1" i="0" dirty="0"/>
              <a:t>Step 2</a:t>
            </a:r>
            <a:r>
              <a:rPr lang="en-US" b="0" i="0" dirty="0"/>
              <a:t>. To put the majors in alphabetical order from left to right</a:t>
            </a:r>
          </a:p>
          <a:p>
            <a:pPr lvl="1"/>
            <a:r>
              <a:rPr lang="en-US" b="0" i="0" dirty="0"/>
              <a:t>Select cells in the data set (A2:B112)</a:t>
            </a:r>
          </a:p>
          <a:p>
            <a:pPr lvl="1"/>
            <a:r>
              <a:rPr lang="en-US" b="0" i="0" dirty="0"/>
              <a:t>Select the </a:t>
            </a:r>
            <a:r>
              <a:rPr lang="en-US" b="1" i="0" dirty="0"/>
              <a:t>Data</a:t>
            </a:r>
            <a:r>
              <a:rPr lang="en-US" b="0" i="0" dirty="0"/>
              <a:t> tab on the Ribbon</a:t>
            </a:r>
          </a:p>
          <a:p>
            <a:pPr lvl="1"/>
            <a:r>
              <a:rPr lang="en-US" b="0" i="0" dirty="0"/>
              <a:t>Select </a:t>
            </a:r>
            <a:r>
              <a:rPr lang="en-US" b="1" i="0" dirty="0"/>
              <a:t>Sort from the Sort &amp; Filter</a:t>
            </a:r>
            <a:r>
              <a:rPr lang="en-US" b="0" i="0" dirty="0"/>
              <a:t> group</a:t>
            </a:r>
          </a:p>
          <a:p>
            <a:pPr lvl="1"/>
            <a:r>
              <a:rPr lang="en-US" b="0" i="0" dirty="0"/>
              <a:t>From the </a:t>
            </a:r>
            <a:r>
              <a:rPr lang="en-US" b="1" i="0" dirty="0"/>
              <a:t>Sort by </a:t>
            </a:r>
            <a:r>
              <a:rPr lang="en-US" b="0" i="0" dirty="0"/>
              <a:t>drop-down</a:t>
            </a:r>
            <a:r>
              <a:rPr lang="en-US" b="1" i="0" dirty="0"/>
              <a:t> </a:t>
            </a:r>
            <a:r>
              <a:rPr lang="en-US" b="0" i="0" dirty="0"/>
              <a:t>menu in the </a:t>
            </a:r>
            <a:r>
              <a:rPr lang="en-US" b="1" i="0" dirty="0"/>
              <a:t>Sort</a:t>
            </a:r>
            <a:r>
              <a:rPr lang="en-US" b="0" i="0" dirty="0"/>
              <a:t> dialog box, select </a:t>
            </a:r>
            <a:r>
              <a:rPr lang="en-US" b="1" i="0" dirty="0"/>
              <a:t>Major</a:t>
            </a:r>
          </a:p>
          <a:p>
            <a:pPr lvl="1"/>
            <a:r>
              <a:rPr lang="en-US" b="0" i="0" dirty="0"/>
              <a:t>From the </a:t>
            </a:r>
            <a:r>
              <a:rPr lang="en-US" b="1" i="0" dirty="0"/>
              <a:t>Order</a:t>
            </a:r>
            <a:r>
              <a:rPr lang="en-US" b="0" i="0" dirty="0"/>
              <a:t> drop-down menu in the </a:t>
            </a:r>
            <a:r>
              <a:rPr lang="en-US" b="1" i="0" dirty="0"/>
              <a:t>Sort</a:t>
            </a:r>
            <a:r>
              <a:rPr lang="en-US" b="0" i="0" dirty="0"/>
              <a:t> dialog box, select </a:t>
            </a:r>
            <a:r>
              <a:rPr lang="en-US" b="1" i="0" dirty="0"/>
              <a:t>A to Z</a:t>
            </a:r>
          </a:p>
          <a:p>
            <a:pPr lvl="1"/>
            <a:r>
              <a:rPr lang="en-US" b="0" i="0" dirty="0"/>
              <a:t>Click </a:t>
            </a:r>
            <a:r>
              <a:rPr lang="en-US" b="1" i="0" dirty="0"/>
              <a:t>OK</a:t>
            </a:r>
          </a:p>
          <a:p>
            <a:r>
              <a:rPr lang="en-US" b="1" i="0" dirty="0"/>
              <a:t>Step 3</a:t>
            </a:r>
            <a:r>
              <a:rPr lang="en-US" b="0" i="0" dirty="0"/>
              <a:t>. Select the chart by clicking anywhere on the chart. </a:t>
            </a:r>
          </a:p>
          <a:p>
            <a:pPr lvl="1"/>
            <a:r>
              <a:rPr lang="en-US" b="0" i="0" dirty="0"/>
              <a:t>Click on the </a:t>
            </a:r>
            <a:r>
              <a:rPr lang="en-US" b="1" i="0" dirty="0"/>
              <a:t>Chart Elements </a:t>
            </a:r>
            <a:r>
              <a:rPr lang="en-US" b="0" i="0" dirty="0"/>
              <a:t>button</a:t>
            </a:r>
          </a:p>
          <a:p>
            <a:r>
              <a:rPr lang="en-US" b="1" i="0" dirty="0"/>
              <a:t>Step 4</a:t>
            </a:r>
            <a:r>
              <a:rPr lang="en-US" b="0" i="0" dirty="0"/>
              <a:t>. When the list of chart elements appears</a:t>
            </a:r>
          </a:p>
          <a:p>
            <a:pPr lvl="1"/>
            <a:r>
              <a:rPr lang="en-US" b="0" i="0" dirty="0"/>
              <a:t>Deselect </a:t>
            </a:r>
            <a:r>
              <a:rPr lang="en-US" b="1" i="0" dirty="0"/>
              <a:t>Gridlines</a:t>
            </a:r>
            <a:r>
              <a:rPr lang="en-US" b="0" i="0" dirty="0"/>
              <a:t> to remove the horizontal gridlines from the chart</a:t>
            </a:r>
          </a:p>
          <a:p>
            <a:pPr lvl="1"/>
            <a:r>
              <a:rPr lang="en-US" b="0" i="0" dirty="0"/>
              <a:t>Click </a:t>
            </a:r>
            <a:r>
              <a:rPr lang="en-US" b="1" i="0" dirty="0"/>
              <a:t>Axis Titles </a:t>
            </a:r>
            <a:r>
              <a:rPr lang="en-US" b="0" i="0" dirty="0"/>
              <a:t>to create placeholders for the axis titles</a:t>
            </a:r>
          </a:p>
          <a:p>
            <a:pPr lvl="1"/>
            <a:r>
              <a:rPr lang="en-US" b="0" i="0" dirty="0"/>
              <a:t>Editing Options:</a:t>
            </a:r>
          </a:p>
          <a:p>
            <a:pPr lvl="1"/>
            <a:r>
              <a:rPr lang="en-US" b="0" i="0" dirty="0"/>
              <a:t>Click on the horizontal </a:t>
            </a:r>
            <a:r>
              <a:rPr lang="en-US" b="1" i="0" dirty="0"/>
              <a:t>Axis Title </a:t>
            </a:r>
            <a:r>
              <a:rPr lang="en-US" b="0" i="0" dirty="0"/>
              <a:t>placeholder and replace it with </a:t>
            </a:r>
            <a:r>
              <a:rPr lang="en-US" b="0" i="1" dirty="0"/>
              <a:t>Major</a:t>
            </a:r>
          </a:p>
          <a:p>
            <a:pPr lvl="1"/>
            <a:r>
              <a:rPr lang="en-US" b="0" i="0" dirty="0"/>
              <a:t>Click on the vertical </a:t>
            </a:r>
            <a:r>
              <a:rPr lang="en-US" b="1" i="0" dirty="0"/>
              <a:t>Axis Title </a:t>
            </a:r>
            <a:r>
              <a:rPr lang="en-US" b="0" i="0" dirty="0"/>
              <a:t>placeholder and replace it with </a:t>
            </a:r>
            <a:r>
              <a:rPr lang="en-US" b="0" i="1" dirty="0"/>
              <a:t>Monthly Starting Salary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25042735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20894385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6567671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896807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3862922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30444408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21.xm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NULL"/><Relationship Id="rId4" Type="http://schemas.openxmlformats.org/officeDocument/2006/relationships/image" Target="NUL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1.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1" Type="http://schemas.openxmlformats.org/officeDocument/2006/relationships/slideLayout" Target="../slideLayouts/slideLayout21.xml"/><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NUL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4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NUL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872ED5-B6BE-9390-F1F2-062698575C5F}"/>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FA8BDA41-2E13-88F7-2F41-B656EE88B616}"/>
              </a:ext>
            </a:extLst>
          </p:cNvPr>
          <p:cNvPicPr>
            <a:picLocks noChangeAspect="1"/>
          </p:cNvPicPr>
          <p:nvPr/>
        </p:nvPicPr>
        <p:blipFill>
          <a:blip r:embed="rId2"/>
          <a:stretch>
            <a:fillRect/>
          </a:stretch>
        </p:blipFill>
        <p:spPr>
          <a:xfrm>
            <a:off x="-1" y="-1"/>
            <a:ext cx="12192001" cy="6962661"/>
          </a:xfrm>
          <a:prstGeom prst="rect">
            <a:avLst/>
          </a:prstGeom>
        </p:spPr>
      </p:pic>
    </p:spTree>
    <p:extLst>
      <p:ext uri="{BB962C8B-B14F-4D97-AF65-F5344CB8AC3E}">
        <p14:creationId xmlns:p14="http://schemas.microsoft.com/office/powerpoint/2010/main" val="23516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0228" y="1743327"/>
            <a:ext cx="10711543" cy="2942706"/>
          </a:xfrm>
        </p:spPr>
        <p:txBody>
          <a:bodyPr/>
          <a:lstStyle/>
          <a:p>
            <a:pPr marL="1371600" indent="-914400"/>
            <a:r>
              <a:rPr lang="en-US" sz="2000" dirty="0"/>
              <a:t>3.1	Measures of Location</a:t>
            </a:r>
          </a:p>
          <a:p>
            <a:pPr marL="1371600" indent="-914400"/>
            <a:r>
              <a:rPr lang="en-US" sz="2000" dirty="0"/>
              <a:t>3.2	Measures of Variability</a:t>
            </a:r>
          </a:p>
          <a:p>
            <a:pPr marL="1371600" indent="-914400"/>
            <a:r>
              <a:rPr lang="en-US" sz="2000" dirty="0"/>
              <a:t>3.3	Measures of Distribution Shape, Relative Location, and Detecting Outliers</a:t>
            </a:r>
          </a:p>
          <a:p>
            <a:pPr marL="1371600" indent="-914400"/>
            <a:r>
              <a:rPr lang="en-US" sz="2000" dirty="0"/>
              <a:t>3.4	Five-Number Summaries and Box Plots</a:t>
            </a:r>
          </a:p>
          <a:p>
            <a:pPr marL="1371600" indent="-914400"/>
            <a:r>
              <a:rPr lang="en-US" sz="2000" dirty="0"/>
              <a:t>3.5	Measures of Association Between Two Variables</a:t>
            </a:r>
          </a:p>
          <a:p>
            <a:pPr marL="1371600" indent="-914400"/>
            <a:r>
              <a:rPr lang="en-US" sz="2000" dirty="0"/>
              <a:t>3.6	Data Dashboards: Adding Numerical Measures to Improve Effectiveness</a:t>
            </a:r>
          </a:p>
          <a:p>
            <a:pPr marL="1371600" indent="-914400"/>
            <a:r>
              <a:rPr lang="en-US" sz="2000" dirty="0"/>
              <a:t>	Summary</a:t>
            </a:r>
          </a:p>
          <a:p>
            <a:pPr marL="914400" indent="-914400">
              <a:spcBef>
                <a:spcPts val="600"/>
              </a:spcBef>
            </a:pPr>
            <a:endParaRPr lang="en-US" sz="1800" dirty="0"/>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599948"/>
            <a:ext cx="10610224" cy="3184635"/>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1200"/>
              </a:spcBef>
            </a:pPr>
            <a:r>
              <a:rPr lang="en-US" sz="2000" dirty="0">
                <a:latin typeface="Arial" panose="020B0604020202020204" pitchFamily="34" charset="0"/>
                <a:cs typeface="Arial" panose="020B0604020202020204" pitchFamily="34" charset="0"/>
              </a:rPr>
              <a:t>LO 3-1 	Calculate and interpret measures of location for quantitative data such as the mean, weighted mean, median, geometric mean, and mode.</a:t>
            </a:r>
          </a:p>
          <a:p>
            <a:pPr marL="1828800" indent="-1371600">
              <a:spcBef>
                <a:spcPts val="1200"/>
              </a:spcBef>
            </a:pPr>
            <a:r>
              <a:rPr lang="en-US" sz="2000" dirty="0">
                <a:latin typeface="Arial" panose="020B0604020202020204" pitchFamily="34" charset="0"/>
                <a:cs typeface="Arial" panose="020B0604020202020204" pitchFamily="34" charset="0"/>
              </a:rPr>
              <a:t>LO 3-2 	Calculate and interpret percentiles and quartiles for quantitative data.</a:t>
            </a:r>
          </a:p>
          <a:p>
            <a:pPr marL="1828800" indent="-1371600">
              <a:spcBef>
                <a:spcPts val="1200"/>
              </a:spcBef>
            </a:pPr>
            <a:r>
              <a:rPr lang="en-US" sz="2000" dirty="0">
                <a:latin typeface="Arial" panose="020B0604020202020204" pitchFamily="34" charset="0"/>
                <a:cs typeface="Arial" panose="020B0604020202020204" pitchFamily="34" charset="0"/>
              </a:rPr>
              <a:t>LO 3-3 	Calculate and interpret measures of variability for quantitative data such as the range, interquartile range, variance, standard deviation, and coefficient of variation.</a:t>
            </a:r>
          </a:p>
          <a:p>
            <a:pPr marL="1828800" indent="-1371600">
              <a:spcBef>
                <a:spcPts val="1200"/>
              </a:spcBef>
            </a:pPr>
            <a:r>
              <a:rPr lang="en-US" sz="2000" dirty="0">
                <a:latin typeface="Arial" panose="020B0604020202020204" pitchFamily="34" charset="0"/>
                <a:cs typeface="Arial" panose="020B0604020202020204" pitchFamily="34" charset="0"/>
              </a:rPr>
              <a:t>LO 3-4	Calculate and interpret z-scores for quantitative data.</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585660"/>
            <a:ext cx="10610224" cy="3413235"/>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indent="-1371600">
              <a:spcBef>
                <a:spcPts val="1200"/>
              </a:spcBef>
            </a:pPr>
            <a:r>
              <a:rPr lang="en-US" sz="2000" dirty="0">
                <a:latin typeface="Arial" panose="020B0604020202020204" pitchFamily="34" charset="0"/>
                <a:cs typeface="Arial" panose="020B0604020202020204" pitchFamily="34" charset="0"/>
              </a:rPr>
              <a:t>LO 3-5	Apply and interpret Chebyshev’s theorem and the empirical rule to quantitative data.</a:t>
            </a:r>
          </a:p>
          <a:p>
            <a:pPr marL="1828800" indent="-1371600">
              <a:spcBef>
                <a:spcPts val="1200"/>
              </a:spcBef>
            </a:pPr>
            <a:r>
              <a:rPr lang="en-US" sz="2000" dirty="0">
                <a:latin typeface="Arial" panose="020B0604020202020204" pitchFamily="34" charset="0"/>
                <a:cs typeface="Arial" panose="020B0604020202020204" pitchFamily="34" charset="0"/>
              </a:rPr>
              <a:t>LO 3-6	Identify outliers in a set of quantitative data.</a:t>
            </a:r>
          </a:p>
          <a:p>
            <a:pPr marL="1828800" indent="-1371600">
              <a:spcBef>
                <a:spcPts val="1200"/>
              </a:spcBef>
            </a:pPr>
            <a:r>
              <a:rPr lang="en-US" sz="2000" dirty="0">
                <a:latin typeface="Arial" panose="020B0604020202020204" pitchFamily="34" charset="0"/>
                <a:cs typeface="Arial" panose="020B0604020202020204" pitchFamily="34" charset="0"/>
              </a:rPr>
              <a:t>LO 3-7	Calculate and interpret a five-number summary for a set of quantitative data.</a:t>
            </a:r>
          </a:p>
          <a:p>
            <a:pPr marL="1828800" indent="-1371600">
              <a:spcBef>
                <a:spcPts val="1200"/>
              </a:spcBef>
            </a:pPr>
            <a:r>
              <a:rPr lang="en-US" sz="2000" dirty="0">
                <a:latin typeface="Arial" panose="020B0604020202020204" pitchFamily="34" charset="0"/>
                <a:cs typeface="Arial" panose="020B0604020202020204" pitchFamily="34" charset="0"/>
              </a:rPr>
              <a:t>LO 3-8	Construct and interpret a boxplot.</a:t>
            </a:r>
          </a:p>
          <a:p>
            <a:pPr marL="1828800" indent="-1371600">
              <a:spcBef>
                <a:spcPts val="1200"/>
              </a:spcBef>
            </a:pPr>
            <a:r>
              <a:rPr lang="en-US" sz="2000" dirty="0">
                <a:latin typeface="Arial" panose="020B0604020202020204" pitchFamily="34" charset="0"/>
                <a:cs typeface="Arial" panose="020B0604020202020204" pitchFamily="34" charset="0"/>
              </a:rPr>
              <a:t>LO 3-9	Calculate and interpret the covariance and the correlation coefficient for two quantitative variables.</a:t>
            </a:r>
          </a:p>
        </p:txBody>
      </p:sp>
    </p:spTree>
    <p:extLst>
      <p:ext uri="{BB962C8B-B14F-4D97-AF65-F5344CB8AC3E}">
        <p14:creationId xmlns:p14="http://schemas.microsoft.com/office/powerpoint/2010/main" val="920278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74348"/>
            <a:ext cx="10711543" cy="4166008"/>
          </a:xfrm>
        </p:spPr>
        <p:txBody>
          <a:bodyPr/>
          <a:lstStyle/>
          <a:p>
            <a:pPr>
              <a:lnSpc>
                <a:spcPct val="100000"/>
              </a:lnSpc>
              <a:spcBef>
                <a:spcPts val="600"/>
              </a:spcBef>
            </a:pPr>
            <a:r>
              <a:rPr lang="en-US" sz="2000" dirty="0"/>
              <a:t>In this chapter, we develop numerical summary measures for data sets consisting of a single variable.</a:t>
            </a:r>
          </a:p>
          <a:p>
            <a:pPr>
              <a:lnSpc>
                <a:spcPct val="100000"/>
              </a:lnSpc>
              <a:spcBef>
                <a:spcPts val="600"/>
              </a:spcBef>
            </a:pPr>
            <a:r>
              <a:rPr lang="en-US" sz="2000" dirty="0"/>
              <a:t>When a data set contains more than one variable, the same numerical measures can be computed separately for each variable. However, in the two-variable case, we will also develop measures of the relationship between the variables.</a:t>
            </a:r>
          </a:p>
          <a:p>
            <a:pPr>
              <a:spcBef>
                <a:spcPts val="600"/>
              </a:spcBef>
            </a:pPr>
            <a:r>
              <a:rPr lang="en-US" sz="2000" dirty="0">
                <a:solidFill>
                  <a:srgbClr val="000000"/>
                </a:solidFill>
                <a:cs typeface="Arial" panose="020B0604020202020204" pitchFamily="34" charset="0"/>
              </a:rPr>
              <a:t>If the measures are computed for data from a sample, they are called </a:t>
            </a:r>
            <a:r>
              <a:rPr lang="en-US" sz="2000" b="1" dirty="0">
                <a:solidFill>
                  <a:srgbClr val="000000"/>
                </a:solidFill>
                <a:cs typeface="Arial" panose="020B0604020202020204" pitchFamily="34" charset="0"/>
              </a:rPr>
              <a:t>sample statistics</a:t>
            </a:r>
            <a:r>
              <a:rPr lang="en-US" sz="2000" dirty="0">
                <a:solidFill>
                  <a:srgbClr val="000000"/>
                </a:solidFill>
                <a:cs typeface="Arial" panose="020B0604020202020204" pitchFamily="34" charset="0"/>
              </a:rPr>
              <a:t>.</a:t>
            </a:r>
          </a:p>
          <a:p>
            <a:pPr>
              <a:spcBef>
                <a:spcPts val="600"/>
              </a:spcBef>
            </a:pPr>
            <a:r>
              <a:rPr lang="en-US" sz="2000" dirty="0">
                <a:solidFill>
                  <a:srgbClr val="000000"/>
                </a:solidFill>
                <a:cs typeface="Arial" panose="020B0604020202020204" pitchFamily="34" charset="0"/>
              </a:rPr>
              <a:t>If the measures are computed for data from a population, they are called </a:t>
            </a:r>
            <a:r>
              <a:rPr lang="en-US" sz="2000" b="1" dirty="0">
                <a:solidFill>
                  <a:srgbClr val="000000"/>
                </a:solidFill>
                <a:cs typeface="Arial" panose="020B0604020202020204" pitchFamily="34" charset="0"/>
              </a:rPr>
              <a:t>population parameters</a:t>
            </a:r>
            <a:r>
              <a:rPr lang="en-US" sz="2000" dirty="0">
                <a:solidFill>
                  <a:srgbClr val="000000"/>
                </a:solidFill>
                <a:cs typeface="Arial" panose="020B0604020202020204" pitchFamily="34" charset="0"/>
              </a:rPr>
              <a:t>.</a:t>
            </a:r>
          </a:p>
          <a:p>
            <a:pPr>
              <a:spcBef>
                <a:spcPts val="600"/>
              </a:spcBef>
            </a:pPr>
            <a:r>
              <a:rPr lang="en-US" sz="2000" dirty="0">
                <a:solidFill>
                  <a:srgbClr val="000000"/>
                </a:solidFill>
                <a:cs typeface="Arial" panose="020B0604020202020204" pitchFamily="34" charset="0"/>
              </a:rPr>
              <a:t>A sample statistic is referred to as the </a:t>
            </a:r>
            <a:r>
              <a:rPr lang="en-US" sz="2000" b="1" dirty="0">
                <a:solidFill>
                  <a:srgbClr val="000000"/>
                </a:solidFill>
                <a:cs typeface="Arial" panose="020B0604020202020204" pitchFamily="34" charset="0"/>
              </a:rPr>
              <a:t>point estimator </a:t>
            </a:r>
            <a:r>
              <a:rPr lang="en-US" sz="2000" dirty="0">
                <a:solidFill>
                  <a:srgbClr val="000000"/>
                </a:solidFill>
                <a:cs typeface="Arial" panose="020B0604020202020204" pitchFamily="34" charset="0"/>
              </a:rPr>
              <a:t>of the corresponding population parameter.</a:t>
            </a:r>
          </a:p>
          <a:p>
            <a:pPr>
              <a:spcBef>
                <a:spcPts val="600"/>
              </a:spcBef>
            </a:pPr>
            <a:r>
              <a:rPr lang="en-US" sz="2000" dirty="0">
                <a:solidFill>
                  <a:srgbClr val="000000"/>
                </a:solidFill>
                <a:cs typeface="Arial" panose="020B0604020202020204" pitchFamily="34" charset="0"/>
              </a:rPr>
              <a:t>Statistical software packages and spreadsheets can be used to develop the descriptive statistics presented in this chapter</a:t>
            </a:r>
            <a:r>
              <a:rPr lang="en-US" sz="2000" dirty="0">
                <a:cs typeface="Arial" panose="020B0604020202020204" pitchFamily="34" charset="0"/>
              </a:rPr>
              <a:t>.</a:t>
            </a:r>
            <a:endParaRPr lang="en-US" sz="2000" dirty="0">
              <a:solidFill>
                <a:srgbClr val="000000"/>
              </a:solidFill>
              <a:cs typeface="Arial" panose="020B0604020202020204" pitchFamily="34" charset="0"/>
            </a:endParaRP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solidFill>
                  <a:srgbClr val="D14B1E"/>
                </a:solidFill>
              </a:rPr>
              <a:t>3.1 Measures of Location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321471"/>
                <a:ext cx="10711543" cy="4490607"/>
              </a:xfrm>
            </p:spPr>
            <p:txBody>
              <a:bodyPr/>
              <a:lstStyle/>
              <a:p>
                <a:pPr>
                  <a:spcBef>
                    <a:spcPts val="600"/>
                  </a:spcBef>
                </a:pPr>
                <a:r>
                  <a:rPr lang="en-US" sz="2000" dirty="0"/>
                  <a:t>The most important measure of central location is the </a:t>
                </a:r>
                <a:r>
                  <a:rPr lang="en-US" sz="2000" b="1" dirty="0"/>
                  <a:t>mean</a:t>
                </a:r>
                <a:r>
                  <a:rPr lang="en-US" sz="2000" dirty="0"/>
                  <a:t>,</a:t>
                </a:r>
                <a:r>
                  <a:rPr lang="en-US" sz="2000" b="1" dirty="0"/>
                  <a:t> </a:t>
                </a:r>
                <a:r>
                  <a:rPr lang="en-US" sz="2000" dirty="0"/>
                  <a:t>the average of all the data values.</a:t>
                </a:r>
              </a:p>
              <a:p>
                <a:pPr>
                  <a:spcBef>
                    <a:spcPts val="600"/>
                  </a:spcBef>
                  <a:spcAft>
                    <a:spcPts val="600"/>
                  </a:spcAft>
                </a:pPr>
                <a:r>
                  <a:rPr lang="en-US" sz="2000" dirty="0"/>
                  <a:t>For a sample with </a:t>
                </a:r>
                <a:r>
                  <a:rPr lang="en-US" sz="2000" i="1" dirty="0"/>
                  <a:t>n</a:t>
                </a:r>
                <a:r>
                  <a:rPr lang="en-US" sz="2000" dirty="0"/>
                  <a:t> observations, the formula for the sample mean is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nary>
                            <m:naryPr>
                              <m:chr m:val="∑"/>
                              <m:subHide m:val="on"/>
                              <m:supHide m:val="on"/>
                              <m:ctrlPr>
                                <a:rPr lang="en-US" sz="2000" b="1" i="1" smtClean="0">
                                  <a:latin typeface="Cambria Math" panose="02040503050406030204" pitchFamily="18" charset="0"/>
                                </a:rPr>
                              </m:ctrlPr>
                            </m:naryPr>
                            <m:sub/>
                            <m:sup/>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𝒊</m:t>
                                  </m:r>
                                </m:sub>
                              </m:sSub>
                            </m:e>
                          </m:nary>
                        </m:num>
                        <m:den>
                          <m:r>
                            <a:rPr lang="en-US" sz="2000" b="1" i="1" smtClean="0">
                              <a:latin typeface="Cambria Math" panose="02040503050406030204" pitchFamily="18" charset="0"/>
                            </a:rPr>
                            <m:t>𝒏</m:t>
                          </m:r>
                        </m:den>
                      </m:f>
                      <m:r>
                        <m:rPr>
                          <m:nor/>
                        </m:rPr>
                        <a:rPr lang="en-US" sz="2000" b="0" i="0" smtClean="0">
                          <a:latin typeface="Cambria Math" panose="02040503050406030204" pitchFamily="18" charset="0"/>
                        </a:rPr>
                        <m:t>        </m:t>
                      </m:r>
                      <m:r>
                        <m:rPr>
                          <m:nor/>
                        </m:rPr>
                        <a:rPr lang="en-US" sz="2000" dirty="0"/>
                        <m:t>where</m:t>
                      </m:r>
                      <m:r>
                        <m:rPr>
                          <m:nor/>
                        </m:rPr>
                        <a:rPr lang="en-US" sz="2000" dirty="0"/>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m:rPr>
                          <m:nor/>
                        </m:rPr>
                        <a:rPr lang="en-US" sz="2000" dirty="0"/>
                        <m:t> </m:t>
                      </m:r>
                      <m:r>
                        <m:rPr>
                          <m:nor/>
                        </m:rPr>
                        <a:rPr lang="en-US" sz="2000" dirty="0"/>
                        <m:t>is</m:t>
                      </m:r>
                      <m:r>
                        <m:rPr>
                          <m:nor/>
                        </m:rPr>
                        <a:rPr lang="en-US" sz="2000" dirty="0"/>
                        <m:t> </m:t>
                      </m:r>
                      <m:r>
                        <m:rPr>
                          <m:nor/>
                        </m:rPr>
                        <a:rPr lang="en-US" sz="2000" dirty="0"/>
                        <m:t>the</m:t>
                      </m:r>
                      <m:r>
                        <m:rPr>
                          <m:nor/>
                        </m:rPr>
                        <a:rPr lang="en-US" sz="2000" dirty="0"/>
                        <m:t> </m:t>
                      </m:r>
                      <m:r>
                        <a:rPr lang="en-US" sz="2000" b="0" i="1" dirty="0" smtClean="0">
                          <a:latin typeface="Cambria Math" panose="02040503050406030204" pitchFamily="18" charset="0"/>
                        </a:rPr>
                        <m:t>𝑖</m:t>
                      </m:r>
                      <m:r>
                        <m:rPr>
                          <m:nor/>
                        </m:rPr>
                        <a:rPr lang="en-US" sz="2000" baseline="30000" dirty="0" err="1"/>
                        <m:t>th</m:t>
                      </m:r>
                      <m:r>
                        <m:rPr>
                          <m:nor/>
                        </m:rPr>
                        <a:rPr lang="en-US" sz="2000" dirty="0"/>
                        <m:t> </m:t>
                      </m:r>
                      <m:r>
                        <m:rPr>
                          <m:nor/>
                        </m:rPr>
                        <a:rPr lang="en-US" sz="2000" dirty="0"/>
                        <m:t>observation</m:t>
                      </m:r>
                      <m:r>
                        <m:rPr>
                          <m:nor/>
                        </m:rPr>
                        <a:rPr lang="en-US" sz="2000" dirty="0"/>
                        <m:t> </m:t>
                      </m:r>
                      <m:r>
                        <m:rPr>
                          <m:nor/>
                        </m:rPr>
                        <a:rPr lang="en-US" sz="2000" dirty="0"/>
                        <m:t>in</m:t>
                      </m:r>
                      <m:r>
                        <m:rPr>
                          <m:nor/>
                        </m:rPr>
                        <a:rPr lang="en-US" sz="2000" dirty="0"/>
                        <m:t> </m:t>
                      </m:r>
                      <m:r>
                        <m:rPr>
                          <m:nor/>
                        </m:rPr>
                        <a:rPr lang="en-US" sz="2000" dirty="0"/>
                        <m:t>a</m:t>
                      </m:r>
                      <m:r>
                        <m:rPr>
                          <m:nor/>
                        </m:rPr>
                        <a:rPr lang="en-US" sz="2000" dirty="0"/>
                        <m:t> </m:t>
                      </m:r>
                      <m:r>
                        <m:rPr>
                          <m:nor/>
                        </m:rPr>
                        <a:rPr lang="en-US" sz="2000" dirty="0"/>
                        <m:t>data</m:t>
                      </m:r>
                      <m:r>
                        <m:rPr>
                          <m:nor/>
                        </m:rPr>
                        <a:rPr lang="en-US" sz="2000" dirty="0"/>
                        <m:t> </m:t>
                      </m:r>
                      <m:r>
                        <m:rPr>
                          <m:nor/>
                        </m:rPr>
                        <a:rPr lang="en-US" sz="2000" dirty="0"/>
                        <m:t>set</m:t>
                      </m:r>
                      <m:r>
                        <m:rPr>
                          <m:nor/>
                        </m:rPr>
                        <a:rPr lang="en-US" sz="2000" dirty="0"/>
                        <m:t> </m:t>
                      </m:r>
                      <m:r>
                        <m:rPr>
                          <m:nor/>
                        </m:rPr>
                        <a:rPr lang="en-US" sz="2000" dirty="0"/>
                        <m:t>of</m:t>
                      </m:r>
                      <m:r>
                        <m:rPr>
                          <m:nor/>
                        </m:rPr>
                        <a:rPr lang="en-US" sz="2000" b="0" i="0" dirty="0" smtClean="0"/>
                        <m:t> </m:t>
                      </m:r>
                      <m:r>
                        <m:rPr>
                          <m:nor/>
                        </m:rPr>
                        <a:rPr lang="en-US" sz="2000" b="0" i="0" dirty="0" smtClean="0"/>
                        <m:t>size</m:t>
                      </m:r>
                      <m:r>
                        <m:rPr>
                          <m:nor/>
                        </m:rPr>
                        <a:rPr lang="en-US" sz="2000" dirty="0"/>
                        <m:t> </m:t>
                      </m:r>
                      <m:r>
                        <a:rPr lang="en-US" sz="2000" b="0" i="1" dirty="0" smtClean="0">
                          <a:latin typeface="Cambria Math" panose="02040503050406030204" pitchFamily="18" charset="0"/>
                        </a:rPr>
                        <m:t>𝑛</m:t>
                      </m:r>
                    </m:oMath>
                  </m:oMathPara>
                </a14:m>
                <a:endParaRPr lang="en-US" sz="2000" dirty="0"/>
              </a:p>
              <a:p>
                <a:pPr>
                  <a:spcBef>
                    <a:spcPts val="600"/>
                  </a:spcBef>
                </a:pPr>
                <a:r>
                  <a:rPr lang="en-US" sz="2000" b="1" dirty="0"/>
                  <a:t>Example</a:t>
                </a:r>
                <a:r>
                  <a:rPr lang="en-US" sz="2000" dirty="0"/>
                  <a:t>: consider the class size data for a sample of five college classes: 46, 54, 42, 46, 32.</a:t>
                </a:r>
              </a:p>
              <a:p>
                <a:pPr>
                  <a:spcBef>
                    <a:spcPts val="600"/>
                  </a:spcBef>
                  <a:spcAft>
                    <a:spcPts val="0"/>
                  </a:spcAft>
                </a:pPr>
                <a:r>
                  <a:rPr lang="en-US" sz="2000" dirty="0"/>
                  <a:t>Using the introduced notation, we have: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1</m:t>
                        </m:r>
                      </m:sub>
                    </m:sSub>
                    <m:r>
                      <m:rPr>
                        <m:nor/>
                      </m:rPr>
                      <a:rPr lang="en-US" sz="2000" b="0" i="0" smtClean="0">
                        <a:latin typeface="Cambria Math" panose="02040503050406030204" pitchFamily="18" charset="0"/>
                      </a:rPr>
                      <m:t>=46</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m:rPr>
                        <m:nor/>
                      </m:rPr>
                      <a:rPr lang="en-US" sz="2000" i="0">
                        <a:latin typeface="Cambria Math" panose="02040503050406030204" pitchFamily="18" charset="0"/>
                      </a:rPr>
                      <m:t>=</m:t>
                    </m:r>
                    <m:r>
                      <m:rPr>
                        <m:nor/>
                      </m:rPr>
                      <a:rPr lang="en-US" sz="2000" b="0" i="0" smtClean="0">
                        <a:latin typeface="Cambria Math" panose="02040503050406030204" pitchFamily="18" charset="0"/>
                      </a:rPr>
                      <m:t>54</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3</m:t>
                        </m:r>
                      </m:sub>
                    </m:sSub>
                    <m:r>
                      <m:rPr>
                        <m:nor/>
                      </m:rPr>
                      <a:rPr lang="en-US" sz="2000" i="0">
                        <a:latin typeface="Cambria Math" panose="02040503050406030204" pitchFamily="18" charset="0"/>
                      </a:rPr>
                      <m:t>=4</m:t>
                    </m:r>
                    <m:r>
                      <m:rPr>
                        <m:nor/>
                      </m:rPr>
                      <a:rPr lang="en-US" sz="2000" b="0" i="0" smtClean="0">
                        <a:latin typeface="Cambria Math" panose="02040503050406030204" pitchFamily="18" charset="0"/>
                      </a:rPr>
                      <m:t>2</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4</m:t>
                        </m:r>
                      </m:sub>
                    </m:sSub>
                    <m:r>
                      <m:rPr>
                        <m:nor/>
                      </m:rPr>
                      <a:rPr lang="en-US" sz="2000" i="0">
                        <a:latin typeface="Cambria Math" panose="02040503050406030204" pitchFamily="18" charset="0"/>
                      </a:rPr>
                      <m:t>=46</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5</m:t>
                        </m:r>
                      </m:sub>
                    </m:sSub>
                    <m:r>
                      <m:rPr>
                        <m:nor/>
                      </m:rPr>
                      <a:rPr lang="en-US" sz="2000" i="0">
                        <a:latin typeface="Cambria Math" panose="02040503050406030204" pitchFamily="18" charset="0"/>
                      </a:rPr>
                      <m:t>=</m:t>
                    </m:r>
                    <m:r>
                      <m:rPr>
                        <m:nor/>
                      </m:rPr>
                      <a:rPr lang="en-US" sz="2000" b="0" i="0" smtClean="0">
                        <a:latin typeface="Cambria Math" panose="02040503050406030204" pitchFamily="18" charset="0"/>
                      </a:rPr>
                      <m:t>32</m:t>
                    </m:r>
                  </m:oMath>
                </a14:m>
                <a:r>
                  <a:rPr lang="en-US" sz="2000" dirty="0"/>
                  <a:t>. </a:t>
                </a:r>
              </a:p>
              <a:p>
                <a:pPr>
                  <a:spcBef>
                    <a:spcPts val="600"/>
                  </a:spcBef>
                  <a:spcAft>
                    <a:spcPts val="600"/>
                  </a:spcAft>
                </a:pPr>
                <a:r>
                  <a:rPr lang="en-US" sz="2000" dirty="0"/>
                  <a:t>To compute the sample mean, we write:</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f>
                        <m:fPr>
                          <m:ctrlPr>
                            <a:rPr lang="en-US" sz="2000" i="1">
                              <a:latin typeface="Cambria Math" panose="02040503050406030204" pitchFamily="18" charset="0"/>
                            </a:rPr>
                          </m:ctrlPr>
                        </m:fPr>
                        <m:num>
                          <m:nary>
                            <m:naryPr>
                              <m:chr m:val="∑"/>
                              <m:subHide m:val="on"/>
                              <m:supHide m:val="on"/>
                              <m:ctrlPr>
                                <a:rPr lang="en-US" sz="2000" i="1">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nary>
                        </m:num>
                        <m:den>
                          <m:r>
                            <a:rPr lang="en-US" sz="2000" i="1">
                              <a:latin typeface="Cambria Math" panose="02040503050406030204" pitchFamily="18" charset="0"/>
                            </a:rPr>
                            <m:t>𝑛</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3</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4</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5</m:t>
                                  </m:r>
                                </m:sub>
                              </m:sSub>
                            </m:e>
                          </m:nary>
                        </m:num>
                        <m:den>
                          <m:r>
                            <a:rPr lang="en-US" sz="2000" b="0" i="1" smtClean="0">
                              <a:latin typeface="Cambria Math" panose="02040503050406030204" pitchFamily="18" charset="0"/>
                            </a:rPr>
                            <m:t>𝑛</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46+54+42+46+32</m:t>
                          </m:r>
                        </m:num>
                        <m:den>
                          <m:r>
                            <a:rPr lang="en-US" sz="2000" b="0" i="1" smtClean="0">
                              <a:latin typeface="Cambria Math" panose="02040503050406030204" pitchFamily="18" charset="0"/>
                            </a:rPr>
                            <m:t>5</m:t>
                          </m:r>
                        </m:den>
                      </m:f>
                      <m:r>
                        <a:rPr lang="en-US" sz="2000" b="0" i="1" smtClean="0">
                          <a:latin typeface="Cambria Math" panose="02040503050406030204" pitchFamily="18" charset="0"/>
                        </a:rPr>
                        <m:t>=44</m:t>
                      </m:r>
                    </m:oMath>
                  </m:oMathPara>
                </a14:m>
                <a:endParaRPr lang="en-US" sz="2000" dirty="0"/>
              </a:p>
              <a:p>
                <a:pPr>
                  <a:spcBef>
                    <a:spcPts val="600"/>
                  </a:spcBef>
                  <a:spcAft>
                    <a:spcPts val="600"/>
                  </a:spcAft>
                </a:pPr>
                <a:r>
                  <a:rPr lang="en-US" sz="2000" dirty="0"/>
                  <a:t>The sample mean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is the point estimator of the </a:t>
                </a:r>
                <a:r>
                  <a:rPr lang="en-US" sz="2000" b="1" dirty="0"/>
                  <a:t>population mean</a:t>
                </a:r>
                <a:r>
                  <a:rPr lang="en-US" sz="2000" dirty="0"/>
                  <a:t>, 𝜇.</a:t>
                </a:r>
              </a:p>
              <a:p>
                <a:pPr marL="914400">
                  <a:spcBef>
                    <a:spcPts val="6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𝝁</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nary>
                            <m:naryPr>
                              <m:chr m:val="∑"/>
                              <m:subHide m:val="on"/>
                              <m:supHide m:val="on"/>
                              <m:ctrlPr>
                                <a:rPr lang="en-US" sz="2000" b="1" i="1" smtClean="0">
                                  <a:latin typeface="Cambria Math" panose="02040503050406030204" pitchFamily="18" charset="0"/>
                                </a:rPr>
                              </m:ctrlPr>
                            </m:naryPr>
                            <m:sub/>
                            <m:sup/>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𝒊</m:t>
                                  </m:r>
                                </m:sub>
                              </m:sSub>
                            </m:e>
                          </m:nary>
                        </m:num>
                        <m:den>
                          <m:r>
                            <a:rPr lang="en-US" sz="2000" b="1" i="1" smtClean="0">
                              <a:latin typeface="Cambria Math" panose="02040503050406030204" pitchFamily="18" charset="0"/>
                            </a:rPr>
                            <m:t>𝑵</m:t>
                          </m:r>
                        </m:den>
                      </m:f>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where</m:t>
                      </m:r>
                      <m:r>
                        <a:rPr lang="en-US" sz="2000" b="0" i="1" smtClean="0">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𝑁</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is</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the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size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of</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the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population</m:t>
                      </m:r>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321471"/>
                <a:ext cx="10711543" cy="4490607"/>
              </a:xfrm>
              <a:blipFill>
                <a:blip r:embed="rId2"/>
                <a:stretch>
                  <a:fillRect l="-1422" t="-1630" r="-1024"/>
                </a:stretch>
              </a:blipFill>
            </p:spPr>
            <p:txBody>
              <a:bodyPr/>
              <a:lstStyle/>
              <a:p>
                <a:r>
                  <a:rPr lang="en-US">
                    <a:noFill/>
                  </a:rPr>
                  <a:t> </a:t>
                </a:r>
              </a:p>
            </p:txBody>
          </p:sp>
        </mc:Fallback>
      </mc:AlternateContent>
    </p:spTree>
    <p:extLst>
      <p:ext uri="{BB962C8B-B14F-4D97-AF65-F5344CB8AC3E}">
        <p14:creationId xmlns:p14="http://schemas.microsoft.com/office/powerpoint/2010/main" val="898409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3368-6166-70A7-8520-F21D790261C0}"/>
              </a:ext>
            </a:extLst>
          </p:cNvPr>
          <p:cNvSpPr>
            <a:spLocks noGrp="1"/>
          </p:cNvSpPr>
          <p:nvPr>
            <p:ph type="title"/>
          </p:nvPr>
        </p:nvSpPr>
        <p:spPr/>
        <p:txBody>
          <a:bodyPr/>
          <a:lstStyle/>
          <a:p>
            <a:r>
              <a:rPr lang="en-US" sz="3200" dirty="0"/>
              <a:t>3.1 The Mean as the Center of Balance for the Dot Plot</a:t>
            </a:r>
          </a:p>
        </p:txBody>
      </p:sp>
      <p:sp>
        <p:nvSpPr>
          <p:cNvPr id="3" name="Text Placeholder 2">
            <a:extLst>
              <a:ext uri="{FF2B5EF4-FFF2-40B4-BE49-F238E27FC236}">
                <a16:creationId xmlns:a16="http://schemas.microsoft.com/office/drawing/2014/main" id="{FBB53B2E-B5EE-10CF-A31E-FF0BBE40842F}"/>
              </a:ext>
            </a:extLst>
          </p:cNvPr>
          <p:cNvSpPr>
            <a:spLocks noGrp="1"/>
          </p:cNvSpPr>
          <p:nvPr>
            <p:ph type="body" sz="quarter" idx="15"/>
          </p:nvPr>
        </p:nvSpPr>
        <p:spPr>
          <a:xfrm>
            <a:off x="743576" y="1545025"/>
            <a:ext cx="10610223" cy="1828800"/>
          </a:xfrm>
        </p:spPr>
        <p:txBody>
          <a:bodyPr/>
          <a:lstStyle/>
          <a:p>
            <a:r>
              <a:rPr lang="en-US" sz="2000" dirty="0"/>
              <a:t>If you view the horizontal axis of the dot plot as a long narrow board in which each of the dots has the same fixed weight, the mean is the fulcrum (or pivot point) that balances the dot plot. </a:t>
            </a:r>
          </a:p>
          <a:p>
            <a:r>
              <a:rPr lang="en-US" sz="2000" dirty="0"/>
              <a:t>This is how a see-saw on a playground works; the only difference is that the see-saw is pivoted in the middle so that as one end goes up, the other end goes down. </a:t>
            </a:r>
          </a:p>
          <a:p>
            <a:r>
              <a:rPr lang="en-US" sz="2000" dirty="0"/>
              <a:t>In the dot plot, we are locating the pivot point based on the location of the dots.</a:t>
            </a:r>
          </a:p>
        </p:txBody>
      </p:sp>
      <p:pic>
        <p:nvPicPr>
          <p:cNvPr id="6" name="Picture Placeholder 5" descr="A dot plot with five dots and a mean shows classroom data. The horizontal axis ranges from 30 to 55 with tickmarks in increments of 5. A triangle labeled x-bar is at 44. There is one dot at 32, one dot at 42, two dots at 46, and one dot at 54.&#10;">
            <a:extLst>
              <a:ext uri="{FF2B5EF4-FFF2-40B4-BE49-F238E27FC236}">
                <a16:creationId xmlns:a16="http://schemas.microsoft.com/office/drawing/2014/main" id="{AF0BAF00-29A2-AB07-6434-FB601FF9F36D}"/>
              </a:ext>
            </a:extLst>
          </p:cNvPr>
          <p:cNvPicPr>
            <a:picLocks noGrp="1" noChangeAspect="1"/>
          </p:cNvPicPr>
          <p:nvPr>
            <p:ph type="pic" sz="quarter" idx="16"/>
          </p:nvPr>
        </p:nvPicPr>
        <p:blipFill rotWithShape="1">
          <a:blip r:embed="rId2"/>
          <a:srcRect l="21" r="21"/>
          <a:stretch/>
        </p:blipFill>
        <p:spPr>
          <a:xfrm>
            <a:off x="2127250" y="3515712"/>
            <a:ext cx="7937500" cy="1828800"/>
          </a:xfrm>
        </p:spPr>
      </p:pic>
    </p:spTree>
    <p:extLst>
      <p:ext uri="{BB962C8B-B14F-4D97-AF65-F5344CB8AC3E}">
        <p14:creationId xmlns:p14="http://schemas.microsoft.com/office/powerpoint/2010/main" val="357841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3.1 Median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27810" y="1432217"/>
                <a:ext cx="10711543" cy="4245568"/>
              </a:xfrm>
            </p:spPr>
            <p:txBody>
              <a:bodyPr/>
              <a:lstStyle/>
              <a:p>
                <a:pPr>
                  <a:spcBef>
                    <a:spcPts val="600"/>
                  </a:spcBef>
                </a:pPr>
                <a:r>
                  <a:rPr lang="en-US" sz="2000" dirty="0"/>
                  <a:t>The </a:t>
                </a:r>
                <a:r>
                  <a:rPr lang="en-US" sz="2000" b="1" dirty="0"/>
                  <a:t>median</a:t>
                </a:r>
                <a:r>
                  <a:rPr lang="en-US" sz="2000" dirty="0"/>
                  <a:t> is the value in the middle of a data set when data are arranged in ascending order.</a:t>
                </a:r>
              </a:p>
              <a:p>
                <a:pPr>
                  <a:spcBef>
                    <a:spcPts val="600"/>
                  </a:spcBef>
                </a:pPr>
                <a:r>
                  <a:rPr lang="en-US" sz="2000" dirty="0"/>
                  <a:t>To compute the median, first arrange the data in ascending order (smallest to largest value.)</a:t>
                </a:r>
              </a:p>
              <a:p>
                <a:pPr marL="858838" indent="-457200">
                  <a:spcBef>
                    <a:spcPts val="600"/>
                  </a:spcBef>
                  <a:buFont typeface="+mj-lt"/>
                  <a:buAutoNum type="alphaLcPeriod"/>
                </a:pPr>
                <a:r>
                  <a:rPr lang="en-US" sz="2000" dirty="0"/>
                  <a:t>If </a:t>
                </a:r>
                <a:r>
                  <a:rPr lang="en-US" sz="2000" i="1" dirty="0"/>
                  <a:t>n</a:t>
                </a:r>
                <a:r>
                  <a:rPr lang="en-US" sz="2000" dirty="0"/>
                  <a:t> is </a:t>
                </a:r>
                <a:r>
                  <a:rPr lang="en-US" sz="2000" i="1" dirty="0"/>
                  <a:t>odd</a:t>
                </a:r>
                <a:r>
                  <a:rPr lang="en-US" sz="2000" dirty="0"/>
                  <a:t>, the median is the middle value.</a:t>
                </a:r>
              </a:p>
              <a:p>
                <a:pPr marL="858838" indent="-457200">
                  <a:spcBef>
                    <a:spcPts val="600"/>
                  </a:spcBef>
                  <a:spcAft>
                    <a:spcPts val="600"/>
                  </a:spcAft>
                  <a:buFont typeface="+mj-lt"/>
                  <a:buAutoNum type="alphaLcPeriod"/>
                </a:pPr>
                <a:r>
                  <a:rPr lang="en-US" sz="2000" dirty="0"/>
                  <a:t>If </a:t>
                </a:r>
                <a:r>
                  <a:rPr lang="en-US" sz="2000" i="1" dirty="0"/>
                  <a:t>n</a:t>
                </a:r>
                <a:r>
                  <a:rPr lang="en-US" sz="2000" dirty="0"/>
                  <a:t> is </a:t>
                </a:r>
                <a:r>
                  <a:rPr lang="en-US" sz="2000" i="1" dirty="0"/>
                  <a:t>even</a:t>
                </a:r>
                <a:r>
                  <a:rPr lang="en-US" sz="2000" dirty="0"/>
                  <a:t>, the median is the average of the two middle values.</a:t>
                </a:r>
              </a:p>
              <a:p>
                <a:pPr>
                  <a:spcBef>
                    <a:spcPts val="600"/>
                  </a:spcBef>
                </a:pPr>
                <a:r>
                  <a:rPr lang="en-US" sz="2000" b="1" dirty="0"/>
                  <a:t>Example</a:t>
                </a:r>
                <a:r>
                  <a:rPr lang="en-US" sz="2000" dirty="0"/>
                  <a:t>: consider the starting monthly salary for 12 business graduates.</a:t>
                </a:r>
              </a:p>
              <a:p>
                <a:pPr>
                  <a:spcBef>
                    <a:spcPts val="600"/>
                  </a:spcBef>
                  <a:spcAft>
                    <a:spcPts val="0"/>
                  </a:spcAft>
                </a:pPr>
                <a:r>
                  <a:rPr lang="en-US" sz="2000" dirty="0"/>
                  <a:t>First, we arrange the data in ascending order:</a:t>
                </a:r>
              </a:p>
              <a:p>
                <a:pPr algn="ctr">
                  <a:spcBef>
                    <a:spcPts val="600"/>
                  </a:spcBef>
                  <a:spcAft>
                    <a:spcPts val="0"/>
                  </a:spcAft>
                </a:pPr>
                <a:r>
                  <a:rPr lang="en-US" sz="2000" dirty="0"/>
                  <a:t>5710    5755    5850    5880    5880    </a:t>
                </a:r>
                <a:r>
                  <a:rPr lang="en-US" sz="2000" dirty="0">
                    <a:highlight>
                      <a:srgbClr val="FFFF00"/>
                    </a:highlight>
                  </a:rPr>
                  <a:t>5890    5920</a:t>
                </a:r>
                <a:r>
                  <a:rPr lang="en-US" sz="2000" dirty="0"/>
                  <a:t>    5940    5950    6050    6130    6325</a:t>
                </a:r>
              </a:p>
              <a:p>
                <a:pPr>
                  <a:spcBef>
                    <a:spcPts val="600"/>
                  </a:spcBef>
                  <a:spcAft>
                    <a:spcPts val="600"/>
                  </a:spcAft>
                </a:pPr>
                <a:r>
                  <a:rPr lang="en-US" sz="2000" dirty="0"/>
                  <a:t>Because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=12</m:t>
                    </m:r>
                  </m:oMath>
                </a14:m>
                <a:r>
                  <a:rPr lang="en-US" sz="2000" dirty="0"/>
                  <a:t> is even, the median is the average of the 6</a:t>
                </a:r>
                <a:r>
                  <a:rPr lang="en-US" sz="2000" baseline="30000" dirty="0"/>
                  <a:t>th</a:t>
                </a:r>
                <a:r>
                  <a:rPr lang="en-US" sz="2000" dirty="0"/>
                  <a:t> and 7</a:t>
                </a:r>
                <a:r>
                  <a:rPr lang="en-US" sz="2000" baseline="30000" dirty="0"/>
                  <a:t>th</a:t>
                </a:r>
                <a:r>
                  <a:rPr lang="en-US" sz="2000" dirty="0"/>
                  <a:t> (</a:t>
                </a:r>
                <a:r>
                  <a:rPr lang="en-US" sz="2000" dirty="0">
                    <a:highlight>
                      <a:srgbClr val="FFFF00"/>
                    </a:highlight>
                  </a:rPr>
                  <a:t>middle</a:t>
                </a:r>
                <a:r>
                  <a:rPr lang="en-US" sz="2000" dirty="0"/>
                  <a:t>) values.</a:t>
                </a:r>
              </a:p>
              <a:p>
                <a:pPr marL="4572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𝑀𝑒𝑑𝑖𝑎𝑛</m:t>
                      </m:r>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r>
                                <a:rPr lang="en-US" sz="2000" b="0" i="1" smtClean="0">
                                  <a:latin typeface="Cambria Math" panose="02040503050406030204" pitchFamily="18" charset="0"/>
                                </a:rPr>
                                <m:t>5890+5920</m:t>
                              </m:r>
                            </m:e>
                          </m:d>
                        </m:num>
                        <m:den>
                          <m:r>
                            <a:rPr lang="en-US" sz="2000" b="0" i="1" smtClean="0">
                              <a:latin typeface="Cambria Math" panose="02040503050406030204" pitchFamily="18" charset="0"/>
                            </a:rPr>
                            <m:t>2</m:t>
                          </m:r>
                        </m:den>
                      </m:f>
                      <m:r>
                        <a:rPr lang="en-US" sz="2000" b="0" i="1" smtClean="0">
                          <a:latin typeface="Cambria Math" panose="02040503050406030204" pitchFamily="18" charset="0"/>
                        </a:rPr>
                        <m:t>=5905</m:t>
                      </m:r>
                    </m:oMath>
                  </m:oMathPara>
                </a14:m>
                <a:endParaRPr lang="en-US" sz="2000" dirty="0"/>
              </a:p>
              <a:p>
                <a:pPr>
                  <a:spcBef>
                    <a:spcPts val="600"/>
                  </a:spcBef>
                  <a:spcAft>
                    <a:spcPts val="600"/>
                  </a:spcAft>
                </a:pPr>
                <a:r>
                  <a:rPr lang="en-US" sz="2000" dirty="0"/>
                  <a:t>Because the mean is influenced by extremely small and large data values, the median is the preferred measure of central location to report annual income and property value data.</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27810" y="1432217"/>
                <a:ext cx="10711543" cy="4245568"/>
              </a:xfrm>
              <a:blipFill>
                <a:blip r:embed="rId3"/>
                <a:stretch>
                  <a:fillRect l="-1422" t="-1724" r="-1365" b="-2443"/>
                </a:stretch>
              </a:blipFill>
            </p:spPr>
            <p:txBody>
              <a:bodyPr/>
              <a:lstStyle/>
              <a:p>
                <a:r>
                  <a:rPr lang="en-US">
                    <a:noFill/>
                  </a:rPr>
                  <a:t> </a:t>
                </a:r>
              </a:p>
            </p:txBody>
          </p:sp>
        </mc:Fallback>
      </mc:AlternateContent>
    </p:spTree>
    <p:extLst>
      <p:ext uri="{BB962C8B-B14F-4D97-AF65-F5344CB8AC3E}">
        <p14:creationId xmlns:p14="http://schemas.microsoft.com/office/powerpoint/2010/main" val="1955149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3.1 Mode</a:t>
            </a:r>
          </a:p>
        </p:txBody>
      </p:sp>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27810" y="1576552"/>
            <a:ext cx="10711543" cy="3917732"/>
          </a:xfrm>
        </p:spPr>
        <p:txBody>
          <a:bodyPr/>
          <a:lstStyle/>
          <a:p>
            <a:pPr>
              <a:spcBef>
                <a:spcPts val="600"/>
              </a:spcBef>
              <a:spcAft>
                <a:spcPts val="1200"/>
              </a:spcAft>
            </a:pPr>
            <a:r>
              <a:rPr lang="en-US" sz="2000" dirty="0"/>
              <a:t>The </a:t>
            </a:r>
            <a:r>
              <a:rPr lang="en-US" sz="2000" b="1" dirty="0"/>
              <a:t>mode</a:t>
            </a:r>
            <a:r>
              <a:rPr lang="en-US" sz="2000" dirty="0"/>
              <a:t> of a data set is the value that occurs with the greatest frequency.</a:t>
            </a:r>
          </a:p>
          <a:p>
            <a:pPr>
              <a:spcBef>
                <a:spcPts val="600"/>
              </a:spcBef>
            </a:pPr>
            <a:r>
              <a:rPr lang="en-US" sz="2000" b="1" dirty="0"/>
              <a:t>Example</a:t>
            </a:r>
            <a:r>
              <a:rPr lang="en-US" sz="2000" dirty="0"/>
              <a:t>: consider again the starting monthly salary for 12 business graduates.</a:t>
            </a:r>
          </a:p>
          <a:p>
            <a:pPr algn="ctr">
              <a:spcBef>
                <a:spcPts val="600"/>
              </a:spcBef>
              <a:spcAft>
                <a:spcPts val="600"/>
              </a:spcAft>
            </a:pPr>
            <a:r>
              <a:rPr lang="en-US" sz="2000" dirty="0"/>
              <a:t>5710    5755    5850    </a:t>
            </a:r>
            <a:r>
              <a:rPr lang="en-US" sz="2000" dirty="0">
                <a:highlight>
                  <a:srgbClr val="FFFF00"/>
                </a:highlight>
              </a:rPr>
              <a:t>5880</a:t>
            </a:r>
            <a:r>
              <a:rPr lang="en-US" sz="2000" dirty="0"/>
              <a:t>    </a:t>
            </a:r>
            <a:r>
              <a:rPr lang="en-US" sz="2000" dirty="0">
                <a:highlight>
                  <a:srgbClr val="FFFF00"/>
                </a:highlight>
              </a:rPr>
              <a:t>5880</a:t>
            </a:r>
            <a:r>
              <a:rPr lang="en-US" sz="2000" dirty="0"/>
              <a:t>    5890    5920    5940    5950    6050    6130    6325</a:t>
            </a:r>
          </a:p>
          <a:p>
            <a:pPr>
              <a:spcBef>
                <a:spcPts val="600"/>
              </a:spcBef>
              <a:spcAft>
                <a:spcPts val="1200"/>
              </a:spcAft>
            </a:pPr>
            <a:r>
              <a:rPr lang="en-US" sz="2000" dirty="0"/>
              <a:t>$5,880 is the mode because it is the only monthly starting salary that occurs more than once.</a:t>
            </a:r>
          </a:p>
          <a:p>
            <a:pPr>
              <a:spcBef>
                <a:spcPts val="600"/>
              </a:spcBef>
              <a:spcAft>
                <a:spcPts val="0"/>
              </a:spcAft>
            </a:pPr>
            <a:r>
              <a:rPr lang="en-US" sz="2000" dirty="0"/>
              <a:t>It may happen that the greatest frequency occurs at two or more different values.</a:t>
            </a:r>
          </a:p>
          <a:p>
            <a:pPr>
              <a:spcBef>
                <a:spcPts val="600"/>
              </a:spcBef>
              <a:spcAft>
                <a:spcPts val="0"/>
              </a:spcAft>
            </a:pPr>
            <a:r>
              <a:rPr lang="en-US" sz="2000" dirty="0"/>
              <a:t>In these instances, more than one mode exists.</a:t>
            </a:r>
          </a:p>
          <a:p>
            <a:pPr>
              <a:spcBef>
                <a:spcPts val="600"/>
              </a:spcBef>
              <a:spcAft>
                <a:spcPts val="0"/>
              </a:spcAft>
            </a:pPr>
            <a:r>
              <a:rPr lang="en-US" sz="2000" dirty="0"/>
              <a:t>In the presence of multiple modes, we define the following two cases: </a:t>
            </a:r>
          </a:p>
          <a:p>
            <a:pPr marL="914400" indent="-342900">
              <a:spcBef>
                <a:spcPts val="600"/>
              </a:spcBef>
              <a:spcAft>
                <a:spcPts val="0"/>
              </a:spcAft>
              <a:buFont typeface="Arial" panose="020B0604020202020204" pitchFamily="34" charset="0"/>
              <a:buChar char="•"/>
            </a:pPr>
            <a:r>
              <a:rPr lang="en-US" sz="2000" dirty="0"/>
              <a:t>If the data have exactly two modes, the data are said to be </a:t>
            </a:r>
            <a:r>
              <a:rPr lang="en-US" sz="2000" i="1" dirty="0"/>
              <a:t>bimodal</a:t>
            </a:r>
            <a:r>
              <a:rPr lang="en-US" sz="2000" dirty="0"/>
              <a:t>.</a:t>
            </a:r>
          </a:p>
          <a:p>
            <a:pPr marL="914400" indent="-342900">
              <a:spcBef>
                <a:spcPts val="600"/>
              </a:spcBef>
              <a:spcAft>
                <a:spcPts val="1200"/>
              </a:spcAft>
              <a:buFont typeface="Arial" panose="020B0604020202020204" pitchFamily="34" charset="0"/>
              <a:buChar char="•"/>
            </a:pPr>
            <a:r>
              <a:rPr lang="en-US" sz="2000" dirty="0"/>
              <a:t>If the data have more than two modes, the data are said to be </a:t>
            </a:r>
            <a:r>
              <a:rPr lang="en-US" sz="2000" i="1" dirty="0"/>
              <a:t>multimodal</a:t>
            </a:r>
            <a:r>
              <a:rPr lang="en-US" sz="2000" dirty="0"/>
              <a:t>.</a:t>
            </a:r>
          </a:p>
        </p:txBody>
      </p:sp>
    </p:spTree>
    <p:extLst>
      <p:ext uri="{BB962C8B-B14F-4D97-AF65-F5344CB8AC3E}">
        <p14:creationId xmlns:p14="http://schemas.microsoft.com/office/powerpoint/2010/main" val="1136858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dirty="0">
                <a:solidFill>
                  <a:srgbClr val="25894E"/>
                </a:solidFill>
              </a:rPr>
              <a:t>3.1 Excel: Compute Mean, Median, and Mode</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272845"/>
            <a:ext cx="10610223" cy="4560886"/>
          </a:xfrm>
        </p:spPr>
        <p:txBody>
          <a:bodyPr/>
          <a:lstStyle/>
          <a:p>
            <a:r>
              <a:rPr lang="en-US" sz="2000" b="1" dirty="0"/>
              <a:t>Enter/Access Data</a:t>
            </a:r>
            <a:r>
              <a:rPr lang="en-US" sz="2000" dirty="0"/>
              <a:t>: Open the file </a:t>
            </a:r>
            <a:r>
              <a:rPr lang="en-US" sz="2000" i="1" dirty="0" err="1"/>
              <a:t>startingsalaries</a:t>
            </a:r>
            <a:r>
              <a:rPr lang="en-US" sz="2000" dirty="0"/>
              <a:t>. Data and labels are in cells A1:B13.</a:t>
            </a:r>
          </a:p>
          <a:p>
            <a:r>
              <a:rPr lang="en-US" sz="2000" b="1" dirty="0"/>
              <a:t>Enter Functions and Formulas</a:t>
            </a:r>
            <a:r>
              <a:rPr lang="en-US" sz="2000" dirty="0"/>
              <a:t>: The following functions can be used to compute mean, median, and mode:</a:t>
            </a:r>
            <a:endParaRPr lang="en-US" sz="1800" dirty="0"/>
          </a:p>
          <a:p>
            <a:pPr marL="1141413" indent="-914400"/>
            <a:r>
              <a:rPr lang="en-US" sz="2000" b="1" dirty="0"/>
              <a:t>Mean</a:t>
            </a:r>
            <a:r>
              <a:rPr lang="en-US" sz="2000" dirty="0"/>
              <a:t>	</a:t>
            </a:r>
            <a:r>
              <a:rPr lang="en-US" sz="2000" i="1" dirty="0"/>
              <a:t>=AVERAGE(B2:B13)</a:t>
            </a:r>
          </a:p>
          <a:p>
            <a:pPr marL="1141413" indent="-914400"/>
            <a:r>
              <a:rPr lang="en-US" sz="2000" b="1" dirty="0"/>
              <a:t>Median	</a:t>
            </a:r>
            <a:r>
              <a:rPr lang="en-US" sz="2000" i="1" dirty="0"/>
              <a:t>=MEDIAN(B2:B13)</a:t>
            </a:r>
          </a:p>
          <a:p>
            <a:pPr marL="1141413" indent="-914400"/>
            <a:r>
              <a:rPr lang="en-US" sz="2000" b="1" dirty="0"/>
              <a:t>Mode</a:t>
            </a:r>
            <a:r>
              <a:rPr lang="en-US" sz="2000" dirty="0"/>
              <a:t>	</a:t>
            </a:r>
            <a:r>
              <a:rPr lang="en-US" sz="2000" i="1" dirty="0"/>
              <a:t>=MODE.SINGL(B2:B13)</a:t>
            </a:r>
            <a:endParaRPr lang="en-US" i="1" dirty="0"/>
          </a:p>
        </p:txBody>
      </p:sp>
      <p:pic>
        <p:nvPicPr>
          <p:cNvPr id="12" name="Picture Placeholder 11" descr="Two screenshots show an Excel spreadsheet used to compute the mean, median, and mode for the starting salary data. In both spreadsheets, column A is labeled Graduate, and column B is labeled Monthly Starting Salary in dollars. The entries in rows 2 through 13 are as follows. Row 2: Graduate, 1; Salary, 5850. Row 3: Graduate, 2; Salary, 5950. Row 4: Graduate, 3; Salary, 6050. Row 5: Graduate, 4; Salary, 5880. Row 6: Graduate, 5; Salary, 5755. Row 7: Graduate, 6; Salary, 5710. Row 8: Graduate, 7; Salary, 5890. Row 9: Graduate, 8; Salary, 6130. Row 10: Graduate, 9; Salary, 5940. Row 11: Graduate, 10; Salary, 6325. Row 12: Graduate, 11; Salary, 5920. Row 13: Graduate, 12; Salary, 5880. In the first spreadsheet, the cell entries are as follows. D2: Mean; E2: = AVERAGE(B2:B13). D3: Median; E3: = MEDIAN(B2:B13). D4: Mode; E4: = MODE. S N G L(B2:B13). In the second spreadsheet, the cell entries are as follows. D2: Mean; E2: 5940. D3: Median; E3: 5905. D4: Mode; E4: 5880.">
            <a:extLst>
              <a:ext uri="{FF2B5EF4-FFF2-40B4-BE49-F238E27FC236}">
                <a16:creationId xmlns:a16="http://schemas.microsoft.com/office/drawing/2014/main" id="{BF878133-189C-68EA-251B-28E33F9E2E4A}"/>
              </a:ext>
            </a:extLst>
          </p:cNvPr>
          <p:cNvPicPr>
            <a:picLocks noGrp="1" noChangeAspect="1"/>
          </p:cNvPicPr>
          <p:nvPr>
            <p:ph type="pic" sz="quarter" idx="16"/>
          </p:nvPr>
        </p:nvPicPr>
        <p:blipFill>
          <a:blip r:embed="rId3"/>
          <a:srcRect l="10" r="10"/>
          <a:stretch/>
        </p:blipFill>
        <p:spPr>
          <a:xfrm>
            <a:off x="4722072" y="2163459"/>
            <a:ext cx="6721475" cy="3502025"/>
          </a:xfrm>
          <a:ln>
            <a:solidFill>
              <a:srgbClr val="000000"/>
            </a:solidFill>
          </a:ln>
        </p:spPr>
      </p:pic>
    </p:spTree>
    <p:extLst>
      <p:ext uri="{BB962C8B-B14F-4D97-AF65-F5344CB8AC3E}">
        <p14:creationId xmlns:p14="http://schemas.microsoft.com/office/powerpoint/2010/main" val="2191004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9A2D-937A-7FEF-39B6-1454A84C4633}"/>
              </a:ext>
            </a:extLst>
          </p:cNvPr>
          <p:cNvSpPr>
            <a:spLocks noGrp="1"/>
          </p:cNvSpPr>
          <p:nvPr>
            <p:ph type="title"/>
          </p:nvPr>
        </p:nvSpPr>
        <p:spPr/>
        <p:txBody>
          <a:bodyPr/>
          <a:lstStyle/>
          <a:p>
            <a:r>
              <a:rPr lang="en-US" dirty="0"/>
              <a:t>3.1 Weighted Mean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9355C59-8D17-D189-1796-4947F71B6284}"/>
                  </a:ext>
                </a:extLst>
              </p:cNvPr>
              <p:cNvSpPr>
                <a:spLocks noGrp="1"/>
              </p:cNvSpPr>
              <p:nvPr>
                <p:ph type="body" sz="quarter" idx="15"/>
              </p:nvPr>
            </p:nvSpPr>
            <p:spPr>
              <a:xfrm>
                <a:off x="793194" y="1320326"/>
                <a:ext cx="10560606" cy="2231227"/>
              </a:xfrm>
            </p:spPr>
            <p:txBody>
              <a:bodyPr>
                <a:normAutofit/>
              </a:bodyPr>
              <a:lstStyle/>
              <a:p>
                <a:pPr>
                  <a:lnSpc>
                    <a:spcPct val="100000"/>
                  </a:lnSpc>
                  <a:spcBef>
                    <a:spcPts val="600"/>
                  </a:spcBef>
                </a:pPr>
                <a:r>
                  <a:rPr lang="en-US" sz="2000" dirty="0"/>
                  <a:t>In the formula for the mean, each data is given equal importance or weight.</a:t>
                </a:r>
              </a:p>
              <a:p>
                <a:pPr>
                  <a:lnSpc>
                    <a:spcPct val="100000"/>
                  </a:lnSpc>
                  <a:spcBef>
                    <a:spcPts val="600"/>
                  </a:spcBef>
                </a:pPr>
                <a:r>
                  <a:rPr lang="en-US" sz="2000" dirty="0"/>
                  <a:t>In those instances where the mean is computed by giving each observation a weight that reflects its relative importance, we can calculate the </a:t>
                </a:r>
                <a:r>
                  <a:rPr lang="en-US" sz="2000" b="1" dirty="0"/>
                  <a:t>weighted mean </a:t>
                </a:r>
                <a:r>
                  <a:rPr lang="en-US" sz="2000" dirty="0"/>
                  <a:t>instead.</a:t>
                </a:r>
              </a:p>
              <a:p>
                <a:pPr>
                  <a:lnSpc>
                    <a:spcPct val="100000"/>
                  </a:lnSpc>
                  <a:spcBef>
                    <a:spcPts val="600"/>
                  </a:spcBef>
                  <a:spcAft>
                    <a:spcPts val="600"/>
                  </a:spcAft>
                </a:pPr>
                <a:r>
                  <a:rPr lang="en-US" sz="2000" dirty="0"/>
                  <a:t>For a sample with </a:t>
                </a:r>
                <a:r>
                  <a:rPr lang="en-US" sz="2000" i="1" dirty="0"/>
                  <a:t>n</a:t>
                </a:r>
                <a:r>
                  <a:rPr lang="en-US" sz="2000" dirty="0"/>
                  <a:t> observations and weights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i="1">
                            <a:latin typeface="Cambria Math" panose="02040503050406030204" pitchFamily="18" charset="0"/>
                          </a:rPr>
                          <m:t>𝑖</m:t>
                        </m:r>
                      </m:sub>
                    </m:sSub>
                  </m:oMath>
                </a14:m>
                <a:r>
                  <a:rPr lang="en-US" sz="2000" dirty="0"/>
                  <a:t>, the formula for the weighted mean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nary>
                            <m:naryPr>
                              <m:chr m:val="∑"/>
                              <m:subHide m:val="on"/>
                              <m:supHide m:val="on"/>
                              <m:ctrlPr>
                                <a:rPr lang="en-US" sz="2000" b="1" i="1" smtClean="0">
                                  <a:latin typeface="Cambria Math" panose="02040503050406030204" pitchFamily="18" charset="0"/>
                                </a:rPr>
                              </m:ctrlPr>
                            </m:naryPr>
                            <m:sub/>
                            <m:sup/>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𝒘</m:t>
                                  </m:r>
                                </m:e>
                                <m:sub>
                                  <m:r>
                                    <a:rPr lang="en-US" sz="2000" b="1" i="1" smtClean="0">
                                      <a:latin typeface="Cambria Math" panose="02040503050406030204" pitchFamily="18" charset="0"/>
                                    </a:rPr>
                                    <m:t>𝒊</m:t>
                                  </m:r>
                                </m:sub>
                              </m:sSub>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𝒊</m:t>
                                  </m:r>
                                </m:sub>
                              </m:sSub>
                            </m:e>
                          </m:nary>
                        </m:num>
                        <m:den>
                          <m:nary>
                            <m:naryPr>
                              <m:chr m:val="∑"/>
                              <m:subHide m:val="on"/>
                              <m:supHide m:val="on"/>
                              <m:ctrlPr>
                                <a:rPr lang="en-US" sz="2000" b="1" i="1">
                                  <a:latin typeface="Cambria Math" panose="02040503050406030204" pitchFamily="18" charset="0"/>
                                </a:rPr>
                              </m:ctrlPr>
                            </m:naryPr>
                            <m:sub/>
                            <m:sup/>
                            <m:e>
                              <m:sSub>
                                <m:sSubPr>
                                  <m:ctrlPr>
                                    <a:rPr lang="en-US" sz="2000" b="1" i="1">
                                      <a:latin typeface="Cambria Math" panose="02040503050406030204" pitchFamily="18" charset="0"/>
                                    </a:rPr>
                                  </m:ctrlPr>
                                </m:sSubPr>
                                <m:e>
                                  <m:r>
                                    <a:rPr lang="en-US" sz="2000" b="1" i="1">
                                      <a:latin typeface="Cambria Math" panose="02040503050406030204" pitchFamily="18" charset="0"/>
                                    </a:rPr>
                                    <m:t>𝒘</m:t>
                                  </m:r>
                                </m:e>
                                <m:sub>
                                  <m:r>
                                    <a:rPr lang="en-US" sz="2000" b="1" i="1">
                                      <a:latin typeface="Cambria Math" panose="02040503050406030204" pitchFamily="18" charset="0"/>
                                    </a:rPr>
                                    <m:t>𝒊</m:t>
                                  </m:r>
                                </m:sub>
                              </m:sSub>
                            </m:e>
                          </m:nary>
                        </m:den>
                      </m:f>
                    </m:oMath>
                  </m:oMathPara>
                </a14:m>
                <a:endParaRPr lang="en-US" sz="2000" dirty="0"/>
              </a:p>
              <a:p>
                <a:pPr>
                  <a:lnSpc>
                    <a:spcPct val="110000"/>
                  </a:lnSpc>
                  <a:spcBef>
                    <a:spcPts val="600"/>
                  </a:spcBef>
                  <a:spcAft>
                    <a:spcPts val="600"/>
                  </a:spcAft>
                </a:pPr>
                <a:endParaRPr lang="en-US" sz="2000" dirty="0"/>
              </a:p>
            </p:txBody>
          </p:sp>
        </mc:Choice>
        <mc:Fallback xmlns="">
          <p:sp>
            <p:nvSpPr>
              <p:cNvPr id="3" name="Text Placeholder 2">
                <a:extLst>
                  <a:ext uri="{FF2B5EF4-FFF2-40B4-BE49-F238E27FC236}">
                    <a16:creationId xmlns:a16="http://schemas.microsoft.com/office/drawing/2014/main" id="{19355C59-8D17-D189-1796-4947F71B6284}"/>
                  </a:ext>
                </a:extLst>
              </p:cNvPr>
              <p:cNvSpPr>
                <a:spLocks noGrp="1" noRot="1" noChangeAspect="1" noMove="1" noResize="1" noEditPoints="1" noAdjustHandles="1" noChangeArrowheads="1" noChangeShapeType="1" noTextEdit="1"/>
              </p:cNvSpPr>
              <p:nvPr>
                <p:ph type="body" sz="quarter" idx="15"/>
              </p:nvPr>
            </p:nvSpPr>
            <p:spPr>
              <a:xfrm>
                <a:off x="793194" y="1320326"/>
                <a:ext cx="10560606" cy="2231227"/>
              </a:xfrm>
              <a:blipFill>
                <a:blip r:embed="rId3"/>
                <a:stretch>
                  <a:fillRect l="-1443" t="-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F6DDF0B-47DE-0818-C4E8-0D90DFFB599E}"/>
                  </a:ext>
                </a:extLst>
              </p:cNvPr>
              <p:cNvSpPr>
                <a:spLocks noGrp="1"/>
              </p:cNvSpPr>
              <p:nvPr>
                <p:ph type="body" sz="quarter" idx="18"/>
              </p:nvPr>
            </p:nvSpPr>
            <p:spPr>
              <a:xfrm>
                <a:off x="793193" y="3551553"/>
                <a:ext cx="10560607" cy="2232282"/>
              </a:xfrm>
            </p:spPr>
            <p:txBody>
              <a:bodyPr>
                <a:normAutofit/>
              </a:bodyPr>
              <a:lstStyle/>
              <a:p>
                <a:pPr>
                  <a:lnSpc>
                    <a:spcPct val="100000"/>
                  </a:lnSpc>
                  <a:spcBef>
                    <a:spcPts val="600"/>
                  </a:spcBef>
                  <a:spcAft>
                    <a:spcPts val="0"/>
                  </a:spcAft>
                </a:pPr>
                <a:r>
                  <a:rPr lang="en-US" sz="2000" b="1" dirty="0"/>
                  <a:t>Example</a:t>
                </a:r>
                <a:r>
                  <a:rPr lang="en-US" sz="2000" dirty="0"/>
                  <a:t>: calculate the weighted mean for a sample</a:t>
                </a:r>
              </a:p>
              <a:p>
                <a:pPr>
                  <a:lnSpc>
                    <a:spcPct val="100000"/>
                  </a:lnSpc>
                  <a:spcBef>
                    <a:spcPts val="0"/>
                  </a:spcBef>
                  <a:spcAft>
                    <a:spcPts val="600"/>
                  </a:spcAft>
                </a:pPr>
                <a:r>
                  <a:rPr lang="en-US" sz="2000" dirty="0"/>
                  <a:t>of five purchases of raw materials listed to the right.</a:t>
                </a:r>
              </a:p>
              <a:p>
                <a:pPr marL="512763">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nary>
                            <m:naryPr>
                              <m:chr m:val="∑"/>
                              <m:subHide m:val="on"/>
                              <m:supHide m:val="on"/>
                              <m:ctrlPr>
                                <a:rPr lang="en-US" sz="2000" i="1" smtClean="0">
                                  <a:latin typeface="Cambria Math" panose="02040503050406030204" pitchFamily="18" charset="0"/>
                                </a:rPr>
                              </m:ctrlPr>
                            </m:naryPr>
                            <m:sub/>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i="1">
                                      <a:latin typeface="Cambria Math" panose="02040503050406030204" pitchFamily="18" charset="0"/>
                                    </a:rPr>
                                  </m:ctrlPr>
                                </m:sSubPr>
                                <m:e>
                                  <m:r>
                                    <a:rPr lang="en-US" sz="2000" b="0" i="1">
                                      <a:latin typeface="Cambria Math" panose="02040503050406030204" pitchFamily="18" charset="0"/>
                                    </a:rPr>
                                    <m:t>𝑥</m:t>
                                  </m:r>
                                </m:e>
                                <m:sub>
                                  <m:r>
                                    <a:rPr lang="en-US" sz="2000" b="0" i="1">
                                      <a:latin typeface="Cambria Math" panose="02040503050406030204" pitchFamily="18" charset="0"/>
                                    </a:rPr>
                                    <m:t>𝑖</m:t>
                                  </m:r>
                                </m:sub>
                              </m:sSub>
                            </m:e>
                          </m:nary>
                        </m:num>
                        <m:den>
                          <m:nary>
                            <m:naryPr>
                              <m:chr m:val="∑"/>
                              <m:subHide m:val="on"/>
                              <m:supHide m:val="on"/>
                              <m:ctrlPr>
                                <a:rPr lang="en-US" sz="2000" i="1">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b="0" i="1">
                                      <a:latin typeface="Cambria Math" panose="02040503050406030204" pitchFamily="18" charset="0"/>
                                    </a:rPr>
                                    <m:t>𝑤</m:t>
                                  </m:r>
                                </m:e>
                                <m:sub>
                                  <m:r>
                                    <a:rPr lang="en-US" sz="2000" b="0" i="1">
                                      <a:latin typeface="Cambria Math" panose="02040503050406030204" pitchFamily="18" charset="0"/>
                                    </a:rPr>
                                    <m:t>𝑖</m:t>
                                  </m:r>
                                </m:sub>
                              </m:sSub>
                            </m:e>
                          </m:nary>
                        </m:den>
                      </m:f>
                      <m:r>
                        <a:rPr lang="en-US" sz="2000" b="0" i="1" smtClean="0">
                          <a:latin typeface="Cambria Math" panose="02040503050406030204" pitchFamily="18" charset="0"/>
                        </a:rPr>
                        <m:t>=</m:t>
                      </m:r>
                    </m:oMath>
                  </m:oMathPara>
                </a14:m>
                <a:endParaRPr lang="en-US" sz="2000" b="0" i="1" dirty="0">
                  <a:latin typeface="Cambria Math" panose="02040503050406030204" pitchFamily="18" charset="0"/>
                </a:endParaRPr>
              </a:p>
              <a:p>
                <a:pPr marL="512763">
                  <a:lnSpc>
                    <a:spcPct val="100000"/>
                  </a:lnSpc>
                  <a:spcBef>
                    <a:spcPts val="600"/>
                  </a:spcBef>
                  <a:spcAft>
                    <a:spcPts val="600"/>
                  </a:spcAft>
                </a:pPr>
                <a14:m>
                  <m:oMathPara xmlns:m="http://schemas.openxmlformats.org/officeDocument/2006/math">
                    <m:oMathParaPr>
                      <m:jc m:val="left"/>
                    </m:oMathParaPr>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3.00</m:t>
                              </m:r>
                            </m:e>
                          </m:d>
                          <m:r>
                            <a:rPr lang="en-US" sz="2000" b="0" i="1" smtClean="0">
                              <a:latin typeface="Cambria Math" panose="02040503050406030204" pitchFamily="18" charset="0"/>
                            </a:rPr>
                            <m:t>+500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3.40</m:t>
                              </m:r>
                            </m:e>
                          </m:d>
                          <m:r>
                            <a:rPr lang="en-US" sz="2000" b="0" i="1" smtClean="0">
                              <a:latin typeface="Cambria Math" panose="02040503050406030204" pitchFamily="18" charset="0"/>
                            </a:rPr>
                            <m:t>+2,750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2.80</m:t>
                              </m:r>
                            </m:e>
                          </m:d>
                          <m:r>
                            <a:rPr lang="en-US" sz="2000" b="0" i="1" smtClean="0">
                              <a:latin typeface="Cambria Math" panose="02040503050406030204" pitchFamily="18" charset="0"/>
                            </a:rPr>
                            <m:t>+1,000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2.95</m:t>
                              </m:r>
                            </m:e>
                          </m:d>
                          <m:r>
                            <a:rPr lang="en-US" sz="2000" b="0" i="1" smtClean="0">
                              <a:latin typeface="Cambria Math" panose="02040503050406030204" pitchFamily="18" charset="0"/>
                            </a:rPr>
                            <m:t>+800(3.25)</m:t>
                          </m:r>
                        </m:num>
                        <m:den>
                          <m:r>
                            <a:rPr lang="en-US" sz="2000" b="0" i="1" smtClean="0">
                              <a:latin typeface="Cambria Math" panose="02040503050406030204" pitchFamily="18" charset="0"/>
                            </a:rPr>
                            <m:t>1,200+500+2,750+1,000+800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18,500</m:t>
                          </m:r>
                        </m:num>
                        <m:den>
                          <m:r>
                            <a:rPr lang="en-US" sz="2000" b="0" i="1" smtClean="0">
                              <a:latin typeface="Cambria Math" panose="02040503050406030204" pitchFamily="18" charset="0"/>
                            </a:rPr>
                            <m:t>6,250</m:t>
                          </m:r>
                        </m:den>
                      </m:f>
                      <m:r>
                        <a:rPr lang="en-US" sz="2000" b="0" i="1" smtClean="0">
                          <a:latin typeface="Cambria Math" panose="02040503050406030204" pitchFamily="18" charset="0"/>
                        </a:rPr>
                        <m:t>=$2.96</m:t>
                      </m:r>
                    </m:oMath>
                  </m:oMathPara>
                </a14:m>
                <a:endParaRPr lang="en-US" sz="2000" dirty="0"/>
              </a:p>
              <a:p>
                <a:pPr>
                  <a:lnSpc>
                    <a:spcPct val="100000"/>
                  </a:lnSpc>
                  <a:spcBef>
                    <a:spcPts val="600"/>
                  </a:spcBef>
                </a:pPr>
                <a:endParaRPr lang="en-US" sz="2000" dirty="0"/>
              </a:p>
            </p:txBody>
          </p:sp>
        </mc:Choice>
        <mc:Fallback xmlns="">
          <p:sp>
            <p:nvSpPr>
              <p:cNvPr id="4" name="Text Placeholder 3">
                <a:extLst>
                  <a:ext uri="{FF2B5EF4-FFF2-40B4-BE49-F238E27FC236}">
                    <a16:creationId xmlns:a16="http://schemas.microsoft.com/office/drawing/2014/main" id="{BF6DDF0B-47DE-0818-C4E8-0D90DFFB599E}"/>
                  </a:ext>
                </a:extLst>
              </p:cNvPr>
              <p:cNvSpPr>
                <a:spLocks noGrp="1" noRot="1" noChangeAspect="1" noMove="1" noResize="1" noEditPoints="1" noAdjustHandles="1" noChangeArrowheads="1" noChangeShapeType="1" noTextEdit="1"/>
              </p:cNvSpPr>
              <p:nvPr>
                <p:ph type="body" sz="quarter" idx="18"/>
              </p:nvPr>
            </p:nvSpPr>
            <p:spPr>
              <a:xfrm>
                <a:off x="793193" y="3551553"/>
                <a:ext cx="10560607" cy="2232282"/>
              </a:xfrm>
              <a:blipFill>
                <a:blip r:embed="rId4"/>
                <a:stretch>
                  <a:fillRect l="-1443" t="-3279"/>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id="{0D1A0642-FDBD-AB9D-7486-304154FB2E52}"/>
              </a:ext>
            </a:extLst>
          </p:cNvPr>
          <p:cNvGraphicFramePr>
            <a:graphicFrameLocks noGrp="1"/>
          </p:cNvGraphicFramePr>
          <p:nvPr>
            <p:ph type="tbl" sz="quarter" idx="22"/>
            <p:extLst>
              <p:ext uri="{D42A27DB-BD31-4B8C-83A1-F6EECF244321}">
                <p14:modId xmlns:p14="http://schemas.microsoft.com/office/powerpoint/2010/main" val="1312870417"/>
              </p:ext>
            </p:extLst>
          </p:nvPr>
        </p:nvGraphicFramePr>
        <p:xfrm>
          <a:off x="6861544" y="2936916"/>
          <a:ext cx="4416056" cy="1724585"/>
        </p:xfrm>
        <a:graphic>
          <a:graphicData uri="http://schemas.openxmlformats.org/drawingml/2006/table">
            <a:tbl>
              <a:tblPr firstRow="1" bandRow="1">
                <a:tableStyleId>{5C22544A-7EE6-4342-B048-85BDC9FD1C3A}</a:tableStyleId>
              </a:tblPr>
              <a:tblGrid>
                <a:gridCol w="1141228">
                  <a:extLst>
                    <a:ext uri="{9D8B030D-6E8A-4147-A177-3AD203B41FA5}">
                      <a16:colId xmlns:a16="http://schemas.microsoft.com/office/drawing/2014/main" val="2585254363"/>
                    </a:ext>
                  </a:extLst>
                </a:gridCol>
                <a:gridCol w="1928037">
                  <a:extLst>
                    <a:ext uri="{9D8B030D-6E8A-4147-A177-3AD203B41FA5}">
                      <a16:colId xmlns:a16="http://schemas.microsoft.com/office/drawing/2014/main" val="1132871650"/>
                    </a:ext>
                  </a:extLst>
                </a:gridCol>
                <a:gridCol w="1346791">
                  <a:extLst>
                    <a:ext uri="{9D8B030D-6E8A-4147-A177-3AD203B41FA5}">
                      <a16:colId xmlns:a16="http://schemas.microsoft.com/office/drawing/2014/main" val="3523479073"/>
                    </a:ext>
                  </a:extLst>
                </a:gridCol>
              </a:tblGrid>
              <a:tr h="242963">
                <a:tc>
                  <a:txBody>
                    <a:bodyPr/>
                    <a:lstStyle/>
                    <a:p>
                      <a:pPr algn="ctr"/>
                      <a:r>
                        <a:rPr lang="en-US" sz="1800" dirty="0">
                          <a:solidFill>
                            <a:srgbClr val="000000"/>
                          </a:solidFill>
                        </a:rPr>
                        <a:t>Purchase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Cost per Pound ($)</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Weight (</a:t>
                      </a:r>
                      <a:r>
                        <a:rPr lang="en-US" sz="1800" dirty="0" err="1">
                          <a:solidFill>
                            <a:srgbClr val="000000"/>
                          </a:solidFill>
                        </a:rPr>
                        <a:t>lbs</a:t>
                      </a:r>
                      <a:r>
                        <a:rPr lang="en-US" sz="180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92224171"/>
                  </a:ext>
                </a:extLst>
              </a:tr>
              <a:tr h="290053">
                <a:tc>
                  <a:txBody>
                    <a:bodyPr/>
                    <a:lstStyle/>
                    <a:p>
                      <a:pPr algn="ctr"/>
                      <a:r>
                        <a:rPr lang="en-US" sz="1800" dirty="0">
                          <a:solidFill>
                            <a:srgbClr val="000000"/>
                          </a:solidFill>
                        </a:rPr>
                        <a:t>1</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3.00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l">
                        <a:tabLst>
                          <a:tab pos="914400" algn="r"/>
                        </a:tabLst>
                      </a:pPr>
                      <a:r>
                        <a:rPr lang="en-US" sz="1800" dirty="0">
                          <a:solidFill>
                            <a:srgbClr val="000000"/>
                          </a:solidFill>
                        </a:rPr>
                        <a:t>	1200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279444846"/>
                  </a:ext>
                </a:extLst>
              </a:tr>
              <a:tr h="290053">
                <a:tc>
                  <a:txBody>
                    <a:bodyPr/>
                    <a:lstStyle/>
                    <a:p>
                      <a:pPr algn="ctr"/>
                      <a:r>
                        <a:rPr lang="en-US" sz="1800" dirty="0">
                          <a:solidFill>
                            <a:srgbClr val="000000"/>
                          </a:solidFill>
                        </a:rPr>
                        <a:t>2</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3.40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l">
                        <a:tabLst>
                          <a:tab pos="914400" algn="r"/>
                        </a:tabLst>
                      </a:pPr>
                      <a:r>
                        <a:rPr lang="en-US" sz="1800" dirty="0">
                          <a:solidFill>
                            <a:srgbClr val="000000"/>
                          </a:solidFill>
                        </a:rPr>
                        <a:t>	500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30035548"/>
                  </a:ext>
                </a:extLst>
              </a:tr>
              <a:tr h="290053">
                <a:tc>
                  <a:txBody>
                    <a:bodyPr/>
                    <a:lstStyle/>
                    <a:p>
                      <a:pPr algn="ctr"/>
                      <a:r>
                        <a:rPr lang="en-US" sz="1800" dirty="0">
                          <a:solidFill>
                            <a:srgbClr val="000000"/>
                          </a:solidFill>
                        </a:rPr>
                        <a:t>3</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2.80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l">
                        <a:tabLst>
                          <a:tab pos="914400" algn="r"/>
                        </a:tabLst>
                      </a:pPr>
                      <a:r>
                        <a:rPr lang="en-US" sz="1800" dirty="0">
                          <a:solidFill>
                            <a:srgbClr val="000000"/>
                          </a:solidFill>
                        </a:rPr>
                        <a:t>	2750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861537228"/>
                  </a:ext>
                </a:extLst>
              </a:tr>
              <a:tr h="290053">
                <a:tc>
                  <a:txBody>
                    <a:bodyPr/>
                    <a:lstStyle/>
                    <a:p>
                      <a:pPr algn="ctr"/>
                      <a:r>
                        <a:rPr lang="en-US" sz="1800" dirty="0">
                          <a:solidFill>
                            <a:srgbClr val="000000"/>
                          </a:solidFill>
                        </a:rPr>
                        <a:t>4</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2.90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l">
                        <a:tabLst>
                          <a:tab pos="914400" algn="r"/>
                        </a:tabLst>
                      </a:pPr>
                      <a:r>
                        <a:rPr lang="en-US" sz="1800" dirty="0">
                          <a:solidFill>
                            <a:srgbClr val="000000"/>
                          </a:solidFill>
                        </a:rPr>
                        <a:t>	1000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789201957"/>
                  </a:ext>
                </a:extLst>
              </a:tr>
              <a:tr h="290053">
                <a:tc>
                  <a:txBody>
                    <a:bodyPr/>
                    <a:lstStyle/>
                    <a:p>
                      <a:pPr algn="ctr"/>
                      <a:r>
                        <a:rPr lang="en-US" sz="1800" dirty="0">
                          <a:solidFill>
                            <a:srgbClr val="000000"/>
                          </a:solidFill>
                        </a:rPr>
                        <a:t>5</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3.25</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l">
                        <a:tabLst>
                          <a:tab pos="914400" algn="r"/>
                        </a:tabLst>
                      </a:pPr>
                      <a:r>
                        <a:rPr lang="en-US" sz="1800" dirty="0">
                          <a:solidFill>
                            <a:srgbClr val="000000"/>
                          </a:solidFill>
                        </a:rPr>
                        <a:t>	800</a:t>
                      </a:r>
                    </a:p>
                  </a:txBody>
                  <a:tcPr marL="0" marR="0" marT="0" marB="0" anchor="ctr">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940537830"/>
                  </a:ext>
                </a:extLst>
              </a:tr>
            </a:tbl>
          </a:graphicData>
        </a:graphic>
      </p:graphicFrame>
    </p:spTree>
    <p:extLst>
      <p:ext uri="{BB962C8B-B14F-4D97-AF65-F5344CB8AC3E}">
        <p14:creationId xmlns:p14="http://schemas.microsoft.com/office/powerpoint/2010/main" val="256965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2000B-3D32-1942-86F0-4376ED61B9DF}"/>
              </a:ext>
            </a:extLst>
          </p:cNvPr>
          <p:cNvSpPr>
            <a:spLocks noGrp="1"/>
          </p:cNvSpPr>
          <p:nvPr>
            <p:ph type="title"/>
          </p:nvPr>
        </p:nvSpPr>
        <p:spPr/>
        <p:txBody>
          <a:bodyPr/>
          <a:lstStyle/>
          <a:p>
            <a:r>
              <a:rPr lang="en-US" dirty="0"/>
              <a:t>3.1 Geometric Mean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D2AE3B8-2E94-7795-E033-0F305FE3935D}"/>
                  </a:ext>
                </a:extLst>
              </p:cNvPr>
              <p:cNvSpPr>
                <a:spLocks noGrp="1"/>
              </p:cNvSpPr>
              <p:nvPr>
                <p:ph type="body" sz="quarter" idx="15"/>
              </p:nvPr>
            </p:nvSpPr>
            <p:spPr>
              <a:xfrm>
                <a:off x="743576" y="1513489"/>
                <a:ext cx="10711543" cy="4083269"/>
              </a:xfrm>
            </p:spPr>
            <p:txBody>
              <a:bodyPr/>
              <a:lstStyle/>
              <a:p>
                <a:pPr>
                  <a:spcBef>
                    <a:spcPts val="600"/>
                  </a:spcBef>
                </a:pPr>
                <a:r>
                  <a:rPr lang="en-US" sz="2000" dirty="0"/>
                  <a:t>The </a:t>
                </a:r>
                <a:r>
                  <a:rPr lang="en-US" sz="2000" b="1" dirty="0"/>
                  <a:t>geometric mean </a:t>
                </a:r>
                <a:r>
                  <a:rPr lang="en-US" sz="2000" dirty="0"/>
                  <a:t>is a measure of central location calculated by finding the </a:t>
                </a:r>
                <a14:m>
                  <m:oMath xmlns:m="http://schemas.openxmlformats.org/officeDocument/2006/math">
                    <m:r>
                      <a:rPr lang="en-US" sz="2000" i="1" dirty="0" smtClean="0">
                        <a:latin typeface="Cambria Math" panose="02040503050406030204" pitchFamily="18" charset="0"/>
                      </a:rPr>
                      <m:t>𝑛</m:t>
                    </m:r>
                  </m:oMath>
                </a14:m>
                <a:r>
                  <a:rPr lang="en-US" sz="2000" dirty="0"/>
                  <a:t>th root of the product of </a:t>
                </a:r>
                <a14:m>
                  <m:oMath xmlns:m="http://schemas.openxmlformats.org/officeDocument/2006/math">
                    <m:r>
                      <a:rPr lang="en-US" sz="2000" i="1" dirty="0" smtClean="0">
                        <a:latin typeface="Cambria Math" panose="02040503050406030204" pitchFamily="18" charset="0"/>
                      </a:rPr>
                      <m:t>𝑛</m:t>
                    </m:r>
                  </m:oMath>
                </a14:m>
                <a:r>
                  <a:rPr lang="en-US" sz="2000" dirty="0"/>
                  <a:t> values.</a:t>
                </a:r>
              </a:p>
              <a:p>
                <a:pPr>
                  <a:spcBef>
                    <a:spcPts val="600"/>
                  </a:spcBef>
                  <a:spcAft>
                    <a:spcPts val="600"/>
                  </a:spcAft>
                </a:pPr>
                <a:r>
                  <a:rPr lang="en-US" sz="2000" dirty="0"/>
                  <a:t>The general formula for the geometric mean, denoted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e>
                      <m:sub>
                        <m:r>
                          <a:rPr lang="en-US" sz="2000" b="0" i="1" smtClean="0">
                            <a:latin typeface="Cambria Math" panose="02040503050406030204" pitchFamily="18" charset="0"/>
                          </a:rPr>
                          <m:t>𝑔</m:t>
                        </m:r>
                      </m:sub>
                    </m:sSub>
                  </m:oMath>
                </a14:m>
                <a:r>
                  <a:rPr lang="en-US" sz="2000" dirty="0"/>
                  <a:t>, follows.</a:t>
                </a:r>
              </a:p>
              <a:p>
                <a:pPr marL="914400">
                  <a:spcBef>
                    <a:spcPts val="600"/>
                  </a:spcBef>
                  <a:spcAft>
                    <a:spcPts val="12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e>
                        <m:sub>
                          <m:r>
                            <a:rPr lang="en-US" sz="2000" b="1" i="1" smtClean="0">
                              <a:latin typeface="Cambria Math" panose="02040503050406030204" pitchFamily="18" charset="0"/>
                            </a:rPr>
                            <m:t>𝒈</m:t>
                          </m:r>
                        </m:sub>
                      </m:sSub>
                      <m:r>
                        <a:rPr lang="en-US" sz="2000" b="1" i="1" smtClean="0">
                          <a:latin typeface="Cambria Math" panose="02040503050406030204" pitchFamily="18" charset="0"/>
                        </a:rPr>
                        <m:t>=</m:t>
                      </m:r>
                      <m:rad>
                        <m:radPr>
                          <m:ctrlPr>
                            <a:rPr lang="en-US" sz="2000" b="1" i="1" smtClean="0">
                              <a:latin typeface="Cambria Math" panose="02040503050406030204" pitchFamily="18" charset="0"/>
                            </a:rPr>
                          </m:ctrlPr>
                        </m:radPr>
                        <m:deg>
                          <m:r>
                            <m:rPr>
                              <m:brk m:alnAt="7"/>
                            </m:rPr>
                            <a:rPr lang="en-US" sz="2000" b="1" i="1" smtClean="0">
                              <a:latin typeface="Cambria Math" panose="02040503050406030204" pitchFamily="18" charset="0"/>
                            </a:rPr>
                            <m:t>𝒏</m:t>
                          </m:r>
                        </m:deg>
                        <m:e>
                          <m:d>
                            <m:dPr>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e>
                          </m:d>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smtClean="0">
                                      <a:latin typeface="Cambria Math" panose="02040503050406030204" pitchFamily="18" charset="0"/>
                                    </a:rPr>
                                    <m:t>𝟐</m:t>
                                  </m:r>
                                </m:sub>
                              </m:sSub>
                            </m:e>
                          </m:d>
                          <m:r>
                            <a:rPr lang="en-US" sz="2000" b="1" i="1" smtClean="0">
                              <a:latin typeface="Cambria Math" panose="02040503050406030204" pitchFamily="18" charset="0"/>
                            </a:rPr>
                            <m:t>…</m:t>
                          </m:r>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smtClean="0">
                                      <a:latin typeface="Cambria Math" panose="02040503050406030204" pitchFamily="18" charset="0"/>
                                    </a:rPr>
                                    <m:t>𝒏</m:t>
                                  </m:r>
                                </m:sub>
                              </m:sSub>
                            </m:e>
                          </m:d>
                        </m:e>
                      </m:rad>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d>
                            <m:dPr>
                              <m:begChr m:val="["/>
                              <m:endChr m:val="]"/>
                              <m:ctrlPr>
                                <a:rPr lang="en-US" sz="2000" b="1" i="1" smtClean="0">
                                  <a:latin typeface="Cambria Math" panose="02040503050406030204" pitchFamily="18" charset="0"/>
                                </a:rPr>
                              </m:ctrlPr>
                            </m:dPr>
                            <m:e>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𝟏</m:t>
                                      </m:r>
                                    </m:sub>
                                  </m:sSub>
                                </m:e>
                              </m:d>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𝟐</m:t>
                                      </m:r>
                                    </m:sub>
                                  </m:sSub>
                                </m:e>
                              </m:d>
                              <m:r>
                                <a:rPr lang="en-US" sz="2000" b="1" i="1">
                                  <a:latin typeface="Cambria Math" panose="02040503050406030204" pitchFamily="18" charset="0"/>
                                </a:rPr>
                                <m:t>…</m:t>
                              </m:r>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𝒙</m:t>
                                      </m:r>
                                    </m:e>
                                    <m:sub>
                                      <m:r>
                                        <a:rPr lang="en-US" sz="2000" b="1" i="1">
                                          <a:latin typeface="Cambria Math" panose="02040503050406030204" pitchFamily="18" charset="0"/>
                                        </a:rPr>
                                        <m:t>𝒏</m:t>
                                      </m:r>
                                    </m:sub>
                                  </m:sSub>
                                </m:e>
                              </m:d>
                            </m:e>
                          </m:d>
                        </m:e>
                        <m:sup>
                          <m:f>
                            <m:fPr>
                              <m:type m:val="lin"/>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r>
                                <a:rPr lang="en-US" sz="2000" b="1" i="1" smtClean="0">
                                  <a:latin typeface="Cambria Math" panose="02040503050406030204" pitchFamily="18" charset="0"/>
                                </a:rPr>
                                <m:t>𝒏</m:t>
                              </m:r>
                            </m:den>
                          </m:f>
                        </m:sup>
                      </m:sSup>
                    </m:oMath>
                  </m:oMathPara>
                </a14:m>
                <a:endParaRPr lang="en-US" sz="2000" b="1" dirty="0"/>
              </a:p>
              <a:p>
                <a:pPr>
                  <a:spcBef>
                    <a:spcPts val="600"/>
                  </a:spcBef>
                </a:pPr>
                <a:r>
                  <a:rPr lang="en-US" sz="2000" dirty="0"/>
                  <a:t>The geometric mean is often used in analyzing growth rates in financial data (where using the arithmetic mean will provide misleading results.)</a:t>
                </a:r>
              </a:p>
              <a:p>
                <a:pPr>
                  <a:spcBef>
                    <a:spcPts val="600"/>
                  </a:spcBef>
                </a:pPr>
                <a:r>
                  <a:rPr lang="en-US" sz="2000" dirty="0"/>
                  <a:t>It should be applied any time you want to determine the mean rate of change over several successive periods (be it years, quarters, weeks, etc.)</a:t>
                </a:r>
              </a:p>
              <a:p>
                <a:pPr>
                  <a:spcBef>
                    <a:spcPts val="600"/>
                  </a:spcBef>
                </a:pPr>
                <a:r>
                  <a:rPr lang="en-US" sz="2000" dirty="0"/>
                  <a:t>Other common applications include changes in populations of species, crop yields, pollution levels, and birth and death rates.</a:t>
                </a:r>
              </a:p>
            </p:txBody>
          </p:sp>
        </mc:Choice>
        <mc:Fallback xmlns="">
          <p:sp>
            <p:nvSpPr>
              <p:cNvPr id="3" name="Text Placeholder 2">
                <a:extLst>
                  <a:ext uri="{FF2B5EF4-FFF2-40B4-BE49-F238E27FC236}">
                    <a16:creationId xmlns:a16="http://schemas.microsoft.com/office/drawing/2014/main" id="{4D2AE3B8-2E94-7795-E033-0F305FE3935D}"/>
                  </a:ext>
                </a:extLst>
              </p:cNvPr>
              <p:cNvSpPr>
                <a:spLocks noGrp="1" noRot="1" noChangeAspect="1" noMove="1" noResize="1" noEditPoints="1" noAdjustHandles="1" noChangeArrowheads="1" noChangeShapeType="1" noTextEdit="1"/>
              </p:cNvSpPr>
              <p:nvPr>
                <p:ph type="body" sz="quarter" idx="15"/>
              </p:nvPr>
            </p:nvSpPr>
            <p:spPr>
              <a:xfrm>
                <a:off x="743576" y="1513489"/>
                <a:ext cx="10711543" cy="4083269"/>
              </a:xfrm>
              <a:blipFill>
                <a:blip r:embed="rId2"/>
                <a:stretch>
                  <a:fillRect l="-1480" t="-1791" r="-57"/>
                </a:stretch>
              </a:blipFill>
            </p:spPr>
            <p:txBody>
              <a:bodyPr/>
              <a:lstStyle/>
              <a:p>
                <a:r>
                  <a:rPr lang="en-US">
                    <a:noFill/>
                  </a:rPr>
                  <a:t> </a:t>
                </a:r>
              </a:p>
            </p:txBody>
          </p:sp>
        </mc:Fallback>
      </mc:AlternateContent>
    </p:spTree>
    <p:extLst>
      <p:ext uri="{BB962C8B-B14F-4D97-AF65-F5344CB8AC3E}">
        <p14:creationId xmlns:p14="http://schemas.microsoft.com/office/powerpoint/2010/main" val="40343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3368-6166-70A7-8520-F21D790261C0}"/>
              </a:ext>
            </a:extLst>
          </p:cNvPr>
          <p:cNvSpPr>
            <a:spLocks noGrp="1"/>
          </p:cNvSpPr>
          <p:nvPr>
            <p:ph type="title"/>
          </p:nvPr>
        </p:nvSpPr>
        <p:spPr/>
        <p:txBody>
          <a:bodyPr/>
          <a:lstStyle/>
          <a:p>
            <a:r>
              <a:rPr lang="en-US" dirty="0"/>
              <a:t>3.1 An Application of the Geometric Mean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BB53B2E-B5EE-10CF-A31E-FF0BBE40842F}"/>
                  </a:ext>
                </a:extLst>
              </p:cNvPr>
              <p:cNvSpPr>
                <a:spLocks noGrp="1"/>
              </p:cNvSpPr>
              <p:nvPr>
                <p:ph type="body" sz="quarter" idx="15"/>
              </p:nvPr>
            </p:nvSpPr>
            <p:spPr>
              <a:xfrm>
                <a:off x="741437" y="1290026"/>
                <a:ext cx="7379208" cy="3081528"/>
              </a:xfrm>
            </p:spPr>
            <p:txBody>
              <a:bodyPr>
                <a:noAutofit/>
              </a:bodyPr>
              <a:lstStyle/>
              <a:p>
                <a:r>
                  <a:rPr lang="en-US" sz="2000" b="1" dirty="0"/>
                  <a:t>Question</a:t>
                </a:r>
                <a:r>
                  <a:rPr lang="en-US" sz="2000" dirty="0"/>
                  <a:t>: using 10 years of percentage annual returns compute how much $100 invested in the fund at the beginning of year 1 would be worth at the end of year 10.</a:t>
                </a:r>
              </a:p>
              <a:p>
                <a:pPr>
                  <a:spcAft>
                    <a:spcPts val="600"/>
                  </a:spcAft>
                </a:pPr>
                <a:r>
                  <a:rPr lang="en-US" sz="2000" dirty="0"/>
                  <a:t>Because the percentage annual return for year 1 was −22.1%, the balance in the fund at the end of year 1 would be</a:t>
                </a:r>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$100−22.1%</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$100</m:t>
                          </m:r>
                        </m:e>
                      </m:d>
                      <m:r>
                        <a:rPr lang="en-US" sz="2000" b="0" i="1" smtClean="0">
                          <a:latin typeface="Cambria Math" panose="02040503050406030204" pitchFamily="18" charset="0"/>
                        </a:rPr>
                        <m:t>=$100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1−0.221</m:t>
                          </m:r>
                        </m:e>
                      </m:d>
                      <m:r>
                        <a:rPr lang="en-US" sz="2000" b="0" i="1" smtClean="0">
                          <a:latin typeface="Cambria Math" panose="02040503050406030204" pitchFamily="18" charset="0"/>
                        </a:rPr>
                        <m:t>=$100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0.779</m:t>
                          </m:r>
                        </m:e>
                      </m:d>
                      <m:r>
                        <a:rPr lang="en-US" sz="2000" b="0" i="1" smtClean="0">
                          <a:latin typeface="Cambria Math" panose="02040503050406030204" pitchFamily="18" charset="0"/>
                        </a:rPr>
                        <m:t>=$77.90</m:t>
                      </m:r>
                    </m:oMath>
                  </m:oMathPara>
                </a14:m>
                <a:endParaRPr lang="en-US" sz="2000" dirty="0"/>
              </a:p>
              <a:p>
                <a:r>
                  <a:rPr lang="en-US" sz="2000" dirty="0"/>
                  <a:t>We refer to 0.779 as the </a:t>
                </a:r>
                <a:r>
                  <a:rPr lang="en-US" sz="2000" b="1" dirty="0"/>
                  <a:t>growth factor </a:t>
                </a:r>
                <a:r>
                  <a:rPr lang="en-US" sz="2000" dirty="0"/>
                  <a:t>for year 1.</a:t>
                </a:r>
              </a:p>
              <a:p>
                <a:r>
                  <a:rPr lang="en-US" sz="2000" dirty="0"/>
                  <a:t>We can generalize the result for year 1 to show the growth factor at the end of year 10.</a:t>
                </a:r>
              </a:p>
            </p:txBody>
          </p:sp>
        </mc:Choice>
        <mc:Fallback xmlns="">
          <p:sp>
            <p:nvSpPr>
              <p:cNvPr id="3" name="Text Placeholder 2">
                <a:extLst>
                  <a:ext uri="{FF2B5EF4-FFF2-40B4-BE49-F238E27FC236}">
                    <a16:creationId xmlns:a16="http://schemas.microsoft.com/office/drawing/2014/main" id="{FBB53B2E-B5EE-10CF-A31E-FF0BBE40842F}"/>
                  </a:ext>
                </a:extLst>
              </p:cNvPr>
              <p:cNvSpPr>
                <a:spLocks noGrp="1" noRot="1" noChangeAspect="1" noMove="1" noResize="1" noEditPoints="1" noAdjustHandles="1" noChangeArrowheads="1" noChangeShapeType="1" noTextEdit="1"/>
              </p:cNvSpPr>
              <p:nvPr>
                <p:ph type="body" sz="quarter" idx="15"/>
              </p:nvPr>
            </p:nvSpPr>
            <p:spPr>
              <a:xfrm>
                <a:off x="741437" y="1290026"/>
                <a:ext cx="7379208" cy="3081528"/>
              </a:xfrm>
              <a:blipFill>
                <a:blip r:embed="rId2"/>
                <a:stretch>
                  <a:fillRect l="-2149" t="-3366" r="-1322" b="-198"/>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86714493-D092-0255-3A17-F6A33914A023}"/>
              </a:ext>
            </a:extLst>
          </p:cNvPr>
          <p:cNvGraphicFramePr>
            <a:graphicFrameLocks noGrp="1"/>
          </p:cNvGraphicFramePr>
          <p:nvPr>
            <p:ph type="tbl" sz="quarter" idx="22"/>
            <p:extLst>
              <p:ext uri="{D42A27DB-BD31-4B8C-83A1-F6EECF244321}">
                <p14:modId xmlns:p14="http://schemas.microsoft.com/office/powerpoint/2010/main" val="3591807518"/>
              </p:ext>
            </p:extLst>
          </p:nvPr>
        </p:nvGraphicFramePr>
        <p:xfrm>
          <a:off x="8255479" y="1258621"/>
          <a:ext cx="2984950" cy="2821940"/>
        </p:xfrm>
        <a:graphic>
          <a:graphicData uri="http://schemas.openxmlformats.org/drawingml/2006/table">
            <a:tbl>
              <a:tblPr firstRow="1" bandRow="1">
                <a:tableStyleId>{5C22544A-7EE6-4342-B048-85BDC9FD1C3A}</a:tableStyleId>
              </a:tblPr>
              <a:tblGrid>
                <a:gridCol w="646981">
                  <a:extLst>
                    <a:ext uri="{9D8B030D-6E8A-4147-A177-3AD203B41FA5}">
                      <a16:colId xmlns:a16="http://schemas.microsoft.com/office/drawing/2014/main" val="3186615937"/>
                    </a:ext>
                  </a:extLst>
                </a:gridCol>
                <a:gridCol w="1096467">
                  <a:extLst>
                    <a:ext uri="{9D8B030D-6E8A-4147-A177-3AD203B41FA5}">
                      <a16:colId xmlns:a16="http://schemas.microsoft.com/office/drawing/2014/main" val="3575881024"/>
                    </a:ext>
                  </a:extLst>
                </a:gridCol>
                <a:gridCol w="1241502">
                  <a:extLst>
                    <a:ext uri="{9D8B030D-6E8A-4147-A177-3AD203B41FA5}">
                      <a16:colId xmlns:a16="http://schemas.microsoft.com/office/drawing/2014/main" val="1861402510"/>
                    </a:ext>
                  </a:extLst>
                </a:gridCol>
              </a:tblGrid>
              <a:tr h="320040">
                <a:tc>
                  <a:txBody>
                    <a:bodyPr/>
                    <a:lstStyle/>
                    <a:p>
                      <a:pPr algn="ctr" fontAlgn="ctr"/>
                      <a:r>
                        <a:rPr lang="en-US" sz="1600" b="1" i="0" u="none" strike="noStrike" dirty="0">
                          <a:solidFill>
                            <a:srgbClr val="000000"/>
                          </a:solidFill>
                          <a:effectLst/>
                          <a:latin typeface="+mn-lt"/>
                        </a:rPr>
                        <a:t>Year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Return (%)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Growth Factor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82017538"/>
                  </a:ext>
                </a:extLst>
              </a:tr>
              <a:tr h="233795">
                <a:tc>
                  <a:txBody>
                    <a:bodyPr/>
                    <a:lstStyle/>
                    <a:p>
                      <a:pPr algn="ctr" fontAlgn="ctr"/>
                      <a:r>
                        <a:rPr lang="en-US" sz="1600" b="0" i="0" u="none" strike="noStrike" dirty="0">
                          <a:solidFill>
                            <a:srgbClr val="000000"/>
                          </a:solidFill>
                          <a:effectLst/>
                          <a:latin typeface="+mn-lt"/>
                        </a:rPr>
                        <a:t>  1</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-22.1</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0.779</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169495874"/>
                  </a:ext>
                </a:extLst>
              </a:tr>
              <a:tr h="233795">
                <a:tc>
                  <a:txBody>
                    <a:bodyPr/>
                    <a:lstStyle/>
                    <a:p>
                      <a:pPr algn="ctr" fontAlgn="b"/>
                      <a:r>
                        <a:rPr lang="en-US" sz="1600" b="0" i="0" u="none" strike="noStrike" dirty="0">
                          <a:solidFill>
                            <a:srgbClr val="000000"/>
                          </a:solidFill>
                          <a:effectLst/>
                          <a:latin typeface="+mn-lt"/>
                        </a:rPr>
                        <a:t>  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28.7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1.287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99307697"/>
                  </a:ext>
                </a:extLst>
              </a:tr>
              <a:tr h="233795">
                <a:tc>
                  <a:txBody>
                    <a:bodyPr/>
                    <a:lstStyle/>
                    <a:p>
                      <a:pPr algn="ctr" fontAlgn="ctr"/>
                      <a:r>
                        <a:rPr lang="en-US" sz="1600" b="0" i="0" u="none" strike="noStrike" dirty="0">
                          <a:solidFill>
                            <a:srgbClr val="000000"/>
                          </a:solidFill>
                          <a:effectLst/>
                          <a:latin typeface="+mn-lt"/>
                        </a:rPr>
                        <a:t>  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10.9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1.109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221362484"/>
                  </a:ext>
                </a:extLst>
              </a:tr>
              <a:tr h="233795">
                <a:tc>
                  <a:txBody>
                    <a:bodyPr/>
                    <a:lstStyle/>
                    <a:p>
                      <a:pPr algn="ctr" fontAlgn="b"/>
                      <a:r>
                        <a:rPr lang="en-US" sz="1600" b="0" i="0" u="none" strike="noStrike" dirty="0">
                          <a:solidFill>
                            <a:srgbClr val="000000"/>
                          </a:solidFill>
                          <a:effectLst/>
                          <a:latin typeface="+mn-lt"/>
                        </a:rPr>
                        <a:t>  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4.9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1.049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714411390"/>
                  </a:ext>
                </a:extLst>
              </a:tr>
              <a:tr h="233795">
                <a:tc>
                  <a:txBody>
                    <a:bodyPr/>
                    <a:lstStyle/>
                    <a:p>
                      <a:pPr algn="ctr" fontAlgn="ctr"/>
                      <a:r>
                        <a:rPr lang="en-US" sz="1600" b="0" i="0" u="none" strike="noStrike" dirty="0">
                          <a:solidFill>
                            <a:srgbClr val="000000"/>
                          </a:solidFill>
                          <a:effectLst/>
                          <a:latin typeface="+mn-lt"/>
                        </a:rPr>
                        <a:t>  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15.8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1.158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9040336"/>
                  </a:ext>
                </a:extLst>
              </a:tr>
              <a:tr h="233795">
                <a:tc>
                  <a:txBody>
                    <a:bodyPr/>
                    <a:lstStyle/>
                    <a:p>
                      <a:pPr algn="ctr" fontAlgn="b"/>
                      <a:r>
                        <a:rPr lang="en-US" sz="1600" b="0" i="0" u="none" strike="noStrike" dirty="0">
                          <a:solidFill>
                            <a:srgbClr val="000000"/>
                          </a:solidFill>
                          <a:effectLst/>
                          <a:latin typeface="+mn-lt"/>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5.5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1.055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29001351"/>
                  </a:ext>
                </a:extLst>
              </a:tr>
              <a:tr h="233795">
                <a:tc>
                  <a:txBody>
                    <a:bodyPr/>
                    <a:lstStyle/>
                    <a:p>
                      <a:pPr algn="ctr" fontAlgn="ctr"/>
                      <a:r>
                        <a:rPr lang="en-US" sz="1600" b="0" i="0" u="none" strike="noStrike" dirty="0">
                          <a:solidFill>
                            <a:srgbClr val="000000"/>
                          </a:solidFill>
                          <a:effectLst/>
                          <a:latin typeface="+mn-lt"/>
                        </a:rPr>
                        <a:t>  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-37.0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0.630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440426988"/>
                  </a:ext>
                </a:extLst>
              </a:tr>
              <a:tr h="233795">
                <a:tc>
                  <a:txBody>
                    <a:bodyPr/>
                    <a:lstStyle/>
                    <a:p>
                      <a:pPr algn="ctr" fontAlgn="b"/>
                      <a:r>
                        <a:rPr lang="en-US" sz="1600" b="0" i="0" u="none" strike="noStrike" dirty="0">
                          <a:solidFill>
                            <a:srgbClr val="000000"/>
                          </a:solidFill>
                          <a:effectLst/>
                          <a:latin typeface="+mn-lt"/>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26.5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1.265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770785989"/>
                  </a:ext>
                </a:extLst>
              </a:tr>
              <a:tr h="233795">
                <a:tc>
                  <a:txBody>
                    <a:bodyPr/>
                    <a:lstStyle/>
                    <a:p>
                      <a:pPr algn="ctr" fontAlgn="ctr"/>
                      <a:r>
                        <a:rPr lang="en-US" sz="1600" b="0" i="0" u="none" strike="noStrike" dirty="0">
                          <a:solidFill>
                            <a:srgbClr val="000000"/>
                          </a:solidFill>
                          <a:effectLst/>
                          <a:latin typeface="+mn-lt"/>
                        </a:rPr>
                        <a:t>  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15.1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1.151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52531658"/>
                  </a:ext>
                </a:extLst>
              </a:tr>
              <a:tr h="233795">
                <a:tc>
                  <a:txBody>
                    <a:bodyPr/>
                    <a:lstStyle/>
                    <a:p>
                      <a:pPr algn="ctr" fontAlgn="b"/>
                      <a:r>
                        <a:rPr lang="en-US" sz="1600" b="0" i="0" u="none" strike="noStrike" dirty="0">
                          <a:solidFill>
                            <a:srgbClr val="000000"/>
                          </a:solidFill>
                          <a:effectLst/>
                          <a:latin typeface="+mn-lt"/>
                        </a:rPr>
                        <a:t>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1.021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2576999"/>
                  </a:ext>
                </a:extLst>
              </a:tr>
            </a:tbl>
          </a:graphicData>
        </a:graphic>
      </p:graphicFrame>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D4779F3-EE50-1520-85F3-B88F21AC77EA}"/>
                  </a:ext>
                </a:extLst>
              </p:cNvPr>
              <p:cNvSpPr>
                <a:spLocks noGrp="1"/>
              </p:cNvSpPr>
              <p:nvPr>
                <p:ph type="body" sz="quarter" idx="18"/>
              </p:nvPr>
            </p:nvSpPr>
            <p:spPr>
              <a:xfrm>
                <a:off x="767403" y="4345949"/>
                <a:ext cx="10607040" cy="1554480"/>
              </a:xfrm>
            </p:spPr>
            <p:txBody>
              <a:bodyPr>
                <a:normAutofit/>
              </a:bodyPr>
              <a:lstStyle/>
              <a:p>
                <a:pPr marL="457200">
                  <a:spcAft>
                    <a:spcPts val="0"/>
                  </a:spcAft>
                </a:pPr>
                <a14:m>
                  <m:oMathPara xmlns:m="http://schemas.openxmlformats.org/officeDocument/2006/math">
                    <m:oMathParaPr>
                      <m:jc m:val="left"/>
                    </m:oMathParaPr>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0.779</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1.287</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1.109</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1.049</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1.158</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1.055</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0.630</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1.265</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1.151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1.021</m:t>
                          </m:r>
                        </m:e>
                      </m:d>
                      <m:r>
                        <a:rPr lang="en-US" sz="2000" b="0" i="1" smtClean="0">
                          <a:latin typeface="Cambria Math" panose="02040503050406030204" pitchFamily="18" charset="0"/>
                        </a:rPr>
                        <m:t>=1.334493</m:t>
                      </m:r>
                    </m:oMath>
                  </m:oMathPara>
                </a14:m>
                <a:endParaRPr lang="en-US" sz="2000" dirty="0"/>
              </a:p>
              <a:p>
                <a:pPr>
                  <a:spcAft>
                    <a:spcPts val="0"/>
                  </a:spcAft>
                </a:pPr>
                <a:r>
                  <a:rPr lang="en-US" sz="2000" dirty="0"/>
                  <a:t>At the end of year 10, the initial investment would be worth </a:t>
                </a:r>
                <a14:m>
                  <m:oMath xmlns:m="http://schemas.openxmlformats.org/officeDocument/2006/math">
                    <m:r>
                      <a:rPr lang="en-US" sz="2000" b="0" i="1" smtClean="0">
                        <a:latin typeface="Cambria Math" panose="02040503050406030204" pitchFamily="18" charset="0"/>
                      </a:rPr>
                      <m:t>$100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1.334493</m:t>
                        </m:r>
                      </m:e>
                    </m:d>
                    <m:r>
                      <a:rPr lang="en-US" sz="2000" b="0" i="1" smtClean="0">
                        <a:latin typeface="Cambria Math" panose="02040503050406030204" pitchFamily="18" charset="0"/>
                      </a:rPr>
                      <m:t>=$133.4493</m:t>
                    </m:r>
                  </m:oMath>
                </a14:m>
                <a:endParaRPr lang="en-US" sz="2000" dirty="0"/>
              </a:p>
              <a:p>
                <a:pPr>
                  <a:spcAft>
                    <a:spcPts val="0"/>
                  </a:spcAft>
                </a:pPr>
                <a:r>
                  <a:rPr lang="en-US" sz="2000" dirty="0"/>
                  <a:t>The mutual fund average growth is: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e>
                      <m:sub>
                        <m:r>
                          <a:rPr lang="en-US" sz="2000" b="0" i="1" smtClean="0">
                            <a:latin typeface="Cambria Math" panose="02040503050406030204" pitchFamily="18" charset="0"/>
                          </a:rPr>
                          <m:t>𝑔</m:t>
                        </m:r>
                      </m:sub>
                    </m:sSub>
                    <m:r>
                      <a:rPr lang="en-US" sz="2000" b="0" i="1" smtClean="0">
                        <a:latin typeface="Cambria Math" panose="02040503050406030204" pitchFamily="18" charset="0"/>
                      </a:rPr>
                      <m:t>=</m:t>
                    </m:r>
                    <m:rad>
                      <m:radPr>
                        <m:ctrlPr>
                          <a:rPr lang="en-US" sz="2000" i="1" smtClean="0">
                            <a:latin typeface="Cambria Math" panose="02040503050406030204" pitchFamily="18" charset="0"/>
                          </a:rPr>
                        </m:ctrlPr>
                      </m:radPr>
                      <m:deg>
                        <m:r>
                          <a:rPr lang="en-US" sz="2000" b="0" i="1" smtClean="0">
                            <a:latin typeface="Cambria Math" panose="02040503050406030204" pitchFamily="18" charset="0"/>
                          </a:rPr>
                          <m:t>`10</m:t>
                        </m:r>
                      </m:deg>
                      <m:e>
                        <m:r>
                          <a:rPr lang="en-US" sz="2000" b="0" i="1" smtClean="0">
                            <a:latin typeface="Cambria Math" panose="02040503050406030204" pitchFamily="18" charset="0"/>
                          </a:rPr>
                          <m:t>1.334493</m:t>
                        </m:r>
                      </m:e>
                    </m:ra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1.334493</m:t>
                            </m:r>
                          </m:e>
                        </m:d>
                      </m:e>
                      <m:sup>
                        <m:r>
                          <a:rPr lang="en-US" sz="2000" b="0" i="1" smtClean="0">
                            <a:latin typeface="Cambria Math" panose="02040503050406030204" pitchFamily="18" charset="0"/>
                          </a:rPr>
                          <m:t>1/10</m:t>
                        </m:r>
                      </m:sup>
                    </m:sSup>
                    <m:r>
                      <a:rPr lang="en-US" sz="2000" b="0" i="1" smtClean="0">
                        <a:latin typeface="Cambria Math" panose="02040503050406030204" pitchFamily="18" charset="0"/>
                      </a:rPr>
                      <m:t>=1.029275</m:t>
                    </m:r>
                  </m:oMath>
                </a14:m>
                <a:endParaRPr lang="en-US" sz="2000" dirty="0"/>
              </a:p>
              <a:p>
                <a:pPr>
                  <a:spcAft>
                    <a:spcPts val="0"/>
                  </a:spcAft>
                </a:pPr>
                <a:r>
                  <a:rPr lang="en-US" sz="2000" dirty="0"/>
                  <a:t>Thus, the fund average annual return is: </a:t>
                </a:r>
                <a14:m>
                  <m:oMath xmlns:m="http://schemas.openxmlformats.org/officeDocument/2006/math">
                    <m:d>
                      <m:dPr>
                        <m:ctrlPr>
                          <a:rPr lang="en-US" sz="2000" b="0" i="1" smtClean="0">
                            <a:latin typeface="Cambria Math" panose="02040503050406030204" pitchFamily="18" charset="0"/>
                          </a:rPr>
                        </m:ctrlPr>
                      </m:dPr>
                      <m:e>
                        <m:r>
                          <a:rPr lang="en-US" sz="2000" i="1">
                            <a:latin typeface="Cambria Math" panose="02040503050406030204" pitchFamily="18" charset="0"/>
                          </a:rPr>
                          <m:t>1.029275</m:t>
                        </m:r>
                        <m:r>
                          <a:rPr lang="en-US" sz="2000" b="0" i="1" smtClean="0">
                            <a:latin typeface="Cambria Math" panose="02040503050406030204" pitchFamily="18" charset="0"/>
                          </a:rPr>
                          <m:t>−1</m:t>
                        </m:r>
                      </m:e>
                    </m:d>
                    <m:r>
                      <a:rPr lang="en-US" sz="2000" b="0" i="1" smtClean="0">
                        <a:latin typeface="Cambria Math" panose="02040503050406030204" pitchFamily="18" charset="0"/>
                      </a:rPr>
                      <m:t>100%=2.9275%</m:t>
                    </m:r>
                  </m:oMath>
                </a14:m>
                <a:endParaRPr lang="en-US" sz="2000" dirty="0"/>
              </a:p>
            </p:txBody>
          </p:sp>
        </mc:Choice>
        <mc:Fallback xmlns="">
          <p:sp>
            <p:nvSpPr>
              <p:cNvPr id="4" name="Text Placeholder 3">
                <a:extLst>
                  <a:ext uri="{FF2B5EF4-FFF2-40B4-BE49-F238E27FC236}">
                    <a16:creationId xmlns:a16="http://schemas.microsoft.com/office/drawing/2014/main" id="{9D4779F3-EE50-1520-85F3-B88F21AC77EA}"/>
                  </a:ext>
                </a:extLst>
              </p:cNvPr>
              <p:cNvSpPr>
                <a:spLocks noGrp="1" noRot="1" noChangeAspect="1" noMove="1" noResize="1" noEditPoints="1" noAdjustHandles="1" noChangeArrowheads="1" noChangeShapeType="1" noTextEdit="1"/>
              </p:cNvSpPr>
              <p:nvPr>
                <p:ph type="body" sz="quarter" idx="18"/>
              </p:nvPr>
            </p:nvSpPr>
            <p:spPr>
              <a:xfrm>
                <a:off x="767403" y="4345949"/>
                <a:ext cx="10607040" cy="1554480"/>
              </a:xfrm>
              <a:blipFill>
                <a:blip r:embed="rId3"/>
                <a:stretch>
                  <a:fillRect l="-1494" t="-392" b="-9020"/>
                </a:stretch>
              </a:blipFill>
            </p:spPr>
            <p:txBody>
              <a:bodyPr/>
              <a:lstStyle/>
              <a:p>
                <a:r>
                  <a:rPr lang="en-US">
                    <a:noFill/>
                  </a:rPr>
                  <a:t> </a:t>
                </a:r>
              </a:p>
            </p:txBody>
          </p:sp>
        </mc:Fallback>
      </mc:AlternateContent>
    </p:spTree>
    <p:extLst>
      <p:ext uri="{BB962C8B-B14F-4D97-AF65-F5344CB8AC3E}">
        <p14:creationId xmlns:p14="http://schemas.microsoft.com/office/powerpoint/2010/main" val="3500907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dirty="0">
                <a:solidFill>
                  <a:srgbClr val="25894E"/>
                </a:solidFill>
              </a:rPr>
              <a:t>3.1 Excel: Compute Geometric Mean</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133857"/>
            <a:ext cx="10610223" cy="1353311"/>
          </a:xfrm>
        </p:spPr>
        <p:txBody>
          <a:bodyPr/>
          <a:lstStyle/>
          <a:p>
            <a:r>
              <a:rPr lang="en-US" sz="2000" b="1" dirty="0"/>
              <a:t>Enter/Access Data</a:t>
            </a:r>
            <a:r>
              <a:rPr lang="en-US" sz="2000" dirty="0"/>
              <a:t>: Open the file </a:t>
            </a:r>
            <a:r>
              <a:rPr lang="en-US" sz="2000" i="1" dirty="0" err="1"/>
              <a:t>mutualfund</a:t>
            </a:r>
            <a:r>
              <a:rPr lang="en-US" sz="2000" dirty="0"/>
              <a:t>. Data and labels are in cells A1:B11.</a:t>
            </a:r>
          </a:p>
          <a:p>
            <a:r>
              <a:rPr lang="en-US" sz="2000" b="1" dirty="0"/>
              <a:t>Enter Functions and Formulas</a:t>
            </a:r>
            <a:r>
              <a:rPr lang="en-US" sz="2000" dirty="0"/>
              <a:t>: To compute the growth factor, enter </a:t>
            </a:r>
            <a:r>
              <a:rPr lang="en-US" sz="2000" i="1" dirty="0"/>
              <a:t>=1+0.01*B2 </a:t>
            </a:r>
            <a:r>
              <a:rPr lang="en-US" sz="2000" dirty="0"/>
              <a:t>in cell C2 and copy it down to cell C11.</a:t>
            </a:r>
          </a:p>
          <a:p>
            <a:pPr marL="914400" indent="-344488">
              <a:spcBef>
                <a:spcPts val="300"/>
              </a:spcBef>
              <a:buFont typeface="Arial" panose="020B0604020202020204" pitchFamily="34" charset="0"/>
              <a:buChar char="•"/>
            </a:pPr>
            <a:r>
              <a:rPr lang="en-US" sz="2000" dirty="0"/>
              <a:t>Then, enter </a:t>
            </a:r>
            <a:r>
              <a:rPr lang="en-US" sz="2000" i="1" dirty="0"/>
              <a:t>=GEOMEAN(C2:C11)</a:t>
            </a:r>
            <a:r>
              <a:rPr lang="en-US" sz="2000" dirty="0"/>
              <a:t> in cell F2.</a:t>
            </a:r>
            <a:endParaRPr lang="en-US" sz="1800" dirty="0"/>
          </a:p>
        </p:txBody>
      </p:sp>
      <p:pic>
        <p:nvPicPr>
          <p:cNvPr id="6" name="Picture Placeholder 5" descr="Two screenshots show an Excel spreadsheet used to compute the geometric mean for the mutual fund data. In both spreadsheets, column A is labeled Year, and column B is labeled Return in percentage. The entries in rows 2 through 11 are as follows. Row 2: Year, 1; Return, negative 22.1. Row 3: Year, 2; Return, 28.7. Row 4: Year, 3; Return, 10.9. Row 5: Year, 4; Return, 4.9. Row 6: Year, 5; Return, 15.8. Row 7: Year, 6; Return, 5.5. Row 8: Year, 7; Return, negative 37. Row 9: Year, 8; Return, 26.5. Row 10: Year, 9; Return, 15.1. Row 11: Year, 10; Return, 2.1. In the first spreadsheet, Column C is labeled Growth Factor. The entries are as follows. Row 2: = 1 + 0.01 * B2. Row 3: = 1 + 0.01 * B3. Row 4: = 1 + 0.01 * B4. Row 5: = 1 + 0.01 * B5. Row 6: = 1 + 0.01 * B6. Row 7: = 1 + 0.01 * B7. Row 8: = 1 + 0.01 * B8. Row 9: = 1 + 0.01 * B9. Row 10: = 1 + 0.01 * B10. Row 11: = 1 + 0.01 * B11. The cell entries are as follows. E2: Geometric Mean. F2: = GEOMEAN(C2:C11). In the second spreadsheet, Column C is labeled Growth Factor. The entries are as follows. Row 2: 0.779. Row 3: 1.287. Row 4: 1.109. Row 5: 1.049. Row 6: 1.158. Row 7: 1.055. Row 8: 0.63. Row 9: 1.265. Row 10: 1.151. Row 11: 1.021. The cell entries are as follows. E2: Geometric Mean. F2: 1.029275.">
            <a:extLst>
              <a:ext uri="{FF2B5EF4-FFF2-40B4-BE49-F238E27FC236}">
                <a16:creationId xmlns:a16="http://schemas.microsoft.com/office/drawing/2014/main" id="{AED55FE7-107D-B9FC-D4C8-A6DD83A2AF11}"/>
              </a:ext>
            </a:extLst>
          </p:cNvPr>
          <p:cNvPicPr>
            <a:picLocks noGrp="1" noChangeAspect="1"/>
          </p:cNvPicPr>
          <p:nvPr>
            <p:ph type="pic" sz="quarter" idx="16"/>
          </p:nvPr>
        </p:nvPicPr>
        <p:blipFill>
          <a:blip r:embed="rId3"/>
          <a:srcRect t="55" b="55"/>
          <a:stretch/>
        </p:blipFill>
        <p:spPr>
          <a:xfrm>
            <a:off x="1524000" y="2552758"/>
            <a:ext cx="9144000" cy="3402013"/>
          </a:xfrm>
        </p:spPr>
      </p:pic>
    </p:spTree>
    <p:extLst>
      <p:ext uri="{BB962C8B-B14F-4D97-AF65-F5344CB8AC3E}">
        <p14:creationId xmlns:p14="http://schemas.microsoft.com/office/powerpoint/2010/main" val="749979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3.1 Percentile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371600"/>
                <a:ext cx="10711543" cy="4240925"/>
              </a:xfrm>
            </p:spPr>
            <p:txBody>
              <a:bodyPr/>
              <a:lstStyle/>
              <a:p>
                <a:pPr>
                  <a:spcBef>
                    <a:spcPts val="600"/>
                  </a:spcBef>
                  <a:spcAft>
                    <a:spcPts val="0"/>
                  </a:spcAft>
                </a:pPr>
                <a:r>
                  <a:rPr lang="en-US" sz="2000" dirty="0"/>
                  <a:t>A percentile provides information about how the data are spread over the interval from the smallest value to the largest value.</a:t>
                </a:r>
              </a:p>
              <a:p>
                <a:pPr>
                  <a:spcBef>
                    <a:spcPts val="600"/>
                  </a:spcBef>
                  <a:spcAft>
                    <a:spcPts val="0"/>
                  </a:spcAft>
                </a:pPr>
                <a:r>
                  <a:rPr lang="en-US" sz="2000" dirty="0"/>
                  <a:t>Admission test scores for colleges and universities are frequently reported in terms of percentiles.</a:t>
                </a:r>
              </a:p>
              <a:p>
                <a:pPr>
                  <a:spcBef>
                    <a:spcPts val="600"/>
                  </a:spcBef>
                  <a:spcAft>
                    <a:spcPts val="0"/>
                  </a:spcAft>
                </a:pPr>
                <a:r>
                  <a:rPr lang="en-US" sz="2000" dirty="0"/>
                  <a:t>The </a:t>
                </a:r>
                <a:r>
                  <a:rPr lang="en-US" sz="2000" b="1" dirty="0"/>
                  <a:t>𝑝</a:t>
                </a:r>
                <a:r>
                  <a:rPr lang="en-US" sz="2000" b="1" dirty="0" err="1"/>
                  <a:t>th</a:t>
                </a:r>
                <a:r>
                  <a:rPr lang="en-US" sz="2000" b="1" dirty="0"/>
                  <a:t> percentile </a:t>
                </a:r>
                <a:r>
                  <a:rPr lang="en-US" sz="2000" dirty="0"/>
                  <a:t>of a data set is a value such that at least </a:t>
                </a:r>
                <a:r>
                  <a:rPr lang="en-US" sz="2000" i="1" dirty="0"/>
                  <a:t>p</a:t>
                </a:r>
                <a:r>
                  <a:rPr lang="en-US" sz="2000" dirty="0"/>
                  <a:t> percent of the items take on this value or less and at least (</a:t>
                </a:r>
                <a14:m>
                  <m:oMath xmlns:m="http://schemas.openxmlformats.org/officeDocument/2006/math">
                    <m:r>
                      <a:rPr lang="en-US" sz="2000" i="1" dirty="0" smtClean="0">
                        <a:latin typeface="Cambria Math" panose="02040503050406030204" pitchFamily="18" charset="0"/>
                      </a:rPr>
                      <m:t>100–</m:t>
                    </m:r>
                    <m:r>
                      <a:rPr lang="en-US" sz="2000" i="1" dirty="0" smtClean="0">
                        <a:latin typeface="Cambria Math" panose="02040503050406030204" pitchFamily="18" charset="0"/>
                      </a:rPr>
                      <m:t>𝑝</m:t>
                    </m:r>
                  </m:oMath>
                </a14:m>
                <a:r>
                  <a:rPr lang="en-US" sz="2000" dirty="0"/>
                  <a:t>) percent of the items take on this value or more.</a:t>
                </a:r>
              </a:p>
              <a:p>
                <a:pPr>
                  <a:spcBef>
                    <a:spcPts val="600"/>
                  </a:spcBef>
                  <a:spcAft>
                    <a:spcPts val="0"/>
                  </a:spcAft>
                </a:pPr>
                <a:r>
                  <a:rPr lang="en-US" sz="2000" dirty="0"/>
                  <a:t>To calculate the 𝑝</a:t>
                </a:r>
                <a:r>
                  <a:rPr lang="en-US" sz="2000" dirty="0" err="1"/>
                  <a:t>th</a:t>
                </a:r>
                <a:r>
                  <a:rPr lang="en-US" sz="2000" dirty="0"/>
                  <a:t> percentile of a data set, we must first arrange the data in ascending order so that the smallest value in the data set is in position 1, the next one in position 2, and so on.</a:t>
                </a:r>
              </a:p>
              <a:p>
                <a:pPr>
                  <a:spcBef>
                    <a:spcPts val="600"/>
                  </a:spcBef>
                  <a:spcAft>
                    <a:spcPts val="600"/>
                  </a:spcAft>
                </a:pPr>
                <a:r>
                  <a:rPr lang="en-US" sz="2000" dirty="0"/>
                  <a:t>The </a:t>
                </a:r>
                <a:r>
                  <a:rPr lang="en-US" sz="2000" b="1" dirty="0"/>
                  <a:t>location</a:t>
                </a:r>
                <a:r>
                  <a:rPr lang="en-US" sz="2000" dirty="0"/>
                  <a:t> of the 𝑝</a:t>
                </a:r>
                <a:r>
                  <a:rPr lang="en-US" sz="2000" dirty="0" err="1"/>
                  <a:t>th</a:t>
                </a:r>
                <a:r>
                  <a:rPr lang="en-US" sz="2000" dirty="0"/>
                  <a:t> percentile, denoted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𝐿</m:t>
                        </m:r>
                      </m:e>
                      <m:sub>
                        <m:r>
                          <a:rPr lang="en-US" sz="2000" b="0" i="1" dirty="0" smtClean="0">
                            <a:latin typeface="Cambria Math" panose="02040503050406030204" pitchFamily="18" charset="0"/>
                          </a:rPr>
                          <m:t>𝑝</m:t>
                        </m:r>
                      </m:sub>
                    </m:sSub>
                  </m:oMath>
                </a14:m>
                <a:r>
                  <a:rPr lang="en-US" sz="2000" dirty="0"/>
                  <a:t>, is computed using the following equation:</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𝐿</m:t>
                          </m:r>
                        </m:e>
                        <m:sub>
                          <m:r>
                            <a:rPr lang="en-US" sz="2000" b="0" i="1" dirty="0" smtClean="0">
                              <a:latin typeface="Cambria Math" panose="02040503050406030204" pitchFamily="18" charset="0"/>
                            </a:rPr>
                            <m:t>𝑝</m:t>
                          </m:r>
                        </m:sub>
                      </m:sSub>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𝑝</m:t>
                          </m:r>
                        </m:num>
                        <m:den>
                          <m:r>
                            <a:rPr lang="en-US" sz="2000" b="0" i="1" dirty="0" smtClean="0">
                              <a:latin typeface="Cambria Math" panose="02040503050406030204" pitchFamily="18" charset="0"/>
                            </a:rPr>
                            <m:t>100</m:t>
                          </m:r>
                        </m:den>
                      </m:f>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𝑛</m:t>
                          </m:r>
                          <m:r>
                            <a:rPr lang="en-US" sz="2000" b="0" i="1" dirty="0" smtClean="0">
                              <a:latin typeface="Cambria Math" panose="02040503050406030204" pitchFamily="18" charset="0"/>
                            </a:rPr>
                            <m:t>+1</m:t>
                          </m:r>
                        </m:e>
                      </m:d>
                    </m:oMath>
                  </m:oMathPara>
                </a14:m>
                <a:endParaRPr lang="en-US" sz="2000" dirty="0"/>
              </a:p>
              <a:p>
                <a:pPr>
                  <a:spcBef>
                    <a:spcPts val="600"/>
                  </a:spcBef>
                  <a:spcAft>
                    <a:spcPts val="0"/>
                  </a:spcAft>
                </a:pPr>
                <a:r>
                  <a:rPr lang="en-US" sz="2000" dirty="0"/>
                  <a:t>Now, we are ready to calculate the 𝑝</a:t>
                </a:r>
                <a:r>
                  <a:rPr lang="en-US" sz="2000" dirty="0" err="1"/>
                  <a:t>th</a:t>
                </a:r>
                <a:r>
                  <a:rPr lang="en-US" sz="2000" dirty="0"/>
                  <a:t> percentile. Let us do that with an example.</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371600"/>
                <a:ext cx="10711543" cy="4240925"/>
              </a:xfrm>
              <a:blipFill>
                <a:blip r:embed="rId3"/>
                <a:stretch>
                  <a:fillRect l="-1422" t="-1724" r="-1251" b="-862"/>
                </a:stretch>
              </a:blipFill>
            </p:spPr>
            <p:txBody>
              <a:bodyPr/>
              <a:lstStyle/>
              <a:p>
                <a:r>
                  <a:rPr lang="en-US">
                    <a:noFill/>
                  </a:rPr>
                  <a:t> </a:t>
                </a:r>
              </a:p>
            </p:txBody>
          </p:sp>
        </mc:Fallback>
      </mc:AlternateContent>
    </p:spTree>
    <p:extLst>
      <p:ext uri="{BB962C8B-B14F-4D97-AF65-F5344CB8AC3E}">
        <p14:creationId xmlns:p14="http://schemas.microsoft.com/office/powerpoint/2010/main" val="3932273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9A2D-937A-7FEF-39B6-1454A84C4633}"/>
              </a:ext>
            </a:extLst>
          </p:cNvPr>
          <p:cNvSpPr>
            <a:spLocks noGrp="1"/>
          </p:cNvSpPr>
          <p:nvPr>
            <p:ph type="title"/>
          </p:nvPr>
        </p:nvSpPr>
        <p:spPr/>
        <p:txBody>
          <a:bodyPr/>
          <a:lstStyle/>
          <a:p>
            <a:r>
              <a:rPr lang="en-US" dirty="0"/>
              <a:t>3.1 An Application of the Percentile</a:t>
            </a:r>
          </a:p>
        </p:txBody>
      </p:sp>
      <p:sp>
        <p:nvSpPr>
          <p:cNvPr id="3" name="Text Placeholder 2">
            <a:extLst>
              <a:ext uri="{FF2B5EF4-FFF2-40B4-BE49-F238E27FC236}">
                <a16:creationId xmlns:a16="http://schemas.microsoft.com/office/drawing/2014/main" id="{19355C59-8D17-D189-1796-4947F71B6284}"/>
              </a:ext>
            </a:extLst>
          </p:cNvPr>
          <p:cNvSpPr>
            <a:spLocks noGrp="1"/>
          </p:cNvSpPr>
          <p:nvPr>
            <p:ph type="body" sz="quarter" idx="15"/>
          </p:nvPr>
        </p:nvSpPr>
        <p:spPr>
          <a:xfrm>
            <a:off x="793194" y="1466132"/>
            <a:ext cx="10560606" cy="1036064"/>
          </a:xfrm>
        </p:spPr>
        <p:txBody>
          <a:bodyPr>
            <a:noAutofit/>
          </a:bodyPr>
          <a:lstStyle/>
          <a:p>
            <a:pPr>
              <a:lnSpc>
                <a:spcPct val="100000"/>
              </a:lnSpc>
              <a:spcBef>
                <a:spcPts val="600"/>
              </a:spcBef>
              <a:spcAft>
                <a:spcPts val="0"/>
              </a:spcAft>
            </a:pPr>
            <a:r>
              <a:rPr lang="en-US" sz="2000" dirty="0"/>
              <a:t>Compute the 80</a:t>
            </a:r>
            <a:r>
              <a:rPr lang="en-US" sz="2000" baseline="30000" dirty="0"/>
              <a:t>th</a:t>
            </a:r>
            <a:r>
              <a:rPr lang="en-US" sz="2000" dirty="0"/>
              <a:t> percentile for the sample of 12 business graduates’ starting salaries.</a:t>
            </a:r>
          </a:p>
          <a:p>
            <a:pPr>
              <a:lnSpc>
                <a:spcPct val="100000"/>
              </a:lnSpc>
              <a:spcBef>
                <a:spcPts val="600"/>
              </a:spcBef>
              <a:spcAft>
                <a:spcPts val="0"/>
              </a:spcAft>
            </a:pPr>
            <a:r>
              <a:rPr lang="en-US" sz="2000" dirty="0"/>
              <a:t>With the data arranged in ascending order, we indicate the position of each observation directly below its value.</a:t>
            </a:r>
          </a:p>
        </p:txBody>
      </p:sp>
      <p:graphicFrame>
        <p:nvGraphicFramePr>
          <p:cNvPr id="5" name="Table 5">
            <a:extLst>
              <a:ext uri="{FF2B5EF4-FFF2-40B4-BE49-F238E27FC236}">
                <a16:creationId xmlns:a16="http://schemas.microsoft.com/office/drawing/2014/main" id="{0D1A0642-FDBD-AB9D-7486-304154FB2E52}"/>
              </a:ext>
            </a:extLst>
          </p:cNvPr>
          <p:cNvGraphicFramePr>
            <a:graphicFrameLocks noGrp="1"/>
          </p:cNvGraphicFramePr>
          <p:nvPr>
            <p:ph type="tbl" sz="quarter" idx="22"/>
            <p:extLst>
              <p:ext uri="{D42A27DB-BD31-4B8C-83A1-F6EECF244321}">
                <p14:modId xmlns:p14="http://schemas.microsoft.com/office/powerpoint/2010/main" val="2993687367"/>
              </p:ext>
            </p:extLst>
          </p:nvPr>
        </p:nvGraphicFramePr>
        <p:xfrm>
          <a:off x="793194" y="2547772"/>
          <a:ext cx="10177524" cy="756745"/>
        </p:xfrm>
        <a:graphic>
          <a:graphicData uri="http://schemas.openxmlformats.org/drawingml/2006/table">
            <a:tbl>
              <a:tblPr firstRow="1" bandRow="1">
                <a:tableStyleId>{5C22544A-7EE6-4342-B048-85BDC9FD1C3A}</a:tableStyleId>
              </a:tblPr>
              <a:tblGrid>
                <a:gridCol w="1115580">
                  <a:extLst>
                    <a:ext uri="{9D8B030D-6E8A-4147-A177-3AD203B41FA5}">
                      <a16:colId xmlns:a16="http://schemas.microsoft.com/office/drawing/2014/main" val="1291337816"/>
                    </a:ext>
                  </a:extLst>
                </a:gridCol>
                <a:gridCol w="755162">
                  <a:extLst>
                    <a:ext uri="{9D8B030D-6E8A-4147-A177-3AD203B41FA5}">
                      <a16:colId xmlns:a16="http://schemas.microsoft.com/office/drawing/2014/main" val="2585254363"/>
                    </a:ext>
                  </a:extLst>
                </a:gridCol>
                <a:gridCol w="755162">
                  <a:extLst>
                    <a:ext uri="{9D8B030D-6E8A-4147-A177-3AD203B41FA5}">
                      <a16:colId xmlns:a16="http://schemas.microsoft.com/office/drawing/2014/main" val="1543800299"/>
                    </a:ext>
                  </a:extLst>
                </a:gridCol>
                <a:gridCol w="755162">
                  <a:extLst>
                    <a:ext uri="{9D8B030D-6E8A-4147-A177-3AD203B41FA5}">
                      <a16:colId xmlns:a16="http://schemas.microsoft.com/office/drawing/2014/main" val="1014061565"/>
                    </a:ext>
                  </a:extLst>
                </a:gridCol>
                <a:gridCol w="755162">
                  <a:extLst>
                    <a:ext uri="{9D8B030D-6E8A-4147-A177-3AD203B41FA5}">
                      <a16:colId xmlns:a16="http://schemas.microsoft.com/office/drawing/2014/main" val="932901749"/>
                    </a:ext>
                  </a:extLst>
                </a:gridCol>
                <a:gridCol w="755162">
                  <a:extLst>
                    <a:ext uri="{9D8B030D-6E8A-4147-A177-3AD203B41FA5}">
                      <a16:colId xmlns:a16="http://schemas.microsoft.com/office/drawing/2014/main" val="1132871650"/>
                    </a:ext>
                  </a:extLst>
                </a:gridCol>
                <a:gridCol w="755162">
                  <a:extLst>
                    <a:ext uri="{9D8B030D-6E8A-4147-A177-3AD203B41FA5}">
                      <a16:colId xmlns:a16="http://schemas.microsoft.com/office/drawing/2014/main" val="1930362237"/>
                    </a:ext>
                  </a:extLst>
                </a:gridCol>
                <a:gridCol w="755162">
                  <a:extLst>
                    <a:ext uri="{9D8B030D-6E8A-4147-A177-3AD203B41FA5}">
                      <a16:colId xmlns:a16="http://schemas.microsoft.com/office/drawing/2014/main" val="1409272277"/>
                    </a:ext>
                  </a:extLst>
                </a:gridCol>
                <a:gridCol w="755162">
                  <a:extLst>
                    <a:ext uri="{9D8B030D-6E8A-4147-A177-3AD203B41FA5}">
                      <a16:colId xmlns:a16="http://schemas.microsoft.com/office/drawing/2014/main" val="2594969779"/>
                    </a:ext>
                  </a:extLst>
                </a:gridCol>
                <a:gridCol w="755162">
                  <a:extLst>
                    <a:ext uri="{9D8B030D-6E8A-4147-A177-3AD203B41FA5}">
                      <a16:colId xmlns:a16="http://schemas.microsoft.com/office/drawing/2014/main" val="3523479073"/>
                    </a:ext>
                  </a:extLst>
                </a:gridCol>
                <a:gridCol w="755162">
                  <a:extLst>
                    <a:ext uri="{9D8B030D-6E8A-4147-A177-3AD203B41FA5}">
                      <a16:colId xmlns:a16="http://schemas.microsoft.com/office/drawing/2014/main" val="2487751299"/>
                    </a:ext>
                  </a:extLst>
                </a:gridCol>
                <a:gridCol w="755162">
                  <a:extLst>
                    <a:ext uri="{9D8B030D-6E8A-4147-A177-3AD203B41FA5}">
                      <a16:colId xmlns:a16="http://schemas.microsoft.com/office/drawing/2014/main" val="479694325"/>
                    </a:ext>
                  </a:extLst>
                </a:gridCol>
                <a:gridCol w="755162">
                  <a:extLst>
                    <a:ext uri="{9D8B030D-6E8A-4147-A177-3AD203B41FA5}">
                      <a16:colId xmlns:a16="http://schemas.microsoft.com/office/drawing/2014/main" val="2939959732"/>
                    </a:ext>
                  </a:extLst>
                </a:gridCol>
              </a:tblGrid>
              <a:tr h="382273">
                <a:tc>
                  <a:txBody>
                    <a:bodyPr/>
                    <a:lstStyle/>
                    <a:p>
                      <a:pPr algn="l" fontAlgn="b"/>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5710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5755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Arial" panose="020B0604020202020204" pitchFamily="34" charset="0"/>
                          <a:cs typeface="Arial" panose="020B0604020202020204" pitchFamily="34" charset="0"/>
                        </a:rPr>
                        <a:t>5850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5880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5880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5890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5920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5940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5950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highlight>
                            <a:srgbClr val="FFFF00"/>
                          </a:highlight>
                          <a:latin typeface="Arial" panose="020B0604020202020204" pitchFamily="34" charset="0"/>
                          <a:cs typeface="Arial" panose="020B0604020202020204" pitchFamily="34" charset="0"/>
                        </a:rPr>
                        <a:t>6050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highlight>
                            <a:srgbClr val="FFFF00"/>
                          </a:highlight>
                          <a:latin typeface="Arial" panose="020B0604020202020204" pitchFamily="34" charset="0"/>
                          <a:cs typeface="Arial" panose="020B0604020202020204" pitchFamily="34" charset="0"/>
                        </a:rPr>
                        <a:t>6130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Arial" panose="020B0604020202020204" pitchFamily="34" charset="0"/>
                          <a:cs typeface="Arial" panose="020B0604020202020204" pitchFamily="34" charset="0"/>
                        </a:rPr>
                        <a:t>6325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789201957"/>
                  </a:ext>
                </a:extLst>
              </a:tr>
              <a:tr h="374472">
                <a:tc>
                  <a:txBody>
                    <a:bodyPr/>
                    <a:lstStyle/>
                    <a:p>
                      <a:pPr algn="l"/>
                      <a:r>
                        <a:rPr lang="en-US" sz="2000" b="0" i="0" u="none" strike="noStrike" dirty="0">
                          <a:solidFill>
                            <a:srgbClr val="000000"/>
                          </a:solidFill>
                          <a:effectLst/>
                          <a:latin typeface="Arial" panose="020B0604020202020204" pitchFamily="34" charset="0"/>
                          <a:cs typeface="Arial" panose="020B0604020202020204" pitchFamily="34" charset="0"/>
                        </a:rPr>
                        <a:t>Position</a:t>
                      </a:r>
                      <a:endParaRPr lang="en-US" sz="2000" dirty="0">
                        <a:solidFill>
                          <a:srgbClr val="000000"/>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2000" dirty="0">
                          <a:solidFill>
                            <a:srgbClr val="000000"/>
                          </a:solidFill>
                          <a:latin typeface="Arial" panose="020B0604020202020204" pitchFamily="34" charset="0"/>
                          <a:cs typeface="Arial" panose="020B0604020202020204" pitchFamily="34" charset="0"/>
                        </a:rPr>
                        <a:t>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tabLst>
                          <a:tab pos="914400" algn="r"/>
                        </a:tabLst>
                      </a:pPr>
                      <a:r>
                        <a:rPr lang="en-US" sz="2000" dirty="0">
                          <a:solidFill>
                            <a:srgbClr val="000000"/>
                          </a:solidFill>
                          <a:latin typeface="Arial" panose="020B0604020202020204" pitchFamily="34" charset="0"/>
                          <a:cs typeface="Arial" panose="020B0604020202020204" pitchFamily="34" charset="0"/>
                        </a:rPr>
                        <a:t>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tabLst>
                          <a:tab pos="914400" algn="r"/>
                        </a:tabLst>
                      </a:pPr>
                      <a:r>
                        <a:rPr lang="en-US" sz="2000" dirty="0">
                          <a:solidFill>
                            <a:srgbClr val="000000"/>
                          </a:solidFill>
                          <a:highlight>
                            <a:srgbClr val="FFFF00"/>
                          </a:highlight>
                          <a:latin typeface="Arial" panose="020B0604020202020204" pitchFamily="34" charset="0"/>
                          <a:cs typeface="Arial" panose="020B0604020202020204" pitchFamily="34" charset="0"/>
                        </a:rPr>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tabLst>
                          <a:tab pos="914400" algn="r"/>
                        </a:tabLst>
                      </a:pPr>
                      <a:r>
                        <a:rPr lang="en-US" sz="2000" dirty="0">
                          <a:solidFill>
                            <a:srgbClr val="000000"/>
                          </a:solidFill>
                          <a:highlight>
                            <a:srgbClr val="FFFF00"/>
                          </a:highlight>
                          <a:latin typeface="Arial" panose="020B0604020202020204" pitchFamily="34" charset="0"/>
                          <a:cs typeface="Arial" panose="020B0604020202020204" pitchFamily="34" charset="0"/>
                        </a:rPr>
                        <a:t>11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tabLst>
                          <a:tab pos="914400" algn="r"/>
                        </a:tabLst>
                      </a:pPr>
                      <a:r>
                        <a:rPr lang="en-US" sz="2000" dirty="0">
                          <a:solidFill>
                            <a:srgbClr val="000000"/>
                          </a:solidFill>
                          <a:latin typeface="Arial" panose="020B0604020202020204" pitchFamily="34" charset="0"/>
                          <a:cs typeface="Arial" panose="020B0604020202020204" pitchFamily="34" charset="0"/>
                        </a:rPr>
                        <a:t>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940537830"/>
                  </a:ext>
                </a:extLst>
              </a:tr>
            </a:tbl>
          </a:graphicData>
        </a:graphic>
      </p:graphicFrame>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F6DDF0B-47DE-0818-C4E8-0D90DFFB599E}"/>
                  </a:ext>
                </a:extLst>
              </p:cNvPr>
              <p:cNvSpPr>
                <a:spLocks noGrp="1"/>
              </p:cNvSpPr>
              <p:nvPr>
                <p:ph type="body" sz="quarter" idx="18"/>
              </p:nvPr>
            </p:nvSpPr>
            <p:spPr>
              <a:xfrm>
                <a:off x="793193" y="3400223"/>
                <a:ext cx="10560607" cy="2194700"/>
              </a:xfrm>
            </p:spPr>
            <p:txBody>
              <a:bodyPr>
                <a:normAutofit/>
              </a:bodyPr>
              <a:lstStyle/>
              <a:p>
                <a:pPr>
                  <a:lnSpc>
                    <a:spcPct val="100000"/>
                  </a:lnSpc>
                  <a:spcBef>
                    <a:spcPts val="600"/>
                  </a:spcBef>
                  <a:spcAft>
                    <a:spcPts val="600"/>
                  </a:spcAft>
                </a:pPr>
                <a:r>
                  <a:rPr lang="en-US" sz="2000" dirty="0"/>
                  <a:t>The location of the 80</a:t>
                </a:r>
                <a:r>
                  <a:rPr lang="en-US" sz="2000" baseline="30000" dirty="0"/>
                  <a:t>th</a:t>
                </a:r>
                <a:r>
                  <a:rPr lang="en-US" sz="2000" dirty="0"/>
                  <a:t> percentile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𝐿</m:t>
                          </m:r>
                        </m:e>
                        <m:sub>
                          <m:r>
                            <a:rPr lang="en-US" sz="2000" b="0" i="1" dirty="0" smtClean="0">
                              <a:latin typeface="Cambria Math" panose="02040503050406030204" pitchFamily="18" charset="0"/>
                            </a:rPr>
                            <m:t>80</m:t>
                          </m:r>
                        </m:sub>
                      </m:sSub>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𝑝</m:t>
                          </m:r>
                        </m:num>
                        <m:den>
                          <m:r>
                            <a:rPr lang="en-US" sz="2000" b="0" i="1" dirty="0" smtClean="0">
                              <a:latin typeface="Cambria Math" panose="02040503050406030204" pitchFamily="18" charset="0"/>
                            </a:rPr>
                            <m:t>100</m:t>
                          </m:r>
                        </m:den>
                      </m:f>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𝑛</m:t>
                          </m:r>
                          <m:r>
                            <a:rPr lang="en-US" sz="2000" b="0" i="1" dirty="0" smtClean="0">
                              <a:latin typeface="Cambria Math" panose="02040503050406030204" pitchFamily="18" charset="0"/>
                            </a:rPr>
                            <m:t>+1</m:t>
                          </m:r>
                        </m:e>
                      </m:d>
                      <m:r>
                        <a:rPr lang="en-US" sz="2000" b="0" i="1" dirty="0" smtClean="0">
                          <a:latin typeface="Cambria Math" panose="02040503050406030204" pitchFamily="18" charset="0"/>
                        </a:rPr>
                        <m:t>=</m:t>
                      </m:r>
                      <m:f>
                        <m:fPr>
                          <m:ctrlPr>
                            <a:rPr lang="en-US" sz="2000" i="1" dirty="0">
                              <a:latin typeface="Cambria Math" panose="02040503050406030204" pitchFamily="18" charset="0"/>
                            </a:rPr>
                          </m:ctrlPr>
                        </m:fPr>
                        <m:num>
                          <m:r>
                            <a:rPr lang="en-US" sz="2000" b="0" i="1" dirty="0" smtClean="0">
                              <a:latin typeface="Cambria Math" panose="02040503050406030204" pitchFamily="18" charset="0"/>
                            </a:rPr>
                            <m:t>80</m:t>
                          </m:r>
                        </m:num>
                        <m:den>
                          <m:r>
                            <a:rPr lang="en-US" sz="2000" i="1" dirty="0">
                              <a:latin typeface="Cambria Math" panose="02040503050406030204" pitchFamily="18" charset="0"/>
                            </a:rPr>
                            <m:t>100</m:t>
                          </m:r>
                        </m:den>
                      </m:f>
                      <m:d>
                        <m:dPr>
                          <m:ctrlPr>
                            <a:rPr lang="en-US" sz="2000" i="1" dirty="0">
                              <a:latin typeface="Cambria Math" panose="02040503050406030204" pitchFamily="18" charset="0"/>
                            </a:rPr>
                          </m:ctrlPr>
                        </m:dPr>
                        <m:e>
                          <m:r>
                            <a:rPr lang="en-US" sz="2000" b="0" i="1" dirty="0" smtClean="0">
                              <a:latin typeface="Cambria Math" panose="02040503050406030204" pitchFamily="18" charset="0"/>
                            </a:rPr>
                            <m:t>12</m:t>
                          </m:r>
                          <m:r>
                            <a:rPr lang="en-US" sz="2000" i="1" dirty="0">
                              <a:latin typeface="Cambria Math" panose="02040503050406030204" pitchFamily="18" charset="0"/>
                            </a:rPr>
                            <m:t>+1</m:t>
                          </m:r>
                        </m:e>
                      </m:d>
                      <m:r>
                        <a:rPr lang="en-US" sz="2000" b="0" i="1" dirty="0" smtClean="0">
                          <a:latin typeface="Cambria Math" panose="02040503050406030204" pitchFamily="18" charset="0"/>
                        </a:rPr>
                        <m:t>=10.4</m:t>
                      </m:r>
                    </m:oMath>
                  </m:oMathPara>
                </a14:m>
                <a:endParaRPr lang="en-US" sz="2000" dirty="0"/>
              </a:p>
              <a:p>
                <a:pPr>
                  <a:lnSpc>
                    <a:spcPct val="100000"/>
                  </a:lnSpc>
                  <a:spcBef>
                    <a:spcPts val="600"/>
                  </a:spcBef>
                  <a:spcAft>
                    <a:spcPts val="600"/>
                  </a:spcAft>
                </a:pPr>
                <a:r>
                  <a:rPr lang="en-US" sz="2000" dirty="0"/>
                  <a:t>The interpretation of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𝐿</m:t>
                        </m:r>
                      </m:e>
                      <m:sub>
                        <m:r>
                          <a:rPr lang="en-US" sz="2000" b="0" i="1" dirty="0" smtClean="0">
                            <a:latin typeface="Cambria Math" panose="02040503050406030204" pitchFamily="18" charset="0"/>
                          </a:rPr>
                          <m:t>80</m:t>
                        </m:r>
                      </m:sub>
                    </m:sSub>
                    <m:r>
                      <a:rPr lang="en-US" sz="2000" b="0" i="1" dirty="0" smtClean="0">
                        <a:latin typeface="Cambria Math" panose="02040503050406030204" pitchFamily="18" charset="0"/>
                      </a:rPr>
                      <m:t>=10.4</m:t>
                    </m:r>
                  </m:oMath>
                </a14:m>
                <a:r>
                  <a:rPr lang="en-US" sz="2000" dirty="0"/>
                  <a:t> is that the 80</a:t>
                </a:r>
                <a:r>
                  <a:rPr lang="en-US" sz="2000" baseline="30000" dirty="0"/>
                  <a:t>th</a:t>
                </a:r>
                <a:r>
                  <a:rPr lang="en-US" sz="2000" dirty="0"/>
                  <a:t> percentile is 40% of the way between the values in position 10 and 11.</a:t>
                </a:r>
              </a:p>
              <a:p>
                <a:pPr marL="914400">
                  <a:lnSpc>
                    <a:spcPct val="100000"/>
                  </a:lnSpc>
                  <a:spcBef>
                    <a:spcPts val="600"/>
                  </a:spcBef>
                </a:pPr>
                <a14:m>
                  <m:oMathPara xmlns:m="http://schemas.openxmlformats.org/officeDocument/2006/math">
                    <m:oMathParaPr>
                      <m:jc m:val="left"/>
                    </m:oMathParaPr>
                    <m:oMath xmlns:m="http://schemas.openxmlformats.org/officeDocument/2006/math">
                      <m:r>
                        <m:rPr>
                          <m:nor/>
                        </m:rPr>
                        <a:rPr lang="en-US" sz="2000" b="0" i="0" smtClean="0">
                          <a:latin typeface="Arial" panose="020B0604020202020204" pitchFamily="34" charset="0"/>
                          <a:cs typeface="Arial" panose="020B0604020202020204" pitchFamily="34" charset="0"/>
                        </a:rPr>
                        <m:t>80</m:t>
                      </m:r>
                      <m:r>
                        <m:rPr>
                          <m:nor/>
                        </m:rPr>
                        <a:rPr lang="en-US" sz="2000" b="0" i="0" smtClean="0">
                          <a:latin typeface="Arial" panose="020B0604020202020204" pitchFamily="34" charset="0"/>
                          <a:cs typeface="Arial" panose="020B0604020202020204" pitchFamily="34" charset="0"/>
                        </a:rPr>
                        <m:t>th</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percentile</m:t>
                      </m:r>
                      <m:r>
                        <a:rPr lang="en-US" sz="2000" b="0" i="1" smtClean="0">
                          <a:latin typeface="Cambria Math" panose="02040503050406030204" pitchFamily="18" charset="0"/>
                        </a:rPr>
                        <m:t>=6050+0.4</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6130−6050</m:t>
                          </m:r>
                        </m:e>
                      </m:d>
                      <m:r>
                        <a:rPr lang="en-US" sz="2000" b="0" i="1" smtClean="0">
                          <a:latin typeface="Cambria Math" panose="02040503050406030204" pitchFamily="18" charset="0"/>
                        </a:rPr>
                        <m:t>=6050+0.4</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80</m:t>
                          </m:r>
                        </m:e>
                      </m:d>
                      <m:r>
                        <a:rPr lang="en-US" sz="2000" b="0" i="1" smtClean="0">
                          <a:latin typeface="Cambria Math" panose="02040503050406030204" pitchFamily="18" charset="0"/>
                        </a:rPr>
                        <m:t>=6082</m:t>
                      </m:r>
                    </m:oMath>
                  </m:oMathPara>
                </a14:m>
                <a:endParaRPr lang="en-US" sz="2000" dirty="0"/>
              </a:p>
            </p:txBody>
          </p:sp>
        </mc:Choice>
        <mc:Fallback xmlns="">
          <p:sp>
            <p:nvSpPr>
              <p:cNvPr id="4" name="Text Placeholder 3">
                <a:extLst>
                  <a:ext uri="{FF2B5EF4-FFF2-40B4-BE49-F238E27FC236}">
                    <a16:creationId xmlns:a16="http://schemas.microsoft.com/office/drawing/2014/main" id="{BF6DDF0B-47DE-0818-C4E8-0D90DFFB599E}"/>
                  </a:ext>
                </a:extLst>
              </p:cNvPr>
              <p:cNvSpPr>
                <a:spLocks noGrp="1" noRot="1" noChangeAspect="1" noMove="1" noResize="1" noEditPoints="1" noAdjustHandles="1" noChangeArrowheads="1" noChangeShapeType="1" noTextEdit="1"/>
              </p:cNvSpPr>
              <p:nvPr>
                <p:ph type="body" sz="quarter" idx="18"/>
              </p:nvPr>
            </p:nvSpPr>
            <p:spPr>
              <a:xfrm>
                <a:off x="793193" y="3400223"/>
                <a:ext cx="10560607" cy="2194700"/>
              </a:xfrm>
              <a:blipFill>
                <a:blip r:embed="rId3"/>
                <a:stretch>
                  <a:fillRect l="-1443" t="-3333" b="-278"/>
                </a:stretch>
              </a:blipFill>
            </p:spPr>
            <p:txBody>
              <a:bodyPr/>
              <a:lstStyle/>
              <a:p>
                <a:r>
                  <a:rPr lang="en-US">
                    <a:noFill/>
                  </a:rPr>
                  <a:t> </a:t>
                </a:r>
              </a:p>
            </p:txBody>
          </p:sp>
        </mc:Fallback>
      </mc:AlternateContent>
    </p:spTree>
    <p:extLst>
      <p:ext uri="{BB962C8B-B14F-4D97-AF65-F5344CB8AC3E}">
        <p14:creationId xmlns:p14="http://schemas.microsoft.com/office/powerpoint/2010/main" val="448081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3.1 Quartile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285625"/>
                <a:ext cx="10711543" cy="4392161"/>
              </a:xfrm>
            </p:spPr>
            <p:txBody>
              <a:bodyPr/>
              <a:lstStyle/>
              <a:p>
                <a:pPr>
                  <a:spcBef>
                    <a:spcPts val="600"/>
                  </a:spcBef>
                  <a:spcAft>
                    <a:spcPts val="0"/>
                  </a:spcAft>
                </a:pPr>
                <a:r>
                  <a:rPr lang="en-US" sz="2000" b="1" dirty="0"/>
                  <a:t>Quartiles</a:t>
                </a:r>
                <a:r>
                  <a:rPr lang="en-US" sz="2000" dirty="0"/>
                  <a:t> are specific percentiles that divide the data set into four parts, with each part containing approximately 25% of the observations. Quartiles are defined as follows:</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oMath>
                </a14:m>
                <a:r>
                  <a:rPr lang="en-US" sz="2000" dirty="0"/>
                  <a:t> first quartile, or 25</a:t>
                </a:r>
                <a:r>
                  <a:rPr lang="en-US" sz="2000" baseline="30000" dirty="0"/>
                  <a:t>th</a:t>
                </a:r>
                <a:r>
                  <a:rPr lang="en-US" sz="2000" dirty="0"/>
                  <a:t> percentile</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second quartile, or 50</a:t>
                </a:r>
                <a:r>
                  <a:rPr lang="en-US" sz="2000" baseline="30000" dirty="0"/>
                  <a:t>th</a:t>
                </a:r>
                <a:r>
                  <a:rPr lang="en-US" sz="2000" dirty="0"/>
                  <a:t> percentile (also the median)</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oMath>
                </a14:m>
                <a:r>
                  <a:rPr lang="en-US" sz="2000" dirty="0"/>
                  <a:t> third quartile, or 75</a:t>
                </a:r>
                <a:r>
                  <a:rPr lang="en-US" sz="2000" baseline="30000" dirty="0"/>
                  <a:t>th</a:t>
                </a:r>
                <a:r>
                  <a:rPr lang="en-US" sz="2000" dirty="0"/>
                  <a:t> percentile</a:t>
                </a:r>
              </a:p>
              <a:p>
                <a:pPr>
                  <a:spcBef>
                    <a:spcPts val="600"/>
                  </a:spcBef>
                  <a:spcAft>
                    <a:spcPts val="0"/>
                  </a:spcAft>
                </a:pPr>
                <a:r>
                  <a:rPr lang="en-US" sz="2000" dirty="0"/>
                  <a:t>The procedure for computing percentiles can be also used to compute quartiles. Let us calculate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3</m:t>
                        </m:r>
                      </m:sub>
                    </m:sSub>
                  </m:oMath>
                </a14:m>
                <a:r>
                  <a:rPr lang="en-US" sz="2000" dirty="0"/>
                  <a:t> for the sample of 12 business graduates’ starting salaries.</a:t>
                </a:r>
              </a:p>
              <a:p>
                <a:pPr>
                  <a:spcBef>
                    <a:spcPts val="600"/>
                  </a:spcBef>
                  <a:spcAft>
                    <a:spcPts val="600"/>
                  </a:spcAft>
                </a:pPr>
                <a:r>
                  <a:rPr lang="en-US" sz="2000" dirty="0"/>
                  <a:t>First, we calculate the locations</a:t>
                </a:r>
              </a:p>
              <a:p>
                <a:pPr marL="4572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𝐿</m:t>
                          </m:r>
                        </m:e>
                        <m:sub>
                          <m:r>
                            <a:rPr lang="en-US" sz="2000" b="0" i="1" dirty="0" smtClean="0">
                              <a:latin typeface="Cambria Math" panose="02040503050406030204" pitchFamily="18" charset="0"/>
                            </a:rPr>
                            <m:t>25</m:t>
                          </m:r>
                        </m:sub>
                      </m:sSub>
                      <m:r>
                        <a:rPr lang="en-US" sz="2000" b="0" i="1" dirty="0" smtClean="0">
                          <a:latin typeface="Cambria Math" panose="02040503050406030204" pitchFamily="18" charset="0"/>
                        </a:rPr>
                        <m:t>=</m:t>
                      </m:r>
                      <m:f>
                        <m:fPr>
                          <m:ctrlPr>
                            <a:rPr lang="en-US" sz="2000" i="1" dirty="0">
                              <a:latin typeface="Cambria Math" panose="02040503050406030204" pitchFamily="18" charset="0"/>
                            </a:rPr>
                          </m:ctrlPr>
                        </m:fPr>
                        <m:num>
                          <m:r>
                            <a:rPr lang="en-US" sz="2000" b="0" i="1" dirty="0" smtClean="0">
                              <a:latin typeface="Cambria Math" panose="02040503050406030204" pitchFamily="18" charset="0"/>
                            </a:rPr>
                            <m:t>25</m:t>
                          </m:r>
                        </m:num>
                        <m:den>
                          <m:r>
                            <a:rPr lang="en-US" sz="2000" i="1" dirty="0">
                              <a:latin typeface="Cambria Math" panose="02040503050406030204" pitchFamily="18" charset="0"/>
                            </a:rPr>
                            <m:t>100</m:t>
                          </m:r>
                        </m:den>
                      </m:f>
                      <m:d>
                        <m:dPr>
                          <m:ctrlPr>
                            <a:rPr lang="en-US" sz="2000" i="1" dirty="0">
                              <a:latin typeface="Cambria Math" panose="02040503050406030204" pitchFamily="18" charset="0"/>
                            </a:rPr>
                          </m:ctrlPr>
                        </m:dPr>
                        <m:e>
                          <m:r>
                            <a:rPr lang="en-US" sz="2000" b="0" i="1" dirty="0" smtClean="0">
                              <a:latin typeface="Cambria Math" panose="02040503050406030204" pitchFamily="18" charset="0"/>
                            </a:rPr>
                            <m:t>12</m:t>
                          </m:r>
                          <m:r>
                            <a:rPr lang="en-US" sz="2000" i="1" dirty="0">
                              <a:latin typeface="Cambria Math" panose="02040503050406030204" pitchFamily="18" charset="0"/>
                            </a:rPr>
                            <m:t>+1</m:t>
                          </m:r>
                        </m:e>
                      </m:d>
                      <m:r>
                        <a:rPr lang="en-US" sz="2000" b="0" i="1" dirty="0" smtClean="0">
                          <a:latin typeface="Cambria Math" panose="02040503050406030204" pitchFamily="18" charset="0"/>
                        </a:rPr>
                        <m:t>=3.25</m:t>
                      </m:r>
                      <m:r>
                        <m:rPr>
                          <m:nor/>
                        </m:rPr>
                        <a:rPr lang="en-US" sz="2000" b="0" i="0" dirty="0" smtClean="0">
                          <a:latin typeface="Arial" panose="020B0604020202020204" pitchFamily="34" charset="0"/>
                          <a:cs typeface="Arial" panose="020B0604020202020204" pitchFamily="34" charset="0"/>
                        </a:rPr>
                        <m:t>    </m:t>
                      </m:r>
                      <m:r>
                        <m:rPr>
                          <m:nor/>
                        </m:rPr>
                        <a:rPr lang="en-US" sz="2000" b="0" i="0" dirty="0" smtClean="0">
                          <a:latin typeface="Arial" panose="020B0604020202020204" pitchFamily="34" charset="0"/>
                          <a:cs typeface="Arial" panose="020B0604020202020204" pitchFamily="34" charset="0"/>
                        </a:rPr>
                        <m:t>and</m:t>
                      </m:r>
                      <m:r>
                        <m:rPr>
                          <m:nor/>
                        </m:rPr>
                        <a:rPr lang="en-US" sz="2000" b="0" i="0" dirty="0" smtClean="0">
                          <a:latin typeface="Arial" panose="020B0604020202020204" pitchFamily="34" charset="0"/>
                          <a:cs typeface="Arial" panose="020B0604020202020204" pitchFamily="34"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𝐿</m:t>
                          </m:r>
                        </m:e>
                        <m:sub>
                          <m:r>
                            <a:rPr lang="en-US" sz="2000" b="0" i="1" dirty="0" smtClean="0">
                              <a:latin typeface="Cambria Math" panose="02040503050406030204" pitchFamily="18" charset="0"/>
                            </a:rPr>
                            <m:t>7</m:t>
                          </m:r>
                          <m:r>
                            <a:rPr lang="en-US" sz="2000" i="1" dirty="0">
                              <a:latin typeface="Cambria Math" panose="02040503050406030204" pitchFamily="18" charset="0"/>
                            </a:rPr>
                            <m:t>5</m:t>
                          </m:r>
                        </m:sub>
                      </m:sSub>
                      <m:r>
                        <a:rPr lang="en-US" sz="2000" i="1" dirty="0">
                          <a:latin typeface="Cambria Math" panose="02040503050406030204" pitchFamily="18" charset="0"/>
                        </a:rPr>
                        <m:t>=</m:t>
                      </m:r>
                      <m:f>
                        <m:fPr>
                          <m:ctrlPr>
                            <a:rPr lang="en-US" sz="2000" i="1" dirty="0">
                              <a:latin typeface="Cambria Math" panose="02040503050406030204" pitchFamily="18" charset="0"/>
                            </a:rPr>
                          </m:ctrlPr>
                        </m:fPr>
                        <m:num>
                          <m:r>
                            <a:rPr lang="en-US" sz="2000" b="0" i="1" dirty="0" smtClean="0">
                              <a:latin typeface="Cambria Math" panose="02040503050406030204" pitchFamily="18" charset="0"/>
                            </a:rPr>
                            <m:t>7</m:t>
                          </m:r>
                          <m:r>
                            <a:rPr lang="en-US" sz="2000" i="1" dirty="0">
                              <a:latin typeface="Cambria Math" panose="02040503050406030204" pitchFamily="18" charset="0"/>
                            </a:rPr>
                            <m:t>5</m:t>
                          </m:r>
                        </m:num>
                        <m:den>
                          <m:r>
                            <a:rPr lang="en-US" sz="2000" i="1" dirty="0">
                              <a:latin typeface="Cambria Math" panose="02040503050406030204" pitchFamily="18" charset="0"/>
                            </a:rPr>
                            <m:t>100</m:t>
                          </m:r>
                        </m:den>
                      </m:f>
                      <m:d>
                        <m:dPr>
                          <m:ctrlPr>
                            <a:rPr lang="en-US" sz="2000" i="1" dirty="0">
                              <a:latin typeface="Cambria Math" panose="02040503050406030204" pitchFamily="18" charset="0"/>
                            </a:rPr>
                          </m:ctrlPr>
                        </m:dPr>
                        <m:e>
                          <m:r>
                            <a:rPr lang="en-US" sz="2000" i="1" dirty="0">
                              <a:latin typeface="Cambria Math" panose="02040503050406030204" pitchFamily="18" charset="0"/>
                            </a:rPr>
                            <m:t>12+1</m:t>
                          </m:r>
                        </m:e>
                      </m:d>
                      <m:r>
                        <a:rPr lang="en-US" sz="2000" b="0" i="1" dirty="0" smtClean="0">
                          <a:latin typeface="Cambria Math" panose="02040503050406030204" pitchFamily="18" charset="0"/>
                        </a:rPr>
                        <m:t>=9.75</m:t>
                      </m:r>
                    </m:oMath>
                  </m:oMathPara>
                </a14:m>
                <a:endParaRPr lang="en-US" sz="2000" dirty="0"/>
              </a:p>
              <a:p>
                <a:pPr>
                  <a:spcBef>
                    <a:spcPts val="600"/>
                  </a:spcBef>
                  <a:spcAft>
                    <a:spcPts val="600"/>
                  </a:spcAft>
                </a:pPr>
                <a:r>
                  <a:rPr lang="en-US" sz="2000" dirty="0"/>
                  <a:t>The calculations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3</m:t>
                        </m:r>
                      </m:sub>
                    </m:sSub>
                  </m:oMath>
                </a14:m>
                <a:r>
                  <a:rPr lang="en-US" sz="2000" dirty="0"/>
                  <a:t> follow:</a:t>
                </a:r>
              </a:p>
              <a:p>
                <a:pPr marL="457200">
                  <a:spcBef>
                    <a:spcPts val="600"/>
                  </a:spcBef>
                  <a:spcAft>
                    <a:spcPts val="0"/>
                  </a:spcAft>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1</m:t>
                        </m:r>
                      </m:sub>
                    </m:sSub>
                    <m:r>
                      <a:rPr lang="en-US" sz="2000" b="0" i="1" smtClean="0">
                        <a:latin typeface="Cambria Math" panose="02040503050406030204" pitchFamily="18" charset="0"/>
                      </a:rPr>
                      <m:t>=5850+0.25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5880−5850</m:t>
                        </m:r>
                      </m:e>
                    </m:d>
                    <m:r>
                      <a:rPr lang="en-US" sz="2000" b="0" i="1" smtClean="0">
                        <a:latin typeface="Cambria Math" panose="02040503050406030204" pitchFamily="18" charset="0"/>
                      </a:rPr>
                      <m:t>=5857.5      </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3</m:t>
                        </m:r>
                      </m:sub>
                    </m:sSub>
                    <m:r>
                      <a:rPr lang="en-US" sz="2000" i="1">
                        <a:latin typeface="Cambria Math" panose="02040503050406030204" pitchFamily="18" charset="0"/>
                      </a:rPr>
                      <m:t>=5</m:t>
                    </m:r>
                    <m:r>
                      <a:rPr lang="en-US" sz="2000" b="0" i="1" smtClean="0">
                        <a:latin typeface="Cambria Math" panose="02040503050406030204" pitchFamily="18" charset="0"/>
                      </a:rPr>
                      <m:t>9</m:t>
                    </m:r>
                    <m:r>
                      <a:rPr lang="en-US" sz="2000" i="1">
                        <a:latin typeface="Cambria Math" panose="02040503050406030204" pitchFamily="18" charset="0"/>
                      </a:rPr>
                      <m:t>50+0.</m:t>
                    </m:r>
                    <m:r>
                      <a:rPr lang="en-US" sz="2000" b="0" i="1" smtClean="0">
                        <a:latin typeface="Cambria Math" panose="02040503050406030204" pitchFamily="18" charset="0"/>
                      </a:rPr>
                      <m:t>7</m:t>
                    </m:r>
                    <m:r>
                      <a:rPr lang="en-US" sz="2000" i="1">
                        <a:latin typeface="Cambria Math" panose="02040503050406030204" pitchFamily="18" charset="0"/>
                      </a:rPr>
                      <m:t>5</m:t>
                    </m:r>
                    <m:d>
                      <m:dPr>
                        <m:ctrlPr>
                          <a:rPr lang="en-US" sz="2000" i="1">
                            <a:latin typeface="Cambria Math" panose="02040503050406030204" pitchFamily="18" charset="0"/>
                          </a:rPr>
                        </m:ctrlPr>
                      </m:dPr>
                      <m:e>
                        <m:r>
                          <a:rPr lang="en-US" sz="2000" b="0" i="1" smtClean="0">
                            <a:latin typeface="Cambria Math" panose="02040503050406030204" pitchFamily="18" charset="0"/>
                          </a:rPr>
                          <m:t>6050</m:t>
                        </m:r>
                        <m:r>
                          <a:rPr lang="en-US" sz="2000" i="1">
                            <a:latin typeface="Cambria Math" panose="02040503050406030204" pitchFamily="18" charset="0"/>
                          </a:rPr>
                          <m:t>−5</m:t>
                        </m:r>
                        <m:r>
                          <a:rPr lang="en-US" sz="2000" b="0" i="1" smtClean="0">
                            <a:latin typeface="Cambria Math" panose="02040503050406030204" pitchFamily="18" charset="0"/>
                          </a:rPr>
                          <m:t>9</m:t>
                        </m:r>
                        <m:r>
                          <a:rPr lang="en-US" sz="2000" i="1">
                            <a:latin typeface="Cambria Math" panose="02040503050406030204" pitchFamily="18" charset="0"/>
                          </a:rPr>
                          <m:t>50</m:t>
                        </m:r>
                      </m:e>
                    </m:d>
                    <m:r>
                      <a:rPr lang="en-US" sz="2000" i="1">
                        <a:latin typeface="Cambria Math" panose="02040503050406030204" pitchFamily="18" charset="0"/>
                      </a:rPr>
                      <m:t>=</m:t>
                    </m:r>
                    <m:r>
                      <a:rPr lang="en-US" sz="2000" b="0" i="1" smtClean="0">
                        <a:latin typeface="Cambria Math" panose="02040503050406030204" pitchFamily="18" charset="0"/>
                      </a:rPr>
                      <m:t>6025</m:t>
                    </m:r>
                  </m:oMath>
                </a14:m>
                <a:r>
                  <a:rPr lang="en-US" sz="2000" dirty="0"/>
                  <a:t> </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285625"/>
                <a:ext cx="10711543" cy="4392161"/>
              </a:xfrm>
              <a:blipFill>
                <a:blip r:embed="rId3"/>
                <a:stretch>
                  <a:fillRect l="-1422" t="-1667" b="-2083"/>
                </a:stretch>
              </a:blipFill>
            </p:spPr>
            <p:txBody>
              <a:bodyPr/>
              <a:lstStyle/>
              <a:p>
                <a:r>
                  <a:rPr lang="en-US">
                    <a:noFill/>
                  </a:rPr>
                  <a:t> </a:t>
                </a:r>
              </a:p>
            </p:txBody>
          </p:sp>
        </mc:Fallback>
      </mc:AlternateContent>
    </p:spTree>
    <p:extLst>
      <p:ext uri="{BB962C8B-B14F-4D97-AF65-F5344CB8AC3E}">
        <p14:creationId xmlns:p14="http://schemas.microsoft.com/office/powerpoint/2010/main" val="105209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dirty="0">
                <a:solidFill>
                  <a:srgbClr val="25894E"/>
                </a:solidFill>
              </a:rPr>
              <a:t>3.1 Excel: Compute Percentiles and Quartiles</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221637"/>
                <a:ext cx="4325857" cy="3793275"/>
              </a:xfrm>
            </p:spPr>
            <p:txBody>
              <a:bodyPr/>
              <a:lstStyle/>
              <a:p>
                <a:r>
                  <a:rPr lang="en-US" sz="2000" b="1" dirty="0"/>
                  <a:t>Enter/Access Data</a:t>
                </a:r>
                <a:r>
                  <a:rPr lang="en-US" sz="2000" dirty="0"/>
                  <a:t>: Open the file </a:t>
                </a:r>
                <a:r>
                  <a:rPr lang="en-US" sz="2000" i="1" dirty="0" err="1"/>
                  <a:t>startingsalaries</a:t>
                </a:r>
                <a:r>
                  <a:rPr lang="en-US" sz="2000" dirty="0"/>
                  <a:t>. Data and labels are in cells A1:B13.</a:t>
                </a:r>
              </a:p>
              <a:p>
                <a:r>
                  <a:rPr lang="en-US" sz="2000" b="1" dirty="0"/>
                  <a:t>Enter Functions and Formulas</a:t>
                </a:r>
                <a:r>
                  <a:rPr lang="en-US" sz="2000" dirty="0"/>
                  <a:t>: To compute a </a:t>
                </a:r>
                <a14:m>
                  <m:oMath xmlns:m="http://schemas.openxmlformats.org/officeDocument/2006/math">
                    <m:r>
                      <a:rPr lang="en-US" sz="2000" i="1" dirty="0" smtClean="0">
                        <a:latin typeface="Cambria Math" panose="02040503050406030204" pitchFamily="18" charset="0"/>
                      </a:rPr>
                      <m:t>𝑝</m:t>
                    </m:r>
                  </m:oMath>
                </a14:m>
                <a:r>
                  <a:rPr lang="en-US" sz="2000" dirty="0" err="1"/>
                  <a:t>th</a:t>
                </a:r>
                <a:r>
                  <a:rPr lang="en-US" sz="2000" dirty="0"/>
                  <a:t> percentile, we use </a:t>
                </a:r>
              </a:p>
              <a:p>
                <a:pPr algn="r"/>
                <a:r>
                  <a:rPr lang="en-US" sz="2000" i="1" dirty="0"/>
                  <a:t>=PERCENTILE.EXC(B2:B13,p/100)</a:t>
                </a:r>
              </a:p>
              <a:p>
                <a:r>
                  <a:rPr lang="en-US" sz="2000" dirty="0"/>
                  <a:t>in cell E3, we entered the 80</a:t>
                </a:r>
                <a:r>
                  <a:rPr lang="en-US" sz="2000" baseline="30000" dirty="0"/>
                  <a:t>th</a:t>
                </a:r>
                <a:r>
                  <a:rPr lang="en-US" sz="2000" dirty="0"/>
                  <a:t> percentile with a relative reference to cell D3.</a:t>
                </a:r>
              </a:p>
              <a:p>
                <a:r>
                  <a:rPr lang="en-US" sz="2000" dirty="0"/>
                  <a:t>To compute a quartile, we enter</a:t>
                </a:r>
              </a:p>
              <a:p>
                <a:pPr algn="r"/>
                <a:r>
                  <a:rPr lang="en-US" sz="2000" i="1" dirty="0"/>
                  <a:t>=QUARTILE.EXC(B2:B13,quart)</a:t>
                </a:r>
              </a:p>
            </p:txBody>
          </p:sp>
        </mc:Choice>
        <mc:Fallback xmlns="">
          <p:sp>
            <p:nvSpPr>
              <p:cNvPr id="3" name="Text Placeholder 2">
                <a:extLst>
                  <a:ext uri="{FF2B5EF4-FFF2-40B4-BE49-F238E27FC236}">
                    <a16:creationId xmlns:a16="http://schemas.microsoft.com/office/drawing/2014/main" id="{03766689-C417-E65F-A73E-1E840E2BF8A9}"/>
                  </a:ext>
                </a:extLst>
              </p:cNvPr>
              <p:cNvSpPr>
                <a:spLocks noGrp="1" noRot="1" noChangeAspect="1" noMove="1" noResize="1" noEditPoints="1" noAdjustHandles="1" noChangeArrowheads="1" noChangeShapeType="1" noTextEdit="1"/>
              </p:cNvSpPr>
              <p:nvPr>
                <p:ph type="body" sz="quarter" idx="15"/>
              </p:nvPr>
            </p:nvSpPr>
            <p:spPr>
              <a:xfrm>
                <a:off x="743576" y="1221637"/>
                <a:ext cx="4325857" cy="3793275"/>
              </a:xfrm>
              <a:blipFill>
                <a:blip r:embed="rId3"/>
                <a:stretch>
                  <a:fillRect l="-3662" t="-1926" r="-4930" b="-2568"/>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38AC09BA-B877-ECB2-0237-EBFDDA23FE4D}"/>
              </a:ext>
            </a:extLst>
          </p:cNvPr>
          <p:cNvSpPr>
            <a:spLocks noGrp="1"/>
          </p:cNvSpPr>
          <p:nvPr>
            <p:ph type="body" sz="quarter" idx="17"/>
          </p:nvPr>
        </p:nvSpPr>
        <p:spPr>
          <a:xfrm>
            <a:off x="743577" y="5050254"/>
            <a:ext cx="5971548" cy="672106"/>
          </a:xfrm>
        </p:spPr>
        <p:txBody>
          <a:bodyPr/>
          <a:lstStyle/>
          <a:p>
            <a:r>
              <a:rPr lang="en-US" sz="2000" dirty="0"/>
              <a:t>in cells E6:E8, where </a:t>
            </a:r>
            <a:r>
              <a:rPr lang="en-US" sz="2000" i="1" dirty="0"/>
              <a:t>quart </a:t>
            </a:r>
            <a:r>
              <a:rPr lang="en-US" sz="2000" dirty="0"/>
              <a:t>= 1,2, or 3, with references to the quartile numbers in cells D6:D8.</a:t>
            </a:r>
          </a:p>
        </p:txBody>
      </p:sp>
      <p:pic>
        <p:nvPicPr>
          <p:cNvPr id="8" name="Picture Placeholder 7" descr="Two screenshots show an Excel spreadsheet used to compute percentiles and quartiles. In both spreadsheets, column A is labeled Graduate, and column B is labeled Monthly Starting Salary in dollars. The entries in rows 2 through 13 are as follows. Row 2: Graduate, 1; Salary, 5850. Row 3: Graduate, 2; Salary, 5950. Row 4: Graduate, 3; Salary, 6050. Row 5: Graduate, 4; Salary, 5880. Row 6: Graduate, 5; Salary, 5755. Row 7: Graduate, 6; Salary, 5710. Row 8: Graduate, 7; Salary, 5890. Row 9: Graduate, 8; Salary, 6130. Row 10: Graduate, 9; Salary, 5940. Row 11: Graduate, 10; Salary, 6325. Row 12: Graduate, 11; Salary, 5920. Row 13: Graduate, 12; Salary, 5880. In the first spreadsheet, the cell entries are as follows. D2: Percentiles. E2: Value in dollars. D3: 80. E3: = PERCENTILES. E X C(B2:B13, D3/100). D5: Quartile. E5: Value in dollars. D6: 1. E6: = QUARTILE. EXC($B$2:$B$13,D6). D7: 2. E7: = QUARTILE. EXC($B$2:$B$13,D7). D8: 3. E8: = QUARTILE. EXC($B$2:$B$13,D8). In the second spreadsheet, the cell entries are as follows. D2: Percentile. E2: Value in dollars. D3: 80. E3: 6082.00. D5: Quartile. E5: Value in dollars. D6: 1. E6: 5857.50. D7: 2. E7: 5905.00. D8: 3. E8: 6025.00.">
            <a:extLst>
              <a:ext uri="{FF2B5EF4-FFF2-40B4-BE49-F238E27FC236}">
                <a16:creationId xmlns:a16="http://schemas.microsoft.com/office/drawing/2014/main" id="{FE29EB62-68E6-3632-6695-5D31F64881D7}"/>
              </a:ext>
            </a:extLst>
          </p:cNvPr>
          <p:cNvPicPr>
            <a:picLocks noGrp="1" noChangeAspect="1"/>
          </p:cNvPicPr>
          <p:nvPr>
            <p:ph type="pic" sz="quarter" idx="16"/>
          </p:nvPr>
        </p:nvPicPr>
        <p:blipFill>
          <a:blip r:embed="rId4"/>
          <a:srcRect l="3" r="3"/>
          <a:stretch/>
        </p:blipFill>
        <p:spPr>
          <a:xfrm>
            <a:off x="5247525" y="1186080"/>
            <a:ext cx="6135687" cy="4572000"/>
          </a:xfrm>
        </p:spPr>
      </p:pic>
    </p:spTree>
    <p:extLst>
      <p:ext uri="{BB962C8B-B14F-4D97-AF65-F5344CB8AC3E}">
        <p14:creationId xmlns:p14="http://schemas.microsoft.com/office/powerpoint/2010/main" val="3074504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3368-6166-70A7-8520-F21D790261C0}"/>
              </a:ext>
            </a:extLst>
          </p:cNvPr>
          <p:cNvSpPr>
            <a:spLocks noGrp="1"/>
          </p:cNvSpPr>
          <p:nvPr>
            <p:ph type="title"/>
          </p:nvPr>
        </p:nvSpPr>
        <p:spPr/>
        <p:txBody>
          <a:bodyPr/>
          <a:lstStyle/>
          <a:p>
            <a:r>
              <a:rPr lang="en-US" dirty="0">
                <a:solidFill>
                  <a:srgbClr val="D14B1E"/>
                </a:solidFill>
              </a:rPr>
              <a:t>3.2 Measures of Variability</a:t>
            </a:r>
          </a:p>
        </p:txBody>
      </p:sp>
      <p:sp>
        <p:nvSpPr>
          <p:cNvPr id="3" name="Text Placeholder 2">
            <a:extLst>
              <a:ext uri="{FF2B5EF4-FFF2-40B4-BE49-F238E27FC236}">
                <a16:creationId xmlns:a16="http://schemas.microsoft.com/office/drawing/2014/main" id="{FBB53B2E-B5EE-10CF-A31E-FF0BBE40842F}"/>
              </a:ext>
            </a:extLst>
          </p:cNvPr>
          <p:cNvSpPr>
            <a:spLocks noGrp="1"/>
          </p:cNvSpPr>
          <p:nvPr>
            <p:ph type="body" sz="quarter" idx="15"/>
          </p:nvPr>
        </p:nvSpPr>
        <p:spPr>
          <a:xfrm>
            <a:off x="743577" y="1242024"/>
            <a:ext cx="10610223" cy="1758404"/>
          </a:xfrm>
        </p:spPr>
        <p:txBody>
          <a:bodyPr/>
          <a:lstStyle/>
          <a:p>
            <a:r>
              <a:rPr lang="en-US" sz="2000" dirty="0"/>
              <a:t>It is desirable to consider measures of variability (dispersion), as well as measures of location.</a:t>
            </a:r>
          </a:p>
          <a:p>
            <a:r>
              <a:rPr lang="en-US" sz="2000" dirty="0"/>
              <a:t>Consider the histograms for the number of days required to fill orders for two suppliers.</a:t>
            </a:r>
          </a:p>
          <a:p>
            <a:r>
              <a:rPr lang="en-US" sz="2000" dirty="0"/>
              <a:t>Although the mean number of days is 10 for both suppliers and the supplier to the right </a:t>
            </a:r>
            <a:r>
              <a:rPr lang="en-US" sz="2000" dirty="0">
                <a:solidFill>
                  <a:srgbClr val="FF0000"/>
                </a:solidFill>
              </a:rPr>
              <a:t>can</a:t>
            </a:r>
            <a:r>
              <a:rPr lang="en-US" sz="2000" dirty="0"/>
              <a:t> fill some orders in as little as 7 to 8 days, </a:t>
            </a:r>
            <a:r>
              <a:rPr lang="en-US" sz="2000" dirty="0">
                <a:solidFill>
                  <a:srgbClr val="FF0000"/>
                </a:solidFill>
              </a:rPr>
              <a:t>while</a:t>
            </a:r>
            <a:r>
              <a:rPr lang="en-US" sz="2000" dirty="0"/>
              <a:t> the supplier to the left has a lower dispersion and demonstrates a higher degree of reliability in terms of making deliveries on schedule.</a:t>
            </a:r>
          </a:p>
        </p:txBody>
      </p:sp>
      <p:pic>
        <p:nvPicPr>
          <p:cNvPr id="7" name="Picture Placeholder 6" descr="Two bar graphs show the relative frequency of the number of working days at Dawson Supply, Incorporated and J.C. Clark Distributors. The first graph consists of three bars for Dawson Supply, Incorporated. The horizontal axis is labeled “Number of Working Days” and ranges from 9 to 11 with tickmarks in increments of 1. The vertical axis is labeled “Relative Frequency” and ranges from 0 to 0.5 with tickmarks in increments of 0.1. The data from the graph are as follows. 9: 0.1. 10: 0.5. 11: 0.4. The second graph consists of seven bars for J.C. Clark Distributors. The horizontal axis is labeled “Number of Working Days” and ranges from 7 to 15 with tickmarks in increments of 1. The vertical axis is labeled “Relative Frequency” and ranges from 0 to 0.5 with tickmarks in increments of 0.1. The data from the graph are as follows. 7: 0.2. 8: 0.1. 10: 0.3. 11: 0.1. 12: 0.1. 13: 0.1. 15: 0.1.&#10;">
            <a:extLst>
              <a:ext uri="{FF2B5EF4-FFF2-40B4-BE49-F238E27FC236}">
                <a16:creationId xmlns:a16="http://schemas.microsoft.com/office/drawing/2014/main" id="{BBF72DAD-8D32-5A61-E989-E15ACB3CC9B5}"/>
              </a:ext>
            </a:extLst>
          </p:cNvPr>
          <p:cNvPicPr>
            <a:picLocks noGrp="1" noChangeAspect="1"/>
          </p:cNvPicPr>
          <p:nvPr>
            <p:ph type="pic" sz="quarter" idx="16"/>
          </p:nvPr>
        </p:nvPicPr>
        <p:blipFill rotWithShape="1">
          <a:blip r:embed="rId2"/>
          <a:srcRect t="93" b="93"/>
          <a:stretch/>
        </p:blipFill>
        <p:spPr>
          <a:xfrm>
            <a:off x="2766023" y="3318640"/>
            <a:ext cx="6659953" cy="2546675"/>
          </a:xfrm>
        </p:spPr>
      </p:pic>
    </p:spTree>
    <p:extLst>
      <p:ext uri="{BB962C8B-B14F-4D97-AF65-F5344CB8AC3E}">
        <p14:creationId xmlns:p14="http://schemas.microsoft.com/office/powerpoint/2010/main" val="1858943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A315E-B83F-FF6B-E6C1-200B8EE949DB}"/>
              </a:ext>
            </a:extLst>
          </p:cNvPr>
          <p:cNvSpPr>
            <a:spLocks noGrp="1"/>
          </p:cNvSpPr>
          <p:nvPr>
            <p:ph type="title"/>
          </p:nvPr>
        </p:nvSpPr>
        <p:spPr/>
        <p:txBody>
          <a:bodyPr/>
          <a:lstStyle/>
          <a:p>
            <a:r>
              <a:rPr lang="en-US" dirty="0"/>
              <a:t>3.2 Range and Interquartile Range</a:t>
            </a:r>
          </a:p>
        </p:txBody>
      </p:sp>
      <p:sp>
        <p:nvSpPr>
          <p:cNvPr id="3" name="Text Placeholder 2">
            <a:extLst>
              <a:ext uri="{FF2B5EF4-FFF2-40B4-BE49-F238E27FC236}">
                <a16:creationId xmlns:a16="http://schemas.microsoft.com/office/drawing/2014/main" id="{0127D13C-234C-54CE-7DD0-74CAED0CEA6F}"/>
              </a:ext>
            </a:extLst>
          </p:cNvPr>
          <p:cNvSpPr>
            <a:spLocks noGrp="1"/>
          </p:cNvSpPr>
          <p:nvPr>
            <p:ph type="body" sz="quarter" idx="21"/>
          </p:nvPr>
        </p:nvSpPr>
        <p:spPr/>
        <p:txBody>
          <a:bodyPr/>
          <a:lstStyle/>
          <a:p>
            <a:r>
              <a:rPr lang="en-US" dirty="0"/>
              <a:t>Range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3E93FF4-1244-4E68-1B7D-E9B647AF50EB}"/>
                  </a:ext>
                </a:extLst>
              </p:cNvPr>
              <p:cNvSpPr>
                <a:spLocks noGrp="1"/>
              </p:cNvSpPr>
              <p:nvPr>
                <p:ph type="body" sz="quarter" idx="15"/>
              </p:nvPr>
            </p:nvSpPr>
            <p:spPr>
              <a:xfrm>
                <a:off x="743576" y="1926330"/>
                <a:ext cx="5200024" cy="3631015"/>
              </a:xfrm>
            </p:spPr>
            <p:txBody>
              <a:bodyPr>
                <a:noAutofit/>
              </a:bodyPr>
              <a:lstStyle/>
              <a:p>
                <a:pPr>
                  <a:spcBef>
                    <a:spcPts val="600"/>
                  </a:spcBef>
                  <a:spcAft>
                    <a:spcPts val="600"/>
                  </a:spcAft>
                </a:pPr>
                <a:r>
                  <a:rPr lang="en-US" sz="2000" dirty="0"/>
                  <a:t>The </a:t>
                </a:r>
                <a:r>
                  <a:rPr lang="en-US" sz="2000" b="1" dirty="0"/>
                  <a:t>range</a:t>
                </a:r>
                <a:r>
                  <a:rPr lang="en-US" sz="2000" dirty="0"/>
                  <a:t> is the simplest measure of variability, and it is defined as</a:t>
                </a:r>
              </a:p>
              <a:p>
                <a:pPr marL="228600">
                  <a:spcBef>
                    <a:spcPts val="600"/>
                  </a:spcBef>
                  <a:spcAft>
                    <a:spcPts val="0"/>
                  </a:spcAft>
                </a:pPr>
                <a14:m>
                  <m:oMathPara xmlns:m="http://schemas.openxmlformats.org/officeDocument/2006/math">
                    <m:oMathParaPr>
                      <m:jc m:val="left"/>
                    </m:oMathParaPr>
                    <m:oMath xmlns:m="http://schemas.openxmlformats.org/officeDocument/2006/math">
                      <m:r>
                        <m:rPr>
                          <m:nor/>
                        </m:rPr>
                        <a:rPr lang="en-US" sz="2000" b="1" i="0" dirty="0" smtClean="0">
                          <a:latin typeface="Arial" panose="020B0604020202020204" pitchFamily="34" charset="0"/>
                          <a:cs typeface="Arial" panose="020B0604020202020204" pitchFamily="34" charset="0"/>
                        </a:rPr>
                        <m:t>Range</m:t>
                      </m:r>
                      <m:r>
                        <m:rPr>
                          <m:nor/>
                        </m:rPr>
                        <a:rPr lang="en-US" sz="2000" b="1" i="0" dirty="0" smtClean="0">
                          <a:latin typeface="Arial" panose="020B0604020202020204" pitchFamily="34" charset="0"/>
                          <a:cs typeface="Arial" panose="020B0604020202020204" pitchFamily="34" charset="0"/>
                        </a:rPr>
                        <m:t> = </m:t>
                      </m:r>
                      <m:r>
                        <m:rPr>
                          <m:nor/>
                        </m:rPr>
                        <a:rPr lang="en-US" sz="2000" b="1" i="0" dirty="0" smtClean="0">
                          <a:latin typeface="Arial" panose="020B0604020202020204" pitchFamily="34" charset="0"/>
                          <a:cs typeface="Arial" panose="020B0604020202020204" pitchFamily="34" charset="0"/>
                        </a:rPr>
                        <m:t>Largest</m:t>
                      </m:r>
                      <m:r>
                        <m:rPr>
                          <m:nor/>
                        </m:rPr>
                        <a:rPr lang="en-US" sz="2000" b="1" i="0" dirty="0" smtClean="0">
                          <a:latin typeface="Arial" panose="020B0604020202020204" pitchFamily="34" charset="0"/>
                          <a:cs typeface="Arial" panose="020B0604020202020204" pitchFamily="34" charset="0"/>
                        </a:rPr>
                        <m:t> </m:t>
                      </m:r>
                      <m:r>
                        <m:rPr>
                          <m:nor/>
                        </m:rPr>
                        <a:rPr lang="en-US" sz="2000" b="1" i="0" dirty="0" smtClean="0">
                          <a:latin typeface="Arial" panose="020B0604020202020204" pitchFamily="34" charset="0"/>
                          <a:cs typeface="Arial" panose="020B0604020202020204" pitchFamily="34" charset="0"/>
                        </a:rPr>
                        <m:t>Value</m:t>
                      </m:r>
                      <m:r>
                        <m:rPr>
                          <m:nor/>
                        </m:rPr>
                        <a:rPr lang="en-US" sz="2000" b="1" i="0" dirty="0" smtClean="0">
                          <a:latin typeface="Arial" panose="020B0604020202020204" pitchFamily="34" charset="0"/>
                          <a:cs typeface="Arial" panose="020B0604020202020204" pitchFamily="34" charset="0"/>
                        </a:rPr>
                        <m:t> – </m:t>
                      </m:r>
                      <m:r>
                        <m:rPr>
                          <m:nor/>
                        </m:rPr>
                        <a:rPr lang="en-US" sz="2000" b="1" i="0" dirty="0" smtClean="0">
                          <a:latin typeface="Arial" panose="020B0604020202020204" pitchFamily="34" charset="0"/>
                          <a:cs typeface="Arial" panose="020B0604020202020204" pitchFamily="34" charset="0"/>
                        </a:rPr>
                        <m:t>Smallest</m:t>
                      </m:r>
                      <m:r>
                        <m:rPr>
                          <m:nor/>
                        </m:rPr>
                        <a:rPr lang="en-US" sz="2000" b="1" i="0" dirty="0" smtClean="0">
                          <a:latin typeface="Arial" panose="020B0604020202020204" pitchFamily="34" charset="0"/>
                          <a:cs typeface="Arial" panose="020B0604020202020204" pitchFamily="34" charset="0"/>
                        </a:rPr>
                        <m:t> </m:t>
                      </m:r>
                      <m:r>
                        <m:rPr>
                          <m:nor/>
                        </m:rPr>
                        <a:rPr lang="en-US" sz="2000" b="1" i="0" dirty="0" smtClean="0">
                          <a:latin typeface="Arial" panose="020B0604020202020204" pitchFamily="34" charset="0"/>
                          <a:cs typeface="Arial" panose="020B0604020202020204" pitchFamily="34" charset="0"/>
                        </a:rPr>
                        <m:t>Value</m:t>
                      </m:r>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t>For the example of the business graduates’ starting salaries, the range is</a:t>
                </a:r>
              </a:p>
              <a:p>
                <a:pPr marL="457200">
                  <a:spcBef>
                    <a:spcPts val="600"/>
                  </a:spcBef>
                  <a:spcAft>
                    <a:spcPts val="0"/>
                  </a:spcAft>
                </a:pPr>
                <a14:m>
                  <m:oMathPara xmlns:m="http://schemas.openxmlformats.org/officeDocument/2006/math">
                    <m:oMathParaPr>
                      <m:jc m:val="left"/>
                    </m:oMathParaPr>
                    <m:oMath xmlns:m="http://schemas.openxmlformats.org/officeDocument/2006/math">
                      <m:r>
                        <m:rPr>
                          <m:nor/>
                        </m:rPr>
                        <a:rPr lang="en-US" sz="2000" i="0" dirty="0" smtClean="0">
                          <a:latin typeface="Arial" panose="020B0604020202020204" pitchFamily="34" charset="0"/>
                          <a:cs typeface="Arial" panose="020B0604020202020204" pitchFamily="34" charset="0"/>
                        </a:rPr>
                        <m:t>6325</m:t>
                      </m:r>
                      <m:r>
                        <a:rPr lang="en-US" sz="2000" i="1" dirty="0" smtClean="0">
                          <a:latin typeface="Cambria Math" panose="02040503050406030204" pitchFamily="18" charset="0"/>
                        </a:rPr>
                        <m:t>−</m:t>
                      </m:r>
                      <m:r>
                        <m:rPr>
                          <m:nor/>
                        </m:rPr>
                        <a:rPr lang="en-US" sz="2000" i="0" dirty="0" smtClean="0">
                          <a:latin typeface="Arial" panose="020B0604020202020204" pitchFamily="34" charset="0"/>
                          <a:cs typeface="Arial" panose="020B0604020202020204" pitchFamily="34" charset="0"/>
                        </a:rPr>
                        <m:t>5710</m:t>
                      </m:r>
                      <m:r>
                        <a:rPr lang="en-US" sz="2000" i="1" dirty="0" smtClean="0">
                          <a:latin typeface="Cambria Math" panose="02040503050406030204" pitchFamily="18" charset="0"/>
                        </a:rPr>
                        <m:t>=</m:t>
                      </m:r>
                      <m:r>
                        <m:rPr>
                          <m:nor/>
                        </m:rPr>
                        <a:rPr lang="en-US" sz="2000" i="0" dirty="0" smtClean="0">
                          <a:latin typeface="Arial" panose="020B0604020202020204" pitchFamily="34" charset="0"/>
                          <a:cs typeface="Arial" panose="020B0604020202020204" pitchFamily="34" charset="0"/>
                        </a:rPr>
                        <m:t>615</m:t>
                      </m:r>
                    </m:oMath>
                  </m:oMathPara>
                </a14:m>
                <a:endParaRPr lang="en-US" sz="2000" dirty="0"/>
              </a:p>
              <a:p>
                <a:pPr>
                  <a:spcBef>
                    <a:spcPts val="600"/>
                  </a:spcBef>
                  <a:spcAft>
                    <a:spcPts val="0"/>
                  </a:spcAft>
                </a:pPr>
                <a:r>
                  <a:rPr lang="en-US" sz="2000" dirty="0"/>
                  <a:t>However, the range sensitivity to extreme data values makes it a poor choice to measure the dispersion in a data set.</a:t>
                </a:r>
              </a:p>
            </p:txBody>
          </p:sp>
        </mc:Choice>
        <mc:Fallback xmlns="">
          <p:sp>
            <p:nvSpPr>
              <p:cNvPr id="4" name="Text Placeholder 3">
                <a:extLst>
                  <a:ext uri="{FF2B5EF4-FFF2-40B4-BE49-F238E27FC236}">
                    <a16:creationId xmlns:a16="http://schemas.microsoft.com/office/drawing/2014/main" id="{D3E93FF4-1244-4E68-1B7D-E9B647AF50EB}"/>
                  </a:ext>
                </a:extLst>
              </p:cNvPr>
              <p:cNvSpPr>
                <a:spLocks noGrp="1" noRot="1" noChangeAspect="1" noMove="1" noResize="1" noEditPoints="1" noAdjustHandles="1" noChangeArrowheads="1" noChangeShapeType="1" noTextEdit="1"/>
              </p:cNvSpPr>
              <p:nvPr>
                <p:ph type="body" sz="quarter" idx="15"/>
              </p:nvPr>
            </p:nvSpPr>
            <p:spPr>
              <a:xfrm>
                <a:off x="743576" y="1926330"/>
                <a:ext cx="5200024" cy="3631015"/>
              </a:xfrm>
              <a:blipFill>
                <a:blip r:embed="rId2"/>
                <a:stretch>
                  <a:fillRect l="-3048" t="-2013"/>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366D5D42-3964-760C-9198-91813A917A67}"/>
              </a:ext>
            </a:extLst>
          </p:cNvPr>
          <p:cNvSpPr>
            <a:spLocks noGrp="1"/>
          </p:cNvSpPr>
          <p:nvPr>
            <p:ph type="body" sz="quarter" idx="22"/>
          </p:nvPr>
        </p:nvSpPr>
        <p:spPr/>
        <p:txBody>
          <a:bodyPr/>
          <a:lstStyle/>
          <a:p>
            <a:r>
              <a:rPr lang="en-US" dirty="0"/>
              <a:t>Interquartile Range</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6A27467D-5038-4B9A-3728-71C300DF9D03}"/>
                  </a:ext>
                </a:extLst>
              </p:cNvPr>
              <p:cNvSpPr>
                <a:spLocks noGrp="1"/>
              </p:cNvSpPr>
              <p:nvPr>
                <p:ph type="body" sz="quarter" idx="18"/>
              </p:nvPr>
            </p:nvSpPr>
            <p:spPr>
              <a:xfrm>
                <a:off x="6122680" y="1926330"/>
                <a:ext cx="5200024" cy="3717725"/>
              </a:xfrm>
            </p:spPr>
            <p:txBody>
              <a:bodyPr>
                <a:noAutofit/>
              </a:bodyPr>
              <a:lstStyle/>
              <a:p>
                <a:pPr>
                  <a:spcBef>
                    <a:spcPts val="600"/>
                  </a:spcBef>
                  <a:spcAft>
                    <a:spcPts val="0"/>
                  </a:spcAft>
                </a:pPr>
                <a:r>
                  <a:rPr lang="en-US" sz="2000" dirty="0"/>
                  <a:t>The </a:t>
                </a:r>
                <a:r>
                  <a:rPr lang="en-US" sz="2000" b="1" dirty="0"/>
                  <a:t>interquartile range (IQR) </a:t>
                </a:r>
                <a:r>
                  <a:rPr lang="en-US" sz="2000" dirty="0"/>
                  <a:t>overcomes the dependency on extreme values considering the range for the middle 50% of the data.</a:t>
                </a:r>
              </a:p>
              <a:p>
                <a:pPr>
                  <a:spcBef>
                    <a:spcPts val="600"/>
                  </a:spcBef>
                  <a:spcAft>
                    <a:spcPts val="600"/>
                  </a:spcAft>
                </a:pPr>
                <a:r>
                  <a:rPr lang="en-US" sz="2000" dirty="0"/>
                  <a:t>The interquartile range is calculated as the difference between the third quartile, </a:t>
                </a:r>
                <a14:m>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cs typeface="Arial" panose="020B0604020202020204" pitchFamily="34" charset="0"/>
                          </a:rPr>
                          <m:t>𝑄</m:t>
                        </m:r>
                      </m:e>
                      <m:sub>
                        <m:r>
                          <a:rPr lang="en-US" sz="2000" b="0" i="1" dirty="0" smtClean="0">
                            <a:latin typeface="Cambria Math" panose="02040503050406030204" pitchFamily="18" charset="0"/>
                            <a:cs typeface="Arial" panose="020B0604020202020204" pitchFamily="34" charset="0"/>
                          </a:rPr>
                          <m:t>3</m:t>
                        </m:r>
                      </m:sub>
                    </m:sSub>
                  </m:oMath>
                </a14:m>
                <a:r>
                  <a:rPr lang="en-US" sz="2000" dirty="0"/>
                  <a:t>, and the first quartile,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b="0" i="1" dirty="0">
                            <a:latin typeface="Cambria Math" panose="02040503050406030204" pitchFamily="18" charset="0"/>
                            <a:cs typeface="Arial" panose="020B0604020202020204" pitchFamily="34" charset="0"/>
                          </a:rPr>
                          <m:t>𝑄</m:t>
                        </m:r>
                      </m:e>
                      <m:sub>
                        <m:r>
                          <a:rPr lang="en-US" sz="2000" b="0" i="1" dirty="0" smtClean="0">
                            <a:latin typeface="Cambria Math" panose="02040503050406030204" pitchFamily="18" charset="0"/>
                            <a:cs typeface="Arial" panose="020B0604020202020204" pitchFamily="34" charset="0"/>
                          </a:rPr>
                          <m:t>1</m:t>
                        </m:r>
                      </m:sub>
                    </m:sSub>
                  </m:oMath>
                </a14:m>
                <a:r>
                  <a:rPr lang="en-US" sz="2000" i="0" dirty="0">
                    <a:latin typeface="Arial" panose="020B0604020202020204" pitchFamily="34" charset="0"/>
                    <a:cs typeface="Arial" panose="020B0604020202020204" pitchFamily="34" charset="0"/>
                  </a:rPr>
                  <a:t>.</a:t>
                </a:r>
              </a:p>
              <a:p>
                <a:pPr marL="457200">
                  <a:spcBef>
                    <a:spcPts val="600"/>
                  </a:spcBef>
                  <a:spcAft>
                    <a:spcPts val="600"/>
                  </a:spcAft>
                </a:pPr>
                <a14:m>
                  <m:oMathPara xmlns:m="http://schemas.openxmlformats.org/officeDocument/2006/math">
                    <m:oMathParaPr>
                      <m:jc m:val="left"/>
                    </m:oMathParaPr>
                    <m:oMath xmlns:m="http://schemas.openxmlformats.org/officeDocument/2006/math">
                      <m:r>
                        <a:rPr lang="en-US" sz="2000" b="1" i="1" dirty="0" smtClean="0">
                          <a:latin typeface="Cambria Math" panose="02040503050406030204" pitchFamily="18" charset="0"/>
                          <a:cs typeface="Arial" panose="020B0604020202020204" pitchFamily="34" charset="0"/>
                        </a:rPr>
                        <m:t>𝑰𝑸𝑹</m:t>
                      </m:r>
                      <m:r>
                        <m:rPr>
                          <m:nor/>
                        </m:rPr>
                        <a:rPr lang="en-US" sz="2000" b="1" i="0" dirty="0" smtClean="0">
                          <a:latin typeface="Arial" panose="020B0604020202020204" pitchFamily="34" charset="0"/>
                          <a:cs typeface="Arial" panose="020B0604020202020204" pitchFamily="34" charset="0"/>
                        </a:rPr>
                        <m:t> = </m:t>
                      </m:r>
                      <m:sSub>
                        <m:sSubPr>
                          <m:ctrlPr>
                            <a:rPr lang="en-US" sz="2000" b="1" i="1" dirty="0" smtClean="0">
                              <a:latin typeface="Cambria Math" panose="02040503050406030204" pitchFamily="18" charset="0"/>
                              <a:cs typeface="Arial" panose="020B0604020202020204" pitchFamily="34" charset="0"/>
                            </a:rPr>
                          </m:ctrlPr>
                        </m:sSubPr>
                        <m:e>
                          <m:r>
                            <a:rPr lang="en-US" sz="2000" b="1" i="1" dirty="0" smtClean="0">
                              <a:latin typeface="Cambria Math" panose="02040503050406030204" pitchFamily="18" charset="0"/>
                              <a:cs typeface="Arial" panose="020B0604020202020204" pitchFamily="34" charset="0"/>
                            </a:rPr>
                            <m:t>𝑸</m:t>
                          </m:r>
                        </m:e>
                        <m:sub>
                          <m:r>
                            <a:rPr lang="en-US" sz="2000" b="1" i="1" dirty="0" smtClean="0">
                              <a:latin typeface="Cambria Math" panose="02040503050406030204" pitchFamily="18" charset="0"/>
                              <a:cs typeface="Arial" panose="020B0604020202020204" pitchFamily="34" charset="0"/>
                            </a:rPr>
                            <m:t>𝟑</m:t>
                          </m:r>
                        </m:sub>
                      </m:sSub>
                      <m:r>
                        <m:rPr>
                          <m:nor/>
                        </m:rPr>
                        <a:rPr lang="en-US" sz="2000" b="1" i="0" dirty="0" smtClean="0">
                          <a:latin typeface="Arial" panose="020B0604020202020204" pitchFamily="34" charset="0"/>
                          <a:cs typeface="Arial" panose="020B0604020202020204" pitchFamily="34" charset="0"/>
                        </a:rPr>
                        <m:t> –</m:t>
                      </m:r>
                      <m:sSub>
                        <m:sSubPr>
                          <m:ctrlPr>
                            <a:rPr lang="en-US" sz="2000" b="1" i="1" dirty="0">
                              <a:latin typeface="Cambria Math" panose="02040503050406030204" pitchFamily="18" charset="0"/>
                              <a:cs typeface="Arial" panose="020B0604020202020204" pitchFamily="34" charset="0"/>
                            </a:rPr>
                          </m:ctrlPr>
                        </m:sSubPr>
                        <m:e>
                          <m:r>
                            <a:rPr lang="en-US" sz="2000" b="1" i="1" dirty="0">
                              <a:latin typeface="Cambria Math" panose="02040503050406030204" pitchFamily="18" charset="0"/>
                              <a:cs typeface="Arial" panose="020B0604020202020204" pitchFamily="34" charset="0"/>
                            </a:rPr>
                            <m:t>𝑸</m:t>
                          </m:r>
                        </m:e>
                        <m:sub>
                          <m:r>
                            <a:rPr lang="en-US" sz="2000" b="1" i="1" dirty="0" smtClean="0">
                              <a:latin typeface="Cambria Math" panose="02040503050406030204" pitchFamily="18" charset="0"/>
                              <a:cs typeface="Arial" panose="020B0604020202020204" pitchFamily="34" charset="0"/>
                            </a:rPr>
                            <m:t>𝟏</m:t>
                          </m:r>
                        </m:sub>
                      </m:sSub>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t>For the example of the business graduates’ starting salaries, the </a:t>
                </a:r>
                <a:r>
                  <a:rPr lang="en-US" sz="2000" i="1" dirty="0"/>
                  <a:t>IQR</a:t>
                </a:r>
                <a:r>
                  <a:rPr lang="en-US" sz="2000" dirty="0"/>
                  <a:t> is</a:t>
                </a:r>
              </a:p>
              <a:p>
                <a:pPr marL="457200">
                  <a:spcBef>
                    <a:spcPts val="600"/>
                  </a:spcBef>
                  <a:spcAft>
                    <a:spcPts val="1200"/>
                  </a:spcAft>
                </a:pPr>
                <a14:m>
                  <m:oMathPara xmlns:m="http://schemas.openxmlformats.org/officeDocument/2006/math">
                    <m:oMathParaPr>
                      <m:jc m:val="left"/>
                    </m:oMathParaPr>
                    <m:oMath xmlns:m="http://schemas.openxmlformats.org/officeDocument/2006/math">
                      <m:r>
                        <m:rPr>
                          <m:nor/>
                        </m:rPr>
                        <a:rPr lang="en-US" sz="2000" i="0" dirty="0" smtClean="0">
                          <a:latin typeface="Arial" panose="020B0604020202020204" pitchFamily="34" charset="0"/>
                          <a:cs typeface="Arial" panose="020B0604020202020204" pitchFamily="34" charset="0"/>
                        </a:rPr>
                        <m:t>6025</m:t>
                      </m:r>
                      <m:r>
                        <a:rPr lang="en-US" sz="2000" i="1" dirty="0" smtClean="0">
                          <a:latin typeface="Cambria Math" panose="02040503050406030204" pitchFamily="18" charset="0"/>
                        </a:rPr>
                        <m:t>−</m:t>
                      </m:r>
                      <m:r>
                        <m:rPr>
                          <m:nor/>
                        </m:rPr>
                        <a:rPr lang="en-US" sz="2000" i="0" dirty="0" smtClean="0">
                          <a:latin typeface="Arial" panose="020B0604020202020204" pitchFamily="34" charset="0"/>
                          <a:cs typeface="Arial" panose="020B0604020202020204" pitchFamily="34" charset="0"/>
                        </a:rPr>
                        <m:t>5857.5</m:t>
                      </m:r>
                      <m:r>
                        <a:rPr lang="en-US" sz="2000" i="1" dirty="0" smtClean="0">
                          <a:latin typeface="Cambria Math" panose="02040503050406030204" pitchFamily="18" charset="0"/>
                        </a:rPr>
                        <m:t>=</m:t>
                      </m:r>
                      <m:r>
                        <m:rPr>
                          <m:nor/>
                        </m:rPr>
                        <a:rPr lang="en-US" sz="2000" i="0" dirty="0" smtClean="0">
                          <a:latin typeface="Arial" panose="020B0604020202020204" pitchFamily="34" charset="0"/>
                          <a:cs typeface="Arial" panose="020B0604020202020204" pitchFamily="34" charset="0"/>
                        </a:rPr>
                        <m:t>167.5</m:t>
                      </m:r>
                    </m:oMath>
                  </m:oMathPara>
                </a14:m>
                <a:endParaRPr lang="en-US" sz="2000" dirty="0">
                  <a:latin typeface="Arial" panose="020B0604020202020204" pitchFamily="34" charset="0"/>
                  <a:cs typeface="Arial" panose="020B0604020202020204" pitchFamily="34" charset="0"/>
                </a:endParaRPr>
              </a:p>
            </p:txBody>
          </p:sp>
        </mc:Choice>
        <mc:Fallback xmlns="">
          <p:sp>
            <p:nvSpPr>
              <p:cNvPr id="6" name="Text Placeholder 5">
                <a:extLst>
                  <a:ext uri="{FF2B5EF4-FFF2-40B4-BE49-F238E27FC236}">
                    <a16:creationId xmlns:a16="http://schemas.microsoft.com/office/drawing/2014/main" id="{6A27467D-5038-4B9A-3728-71C300DF9D03}"/>
                  </a:ext>
                </a:extLst>
              </p:cNvPr>
              <p:cNvSpPr>
                <a:spLocks noGrp="1" noRot="1" noChangeAspect="1" noMove="1" noResize="1" noEditPoints="1" noAdjustHandles="1" noChangeArrowheads="1" noChangeShapeType="1" noTextEdit="1"/>
              </p:cNvSpPr>
              <p:nvPr>
                <p:ph type="body" sz="quarter" idx="18"/>
              </p:nvPr>
            </p:nvSpPr>
            <p:spPr>
              <a:xfrm>
                <a:off x="6122680" y="1926330"/>
                <a:ext cx="5200024" cy="3717725"/>
              </a:xfrm>
              <a:blipFill>
                <a:blip r:embed="rId3"/>
                <a:stretch>
                  <a:fillRect l="-2931" t="-1967" r="-3634"/>
                </a:stretch>
              </a:blipFill>
            </p:spPr>
            <p:txBody>
              <a:bodyPr/>
              <a:lstStyle/>
              <a:p>
                <a:r>
                  <a:rPr lang="en-US">
                    <a:noFill/>
                  </a:rPr>
                  <a:t> </a:t>
                </a:r>
              </a:p>
            </p:txBody>
          </p:sp>
        </mc:Fallback>
      </mc:AlternateContent>
    </p:spTree>
    <p:extLst>
      <p:ext uri="{BB962C8B-B14F-4D97-AF65-F5344CB8AC3E}">
        <p14:creationId xmlns:p14="http://schemas.microsoft.com/office/powerpoint/2010/main" val="3368462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3CD-6D08-4777-7AEC-BE586774FC68}"/>
              </a:ext>
            </a:extLst>
          </p:cNvPr>
          <p:cNvSpPr>
            <a:spLocks noGrp="1"/>
          </p:cNvSpPr>
          <p:nvPr>
            <p:ph type="title"/>
          </p:nvPr>
        </p:nvSpPr>
        <p:spPr/>
        <p:txBody>
          <a:bodyPr/>
          <a:lstStyle/>
          <a:p>
            <a:r>
              <a:rPr lang="en-US" dirty="0"/>
              <a:t>3.2 Variance</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9DFF454C-E42C-D180-38D0-3AB7E429BB4D}"/>
                  </a:ext>
                </a:extLst>
              </p:cNvPr>
              <p:cNvSpPr>
                <a:spLocks noGrp="1"/>
              </p:cNvSpPr>
              <p:nvPr>
                <p:ph type="body" sz="quarter" idx="16"/>
              </p:nvPr>
            </p:nvSpPr>
            <p:spPr>
              <a:xfrm>
                <a:off x="740225" y="1396958"/>
                <a:ext cx="10711543" cy="1820918"/>
              </a:xfrm>
            </p:spPr>
            <p:txBody>
              <a:bodyPr/>
              <a:lstStyle/>
              <a:p>
                <a:r>
                  <a:rPr lang="en-US" dirty="0"/>
                  <a:t>The </a:t>
                </a:r>
                <a:r>
                  <a:rPr lang="en-US" b="1" dirty="0"/>
                  <a:t>variance</a:t>
                </a:r>
                <a:r>
                  <a:rPr lang="en-US" dirty="0"/>
                  <a:t> is a measure of variability that utilizes all the data.</a:t>
                </a:r>
              </a:p>
              <a:p>
                <a:r>
                  <a:rPr lang="en-US" dirty="0"/>
                  <a:t>The variance is based on the difference between the value of each observation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and the mean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 </m:t>
                    </m:r>
                  </m:oMath>
                </a14:m>
                <a:r>
                  <a:rPr lang="en-US" dirty="0"/>
                  <a:t>for a sample, </a:t>
                </a:r>
                <a14:m>
                  <m:oMath xmlns:m="http://schemas.openxmlformats.org/officeDocument/2006/math">
                    <m:r>
                      <a:rPr lang="en-US" i="1">
                        <a:latin typeface="Cambria Math" panose="02040503050406030204" pitchFamily="18" charset="0"/>
                        <a:ea typeface="Cambria Math" panose="02040503050406030204" pitchFamily="18" charset="0"/>
                      </a:rPr>
                      <m:t>𝜇</m:t>
                    </m:r>
                  </m:oMath>
                </a14:m>
                <a:r>
                  <a:rPr lang="en-US" dirty="0"/>
                  <a:t> for a population.)</a:t>
                </a:r>
              </a:p>
              <a:p>
                <a:r>
                  <a:rPr lang="en-US" dirty="0"/>
                  <a:t>The difference between 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and the mean is called a </a:t>
                </a:r>
                <a:r>
                  <a:rPr lang="en-US" i="1" dirty="0"/>
                  <a:t>deviation about the mean</a:t>
                </a:r>
                <a:r>
                  <a:rPr lang="en-US" dirty="0"/>
                  <a:t>.</a:t>
                </a:r>
              </a:p>
              <a:p>
                <a:r>
                  <a:rPr lang="en-US" dirty="0"/>
                  <a:t>In the computation of the variance, the deviations about the mean are squared.</a:t>
                </a:r>
              </a:p>
            </p:txBody>
          </p:sp>
        </mc:Choice>
        <mc:Fallback xmlns="">
          <p:sp>
            <p:nvSpPr>
              <p:cNvPr id="7" name="Text Placeholder 6">
                <a:extLst>
                  <a:ext uri="{FF2B5EF4-FFF2-40B4-BE49-F238E27FC236}">
                    <a16:creationId xmlns:a16="http://schemas.microsoft.com/office/drawing/2014/main" id="{9DFF454C-E42C-D180-38D0-3AB7E429BB4D}"/>
                  </a:ext>
                </a:extLst>
              </p:cNvPr>
              <p:cNvSpPr>
                <a:spLocks noGrp="1" noRot="1" noChangeAspect="1" noMove="1" noResize="1" noEditPoints="1" noAdjustHandles="1" noChangeArrowheads="1" noChangeShapeType="1" noTextEdit="1"/>
              </p:cNvSpPr>
              <p:nvPr>
                <p:ph type="body" sz="quarter" idx="16"/>
              </p:nvPr>
            </p:nvSpPr>
            <p:spPr>
              <a:xfrm>
                <a:off x="740225" y="1396958"/>
                <a:ext cx="10711543" cy="1820918"/>
              </a:xfrm>
              <a:blipFill>
                <a:blip r:embed="rId3"/>
                <a:stretch>
                  <a:fillRect l="-1422" t="-4013" b="-5017"/>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459E44A1-6759-BE06-2A6F-DC994D19335E}"/>
              </a:ext>
            </a:extLst>
          </p:cNvPr>
          <p:cNvSpPr>
            <a:spLocks noGrp="1"/>
          </p:cNvSpPr>
          <p:nvPr>
            <p:ph type="body" sz="quarter" idx="21"/>
          </p:nvPr>
        </p:nvSpPr>
        <p:spPr>
          <a:xfrm>
            <a:off x="743575" y="3592636"/>
            <a:ext cx="5173343" cy="332973"/>
          </a:xfrm>
        </p:spPr>
        <p:txBody>
          <a:bodyPr/>
          <a:lstStyle/>
          <a:p>
            <a:r>
              <a:rPr lang="en-US" dirty="0"/>
              <a:t>Population Variance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B977394-FBFC-B3B5-91C4-B1926A3F1113}"/>
                  </a:ext>
                </a:extLst>
              </p:cNvPr>
              <p:cNvSpPr>
                <a:spLocks noGrp="1"/>
              </p:cNvSpPr>
              <p:nvPr>
                <p:ph type="body" sz="quarter" idx="15"/>
              </p:nvPr>
            </p:nvSpPr>
            <p:spPr>
              <a:xfrm>
                <a:off x="743576" y="4043847"/>
                <a:ext cx="5200024" cy="1282043"/>
              </a:xfrm>
            </p:spPr>
            <p:txBody>
              <a:bodyPr/>
              <a:lstStyle/>
              <a:p>
                <a:pPr marL="457200">
                  <a:spcAft>
                    <a:spcPts val="600"/>
                  </a:spcAft>
                </a:pPr>
                <a14:m>
                  <m:oMathPara xmlns:m="http://schemas.openxmlformats.org/officeDocument/2006/math">
                    <m:oMathParaPr>
                      <m:jc m:val="left"/>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𝝈</m:t>
                          </m:r>
                        </m:e>
                        <m:sup>
                          <m:r>
                            <a:rPr lang="en-US" b="1" i="1" smtClean="0">
                              <a:latin typeface="Cambria Math" panose="02040503050406030204" pitchFamily="18" charset="0"/>
                            </a:rPr>
                            <m:t>𝟐</m:t>
                          </m:r>
                        </m:sup>
                      </m:sSup>
                      <m:r>
                        <a:rPr lang="en-US" b="1" i="1" smtClean="0">
                          <a:latin typeface="Cambria Math" panose="02040503050406030204" pitchFamily="18" charset="0"/>
                        </a:rPr>
                        <m:t>=</m:t>
                      </m:r>
                      <m:f>
                        <m:fPr>
                          <m:ctrlPr>
                            <a:rPr lang="en-US" b="1" i="1" smtClean="0">
                              <a:latin typeface="Cambria Math" panose="02040503050406030204" pitchFamily="18" charset="0"/>
                            </a:rPr>
                          </m:ctrlPr>
                        </m:fPr>
                        <m:num>
                          <m:nary>
                            <m:naryPr>
                              <m:chr m:val="∑"/>
                              <m:subHide m:val="on"/>
                              <m:supHide m:val="on"/>
                              <m:ctrlPr>
                                <a:rPr lang="en-US" b="1" i="1" smtClean="0">
                                  <a:latin typeface="Cambria Math" panose="02040503050406030204" pitchFamily="18" charset="0"/>
                                </a:rPr>
                              </m:ctrlPr>
                            </m:naryPr>
                            <m:sub/>
                            <m:sup/>
                            <m:e>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𝝁</m:t>
                                      </m:r>
                                    </m:e>
                                  </m:d>
                                </m:e>
                                <m:sup>
                                  <m:r>
                                    <a:rPr lang="en-US" b="1" i="1" smtClean="0">
                                      <a:latin typeface="Cambria Math" panose="02040503050406030204" pitchFamily="18" charset="0"/>
                                    </a:rPr>
                                    <m:t>𝟐</m:t>
                                  </m:r>
                                </m:sup>
                              </m:sSup>
                            </m:e>
                          </m:nary>
                        </m:num>
                        <m:den>
                          <m:r>
                            <a:rPr lang="en-US" b="1" i="1" smtClean="0">
                              <a:latin typeface="Cambria Math" panose="02040503050406030204" pitchFamily="18" charset="0"/>
                            </a:rPr>
                            <m:t>𝑵</m:t>
                          </m:r>
                        </m:den>
                      </m:f>
                    </m:oMath>
                  </m:oMathPara>
                </a14:m>
                <a:endParaRPr lang="en-US" b="1" dirty="0"/>
              </a:p>
              <a:p>
                <a:pPr marL="457200">
                  <a:spcBef>
                    <a:spcPts val="1200"/>
                  </a:spcBef>
                </a:pPr>
                <a:r>
                  <a:rPr lang="en-US" dirty="0"/>
                  <a:t>Where </a:t>
                </a:r>
                <a:r>
                  <a:rPr lang="en-US" i="1" dirty="0"/>
                  <a:t>N</a:t>
                </a:r>
                <a:r>
                  <a:rPr lang="en-US" dirty="0"/>
                  <a:t> is the population size.</a:t>
                </a:r>
              </a:p>
            </p:txBody>
          </p:sp>
        </mc:Choice>
        <mc:Fallback xmlns="">
          <p:sp>
            <p:nvSpPr>
              <p:cNvPr id="4" name="Text Placeholder 3">
                <a:extLst>
                  <a:ext uri="{FF2B5EF4-FFF2-40B4-BE49-F238E27FC236}">
                    <a16:creationId xmlns:a16="http://schemas.microsoft.com/office/drawing/2014/main" id="{6B977394-FBFC-B3B5-91C4-B1926A3F1113}"/>
                  </a:ext>
                </a:extLst>
              </p:cNvPr>
              <p:cNvSpPr>
                <a:spLocks noGrp="1" noRot="1" noChangeAspect="1" noMove="1" noResize="1" noEditPoints="1" noAdjustHandles="1" noChangeArrowheads="1" noChangeShapeType="1" noTextEdit="1"/>
              </p:cNvSpPr>
              <p:nvPr>
                <p:ph type="body" sz="quarter" idx="15"/>
              </p:nvPr>
            </p:nvSpPr>
            <p:spPr>
              <a:xfrm>
                <a:off x="743576" y="4043847"/>
                <a:ext cx="5200024" cy="1282043"/>
              </a:xfrm>
              <a:blipFill>
                <a:blip r:embed="rId4"/>
                <a:stretch>
                  <a:fillRect b="-1896"/>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0FDD7E66-FD54-3B32-05C7-71DC378351F4}"/>
              </a:ext>
            </a:extLst>
          </p:cNvPr>
          <p:cNvSpPr>
            <a:spLocks noGrp="1"/>
          </p:cNvSpPr>
          <p:nvPr>
            <p:ph type="body" sz="quarter" idx="22"/>
          </p:nvPr>
        </p:nvSpPr>
        <p:spPr>
          <a:xfrm>
            <a:off x="6096000" y="3592635"/>
            <a:ext cx="5200024" cy="332973"/>
          </a:xfrm>
        </p:spPr>
        <p:txBody>
          <a:bodyPr/>
          <a:lstStyle/>
          <a:p>
            <a:r>
              <a:rPr lang="en-US" dirty="0"/>
              <a:t>Sample Variance (*see notes)</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3F07486-8066-BE1F-292E-6570F7F7BF02}"/>
                  </a:ext>
                </a:extLst>
              </p:cNvPr>
              <p:cNvSpPr>
                <a:spLocks noGrp="1"/>
              </p:cNvSpPr>
              <p:nvPr>
                <p:ph type="body" sz="quarter" idx="18"/>
              </p:nvPr>
            </p:nvSpPr>
            <p:spPr>
              <a:xfrm>
                <a:off x="6095997" y="4043847"/>
                <a:ext cx="5200025" cy="1282043"/>
              </a:xfrm>
            </p:spPr>
            <p:txBody>
              <a:bodyPr/>
              <a:lstStyle/>
              <a:p>
                <a:pPr marL="457200">
                  <a:spcAft>
                    <a:spcPts val="0"/>
                  </a:spcAft>
                </a:pPr>
                <a14:m>
                  <m:oMathPara xmlns:m="http://schemas.openxmlformats.org/officeDocument/2006/math">
                    <m:oMathParaPr>
                      <m:jc m:val="left"/>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𝒔</m:t>
                          </m:r>
                        </m:e>
                        <m:sup>
                          <m:r>
                            <a:rPr lang="en-US" b="1" i="1" smtClean="0">
                              <a:latin typeface="Cambria Math" panose="02040503050406030204" pitchFamily="18" charset="0"/>
                            </a:rPr>
                            <m:t>𝟐</m:t>
                          </m:r>
                        </m:sup>
                      </m:sSup>
                      <m:r>
                        <a:rPr lang="en-US" b="1" i="1" smtClean="0">
                          <a:latin typeface="Cambria Math" panose="02040503050406030204" pitchFamily="18" charset="0"/>
                        </a:rPr>
                        <m:t>=</m:t>
                      </m:r>
                      <m:f>
                        <m:fPr>
                          <m:ctrlPr>
                            <a:rPr lang="en-US" b="1" i="1" smtClean="0">
                              <a:latin typeface="Cambria Math" panose="02040503050406030204" pitchFamily="18" charset="0"/>
                            </a:rPr>
                          </m:ctrlPr>
                        </m:fPr>
                        <m:num>
                          <m:nary>
                            <m:naryPr>
                              <m:chr m:val="∑"/>
                              <m:subHide m:val="on"/>
                              <m:supHide m:val="on"/>
                              <m:ctrlPr>
                                <a:rPr lang="en-US" b="1" i="1" smtClean="0">
                                  <a:latin typeface="Cambria Math" panose="02040503050406030204" pitchFamily="18" charset="0"/>
                                </a:rPr>
                              </m:ctrlPr>
                            </m:naryPr>
                            <m:sub/>
                            <m:sup/>
                            <m:e>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e>
                                  </m:d>
                                </m:e>
                                <m:sup>
                                  <m:r>
                                    <a:rPr lang="en-US" b="1" i="1" smtClean="0">
                                      <a:latin typeface="Cambria Math" panose="02040503050406030204" pitchFamily="18" charset="0"/>
                                    </a:rPr>
                                    <m:t>𝟐</m:t>
                                  </m:r>
                                </m:sup>
                              </m:sSup>
                            </m:e>
                          </m:nary>
                        </m:num>
                        <m:den>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m:t>
                          </m:r>
                        </m:den>
                      </m:f>
                    </m:oMath>
                  </m:oMathPara>
                </a14:m>
                <a:endParaRPr lang="en-US" b="1" dirty="0"/>
              </a:p>
              <a:p>
                <a:pPr marL="457200">
                  <a:spcBef>
                    <a:spcPts val="1800"/>
                  </a:spcBef>
                </a:pPr>
                <a:r>
                  <a:rPr lang="en-US" dirty="0"/>
                  <a:t>Where </a:t>
                </a:r>
                <a:r>
                  <a:rPr lang="en-US" i="1" dirty="0"/>
                  <a:t>n</a:t>
                </a:r>
                <a:r>
                  <a:rPr lang="en-US" dirty="0"/>
                  <a:t> is the sample size.</a:t>
                </a:r>
              </a:p>
              <a:p>
                <a:endParaRPr lang="en-US" dirty="0"/>
              </a:p>
            </p:txBody>
          </p:sp>
        </mc:Choice>
        <mc:Fallback xmlns="">
          <p:sp>
            <p:nvSpPr>
              <p:cNvPr id="6" name="Text Placeholder 5">
                <a:extLst>
                  <a:ext uri="{FF2B5EF4-FFF2-40B4-BE49-F238E27FC236}">
                    <a16:creationId xmlns:a16="http://schemas.microsoft.com/office/drawing/2014/main" id="{F3F07486-8066-BE1F-292E-6570F7F7BF02}"/>
                  </a:ext>
                </a:extLst>
              </p:cNvPr>
              <p:cNvSpPr>
                <a:spLocks noGrp="1" noRot="1" noChangeAspect="1" noMove="1" noResize="1" noEditPoints="1" noAdjustHandles="1" noChangeArrowheads="1" noChangeShapeType="1" noTextEdit="1"/>
              </p:cNvSpPr>
              <p:nvPr>
                <p:ph type="body" sz="quarter" idx="18"/>
              </p:nvPr>
            </p:nvSpPr>
            <p:spPr>
              <a:xfrm>
                <a:off x="6095997" y="4043847"/>
                <a:ext cx="5200025" cy="1282043"/>
              </a:xfrm>
              <a:blipFill>
                <a:blip r:embed="rId5"/>
                <a:stretch>
                  <a:fillRect b="-2370"/>
                </a:stretch>
              </a:blipFill>
            </p:spPr>
            <p:txBody>
              <a:bodyPr/>
              <a:lstStyle/>
              <a:p>
                <a:r>
                  <a:rPr lang="en-US">
                    <a:noFill/>
                  </a:rPr>
                  <a:t> </a:t>
                </a:r>
              </a:p>
            </p:txBody>
          </p:sp>
        </mc:Fallback>
      </mc:AlternateContent>
    </p:spTree>
    <p:extLst>
      <p:ext uri="{BB962C8B-B14F-4D97-AF65-F5344CB8AC3E}">
        <p14:creationId xmlns:p14="http://schemas.microsoft.com/office/powerpoint/2010/main" val="2081349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85F50-3D1A-8973-A194-776485D6C897}"/>
              </a:ext>
            </a:extLst>
          </p:cNvPr>
          <p:cNvSpPr>
            <a:spLocks noGrp="1"/>
          </p:cNvSpPr>
          <p:nvPr>
            <p:ph type="title"/>
          </p:nvPr>
        </p:nvSpPr>
        <p:spPr/>
        <p:txBody>
          <a:bodyPr/>
          <a:lstStyle/>
          <a:p>
            <a:r>
              <a:rPr lang="en-US" dirty="0"/>
              <a:t>3.2 A Calculation of the Sample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E3BD5A6-E271-8B78-F230-015EB179E627}"/>
                  </a:ext>
                </a:extLst>
              </p:cNvPr>
              <p:cNvSpPr>
                <a:spLocks noGrp="1"/>
              </p:cNvSpPr>
              <p:nvPr>
                <p:ph type="body" sz="quarter" idx="15"/>
              </p:nvPr>
            </p:nvSpPr>
            <p:spPr>
              <a:xfrm>
                <a:off x="793194" y="1396238"/>
                <a:ext cx="10607040" cy="1696738"/>
              </a:xfrm>
            </p:spPr>
            <p:txBody>
              <a:bodyPr>
                <a:noAutofit/>
              </a:bodyPr>
              <a:lstStyle/>
              <a:p>
                <a:r>
                  <a:rPr lang="en-US" sz="2000" dirty="0"/>
                  <a:t>Let us calculate the sample variance of the class size for the sample of five college classes as presented in the previous section.</a:t>
                </a:r>
              </a:p>
              <a:p>
                <a:r>
                  <a:rPr lang="en-US" sz="2000" dirty="0"/>
                  <a:t>A summary of the data, including the computation of the deviations about the mean and the squared deviations about the mean, is shown in the table below.</a:t>
                </a:r>
              </a:p>
              <a:p>
                <a:r>
                  <a:rPr lang="en-US" sz="2000" dirty="0"/>
                  <a:t>The sum of squared deviations about the mean is </a:t>
                </a:r>
                <a14:m>
                  <m:oMath xmlns:m="http://schemas.openxmlformats.org/officeDocument/2006/math">
                    <m:nary>
                      <m:naryPr>
                        <m:chr m:val="∑"/>
                        <m:subHide m:val="on"/>
                        <m:supHide m:val="on"/>
                        <m:ctrlPr>
                          <a:rPr lang="en-US" sz="2000" b="0" i="1" smtClean="0">
                            <a:latin typeface="Cambria Math" panose="02040503050406030204" pitchFamily="18" charset="0"/>
                          </a:rPr>
                        </m:ctrlPr>
                      </m:naryPr>
                      <m:sub/>
                      <m:sup/>
                      <m:e>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e>
                            </m:d>
                          </m:e>
                          <m:sup>
                            <m:r>
                              <a:rPr lang="en-US" sz="2000" b="0" i="1" smtClean="0">
                                <a:latin typeface="Cambria Math" panose="02040503050406030204" pitchFamily="18" charset="0"/>
                              </a:rPr>
                              <m:t>2</m:t>
                            </m:r>
                          </m:sup>
                        </m:sSup>
                      </m:e>
                    </m:nary>
                    <m:r>
                      <a:rPr lang="en-US" sz="2000" b="0" i="1" smtClean="0">
                        <a:latin typeface="Cambria Math" panose="02040503050406030204" pitchFamily="18" charset="0"/>
                      </a:rPr>
                      <m:t>=256</m:t>
                    </m:r>
                  </m:oMath>
                </a14:m>
                <a:r>
                  <a:rPr lang="en-US" sz="2000" dirty="0"/>
                  <a:t>.</a:t>
                </a:r>
              </a:p>
            </p:txBody>
          </p:sp>
        </mc:Choice>
        <mc:Fallback xmlns="">
          <p:sp>
            <p:nvSpPr>
              <p:cNvPr id="3" name="Text Placeholder 2">
                <a:extLst>
                  <a:ext uri="{FF2B5EF4-FFF2-40B4-BE49-F238E27FC236}">
                    <a16:creationId xmlns:a16="http://schemas.microsoft.com/office/drawing/2014/main" id="{1E3BD5A6-E271-8B78-F230-015EB179E627}"/>
                  </a:ext>
                </a:extLst>
              </p:cNvPr>
              <p:cNvSpPr>
                <a:spLocks noGrp="1" noRot="1" noChangeAspect="1" noMove="1" noResize="1" noEditPoints="1" noAdjustHandles="1" noChangeArrowheads="1" noChangeShapeType="1" noTextEdit="1"/>
              </p:cNvSpPr>
              <p:nvPr>
                <p:ph type="body" sz="quarter" idx="15"/>
              </p:nvPr>
            </p:nvSpPr>
            <p:spPr>
              <a:xfrm>
                <a:off x="793194" y="1396238"/>
                <a:ext cx="10607040" cy="1696738"/>
              </a:xfrm>
              <a:blipFill>
                <a:blip r:embed="rId2"/>
                <a:stretch>
                  <a:fillRect l="-1437" t="-6115" r="-1494" b="-42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A8FBCD7-B85D-F70C-F5F4-4C19F385E74A}"/>
                  </a:ext>
                </a:extLst>
              </p:cNvPr>
              <p:cNvSpPr>
                <a:spLocks noGrp="1"/>
              </p:cNvSpPr>
              <p:nvPr>
                <p:ph type="body" sz="quarter" idx="18"/>
              </p:nvPr>
            </p:nvSpPr>
            <p:spPr>
              <a:xfrm>
                <a:off x="838200" y="3114408"/>
                <a:ext cx="5404104" cy="2404872"/>
              </a:xfrm>
            </p:spPr>
            <p:txBody>
              <a:bodyPr>
                <a:normAutofit/>
              </a:bodyPr>
              <a:lstStyle/>
              <a:p>
                <a:pPr>
                  <a:spcAft>
                    <a:spcPts val="600"/>
                  </a:spcAft>
                </a:pPr>
                <a:r>
                  <a:rPr lang="en-US" sz="2000" dirty="0"/>
                  <a:t>With </a:t>
                </a:r>
                <a14:m>
                  <m:oMath xmlns:m="http://schemas.openxmlformats.org/officeDocument/2006/math">
                    <m:r>
                      <a:rPr lang="en-US" sz="1800" b="0" i="1" smtClean="0">
                        <a:latin typeface="Cambria Math" panose="02040503050406030204" pitchFamily="18" charset="0"/>
                      </a:rPr>
                      <m:t>𝑛</m:t>
                    </m:r>
                    <m:r>
                      <a:rPr lang="en-US" sz="1800" b="0" i="1" smtClean="0">
                        <a:latin typeface="Cambria Math" panose="02040503050406030204" pitchFamily="18" charset="0"/>
                      </a:rPr>
                      <m:t>−1=4</m:t>
                    </m:r>
                  </m:oMath>
                </a14:m>
                <a:r>
                  <a:rPr lang="en-US" sz="2000" dirty="0"/>
                  <a:t>, the sample variance is</a:t>
                </a:r>
              </a:p>
              <a:p>
                <a:pPr marL="457200">
                  <a:spcAft>
                    <a:spcPts val="600"/>
                  </a:spcAft>
                </a:pPr>
                <a14:m>
                  <m:oMathPara xmlns:m="http://schemas.openxmlformats.org/officeDocument/2006/math">
                    <m:oMathParaPr>
                      <m:jc m:val="left"/>
                    </m:oMathParaPr>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𝑠</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nary>
                            <m:naryPr>
                              <m:chr m:val="∑"/>
                              <m:subHide m:val="on"/>
                              <m:supHide m:val="on"/>
                              <m:ctrlPr>
                                <a:rPr lang="en-US" sz="1800" b="0" i="1" smtClean="0">
                                  <a:latin typeface="Cambria Math" panose="02040503050406030204" pitchFamily="18" charset="0"/>
                                </a:rPr>
                              </m:ctrlPr>
                            </m:naryPr>
                            <m:sub/>
                            <m:sup/>
                            <m:e>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d>
                                </m:e>
                                <m:sup>
                                  <m:r>
                                    <a:rPr lang="en-US" sz="1800" b="0" i="1" smtClean="0">
                                      <a:latin typeface="Cambria Math" panose="02040503050406030204" pitchFamily="18" charset="0"/>
                                    </a:rPr>
                                    <m:t>2</m:t>
                                  </m:r>
                                </m:sup>
                              </m:sSup>
                            </m:e>
                          </m:nary>
                        </m:num>
                        <m:den>
                          <m:r>
                            <a:rPr lang="en-US" sz="1800" b="0" i="1" smtClean="0">
                              <a:latin typeface="Cambria Math" panose="02040503050406030204" pitchFamily="18" charset="0"/>
                            </a:rPr>
                            <m:t>𝑛</m:t>
                          </m:r>
                          <m:r>
                            <a:rPr lang="en-US" sz="1800" b="0" i="1" smtClean="0">
                              <a:latin typeface="Cambria Math" panose="02040503050406030204" pitchFamily="18" charset="0"/>
                            </a:rPr>
                            <m:t>−1</m:t>
                          </m:r>
                        </m:den>
                      </m:f>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256</m:t>
                          </m:r>
                        </m:num>
                        <m:den>
                          <m:r>
                            <a:rPr lang="en-US" sz="1800" b="0" i="1" smtClean="0">
                              <a:latin typeface="Cambria Math" panose="02040503050406030204" pitchFamily="18" charset="0"/>
                            </a:rPr>
                            <m:t>4</m:t>
                          </m:r>
                        </m:den>
                      </m:f>
                      <m:r>
                        <a:rPr lang="en-US" sz="1800" b="0" i="1" smtClean="0">
                          <a:latin typeface="Cambria Math" panose="02040503050406030204" pitchFamily="18" charset="0"/>
                        </a:rPr>
                        <m:t>=64</m:t>
                      </m:r>
                    </m:oMath>
                  </m:oMathPara>
                </a14:m>
                <a:endParaRPr lang="en-US" sz="2000" dirty="0"/>
              </a:p>
              <a:p>
                <a:r>
                  <a:rPr lang="en-US" sz="2000" dirty="0"/>
                  <a:t>Note that, because the variance is a squared operator, its units are also squared.</a:t>
                </a:r>
              </a:p>
              <a:p>
                <a:r>
                  <a:rPr lang="en-US" sz="2000" dirty="0"/>
                  <a:t>In this case, the units are </a:t>
                </a:r>
                <a14:m>
                  <m:oMath xmlns:m="http://schemas.openxmlformats.org/officeDocument/2006/math">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r>
                              <m:rPr>
                                <m:nor/>
                              </m:rPr>
                              <a:rPr lang="en-US" sz="2000" b="0" i="0" smtClean="0">
                                <a:latin typeface="Arial" panose="020B0604020202020204" pitchFamily="34" charset="0"/>
                                <a:cs typeface="Arial" panose="020B0604020202020204" pitchFamily="34" charset="0"/>
                              </a:rPr>
                              <m:t>students</m:t>
                            </m:r>
                          </m:e>
                        </m:d>
                      </m:e>
                      <m:sup>
                        <m:r>
                          <a:rPr lang="en-US" sz="2000" b="0" i="1" smtClean="0">
                            <a:latin typeface="Cambria Math" panose="02040503050406030204" pitchFamily="18" charset="0"/>
                          </a:rPr>
                          <m:t>2</m:t>
                        </m:r>
                      </m:sup>
                    </m:sSup>
                  </m:oMath>
                </a14:m>
                <a:r>
                  <a:rPr lang="en-US" sz="2000" dirty="0"/>
                  <a:t>, and not students.</a:t>
                </a:r>
              </a:p>
            </p:txBody>
          </p:sp>
        </mc:Choice>
        <mc:Fallback xmlns="">
          <p:sp>
            <p:nvSpPr>
              <p:cNvPr id="5" name="Text Placeholder 4">
                <a:extLst>
                  <a:ext uri="{FF2B5EF4-FFF2-40B4-BE49-F238E27FC236}">
                    <a16:creationId xmlns:a16="http://schemas.microsoft.com/office/drawing/2014/main" id="{5A8FBCD7-B85D-F70C-F5F4-4C19F385E74A}"/>
                  </a:ext>
                </a:extLst>
              </p:cNvPr>
              <p:cNvSpPr>
                <a:spLocks noGrp="1" noRot="1" noChangeAspect="1" noMove="1" noResize="1" noEditPoints="1" noAdjustHandles="1" noChangeArrowheads="1" noChangeShapeType="1" noTextEdit="1"/>
              </p:cNvSpPr>
              <p:nvPr>
                <p:ph type="body" sz="quarter" idx="18"/>
              </p:nvPr>
            </p:nvSpPr>
            <p:spPr>
              <a:xfrm>
                <a:off x="838200" y="3114408"/>
                <a:ext cx="5404104" cy="2404872"/>
              </a:xfrm>
              <a:blipFill>
                <a:blip r:embed="rId3"/>
                <a:stretch>
                  <a:fillRect l="-2935" t="-4315" b="-10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7">
                <a:extLst>
                  <a:ext uri="{FF2B5EF4-FFF2-40B4-BE49-F238E27FC236}">
                    <a16:creationId xmlns:a16="http://schemas.microsoft.com/office/drawing/2014/main" id="{00F38B9F-0AE8-433F-283C-9C8CDC26D3BF}"/>
                  </a:ext>
                </a:extLst>
              </p:cNvPr>
              <p:cNvGraphicFramePr>
                <a:graphicFrameLocks noGrp="1"/>
              </p:cNvGraphicFramePr>
              <p:nvPr>
                <p:ph type="tbl" sz="quarter" idx="22"/>
                <p:extLst>
                  <p:ext uri="{D42A27DB-BD31-4B8C-83A1-F6EECF244321}">
                    <p14:modId xmlns:p14="http://schemas.microsoft.com/office/powerpoint/2010/main" val="1877222558"/>
                  </p:ext>
                </p:extLst>
              </p:nvPr>
            </p:nvGraphicFramePr>
            <p:xfrm>
              <a:off x="6400801" y="3196498"/>
              <a:ext cx="4336662" cy="2533549"/>
            </p:xfrm>
            <a:graphic>
              <a:graphicData uri="http://schemas.openxmlformats.org/drawingml/2006/table">
                <a:tbl>
                  <a:tblPr firstRow="1" bandRow="1">
                    <a:tableStyleId>{5C22544A-7EE6-4342-B048-85BDC9FD1C3A}</a:tableStyleId>
                  </a:tblPr>
                  <a:tblGrid>
                    <a:gridCol w="1337094">
                      <a:extLst>
                        <a:ext uri="{9D8B030D-6E8A-4147-A177-3AD203B41FA5}">
                          <a16:colId xmlns:a16="http://schemas.microsoft.com/office/drawing/2014/main" val="156230930"/>
                        </a:ext>
                      </a:extLst>
                    </a:gridCol>
                    <a:gridCol w="1112808">
                      <a:extLst>
                        <a:ext uri="{9D8B030D-6E8A-4147-A177-3AD203B41FA5}">
                          <a16:colId xmlns:a16="http://schemas.microsoft.com/office/drawing/2014/main" val="649839346"/>
                        </a:ext>
                      </a:extLst>
                    </a:gridCol>
                    <a:gridCol w="1886760">
                      <a:extLst>
                        <a:ext uri="{9D8B030D-6E8A-4147-A177-3AD203B41FA5}">
                          <a16:colId xmlns:a16="http://schemas.microsoft.com/office/drawing/2014/main" val="2579469430"/>
                        </a:ext>
                      </a:extLst>
                    </a:gridCol>
                  </a:tblGrid>
                  <a:tr h="741863">
                    <a:tc>
                      <a:txBody>
                        <a:bodyPr/>
                        <a:lstStyle/>
                        <a:p>
                          <a:pPr algn="l" fontAlgn="ctr"/>
                          <a:r>
                            <a:rPr lang="en-US" sz="1600" b="1" i="0" u="none" strike="noStrike" dirty="0">
                              <a:solidFill>
                                <a:srgbClr val="000000"/>
                              </a:solidFill>
                              <a:effectLst/>
                              <a:latin typeface="+mn-lt"/>
                            </a:rPr>
                            <a:t>Number of Students in Class (</a:t>
                          </a:r>
                          <a14:m>
                            <m:oMath xmlns:m="http://schemas.openxmlformats.org/officeDocument/2006/math">
                              <m:sSub>
                                <m:sSubPr>
                                  <m:ctrlPr>
                                    <a:rPr lang="en-US" sz="1600" b="1" i="1" smtClean="0">
                                      <a:solidFill>
                                        <a:srgbClr val="000000"/>
                                      </a:solidFill>
                                      <a:latin typeface="Cambria Math" panose="02040503050406030204" pitchFamily="18" charset="0"/>
                                    </a:rPr>
                                  </m:ctrlPr>
                                </m:sSubPr>
                                <m:e>
                                  <m:r>
                                    <a:rPr lang="en-US" sz="1600" b="1" i="1" smtClean="0">
                                      <a:solidFill>
                                        <a:srgbClr val="000000"/>
                                      </a:solidFill>
                                      <a:latin typeface="Cambria Math" panose="02040503050406030204" pitchFamily="18" charset="0"/>
                                    </a:rPr>
                                    <m:t>𝒙</m:t>
                                  </m:r>
                                </m:e>
                                <m:sub>
                                  <m:r>
                                    <a:rPr lang="en-US" sz="1600" b="1" i="1" smtClean="0">
                                      <a:solidFill>
                                        <a:srgbClr val="000000"/>
                                      </a:solidFill>
                                      <a:latin typeface="Cambria Math" panose="02040503050406030204" pitchFamily="18" charset="0"/>
                                    </a:rPr>
                                    <m:t>𝒊</m:t>
                                  </m:r>
                                </m:sub>
                              </m:sSub>
                            </m:oMath>
                          </a14:m>
                          <a:r>
                            <a:rPr lang="en-US" sz="1600" b="1" i="0" u="none" strike="noStrike" dirty="0">
                              <a:solidFill>
                                <a:srgbClr val="000000"/>
                              </a:solidFill>
                              <a:effectLst/>
                              <a:latin typeface="+mn-lt"/>
                            </a:rPr>
                            <a:t>)</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mn-lt"/>
                            </a:rPr>
                            <a:t>Mean Class Size (</a:t>
                          </a:r>
                          <a14:m>
                            <m:oMath xmlns:m="http://schemas.openxmlformats.org/officeDocument/2006/math">
                              <m:acc>
                                <m:accPr>
                                  <m:chr m:val="̅"/>
                                  <m:ctrlPr>
                                    <a:rPr lang="en-US" sz="1600" b="1" i="1" smtClean="0">
                                      <a:solidFill>
                                        <a:srgbClr val="000000"/>
                                      </a:solidFill>
                                      <a:latin typeface="Cambria Math" panose="02040503050406030204" pitchFamily="18" charset="0"/>
                                    </a:rPr>
                                  </m:ctrlPr>
                                </m:accPr>
                                <m:e>
                                  <m:r>
                                    <a:rPr lang="en-US" sz="1600" b="1" i="1" smtClean="0">
                                      <a:solidFill>
                                        <a:srgbClr val="000000"/>
                                      </a:solidFill>
                                      <a:latin typeface="Cambria Math" panose="02040503050406030204" pitchFamily="18" charset="0"/>
                                    </a:rPr>
                                    <m:t>𝒙</m:t>
                                  </m:r>
                                </m:e>
                              </m:acc>
                            </m:oMath>
                          </a14:m>
                          <a:r>
                            <a:rPr lang="en-US" sz="1600" b="1" i="0" u="none" strike="noStrike" dirty="0">
                              <a:solidFill>
                                <a:srgbClr val="000000"/>
                              </a:solidFill>
                              <a:effectLst/>
                              <a:latin typeface="+mn-lt"/>
                            </a:rPr>
                            <a:t>)</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mn-lt"/>
                            </a:rPr>
                            <a:t>Squared Deviation About the Mean </a:t>
                          </a:r>
                          <a14:m>
                            <m:oMath xmlns:m="http://schemas.openxmlformats.org/officeDocument/2006/math">
                              <m:sSup>
                                <m:sSupPr>
                                  <m:ctrlPr>
                                    <a:rPr lang="en-US" sz="1600" b="1" i="1" smtClean="0">
                                      <a:solidFill>
                                        <a:srgbClr val="000000"/>
                                      </a:solidFill>
                                      <a:latin typeface="Cambria Math" panose="02040503050406030204" pitchFamily="18" charset="0"/>
                                    </a:rPr>
                                  </m:ctrlPr>
                                </m:sSupPr>
                                <m:e>
                                  <m:d>
                                    <m:dPr>
                                      <m:ctrlPr>
                                        <a:rPr lang="en-US" sz="1600" b="1" i="1" smtClean="0">
                                          <a:solidFill>
                                            <a:srgbClr val="000000"/>
                                          </a:solidFill>
                                          <a:latin typeface="Cambria Math" panose="02040503050406030204" pitchFamily="18" charset="0"/>
                                        </a:rPr>
                                      </m:ctrlPr>
                                    </m:dPr>
                                    <m:e>
                                      <m:sSub>
                                        <m:sSubPr>
                                          <m:ctrlPr>
                                            <a:rPr lang="en-US" sz="1600" b="1" i="1" smtClean="0">
                                              <a:solidFill>
                                                <a:srgbClr val="000000"/>
                                              </a:solidFill>
                                              <a:latin typeface="Cambria Math" panose="02040503050406030204" pitchFamily="18" charset="0"/>
                                            </a:rPr>
                                          </m:ctrlPr>
                                        </m:sSubPr>
                                        <m:e>
                                          <m:r>
                                            <a:rPr lang="en-US" sz="1600" b="1" i="1" smtClean="0">
                                              <a:solidFill>
                                                <a:srgbClr val="000000"/>
                                              </a:solidFill>
                                              <a:latin typeface="Cambria Math" panose="02040503050406030204" pitchFamily="18" charset="0"/>
                                            </a:rPr>
                                            <m:t>𝒙</m:t>
                                          </m:r>
                                        </m:e>
                                        <m:sub>
                                          <m:r>
                                            <a:rPr lang="en-US" sz="1600" b="1" i="1" smtClean="0">
                                              <a:solidFill>
                                                <a:srgbClr val="000000"/>
                                              </a:solidFill>
                                              <a:latin typeface="Cambria Math" panose="02040503050406030204" pitchFamily="18" charset="0"/>
                                            </a:rPr>
                                            <m:t>𝒊</m:t>
                                          </m:r>
                                        </m:sub>
                                      </m:sSub>
                                      <m:r>
                                        <a:rPr lang="en-US" sz="1600" b="1" i="1" smtClean="0">
                                          <a:solidFill>
                                            <a:srgbClr val="000000"/>
                                          </a:solidFill>
                                          <a:latin typeface="Cambria Math" panose="02040503050406030204" pitchFamily="18" charset="0"/>
                                        </a:rPr>
                                        <m:t>−</m:t>
                                      </m:r>
                                      <m:acc>
                                        <m:accPr>
                                          <m:chr m:val="̅"/>
                                          <m:ctrlPr>
                                            <a:rPr lang="en-US" sz="1600" b="1" i="1" smtClean="0">
                                              <a:solidFill>
                                                <a:srgbClr val="000000"/>
                                              </a:solidFill>
                                              <a:latin typeface="Cambria Math" panose="02040503050406030204" pitchFamily="18" charset="0"/>
                                            </a:rPr>
                                          </m:ctrlPr>
                                        </m:accPr>
                                        <m:e>
                                          <m:r>
                                            <a:rPr lang="en-US" sz="1600" b="1" i="1" smtClean="0">
                                              <a:solidFill>
                                                <a:srgbClr val="000000"/>
                                              </a:solidFill>
                                              <a:latin typeface="Cambria Math" panose="02040503050406030204" pitchFamily="18" charset="0"/>
                                            </a:rPr>
                                            <m:t>𝒙</m:t>
                                          </m:r>
                                        </m:e>
                                      </m:acc>
                                    </m:e>
                                  </m:d>
                                </m:e>
                                <m:sup>
                                  <m:r>
                                    <a:rPr lang="en-US" sz="1600" b="1" i="1" smtClean="0">
                                      <a:solidFill>
                                        <a:srgbClr val="000000"/>
                                      </a:solidFill>
                                      <a:latin typeface="Cambria Math" panose="02040503050406030204" pitchFamily="18" charset="0"/>
                                    </a:rPr>
                                    <m:t>𝟐</m:t>
                                  </m:r>
                                </m:sup>
                              </m:sSup>
                            </m:oMath>
                          </a14:m>
                          <a:endParaRPr lang="en-US" sz="1600" b="1" i="0" u="none" strike="noStrike" dirty="0">
                            <a:solidFill>
                              <a:srgbClr val="000000"/>
                            </a:solidFill>
                            <a:effectLst/>
                            <a:latin typeface="+mn-lt"/>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21464942"/>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05829935"/>
                      </a:ext>
                    </a:extLst>
                  </a:tr>
                  <a:tr h="290739">
                    <a:tc>
                      <a:txBody>
                        <a:bodyPr/>
                        <a:lstStyle/>
                        <a:p>
                          <a:pPr algn="ctr" fontAlgn="ctr"/>
                          <a:r>
                            <a:rPr lang="en-US" sz="1600" b="0" i="0" u="none" strike="noStrike" dirty="0">
                              <a:solidFill>
                                <a:srgbClr val="000000"/>
                              </a:solidFill>
                              <a:effectLst/>
                              <a:latin typeface="+mn-lt"/>
                            </a:rPr>
                            <a:t>54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100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70370676"/>
                      </a:ext>
                    </a:extLst>
                  </a:tr>
                  <a:tr h="290739">
                    <a:tc>
                      <a:txBody>
                        <a:bodyPr/>
                        <a:lstStyle/>
                        <a:p>
                          <a:pPr algn="ctr" fontAlgn="ctr"/>
                          <a:r>
                            <a:rPr lang="en-US" sz="1600" b="0" i="0" u="none" strike="noStrike" dirty="0">
                              <a:solidFill>
                                <a:srgbClr val="000000"/>
                              </a:solidFill>
                              <a:effectLst/>
                              <a:latin typeface="+mn-lt"/>
                            </a:rPr>
                            <a:t>42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0988310"/>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85346022"/>
                      </a:ext>
                    </a:extLst>
                  </a:tr>
                  <a:tr h="290739">
                    <a:tc>
                      <a:txBody>
                        <a:bodyPr/>
                        <a:lstStyle/>
                        <a:p>
                          <a:pPr algn="ctr" fontAlgn="ctr"/>
                          <a:r>
                            <a:rPr lang="en-US" sz="1600" b="0" i="0" u="none" strike="noStrike" dirty="0">
                              <a:solidFill>
                                <a:srgbClr val="000000"/>
                              </a:solidFill>
                              <a:effectLst/>
                              <a:latin typeface="+mn-lt"/>
                            </a:rPr>
                            <a:t>32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144</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31313245"/>
                      </a:ext>
                    </a:extLst>
                  </a:tr>
                  <a:tr h="290739">
                    <a:tc>
                      <a:txBody>
                        <a:bodyPr/>
                        <a:lstStyle/>
                        <a:p>
                          <a:pPr algn="ctr" fontAlgn="ctr"/>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14:m>
                            <m:oMath xmlns:m="http://schemas.openxmlformats.org/officeDocument/2006/math">
                              <m:nary>
                                <m:naryPr>
                                  <m:chr m:val="∑"/>
                                  <m:subHide m:val="on"/>
                                  <m:supHide m:val="on"/>
                                  <m:ctrlPr>
                                    <a:rPr lang="en-US" sz="1600" b="0" i="1" smtClean="0">
                                      <a:latin typeface="Cambria Math" panose="02040503050406030204" pitchFamily="18" charset="0"/>
                                    </a:rPr>
                                  </m:ctrlPr>
                                </m:naryPr>
                                <m:sub/>
                                <m:sup/>
                                <m:e>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𝑥</m:t>
                                              </m:r>
                                            </m:e>
                                          </m:acc>
                                        </m:e>
                                      </m:d>
                                    </m:e>
                                    <m:sup>
                                      <m:r>
                                        <a:rPr lang="en-US" sz="1600" b="0" i="1" smtClean="0">
                                          <a:latin typeface="Cambria Math" panose="02040503050406030204" pitchFamily="18" charset="0"/>
                                        </a:rPr>
                                        <m:t>2</m:t>
                                      </m:r>
                                    </m:sup>
                                  </m:sSup>
                                </m:e>
                              </m:nary>
                              <m:r>
                                <a:rPr lang="en-US" sz="1600" b="0" i="1" smtClean="0">
                                  <a:latin typeface="Cambria Math" panose="02040503050406030204" pitchFamily="18" charset="0"/>
                                </a:rPr>
                                <m:t>=</m:t>
                              </m:r>
                            </m:oMath>
                          </a14:m>
                          <a:r>
                            <a:rPr lang="en-US" sz="1600" b="0" i="0" u="none" strike="noStrike" dirty="0">
                              <a:solidFill>
                                <a:srgbClr val="000000"/>
                              </a:solidFill>
                              <a:effectLst/>
                              <a:latin typeface="+mn-lt"/>
                            </a:rPr>
                            <a:t> 256</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4747582"/>
                      </a:ext>
                    </a:extLst>
                  </a:tr>
                </a:tbl>
              </a:graphicData>
            </a:graphic>
          </p:graphicFrame>
        </mc:Choice>
        <mc:Fallback xmlns="">
          <p:graphicFrame>
            <p:nvGraphicFramePr>
              <p:cNvPr id="6" name="Table 7">
                <a:extLst>
                  <a:ext uri="{FF2B5EF4-FFF2-40B4-BE49-F238E27FC236}">
                    <a16:creationId xmlns:a16="http://schemas.microsoft.com/office/drawing/2014/main" id="{00F38B9F-0AE8-433F-283C-9C8CDC26D3BF}"/>
                  </a:ext>
                </a:extLst>
              </p:cNvPr>
              <p:cNvGraphicFramePr>
                <a:graphicFrameLocks noGrp="1"/>
              </p:cNvGraphicFramePr>
              <p:nvPr>
                <p:ph type="tbl" sz="quarter" idx="22"/>
                <p:extLst>
                  <p:ext uri="{D42A27DB-BD31-4B8C-83A1-F6EECF244321}">
                    <p14:modId xmlns:p14="http://schemas.microsoft.com/office/powerpoint/2010/main" val="1877222558"/>
                  </p:ext>
                </p:extLst>
              </p:nvPr>
            </p:nvGraphicFramePr>
            <p:xfrm>
              <a:off x="6400801" y="3196498"/>
              <a:ext cx="4336662" cy="2533549"/>
            </p:xfrm>
            <a:graphic>
              <a:graphicData uri="http://schemas.openxmlformats.org/drawingml/2006/table">
                <a:tbl>
                  <a:tblPr firstRow="1" bandRow="1">
                    <a:tableStyleId>{5C22544A-7EE6-4342-B048-85BDC9FD1C3A}</a:tableStyleId>
                  </a:tblPr>
                  <a:tblGrid>
                    <a:gridCol w="1337094">
                      <a:extLst>
                        <a:ext uri="{9D8B030D-6E8A-4147-A177-3AD203B41FA5}">
                          <a16:colId xmlns:a16="http://schemas.microsoft.com/office/drawing/2014/main" val="156230930"/>
                        </a:ext>
                      </a:extLst>
                    </a:gridCol>
                    <a:gridCol w="1112808">
                      <a:extLst>
                        <a:ext uri="{9D8B030D-6E8A-4147-A177-3AD203B41FA5}">
                          <a16:colId xmlns:a16="http://schemas.microsoft.com/office/drawing/2014/main" val="649839346"/>
                        </a:ext>
                      </a:extLst>
                    </a:gridCol>
                    <a:gridCol w="1886760">
                      <a:extLst>
                        <a:ext uri="{9D8B030D-6E8A-4147-A177-3AD203B41FA5}">
                          <a16:colId xmlns:a16="http://schemas.microsoft.com/office/drawing/2014/main" val="2579469430"/>
                        </a:ext>
                      </a:extLst>
                    </a:gridCol>
                  </a:tblGrid>
                  <a:tr h="789115">
                    <a:tc>
                      <a:txBody>
                        <a:bodyPr/>
                        <a:lstStyle/>
                        <a:p>
                          <a:endParaRPr lang="en-US"/>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t="-6923" r="-224091" b="-296923"/>
                          </a:stretch>
                        </a:blipFill>
                      </a:tcPr>
                    </a:tc>
                    <a:tc>
                      <a:txBody>
                        <a:bodyPr/>
                        <a:lstStyle/>
                        <a:p>
                          <a:endParaRPr lang="en-US"/>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20879" t="-6923" r="-170879" b="-296923"/>
                          </a:stretch>
                        </a:blipFill>
                      </a:tcPr>
                    </a:tc>
                    <a:tc>
                      <a:txBody>
                        <a:bodyPr/>
                        <a:lstStyle/>
                        <a:p>
                          <a:endParaRPr lang="en-US"/>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29677" t="-6923" r="-323" b="-296923"/>
                          </a:stretch>
                        </a:blipFill>
                      </a:tcPr>
                    </a:tc>
                    <a:extLst>
                      <a:ext uri="{0D108BD9-81ED-4DB2-BD59-A6C34878D82A}">
                        <a16:rowId xmlns:a16="http://schemas.microsoft.com/office/drawing/2014/main" val="3821464942"/>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05829935"/>
                      </a:ext>
                    </a:extLst>
                  </a:tr>
                  <a:tr h="290739">
                    <a:tc>
                      <a:txBody>
                        <a:bodyPr/>
                        <a:lstStyle/>
                        <a:p>
                          <a:pPr algn="ctr" fontAlgn="ctr"/>
                          <a:r>
                            <a:rPr lang="en-US" sz="1600" b="0" i="0" u="none" strike="noStrike" dirty="0">
                              <a:solidFill>
                                <a:srgbClr val="000000"/>
                              </a:solidFill>
                              <a:effectLst/>
                              <a:latin typeface="+mn-lt"/>
                            </a:rPr>
                            <a:t>54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100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70370676"/>
                      </a:ext>
                    </a:extLst>
                  </a:tr>
                  <a:tr h="290739">
                    <a:tc>
                      <a:txBody>
                        <a:bodyPr/>
                        <a:lstStyle/>
                        <a:p>
                          <a:pPr algn="ctr" fontAlgn="ctr"/>
                          <a:r>
                            <a:rPr lang="en-US" sz="1600" b="0" i="0" u="none" strike="noStrike" dirty="0">
                              <a:solidFill>
                                <a:srgbClr val="000000"/>
                              </a:solidFill>
                              <a:effectLst/>
                              <a:latin typeface="+mn-lt"/>
                            </a:rPr>
                            <a:t>42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0988310"/>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85346022"/>
                      </a:ext>
                    </a:extLst>
                  </a:tr>
                  <a:tr h="290739">
                    <a:tc>
                      <a:txBody>
                        <a:bodyPr/>
                        <a:lstStyle/>
                        <a:p>
                          <a:pPr algn="ctr" fontAlgn="ctr"/>
                          <a:r>
                            <a:rPr lang="en-US" sz="1600" b="0" i="0" u="none" strike="noStrike" dirty="0">
                              <a:solidFill>
                                <a:srgbClr val="000000"/>
                              </a:solidFill>
                              <a:effectLst/>
                              <a:latin typeface="+mn-lt"/>
                            </a:rPr>
                            <a:t>32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mn-lt"/>
                            </a:rPr>
                            <a:t> 144</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31313245"/>
                      </a:ext>
                    </a:extLst>
                  </a:tr>
                  <a:tr h="290739">
                    <a:tc>
                      <a:txBody>
                        <a:bodyPr/>
                        <a:lstStyle/>
                        <a:p>
                          <a:pPr algn="ctr" fontAlgn="ctr"/>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29677" t="-785417" r="-323" b="-208333"/>
                          </a:stretch>
                        </a:blipFill>
                      </a:tcPr>
                    </a:tc>
                    <a:extLst>
                      <a:ext uri="{0D108BD9-81ED-4DB2-BD59-A6C34878D82A}">
                        <a16:rowId xmlns:a16="http://schemas.microsoft.com/office/drawing/2014/main" val="2344747582"/>
                      </a:ext>
                    </a:extLst>
                  </a:tr>
                </a:tbl>
              </a:graphicData>
            </a:graphic>
          </p:graphicFrame>
        </mc:Fallback>
      </mc:AlternateContent>
    </p:spTree>
    <p:extLst>
      <p:ext uri="{BB962C8B-B14F-4D97-AF65-F5344CB8AC3E}">
        <p14:creationId xmlns:p14="http://schemas.microsoft.com/office/powerpoint/2010/main" val="2461944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3.2 Standard Deviation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345630"/>
                <a:ext cx="10711543" cy="4310892"/>
              </a:xfrm>
            </p:spPr>
            <p:txBody>
              <a:bodyPr/>
              <a:lstStyle/>
              <a:p>
                <a:pPr>
                  <a:spcBef>
                    <a:spcPts val="600"/>
                  </a:spcBef>
                  <a:spcAft>
                    <a:spcPts val="600"/>
                  </a:spcAft>
                </a:pPr>
                <a:r>
                  <a:rPr lang="en-US" sz="2000" dirty="0"/>
                  <a:t>The </a:t>
                </a:r>
                <a:r>
                  <a:rPr lang="en-US" sz="2000" b="1" dirty="0"/>
                  <a:t>standard deviation </a:t>
                </a:r>
                <a:r>
                  <a:rPr lang="en-US" sz="2000" dirty="0"/>
                  <a:t>is defined to be the positive square root of the variance.</a:t>
                </a:r>
              </a:p>
              <a:p>
                <a:pPr marL="914400">
                  <a:spcBef>
                    <a:spcPts val="600"/>
                  </a:spcBef>
                  <a:spcAft>
                    <a:spcPts val="600"/>
                  </a:spcAft>
                </a:pPr>
                <a:r>
                  <a:rPr lang="en-US" sz="2000" dirty="0"/>
                  <a:t>Sample standard deviation:	</a:t>
                </a:r>
                <a14:m>
                  <m:oMath xmlns:m="http://schemas.openxmlformats.org/officeDocument/2006/math">
                    <m:r>
                      <a:rPr lang="en-US" sz="2000" b="1" i="1" smtClean="0">
                        <a:latin typeface="Cambria Math" panose="02040503050406030204" pitchFamily="18" charset="0"/>
                      </a:rPr>
                      <m:t>𝒔</m:t>
                    </m:r>
                    <m:r>
                      <a:rPr lang="en-US" sz="2000" b="1" i="1" smtClean="0">
                        <a:latin typeface="Cambria Math" panose="02040503050406030204" pitchFamily="18" charset="0"/>
                      </a:rPr>
                      <m:t>=</m:t>
                    </m:r>
                    <m:rad>
                      <m:radPr>
                        <m:degHide m:val="on"/>
                        <m:ctrlPr>
                          <a:rPr lang="en-US" sz="2000" b="1" i="1" smtClean="0">
                            <a:latin typeface="Cambria Math" panose="02040503050406030204" pitchFamily="18" charset="0"/>
                          </a:rPr>
                        </m:ctrlPr>
                      </m:radPr>
                      <m:deg/>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𝒔</m:t>
                            </m:r>
                          </m:e>
                          <m:sup>
                            <m:r>
                              <a:rPr lang="en-US" sz="2000" b="1" i="1" smtClean="0">
                                <a:latin typeface="Cambria Math" panose="02040503050406030204" pitchFamily="18" charset="0"/>
                              </a:rPr>
                              <m:t>𝟐</m:t>
                            </m:r>
                          </m:sup>
                        </m:sSup>
                      </m:e>
                    </m:rad>
                  </m:oMath>
                </a14:m>
                <a:endParaRPr lang="en-US" sz="2000" b="1" dirty="0"/>
              </a:p>
              <a:p>
                <a:pPr marL="914400">
                  <a:spcBef>
                    <a:spcPts val="600"/>
                  </a:spcBef>
                  <a:spcAft>
                    <a:spcPts val="1200"/>
                  </a:spcAft>
                </a:pPr>
                <a:r>
                  <a:rPr lang="en-US" sz="2000" dirty="0"/>
                  <a:t>Population standard deviation:	</a:t>
                </a:r>
                <a14:m>
                  <m:oMath xmlns:m="http://schemas.openxmlformats.org/officeDocument/2006/math">
                    <m:r>
                      <a:rPr lang="el-GR" sz="2000" b="1" i="1" smtClean="0">
                        <a:latin typeface="Cambria Math" panose="02040503050406030204" pitchFamily="18" charset="0"/>
                        <a:ea typeface="Cambria Math" panose="02040503050406030204" pitchFamily="18" charset="0"/>
                      </a:rPr>
                      <m:t>𝝈</m:t>
                    </m:r>
                    <m:r>
                      <a:rPr lang="en-US" sz="2000" b="1" i="1" smtClean="0">
                        <a:latin typeface="Cambria Math" panose="02040503050406030204" pitchFamily="18" charset="0"/>
                      </a:rPr>
                      <m:t>=</m:t>
                    </m:r>
                    <m:rad>
                      <m:radPr>
                        <m:degHide m:val="on"/>
                        <m:ctrlPr>
                          <a:rPr lang="en-US" sz="2000" b="1" i="1" smtClean="0">
                            <a:latin typeface="Cambria Math" panose="02040503050406030204" pitchFamily="18" charset="0"/>
                          </a:rPr>
                        </m:ctrlPr>
                      </m:radPr>
                      <m:deg/>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𝝈</m:t>
                            </m:r>
                          </m:e>
                          <m:sup>
                            <m:r>
                              <a:rPr lang="en-US" sz="2000" b="1" i="1" smtClean="0">
                                <a:latin typeface="Cambria Math" panose="02040503050406030204" pitchFamily="18" charset="0"/>
                              </a:rPr>
                              <m:t>𝟐</m:t>
                            </m:r>
                          </m:sup>
                        </m:sSup>
                      </m:e>
                    </m:rad>
                  </m:oMath>
                </a14:m>
                <a:endParaRPr lang="en-US" sz="2000" b="1" dirty="0"/>
              </a:p>
              <a:p>
                <a:pPr>
                  <a:spcBef>
                    <a:spcPts val="600"/>
                  </a:spcBef>
                  <a:spcAft>
                    <a:spcPts val="0"/>
                  </a:spcAft>
                </a:pPr>
                <a:r>
                  <a:rPr lang="en-US" sz="2000" dirty="0"/>
                  <a:t>In the previous example, we calculated the sample variance of the class size for the sample of five college classes as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𝑠</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=64</m:t>
                    </m:r>
                  </m:oMath>
                </a14:m>
                <a:r>
                  <a:rPr lang="en-US" sz="2000" dirty="0"/>
                  <a:t>.</a:t>
                </a:r>
              </a:p>
              <a:p>
                <a:pPr>
                  <a:spcBef>
                    <a:spcPts val="600"/>
                  </a:spcBef>
                  <a:spcAft>
                    <a:spcPts val="0"/>
                  </a:spcAft>
                </a:pPr>
                <a:r>
                  <a:rPr lang="en-US" sz="2000" dirty="0"/>
                  <a:t>Thus, the sample standard deviation of the class size is</a:t>
                </a:r>
              </a:p>
              <a:p>
                <a:pPr marL="914400">
                  <a:spcBef>
                    <a:spcPts val="600"/>
                  </a:spcBef>
                  <a:spcAft>
                    <a:spcPts val="0"/>
                  </a:spcAft>
                </a:pPr>
                <a14:m>
                  <m:oMath xmlns:m="http://schemas.openxmlformats.org/officeDocument/2006/math">
                    <m:r>
                      <a:rPr lang="en-US" sz="2000" b="0" i="1" smtClean="0">
                        <a:latin typeface="Cambria Math" panose="02040503050406030204" pitchFamily="18" charset="0"/>
                      </a:rPr>
                      <m:t>𝑠</m:t>
                    </m:r>
                    <m:r>
                      <a:rPr lang="en-US" sz="2000" b="0" i="1" smtClean="0">
                        <a:latin typeface="Cambria Math" panose="02040503050406030204" pitchFamily="18" charset="0"/>
                      </a:rPr>
                      <m:t>=</m:t>
                    </m:r>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64</m:t>
                        </m:r>
                      </m:e>
                    </m:rad>
                    <m:r>
                      <a:rPr lang="en-US" sz="2000" b="0" i="1" smtClean="0">
                        <a:latin typeface="Cambria Math" panose="02040503050406030204" pitchFamily="18" charset="0"/>
                      </a:rPr>
                      <m:t>=8</m:t>
                    </m:r>
                  </m:oMath>
                </a14:m>
                <a:r>
                  <a:rPr lang="en-US" sz="2000" dirty="0"/>
                  <a:t> students</a:t>
                </a:r>
              </a:p>
              <a:p>
                <a:pPr>
                  <a:spcBef>
                    <a:spcPts val="600"/>
                  </a:spcBef>
                  <a:spcAft>
                    <a:spcPts val="0"/>
                  </a:spcAft>
                </a:pPr>
                <a:r>
                  <a:rPr lang="en-US" sz="2000" dirty="0"/>
                  <a:t>Because the standard deviation is the square root of the variance, the units of the variance, </a:t>
                </a:r>
                <a14:m>
                  <m:oMath xmlns:m="http://schemas.openxmlformats.org/officeDocument/2006/math">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r>
                              <m:rPr>
                                <m:nor/>
                              </m:rPr>
                              <a:rPr lang="en-US" sz="2000" b="0" i="0" smtClean="0">
                                <a:latin typeface="Arial" panose="020B0604020202020204" pitchFamily="34" charset="0"/>
                                <a:cs typeface="Arial" panose="020B0604020202020204" pitchFamily="34" charset="0"/>
                              </a:rPr>
                              <m:t>students</m:t>
                            </m:r>
                          </m:e>
                        </m:d>
                      </m:e>
                      <m:sup>
                        <m:r>
                          <a:rPr lang="en-US" sz="2000" b="0" i="1" smtClean="0">
                            <a:latin typeface="Cambria Math" panose="02040503050406030204" pitchFamily="18" charset="0"/>
                          </a:rPr>
                          <m:t>2</m:t>
                        </m:r>
                      </m:sup>
                    </m:sSup>
                  </m:oMath>
                </a14:m>
                <a:r>
                  <a:rPr lang="en-US" sz="2000" dirty="0"/>
                  <a:t>, are converted to students in the standard deviation. </a:t>
                </a:r>
              </a:p>
              <a:p>
                <a:pPr>
                  <a:spcBef>
                    <a:spcPts val="600"/>
                  </a:spcBef>
                  <a:spcAft>
                    <a:spcPts val="0"/>
                  </a:spcAft>
                </a:pPr>
                <a:r>
                  <a:rPr lang="en-US" sz="2000" dirty="0"/>
                  <a:t>Thus, the standard deviation is more easily compared to the mean and other statistics that are measured in the same units as the original data.</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345630"/>
                <a:ext cx="10711543" cy="4310892"/>
              </a:xfrm>
              <a:blipFill>
                <a:blip r:embed="rId3"/>
                <a:stretch>
                  <a:fillRect l="-1422" t="-1697" r="-569" b="-3536"/>
                </a:stretch>
              </a:blipFill>
            </p:spPr>
            <p:txBody>
              <a:bodyPr/>
              <a:lstStyle/>
              <a:p>
                <a:r>
                  <a:rPr lang="en-US">
                    <a:noFill/>
                  </a:rPr>
                  <a:t> </a:t>
                </a:r>
              </a:p>
            </p:txBody>
          </p:sp>
        </mc:Fallback>
      </mc:AlternateContent>
    </p:spTree>
    <p:extLst>
      <p:ext uri="{BB962C8B-B14F-4D97-AF65-F5344CB8AC3E}">
        <p14:creationId xmlns:p14="http://schemas.microsoft.com/office/powerpoint/2010/main" val="2530833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sz="3200" dirty="0">
                <a:solidFill>
                  <a:srgbClr val="25894E"/>
                </a:solidFill>
              </a:rPr>
              <a:t>3.2 Excel: Compute Sample Variance and Sample Standard Deviation</a:t>
            </a:r>
            <a:endParaRPr lang="en-US" sz="3200"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521560"/>
            <a:ext cx="10610223" cy="2479854"/>
          </a:xfrm>
        </p:spPr>
        <p:txBody>
          <a:bodyPr/>
          <a:lstStyle/>
          <a:p>
            <a:r>
              <a:rPr lang="en-US" sz="2000" b="1" dirty="0"/>
              <a:t>Enter/Access Data</a:t>
            </a:r>
            <a:r>
              <a:rPr lang="en-US" sz="2000" dirty="0"/>
              <a:t>: Open the file </a:t>
            </a:r>
            <a:r>
              <a:rPr lang="en-US" sz="2000" i="1" dirty="0" err="1"/>
              <a:t>startingsalaries</a:t>
            </a:r>
            <a:r>
              <a:rPr lang="en-US" sz="2000" dirty="0"/>
              <a:t>. Data are in cells B2:B13.</a:t>
            </a:r>
          </a:p>
          <a:p>
            <a:r>
              <a:rPr lang="en-US" sz="2000" b="1" dirty="0"/>
              <a:t>Enter Functions and Formulas</a:t>
            </a:r>
            <a:r>
              <a:rPr lang="en-US" sz="2000" dirty="0"/>
              <a:t>: The following functions can be used to compute sample variance and sample standard deviation:</a:t>
            </a:r>
            <a:endParaRPr lang="en-US" sz="1800" dirty="0"/>
          </a:p>
          <a:p>
            <a:pPr marL="1141413" indent="-914400"/>
            <a:r>
              <a:rPr lang="en-US" sz="2000" b="1" dirty="0"/>
              <a:t>Variance</a:t>
            </a:r>
            <a:r>
              <a:rPr lang="en-US" sz="2000" dirty="0"/>
              <a:t>	</a:t>
            </a:r>
          </a:p>
          <a:p>
            <a:pPr marL="1141413" indent="-914400">
              <a:spcBef>
                <a:spcPts val="300"/>
              </a:spcBef>
            </a:pPr>
            <a:r>
              <a:rPr lang="en-US" sz="2000" i="1" dirty="0"/>
              <a:t>	=VAR.S(B2:B13)</a:t>
            </a:r>
          </a:p>
          <a:p>
            <a:pPr marL="1141413" indent="-914400"/>
            <a:r>
              <a:rPr lang="en-US" sz="2000" b="1" dirty="0"/>
              <a:t>Standard Deviation</a:t>
            </a:r>
          </a:p>
          <a:p>
            <a:pPr marL="1141413" indent="-914400">
              <a:spcBef>
                <a:spcPts val="300"/>
              </a:spcBef>
            </a:pPr>
            <a:r>
              <a:rPr lang="en-US" sz="2000" dirty="0"/>
              <a:t>	</a:t>
            </a:r>
            <a:r>
              <a:rPr lang="en-US" sz="2000" i="1" dirty="0"/>
              <a:t>=STDEV.S(B2:B13)</a:t>
            </a:r>
            <a:endParaRPr lang="en-US" i="1" dirty="0"/>
          </a:p>
        </p:txBody>
      </p:sp>
      <p:pic>
        <p:nvPicPr>
          <p:cNvPr id="6" name="Picture Placeholder 5" descr="Two screenshots show an Excel spreadsheet used to compute the sample variance and the sample standard deviation for the starting salary data. In both spreadsheets, column A is labeled Graduate, and column B is labeled Monthly Starting Salary in dollars. The entries in rows 2 through 13 are as follows. Row 2: Graduate, 1; Salary, 5850. Row 3: Graduate, 2; Salary, 5950. Row 4: Graduate, 3; Salary, 6050. Row 5: Graduate, 4; Salary, 5880. Row 6: Graduate, 5; Salary, 5755. Row 7: Graduate, 6; Salary, 5710. Row 8: Graduate, 7; Salary, 5890. Row 9: Graduate, 8; Salary, 6130. Row 10: Graduate, 9; Salary, 5940. Row 11: Graduate, 10; Salary, 6325. Row 12: Graduate, 11; Salary, 5920. Row 13: Graduate, 12; Salary, 5880. In the first spreadsheet, the cell entries are as follows. D2: Mean. E2: = AVERAGE(B2:B13). D3: Median. E3: = MEDIAN(B2:B13). D4: Mode. E4: = MODE. S N G L(B2:B13). D5: Variance. E5: = VAR. S(B2:B13). D6: Standard Deviation. E6: = S T DEV. S(B2:B13). In the second spreadsheet, the cell entries are as follows. D2: Mean. E2: 5940. D3: Median. E3: 5905. D4: Mode. E4: 5880. D5: Variance. E5: 27440.91. D6: Standard Deviation. E6: 165.65.">
            <a:extLst>
              <a:ext uri="{FF2B5EF4-FFF2-40B4-BE49-F238E27FC236}">
                <a16:creationId xmlns:a16="http://schemas.microsoft.com/office/drawing/2014/main" id="{2CE37D09-7A5D-BA86-C627-5245B99F8806}"/>
              </a:ext>
            </a:extLst>
          </p:cNvPr>
          <p:cNvPicPr>
            <a:picLocks noGrp="1" noChangeAspect="1"/>
          </p:cNvPicPr>
          <p:nvPr>
            <p:ph type="pic" sz="quarter" idx="16"/>
          </p:nvPr>
        </p:nvPicPr>
        <p:blipFill>
          <a:blip r:embed="rId3"/>
          <a:srcRect t="139" b="139"/>
          <a:stretch/>
        </p:blipFill>
        <p:spPr>
          <a:xfrm>
            <a:off x="4265975" y="2626092"/>
            <a:ext cx="6932423" cy="3263184"/>
          </a:xfrm>
          <a:ln>
            <a:solidFill>
              <a:srgbClr val="000000"/>
            </a:solidFill>
          </a:ln>
        </p:spPr>
      </p:pic>
    </p:spTree>
    <p:extLst>
      <p:ext uri="{BB962C8B-B14F-4D97-AF65-F5344CB8AC3E}">
        <p14:creationId xmlns:p14="http://schemas.microsoft.com/office/powerpoint/2010/main" val="1741910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3.2 Coefficient of Variation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474075"/>
                <a:ext cx="10711543" cy="4398579"/>
              </a:xfrm>
            </p:spPr>
            <p:txBody>
              <a:bodyPr/>
              <a:lstStyle/>
              <a:p>
                <a:pPr>
                  <a:spcBef>
                    <a:spcPts val="600"/>
                  </a:spcBef>
                  <a:spcAft>
                    <a:spcPts val="600"/>
                  </a:spcAft>
                </a:pPr>
                <a:r>
                  <a:rPr lang="en-US" sz="2000" dirty="0"/>
                  <a:t>The </a:t>
                </a:r>
                <a:r>
                  <a:rPr lang="en-US" sz="2000" b="1" dirty="0"/>
                  <a:t>coefficient of variation</a:t>
                </a:r>
                <a:r>
                  <a:rPr lang="en-US" sz="2000" dirty="0"/>
                  <a:t>, usually expressed as a percentage, measures how large the standard deviation is relative to the mean.</a:t>
                </a:r>
              </a:p>
              <a:p>
                <a:pPr marL="914400">
                  <a:spcBef>
                    <a:spcPts val="600"/>
                  </a:spcBef>
                  <a:spcAft>
                    <a:spcPts val="1200"/>
                  </a:spcAf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m:rPr>
                                  <m:nor/>
                                </m:rPr>
                                <a:rPr lang="en-US" sz="2000" b="0" i="0" smtClean="0">
                                  <a:latin typeface="Arial" panose="020B0604020202020204" pitchFamily="34" charset="0"/>
                                  <a:cs typeface="Arial" panose="020B0604020202020204" pitchFamily="34" charset="0"/>
                                </a:rPr>
                                <m:t>Standard</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Deviation</m:t>
                              </m:r>
                            </m:num>
                            <m:den>
                              <m:r>
                                <m:rPr>
                                  <m:nor/>
                                </m:rPr>
                                <a:rPr lang="en-US" sz="2000" b="0" i="0" smtClean="0">
                                  <a:latin typeface="Arial" panose="020B0604020202020204" pitchFamily="34" charset="0"/>
                                  <a:cs typeface="Arial" panose="020B0604020202020204" pitchFamily="34" charset="0"/>
                                </a:rPr>
                                <m:t>Mean</m:t>
                              </m:r>
                            </m:den>
                          </m:f>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100</m:t>
                          </m:r>
                        </m:e>
                      </m:d>
                      <m:r>
                        <a:rPr lang="en-US" sz="2000" b="0" i="1" smtClean="0">
                          <a:latin typeface="Cambria Math" panose="02040503050406030204" pitchFamily="18" charset="0"/>
                        </a:rPr>
                        <m:t>%</m:t>
                      </m:r>
                    </m:oMath>
                  </m:oMathPara>
                </a14:m>
                <a:endParaRPr lang="en-US" sz="2000" dirty="0"/>
              </a:p>
              <a:p>
                <a:pPr>
                  <a:spcBef>
                    <a:spcPts val="600"/>
                  </a:spcBef>
                  <a:spcAft>
                    <a:spcPts val="600"/>
                  </a:spcAft>
                </a:pPr>
                <a:r>
                  <a:rPr lang="en-US" sz="2000" dirty="0"/>
                  <a:t>For the class size of the sample of five college classes, we found a sample mean of 44 and a sample standard deviation of 8. </a:t>
                </a:r>
              </a:p>
              <a:p>
                <a:pPr>
                  <a:spcBef>
                    <a:spcPts val="600"/>
                  </a:spcBef>
                  <a:spcAft>
                    <a:spcPts val="600"/>
                  </a:spcAft>
                </a:pPr>
                <a:r>
                  <a:rPr lang="en-US" sz="2000" dirty="0"/>
                  <a:t>The coefficient of variation is</a:t>
                </a:r>
              </a:p>
              <a:p>
                <a:pPr marL="914400">
                  <a:spcBef>
                    <a:spcPts val="600"/>
                  </a:spcBef>
                  <a:spcAft>
                    <a:spcPts val="600"/>
                  </a:spcAf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i="1" smtClean="0">
                                  <a:latin typeface="Cambria Math" panose="02040503050406030204" pitchFamily="18" charset="0"/>
                                  <a:cs typeface="Arial" panose="020B0604020202020204" pitchFamily="34" charset="0"/>
                                </a:rPr>
                                <m:t>8</m:t>
                              </m:r>
                            </m:num>
                            <m:den>
                              <m:r>
                                <a:rPr lang="en-US" sz="2000" b="0" i="1" smtClean="0">
                                  <a:latin typeface="Cambria Math" panose="02040503050406030204" pitchFamily="18" charset="0"/>
                                  <a:cs typeface="Arial" panose="020B0604020202020204" pitchFamily="34" charset="0"/>
                                </a:rPr>
                                <m:t>44</m:t>
                              </m:r>
                            </m:den>
                          </m:f>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100</m:t>
                          </m:r>
                        </m:e>
                      </m:d>
                      <m:r>
                        <a:rPr lang="en-US" sz="2000" b="0" i="1" smtClean="0">
                          <a:latin typeface="Cambria Math" panose="02040503050406030204" pitchFamily="18" charset="0"/>
                        </a:rPr>
                        <m:t>%=18.2% </m:t>
                      </m:r>
                    </m:oMath>
                  </m:oMathPara>
                </a14:m>
                <a:endParaRPr lang="en-US" sz="2000" dirty="0"/>
              </a:p>
              <a:p>
                <a:pPr>
                  <a:spcBef>
                    <a:spcPts val="600"/>
                  </a:spcBef>
                  <a:spcAft>
                    <a:spcPts val="600"/>
                  </a:spcAft>
                </a:pPr>
                <a:r>
                  <a:rPr lang="en-US" sz="2000" dirty="0"/>
                  <a:t>In words, the coefficient of variation tells us that the sample standard deviation is 18.2% of the value of the sample mean.</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474075"/>
                <a:ext cx="10711543" cy="4398579"/>
              </a:xfrm>
              <a:blipFill>
                <a:blip r:embed="rId3"/>
                <a:stretch>
                  <a:fillRect l="-1422" t="-1664" r="-341"/>
                </a:stretch>
              </a:blipFill>
            </p:spPr>
            <p:txBody>
              <a:bodyPr/>
              <a:lstStyle/>
              <a:p>
                <a:r>
                  <a:rPr lang="en-US">
                    <a:noFill/>
                  </a:rPr>
                  <a:t> </a:t>
                </a:r>
              </a:p>
            </p:txBody>
          </p:sp>
        </mc:Fallback>
      </mc:AlternateContent>
    </p:spTree>
    <p:extLst>
      <p:ext uri="{BB962C8B-B14F-4D97-AF65-F5344CB8AC3E}">
        <p14:creationId xmlns:p14="http://schemas.microsoft.com/office/powerpoint/2010/main" val="3242077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a:xfrm>
            <a:off x="694942" y="365125"/>
            <a:ext cx="10761269" cy="672105"/>
          </a:xfrm>
        </p:spPr>
        <p:txBody>
          <a:bodyPr/>
          <a:lstStyle/>
          <a:p>
            <a:r>
              <a:rPr lang="en-US" dirty="0">
                <a:solidFill>
                  <a:srgbClr val="25894E"/>
                </a:solidFill>
              </a:rPr>
              <a:t>3.2 Excel’s Descriptive Statistics Tool: dialog Box</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7" y="1357317"/>
            <a:ext cx="4084455" cy="2941059"/>
          </a:xfrm>
        </p:spPr>
        <p:txBody>
          <a:bodyPr/>
          <a:lstStyle/>
          <a:p>
            <a:r>
              <a:rPr lang="en-US" sz="2000" dirty="0"/>
              <a:t>The Descriptive Statistics tools, allows the user to compute a variety of descriptive statistics at once.</a:t>
            </a:r>
          </a:p>
          <a:p>
            <a:r>
              <a:rPr lang="en-US" sz="2000" b="1" dirty="0"/>
              <a:t>Enter/Access Data</a:t>
            </a:r>
            <a:r>
              <a:rPr lang="en-US" sz="2000" dirty="0"/>
              <a:t>: Open the file </a:t>
            </a:r>
            <a:r>
              <a:rPr lang="en-US" sz="2000" i="1" dirty="0" err="1"/>
              <a:t>startingsalaries</a:t>
            </a:r>
            <a:r>
              <a:rPr lang="en-US" sz="2000" dirty="0"/>
              <a:t>. </a:t>
            </a:r>
          </a:p>
          <a:p>
            <a:r>
              <a:rPr lang="en-US" sz="2000" b="1" dirty="0"/>
              <a:t>Apply Tools</a:t>
            </a:r>
            <a:r>
              <a:rPr lang="en-US" sz="2000" dirty="0"/>
              <a:t>: The following steps describe how to produce Excel’s dialog box (shown to the right) for the Descriptive Statistics tool.</a:t>
            </a:r>
          </a:p>
        </p:txBody>
      </p:sp>
      <p:sp>
        <p:nvSpPr>
          <p:cNvPr id="4" name="Text Placeholder 3">
            <a:extLst>
              <a:ext uri="{FF2B5EF4-FFF2-40B4-BE49-F238E27FC236}">
                <a16:creationId xmlns:a16="http://schemas.microsoft.com/office/drawing/2014/main" id="{38AC09BA-B877-ECB2-0237-EBFDDA23FE4D}"/>
              </a:ext>
            </a:extLst>
          </p:cNvPr>
          <p:cNvSpPr>
            <a:spLocks noGrp="1"/>
          </p:cNvSpPr>
          <p:nvPr>
            <p:ph type="body" sz="quarter" idx="17"/>
          </p:nvPr>
        </p:nvSpPr>
        <p:spPr>
          <a:xfrm>
            <a:off x="743577" y="4362994"/>
            <a:ext cx="6226566" cy="1501361"/>
          </a:xfrm>
        </p:spPr>
        <p:txBody>
          <a:bodyPr/>
          <a:lstStyle/>
          <a:p>
            <a:pPr marL="227013">
              <a:spcBef>
                <a:spcPts val="400"/>
              </a:spcBef>
            </a:pPr>
            <a:r>
              <a:rPr lang="en-US" sz="1800" b="1" dirty="0"/>
              <a:t>Step 1</a:t>
            </a:r>
            <a:r>
              <a:rPr lang="en-US" sz="1800" dirty="0"/>
              <a:t>. Click the </a:t>
            </a:r>
            <a:r>
              <a:rPr lang="en-US" sz="1800" b="1" dirty="0"/>
              <a:t>Data</a:t>
            </a:r>
            <a:r>
              <a:rPr lang="en-US" sz="1800" dirty="0"/>
              <a:t> tab on the </a:t>
            </a:r>
            <a:r>
              <a:rPr lang="en-US" sz="1800" b="1" dirty="0"/>
              <a:t>Ribbon</a:t>
            </a:r>
          </a:p>
          <a:p>
            <a:pPr marL="227013">
              <a:spcBef>
                <a:spcPts val="400"/>
              </a:spcBef>
            </a:pPr>
            <a:r>
              <a:rPr lang="en-US" sz="1800" b="1" dirty="0"/>
              <a:t>Step 2</a:t>
            </a:r>
            <a:r>
              <a:rPr lang="en-US" sz="1800" dirty="0"/>
              <a:t>. In the </a:t>
            </a:r>
            <a:r>
              <a:rPr lang="en-US" sz="1800" b="1" dirty="0"/>
              <a:t>Analysis</a:t>
            </a:r>
            <a:r>
              <a:rPr lang="en-US" sz="1800" dirty="0"/>
              <a:t> group, click </a:t>
            </a:r>
            <a:r>
              <a:rPr lang="en-US" sz="1800" b="1" dirty="0"/>
              <a:t>Data Analysis</a:t>
            </a:r>
            <a:r>
              <a:rPr lang="en-US" sz="1800" dirty="0"/>
              <a:t>.</a:t>
            </a:r>
          </a:p>
          <a:p>
            <a:pPr marL="227013">
              <a:spcBef>
                <a:spcPts val="400"/>
              </a:spcBef>
            </a:pPr>
            <a:r>
              <a:rPr lang="en-US" sz="1800" b="1" dirty="0"/>
              <a:t>Step 3</a:t>
            </a:r>
            <a:r>
              <a:rPr lang="en-US" sz="1800" dirty="0"/>
              <a:t>. Choose </a:t>
            </a:r>
            <a:r>
              <a:rPr lang="en-US" sz="1800" b="1" dirty="0"/>
              <a:t>Descriptive Statistics </a:t>
            </a:r>
            <a:r>
              <a:rPr lang="en-US" sz="1800" dirty="0"/>
              <a:t>from the list of Analysis Tools. </a:t>
            </a:r>
          </a:p>
          <a:p>
            <a:pPr marL="227013">
              <a:spcBef>
                <a:spcPts val="400"/>
              </a:spcBef>
            </a:pPr>
            <a:r>
              <a:rPr lang="en-US" sz="1800" dirty="0"/>
              <a:t>Click </a:t>
            </a:r>
            <a:r>
              <a:rPr lang="en-US" sz="1800" b="1" dirty="0"/>
              <a:t>OK</a:t>
            </a:r>
            <a:r>
              <a:rPr lang="en-US" sz="1800" dirty="0"/>
              <a:t>.</a:t>
            </a:r>
          </a:p>
        </p:txBody>
      </p:sp>
      <p:pic>
        <p:nvPicPr>
          <p:cNvPr id="13" name="Picture Placeholder 12" descr="A screenshot shows a dialog box for Excel's Descriptive Statistics Tool. Column A is labeled Graduate, and column B is labeled Monthly Starting Salary in dollars. The entries in rows 2 through 13 are as follows. Row 2: Graduate, 1; Salary, 5850. Row 3: Graduate, 2; Salary, 5950. Row 4: Graduate, 3; Salary, 6050. Row 5: Graduate, 4; Salary, 5880. Row 6: Graduate, 5; Salary, 5755. Row 7: Graduate, 6; Salary, 5710. Row 8: Graduate, 7; Salary, 5890. Row 9: Graduate, 8; Salary, 6130. Row 10: Graduate, 9; Salary, 5940. Row 11: Graduate, 10; Salary, 6325. Row 12: Graduate, 11; Salary, 5920. Row 13: Graduate, 12; Salary, 5880. A Descriptive Statistics dialog box is opened to the right of the spreadsheet. In the Input tab, The text box for Input Range reads $B$1:$B$13. An increase button is to the right of the text box. The options for Grouped by are Columns and Rows. The columns option is selected. The checkbox for Labels in the first row is checked. Under Output options, there are three options Output Range, New Worksheet Ply, and New Workbook. The Output Range option is selected. The text box for Output Range reads $D$1. An increase button is to the right of the text box. The disabled text box for New Worksheet Ply is blank. There are four checkboxes below: Summary statistics, Confidence Level for Mean, Kth Largest, and Kth Smallest. The Summary statistics checkbox is checked. The disabled text boxes for Confidence Level for Mean reads 95 percent; Kth largest reads 1, and Kth smallest reads 1. There are three buttons at the top right: OK, Cancel, and Help. The OK button is selected.">
            <a:extLst>
              <a:ext uri="{FF2B5EF4-FFF2-40B4-BE49-F238E27FC236}">
                <a16:creationId xmlns:a16="http://schemas.microsoft.com/office/drawing/2014/main" id="{DFD74333-E6CD-D2F0-5FA3-5CBBA55C63AE}"/>
              </a:ext>
            </a:extLst>
          </p:cNvPr>
          <p:cNvPicPr>
            <a:picLocks noGrp="1" noChangeAspect="1"/>
          </p:cNvPicPr>
          <p:nvPr>
            <p:ph type="pic" sz="quarter" idx="16"/>
          </p:nvPr>
        </p:nvPicPr>
        <p:blipFill>
          <a:blip r:embed="rId3"/>
          <a:srcRect l="32" r="32"/>
          <a:stretch/>
        </p:blipFill>
        <p:spPr>
          <a:xfrm>
            <a:off x="4889500" y="1221638"/>
            <a:ext cx="6464300" cy="4572000"/>
          </a:xfrm>
        </p:spPr>
      </p:pic>
    </p:spTree>
    <p:extLst>
      <p:ext uri="{BB962C8B-B14F-4D97-AF65-F5344CB8AC3E}">
        <p14:creationId xmlns:p14="http://schemas.microsoft.com/office/powerpoint/2010/main" val="2507065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dirty="0">
                <a:solidFill>
                  <a:srgbClr val="25894E"/>
                </a:solidFill>
              </a:rPr>
              <a:t>3.2 Excel’s Descriptive Statistics Tool: Results</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7" y="1294790"/>
            <a:ext cx="4134268" cy="4462272"/>
          </a:xfrm>
        </p:spPr>
        <p:txBody>
          <a:bodyPr/>
          <a:lstStyle/>
          <a:p>
            <a:r>
              <a:rPr lang="en-US" sz="1800" b="1" dirty="0"/>
              <a:t>Step 4.</a:t>
            </a:r>
            <a:r>
              <a:rPr lang="en-US" sz="1800" dirty="0"/>
              <a:t> When the Descriptive Statistics dialog box appears (see previous slide):</a:t>
            </a:r>
          </a:p>
          <a:p>
            <a:pPr marL="227013"/>
            <a:r>
              <a:rPr lang="en-US" sz="1800" dirty="0"/>
              <a:t>Enter B1:B13 in the </a:t>
            </a:r>
            <a:r>
              <a:rPr lang="en-US" sz="1800" b="1" dirty="0"/>
              <a:t>Input Range: </a:t>
            </a:r>
            <a:r>
              <a:rPr lang="en-US" sz="1800" dirty="0"/>
              <a:t>box</a:t>
            </a:r>
          </a:p>
          <a:p>
            <a:pPr marL="227013"/>
            <a:r>
              <a:rPr lang="en-US" sz="1800" dirty="0"/>
              <a:t>Select </a:t>
            </a:r>
            <a:r>
              <a:rPr lang="en-US" sz="1800" b="1" dirty="0"/>
              <a:t>Columns</a:t>
            </a:r>
            <a:r>
              <a:rPr lang="en-US" sz="1800" dirty="0"/>
              <a:t> in the </a:t>
            </a:r>
            <a:r>
              <a:rPr lang="en-US" sz="1800" b="1" dirty="0"/>
              <a:t>Grouped By: </a:t>
            </a:r>
            <a:r>
              <a:rPr lang="en-US" sz="1800" dirty="0"/>
              <a:t>area</a:t>
            </a:r>
          </a:p>
          <a:p>
            <a:pPr marL="227013"/>
            <a:r>
              <a:rPr lang="en-US" sz="1800" dirty="0"/>
              <a:t>Select the check box for </a:t>
            </a:r>
            <a:r>
              <a:rPr lang="en-US" sz="1800" b="1" dirty="0"/>
              <a:t>Labels in First Row</a:t>
            </a:r>
          </a:p>
          <a:p>
            <a:pPr marL="227013"/>
            <a:r>
              <a:rPr lang="en-US" sz="1800" dirty="0"/>
              <a:t>Select </a:t>
            </a:r>
            <a:r>
              <a:rPr lang="en-US" sz="1800" b="1" dirty="0"/>
              <a:t>Output Range: </a:t>
            </a:r>
            <a:r>
              <a:rPr lang="en-US" sz="1800" dirty="0"/>
              <a:t>in the </a:t>
            </a:r>
            <a:r>
              <a:rPr lang="en-US" sz="1800" b="1" dirty="0"/>
              <a:t>Output</a:t>
            </a:r>
            <a:r>
              <a:rPr lang="en-US" sz="1800" dirty="0"/>
              <a:t> </a:t>
            </a:r>
            <a:r>
              <a:rPr lang="en-US" sz="1800" b="1" dirty="0"/>
              <a:t>options</a:t>
            </a:r>
            <a:r>
              <a:rPr lang="en-US" sz="1800" dirty="0"/>
              <a:t> area</a:t>
            </a:r>
          </a:p>
          <a:p>
            <a:pPr marL="227013"/>
            <a:r>
              <a:rPr lang="en-US" sz="1800" dirty="0"/>
              <a:t>Enter D1 in </a:t>
            </a:r>
            <a:r>
              <a:rPr lang="en-US" sz="1800" b="1" dirty="0"/>
              <a:t>the Output Range: </a:t>
            </a:r>
            <a:r>
              <a:rPr lang="en-US" sz="1800" dirty="0"/>
              <a:t>box</a:t>
            </a:r>
          </a:p>
          <a:p>
            <a:pPr marL="227013"/>
            <a:r>
              <a:rPr lang="en-US" sz="1800" dirty="0"/>
              <a:t>Select the check box for </a:t>
            </a:r>
            <a:r>
              <a:rPr lang="en-US" sz="1800" b="1" dirty="0"/>
              <a:t>Summary Statistics</a:t>
            </a:r>
          </a:p>
          <a:p>
            <a:pPr marL="227013"/>
            <a:r>
              <a:rPr lang="en-US" sz="1800" dirty="0"/>
              <a:t>Click </a:t>
            </a:r>
            <a:r>
              <a:rPr lang="en-US" sz="1800" b="1" dirty="0"/>
              <a:t>OK</a:t>
            </a:r>
          </a:p>
        </p:txBody>
      </p:sp>
      <p:pic>
        <p:nvPicPr>
          <p:cNvPr id="7" name="Picture Placeholder 6" descr="A screenshot of an excel spreadsheet shows the Descriptive Statistics Provided by Excel for the Starting Salary Data. Column A is labeled Graduate, and column B is labeled Monthly Starting Salary in dollars. The entries in rows 2 through 13 are as follows. Row 2: Graduate, 1; Salary, 5850. Row 3: Graduate, 2; Salary, 5950. Row 4: Graduate, 3; Salary, 6050. Row 5: Graduate, 4; Salary, 5880. Row 6: Graduate, 5; Salary, 5755. Row 7: Graduate, 6; Salary, 5710. Row 8: Graduate, 7; Salary, 5890. Row 9: Graduate, 8; Salary, 6130. Row 10: Graduate, 9; Salary, 5940. Row 11: Graduate, 10; Salary, 6325. Row 12: Graduate, 11; Salary, 5920. Row 13: Graduate, 12; Salary, 5880. The title of a table on the right in cells D2 and E2 is Monthly Starting Salary in dollars. The data listed below are as follows: D3: Mean(highlighted). E3: 5940. D4: Standard Error. E4: 47.82. D5: Median(highlighted). E5: 5905. D6: Mode(highlighted). E6: 5880. D7: Standard Deviation(highlighted). E7: 165.65. D8: Sample Variance. E8: 27440.91. D9: Kurtosis. E9: 1.72. D10: Skewness. E10: 1.09. D11: Range(highlighted). E11: 615. D12: Minimum(highlighted). E12: 5710. D13: Maximum(highlighted). E13: 6325. D14: Sum(highlighted). E14: 71280. D15: Count. E15: 12.">
            <a:extLst>
              <a:ext uri="{FF2B5EF4-FFF2-40B4-BE49-F238E27FC236}">
                <a16:creationId xmlns:a16="http://schemas.microsoft.com/office/drawing/2014/main" id="{38575E60-467E-85A1-E08D-4AEC937AF896}"/>
              </a:ext>
            </a:extLst>
          </p:cNvPr>
          <p:cNvPicPr>
            <a:picLocks noGrp="1" noChangeAspect="1"/>
          </p:cNvPicPr>
          <p:nvPr>
            <p:ph type="pic" sz="quarter" idx="16"/>
          </p:nvPr>
        </p:nvPicPr>
        <p:blipFill>
          <a:blip r:embed="rId3"/>
          <a:srcRect l="39" r="39"/>
          <a:stretch/>
        </p:blipFill>
        <p:spPr>
          <a:xfrm>
            <a:off x="4981651" y="1298640"/>
            <a:ext cx="6466772" cy="4323190"/>
          </a:xfrm>
          <a:ln>
            <a:solidFill>
              <a:srgbClr val="000000"/>
            </a:solidFill>
          </a:ln>
        </p:spPr>
      </p:pic>
    </p:spTree>
    <p:extLst>
      <p:ext uri="{BB962C8B-B14F-4D97-AF65-F5344CB8AC3E}">
        <p14:creationId xmlns:p14="http://schemas.microsoft.com/office/powerpoint/2010/main" val="3793912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22E64-41C6-A58C-26C0-3CDFF3E8A51E}"/>
              </a:ext>
            </a:extLst>
          </p:cNvPr>
          <p:cNvSpPr>
            <a:spLocks noGrp="1"/>
          </p:cNvSpPr>
          <p:nvPr>
            <p:ph type="title"/>
          </p:nvPr>
        </p:nvSpPr>
        <p:spPr/>
        <p:txBody>
          <a:bodyPr/>
          <a:lstStyle/>
          <a:p>
            <a:r>
              <a:rPr lang="en-US" dirty="0">
                <a:solidFill>
                  <a:srgbClr val="D14B1E"/>
                </a:solidFill>
              </a:rPr>
              <a:t>3.3 Measures of Distribution Shape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C70625E-0CD8-6964-A501-72188529A860}"/>
                  </a:ext>
                </a:extLst>
              </p:cNvPr>
              <p:cNvSpPr>
                <a:spLocks noGrp="1"/>
              </p:cNvSpPr>
              <p:nvPr>
                <p:ph type="body" sz="quarter" idx="15"/>
              </p:nvPr>
            </p:nvSpPr>
            <p:spPr>
              <a:xfrm>
                <a:off x="743576" y="1182077"/>
                <a:ext cx="10610224" cy="2412229"/>
              </a:xfrm>
            </p:spPr>
            <p:txBody>
              <a:bodyPr/>
              <a:lstStyle/>
              <a:p>
                <a:r>
                  <a:rPr lang="en-US" sz="2000" b="1" dirty="0"/>
                  <a:t>Skewness</a:t>
                </a:r>
                <a:r>
                  <a:rPr lang="en-US" sz="2000" dirty="0"/>
                  <a:t> is an important numerical measure of the shape of a distribution.</a:t>
                </a:r>
              </a:p>
              <a:p>
                <a:r>
                  <a:rPr lang="en-US" sz="2000" dirty="0"/>
                  <a:t>Because of its complexity, skewness is usually calculated with the help of statistical software (*see notes for the skewness formula.)</a:t>
                </a:r>
              </a:p>
              <a:p>
                <a:pPr marL="457200">
                  <a:spcBef>
                    <a:spcPts val="300"/>
                  </a:spcBef>
                </a:pPr>
                <a:r>
                  <a:rPr lang="en-US" sz="2000" dirty="0"/>
                  <a:t>Panel A: a distribution moderately skewed to the left has negative skewness.</a:t>
                </a:r>
              </a:p>
              <a:p>
                <a:pPr marL="457200">
                  <a:spcBef>
                    <a:spcPts val="300"/>
                  </a:spcBef>
                </a:pPr>
                <a:r>
                  <a:rPr lang="en-US" sz="2000" dirty="0"/>
                  <a:t>Panel B: a distribution moderately skewed to the right has positive skewness.</a:t>
                </a:r>
              </a:p>
              <a:p>
                <a:pPr marL="457200">
                  <a:spcBef>
                    <a:spcPts val="300"/>
                  </a:spcBef>
                </a:pPr>
                <a:r>
                  <a:rPr lang="en-US" sz="2000" dirty="0"/>
                  <a:t>Panel C: a symmetric distribution has the mean equal to the median, and skewness</a:t>
                </a:r>
                <a14:m>
                  <m:oMath xmlns:m="http://schemas.openxmlformats.org/officeDocument/2006/math">
                    <m:r>
                      <a:rPr lang="en-US" sz="2000" i="1" dirty="0" smtClean="0">
                        <a:latin typeface="Cambria Math" panose="02040503050406030204" pitchFamily="18" charset="0"/>
                      </a:rPr>
                      <m:t> =0</m:t>
                    </m:r>
                  </m:oMath>
                </a14:m>
                <a:r>
                  <a:rPr lang="en-US" sz="2000" dirty="0"/>
                  <a:t>.</a:t>
                </a:r>
              </a:p>
              <a:p>
                <a:pPr marL="457200">
                  <a:spcBef>
                    <a:spcPts val="300"/>
                  </a:spcBef>
                </a:pPr>
                <a:r>
                  <a:rPr lang="en-US" sz="2000" dirty="0"/>
                  <a:t>Panel D: a distribution highly skewed to the right has a larger positive skewness.</a:t>
                </a:r>
              </a:p>
            </p:txBody>
          </p:sp>
        </mc:Choice>
        <mc:Fallback xmlns="">
          <p:sp>
            <p:nvSpPr>
              <p:cNvPr id="3" name="Text Placeholder 2">
                <a:extLst>
                  <a:ext uri="{FF2B5EF4-FFF2-40B4-BE49-F238E27FC236}">
                    <a16:creationId xmlns:a16="http://schemas.microsoft.com/office/drawing/2014/main" id="{2C70625E-0CD8-6964-A501-72188529A860}"/>
                  </a:ext>
                </a:extLst>
              </p:cNvPr>
              <p:cNvSpPr>
                <a:spLocks noGrp="1" noRot="1" noChangeAspect="1" noMove="1" noResize="1" noEditPoints="1" noAdjustHandles="1" noChangeArrowheads="1" noChangeShapeType="1" noTextEdit="1"/>
              </p:cNvSpPr>
              <p:nvPr>
                <p:ph type="body" sz="quarter" idx="15"/>
              </p:nvPr>
            </p:nvSpPr>
            <p:spPr>
              <a:xfrm>
                <a:off x="743576" y="1182077"/>
                <a:ext cx="10610224" cy="2412229"/>
              </a:xfrm>
              <a:blipFill>
                <a:blip r:embed="rId3"/>
                <a:stretch>
                  <a:fillRect l="-1493" t="-3030" b="-4293"/>
                </a:stretch>
              </a:blipFill>
            </p:spPr>
            <p:txBody>
              <a:bodyPr/>
              <a:lstStyle/>
              <a:p>
                <a:r>
                  <a:rPr lang="en-US">
                    <a:noFill/>
                  </a:rPr>
                  <a:t> </a:t>
                </a:r>
              </a:p>
            </p:txBody>
          </p:sp>
        </mc:Fallback>
      </mc:AlternateContent>
      <p:pic>
        <p:nvPicPr>
          <p:cNvPr id="6" name="Picture Placeholder 5" descr="Four histograms in panels A through D show distributions with different levels of skewness. Panel A: Moderately skewed left. The vertical axis ranges from 0 to 0.35 with tickmarks in increments of 0.05. The height of the bars gradually increases from left to right till the second to last bar, and then decreases. Skewness = Negative 0.85. Panel B: Moderately skewed right. The vertical axis ranges from 0 to 0.35 with tickmarks in increments of 0.05. The height of the bars increases from left to right till the second bar and then decreases gradually. Skewness = 0.85. Panel C: Symmetric. The vertical axis ranges from 0 to 0.3 with tickmarks in increments of 0.05. The height of the bars increases till the central bar and then decreases. Skewness = 0. Panel D: Highly skewed right. The vertical axis is ranges from 0 to 0.4 with tickmarks in increments of 0.05. The height of the bars increases from left to right till the second bar and then decreases sharply. Skewness = 1.62.&#10;">
            <a:extLst>
              <a:ext uri="{FF2B5EF4-FFF2-40B4-BE49-F238E27FC236}">
                <a16:creationId xmlns:a16="http://schemas.microsoft.com/office/drawing/2014/main" id="{25F006D3-872A-865F-8079-5992E51D9B4E}"/>
              </a:ext>
            </a:extLst>
          </p:cNvPr>
          <p:cNvPicPr>
            <a:picLocks noGrp="1" noChangeAspect="1"/>
          </p:cNvPicPr>
          <p:nvPr>
            <p:ph type="pic" sz="quarter" idx="16"/>
          </p:nvPr>
        </p:nvPicPr>
        <p:blipFill rotWithShape="1">
          <a:blip r:embed="rId4"/>
          <a:srcRect t="5" b="5"/>
          <a:stretch/>
        </p:blipFill>
        <p:spPr>
          <a:xfrm>
            <a:off x="838200" y="3665186"/>
            <a:ext cx="10515600" cy="2085975"/>
          </a:xfrm>
        </p:spPr>
      </p:pic>
    </p:spTree>
    <p:extLst>
      <p:ext uri="{BB962C8B-B14F-4D97-AF65-F5344CB8AC3E}">
        <p14:creationId xmlns:p14="http://schemas.microsoft.com/office/powerpoint/2010/main" val="2208913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85F50-3D1A-8973-A194-776485D6C897}"/>
              </a:ext>
            </a:extLst>
          </p:cNvPr>
          <p:cNvSpPr>
            <a:spLocks noGrp="1"/>
          </p:cNvSpPr>
          <p:nvPr>
            <p:ph type="title"/>
          </p:nvPr>
        </p:nvSpPr>
        <p:spPr/>
        <p:txBody>
          <a:bodyPr/>
          <a:lstStyle/>
          <a:p>
            <a:r>
              <a:rPr lang="en-US" dirty="0"/>
              <a:t>3.3 </a:t>
            </a:r>
            <a:r>
              <a:rPr lang="en-US" i="1" dirty="0"/>
              <a:t>z</a:t>
            </a:r>
            <a:r>
              <a:rPr lang="en-US" dirty="0"/>
              <a:t>-Scores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E3BD5A6-E271-8B78-F230-015EB179E627}"/>
                  </a:ext>
                </a:extLst>
              </p:cNvPr>
              <p:cNvSpPr>
                <a:spLocks noGrp="1"/>
              </p:cNvSpPr>
              <p:nvPr>
                <p:ph type="body" sz="quarter" idx="15"/>
              </p:nvPr>
            </p:nvSpPr>
            <p:spPr>
              <a:xfrm>
                <a:off x="793194" y="1462034"/>
                <a:ext cx="10607040" cy="2084923"/>
              </a:xfrm>
            </p:spPr>
            <p:txBody>
              <a:bodyPr>
                <a:noAutofit/>
              </a:bodyPr>
              <a:lstStyle/>
              <a:p>
                <a:pPr>
                  <a:spcBef>
                    <a:spcPts val="600"/>
                  </a:spcBef>
                  <a:spcAft>
                    <a:spcPts val="600"/>
                  </a:spcAft>
                </a:pPr>
                <a:r>
                  <a:rPr lang="en-US" sz="2000" dirty="0"/>
                  <a:t>In addition to measures of location, variability, and shape, </a:t>
                </a:r>
                <a:r>
                  <a:rPr lang="en-US" sz="2000" i="1" dirty="0"/>
                  <a:t>measures of relative location </a:t>
                </a:r>
                <a:r>
                  <a:rPr lang="en-US" sz="2000" dirty="0"/>
                  <a:t>help us determine how far a particular value is from the mean.</a:t>
                </a:r>
              </a:p>
              <a:p>
                <a:pPr>
                  <a:spcBef>
                    <a:spcPts val="600"/>
                  </a:spcBef>
                  <a:spcAft>
                    <a:spcPts val="1200"/>
                  </a:spcAft>
                </a:pPr>
                <a:r>
                  <a:rPr lang="en-US" sz="2000" dirty="0"/>
                  <a:t>The </a:t>
                </a:r>
                <a:r>
                  <a:rPr lang="en-US" sz="2000" b="1" i="1" dirty="0"/>
                  <a:t>z</a:t>
                </a:r>
                <a:r>
                  <a:rPr lang="en-US" sz="2000" b="1" dirty="0"/>
                  <a:t>-score</a:t>
                </a:r>
                <a:r>
                  <a:rPr lang="en-US" sz="2000" dirty="0"/>
                  <a:t>, often called the </a:t>
                </a:r>
                <a:r>
                  <a:rPr lang="en-US" sz="2000" i="1" dirty="0"/>
                  <a:t>standardized value</a:t>
                </a:r>
                <a:r>
                  <a:rPr lang="en-US" sz="2000" dirty="0"/>
                  <a:t>, denotes the number of standard deviations, </a:t>
                </a:r>
                <a:r>
                  <a:rPr lang="en-US" sz="2000" i="1" dirty="0"/>
                  <a:t>s</a:t>
                </a:r>
                <a:r>
                  <a:rPr lang="en-US" sz="2000" dirty="0"/>
                  <a:t> a data value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oMath>
                </a14:m>
                <a:r>
                  <a:rPr lang="en-US" sz="2000" dirty="0"/>
                  <a:t> is from the mean, </a:t>
                </a:r>
                <a14:m>
                  <m:oMath xmlns:m="http://schemas.openxmlformats.org/officeDocument/2006/math">
                    <m:acc>
                      <m:accPr>
                        <m:chr m:val="̅"/>
                        <m:ctrlPr>
                          <a:rPr lang="en-US" sz="2000" i="1">
                            <a:latin typeface="Cambria Math" panose="02040503050406030204" pitchFamily="18" charset="0"/>
                          </a:rPr>
                        </m:ctrlPr>
                      </m:accPr>
                      <m:e>
                        <m:r>
                          <a:rPr lang="en-US" sz="2000" b="0" i="1">
                            <a:latin typeface="Cambria Math" panose="02040503050406030204" pitchFamily="18" charset="0"/>
                          </a:rPr>
                          <m:t>𝑥</m:t>
                        </m:r>
                      </m:e>
                    </m:acc>
                  </m:oMath>
                </a14:m>
                <a:r>
                  <a:rPr lang="en-US" sz="2000" dirty="0"/>
                  <a:t>.</a:t>
                </a:r>
              </a:p>
              <a:p>
                <a:pPr marL="914400">
                  <a:spcBef>
                    <a:spcPts val="1200"/>
                  </a:spcBef>
                  <a:spcAft>
                    <a:spcPts val="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𝒛</m:t>
                          </m:r>
                        </m:e>
                        <m:sub>
                          <m:r>
                            <a:rPr lang="en-US" sz="2000" b="1" i="1" smtClean="0">
                              <a:latin typeface="Cambria Math" panose="02040503050406030204" pitchFamily="18" charset="0"/>
                            </a:rPr>
                            <m:t>𝒊</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𝒊</m:t>
                              </m:r>
                            </m:sub>
                          </m:sSub>
                          <m:r>
                            <a:rPr lang="en-US" sz="2000" b="1" i="1" smtClean="0">
                              <a:latin typeface="Cambria Math" panose="02040503050406030204" pitchFamily="18" charset="0"/>
                            </a:rPr>
                            <m:t>−</m:t>
                          </m:r>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num>
                        <m:den>
                          <m:r>
                            <a:rPr lang="en-US" sz="2000" b="1" i="1" smtClean="0">
                              <a:latin typeface="Cambria Math" panose="02040503050406030204" pitchFamily="18" charset="0"/>
                            </a:rPr>
                            <m:t>𝒔</m:t>
                          </m:r>
                        </m:den>
                      </m:f>
                    </m:oMath>
                  </m:oMathPara>
                </a14:m>
                <a:endParaRPr lang="en-US" sz="2000" dirty="0"/>
              </a:p>
            </p:txBody>
          </p:sp>
        </mc:Choice>
        <mc:Fallback xmlns="">
          <p:sp>
            <p:nvSpPr>
              <p:cNvPr id="3" name="Text Placeholder 2">
                <a:extLst>
                  <a:ext uri="{FF2B5EF4-FFF2-40B4-BE49-F238E27FC236}">
                    <a16:creationId xmlns:a16="http://schemas.microsoft.com/office/drawing/2014/main" id="{1E3BD5A6-E271-8B78-F230-015EB179E627}"/>
                  </a:ext>
                </a:extLst>
              </p:cNvPr>
              <p:cNvSpPr>
                <a:spLocks noGrp="1" noRot="1" noChangeAspect="1" noMove="1" noResize="1" noEditPoints="1" noAdjustHandles="1" noChangeArrowheads="1" noChangeShapeType="1" noTextEdit="1"/>
              </p:cNvSpPr>
              <p:nvPr>
                <p:ph type="body" sz="quarter" idx="15"/>
              </p:nvPr>
            </p:nvSpPr>
            <p:spPr>
              <a:xfrm>
                <a:off x="793194" y="1462034"/>
                <a:ext cx="10607040" cy="2084923"/>
              </a:xfrm>
              <a:blipFill>
                <a:blip r:embed="rId3"/>
                <a:stretch>
                  <a:fillRect l="-1437" t="-4971" r="-9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A8FBCD7-B85D-F70C-F5F4-4C19F385E74A}"/>
                  </a:ext>
                </a:extLst>
              </p:cNvPr>
              <p:cNvSpPr>
                <a:spLocks noGrp="1"/>
              </p:cNvSpPr>
              <p:nvPr>
                <p:ph type="body" sz="quarter" idx="18"/>
              </p:nvPr>
            </p:nvSpPr>
            <p:spPr>
              <a:xfrm>
                <a:off x="838200" y="3478721"/>
                <a:ext cx="5062268" cy="1920247"/>
              </a:xfrm>
            </p:spPr>
            <p:txBody>
              <a:bodyPr>
                <a:normAutofit/>
              </a:bodyPr>
              <a:lstStyle/>
              <a:p>
                <a:pPr>
                  <a:lnSpc>
                    <a:spcPct val="100000"/>
                  </a:lnSpc>
                  <a:spcBef>
                    <a:spcPts val="600"/>
                  </a:spcBef>
                  <a:spcAft>
                    <a:spcPts val="0"/>
                  </a:spcAft>
                </a:pPr>
                <a:r>
                  <a:rPr lang="en-US" sz="2000" dirty="0"/>
                  <a:t>The </a:t>
                </a:r>
                <a:r>
                  <a:rPr lang="en-US" sz="2000" i="1" dirty="0"/>
                  <a:t>z</a:t>
                </a:r>
                <a:r>
                  <a:rPr lang="en-US" sz="2000" dirty="0"/>
                  <a:t>-scores for the class size data from the previous section are computed to the right.</a:t>
                </a:r>
              </a:p>
              <a:p>
                <a:pPr>
                  <a:lnSpc>
                    <a:spcPct val="100000"/>
                  </a:lnSpc>
                  <a:spcBef>
                    <a:spcPts val="600"/>
                  </a:spcBef>
                  <a:spcAft>
                    <a:spcPts val="1200"/>
                  </a:spcAft>
                </a:pPr>
                <a:r>
                  <a:rPr lang="en-US" sz="2000" dirty="0"/>
                  <a:t>For example, for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=46</m:t>
                    </m:r>
                  </m:oMath>
                </a14:m>
                <a:r>
                  <a:rPr lang="en-US" sz="2000" dirty="0"/>
                  <a:t>, the </a:t>
                </a:r>
                <a:r>
                  <a:rPr lang="en-US" sz="2000" i="1" dirty="0"/>
                  <a:t>z</a:t>
                </a:r>
                <a:r>
                  <a:rPr lang="en-US" sz="2000" dirty="0"/>
                  <a:t>-score is</a:t>
                </a:r>
              </a:p>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num>
                        <m:den>
                          <m:r>
                            <a:rPr lang="en-US" sz="2000" b="0" i="1" smtClean="0">
                              <a:latin typeface="Cambria Math" panose="02040503050406030204" pitchFamily="18" charset="0"/>
                            </a:rPr>
                            <m:t>𝑠</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46−44</m:t>
                          </m:r>
                        </m:num>
                        <m:den>
                          <m:r>
                            <a:rPr lang="en-US" sz="2000" b="0" i="1" smtClean="0">
                              <a:latin typeface="Cambria Math" panose="02040503050406030204" pitchFamily="18" charset="0"/>
                            </a:rPr>
                            <m:t>8</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8</m:t>
                          </m:r>
                        </m:den>
                      </m:f>
                      <m:r>
                        <a:rPr lang="en-US" sz="2000" b="0" i="1" smtClean="0">
                          <a:latin typeface="Cambria Math" panose="02040503050406030204" pitchFamily="18" charset="0"/>
                        </a:rPr>
                        <m:t>=0.25</m:t>
                      </m:r>
                    </m:oMath>
                  </m:oMathPara>
                </a14:m>
                <a:endParaRPr lang="en-US" sz="2000" dirty="0"/>
              </a:p>
            </p:txBody>
          </p:sp>
        </mc:Choice>
        <mc:Fallback xmlns="">
          <p:sp>
            <p:nvSpPr>
              <p:cNvPr id="5" name="Text Placeholder 4">
                <a:extLst>
                  <a:ext uri="{FF2B5EF4-FFF2-40B4-BE49-F238E27FC236}">
                    <a16:creationId xmlns:a16="http://schemas.microsoft.com/office/drawing/2014/main" id="{5A8FBCD7-B85D-F70C-F5F4-4C19F385E74A}"/>
                  </a:ext>
                </a:extLst>
              </p:cNvPr>
              <p:cNvSpPr>
                <a:spLocks noGrp="1" noRot="1" noChangeAspect="1" noMove="1" noResize="1" noEditPoints="1" noAdjustHandles="1" noChangeArrowheads="1" noChangeShapeType="1" noTextEdit="1"/>
              </p:cNvSpPr>
              <p:nvPr>
                <p:ph type="body" sz="quarter" idx="18"/>
              </p:nvPr>
            </p:nvSpPr>
            <p:spPr>
              <a:xfrm>
                <a:off x="838200" y="3478721"/>
                <a:ext cx="5062268" cy="1920247"/>
              </a:xfrm>
              <a:blipFill>
                <a:blip r:embed="rId4"/>
                <a:stretch>
                  <a:fillRect l="-3133" t="-3810" r="-30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7">
                <a:extLst>
                  <a:ext uri="{FF2B5EF4-FFF2-40B4-BE49-F238E27FC236}">
                    <a16:creationId xmlns:a16="http://schemas.microsoft.com/office/drawing/2014/main" id="{00F38B9F-0AE8-433F-283C-9C8CDC26D3BF}"/>
                  </a:ext>
                </a:extLst>
              </p:cNvPr>
              <p:cNvGraphicFramePr>
                <a:graphicFrameLocks noGrp="1"/>
              </p:cNvGraphicFramePr>
              <p:nvPr>
                <p:ph type="tbl" sz="quarter" idx="22"/>
                <p:extLst>
                  <p:ext uri="{D42A27DB-BD31-4B8C-83A1-F6EECF244321}">
                    <p14:modId xmlns:p14="http://schemas.microsoft.com/office/powerpoint/2010/main" val="2625092484"/>
                  </p:ext>
                </p:extLst>
              </p:nvPr>
            </p:nvGraphicFramePr>
            <p:xfrm>
              <a:off x="6291534" y="2851617"/>
              <a:ext cx="4630373" cy="2237285"/>
            </p:xfrm>
            <a:graphic>
              <a:graphicData uri="http://schemas.openxmlformats.org/drawingml/2006/table">
                <a:tbl>
                  <a:tblPr firstRow="1" bandRow="1">
                    <a:tableStyleId>{5C22544A-7EE6-4342-B048-85BDC9FD1C3A}</a:tableStyleId>
                  </a:tblPr>
                  <a:tblGrid>
                    <a:gridCol w="1240192">
                      <a:extLst>
                        <a:ext uri="{9D8B030D-6E8A-4147-A177-3AD203B41FA5}">
                          <a16:colId xmlns:a16="http://schemas.microsoft.com/office/drawing/2014/main" val="156230930"/>
                        </a:ext>
                      </a:extLst>
                    </a:gridCol>
                    <a:gridCol w="1481460">
                      <a:extLst>
                        <a:ext uri="{9D8B030D-6E8A-4147-A177-3AD203B41FA5}">
                          <a16:colId xmlns:a16="http://schemas.microsoft.com/office/drawing/2014/main" val="2579469430"/>
                        </a:ext>
                      </a:extLst>
                    </a:gridCol>
                    <a:gridCol w="1908721">
                      <a:extLst>
                        <a:ext uri="{9D8B030D-6E8A-4147-A177-3AD203B41FA5}">
                          <a16:colId xmlns:a16="http://schemas.microsoft.com/office/drawing/2014/main" val="1150358703"/>
                        </a:ext>
                      </a:extLst>
                    </a:gridCol>
                  </a:tblGrid>
                  <a:tr h="741863">
                    <a:tc>
                      <a:txBody>
                        <a:bodyPr/>
                        <a:lstStyle/>
                        <a:p>
                          <a:pPr algn="l" fontAlgn="ctr"/>
                          <a:r>
                            <a:rPr lang="en-US" sz="1600" b="1" i="0" u="none" strike="noStrike" dirty="0">
                              <a:solidFill>
                                <a:srgbClr val="000000"/>
                              </a:solidFill>
                              <a:effectLst/>
                              <a:latin typeface="+mn-lt"/>
                            </a:rPr>
                            <a:t>Number of Students in Class (</a:t>
                          </a:r>
                          <a14:m>
                            <m:oMath xmlns:m="http://schemas.openxmlformats.org/officeDocument/2006/math">
                              <m:sSub>
                                <m:sSubPr>
                                  <m:ctrlPr>
                                    <a:rPr lang="en-US" sz="1600" b="1" i="1" smtClean="0">
                                      <a:solidFill>
                                        <a:srgbClr val="000000"/>
                                      </a:solidFill>
                                      <a:latin typeface="Cambria Math" panose="02040503050406030204" pitchFamily="18" charset="0"/>
                                    </a:rPr>
                                  </m:ctrlPr>
                                </m:sSubPr>
                                <m:e>
                                  <m:r>
                                    <a:rPr lang="en-US" sz="1600" b="1" i="1" smtClean="0">
                                      <a:solidFill>
                                        <a:srgbClr val="000000"/>
                                      </a:solidFill>
                                      <a:latin typeface="Cambria Math" panose="02040503050406030204" pitchFamily="18" charset="0"/>
                                    </a:rPr>
                                    <m:t>𝒙</m:t>
                                  </m:r>
                                </m:e>
                                <m:sub>
                                  <m:r>
                                    <a:rPr lang="en-US" sz="1600" b="1" i="1" smtClean="0">
                                      <a:solidFill>
                                        <a:srgbClr val="000000"/>
                                      </a:solidFill>
                                      <a:latin typeface="Cambria Math" panose="02040503050406030204" pitchFamily="18" charset="0"/>
                                    </a:rPr>
                                    <m:t>𝒊</m:t>
                                  </m:r>
                                </m:sub>
                              </m:sSub>
                            </m:oMath>
                          </a14:m>
                          <a:r>
                            <a:rPr lang="en-US" sz="1600" b="1" i="0" u="none" strike="noStrike" dirty="0">
                              <a:solidFill>
                                <a:srgbClr val="000000"/>
                              </a:solidFill>
                              <a:effectLst/>
                              <a:latin typeface="+mn-lt"/>
                            </a:rPr>
                            <a:t>)</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mn-lt"/>
                            </a:rPr>
                            <a:t>Deviation About the Mean </a:t>
                          </a:r>
                          <a14:m>
                            <m:oMath xmlns:m="http://schemas.openxmlformats.org/officeDocument/2006/math">
                              <m:d>
                                <m:dPr>
                                  <m:ctrlPr>
                                    <a:rPr lang="en-US" sz="1600" b="1" i="1" smtClean="0">
                                      <a:solidFill>
                                        <a:srgbClr val="000000"/>
                                      </a:solidFill>
                                      <a:latin typeface="Cambria Math" panose="02040503050406030204" pitchFamily="18" charset="0"/>
                                    </a:rPr>
                                  </m:ctrlPr>
                                </m:dPr>
                                <m:e>
                                  <m:sSub>
                                    <m:sSubPr>
                                      <m:ctrlPr>
                                        <a:rPr lang="en-US" sz="1600" b="1" i="1" smtClean="0">
                                          <a:solidFill>
                                            <a:srgbClr val="000000"/>
                                          </a:solidFill>
                                          <a:latin typeface="Cambria Math" panose="02040503050406030204" pitchFamily="18" charset="0"/>
                                        </a:rPr>
                                      </m:ctrlPr>
                                    </m:sSubPr>
                                    <m:e>
                                      <m:r>
                                        <a:rPr lang="en-US" sz="1600" b="1" i="1" smtClean="0">
                                          <a:solidFill>
                                            <a:srgbClr val="000000"/>
                                          </a:solidFill>
                                          <a:latin typeface="Cambria Math" panose="02040503050406030204" pitchFamily="18" charset="0"/>
                                        </a:rPr>
                                        <m:t>𝒙</m:t>
                                      </m:r>
                                    </m:e>
                                    <m:sub>
                                      <m:r>
                                        <a:rPr lang="en-US" sz="1600" b="1" i="1" smtClean="0">
                                          <a:solidFill>
                                            <a:srgbClr val="000000"/>
                                          </a:solidFill>
                                          <a:latin typeface="Cambria Math" panose="02040503050406030204" pitchFamily="18" charset="0"/>
                                        </a:rPr>
                                        <m:t>𝒊</m:t>
                                      </m:r>
                                    </m:sub>
                                  </m:sSub>
                                  <m:r>
                                    <a:rPr lang="en-US" sz="1600" b="1" i="1" smtClean="0">
                                      <a:solidFill>
                                        <a:srgbClr val="000000"/>
                                      </a:solidFill>
                                      <a:latin typeface="Cambria Math" panose="02040503050406030204" pitchFamily="18" charset="0"/>
                                    </a:rPr>
                                    <m:t>−</m:t>
                                  </m:r>
                                  <m:acc>
                                    <m:accPr>
                                      <m:chr m:val="̅"/>
                                      <m:ctrlPr>
                                        <a:rPr lang="en-US" sz="1600" b="1" i="1" smtClean="0">
                                          <a:solidFill>
                                            <a:srgbClr val="000000"/>
                                          </a:solidFill>
                                          <a:latin typeface="Cambria Math" panose="02040503050406030204" pitchFamily="18" charset="0"/>
                                        </a:rPr>
                                      </m:ctrlPr>
                                    </m:accPr>
                                    <m:e>
                                      <m:r>
                                        <a:rPr lang="en-US" sz="1600" b="1" i="1" smtClean="0">
                                          <a:solidFill>
                                            <a:srgbClr val="000000"/>
                                          </a:solidFill>
                                          <a:latin typeface="Cambria Math" panose="02040503050406030204" pitchFamily="18" charset="0"/>
                                        </a:rPr>
                                        <m:t>𝒙</m:t>
                                      </m:r>
                                    </m:e>
                                  </m:acc>
                                </m:e>
                              </m:d>
                            </m:oMath>
                          </a14:m>
                          <a:endParaRPr lang="en-US" sz="1600" b="1" i="0" u="none" strike="noStrike" dirty="0">
                            <a:solidFill>
                              <a:srgbClr val="000000"/>
                            </a:solidFill>
                            <a:effectLst/>
                            <a:latin typeface="+mn-lt"/>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14:m>
                            <m:oMathPara xmlns:m="http://schemas.openxmlformats.org/officeDocument/2006/math">
                              <m:oMathParaPr>
                                <m:jc m:val="centerGroup"/>
                              </m:oMathParaPr>
                              <m:oMath xmlns:m="http://schemas.openxmlformats.org/officeDocument/2006/math">
                                <m:r>
                                  <m:rPr>
                                    <m:nor/>
                                  </m:rPr>
                                  <a:rPr lang="en-US" sz="1600" b="1" i="0" u="none" strike="noStrike" dirty="0" smtClean="0">
                                    <a:solidFill>
                                      <a:srgbClr val="000000"/>
                                    </a:solidFill>
                                    <a:effectLst/>
                                    <a:latin typeface="+mn-lt"/>
                                  </a:rPr>
                                  <m:t>z</m:t>
                                </m:r>
                                <m:r>
                                  <m:rPr>
                                    <m:nor/>
                                  </m:rPr>
                                  <a:rPr lang="en-US" sz="1600" b="1" i="0" u="none" strike="noStrike" dirty="0" smtClean="0">
                                    <a:solidFill>
                                      <a:srgbClr val="000000"/>
                                    </a:solidFill>
                                    <a:effectLst/>
                                    <a:latin typeface="+mn-lt"/>
                                  </a:rPr>
                                  <m:t>−</m:t>
                                </m:r>
                                <m:r>
                                  <m:rPr>
                                    <m:nor/>
                                  </m:rPr>
                                  <a:rPr lang="en-US" sz="1600" b="1" i="0" u="none" strike="noStrike" dirty="0" smtClean="0">
                                    <a:solidFill>
                                      <a:srgbClr val="000000"/>
                                    </a:solidFill>
                                    <a:effectLst/>
                                    <a:latin typeface="+mn-lt"/>
                                  </a:rPr>
                                  <m:t>Score</m:t>
                                </m:r>
                                <m:r>
                                  <a:rPr lang="en-US" sz="1600" b="1" i="1" u="none" strike="noStrike" dirty="0" smtClean="0">
                                    <a:solidFill>
                                      <a:srgbClr val="000000"/>
                                    </a:solidFill>
                                    <a:effectLst/>
                                    <a:latin typeface="Cambria Math" panose="02040503050406030204" pitchFamily="18" charset="0"/>
                                  </a:rPr>
                                  <m:t> </m:t>
                                </m:r>
                                <m:d>
                                  <m:dPr>
                                    <m:ctrlPr>
                                      <a:rPr lang="en-US" sz="1600" b="1" i="1" u="none" strike="noStrike" smtClean="0">
                                        <a:solidFill>
                                          <a:srgbClr val="000000"/>
                                        </a:solidFill>
                                        <a:effectLst/>
                                        <a:latin typeface="Cambria Math" panose="02040503050406030204" pitchFamily="18" charset="0"/>
                                      </a:rPr>
                                    </m:ctrlPr>
                                  </m:dPr>
                                  <m:e>
                                    <m:f>
                                      <m:fPr>
                                        <m:ctrlPr>
                                          <a:rPr lang="en-US" sz="1600" b="1" i="1" u="none" strike="noStrike" smtClean="0">
                                            <a:solidFill>
                                              <a:srgbClr val="000000"/>
                                            </a:solidFill>
                                            <a:effectLst/>
                                            <a:latin typeface="Cambria Math" panose="02040503050406030204" pitchFamily="18" charset="0"/>
                                          </a:rPr>
                                        </m:ctrlPr>
                                      </m:fPr>
                                      <m:num>
                                        <m:sSub>
                                          <m:sSubPr>
                                            <m:ctrlPr>
                                              <a:rPr lang="en-US" sz="1600" b="1" i="1" smtClean="0">
                                                <a:solidFill>
                                                  <a:srgbClr val="000000"/>
                                                </a:solidFill>
                                                <a:latin typeface="Cambria Math" panose="02040503050406030204" pitchFamily="18" charset="0"/>
                                              </a:rPr>
                                            </m:ctrlPr>
                                          </m:sSubPr>
                                          <m:e>
                                            <m:r>
                                              <a:rPr lang="en-US" sz="1600" b="1" i="1" smtClean="0">
                                                <a:solidFill>
                                                  <a:srgbClr val="000000"/>
                                                </a:solidFill>
                                                <a:latin typeface="Cambria Math" panose="02040503050406030204" pitchFamily="18" charset="0"/>
                                              </a:rPr>
                                              <m:t>𝒙</m:t>
                                            </m:r>
                                          </m:e>
                                          <m:sub>
                                            <m:r>
                                              <a:rPr lang="en-US" sz="1600" b="1" i="1" smtClean="0">
                                                <a:solidFill>
                                                  <a:srgbClr val="000000"/>
                                                </a:solidFill>
                                                <a:latin typeface="Cambria Math" panose="02040503050406030204" pitchFamily="18" charset="0"/>
                                              </a:rPr>
                                              <m:t>𝒊</m:t>
                                            </m:r>
                                          </m:sub>
                                        </m:sSub>
                                        <m:r>
                                          <a:rPr lang="en-US" sz="1600" b="1" i="1" smtClean="0">
                                            <a:solidFill>
                                              <a:srgbClr val="000000"/>
                                            </a:solidFill>
                                            <a:latin typeface="Cambria Math" panose="02040503050406030204" pitchFamily="18" charset="0"/>
                                          </a:rPr>
                                          <m:t>−</m:t>
                                        </m:r>
                                        <m:acc>
                                          <m:accPr>
                                            <m:chr m:val="̅"/>
                                            <m:ctrlPr>
                                              <a:rPr lang="en-US" sz="1600" b="1" i="1" smtClean="0">
                                                <a:solidFill>
                                                  <a:srgbClr val="000000"/>
                                                </a:solidFill>
                                                <a:latin typeface="Cambria Math" panose="02040503050406030204" pitchFamily="18" charset="0"/>
                                              </a:rPr>
                                            </m:ctrlPr>
                                          </m:accPr>
                                          <m:e>
                                            <m:r>
                                              <a:rPr lang="en-US" sz="1600" b="1" i="1" smtClean="0">
                                                <a:solidFill>
                                                  <a:srgbClr val="000000"/>
                                                </a:solidFill>
                                                <a:latin typeface="Cambria Math" panose="02040503050406030204" pitchFamily="18" charset="0"/>
                                              </a:rPr>
                                              <m:t>𝒙</m:t>
                                            </m:r>
                                          </m:e>
                                        </m:acc>
                                      </m:num>
                                      <m:den>
                                        <m:r>
                                          <a:rPr lang="en-US" sz="1600" b="1" i="1" u="none" strike="noStrike" smtClean="0">
                                            <a:solidFill>
                                              <a:srgbClr val="000000"/>
                                            </a:solidFill>
                                            <a:effectLst/>
                                            <a:latin typeface="Cambria Math" panose="02040503050406030204" pitchFamily="18" charset="0"/>
                                          </a:rPr>
                                          <m:t>𝒔</m:t>
                                        </m:r>
                                      </m:den>
                                    </m:f>
                                  </m:e>
                                </m:d>
                              </m:oMath>
                            </m:oMathPara>
                          </a14:m>
                          <a:endParaRPr lang="en-US" sz="1600" b="1" i="0" u="none" strike="noStrike" dirty="0">
                            <a:solidFill>
                              <a:srgbClr val="000000"/>
                            </a:solidFill>
                            <a:effectLst/>
                            <a:latin typeface="+mn-lt"/>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21464942"/>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1544638" algn="r"/>
                            </a:tabLst>
                          </a:pPr>
                          <a:r>
                            <a:rPr lang="en-US" sz="1600" b="0" i="0" u="none" strike="noStrike" dirty="0">
                              <a:solidFill>
                                <a:srgbClr val="000000"/>
                              </a:solidFill>
                              <a:effectLst/>
                              <a:latin typeface="+mn-lt"/>
                            </a:rPr>
                            <a:t>	2 / 8 = 0.25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05829935"/>
                      </a:ext>
                    </a:extLst>
                  </a:tr>
                  <a:tr h="290739">
                    <a:tc>
                      <a:txBody>
                        <a:bodyPr/>
                        <a:lstStyle/>
                        <a:p>
                          <a:pPr algn="ctr" fontAlgn="ctr"/>
                          <a:r>
                            <a:rPr lang="en-US" sz="1600" b="0" i="0" u="none" strike="noStrike" dirty="0">
                              <a:solidFill>
                                <a:srgbClr val="000000"/>
                              </a:solidFill>
                              <a:effectLst/>
                              <a:latin typeface="+mn-lt"/>
                            </a:rPr>
                            <a:t>54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1544638" algn="r"/>
                            </a:tabLst>
                          </a:pPr>
                          <a:r>
                            <a:rPr lang="en-US" sz="1600" b="0" i="0" u="none" strike="noStrike" dirty="0">
                              <a:solidFill>
                                <a:srgbClr val="000000"/>
                              </a:solidFill>
                              <a:effectLst/>
                              <a:latin typeface="+mn-lt"/>
                            </a:rPr>
                            <a:t>	10 / 8 = 1.25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70370676"/>
                      </a:ext>
                    </a:extLst>
                  </a:tr>
                  <a:tr h="290739">
                    <a:tc>
                      <a:txBody>
                        <a:bodyPr/>
                        <a:lstStyle/>
                        <a:p>
                          <a:pPr algn="ctr" fontAlgn="ctr"/>
                          <a:r>
                            <a:rPr lang="en-US" sz="1600" b="0" i="0" u="none" strike="noStrike" dirty="0">
                              <a:solidFill>
                                <a:srgbClr val="000000"/>
                              </a:solidFill>
                              <a:effectLst/>
                              <a:latin typeface="+mn-lt"/>
                            </a:rPr>
                            <a:t>42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tab pos="1544638" algn="r"/>
                            </a:tabLst>
                            <a:defRPr/>
                          </a:pPr>
                          <a:r>
                            <a:rPr lang="en-US" sz="1600" b="0" i="0" u="none" strike="noStrike" dirty="0">
                              <a:solidFill>
                                <a:srgbClr val="000000"/>
                              </a:solidFill>
                              <a:effectLst/>
                              <a:latin typeface="+mn-lt"/>
                            </a:rPr>
                            <a:t>	‒2 / 8 = -0.25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0988310"/>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tab pos="1544638" algn="r"/>
                            </a:tabLst>
                            <a:defRPr/>
                          </a:pPr>
                          <a:r>
                            <a:rPr lang="en-US" sz="1600" b="0" i="0" u="none" strike="noStrike" dirty="0">
                              <a:solidFill>
                                <a:srgbClr val="000000"/>
                              </a:solidFill>
                              <a:effectLst/>
                              <a:latin typeface="+mn-lt"/>
                            </a:rPr>
                            <a:t>	2 / 8 = 0.25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85346022"/>
                      </a:ext>
                    </a:extLst>
                  </a:tr>
                  <a:tr h="290739">
                    <a:tc>
                      <a:txBody>
                        <a:bodyPr/>
                        <a:lstStyle/>
                        <a:p>
                          <a:pPr algn="ctr" fontAlgn="ctr"/>
                          <a:r>
                            <a:rPr lang="en-US" sz="1600" b="0" i="0" u="none" strike="noStrike" dirty="0">
                              <a:solidFill>
                                <a:srgbClr val="000000"/>
                              </a:solidFill>
                              <a:effectLst/>
                              <a:latin typeface="+mn-lt"/>
                            </a:rPr>
                            <a:t>32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-12</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ctr">
                            <a:tabLst>
                              <a:tab pos="1544638" algn="r"/>
                            </a:tabLst>
                          </a:pPr>
                          <a:r>
                            <a:rPr lang="en-US" sz="1600" b="0" i="0" u="none" strike="noStrike" dirty="0">
                              <a:solidFill>
                                <a:srgbClr val="000000"/>
                              </a:solidFill>
                              <a:effectLst/>
                              <a:latin typeface="+mn-lt"/>
                            </a:rPr>
                            <a:t>	‒12 / 8 = ‒1.50</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31313245"/>
                      </a:ext>
                    </a:extLst>
                  </a:tr>
                </a:tbl>
              </a:graphicData>
            </a:graphic>
          </p:graphicFrame>
        </mc:Choice>
        <mc:Fallback xmlns="">
          <p:graphicFrame>
            <p:nvGraphicFramePr>
              <p:cNvPr id="6" name="Table 7">
                <a:extLst>
                  <a:ext uri="{FF2B5EF4-FFF2-40B4-BE49-F238E27FC236}">
                    <a16:creationId xmlns:a16="http://schemas.microsoft.com/office/drawing/2014/main" id="{00F38B9F-0AE8-433F-283C-9C8CDC26D3BF}"/>
                  </a:ext>
                </a:extLst>
              </p:cNvPr>
              <p:cNvGraphicFramePr>
                <a:graphicFrameLocks noGrp="1"/>
              </p:cNvGraphicFramePr>
              <p:nvPr>
                <p:ph type="tbl" sz="quarter" idx="22"/>
                <p:extLst>
                  <p:ext uri="{D42A27DB-BD31-4B8C-83A1-F6EECF244321}">
                    <p14:modId xmlns:p14="http://schemas.microsoft.com/office/powerpoint/2010/main" val="2625092484"/>
                  </p:ext>
                </p:extLst>
              </p:nvPr>
            </p:nvGraphicFramePr>
            <p:xfrm>
              <a:off x="6291534" y="2851617"/>
              <a:ext cx="4630373" cy="2237285"/>
            </p:xfrm>
            <a:graphic>
              <a:graphicData uri="http://schemas.openxmlformats.org/drawingml/2006/table">
                <a:tbl>
                  <a:tblPr firstRow="1" bandRow="1">
                    <a:tableStyleId>{5C22544A-7EE6-4342-B048-85BDC9FD1C3A}</a:tableStyleId>
                  </a:tblPr>
                  <a:tblGrid>
                    <a:gridCol w="1240192">
                      <a:extLst>
                        <a:ext uri="{9D8B030D-6E8A-4147-A177-3AD203B41FA5}">
                          <a16:colId xmlns:a16="http://schemas.microsoft.com/office/drawing/2014/main" val="156230930"/>
                        </a:ext>
                      </a:extLst>
                    </a:gridCol>
                    <a:gridCol w="1481460">
                      <a:extLst>
                        <a:ext uri="{9D8B030D-6E8A-4147-A177-3AD203B41FA5}">
                          <a16:colId xmlns:a16="http://schemas.microsoft.com/office/drawing/2014/main" val="2579469430"/>
                        </a:ext>
                      </a:extLst>
                    </a:gridCol>
                    <a:gridCol w="1908721">
                      <a:extLst>
                        <a:ext uri="{9D8B030D-6E8A-4147-A177-3AD203B41FA5}">
                          <a16:colId xmlns:a16="http://schemas.microsoft.com/office/drawing/2014/main" val="1150358703"/>
                        </a:ext>
                      </a:extLst>
                    </a:gridCol>
                  </a:tblGrid>
                  <a:tr h="783590">
                    <a:tc>
                      <a:txBody>
                        <a:bodyPr/>
                        <a:lstStyle/>
                        <a:p>
                          <a:endParaRPr lang="en-US"/>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t="-6977" r="-272549" b="-198450"/>
                          </a:stretch>
                        </a:blipFill>
                      </a:tcPr>
                    </a:tc>
                    <a:tc>
                      <a:txBody>
                        <a:bodyPr/>
                        <a:lstStyle/>
                        <a:p>
                          <a:endParaRPr lang="en-US"/>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l="-83951" t="-6977" r="-128807" b="-198450"/>
                          </a:stretch>
                        </a:blipFill>
                      </a:tcPr>
                    </a:tc>
                    <a:tc>
                      <a:txBody>
                        <a:bodyPr/>
                        <a:lstStyle/>
                        <a:p>
                          <a:endParaRPr lang="en-US"/>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l="-142812" t="-6977" b="-198450"/>
                          </a:stretch>
                        </a:blipFill>
                      </a:tcPr>
                    </a:tc>
                    <a:extLst>
                      <a:ext uri="{0D108BD9-81ED-4DB2-BD59-A6C34878D82A}">
                        <a16:rowId xmlns:a16="http://schemas.microsoft.com/office/drawing/2014/main" val="3821464942"/>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1544638" algn="r"/>
                            </a:tabLst>
                          </a:pPr>
                          <a:r>
                            <a:rPr lang="en-US" sz="1600" b="0" i="0" u="none" strike="noStrike" dirty="0">
                              <a:solidFill>
                                <a:srgbClr val="000000"/>
                              </a:solidFill>
                              <a:effectLst/>
                              <a:latin typeface="+mn-lt"/>
                            </a:rPr>
                            <a:t>	2 / 8 = 0.25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05829935"/>
                      </a:ext>
                    </a:extLst>
                  </a:tr>
                  <a:tr h="290739">
                    <a:tc>
                      <a:txBody>
                        <a:bodyPr/>
                        <a:lstStyle/>
                        <a:p>
                          <a:pPr algn="ctr" fontAlgn="ctr"/>
                          <a:r>
                            <a:rPr lang="en-US" sz="1600" b="0" i="0" u="none" strike="noStrike" dirty="0">
                              <a:solidFill>
                                <a:srgbClr val="000000"/>
                              </a:solidFill>
                              <a:effectLst/>
                              <a:latin typeface="+mn-lt"/>
                            </a:rPr>
                            <a:t>54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1544638" algn="r"/>
                            </a:tabLst>
                          </a:pPr>
                          <a:r>
                            <a:rPr lang="en-US" sz="1600" b="0" i="0" u="none" strike="noStrike" dirty="0">
                              <a:solidFill>
                                <a:srgbClr val="000000"/>
                              </a:solidFill>
                              <a:effectLst/>
                              <a:latin typeface="+mn-lt"/>
                            </a:rPr>
                            <a:t>	10 / 8 = 1.25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70370676"/>
                      </a:ext>
                    </a:extLst>
                  </a:tr>
                  <a:tr h="290739">
                    <a:tc>
                      <a:txBody>
                        <a:bodyPr/>
                        <a:lstStyle/>
                        <a:p>
                          <a:pPr algn="ctr" fontAlgn="ctr"/>
                          <a:r>
                            <a:rPr lang="en-US" sz="1600" b="0" i="0" u="none" strike="noStrike" dirty="0">
                              <a:solidFill>
                                <a:srgbClr val="000000"/>
                              </a:solidFill>
                              <a:effectLst/>
                              <a:latin typeface="+mn-lt"/>
                            </a:rPr>
                            <a:t>42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tab pos="1544638" algn="r"/>
                            </a:tabLst>
                            <a:defRPr/>
                          </a:pPr>
                          <a:r>
                            <a:rPr lang="en-US" sz="1600" b="0" i="0" u="none" strike="noStrike" dirty="0">
                              <a:solidFill>
                                <a:srgbClr val="000000"/>
                              </a:solidFill>
                              <a:effectLst/>
                              <a:latin typeface="+mn-lt"/>
                            </a:rPr>
                            <a:t>	‒2 / 8 = -0.25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0988310"/>
                      </a:ext>
                    </a:extLst>
                  </a:tr>
                  <a:tr h="290739">
                    <a:tc>
                      <a:txBody>
                        <a:bodyPr/>
                        <a:lstStyle/>
                        <a:p>
                          <a:pPr algn="ctr" fontAlgn="ctr"/>
                          <a:r>
                            <a:rPr lang="en-US" sz="1600" b="0" i="0" u="none" strike="noStrike" dirty="0">
                              <a:solidFill>
                                <a:srgbClr val="000000"/>
                              </a:solidFill>
                              <a:effectLst/>
                              <a:latin typeface="+mn-lt"/>
                            </a:rPr>
                            <a:t>46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tab pos="1544638" algn="r"/>
                            </a:tabLst>
                            <a:defRPr/>
                          </a:pPr>
                          <a:r>
                            <a:rPr lang="en-US" sz="1600" b="0" i="0" u="none" strike="noStrike" dirty="0">
                              <a:solidFill>
                                <a:srgbClr val="000000"/>
                              </a:solidFill>
                              <a:effectLst/>
                              <a:latin typeface="+mn-lt"/>
                            </a:rPr>
                            <a:t>	2 / 8 = 0.25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85346022"/>
                      </a:ext>
                    </a:extLst>
                  </a:tr>
                  <a:tr h="290739">
                    <a:tc>
                      <a:txBody>
                        <a:bodyPr/>
                        <a:lstStyle/>
                        <a:p>
                          <a:pPr algn="ctr" fontAlgn="ctr"/>
                          <a:r>
                            <a:rPr lang="en-US" sz="1600" b="0" i="0" u="none" strike="noStrike" dirty="0">
                              <a:solidFill>
                                <a:srgbClr val="000000"/>
                              </a:solidFill>
                              <a:effectLst/>
                              <a:latin typeface="+mn-lt"/>
                            </a:rPr>
                            <a:t>32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 -12</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ctr">
                            <a:tabLst>
                              <a:tab pos="1544638" algn="r"/>
                            </a:tabLst>
                          </a:pPr>
                          <a:r>
                            <a:rPr lang="en-US" sz="1600" b="0" i="0" u="none" strike="noStrike" dirty="0">
                              <a:solidFill>
                                <a:srgbClr val="000000"/>
                              </a:solidFill>
                              <a:effectLst/>
                              <a:latin typeface="+mn-lt"/>
                            </a:rPr>
                            <a:t>	‒12 / 8 = ‒1.50</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31313245"/>
                      </a:ext>
                    </a:extLst>
                  </a:tr>
                </a:tbl>
              </a:graphicData>
            </a:graphic>
          </p:graphicFrame>
        </mc:Fallback>
      </mc:AlternateContent>
    </p:spTree>
    <p:extLst>
      <p:ext uri="{BB962C8B-B14F-4D97-AF65-F5344CB8AC3E}">
        <p14:creationId xmlns:p14="http://schemas.microsoft.com/office/powerpoint/2010/main" val="2903647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3.3 Chebyshev’s Theorem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277007"/>
                <a:ext cx="10711543" cy="4674476"/>
              </a:xfrm>
            </p:spPr>
            <p:txBody>
              <a:bodyPr/>
              <a:lstStyle/>
              <a:p>
                <a:pPr>
                  <a:spcBef>
                    <a:spcPts val="600"/>
                  </a:spcBef>
                  <a:spcAft>
                    <a:spcPts val="0"/>
                  </a:spcAft>
                </a:pPr>
                <a:r>
                  <a:rPr lang="en-US" sz="2000" b="1" dirty="0"/>
                  <a:t>Chebyshev’s theorem </a:t>
                </a:r>
                <a:r>
                  <a:rPr lang="en-US" sz="2000" dirty="0"/>
                  <a:t>enables us to make statements about the proportion of data values that must be within a specified number of standard deviations of the mean:</a:t>
                </a:r>
              </a:p>
              <a:p>
                <a:pPr marL="914400">
                  <a:spcBef>
                    <a:spcPts val="600"/>
                  </a:spcBef>
                  <a:spcAft>
                    <a:spcPts val="0"/>
                  </a:spcAft>
                </a:pPr>
                <a:r>
                  <a:rPr lang="en-US" sz="2000" b="1" dirty="0">
                    <a:highlight>
                      <a:srgbClr val="FFF4DE"/>
                    </a:highlight>
                  </a:rPr>
                  <a:t>At least (</a:t>
                </a:r>
                <a14:m>
                  <m:oMath xmlns:m="http://schemas.openxmlformats.org/officeDocument/2006/math">
                    <m:r>
                      <a:rPr lang="en-US" sz="2000" b="1" i="1" dirty="0" smtClean="0">
                        <a:highlight>
                          <a:srgbClr val="FFF4DE"/>
                        </a:highlight>
                        <a:latin typeface="Cambria Math" panose="02040503050406030204" pitchFamily="18" charset="0"/>
                      </a:rPr>
                      <m:t>𝟏</m:t>
                    </m:r>
                    <m:r>
                      <a:rPr lang="en-US" sz="2000" b="1" i="1" dirty="0" smtClean="0">
                        <a:highlight>
                          <a:srgbClr val="FFF4DE"/>
                        </a:highlight>
                        <a:latin typeface="Cambria Math" panose="02040503050406030204" pitchFamily="18" charset="0"/>
                      </a:rPr>
                      <m:t> − </m:t>
                    </m:r>
                    <m:r>
                      <a:rPr lang="en-US" sz="2000" b="1" i="1" dirty="0" smtClean="0">
                        <a:highlight>
                          <a:srgbClr val="FFF4DE"/>
                        </a:highlight>
                        <a:latin typeface="Cambria Math" panose="02040503050406030204" pitchFamily="18" charset="0"/>
                      </a:rPr>
                      <m:t>𝟏</m:t>
                    </m:r>
                    <m:r>
                      <a:rPr lang="en-US" sz="2000" b="1" i="1" dirty="0" smtClean="0">
                        <a:highlight>
                          <a:srgbClr val="FFF4DE"/>
                        </a:highlight>
                        <a:latin typeface="Cambria Math" panose="02040503050406030204" pitchFamily="18" charset="0"/>
                      </a:rPr>
                      <m:t>/</m:t>
                    </m:r>
                    <m:sSup>
                      <m:sSupPr>
                        <m:ctrlPr>
                          <a:rPr lang="en-US" sz="2000" b="1" i="1" dirty="0" smtClean="0">
                            <a:highlight>
                              <a:srgbClr val="FFF4DE"/>
                            </a:highlight>
                            <a:latin typeface="Cambria Math" panose="02040503050406030204" pitchFamily="18" charset="0"/>
                          </a:rPr>
                        </m:ctrlPr>
                      </m:sSupPr>
                      <m:e>
                        <m:r>
                          <a:rPr lang="en-US" sz="2000" b="1" i="1" dirty="0" smtClean="0">
                            <a:highlight>
                              <a:srgbClr val="FFF4DE"/>
                            </a:highlight>
                            <a:latin typeface="Cambria Math" panose="02040503050406030204" pitchFamily="18" charset="0"/>
                          </a:rPr>
                          <m:t>𝒛</m:t>
                        </m:r>
                      </m:e>
                      <m:sup>
                        <m:r>
                          <a:rPr lang="en-US" sz="2000" b="1" i="1" dirty="0" smtClean="0">
                            <a:highlight>
                              <a:srgbClr val="FFF4DE"/>
                            </a:highlight>
                            <a:latin typeface="Cambria Math" panose="02040503050406030204" pitchFamily="18" charset="0"/>
                          </a:rPr>
                          <m:t>𝟐</m:t>
                        </m:r>
                      </m:sup>
                    </m:sSup>
                  </m:oMath>
                </a14:m>
                <a:r>
                  <a:rPr lang="en-US" sz="2000" b="1" dirty="0">
                    <a:highlight>
                      <a:srgbClr val="FFF4DE"/>
                    </a:highlight>
                  </a:rPr>
                  <a:t>) of the data values must be within </a:t>
                </a:r>
                <a:r>
                  <a:rPr lang="en-US" sz="2000" b="1" i="1" dirty="0">
                    <a:highlight>
                      <a:srgbClr val="FFF4DE"/>
                    </a:highlight>
                  </a:rPr>
                  <a:t>z</a:t>
                </a:r>
                <a:r>
                  <a:rPr lang="en-US" sz="2000" b="1" dirty="0">
                    <a:highlight>
                      <a:srgbClr val="FFF4DE"/>
                    </a:highlight>
                  </a:rPr>
                  <a:t> standard deviations of the mean, where </a:t>
                </a:r>
                <a:r>
                  <a:rPr lang="en-US" sz="2000" b="1" i="1" dirty="0">
                    <a:highlight>
                      <a:srgbClr val="FFF4DE"/>
                    </a:highlight>
                  </a:rPr>
                  <a:t>z</a:t>
                </a:r>
                <a:r>
                  <a:rPr lang="en-US" sz="2000" b="1" dirty="0">
                    <a:highlight>
                      <a:srgbClr val="FFF4DE"/>
                    </a:highlight>
                  </a:rPr>
                  <a:t> is any value greater than 1.</a:t>
                </a:r>
              </a:p>
              <a:p>
                <a:pPr>
                  <a:spcBef>
                    <a:spcPts val="600"/>
                  </a:spcBef>
                  <a:spcAft>
                    <a:spcPts val="0"/>
                  </a:spcAft>
                </a:pPr>
                <a:r>
                  <a:rPr lang="en-US" sz="2000" dirty="0"/>
                  <a:t>Some of the implications of the theorem for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=2 </m:t>
                    </m:r>
                    <m:r>
                      <m:rPr>
                        <m:nor/>
                      </m:rPr>
                      <a:rPr lang="en-US" sz="2000" i="0" dirty="0" smtClean="0">
                        <a:latin typeface="Arial" panose="020B0604020202020204" pitchFamily="34" charset="0"/>
                        <a:cs typeface="Arial" panose="020B0604020202020204" pitchFamily="34" charset="0"/>
                      </a:rPr>
                      <m:t>and</m:t>
                    </m:r>
                    <m:r>
                      <a:rPr lang="en-US" sz="2000" i="1" dirty="0">
                        <a:latin typeface="Cambria Math" panose="02040503050406030204" pitchFamily="18" charset="0"/>
                      </a:rPr>
                      <m:t> </m:t>
                    </m:r>
                    <m:r>
                      <a:rPr lang="en-US" sz="2000" i="1" dirty="0" smtClean="0">
                        <a:latin typeface="Cambria Math" panose="02040503050406030204" pitchFamily="18" charset="0"/>
                      </a:rPr>
                      <m:t>3</m:t>
                    </m:r>
                  </m:oMath>
                </a14:m>
                <a:r>
                  <a:rPr lang="en-US" sz="2000" dirty="0"/>
                  <a:t> are:</a:t>
                </a:r>
              </a:p>
              <a:p>
                <a:pPr marL="685800" indent="-284163">
                  <a:spcBef>
                    <a:spcPts val="600"/>
                  </a:spcBef>
                  <a:spcAft>
                    <a:spcPts val="0"/>
                  </a:spcAft>
                  <a:buFont typeface="Arial" panose="020B0604020202020204" pitchFamily="34" charset="0"/>
                  <a:buChar char="•"/>
                </a:pPr>
                <a:r>
                  <a:rPr lang="en-US" sz="2000" dirty="0"/>
                  <a:t>At least 75% of the data values must be within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=2</m:t>
                    </m:r>
                  </m:oMath>
                </a14:m>
                <a:r>
                  <a:rPr lang="en-US" sz="2000" dirty="0"/>
                  <a:t> standard deviations of the mean.</a:t>
                </a:r>
              </a:p>
              <a:p>
                <a:pPr marL="685800" indent="-284163">
                  <a:spcBef>
                    <a:spcPts val="600"/>
                  </a:spcBef>
                  <a:spcAft>
                    <a:spcPts val="0"/>
                  </a:spcAft>
                  <a:buFont typeface="Arial" panose="020B0604020202020204" pitchFamily="34" charset="0"/>
                  <a:buChar char="•"/>
                </a:pPr>
                <a:r>
                  <a:rPr lang="en-US" sz="2000" dirty="0"/>
                  <a:t>At least 89% of the data values must be within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=3</m:t>
                    </m:r>
                  </m:oMath>
                </a14:m>
                <a:r>
                  <a:rPr lang="en-US" sz="2000" dirty="0"/>
                  <a:t> standard deviations of the mean.</a:t>
                </a:r>
              </a:p>
              <a:p>
                <a:pPr>
                  <a:spcBef>
                    <a:spcPts val="1200"/>
                  </a:spcBef>
                  <a:spcAft>
                    <a:spcPts val="0"/>
                  </a:spcAft>
                </a:pPr>
                <a:r>
                  <a:rPr lang="en-US" sz="2000" b="1" dirty="0"/>
                  <a:t>Example</a:t>
                </a:r>
                <a:r>
                  <a:rPr lang="en-US" sz="2000" dirty="0"/>
                  <a:t>: the midterm test scores for 100 students in a college business statistics course had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𝑥</m:t>
                        </m:r>
                      </m:e>
                    </m:acc>
                    <m:r>
                      <a:rPr lang="en-US" sz="2000" b="0" i="1" dirty="0" smtClean="0">
                        <a:latin typeface="Cambria Math" panose="02040503050406030204" pitchFamily="18" charset="0"/>
                      </a:rPr>
                      <m:t>=</m:t>
                    </m:r>
                    <m:r>
                      <a:rPr lang="en-US" sz="2000" i="1" dirty="0" smtClean="0">
                        <a:latin typeface="Cambria Math" panose="02040503050406030204" pitchFamily="18" charset="0"/>
                      </a:rPr>
                      <m:t>70 </m:t>
                    </m:r>
                  </m:oMath>
                </a14:m>
                <a:r>
                  <a:rPr lang="en-US" sz="2000" dirty="0"/>
                  <a:t>and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=5</m:t>
                    </m:r>
                  </m:oMath>
                </a14:m>
                <a:r>
                  <a:rPr lang="en-US" sz="2000" dirty="0"/>
                  <a:t>. How many students had test scores between 58 and 82?</a:t>
                </a:r>
              </a:p>
              <a:p>
                <a:pPr marL="457200">
                  <a:spcBef>
                    <a:spcPts val="600"/>
                  </a:spcBef>
                  <a:spcAft>
                    <a:spcPts val="0"/>
                  </a:spcAft>
                </a:pPr>
                <a:r>
                  <a:rPr lang="en-US" sz="2000" dirty="0"/>
                  <a:t>We have: </a:t>
                </a:r>
                <a14:m>
                  <m:oMath xmlns:m="http://schemas.openxmlformats.org/officeDocument/2006/math">
                    <m:r>
                      <a:rPr lang="en-US" sz="2000" b="0" i="1" dirty="0" smtClean="0">
                        <a:latin typeface="Cambria Math" panose="02040503050406030204" pitchFamily="18" charset="0"/>
                      </a:rPr>
                      <m:t>𝑧</m:t>
                    </m:r>
                    <m:r>
                      <a:rPr lang="en-US" sz="2000" i="1" dirty="0">
                        <a:latin typeface="Cambria Math" panose="02040503050406030204" pitchFamily="18" charset="0"/>
                      </a:rPr>
                      <m:t>=</m:t>
                    </m:r>
                    <m:f>
                      <m:fPr>
                        <m:type m:val="lin"/>
                        <m:ctrlPr>
                          <a:rPr lang="en-US" sz="2000" i="1" dirty="0" smtClean="0">
                            <a:latin typeface="Cambria Math" panose="02040503050406030204" pitchFamily="18" charset="0"/>
                          </a:rPr>
                        </m:ctrlPr>
                      </m:fPr>
                      <m:num>
                        <m:r>
                          <a:rPr lang="en-US" sz="2000" b="0" i="1" dirty="0" smtClean="0">
                            <a:latin typeface="Cambria Math" panose="02040503050406030204" pitchFamily="18" charset="0"/>
                          </a:rPr>
                          <m:t>(58−70)</m:t>
                        </m:r>
                      </m:num>
                      <m:den>
                        <m:r>
                          <a:rPr lang="en-US" sz="2000" b="0" i="1" dirty="0" smtClean="0">
                            <a:latin typeface="Cambria Math" panose="02040503050406030204" pitchFamily="18" charset="0"/>
                          </a:rPr>
                          <m:t>5</m:t>
                        </m:r>
                      </m:den>
                    </m:f>
                    <m:r>
                      <a:rPr lang="en-US" sz="2000" b="0" i="1" dirty="0" smtClean="0">
                        <a:latin typeface="Cambria Math" panose="02040503050406030204" pitchFamily="18" charset="0"/>
                      </a:rPr>
                      <m:t>=−2.4</m:t>
                    </m:r>
                  </m:oMath>
                </a14:m>
                <a:r>
                  <a:rPr lang="en-US" sz="2000" dirty="0"/>
                  <a:t>, and </a:t>
                </a:r>
                <a14:m>
                  <m:oMath xmlns:m="http://schemas.openxmlformats.org/officeDocument/2006/math">
                    <m:r>
                      <a:rPr lang="en-US" sz="2000" b="0" i="1" dirty="0" smtClean="0">
                        <a:latin typeface="Cambria Math" panose="02040503050406030204" pitchFamily="18" charset="0"/>
                      </a:rPr>
                      <m:t>𝑧</m:t>
                    </m:r>
                    <m:r>
                      <a:rPr lang="en-US" sz="2000" i="1" dirty="0">
                        <a:latin typeface="Cambria Math" panose="02040503050406030204" pitchFamily="18" charset="0"/>
                      </a:rPr>
                      <m:t>=</m:t>
                    </m:r>
                    <m:f>
                      <m:fPr>
                        <m:type m:val="lin"/>
                        <m:ctrlPr>
                          <a:rPr lang="en-US" sz="2000" i="1" dirty="0">
                            <a:latin typeface="Cambria Math" panose="02040503050406030204" pitchFamily="18" charset="0"/>
                          </a:rPr>
                        </m:ctrlPr>
                      </m:fPr>
                      <m:num>
                        <m:r>
                          <a:rPr lang="en-US" sz="2000" i="1" dirty="0">
                            <a:latin typeface="Cambria Math" panose="02040503050406030204" pitchFamily="18" charset="0"/>
                          </a:rPr>
                          <m:t>(8</m:t>
                        </m:r>
                        <m:r>
                          <a:rPr lang="en-US" sz="2000" b="0" i="1" dirty="0" smtClean="0">
                            <a:latin typeface="Cambria Math" panose="02040503050406030204" pitchFamily="18" charset="0"/>
                          </a:rPr>
                          <m:t>2</m:t>
                        </m:r>
                        <m:r>
                          <a:rPr lang="en-US" sz="2000" i="1" dirty="0">
                            <a:latin typeface="Cambria Math" panose="02040503050406030204" pitchFamily="18" charset="0"/>
                          </a:rPr>
                          <m:t>−70)</m:t>
                        </m:r>
                      </m:num>
                      <m:den>
                        <m:r>
                          <a:rPr lang="en-US" sz="2000" i="1" dirty="0">
                            <a:latin typeface="Cambria Math" panose="02040503050406030204" pitchFamily="18" charset="0"/>
                          </a:rPr>
                          <m:t>5</m:t>
                        </m:r>
                      </m:den>
                    </m:f>
                    <m:r>
                      <a:rPr lang="en-US" sz="2000" i="1" dirty="0">
                        <a:latin typeface="Cambria Math" panose="02040503050406030204" pitchFamily="18" charset="0"/>
                      </a:rPr>
                      <m:t>=</m:t>
                    </m:r>
                    <m:r>
                      <a:rPr lang="en-US" sz="2000" b="0" i="1" dirty="0" smtClean="0">
                        <a:latin typeface="Cambria Math" panose="02040503050406030204" pitchFamily="18" charset="0"/>
                      </a:rPr>
                      <m:t>+</m:t>
                    </m:r>
                    <m:r>
                      <a:rPr lang="en-US" sz="2000" i="1" dirty="0">
                        <a:latin typeface="Cambria Math" panose="02040503050406030204" pitchFamily="18" charset="0"/>
                      </a:rPr>
                      <m:t>2.4</m:t>
                    </m:r>
                  </m:oMath>
                </a14:m>
                <a:endParaRPr lang="en-US" sz="2000" dirty="0"/>
              </a:p>
              <a:p>
                <a:pPr marL="457200">
                  <a:spcBef>
                    <a:spcPts val="600"/>
                  </a:spcBef>
                  <a:spcAft>
                    <a:spcPts val="0"/>
                  </a:spcAft>
                </a:pPr>
                <a:r>
                  <a:rPr lang="en-US" sz="2000" dirty="0"/>
                  <a:t>Applying Chebyshev’s Theorem with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=2.4</m:t>
                    </m:r>
                  </m:oMath>
                </a14:m>
                <a:r>
                  <a:rPr lang="en-US" sz="2000" dirty="0"/>
                  <a:t>, we have: </a:t>
                </a:r>
                <a14:m>
                  <m:oMath xmlns:m="http://schemas.openxmlformats.org/officeDocument/2006/math">
                    <m:r>
                      <a:rPr lang="en-US" sz="2000" i="1" dirty="0">
                        <a:latin typeface="Cambria Math" panose="02040503050406030204" pitchFamily="18" charset="0"/>
                      </a:rPr>
                      <m:t>1 −</m:t>
                    </m:r>
                    <m:f>
                      <m:fPr>
                        <m:type m:val="lin"/>
                        <m:ctrlPr>
                          <a:rPr lang="en-US" sz="2000" i="1" dirty="0" smtClean="0">
                            <a:latin typeface="Cambria Math" panose="02040503050406030204" pitchFamily="18" charset="0"/>
                          </a:rPr>
                        </m:ctrlPr>
                      </m:fPr>
                      <m:num>
                        <m:r>
                          <a:rPr lang="en-US" sz="2000" b="0" i="1" dirty="0" smtClean="0">
                            <a:latin typeface="Cambria Math" panose="02040503050406030204" pitchFamily="18" charset="0"/>
                          </a:rPr>
                          <m:t>1</m:t>
                        </m:r>
                      </m:num>
                      <m:den>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𝑧</m:t>
                            </m:r>
                          </m:e>
                          <m:sup>
                            <m:r>
                              <a:rPr lang="en-US" sz="2000" b="0" i="1" dirty="0" smtClean="0">
                                <a:latin typeface="Cambria Math" panose="02040503050406030204" pitchFamily="18" charset="0"/>
                              </a:rPr>
                              <m:t>2</m:t>
                            </m:r>
                          </m:sup>
                        </m:sSup>
                      </m:den>
                    </m:f>
                    <m:r>
                      <a:rPr lang="en-US" sz="2000" b="0" i="1" dirty="0" smtClean="0">
                        <a:latin typeface="Cambria Math" panose="02040503050406030204" pitchFamily="18" charset="0"/>
                      </a:rPr>
                      <m:t>=1−</m:t>
                    </m:r>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2.4</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=0.826</m:t>
                        </m:r>
                      </m:den>
                    </m:f>
                  </m:oMath>
                </a14:m>
                <a:endParaRPr lang="en-US" sz="2000" dirty="0"/>
              </a:p>
              <a:p>
                <a:pPr marL="457200">
                  <a:spcBef>
                    <a:spcPts val="600"/>
                  </a:spcBef>
                  <a:spcAft>
                    <a:spcPts val="0"/>
                  </a:spcAft>
                </a:pPr>
                <a:r>
                  <a:rPr lang="en-US" sz="2000" dirty="0"/>
                  <a:t>Thus, at least 82.6% of the scores are between 58 and 82.</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277007"/>
                <a:ext cx="10711543" cy="4674476"/>
              </a:xfrm>
              <a:blipFill>
                <a:blip r:embed="rId3"/>
                <a:stretch>
                  <a:fillRect l="-1422" t="-1565" r="-1877" b="-1565"/>
                </a:stretch>
              </a:blipFill>
            </p:spPr>
            <p:txBody>
              <a:bodyPr/>
              <a:lstStyle/>
              <a:p>
                <a:r>
                  <a:rPr lang="en-US">
                    <a:noFill/>
                  </a:rPr>
                  <a:t> </a:t>
                </a:r>
              </a:p>
            </p:txBody>
          </p:sp>
        </mc:Fallback>
      </mc:AlternateContent>
    </p:spTree>
    <p:extLst>
      <p:ext uri="{BB962C8B-B14F-4D97-AF65-F5344CB8AC3E}">
        <p14:creationId xmlns:p14="http://schemas.microsoft.com/office/powerpoint/2010/main" val="3911220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3.3 Empirical Rule</a:t>
            </a:r>
          </a:p>
        </p:txBody>
      </p:sp>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3576" y="1450429"/>
            <a:ext cx="10610223" cy="4288222"/>
          </a:xfrm>
        </p:spPr>
        <p:txBody>
          <a:bodyPr/>
          <a:lstStyle/>
          <a:p>
            <a:pPr>
              <a:spcBef>
                <a:spcPts val="600"/>
              </a:spcBef>
              <a:spcAft>
                <a:spcPts val="0"/>
              </a:spcAft>
            </a:pPr>
            <a:r>
              <a:rPr lang="en-US" sz="2000" dirty="0"/>
              <a:t>When the data are believed to approximate a symmetric bell-shaped distribution, the </a:t>
            </a:r>
            <a:r>
              <a:rPr lang="en-US" sz="2000" b="1" dirty="0"/>
              <a:t>empirical rule </a:t>
            </a:r>
            <a:r>
              <a:rPr lang="en-US" sz="2000" dirty="0"/>
              <a:t>can be used to determine the percentage of data values that must be within a specified number of standard deviations of the mean.</a:t>
            </a:r>
          </a:p>
          <a:p>
            <a:pPr>
              <a:spcBef>
                <a:spcPts val="600"/>
              </a:spcBef>
              <a:spcAft>
                <a:spcPts val="0"/>
              </a:spcAft>
            </a:pPr>
            <a:r>
              <a:rPr lang="en-US" sz="2000" dirty="0"/>
              <a:t>For data having a bell-shaped distribution:</a:t>
            </a:r>
          </a:p>
          <a:p>
            <a:pPr marL="457200" indent="-228600">
              <a:spcBef>
                <a:spcPts val="600"/>
              </a:spcBef>
              <a:spcAft>
                <a:spcPts val="0"/>
              </a:spcAft>
              <a:buFont typeface="Arial" panose="020B0604020202020204" pitchFamily="34" charset="0"/>
              <a:buChar char="•"/>
            </a:pPr>
            <a:r>
              <a:rPr lang="en-US" sz="2000" dirty="0"/>
              <a:t>~68% of the data values will be within one</a:t>
            </a:r>
          </a:p>
          <a:p>
            <a:pPr marL="457200">
              <a:spcBef>
                <a:spcPts val="0"/>
              </a:spcBef>
              <a:spcAft>
                <a:spcPts val="0"/>
              </a:spcAft>
            </a:pPr>
            <a:r>
              <a:rPr lang="en-US" sz="2000" dirty="0"/>
              <a:t>standard deviation of the mean.</a:t>
            </a:r>
          </a:p>
          <a:p>
            <a:pPr marL="457200" indent="-228600">
              <a:spcBef>
                <a:spcPts val="600"/>
              </a:spcBef>
              <a:spcAft>
                <a:spcPts val="0"/>
              </a:spcAft>
              <a:buFont typeface="Arial" panose="020B0604020202020204" pitchFamily="34" charset="0"/>
              <a:buChar char="•"/>
            </a:pPr>
            <a:r>
              <a:rPr lang="en-US" sz="2000" dirty="0"/>
              <a:t>~95% of the data values will be within two</a:t>
            </a:r>
          </a:p>
          <a:p>
            <a:pPr marL="457200">
              <a:spcBef>
                <a:spcPts val="0"/>
              </a:spcBef>
              <a:spcAft>
                <a:spcPts val="0"/>
              </a:spcAft>
            </a:pPr>
            <a:r>
              <a:rPr lang="en-US" sz="2000" dirty="0"/>
              <a:t>standard deviations of the mean.</a:t>
            </a:r>
          </a:p>
          <a:p>
            <a:pPr marL="457200" indent="-228600">
              <a:spcAft>
                <a:spcPts val="0"/>
              </a:spcAft>
              <a:buFont typeface="Arial" panose="020B0604020202020204" pitchFamily="34" charset="0"/>
              <a:buChar char="•"/>
            </a:pPr>
            <a:r>
              <a:rPr lang="en-US" sz="2000" dirty="0"/>
              <a:t>Almost all of the data values </a:t>
            </a:r>
            <a:r>
              <a:rPr lang="en-US" sz="2000" dirty="0">
                <a:solidFill>
                  <a:srgbClr val="FF0000"/>
                </a:solidFill>
              </a:rPr>
              <a:t>(~99.7%)</a:t>
            </a:r>
            <a:r>
              <a:rPr lang="en-US" sz="2000" dirty="0"/>
              <a:t> will be within</a:t>
            </a:r>
          </a:p>
          <a:p>
            <a:pPr marL="457200">
              <a:spcBef>
                <a:spcPts val="0"/>
              </a:spcBef>
              <a:spcAft>
                <a:spcPts val="0"/>
              </a:spcAft>
            </a:pPr>
            <a:r>
              <a:rPr lang="en-US" sz="2000" dirty="0"/>
              <a:t>three standard deviations of the mean.</a:t>
            </a:r>
          </a:p>
          <a:p>
            <a:pPr>
              <a:spcAft>
                <a:spcPts val="0"/>
              </a:spcAft>
            </a:pPr>
            <a:r>
              <a:rPr lang="en-US" sz="2000" dirty="0"/>
              <a:t>The empirical rule is based on the normal</a:t>
            </a:r>
          </a:p>
          <a:p>
            <a:pPr>
              <a:spcBef>
                <a:spcPts val="0"/>
              </a:spcBef>
              <a:spcAft>
                <a:spcPts val="0"/>
              </a:spcAft>
            </a:pPr>
            <a:r>
              <a:rPr lang="en-US" sz="2000" dirty="0"/>
              <a:t>distribution, which we will cover in Chapter 6.</a:t>
            </a:r>
          </a:p>
          <a:p>
            <a:pPr>
              <a:spcBef>
                <a:spcPts val="600"/>
              </a:spcBef>
              <a:spcAft>
                <a:spcPts val="0"/>
              </a:spcAft>
            </a:pPr>
            <a:endParaRPr lang="en-US" sz="2000" dirty="0"/>
          </a:p>
        </p:txBody>
      </p:sp>
      <p:pic>
        <p:nvPicPr>
          <p:cNvPr id="6" name="Picture Placeholder 5" descr="A bell-shaped distribution curve is plotted over carton weight and z. The horizontal axis is labeled carton weight and ranges from 15.25 to 16.75 with tickmarks in increments of 0.25. Mu = 16. The z values corresponding to carton weight are as follows 15.25: Negative 3. 15.50: Negative 2. 15.75: Negative 1. 16: 0. 16.25: 1. 16.50: 2. 16.75: 3. A symmetric bell curve rises, peaks at mu = 16, and falls. The region under the curve between mu = 15.75 and mu = 16.25 is labeled 68.26%. The region under the curve between mu = 15.50 and mu = 16.50 is labeled 95.4%. The region under the curve between mu = 15.25 and mu = 16.75 is labeled 99.74%.&#10;">
            <a:extLst>
              <a:ext uri="{FF2B5EF4-FFF2-40B4-BE49-F238E27FC236}">
                <a16:creationId xmlns:a16="http://schemas.microsoft.com/office/drawing/2014/main" id="{6F556D58-D0EC-7208-CD92-8F5A1FF45250}"/>
              </a:ext>
            </a:extLst>
          </p:cNvPr>
          <p:cNvPicPr>
            <a:picLocks noGrp="1" noChangeAspect="1"/>
          </p:cNvPicPr>
          <p:nvPr>
            <p:ph type="pic" sz="quarter" idx="16"/>
          </p:nvPr>
        </p:nvPicPr>
        <p:blipFill rotWithShape="1">
          <a:blip r:embed="rId3"/>
          <a:srcRect l="12" r="12"/>
          <a:stretch/>
        </p:blipFill>
        <p:spPr>
          <a:xfrm>
            <a:off x="6306203" y="2429860"/>
            <a:ext cx="4960883" cy="3088569"/>
          </a:xfrm>
        </p:spPr>
      </p:pic>
    </p:spTree>
    <p:extLst>
      <p:ext uri="{BB962C8B-B14F-4D97-AF65-F5344CB8AC3E}">
        <p14:creationId xmlns:p14="http://schemas.microsoft.com/office/powerpoint/2010/main" val="33779255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3.3 An Application of the Empirical Rule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348733"/>
                <a:ext cx="10711543" cy="4524703"/>
              </a:xfrm>
            </p:spPr>
            <p:txBody>
              <a:bodyPr/>
              <a:lstStyle/>
              <a:p>
                <a:pPr>
                  <a:spcBef>
                    <a:spcPts val="600"/>
                  </a:spcBef>
                  <a:spcAft>
                    <a:spcPts val="0"/>
                  </a:spcAft>
                </a:pPr>
                <a:r>
                  <a:rPr lang="en-US" sz="2000" dirty="0"/>
                  <a:t>Liquid detergent cartons are filled automatically on a production line. Filling weights have a bell-shaped distribution. If the mean filling weight is 16 ounces and the standard deviation is 0.25 ounces, we can use the empirical rule to conclude:</a:t>
                </a:r>
              </a:p>
              <a:p>
                <a:pPr marL="685800" indent="-339725">
                  <a:spcBef>
                    <a:spcPts val="600"/>
                  </a:spcBef>
                  <a:spcAft>
                    <a:spcPts val="0"/>
                  </a:spcAft>
                  <a:buFont typeface="+mj-lt"/>
                  <a:buAutoNum type="arabicPeriod"/>
                </a:pPr>
                <a:r>
                  <a:rPr lang="en-US" sz="2000" dirty="0"/>
                  <a:t>~68% of the filled cartons will have weights between 15.75 and 16.25 oz.</a:t>
                </a:r>
              </a:p>
              <a:p>
                <a:pPr marL="685800" indent="-339725">
                  <a:spcBef>
                    <a:spcPts val="600"/>
                  </a:spcBef>
                  <a:spcAft>
                    <a:spcPts val="0"/>
                  </a:spcAft>
                  <a:buFont typeface="+mj-lt"/>
                  <a:buAutoNum type="arabicPeriod"/>
                </a:pPr>
                <a:r>
                  <a:rPr lang="en-US" sz="2000" dirty="0"/>
                  <a:t>~95% of the filled cartons will have weights between 15.50 and 16.50 oz.</a:t>
                </a:r>
              </a:p>
              <a:p>
                <a:pPr>
                  <a:spcBef>
                    <a:spcPts val="600"/>
                  </a:spcBef>
                  <a:spcAft>
                    <a:spcPts val="0"/>
                  </a:spcAft>
                </a:pPr>
                <a:r>
                  <a:rPr lang="en-US" sz="2000" dirty="0"/>
                  <a:t>We can use this information to conclude approximately how many filled cartons will</a:t>
                </a:r>
              </a:p>
              <a:p>
                <a:pPr marL="685800" indent="-339725">
                  <a:spcBef>
                    <a:spcPts val="600"/>
                  </a:spcBef>
                  <a:spcAft>
                    <a:spcPts val="0"/>
                  </a:spcAft>
                  <a:buFont typeface="Arial" panose="020B0604020202020204" pitchFamily="34" charset="0"/>
                  <a:buChar char="•"/>
                </a:pPr>
                <a:r>
                  <a:rPr lang="en-US" sz="2000" dirty="0"/>
                  <a:t>weigh between 16 and 16.25 oz:</a:t>
                </a:r>
              </a:p>
              <a:p>
                <a:pPr marL="914400">
                  <a:spcBef>
                    <a:spcPts val="0"/>
                  </a:spcBef>
                  <a:spcAft>
                    <a:spcPts val="0"/>
                  </a:spcAft>
                </a:pPr>
                <a:r>
                  <a:rPr lang="en-US" sz="2000" dirty="0"/>
                  <a:t>Because the distribution is symmetric, from point 1 we have </a:t>
                </a:r>
                <a14:m>
                  <m:oMath xmlns:m="http://schemas.openxmlformats.org/officeDocument/2006/math">
                    <m:r>
                      <a:rPr lang="en-US" sz="2000" i="1" dirty="0" smtClean="0">
                        <a:latin typeface="Cambria Math" panose="02040503050406030204" pitchFamily="18" charset="0"/>
                      </a:rPr>
                      <m:t>68%/2=34%</m:t>
                    </m:r>
                  </m:oMath>
                </a14:m>
                <a:r>
                  <a:rPr lang="en-US" sz="2000" dirty="0"/>
                  <a:t>.</a:t>
                </a:r>
              </a:p>
              <a:p>
                <a:pPr marL="685800" indent="-339725">
                  <a:spcBef>
                    <a:spcPts val="600"/>
                  </a:spcBef>
                  <a:spcAft>
                    <a:spcPts val="0"/>
                  </a:spcAft>
                  <a:buFont typeface="Arial" panose="020B0604020202020204" pitchFamily="34" charset="0"/>
                  <a:buChar char="•"/>
                </a:pPr>
                <a:r>
                  <a:rPr lang="en-US" sz="2000" dirty="0"/>
                  <a:t>weigh between 15.50 and 16 oz: </a:t>
                </a:r>
              </a:p>
              <a:p>
                <a:pPr marL="914400">
                  <a:spcBef>
                    <a:spcPts val="0"/>
                  </a:spcBef>
                  <a:spcAft>
                    <a:spcPts val="0"/>
                  </a:spcAft>
                </a:pPr>
                <a:r>
                  <a:rPr lang="en-US" sz="2000" dirty="0"/>
                  <a:t>Because the distribution is symmetric, from point 2 we have </a:t>
                </a:r>
                <a14:m>
                  <m:oMath xmlns:m="http://schemas.openxmlformats.org/officeDocument/2006/math">
                    <m:r>
                      <a:rPr lang="en-US" sz="2000" i="1" dirty="0">
                        <a:latin typeface="Cambria Math" panose="02040503050406030204" pitchFamily="18" charset="0"/>
                      </a:rPr>
                      <m:t>9</m:t>
                    </m:r>
                    <m:r>
                      <a:rPr lang="en-US" sz="2000" b="0" i="1" dirty="0" smtClean="0">
                        <a:latin typeface="Cambria Math" panose="02040503050406030204" pitchFamily="18" charset="0"/>
                      </a:rPr>
                      <m:t>5</m:t>
                    </m:r>
                    <m:r>
                      <a:rPr lang="en-US" sz="2000" i="1" dirty="0" smtClean="0">
                        <a:latin typeface="Cambria Math" panose="02040503050406030204" pitchFamily="18" charset="0"/>
                      </a:rPr>
                      <m:t>%/2=</m:t>
                    </m:r>
                    <m:r>
                      <a:rPr lang="en-US" sz="2000" b="0" i="1" dirty="0" smtClean="0">
                        <a:latin typeface="Cambria Math" panose="02040503050406030204" pitchFamily="18" charset="0"/>
                      </a:rPr>
                      <m:t>47.5</m:t>
                    </m:r>
                    <m:r>
                      <a:rPr lang="en-US" sz="2000" i="1" dirty="0" smtClean="0">
                        <a:latin typeface="Cambria Math" panose="02040503050406030204" pitchFamily="18" charset="0"/>
                      </a:rPr>
                      <m:t>%</m:t>
                    </m:r>
                  </m:oMath>
                </a14:m>
                <a:r>
                  <a:rPr lang="en-US" sz="2000" dirty="0"/>
                  <a:t>.</a:t>
                </a:r>
              </a:p>
              <a:p>
                <a:pPr marL="685800" indent="-339725">
                  <a:spcBef>
                    <a:spcPts val="600"/>
                  </a:spcBef>
                  <a:spcAft>
                    <a:spcPts val="0"/>
                  </a:spcAft>
                  <a:buFont typeface="Arial" panose="020B0604020202020204" pitchFamily="34" charset="0"/>
                  <a:buChar char="•"/>
                </a:pPr>
                <a:r>
                  <a:rPr lang="en-US" sz="2000" dirty="0"/>
                  <a:t>weigh less than 15.50 oz: </a:t>
                </a:r>
              </a:p>
              <a:p>
                <a:pPr marL="914400">
                  <a:spcBef>
                    <a:spcPts val="0"/>
                  </a:spcBef>
                  <a:spcAft>
                    <a:spcPts val="0"/>
                  </a:spcAft>
                </a:pPr>
                <a:r>
                  <a:rPr lang="en-US" sz="2000" dirty="0"/>
                  <a:t>Because 50% of the filled cartons have weights less than 16 oz. and 47.5% have weights between 15.50 and 16 ounces, it follows that 2.5% weigh less than 15.50 oz.</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348733"/>
                <a:ext cx="10711543" cy="4524703"/>
              </a:xfrm>
              <a:blipFill>
                <a:blip r:embed="rId3"/>
                <a:stretch>
                  <a:fillRect l="-1422" t="-1617" b="-1348"/>
                </a:stretch>
              </a:blipFill>
            </p:spPr>
            <p:txBody>
              <a:bodyPr/>
              <a:lstStyle/>
              <a:p>
                <a:r>
                  <a:rPr lang="en-US">
                    <a:noFill/>
                  </a:rPr>
                  <a:t> </a:t>
                </a:r>
              </a:p>
            </p:txBody>
          </p:sp>
        </mc:Fallback>
      </mc:AlternateContent>
    </p:spTree>
    <p:extLst>
      <p:ext uri="{BB962C8B-B14F-4D97-AF65-F5344CB8AC3E}">
        <p14:creationId xmlns:p14="http://schemas.microsoft.com/office/powerpoint/2010/main" val="1563284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3.3 Detecting Outliers with </a:t>
            </a:r>
            <a:r>
              <a:rPr lang="en-US" i="1" dirty="0"/>
              <a:t>z</a:t>
            </a:r>
            <a:r>
              <a:rPr lang="en-US" dirty="0"/>
              <a:t>-Scores</a:t>
            </a:r>
          </a:p>
        </p:txBody>
      </p:sp>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314097"/>
            <a:ext cx="10711543" cy="4469523"/>
          </a:xfrm>
        </p:spPr>
        <p:txBody>
          <a:bodyPr/>
          <a:lstStyle/>
          <a:p>
            <a:pPr>
              <a:spcBef>
                <a:spcPts val="600"/>
              </a:spcBef>
              <a:spcAft>
                <a:spcPts val="0"/>
              </a:spcAft>
            </a:pPr>
            <a:r>
              <a:rPr lang="en-US" sz="2000" dirty="0"/>
              <a:t>An outlier is an unusually small or unusually large value in a data set. Care should be taken when handling outliers, as they might be: </a:t>
            </a:r>
          </a:p>
          <a:p>
            <a:pPr>
              <a:spcBef>
                <a:spcPts val="600"/>
              </a:spcBef>
              <a:spcAft>
                <a:spcPts val="0"/>
              </a:spcAft>
            </a:pPr>
            <a:r>
              <a:rPr lang="en-US" sz="2000" dirty="0"/>
              <a:t>•	an incorrectly recorded data value</a:t>
            </a:r>
          </a:p>
          <a:p>
            <a:pPr>
              <a:spcBef>
                <a:spcPts val="600"/>
              </a:spcBef>
              <a:spcAft>
                <a:spcPts val="0"/>
              </a:spcAft>
            </a:pPr>
            <a:r>
              <a:rPr lang="en-US" sz="2000" dirty="0"/>
              <a:t>•	a data value that was incorrectly included in the data set</a:t>
            </a:r>
          </a:p>
          <a:p>
            <a:pPr>
              <a:spcBef>
                <a:spcPts val="600"/>
              </a:spcBef>
              <a:spcAft>
                <a:spcPts val="0"/>
              </a:spcAft>
            </a:pPr>
            <a:r>
              <a:rPr lang="en-US" sz="2000" dirty="0"/>
              <a:t>•	a correctly recorded data value that belongs in the data set</a:t>
            </a:r>
          </a:p>
          <a:p>
            <a:pPr>
              <a:spcBef>
                <a:spcPts val="600"/>
              </a:spcBef>
              <a:spcAft>
                <a:spcPts val="0"/>
              </a:spcAft>
            </a:pPr>
            <a:r>
              <a:rPr lang="en-US" sz="2000" dirty="0"/>
              <a:t>A data value with a z-score less than -3 or greater than +3 might be considered an outlier. </a:t>
            </a:r>
          </a:p>
          <a:p>
            <a:pPr>
              <a:spcBef>
                <a:spcPts val="600"/>
              </a:spcBef>
              <a:spcAft>
                <a:spcPts val="0"/>
              </a:spcAft>
            </a:pPr>
            <a:r>
              <a:rPr lang="en-US" sz="2000" dirty="0"/>
              <a:t>For this example, refer to the starting monthly salary for the 12 business graduates, with mean, x = 5940, and standard deviation, s = 165.65. </a:t>
            </a:r>
          </a:p>
          <a:p>
            <a:pPr>
              <a:spcBef>
                <a:spcPts val="600"/>
              </a:spcBef>
              <a:spcAft>
                <a:spcPts val="0"/>
              </a:spcAft>
            </a:pPr>
            <a:r>
              <a:rPr lang="en-US" sz="2000" dirty="0"/>
              <a:t>The smallest value in the data set, 5710, has z = (5710 - 5940)/156.65 = - 1.39, and the largest value in the data set, 6325, has z = (6325 - 5940)/156.65 = 2.32. </a:t>
            </a:r>
          </a:p>
          <a:p>
            <a:pPr>
              <a:spcBef>
                <a:spcPts val="600"/>
              </a:spcBef>
              <a:spcAft>
                <a:spcPts val="0"/>
              </a:spcAft>
            </a:pPr>
            <a:r>
              <a:rPr lang="en-US" sz="2000" dirty="0"/>
              <a:t>Because all the values are within three standard deviations of the mean (z-scores within +3), we conclude that there is no evidence of outliers. </a:t>
            </a:r>
          </a:p>
        </p:txBody>
      </p:sp>
    </p:spTree>
    <p:extLst>
      <p:ext uri="{BB962C8B-B14F-4D97-AF65-F5344CB8AC3E}">
        <p14:creationId xmlns:p14="http://schemas.microsoft.com/office/powerpoint/2010/main" val="755471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3.3 Alternative Method for Detecting Outliers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537138"/>
                <a:ext cx="10711543" cy="3972912"/>
              </a:xfrm>
            </p:spPr>
            <p:txBody>
              <a:bodyPr/>
              <a:lstStyle/>
              <a:p>
                <a:pPr>
                  <a:spcBef>
                    <a:spcPts val="600"/>
                  </a:spcBef>
                  <a:spcAft>
                    <a:spcPts val="0"/>
                  </a:spcAft>
                </a:pPr>
                <a:r>
                  <a:rPr lang="en-US" sz="2000" dirty="0"/>
                  <a:t>Another approach to identifying outliers is based upon the values of the first and third quartiles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𝑄</m:t>
                        </m:r>
                      </m:e>
                      <m:sub>
                        <m:r>
                          <a:rPr lang="en-US" sz="2000" b="0" i="1" smtClean="0">
                            <a:latin typeface="Cambria Math" panose="02040503050406030204" pitchFamily="18" charset="0"/>
                          </a:rPr>
                          <m:t>3</m:t>
                        </m:r>
                      </m:sub>
                    </m:sSub>
                  </m:oMath>
                </a14:m>
                <a:r>
                  <a:rPr lang="en-US" sz="2000" dirty="0"/>
                  <a:t>) and the interquartile range (</a:t>
                </a:r>
                <a:r>
                  <a:rPr lang="en-US" sz="2000" i="1" dirty="0"/>
                  <a:t>IQR</a:t>
                </a:r>
                <a:r>
                  <a:rPr lang="en-US" sz="2000" dirty="0"/>
                  <a:t>). </a:t>
                </a:r>
              </a:p>
              <a:p>
                <a:pPr>
                  <a:spcBef>
                    <a:spcPts val="1200"/>
                  </a:spcBef>
                  <a:spcAft>
                    <a:spcPts val="0"/>
                  </a:spcAft>
                </a:pPr>
                <a:r>
                  <a:rPr lang="en-US" sz="2000" dirty="0"/>
                  <a:t>For this example, refer to the starting monthly salary for the 12 business graduates.</a:t>
                </a:r>
              </a:p>
              <a:p>
                <a:pPr>
                  <a:spcBef>
                    <a:spcPts val="600"/>
                  </a:spcBef>
                  <a:spcAft>
                    <a:spcPts val="0"/>
                  </a:spcAft>
                </a:pPr>
                <a:r>
                  <a:rPr lang="en-US" sz="2000" dirty="0"/>
                  <a:t>To use this method, we first compute the following lower and upper limits:</a:t>
                </a:r>
              </a:p>
              <a:p>
                <a:pPr marL="914400">
                  <a:spcBef>
                    <a:spcPts val="600"/>
                  </a:spcBef>
                  <a:spcAft>
                    <a:spcPts val="0"/>
                  </a:spcAft>
                </a:pPr>
                <a:r>
                  <a:rPr lang="en-US" sz="2000" dirty="0"/>
                  <a:t>Lower Limit </a:t>
                </a:r>
                <a14:m>
                  <m:oMath xmlns:m="http://schemas.openxmlformats.org/officeDocument/2006/math">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1</m:t>
                        </m:r>
                      </m:sub>
                    </m:sSub>
                    <m:r>
                      <a:rPr lang="en-US" sz="2000" b="0" i="1" smtClean="0">
                        <a:latin typeface="Cambria Math" panose="02040503050406030204" pitchFamily="18" charset="0"/>
                      </a:rPr>
                      <m:t>−1.5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𝐼𝑄𝑅</m:t>
                        </m:r>
                      </m:e>
                    </m:d>
                    <m:r>
                      <a:rPr lang="en-US" sz="2000" b="0" i="1" smtClean="0">
                        <a:latin typeface="Cambria Math" panose="02040503050406030204" pitchFamily="18" charset="0"/>
                      </a:rPr>
                      <m:t>=5857.5−1.5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167.5</m:t>
                        </m:r>
                      </m:e>
                    </m:d>
                    <m:r>
                      <a:rPr lang="en-US" sz="2000" b="0" i="1" smtClean="0">
                        <a:latin typeface="Cambria Math" panose="02040503050406030204" pitchFamily="18" charset="0"/>
                      </a:rPr>
                      <m:t>=5606.25</m:t>
                    </m:r>
                  </m:oMath>
                </a14:m>
                <a:endParaRPr lang="en-US" sz="2000" dirty="0"/>
              </a:p>
              <a:p>
                <a:pPr marL="914400">
                  <a:spcBef>
                    <a:spcPts val="600"/>
                  </a:spcBef>
                  <a:spcAft>
                    <a:spcPts val="0"/>
                  </a:spcAft>
                </a:pPr>
                <a:r>
                  <a:rPr lang="en-US" sz="2000" dirty="0"/>
                  <a:t>Upper Limit </a:t>
                </a:r>
                <a14:m>
                  <m:oMath xmlns:m="http://schemas.openxmlformats.org/officeDocument/2006/math">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𝐼𝑄𝑅</m:t>
                        </m:r>
                      </m:e>
                    </m:d>
                    <m:r>
                      <a:rPr lang="en-US" sz="2000" b="0" i="1" smtClean="0">
                        <a:latin typeface="Cambria Math" panose="02040503050406030204" pitchFamily="18" charset="0"/>
                      </a:rPr>
                      <m:t>=6025+1.5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167.5</m:t>
                        </m:r>
                      </m:e>
                    </m:d>
                    <m:r>
                      <a:rPr lang="en-US" sz="2000" b="0" i="1" smtClean="0">
                        <a:latin typeface="Cambria Math" panose="02040503050406030204" pitchFamily="18" charset="0"/>
                      </a:rPr>
                      <m:t>=6276.25</m:t>
                    </m:r>
                  </m:oMath>
                </a14:m>
                <a:endParaRPr lang="en-US" sz="2000" dirty="0"/>
              </a:p>
              <a:p>
                <a:pPr>
                  <a:spcBef>
                    <a:spcPts val="1200"/>
                  </a:spcBef>
                  <a:spcAft>
                    <a:spcPts val="0"/>
                  </a:spcAft>
                </a:pPr>
                <a:r>
                  <a:rPr lang="en-US" sz="2000" dirty="0"/>
                  <a:t>Looking at the starting monthly salary for the 12 business graduates, we see that:</a:t>
                </a:r>
              </a:p>
              <a:p>
                <a:pPr marL="914400">
                  <a:spcBef>
                    <a:spcPts val="600"/>
                  </a:spcBef>
                  <a:spcAft>
                    <a:spcPts val="0"/>
                  </a:spcAft>
                </a:pPr>
                <a:r>
                  <a:rPr lang="en-US" sz="2000" dirty="0"/>
                  <a:t>There are no starting salaries lower than the Lower Limit = 5606.25.</a:t>
                </a:r>
              </a:p>
              <a:p>
                <a:pPr marL="914400">
                  <a:spcBef>
                    <a:spcPts val="600"/>
                  </a:spcBef>
                  <a:spcAft>
                    <a:spcPts val="0"/>
                  </a:spcAft>
                </a:pPr>
                <a:r>
                  <a:rPr lang="en-US" sz="2000" dirty="0"/>
                  <a:t>There is one starting salary, 6325, that is greater than the Upper Limit = 6276.25.</a:t>
                </a:r>
              </a:p>
              <a:p>
                <a:pPr>
                  <a:spcBef>
                    <a:spcPts val="600"/>
                  </a:spcBef>
                  <a:spcAft>
                    <a:spcPts val="0"/>
                  </a:spcAft>
                </a:pPr>
                <a:r>
                  <a:rPr lang="en-US" sz="2000" dirty="0"/>
                  <a:t>Thus, using this alternate approach, 6325 is considered to be an outlier.</a:t>
                </a:r>
              </a:p>
              <a:p>
                <a:pPr>
                  <a:spcBef>
                    <a:spcPts val="600"/>
                  </a:spcBef>
                  <a:spcAft>
                    <a:spcPts val="0"/>
                  </a:spcAft>
                </a:pPr>
                <a:endParaRPr lang="en-US" sz="2000" dirty="0"/>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537138"/>
                <a:ext cx="10711543" cy="3972912"/>
              </a:xfrm>
              <a:blipFill>
                <a:blip r:embed="rId3"/>
                <a:stretch>
                  <a:fillRect l="-1422" t="-1840" r="-569"/>
                </a:stretch>
              </a:blipFill>
            </p:spPr>
            <p:txBody>
              <a:bodyPr/>
              <a:lstStyle/>
              <a:p>
                <a:r>
                  <a:rPr lang="en-US">
                    <a:noFill/>
                  </a:rPr>
                  <a:t> </a:t>
                </a:r>
              </a:p>
            </p:txBody>
          </p:sp>
        </mc:Fallback>
      </mc:AlternateContent>
    </p:spTree>
    <p:extLst>
      <p:ext uri="{BB962C8B-B14F-4D97-AF65-F5344CB8AC3E}">
        <p14:creationId xmlns:p14="http://schemas.microsoft.com/office/powerpoint/2010/main" val="179603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solidFill>
                  <a:srgbClr val="D14B1E"/>
                </a:solidFill>
              </a:rPr>
              <a:t>3.4 Five-Number Summaries and Boxplots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11BFCB-EB2F-8354-E853-4E88BCE063BB}"/>
                  </a:ext>
                </a:extLst>
              </p:cNvPr>
              <p:cNvSpPr>
                <a:spLocks noGrp="1"/>
              </p:cNvSpPr>
              <p:nvPr>
                <p:ph type="body" sz="quarter" idx="15"/>
              </p:nvPr>
            </p:nvSpPr>
            <p:spPr>
              <a:xfrm>
                <a:off x="740228" y="1256765"/>
                <a:ext cx="10711543" cy="4485290"/>
              </a:xfrm>
            </p:spPr>
            <p:txBody>
              <a:bodyPr/>
              <a:lstStyle/>
              <a:p>
                <a:pPr>
                  <a:spcBef>
                    <a:spcPts val="600"/>
                  </a:spcBef>
                  <a:spcAft>
                    <a:spcPts val="0"/>
                  </a:spcAft>
                </a:pPr>
                <a:r>
                  <a:rPr lang="en-US" sz="2000" dirty="0"/>
                  <a:t>In a </a:t>
                </a:r>
                <a:r>
                  <a:rPr lang="en-US" sz="2000" b="1" dirty="0"/>
                  <a:t>five-number summary</a:t>
                </a:r>
                <a:r>
                  <a:rPr lang="en-US" sz="2000" dirty="0"/>
                  <a:t>, five numbers are used to summarize the data:</a:t>
                </a:r>
              </a:p>
              <a:p>
                <a:pPr marL="914400" indent="-457200">
                  <a:spcBef>
                    <a:spcPts val="600"/>
                  </a:spcBef>
                  <a:spcAft>
                    <a:spcPts val="0"/>
                  </a:spcAft>
                  <a:buFont typeface="+mj-lt"/>
                  <a:buAutoNum type="arabicPeriod"/>
                </a:pPr>
                <a:r>
                  <a:rPr lang="en-US" sz="2000" dirty="0"/>
                  <a:t>Smallest value</a:t>
                </a:r>
              </a:p>
              <a:p>
                <a:pPr marL="914400" indent="-457200">
                  <a:spcBef>
                    <a:spcPts val="600"/>
                  </a:spcBef>
                  <a:spcAft>
                    <a:spcPts val="0"/>
                  </a:spcAft>
                  <a:buFont typeface="+mj-lt"/>
                  <a:buAutoNum type="arabicPeriod"/>
                  <a:tabLst>
                    <a:tab pos="9088438" algn="l"/>
                  </a:tabLst>
                </a:pPr>
                <a:r>
                  <a:rPr lang="en-US" sz="2000" dirty="0"/>
                  <a:t>First quartile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𝑄</m:t>
                        </m:r>
                      </m:e>
                      <m:sub>
                        <m:r>
                          <a:rPr lang="en-US" sz="2000" b="0" i="1" dirty="0" smtClean="0">
                            <a:latin typeface="Cambria Math" panose="02040503050406030204" pitchFamily="18" charset="0"/>
                          </a:rPr>
                          <m:t>1</m:t>
                        </m:r>
                      </m:sub>
                    </m:sSub>
                  </m:oMath>
                </a14:m>
                <a:r>
                  <a:rPr lang="en-US" sz="2000" dirty="0"/>
                  <a:t>)</a:t>
                </a:r>
              </a:p>
              <a:p>
                <a:pPr marL="914400" indent="-457200">
                  <a:spcBef>
                    <a:spcPts val="600"/>
                  </a:spcBef>
                  <a:spcAft>
                    <a:spcPts val="0"/>
                  </a:spcAft>
                  <a:buFont typeface="+mj-lt"/>
                  <a:buAutoNum type="arabicPeriod"/>
                </a:pPr>
                <a:r>
                  <a:rPr lang="en-US" sz="2000" dirty="0"/>
                  <a:t>Median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𝑄</m:t>
                        </m:r>
                      </m:e>
                      <m:sub>
                        <m:r>
                          <a:rPr lang="en-US" sz="2000" b="0" i="1" dirty="0" smtClean="0">
                            <a:latin typeface="Cambria Math" panose="02040503050406030204" pitchFamily="18" charset="0"/>
                          </a:rPr>
                          <m:t>2</m:t>
                        </m:r>
                      </m:sub>
                    </m:sSub>
                  </m:oMath>
                </a14:m>
                <a:r>
                  <a:rPr lang="en-US" sz="2000" dirty="0"/>
                  <a:t>)</a:t>
                </a:r>
              </a:p>
              <a:p>
                <a:pPr marL="914400" indent="-457200">
                  <a:spcBef>
                    <a:spcPts val="600"/>
                  </a:spcBef>
                  <a:spcAft>
                    <a:spcPts val="0"/>
                  </a:spcAft>
                  <a:buFont typeface="+mj-lt"/>
                  <a:buAutoNum type="arabicPeriod"/>
                </a:pPr>
                <a:r>
                  <a:rPr lang="en-US" sz="2000" dirty="0"/>
                  <a:t>Third quartile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𝑄</m:t>
                        </m:r>
                      </m:e>
                      <m:sub>
                        <m:r>
                          <a:rPr lang="en-US" sz="2000" b="0" i="1" dirty="0" smtClean="0">
                            <a:latin typeface="Cambria Math" panose="02040503050406030204" pitchFamily="18" charset="0"/>
                          </a:rPr>
                          <m:t>3</m:t>
                        </m:r>
                      </m:sub>
                    </m:sSub>
                  </m:oMath>
                </a14:m>
                <a:r>
                  <a:rPr lang="en-US" sz="2000" dirty="0"/>
                  <a:t>)</a:t>
                </a:r>
              </a:p>
              <a:p>
                <a:pPr marL="914400" indent="-457200">
                  <a:spcBef>
                    <a:spcPts val="600"/>
                  </a:spcBef>
                  <a:spcAft>
                    <a:spcPts val="0"/>
                  </a:spcAft>
                  <a:buFont typeface="+mj-lt"/>
                  <a:buAutoNum type="arabicPeriod"/>
                </a:pPr>
                <a:r>
                  <a:rPr lang="en-US" sz="2000" dirty="0"/>
                  <a:t>Largest value</a:t>
                </a:r>
              </a:p>
              <a:p>
                <a:pPr>
                  <a:spcBef>
                    <a:spcPts val="1200"/>
                  </a:spcBef>
                  <a:spcAft>
                    <a:spcPts val="0"/>
                  </a:spcAft>
                </a:pPr>
                <a:r>
                  <a:rPr lang="en-US" sz="2000" dirty="0"/>
                  <a:t>As an example, consider the monthly starting salary for the 12 business graduates. </a:t>
                </a:r>
              </a:p>
              <a:p>
                <a:pPr>
                  <a:spcBef>
                    <a:spcPts val="1200"/>
                  </a:spcBef>
                  <a:spcAft>
                    <a:spcPts val="0"/>
                  </a:spcAft>
                </a:pPr>
                <a:r>
                  <a:rPr lang="en-US" sz="2000" dirty="0"/>
                  <a:t>The smallest value is 5710 and the largest value is 6325. We previously computed the quartiles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𝑄</m:t>
                        </m:r>
                      </m:e>
                      <m:sub>
                        <m:r>
                          <a:rPr lang="en-US" sz="2000" i="1" dirty="0">
                            <a:latin typeface="Cambria Math" panose="02040503050406030204" pitchFamily="18" charset="0"/>
                          </a:rPr>
                          <m:t>1</m:t>
                        </m:r>
                      </m:sub>
                    </m:sSub>
                    <m:r>
                      <a:rPr lang="en-US" sz="2000" i="1" dirty="0" smtClean="0">
                        <a:latin typeface="Cambria Math" panose="02040503050406030204" pitchFamily="18" charset="0"/>
                      </a:rPr>
                      <m:t>= 5857.5</m:t>
                    </m:r>
                  </m:oMath>
                </a14:m>
                <a:r>
                  <a:rPr lang="en-US" sz="2000" dirty="0"/>
                  <a:t>; </a:t>
                </a:r>
                <a14:m>
                  <m:oMath xmlns:m="http://schemas.openxmlformats.org/officeDocument/2006/math">
                    <m:r>
                      <a:rPr lang="en-US" sz="2000" i="1" dirty="0" smtClean="0">
                        <a:latin typeface="Cambria Math" panose="02040503050406030204" pitchFamily="18" charset="0"/>
                      </a:rPr>
                      <m:t>𝑀𝑒𝑑𝑖𝑎𝑛</m:t>
                    </m:r>
                    <m:r>
                      <a:rPr lang="en-US" sz="200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𝑄</m:t>
                        </m:r>
                      </m:e>
                      <m:sub>
                        <m:r>
                          <a:rPr lang="en-US" sz="2000" i="1" dirty="0">
                            <a:latin typeface="Cambria Math" panose="02040503050406030204" pitchFamily="18" charset="0"/>
                          </a:rPr>
                          <m:t>2</m:t>
                        </m:r>
                      </m:sub>
                    </m:sSub>
                    <m:r>
                      <a:rPr lang="en-US" sz="2000" i="1" dirty="0" smtClean="0">
                        <a:latin typeface="Cambria Math" panose="02040503050406030204" pitchFamily="18" charset="0"/>
                      </a:rPr>
                      <m:t>= 5905</m:t>
                    </m:r>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𝑄</m:t>
                        </m:r>
                      </m:e>
                      <m:sub>
                        <m:r>
                          <a:rPr lang="en-US" sz="2000" i="1" dirty="0">
                            <a:latin typeface="Cambria Math" panose="02040503050406030204" pitchFamily="18" charset="0"/>
                          </a:rPr>
                          <m:t>3</m:t>
                        </m:r>
                      </m:sub>
                    </m:sSub>
                    <m:r>
                      <a:rPr lang="en-US" sz="2000" i="1" dirty="0" smtClean="0">
                        <a:latin typeface="Cambria Math" panose="02040503050406030204" pitchFamily="18" charset="0"/>
                      </a:rPr>
                      <m:t>=6025</m:t>
                    </m:r>
                  </m:oMath>
                </a14:m>
                <a:r>
                  <a:rPr lang="en-US" sz="2000" dirty="0"/>
                  <a:t>). </a:t>
                </a:r>
              </a:p>
              <a:p>
                <a:pPr>
                  <a:spcBef>
                    <a:spcPts val="1200"/>
                  </a:spcBef>
                  <a:spcAft>
                    <a:spcPts val="0"/>
                  </a:spcAft>
                </a:pPr>
                <a:r>
                  <a:rPr lang="en-US" sz="2000" dirty="0"/>
                  <a:t>The five-number summary indicates that the starting salaries in the sample are between 5710 and 6325, approximately 50% of the starting salaries are between 5857.5 and 6025, and the median or middle value is 5905.</a:t>
                </a:r>
              </a:p>
            </p:txBody>
          </p:sp>
        </mc:Choice>
        <mc:Fallback xmlns="">
          <p:sp>
            <p:nvSpPr>
              <p:cNvPr id="3" name="Text Placeholder 2">
                <a:extLst>
                  <a:ext uri="{FF2B5EF4-FFF2-40B4-BE49-F238E27FC236}">
                    <a16:creationId xmlns:a16="http://schemas.microsoft.com/office/drawing/2014/main" id="{B711BFCB-EB2F-8354-E853-4E88BCE063BB}"/>
                  </a:ext>
                </a:extLst>
              </p:cNvPr>
              <p:cNvSpPr>
                <a:spLocks noGrp="1" noRot="1" noChangeAspect="1" noMove="1" noResize="1" noEditPoints="1" noAdjustHandles="1" noChangeArrowheads="1" noChangeShapeType="1" noTextEdit="1"/>
              </p:cNvSpPr>
              <p:nvPr>
                <p:ph type="body" sz="quarter" idx="15"/>
              </p:nvPr>
            </p:nvSpPr>
            <p:spPr>
              <a:xfrm>
                <a:off x="740228" y="1256765"/>
                <a:ext cx="10711543" cy="4485290"/>
              </a:xfrm>
              <a:blipFill>
                <a:blip r:embed="rId3"/>
                <a:stretch>
                  <a:fillRect l="-1422" t="-1630" r="-1877" b="-3804"/>
                </a:stretch>
              </a:blipFill>
            </p:spPr>
            <p:txBody>
              <a:bodyPr/>
              <a:lstStyle/>
              <a:p>
                <a:r>
                  <a:rPr lang="en-US">
                    <a:noFill/>
                  </a:rPr>
                  <a:t> </a:t>
                </a:r>
              </a:p>
            </p:txBody>
          </p:sp>
        </mc:Fallback>
      </mc:AlternateContent>
    </p:spTree>
    <p:extLst>
      <p:ext uri="{BB962C8B-B14F-4D97-AF65-F5344CB8AC3E}">
        <p14:creationId xmlns:p14="http://schemas.microsoft.com/office/powerpoint/2010/main" val="4273090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3.4 Boxplot</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3E2AAE4-F9A5-F843-491D-446D0FA1AF41}"/>
                  </a:ext>
                </a:extLst>
              </p:cNvPr>
              <p:cNvSpPr>
                <a:spLocks noGrp="1"/>
              </p:cNvSpPr>
              <p:nvPr>
                <p:ph type="body" sz="quarter" idx="15"/>
              </p:nvPr>
            </p:nvSpPr>
            <p:spPr>
              <a:xfrm>
                <a:off x="743576" y="1316418"/>
                <a:ext cx="10610223" cy="2186040"/>
              </a:xfrm>
            </p:spPr>
            <p:txBody>
              <a:bodyPr/>
              <a:lstStyle/>
              <a:p>
                <a:r>
                  <a:rPr lang="en-US" sz="2000" dirty="0"/>
                  <a:t>A </a:t>
                </a:r>
                <a:r>
                  <a:rPr lang="en-US" sz="2000" b="1" dirty="0"/>
                  <a:t>boxplot</a:t>
                </a:r>
                <a:r>
                  <a:rPr lang="en-US" sz="2000" dirty="0"/>
                  <a:t> is a graphical display of data based on a five-number summary.</a:t>
                </a:r>
              </a:p>
              <a:p>
                <a:pPr>
                  <a:spcBef>
                    <a:spcPts val="1200"/>
                  </a:spcBef>
                </a:pPr>
                <a:r>
                  <a:rPr lang="en-US" sz="2000" dirty="0"/>
                  <a:t>The steps used to construct the boxplot for the monthly starting salary data are:</a:t>
                </a:r>
              </a:p>
              <a:p>
                <a:pPr marL="685800" indent="-401638">
                  <a:buFont typeface="+mj-lt"/>
                  <a:buAutoNum type="arabicPeriod"/>
                </a:pPr>
                <a:r>
                  <a:rPr lang="en-US" sz="2000" dirty="0"/>
                  <a:t>Draw a box between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𝑄</m:t>
                        </m:r>
                      </m:e>
                      <m:sub>
                        <m:r>
                          <a:rPr lang="en-US" sz="2000" i="1" dirty="0">
                            <a:latin typeface="Cambria Math" panose="02040503050406030204" pitchFamily="18" charset="0"/>
                          </a:rPr>
                          <m:t>1</m:t>
                        </m:r>
                      </m:sub>
                    </m:sSub>
                    <m:r>
                      <a:rPr lang="en-US" sz="2000" i="1" dirty="0" smtClean="0">
                        <a:latin typeface="Cambria Math" panose="02040503050406030204" pitchFamily="18" charset="0"/>
                      </a:rPr>
                      <m:t>= 5857.5</m:t>
                    </m:r>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𝑄</m:t>
                        </m:r>
                      </m:e>
                      <m:sub>
                        <m:r>
                          <a:rPr lang="en-US" sz="2000" i="1" dirty="0">
                            <a:latin typeface="Cambria Math" panose="02040503050406030204" pitchFamily="18" charset="0"/>
                          </a:rPr>
                          <m:t>3</m:t>
                        </m:r>
                      </m:sub>
                    </m:sSub>
                    <m:r>
                      <a:rPr lang="en-US" sz="2000" i="1" dirty="0" smtClean="0">
                        <a:latin typeface="Cambria Math" panose="02040503050406030204" pitchFamily="18" charset="0"/>
                      </a:rPr>
                      <m:t>=6025</m:t>
                    </m:r>
                  </m:oMath>
                </a14:m>
                <a:r>
                  <a:rPr lang="en-US" sz="2000" dirty="0"/>
                  <a:t>.</a:t>
                </a:r>
              </a:p>
              <a:p>
                <a:pPr marL="685800" indent="-401638">
                  <a:buFont typeface="+mj-lt"/>
                  <a:buAutoNum type="arabicPeriod"/>
                </a:pPr>
                <a:r>
                  <a:rPr lang="en-US" sz="2000" dirty="0"/>
                  <a:t>Draw a vertical line in the box at the location of the median,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𝑄</m:t>
                        </m:r>
                      </m:e>
                      <m:sub>
                        <m:r>
                          <a:rPr lang="en-US" sz="2000" i="1" dirty="0">
                            <a:latin typeface="Cambria Math" panose="02040503050406030204" pitchFamily="18" charset="0"/>
                          </a:rPr>
                          <m:t>2</m:t>
                        </m:r>
                      </m:sub>
                    </m:sSub>
                    <m:r>
                      <a:rPr lang="en-US" sz="2000" i="1" dirty="0" smtClean="0">
                        <a:latin typeface="Cambria Math" panose="02040503050406030204" pitchFamily="18" charset="0"/>
                      </a:rPr>
                      <m:t>= 5905</m:t>
                    </m:r>
                  </m:oMath>
                </a14:m>
                <a:r>
                  <a:rPr lang="en-US" sz="2000" dirty="0"/>
                  <a:t>.</a:t>
                </a:r>
              </a:p>
              <a:p>
                <a:pPr marL="685800" indent="-401638">
                  <a:buFont typeface="+mj-lt"/>
                  <a:buAutoNum type="arabicPeriod"/>
                </a:pPr>
                <a:r>
                  <a:rPr lang="en-US" sz="2000" dirty="0"/>
                  <a:t>Using </a:t>
                </a:r>
                <a14:m>
                  <m:oMath xmlns:m="http://schemas.openxmlformats.org/officeDocument/2006/math">
                    <m:r>
                      <a:rPr lang="en-US" sz="2000" i="1" dirty="0" smtClean="0">
                        <a:latin typeface="Cambria Math" panose="02040503050406030204" pitchFamily="18" charset="0"/>
                      </a:rPr>
                      <m:t>𝐼𝑄𝑅</m:t>
                    </m:r>
                    <m:r>
                      <a:rPr lang="en-US" sz="2000" i="1" dirty="0" smtClean="0">
                        <a:latin typeface="Cambria Math" panose="02040503050406030204" pitchFamily="18" charset="0"/>
                      </a:rPr>
                      <m:t>=167.5</m:t>
                    </m:r>
                  </m:oMath>
                </a14:m>
                <a:r>
                  <a:rPr lang="en-US" sz="2000" dirty="0"/>
                  <a:t>, compute the lower and upper limits for detecting </a:t>
                </a:r>
                <a:r>
                  <a:rPr lang="en-US" sz="2000" i="1" dirty="0"/>
                  <a:t>outliers</a:t>
                </a:r>
                <a:r>
                  <a:rPr lang="en-US" sz="2000" dirty="0"/>
                  <a:t> (note that the limits are usually not drawn.)</a:t>
                </a:r>
              </a:p>
            </p:txBody>
          </p:sp>
        </mc:Choice>
        <mc:Fallback xmlns="">
          <p:sp>
            <p:nvSpPr>
              <p:cNvPr id="5" name="Text Placeholder 4">
                <a:extLst>
                  <a:ext uri="{FF2B5EF4-FFF2-40B4-BE49-F238E27FC236}">
                    <a16:creationId xmlns:a16="http://schemas.microsoft.com/office/drawing/2014/main" id="{43E2AAE4-F9A5-F843-491D-446D0FA1AF41}"/>
                  </a:ext>
                </a:extLst>
              </p:cNvPr>
              <p:cNvSpPr>
                <a:spLocks noGrp="1" noRot="1" noChangeAspect="1" noMove="1" noResize="1" noEditPoints="1" noAdjustHandles="1" noChangeArrowheads="1" noChangeShapeType="1" noTextEdit="1"/>
              </p:cNvSpPr>
              <p:nvPr>
                <p:ph type="body" sz="quarter" idx="15"/>
              </p:nvPr>
            </p:nvSpPr>
            <p:spPr>
              <a:xfrm>
                <a:off x="743576" y="1316418"/>
                <a:ext cx="10610223" cy="2186040"/>
              </a:xfrm>
              <a:blipFill>
                <a:blip r:embed="rId4"/>
                <a:stretch>
                  <a:fillRect l="-1494" t="-3343" b="-8078"/>
                </a:stretch>
              </a:blipFill>
            </p:spPr>
            <p:txBody>
              <a:bodyPr/>
              <a:lstStyle/>
              <a:p>
                <a:r>
                  <a:rPr lang="en-US">
                    <a:noFill/>
                  </a:rPr>
                  <a:t> </a:t>
                </a:r>
              </a:p>
            </p:txBody>
          </p:sp>
        </mc:Fallback>
      </mc:AlternateContent>
      <p:sp>
        <p:nvSpPr>
          <p:cNvPr id="8" name="Text Placeholder 7">
            <a:extLst>
              <a:ext uri="{FF2B5EF4-FFF2-40B4-BE49-F238E27FC236}">
                <a16:creationId xmlns:a16="http://schemas.microsoft.com/office/drawing/2014/main" id="{6805A233-FCFE-284E-E2E0-8D2ACD241AC3}"/>
              </a:ext>
            </a:extLst>
          </p:cNvPr>
          <p:cNvSpPr>
            <a:spLocks noGrp="1"/>
          </p:cNvSpPr>
          <p:nvPr>
            <p:ph type="body" sz="quarter" idx="17"/>
          </p:nvPr>
        </p:nvSpPr>
        <p:spPr>
          <a:xfrm>
            <a:off x="743575" y="3589172"/>
            <a:ext cx="4561521" cy="2073164"/>
          </a:xfrm>
        </p:spPr>
        <p:txBody>
          <a:bodyPr/>
          <a:lstStyle/>
          <a:p>
            <a:pPr marL="685800" indent="-403225">
              <a:buFont typeface="+mj-lt"/>
              <a:buAutoNum type="arabicPeriod" startAt="4"/>
            </a:pPr>
            <a:r>
              <a:rPr lang="en-US" sz="2000" dirty="0"/>
              <a:t>Extend horizontal lines (</a:t>
            </a:r>
            <a:r>
              <a:rPr lang="en-US" sz="2000" i="1" dirty="0"/>
              <a:t>whiskers</a:t>
            </a:r>
            <a:r>
              <a:rPr lang="en-US" sz="2000" dirty="0"/>
              <a:t>) away from the box and up to the smallest and largest values that lie within the limits.</a:t>
            </a:r>
          </a:p>
          <a:p>
            <a:pPr marL="685800" indent="-403225">
              <a:buFont typeface="+mj-lt"/>
              <a:buAutoNum type="arabicPeriod" startAt="4"/>
            </a:pPr>
            <a:r>
              <a:rPr lang="en-US" sz="2000" dirty="0"/>
              <a:t>Use a small asterisk (*) to represent outliers.</a:t>
            </a:r>
          </a:p>
        </p:txBody>
      </p:sp>
      <p:pic>
        <p:nvPicPr>
          <p:cNvPr id="10" name="Picture Placeholder 9" descr="A boxplot shows the monthly starting salary data. The horizontal axis ranges from 5400 to 6500 with tickmarks in increments of 200. The box plot consists of a box with a vertical line along it and horizontal lines extending from each end. The lower limit is at 5606.25, the left end of the horizontal line on the left is at 5710, the left end of the box labeled Q_1 is at 5857.5, the vertical line in the box labeled median is at 5905, the right end of the box labeled Q_3 is at 6025, the right end of the horizontal line on the right is at 6130, and the upper limit is at 6276.25. The length of the box is labeled I Q R, which is between Q_1 and Q_3. The outlier, represented by an asterisk, is at 6325.&#10;">
            <a:extLst>
              <a:ext uri="{FF2B5EF4-FFF2-40B4-BE49-F238E27FC236}">
                <a16:creationId xmlns:a16="http://schemas.microsoft.com/office/drawing/2014/main" id="{633C5327-E185-2E7C-4E8C-6AEA421EF219}"/>
              </a:ext>
            </a:extLst>
          </p:cNvPr>
          <p:cNvPicPr>
            <a:picLocks noGrp="1" noChangeAspect="1"/>
          </p:cNvPicPr>
          <p:nvPr>
            <p:ph type="pic" sz="quarter" idx="16"/>
          </p:nvPr>
        </p:nvPicPr>
        <p:blipFill rotWithShape="1">
          <a:blip r:embed="rId5"/>
          <a:srcRect l="30" r="30"/>
          <a:stretch/>
        </p:blipFill>
        <p:spPr>
          <a:xfrm>
            <a:off x="5253340" y="3419373"/>
            <a:ext cx="5935120" cy="2122209"/>
          </a:xfrm>
        </p:spPr>
      </p:pic>
    </p:spTree>
    <p:extLst>
      <p:ext uri="{BB962C8B-B14F-4D97-AF65-F5344CB8AC3E}">
        <p14:creationId xmlns:p14="http://schemas.microsoft.com/office/powerpoint/2010/main" val="2036664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dirty="0">
                <a:solidFill>
                  <a:srgbClr val="25894E"/>
                </a:solidFill>
              </a:rPr>
              <a:t>3.4 Excel: Construct a Boxplot</a:t>
            </a:r>
            <a:endParaRPr lang="en-US"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199694"/>
            <a:ext cx="5352423" cy="4572000"/>
          </a:xfrm>
        </p:spPr>
        <p:txBody>
          <a:bodyPr/>
          <a:lstStyle/>
          <a:p>
            <a:r>
              <a:rPr lang="en-US" sz="2000" dirty="0"/>
              <a:t>We can use Excel’s Insert Statistic Chart to construct a boxplot of the monthly starting salary data as outlined below.</a:t>
            </a:r>
          </a:p>
          <a:p>
            <a:r>
              <a:rPr lang="en-US" sz="2000" b="1" dirty="0"/>
              <a:t>Enter/Access Data</a:t>
            </a:r>
            <a:r>
              <a:rPr lang="en-US" sz="2000" dirty="0"/>
              <a:t>: Open the file </a:t>
            </a:r>
            <a:r>
              <a:rPr lang="en-US" sz="2000" i="1" dirty="0" err="1"/>
              <a:t>startingsalaries</a:t>
            </a:r>
            <a:r>
              <a:rPr lang="en-US" sz="2000" dirty="0"/>
              <a:t>. The data are in cells B2:B13.</a:t>
            </a:r>
          </a:p>
          <a:p>
            <a:r>
              <a:rPr lang="en-US" sz="2000" b="1" dirty="0"/>
              <a:t>Apply Tools</a:t>
            </a:r>
            <a:r>
              <a:rPr lang="en-US" sz="2000" dirty="0"/>
              <a:t>: The following steps describe how to use Excel’s Insert Statistic Chart to construct a box plot.</a:t>
            </a:r>
          </a:p>
          <a:p>
            <a:pPr marL="227013">
              <a:spcBef>
                <a:spcPts val="300"/>
              </a:spcBef>
            </a:pPr>
            <a:r>
              <a:rPr lang="en-US" sz="1800" b="1" dirty="0"/>
              <a:t>Step 1</a:t>
            </a:r>
            <a:r>
              <a:rPr lang="en-US" sz="1800" dirty="0"/>
              <a:t>. Select cells B2:B13</a:t>
            </a:r>
          </a:p>
          <a:p>
            <a:pPr marL="227013">
              <a:spcBef>
                <a:spcPts val="300"/>
              </a:spcBef>
            </a:pPr>
            <a:r>
              <a:rPr lang="en-US" sz="1800" b="1" dirty="0"/>
              <a:t>Step 2</a:t>
            </a:r>
            <a:r>
              <a:rPr lang="en-US" sz="1800" dirty="0"/>
              <a:t>. Click the </a:t>
            </a:r>
            <a:r>
              <a:rPr lang="en-US" sz="1800" b="1" dirty="0"/>
              <a:t>Insert</a:t>
            </a:r>
            <a:r>
              <a:rPr lang="en-US" sz="1800" dirty="0"/>
              <a:t> tab on the </a:t>
            </a:r>
            <a:r>
              <a:rPr lang="en-US" sz="1800" b="1" dirty="0"/>
              <a:t>Ribbon</a:t>
            </a:r>
          </a:p>
          <a:p>
            <a:pPr marL="227013">
              <a:spcBef>
                <a:spcPts val="300"/>
              </a:spcBef>
            </a:pPr>
            <a:r>
              <a:rPr lang="en-US" sz="1800" b="1" dirty="0"/>
              <a:t>Step 3. </a:t>
            </a:r>
            <a:r>
              <a:rPr lang="en-US" sz="1800" dirty="0"/>
              <a:t>In the </a:t>
            </a:r>
            <a:r>
              <a:rPr lang="en-US" sz="1800" b="1" dirty="0"/>
              <a:t>Charts</a:t>
            </a:r>
            <a:r>
              <a:rPr lang="en-US" sz="1800" dirty="0"/>
              <a:t> group, click </a:t>
            </a:r>
            <a:r>
              <a:rPr lang="en-US" sz="1800" b="1" dirty="0"/>
              <a:t>Insert</a:t>
            </a:r>
            <a:r>
              <a:rPr lang="en-US" sz="1800" dirty="0"/>
              <a:t> </a:t>
            </a:r>
            <a:r>
              <a:rPr lang="en-US" sz="1800" b="1" dirty="0"/>
              <a:t>Statistic Chart </a:t>
            </a:r>
            <a:r>
              <a:rPr lang="en-US" sz="1800" dirty="0"/>
              <a:t>and then click </a:t>
            </a:r>
            <a:r>
              <a:rPr lang="en-US" sz="1800" b="1" dirty="0"/>
              <a:t>Box and Whisker </a:t>
            </a:r>
            <a:r>
              <a:rPr lang="en-US" sz="1800" dirty="0"/>
              <a:t>to create the boxplot in Excel</a:t>
            </a:r>
            <a:r>
              <a:rPr lang="en-US" sz="2000" dirty="0"/>
              <a:t>.</a:t>
            </a:r>
          </a:p>
          <a:p>
            <a:r>
              <a:rPr lang="en-US" sz="2000" b="1" dirty="0"/>
              <a:t>Editing Options</a:t>
            </a:r>
            <a:r>
              <a:rPr lang="en-US" sz="2000" dirty="0"/>
              <a:t>: See notes for details.</a:t>
            </a:r>
          </a:p>
        </p:txBody>
      </p:sp>
      <p:pic>
        <p:nvPicPr>
          <p:cNvPr id="6" name="Picture Placeholder 5" descr="A screenshot shows an edited boxplot created in Excel for the Monthly Starting Salary Data. Column A is labeled Graduate, and column B is labeled Monthly Starting Salary in dollars. The entries in rows 2 through 13 are as follows. Row 2: Graduate, 1; Salary, 5850. Row 3: Graduate, 2; Salary, 5950. Row 4: Graduate, 3; Salary, 6050. Row 5: Graduate, 4; Salary, 5880. Row 6: Graduate, 5; Salary, 5755. Row 7: Graduate, 6; Salary, 5710. Row 8: Graduate, 7; Salary, 5890. Row 9: Graduate, 8; Salary, 6130. Row 10: Graduate, 9; Salary, 5940. Row 11: Graduate, 10; Salary, 6325. Row 12: Graduate, 11; Salary, 5920. Row 13: Graduate, 12; Salary, 5880. A boxplot is to the right. The vertical axis labeled Monthly Starting Salary in dollars ranges from 5400 to 6400 in increments of 100. The lower limit is 5730, Q subscript 1 is 5860, the median is 5900, Q subscript 3 is 6020, the upper limit is 6120, and the outlier is 6325. All data are approximate.">
            <a:extLst>
              <a:ext uri="{FF2B5EF4-FFF2-40B4-BE49-F238E27FC236}">
                <a16:creationId xmlns:a16="http://schemas.microsoft.com/office/drawing/2014/main" id="{27742841-B23A-DEB2-55E3-3BDF00F897CA}"/>
              </a:ext>
            </a:extLst>
          </p:cNvPr>
          <p:cNvPicPr>
            <a:picLocks noGrp="1" noChangeAspect="1"/>
          </p:cNvPicPr>
          <p:nvPr>
            <p:ph type="pic" sz="quarter" idx="16"/>
          </p:nvPr>
        </p:nvPicPr>
        <p:blipFill>
          <a:blip r:embed="rId3"/>
          <a:srcRect l="81" r="81"/>
          <a:stretch/>
        </p:blipFill>
        <p:spPr>
          <a:xfrm>
            <a:off x="6232525" y="1199694"/>
            <a:ext cx="5121275" cy="4572000"/>
          </a:xfrm>
          <a:ln>
            <a:solidFill>
              <a:srgbClr val="000000"/>
            </a:solidFill>
          </a:ln>
        </p:spPr>
      </p:pic>
    </p:spTree>
    <p:extLst>
      <p:ext uri="{BB962C8B-B14F-4D97-AF65-F5344CB8AC3E}">
        <p14:creationId xmlns:p14="http://schemas.microsoft.com/office/powerpoint/2010/main" val="4181881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3.4 A Comparative Analysis Using Boxplots</a:t>
            </a:r>
          </a:p>
        </p:txBody>
      </p:sp>
      <p:sp>
        <p:nvSpPr>
          <p:cNvPr id="5" name="Text Placeholder 4">
            <a:extLst>
              <a:ext uri="{FF2B5EF4-FFF2-40B4-BE49-F238E27FC236}">
                <a16:creationId xmlns:a16="http://schemas.microsoft.com/office/drawing/2014/main" id="{43E2AAE4-F9A5-F843-491D-446D0FA1AF41}"/>
              </a:ext>
            </a:extLst>
          </p:cNvPr>
          <p:cNvSpPr>
            <a:spLocks noGrp="1"/>
          </p:cNvSpPr>
          <p:nvPr>
            <p:ph type="body" sz="quarter" idx="15"/>
          </p:nvPr>
        </p:nvSpPr>
        <p:spPr>
          <a:xfrm>
            <a:off x="743576" y="1292776"/>
            <a:ext cx="10610223" cy="1720954"/>
          </a:xfrm>
        </p:spPr>
        <p:txBody>
          <a:bodyPr/>
          <a:lstStyle/>
          <a:p>
            <a:r>
              <a:rPr lang="en-US" sz="2000" dirty="0"/>
              <a:t>Boxplots can be used to provide a graphical summary of two or more groups and facilitate visual comparisons among the groups.</a:t>
            </a:r>
          </a:p>
          <a:p>
            <a:r>
              <a:rPr lang="en-US" sz="2000" dirty="0"/>
              <a:t>As an application, consider the major and starting salary data for a new sample of 111 recent business school graduates (</a:t>
            </a:r>
            <a:r>
              <a:rPr lang="en-US" sz="2000" dirty="0" err="1"/>
              <a:t>DATAfile</a:t>
            </a:r>
            <a:r>
              <a:rPr lang="en-US" sz="2000" dirty="0"/>
              <a:t>: </a:t>
            </a:r>
            <a:r>
              <a:rPr lang="en-US" sz="2000" i="1" dirty="0" err="1"/>
              <a:t>MajorSalaries</a:t>
            </a:r>
            <a:r>
              <a:rPr lang="en-US" sz="2000" dirty="0"/>
              <a:t>.)</a:t>
            </a:r>
          </a:p>
          <a:p>
            <a:r>
              <a:rPr lang="en-US" sz="2000" dirty="0"/>
              <a:t>Note that the boxplots for each major have been drawn vertically, as is often the case.</a:t>
            </a:r>
          </a:p>
        </p:txBody>
      </p:sp>
      <p:sp>
        <p:nvSpPr>
          <p:cNvPr id="8" name="Text Placeholder 7">
            <a:extLst>
              <a:ext uri="{FF2B5EF4-FFF2-40B4-BE49-F238E27FC236}">
                <a16:creationId xmlns:a16="http://schemas.microsoft.com/office/drawing/2014/main" id="{6805A233-FCFE-284E-E2E0-8D2ACD241AC3}"/>
              </a:ext>
            </a:extLst>
          </p:cNvPr>
          <p:cNvSpPr>
            <a:spLocks noGrp="1"/>
          </p:cNvSpPr>
          <p:nvPr>
            <p:ph type="body" sz="quarter" idx="17"/>
          </p:nvPr>
        </p:nvSpPr>
        <p:spPr>
          <a:xfrm>
            <a:off x="743575" y="3029494"/>
            <a:ext cx="5276850" cy="2743200"/>
          </a:xfrm>
        </p:spPr>
        <p:txBody>
          <a:bodyPr/>
          <a:lstStyle/>
          <a:p>
            <a:r>
              <a:rPr lang="en-US" sz="2000" dirty="0"/>
              <a:t>A comparative analysis of the boxplots reveals:</a:t>
            </a:r>
          </a:p>
          <a:p>
            <a:pPr marL="457200" indent="-228600">
              <a:buFont typeface="Arial" panose="020B0604020202020204" pitchFamily="34" charset="0"/>
              <a:buChar char="•"/>
            </a:pPr>
            <a:r>
              <a:rPr lang="en-US" sz="2000" dirty="0"/>
              <a:t>Accounting has the higher salaries, management and marketing the lower.</a:t>
            </a:r>
          </a:p>
          <a:p>
            <a:pPr marL="457200" indent="-228600">
              <a:buFont typeface="Arial" panose="020B0604020202020204" pitchFamily="34" charset="0"/>
              <a:buChar char="•"/>
            </a:pPr>
            <a:r>
              <a:rPr lang="en-US" sz="2000" dirty="0"/>
              <a:t>Based on the median, Accounting and Information Systems have the highe</a:t>
            </a:r>
            <a:r>
              <a:rPr lang="en-US" sz="2000" dirty="0">
                <a:solidFill>
                  <a:srgbClr val="FF0000"/>
                </a:solidFill>
              </a:rPr>
              <a:t>st</a:t>
            </a:r>
            <a:r>
              <a:rPr lang="en-US" sz="2000" dirty="0"/>
              <a:t> median salaries, followed by Finance.</a:t>
            </a:r>
          </a:p>
          <a:p>
            <a:pPr marL="457200" indent="-228600">
              <a:buFont typeface="Arial" panose="020B0604020202020204" pitchFamily="34" charset="0"/>
              <a:buChar char="•"/>
            </a:pPr>
            <a:r>
              <a:rPr lang="en-US" sz="2000" dirty="0"/>
              <a:t>High salary outliers exist for accounting, finance, and marketing majors.</a:t>
            </a:r>
          </a:p>
        </p:txBody>
      </p:sp>
      <p:pic>
        <p:nvPicPr>
          <p:cNvPr id="6" name="Picture Placeholder 5" descr="A vertical boxplot charts monthly starting salary versus business major. The horizontal axis is labeled “Business major,” which has five tickmarks labeled accounting, finance, info systems, management, and marketing. The vertical axis is labeled “Monthly Starting Salary” and ranges from 4000 to 8000 with tickmarks in increments of 1000. The data for Accounting are as follows. Bottom whisker end: 4800. Q_1: 5600. Median: 5950. Q_3: 6300. Top whisker end: 7000. Outliers: 7400, 7600. The data for Finance are as follows. Bottom whisker end: 5000. Q_1: 5300. Median: 5800. Q_3: 6000. Top whisker end: 6200. Outliers: 7000. The data for Info Systems are as follows. Bottom whisker end: 4900. Q_1: 5800. Median: 5900. Q_3: 6300. Top whisker end: 7000. The data for Management are as follows. Bottom whisker end: 4200. Q_1: 4900. Median: 5150. Q_3: 5500. Top whisker end: 6250. The data for Marketing are as follows. Bottom whisker end: 4500. Q_1: 5100. Median: 5200. Q_3: 5700. Top whisker end: 6100. Outliers: 6600. All data are approximate. &#10;">
            <a:extLst>
              <a:ext uri="{FF2B5EF4-FFF2-40B4-BE49-F238E27FC236}">
                <a16:creationId xmlns:a16="http://schemas.microsoft.com/office/drawing/2014/main" id="{F71E693E-7142-C2B2-88C4-EBFB89E80D38}"/>
              </a:ext>
            </a:extLst>
          </p:cNvPr>
          <p:cNvPicPr>
            <a:picLocks noGrp="1" noChangeAspect="1"/>
          </p:cNvPicPr>
          <p:nvPr>
            <p:ph type="pic" sz="quarter" idx="16"/>
          </p:nvPr>
        </p:nvPicPr>
        <p:blipFill rotWithShape="1">
          <a:blip r:embed="rId3"/>
          <a:srcRect l="27" r="27"/>
          <a:stretch/>
        </p:blipFill>
        <p:spPr>
          <a:xfrm>
            <a:off x="6076950" y="3092834"/>
            <a:ext cx="5276850" cy="2743200"/>
          </a:xfrm>
        </p:spPr>
      </p:pic>
    </p:spTree>
    <p:extLst>
      <p:ext uri="{BB962C8B-B14F-4D97-AF65-F5344CB8AC3E}">
        <p14:creationId xmlns:p14="http://schemas.microsoft.com/office/powerpoint/2010/main" val="3473406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a:xfrm>
            <a:off x="178593" y="365125"/>
            <a:ext cx="11815763" cy="672105"/>
          </a:xfrm>
        </p:spPr>
        <p:txBody>
          <a:bodyPr/>
          <a:lstStyle/>
          <a:p>
            <a:r>
              <a:rPr lang="en-US" sz="3200" dirty="0">
                <a:solidFill>
                  <a:srgbClr val="25894E"/>
                </a:solidFill>
              </a:rPr>
              <a:t>3.4 Excel: Construct a Comparative Analysis Using Boxplots</a:t>
            </a:r>
            <a:endParaRPr lang="en-US" sz="3200"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089969"/>
            <a:ext cx="10610224" cy="672105"/>
          </a:xfrm>
        </p:spPr>
        <p:txBody>
          <a:bodyPr/>
          <a:lstStyle/>
          <a:p>
            <a:r>
              <a:rPr lang="en-US" sz="2000" dirty="0"/>
              <a:t>Use Steps 1-4, as shown for the “Construct a Boxplot” slide, applied to the </a:t>
            </a:r>
            <a:r>
              <a:rPr lang="en-US" sz="2000" dirty="0" err="1"/>
              <a:t>DATAfile</a:t>
            </a:r>
            <a:r>
              <a:rPr lang="en-US" sz="2000" dirty="0"/>
              <a:t> </a:t>
            </a:r>
            <a:r>
              <a:rPr lang="en-US" sz="2000" i="1" dirty="0" err="1"/>
              <a:t>majorsalaries</a:t>
            </a:r>
            <a:r>
              <a:rPr lang="en-US" sz="2000" dirty="0"/>
              <a:t>. Data and labels are in cells A1:B112. See notes for Editing Options.</a:t>
            </a:r>
          </a:p>
        </p:txBody>
      </p:sp>
      <p:pic>
        <p:nvPicPr>
          <p:cNvPr id="7" name="Picture Placeholder 6" descr="A screenshot shows edited comparative boxplots created in Excel for the Monthly Starting Salary by Major Data. Column A is labeled Major, and column B is labeled Monthly Starting Salary in dollars. The entries in rows 2 through 18 are as follows. Row 2: Major, Accounting; Salary, 6255. Row 3: Major, Accounting; Salary, 5510. Row 4: Major, Accounting; Salary, 6280. Row 5: Major, Accounting; Salary, 6960. Row 6: Major, Accounting; Salary, 5875. Row 7: Major, Accounting; Salary, 6605. Row 8: Major, Accounting; Salary, 6550. Row 9: Major, Accounting; Salary, 5540. Row 10: Major, Accounting; Salary, 6160. Row 11: Major, Accounting; Salary, 6680. Row 12: Major, Accounting; Salary, 5640. Row 13: Major, Accounting; Salary, 6200. Row 14: Major, Accounting; Salary, 7290. Row 15: Major, Accounting; Salary, 6180. Row 16: Major, Accounting; Salary, 5420. Row 17: Major, Accounting; Salary, 7400. Row 18: Major, Accounting; Salary, 6440. A boxplot titled Comparative Analysis of Monthly Starting Salary by Major is on the right. The horizontal axis is labeled Major. The vertical axis labeled Monthly Starting Salary in dollars ranges from 0 to 9000 in increments of 1000. The data from the graph are as follows. Accounting: Lower limit, 5200; Q subscript 1, 6000; Median, 6500; Q subscript 3, 6800; Upper limit, 7500; Outlier, 8000. Finance: Lower limit, 5500; Q subscript 1, 5800; Median, 6200; Q subscript 3, 6500; Upper limit, 6700; Outlier, 7500. Info Systems: Lower limit, 5300; Q subscript 1, 6200; Median, 6300; Q subscript 3, 6800; Upper limit, 7500; Outlier, no data. Management: Lower limit, 4800; Q subscript 1, 5300; Median, 5700; Q subscript 3, 6000; Upper limit, 6800; Outlier, no data. Marketing: Lower limit, 5200; Q subscript 1, 5500; Median, 5600; Q subscript 3, 6000; Upper limit, 6500; Outlier, 7000. All data are approximate.">
            <a:extLst>
              <a:ext uri="{FF2B5EF4-FFF2-40B4-BE49-F238E27FC236}">
                <a16:creationId xmlns:a16="http://schemas.microsoft.com/office/drawing/2014/main" id="{C34A7A21-248B-790C-1AB9-40D9AF94AC94}"/>
              </a:ext>
            </a:extLst>
          </p:cNvPr>
          <p:cNvPicPr>
            <a:picLocks noGrp="1" noChangeAspect="1"/>
          </p:cNvPicPr>
          <p:nvPr>
            <p:ph type="pic" sz="quarter" idx="16"/>
          </p:nvPr>
        </p:nvPicPr>
        <p:blipFill>
          <a:blip r:embed="rId3"/>
          <a:srcRect l="19" r="19"/>
          <a:stretch/>
        </p:blipFill>
        <p:spPr>
          <a:xfrm>
            <a:off x="1519237" y="1800991"/>
            <a:ext cx="9153525" cy="4114800"/>
          </a:xfrm>
          <a:ln>
            <a:solidFill>
              <a:srgbClr val="000000"/>
            </a:solidFill>
          </a:ln>
        </p:spPr>
      </p:pic>
    </p:spTree>
    <p:extLst>
      <p:ext uri="{BB962C8B-B14F-4D97-AF65-F5344CB8AC3E}">
        <p14:creationId xmlns:p14="http://schemas.microsoft.com/office/powerpoint/2010/main" val="1995578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a:xfrm>
            <a:off x="608270" y="365125"/>
            <a:ext cx="10896600" cy="672105"/>
          </a:xfrm>
        </p:spPr>
        <p:txBody>
          <a:bodyPr/>
          <a:lstStyle/>
          <a:p>
            <a:r>
              <a:rPr lang="en-US" dirty="0">
                <a:solidFill>
                  <a:srgbClr val="D14B1E"/>
                </a:solidFill>
              </a:rPr>
              <a:t>3.5 Measures of Association Between Two Variables</a:t>
            </a:r>
          </a:p>
        </p:txBody>
      </p:sp>
      <p:sp>
        <p:nvSpPr>
          <p:cNvPr id="5" name="Text Placeholder 4">
            <a:extLst>
              <a:ext uri="{FF2B5EF4-FFF2-40B4-BE49-F238E27FC236}">
                <a16:creationId xmlns:a16="http://schemas.microsoft.com/office/drawing/2014/main" id="{43E2AAE4-F9A5-F843-491D-446D0FA1AF41}"/>
              </a:ext>
            </a:extLst>
          </p:cNvPr>
          <p:cNvSpPr>
            <a:spLocks noGrp="1"/>
          </p:cNvSpPr>
          <p:nvPr>
            <p:ph type="body" sz="quarter" idx="15"/>
          </p:nvPr>
        </p:nvSpPr>
        <p:spPr>
          <a:xfrm>
            <a:off x="743576" y="1513812"/>
            <a:ext cx="10610223" cy="1290236"/>
          </a:xfrm>
        </p:spPr>
        <p:txBody>
          <a:bodyPr/>
          <a:lstStyle/>
          <a:p>
            <a:r>
              <a:rPr lang="en-US" sz="2000" dirty="0"/>
              <a:t>Often a manager or decision-maker is interested in the relationship between two variables.</a:t>
            </a:r>
          </a:p>
          <a:p>
            <a:r>
              <a:rPr lang="en-US" sz="2000" b="1" dirty="0"/>
              <a:t>Covariance</a:t>
            </a:r>
            <a:r>
              <a:rPr lang="en-US" sz="2000" dirty="0"/>
              <a:t> and </a:t>
            </a:r>
            <a:r>
              <a:rPr lang="en-US" sz="2000" b="1" dirty="0"/>
              <a:t>correlation coefficient </a:t>
            </a:r>
            <a:r>
              <a:rPr lang="en-US" sz="2000" dirty="0"/>
              <a:t>are two descriptive measures of the </a:t>
            </a:r>
            <a:r>
              <a:rPr lang="en-US" sz="2000" i="1" dirty="0"/>
              <a:t>linear association</a:t>
            </a:r>
            <a:r>
              <a:rPr lang="en-US" sz="2000" dirty="0"/>
              <a:t> between two variables.</a:t>
            </a:r>
          </a:p>
          <a:p>
            <a:r>
              <a:rPr lang="en-US" sz="2000" dirty="0" err="1"/>
              <a:t>DATAfile</a:t>
            </a:r>
            <a:r>
              <a:rPr lang="en-US" sz="2000" dirty="0"/>
              <a:t>: </a:t>
            </a:r>
            <a:r>
              <a:rPr lang="en-US" sz="2000" i="1" dirty="0"/>
              <a:t>Electronics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6805A233-FCFE-284E-E2E0-8D2ACD241AC3}"/>
                  </a:ext>
                </a:extLst>
              </p:cNvPr>
              <p:cNvSpPr>
                <a:spLocks noGrp="1"/>
              </p:cNvSpPr>
              <p:nvPr>
                <p:ph type="body" sz="quarter" idx="17"/>
              </p:nvPr>
            </p:nvSpPr>
            <p:spPr>
              <a:xfrm>
                <a:off x="743575" y="2924505"/>
                <a:ext cx="4663997" cy="2640405"/>
              </a:xfrm>
            </p:spPr>
            <p:txBody>
              <a:bodyPr/>
              <a:lstStyle/>
              <a:p>
                <a:r>
                  <a:rPr lang="en-US" sz="2000" dirty="0"/>
                  <a:t>As an application, we consider a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=10</m:t>
                    </m:r>
                  </m:oMath>
                </a14:m>
                <a:r>
                  <a:rPr lang="en-US" sz="2000" dirty="0"/>
                  <a:t> weekly data for an electronics store in San Francisco.</a:t>
                </a:r>
              </a:p>
              <a:p>
                <a:r>
                  <a:rPr lang="en-US" sz="2000" dirty="0"/>
                  <a:t>The scatter diagram to the right suggests a </a:t>
                </a:r>
                <a:r>
                  <a:rPr lang="en-US" sz="2000" i="1" dirty="0"/>
                  <a:t>positive and linear </a:t>
                </a:r>
                <a:r>
                  <a:rPr lang="en-US" sz="2000" dirty="0"/>
                  <a:t>relationship between the number of weekend television commercials and the sales (in $100s) at the store during the following week.</a:t>
                </a:r>
              </a:p>
            </p:txBody>
          </p:sp>
        </mc:Choice>
        <mc:Fallback xmlns="">
          <p:sp>
            <p:nvSpPr>
              <p:cNvPr id="8" name="Text Placeholder 7">
                <a:extLst>
                  <a:ext uri="{FF2B5EF4-FFF2-40B4-BE49-F238E27FC236}">
                    <a16:creationId xmlns:a16="http://schemas.microsoft.com/office/drawing/2014/main" id="{6805A233-FCFE-284E-E2E0-8D2ACD241AC3}"/>
                  </a:ext>
                </a:extLst>
              </p:cNvPr>
              <p:cNvSpPr>
                <a:spLocks noGrp="1" noRot="1" noChangeAspect="1" noMove="1" noResize="1" noEditPoints="1" noAdjustHandles="1" noChangeArrowheads="1" noChangeShapeType="1" noTextEdit="1"/>
              </p:cNvSpPr>
              <p:nvPr>
                <p:ph type="body" sz="quarter" idx="17"/>
              </p:nvPr>
            </p:nvSpPr>
            <p:spPr>
              <a:xfrm>
                <a:off x="743575" y="2924505"/>
                <a:ext cx="4663997" cy="2640405"/>
              </a:xfrm>
              <a:blipFill>
                <a:blip r:embed="rId3"/>
                <a:stretch>
                  <a:fillRect l="-3399" t="-2771" r="-4706" b="-1155"/>
                </a:stretch>
              </a:blipFill>
            </p:spPr>
            <p:txBody>
              <a:bodyPr/>
              <a:lstStyle/>
              <a:p>
                <a:r>
                  <a:rPr lang="en-US">
                    <a:noFill/>
                  </a:rPr>
                  <a:t> </a:t>
                </a:r>
              </a:p>
            </p:txBody>
          </p:sp>
        </mc:Fallback>
      </mc:AlternateContent>
      <p:pic>
        <p:nvPicPr>
          <p:cNvPr id="11" name="Picture Placeholder 10" descr="A scatter diagram plots sales versus number of commercials. The horizontal axis is labeled “Number of Commercials” and ranges from 0 to 5 with tickmarks in increments of 1. The vertical axis is labeled “Sales in $100s” and ranges from 35 to 65 with tickmarks in increments of 5. The coordinates of the plots are (1, 38), (1, 41), (2, 46), (2, 50), (3, 48), (3, 54), (4, 54), (4, 59), (5, 57), and (5, 63).&#10;">
            <a:extLst>
              <a:ext uri="{FF2B5EF4-FFF2-40B4-BE49-F238E27FC236}">
                <a16:creationId xmlns:a16="http://schemas.microsoft.com/office/drawing/2014/main" id="{037F96F5-D0D6-F9D5-2112-295499F25133}"/>
              </a:ext>
            </a:extLst>
          </p:cNvPr>
          <p:cNvPicPr>
            <a:picLocks noGrp="1" noChangeAspect="1"/>
          </p:cNvPicPr>
          <p:nvPr>
            <p:ph type="pic" sz="quarter" idx="16"/>
          </p:nvPr>
        </p:nvPicPr>
        <p:blipFill rotWithShape="1">
          <a:blip r:embed="rId4"/>
          <a:srcRect l="4" r="4"/>
          <a:stretch/>
        </p:blipFill>
        <p:spPr>
          <a:xfrm>
            <a:off x="5593998" y="2530366"/>
            <a:ext cx="5539083" cy="3034544"/>
          </a:xfrm>
        </p:spPr>
      </p:pic>
    </p:spTree>
    <p:extLst>
      <p:ext uri="{BB962C8B-B14F-4D97-AF65-F5344CB8AC3E}">
        <p14:creationId xmlns:p14="http://schemas.microsoft.com/office/powerpoint/2010/main" val="63663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p:txBody>
          <a:bodyPr/>
          <a:lstStyle/>
          <a:p>
            <a:r>
              <a:rPr lang="en-US" dirty="0"/>
              <a:t>3.5 Covariance</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3E2AAE4-F9A5-F843-491D-446D0FA1AF41}"/>
                  </a:ext>
                </a:extLst>
              </p:cNvPr>
              <p:cNvSpPr>
                <a:spLocks noGrp="1"/>
              </p:cNvSpPr>
              <p:nvPr>
                <p:ph type="body" sz="quarter" idx="15"/>
              </p:nvPr>
            </p:nvSpPr>
            <p:spPr>
              <a:xfrm>
                <a:off x="793194" y="1400149"/>
                <a:ext cx="10607040" cy="1344168"/>
              </a:xfrm>
            </p:spPr>
            <p:txBody>
              <a:bodyPr>
                <a:normAutofit/>
              </a:bodyPr>
              <a:lstStyle/>
              <a:p>
                <a:pPr>
                  <a:spcAft>
                    <a:spcPts val="600"/>
                  </a:spcAft>
                </a:pPr>
                <a:r>
                  <a:rPr lang="en-US" sz="2000" dirty="0"/>
                  <a:t>For a sample of size </a:t>
                </a:r>
                <a:r>
                  <a:rPr lang="en-US" sz="2000" i="1" dirty="0"/>
                  <a:t>n</a:t>
                </a:r>
                <a:r>
                  <a:rPr lang="en-US" sz="2000" dirty="0"/>
                  <a:t> with observations </a:t>
                </a:r>
                <a14:m>
                  <m:oMath xmlns:m="http://schemas.openxmlformats.org/officeDocument/2006/math">
                    <m:d>
                      <m:dPr>
                        <m:ctrlPr>
                          <a:rPr lang="en-US" sz="2000" i="1" dirty="0" smtClean="0">
                            <a:latin typeface="Cambria Math" panose="02040503050406030204" pitchFamily="18" charset="0"/>
                          </a:rPr>
                        </m:ctrlPr>
                      </m:dPr>
                      <m:e>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r>
                          <a:rPr lang="en-US" sz="200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𝑦</m:t>
                            </m:r>
                          </m:e>
                          <m:sub>
                            <m:r>
                              <a:rPr lang="en-US" sz="2000" i="1" dirty="0">
                                <a:latin typeface="Cambria Math" panose="02040503050406030204" pitchFamily="18" charset="0"/>
                              </a:rPr>
                              <m:t>𝑖</m:t>
                            </m:r>
                          </m:sub>
                        </m:sSub>
                      </m:e>
                    </m:d>
                    <m:r>
                      <m:rPr>
                        <m:nor/>
                      </m:rPr>
                      <a:rPr lang="en-US" sz="2000" b="0" i="0" dirty="0" smtClean="0">
                        <a:latin typeface="Cambria Math" panose="02040503050406030204" pitchFamily="18" charset="0"/>
                      </a:rPr>
                      <m:t>, </m:t>
                    </m:r>
                    <m:r>
                      <m:rPr>
                        <m:nor/>
                      </m:rPr>
                      <a:rPr lang="en-US" sz="2000" b="0" i="0" dirty="0" smtClean="0">
                        <a:latin typeface="Arial" panose="020B0604020202020204" pitchFamily="34" charset="0"/>
                        <a:cs typeface="Arial" panose="020B0604020202020204" pitchFamily="34" charset="0"/>
                      </a:rPr>
                      <m:t>and</m:t>
                    </m:r>
                    <m:r>
                      <m:rPr>
                        <m:nor/>
                      </m:rPr>
                      <a:rPr lang="en-US" sz="2000" b="0" i="0" dirty="0" smtClean="0">
                        <a:latin typeface="Arial" panose="020B0604020202020204" pitchFamily="34" charset="0"/>
                        <a:cs typeface="Arial" panose="020B0604020202020204" pitchFamily="34" charset="0"/>
                      </a:rPr>
                      <m:t> </m:t>
                    </m:r>
                    <m:r>
                      <a:rPr lang="en-US" sz="2000" i="1" dirty="0" err="1" smtClean="0">
                        <a:latin typeface="Cambria Math" panose="02040503050406030204" pitchFamily="18" charset="0"/>
                      </a:rPr>
                      <m:t>𝑖</m:t>
                    </m:r>
                    <m:r>
                      <a:rPr lang="en-US" sz="2000" i="1" dirty="0" smtClean="0">
                        <a:latin typeface="Cambria Math" panose="02040503050406030204" pitchFamily="18" charset="0"/>
                      </a:rPr>
                      <m:t>=1…</m:t>
                    </m:r>
                    <m:r>
                      <a:rPr lang="en-US" sz="2000" i="1" dirty="0" smtClean="0">
                        <a:latin typeface="Cambria Math" panose="02040503050406030204" pitchFamily="18" charset="0"/>
                      </a:rPr>
                      <m:t>𝑛</m:t>
                    </m:r>
                  </m:oMath>
                </a14:m>
                <a:r>
                  <a:rPr lang="en-US" sz="2000" dirty="0"/>
                  <a:t>, the </a:t>
                </a:r>
                <a:r>
                  <a:rPr lang="en-US" sz="2000" b="1" dirty="0"/>
                  <a:t>sample covariance</a:t>
                </a:r>
                <a:r>
                  <a:rPr lang="en-US" sz="2000" dirty="0"/>
                  <a:t> is defined as</a:t>
                </a:r>
              </a:p>
              <a:p>
                <a:pPr marL="457200" indent="457200">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𝒔</m:t>
                          </m:r>
                        </m:e>
                        <m:sub>
                          <m:r>
                            <a:rPr lang="en-US" sz="2000" b="1" i="1" smtClean="0">
                              <a:latin typeface="Cambria Math" panose="02040503050406030204" pitchFamily="18" charset="0"/>
                            </a:rPr>
                            <m:t>𝒙𝒚</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nary>
                            <m:naryPr>
                              <m:chr m:val="∑"/>
                              <m:subHide m:val="on"/>
                              <m:supHide m:val="on"/>
                              <m:ctrlPr>
                                <a:rPr lang="en-US" sz="2000" b="1" i="1" smtClean="0">
                                  <a:latin typeface="Cambria Math" panose="02040503050406030204" pitchFamily="18" charset="0"/>
                                </a:rPr>
                              </m:ctrlPr>
                            </m:naryPr>
                            <m:sub/>
                            <m:sup/>
                            <m:e>
                              <m:d>
                                <m:dPr>
                                  <m:ctrlPr>
                                    <a:rPr lang="en-US" sz="2000" b="1" i="1" smtClean="0">
                                      <a:latin typeface="Cambria Math" panose="02040503050406030204" pitchFamily="18" charset="0"/>
                                    </a:rPr>
                                  </m:ctrlPr>
                                </m:dPr>
                                <m:e>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𝒙</m:t>
                                      </m:r>
                                    </m:e>
                                    <m:sub>
                                      <m:r>
                                        <a:rPr lang="en-US" sz="2000" b="1" i="1" dirty="0">
                                          <a:latin typeface="Cambria Math" panose="02040503050406030204" pitchFamily="18" charset="0"/>
                                        </a:rPr>
                                        <m:t>𝒊</m:t>
                                      </m:r>
                                    </m:sub>
                                  </m:sSub>
                                  <m:r>
                                    <a:rPr lang="en-US" sz="2000" b="1" i="1" dirty="0" smtClean="0">
                                      <a:latin typeface="Cambria Math" panose="02040503050406030204" pitchFamily="18" charset="0"/>
                                    </a:rPr>
                                    <m:t>−</m:t>
                                  </m:r>
                                  <m:acc>
                                    <m:accPr>
                                      <m:chr m:val="̅"/>
                                      <m:ctrlPr>
                                        <a:rPr lang="en-US" sz="2000" b="1" i="1" dirty="0" smtClean="0">
                                          <a:latin typeface="Cambria Math" panose="02040503050406030204" pitchFamily="18" charset="0"/>
                                        </a:rPr>
                                      </m:ctrlPr>
                                    </m:accPr>
                                    <m:e>
                                      <m:r>
                                        <a:rPr lang="en-US" sz="2000" b="1" i="1" dirty="0" smtClean="0">
                                          <a:latin typeface="Cambria Math" panose="02040503050406030204" pitchFamily="18" charset="0"/>
                                        </a:rPr>
                                        <m:t>𝒙</m:t>
                                      </m:r>
                                    </m:e>
                                  </m:acc>
                                </m:e>
                              </m:d>
                              <m:d>
                                <m:dPr>
                                  <m:ctrlPr>
                                    <a:rPr lang="en-US" sz="2000" b="1" i="1">
                                      <a:latin typeface="Cambria Math" panose="02040503050406030204" pitchFamily="18" charset="0"/>
                                    </a:rPr>
                                  </m:ctrlPr>
                                </m:dPr>
                                <m:e>
                                  <m:sSub>
                                    <m:sSubPr>
                                      <m:ctrlPr>
                                        <a:rPr lang="en-US" sz="2000" b="1" i="1" dirty="0">
                                          <a:latin typeface="Cambria Math" panose="02040503050406030204" pitchFamily="18" charset="0"/>
                                        </a:rPr>
                                      </m:ctrlPr>
                                    </m:sSubPr>
                                    <m:e>
                                      <m:r>
                                        <a:rPr lang="en-US" sz="2000" b="1" i="1" dirty="0" smtClean="0">
                                          <a:latin typeface="Cambria Math" panose="02040503050406030204" pitchFamily="18" charset="0"/>
                                        </a:rPr>
                                        <m:t>𝒚</m:t>
                                      </m:r>
                                    </m:e>
                                    <m:sub>
                                      <m:r>
                                        <a:rPr lang="en-US" sz="2000" b="1" i="1" dirty="0">
                                          <a:latin typeface="Cambria Math" panose="02040503050406030204" pitchFamily="18" charset="0"/>
                                        </a:rPr>
                                        <m:t>𝒊</m:t>
                                      </m:r>
                                    </m:sub>
                                  </m:sSub>
                                  <m:r>
                                    <a:rPr lang="en-US" sz="2000" b="1" i="1" dirty="0">
                                      <a:latin typeface="Cambria Math" panose="02040503050406030204" pitchFamily="18" charset="0"/>
                                    </a:rPr>
                                    <m:t>−</m:t>
                                  </m:r>
                                  <m:acc>
                                    <m:accPr>
                                      <m:chr m:val="̅"/>
                                      <m:ctrlPr>
                                        <a:rPr lang="en-US" sz="2000" b="1" i="1" dirty="0">
                                          <a:latin typeface="Cambria Math" panose="02040503050406030204" pitchFamily="18" charset="0"/>
                                        </a:rPr>
                                      </m:ctrlPr>
                                    </m:accPr>
                                    <m:e>
                                      <m:r>
                                        <a:rPr lang="en-US" sz="2000" b="1" i="1" dirty="0" smtClean="0">
                                          <a:latin typeface="Cambria Math" panose="02040503050406030204" pitchFamily="18" charset="0"/>
                                        </a:rPr>
                                        <m:t>𝒚</m:t>
                                      </m:r>
                                    </m:e>
                                  </m:acc>
                                </m:e>
                              </m:d>
                            </m:e>
                          </m:nary>
                        </m:num>
                        <m:den>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𝟏</m:t>
                          </m:r>
                        </m:den>
                      </m:f>
                    </m:oMath>
                  </m:oMathPara>
                </a14:m>
                <a:endParaRPr lang="en-US" sz="2000" b="1" dirty="0"/>
              </a:p>
            </p:txBody>
          </p:sp>
        </mc:Choice>
        <mc:Fallback xmlns="">
          <p:sp>
            <p:nvSpPr>
              <p:cNvPr id="5" name="Text Placeholder 4">
                <a:extLst>
                  <a:ext uri="{FF2B5EF4-FFF2-40B4-BE49-F238E27FC236}">
                    <a16:creationId xmlns:a16="http://schemas.microsoft.com/office/drawing/2014/main" id="{43E2AAE4-F9A5-F843-491D-446D0FA1AF41}"/>
                  </a:ext>
                </a:extLst>
              </p:cNvPr>
              <p:cNvSpPr>
                <a:spLocks noGrp="1" noRot="1" noChangeAspect="1" noMove="1" noResize="1" noEditPoints="1" noAdjustHandles="1" noChangeArrowheads="1" noChangeShapeType="1" noTextEdit="1"/>
              </p:cNvSpPr>
              <p:nvPr>
                <p:ph type="body" sz="quarter" idx="15"/>
              </p:nvPr>
            </p:nvSpPr>
            <p:spPr>
              <a:xfrm>
                <a:off x="793194" y="1400149"/>
                <a:ext cx="10607040" cy="1344168"/>
              </a:xfrm>
              <a:blipFill>
                <a:blip r:embed="rId3"/>
                <a:stretch>
                  <a:fillRect l="-1437" t="-7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6805A233-FCFE-284E-E2E0-8D2ACD241AC3}"/>
                  </a:ext>
                </a:extLst>
              </p:cNvPr>
              <p:cNvSpPr>
                <a:spLocks noGrp="1"/>
              </p:cNvSpPr>
              <p:nvPr>
                <p:ph type="body" sz="quarter" idx="18"/>
              </p:nvPr>
            </p:nvSpPr>
            <p:spPr>
              <a:xfrm>
                <a:off x="838200" y="2676601"/>
                <a:ext cx="4965192" cy="3136392"/>
              </a:xfrm>
            </p:spPr>
            <p:txBody>
              <a:bodyPr/>
              <a:lstStyle/>
              <a:p>
                <a:pPr>
                  <a:lnSpc>
                    <a:spcPct val="100000"/>
                  </a:lnSpc>
                  <a:spcBef>
                    <a:spcPts val="600"/>
                  </a:spcBef>
                  <a:spcAft>
                    <a:spcPts val="600"/>
                  </a:spcAft>
                </a:pPr>
                <a:r>
                  <a:rPr lang="en-US" sz="2000" dirty="0"/>
                  <a:t>The table to the right shows the detailed calculations for the sample covariance of the electronics store data:</a:t>
                </a:r>
              </a:p>
              <a:p>
                <a:pPr marL="457200" indent="-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d>
                                <m:dPr>
                                  <m:ctrlPr>
                                    <a:rPr lang="en-US" sz="2000" b="0" i="1" smtClean="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𝑥</m:t>
                                      </m:r>
                                    </m:e>
                                    <m:sub>
                                      <m:r>
                                        <a:rPr lang="en-US" sz="2000" i="1" dirty="0">
                                          <a:latin typeface="Cambria Math" panose="02040503050406030204" pitchFamily="18" charset="0"/>
                                        </a:rPr>
                                        <m:t>𝑖</m:t>
                                      </m:r>
                                    </m:sub>
                                  </m:sSub>
                                  <m:r>
                                    <a:rPr lang="en-US" sz="2000" b="0" i="1" dirty="0" smtClean="0">
                                      <a:latin typeface="Cambria Math" panose="02040503050406030204" pitchFamily="18" charset="0"/>
                                    </a:rPr>
                                    <m:t>−</m:t>
                                  </m:r>
                                  <m:acc>
                                    <m:accPr>
                                      <m:chr m:val="̅"/>
                                      <m:ctrlPr>
                                        <a:rPr lang="en-US" sz="2000" b="0" i="1" dirty="0" smtClean="0">
                                          <a:latin typeface="Cambria Math" panose="02040503050406030204" pitchFamily="18" charset="0"/>
                                        </a:rPr>
                                      </m:ctrlPr>
                                    </m:accPr>
                                    <m:e>
                                      <m:r>
                                        <a:rPr lang="en-US" sz="2000" b="0" i="1" dirty="0" smtClean="0">
                                          <a:latin typeface="Cambria Math" panose="02040503050406030204" pitchFamily="18" charset="0"/>
                                        </a:rPr>
                                        <m:t>𝑥</m:t>
                                      </m:r>
                                    </m:e>
                                  </m:acc>
                                </m:e>
                              </m:d>
                              <m:d>
                                <m:dPr>
                                  <m:ctrlPr>
                                    <a:rPr lang="en-US" sz="2000" i="1">
                                      <a:latin typeface="Cambria Math" panose="02040503050406030204" pitchFamily="18" charset="0"/>
                                    </a:rPr>
                                  </m:ctrlPr>
                                </m:dPr>
                                <m:e>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𝑦</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b="0" i="1" dirty="0" smtClean="0">
                                          <a:latin typeface="Cambria Math" panose="02040503050406030204" pitchFamily="18" charset="0"/>
                                        </a:rPr>
                                        <m:t>𝑦</m:t>
                                      </m:r>
                                    </m:e>
                                  </m:acc>
                                </m:e>
                              </m:d>
                            </m:e>
                          </m:nary>
                        </m:num>
                        <m:den>
                          <m:r>
                            <a:rPr lang="en-US" sz="2000" b="0" i="1" smtClean="0">
                              <a:latin typeface="Cambria Math" panose="02040503050406030204" pitchFamily="18" charset="0"/>
                            </a:rPr>
                            <m:t>𝑛</m:t>
                          </m:r>
                          <m:r>
                            <a:rPr lang="en-US" sz="2000" b="0" i="1" smtClean="0">
                              <a:latin typeface="Cambria Math" panose="02040503050406030204" pitchFamily="18" charset="0"/>
                            </a:rPr>
                            <m:t>−1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99</m:t>
                          </m:r>
                        </m:num>
                        <m:den>
                          <m:r>
                            <a:rPr lang="en-US" sz="2000" b="0" i="1" smtClean="0">
                              <a:latin typeface="Cambria Math" panose="02040503050406030204" pitchFamily="18" charset="0"/>
                            </a:rPr>
                            <m:t>9</m:t>
                          </m:r>
                        </m:den>
                      </m:f>
                      <m:r>
                        <a:rPr lang="en-US" sz="2000" b="0" i="1" smtClean="0">
                          <a:latin typeface="Cambria Math" panose="02040503050406030204" pitchFamily="18" charset="0"/>
                        </a:rPr>
                        <m:t>=11</m:t>
                      </m:r>
                    </m:oMath>
                  </m:oMathPara>
                </a14:m>
                <a:endParaRPr lang="en-US" sz="2000" dirty="0"/>
              </a:p>
              <a:p>
                <a:pPr>
                  <a:lnSpc>
                    <a:spcPct val="100000"/>
                  </a:lnSpc>
                  <a:spcBef>
                    <a:spcPts val="600"/>
                  </a:spcBef>
                  <a:spcAft>
                    <a:spcPts val="600"/>
                  </a:spcAft>
                </a:pPr>
                <a:r>
                  <a:rPr lang="en-US" sz="2000" dirty="0"/>
                  <a:t>The </a:t>
                </a:r>
                <a:r>
                  <a:rPr lang="en-US" sz="2000" b="1" dirty="0"/>
                  <a:t>population covariance </a:t>
                </a:r>
                <a:r>
                  <a:rPr lang="en-US" sz="2000" dirty="0"/>
                  <a:t>for a population of size N is</a:t>
                </a:r>
              </a:p>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r>
                            <a:rPr lang="en-US" sz="2000" b="1" i="1" smtClean="0">
                              <a:latin typeface="Cambria Math" panose="02040503050406030204" pitchFamily="18" charset="0"/>
                            </a:rPr>
                            <m:t>𝒙𝒚</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nary>
                            <m:naryPr>
                              <m:chr m:val="∑"/>
                              <m:subHide m:val="on"/>
                              <m:supHide m:val="on"/>
                              <m:ctrlPr>
                                <a:rPr lang="en-US" sz="2000" b="1" i="1" smtClean="0">
                                  <a:latin typeface="Cambria Math" panose="02040503050406030204" pitchFamily="18" charset="0"/>
                                </a:rPr>
                              </m:ctrlPr>
                            </m:naryPr>
                            <m:sub/>
                            <m:sup/>
                            <m:e>
                              <m:d>
                                <m:dPr>
                                  <m:ctrlPr>
                                    <a:rPr lang="en-US" sz="2000" b="1" i="1" smtClean="0">
                                      <a:latin typeface="Cambria Math" panose="02040503050406030204" pitchFamily="18" charset="0"/>
                                    </a:rPr>
                                  </m:ctrlPr>
                                </m:dPr>
                                <m:e>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𝒙</m:t>
                                      </m:r>
                                    </m:e>
                                    <m:sub>
                                      <m:r>
                                        <a:rPr lang="en-US" sz="2000" b="1" i="1" dirty="0">
                                          <a:latin typeface="Cambria Math" panose="02040503050406030204" pitchFamily="18" charset="0"/>
                                        </a:rPr>
                                        <m:t>𝒊</m:t>
                                      </m:r>
                                    </m:sub>
                                  </m:sSub>
                                  <m:r>
                                    <a:rPr lang="en-US" sz="2000" b="1" i="1" dirty="0" smtClean="0">
                                      <a:latin typeface="Cambria Math" panose="02040503050406030204" pitchFamily="18" charset="0"/>
                                    </a:rPr>
                                    <m:t>−</m:t>
                                  </m:r>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ea typeface="Cambria Math" panose="02040503050406030204" pitchFamily="18" charset="0"/>
                                        </a:rPr>
                                        <m:t>𝝁</m:t>
                                      </m:r>
                                    </m:e>
                                    <m:sub>
                                      <m:r>
                                        <a:rPr lang="en-US" sz="2000" b="1" i="1" dirty="0" smtClean="0">
                                          <a:latin typeface="Cambria Math" panose="02040503050406030204" pitchFamily="18" charset="0"/>
                                        </a:rPr>
                                        <m:t>𝒙</m:t>
                                      </m:r>
                                    </m:sub>
                                  </m:sSub>
                                </m:e>
                              </m:d>
                              <m:d>
                                <m:dPr>
                                  <m:ctrlPr>
                                    <a:rPr lang="en-US" sz="2000" b="1" i="1">
                                      <a:latin typeface="Cambria Math" panose="02040503050406030204" pitchFamily="18" charset="0"/>
                                    </a:rPr>
                                  </m:ctrlPr>
                                </m:dPr>
                                <m:e>
                                  <m:sSub>
                                    <m:sSubPr>
                                      <m:ctrlPr>
                                        <a:rPr lang="en-US" sz="2000" b="1" i="1" dirty="0">
                                          <a:latin typeface="Cambria Math" panose="02040503050406030204" pitchFamily="18" charset="0"/>
                                        </a:rPr>
                                      </m:ctrlPr>
                                    </m:sSubPr>
                                    <m:e>
                                      <m:r>
                                        <a:rPr lang="en-US" sz="2000" b="1" i="1" dirty="0" smtClean="0">
                                          <a:latin typeface="Cambria Math" panose="02040503050406030204" pitchFamily="18" charset="0"/>
                                        </a:rPr>
                                        <m:t>𝒚</m:t>
                                      </m:r>
                                    </m:e>
                                    <m:sub>
                                      <m:r>
                                        <a:rPr lang="en-US" sz="2000" b="1" i="1" dirty="0">
                                          <a:latin typeface="Cambria Math" panose="02040503050406030204" pitchFamily="18" charset="0"/>
                                        </a:rPr>
                                        <m:t>𝒊</m:t>
                                      </m:r>
                                    </m:sub>
                                  </m:sSub>
                                  <m:r>
                                    <a:rPr lang="en-US" sz="2000" b="1" i="1" dirty="0">
                                      <a:latin typeface="Cambria Math" panose="02040503050406030204" pitchFamily="18" charset="0"/>
                                    </a:rPr>
                                    <m:t>−</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ea typeface="Cambria Math" panose="02040503050406030204" pitchFamily="18" charset="0"/>
                                        </a:rPr>
                                        <m:t>𝝁</m:t>
                                      </m:r>
                                    </m:e>
                                    <m:sub>
                                      <m:r>
                                        <a:rPr lang="en-US" sz="2000" b="1" i="1" dirty="0" smtClean="0">
                                          <a:latin typeface="Cambria Math" panose="02040503050406030204" pitchFamily="18" charset="0"/>
                                        </a:rPr>
                                        <m:t>𝒚</m:t>
                                      </m:r>
                                    </m:sub>
                                  </m:sSub>
                                </m:e>
                              </m:d>
                            </m:e>
                          </m:nary>
                        </m:num>
                        <m:den>
                          <m:r>
                            <a:rPr lang="en-US" sz="2000" b="1" i="1" smtClean="0">
                              <a:latin typeface="Cambria Math" panose="02040503050406030204" pitchFamily="18" charset="0"/>
                            </a:rPr>
                            <m:t>𝑵</m:t>
                          </m:r>
                        </m:den>
                      </m:f>
                    </m:oMath>
                  </m:oMathPara>
                </a14:m>
                <a:endParaRPr lang="en-US" sz="2000" b="1" dirty="0"/>
              </a:p>
              <a:p>
                <a:endParaRPr lang="en-US" sz="2000" dirty="0"/>
              </a:p>
            </p:txBody>
          </p:sp>
        </mc:Choice>
        <mc:Fallback xmlns="">
          <p:sp>
            <p:nvSpPr>
              <p:cNvPr id="8" name="Text Placeholder 7">
                <a:extLst>
                  <a:ext uri="{FF2B5EF4-FFF2-40B4-BE49-F238E27FC236}">
                    <a16:creationId xmlns:a16="http://schemas.microsoft.com/office/drawing/2014/main" id="{6805A233-FCFE-284E-E2E0-8D2ACD241AC3}"/>
                  </a:ext>
                </a:extLst>
              </p:cNvPr>
              <p:cNvSpPr>
                <a:spLocks noGrp="1" noRot="1" noChangeAspect="1" noMove="1" noResize="1" noEditPoints="1" noAdjustHandles="1" noChangeArrowheads="1" noChangeShapeType="1" noTextEdit="1"/>
              </p:cNvSpPr>
              <p:nvPr>
                <p:ph type="body" sz="quarter" idx="18"/>
              </p:nvPr>
            </p:nvSpPr>
            <p:spPr>
              <a:xfrm>
                <a:off x="838200" y="2676601"/>
                <a:ext cx="4965192" cy="3136392"/>
              </a:xfrm>
              <a:blipFill>
                <a:blip r:embed="rId4"/>
                <a:stretch>
                  <a:fillRect l="-3194" t="-2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5">
                <a:extLst>
                  <a:ext uri="{FF2B5EF4-FFF2-40B4-BE49-F238E27FC236}">
                    <a16:creationId xmlns:a16="http://schemas.microsoft.com/office/drawing/2014/main" id="{DB635285-8E25-B5CF-8F1D-27E7EA23BEA5}"/>
                  </a:ext>
                </a:extLst>
              </p:cNvPr>
              <p:cNvGraphicFramePr>
                <a:graphicFrameLocks noGrp="1"/>
              </p:cNvGraphicFramePr>
              <p:nvPr>
                <p:ph type="tbl" sz="quarter" idx="22"/>
              </p:nvPr>
            </p:nvGraphicFramePr>
            <p:xfrm>
              <a:off x="5854623" y="2072233"/>
              <a:ext cx="4980154" cy="354457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459844549"/>
                        </a:ext>
                      </a:extLst>
                    </a:gridCol>
                    <a:gridCol w="640080">
                      <a:extLst>
                        <a:ext uri="{9D8B030D-6E8A-4147-A177-3AD203B41FA5}">
                          <a16:colId xmlns:a16="http://schemas.microsoft.com/office/drawing/2014/main" val="3804504862"/>
                        </a:ext>
                      </a:extLst>
                    </a:gridCol>
                    <a:gridCol w="914400">
                      <a:extLst>
                        <a:ext uri="{9D8B030D-6E8A-4147-A177-3AD203B41FA5}">
                          <a16:colId xmlns:a16="http://schemas.microsoft.com/office/drawing/2014/main" val="1757210866"/>
                        </a:ext>
                      </a:extLst>
                    </a:gridCol>
                    <a:gridCol w="914400">
                      <a:extLst>
                        <a:ext uri="{9D8B030D-6E8A-4147-A177-3AD203B41FA5}">
                          <a16:colId xmlns:a16="http://schemas.microsoft.com/office/drawing/2014/main" val="2109944660"/>
                        </a:ext>
                      </a:extLst>
                    </a:gridCol>
                    <a:gridCol w="1871194">
                      <a:extLst>
                        <a:ext uri="{9D8B030D-6E8A-4147-A177-3AD203B41FA5}">
                          <a16:colId xmlns:a16="http://schemas.microsoft.com/office/drawing/2014/main" val="1045593858"/>
                        </a:ext>
                      </a:extLst>
                    </a:gridCol>
                  </a:tblGrid>
                  <a:tr h="457200">
                    <a:tc>
                      <a:txBody>
                        <a:bodyPr/>
                        <a:lstStyle/>
                        <a:p>
                          <a:pPr algn="r"/>
                          <a14:m>
                            <m:oMathPara xmlns:m="http://schemas.openxmlformats.org/officeDocument/2006/math">
                              <m:oMathParaPr>
                                <m:jc m:val="right"/>
                              </m:oMathParaPr>
                              <m:oMath xmlns:m="http://schemas.openxmlformats.org/officeDocument/2006/math">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𝒙</m:t>
                                    </m:r>
                                  </m:e>
                                  <m:sub>
                                    <m:r>
                                      <a:rPr lang="en-US" sz="1800" b="1" i="1" smtClean="0">
                                        <a:solidFill>
                                          <a:srgbClr val="000000"/>
                                        </a:solidFill>
                                        <a:latin typeface="Cambria Math" panose="02040503050406030204" pitchFamily="18" charset="0"/>
                                      </a:rPr>
                                      <m:t>𝒊</m:t>
                                    </m:r>
                                  </m:sub>
                                </m:sSub>
                              </m:oMath>
                            </m:oMathPara>
                          </a14:m>
                          <a:endParaRPr lang="en-US"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a14:m>
                            <m:oMathPara xmlns:m="http://schemas.openxmlformats.org/officeDocument/2006/math">
                              <m:oMathParaPr>
                                <m:jc m:val="right"/>
                              </m:oMathParaPr>
                              <m:oMath xmlns:m="http://schemas.openxmlformats.org/officeDocument/2006/math">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𝒚</m:t>
                                    </m:r>
                                  </m:e>
                                  <m:sub>
                                    <m:r>
                                      <a:rPr lang="en-US" sz="1800" b="1" i="1" smtClean="0">
                                        <a:solidFill>
                                          <a:srgbClr val="000000"/>
                                        </a:solidFill>
                                        <a:latin typeface="Cambria Math" panose="02040503050406030204" pitchFamily="18" charset="0"/>
                                      </a:rPr>
                                      <m:t>𝒊</m:t>
                                    </m:r>
                                  </m:sub>
                                </m:sSub>
                              </m:oMath>
                            </m:oMathPara>
                          </a14:m>
                          <a:endParaRPr lang="en-US"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a14:m>
                            <m:oMathPara xmlns:m="http://schemas.openxmlformats.org/officeDocument/2006/math">
                              <m:oMathParaPr>
                                <m:jc m:val="right"/>
                              </m:oMathParaPr>
                              <m:oMath xmlns:m="http://schemas.openxmlformats.org/officeDocument/2006/math">
                                <m:d>
                                  <m:dPr>
                                    <m:ctrlPr>
                                      <a:rPr lang="en-US" sz="1800" b="1" i="1" smtClean="0">
                                        <a:solidFill>
                                          <a:srgbClr val="000000"/>
                                        </a:solidFill>
                                        <a:latin typeface="Cambria Math" panose="02040503050406030204" pitchFamily="18" charset="0"/>
                                      </a:rPr>
                                    </m:ctrlPr>
                                  </m:dPr>
                                  <m:e>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𝒙</m:t>
                                        </m:r>
                                      </m:e>
                                      <m:sub>
                                        <m:r>
                                          <a:rPr lang="en-US" sz="1800" b="1" i="1" smtClean="0">
                                            <a:solidFill>
                                              <a:srgbClr val="000000"/>
                                            </a:solidFill>
                                            <a:latin typeface="Cambria Math" panose="02040503050406030204" pitchFamily="18" charset="0"/>
                                          </a:rPr>
                                          <m:t>𝒊</m:t>
                                        </m:r>
                                      </m:sub>
                                    </m:sSub>
                                    <m:r>
                                      <a:rPr lang="en-US" sz="1800" b="1" i="1" smtClean="0">
                                        <a:solidFill>
                                          <a:srgbClr val="000000"/>
                                        </a:solidFill>
                                        <a:latin typeface="Cambria Math" panose="02040503050406030204" pitchFamily="18" charset="0"/>
                                      </a:rPr>
                                      <m:t>−</m:t>
                                    </m:r>
                                    <m:acc>
                                      <m:accPr>
                                        <m:chr m:val="̅"/>
                                        <m:ctrlPr>
                                          <a:rPr lang="en-US" sz="1800" b="1" i="1" smtClean="0">
                                            <a:solidFill>
                                              <a:srgbClr val="000000"/>
                                            </a:solidFill>
                                            <a:latin typeface="Cambria Math" panose="02040503050406030204" pitchFamily="18" charset="0"/>
                                          </a:rPr>
                                        </m:ctrlPr>
                                      </m:accPr>
                                      <m:e>
                                        <m:r>
                                          <a:rPr lang="en-US" sz="1800" b="1" i="1" smtClean="0">
                                            <a:solidFill>
                                              <a:srgbClr val="000000"/>
                                            </a:solidFill>
                                            <a:latin typeface="Cambria Math" panose="02040503050406030204" pitchFamily="18" charset="0"/>
                                          </a:rPr>
                                          <m:t>𝒙</m:t>
                                        </m:r>
                                      </m:e>
                                    </m:acc>
                                  </m:e>
                                </m:d>
                              </m:oMath>
                            </m:oMathPara>
                          </a14:m>
                          <a:endParaRPr lang="en-US"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d>
                                  <m:dPr>
                                    <m:ctrlPr>
                                      <a:rPr lang="en-US" sz="1800" b="1" i="1" smtClean="0">
                                        <a:solidFill>
                                          <a:srgbClr val="000000"/>
                                        </a:solidFill>
                                        <a:latin typeface="Cambria Math" panose="02040503050406030204" pitchFamily="18" charset="0"/>
                                      </a:rPr>
                                    </m:ctrlPr>
                                  </m:dPr>
                                  <m:e>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𝒚</m:t>
                                        </m:r>
                                      </m:e>
                                      <m:sub>
                                        <m:r>
                                          <a:rPr lang="en-US" sz="1800" b="1" i="1" smtClean="0">
                                            <a:solidFill>
                                              <a:srgbClr val="000000"/>
                                            </a:solidFill>
                                            <a:latin typeface="Cambria Math" panose="02040503050406030204" pitchFamily="18" charset="0"/>
                                          </a:rPr>
                                          <m:t>𝒊</m:t>
                                        </m:r>
                                      </m:sub>
                                    </m:sSub>
                                    <m:r>
                                      <a:rPr lang="en-US" sz="1800" b="1" i="1" smtClean="0">
                                        <a:solidFill>
                                          <a:srgbClr val="000000"/>
                                        </a:solidFill>
                                        <a:latin typeface="Cambria Math" panose="02040503050406030204" pitchFamily="18" charset="0"/>
                                      </a:rPr>
                                      <m:t>−</m:t>
                                    </m:r>
                                    <m:acc>
                                      <m:accPr>
                                        <m:chr m:val="̅"/>
                                        <m:ctrlPr>
                                          <a:rPr lang="en-US" sz="1800" b="1" i="1" smtClean="0">
                                            <a:solidFill>
                                              <a:srgbClr val="000000"/>
                                            </a:solidFill>
                                            <a:latin typeface="Cambria Math" panose="02040503050406030204" pitchFamily="18" charset="0"/>
                                          </a:rPr>
                                        </m:ctrlPr>
                                      </m:accPr>
                                      <m:e>
                                        <m:r>
                                          <a:rPr lang="en-US" sz="1800" b="1" i="1" smtClean="0">
                                            <a:solidFill>
                                              <a:srgbClr val="000000"/>
                                            </a:solidFill>
                                            <a:latin typeface="Cambria Math" panose="02040503050406030204" pitchFamily="18" charset="0"/>
                                          </a:rPr>
                                          <m:t>𝒚</m:t>
                                        </m:r>
                                      </m:e>
                                    </m:acc>
                                  </m:e>
                                </m:d>
                              </m:oMath>
                            </m:oMathPara>
                          </a14:m>
                          <a:endParaRPr lang="en-US"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a14:m>
                            <m:oMathPara xmlns:m="http://schemas.openxmlformats.org/officeDocument/2006/math">
                              <m:oMathParaPr>
                                <m:jc m:val="right"/>
                              </m:oMathParaPr>
                              <m:oMath xmlns:m="http://schemas.openxmlformats.org/officeDocument/2006/math">
                                <m:d>
                                  <m:dPr>
                                    <m:ctrlPr>
                                      <a:rPr lang="en-US" sz="1800" b="1" i="1" smtClean="0">
                                        <a:solidFill>
                                          <a:srgbClr val="000000"/>
                                        </a:solidFill>
                                        <a:latin typeface="Cambria Math" panose="02040503050406030204" pitchFamily="18" charset="0"/>
                                      </a:rPr>
                                    </m:ctrlPr>
                                  </m:dPr>
                                  <m:e>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𝒙</m:t>
                                        </m:r>
                                      </m:e>
                                      <m:sub>
                                        <m:r>
                                          <a:rPr lang="en-US" sz="1800" b="1" i="1" smtClean="0">
                                            <a:solidFill>
                                              <a:srgbClr val="000000"/>
                                            </a:solidFill>
                                            <a:latin typeface="Cambria Math" panose="02040503050406030204" pitchFamily="18" charset="0"/>
                                          </a:rPr>
                                          <m:t>𝒊</m:t>
                                        </m:r>
                                      </m:sub>
                                    </m:sSub>
                                    <m:r>
                                      <a:rPr lang="en-US" sz="1800" b="1" i="1" smtClean="0">
                                        <a:solidFill>
                                          <a:srgbClr val="000000"/>
                                        </a:solidFill>
                                        <a:latin typeface="Cambria Math" panose="02040503050406030204" pitchFamily="18" charset="0"/>
                                      </a:rPr>
                                      <m:t>−</m:t>
                                    </m:r>
                                    <m:acc>
                                      <m:accPr>
                                        <m:chr m:val="̅"/>
                                        <m:ctrlPr>
                                          <a:rPr lang="en-US" sz="1800" b="1" i="1" smtClean="0">
                                            <a:solidFill>
                                              <a:srgbClr val="000000"/>
                                            </a:solidFill>
                                            <a:latin typeface="Cambria Math" panose="02040503050406030204" pitchFamily="18" charset="0"/>
                                          </a:rPr>
                                        </m:ctrlPr>
                                      </m:accPr>
                                      <m:e>
                                        <m:r>
                                          <a:rPr lang="en-US" sz="1800" b="1" i="1" smtClean="0">
                                            <a:solidFill>
                                              <a:srgbClr val="000000"/>
                                            </a:solidFill>
                                            <a:latin typeface="Cambria Math" panose="02040503050406030204" pitchFamily="18" charset="0"/>
                                          </a:rPr>
                                          <m:t>𝒙</m:t>
                                        </m:r>
                                      </m:e>
                                    </m:acc>
                                  </m:e>
                                </m:d>
                                <m:d>
                                  <m:dPr>
                                    <m:ctrlPr>
                                      <a:rPr lang="en-US" sz="1800" b="1" i="1" smtClean="0">
                                        <a:solidFill>
                                          <a:srgbClr val="000000"/>
                                        </a:solidFill>
                                        <a:latin typeface="Cambria Math" panose="02040503050406030204" pitchFamily="18" charset="0"/>
                                      </a:rPr>
                                    </m:ctrlPr>
                                  </m:dPr>
                                  <m:e>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𝒚</m:t>
                                        </m:r>
                                      </m:e>
                                      <m:sub>
                                        <m:r>
                                          <a:rPr lang="en-US" sz="1800" b="1" i="1" smtClean="0">
                                            <a:solidFill>
                                              <a:srgbClr val="000000"/>
                                            </a:solidFill>
                                            <a:latin typeface="Cambria Math" panose="02040503050406030204" pitchFamily="18" charset="0"/>
                                          </a:rPr>
                                          <m:t>𝒊</m:t>
                                        </m:r>
                                      </m:sub>
                                    </m:sSub>
                                    <m:r>
                                      <a:rPr lang="en-US" sz="1800" b="1" i="1" smtClean="0">
                                        <a:solidFill>
                                          <a:srgbClr val="000000"/>
                                        </a:solidFill>
                                        <a:latin typeface="Cambria Math" panose="02040503050406030204" pitchFamily="18" charset="0"/>
                                      </a:rPr>
                                      <m:t>−</m:t>
                                    </m:r>
                                    <m:acc>
                                      <m:accPr>
                                        <m:chr m:val="̅"/>
                                        <m:ctrlPr>
                                          <a:rPr lang="en-US" sz="1800" b="1" i="1" smtClean="0">
                                            <a:solidFill>
                                              <a:srgbClr val="000000"/>
                                            </a:solidFill>
                                            <a:latin typeface="Cambria Math" panose="02040503050406030204" pitchFamily="18" charset="0"/>
                                          </a:rPr>
                                        </m:ctrlPr>
                                      </m:accPr>
                                      <m:e>
                                        <m:r>
                                          <a:rPr lang="en-US" sz="1800" b="1" i="1" smtClean="0">
                                            <a:solidFill>
                                              <a:srgbClr val="000000"/>
                                            </a:solidFill>
                                            <a:latin typeface="Cambria Math" panose="02040503050406030204" pitchFamily="18" charset="0"/>
                                          </a:rPr>
                                          <m:t>𝒚</m:t>
                                        </m:r>
                                      </m:e>
                                    </m:acc>
                                  </m:e>
                                </m:d>
                              </m:oMath>
                            </m:oMathPara>
                          </a14:m>
                          <a:endParaRPr lang="en-US" dirty="0"/>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81125110"/>
                      </a:ext>
                    </a:extLst>
                  </a:tr>
                  <a:tr h="267464">
                    <a:tc>
                      <a:txBody>
                        <a:bodyPr/>
                        <a:lstStyle/>
                        <a:p>
                          <a:pPr algn="r" fontAlgn="ctr"/>
                          <a:r>
                            <a:rPr lang="en-US" sz="1800" b="0" i="0" u="none" strike="noStrike" dirty="0">
                              <a:solidFill>
                                <a:srgbClr val="000000"/>
                              </a:solidFill>
                              <a:effectLst/>
                              <a:latin typeface="+mn-lt"/>
                            </a:rPr>
                            <a:t>2</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66138720"/>
                      </a:ext>
                    </a:extLst>
                  </a:tr>
                  <a:tr h="267464">
                    <a:tc>
                      <a:txBody>
                        <a:bodyPr/>
                        <a:lstStyle/>
                        <a:p>
                          <a:pPr algn="r" fontAlgn="ctr"/>
                          <a:r>
                            <a:rPr lang="en-US" sz="1800" b="0" i="0" u="none" strike="noStrike" dirty="0">
                              <a:solidFill>
                                <a:srgbClr val="000000"/>
                              </a:solidFill>
                              <a:effectLst/>
                              <a:latin typeface="+mn-lt"/>
                            </a:rPr>
                            <a:t>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990557556"/>
                      </a:ext>
                    </a:extLst>
                  </a:tr>
                  <a:tr h="267464">
                    <a:tc>
                      <a:txBody>
                        <a:bodyPr/>
                        <a:lstStyle/>
                        <a:p>
                          <a:pPr algn="r" fontAlgn="ctr"/>
                          <a:r>
                            <a:rPr lang="en-US" sz="1800" b="0" i="0" u="none" strike="noStrike">
                              <a:solidFill>
                                <a:srgbClr val="000000"/>
                              </a:solidFill>
                              <a:effectLst/>
                              <a:latin typeface="+mn-lt"/>
                            </a:rPr>
                            <a:t>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a:solidFill>
                                <a:srgbClr val="000000"/>
                              </a:solidFill>
                              <a:effectLst/>
                              <a:latin typeface="+mn-lt"/>
                            </a:rPr>
                            <a:t>41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08132774"/>
                      </a:ext>
                    </a:extLst>
                  </a:tr>
                  <a:tr h="267464">
                    <a:tc>
                      <a:txBody>
                        <a:bodyPr/>
                        <a:lstStyle/>
                        <a:p>
                          <a:pPr algn="r" fontAlgn="ctr"/>
                          <a:r>
                            <a:rPr lang="en-US" sz="1800" b="0" i="0" u="none" strike="noStrike">
                              <a:solidFill>
                                <a:srgbClr val="000000"/>
                              </a:solidFill>
                              <a:effectLst/>
                              <a:latin typeface="+mn-lt"/>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32203212"/>
                      </a:ext>
                    </a:extLst>
                  </a:tr>
                  <a:tr h="267464">
                    <a:tc>
                      <a:txBody>
                        <a:bodyPr/>
                        <a:lstStyle/>
                        <a:p>
                          <a:pPr algn="r" fontAlgn="b"/>
                          <a:r>
                            <a:rPr lang="en-US" sz="1800" b="0" i="0" u="none" strike="noStrike">
                              <a:solidFill>
                                <a:srgbClr val="000000"/>
                              </a:solidFill>
                              <a:effectLst/>
                              <a:latin typeface="+mn-lt"/>
                            </a:rPr>
                            <a:t>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a:solidFill>
                                <a:srgbClr val="000000"/>
                              </a:solidFill>
                              <a:effectLst/>
                              <a:latin typeface="+mn-lt"/>
                            </a:rPr>
                            <a:t>54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88144792"/>
                      </a:ext>
                    </a:extLst>
                  </a:tr>
                  <a:tr h="267464">
                    <a:tc>
                      <a:txBody>
                        <a:bodyPr/>
                        <a:lstStyle/>
                        <a:p>
                          <a:pPr algn="r" fontAlgn="b"/>
                          <a:r>
                            <a:rPr lang="en-US" sz="1800" b="0" i="0" u="none" strike="noStrike">
                              <a:solidFill>
                                <a:srgbClr val="000000"/>
                              </a:solidFill>
                              <a:effectLst/>
                              <a:latin typeface="+mn-lt"/>
                            </a:rPr>
                            <a:t>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5700333"/>
                      </a:ext>
                    </a:extLst>
                  </a:tr>
                  <a:tr h="267464">
                    <a:tc>
                      <a:txBody>
                        <a:bodyPr/>
                        <a:lstStyle/>
                        <a:p>
                          <a:pPr algn="r" fontAlgn="b"/>
                          <a:r>
                            <a:rPr lang="en-US" sz="1800" b="0" i="0" u="none" strike="noStrike">
                              <a:solidFill>
                                <a:srgbClr val="000000"/>
                              </a:solidFill>
                              <a:effectLst/>
                              <a:latin typeface="+mn-lt"/>
                            </a:rPr>
                            <a:t>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63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531280371"/>
                      </a:ext>
                    </a:extLst>
                  </a:tr>
                  <a:tr h="267464">
                    <a:tc>
                      <a:txBody>
                        <a:bodyPr/>
                        <a:lstStyle/>
                        <a:p>
                          <a:pPr algn="r" fontAlgn="b"/>
                          <a:r>
                            <a:rPr lang="en-US" sz="1800" b="0" i="0" u="none" strike="noStrike">
                              <a:solidFill>
                                <a:srgbClr val="000000"/>
                              </a:solidFill>
                              <a:effectLst/>
                              <a:latin typeface="+mn-lt"/>
                            </a:rPr>
                            <a:t>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48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96151201"/>
                      </a:ext>
                    </a:extLst>
                  </a:tr>
                  <a:tr h="267464">
                    <a:tc>
                      <a:txBody>
                        <a:bodyPr/>
                        <a:lstStyle/>
                        <a:p>
                          <a:pPr algn="r" fontAlgn="b"/>
                          <a:r>
                            <a:rPr lang="en-US" sz="1800" b="0" i="0" u="none" strike="noStrike">
                              <a:solidFill>
                                <a:srgbClr val="000000"/>
                              </a:solidFill>
                              <a:effectLst/>
                              <a:latin typeface="+mn-lt"/>
                            </a:rPr>
                            <a:t>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42056765"/>
                      </a:ext>
                    </a:extLst>
                  </a:tr>
                  <a:tr h="267464">
                    <a:tc>
                      <a:txBody>
                        <a:bodyPr/>
                        <a:lstStyle/>
                        <a:p>
                          <a:pPr algn="r" fontAlgn="b"/>
                          <a:r>
                            <a:rPr lang="en-US" sz="1800" b="0" i="0" u="none" strike="noStrike" dirty="0">
                              <a:solidFill>
                                <a:srgbClr val="000000"/>
                              </a:solidFill>
                              <a:effectLst/>
                              <a:latin typeface="+mn-lt"/>
                            </a:rPr>
                            <a:t>2</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46</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60262533"/>
                      </a:ext>
                    </a:extLst>
                  </a:tr>
                  <a:tr h="267464">
                    <a:tc>
                      <a:txBody>
                        <a:bodyPr/>
                        <a:lstStyle/>
                        <a:p>
                          <a:pPr algn="r" fontAlgn="b"/>
                          <a:r>
                            <a:rPr lang="en-US" sz="1800" b="0" i="0" u="none" strike="noStrike" dirty="0">
                              <a:solidFill>
                                <a:srgbClr val="000000"/>
                              </a:solidFill>
                              <a:effectLst/>
                              <a:latin typeface="+mn-lt"/>
                            </a:rPr>
                            <a:t>30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510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mn-lt"/>
                            </a:rPr>
                            <a:t>	99</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370218890"/>
                      </a:ext>
                    </a:extLst>
                  </a:tr>
                </a:tbl>
              </a:graphicData>
            </a:graphic>
          </p:graphicFrame>
        </mc:Choice>
        <mc:Fallback xmlns="">
          <p:graphicFrame>
            <p:nvGraphicFramePr>
              <p:cNvPr id="4" name="Table 5">
                <a:extLst>
                  <a:ext uri="{FF2B5EF4-FFF2-40B4-BE49-F238E27FC236}">
                    <a16:creationId xmlns:a16="http://schemas.microsoft.com/office/drawing/2014/main" id="{DB635285-8E25-B5CF-8F1D-27E7EA23BEA5}"/>
                  </a:ext>
                </a:extLst>
              </p:cNvPr>
              <p:cNvGraphicFramePr>
                <a:graphicFrameLocks noGrp="1"/>
              </p:cNvGraphicFramePr>
              <p:nvPr>
                <p:ph type="tbl" sz="quarter" idx="22"/>
                <p:extLst>
                  <p:ext uri="{D42A27DB-BD31-4B8C-83A1-F6EECF244321}">
                    <p14:modId xmlns:p14="http://schemas.microsoft.com/office/powerpoint/2010/main" val="1695082278"/>
                  </p:ext>
                </p:extLst>
              </p:nvPr>
            </p:nvGraphicFramePr>
            <p:xfrm>
              <a:off x="5854623" y="2072233"/>
              <a:ext cx="4980154" cy="354457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459844549"/>
                        </a:ext>
                      </a:extLst>
                    </a:gridCol>
                    <a:gridCol w="640080">
                      <a:extLst>
                        <a:ext uri="{9D8B030D-6E8A-4147-A177-3AD203B41FA5}">
                          <a16:colId xmlns:a16="http://schemas.microsoft.com/office/drawing/2014/main" val="3804504862"/>
                        </a:ext>
                      </a:extLst>
                    </a:gridCol>
                    <a:gridCol w="914400">
                      <a:extLst>
                        <a:ext uri="{9D8B030D-6E8A-4147-A177-3AD203B41FA5}">
                          <a16:colId xmlns:a16="http://schemas.microsoft.com/office/drawing/2014/main" val="1757210866"/>
                        </a:ext>
                      </a:extLst>
                    </a:gridCol>
                    <a:gridCol w="914400">
                      <a:extLst>
                        <a:ext uri="{9D8B030D-6E8A-4147-A177-3AD203B41FA5}">
                          <a16:colId xmlns:a16="http://schemas.microsoft.com/office/drawing/2014/main" val="2109944660"/>
                        </a:ext>
                      </a:extLst>
                    </a:gridCol>
                    <a:gridCol w="1871194">
                      <a:extLst>
                        <a:ext uri="{9D8B030D-6E8A-4147-A177-3AD203B41FA5}">
                          <a16:colId xmlns:a16="http://schemas.microsoft.com/office/drawing/2014/main" val="1045593858"/>
                        </a:ext>
                      </a:extLst>
                    </a:gridCol>
                  </a:tblGrid>
                  <a:tr h="457200">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r="-680000" b="-709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l="-100000" r="-580000" b="-709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l="-140000" r="-306000" b="-709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l="-238411" r="-203974" b="-709333"/>
                          </a:stretch>
                        </a:blipFill>
                      </a:tcPr>
                    </a:tc>
                    <a:tc>
                      <a:txBody>
                        <a:bodyPr/>
                        <a:lstStyle/>
                        <a:p>
                          <a:endParaRPr lang="en-US"/>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5"/>
                          <a:stretch>
                            <a:fillRect l="-166450" r="-326" b="-709333"/>
                          </a:stretch>
                        </a:blipFill>
                      </a:tcPr>
                    </a:tc>
                    <a:extLst>
                      <a:ext uri="{0D108BD9-81ED-4DB2-BD59-A6C34878D82A}">
                        <a16:rowId xmlns:a16="http://schemas.microsoft.com/office/drawing/2014/main" val="1081125110"/>
                      </a:ext>
                    </a:extLst>
                  </a:tr>
                  <a:tr h="280670">
                    <a:tc>
                      <a:txBody>
                        <a:bodyPr/>
                        <a:lstStyle/>
                        <a:p>
                          <a:pPr algn="r" fontAlgn="ctr"/>
                          <a:r>
                            <a:rPr lang="en-US" sz="1800" b="0" i="0" u="none" strike="noStrike" dirty="0">
                              <a:solidFill>
                                <a:srgbClr val="000000"/>
                              </a:solidFill>
                              <a:effectLst/>
                              <a:latin typeface="+mn-lt"/>
                            </a:rPr>
                            <a:t>2</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66138720"/>
                      </a:ext>
                    </a:extLst>
                  </a:tr>
                  <a:tr h="280670">
                    <a:tc>
                      <a:txBody>
                        <a:bodyPr/>
                        <a:lstStyle/>
                        <a:p>
                          <a:pPr algn="r" fontAlgn="ctr"/>
                          <a:r>
                            <a:rPr lang="en-US" sz="1800" b="0" i="0" u="none" strike="noStrike" dirty="0">
                              <a:solidFill>
                                <a:srgbClr val="000000"/>
                              </a:solidFill>
                              <a:effectLst/>
                              <a:latin typeface="+mn-lt"/>
                            </a:rPr>
                            <a:t>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990557556"/>
                      </a:ext>
                    </a:extLst>
                  </a:tr>
                  <a:tr h="280670">
                    <a:tc>
                      <a:txBody>
                        <a:bodyPr/>
                        <a:lstStyle/>
                        <a:p>
                          <a:pPr algn="r" fontAlgn="ctr"/>
                          <a:r>
                            <a:rPr lang="en-US" sz="1800" b="0" i="0" u="none" strike="noStrike">
                              <a:solidFill>
                                <a:srgbClr val="000000"/>
                              </a:solidFill>
                              <a:effectLst/>
                              <a:latin typeface="+mn-lt"/>
                            </a:rPr>
                            <a:t>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a:solidFill>
                                <a:srgbClr val="000000"/>
                              </a:solidFill>
                              <a:effectLst/>
                              <a:latin typeface="+mn-lt"/>
                            </a:rPr>
                            <a:t>41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08132774"/>
                      </a:ext>
                    </a:extLst>
                  </a:tr>
                  <a:tr h="280670">
                    <a:tc>
                      <a:txBody>
                        <a:bodyPr/>
                        <a:lstStyle/>
                        <a:p>
                          <a:pPr algn="r" fontAlgn="ctr"/>
                          <a:r>
                            <a:rPr lang="en-US" sz="1800" b="0" i="0" u="none" strike="noStrike">
                              <a:solidFill>
                                <a:srgbClr val="000000"/>
                              </a:solidFill>
                              <a:effectLst/>
                              <a:latin typeface="+mn-lt"/>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32203212"/>
                      </a:ext>
                    </a:extLst>
                  </a:tr>
                  <a:tr h="280670">
                    <a:tc>
                      <a:txBody>
                        <a:bodyPr/>
                        <a:lstStyle/>
                        <a:p>
                          <a:pPr algn="r" fontAlgn="b"/>
                          <a:r>
                            <a:rPr lang="en-US" sz="1800" b="0" i="0" u="none" strike="noStrike">
                              <a:solidFill>
                                <a:srgbClr val="000000"/>
                              </a:solidFill>
                              <a:effectLst/>
                              <a:latin typeface="+mn-lt"/>
                            </a:rPr>
                            <a:t>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a:solidFill>
                                <a:srgbClr val="000000"/>
                              </a:solidFill>
                              <a:effectLst/>
                              <a:latin typeface="+mn-lt"/>
                            </a:rPr>
                            <a:t>54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88144792"/>
                      </a:ext>
                    </a:extLst>
                  </a:tr>
                  <a:tr h="280670">
                    <a:tc>
                      <a:txBody>
                        <a:bodyPr/>
                        <a:lstStyle/>
                        <a:p>
                          <a:pPr algn="r" fontAlgn="b"/>
                          <a:r>
                            <a:rPr lang="en-US" sz="1800" b="0" i="0" u="none" strike="noStrike">
                              <a:solidFill>
                                <a:srgbClr val="000000"/>
                              </a:solidFill>
                              <a:effectLst/>
                              <a:latin typeface="+mn-lt"/>
                            </a:rPr>
                            <a:t>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5700333"/>
                      </a:ext>
                    </a:extLst>
                  </a:tr>
                  <a:tr h="280670">
                    <a:tc>
                      <a:txBody>
                        <a:bodyPr/>
                        <a:lstStyle/>
                        <a:p>
                          <a:pPr algn="r" fontAlgn="b"/>
                          <a:r>
                            <a:rPr lang="en-US" sz="1800" b="0" i="0" u="none" strike="noStrike">
                              <a:solidFill>
                                <a:srgbClr val="000000"/>
                              </a:solidFill>
                              <a:effectLst/>
                              <a:latin typeface="+mn-lt"/>
                            </a:rPr>
                            <a:t>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63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531280371"/>
                      </a:ext>
                    </a:extLst>
                  </a:tr>
                  <a:tr h="280670">
                    <a:tc>
                      <a:txBody>
                        <a:bodyPr/>
                        <a:lstStyle/>
                        <a:p>
                          <a:pPr algn="r" fontAlgn="b"/>
                          <a:r>
                            <a:rPr lang="en-US" sz="1800" b="0" i="0" u="none" strike="noStrike">
                              <a:solidFill>
                                <a:srgbClr val="000000"/>
                              </a:solidFill>
                              <a:effectLst/>
                              <a:latin typeface="+mn-lt"/>
                            </a:rPr>
                            <a:t>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48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96151201"/>
                      </a:ext>
                    </a:extLst>
                  </a:tr>
                  <a:tr h="280670">
                    <a:tc>
                      <a:txBody>
                        <a:bodyPr/>
                        <a:lstStyle/>
                        <a:p>
                          <a:pPr algn="r" fontAlgn="b"/>
                          <a:r>
                            <a:rPr lang="en-US" sz="1800" b="0" i="0" u="none" strike="noStrike">
                              <a:solidFill>
                                <a:srgbClr val="000000"/>
                              </a:solidFill>
                              <a:effectLst/>
                              <a:latin typeface="+mn-lt"/>
                            </a:rPr>
                            <a:t>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42056765"/>
                      </a:ext>
                    </a:extLst>
                  </a:tr>
                  <a:tr h="280670">
                    <a:tc>
                      <a:txBody>
                        <a:bodyPr/>
                        <a:lstStyle/>
                        <a:p>
                          <a:pPr algn="r" fontAlgn="b"/>
                          <a:r>
                            <a:rPr lang="en-US" sz="1800" b="0" i="0" u="none" strike="noStrike" dirty="0">
                              <a:solidFill>
                                <a:srgbClr val="000000"/>
                              </a:solidFill>
                              <a:effectLst/>
                              <a:latin typeface="+mn-lt"/>
                            </a:rPr>
                            <a:t>2</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46</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fontAlgn="b">
                            <a:tabLst>
                              <a:tab pos="1147763" algn="r"/>
                            </a:tabLst>
                          </a:pPr>
                          <a:r>
                            <a:rPr lang="en-US" sz="1800" b="0" i="0" u="none" strike="noStrike" dirty="0">
                              <a:solidFill>
                                <a:srgbClr val="000000"/>
                              </a:solidFill>
                              <a:effectLst/>
                              <a:latin typeface="+mn-lt"/>
                            </a:rPr>
                            <a:t>	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60262533"/>
                      </a:ext>
                    </a:extLst>
                  </a:tr>
                  <a:tr h="280670">
                    <a:tc>
                      <a:txBody>
                        <a:bodyPr/>
                        <a:lstStyle/>
                        <a:p>
                          <a:pPr algn="r" fontAlgn="b"/>
                          <a:r>
                            <a:rPr lang="en-US" sz="1800" b="0" i="0" u="none" strike="noStrike" dirty="0">
                              <a:solidFill>
                                <a:srgbClr val="000000"/>
                              </a:solidFill>
                              <a:effectLst/>
                              <a:latin typeface="+mn-lt"/>
                            </a:rPr>
                            <a:t>30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510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630238" algn="r"/>
                            </a:tabLst>
                          </a:pPr>
                          <a:r>
                            <a:rPr lang="en-US" sz="1800" b="0" i="0" u="none" strike="noStrike" dirty="0">
                              <a:solidFill>
                                <a:srgbClr val="000000"/>
                              </a:solidFill>
                              <a:effectLst/>
                              <a:latin typeface="+mn-lt"/>
                            </a:rPr>
                            <a:t>	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30238" algn="r"/>
                            </a:tabLst>
                          </a:pPr>
                          <a:r>
                            <a:rPr lang="en-US" sz="1800" b="0" i="0" u="none" strike="noStrike" dirty="0">
                              <a:solidFill>
                                <a:srgbClr val="000000"/>
                              </a:solidFill>
                              <a:effectLst/>
                              <a:latin typeface="+mn-lt"/>
                            </a:rPr>
                            <a:t>	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mn-lt"/>
                            </a:rPr>
                            <a:t>	99</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370218890"/>
                      </a:ext>
                    </a:extLst>
                  </a:tr>
                </a:tbl>
              </a:graphicData>
            </a:graphic>
          </p:graphicFrame>
        </mc:Fallback>
      </mc:AlternateContent>
    </p:spTree>
    <p:extLst>
      <p:ext uri="{BB962C8B-B14F-4D97-AF65-F5344CB8AC3E}">
        <p14:creationId xmlns:p14="http://schemas.microsoft.com/office/powerpoint/2010/main" val="238448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a:xfrm>
            <a:off x="608270" y="365125"/>
            <a:ext cx="10896600" cy="672105"/>
          </a:xfrm>
        </p:spPr>
        <p:txBody>
          <a:bodyPr/>
          <a:lstStyle/>
          <a:p>
            <a:r>
              <a:rPr lang="en-US" dirty="0"/>
              <a:t>3.5 Interpretation of Sample Covariance</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3E2AAE4-F9A5-F843-491D-446D0FA1AF41}"/>
                  </a:ext>
                </a:extLst>
              </p:cNvPr>
              <p:cNvSpPr>
                <a:spLocks noGrp="1"/>
              </p:cNvSpPr>
              <p:nvPr>
                <p:ph type="body" sz="quarter" idx="15"/>
              </p:nvPr>
            </p:nvSpPr>
            <p:spPr>
              <a:xfrm>
                <a:off x="743576" y="1411334"/>
                <a:ext cx="10610223" cy="1347629"/>
              </a:xfrm>
            </p:spPr>
            <p:txBody>
              <a:bodyPr/>
              <a:lstStyle/>
              <a:p>
                <a:r>
                  <a:rPr lang="en-US" sz="2000" dirty="0"/>
                  <a:t>The figure shown to the right is the scatter diagram for the electronics store data, in which two dashed lines, a vertical line at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𝑥</m:t>
                        </m:r>
                      </m:e>
                    </m:acc>
                    <m:r>
                      <a:rPr lang="en-US" sz="2000" i="1" dirty="0" smtClean="0">
                        <a:latin typeface="Cambria Math" panose="02040503050406030204" pitchFamily="18" charset="0"/>
                      </a:rPr>
                      <m:t>=3</m:t>
                    </m:r>
                  </m:oMath>
                </a14:m>
                <a:r>
                  <a:rPr lang="en-US" sz="2000" dirty="0"/>
                  <a:t>, and a horizontal line at </a:t>
                </a:r>
                <a14:m>
                  <m:oMath xmlns:m="http://schemas.openxmlformats.org/officeDocument/2006/math">
                    <m:acc>
                      <m:accPr>
                        <m:chr m:val="̅"/>
                        <m:ctrlPr>
                          <a:rPr lang="en-US" sz="2000" i="1" dirty="0">
                            <a:latin typeface="Cambria Math" panose="02040503050406030204" pitchFamily="18" charset="0"/>
                          </a:rPr>
                        </m:ctrlPr>
                      </m:accPr>
                      <m:e>
                        <m:r>
                          <a:rPr lang="en-US" sz="2000" b="0" i="1" dirty="0" smtClean="0">
                            <a:latin typeface="Cambria Math" panose="02040503050406030204" pitchFamily="18" charset="0"/>
                          </a:rPr>
                          <m:t>𝑦</m:t>
                        </m:r>
                      </m:e>
                    </m:acc>
                    <m:r>
                      <a:rPr lang="en-US" sz="2000" i="1" dirty="0">
                        <a:latin typeface="Cambria Math" panose="02040503050406030204" pitchFamily="18" charset="0"/>
                      </a:rPr>
                      <m:t>=</m:t>
                    </m:r>
                    <m:r>
                      <a:rPr lang="en-US" sz="2000" b="0" i="1" dirty="0" smtClean="0">
                        <a:latin typeface="Cambria Math" panose="02040503050406030204" pitchFamily="18" charset="0"/>
                      </a:rPr>
                      <m:t>51</m:t>
                    </m:r>
                  </m:oMath>
                </a14:m>
                <a:r>
                  <a:rPr lang="en-US" sz="2000" dirty="0"/>
                  <a:t>, dissect the diagram into four quadrants, labeled from I to IV.</a:t>
                </a:r>
              </a:p>
              <a:p>
                <a:r>
                  <a:rPr lang="en-US" sz="2000" dirty="0"/>
                  <a:t>Because the covariance is related to the </a:t>
                </a:r>
                <a14:m>
                  <m:oMath xmlns:m="http://schemas.openxmlformats.org/officeDocument/2006/math">
                    <m:d>
                      <m:dPr>
                        <m:ctrlPr>
                          <a:rPr lang="en-US" sz="2000" i="1">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𝑥</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e>
                    </m:d>
                    <m:d>
                      <m:dPr>
                        <m:ctrlPr>
                          <a:rPr lang="en-US" sz="2000" i="1">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d>
                  </m:oMath>
                </a14:m>
                <a:r>
                  <a:rPr lang="en-US" sz="2000" dirty="0"/>
                  <a:t> term, it follows that quadrants:</a:t>
                </a:r>
              </a:p>
            </p:txBody>
          </p:sp>
        </mc:Choice>
        <mc:Fallback xmlns="">
          <p:sp>
            <p:nvSpPr>
              <p:cNvPr id="5" name="Text Placeholder 4">
                <a:extLst>
                  <a:ext uri="{FF2B5EF4-FFF2-40B4-BE49-F238E27FC236}">
                    <a16:creationId xmlns:a16="http://schemas.microsoft.com/office/drawing/2014/main" id="{43E2AAE4-F9A5-F843-491D-446D0FA1AF41}"/>
                  </a:ext>
                </a:extLst>
              </p:cNvPr>
              <p:cNvSpPr>
                <a:spLocks noGrp="1" noRot="1" noChangeAspect="1" noMove="1" noResize="1" noEditPoints="1" noAdjustHandles="1" noChangeArrowheads="1" noChangeShapeType="1" noTextEdit="1"/>
              </p:cNvSpPr>
              <p:nvPr>
                <p:ph type="body" sz="quarter" idx="15"/>
              </p:nvPr>
            </p:nvSpPr>
            <p:spPr>
              <a:xfrm>
                <a:off x="743576" y="1411334"/>
                <a:ext cx="10610223" cy="1347629"/>
              </a:xfrm>
              <a:blipFill>
                <a:blip r:embed="rId3"/>
                <a:stretch>
                  <a:fillRect l="-1494" t="-5430" r="-1092"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6805A233-FCFE-284E-E2E0-8D2ACD241AC3}"/>
                  </a:ext>
                </a:extLst>
              </p:cNvPr>
              <p:cNvSpPr>
                <a:spLocks noGrp="1"/>
              </p:cNvSpPr>
              <p:nvPr>
                <p:ph type="body" sz="quarter" idx="17"/>
              </p:nvPr>
            </p:nvSpPr>
            <p:spPr>
              <a:xfrm>
                <a:off x="743575" y="2758964"/>
                <a:ext cx="5136963" cy="2915388"/>
              </a:xfrm>
            </p:spPr>
            <p:txBody>
              <a:bodyPr/>
              <a:lstStyle/>
              <a:p>
                <a:pPr marL="457200" indent="-284163">
                  <a:buFont typeface="Arial" panose="020B0604020202020204" pitchFamily="34" charset="0"/>
                  <a:buChar char="•"/>
                </a:pPr>
                <a:r>
                  <a:rPr lang="en-US" sz="2000" dirty="0"/>
                  <a:t>I and III have a </a:t>
                </a:r>
                <a:r>
                  <a:rPr lang="en-US" sz="2000" i="1" dirty="0"/>
                  <a:t>positive</a:t>
                </a:r>
                <a:r>
                  <a:rPr lang="en-US" sz="2000" dirty="0"/>
                  <a:t> contribution to the covariance, because </a:t>
                </a:r>
                <a14:m>
                  <m:oMath xmlns:m="http://schemas.openxmlformats.org/officeDocument/2006/math">
                    <m:d>
                      <m:dPr>
                        <m:ctrlPr>
                          <a:rPr lang="en-US" sz="2000" i="1" smtClean="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𝑥</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e>
                    </m:d>
                  </m:oMath>
                </a14:m>
                <a:r>
                  <a:rPr lang="en-US" sz="2000" dirty="0"/>
                  <a:t> and </a:t>
                </a:r>
                <a14:m>
                  <m:oMath xmlns:m="http://schemas.openxmlformats.org/officeDocument/2006/math">
                    <m:d>
                      <m:dPr>
                        <m:ctrlPr>
                          <a:rPr lang="en-US" sz="2000" i="1">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d>
                  </m:oMath>
                </a14:m>
                <a:r>
                  <a:rPr lang="en-US" sz="2000" dirty="0"/>
                  <a:t> have the same sign.</a:t>
                </a:r>
              </a:p>
              <a:p>
                <a:pPr marL="457200" indent="-284163">
                  <a:buFont typeface="Arial" panose="020B0604020202020204" pitchFamily="34" charset="0"/>
                  <a:buChar char="•"/>
                </a:pPr>
                <a:r>
                  <a:rPr lang="en-US" sz="2000" dirty="0"/>
                  <a:t>II and IV have a </a:t>
                </a:r>
                <a:r>
                  <a:rPr lang="en-US" sz="2000" i="1" dirty="0"/>
                  <a:t>negative</a:t>
                </a:r>
                <a:r>
                  <a:rPr lang="en-US" sz="2000" dirty="0"/>
                  <a:t> contribution to the covariance, because </a:t>
                </a:r>
                <a14:m>
                  <m:oMath xmlns:m="http://schemas.openxmlformats.org/officeDocument/2006/math">
                    <m:d>
                      <m:dPr>
                        <m:ctrlPr>
                          <a:rPr lang="en-US" sz="2000" i="1" smtClean="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𝑥</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e>
                    </m:d>
                  </m:oMath>
                </a14:m>
                <a:r>
                  <a:rPr lang="en-US" sz="2000" dirty="0"/>
                  <a:t> and </a:t>
                </a:r>
                <a14:m>
                  <m:oMath xmlns:m="http://schemas.openxmlformats.org/officeDocument/2006/math">
                    <m:d>
                      <m:dPr>
                        <m:ctrlPr>
                          <a:rPr lang="en-US" sz="2000" i="1">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𝑖</m:t>
                            </m:r>
                          </m:sub>
                        </m:sSub>
                        <m:r>
                          <a:rPr lang="en-US" sz="2000" i="1" dirty="0">
                            <a:latin typeface="Cambria Math" panose="02040503050406030204" pitchFamily="18" charset="0"/>
                          </a:rPr>
                          <m:t>−</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d>
                  </m:oMath>
                </a14:m>
                <a:r>
                  <a:rPr lang="en-US" sz="2000" dirty="0"/>
                  <a:t> have opposite sign.</a:t>
                </a:r>
              </a:p>
              <a:p>
                <a:r>
                  <a:rPr lang="en-US" sz="2000" dirty="0"/>
                  <a:t>The scatter diagram for the electronics store data shows that none of the data appear in quadrants II or IV. Thus,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𝑥𝑦</m:t>
                        </m:r>
                      </m:sub>
                    </m:sSub>
                  </m:oMath>
                </a14:m>
                <a:r>
                  <a:rPr lang="en-US" sz="2000" dirty="0"/>
                  <a:t> is positive.</a:t>
                </a:r>
              </a:p>
            </p:txBody>
          </p:sp>
        </mc:Choice>
        <mc:Fallback xmlns="">
          <p:sp>
            <p:nvSpPr>
              <p:cNvPr id="8" name="Text Placeholder 7">
                <a:extLst>
                  <a:ext uri="{FF2B5EF4-FFF2-40B4-BE49-F238E27FC236}">
                    <a16:creationId xmlns:a16="http://schemas.microsoft.com/office/drawing/2014/main" id="{6805A233-FCFE-284E-E2E0-8D2ACD241AC3}"/>
                  </a:ext>
                </a:extLst>
              </p:cNvPr>
              <p:cNvSpPr>
                <a:spLocks noGrp="1" noRot="1" noChangeAspect="1" noMove="1" noResize="1" noEditPoints="1" noAdjustHandles="1" noChangeArrowheads="1" noChangeShapeType="1" noTextEdit="1"/>
              </p:cNvSpPr>
              <p:nvPr>
                <p:ph type="body" sz="quarter" idx="17"/>
              </p:nvPr>
            </p:nvSpPr>
            <p:spPr>
              <a:xfrm>
                <a:off x="743575" y="2758964"/>
                <a:ext cx="5136963" cy="2915388"/>
              </a:xfrm>
              <a:blipFill>
                <a:blip r:embed="rId4"/>
                <a:stretch>
                  <a:fillRect l="-3084" t="-2510" r="-237" b="-4603"/>
                </a:stretch>
              </a:blipFill>
            </p:spPr>
            <p:txBody>
              <a:bodyPr/>
              <a:lstStyle/>
              <a:p>
                <a:r>
                  <a:rPr lang="en-US">
                    <a:noFill/>
                  </a:rPr>
                  <a:t> </a:t>
                </a:r>
              </a:p>
            </p:txBody>
          </p:sp>
        </mc:Fallback>
      </mc:AlternateContent>
      <p:pic>
        <p:nvPicPr>
          <p:cNvPr id="6" name="Picture Placeholder 5" descr="A partitioned scatter diagram plots sales versus number of commercials. The horizontal axis is labeled “Number of Commercials” and ranges from 0 to 5 with tickmarks in increments of 1. The vertical axis is labeled “Sales in $100s” and ranges from 35 to 65 with tickmarks in increments of 5. A dashed vertical line is at x-bar = 3. A dashed horizontal line is at y-bar = 51. These lines divide the graph into four quadrants. The top right quadrant is labeled “1,” the top left quadrant is labeled “2,” the bottom left quadrant is labeled “3,” and the bottom right quadrant is labeled “4.” The coordinates of the plots in quadrant 3 are (1, 38), (1, 41), (2, 46), and (2, 50). The coordinates of the plots on the line x-bar = 3 are (3, 48) are (3, 54). The coordinates of the plots in quadrant 1 are (4, 54), (4, 59), (5, 57), and (5, 63).&#10;">
            <a:extLst>
              <a:ext uri="{FF2B5EF4-FFF2-40B4-BE49-F238E27FC236}">
                <a16:creationId xmlns:a16="http://schemas.microsoft.com/office/drawing/2014/main" id="{984C5660-71A9-93B1-12E0-39E442576F12}"/>
              </a:ext>
            </a:extLst>
          </p:cNvPr>
          <p:cNvPicPr>
            <a:picLocks noGrp="1" noChangeAspect="1"/>
          </p:cNvPicPr>
          <p:nvPr>
            <p:ph type="pic" sz="quarter" idx="16"/>
          </p:nvPr>
        </p:nvPicPr>
        <p:blipFill rotWithShape="1">
          <a:blip r:embed="rId5"/>
          <a:srcRect t="9" b="9"/>
          <a:stretch/>
        </p:blipFill>
        <p:spPr>
          <a:xfrm>
            <a:off x="5886885" y="2941501"/>
            <a:ext cx="5403850" cy="2843213"/>
          </a:xfrm>
        </p:spPr>
      </p:pic>
    </p:spTree>
    <p:extLst>
      <p:ext uri="{BB962C8B-B14F-4D97-AF65-F5344CB8AC3E}">
        <p14:creationId xmlns:p14="http://schemas.microsoft.com/office/powerpoint/2010/main" val="3719106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FF105-0E6F-08BB-3821-959B9141478F}"/>
              </a:ext>
            </a:extLst>
          </p:cNvPr>
          <p:cNvSpPr>
            <a:spLocks noGrp="1"/>
          </p:cNvSpPr>
          <p:nvPr>
            <p:ph type="title"/>
          </p:nvPr>
        </p:nvSpPr>
        <p:spPr>
          <a:xfrm>
            <a:off x="614855" y="365125"/>
            <a:ext cx="10893973" cy="672105"/>
          </a:xfrm>
        </p:spPr>
        <p:txBody>
          <a:bodyPr/>
          <a:lstStyle/>
          <a:p>
            <a:r>
              <a:rPr lang="en-US" dirty="0"/>
              <a:t>3.5 Relationship Between Pattern and Covariance</a:t>
            </a:r>
          </a:p>
        </p:txBody>
      </p:sp>
      <p:pic>
        <p:nvPicPr>
          <p:cNvPr id="5" name="Picture Placeholder 4" descr="Three scatter diagrams show different covariances. In all scatter diagrams, the horizontal axis is labeled “x” and the vertical axis is labeled “y.” In the first scatter diagram, the plots show an increasing trend. Text reads, s_x y positive: x and y are positively linearly related. In the second scatter diagram, the plots are scattered randomly throughout the graph. Text reads, s_x y approximately 0: x and y are not linearly related. In the third scatter diagram, the plots show a decreasing trend. Text reads, s_x y negative: x and y are negatively linearly related.&#10;">
            <a:extLst>
              <a:ext uri="{FF2B5EF4-FFF2-40B4-BE49-F238E27FC236}">
                <a16:creationId xmlns:a16="http://schemas.microsoft.com/office/drawing/2014/main" id="{D81A1510-F137-D07B-8608-C64D8F534BAD}"/>
              </a:ext>
            </a:extLst>
          </p:cNvPr>
          <p:cNvPicPr>
            <a:picLocks noGrp="1" noChangeAspect="1"/>
          </p:cNvPicPr>
          <p:nvPr>
            <p:ph type="pic" sz="quarter" idx="10"/>
          </p:nvPr>
        </p:nvPicPr>
        <p:blipFill rotWithShape="1">
          <a:blip r:embed="rId2"/>
          <a:srcRect l="14" r="14"/>
          <a:stretch/>
        </p:blipFill>
        <p:spPr>
          <a:xfrm>
            <a:off x="838200" y="1606769"/>
            <a:ext cx="10515600" cy="4151313"/>
          </a:xfrm>
        </p:spPr>
      </p:pic>
    </p:spTree>
    <p:extLst>
      <p:ext uri="{BB962C8B-B14F-4D97-AF65-F5344CB8AC3E}">
        <p14:creationId xmlns:p14="http://schemas.microsoft.com/office/powerpoint/2010/main" val="2170971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083E7-25B2-AF38-844C-35E3D1C291B6}"/>
              </a:ext>
            </a:extLst>
          </p:cNvPr>
          <p:cNvSpPr>
            <a:spLocks noGrp="1"/>
          </p:cNvSpPr>
          <p:nvPr>
            <p:ph type="title"/>
          </p:nvPr>
        </p:nvSpPr>
        <p:spPr/>
        <p:txBody>
          <a:bodyPr/>
          <a:lstStyle/>
          <a:p>
            <a:r>
              <a:rPr lang="en-US" dirty="0"/>
              <a:t>3.5 Correlation Coefficient</a:t>
            </a:r>
          </a:p>
        </p:txBody>
      </p:sp>
      <p:sp>
        <p:nvSpPr>
          <p:cNvPr id="7" name="Text Placeholder 6">
            <a:extLst>
              <a:ext uri="{FF2B5EF4-FFF2-40B4-BE49-F238E27FC236}">
                <a16:creationId xmlns:a16="http://schemas.microsoft.com/office/drawing/2014/main" id="{5E51349B-3901-2680-1FD0-EDAFBBE7A984}"/>
              </a:ext>
            </a:extLst>
          </p:cNvPr>
          <p:cNvSpPr>
            <a:spLocks noGrp="1"/>
          </p:cNvSpPr>
          <p:nvPr>
            <p:ph type="body" sz="quarter" idx="16"/>
          </p:nvPr>
        </p:nvSpPr>
        <p:spPr>
          <a:xfrm>
            <a:off x="743576" y="1384596"/>
            <a:ext cx="10711543" cy="1041377"/>
          </a:xfrm>
        </p:spPr>
        <p:txBody>
          <a:bodyPr/>
          <a:lstStyle/>
          <a:p>
            <a:pPr>
              <a:spcBef>
                <a:spcPts val="600"/>
              </a:spcBef>
              <a:spcAft>
                <a:spcPts val="0"/>
              </a:spcAft>
            </a:pPr>
            <a:r>
              <a:rPr lang="en-US" sz="2000" dirty="0"/>
              <a:t>The </a:t>
            </a:r>
            <a:r>
              <a:rPr lang="en-US" sz="2000" b="1" dirty="0"/>
              <a:t>correlation coefficient </a:t>
            </a:r>
            <a:r>
              <a:rPr lang="en-US" sz="2000" dirty="0"/>
              <a:t>is a measure of the relationship between </a:t>
            </a:r>
            <a:r>
              <a:rPr lang="en-US" sz="2000" i="1" dirty="0"/>
              <a:t>x</a:t>
            </a:r>
            <a:r>
              <a:rPr lang="en-US" sz="2000" dirty="0"/>
              <a:t> and </a:t>
            </a:r>
            <a:r>
              <a:rPr lang="en-US" sz="2000" i="1" dirty="0"/>
              <a:t>y </a:t>
            </a:r>
            <a:r>
              <a:rPr lang="en-US" sz="2000" dirty="0"/>
              <a:t>that is not affected by the units of measurement.</a:t>
            </a:r>
          </a:p>
          <a:p>
            <a:pPr>
              <a:spcBef>
                <a:spcPts val="600"/>
              </a:spcBef>
              <a:spcAft>
                <a:spcPts val="600"/>
              </a:spcAft>
            </a:pPr>
            <a:r>
              <a:rPr lang="en-US" sz="2000" dirty="0"/>
              <a:t>The </a:t>
            </a:r>
            <a:r>
              <a:rPr lang="en-US" sz="2000" i="1" dirty="0"/>
              <a:t>Pearson product moment correlation coefficient </a:t>
            </a:r>
            <a:r>
              <a:rPr lang="en-US" sz="2000" dirty="0"/>
              <a:t>is defined as</a:t>
            </a:r>
          </a:p>
        </p:txBody>
      </p:sp>
      <p:sp>
        <p:nvSpPr>
          <p:cNvPr id="3" name="Text Placeholder 2">
            <a:extLst>
              <a:ext uri="{FF2B5EF4-FFF2-40B4-BE49-F238E27FC236}">
                <a16:creationId xmlns:a16="http://schemas.microsoft.com/office/drawing/2014/main" id="{866DA945-06F2-A7C3-5C27-356AE42BF812}"/>
              </a:ext>
            </a:extLst>
          </p:cNvPr>
          <p:cNvSpPr>
            <a:spLocks noGrp="1"/>
          </p:cNvSpPr>
          <p:nvPr>
            <p:ph type="body" sz="quarter" idx="21"/>
          </p:nvPr>
        </p:nvSpPr>
        <p:spPr>
          <a:xfrm>
            <a:off x="743575" y="2638707"/>
            <a:ext cx="5200024" cy="356620"/>
          </a:xfrm>
        </p:spPr>
        <p:txBody>
          <a:bodyPr/>
          <a:lstStyle/>
          <a:p>
            <a:r>
              <a:rPr lang="en-US" dirty="0"/>
              <a:t>Sample Data</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52A521C-6817-1A72-1C43-CCD9BADE33EB}"/>
                  </a:ext>
                </a:extLst>
              </p:cNvPr>
              <p:cNvSpPr>
                <a:spLocks noGrp="1"/>
              </p:cNvSpPr>
              <p:nvPr>
                <p:ph type="body" sz="quarter" idx="15"/>
              </p:nvPr>
            </p:nvSpPr>
            <p:spPr>
              <a:xfrm>
                <a:off x="743576" y="3100901"/>
                <a:ext cx="5200024" cy="2629741"/>
              </a:xfrm>
            </p:spPr>
            <p:txBody>
              <a:bodyPr/>
              <a:lstStyle/>
              <a:p>
                <a:pPr marL="457200">
                  <a:spcAft>
                    <a:spcPts val="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𝒓</m:t>
                          </m:r>
                        </m:e>
                        <m:sub>
                          <m:r>
                            <a:rPr lang="en-US" sz="2000" b="1" i="1" smtClean="0">
                              <a:latin typeface="Cambria Math" panose="02040503050406030204" pitchFamily="18" charset="0"/>
                            </a:rPr>
                            <m:t>𝒙𝒚</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𝒔</m:t>
                              </m:r>
                            </m:e>
                            <m:sub>
                              <m:r>
                                <a:rPr lang="en-US" sz="2000" b="1" i="1" smtClean="0">
                                  <a:latin typeface="Cambria Math" panose="02040503050406030204" pitchFamily="18" charset="0"/>
                                </a:rPr>
                                <m:t>𝒙𝒚</m:t>
                              </m:r>
                            </m:sub>
                          </m:sSub>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𝒔</m:t>
                              </m:r>
                            </m:e>
                            <m:sub>
                              <m:r>
                                <a:rPr lang="en-US" sz="2000" b="1" i="1" smtClean="0">
                                  <a:latin typeface="Cambria Math" panose="02040503050406030204" pitchFamily="18" charset="0"/>
                                </a:rPr>
                                <m:t>𝒙</m:t>
                              </m:r>
                            </m:sub>
                          </m:sSub>
                          <m:sSub>
                            <m:sSubPr>
                              <m:ctrlPr>
                                <a:rPr lang="en-US" sz="2000" b="1" i="1">
                                  <a:latin typeface="Cambria Math" panose="02040503050406030204" pitchFamily="18" charset="0"/>
                                </a:rPr>
                              </m:ctrlPr>
                            </m:sSubPr>
                            <m:e>
                              <m:r>
                                <a:rPr lang="en-US" sz="2000" b="1" i="1">
                                  <a:latin typeface="Cambria Math" panose="02040503050406030204" pitchFamily="18" charset="0"/>
                                </a:rPr>
                                <m:t>𝒔</m:t>
                              </m:r>
                            </m:e>
                            <m:sub>
                              <m:r>
                                <a:rPr lang="en-US" sz="2000" b="1" i="1" smtClean="0">
                                  <a:latin typeface="Cambria Math" panose="02040503050406030204" pitchFamily="18" charset="0"/>
                                </a:rPr>
                                <m:t>𝒚</m:t>
                              </m:r>
                            </m:sub>
                          </m:sSub>
                        </m:den>
                      </m:f>
                    </m:oMath>
                  </m:oMathPara>
                </a14:m>
                <a:endParaRPr lang="en-US" sz="2000" b="1" dirty="0"/>
              </a:p>
              <a:p>
                <a:pPr>
                  <a:spcBef>
                    <a:spcPts val="600"/>
                  </a:spcBef>
                  <a:spcAft>
                    <a:spcPts val="0"/>
                  </a:spcAft>
                </a:pPr>
                <a:r>
                  <a:rPr lang="en-US" sz="2000" dirty="0"/>
                  <a:t>Where</a:t>
                </a:r>
              </a:p>
              <a:p>
                <a:pPr marL="457200">
                  <a:spcBef>
                    <a:spcPts val="3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oMath>
                </a14:m>
                <a:r>
                  <a:rPr lang="en-US" sz="2000" dirty="0"/>
                  <a:t> sample correlation coefficient</a:t>
                </a:r>
              </a:p>
              <a:p>
                <a:pPr marL="457200">
                  <a:spcBef>
                    <a:spcPts val="3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oMath>
                </a14:m>
                <a:r>
                  <a:rPr lang="en-US" sz="2000" dirty="0"/>
                  <a:t> sample covariance</a:t>
                </a:r>
              </a:p>
              <a:p>
                <a:pPr marL="457200">
                  <a:spcBef>
                    <a:spcPts val="300"/>
                  </a:spcBef>
                  <a:spcAft>
                    <a:spcPts val="0"/>
                  </a:spcAft>
                </a:pPr>
                <a14:m>
                  <m:oMath xmlns:m="http://schemas.openxmlformats.org/officeDocument/2006/math">
                    <m:r>
                      <a:rPr lang="en-US" sz="2000" b="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m:t>
                    </m:r>
                  </m:oMath>
                </a14:m>
                <a:r>
                  <a:rPr lang="en-US" sz="2000" dirty="0"/>
                  <a:t> sample standard deviation of </a:t>
                </a:r>
                <a:r>
                  <a:rPr lang="en-US" sz="2000" i="1" dirty="0"/>
                  <a:t>x</a:t>
                </a:r>
              </a:p>
              <a:p>
                <a:pPr marL="457200">
                  <a:spcBef>
                    <a:spcPts val="300"/>
                  </a:spcBef>
                  <a:spcAft>
                    <a:spcPts val="0"/>
                  </a:spcAft>
                </a:pPr>
                <a14:m>
                  <m:oMath xmlns:m="http://schemas.openxmlformats.org/officeDocument/2006/math">
                    <m:r>
                      <a:rPr lang="en-US" sz="2000" b="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b="0" i="1">
                            <a:latin typeface="Cambria Math" panose="02040503050406030204" pitchFamily="18" charset="0"/>
                          </a:rPr>
                          <m:t>𝑠</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oMath>
                </a14:m>
                <a:r>
                  <a:rPr lang="en-US" sz="2000" dirty="0"/>
                  <a:t> sample standard deviation of </a:t>
                </a:r>
                <a:r>
                  <a:rPr lang="en-US" sz="2000" i="1" dirty="0"/>
                  <a:t>y</a:t>
                </a:r>
              </a:p>
            </p:txBody>
          </p:sp>
        </mc:Choice>
        <mc:Fallback xmlns="">
          <p:sp>
            <p:nvSpPr>
              <p:cNvPr id="4" name="Text Placeholder 3">
                <a:extLst>
                  <a:ext uri="{FF2B5EF4-FFF2-40B4-BE49-F238E27FC236}">
                    <a16:creationId xmlns:a16="http://schemas.microsoft.com/office/drawing/2014/main" id="{D52A521C-6817-1A72-1C43-CCD9BADE33EB}"/>
                  </a:ext>
                </a:extLst>
              </p:cNvPr>
              <p:cNvSpPr>
                <a:spLocks noGrp="1" noRot="1" noChangeAspect="1" noMove="1" noResize="1" noEditPoints="1" noAdjustHandles="1" noChangeArrowheads="1" noChangeShapeType="1" noTextEdit="1"/>
              </p:cNvSpPr>
              <p:nvPr>
                <p:ph type="body" sz="quarter" idx="15"/>
              </p:nvPr>
            </p:nvSpPr>
            <p:spPr>
              <a:xfrm>
                <a:off x="743576" y="3100901"/>
                <a:ext cx="5200024" cy="2629741"/>
              </a:xfrm>
              <a:blipFill>
                <a:blip r:embed="rId2"/>
                <a:stretch>
                  <a:fillRect l="-3048"/>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646B2FC1-CBDE-5EF7-1B6B-32207A1B0799}"/>
              </a:ext>
            </a:extLst>
          </p:cNvPr>
          <p:cNvSpPr>
            <a:spLocks noGrp="1"/>
          </p:cNvSpPr>
          <p:nvPr>
            <p:ph type="body" sz="quarter" idx="22"/>
          </p:nvPr>
        </p:nvSpPr>
        <p:spPr>
          <a:xfrm>
            <a:off x="6122680" y="2638705"/>
            <a:ext cx="5200024" cy="356621"/>
          </a:xfrm>
        </p:spPr>
        <p:txBody>
          <a:bodyPr/>
          <a:lstStyle/>
          <a:p>
            <a:r>
              <a:rPr lang="en-US" dirty="0"/>
              <a:t>Population Data</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71CA8971-3A78-D7AC-287D-7E3CC7049736}"/>
                  </a:ext>
                </a:extLst>
              </p:cNvPr>
              <p:cNvSpPr>
                <a:spLocks noGrp="1"/>
              </p:cNvSpPr>
              <p:nvPr>
                <p:ph type="body" sz="quarter" idx="18"/>
              </p:nvPr>
            </p:nvSpPr>
            <p:spPr>
              <a:xfrm>
                <a:off x="6122680" y="3100901"/>
                <a:ext cx="5200024" cy="2629741"/>
              </a:xfrm>
            </p:spPr>
            <p:txBody>
              <a:bodyPr/>
              <a:lstStyle/>
              <a:p>
                <a:pPr marL="457200">
                  <a:spcAft>
                    <a:spcPts val="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𝝆</m:t>
                          </m:r>
                        </m:e>
                        <m:sub>
                          <m:r>
                            <a:rPr lang="en-US" sz="2000" b="1" i="1" smtClean="0">
                              <a:latin typeface="Cambria Math" panose="02040503050406030204" pitchFamily="18" charset="0"/>
                            </a:rPr>
                            <m:t>𝒙𝒚</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r>
                                <a:rPr lang="en-US" sz="2000" b="1" i="1" smtClean="0">
                                  <a:latin typeface="Cambria Math" panose="02040503050406030204" pitchFamily="18" charset="0"/>
                                </a:rPr>
                                <m:t>𝒙𝒚</m:t>
                              </m:r>
                            </m:sub>
                          </m:sSub>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r>
                                <a:rPr lang="en-US" sz="2000" b="1" i="1" smtClean="0">
                                  <a:latin typeface="Cambria Math" panose="02040503050406030204" pitchFamily="18" charset="0"/>
                                </a:rPr>
                                <m:t>𝒙</m:t>
                              </m:r>
                            </m:sub>
                          </m:sSub>
                          <m:sSub>
                            <m:sSubPr>
                              <m:ctrlPr>
                                <a:rPr lang="en-US" sz="2000" b="1" i="1">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r>
                                <a:rPr lang="en-US" sz="2000" b="1" i="1" smtClean="0">
                                  <a:latin typeface="Cambria Math" panose="02040503050406030204" pitchFamily="18" charset="0"/>
                                </a:rPr>
                                <m:t>𝒚</m:t>
                              </m:r>
                            </m:sub>
                          </m:sSub>
                        </m:den>
                      </m:f>
                    </m:oMath>
                  </m:oMathPara>
                </a14:m>
                <a:endParaRPr lang="en-US" sz="2000" b="1" dirty="0"/>
              </a:p>
              <a:p>
                <a:pPr>
                  <a:spcBef>
                    <a:spcPts val="600"/>
                  </a:spcBef>
                  <a:spcAft>
                    <a:spcPts val="0"/>
                  </a:spcAft>
                </a:pPr>
                <a:r>
                  <a:rPr lang="en-US" sz="2000" dirty="0"/>
                  <a:t>Where</a:t>
                </a:r>
              </a:p>
              <a:p>
                <a:pPr marL="457200">
                  <a:spcBef>
                    <a:spcPts val="3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𝜌</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oMath>
                </a14:m>
                <a:r>
                  <a:rPr lang="en-US" sz="2000" dirty="0"/>
                  <a:t> population correlation coefficient</a:t>
                </a:r>
              </a:p>
              <a:p>
                <a:pPr marL="457200">
                  <a:spcBef>
                    <a:spcPts val="3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oMath>
                </a14:m>
                <a:r>
                  <a:rPr lang="en-US" sz="2000" dirty="0"/>
                  <a:t> population covariance</a:t>
                </a:r>
              </a:p>
              <a:p>
                <a:pPr marL="457200">
                  <a:spcBef>
                    <a:spcPts val="300"/>
                  </a:spcBef>
                  <a:spcAft>
                    <a:spcPts val="0"/>
                  </a:spcAft>
                </a:pPr>
                <a14:m>
                  <m:oMath xmlns:m="http://schemas.openxmlformats.org/officeDocument/2006/math">
                    <m:r>
                      <a:rPr lang="en-US" sz="2000" b="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m:t>
                    </m:r>
                  </m:oMath>
                </a14:m>
                <a:r>
                  <a:rPr lang="en-US" sz="2000" dirty="0"/>
                  <a:t> population standard deviation for </a:t>
                </a:r>
                <a:r>
                  <a:rPr lang="en-US" sz="2000" i="1" dirty="0"/>
                  <a:t>x</a:t>
                </a:r>
              </a:p>
              <a:p>
                <a:pPr marL="457200">
                  <a:spcBef>
                    <a:spcPts val="300"/>
                  </a:spcBef>
                  <a:spcAft>
                    <a:spcPts val="0"/>
                  </a:spcAft>
                </a:pPr>
                <a14:m>
                  <m:oMath xmlns:m="http://schemas.openxmlformats.org/officeDocument/2006/math">
                    <m:r>
                      <a:rPr lang="en-US" sz="2000" b="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oMath>
                </a14:m>
                <a:r>
                  <a:rPr lang="en-US" sz="2000" dirty="0"/>
                  <a:t> </a:t>
                </a:r>
                <a:r>
                  <a:rPr lang="en-US" dirty="0"/>
                  <a:t>population</a:t>
                </a:r>
                <a:r>
                  <a:rPr lang="en-US" sz="2000" dirty="0"/>
                  <a:t> standard deviation </a:t>
                </a:r>
                <a:r>
                  <a:rPr lang="en-US" dirty="0"/>
                  <a:t>for</a:t>
                </a:r>
                <a:r>
                  <a:rPr lang="en-US" sz="2000" dirty="0"/>
                  <a:t> </a:t>
                </a:r>
                <a:r>
                  <a:rPr lang="en-US" sz="2000" i="1" dirty="0"/>
                  <a:t>y</a:t>
                </a:r>
              </a:p>
              <a:p>
                <a:endParaRPr lang="en-US" dirty="0"/>
              </a:p>
            </p:txBody>
          </p:sp>
        </mc:Choice>
        <mc:Fallback xmlns="">
          <p:sp>
            <p:nvSpPr>
              <p:cNvPr id="6" name="Text Placeholder 5">
                <a:extLst>
                  <a:ext uri="{FF2B5EF4-FFF2-40B4-BE49-F238E27FC236}">
                    <a16:creationId xmlns:a16="http://schemas.microsoft.com/office/drawing/2014/main" id="{71CA8971-3A78-D7AC-287D-7E3CC7049736}"/>
                  </a:ext>
                </a:extLst>
              </p:cNvPr>
              <p:cNvSpPr>
                <a:spLocks noGrp="1" noRot="1" noChangeAspect="1" noMove="1" noResize="1" noEditPoints="1" noAdjustHandles="1" noChangeArrowheads="1" noChangeShapeType="1" noTextEdit="1"/>
              </p:cNvSpPr>
              <p:nvPr>
                <p:ph type="body" sz="quarter" idx="18"/>
              </p:nvPr>
            </p:nvSpPr>
            <p:spPr>
              <a:xfrm>
                <a:off x="6122680" y="3100901"/>
                <a:ext cx="5200024" cy="2629741"/>
              </a:xfrm>
              <a:blipFill>
                <a:blip r:embed="rId3"/>
                <a:stretch>
                  <a:fillRect l="-2931"/>
                </a:stretch>
              </a:blipFill>
            </p:spPr>
            <p:txBody>
              <a:bodyPr/>
              <a:lstStyle/>
              <a:p>
                <a:r>
                  <a:rPr lang="en-US">
                    <a:noFill/>
                  </a:rPr>
                  <a:t> </a:t>
                </a:r>
              </a:p>
            </p:txBody>
          </p:sp>
        </mc:Fallback>
      </mc:AlternateContent>
    </p:spTree>
    <p:extLst>
      <p:ext uri="{BB962C8B-B14F-4D97-AF65-F5344CB8AC3E}">
        <p14:creationId xmlns:p14="http://schemas.microsoft.com/office/powerpoint/2010/main" val="3303838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F1D-9E5C-6CD7-CC31-6FF6664D931F}"/>
              </a:ext>
            </a:extLst>
          </p:cNvPr>
          <p:cNvSpPr>
            <a:spLocks noGrp="1"/>
          </p:cNvSpPr>
          <p:nvPr>
            <p:ph type="title"/>
          </p:nvPr>
        </p:nvSpPr>
        <p:spPr>
          <a:xfrm>
            <a:off x="608270" y="365125"/>
            <a:ext cx="10896600" cy="672105"/>
          </a:xfrm>
        </p:spPr>
        <p:txBody>
          <a:bodyPr/>
          <a:lstStyle/>
          <a:p>
            <a:r>
              <a:rPr lang="en-US" dirty="0"/>
              <a:t>3.5 Interpretation of the Correlation Coefficient</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3E2AAE4-F9A5-F843-491D-446D0FA1AF41}"/>
                  </a:ext>
                </a:extLst>
              </p:cNvPr>
              <p:cNvSpPr>
                <a:spLocks noGrp="1"/>
              </p:cNvSpPr>
              <p:nvPr>
                <p:ph type="body" sz="quarter" idx="15"/>
              </p:nvPr>
            </p:nvSpPr>
            <p:spPr>
              <a:xfrm>
                <a:off x="743576" y="1308537"/>
                <a:ext cx="10610223" cy="4493173"/>
              </a:xfrm>
            </p:spPr>
            <p:txBody>
              <a:bodyPr/>
              <a:lstStyle/>
              <a:p>
                <a:pPr>
                  <a:spcAft>
                    <a:spcPts val="600"/>
                  </a:spcAft>
                </a:pPr>
                <a:r>
                  <a:rPr lang="en-US" sz="2000" dirty="0"/>
                  <a:t>Let us now compute the sample correlation coefficient for the San Francisco electronics store.</a:t>
                </a:r>
              </a:p>
              <a:p>
                <a:pPr marL="914400">
                  <a:spcAft>
                    <a:spcPts val="600"/>
                  </a:spcAft>
                </a:pPr>
                <a14:m>
                  <m:oMathPara xmlns:m="http://schemas.openxmlformats.org/officeDocument/2006/math">
                    <m:oMathParaPr>
                      <m:jc m:val="left"/>
                    </m:oMathParaPr>
                    <m:oMath xmlns:m="http://schemas.openxmlformats.org/officeDocument/2006/math">
                      <m:sSubSup>
                        <m:sSubSupPr>
                          <m:ctrlPr>
                            <a:rPr lang="en-US" sz="1800" i="1" smtClean="0">
                              <a:latin typeface="Cambria Math" panose="02040503050406030204" pitchFamily="18" charset="0"/>
                            </a:rPr>
                          </m:ctrlPr>
                        </m:sSubSupPr>
                        <m:e>
                          <m:r>
                            <a:rPr lang="en-US" sz="1800" b="0" i="1" smtClean="0">
                              <a:latin typeface="Cambria Math" panose="02040503050406030204" pitchFamily="18" charset="0"/>
                            </a:rPr>
                            <m:t>𝑠</m:t>
                          </m:r>
                        </m:e>
                        <m:sub>
                          <m:r>
                            <a:rPr lang="en-US" sz="1800" b="0" i="1" smtClean="0">
                              <a:latin typeface="Cambria Math" panose="02040503050406030204" pitchFamily="18" charset="0"/>
                            </a:rPr>
                            <m:t>𝑥</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f>
                            <m:fPr>
                              <m:ctrlPr>
                                <a:rPr lang="en-US" sz="1800" i="1">
                                  <a:latin typeface="Cambria Math" panose="02040503050406030204" pitchFamily="18" charset="0"/>
                                </a:rPr>
                              </m:ctrlPr>
                            </m:fPr>
                            <m:num>
                              <m:nary>
                                <m:naryPr>
                                  <m:chr m:val="∑"/>
                                  <m:subHide m:val="on"/>
                                  <m:supHide m:val="on"/>
                                  <m:ctrlPr>
                                    <a:rPr lang="en-US" sz="1800" i="1">
                                      <a:latin typeface="Cambria Math" panose="02040503050406030204" pitchFamily="18" charset="0"/>
                                    </a:rPr>
                                  </m:ctrlPr>
                                </m:naryPr>
                                <m:sub/>
                                <m:sup/>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r>
                                            <a:rPr lang="en-US" sz="1800" i="1">
                                              <a:latin typeface="Cambria Math" panose="02040503050406030204" pitchFamily="18" charset="0"/>
                                            </a:rPr>
                                            <m:t>−</m:t>
                                          </m:r>
                                          <m:acc>
                                            <m:accPr>
                                              <m:chr m:val="̅"/>
                                              <m:ctrlPr>
                                                <a:rPr lang="en-US" sz="1800" i="1">
                                                  <a:latin typeface="Cambria Math" panose="02040503050406030204" pitchFamily="18" charset="0"/>
                                                </a:rPr>
                                              </m:ctrlPr>
                                            </m:accPr>
                                            <m:e>
                                              <m:r>
                                                <a:rPr lang="en-US" sz="1800" i="1">
                                                  <a:latin typeface="Cambria Math" panose="02040503050406030204" pitchFamily="18" charset="0"/>
                                                </a:rPr>
                                                <m:t>𝑥</m:t>
                                              </m:r>
                                            </m:e>
                                          </m:acc>
                                        </m:e>
                                      </m:d>
                                    </m:e>
                                    <m:sup>
                                      <m:r>
                                        <a:rPr lang="en-US" sz="1800" i="1">
                                          <a:latin typeface="Cambria Math" panose="02040503050406030204" pitchFamily="18" charset="0"/>
                                        </a:rPr>
                                        <m:t>2</m:t>
                                      </m:r>
                                    </m:sup>
                                  </m:sSup>
                                </m:e>
                              </m:nary>
                            </m:num>
                            <m:den>
                              <m:r>
                                <a:rPr lang="en-US" sz="1800" i="1">
                                  <a:latin typeface="Cambria Math" panose="02040503050406030204" pitchFamily="18" charset="0"/>
                                </a:rPr>
                                <m:t>𝑛</m:t>
                              </m:r>
                              <m:r>
                                <a:rPr lang="en-US" sz="1800" i="1">
                                  <a:latin typeface="Cambria Math" panose="02040503050406030204" pitchFamily="18" charset="0"/>
                                </a:rPr>
                                <m:t>−1</m:t>
                              </m:r>
                            </m:den>
                          </m:f>
                        </m:e>
                      </m:rad>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20</m:t>
                              </m:r>
                            </m:num>
                            <m:den>
                              <m:r>
                                <a:rPr lang="en-US" sz="1800" b="0" i="1" smtClean="0">
                                  <a:latin typeface="Cambria Math" panose="02040503050406030204" pitchFamily="18" charset="0"/>
                                </a:rPr>
                                <m:t>9</m:t>
                              </m:r>
                            </m:den>
                          </m:f>
                        </m:e>
                      </m:rad>
                      <m:r>
                        <a:rPr lang="en-US" sz="1800" b="0" i="1" smtClean="0">
                          <a:latin typeface="Cambria Math" panose="02040503050406030204" pitchFamily="18" charset="0"/>
                        </a:rPr>
                        <m:t>=1.49</m:t>
                      </m:r>
                      <m:r>
                        <m:rPr>
                          <m:nor/>
                        </m:rPr>
                        <a:rPr lang="en-US" sz="1800" b="0" i="0" smtClean="0">
                          <a:latin typeface="Cambria Math" panose="02040503050406030204" pitchFamily="18" charset="0"/>
                        </a:rPr>
                        <m:t>            </m:t>
                      </m:r>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b="0" i="1" smtClean="0">
                              <a:latin typeface="Cambria Math" panose="02040503050406030204" pitchFamily="18" charset="0"/>
                            </a:rPr>
                            <m:t>𝑦</m:t>
                          </m:r>
                        </m:sub>
                        <m:sup>
                          <m:r>
                            <a:rPr lang="en-US" sz="2000" i="1">
                              <a:latin typeface="Cambria Math" panose="02040503050406030204" pitchFamily="18" charset="0"/>
                            </a:rPr>
                            <m:t>2</m:t>
                          </m:r>
                        </m:sup>
                      </m:sSubSup>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nary>
                                <m:naryPr>
                                  <m:chr m:val="∑"/>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𝑦</m:t>
                                              </m:r>
                                            </m:e>
                                            <m:sub>
                                              <m:r>
                                                <a:rPr lang="en-US" sz="2000" i="1">
                                                  <a:latin typeface="Cambria Math" panose="02040503050406030204" pitchFamily="18" charset="0"/>
                                                </a:rPr>
                                                <m:t>𝑖</m:t>
                                              </m:r>
                                            </m:sub>
                                          </m:sSub>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𝑦</m:t>
                                              </m:r>
                                            </m:e>
                                          </m:acc>
                                        </m:e>
                                      </m:d>
                                    </m:e>
                                    <m:sup>
                                      <m:r>
                                        <a:rPr lang="en-US" sz="2000" i="1">
                                          <a:latin typeface="Cambria Math" panose="02040503050406030204" pitchFamily="18" charset="0"/>
                                        </a:rPr>
                                        <m:t>2</m:t>
                                      </m:r>
                                    </m:sup>
                                  </m:sSup>
                                </m:e>
                              </m:nary>
                            </m:num>
                            <m:den>
                              <m:r>
                                <a:rPr lang="en-US" sz="2000" i="1">
                                  <a:latin typeface="Cambria Math" panose="02040503050406030204" pitchFamily="18" charset="0"/>
                                </a:rPr>
                                <m:t>𝑛</m:t>
                              </m:r>
                              <m:r>
                                <a:rPr lang="en-US" sz="2000" i="1">
                                  <a:latin typeface="Cambria Math" panose="02040503050406030204" pitchFamily="18" charset="0"/>
                                </a:rPr>
                                <m:t>−1</m:t>
                              </m:r>
                            </m:den>
                          </m:f>
                        </m:e>
                      </m:rad>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b="0" i="1" smtClean="0">
                                  <a:latin typeface="Cambria Math" panose="02040503050406030204" pitchFamily="18" charset="0"/>
                                </a:rPr>
                                <m:t>566</m:t>
                              </m:r>
                            </m:num>
                            <m:den>
                              <m:r>
                                <a:rPr lang="en-US" sz="2000" i="1">
                                  <a:latin typeface="Cambria Math" panose="02040503050406030204" pitchFamily="18" charset="0"/>
                                </a:rPr>
                                <m:t>9</m:t>
                              </m:r>
                            </m:den>
                          </m:f>
                        </m:e>
                      </m:rad>
                      <m:r>
                        <a:rPr lang="en-US" sz="2000" i="1">
                          <a:latin typeface="Cambria Math" panose="02040503050406030204" pitchFamily="18" charset="0"/>
                        </a:rPr>
                        <m:t>=</m:t>
                      </m:r>
                      <m:r>
                        <a:rPr lang="en-US" sz="2000" b="0" i="1" smtClean="0">
                          <a:latin typeface="Cambria Math" panose="02040503050406030204" pitchFamily="18" charset="0"/>
                        </a:rPr>
                        <m:t>7.93</m:t>
                      </m:r>
                    </m:oMath>
                  </m:oMathPara>
                </a14:m>
                <a:endParaRPr lang="en-US" sz="2000" dirty="0"/>
              </a:p>
              <a:p>
                <a:pPr>
                  <a:spcAft>
                    <a:spcPts val="600"/>
                  </a:spcAft>
                </a:pPr>
                <a:r>
                  <a:rPr lang="en-US" sz="2000" dirty="0"/>
                  <a:t>We already know that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=11</m:t>
                    </m:r>
                  </m:oMath>
                </a14:m>
                <a:r>
                  <a:rPr lang="en-US" sz="2000" dirty="0"/>
                  <a:t>. Thus, the sample correlation coefficient is</a:t>
                </a:r>
              </a:p>
              <a:p>
                <a:pPr marL="914400"/>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𝑥𝑦</m:t>
                              </m:r>
                            </m:sub>
                          </m:sSub>
                        </m:num>
                        <m:den>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𝑥</m:t>
                              </m:r>
                            </m:sub>
                          </m:sSub>
                          <m:sSub>
                            <m:sSubPr>
                              <m:ctrlPr>
                                <a:rPr lang="en-US" sz="2000" i="1">
                                  <a:latin typeface="Cambria Math" panose="02040503050406030204" pitchFamily="18" charset="0"/>
                                </a:rPr>
                              </m:ctrlPr>
                            </m:sSubPr>
                            <m:e>
                              <m:r>
                                <a:rPr lang="en-US" sz="2000" b="0" i="1">
                                  <a:latin typeface="Cambria Math" panose="02040503050406030204" pitchFamily="18" charset="0"/>
                                </a:rPr>
                                <m:t>𝑠</m:t>
                              </m:r>
                            </m:e>
                            <m:sub>
                              <m:r>
                                <a:rPr lang="en-US" sz="2000" b="0" i="1" smtClean="0">
                                  <a:latin typeface="Cambria Math" panose="02040503050406030204" pitchFamily="18" charset="0"/>
                                </a:rPr>
                                <m:t>𝑦</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11</m:t>
                          </m:r>
                        </m:num>
                        <m:den>
                          <m:r>
                            <a:rPr lang="en-US" sz="2000" b="0" i="1" smtClean="0">
                              <a:latin typeface="Cambria Math" panose="02040503050406030204" pitchFamily="18" charset="0"/>
                            </a:rPr>
                            <m:t>(1.49)(7.93)</m:t>
                          </m:r>
                        </m:den>
                      </m:f>
                      <m:r>
                        <a:rPr lang="en-US" sz="2000" b="0" i="1" smtClean="0">
                          <a:latin typeface="Cambria Math" panose="02040503050406030204" pitchFamily="18" charset="0"/>
                        </a:rPr>
                        <m:t>=0.93</m:t>
                      </m:r>
                    </m:oMath>
                  </m:oMathPara>
                </a14:m>
                <a:endParaRPr lang="en-US" sz="2000" dirty="0"/>
              </a:p>
              <a:p>
                <a:pPr marL="574675" indent="-342900">
                  <a:spcBef>
                    <a:spcPts val="1200"/>
                  </a:spcBef>
                  <a:buFont typeface="Arial" panose="020B0604020202020204" pitchFamily="34" charset="0"/>
                  <a:buChar char="•"/>
                </a:pPr>
                <a:r>
                  <a:rPr lang="en-US" sz="2000" dirty="0"/>
                  <a:t>The correlation coefficient is always between −1 and +1.</a:t>
                </a:r>
              </a:p>
              <a:p>
                <a:pPr marL="574675" indent="-342900">
                  <a:buFont typeface="Arial" panose="020B0604020202020204" pitchFamily="34" charset="0"/>
                  <a:buChar char="•"/>
                </a:pPr>
                <a:r>
                  <a:rPr lang="en-US" sz="2000" dirty="0"/>
                  <a:t>The sign of the correlation coefficient matches the direction of the association.</a:t>
                </a:r>
              </a:p>
              <a:p>
                <a:pPr marL="574675" indent="-342900">
                  <a:buFont typeface="Arial" panose="020B0604020202020204" pitchFamily="34" charset="0"/>
                  <a:buChar char="•"/>
                </a:pPr>
                <a:r>
                  <a:rPr lang="en-US" sz="2000" dirty="0"/>
                  <a:t>The closer to +1, the stronger the positive linear association between </a:t>
                </a:r>
                <a:r>
                  <a:rPr lang="en-US" sz="2000" i="1" dirty="0"/>
                  <a:t>x</a:t>
                </a:r>
                <a:r>
                  <a:rPr lang="en-US" sz="2000" dirty="0"/>
                  <a:t> and </a:t>
                </a:r>
                <a:r>
                  <a:rPr lang="en-US" sz="2000" i="1" dirty="0"/>
                  <a:t>y</a:t>
                </a:r>
                <a:r>
                  <a:rPr lang="en-US" sz="2000" dirty="0"/>
                  <a:t>.</a:t>
                </a:r>
              </a:p>
              <a:p>
                <a:pPr marL="574675" indent="-342900">
                  <a:buFont typeface="Arial" panose="020B0604020202020204" pitchFamily="34" charset="0"/>
                  <a:buChar char="•"/>
                </a:pPr>
                <a:r>
                  <a:rPr lang="en-US" sz="2000" dirty="0"/>
                  <a:t>The closer to −1, the stronger the negative linear association between </a:t>
                </a:r>
                <a:r>
                  <a:rPr lang="en-US" sz="2000" i="1" dirty="0"/>
                  <a:t>x</a:t>
                </a:r>
                <a:r>
                  <a:rPr lang="en-US" sz="2000" dirty="0"/>
                  <a:t> and </a:t>
                </a:r>
                <a:r>
                  <a:rPr lang="en-US" sz="2000" i="1" dirty="0"/>
                  <a:t>y</a:t>
                </a:r>
                <a:r>
                  <a:rPr lang="en-US" sz="2000" dirty="0"/>
                  <a:t>.</a:t>
                </a:r>
              </a:p>
              <a:p>
                <a:pPr marL="574675" indent="-342900">
                  <a:buFont typeface="Arial" panose="020B0604020202020204" pitchFamily="34" charset="0"/>
                  <a:buChar char="•"/>
                </a:pPr>
                <a:r>
                  <a:rPr lang="en-US" sz="2000" dirty="0"/>
                  <a:t>The closer to 0, the weaker the linear association between </a:t>
                </a:r>
                <a:r>
                  <a:rPr lang="en-US" sz="2000" i="1" dirty="0"/>
                  <a:t>x</a:t>
                </a:r>
                <a:r>
                  <a:rPr lang="en-US" sz="2000" dirty="0"/>
                  <a:t> and </a:t>
                </a:r>
                <a:r>
                  <a:rPr lang="en-US" sz="2000" i="1" dirty="0"/>
                  <a:t>y</a:t>
                </a:r>
                <a:r>
                  <a:rPr lang="en-US" sz="2000" dirty="0"/>
                  <a:t>.</a:t>
                </a:r>
              </a:p>
              <a:p>
                <a:endParaRPr lang="en-US" sz="2000" dirty="0"/>
              </a:p>
              <a:p>
                <a:endParaRPr lang="en-US" sz="2000" dirty="0"/>
              </a:p>
              <a:p>
                <a:endParaRPr lang="en-US" sz="2000" dirty="0"/>
              </a:p>
            </p:txBody>
          </p:sp>
        </mc:Choice>
        <mc:Fallback xmlns="">
          <p:sp>
            <p:nvSpPr>
              <p:cNvPr id="5" name="Text Placeholder 4">
                <a:extLst>
                  <a:ext uri="{FF2B5EF4-FFF2-40B4-BE49-F238E27FC236}">
                    <a16:creationId xmlns:a16="http://schemas.microsoft.com/office/drawing/2014/main" id="{43E2AAE4-F9A5-F843-491D-446D0FA1AF41}"/>
                  </a:ext>
                </a:extLst>
              </p:cNvPr>
              <p:cNvSpPr>
                <a:spLocks noGrp="1" noRot="1" noChangeAspect="1" noMove="1" noResize="1" noEditPoints="1" noAdjustHandles="1" noChangeArrowheads="1" noChangeShapeType="1" noTextEdit="1"/>
              </p:cNvSpPr>
              <p:nvPr>
                <p:ph type="body" sz="quarter" idx="15"/>
              </p:nvPr>
            </p:nvSpPr>
            <p:spPr>
              <a:xfrm>
                <a:off x="743576" y="1308537"/>
                <a:ext cx="10610223" cy="4493173"/>
              </a:xfrm>
              <a:blipFill>
                <a:blip r:embed="rId3"/>
                <a:stretch>
                  <a:fillRect l="-1494" t="-1628" r="-575" b="-3121"/>
                </a:stretch>
              </a:blipFill>
            </p:spPr>
            <p:txBody>
              <a:bodyPr/>
              <a:lstStyle/>
              <a:p>
                <a:r>
                  <a:rPr lang="en-US">
                    <a:noFill/>
                  </a:rPr>
                  <a:t> </a:t>
                </a:r>
              </a:p>
            </p:txBody>
          </p:sp>
        </mc:Fallback>
      </mc:AlternateContent>
    </p:spTree>
    <p:extLst>
      <p:ext uri="{BB962C8B-B14F-4D97-AF65-F5344CB8AC3E}">
        <p14:creationId xmlns:p14="http://schemas.microsoft.com/office/powerpoint/2010/main" val="4107415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8196-0E04-401D-B93F-685948CD49CA}"/>
              </a:ext>
            </a:extLst>
          </p:cNvPr>
          <p:cNvSpPr>
            <a:spLocks noGrp="1"/>
          </p:cNvSpPr>
          <p:nvPr>
            <p:ph type="title"/>
          </p:nvPr>
        </p:nvSpPr>
        <p:spPr/>
        <p:txBody>
          <a:bodyPr/>
          <a:lstStyle/>
          <a:p>
            <a:r>
              <a:rPr lang="en-US" sz="3200" dirty="0">
                <a:solidFill>
                  <a:srgbClr val="25894E"/>
                </a:solidFill>
              </a:rPr>
              <a:t>3.5 Excel: Compute the Sample Covariance and Sample Correlation Coefficient</a:t>
            </a:r>
            <a:endParaRPr lang="en-US" sz="3200" dirty="0"/>
          </a:p>
        </p:txBody>
      </p:sp>
      <p:sp>
        <p:nvSpPr>
          <p:cNvPr id="3" name="Text Placeholder 2">
            <a:extLst>
              <a:ext uri="{FF2B5EF4-FFF2-40B4-BE49-F238E27FC236}">
                <a16:creationId xmlns:a16="http://schemas.microsoft.com/office/drawing/2014/main" id="{03766689-C417-E65F-A73E-1E840E2BF8A9}"/>
              </a:ext>
            </a:extLst>
          </p:cNvPr>
          <p:cNvSpPr>
            <a:spLocks noGrp="1"/>
          </p:cNvSpPr>
          <p:nvPr>
            <p:ph type="body" sz="quarter" idx="15"/>
          </p:nvPr>
        </p:nvSpPr>
        <p:spPr>
          <a:xfrm>
            <a:off x="743576" y="1471613"/>
            <a:ext cx="10610224" cy="1856632"/>
          </a:xfrm>
        </p:spPr>
        <p:txBody>
          <a:bodyPr/>
          <a:lstStyle/>
          <a:p>
            <a:r>
              <a:rPr lang="en-US" sz="2000" b="1" dirty="0"/>
              <a:t>Enter/Access Data</a:t>
            </a:r>
            <a:r>
              <a:rPr lang="en-US" sz="2000" dirty="0"/>
              <a:t>: Open the file </a:t>
            </a:r>
            <a:r>
              <a:rPr lang="en-US" sz="2000" i="1" dirty="0"/>
              <a:t>electronics</a:t>
            </a:r>
            <a:r>
              <a:rPr lang="en-US" sz="2000" dirty="0"/>
              <a:t>. The data are in cells B2:C11.</a:t>
            </a:r>
          </a:p>
          <a:p>
            <a:r>
              <a:rPr lang="en-US" sz="2000" b="1" dirty="0"/>
              <a:t>Enter Functions and Formulas</a:t>
            </a:r>
            <a:r>
              <a:rPr lang="en-US" sz="2000" dirty="0"/>
              <a:t>: To compute the sample covariance in cell F2, we enter</a:t>
            </a:r>
          </a:p>
          <a:p>
            <a:pPr marL="914400"/>
            <a:r>
              <a:rPr lang="en-US" sz="2000" i="1" dirty="0"/>
              <a:t>=COVARIANCE.S(B2:B11,C2:C11)</a:t>
            </a:r>
          </a:p>
          <a:p>
            <a:r>
              <a:rPr lang="en-US" sz="2000" dirty="0"/>
              <a:t>To compute the sample correlation coefficient in cell F3, we enter</a:t>
            </a:r>
          </a:p>
          <a:p>
            <a:pPr marL="971550"/>
            <a:r>
              <a:rPr lang="en-US" sz="2000" dirty="0"/>
              <a:t>=CORREL(B2:B11,C2:C11)</a:t>
            </a:r>
          </a:p>
        </p:txBody>
      </p:sp>
      <p:pic>
        <p:nvPicPr>
          <p:cNvPr id="6" name="Picture Placeholder 5" descr="Two screenshots show an Excel spreadsheet used to compute the covariance and correlation coefficient. In both spreadsheets, column A is labeled Week, column B is labeled Number of Commercials, and column C is labeled Sales Volume. The entries in rows 2 through 11 are as follows. Row 2: Week, 1; Number of Commercials, 2; Sales Volume, 50. Row 3: Week, 2; Number of Commercials, 5; Sales Volume, 57. Row 4: Week, 3; Number of Commercials, 1; Sales Volume, 41. Row 5: Week, 4; Number of Commercials, 3; Sales Volume, 54. Row 6: Week, 5; Number of Commercials, 4; Sales Volume, 54. Row 7: Week, 6; Number of Commercials, 1; Sales Volume, 38. Row 8: Week, 7; Number of Commercials, 5; Sales Volume, 63. Row 9: Week, 8; Number of Commercials, 3; Sales Volume, 48. Row 10: Week, 9; Number of Commercials, 4; Sales Volume, 59. Row 11: Week, 10; Number of Commercials, 2; Sales Volume, 46. In the first spreadsheet, the cell entries are as follows. E2: Sample Covariance. F2: = COVARIANCE. S(B2:B11, C2:C11). E3: Sample Correlation. F3: = CORREL(B2:B11, C2:C11). In the second spreadsheet, the cell entries are as follows. E2: Sample Covariance. F2: 11.00. E3: Sample Correlation. F3: 0.93.">
            <a:extLst>
              <a:ext uri="{FF2B5EF4-FFF2-40B4-BE49-F238E27FC236}">
                <a16:creationId xmlns:a16="http://schemas.microsoft.com/office/drawing/2014/main" id="{366C4290-70FA-B81A-9BE3-56300CD67306}"/>
              </a:ext>
            </a:extLst>
          </p:cNvPr>
          <p:cNvPicPr>
            <a:picLocks noGrp="1" noChangeAspect="1"/>
          </p:cNvPicPr>
          <p:nvPr>
            <p:ph type="pic" sz="quarter" idx="16"/>
          </p:nvPr>
        </p:nvPicPr>
        <p:blipFill>
          <a:blip r:embed="rId3"/>
          <a:srcRect t="118" b="118"/>
          <a:stretch/>
        </p:blipFill>
        <p:spPr>
          <a:xfrm>
            <a:off x="1524000" y="3378992"/>
            <a:ext cx="9144000" cy="2533650"/>
          </a:xfrm>
          <a:ln>
            <a:solidFill>
              <a:srgbClr val="000000"/>
            </a:solidFill>
          </a:ln>
        </p:spPr>
      </p:pic>
    </p:spTree>
    <p:extLst>
      <p:ext uri="{BB962C8B-B14F-4D97-AF65-F5344CB8AC3E}">
        <p14:creationId xmlns:p14="http://schemas.microsoft.com/office/powerpoint/2010/main" val="535243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D59C-5D93-CA77-0C43-C5C23F6E2B0D}"/>
              </a:ext>
            </a:extLst>
          </p:cNvPr>
          <p:cNvSpPr>
            <a:spLocks noGrp="1"/>
          </p:cNvSpPr>
          <p:nvPr>
            <p:ph type="title"/>
          </p:nvPr>
        </p:nvSpPr>
        <p:spPr/>
        <p:txBody>
          <a:bodyPr/>
          <a:lstStyle/>
          <a:p>
            <a:r>
              <a:rPr lang="en-US" dirty="0"/>
              <a:t>3.5 A Note on Linear Association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C392674-28C8-85FD-CFAA-3F088FC13CF0}"/>
                  </a:ext>
                </a:extLst>
              </p:cNvPr>
              <p:cNvSpPr>
                <a:spLocks noGrp="1"/>
              </p:cNvSpPr>
              <p:nvPr>
                <p:ph type="body" sz="quarter" idx="15"/>
              </p:nvPr>
            </p:nvSpPr>
            <p:spPr>
              <a:xfrm>
                <a:off x="743577" y="1164922"/>
                <a:ext cx="10515600" cy="1821135"/>
              </a:xfrm>
            </p:spPr>
            <p:txBody>
              <a:bodyPr/>
              <a:lstStyle/>
              <a:p>
                <a:r>
                  <a:rPr lang="en-US" sz="2000" dirty="0"/>
                  <a:t>The correlation coefficient measures only the strength of the </a:t>
                </a:r>
                <a:r>
                  <a:rPr lang="en-US" sz="2000" i="1" dirty="0"/>
                  <a:t>linear association</a:t>
                </a:r>
                <a:r>
                  <a:rPr lang="en-US" sz="2000" dirty="0"/>
                  <a:t> between two quantitative variables.</a:t>
                </a:r>
              </a:p>
              <a:p>
                <a:r>
                  <a:rPr lang="en-US" sz="2000" dirty="0"/>
                  <a:t>The sample correlation coefficient for the data shown here is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𝑥𝑦</m:t>
                        </m:r>
                      </m:sub>
                    </m:sSub>
                    <m:r>
                      <a:rPr lang="en-US" sz="2000" b="0" i="1" smtClean="0">
                        <a:latin typeface="Cambria Math" panose="02040503050406030204" pitchFamily="18" charset="0"/>
                      </a:rPr>
                      <m:t>=</m:t>
                    </m:r>
                    <m:r>
                      <a:rPr lang="en-US" sz="2000" i="1" dirty="0">
                        <a:latin typeface="Cambria Math" panose="02040503050406030204" pitchFamily="18" charset="0"/>
                      </a:rPr>
                      <m:t>−0.007</m:t>
                    </m:r>
                  </m:oMath>
                </a14:m>
                <a:r>
                  <a:rPr lang="en-US" sz="2000" dirty="0"/>
                  <a:t> and indicates that there is no linear relationship between the two variables. </a:t>
                </a:r>
              </a:p>
              <a:p>
                <a:r>
                  <a:rPr lang="en-US" sz="2000" dirty="0"/>
                  <a:t>However, the scatter diagram provides strong visual evidence of a </a:t>
                </a:r>
                <a:r>
                  <a:rPr lang="en-US" sz="2000" i="1" dirty="0"/>
                  <a:t>nonlinear</a:t>
                </a:r>
                <a:r>
                  <a:rPr lang="en-US" sz="2000" dirty="0"/>
                  <a:t> relationship</a:t>
                </a:r>
              </a:p>
            </p:txBody>
          </p:sp>
        </mc:Choice>
        <mc:Fallback xmlns="">
          <p:sp>
            <p:nvSpPr>
              <p:cNvPr id="3" name="Text Placeholder 2">
                <a:extLst>
                  <a:ext uri="{FF2B5EF4-FFF2-40B4-BE49-F238E27FC236}">
                    <a16:creationId xmlns:a16="http://schemas.microsoft.com/office/drawing/2014/main" id="{BC392674-28C8-85FD-CFAA-3F088FC13CF0}"/>
                  </a:ext>
                </a:extLst>
              </p:cNvPr>
              <p:cNvSpPr>
                <a:spLocks noGrp="1" noRot="1" noChangeAspect="1" noMove="1" noResize="1" noEditPoints="1" noAdjustHandles="1" noChangeArrowheads="1" noChangeShapeType="1" noTextEdit="1"/>
              </p:cNvSpPr>
              <p:nvPr>
                <p:ph type="body" sz="quarter" idx="15"/>
              </p:nvPr>
            </p:nvSpPr>
            <p:spPr>
              <a:xfrm>
                <a:off x="743577" y="1164922"/>
                <a:ext cx="10515600" cy="1821135"/>
              </a:xfrm>
              <a:blipFill>
                <a:blip r:embed="rId2"/>
                <a:stretch>
                  <a:fillRect l="-1507" t="-4013" r="-754" b="-2007"/>
                </a:stretch>
              </a:blipFill>
            </p:spPr>
            <p:txBody>
              <a:bodyPr/>
              <a:lstStyle/>
              <a:p>
                <a:r>
                  <a:rPr lang="en-US">
                    <a:noFill/>
                  </a:rPr>
                  <a:t> </a:t>
                </a:r>
              </a:p>
            </p:txBody>
          </p:sp>
        </mc:Fallback>
      </mc:AlternateContent>
      <p:pic>
        <p:nvPicPr>
          <p:cNvPr id="6" name="Picture Placeholder 5" descr="A scatter diagram plots amount spent on environmental control versus outside temperature. The horizontal axis is labeled “Outside Temperature (Degrees Fahrenheit)” and ranges from 0 to 100 with tickmarks in increments of 20. The vertical axis is labeled “Dollars Spent on Environmental Control” and ranges from 0 to $1600 with tickmarks in increments of 200. The plots show a decreasing trend from (0, 1300) to (48, 200), and then an increasing trend to (98, 1300). All data are approximate.&#10;">
            <a:extLst>
              <a:ext uri="{FF2B5EF4-FFF2-40B4-BE49-F238E27FC236}">
                <a16:creationId xmlns:a16="http://schemas.microsoft.com/office/drawing/2014/main" id="{A5075238-62B8-DFF9-71DF-7E784F973B8D}"/>
              </a:ext>
            </a:extLst>
          </p:cNvPr>
          <p:cNvPicPr>
            <a:picLocks noGrp="1" noChangeAspect="1"/>
          </p:cNvPicPr>
          <p:nvPr>
            <p:ph type="pic" sz="quarter" idx="16"/>
          </p:nvPr>
        </p:nvPicPr>
        <p:blipFill rotWithShape="1">
          <a:blip r:embed="rId3"/>
          <a:srcRect t="15775" b="15775"/>
          <a:stretch/>
        </p:blipFill>
        <p:spPr>
          <a:xfrm>
            <a:off x="2467708" y="3172739"/>
            <a:ext cx="6585329" cy="2651934"/>
          </a:xfrm>
        </p:spPr>
      </p:pic>
    </p:spTree>
    <p:extLst>
      <p:ext uri="{BB962C8B-B14F-4D97-AF65-F5344CB8AC3E}">
        <p14:creationId xmlns:p14="http://schemas.microsoft.com/office/powerpoint/2010/main" val="1148730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C5C803-142B-8819-D116-19208BB08E0A}"/>
              </a:ext>
            </a:extLst>
          </p:cNvPr>
          <p:cNvSpPr>
            <a:spLocks noGrp="1"/>
          </p:cNvSpPr>
          <p:nvPr>
            <p:ph type="title"/>
          </p:nvPr>
        </p:nvSpPr>
        <p:spPr/>
        <p:txBody>
          <a:bodyPr/>
          <a:lstStyle/>
          <a:p>
            <a:r>
              <a:rPr lang="en-US" dirty="0"/>
              <a:t>3.6 Data Dashboards</a:t>
            </a:r>
          </a:p>
        </p:txBody>
      </p:sp>
      <p:sp>
        <p:nvSpPr>
          <p:cNvPr id="6" name="Text Placeholder 5">
            <a:extLst>
              <a:ext uri="{FF2B5EF4-FFF2-40B4-BE49-F238E27FC236}">
                <a16:creationId xmlns:a16="http://schemas.microsoft.com/office/drawing/2014/main" id="{F9F0C654-869D-40B0-A34C-78A04B1A9DD5}"/>
              </a:ext>
            </a:extLst>
          </p:cNvPr>
          <p:cNvSpPr>
            <a:spLocks noGrp="1"/>
          </p:cNvSpPr>
          <p:nvPr>
            <p:ph type="body" sz="quarter" idx="15"/>
          </p:nvPr>
        </p:nvSpPr>
        <p:spPr/>
        <p:txBody>
          <a:bodyPr/>
          <a:lstStyle/>
          <a:p>
            <a:r>
              <a:rPr lang="en-US" b="1" dirty="0"/>
              <a:t>Data dashboards </a:t>
            </a:r>
            <a:r>
              <a:rPr lang="en-US" dirty="0"/>
              <a:t>= set of visual displays that organize and present data</a:t>
            </a:r>
          </a:p>
          <a:p>
            <a:pPr marL="342900" indent="-342900">
              <a:buFont typeface="Arial" panose="020B0604020202020204" pitchFamily="34" charset="0"/>
              <a:buChar char="•"/>
            </a:pPr>
            <a:r>
              <a:rPr lang="en-US" dirty="0"/>
              <a:t>Monitor the performance of a company or organization</a:t>
            </a:r>
          </a:p>
          <a:p>
            <a:pPr marL="342900" indent="-342900">
              <a:buFont typeface="Arial" panose="020B0604020202020204" pitchFamily="34" charset="0"/>
              <a:buChar char="•"/>
            </a:pPr>
            <a:r>
              <a:rPr lang="en-US" dirty="0"/>
              <a:t>Must be easy to read, understand, and interpret</a:t>
            </a:r>
          </a:p>
          <a:p>
            <a:pPr marL="342900" indent="-342900">
              <a:buFont typeface="Arial" panose="020B0604020202020204" pitchFamily="34" charset="0"/>
              <a:buChar char="•"/>
            </a:pPr>
            <a:r>
              <a:rPr lang="en-US" dirty="0"/>
              <a:t>Includes both graphical displays and numerical measures</a:t>
            </a:r>
          </a:p>
          <a:p>
            <a:r>
              <a:rPr lang="en-US" dirty="0"/>
              <a:t>The choice of graphs and tables depends on the nature of the data set and purpose for which it is being gathered.</a:t>
            </a:r>
          </a:p>
          <a:p>
            <a:endParaRPr lang="en-US" dirty="0"/>
          </a:p>
          <a:p>
            <a:endParaRPr lang="en-US" dirty="0"/>
          </a:p>
          <a:p>
            <a:endParaRPr lang="en-US" dirty="0"/>
          </a:p>
        </p:txBody>
      </p:sp>
    </p:spTree>
    <p:extLst>
      <p:ext uri="{BB962C8B-B14F-4D97-AF65-F5344CB8AC3E}">
        <p14:creationId xmlns:p14="http://schemas.microsoft.com/office/powerpoint/2010/main" val="19924139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A194-F9AB-6BCA-60E9-07764EDE969E}"/>
              </a:ext>
            </a:extLst>
          </p:cNvPr>
          <p:cNvSpPr>
            <a:spLocks noGrp="1"/>
          </p:cNvSpPr>
          <p:nvPr>
            <p:ph type="title"/>
          </p:nvPr>
        </p:nvSpPr>
        <p:spPr/>
        <p:txBody>
          <a:bodyPr/>
          <a:lstStyle/>
          <a:p>
            <a:r>
              <a:rPr lang="en-US" dirty="0"/>
              <a:t>3.6 Data Dashboard with Graphical Displays</a:t>
            </a:r>
          </a:p>
        </p:txBody>
      </p:sp>
      <p:pic>
        <p:nvPicPr>
          <p:cNvPr id="5" name="Picture 4" descr="A data dashboard with five graphs showing data from shift 1 of an IT call center at Grogan Oil on September 19th, 2012, at 12:44 p.m. The top left graph is a stacked bar chart titled “Call Volume” and shows calls by three categories (E-Mail, Internet, and Software).  The horizontal axis is labeled “Hours” and ranges from 8:00 to 12:00 at increments of 1:00.  The vertical axis is labeled “Number of Calls” and ranges from 0 to 25 at increments of 5. The approximate data from the graph are as follows: 8:00 (E-Mail, 13); (Internet, 7); (Software, 3). 9:00: (E-Mail, 9); (Internet, 5); (Software, 5). 10:00 (E-Mail, 7); (Internet, 4); (Software, 9). 11:00 (E-Mail, 3); (Internet, 2); (Software, 4). 12:00 (E-Mail, 1); (Internet, 2); (Software, 5). The top right graph is a bar chart titled “Time Breakdown This Shift”. The horizontal axis is labeled “Hours” and shows E-Mail, Internet, Software, and Idle. The vertical axis is labeled ”Percentage” and ranges from 0 to 50 at increments of 10. The approximate data from the graph are as follows: (E-Mail, 22); (Internet, 19); (Software, 47); (Idel, 15). The middle-left graph is titled “Unresolved Cases Beyond 15 Minutes”. The horizontal axis is labeled “Minutes” and ranges from 0 to 400 at increments of 100. The vertical axis is labeled “Case Number” and shows T 57, W 5, W 24, and W 59. The approximate data from the graph are as follows: W 59; (Internet, 20). W 24: (Software, 170). W5: (Software 280). T57: (Software, 340). The middle-right graph is a side-by-side bar chart titled “Call Volume by Office”. The horizontal axis is labeled “Number of Calls” and ranges from 0 to 25 at increments of 5. The vertical axis shows Houston, Dallas, and Austin. The approximate data from the graph are as follows. Houston: (Software, 5); (Internet, 6); (E-Mail, 7). Dallas: (Software, 16); (Internet, 6); (E-Mail, 5). Austin: (Software, 4); (Internet, 9); (E-Mail, 22). The bottom graph is a histogram titled Time to Resolve a Case. The horizontal axis is labeled Minutes and ranges from 1 to 32 plus. The vertical axis is labeled Frequency and ranges from 0 to 124 in increments of 2. The approximate data from the graph are as follows: (Less than 1, 10); (1 to 2, 13); (2 to 3, 10); (3 to 4, 9); (4 to 5, 5); (5 to 6, 2); (6 to 7, 1); (7 to 8, 6); (8 to 9, 3); (9 to 10, 3); (10 to 11, 2); (11 to 12, 2); (12 to 13, 2); (13 to 14, 2); (14 to 15, 2); (15 to 16, 1); (16 to 17, 0); (17 to 18, 0); (18 to 19, 0); (19 to 20, 0); (20 to 21, 0); (21 to 22, 1); (22 to 23, 1); (23 to 24, 0); (24 to 25, 0); (25 to 26, 0); (26 to 27, 0); (27 to 28, 0); (28 to 29, 0); (29 to 30, 0); (30 to 31, 0); (31 to 32, 0); (32 plus, 2).">
            <a:extLst>
              <a:ext uri="{FF2B5EF4-FFF2-40B4-BE49-F238E27FC236}">
                <a16:creationId xmlns:a16="http://schemas.microsoft.com/office/drawing/2014/main" id="{FF1971F3-61ED-8FB3-B7CD-C249FB994A21}"/>
              </a:ext>
            </a:extLst>
          </p:cNvPr>
          <p:cNvPicPr>
            <a:picLocks noChangeAspect="1"/>
          </p:cNvPicPr>
          <p:nvPr/>
        </p:nvPicPr>
        <p:blipFill>
          <a:blip r:embed="rId2"/>
          <a:stretch>
            <a:fillRect/>
          </a:stretch>
        </p:blipFill>
        <p:spPr>
          <a:xfrm>
            <a:off x="3280609" y="1037230"/>
            <a:ext cx="5928315" cy="5174649"/>
          </a:xfrm>
          <a:prstGeom prst="rect">
            <a:avLst/>
          </a:prstGeom>
        </p:spPr>
      </p:pic>
    </p:spTree>
    <p:extLst>
      <p:ext uri="{BB962C8B-B14F-4D97-AF65-F5344CB8AC3E}">
        <p14:creationId xmlns:p14="http://schemas.microsoft.com/office/powerpoint/2010/main" val="13716354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11EA-52B4-3D95-1E6E-064C19C3BBE8}"/>
              </a:ext>
            </a:extLst>
          </p:cNvPr>
          <p:cNvSpPr>
            <a:spLocks noGrp="1"/>
          </p:cNvSpPr>
          <p:nvPr>
            <p:ph type="title"/>
          </p:nvPr>
        </p:nvSpPr>
        <p:spPr/>
        <p:txBody>
          <a:bodyPr/>
          <a:lstStyle/>
          <a:p>
            <a:r>
              <a:rPr lang="en-US" dirty="0"/>
              <a:t>3.6  Data Dashboard with Summary Statistics</a:t>
            </a:r>
          </a:p>
        </p:txBody>
      </p:sp>
      <p:pic>
        <p:nvPicPr>
          <p:cNvPr id="5" name="Picture 4" descr="The top left graph is a dot and line graph titled “Time to Resolve Cases”. The line passes through the points for software, internet, and email. The horizontal axis is labeled “Call” and ranges from 1 to 76 with tick marks at increments of 5. The region between 1 and 22 is labeled “8:00”, the region between 22 and 42 is labeled “9:00”, the region between 42 and 61 is labeled “10:00”, the region between 61 and 70 is labeled “11:00”, and the region between 70 and 76 is labeled “12:00”.  The vertical axis is labeled “Minutes” and ranges from 0 to 25 with tick marks at increments of 5. A horizontal line is placed at 15 minutes. Within each time region, points are plotted for the time needed to resolve each call. The line fluctuates between 0 and 12 minutes for calls 1 through 22, between 0 and 22 minutes for calls 22 through 42, between 0 and 14 minutes for calls 42 through 61, between 1 and 15 minutes for calls 61 through 70, and between 1 and 11 minutes for calls 70 through 76.  The top right graph is titled “Boxplot of Time to Resolve by Type of Case” and shows three vertical boxplots. The horizontal axis is labeled “Minutes” and ranges from 0 to 25, with tick marks at 5-minute intervals. A horizontal line is placed at 15 minutes.   The data for E-Mail are as follows: Bottom whisker end: 0, Q1 at 1, Median at 3, Q3 at 9, Top whisker end at 17, and outlier at 22. The data for Internet are as follows: Q1 at 0, Median at 1, Q3 at 3, Top whisker end at 8, and outliers at 11 and 14. The data for Software are as follows: Bottom whisker end: 0, Q1 at 2, Median at 4, Q3 at 8, Top whisker end at 17. All data are approximate.  The bottom table is titled” Summary Statistics – Resolved Cases”. The first table has three rows and five columns. The column headers are type of case, cases, mean median, and standard deviation. The row entries are as follows: Row 1,  Type of case, E-Mail; Cases, 34; Mean, 5.8; Median, 3.5; Standard Deviation, 5.4. Row 2,  Type of case, Internet; Cases, 19; Mean, 3; Median, 1; Standard Deviation, 4. Row 3,  Type of case, Software; Cases, 23; Mean, 5.4; Median, 4; Standard Deviation, 5.  The second table has five rows and five columns. The column headers are Hour, Cases Mean, Median, and Standard Deviation. The row entries are as follows. Row 1: Hour, 8:00; Cases, 22; Mean, 3.5; Median, 2; Standard Deviation, 3.7. Row 2: Hour, 9:00; Cases, 19; Mean, 5.8; Median, 3; Standard Deviation, 6.6. Row 3: Hour, 10:00; Cases, 19; Mean, 5.3; Median, 4; Standard Deviation, 4.8. Row 4: Hour, 11:00; Cases, 9; Mean, 6.9; Median, 6; Standard Deviation, 5,1. Row 1: Hour, 12:00; Cases, 6; Mean, 4.8; Median, 3.5; Standard Deviation, 3.9.">
            <a:extLst>
              <a:ext uri="{FF2B5EF4-FFF2-40B4-BE49-F238E27FC236}">
                <a16:creationId xmlns:a16="http://schemas.microsoft.com/office/drawing/2014/main" id="{053EB198-69AE-2FD2-2F2A-B0BC44E84830}"/>
              </a:ext>
            </a:extLst>
          </p:cNvPr>
          <p:cNvPicPr>
            <a:picLocks noChangeAspect="1"/>
          </p:cNvPicPr>
          <p:nvPr/>
        </p:nvPicPr>
        <p:blipFill>
          <a:blip r:embed="rId2"/>
          <a:srcRect l="1590" t="4170" r="1839" b="2895"/>
          <a:stretch>
            <a:fillRect/>
          </a:stretch>
        </p:blipFill>
        <p:spPr>
          <a:xfrm>
            <a:off x="1339516" y="1037230"/>
            <a:ext cx="9328484" cy="4948990"/>
          </a:xfrm>
          <a:prstGeom prst="rect">
            <a:avLst/>
          </a:prstGeom>
        </p:spPr>
      </p:pic>
    </p:spTree>
    <p:extLst>
      <p:ext uri="{BB962C8B-B14F-4D97-AF65-F5344CB8AC3E}">
        <p14:creationId xmlns:p14="http://schemas.microsoft.com/office/powerpoint/2010/main" val="632201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287562"/>
            <a:ext cx="10657500" cy="4432311"/>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introduced descriptive statistics that can be used to summarize the location, variability, and shape of the distribution.</a:t>
            </a:r>
          </a:p>
          <a:p>
            <a:pPr lvl="1">
              <a:lnSpc>
                <a:spcPct val="100000"/>
              </a:lnSpc>
              <a:spcBef>
                <a:spcPts val="600"/>
              </a:spcBef>
            </a:pPr>
            <a:r>
              <a:rPr lang="en-US" dirty="0">
                <a:latin typeface="Arial" panose="020B0604020202020204" pitchFamily="34" charset="0"/>
                <a:cs typeface="Arial" panose="020B0604020202020204" pitchFamily="34" charset="0"/>
              </a:rPr>
              <a:t>Numerical values obtained for a sample are called sample statistics. </a:t>
            </a:r>
          </a:p>
          <a:p>
            <a:pPr lvl="1">
              <a:lnSpc>
                <a:spcPct val="100000"/>
              </a:lnSpc>
              <a:spcBef>
                <a:spcPts val="600"/>
              </a:spcBef>
            </a:pPr>
            <a:r>
              <a:rPr lang="en-US" dirty="0">
                <a:latin typeface="Arial" panose="020B0604020202020204" pitchFamily="34" charset="0"/>
                <a:cs typeface="Arial" panose="020B0604020202020204" pitchFamily="34" charset="0"/>
              </a:rPr>
              <a:t>Numerical values obtained for a population are called population parameters.</a:t>
            </a:r>
          </a:p>
          <a:p>
            <a:pPr>
              <a:lnSpc>
                <a:spcPct val="100000"/>
              </a:lnSpc>
              <a:spcBef>
                <a:spcPts val="600"/>
              </a:spcBef>
            </a:pPr>
            <a:r>
              <a:rPr lang="en-US" dirty="0">
                <a:latin typeface="Arial" panose="020B0604020202020204" pitchFamily="34" charset="0"/>
                <a:cs typeface="Arial" panose="020B0604020202020204" pitchFamily="34" charset="0"/>
              </a:rPr>
              <a:t>We defined the mean, median, mode, weighted mean, geometric mean, percentiles, and quartiles as measures of location.</a:t>
            </a:r>
          </a:p>
          <a:p>
            <a:pPr>
              <a:lnSpc>
                <a:spcPct val="100000"/>
              </a:lnSpc>
              <a:spcBef>
                <a:spcPts val="600"/>
              </a:spcBef>
            </a:pPr>
            <a:r>
              <a:rPr lang="en-US" dirty="0">
                <a:latin typeface="Arial" panose="020B0604020202020204" pitchFamily="34" charset="0"/>
                <a:cs typeface="Arial" panose="020B0604020202020204" pitchFamily="34" charset="0"/>
              </a:rPr>
              <a:t>Next, we presented the range, interquartile range, variance, standard deviation, and coefficient of variation as measures of variability or dispersion. </a:t>
            </a:r>
          </a:p>
          <a:p>
            <a:pPr>
              <a:lnSpc>
                <a:spcPct val="100000"/>
              </a:lnSpc>
              <a:spcBef>
                <a:spcPts val="600"/>
              </a:spcBef>
            </a:pPr>
            <a:r>
              <a:rPr lang="en-US" dirty="0">
                <a:latin typeface="Arial" panose="020B0604020202020204" pitchFamily="34" charset="0"/>
                <a:cs typeface="Arial" panose="020B0604020202020204" pitchFamily="34" charset="0"/>
              </a:rPr>
              <a:t>We introduced skewness as a measure of the shape of the distribution, described how the mean and standard deviation are used to provide more information about data distribution (Chebyshev’s theorem and the empirical rule), and to identify outliers.</a:t>
            </a:r>
          </a:p>
          <a:p>
            <a:pPr>
              <a:lnSpc>
                <a:spcPct val="100000"/>
              </a:lnSpc>
              <a:spcBef>
                <a:spcPts val="600"/>
              </a:spcBef>
            </a:pPr>
            <a:r>
              <a:rPr lang="en-US" dirty="0">
                <a:latin typeface="Arial" panose="020B0604020202020204" pitchFamily="34" charset="0"/>
                <a:cs typeface="Arial" panose="020B0604020202020204" pitchFamily="34" charset="0"/>
              </a:rPr>
              <a:t>Finally, we introduced covariance and the correlation coefficient as measures of association between two variables.</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99735</TotalTime>
  <Words>6055</Words>
  <Application>Microsoft Office PowerPoint</Application>
  <PresentationFormat>Widescreen</PresentationFormat>
  <Paragraphs>617</Paragraphs>
  <Slides>51</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arial</vt:lpstr>
      <vt:lpstr>Calibri</vt:lpstr>
      <vt:lpstr>Cambria Math</vt:lpstr>
      <vt:lpstr>Helvetica</vt:lpstr>
      <vt:lpstr>Open Sans</vt:lpstr>
      <vt:lpstr>Summer Font</vt:lpstr>
      <vt:lpstr>Office Theme</vt:lpstr>
      <vt:lpstr>PowerPoint Presentation</vt:lpstr>
      <vt:lpstr>Chapter Contents</vt:lpstr>
      <vt:lpstr>Chapter Objectives (1 of 2)</vt:lpstr>
      <vt:lpstr>Chapter Objectives (2 of 2)</vt:lpstr>
      <vt:lpstr>Introduction</vt:lpstr>
      <vt:lpstr>3.1 Measures of Location</vt:lpstr>
      <vt:lpstr>3.1 The Mean as the Center of Balance for the Dot Plot</vt:lpstr>
      <vt:lpstr>3.1 Median</vt:lpstr>
      <vt:lpstr>3.1 Mode</vt:lpstr>
      <vt:lpstr>3.1 Excel: Compute Mean, Median, and Mode</vt:lpstr>
      <vt:lpstr>3.1 Weighted Mean</vt:lpstr>
      <vt:lpstr>3.1 Geometric Mean</vt:lpstr>
      <vt:lpstr>3.1 An Application of the Geometric Mean</vt:lpstr>
      <vt:lpstr>3.1 Excel: Compute Geometric Mean</vt:lpstr>
      <vt:lpstr>3.1 Percentile</vt:lpstr>
      <vt:lpstr>3.1 An Application of the Percentile</vt:lpstr>
      <vt:lpstr>3.1 Quartile</vt:lpstr>
      <vt:lpstr>3.1 Excel: Compute Percentiles and Quartiles</vt:lpstr>
      <vt:lpstr>3.2 Measures of Variability</vt:lpstr>
      <vt:lpstr>3.2 Range and Interquartile Range</vt:lpstr>
      <vt:lpstr>3.2 Variance</vt:lpstr>
      <vt:lpstr>3.2 A Calculation of the Sample Variance</vt:lpstr>
      <vt:lpstr>3.2 Standard Deviation</vt:lpstr>
      <vt:lpstr>3.2 Excel: Compute Sample Variance and Sample Standard Deviation</vt:lpstr>
      <vt:lpstr>3.2 Coefficient of Variation</vt:lpstr>
      <vt:lpstr>3.2 Excel’s Descriptive Statistics Tool: dialog Box</vt:lpstr>
      <vt:lpstr>3.2 Excel’s Descriptive Statistics Tool: Results</vt:lpstr>
      <vt:lpstr>3.3 Measures of Distribution Shape</vt:lpstr>
      <vt:lpstr>3.3 z-Scores</vt:lpstr>
      <vt:lpstr>3.3 Chebyshev’s Theorem</vt:lpstr>
      <vt:lpstr>3.3 Empirical Rule</vt:lpstr>
      <vt:lpstr>3.3 An Application of the Empirical Rule</vt:lpstr>
      <vt:lpstr>3.3 Detecting Outliers with z-Scores</vt:lpstr>
      <vt:lpstr>3.3 Alternative Method for Detecting Outliers</vt:lpstr>
      <vt:lpstr>3.4 Five-Number Summaries and Boxplots</vt:lpstr>
      <vt:lpstr>3.4 Boxplot</vt:lpstr>
      <vt:lpstr>3.4 Excel: Construct a Boxplot</vt:lpstr>
      <vt:lpstr>3.4 A Comparative Analysis Using Boxplots</vt:lpstr>
      <vt:lpstr>3.4 Excel: Construct a Comparative Analysis Using Boxplots</vt:lpstr>
      <vt:lpstr>3.5 Measures of Association Between Two Variables</vt:lpstr>
      <vt:lpstr>3.5 Covariance</vt:lpstr>
      <vt:lpstr>3.5 Interpretation of Sample Covariance</vt:lpstr>
      <vt:lpstr>3.5 Relationship Between Pattern and Covariance</vt:lpstr>
      <vt:lpstr>3.5 Correlation Coefficient</vt:lpstr>
      <vt:lpstr>3.5 Interpretation of the Correlation Coefficient</vt:lpstr>
      <vt:lpstr>3.5 Excel: Compute the Sample Covariance and Sample Correlation Coefficient</vt:lpstr>
      <vt:lpstr>3.5 A Note on Linear Association</vt:lpstr>
      <vt:lpstr>3.6 Data Dashboards</vt:lpstr>
      <vt:lpstr>3.6 Data Dashboard with Graphical Displays</vt:lpstr>
      <vt:lpstr>3.6  Data Dashboard with Summary Statistics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2472</cp:revision>
  <cp:lastPrinted>2016-10-03T15:29:39Z</cp:lastPrinted>
  <dcterms:created xsi:type="dcterms:W3CDTF">2019-11-14T21:20:16Z</dcterms:created>
  <dcterms:modified xsi:type="dcterms:W3CDTF">2026-02-24T19:26:40Z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