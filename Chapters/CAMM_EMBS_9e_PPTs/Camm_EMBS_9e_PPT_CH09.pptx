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handoutMasterIdLst>
    <p:handoutMasterId r:id="rId49"/>
  </p:handoutMasterIdLst>
  <p:sldIdLst>
    <p:sldId id="670" r:id="rId5"/>
    <p:sldId id="524" r:id="rId6"/>
    <p:sldId id="548" r:id="rId7"/>
    <p:sldId id="647" r:id="rId8"/>
    <p:sldId id="596" r:id="rId9"/>
    <p:sldId id="598" r:id="rId10"/>
    <p:sldId id="599" r:id="rId11"/>
    <p:sldId id="600" r:id="rId12"/>
    <p:sldId id="601" r:id="rId13"/>
    <p:sldId id="602" r:id="rId14"/>
    <p:sldId id="603" r:id="rId15"/>
    <p:sldId id="643" r:id="rId16"/>
    <p:sldId id="604" r:id="rId17"/>
    <p:sldId id="612" r:id="rId18"/>
    <p:sldId id="607" r:id="rId19"/>
    <p:sldId id="608" r:id="rId20"/>
    <p:sldId id="609" r:id="rId21"/>
    <p:sldId id="610" r:id="rId22"/>
    <p:sldId id="611" r:id="rId23"/>
    <p:sldId id="613" r:id="rId24"/>
    <p:sldId id="614" r:id="rId25"/>
    <p:sldId id="667" r:id="rId26"/>
    <p:sldId id="640" r:id="rId27"/>
    <p:sldId id="616" r:id="rId28"/>
    <p:sldId id="644" r:id="rId29"/>
    <p:sldId id="617" r:id="rId30"/>
    <p:sldId id="618" r:id="rId31"/>
    <p:sldId id="620" r:id="rId32"/>
    <p:sldId id="621" r:id="rId33"/>
    <p:sldId id="622" r:id="rId34"/>
    <p:sldId id="624" r:id="rId35"/>
    <p:sldId id="625" r:id="rId36"/>
    <p:sldId id="668" r:id="rId37"/>
    <p:sldId id="641" r:id="rId38"/>
    <p:sldId id="627" r:id="rId39"/>
    <p:sldId id="645" r:id="rId40"/>
    <p:sldId id="629" r:id="rId41"/>
    <p:sldId id="630" r:id="rId42"/>
    <p:sldId id="631" r:id="rId43"/>
    <p:sldId id="669" r:id="rId44"/>
    <p:sldId id="642" r:id="rId45"/>
    <p:sldId id="646" r:id="rId46"/>
    <p:sldId id="523" r:id="rId4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FB7424-FDF1-8F6E-9596-ACB5A8234F08}" name="Lumina CE" initials="CE" userId="Lumina C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4B1E"/>
    <a:srgbClr val="25894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59" d="100"/>
          <a:sy n="59" d="100"/>
        </p:scale>
        <p:origin x="884" y="56"/>
      </p:cViewPr>
      <p:guideLst>
        <p:guide orient="horz" pos="2160"/>
        <p:guide pos="3840"/>
      </p:guideLst>
    </p:cSldViewPr>
  </p:slideViewPr>
  <p:outlineViewPr>
    <p:cViewPr>
      <p:scale>
        <a:sx n="33" d="100"/>
        <a:sy n="33" d="100"/>
      </p:scale>
      <p:origin x="0" y="-55224"/>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57867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2721400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345325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Although controlling for a Type II error in hypothesis testing is not common, it can be done. In Sections 9.7 and 9.8, we will illustrate procedures for determining and controlling the probability of making a Type II error. If proper controls have been established for this error, action based on the “accept </a:t>
                </a:r>
                <a14:m>
                  <m:oMath xmlns:m="http://schemas.openxmlformats.org/officeDocument/2006/math">
                    <m:sSub>
                      <m:sSubPr>
                        <m:ctrlPr>
                          <a:rPr lang="en-US" sz="1200" i="1" smtClean="0">
                            <a:solidFill>
                              <a:srgbClr val="000000"/>
                            </a:solidFill>
                            <a:latin typeface="Cambria Math" panose="02040503050406030204" pitchFamily="18" charset="0"/>
                            <a:cs typeface="Arial" panose="020B0604020202020204" pitchFamily="34" charset="0"/>
                          </a:rPr>
                        </m:ctrlPr>
                      </m:sSubPr>
                      <m:e>
                        <m:r>
                          <a:rPr lang="en-US" sz="1200" b="0" i="1" smtClean="0">
                            <a:solidFill>
                              <a:srgbClr val="000000"/>
                            </a:solidFill>
                            <a:latin typeface="Cambria Math" panose="02040503050406030204" pitchFamily="18" charset="0"/>
                            <a:cs typeface="Arial" panose="020B0604020202020204" pitchFamily="34" charset="0"/>
                          </a:rPr>
                          <m:t>𝐻</m:t>
                        </m:r>
                      </m:e>
                      <m:sub>
                        <m:r>
                          <a:rPr lang="en-US" sz="1200" b="0" i="1" smtClean="0">
                            <a:solidFill>
                              <a:srgbClr val="000000"/>
                            </a:solidFill>
                            <a:latin typeface="Cambria Math" panose="02040503050406030204" pitchFamily="18" charset="0"/>
                            <a:cs typeface="Arial" panose="020B0604020202020204" pitchFamily="34" charset="0"/>
                          </a:rPr>
                          <m:t>0</m:t>
                        </m:r>
                      </m:sub>
                    </m:sSub>
                  </m:oMath>
                </a14:m>
                <a:r>
                  <a:rPr lang="en-US" dirty="0"/>
                  <a:t>” conclusion can be appropriate.</a:t>
                </a:r>
              </a:p>
            </p:txBody>
          </p:sp>
        </mc:Choice>
        <mc:Fallback xmlns="">
          <p:sp>
            <p:nvSpPr>
              <p:cNvPr id="3" name="Notes Placeholder 2"/>
              <p:cNvSpPr>
                <a:spLocks noGrp="1"/>
              </p:cNvSpPr>
              <p:nvPr>
                <p:ph type="body" idx="1"/>
              </p:nvPr>
            </p:nvSpPr>
            <p:spPr/>
            <p:txBody>
              <a:bodyPr/>
              <a:lstStyle/>
              <a:p>
                <a:r>
                  <a:rPr lang="en-US" dirty="0"/>
                  <a:t>*Note: Although controlling for a Type II error in hypothesis testing is not common, it can be done. In Sections 9.7 and 9.8, we will illustrate procedures for determining and controlling the probability of making a Type II error. If proper controls have been established for this error, action based on the “accept </a:t>
                </a:r>
                <a:r>
                  <a:rPr lang="en-US" sz="1200" b="0" i="0">
                    <a:solidFill>
                      <a:srgbClr val="000000"/>
                    </a:solidFill>
                    <a:latin typeface="Cambria Math" panose="02040503050406030204" pitchFamily="18" charset="0"/>
                    <a:cs typeface="Arial" panose="020B0604020202020204" pitchFamily="34" charset="0"/>
                  </a:rPr>
                  <a:t>𝐻_0</a:t>
                </a:r>
                <a:r>
                  <a:rPr lang="en-US" dirty="0"/>
                  <a:t>” conclusion can be appropriate.</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828627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2298041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1595289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384265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2049067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applicability of the hypothesis testing procedures of this section is dependent on the distribution of the population being sampled from and the sample size. When the population is normally distributed, the hypothesis tests described in this section provide exact results for any sample size. When the population is not normally distributed, the procedures are approximations. Nonetheless, we find that sample sizes of 30 or greater will provide good results in most cases. If the population is approximately normal, small sample sizes (e.g., n&lt; 15) can provide acceptable results. If the population is highly skewed or contains outliers, sample sizes approaching 50 are recommended.</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2778749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598702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110510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2982530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215486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2080743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3561653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32201173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298665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2234149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wo Columns with Top Caption and Bottom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547891"/>
            <a:ext cx="5200024" cy="174766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4" name="Text Placeholder 3"/>
          <p:cNvSpPr>
            <a:spLocks noGrp="1"/>
          </p:cNvSpPr>
          <p:nvPr>
            <p:ph type="body" sz="quarter" idx="18" hasCustomPrompt="1"/>
          </p:nvPr>
        </p:nvSpPr>
        <p:spPr>
          <a:xfrm>
            <a:off x="6122680" y="2547891"/>
            <a:ext cx="5200024" cy="174766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2024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491757"/>
            <a:ext cx="10711543" cy="982084"/>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Table Placeholder 4">
            <a:extLst>
              <a:ext uri="{FF2B5EF4-FFF2-40B4-BE49-F238E27FC236}">
                <a16:creationId xmlns:a16="http://schemas.microsoft.com/office/drawing/2014/main" id="{BD9691C9-810D-240D-D68E-A69A22385BFC}"/>
              </a:ext>
            </a:extLst>
          </p:cNvPr>
          <p:cNvSpPr>
            <a:spLocks noGrp="1"/>
          </p:cNvSpPr>
          <p:nvPr>
            <p:ph type="tbl" sz="quarter" idx="19"/>
          </p:nvPr>
        </p:nvSpPr>
        <p:spPr>
          <a:xfrm>
            <a:off x="2870200" y="4373528"/>
            <a:ext cx="6181725" cy="1545265"/>
          </a:xfrm>
        </p:spPr>
        <p:txBody>
          <a:bodyPr/>
          <a:lstStyle/>
          <a:p>
            <a:endParaRPr lang="en-US"/>
          </a:p>
        </p:txBody>
      </p:sp>
    </p:spTree>
    <p:extLst>
      <p:ext uri="{BB962C8B-B14F-4D97-AF65-F5344CB8AC3E}">
        <p14:creationId xmlns:p14="http://schemas.microsoft.com/office/powerpoint/2010/main" val="7198654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1.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1">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 id="2147483774" r:id="rId59"/>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NUL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NULL"/></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59.xml"/><Relationship Id="rId5" Type="http://schemas.openxmlformats.org/officeDocument/2006/relationships/image" Target="../media/image54.png"/><Relationship Id="rId4" Type="http://schemas.openxmlformats.org/officeDocument/2006/relationships/image" Target="NULL"/></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NULL"/><Relationship Id="rId1" Type="http://schemas.openxmlformats.org/officeDocument/2006/relationships/slideLayout" Target="../slideLayouts/slideLayout5.xml"/><Relationship Id="rId4" Type="http://schemas.openxmlformats.org/officeDocument/2006/relationships/image" Target="NUL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NUL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NUL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7.png"/><Relationship Id="rId1" Type="http://schemas.openxmlformats.org/officeDocument/2006/relationships/slideLayout" Target="../slideLayouts/slideLayout5.xml"/><Relationship Id="rId4" Type="http://schemas.openxmlformats.org/officeDocument/2006/relationships/image" Target="NUL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NUL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NUL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55.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 Id="rId6" Type="http://schemas.openxmlformats.org/officeDocument/2006/relationships/image" Target="../media/image14.png"/><Relationship Id="rId5" Type="http://schemas.openxmlformats.org/officeDocument/2006/relationships/image" Target="NULL"/><Relationship Id="rId4" Type="http://schemas.openxmlformats.org/officeDocument/2006/relationships/image" Target="NULL"/></Relationships>
</file>

<file path=ppt/slides/_rels/slide3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image" Target="NUL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55.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53.png"/></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1" Type="http://schemas.openxmlformats.org/officeDocument/2006/relationships/slideLayout" Target="../slideLayouts/slideLayout55.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7837C1-93CF-5CB4-16E4-2C64F3F5FB6D}"/>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08D888A7-513A-BF68-CD0A-F10862BCADAD}"/>
              </a:ext>
            </a:extLst>
          </p:cNvPr>
          <p:cNvPicPr>
            <a:picLocks noChangeAspect="1"/>
          </p:cNvPicPr>
          <p:nvPr/>
        </p:nvPicPr>
        <p:blipFill>
          <a:blip r:embed="rId2"/>
          <a:stretch>
            <a:fillRect/>
          </a:stretch>
        </p:blipFill>
        <p:spPr>
          <a:xfrm>
            <a:off x="-1" y="0"/>
            <a:ext cx="12192000" cy="6858000"/>
          </a:xfrm>
          <a:prstGeom prst="rect">
            <a:avLst/>
          </a:prstGeom>
        </p:spPr>
      </p:pic>
    </p:spTree>
    <p:extLst>
      <p:ext uri="{BB962C8B-B14F-4D97-AF65-F5344CB8AC3E}">
        <p14:creationId xmlns:p14="http://schemas.microsoft.com/office/powerpoint/2010/main" val="1687960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434664"/>
            <a:ext cx="10711543" cy="4193627"/>
          </a:xfrm>
        </p:spPr>
        <p:txBody>
          <a:bodyPr/>
          <a:lstStyle/>
          <a:p>
            <a:pPr marL="1371600" indent="-914400"/>
            <a:r>
              <a:rPr lang="en-US" sz="2000" dirty="0"/>
              <a:t>9.1	Developing Null and Alternative Hypotheses</a:t>
            </a:r>
          </a:p>
          <a:p>
            <a:pPr marL="1371600" indent="-914400"/>
            <a:r>
              <a:rPr lang="en-US" sz="2000" dirty="0"/>
              <a:t>9.2	Type I and Type II Errors</a:t>
            </a:r>
          </a:p>
          <a:p>
            <a:pPr marL="1371600" indent="-914400"/>
            <a:r>
              <a:rPr lang="en-US" sz="2000" dirty="0"/>
              <a:t>9.3	Population Mean: </a:t>
            </a:r>
            <a:r>
              <a:rPr lang="en-US" sz="2000" i="1" dirty="0"/>
              <a:t>σ</a:t>
            </a:r>
            <a:r>
              <a:rPr lang="en-US" sz="2000" dirty="0"/>
              <a:t> Known</a:t>
            </a:r>
          </a:p>
          <a:p>
            <a:pPr marL="1371600" indent="-914400"/>
            <a:r>
              <a:rPr lang="en-US" sz="2000" dirty="0"/>
              <a:t>9.4	Population Mean: </a:t>
            </a:r>
            <a:r>
              <a:rPr lang="en-US" sz="2000" i="1" dirty="0"/>
              <a:t>σ</a:t>
            </a:r>
            <a:r>
              <a:rPr lang="en-US" sz="2000" dirty="0"/>
              <a:t> Unknown</a:t>
            </a:r>
          </a:p>
          <a:p>
            <a:pPr marL="1371600" indent="-914400"/>
            <a:r>
              <a:rPr lang="en-US" sz="2000" dirty="0"/>
              <a:t>9.5	Population Proportion</a:t>
            </a:r>
          </a:p>
          <a:p>
            <a:pPr marL="1371600" indent="-914400"/>
            <a:r>
              <a:rPr lang="en-US" sz="2000" dirty="0"/>
              <a:t>9.6	Practical Advice: Big Data and Hypothesis Testing</a:t>
            </a:r>
          </a:p>
          <a:p>
            <a:pPr marL="1371600" indent="-914400"/>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7" y="1228475"/>
            <a:ext cx="10610224" cy="4465091"/>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indent="-1371600">
              <a:spcBef>
                <a:spcPts val="1200"/>
              </a:spcBef>
            </a:pPr>
            <a:r>
              <a:rPr lang="en-US" sz="2000" dirty="0">
                <a:latin typeface="Arial" panose="020B0604020202020204" pitchFamily="34" charset="0"/>
                <a:cs typeface="Arial" panose="020B0604020202020204" pitchFamily="34" charset="0"/>
              </a:rPr>
              <a:t>LO 9-1 	Formulate appropriate one- and two-tailed null and alternative hypotheses for problem scenarios and interpret the results.</a:t>
            </a:r>
          </a:p>
          <a:p>
            <a:pPr marL="1828800" indent="-1371600">
              <a:spcBef>
                <a:spcPts val="1200"/>
              </a:spcBef>
            </a:pPr>
            <a:r>
              <a:rPr lang="en-US" sz="2000" dirty="0">
                <a:latin typeface="Arial" panose="020B0604020202020204" pitchFamily="34" charset="0"/>
                <a:cs typeface="Arial" panose="020B0604020202020204" pitchFamily="34" charset="0"/>
              </a:rPr>
              <a:t>LO 9-2 	Interpret the results of a hypothesis test.</a:t>
            </a:r>
          </a:p>
          <a:p>
            <a:pPr marL="1828800" indent="-1371600">
              <a:spcBef>
                <a:spcPts val="1200"/>
              </a:spcBef>
            </a:pPr>
            <a:r>
              <a:rPr lang="en-US" sz="2000" dirty="0">
                <a:latin typeface="Arial" panose="020B0604020202020204" pitchFamily="34" charset="0"/>
                <a:cs typeface="Arial" panose="020B0604020202020204" pitchFamily="34" charset="0"/>
              </a:rPr>
              <a:t>LO 9-3 	Identify the Type I error and Type II error associated with a hypothesis test and explain their potential consequences.</a:t>
            </a:r>
          </a:p>
          <a:p>
            <a:pPr marL="1828800" indent="-1371600">
              <a:spcBef>
                <a:spcPts val="1200"/>
              </a:spcBef>
            </a:pPr>
            <a:r>
              <a:rPr lang="en-US" sz="2000" dirty="0">
                <a:latin typeface="Arial" panose="020B0604020202020204" pitchFamily="34" charset="0"/>
                <a:cs typeface="Arial" panose="020B0604020202020204" pitchFamily="34" charset="0"/>
              </a:rPr>
              <a:t>LO 9-4 	Test one- and two-tailed hypotheses about a population mean when the population standard deviation </a:t>
            </a:r>
            <a:r>
              <a:rPr lang="en-US" sz="2000" i="1" dirty="0">
                <a:latin typeface="Symbol" panose="05050102010706020507" pitchFamily="18" charset="2"/>
                <a:cs typeface="Arial" panose="020B0604020202020204" pitchFamily="34" charset="0"/>
              </a:rPr>
              <a:t>s</a:t>
            </a:r>
            <a:r>
              <a:rPr lang="en-US" sz="2000" dirty="0">
                <a:latin typeface="Arial" panose="020B0604020202020204" pitchFamily="34" charset="0"/>
                <a:cs typeface="Arial" panose="020B0604020202020204" pitchFamily="34" charset="0"/>
              </a:rPr>
              <a:t> is known using the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approach, critical value approach, and the confidence interval approach.</a:t>
            </a:r>
          </a:p>
          <a:p>
            <a:pPr marL="1828800" indent="-1371600">
              <a:spcBef>
                <a:spcPts val="1200"/>
              </a:spcBef>
            </a:pPr>
            <a:r>
              <a:rPr lang="en-US" sz="2000" dirty="0">
                <a:latin typeface="Arial" panose="020B0604020202020204" pitchFamily="34" charset="0"/>
                <a:cs typeface="Arial" panose="020B0604020202020204" pitchFamily="34" charset="0"/>
              </a:rPr>
              <a:t>LO 9-5 	Test one- and two-tailed hypotheses about a population mean when the population standard deviation </a:t>
            </a:r>
            <a:r>
              <a:rPr lang="en-US" sz="2000" i="1" dirty="0">
                <a:latin typeface="Symbol" panose="05050102010706020507" pitchFamily="18" charset="2"/>
                <a:cs typeface="Arial" panose="020B0604020202020204" pitchFamily="34" charset="0"/>
              </a:rPr>
              <a:t>s</a:t>
            </a:r>
            <a:r>
              <a:rPr lang="en-US" sz="2000" dirty="0">
                <a:latin typeface="Arial" panose="020B0604020202020204" pitchFamily="34" charset="0"/>
                <a:cs typeface="Arial" panose="020B0604020202020204" pitchFamily="34" charset="0"/>
              </a:rPr>
              <a:t> is unknown using the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approach, critical value approach, and the confidence interval approach.</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7" y="1228475"/>
            <a:ext cx="10610224" cy="4465091"/>
          </a:xfrm>
        </p:spPr>
        <p:txBody>
          <a:bodyPr/>
          <a:lstStyle/>
          <a:p>
            <a:pPr>
              <a:spcBef>
                <a:spcPts val="1200"/>
              </a:spcBef>
            </a:pPr>
            <a:endParaRPr lang="en-US" sz="2000" dirty="0">
              <a:latin typeface="Arial" panose="020B0604020202020204" pitchFamily="34" charset="0"/>
              <a:cs typeface="Arial" panose="020B0604020202020204" pitchFamily="34" charset="0"/>
            </a:endParaRPr>
          </a:p>
          <a:p>
            <a:pPr marL="1828800" indent="-1371600">
              <a:spcBef>
                <a:spcPts val="1200"/>
              </a:spcBef>
            </a:pPr>
            <a:r>
              <a:rPr lang="en-US" sz="2000" dirty="0">
                <a:latin typeface="Arial" panose="020B0604020202020204" pitchFamily="34" charset="0"/>
                <a:cs typeface="Arial" panose="020B0604020202020204" pitchFamily="34" charset="0"/>
              </a:rPr>
              <a:t>LO 9-6 	Test one- and two-tailed hypotheses about a population proportion using the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approach, critical value approach, and the confidence interval approach.</a:t>
            </a:r>
          </a:p>
          <a:p>
            <a:pPr marL="1828800" indent="-1371600">
              <a:spcBef>
                <a:spcPts val="1200"/>
              </a:spcBef>
            </a:pPr>
            <a:r>
              <a:rPr lang="en-US" sz="2000" dirty="0">
                <a:latin typeface="Arial" panose="020B0604020202020204" pitchFamily="34" charset="0"/>
                <a:cs typeface="Arial" panose="020B0604020202020204" pitchFamily="34" charset="0"/>
              </a:rPr>
              <a:t>LO 9-7	Calculate the probability of making a Type II error for a hypothesis test.</a:t>
            </a:r>
          </a:p>
          <a:p>
            <a:pPr marL="1828800" indent="-1371600">
              <a:spcBef>
                <a:spcPts val="1200"/>
              </a:spcBef>
            </a:pPr>
            <a:r>
              <a:rPr lang="en-US" sz="2000" dirty="0">
                <a:latin typeface="Arial" panose="020B0604020202020204" pitchFamily="34" charset="0"/>
                <a:cs typeface="Arial" panose="020B0604020202020204" pitchFamily="34" charset="0"/>
              </a:rPr>
              <a:t>LO 9-8	Determine the sample size for a hypothesis test about a population mean.</a:t>
            </a:r>
          </a:p>
          <a:p>
            <a:pPr marL="1828800" indent="-1371600">
              <a:spcBef>
                <a:spcPts val="1200"/>
              </a:spcBef>
            </a:pPr>
            <a:r>
              <a:rPr lang="en-US" sz="2000" dirty="0">
                <a:latin typeface="Arial" panose="020B0604020202020204" pitchFamily="34" charset="0"/>
                <a:cs typeface="Arial" panose="020B0604020202020204" pitchFamily="34" charset="0"/>
              </a:rPr>
              <a:t>LO 9-9	Distinguish between statistical significance and practical significance and identify when statistically significant results may lack practical significance.</a:t>
            </a:r>
          </a:p>
        </p:txBody>
      </p:sp>
    </p:spTree>
    <p:extLst>
      <p:ext uri="{BB962C8B-B14F-4D97-AF65-F5344CB8AC3E}">
        <p14:creationId xmlns:p14="http://schemas.microsoft.com/office/powerpoint/2010/main" val="3741643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3576" y="1355834"/>
                <a:ext cx="10711543" cy="4422228"/>
              </a:xfrm>
            </p:spPr>
            <p:txBody>
              <a:bodyPr/>
              <a:lstStyle/>
              <a:p>
                <a:pPr>
                  <a:lnSpc>
                    <a:spcPct val="100000"/>
                  </a:lnSpc>
                </a:pPr>
                <a:r>
                  <a:rPr lang="en-US" sz="2000" dirty="0">
                    <a:solidFill>
                      <a:srgbClr val="000000"/>
                    </a:solidFill>
                    <a:cs typeface="Arial" panose="020B0604020202020204" pitchFamily="34" charset="0"/>
                  </a:rPr>
                  <a:t>Hypothesis testing can be used to determine whether a statement about the value of a population parameter should or should not be rejected.</a:t>
                </a:r>
              </a:p>
              <a:p>
                <a:pPr marL="914400" indent="-342900">
                  <a:buFont typeface="Arial" panose="020B0604020202020204" pitchFamily="34" charset="0"/>
                  <a:buChar char="•"/>
                </a:pPr>
                <a:r>
                  <a:rPr lang="en-US" sz="2000" dirty="0">
                    <a:cs typeface="Arial" panose="020B0604020202020204" pitchFamily="34" charset="0"/>
                  </a:rPr>
                  <a:t>The hypothesis testing procedure uses data from a sample to test the two competing statements indicated by </a:t>
                </a:r>
                <a14:m>
                  <m:oMath xmlns:m="http://schemas.openxmlformats.org/officeDocument/2006/math">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𝐻</m:t>
                        </m:r>
                      </m:e>
                      <m:sub>
                        <m:r>
                          <a:rPr lang="en-US" sz="2000" i="1" dirty="0">
                            <a:latin typeface="Cambria Math" panose="02040503050406030204" pitchFamily="18" charset="0"/>
                            <a:cs typeface="Arial" panose="020B0604020202020204" pitchFamily="34" charset="0"/>
                          </a:rPr>
                          <m:t>0</m:t>
                        </m:r>
                      </m:sub>
                    </m:sSub>
                  </m:oMath>
                </a14:m>
                <a:r>
                  <a:rPr lang="en-US" sz="2000" dirty="0">
                    <a:cs typeface="Arial" panose="020B0604020202020204" pitchFamily="34" charset="0"/>
                  </a:rPr>
                  <a:t> and </a:t>
                </a:r>
                <a14:m>
                  <m:oMath xmlns:m="http://schemas.openxmlformats.org/officeDocument/2006/math">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𝐻</m:t>
                        </m:r>
                      </m:e>
                      <m:sub>
                        <m:r>
                          <a:rPr lang="en-US" sz="2000" i="1" dirty="0">
                            <a:latin typeface="Cambria Math" panose="02040503050406030204" pitchFamily="18" charset="0"/>
                            <a:cs typeface="Arial" panose="020B0604020202020204" pitchFamily="34" charset="0"/>
                          </a:rPr>
                          <m:t>𝑎</m:t>
                        </m:r>
                      </m:sub>
                    </m:sSub>
                  </m:oMath>
                </a14:m>
                <a:r>
                  <a:rPr lang="en-US" sz="2000" dirty="0">
                    <a:cs typeface="Arial" panose="020B0604020202020204" pitchFamily="34" charset="0"/>
                  </a:rPr>
                  <a:t>.</a:t>
                </a:r>
              </a:p>
              <a:p>
                <a:pPr marL="914400"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The </a:t>
                </a:r>
                <a:r>
                  <a:rPr lang="en-US" sz="2000" b="1" dirty="0">
                    <a:solidFill>
                      <a:srgbClr val="000000"/>
                    </a:solidFill>
                    <a:cs typeface="Arial" panose="020B0604020202020204" pitchFamily="34" charset="0"/>
                  </a:rPr>
                  <a:t>null hypothesis</a:t>
                </a:r>
                <a:r>
                  <a:rPr lang="en-US" sz="2000" dirty="0">
                    <a:solidFill>
                      <a:srgbClr val="000000"/>
                    </a:solidFill>
                    <a:cs typeface="Arial" panose="020B0604020202020204" pitchFamily="34" charset="0"/>
                  </a:rPr>
                  <a:t>, denoted by </a:t>
                </a:r>
                <a14:m>
                  <m:oMath xmlns:m="http://schemas.openxmlformats.org/officeDocument/2006/math">
                    <m:sSub>
                      <m:sSubPr>
                        <m:ctrlPr>
                          <a:rPr lang="en-US" sz="2000" i="1" dirty="0" smtClean="0">
                            <a:solidFill>
                              <a:srgbClr val="000000"/>
                            </a:solidFill>
                            <a:latin typeface="Cambria Math" panose="02040503050406030204" pitchFamily="18" charset="0"/>
                            <a:cs typeface="Arial" panose="020B0604020202020204" pitchFamily="34" charset="0"/>
                          </a:rPr>
                        </m:ctrlPr>
                      </m:sSubPr>
                      <m:e>
                        <m:r>
                          <a:rPr lang="en-US" sz="2000" b="0" i="1" dirty="0" smtClean="0">
                            <a:solidFill>
                              <a:srgbClr val="000000"/>
                            </a:solidFill>
                            <a:latin typeface="Cambria Math" panose="02040503050406030204" pitchFamily="18" charset="0"/>
                            <a:cs typeface="Arial" panose="020B0604020202020204" pitchFamily="34" charset="0"/>
                          </a:rPr>
                          <m:t>𝐻</m:t>
                        </m:r>
                      </m:e>
                      <m:sub>
                        <m:r>
                          <a:rPr lang="en-US" sz="2000" b="0" i="1" dirty="0" smtClean="0">
                            <a:solidFill>
                              <a:srgbClr val="000000"/>
                            </a:solidFill>
                            <a:latin typeface="Cambria Math" panose="02040503050406030204" pitchFamily="18" charset="0"/>
                            <a:cs typeface="Arial" panose="020B0604020202020204" pitchFamily="34" charset="0"/>
                          </a:rPr>
                          <m:t>0</m:t>
                        </m:r>
                      </m:sub>
                    </m:sSub>
                  </m:oMath>
                </a14:m>
                <a:r>
                  <a:rPr lang="en-US" sz="2000" dirty="0">
                    <a:solidFill>
                      <a:srgbClr val="000000"/>
                    </a:solidFill>
                    <a:cs typeface="Arial" panose="020B0604020202020204" pitchFamily="34" charset="0"/>
                  </a:rPr>
                  <a:t>, is a tentative assumption about a population parameter.</a:t>
                </a:r>
              </a:p>
              <a:p>
                <a:pPr marL="914400"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The </a:t>
                </a:r>
                <a:r>
                  <a:rPr lang="en-US" sz="2000" b="1" dirty="0">
                    <a:solidFill>
                      <a:srgbClr val="000000"/>
                    </a:solidFill>
                    <a:cs typeface="Arial" panose="020B0604020202020204" pitchFamily="34" charset="0"/>
                  </a:rPr>
                  <a:t>alternative hypothesis</a:t>
                </a:r>
                <a:r>
                  <a:rPr lang="en-US" sz="2000" dirty="0">
                    <a:solidFill>
                      <a:srgbClr val="000000"/>
                    </a:solidFill>
                    <a:cs typeface="Arial" panose="020B0604020202020204" pitchFamily="34" charset="0"/>
                  </a:rPr>
                  <a:t>, denoted by </a:t>
                </a:r>
                <a14:m>
                  <m:oMath xmlns:m="http://schemas.openxmlformats.org/officeDocument/2006/math">
                    <m:sSub>
                      <m:sSubPr>
                        <m:ctrlPr>
                          <a:rPr lang="en-US" sz="2000" i="1" dirty="0" smtClean="0">
                            <a:solidFill>
                              <a:srgbClr val="000000"/>
                            </a:solidFill>
                            <a:latin typeface="Cambria Math" panose="02040503050406030204" pitchFamily="18" charset="0"/>
                            <a:cs typeface="Arial" panose="020B0604020202020204" pitchFamily="34" charset="0"/>
                          </a:rPr>
                        </m:ctrlPr>
                      </m:sSubPr>
                      <m:e>
                        <m:r>
                          <a:rPr lang="en-US" sz="2000" b="0" i="1" dirty="0" smtClean="0">
                            <a:solidFill>
                              <a:srgbClr val="000000"/>
                            </a:solidFill>
                            <a:latin typeface="Cambria Math" panose="02040503050406030204" pitchFamily="18" charset="0"/>
                            <a:cs typeface="Arial" panose="020B0604020202020204" pitchFamily="34" charset="0"/>
                          </a:rPr>
                          <m:t>𝐻</m:t>
                        </m:r>
                      </m:e>
                      <m:sub>
                        <m:r>
                          <a:rPr lang="en-US" sz="2000" b="0" i="1" dirty="0" smtClean="0">
                            <a:solidFill>
                              <a:srgbClr val="000000"/>
                            </a:solidFill>
                            <a:latin typeface="Cambria Math" panose="02040503050406030204" pitchFamily="18" charset="0"/>
                            <a:cs typeface="Arial" panose="020B0604020202020204" pitchFamily="34" charset="0"/>
                          </a:rPr>
                          <m:t>𝑎</m:t>
                        </m:r>
                      </m:sub>
                    </m:sSub>
                  </m:oMath>
                </a14:m>
                <a:r>
                  <a:rPr lang="en-US" sz="2000" dirty="0">
                    <a:solidFill>
                      <a:srgbClr val="000000"/>
                    </a:solidFill>
                    <a:cs typeface="Arial" panose="020B0604020202020204" pitchFamily="34" charset="0"/>
                  </a:rPr>
                  <a:t>, is the opposite of what is stated in the null hypothesis.</a:t>
                </a:r>
              </a:p>
              <a:p>
                <a:pPr>
                  <a:lnSpc>
                    <a:spcPct val="100000"/>
                  </a:lnSpc>
                </a:pPr>
                <a:r>
                  <a:rPr lang="en-US" sz="2000" dirty="0">
                    <a:solidFill>
                      <a:srgbClr val="000000"/>
                    </a:solidFill>
                    <a:cs typeface="Arial" panose="020B0604020202020204" pitchFamily="34" charset="0"/>
                  </a:rPr>
                  <a:t>This chapter shows how hypothesis tests can be conducted about a population mean and a population proportion. </a:t>
                </a:r>
              </a:p>
              <a:p>
                <a:pPr>
                  <a:lnSpc>
                    <a:spcPct val="100000"/>
                  </a:lnSpc>
                </a:pPr>
                <a:r>
                  <a:rPr lang="en-US" sz="2000" dirty="0">
                    <a:solidFill>
                      <a:srgbClr val="000000"/>
                    </a:solidFill>
                    <a:cs typeface="Arial" panose="020B0604020202020204" pitchFamily="34" charset="0"/>
                  </a:rPr>
                  <a:t>We begin by providing examples that illustrate approaches to developing null and alternative hypotheses.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3576" y="1355834"/>
                <a:ext cx="10711543" cy="4422228"/>
              </a:xfrm>
              <a:blipFill>
                <a:blip r:embed="rId2"/>
                <a:stretch>
                  <a:fillRect l="-1480" t="-1653" r="-1992" b="-689"/>
                </a:stretch>
              </a:blipFill>
            </p:spPr>
            <p:txBody>
              <a:bodyPr/>
              <a:lstStyle/>
              <a:p>
                <a:r>
                  <a:rPr lang="en-US">
                    <a:noFill/>
                  </a:rPr>
                  <a:t> </a:t>
                </a:r>
              </a:p>
            </p:txBody>
          </p:sp>
        </mc:Fallback>
      </mc:AlternateContent>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9.1 Developing Null and Alternative Hypotheses</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3576" y="1316420"/>
            <a:ext cx="10711543" cy="4225159"/>
          </a:xfrm>
        </p:spPr>
        <p:txBody>
          <a:bodyPr/>
          <a:lstStyle/>
          <a:p>
            <a:pPr>
              <a:lnSpc>
                <a:spcPct val="100000"/>
              </a:lnSpc>
            </a:pPr>
            <a:r>
              <a:rPr lang="en-US" sz="2000" dirty="0">
                <a:solidFill>
                  <a:srgbClr val="000000"/>
                </a:solidFill>
                <a:cs typeface="Arial" panose="020B0604020202020204" pitchFamily="34" charset="0"/>
              </a:rPr>
              <a:t>Care must be taken to understand </a:t>
            </a:r>
            <a:r>
              <a:rPr lang="en-US" sz="2000" dirty="0">
                <a:cs typeface="Arial" panose="020B0604020202020204" pitchFamily="34" charset="0"/>
              </a:rPr>
              <a:t>the </a:t>
            </a:r>
            <a:r>
              <a:rPr lang="en-US" sz="2000" dirty="0">
                <a:solidFill>
                  <a:srgbClr val="000000"/>
                </a:solidFill>
                <a:cs typeface="Arial" panose="020B0604020202020204" pitchFamily="34" charset="0"/>
              </a:rPr>
              <a:t>context of the situation and structure the hypotheses appropriately so that the test conclusion provides the desired information.</a:t>
            </a:r>
          </a:p>
          <a:p>
            <a:pPr>
              <a:lnSpc>
                <a:spcPct val="100000"/>
              </a:lnSpc>
            </a:pPr>
            <a:r>
              <a:rPr lang="en-US" sz="2000" dirty="0">
                <a:solidFill>
                  <a:srgbClr val="000000"/>
                </a:solidFill>
                <a:cs typeface="Arial" panose="020B0604020202020204" pitchFamily="34" charset="0"/>
              </a:rPr>
              <a:t>All hypothesis testing applications involve collecting a sample and using the sample results to provide evidence for drawing a conclusion. </a:t>
            </a:r>
          </a:p>
          <a:p>
            <a:pPr>
              <a:lnSpc>
                <a:spcPct val="100000"/>
              </a:lnSpc>
            </a:pPr>
            <a:r>
              <a:rPr lang="en-US" sz="2000" dirty="0">
                <a:solidFill>
                  <a:srgbClr val="000000"/>
                </a:solidFill>
                <a:cs typeface="Arial" panose="020B0604020202020204" pitchFamily="34" charset="0"/>
              </a:rPr>
              <a:t>Good questions to consider when formulating the null and alternative hypotheses are:</a:t>
            </a:r>
          </a:p>
          <a:p>
            <a:pPr marL="914400"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What is the purpose of collecting the sample? </a:t>
            </a:r>
          </a:p>
          <a:p>
            <a:pPr marL="914400"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What conclusions are we hoping to make?</a:t>
            </a:r>
          </a:p>
          <a:p>
            <a:pPr>
              <a:lnSpc>
                <a:spcPct val="100000"/>
              </a:lnSpc>
            </a:pPr>
            <a:r>
              <a:rPr lang="en-US" sz="2000" dirty="0">
                <a:solidFill>
                  <a:srgbClr val="000000"/>
                </a:solidFill>
                <a:cs typeface="Arial" panose="020B0604020202020204" pitchFamily="34" charset="0"/>
              </a:rPr>
              <a:t>In some situations, it is easier to identify the alternative hypothesis first, and then the null hypothesis. In other situations, starting with the null hypothesis is easier.</a:t>
            </a:r>
          </a:p>
          <a:p>
            <a:pPr>
              <a:lnSpc>
                <a:spcPct val="100000"/>
              </a:lnSpc>
            </a:pPr>
            <a:r>
              <a:rPr lang="en-US" sz="2000" dirty="0">
                <a:cs typeface="Arial" panose="020B0604020202020204" pitchFamily="34" charset="0"/>
              </a:rPr>
              <a:t>The examples in this section are intended to provide guidelines on how to formulate correct hypotheses.</a:t>
            </a:r>
            <a:endParaRPr lang="en-US" sz="2000" dirty="0">
              <a:solidFill>
                <a:srgbClr val="000000"/>
              </a:solidFill>
              <a:cs typeface="Arial" panose="020B0604020202020204" pitchFamily="34" charset="0"/>
            </a:endParaRPr>
          </a:p>
        </p:txBody>
      </p:sp>
    </p:spTree>
    <p:extLst>
      <p:ext uri="{BB962C8B-B14F-4D97-AF65-F5344CB8AC3E}">
        <p14:creationId xmlns:p14="http://schemas.microsoft.com/office/powerpoint/2010/main" val="2205881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536032" y="365125"/>
            <a:ext cx="11068864" cy="672105"/>
          </a:xfrm>
        </p:spPr>
        <p:txBody>
          <a:bodyPr/>
          <a:lstStyle/>
          <a:p>
            <a:r>
              <a:rPr lang="en-US" sz="3200" dirty="0"/>
              <a:t>9.1 The Alternative Hypothesis as a Research Hypothesis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3576" y="1505610"/>
                <a:ext cx="10711543" cy="4106917"/>
              </a:xfrm>
            </p:spPr>
            <p:txBody>
              <a:bodyPr/>
              <a:lstStyle/>
              <a:p>
                <a:pPr>
                  <a:lnSpc>
                    <a:spcPct val="100000"/>
                  </a:lnSpc>
                </a:pPr>
                <a:r>
                  <a:rPr lang="en-US" sz="2000" dirty="0">
                    <a:cs typeface="Arial" panose="020B0604020202020204" pitchFamily="34" charset="0"/>
                  </a:rPr>
                  <a:t>When </a:t>
                </a:r>
                <a:r>
                  <a:rPr lang="en-US" sz="2000" dirty="0">
                    <a:solidFill>
                      <a:srgbClr val="000000"/>
                    </a:solidFill>
                    <a:cs typeface="Arial" panose="020B0604020202020204" pitchFamily="34" charset="0"/>
                  </a:rPr>
                  <a:t>an attempt is being made to gather evidence in support of a research hypothesis, it is often best to begin with the alternative hypothesis and make it the conclusion that the researcher hopes to support.</a:t>
                </a:r>
              </a:p>
              <a:p>
                <a:pPr>
                  <a:lnSpc>
                    <a:spcPct val="100000"/>
                  </a:lnSpc>
                </a:pPr>
                <a:r>
                  <a:rPr lang="en-US" sz="2000" dirty="0">
                    <a:solidFill>
                      <a:srgbClr val="000000"/>
                    </a:solidFill>
                    <a:cs typeface="Arial" panose="020B0604020202020204" pitchFamily="34" charset="0"/>
                  </a:rPr>
                  <a:t>The conclusion that the research hypothesis is true is made if the sample data provide sufficient evidence to show that the null hypothesis can be rejected.</a:t>
                </a:r>
              </a:p>
              <a:p>
                <a:pPr>
                  <a:lnSpc>
                    <a:spcPct val="100000"/>
                  </a:lnSpc>
                </a:pPr>
                <a:r>
                  <a:rPr lang="en-US" sz="2000" b="1" dirty="0">
                    <a:solidFill>
                      <a:srgbClr val="000000"/>
                    </a:solidFill>
                    <a:cs typeface="Arial" panose="020B0604020202020204" pitchFamily="34" charset="0"/>
                  </a:rPr>
                  <a:t>Example</a:t>
                </a:r>
                <a:r>
                  <a:rPr lang="en-US" sz="2000" dirty="0">
                    <a:solidFill>
                      <a:srgbClr val="000000"/>
                    </a:solidFill>
                    <a:cs typeface="Arial" panose="020B0604020202020204" pitchFamily="34" charset="0"/>
                  </a:rPr>
                  <a:t>: A new fuel injection unit being developed is believed to provide more than 24 miles per gallon. </a:t>
                </a:r>
              </a:p>
              <a:p>
                <a:r>
                  <a:rPr lang="en-US" sz="2000" dirty="0">
                    <a:solidFill>
                      <a:srgbClr val="000000"/>
                    </a:solidFill>
                    <a:cs typeface="Arial" panose="020B0604020202020204" pitchFamily="34" charset="0"/>
                  </a:rPr>
                  <a:t>So, we set the population mean miles per gallon, </a:t>
                </a:r>
                <a14:m>
                  <m:oMath xmlns:m="http://schemas.openxmlformats.org/officeDocument/2006/math">
                    <m:r>
                      <m:rPr>
                        <m:sty m:val="p"/>
                      </m:rPr>
                      <a:rPr lang="el-GR" sz="2000" i="1" dirty="0" smtClean="0">
                        <a:latin typeface="Cambria Math" panose="02040503050406030204" pitchFamily="18" charset="0"/>
                        <a:ea typeface="Cambria Math" panose="02040503050406030204" pitchFamily="18" charset="0"/>
                        <a:cs typeface="Arial" panose="020B0604020202020204" pitchFamily="34" charset="0"/>
                      </a:rPr>
                      <m:t>μ</m:t>
                    </m:r>
                    <m:r>
                      <a:rPr lang="en-US" sz="2000" i="1" dirty="0" smtClean="0">
                        <a:latin typeface="Cambria Math" panose="02040503050406030204" pitchFamily="18" charset="0"/>
                        <a:cs typeface="Arial" panose="020B0604020202020204" pitchFamily="34" charset="0"/>
                      </a:rPr>
                      <m:t>&gt;</m:t>
                    </m:r>
                    <m:r>
                      <a:rPr lang="en-US" sz="2000" i="1" dirty="0" smtClean="0">
                        <a:solidFill>
                          <a:srgbClr val="000000"/>
                        </a:solidFill>
                        <a:latin typeface="Cambria Math" panose="02040503050406030204" pitchFamily="18" charset="0"/>
                        <a:cs typeface="Arial" panose="020B0604020202020204" pitchFamily="34" charset="0"/>
                      </a:rPr>
                      <m:t>24</m:t>
                    </m:r>
                  </m:oMath>
                </a14:m>
                <a:r>
                  <a:rPr lang="en-US" sz="2000" dirty="0">
                    <a:solidFill>
                      <a:srgbClr val="000000"/>
                    </a:solidFill>
                    <a:cs typeface="Arial" panose="020B0604020202020204" pitchFamily="34" charset="0"/>
                  </a:rPr>
                  <a:t>, as the alternative hypothesis, and the null hypothesis as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𝜇</m:t>
                    </m:r>
                    <m:r>
                      <a:rPr lang="en-US" sz="2000" i="1">
                        <a:latin typeface="Cambria Math" panose="02040503050406030204" pitchFamily="18" charset="0"/>
                        <a:ea typeface="Cambria Math" panose="02040503050406030204" pitchFamily="18" charset="0"/>
                        <a:cs typeface="Arial" panose="020B0604020202020204" pitchFamily="34" charset="0"/>
                      </a:rPr>
                      <m:t>≤24</m:t>
                    </m:r>
                  </m:oMath>
                </a14:m>
                <a:r>
                  <a:rPr lang="en-US" sz="2000" dirty="0">
                    <a:solidFill>
                      <a:srgbClr val="000000"/>
                    </a:solidFill>
                    <a:cs typeface="Arial" panose="020B0604020202020204" pitchFamily="34" charset="0"/>
                  </a:rPr>
                  <a:t>.</a:t>
                </a:r>
              </a:p>
              <a:p>
                <a:pPr marL="914400">
                  <a:lnSpc>
                    <a:spcPct val="100000"/>
                  </a:lnSpc>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≤24</m:t>
                    </m:r>
                  </m:oMath>
                </a14:m>
                <a:r>
                  <a:rPr lang="en-US" sz="2000" b="0" dirty="0">
                    <a:solidFill>
                      <a:srgbClr val="000000"/>
                    </a:solidFill>
                    <a:ea typeface="Cambria Math" panose="02040503050406030204" pitchFamily="18" charset="0"/>
                    <a:cs typeface="Arial" panose="020B0604020202020204" pitchFamily="34" charset="0"/>
                  </a:rPr>
                  <a:t> </a:t>
                </a:r>
              </a:p>
              <a:p>
                <a:pPr marL="914400"/>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&gt;24</m:t>
                    </m:r>
                  </m:oMath>
                </a14:m>
                <a:r>
                  <a:rPr lang="en-US" sz="2000" dirty="0">
                    <a:solidFill>
                      <a:srgbClr val="000000"/>
                    </a:solidFill>
                    <a:cs typeface="Arial" panose="020B0604020202020204" pitchFamily="34" charset="0"/>
                  </a:rPr>
                  <a:t> </a:t>
                </a:r>
              </a:p>
              <a:p>
                <a:pPr marL="914400">
                  <a:lnSpc>
                    <a:spcPct val="100000"/>
                  </a:lnSpc>
                </a:pPr>
                <a:endParaRPr lang="en-US" sz="2000" dirty="0">
                  <a:solidFill>
                    <a:srgbClr val="000000"/>
                  </a:solidFill>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3576" y="1505610"/>
                <a:ext cx="10711543" cy="4106917"/>
              </a:xfrm>
              <a:blipFill>
                <a:blip r:embed="rId2"/>
                <a:stretch>
                  <a:fillRect l="-1480" t="-1780" r="-1366"/>
                </a:stretch>
              </a:blipFill>
            </p:spPr>
            <p:txBody>
              <a:bodyPr/>
              <a:lstStyle/>
              <a:p>
                <a:r>
                  <a:rPr lang="en-US">
                    <a:noFill/>
                  </a:rPr>
                  <a:t> </a:t>
                </a:r>
              </a:p>
            </p:txBody>
          </p:sp>
        </mc:Fallback>
      </mc:AlternateContent>
    </p:spTree>
    <p:extLst>
      <p:ext uri="{BB962C8B-B14F-4D97-AF65-F5344CB8AC3E}">
        <p14:creationId xmlns:p14="http://schemas.microsoft.com/office/powerpoint/2010/main" val="3036767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969579" y="365125"/>
            <a:ext cx="10160875" cy="672105"/>
          </a:xfrm>
        </p:spPr>
        <p:txBody>
          <a:bodyPr/>
          <a:lstStyle/>
          <a:p>
            <a:r>
              <a:rPr lang="en-US" sz="3200" dirty="0"/>
              <a:t>9.1 The Null Hypothesis as an Assumption to be Challenged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3576" y="1576549"/>
                <a:ext cx="10711543" cy="4177862"/>
              </a:xfrm>
            </p:spPr>
            <p:txBody>
              <a:bodyPr/>
              <a:lstStyle/>
              <a:p>
                <a:pPr>
                  <a:lnSpc>
                    <a:spcPct val="100000"/>
                  </a:lnSpc>
                </a:pPr>
                <a:r>
                  <a:rPr lang="en-US" sz="2000" dirty="0">
                    <a:solidFill>
                      <a:srgbClr val="000000"/>
                    </a:solidFill>
                    <a:cs typeface="Arial" panose="020B0604020202020204" pitchFamily="34" charset="0"/>
                  </a:rPr>
                  <a:t>We might begin with a belief or assumption that a statement about the value of a population parameter is true.</a:t>
                </a:r>
              </a:p>
              <a:p>
                <a:pPr>
                  <a:lnSpc>
                    <a:spcPct val="100000"/>
                  </a:lnSpc>
                </a:pPr>
                <a:r>
                  <a:rPr lang="en-US" sz="2000" dirty="0">
                    <a:solidFill>
                      <a:srgbClr val="000000"/>
                    </a:solidFill>
                    <a:cs typeface="Arial" panose="020B0604020202020204" pitchFamily="34" charset="0"/>
                  </a:rPr>
                  <a:t>We then use a hypothesis test to challenge the assumption and determine if there is statistical evidence to conclude that the assumption is incorrect.</a:t>
                </a:r>
              </a:p>
              <a:p>
                <a:pPr>
                  <a:lnSpc>
                    <a:spcPct val="100000"/>
                  </a:lnSpc>
                </a:pPr>
                <a:r>
                  <a:rPr lang="en-US" sz="2000" dirty="0">
                    <a:solidFill>
                      <a:srgbClr val="000000"/>
                    </a:solidFill>
                    <a:cs typeface="Arial" panose="020B0604020202020204" pitchFamily="34" charset="0"/>
                  </a:rPr>
                  <a:t>In these situations, it is helpful to develop the null hypothesis first.</a:t>
                </a:r>
              </a:p>
              <a:p>
                <a:pPr>
                  <a:lnSpc>
                    <a:spcPct val="100000"/>
                  </a:lnSpc>
                </a:pPr>
                <a:r>
                  <a:rPr lang="en-US" sz="2000" b="1" dirty="0">
                    <a:solidFill>
                      <a:srgbClr val="000000"/>
                    </a:solidFill>
                    <a:cs typeface="Arial" panose="020B0604020202020204" pitchFamily="34" charset="0"/>
                  </a:rPr>
                  <a:t>Example</a:t>
                </a:r>
                <a:r>
                  <a:rPr lang="en-US" sz="2000" dirty="0">
                    <a:solidFill>
                      <a:srgbClr val="000000"/>
                    </a:solidFill>
                    <a:cs typeface="Arial" panose="020B0604020202020204" pitchFamily="34" charset="0"/>
                  </a:rPr>
                  <a:t>: The label on a soft drink bottle states that it contains 67.6 fluid ounces. </a:t>
                </a:r>
              </a:p>
              <a:p>
                <a:pPr>
                  <a:lnSpc>
                    <a:spcPct val="100000"/>
                  </a:lnSpc>
                </a:pPr>
                <a:r>
                  <a:rPr lang="en-US" sz="2000" dirty="0">
                    <a:solidFill>
                      <a:srgbClr val="000000"/>
                    </a:solidFill>
                    <a:cs typeface="Arial" panose="020B0604020202020204" pitchFamily="34" charset="0"/>
                  </a:rPr>
                  <a:t>We assume the label correct, provided the population mean filling weight, </a:t>
                </a:r>
                <a:r>
                  <a:rPr lang="en-US" sz="2000" i="1" dirty="0">
                    <a:solidFill>
                      <a:srgbClr val="000000"/>
                    </a:solidFill>
                    <a:latin typeface="Symbol" panose="05050102010706020507" pitchFamily="18" charset="2"/>
                    <a:cs typeface="Arial" panose="020B0604020202020204" pitchFamily="34" charset="0"/>
                  </a:rPr>
                  <a:t>m</a:t>
                </a:r>
                <a:r>
                  <a:rPr lang="en-US" sz="2000" dirty="0">
                    <a:solidFill>
                      <a:srgbClr val="000000"/>
                    </a:solidFill>
                    <a:cs typeface="Arial" panose="020B0604020202020204" pitchFamily="34" charset="0"/>
                  </a:rPr>
                  <a:t>, is 67.6 fluid ounces, and set it as the null hypothesis. Then, we challenge the assumption in the alternative hypothesis.</a:t>
                </a:r>
              </a:p>
              <a:p>
                <a:pPr marL="914400">
                  <a:lnSpc>
                    <a:spcPct val="100000"/>
                  </a:lnSpc>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=67.6</m:t>
                    </m:r>
                  </m:oMath>
                </a14:m>
                <a:r>
                  <a:rPr lang="en-US" sz="2000" b="0" dirty="0">
                    <a:solidFill>
                      <a:srgbClr val="000000"/>
                    </a:solidFill>
                    <a:ea typeface="Cambria Math" panose="02040503050406030204" pitchFamily="18" charset="0"/>
                    <a:cs typeface="Arial" panose="020B0604020202020204" pitchFamily="34" charset="0"/>
                  </a:rPr>
                  <a:t> </a:t>
                </a:r>
              </a:p>
              <a:p>
                <a:pPr marL="914400"/>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≠67.6</m:t>
                    </m:r>
                  </m:oMath>
                </a14:m>
                <a:r>
                  <a:rPr lang="en-US" sz="2000" dirty="0">
                    <a:solidFill>
                      <a:srgbClr val="000000"/>
                    </a:solidFill>
                    <a:cs typeface="Arial" panose="020B0604020202020204" pitchFamily="34" charset="0"/>
                  </a:rPr>
                  <a:t> </a:t>
                </a:r>
              </a:p>
              <a:p>
                <a:pPr marL="914400">
                  <a:lnSpc>
                    <a:spcPct val="100000"/>
                  </a:lnSpc>
                </a:pPr>
                <a:endParaRPr lang="en-US" sz="2000" dirty="0">
                  <a:solidFill>
                    <a:srgbClr val="000000"/>
                  </a:solidFill>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3576" y="1576549"/>
                <a:ext cx="10711543" cy="4177862"/>
              </a:xfrm>
              <a:blipFill>
                <a:blip r:embed="rId2"/>
                <a:stretch>
                  <a:fillRect l="-1480" t="-1752" r="-683" b="-438"/>
                </a:stretch>
              </a:blipFill>
            </p:spPr>
            <p:txBody>
              <a:bodyPr/>
              <a:lstStyle/>
              <a:p>
                <a:r>
                  <a:rPr lang="en-US">
                    <a:noFill/>
                  </a:rPr>
                  <a:t> </a:t>
                </a:r>
              </a:p>
            </p:txBody>
          </p:sp>
        </mc:Fallback>
      </mc:AlternateContent>
    </p:spTree>
    <p:extLst>
      <p:ext uri="{BB962C8B-B14F-4D97-AF65-F5344CB8AC3E}">
        <p14:creationId xmlns:p14="http://schemas.microsoft.com/office/powerpoint/2010/main" val="2632284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2DD1-FE1E-F138-7908-7831A6C81511}"/>
              </a:ext>
            </a:extLst>
          </p:cNvPr>
          <p:cNvSpPr>
            <a:spLocks noGrp="1"/>
          </p:cNvSpPr>
          <p:nvPr>
            <p:ph type="title"/>
          </p:nvPr>
        </p:nvSpPr>
        <p:spPr>
          <a:xfrm>
            <a:off x="394140" y="365125"/>
            <a:ext cx="11353800" cy="672105"/>
          </a:xfrm>
        </p:spPr>
        <p:txBody>
          <a:bodyPr/>
          <a:lstStyle/>
          <a:p>
            <a:r>
              <a:rPr lang="en-US" sz="3200" dirty="0"/>
              <a:t>9.1 Summary of Forms for Null and Alternative Hypotheses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3B19AC0-1583-E5FA-3D0F-A97E7D529C75}"/>
                  </a:ext>
                </a:extLst>
              </p:cNvPr>
              <p:cNvSpPr>
                <a:spLocks noGrp="1"/>
              </p:cNvSpPr>
              <p:nvPr>
                <p:ph type="body" sz="quarter" idx="15"/>
              </p:nvPr>
            </p:nvSpPr>
            <p:spPr>
              <a:xfrm>
                <a:off x="743575" y="1426774"/>
                <a:ext cx="10610223" cy="4414345"/>
              </a:xfrm>
            </p:spPr>
            <p:txBody>
              <a:bodyPr/>
              <a:lstStyle/>
              <a:p>
                <a:pPr>
                  <a:lnSpc>
                    <a:spcPct val="100000"/>
                  </a:lnSpc>
                </a:pPr>
                <a:r>
                  <a:rPr lang="en-US" sz="2000" dirty="0"/>
                  <a:t>The equality part of the hypotheses always appears in the null hypothesis.</a:t>
                </a:r>
              </a:p>
              <a:p>
                <a:pPr>
                  <a:lnSpc>
                    <a:spcPct val="100000"/>
                  </a:lnSpc>
                </a:pPr>
                <a:r>
                  <a:rPr lang="en-US" sz="2000" dirty="0"/>
                  <a:t>In general, a hypothesis test about the value of a population mean </a:t>
                </a:r>
                <a:r>
                  <a:rPr lang="en-US" sz="2000" i="1" dirty="0">
                    <a:latin typeface="Symbol" panose="05050102010706020507" pitchFamily="18" charset="2"/>
                  </a:rPr>
                  <a:t>m</a:t>
                </a:r>
                <a:r>
                  <a:rPr lang="en-US" sz="2000" dirty="0"/>
                  <a:t> must take one of the following three forms, where </a:t>
                </a:r>
                <a14:m>
                  <m:oMath xmlns:m="http://schemas.openxmlformats.org/officeDocument/2006/math">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𝜇</m:t>
                        </m:r>
                      </m:e>
                      <m:sub>
                        <m:r>
                          <a:rPr lang="en-US" sz="2000" b="0" i="1" dirty="0" smtClean="0">
                            <a:latin typeface="Cambria Math" panose="02040503050406030204" pitchFamily="18" charset="0"/>
                          </a:rPr>
                          <m:t>0</m:t>
                        </m:r>
                      </m:sub>
                    </m:sSub>
                  </m:oMath>
                </a14:m>
                <a:r>
                  <a:rPr lang="en-US" sz="2000" dirty="0"/>
                  <a:t> is the hypothesized value of the population mean.</a:t>
                </a:r>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r>
                  <a:rPr lang="en-US" sz="2000" dirty="0"/>
                  <a:t>In this chapter, we show how statistical inference from sample results can be used together with hypothesis testing to determine whether a statement about the value of a population parameter should or should not be rejected.</a:t>
                </a:r>
              </a:p>
              <a:p>
                <a:pPr>
                  <a:lnSpc>
                    <a:spcPct val="100000"/>
                  </a:lnSpc>
                </a:pPr>
                <a:r>
                  <a:rPr lang="en-US" sz="2000" dirty="0"/>
                  <a:t>If the sample results support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oMath>
                </a14:m>
                <a:r>
                  <a:rPr lang="en-US" sz="2000" dirty="0"/>
                  <a:t>, then we 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 Otherwise, we do not 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a:t>
                </a:r>
              </a:p>
            </p:txBody>
          </p:sp>
        </mc:Choice>
        <mc:Fallback xmlns="">
          <p:sp>
            <p:nvSpPr>
              <p:cNvPr id="3" name="Text Placeholder 2">
                <a:extLst>
                  <a:ext uri="{FF2B5EF4-FFF2-40B4-BE49-F238E27FC236}">
                    <a16:creationId xmlns:a16="http://schemas.microsoft.com/office/drawing/2014/main" id="{83B19AC0-1583-E5FA-3D0F-A97E7D529C75}"/>
                  </a:ext>
                </a:extLst>
              </p:cNvPr>
              <p:cNvSpPr>
                <a:spLocks noGrp="1" noRot="1" noChangeAspect="1" noMove="1" noResize="1" noEditPoints="1" noAdjustHandles="1" noChangeArrowheads="1" noChangeShapeType="1" noTextEdit="1"/>
              </p:cNvSpPr>
              <p:nvPr>
                <p:ph type="body" sz="quarter" idx="15"/>
              </p:nvPr>
            </p:nvSpPr>
            <p:spPr>
              <a:xfrm>
                <a:off x="743575" y="1426774"/>
                <a:ext cx="10610223" cy="4414345"/>
              </a:xfrm>
              <a:blipFill>
                <a:blip r:embed="rId3"/>
                <a:stretch>
                  <a:fillRect l="-1494" t="-16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949D3E33-8804-E853-E582-29FEBCCEEA7C}"/>
                  </a:ext>
                </a:extLst>
              </p:cNvPr>
              <p:cNvGraphicFramePr>
                <a:graphicFrameLocks noGrp="1"/>
              </p:cNvGraphicFramePr>
              <p:nvPr>
                <p:ph type="tbl" sz="quarter" idx="16"/>
              </p:nvPr>
            </p:nvGraphicFramePr>
            <p:xfrm>
              <a:off x="3208284" y="2563995"/>
              <a:ext cx="5697255" cy="1637512"/>
            </p:xfrm>
            <a:graphic>
              <a:graphicData uri="http://schemas.openxmlformats.org/drawingml/2006/table">
                <a:tbl>
                  <a:tblPr firstRow="1" bandRow="1">
                    <a:tableStyleId>{5C22544A-7EE6-4342-B048-85BDC9FD1C3A}</a:tableStyleId>
                  </a:tblPr>
                  <a:tblGrid>
                    <a:gridCol w="1899085">
                      <a:extLst>
                        <a:ext uri="{9D8B030D-6E8A-4147-A177-3AD203B41FA5}">
                          <a16:colId xmlns:a16="http://schemas.microsoft.com/office/drawing/2014/main" val="62038558"/>
                        </a:ext>
                      </a:extLst>
                    </a:gridCol>
                    <a:gridCol w="1899085">
                      <a:extLst>
                        <a:ext uri="{9D8B030D-6E8A-4147-A177-3AD203B41FA5}">
                          <a16:colId xmlns:a16="http://schemas.microsoft.com/office/drawing/2014/main" val="949252079"/>
                        </a:ext>
                      </a:extLst>
                    </a:gridCol>
                    <a:gridCol w="1899085">
                      <a:extLst>
                        <a:ext uri="{9D8B030D-6E8A-4147-A177-3AD203B41FA5}">
                          <a16:colId xmlns:a16="http://schemas.microsoft.com/office/drawing/2014/main" val="2132953150"/>
                        </a:ext>
                      </a:extLst>
                    </a:gridCol>
                  </a:tblGrid>
                  <a:tr h="768628">
                    <a:tc>
                      <a:txBody>
                        <a:bodyPr/>
                        <a:lstStyle/>
                        <a:p>
                          <a:pPr algn="ctr"/>
                          <a:r>
                            <a:rPr lang="en-US" sz="2000" dirty="0">
                              <a:solidFill>
                                <a:srgbClr val="000000"/>
                              </a:solidFill>
                              <a:latin typeface="Arial" panose="020B0604020202020204" pitchFamily="34" charset="0"/>
                              <a:cs typeface="Arial" panose="020B0604020202020204" pitchFamily="34" charset="0"/>
                            </a:rPr>
                            <a:t>One-tailed (Lower-tail)</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One-tailed (Upper-tail)</a:t>
                          </a:r>
                        </a:p>
                      </a:txBody>
                      <a:tcPr anchor="b">
                        <a:noFill/>
                      </a:tcPr>
                    </a:tc>
                    <a:tc>
                      <a:txBody>
                        <a:bodyPr/>
                        <a:lstStyle/>
                        <a:p>
                          <a:pPr algn="ctr"/>
                          <a:r>
                            <a:rPr lang="en-US" sz="2000" dirty="0">
                              <a:solidFill>
                                <a:srgbClr val="000000"/>
                              </a:solidFill>
                              <a:latin typeface="Arial" panose="020B0604020202020204" pitchFamily="34" charset="0"/>
                              <a:cs typeface="Arial" panose="020B0604020202020204" pitchFamily="34" charset="0"/>
                            </a:rPr>
                            <a:t>Two-tailed</a:t>
                          </a:r>
                        </a:p>
                        <a:p>
                          <a:pPr algn="ctr"/>
                          <a:endParaRPr lang="en-US" sz="2000" dirty="0">
                            <a:solidFill>
                              <a:srgbClr val="000000"/>
                            </a:solidFill>
                            <a:latin typeface="Arial" panose="020B0604020202020204" pitchFamily="34" charset="0"/>
                            <a:cs typeface="Arial" panose="020B0604020202020204" pitchFamily="34" charset="0"/>
                          </a:endParaRPr>
                        </a:p>
                      </a:txBody>
                      <a:tcPr anchor="b">
                        <a:noFill/>
                      </a:tcPr>
                    </a:tc>
                    <a:extLst>
                      <a:ext uri="{0D108BD9-81ED-4DB2-BD59-A6C34878D82A}">
                        <a16:rowId xmlns:a16="http://schemas.microsoft.com/office/drawing/2014/main" val="3040413604"/>
                      </a:ext>
                    </a:extLst>
                  </a:tr>
                  <a:tr h="434442">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2735330957"/>
                      </a:ext>
                    </a:extLst>
                  </a:tr>
                  <a:tr h="434442">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&lt;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4015236200"/>
                      </a:ext>
                    </a:extLst>
                  </a:tr>
                </a:tbl>
              </a:graphicData>
            </a:graphic>
          </p:graphicFrame>
        </mc:Choice>
        <mc:Fallback xmlns="">
          <p:graphicFrame>
            <p:nvGraphicFramePr>
              <p:cNvPr id="5" name="Table 5">
                <a:extLst>
                  <a:ext uri="{FF2B5EF4-FFF2-40B4-BE49-F238E27FC236}">
                    <a16:creationId xmlns:a16="http://schemas.microsoft.com/office/drawing/2014/main" id="{949D3E33-8804-E853-E582-29FEBCCEEA7C}"/>
                  </a:ext>
                </a:extLst>
              </p:cNvPr>
              <p:cNvGraphicFramePr>
                <a:graphicFrameLocks noGrp="1"/>
              </p:cNvGraphicFramePr>
              <p:nvPr>
                <p:ph type="tbl" sz="quarter" idx="16"/>
                <p:extLst>
                  <p:ext uri="{D42A27DB-BD31-4B8C-83A1-F6EECF244321}">
                    <p14:modId xmlns:p14="http://schemas.microsoft.com/office/powerpoint/2010/main" val="2058432144"/>
                  </p:ext>
                </p:extLst>
              </p:nvPr>
            </p:nvGraphicFramePr>
            <p:xfrm>
              <a:off x="3208284" y="2563995"/>
              <a:ext cx="5697255" cy="1637512"/>
            </p:xfrm>
            <a:graphic>
              <a:graphicData uri="http://schemas.openxmlformats.org/drawingml/2006/table">
                <a:tbl>
                  <a:tblPr firstRow="1" bandRow="1">
                    <a:tableStyleId>{5C22544A-7EE6-4342-B048-85BDC9FD1C3A}</a:tableStyleId>
                  </a:tblPr>
                  <a:tblGrid>
                    <a:gridCol w="1899085">
                      <a:extLst>
                        <a:ext uri="{9D8B030D-6E8A-4147-A177-3AD203B41FA5}">
                          <a16:colId xmlns:a16="http://schemas.microsoft.com/office/drawing/2014/main" val="62038558"/>
                        </a:ext>
                      </a:extLst>
                    </a:gridCol>
                    <a:gridCol w="1899085">
                      <a:extLst>
                        <a:ext uri="{9D8B030D-6E8A-4147-A177-3AD203B41FA5}">
                          <a16:colId xmlns:a16="http://schemas.microsoft.com/office/drawing/2014/main" val="949252079"/>
                        </a:ext>
                      </a:extLst>
                    </a:gridCol>
                    <a:gridCol w="1899085">
                      <a:extLst>
                        <a:ext uri="{9D8B030D-6E8A-4147-A177-3AD203B41FA5}">
                          <a16:colId xmlns:a16="http://schemas.microsoft.com/office/drawing/2014/main" val="2132953150"/>
                        </a:ext>
                      </a:extLst>
                    </a:gridCol>
                  </a:tblGrid>
                  <a:tr h="768628">
                    <a:tc>
                      <a:txBody>
                        <a:bodyPr/>
                        <a:lstStyle/>
                        <a:p>
                          <a:pPr algn="ctr"/>
                          <a:r>
                            <a:rPr lang="en-US" sz="2000" dirty="0">
                              <a:solidFill>
                                <a:srgbClr val="000000"/>
                              </a:solidFill>
                              <a:latin typeface="Arial" panose="020B0604020202020204" pitchFamily="34" charset="0"/>
                              <a:cs typeface="Arial" panose="020B0604020202020204" pitchFamily="34" charset="0"/>
                            </a:rPr>
                            <a:t>One-tailed (Lower-tail)</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One-tailed (Upper-tail)</a:t>
                          </a:r>
                        </a:p>
                      </a:txBody>
                      <a:tcPr anchor="b">
                        <a:noFill/>
                      </a:tcPr>
                    </a:tc>
                    <a:tc>
                      <a:txBody>
                        <a:bodyPr/>
                        <a:lstStyle/>
                        <a:p>
                          <a:pPr algn="ctr"/>
                          <a:r>
                            <a:rPr lang="en-US" sz="2000" dirty="0">
                              <a:solidFill>
                                <a:srgbClr val="000000"/>
                              </a:solidFill>
                              <a:latin typeface="Arial" panose="020B0604020202020204" pitchFamily="34" charset="0"/>
                              <a:cs typeface="Arial" panose="020B0604020202020204" pitchFamily="34" charset="0"/>
                            </a:rPr>
                            <a:t>Two-tailed</a:t>
                          </a:r>
                        </a:p>
                        <a:p>
                          <a:pPr algn="ctr"/>
                          <a:endParaRPr lang="en-US" sz="2000" dirty="0">
                            <a:solidFill>
                              <a:srgbClr val="000000"/>
                            </a:solidFill>
                            <a:latin typeface="Arial" panose="020B0604020202020204" pitchFamily="34" charset="0"/>
                            <a:cs typeface="Arial" panose="020B0604020202020204" pitchFamily="34" charset="0"/>
                          </a:endParaRPr>
                        </a:p>
                      </a:txBody>
                      <a:tcPr anchor="b">
                        <a:noFill/>
                      </a:tcPr>
                    </a:tc>
                    <a:extLst>
                      <a:ext uri="{0D108BD9-81ED-4DB2-BD59-A6C34878D82A}">
                        <a16:rowId xmlns:a16="http://schemas.microsoft.com/office/drawing/2014/main" val="3040413604"/>
                      </a:ext>
                    </a:extLst>
                  </a:tr>
                  <a:tr h="434442">
                    <a:tc>
                      <a:txBody>
                        <a:bodyPr/>
                        <a:lstStyle/>
                        <a:p>
                          <a:endParaRPr lang="en-US"/>
                        </a:p>
                      </a:txBody>
                      <a:tcPr anchor="ctr">
                        <a:blipFill>
                          <a:blip r:embed="rId4"/>
                          <a:stretch>
                            <a:fillRect l="-321" t="-180282" r="-201282" b="-104225"/>
                          </a:stretch>
                        </a:blipFill>
                      </a:tcPr>
                    </a:tc>
                    <a:tc>
                      <a:txBody>
                        <a:bodyPr/>
                        <a:lstStyle/>
                        <a:p>
                          <a:endParaRPr lang="en-US"/>
                        </a:p>
                      </a:txBody>
                      <a:tcPr anchor="ctr">
                        <a:blipFill>
                          <a:blip r:embed="rId4"/>
                          <a:stretch>
                            <a:fillRect l="-100643" t="-180282" r="-101929" b="-104225"/>
                          </a:stretch>
                        </a:blipFill>
                      </a:tcPr>
                    </a:tc>
                    <a:tc>
                      <a:txBody>
                        <a:bodyPr/>
                        <a:lstStyle/>
                        <a:p>
                          <a:endParaRPr lang="en-US"/>
                        </a:p>
                      </a:txBody>
                      <a:tcPr anchor="ctr">
                        <a:blipFill>
                          <a:blip r:embed="rId4"/>
                          <a:stretch>
                            <a:fillRect l="-200000" t="-180282" r="-1603" b="-104225"/>
                          </a:stretch>
                        </a:blipFill>
                      </a:tcPr>
                    </a:tc>
                    <a:extLst>
                      <a:ext uri="{0D108BD9-81ED-4DB2-BD59-A6C34878D82A}">
                        <a16:rowId xmlns:a16="http://schemas.microsoft.com/office/drawing/2014/main" val="2735330957"/>
                      </a:ext>
                    </a:extLst>
                  </a:tr>
                  <a:tr h="434442">
                    <a:tc>
                      <a:txBody>
                        <a:bodyPr/>
                        <a:lstStyle/>
                        <a:p>
                          <a:endParaRPr lang="en-US"/>
                        </a:p>
                      </a:txBody>
                      <a:tcPr anchor="ctr">
                        <a:blipFill>
                          <a:blip r:embed="rId4"/>
                          <a:stretch>
                            <a:fillRect l="-321" t="-276389" r="-201282" b="-2778"/>
                          </a:stretch>
                        </a:blipFill>
                      </a:tcPr>
                    </a:tc>
                    <a:tc>
                      <a:txBody>
                        <a:bodyPr/>
                        <a:lstStyle/>
                        <a:p>
                          <a:endParaRPr lang="en-US"/>
                        </a:p>
                      </a:txBody>
                      <a:tcPr anchor="ctr">
                        <a:blipFill>
                          <a:blip r:embed="rId4"/>
                          <a:stretch>
                            <a:fillRect l="-100643" t="-276389" r="-101929" b="-2778"/>
                          </a:stretch>
                        </a:blipFill>
                      </a:tcPr>
                    </a:tc>
                    <a:tc>
                      <a:txBody>
                        <a:bodyPr/>
                        <a:lstStyle/>
                        <a:p>
                          <a:endParaRPr lang="en-US"/>
                        </a:p>
                      </a:txBody>
                      <a:tcPr anchor="ctr">
                        <a:blipFill>
                          <a:blip r:embed="rId4"/>
                          <a:stretch>
                            <a:fillRect l="-200000" t="-276389" r="-1603" b="-2778"/>
                          </a:stretch>
                        </a:blipFill>
                      </a:tcPr>
                    </a:tc>
                    <a:extLst>
                      <a:ext uri="{0D108BD9-81ED-4DB2-BD59-A6C34878D82A}">
                        <a16:rowId xmlns:a16="http://schemas.microsoft.com/office/drawing/2014/main" val="4015236200"/>
                      </a:ext>
                    </a:extLst>
                  </a:tr>
                </a:tbl>
              </a:graphicData>
            </a:graphic>
          </p:graphicFrame>
        </mc:Fallback>
      </mc:AlternateContent>
    </p:spTree>
    <p:extLst>
      <p:ext uri="{BB962C8B-B14F-4D97-AF65-F5344CB8AC3E}">
        <p14:creationId xmlns:p14="http://schemas.microsoft.com/office/powerpoint/2010/main" val="2250610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4CF22-0B81-8F86-9C19-3DB408A760F7}"/>
              </a:ext>
            </a:extLst>
          </p:cNvPr>
          <p:cNvSpPr>
            <a:spLocks noGrp="1"/>
          </p:cNvSpPr>
          <p:nvPr>
            <p:ph type="title"/>
          </p:nvPr>
        </p:nvSpPr>
        <p:spPr/>
        <p:txBody>
          <a:bodyPr/>
          <a:lstStyle/>
          <a:p>
            <a:r>
              <a:rPr lang="en-US" dirty="0">
                <a:solidFill>
                  <a:srgbClr val="D14B1E"/>
                </a:solidFill>
              </a:rPr>
              <a:t>9.2 Type I and Type II Errors</a:t>
            </a:r>
          </a:p>
        </p:txBody>
      </p:sp>
      <p:sp>
        <p:nvSpPr>
          <p:cNvPr id="7" name="Text Placeholder 6">
            <a:extLst>
              <a:ext uri="{FF2B5EF4-FFF2-40B4-BE49-F238E27FC236}">
                <a16:creationId xmlns:a16="http://schemas.microsoft.com/office/drawing/2014/main" id="{A13F85CB-F58C-C3DD-EA97-C6CD01FED5AB}"/>
              </a:ext>
            </a:extLst>
          </p:cNvPr>
          <p:cNvSpPr>
            <a:spLocks noGrp="1"/>
          </p:cNvSpPr>
          <p:nvPr>
            <p:ph type="body" sz="quarter" idx="16"/>
          </p:nvPr>
        </p:nvSpPr>
        <p:spPr>
          <a:xfrm>
            <a:off x="740228" y="1515527"/>
            <a:ext cx="10711543" cy="825651"/>
          </a:xfrm>
        </p:spPr>
        <p:txBody>
          <a:bodyPr/>
          <a:lstStyle/>
          <a:p>
            <a:r>
              <a:rPr lang="en-US" dirty="0"/>
              <a:t>Because hypothesis tests are based on sample data, we must allow for the possibility of errors.</a:t>
            </a:r>
          </a:p>
          <a:p>
            <a:r>
              <a:rPr lang="en-US" dirty="0"/>
              <a:t>There are two types of error that can be made in hypothesis tests: Type I and Type II errors.</a:t>
            </a:r>
          </a:p>
        </p:txBody>
      </p:sp>
      <p:sp>
        <p:nvSpPr>
          <p:cNvPr id="3" name="Text Placeholder 2">
            <a:extLst>
              <a:ext uri="{FF2B5EF4-FFF2-40B4-BE49-F238E27FC236}">
                <a16:creationId xmlns:a16="http://schemas.microsoft.com/office/drawing/2014/main" id="{62D30D3E-ABA5-038E-31F0-B758CD43A1D8}"/>
              </a:ext>
            </a:extLst>
          </p:cNvPr>
          <p:cNvSpPr>
            <a:spLocks noGrp="1"/>
          </p:cNvSpPr>
          <p:nvPr>
            <p:ph type="body" sz="quarter" idx="21"/>
          </p:nvPr>
        </p:nvSpPr>
        <p:spPr>
          <a:xfrm>
            <a:off x="743575" y="2528470"/>
            <a:ext cx="5200024" cy="332973"/>
          </a:xfrm>
        </p:spPr>
        <p:txBody>
          <a:bodyPr/>
          <a:lstStyle/>
          <a:p>
            <a:r>
              <a:rPr lang="en-US" dirty="0"/>
              <a:t>Type I Error</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A278745-293C-40A2-2C2D-6F641D762357}"/>
                  </a:ext>
                </a:extLst>
              </p:cNvPr>
              <p:cNvSpPr>
                <a:spLocks noGrp="1"/>
              </p:cNvSpPr>
              <p:nvPr>
                <p:ph type="body" sz="quarter" idx="15"/>
              </p:nvPr>
            </p:nvSpPr>
            <p:spPr>
              <a:xfrm>
                <a:off x="743576" y="2956032"/>
                <a:ext cx="5200024" cy="2298919"/>
              </a:xfrm>
            </p:spPr>
            <p:txBody>
              <a:bodyPr/>
              <a:lstStyle/>
              <a:p>
                <a:r>
                  <a:rPr lang="en-US" dirty="0"/>
                  <a:t>A Type I error is rejecting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oMath>
                </a14:m>
                <a:r>
                  <a:rPr lang="en-US" dirty="0"/>
                  <a:t> when it is true.</a:t>
                </a:r>
              </a:p>
              <a:p>
                <a:r>
                  <a:rPr lang="en-US" dirty="0"/>
                  <a:t>The probability of making a Type I error when the null hypothesis is true as an equality is called the </a:t>
                </a:r>
                <a:r>
                  <a:rPr lang="en-US" b="1" dirty="0"/>
                  <a:t>level of significance</a:t>
                </a:r>
                <a:r>
                  <a:rPr lang="en-US" dirty="0"/>
                  <a:t>.</a:t>
                </a:r>
              </a:p>
              <a:p>
                <a:r>
                  <a:rPr lang="en-US" dirty="0"/>
                  <a:t>Applications of hypothesis testing that only control for the Type I error are often called significance tests.</a:t>
                </a:r>
              </a:p>
            </p:txBody>
          </p:sp>
        </mc:Choice>
        <mc:Fallback xmlns="">
          <p:sp>
            <p:nvSpPr>
              <p:cNvPr id="4" name="Text Placeholder 3">
                <a:extLst>
                  <a:ext uri="{FF2B5EF4-FFF2-40B4-BE49-F238E27FC236}">
                    <a16:creationId xmlns:a16="http://schemas.microsoft.com/office/drawing/2014/main" id="{FA278745-293C-40A2-2C2D-6F641D762357}"/>
                  </a:ext>
                </a:extLst>
              </p:cNvPr>
              <p:cNvSpPr>
                <a:spLocks noGrp="1" noRot="1" noChangeAspect="1" noMove="1" noResize="1" noEditPoints="1" noAdjustHandles="1" noChangeArrowheads="1" noChangeShapeType="1" noTextEdit="1"/>
              </p:cNvSpPr>
              <p:nvPr>
                <p:ph type="body" sz="quarter" idx="15"/>
              </p:nvPr>
            </p:nvSpPr>
            <p:spPr>
              <a:xfrm>
                <a:off x="743576" y="2956032"/>
                <a:ext cx="5200024" cy="2298919"/>
              </a:xfrm>
              <a:blipFill>
                <a:blip r:embed="rId3"/>
                <a:stretch>
                  <a:fillRect l="-3048" t="-3183" r="-2110" b="-6366"/>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2801E98F-25D0-5263-5197-2D2BDF4C6136}"/>
              </a:ext>
            </a:extLst>
          </p:cNvPr>
          <p:cNvSpPr>
            <a:spLocks noGrp="1"/>
          </p:cNvSpPr>
          <p:nvPr>
            <p:ph type="body" sz="quarter" idx="22"/>
          </p:nvPr>
        </p:nvSpPr>
        <p:spPr>
          <a:xfrm>
            <a:off x="6122680" y="2528469"/>
            <a:ext cx="5200024" cy="332973"/>
          </a:xfrm>
        </p:spPr>
        <p:txBody>
          <a:bodyPr/>
          <a:lstStyle/>
          <a:p>
            <a:r>
              <a:rPr lang="en-US" dirty="0"/>
              <a:t>Type II Error</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5EC3BD41-4E58-72FA-823E-01B7B022FB48}"/>
                  </a:ext>
                </a:extLst>
              </p:cNvPr>
              <p:cNvSpPr>
                <a:spLocks noGrp="1"/>
              </p:cNvSpPr>
              <p:nvPr>
                <p:ph type="body" sz="quarter" idx="18"/>
              </p:nvPr>
            </p:nvSpPr>
            <p:spPr>
              <a:xfrm>
                <a:off x="6122680" y="2956032"/>
                <a:ext cx="5200024" cy="2298919"/>
              </a:xfrm>
            </p:spPr>
            <p:txBody>
              <a:bodyPr>
                <a:noAutofit/>
              </a:bodyPr>
              <a:lstStyle/>
              <a:p>
                <a:r>
                  <a:rPr lang="en-US" dirty="0"/>
                  <a:t>A Type II error is accepting </a:t>
                </a:r>
                <a14:m>
                  <m:oMath xmlns:m="http://schemas.openxmlformats.org/officeDocument/2006/math">
                    <m:sSub>
                      <m:sSubPr>
                        <m:ctrlPr>
                          <a:rPr lang="en-US" i="1" smtClean="0">
                            <a:solidFill>
                              <a:srgbClr val="000000"/>
                            </a:solidFill>
                            <a:latin typeface="Cambria Math" panose="02040503050406030204" pitchFamily="18" charset="0"/>
                            <a:cs typeface="Arial" panose="020B0604020202020204" pitchFamily="34" charset="0"/>
                          </a:rPr>
                        </m:ctrlPr>
                      </m:sSubPr>
                      <m:e>
                        <m:r>
                          <a:rPr lang="en-US" b="0" i="1" smtClean="0">
                            <a:solidFill>
                              <a:srgbClr val="000000"/>
                            </a:solidFill>
                            <a:latin typeface="Cambria Math" panose="02040503050406030204" pitchFamily="18" charset="0"/>
                            <a:cs typeface="Arial" panose="020B0604020202020204" pitchFamily="34" charset="0"/>
                          </a:rPr>
                          <m:t>𝐻</m:t>
                        </m:r>
                      </m:e>
                      <m:sub>
                        <m:r>
                          <a:rPr lang="en-US" b="0" i="1" smtClean="0">
                            <a:solidFill>
                              <a:srgbClr val="000000"/>
                            </a:solidFill>
                            <a:latin typeface="Cambria Math" panose="02040503050406030204" pitchFamily="18" charset="0"/>
                            <a:cs typeface="Arial" panose="020B0604020202020204" pitchFamily="34" charset="0"/>
                          </a:rPr>
                          <m:t>0</m:t>
                        </m:r>
                      </m:sub>
                    </m:sSub>
                  </m:oMath>
                </a14:m>
                <a:r>
                  <a:rPr lang="en-US" dirty="0"/>
                  <a:t> when it is false.</a:t>
                </a:r>
              </a:p>
              <a:p>
                <a:r>
                  <a:rPr lang="en-US" dirty="0"/>
                  <a:t>It is difficult to control for the probability of making a Type II error (*see notes.)</a:t>
                </a:r>
              </a:p>
              <a:p>
                <a:r>
                  <a:rPr lang="en-US" dirty="0"/>
                  <a:t>Statisticians avoid the risk of making a Type II error by using “do not reject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oMath>
                </a14:m>
                <a:r>
                  <a:rPr lang="en-US" dirty="0"/>
                  <a:t>” rather than “accept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𝐻</m:t>
                        </m:r>
                      </m:e>
                      <m:sub>
                        <m:r>
                          <a:rPr lang="en-US" i="1">
                            <a:latin typeface="Cambria Math" panose="02040503050406030204" pitchFamily="18" charset="0"/>
                            <a:cs typeface="Arial" panose="020B0604020202020204" pitchFamily="34" charset="0"/>
                          </a:rPr>
                          <m:t>0</m:t>
                        </m:r>
                      </m:sub>
                    </m:sSub>
                  </m:oMath>
                </a14:m>
                <a:r>
                  <a:rPr lang="en-US" dirty="0"/>
                  <a:t>”.</a:t>
                </a:r>
              </a:p>
            </p:txBody>
          </p:sp>
        </mc:Choice>
        <mc:Fallback xmlns="">
          <p:sp>
            <p:nvSpPr>
              <p:cNvPr id="6" name="Text Placeholder 5">
                <a:extLst>
                  <a:ext uri="{FF2B5EF4-FFF2-40B4-BE49-F238E27FC236}">
                    <a16:creationId xmlns:a16="http://schemas.microsoft.com/office/drawing/2014/main" id="{5EC3BD41-4E58-72FA-823E-01B7B022FB48}"/>
                  </a:ext>
                </a:extLst>
              </p:cNvPr>
              <p:cNvSpPr>
                <a:spLocks noGrp="1" noRot="1" noChangeAspect="1" noMove="1" noResize="1" noEditPoints="1" noAdjustHandles="1" noChangeArrowheads="1" noChangeShapeType="1" noTextEdit="1"/>
              </p:cNvSpPr>
              <p:nvPr>
                <p:ph type="body" sz="quarter" idx="18"/>
              </p:nvPr>
            </p:nvSpPr>
            <p:spPr>
              <a:xfrm>
                <a:off x="6122680" y="2956032"/>
                <a:ext cx="5200024" cy="2298919"/>
              </a:xfrm>
              <a:blipFill>
                <a:blip r:embed="rId4"/>
                <a:stretch>
                  <a:fillRect l="-2931" t="-3183" r="-3048"/>
                </a:stretch>
              </a:blipFill>
            </p:spPr>
            <p:txBody>
              <a:bodyPr/>
              <a:lstStyle/>
              <a:p>
                <a:r>
                  <a:rPr lang="en-US">
                    <a:noFill/>
                  </a:rPr>
                  <a:t> </a:t>
                </a:r>
              </a:p>
            </p:txBody>
          </p:sp>
        </mc:Fallback>
      </mc:AlternateContent>
    </p:spTree>
    <p:extLst>
      <p:ext uri="{BB962C8B-B14F-4D97-AF65-F5344CB8AC3E}">
        <p14:creationId xmlns:p14="http://schemas.microsoft.com/office/powerpoint/2010/main" val="2373675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CC656-B614-A27F-5D16-CBBF93DFE634}"/>
              </a:ext>
            </a:extLst>
          </p:cNvPr>
          <p:cNvSpPr>
            <a:spLocks noGrp="1"/>
          </p:cNvSpPr>
          <p:nvPr>
            <p:ph type="title"/>
          </p:nvPr>
        </p:nvSpPr>
        <p:spPr/>
        <p:txBody>
          <a:bodyPr/>
          <a:lstStyle/>
          <a:p>
            <a:r>
              <a:rPr lang="en-US" dirty="0"/>
              <a:t>9.2 Example of Type I and Type II Errors</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690E1BE-91E4-3027-2280-D0BBD80DCD2A}"/>
                  </a:ext>
                </a:extLst>
              </p:cNvPr>
              <p:cNvSpPr>
                <a:spLocks noGrp="1"/>
              </p:cNvSpPr>
              <p:nvPr>
                <p:ph type="body" sz="quarter" idx="16"/>
              </p:nvPr>
            </p:nvSpPr>
            <p:spPr>
              <a:xfrm>
                <a:off x="740228" y="1277004"/>
                <a:ext cx="10711543" cy="1086475"/>
              </a:xfrm>
            </p:spPr>
            <p:txBody>
              <a:bodyPr/>
              <a:lstStyle/>
              <a:p>
                <a:r>
                  <a:rPr lang="en-US" dirty="0"/>
                  <a:t>Recall the hypothesis testing example about the new fuel injection unit.</a:t>
                </a:r>
              </a:p>
              <a:p>
                <a:pPr marL="914400">
                  <a:lnSpc>
                    <a:spcPct val="100000"/>
                  </a:lnSpc>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≤24</m:t>
                    </m:r>
                  </m:oMath>
                </a14:m>
                <a:r>
                  <a:rPr lang="en-US" sz="2000" b="0" dirty="0">
                    <a:solidFill>
                      <a:srgbClr val="000000"/>
                    </a:solidFill>
                    <a:ea typeface="Cambria Math" panose="02040503050406030204" pitchFamily="18" charset="0"/>
                    <a:cs typeface="Arial" panose="020B0604020202020204" pitchFamily="34" charset="0"/>
                  </a:rPr>
                  <a:t> </a:t>
                </a:r>
              </a:p>
              <a:p>
                <a:pPr marL="914400"/>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&gt;24</m:t>
                    </m:r>
                  </m:oMath>
                </a14:m>
                <a:r>
                  <a:rPr lang="en-US" sz="2000" dirty="0">
                    <a:solidFill>
                      <a:srgbClr val="000000"/>
                    </a:solidFill>
                    <a:cs typeface="Arial" panose="020B0604020202020204" pitchFamily="34" charset="0"/>
                  </a:rPr>
                  <a:t> </a:t>
                </a:r>
              </a:p>
            </p:txBody>
          </p:sp>
        </mc:Choice>
        <mc:Fallback xmlns="">
          <p:sp>
            <p:nvSpPr>
              <p:cNvPr id="5" name="Text Placeholder 4">
                <a:extLst>
                  <a:ext uri="{FF2B5EF4-FFF2-40B4-BE49-F238E27FC236}">
                    <a16:creationId xmlns:a16="http://schemas.microsoft.com/office/drawing/2014/main" id="{C690E1BE-91E4-3027-2280-D0BBD80DCD2A}"/>
                  </a:ext>
                </a:extLst>
              </p:cNvPr>
              <p:cNvSpPr>
                <a:spLocks noGrp="1" noRot="1" noChangeAspect="1" noMove="1" noResize="1" noEditPoints="1" noAdjustHandles="1" noChangeArrowheads="1" noChangeShapeType="1" noTextEdit="1"/>
              </p:cNvSpPr>
              <p:nvPr>
                <p:ph type="body" sz="quarter" idx="16"/>
              </p:nvPr>
            </p:nvSpPr>
            <p:spPr>
              <a:xfrm>
                <a:off x="740228" y="1277004"/>
                <a:ext cx="10711543" cy="1086475"/>
              </a:xfrm>
              <a:blipFill>
                <a:blip r:embed="rId2"/>
                <a:stretch>
                  <a:fillRect l="-1422" t="-6704" b="-5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DB961B4-5074-9D83-6E46-35FFAE5BF36A}"/>
                  </a:ext>
                </a:extLst>
              </p:cNvPr>
              <p:cNvSpPr>
                <a:spLocks noGrp="1"/>
              </p:cNvSpPr>
              <p:nvPr>
                <p:ph type="body" sz="quarter" idx="15"/>
              </p:nvPr>
            </p:nvSpPr>
            <p:spPr>
              <a:xfrm>
                <a:off x="743576" y="2483065"/>
                <a:ext cx="5200024" cy="1269124"/>
              </a:xfrm>
            </p:spPr>
            <p:txBody>
              <a:bodyPr>
                <a:noAutofit/>
              </a:bodyPr>
              <a:lstStyle/>
              <a:p>
                <a:r>
                  <a:rPr lang="en-US" dirty="0"/>
                  <a:t>In this situation, the </a:t>
                </a:r>
                <a:r>
                  <a:rPr lang="en-US" i="1" dirty="0"/>
                  <a:t>Type I error </a:t>
                </a:r>
                <a:r>
                  <a:rPr lang="en-US" dirty="0"/>
                  <a:t>of rejecting </a:t>
                </a:r>
                <a14:m>
                  <m:oMath xmlns:m="http://schemas.openxmlformats.org/officeDocument/2006/math">
                    <m:sSub>
                      <m:sSubPr>
                        <m:ctrlPr>
                          <a:rPr lang="en-US" i="1" smtClean="0">
                            <a:solidFill>
                              <a:srgbClr val="000000"/>
                            </a:solidFill>
                            <a:latin typeface="Cambria Math" panose="02040503050406030204" pitchFamily="18" charset="0"/>
                            <a:cs typeface="Arial" panose="020B0604020202020204" pitchFamily="34" charset="0"/>
                          </a:rPr>
                        </m:ctrlPr>
                      </m:sSubPr>
                      <m:e>
                        <m:r>
                          <a:rPr lang="en-US" b="0" i="1" smtClean="0">
                            <a:solidFill>
                              <a:srgbClr val="000000"/>
                            </a:solidFill>
                            <a:latin typeface="Cambria Math" panose="02040503050406030204" pitchFamily="18" charset="0"/>
                            <a:cs typeface="Arial" panose="020B0604020202020204" pitchFamily="34" charset="0"/>
                          </a:rPr>
                          <m:t>𝐻</m:t>
                        </m:r>
                      </m:e>
                      <m:sub>
                        <m:r>
                          <a:rPr lang="en-US" b="0" i="1" smtClean="0">
                            <a:solidFill>
                              <a:srgbClr val="000000"/>
                            </a:solidFill>
                            <a:latin typeface="Cambria Math" panose="02040503050406030204" pitchFamily="18" charset="0"/>
                            <a:cs typeface="Arial" panose="020B0604020202020204" pitchFamily="34" charset="0"/>
                          </a:rPr>
                          <m:t>0</m:t>
                        </m:r>
                      </m:sub>
                    </m:sSub>
                  </m:oMath>
                </a14:m>
                <a:r>
                  <a:rPr lang="en-US" dirty="0"/>
                  <a:t> when true corresponds to claiming that the new system improves the miles-per-gallon rating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𝜇</m:t>
                    </m:r>
                    <m:r>
                      <a:rPr lang="en-US" i="1">
                        <a:latin typeface="Cambria Math" panose="02040503050406030204" pitchFamily="18" charset="0"/>
                        <a:ea typeface="Cambria Math" panose="02040503050406030204" pitchFamily="18" charset="0"/>
                        <a:cs typeface="Arial" panose="020B0604020202020204" pitchFamily="34" charset="0"/>
                      </a:rPr>
                      <m:t>&gt;24</m:t>
                    </m:r>
                  </m:oMath>
                </a14:m>
                <a:r>
                  <a:rPr lang="en-US" dirty="0"/>
                  <a:t>) when in fact it does not.</a:t>
                </a:r>
              </a:p>
            </p:txBody>
          </p:sp>
        </mc:Choice>
        <mc:Fallback xmlns="">
          <p:sp>
            <p:nvSpPr>
              <p:cNvPr id="3" name="Text Placeholder 2">
                <a:extLst>
                  <a:ext uri="{FF2B5EF4-FFF2-40B4-BE49-F238E27FC236}">
                    <a16:creationId xmlns:a16="http://schemas.microsoft.com/office/drawing/2014/main" id="{CDB961B4-5074-9D83-6E46-35FFAE5BF36A}"/>
                  </a:ext>
                </a:extLst>
              </p:cNvPr>
              <p:cNvSpPr>
                <a:spLocks noGrp="1" noRot="1" noChangeAspect="1" noMove="1" noResize="1" noEditPoints="1" noAdjustHandles="1" noChangeArrowheads="1" noChangeShapeType="1" noTextEdit="1"/>
              </p:cNvSpPr>
              <p:nvPr>
                <p:ph type="body" sz="quarter" idx="15"/>
              </p:nvPr>
            </p:nvSpPr>
            <p:spPr>
              <a:xfrm>
                <a:off x="743576" y="2483065"/>
                <a:ext cx="5200024" cy="1269124"/>
              </a:xfrm>
              <a:blipFill>
                <a:blip r:embed="rId3"/>
                <a:stretch>
                  <a:fillRect l="-3048" t="-5742" r="-3048" b="-86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70A86D3-12AD-B217-AE41-1EEE4DFB1FDF}"/>
                  </a:ext>
                </a:extLst>
              </p:cNvPr>
              <p:cNvSpPr>
                <a:spLocks noGrp="1"/>
              </p:cNvSpPr>
              <p:nvPr>
                <p:ph type="body" sz="quarter" idx="18"/>
              </p:nvPr>
            </p:nvSpPr>
            <p:spPr>
              <a:xfrm>
                <a:off x="6122680" y="2405997"/>
                <a:ext cx="5200024" cy="1346192"/>
              </a:xfrm>
            </p:spPr>
            <p:txBody>
              <a:bodyPr>
                <a:noAutofit/>
              </a:bodyPr>
              <a:lstStyle/>
              <a:p>
                <a:r>
                  <a:rPr lang="en-US" dirty="0"/>
                  <a:t>In contrast, the </a:t>
                </a:r>
                <a:r>
                  <a:rPr lang="en-US" i="1" dirty="0"/>
                  <a:t>Type II error </a:t>
                </a:r>
                <a:r>
                  <a:rPr lang="en-US" dirty="0"/>
                  <a:t>of accepting </a:t>
                </a:r>
                <a14:m>
                  <m:oMath xmlns:m="http://schemas.openxmlformats.org/officeDocument/2006/math">
                    <m:sSub>
                      <m:sSubPr>
                        <m:ctrlPr>
                          <a:rPr lang="en-US" i="1" smtClean="0">
                            <a:solidFill>
                              <a:srgbClr val="000000"/>
                            </a:solidFill>
                            <a:latin typeface="Cambria Math" panose="02040503050406030204" pitchFamily="18" charset="0"/>
                            <a:cs typeface="Arial" panose="020B0604020202020204" pitchFamily="34" charset="0"/>
                          </a:rPr>
                        </m:ctrlPr>
                      </m:sSubPr>
                      <m:e>
                        <m:r>
                          <a:rPr lang="en-US" b="0" i="1" smtClean="0">
                            <a:solidFill>
                              <a:srgbClr val="000000"/>
                            </a:solidFill>
                            <a:latin typeface="Cambria Math" panose="02040503050406030204" pitchFamily="18" charset="0"/>
                            <a:cs typeface="Arial" panose="020B0604020202020204" pitchFamily="34" charset="0"/>
                          </a:rPr>
                          <m:t>𝐻</m:t>
                        </m:r>
                      </m:e>
                      <m:sub>
                        <m:r>
                          <a:rPr lang="en-US" b="0" i="1" smtClean="0">
                            <a:solidFill>
                              <a:srgbClr val="000000"/>
                            </a:solidFill>
                            <a:latin typeface="Cambria Math" panose="02040503050406030204" pitchFamily="18" charset="0"/>
                            <a:cs typeface="Arial" panose="020B0604020202020204" pitchFamily="34" charset="0"/>
                          </a:rPr>
                          <m:t>0</m:t>
                        </m:r>
                      </m:sub>
                    </m:sSub>
                  </m:oMath>
                </a14:m>
                <a:r>
                  <a:rPr lang="en-US" dirty="0"/>
                  <a:t> when false corresponds to claiming that the new system does not improve the miles-per-gallon rating (</a:t>
                </a: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𝜇</m:t>
                    </m:r>
                    <m:r>
                      <a:rPr lang="en-US" i="1">
                        <a:latin typeface="Cambria Math" panose="02040503050406030204" pitchFamily="18" charset="0"/>
                        <a:ea typeface="Cambria Math" panose="02040503050406030204" pitchFamily="18" charset="0"/>
                        <a:cs typeface="Arial" panose="020B0604020202020204" pitchFamily="34" charset="0"/>
                      </a:rPr>
                      <m:t>≤24</m:t>
                    </m:r>
                  </m:oMath>
                </a14:m>
                <a:r>
                  <a:rPr lang="en-US" dirty="0"/>
                  <a:t>) when in fact it does.</a:t>
                </a:r>
              </a:p>
            </p:txBody>
          </p:sp>
        </mc:Choice>
        <mc:Fallback xmlns="">
          <p:sp>
            <p:nvSpPr>
              <p:cNvPr id="4" name="Text Placeholder 3">
                <a:extLst>
                  <a:ext uri="{FF2B5EF4-FFF2-40B4-BE49-F238E27FC236}">
                    <a16:creationId xmlns:a16="http://schemas.microsoft.com/office/drawing/2014/main" id="{870A86D3-12AD-B217-AE41-1EEE4DFB1FDF}"/>
                  </a:ext>
                </a:extLst>
              </p:cNvPr>
              <p:cNvSpPr>
                <a:spLocks noGrp="1" noRot="1" noChangeAspect="1" noMove="1" noResize="1" noEditPoints="1" noAdjustHandles="1" noChangeArrowheads="1" noChangeShapeType="1" noTextEdit="1"/>
              </p:cNvSpPr>
              <p:nvPr>
                <p:ph type="body" sz="quarter" idx="18"/>
              </p:nvPr>
            </p:nvSpPr>
            <p:spPr>
              <a:xfrm>
                <a:off x="6122680" y="2405997"/>
                <a:ext cx="5200024" cy="1346192"/>
              </a:xfrm>
              <a:blipFill>
                <a:blip r:embed="rId4"/>
                <a:stretch>
                  <a:fillRect l="-2931" t="-5430" b="-22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F0044D75-487D-4B18-1970-AE25FD3F6B23}"/>
                  </a:ext>
                </a:extLst>
              </p:cNvPr>
              <p:cNvGraphicFramePr>
                <a:graphicFrameLocks noGrp="1"/>
              </p:cNvGraphicFramePr>
              <p:nvPr>
                <p:ph type="tbl" sz="quarter" idx="19"/>
                <p:extLst>
                  <p:ext uri="{D42A27DB-BD31-4B8C-83A1-F6EECF244321}">
                    <p14:modId xmlns:p14="http://schemas.microsoft.com/office/powerpoint/2010/main" val="689336360"/>
                  </p:ext>
                </p:extLst>
              </p:nvPr>
            </p:nvGraphicFramePr>
            <p:xfrm>
              <a:off x="2625978" y="3932311"/>
              <a:ext cx="6940044" cy="1846884"/>
            </p:xfrm>
            <a:graphic>
              <a:graphicData uri="http://schemas.openxmlformats.org/drawingml/2006/table">
                <a:tbl>
                  <a:tblPr firstRow="1" bandRow="1">
                    <a:tableStyleId>{5C22544A-7EE6-4342-B048-85BDC9FD1C3A}</a:tableStyleId>
                  </a:tblPr>
                  <a:tblGrid>
                    <a:gridCol w="1263968">
                      <a:extLst>
                        <a:ext uri="{9D8B030D-6E8A-4147-A177-3AD203B41FA5}">
                          <a16:colId xmlns:a16="http://schemas.microsoft.com/office/drawing/2014/main" val="3159632217"/>
                        </a:ext>
                      </a:extLst>
                    </a:gridCol>
                    <a:gridCol w="1445578">
                      <a:extLst>
                        <a:ext uri="{9D8B030D-6E8A-4147-A177-3AD203B41FA5}">
                          <a16:colId xmlns:a16="http://schemas.microsoft.com/office/drawing/2014/main" val="3901410975"/>
                        </a:ext>
                      </a:extLst>
                    </a:gridCol>
                    <a:gridCol w="2240852">
                      <a:extLst>
                        <a:ext uri="{9D8B030D-6E8A-4147-A177-3AD203B41FA5}">
                          <a16:colId xmlns:a16="http://schemas.microsoft.com/office/drawing/2014/main" val="3905068994"/>
                        </a:ext>
                      </a:extLst>
                    </a:gridCol>
                    <a:gridCol w="1989646">
                      <a:extLst>
                        <a:ext uri="{9D8B030D-6E8A-4147-A177-3AD203B41FA5}">
                          <a16:colId xmlns:a16="http://schemas.microsoft.com/office/drawing/2014/main" val="4006351028"/>
                        </a:ext>
                      </a:extLst>
                    </a:gridCol>
                  </a:tblGrid>
                  <a:tr h="299282">
                    <a:tc>
                      <a:txBody>
                        <a:bodyPr/>
                        <a:lstStyle/>
                        <a:p>
                          <a:endParaRPr lang="en-US"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tab pos="173038" algn="l"/>
                            </a:tabLst>
                            <a:defRPr/>
                          </a:pPr>
                          <a:r>
                            <a:rPr lang="en-US" sz="1800" b="1" kern="1200" dirty="0">
                              <a:solidFill>
                                <a:srgbClr val="0070C0"/>
                              </a:solidFill>
                              <a:latin typeface="+mn-lt"/>
                              <a:ea typeface="+mn-ea"/>
                              <a:cs typeface="+mn-cs"/>
                            </a:rPr>
                            <a:t>Population Condition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endParaRPr lang="en-US" b="1" dirty="0">
                            <a:solidFill>
                              <a:srgbClr val="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958402562"/>
                      </a:ext>
                    </a:extLst>
                  </a:tr>
                  <a:tr h="299282">
                    <a:tc>
                      <a:txBody>
                        <a:bodyPr/>
                        <a:lstStyle/>
                        <a:p>
                          <a:endParaRPr lang="en-US"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tabLst>
                              <a:tab pos="173038" algn="l"/>
                            </a:tabLst>
                          </a:pPr>
                          <a:r>
                            <a:rPr lang="en-US" sz="1800" b="1" dirty="0">
                              <a:solidFill>
                                <a:srgbClr val="000000"/>
                              </a:solidFill>
                              <a:cs typeface="Arial" panose="020B0604020202020204" pitchFamily="34" charset="0"/>
                            </a:rPr>
                            <a:t>	</a:t>
                          </a:r>
                          <a14:m>
                            <m:oMath xmlns:m="http://schemas.openxmlformats.org/officeDocument/2006/math">
                              <m:sSub>
                                <m:sSubPr>
                                  <m:ctrlPr>
                                    <a:rPr lang="en-US" sz="1800" b="1" i="1" smtClean="0">
                                      <a:solidFill>
                                        <a:srgbClr val="000000"/>
                                      </a:solidFill>
                                      <a:latin typeface="Cambria Math" panose="02040503050406030204" pitchFamily="18" charset="0"/>
                                      <a:cs typeface="Arial" panose="020B0604020202020204" pitchFamily="34" charset="0"/>
                                    </a:rPr>
                                  </m:ctrlPr>
                                </m:sSubPr>
                                <m:e>
                                  <m:r>
                                    <a:rPr lang="en-US" sz="1800" b="1" i="1" smtClean="0">
                                      <a:solidFill>
                                        <a:srgbClr val="000000"/>
                                      </a:solidFill>
                                      <a:latin typeface="Cambria Math" panose="02040503050406030204" pitchFamily="18" charset="0"/>
                                      <a:cs typeface="Arial" panose="020B0604020202020204" pitchFamily="34" charset="0"/>
                                    </a:rPr>
                                    <m:t>𝑯</m:t>
                                  </m:r>
                                </m:e>
                                <m:sub>
                                  <m:r>
                                    <a:rPr lang="en-US" sz="1800" b="1" i="1" smtClean="0">
                                      <a:solidFill>
                                        <a:srgbClr val="000000"/>
                                      </a:solidFill>
                                      <a:latin typeface="Cambria Math" panose="02040503050406030204" pitchFamily="18" charset="0"/>
                                      <a:cs typeface="Arial" panose="020B0604020202020204" pitchFamily="34" charset="0"/>
                                    </a:rPr>
                                    <m:t>𝟎</m:t>
                                  </m:r>
                                </m:sub>
                              </m:sSub>
                            </m:oMath>
                          </a14:m>
                          <a:r>
                            <a:rPr lang="en-US" b="1" dirty="0">
                              <a:solidFill>
                                <a:srgbClr val="000000"/>
                              </a:solidFill>
                            </a:rPr>
                            <a:t> True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14:m>
                            <m:oMath xmlns:m="http://schemas.openxmlformats.org/officeDocument/2006/math">
                              <m:sSub>
                                <m:sSubPr>
                                  <m:ctrlPr>
                                    <a:rPr lang="en-US" sz="1800" b="1" i="1" smtClean="0">
                                      <a:solidFill>
                                        <a:srgbClr val="000000"/>
                                      </a:solidFill>
                                      <a:latin typeface="Cambria Math" panose="02040503050406030204" pitchFamily="18" charset="0"/>
                                      <a:cs typeface="Arial" panose="020B0604020202020204" pitchFamily="34" charset="0"/>
                                    </a:rPr>
                                  </m:ctrlPr>
                                </m:sSubPr>
                                <m:e>
                                  <m:r>
                                    <a:rPr lang="en-US" sz="1800" b="1" i="1" smtClean="0">
                                      <a:solidFill>
                                        <a:srgbClr val="000000"/>
                                      </a:solidFill>
                                      <a:latin typeface="Cambria Math" panose="02040503050406030204" pitchFamily="18" charset="0"/>
                                      <a:cs typeface="Arial" panose="020B0604020202020204" pitchFamily="34" charset="0"/>
                                    </a:rPr>
                                    <m:t>𝑯</m:t>
                                  </m:r>
                                </m:e>
                                <m:sub>
                                  <m:r>
                                    <a:rPr lang="en-US" sz="1800" b="1" i="1" smtClean="0">
                                      <a:solidFill>
                                        <a:srgbClr val="000000"/>
                                      </a:solidFill>
                                      <a:latin typeface="Cambria Math" panose="02040503050406030204" pitchFamily="18" charset="0"/>
                                      <a:cs typeface="Arial" panose="020B0604020202020204" pitchFamily="34" charset="0"/>
                                    </a:rPr>
                                    <m:t>𝒂</m:t>
                                  </m:r>
                                </m:sub>
                              </m:sSub>
                            </m:oMath>
                          </a14:m>
                          <a:r>
                            <a:rPr lang="en-US" b="1" dirty="0">
                              <a:solidFill>
                                <a:srgbClr val="000000"/>
                              </a:solidFill>
                            </a:rPr>
                            <a:t> True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558388321"/>
                      </a:ext>
                    </a:extLst>
                  </a:tr>
                  <a:tr h="475284">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Lst>
                            <a:defRPr/>
                          </a:pPr>
                          <a:r>
                            <a:rPr lang="en-US" b="1" dirty="0">
                              <a:solidFill>
                                <a:srgbClr val="0070C0"/>
                              </a:solidFill>
                            </a:rPr>
                            <a:t>Conclusion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tabLst>
                              <a:tab pos="228600" algn="l"/>
                            </a:tabLst>
                          </a:pPr>
                          <a:r>
                            <a:rPr lang="en-US" b="1" dirty="0">
                              <a:solidFill>
                                <a:srgbClr val="000000"/>
                              </a:solidFill>
                            </a:rPr>
                            <a:t>	Accept </a:t>
                          </a:r>
                          <a14:m>
                            <m:oMath xmlns:m="http://schemas.openxmlformats.org/officeDocument/2006/math">
                              <m:sSub>
                                <m:sSubPr>
                                  <m:ctrlPr>
                                    <a:rPr lang="en-US" sz="1800" b="1" i="1" smtClean="0">
                                      <a:solidFill>
                                        <a:srgbClr val="000000"/>
                                      </a:solidFill>
                                      <a:latin typeface="Cambria Math" panose="02040503050406030204" pitchFamily="18" charset="0"/>
                                      <a:cs typeface="Arial" panose="020B0604020202020204" pitchFamily="34" charset="0"/>
                                    </a:rPr>
                                  </m:ctrlPr>
                                </m:sSubPr>
                                <m:e>
                                  <m:r>
                                    <a:rPr lang="en-US" sz="1800" b="1" i="1" smtClean="0">
                                      <a:solidFill>
                                        <a:srgbClr val="000000"/>
                                      </a:solidFill>
                                      <a:latin typeface="Cambria Math" panose="02040503050406030204" pitchFamily="18" charset="0"/>
                                      <a:cs typeface="Arial" panose="020B0604020202020204" pitchFamily="34" charset="0"/>
                                    </a:rPr>
                                    <m:t>𝑯</m:t>
                                  </m:r>
                                </m:e>
                                <m:sub>
                                  <m:r>
                                    <a:rPr lang="en-US" sz="1800" b="1" i="1" smtClean="0">
                                      <a:solidFill>
                                        <a:srgbClr val="000000"/>
                                      </a:solidFill>
                                      <a:latin typeface="Cambria Math" panose="02040503050406030204" pitchFamily="18" charset="0"/>
                                      <a:cs typeface="Arial" panose="020B0604020202020204" pitchFamily="34" charset="0"/>
                                    </a:rPr>
                                    <m:t>𝒐</m:t>
                                  </m:r>
                                </m:sub>
                              </m:sSub>
                            </m:oMath>
                          </a14:m>
                          <a:endParaRPr lang="en-US" b="1" dirty="0">
                            <a:solidFill>
                              <a:srgbClr val="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tabLst>
                              <a:tab pos="173038" algn="l"/>
                            </a:tabLst>
                          </a:pPr>
                          <a:r>
                            <a:rPr lang="en-US" dirty="0">
                              <a:solidFill>
                                <a:srgbClr val="000000"/>
                              </a:solidFill>
                            </a:rPr>
                            <a:t>	Correct 	Conclusion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r>
                            <a:rPr lang="en-US" dirty="0">
                              <a:solidFill>
                                <a:srgbClr val="000000"/>
                              </a:solidFill>
                            </a:rPr>
                            <a:t>Type II </a:t>
                          </a:r>
                        </a:p>
                        <a:p>
                          <a:pPr algn="l"/>
                          <a:r>
                            <a:rPr lang="en-US" dirty="0">
                              <a:solidFill>
                                <a:srgbClr val="000000"/>
                              </a:solidFill>
                            </a:rPr>
                            <a:t>Error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34744780"/>
                      </a:ext>
                    </a:extLst>
                  </a:tr>
                  <a:tr h="475284">
                    <a:tc>
                      <a:txBody>
                        <a:bodyPr/>
                        <a:lstStyle/>
                        <a:p>
                          <a:pPr algn="l">
                            <a:tabLst>
                              <a:tab pos="228600" algn="l"/>
                            </a:tabLst>
                          </a:pPr>
                          <a:endParaRPr lang="en-US" b="1" dirty="0">
                            <a:solidFill>
                              <a:srgbClr val="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tabLst>
                              <a:tab pos="228600" algn="l"/>
                            </a:tabLst>
                          </a:pPr>
                          <a:r>
                            <a:rPr lang="en-US" sz="1800" b="1" dirty="0">
                              <a:solidFill>
                                <a:srgbClr val="000000"/>
                              </a:solidFill>
                              <a:cs typeface="Arial" panose="020B0604020202020204" pitchFamily="34" charset="0"/>
                            </a:rPr>
                            <a:t>	Reject </a:t>
                          </a:r>
                          <a14:m>
                            <m:oMath xmlns:m="http://schemas.openxmlformats.org/officeDocument/2006/math">
                              <m:sSub>
                                <m:sSubPr>
                                  <m:ctrlPr>
                                    <a:rPr lang="en-US" sz="1800" b="1" i="1" smtClean="0">
                                      <a:solidFill>
                                        <a:srgbClr val="000000"/>
                                      </a:solidFill>
                                      <a:latin typeface="Cambria Math" panose="02040503050406030204" pitchFamily="18" charset="0"/>
                                      <a:cs typeface="Arial" panose="020B0604020202020204" pitchFamily="34" charset="0"/>
                                    </a:rPr>
                                  </m:ctrlPr>
                                </m:sSubPr>
                                <m:e>
                                  <m:r>
                                    <a:rPr lang="en-US" sz="1800" b="1" i="1" smtClean="0">
                                      <a:solidFill>
                                        <a:srgbClr val="000000"/>
                                      </a:solidFill>
                                      <a:latin typeface="Cambria Math" panose="02040503050406030204" pitchFamily="18" charset="0"/>
                                      <a:cs typeface="Arial" panose="020B0604020202020204" pitchFamily="34" charset="0"/>
                                    </a:rPr>
                                    <m:t>𝑯</m:t>
                                  </m:r>
                                </m:e>
                                <m:sub>
                                  <m:r>
                                    <a:rPr lang="en-US" sz="1800" b="1" i="1" smtClean="0">
                                      <a:solidFill>
                                        <a:srgbClr val="000000"/>
                                      </a:solidFill>
                                      <a:latin typeface="Cambria Math" panose="02040503050406030204" pitchFamily="18" charset="0"/>
                                      <a:cs typeface="Arial" panose="020B0604020202020204" pitchFamily="34" charset="0"/>
                                    </a:rPr>
                                    <m:t>𝒐</m:t>
                                  </m:r>
                                </m:sub>
                              </m:sSub>
                            </m:oMath>
                          </a14:m>
                          <a:endParaRPr lang="en-US" b="1" dirty="0">
                            <a:solidFill>
                              <a:srgbClr val="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tabLst>
                              <a:tab pos="173038" algn="l"/>
                            </a:tabLst>
                          </a:pPr>
                          <a:r>
                            <a:rPr lang="en-US" dirty="0">
                              <a:solidFill>
                                <a:srgbClr val="000000"/>
                              </a:solidFill>
                            </a:rPr>
                            <a:t>	Type I Error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r>
                            <a:rPr lang="en-US" dirty="0">
                              <a:solidFill>
                                <a:srgbClr val="000000"/>
                              </a:solidFill>
                            </a:rPr>
                            <a:t>Correct Conclusion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264991325"/>
                      </a:ext>
                    </a:extLst>
                  </a:tr>
                </a:tbl>
              </a:graphicData>
            </a:graphic>
          </p:graphicFrame>
        </mc:Choice>
        <mc:Fallback xmlns="">
          <p:graphicFrame>
            <p:nvGraphicFramePr>
              <p:cNvPr id="7" name="Table 7">
                <a:extLst>
                  <a:ext uri="{FF2B5EF4-FFF2-40B4-BE49-F238E27FC236}">
                    <a16:creationId xmlns:a16="http://schemas.microsoft.com/office/drawing/2014/main" id="{F0044D75-487D-4B18-1970-AE25FD3F6B23}"/>
                  </a:ext>
                </a:extLst>
              </p:cNvPr>
              <p:cNvGraphicFramePr>
                <a:graphicFrameLocks noGrp="1"/>
              </p:cNvGraphicFramePr>
              <p:nvPr>
                <p:ph type="tbl" sz="quarter" idx="19"/>
                <p:extLst>
                  <p:ext uri="{D42A27DB-BD31-4B8C-83A1-F6EECF244321}">
                    <p14:modId xmlns:p14="http://schemas.microsoft.com/office/powerpoint/2010/main" val="689336360"/>
                  </p:ext>
                </p:extLst>
              </p:nvPr>
            </p:nvGraphicFramePr>
            <p:xfrm>
              <a:off x="2625978" y="3932311"/>
              <a:ext cx="6940044" cy="1846884"/>
            </p:xfrm>
            <a:graphic>
              <a:graphicData uri="http://schemas.openxmlformats.org/drawingml/2006/table">
                <a:tbl>
                  <a:tblPr firstRow="1" bandRow="1">
                    <a:tableStyleId>{5C22544A-7EE6-4342-B048-85BDC9FD1C3A}</a:tableStyleId>
                  </a:tblPr>
                  <a:tblGrid>
                    <a:gridCol w="1263968">
                      <a:extLst>
                        <a:ext uri="{9D8B030D-6E8A-4147-A177-3AD203B41FA5}">
                          <a16:colId xmlns:a16="http://schemas.microsoft.com/office/drawing/2014/main" val="3159632217"/>
                        </a:ext>
                      </a:extLst>
                    </a:gridCol>
                    <a:gridCol w="1445578">
                      <a:extLst>
                        <a:ext uri="{9D8B030D-6E8A-4147-A177-3AD203B41FA5}">
                          <a16:colId xmlns:a16="http://schemas.microsoft.com/office/drawing/2014/main" val="3901410975"/>
                        </a:ext>
                      </a:extLst>
                    </a:gridCol>
                    <a:gridCol w="2240852">
                      <a:extLst>
                        <a:ext uri="{9D8B030D-6E8A-4147-A177-3AD203B41FA5}">
                          <a16:colId xmlns:a16="http://schemas.microsoft.com/office/drawing/2014/main" val="3905068994"/>
                        </a:ext>
                      </a:extLst>
                    </a:gridCol>
                    <a:gridCol w="1989646">
                      <a:extLst>
                        <a:ext uri="{9D8B030D-6E8A-4147-A177-3AD203B41FA5}">
                          <a16:colId xmlns:a16="http://schemas.microsoft.com/office/drawing/2014/main" val="4006351028"/>
                        </a:ext>
                      </a:extLst>
                    </a:gridCol>
                  </a:tblGrid>
                  <a:tr h="365760">
                    <a:tc>
                      <a:txBody>
                        <a:bodyPr/>
                        <a:lstStyle/>
                        <a:p>
                          <a:endParaRPr lang="en-US"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tab pos="173038" algn="l"/>
                            </a:tabLst>
                            <a:defRPr/>
                          </a:pPr>
                          <a:r>
                            <a:rPr lang="en-US" sz="1800" b="1" kern="1200" dirty="0">
                              <a:solidFill>
                                <a:srgbClr val="0070C0"/>
                              </a:solidFill>
                              <a:latin typeface="+mn-lt"/>
                              <a:ea typeface="+mn-ea"/>
                              <a:cs typeface="+mn-cs"/>
                            </a:rPr>
                            <a:t>Population Condition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endParaRPr lang="en-US" b="1" dirty="0">
                            <a:solidFill>
                              <a:srgbClr val="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958402562"/>
                      </a:ext>
                    </a:extLst>
                  </a:tr>
                  <a:tr h="365760">
                    <a:tc>
                      <a:txBody>
                        <a:bodyPr/>
                        <a:lstStyle/>
                        <a:p>
                          <a:endParaRPr lang="en-US"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20924" t="-108333" r="-88859" b="-316667"/>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48624" t="-108333" b="-316667"/>
                          </a:stretch>
                        </a:blipFill>
                      </a:tcPr>
                    </a:tc>
                    <a:extLst>
                      <a:ext uri="{0D108BD9-81ED-4DB2-BD59-A6C34878D82A}">
                        <a16:rowId xmlns:a16="http://schemas.microsoft.com/office/drawing/2014/main" val="558388321"/>
                      </a:ext>
                    </a:extLst>
                  </a:tr>
                  <a:tr h="640080">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Lst>
                            <a:defRPr/>
                          </a:pPr>
                          <a:r>
                            <a:rPr lang="en-US" b="1" dirty="0">
                              <a:solidFill>
                                <a:srgbClr val="0070C0"/>
                              </a:solidFill>
                            </a:rPr>
                            <a:t>Conclusion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87764" t="-117925" r="-293249" b="-79245"/>
                          </a:stretch>
                        </a:blipFill>
                      </a:tcPr>
                    </a:tc>
                    <a:tc>
                      <a:txBody>
                        <a:bodyPr/>
                        <a:lstStyle/>
                        <a:p>
                          <a:pPr algn="l">
                            <a:tabLst>
                              <a:tab pos="173038" algn="l"/>
                            </a:tabLst>
                          </a:pPr>
                          <a:r>
                            <a:rPr lang="en-US" dirty="0">
                              <a:solidFill>
                                <a:srgbClr val="000000"/>
                              </a:solidFill>
                            </a:rPr>
                            <a:t>	Correct 	Conclusion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r>
                            <a:rPr lang="en-US" dirty="0">
                              <a:solidFill>
                                <a:srgbClr val="000000"/>
                              </a:solidFill>
                            </a:rPr>
                            <a:t>Type II </a:t>
                          </a:r>
                        </a:p>
                        <a:p>
                          <a:pPr algn="l"/>
                          <a:r>
                            <a:rPr lang="en-US" dirty="0">
                              <a:solidFill>
                                <a:srgbClr val="000000"/>
                              </a:solidFill>
                            </a:rPr>
                            <a:t>Error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34744780"/>
                      </a:ext>
                    </a:extLst>
                  </a:tr>
                  <a:tr h="475284">
                    <a:tc>
                      <a:txBody>
                        <a:bodyPr/>
                        <a:lstStyle/>
                        <a:p>
                          <a:pPr algn="l">
                            <a:tabLst>
                              <a:tab pos="228600" algn="l"/>
                            </a:tabLst>
                          </a:pPr>
                          <a:endParaRPr lang="en-US" b="1" dirty="0">
                            <a:solidFill>
                              <a:srgbClr val="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87764" t="-296154" r="-293249" b="-7692"/>
                          </a:stretch>
                        </a:blipFill>
                      </a:tcPr>
                    </a:tc>
                    <a:tc>
                      <a:txBody>
                        <a:bodyPr/>
                        <a:lstStyle/>
                        <a:p>
                          <a:pPr algn="l">
                            <a:tabLst>
                              <a:tab pos="173038" algn="l"/>
                            </a:tabLst>
                          </a:pPr>
                          <a:r>
                            <a:rPr lang="en-US" dirty="0">
                              <a:solidFill>
                                <a:srgbClr val="000000"/>
                              </a:solidFill>
                            </a:rPr>
                            <a:t>	Type I Error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l"/>
                          <a:r>
                            <a:rPr lang="en-US" dirty="0">
                              <a:solidFill>
                                <a:srgbClr val="000000"/>
                              </a:solidFill>
                            </a:rPr>
                            <a:t>Correct Conclusion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264991325"/>
                      </a:ext>
                    </a:extLst>
                  </a:tr>
                </a:tbl>
              </a:graphicData>
            </a:graphic>
          </p:graphicFrame>
        </mc:Fallback>
      </mc:AlternateContent>
    </p:spTree>
    <p:extLst>
      <p:ext uri="{BB962C8B-B14F-4D97-AF65-F5344CB8AC3E}">
        <p14:creationId xmlns:p14="http://schemas.microsoft.com/office/powerpoint/2010/main" val="2868579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dirty="0">
                <a:solidFill>
                  <a:srgbClr val="D14B1E"/>
                </a:solidFill>
              </a:rPr>
              <a:t>9.3 Population Mean: </a:t>
            </a:r>
            <a:r>
              <a:rPr lang="el-GR" i="1" dirty="0">
                <a:solidFill>
                  <a:srgbClr val="D14B1E"/>
                </a:solidFill>
              </a:rPr>
              <a:t>σ</a:t>
            </a:r>
            <a:r>
              <a:rPr lang="en-US" dirty="0">
                <a:solidFill>
                  <a:srgbClr val="D14B1E"/>
                </a:solidFill>
              </a:rPr>
              <a:t> Known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43576" y="1453992"/>
                <a:ext cx="10711543" cy="4175286"/>
              </a:xfrm>
            </p:spPr>
            <p:txBody>
              <a:bodyPr>
                <a:noAutofit/>
              </a:bodyPr>
              <a:lstStyle/>
              <a:p>
                <a:r>
                  <a:rPr lang="en-US" sz="2000" dirty="0"/>
                  <a:t>In this section we show how to conduct a hypothesis test about a population mean for the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𝜎</m:t>
                    </m:r>
                  </m:oMath>
                </a14:m>
                <a:r>
                  <a:rPr lang="en-US" sz="2000" dirty="0"/>
                  <a:t> known case.</a:t>
                </a:r>
              </a:p>
              <a:p>
                <a:pPr marL="914400" indent="-342900">
                  <a:spcBef>
                    <a:spcPts val="600"/>
                  </a:spcBef>
                  <a:buFont typeface="Arial" panose="020B0604020202020204" pitchFamily="34" charset="0"/>
                  <a:buChar char="•"/>
                </a:pPr>
                <a:r>
                  <a:rPr lang="en-US" sz="2000" dirty="0"/>
                  <a:t>The population standard deviation can, for all practical purposes, be considered known in applications where historical data and/or other information are available that enable us to obtain a good estimate of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𝜎</m:t>
                    </m:r>
                  </m:oMath>
                </a14:m>
                <a:r>
                  <a:rPr lang="en-US" sz="2000" dirty="0"/>
                  <a:t> prior to sampling, </a:t>
                </a:r>
              </a:p>
              <a:p>
                <a:r>
                  <a:rPr lang="en-US" sz="2000" dirty="0"/>
                  <a:t>The methods presented in this section are exact if the sample is selected from a population that is normally distributed. </a:t>
                </a:r>
              </a:p>
              <a:p>
                <a:pPr marL="914400" indent="-342900">
                  <a:spcBef>
                    <a:spcPts val="600"/>
                  </a:spcBef>
                  <a:buFont typeface="Arial" panose="020B0604020202020204" pitchFamily="34" charset="0"/>
                  <a:buChar char="•"/>
                </a:pPr>
                <a:r>
                  <a:rPr lang="en-US" sz="2000" dirty="0"/>
                  <a:t>In cases where it is not reasonable to assume the population is normally distributed, these methods are still applicable if the sample size is large enough. </a:t>
                </a:r>
              </a:p>
              <a:p>
                <a:r>
                  <a:rPr lang="en-US" sz="2000" dirty="0"/>
                  <a:t>At the end of the section, we provide some practical advice concerning the population distribution and the sample size.</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43576" y="1453992"/>
                <a:ext cx="10711543" cy="4175286"/>
              </a:xfrm>
              <a:blipFill>
                <a:blip r:embed="rId3"/>
                <a:stretch>
                  <a:fillRect l="-1480" t="-1754" r="-1992"/>
                </a:stretch>
              </a:blipFill>
            </p:spPr>
            <p:txBody>
              <a:bodyPr/>
              <a:lstStyle/>
              <a:p>
                <a:r>
                  <a:rPr lang="en-US">
                    <a:noFill/>
                  </a:rPr>
                  <a:t> </a:t>
                </a:r>
              </a:p>
            </p:txBody>
          </p:sp>
        </mc:Fallback>
      </mc:AlternateContent>
    </p:spTree>
    <p:extLst>
      <p:ext uri="{BB962C8B-B14F-4D97-AF65-F5344CB8AC3E}">
        <p14:creationId xmlns:p14="http://schemas.microsoft.com/office/powerpoint/2010/main" val="3414154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dirty="0"/>
              <a:t>9.3 One-Tailed Test About a Population Mean</a:t>
            </a:r>
          </a:p>
        </p:txBody>
      </p:sp>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93193" y="1195811"/>
            <a:ext cx="10515599" cy="296729"/>
          </a:xfrm>
        </p:spPr>
        <p:txBody>
          <a:bodyPr>
            <a:normAutofit/>
          </a:bodyPr>
          <a:lstStyle/>
          <a:p>
            <a:r>
              <a:rPr lang="en-US" sz="2000" b="1" dirty="0"/>
              <a:t>One-tailed tests </a:t>
            </a:r>
            <a:r>
              <a:rPr lang="en-US" sz="2000" dirty="0"/>
              <a:t>about a population mean take one of the following two forms.</a:t>
            </a:r>
          </a:p>
        </p:txBody>
      </p:sp>
      <mc:AlternateContent xmlns:mc="http://schemas.openxmlformats.org/markup-compatibility/2006" xmlns:a14="http://schemas.microsoft.com/office/drawing/2010/main">
        <mc:Choice Requires="a14">
          <p:graphicFrame>
            <p:nvGraphicFramePr>
              <p:cNvPr id="6" name="Table Placeholder 5">
                <a:extLst>
                  <a:ext uri="{FF2B5EF4-FFF2-40B4-BE49-F238E27FC236}">
                    <a16:creationId xmlns:a16="http://schemas.microsoft.com/office/drawing/2014/main" id="{3FD76B32-7BE2-DC14-2CCE-049E249564F1}"/>
                  </a:ext>
                </a:extLst>
              </p:cNvPr>
              <p:cNvGraphicFramePr>
                <a:graphicFrameLocks noGrp="1"/>
              </p:cNvGraphicFramePr>
              <p:nvPr>
                <p:ph type="tbl" sz="quarter" idx="22"/>
                <p:extLst>
                  <p:ext uri="{D42A27DB-BD31-4B8C-83A1-F6EECF244321}">
                    <p14:modId xmlns:p14="http://schemas.microsoft.com/office/powerpoint/2010/main" val="3827344600"/>
                  </p:ext>
                </p:extLst>
              </p:nvPr>
            </p:nvGraphicFramePr>
            <p:xfrm>
              <a:off x="3495675" y="1526646"/>
              <a:ext cx="4461640" cy="1188720"/>
            </p:xfrm>
            <a:graphic>
              <a:graphicData uri="http://schemas.openxmlformats.org/drawingml/2006/table">
                <a:tbl>
                  <a:tblPr firstRow="1" bandRow="1">
                    <a:tableStyleId>{5C22544A-7EE6-4342-B048-85BDC9FD1C3A}</a:tableStyleId>
                  </a:tblPr>
                  <a:tblGrid>
                    <a:gridCol w="2230820">
                      <a:extLst>
                        <a:ext uri="{9D8B030D-6E8A-4147-A177-3AD203B41FA5}">
                          <a16:colId xmlns:a16="http://schemas.microsoft.com/office/drawing/2014/main" val="4221105443"/>
                        </a:ext>
                      </a:extLst>
                    </a:gridCol>
                    <a:gridCol w="2230820">
                      <a:extLst>
                        <a:ext uri="{9D8B030D-6E8A-4147-A177-3AD203B41FA5}">
                          <a16:colId xmlns:a16="http://schemas.microsoft.com/office/drawing/2014/main" val="3651132324"/>
                        </a:ext>
                      </a:extLst>
                    </a:gridCol>
                  </a:tblGrid>
                  <a:tr h="0">
                    <a:tc>
                      <a:txBody>
                        <a:bodyPr/>
                        <a:lstStyle/>
                        <a:p>
                          <a:pPr algn="ctr"/>
                          <a:r>
                            <a:rPr lang="en-US" sz="2000" dirty="0">
                              <a:solidFill>
                                <a:srgbClr val="000000"/>
                              </a:solidFill>
                              <a:latin typeface="Arial" panose="020B0604020202020204" pitchFamily="34" charset="0"/>
                              <a:cs typeface="Arial" panose="020B0604020202020204" pitchFamily="34" charset="0"/>
                            </a:rPr>
                            <a:t>Lower Tail Test</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Upper Tail Test</a:t>
                          </a:r>
                        </a:p>
                      </a:txBody>
                      <a:tcPr anchor="b">
                        <a:noFill/>
                      </a:tcPr>
                    </a:tc>
                    <a:extLst>
                      <a:ext uri="{0D108BD9-81ED-4DB2-BD59-A6C34878D82A}">
                        <a16:rowId xmlns:a16="http://schemas.microsoft.com/office/drawing/2014/main" val="4079977077"/>
                      </a:ext>
                    </a:extLst>
                  </a:tr>
                  <a:tr h="0">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2226032177"/>
                      </a:ext>
                    </a:extLst>
                  </a:tr>
                  <a:tr h="0">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&lt;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2428190419"/>
                      </a:ext>
                    </a:extLst>
                  </a:tr>
                </a:tbl>
              </a:graphicData>
            </a:graphic>
          </p:graphicFrame>
        </mc:Choice>
        <mc:Fallback xmlns="">
          <p:graphicFrame>
            <p:nvGraphicFramePr>
              <p:cNvPr id="6" name="Table Placeholder 5">
                <a:extLst>
                  <a:ext uri="{FF2B5EF4-FFF2-40B4-BE49-F238E27FC236}">
                    <a16:creationId xmlns:a16="http://schemas.microsoft.com/office/drawing/2014/main" id="{3FD76B32-7BE2-DC14-2CCE-049E249564F1}"/>
                  </a:ext>
                </a:extLst>
              </p:cNvPr>
              <p:cNvGraphicFramePr>
                <a:graphicFrameLocks noGrp="1"/>
              </p:cNvGraphicFramePr>
              <p:nvPr>
                <p:ph type="tbl" sz="quarter" idx="22"/>
                <p:extLst>
                  <p:ext uri="{D42A27DB-BD31-4B8C-83A1-F6EECF244321}">
                    <p14:modId xmlns:p14="http://schemas.microsoft.com/office/powerpoint/2010/main" val="3827344600"/>
                  </p:ext>
                </p:extLst>
              </p:nvPr>
            </p:nvGraphicFramePr>
            <p:xfrm>
              <a:off x="3495675" y="1526646"/>
              <a:ext cx="4461640" cy="1188720"/>
            </p:xfrm>
            <a:graphic>
              <a:graphicData uri="http://schemas.openxmlformats.org/drawingml/2006/table">
                <a:tbl>
                  <a:tblPr firstRow="1" bandRow="1">
                    <a:tableStyleId>{5C22544A-7EE6-4342-B048-85BDC9FD1C3A}</a:tableStyleId>
                  </a:tblPr>
                  <a:tblGrid>
                    <a:gridCol w="2230820">
                      <a:extLst>
                        <a:ext uri="{9D8B030D-6E8A-4147-A177-3AD203B41FA5}">
                          <a16:colId xmlns:a16="http://schemas.microsoft.com/office/drawing/2014/main" val="4221105443"/>
                        </a:ext>
                      </a:extLst>
                    </a:gridCol>
                    <a:gridCol w="2230820">
                      <a:extLst>
                        <a:ext uri="{9D8B030D-6E8A-4147-A177-3AD203B41FA5}">
                          <a16:colId xmlns:a16="http://schemas.microsoft.com/office/drawing/2014/main" val="3651132324"/>
                        </a:ext>
                      </a:extLst>
                    </a:gridCol>
                  </a:tblGrid>
                  <a:tr h="396240">
                    <a:tc>
                      <a:txBody>
                        <a:bodyPr/>
                        <a:lstStyle/>
                        <a:p>
                          <a:pPr algn="ctr"/>
                          <a:r>
                            <a:rPr lang="en-US" sz="2000" dirty="0">
                              <a:solidFill>
                                <a:srgbClr val="000000"/>
                              </a:solidFill>
                              <a:latin typeface="Arial" panose="020B0604020202020204" pitchFamily="34" charset="0"/>
                              <a:cs typeface="Arial" panose="020B0604020202020204" pitchFamily="34" charset="0"/>
                            </a:rPr>
                            <a:t>Lower Tail Test</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Upper Tail Test</a:t>
                          </a:r>
                        </a:p>
                      </a:txBody>
                      <a:tcPr anchor="b">
                        <a:noFill/>
                      </a:tcPr>
                    </a:tc>
                    <a:extLst>
                      <a:ext uri="{0D108BD9-81ED-4DB2-BD59-A6C34878D82A}">
                        <a16:rowId xmlns:a16="http://schemas.microsoft.com/office/drawing/2014/main" val="4079977077"/>
                      </a:ext>
                    </a:extLst>
                  </a:tr>
                  <a:tr h="396240">
                    <a:tc>
                      <a:txBody>
                        <a:bodyPr/>
                        <a:lstStyle/>
                        <a:p>
                          <a:endParaRPr lang="en-US"/>
                        </a:p>
                      </a:txBody>
                      <a:tcPr anchor="ctr">
                        <a:blipFill>
                          <a:blip r:embed="rId3"/>
                          <a:stretch>
                            <a:fillRect l="-272" t="-104545" r="-100817" b="-106061"/>
                          </a:stretch>
                        </a:blipFill>
                      </a:tcPr>
                    </a:tc>
                    <a:tc>
                      <a:txBody>
                        <a:bodyPr/>
                        <a:lstStyle/>
                        <a:p>
                          <a:endParaRPr lang="en-US"/>
                        </a:p>
                      </a:txBody>
                      <a:tcPr anchor="ctr">
                        <a:blipFill>
                          <a:blip r:embed="rId3"/>
                          <a:stretch>
                            <a:fillRect l="-100546" t="-104545" r="-1093" b="-106061"/>
                          </a:stretch>
                        </a:blipFill>
                      </a:tcPr>
                    </a:tc>
                    <a:extLst>
                      <a:ext uri="{0D108BD9-81ED-4DB2-BD59-A6C34878D82A}">
                        <a16:rowId xmlns:a16="http://schemas.microsoft.com/office/drawing/2014/main" val="2226032177"/>
                      </a:ext>
                    </a:extLst>
                  </a:tr>
                  <a:tr h="396240">
                    <a:tc>
                      <a:txBody>
                        <a:bodyPr/>
                        <a:lstStyle/>
                        <a:p>
                          <a:endParaRPr lang="en-US"/>
                        </a:p>
                      </a:txBody>
                      <a:tcPr anchor="ctr">
                        <a:blipFill>
                          <a:blip r:embed="rId3"/>
                          <a:stretch>
                            <a:fillRect l="-272" t="-207692" r="-100817" b="-7692"/>
                          </a:stretch>
                        </a:blipFill>
                      </a:tcPr>
                    </a:tc>
                    <a:tc>
                      <a:txBody>
                        <a:bodyPr/>
                        <a:lstStyle/>
                        <a:p>
                          <a:endParaRPr lang="en-US"/>
                        </a:p>
                      </a:txBody>
                      <a:tcPr anchor="ctr">
                        <a:blipFill>
                          <a:blip r:embed="rId3"/>
                          <a:stretch>
                            <a:fillRect l="-100546" t="-207692" r="-1093" b="-7692"/>
                          </a:stretch>
                        </a:blipFill>
                      </a:tcPr>
                    </a:tc>
                    <a:extLst>
                      <a:ext uri="{0D108BD9-81ED-4DB2-BD59-A6C34878D82A}">
                        <a16:rowId xmlns:a16="http://schemas.microsoft.com/office/drawing/2014/main" val="2428190419"/>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2807490"/>
                <a:ext cx="10484504" cy="3207544"/>
              </a:xfrm>
            </p:spPr>
            <p:txBody>
              <a:bodyPr>
                <a:noAutofit/>
              </a:bodyPr>
              <a:lstStyle/>
              <a:p>
                <a:pPr>
                  <a:lnSpc>
                    <a:spcPct val="100000"/>
                  </a:lnSpc>
                  <a:spcBef>
                    <a:spcPts val="600"/>
                  </a:spcBef>
                </a:pPr>
                <a:r>
                  <a:rPr lang="en-US" sz="2000" dirty="0"/>
                  <a:t>DATAfile: </a:t>
                </a:r>
                <a:r>
                  <a:rPr lang="en-US" sz="2000" i="1" dirty="0"/>
                  <a:t>coffee</a:t>
                </a:r>
              </a:p>
              <a:p>
                <a:pPr>
                  <a:lnSpc>
                    <a:spcPct val="100000"/>
                  </a:lnSpc>
                  <a:spcBef>
                    <a:spcPts val="600"/>
                  </a:spcBef>
                </a:pPr>
                <a:r>
                  <a:rPr lang="en-US" sz="2000" dirty="0"/>
                  <a:t>Consider the example of the Federal Trade Commission (FTC) testing a Hilltop Coffee’s claim that its large can contains at least 3 pounds of coffee.</a:t>
                </a:r>
              </a:p>
              <a:p>
                <a:pPr>
                  <a:lnSpc>
                    <a:spcPct val="100000"/>
                  </a:lnSpc>
                  <a:spcBef>
                    <a:spcPts val="600"/>
                  </a:spcBef>
                </a:pPr>
                <a:r>
                  <a:rPr lang="en-US" sz="2000" dirty="0"/>
                  <a:t>The FTC assumes Hilltop Coffee’s claim to be correct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≥3</m:t>
                    </m:r>
                  </m:oMath>
                </a14:m>
                <a:r>
                  <a:rPr lang="en-US" sz="2000" dirty="0"/>
                  <a:t> pounds) and sets the alternative hypothesis to challenge the claim, using the </a:t>
                </a:r>
                <a:r>
                  <a:rPr lang="en-US" sz="2000" i="1" dirty="0"/>
                  <a:t>lower tail test</a:t>
                </a:r>
                <a:r>
                  <a:rPr lang="en-US" sz="2000" dirty="0"/>
                  <a:t>,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𝜇</m:t>
                    </m:r>
                    <m:r>
                      <a:rPr lang="en-US" sz="2000" i="1">
                        <a:latin typeface="Cambria Math" panose="02040503050406030204" pitchFamily="18" charset="0"/>
                        <a:ea typeface="Cambria Math" panose="02040503050406030204" pitchFamily="18" charset="0"/>
                        <a:cs typeface="Arial" panose="020B0604020202020204" pitchFamily="34" charset="0"/>
                      </a:rPr>
                      <m:t>&lt;3</m:t>
                    </m:r>
                  </m:oMath>
                </a14:m>
                <a:r>
                  <a:rPr lang="en-US" sz="2000" dirty="0"/>
                  <a:t> pounds. Thus, we write:</a:t>
                </a:r>
              </a:p>
              <a:p>
                <a:pPr marL="914400">
                  <a:lnSpc>
                    <a:spcPct val="100000"/>
                  </a:lnSpc>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3</m:t>
                    </m:r>
                  </m:oMath>
                </a14:m>
                <a:r>
                  <a:rPr lang="en-US" sz="2000" b="0" dirty="0">
                    <a:solidFill>
                      <a:srgbClr val="000000"/>
                    </a:solidFill>
                    <a:ea typeface="Cambria Math" panose="02040503050406030204" pitchFamily="18" charset="0"/>
                    <a:cs typeface="Arial" panose="020B0604020202020204" pitchFamily="34" charset="0"/>
                  </a:rPr>
                  <a:t> </a:t>
                </a:r>
              </a:p>
              <a:p>
                <a:pPr marL="914400">
                  <a:lnSpc>
                    <a:spcPct val="100000"/>
                  </a:lnSpc>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&lt;3</m:t>
                    </m:r>
                  </m:oMath>
                </a14:m>
                <a:r>
                  <a:rPr lang="en-US" sz="2000" dirty="0">
                    <a:solidFill>
                      <a:srgbClr val="000000"/>
                    </a:solidFill>
                    <a:cs typeface="Arial" panose="020B0604020202020204" pitchFamily="34" charset="0"/>
                  </a:rPr>
                  <a:t> </a:t>
                </a:r>
              </a:p>
              <a:p>
                <a:pPr>
                  <a:lnSpc>
                    <a:spcPct val="100000"/>
                  </a:lnSpc>
                  <a:spcBef>
                    <a:spcPts val="600"/>
                  </a:spcBef>
                  <a:spcAft>
                    <a:spcPts val="600"/>
                  </a:spcAft>
                </a:pPr>
                <a:r>
                  <a:rPr lang="en-US" sz="2000" dirty="0">
                    <a:solidFill>
                      <a:srgbClr val="000000"/>
                    </a:solidFill>
                    <a:cs typeface="Arial" panose="020B0604020202020204" pitchFamily="34" charset="0"/>
                  </a:rPr>
                  <a:t>The FTC is willing to take a 1% risk of making an error on its testing of Hilltop Coffee’s claim.</a:t>
                </a: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2807490"/>
                <a:ext cx="10484504" cy="3207544"/>
              </a:xfrm>
              <a:blipFill>
                <a:blip r:embed="rId4"/>
                <a:stretch>
                  <a:fillRect l="-1513" t="-2281" r="-1920"/>
                </a:stretch>
              </a:blipFill>
            </p:spPr>
            <p:txBody>
              <a:bodyPr/>
              <a:lstStyle/>
              <a:p>
                <a:r>
                  <a:rPr lang="en-US">
                    <a:noFill/>
                  </a:rPr>
                  <a:t> </a:t>
                </a:r>
              </a:p>
            </p:txBody>
          </p:sp>
        </mc:Fallback>
      </mc:AlternateContent>
    </p:spTree>
    <p:extLst>
      <p:ext uri="{BB962C8B-B14F-4D97-AF65-F5344CB8AC3E}">
        <p14:creationId xmlns:p14="http://schemas.microsoft.com/office/powerpoint/2010/main" val="208043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F19D-3059-BBF4-942C-2EDB235298A6}"/>
              </a:ext>
            </a:extLst>
          </p:cNvPr>
          <p:cNvSpPr>
            <a:spLocks noGrp="1"/>
          </p:cNvSpPr>
          <p:nvPr>
            <p:ph type="title"/>
          </p:nvPr>
        </p:nvSpPr>
        <p:spPr/>
        <p:txBody>
          <a:bodyPr/>
          <a:lstStyle/>
          <a:p>
            <a:r>
              <a:rPr lang="en-US" sz="3200" dirty="0"/>
              <a:t>9.3 Test Statistic for the Hilltop Coffee Example (Population Mean: </a:t>
            </a:r>
            <a:r>
              <a:rPr lang="en-US" sz="3200" i="1" dirty="0">
                <a:latin typeface="Symbol" panose="05050102010706020507" pitchFamily="18" charset="2"/>
              </a:rPr>
              <a:t>s</a:t>
            </a:r>
            <a:r>
              <a:rPr lang="en-US" sz="3200" dirty="0"/>
              <a:t> Known)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1841A2A-7DB6-89B6-5445-6929A6F3676B}"/>
                  </a:ext>
                </a:extLst>
              </p:cNvPr>
              <p:cNvSpPr>
                <a:spLocks noGrp="1"/>
              </p:cNvSpPr>
              <p:nvPr>
                <p:ph type="body" sz="quarter" idx="15"/>
              </p:nvPr>
            </p:nvSpPr>
            <p:spPr>
              <a:xfrm>
                <a:off x="743577" y="1537135"/>
                <a:ext cx="10610224" cy="2041637"/>
              </a:xfrm>
            </p:spPr>
            <p:txBody>
              <a:bodyPr/>
              <a:lstStyle/>
              <a:p>
                <a:r>
                  <a:rPr lang="en-US" sz="2000" dirty="0"/>
                  <a:t>Suppose a sample of </a:t>
                </a:r>
                <a14:m>
                  <m:oMath xmlns:m="http://schemas.openxmlformats.org/officeDocument/2006/math">
                    <m:r>
                      <a:rPr lang="en-US" sz="2000" b="0" i="1" dirty="0" smtClean="0">
                        <a:latin typeface="Cambria Math" panose="02040503050406030204" pitchFamily="18" charset="0"/>
                      </a:rPr>
                      <m:t>𝑛</m:t>
                    </m:r>
                    <m:r>
                      <a:rPr lang="en-US" sz="2000" b="0" i="0" dirty="0" smtClean="0">
                        <a:latin typeface="Cambria Math" panose="02040503050406030204" pitchFamily="18" charset="0"/>
                      </a:rPr>
                      <m:t>=</m:t>
                    </m:r>
                    <m:r>
                      <a:rPr lang="en-US" sz="2000" i="1" dirty="0" smtClean="0">
                        <a:latin typeface="Cambria Math" panose="02040503050406030204" pitchFamily="18" charset="0"/>
                      </a:rPr>
                      <m:t>36</m:t>
                    </m:r>
                  </m:oMath>
                </a14:m>
                <a:r>
                  <a:rPr lang="en-US" sz="2000" dirty="0"/>
                  <a:t> cans of coffee is selected, and the sample mean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oMath>
                </a14:m>
                <a:r>
                  <a:rPr lang="en-US" sz="2000" dirty="0"/>
                  <a:t> is computed as an estimate of the population mean </a:t>
                </a:r>
                <a:r>
                  <a:rPr lang="en-US" sz="2000" i="1" dirty="0">
                    <a:latin typeface="Symbol" panose="05050102010706020507" pitchFamily="18" charset="2"/>
                  </a:rPr>
                  <a:t>m</a:t>
                </a:r>
                <a:r>
                  <a:rPr lang="en-US" sz="2000" dirty="0"/>
                  <a:t>. </a:t>
                </a:r>
              </a:p>
              <a:p>
                <a:r>
                  <a:rPr lang="en-US" sz="2000" dirty="0"/>
                  <a:t>Also, previous FTC tests show that the population of filling weights can be assumed normally distributed with a known standard deviation of value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𝜎</m:t>
                    </m:r>
                    <m:r>
                      <a:rPr lang="en-US" sz="2000" i="1" dirty="0" smtClean="0">
                        <a:latin typeface="Cambria Math" panose="02040503050406030204" pitchFamily="18" charset="0"/>
                      </a:rPr>
                      <m:t>=0.18</m:t>
                    </m:r>
                  </m:oMath>
                </a14:m>
                <a:r>
                  <a:rPr lang="en-US" sz="2000" dirty="0"/>
                  <a:t>.</a:t>
                </a:r>
              </a:p>
              <a:p>
                <a:r>
                  <a:rPr lang="en-US" sz="2000" dirty="0"/>
                  <a:t>We can write the sampling distribution of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oMath>
                </a14:m>
                <a:r>
                  <a:rPr lang="en-US" sz="2000" dirty="0"/>
                  <a:t> as normally distributed, centered around the hypothesized mean, </a:t>
                </a:r>
                <a14:m>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r>
                      <a:rPr lang="en-US" sz="2000" i="1">
                        <a:latin typeface="Cambria Math" panose="02040503050406030204" pitchFamily="18" charset="0"/>
                        <a:ea typeface="Cambria Math" panose="02040503050406030204" pitchFamily="18" charset="0"/>
                        <a:cs typeface="Arial" panose="020B0604020202020204" pitchFamily="34" charset="0"/>
                      </a:rPr>
                      <m:t>=3</m:t>
                    </m:r>
                  </m:oMath>
                </a14:m>
                <a:r>
                  <a:rPr lang="en-US" sz="2000" dirty="0"/>
                  <a:t>, and with standard error, </a:t>
                </a:r>
                <a14:m>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𝜎</m:t>
                        </m:r>
                      </m:e>
                      <m:sub>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sub>
                    </m:sSub>
                    <m:r>
                      <a:rPr lang="en-US" sz="2000" b="0" i="1" smtClean="0">
                        <a:latin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𝑛</m:t>
                            </m:r>
                          </m:e>
                        </m:rad>
                      </m:den>
                    </m:f>
                    <m:r>
                      <a:rPr lang="en-US" sz="2000" b="0" i="1" smtClean="0">
                        <a:latin typeface="Cambria Math" panose="02040503050406030204" pitchFamily="18" charset="0"/>
                        <a:ea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0.18</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36</m:t>
                            </m:r>
                          </m:e>
                        </m:rad>
                      </m:den>
                    </m:f>
                    <m:r>
                      <a:rPr lang="en-US" sz="2000" b="0" i="1" smtClean="0">
                        <a:latin typeface="Cambria Math" panose="02040503050406030204" pitchFamily="18" charset="0"/>
                        <a:ea typeface="Cambria Math" panose="02040503050406030204" pitchFamily="18" charset="0"/>
                      </a:rPr>
                      <m:t>=0.03</m:t>
                    </m:r>
                  </m:oMath>
                </a14:m>
                <a:r>
                  <a:rPr lang="en-US" sz="2000" dirty="0"/>
                  <a:t>.</a:t>
                </a:r>
              </a:p>
            </p:txBody>
          </p:sp>
        </mc:Choice>
        <mc:Fallback xmlns="">
          <p:sp>
            <p:nvSpPr>
              <p:cNvPr id="3" name="Text Placeholder 2">
                <a:extLst>
                  <a:ext uri="{FF2B5EF4-FFF2-40B4-BE49-F238E27FC236}">
                    <a16:creationId xmlns:a16="http://schemas.microsoft.com/office/drawing/2014/main" id="{71841A2A-7DB6-89B6-5445-6929A6F3676B}"/>
                  </a:ext>
                </a:extLst>
              </p:cNvPr>
              <p:cNvSpPr>
                <a:spLocks noGrp="1" noRot="1" noChangeAspect="1" noMove="1" noResize="1" noEditPoints="1" noAdjustHandles="1" noChangeArrowheads="1" noChangeShapeType="1" noTextEdit="1"/>
              </p:cNvSpPr>
              <p:nvPr>
                <p:ph type="body" sz="quarter" idx="15"/>
              </p:nvPr>
            </p:nvSpPr>
            <p:spPr>
              <a:xfrm>
                <a:off x="743577" y="1537135"/>
                <a:ext cx="10610224" cy="2041637"/>
              </a:xfrm>
              <a:blipFill>
                <a:blip r:embed="rId2"/>
                <a:stretch>
                  <a:fillRect l="-1493" t="-3582" r="-230" b="-36418"/>
                </a:stretch>
              </a:blipFill>
            </p:spPr>
            <p:txBody>
              <a:bodyPr/>
              <a:lstStyle/>
              <a:p>
                <a:r>
                  <a:rPr lang="en-US">
                    <a:noFill/>
                  </a:rPr>
                  <a:t> </a:t>
                </a:r>
              </a:p>
            </p:txBody>
          </p:sp>
        </mc:Fallback>
      </mc:AlternateContent>
      <p:pic>
        <p:nvPicPr>
          <p:cNvPr id="7" name="Picture Placeholder 6" descr="A graph plots the sampling distribution of x-bar. The horizontal axis is labeled “x-bar” and lists mu = 3. A bell-shaped curve peaks at mu = 3. An equation next to the curve is as follows: Sigma_x-bar = sigma/sqrt(n) = 0.18/sqrt(36) = 0.03.&#10;">
            <a:extLst>
              <a:ext uri="{FF2B5EF4-FFF2-40B4-BE49-F238E27FC236}">
                <a16:creationId xmlns:a16="http://schemas.microsoft.com/office/drawing/2014/main" id="{6DD5D7B7-0B75-F064-987A-C0EC88EC5BD7}"/>
              </a:ext>
            </a:extLst>
          </p:cNvPr>
          <p:cNvPicPr>
            <a:picLocks noGrp="1" noChangeAspect="1"/>
          </p:cNvPicPr>
          <p:nvPr>
            <p:ph type="pic" sz="quarter" idx="16"/>
          </p:nvPr>
        </p:nvPicPr>
        <p:blipFill rotWithShape="1">
          <a:blip r:embed="rId3"/>
          <a:srcRect l="20" r="20"/>
          <a:stretch/>
        </p:blipFill>
        <p:spPr>
          <a:xfrm>
            <a:off x="743577" y="3722695"/>
            <a:ext cx="4233863" cy="2286000"/>
          </a:xfrm>
        </p:spPr>
      </p:pic>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0EDBF92-5123-D08F-DF47-A28D180C9B43}"/>
                  </a:ext>
                </a:extLst>
              </p:cNvPr>
              <p:cNvSpPr>
                <a:spLocks noGrp="1"/>
              </p:cNvSpPr>
              <p:nvPr>
                <p:ph type="body" sz="quarter" idx="17"/>
              </p:nvPr>
            </p:nvSpPr>
            <p:spPr>
              <a:xfrm>
                <a:off x="5139558" y="3704901"/>
                <a:ext cx="6214241" cy="2319559"/>
              </a:xfrm>
            </p:spPr>
            <p:txBody>
              <a:bodyPr/>
              <a:lstStyle/>
              <a:p>
                <a:pPr>
                  <a:spcAft>
                    <a:spcPts val="0"/>
                  </a:spcAft>
                </a:pPr>
                <a:r>
                  <a:rPr lang="en-US" sz="2000" dirty="0"/>
                  <a:t>For the </a:t>
                </a:r>
                <a:r>
                  <a:rPr lang="en-US" sz="2000" b="1" dirty="0"/>
                  <a:t>test statistic </a:t>
                </a:r>
                <a:r>
                  <a:rPr lang="en-US" sz="2000" dirty="0"/>
                  <a:t>of a hypothesis test about a population mean: </a:t>
                </a:r>
                <a:r>
                  <a:rPr lang="en-US" sz="2000" i="1" dirty="0">
                    <a:latin typeface="Symbol" panose="05050102010706020507" pitchFamily="18" charset="2"/>
                  </a:rPr>
                  <a:t>s</a:t>
                </a:r>
                <a:r>
                  <a:rPr lang="en-US" sz="2000" dirty="0"/>
                  <a:t> known, we can use the standard normal random variable, </a:t>
                </a:r>
                <a14:m>
                  <m:oMath xmlns:m="http://schemas.openxmlformats.org/officeDocument/2006/math">
                    <m:r>
                      <a:rPr lang="en-US" sz="2000" i="1" dirty="0" smtClean="0">
                        <a:latin typeface="Cambria Math" panose="02040503050406030204" pitchFamily="18" charset="0"/>
                      </a:rPr>
                      <m:t>𝑧</m:t>
                    </m:r>
                  </m:oMath>
                </a14:m>
                <a:r>
                  <a:rPr lang="en-US" sz="2000" i="1" dirty="0"/>
                  <a:t>.</a:t>
                </a:r>
              </a:p>
              <a:p>
                <a:pPr>
                  <a:spcAft>
                    <a:spcPts val="600"/>
                  </a:spcAft>
                </a:pPr>
                <a:r>
                  <a:rPr lang="en-US" sz="2000" dirty="0"/>
                  <a:t>Formally, we write:</a:t>
                </a:r>
              </a:p>
              <a:p>
                <a:pPr marL="914400"/>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𝒛</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𝝁</m:t>
                              </m:r>
                            </m:e>
                            <m:sub>
                              <m:r>
                                <a:rPr lang="en-US" sz="2000" b="1" i="1" smtClean="0">
                                  <a:latin typeface="Cambria Math" panose="02040503050406030204" pitchFamily="18" charset="0"/>
                                </a:rPr>
                                <m:t>𝟎</m:t>
                              </m:r>
                            </m:sub>
                          </m:sSub>
                        </m:num>
                        <m:den>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𝝈</m:t>
                              </m:r>
                            </m:e>
                            <m:sub>
                              <m:acc>
                                <m:accPr>
                                  <m:chr m:val="̅"/>
                                  <m:ctrlPr>
                                    <a:rPr lang="en-US" sz="2000" b="1" i="1">
                                      <a:latin typeface="Cambria Math" panose="02040503050406030204" pitchFamily="18" charset="0"/>
                                    </a:rPr>
                                  </m:ctrlPr>
                                </m:accPr>
                                <m:e>
                                  <m:r>
                                    <a:rPr lang="en-US" sz="2000" b="1" i="1">
                                      <a:latin typeface="Cambria Math" panose="02040503050406030204" pitchFamily="18" charset="0"/>
                                    </a:rPr>
                                    <m:t>𝒙</m:t>
                                  </m:r>
                                </m:e>
                              </m:acc>
                            </m:sub>
                          </m:sSub>
                        </m:den>
                      </m:f>
                    </m:oMath>
                  </m:oMathPara>
                </a14:m>
                <a:endParaRPr lang="en-US" sz="2000" b="1" dirty="0"/>
              </a:p>
              <a:p>
                <a:endParaRPr lang="en-US" sz="2000" dirty="0"/>
              </a:p>
            </p:txBody>
          </p:sp>
        </mc:Choice>
        <mc:Fallback xmlns="">
          <p:sp>
            <p:nvSpPr>
              <p:cNvPr id="5" name="Text Placeholder 4">
                <a:extLst>
                  <a:ext uri="{FF2B5EF4-FFF2-40B4-BE49-F238E27FC236}">
                    <a16:creationId xmlns:a16="http://schemas.microsoft.com/office/drawing/2014/main" id="{40EDBF92-5123-D08F-DF47-A28D180C9B43}"/>
                  </a:ext>
                </a:extLst>
              </p:cNvPr>
              <p:cNvSpPr>
                <a:spLocks noGrp="1" noRot="1" noChangeAspect="1" noMove="1" noResize="1" noEditPoints="1" noAdjustHandles="1" noChangeArrowheads="1" noChangeShapeType="1" noTextEdit="1"/>
              </p:cNvSpPr>
              <p:nvPr>
                <p:ph type="body" sz="quarter" idx="17"/>
              </p:nvPr>
            </p:nvSpPr>
            <p:spPr>
              <a:xfrm>
                <a:off x="5139558" y="3704901"/>
                <a:ext cx="6214241" cy="2319559"/>
              </a:xfrm>
              <a:blipFill>
                <a:blip r:embed="rId4"/>
                <a:stretch>
                  <a:fillRect l="-2453" t="-3158"/>
                </a:stretch>
              </a:blipFill>
            </p:spPr>
            <p:txBody>
              <a:bodyPr/>
              <a:lstStyle/>
              <a:p>
                <a:r>
                  <a:rPr lang="en-US">
                    <a:noFill/>
                  </a:rPr>
                  <a:t> </a:t>
                </a:r>
              </a:p>
            </p:txBody>
          </p:sp>
        </mc:Fallback>
      </mc:AlternateContent>
    </p:spTree>
    <p:extLst>
      <p:ext uri="{BB962C8B-B14F-4D97-AF65-F5344CB8AC3E}">
        <p14:creationId xmlns:p14="http://schemas.microsoft.com/office/powerpoint/2010/main" val="1094120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8315-4EFC-6969-4869-CFAD5721A9A1}"/>
              </a:ext>
            </a:extLst>
          </p:cNvPr>
          <p:cNvSpPr>
            <a:spLocks noGrp="1"/>
          </p:cNvSpPr>
          <p:nvPr>
            <p:ph type="title"/>
          </p:nvPr>
        </p:nvSpPr>
        <p:spPr>
          <a:xfrm>
            <a:off x="425670" y="365125"/>
            <a:ext cx="11290742" cy="672105"/>
          </a:xfrm>
        </p:spPr>
        <p:txBody>
          <a:bodyPr/>
          <a:lstStyle/>
          <a:p>
            <a:r>
              <a:rPr lang="en-US" sz="3200" dirty="0"/>
              <a:t>9.3 </a:t>
            </a:r>
            <a:r>
              <a:rPr lang="en-US" sz="3200" i="1" dirty="0"/>
              <a:t>p</a:t>
            </a:r>
            <a:r>
              <a:rPr lang="en-US" sz="3200" dirty="0"/>
              <a:t>-Value Approach to a Lower Tail Test About a </a:t>
            </a:r>
            <a:br>
              <a:rPr lang="en-US" sz="3200" dirty="0"/>
            </a:br>
            <a:r>
              <a:rPr lang="en-US" sz="3200" dirty="0"/>
              <a:t>Population Mean: </a:t>
            </a:r>
            <a:r>
              <a:rPr lang="en-US" sz="3200" i="1" dirty="0">
                <a:latin typeface="Symbol" panose="05050102010706020507" pitchFamily="18" charset="2"/>
              </a:rPr>
              <a:t>s</a:t>
            </a:r>
            <a:r>
              <a:rPr lang="en-US" sz="3200" dirty="0"/>
              <a:t> Known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8E2FD38-F496-F5E5-2A51-1E0871AC24FB}"/>
                  </a:ext>
                </a:extLst>
              </p:cNvPr>
              <p:cNvSpPr>
                <a:spLocks noGrp="1"/>
              </p:cNvSpPr>
              <p:nvPr>
                <p:ph type="body" sz="quarter" idx="15"/>
              </p:nvPr>
            </p:nvSpPr>
            <p:spPr>
              <a:xfrm>
                <a:off x="782992" y="1489843"/>
                <a:ext cx="6011947" cy="4477897"/>
              </a:xfrm>
            </p:spPr>
            <p:txBody>
              <a:bodyPr/>
              <a:lstStyle/>
              <a:p>
                <a:r>
                  <a:rPr lang="en-US" sz="2000" dirty="0"/>
                  <a:t>A </a:t>
                </a:r>
                <a:r>
                  <a:rPr lang="en-US" sz="2000" b="1" i="1" dirty="0"/>
                  <a:t>p</a:t>
                </a:r>
                <a:r>
                  <a:rPr lang="en-US" sz="2000" b="1" dirty="0"/>
                  <a:t>-value </a:t>
                </a:r>
                <a:r>
                  <a:rPr lang="en-US" sz="2000" dirty="0"/>
                  <a:t>is a probability, computed using the test statistic, that measures the support provided by the sample for the null hypothesis.</a:t>
                </a:r>
              </a:p>
              <a:p>
                <a:pPr>
                  <a:spcAft>
                    <a:spcPts val="600"/>
                  </a:spcAft>
                </a:pPr>
                <a:r>
                  <a:rPr lang="en-US" sz="2000" dirty="0"/>
                  <a:t>Suppose the sample of </a:t>
                </a:r>
                <a14:m>
                  <m:oMath xmlns:m="http://schemas.openxmlformats.org/officeDocument/2006/math">
                    <m:r>
                      <a:rPr lang="en-US" sz="2000" b="0" i="1" dirty="0" smtClean="0">
                        <a:latin typeface="Cambria Math" panose="02040503050406030204" pitchFamily="18" charset="0"/>
                      </a:rPr>
                      <m:t>𝑛</m:t>
                    </m:r>
                    <m:r>
                      <a:rPr lang="en-US" sz="2000" b="0" i="0" dirty="0" smtClean="0">
                        <a:latin typeface="Cambria Math" panose="02040503050406030204" pitchFamily="18" charset="0"/>
                      </a:rPr>
                      <m:t>=</m:t>
                    </m:r>
                    <m:r>
                      <a:rPr lang="en-US" sz="2000" i="1" dirty="0" smtClean="0">
                        <a:latin typeface="Cambria Math" panose="02040503050406030204" pitchFamily="18" charset="0"/>
                      </a:rPr>
                      <m:t>36</m:t>
                    </m:r>
                  </m:oMath>
                </a14:m>
                <a:r>
                  <a:rPr lang="en-US" sz="2000" dirty="0"/>
                  <a:t> coffee cans revealed </a:t>
                </a:r>
                <a14:m>
                  <m:oMath xmlns:m="http://schemas.openxmlformats.org/officeDocument/2006/math">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𝑥</m:t>
                        </m:r>
                      </m:e>
                    </m:acc>
                    <m:r>
                      <a:rPr lang="en-US" sz="2000" b="0" i="1" dirty="0" smtClean="0">
                        <a:latin typeface="Cambria Math" panose="02040503050406030204" pitchFamily="18" charset="0"/>
                      </a:rPr>
                      <m:t>=2.92</m:t>
                    </m:r>
                  </m:oMath>
                </a14:m>
                <a:r>
                  <a:rPr lang="en-US" sz="2000" dirty="0"/>
                  <a:t> pounds. Then, the test statistic is</a:t>
                </a:r>
              </a:p>
              <a:p>
                <a:pPr marL="914400"/>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0</m:t>
                              </m:r>
                            </m:sub>
                          </m:sSub>
                        </m:num>
                        <m:den>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acc>
                                <m:accPr>
                                  <m:chr m:val="̅"/>
                                  <m:ctrlPr>
                                    <a:rPr lang="en-US" sz="2000" i="1">
                                      <a:latin typeface="Cambria Math" panose="02040503050406030204" pitchFamily="18" charset="0"/>
                                    </a:rPr>
                                  </m:ctrlPr>
                                </m:accPr>
                                <m:e>
                                  <m:r>
                                    <a:rPr lang="en-US" sz="2000" b="0" i="1">
                                      <a:latin typeface="Cambria Math" panose="02040503050406030204" pitchFamily="18" charset="0"/>
                                    </a:rPr>
                                    <m:t>𝑥</m:t>
                                  </m:r>
                                </m:e>
                              </m:acc>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2.92−3</m:t>
                          </m:r>
                        </m:num>
                        <m:den>
                          <m:r>
                            <a:rPr lang="en-US" sz="2000" b="0" i="1" smtClean="0">
                              <a:latin typeface="Cambria Math" panose="02040503050406030204" pitchFamily="18" charset="0"/>
                            </a:rPr>
                            <m:t>0.03</m:t>
                          </m:r>
                        </m:den>
                      </m:f>
                      <m:r>
                        <a:rPr lang="en-US" sz="2000" b="0" i="1" smtClean="0">
                          <a:latin typeface="Cambria Math" panose="02040503050406030204" pitchFamily="18" charset="0"/>
                        </a:rPr>
                        <m:t>=−2.67</m:t>
                      </m:r>
                    </m:oMath>
                  </m:oMathPara>
                </a14:m>
                <a:endParaRPr lang="en-US" sz="2000" dirty="0"/>
              </a:p>
              <a:p>
                <a:pPr>
                  <a:spcAft>
                    <a:spcPts val="600"/>
                  </a:spcAft>
                </a:pPr>
                <a:r>
                  <a:rPr lang="en-US" sz="2000" dirty="0"/>
                  <a:t>For a lower tail test, the </a:t>
                </a:r>
                <a:r>
                  <a:rPr lang="en-US" sz="2000" i="1" dirty="0"/>
                  <a:t>p</a:t>
                </a:r>
                <a:r>
                  <a:rPr lang="en-US" sz="2000" dirty="0"/>
                  <a:t>-value is the probability that </a:t>
                </a:r>
                <a:r>
                  <a:rPr lang="en-US" sz="2000" i="1" dirty="0"/>
                  <a:t>z</a:t>
                </a:r>
                <a:r>
                  <a:rPr lang="en-US" sz="2000" dirty="0"/>
                  <a:t> is less than or equal to −2.67.</a:t>
                </a:r>
              </a:p>
              <a:p>
                <a:pPr marL="9144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𝑝</m:t>
                      </m:r>
                      <m:r>
                        <m:rPr>
                          <m:nor/>
                        </m:rPr>
                        <a:rPr lang="en-US" sz="2000" b="0" i="0" smtClean="0">
                          <a:latin typeface="Cambria Math" panose="02040503050406030204" pitchFamily="18" charset="0"/>
                        </a:rPr>
                        <m:t>−</m:t>
                      </m:r>
                      <m:r>
                        <m:rPr>
                          <m:nor/>
                        </m:rPr>
                        <a:rPr lang="en-US" sz="2000" b="0" i="0" smtClean="0">
                          <a:latin typeface="Cambria Math" panose="02040503050406030204" pitchFamily="18" charset="0"/>
                        </a:rPr>
                        <m:t>value</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≤−2.67</m:t>
                          </m:r>
                        </m:e>
                      </m:d>
                      <m:r>
                        <a:rPr lang="en-US" sz="2000" b="0" i="1" smtClean="0">
                          <a:latin typeface="Cambria Math" panose="02040503050406030204" pitchFamily="18" charset="0"/>
                          <a:ea typeface="Cambria Math" panose="02040503050406030204" pitchFamily="18" charset="0"/>
                        </a:rPr>
                        <m:t>=0.038</m:t>
                      </m:r>
                    </m:oMath>
                  </m:oMathPara>
                </a14:m>
                <a:endParaRPr lang="en-US" sz="2000" dirty="0"/>
              </a:p>
              <a:p>
                <a:r>
                  <a:rPr lang="en-US" sz="2000" dirty="0"/>
                  <a:t>This </a:t>
                </a:r>
                <a:r>
                  <a:rPr lang="en-US" sz="2000" i="1" dirty="0"/>
                  <a:t>p</a:t>
                </a:r>
                <a:r>
                  <a:rPr lang="en-US" sz="2000" dirty="0"/>
                  <a:t>-value indicates a small probability of obtaining a sample mean of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r>
                      <a:rPr lang="en-US" sz="2000" b="0" i="1" dirty="0" smtClean="0">
                        <a:latin typeface="Cambria Math" panose="02040503050406030204" pitchFamily="18" charset="0"/>
                      </a:rPr>
                      <m:t>=2.92</m:t>
                    </m:r>
                  </m:oMath>
                </a14:m>
                <a:r>
                  <a:rPr lang="en-US" sz="2000" dirty="0"/>
                  <a:t> or smaller when sampling from a population with </a:t>
                </a:r>
                <a14:m>
                  <m:oMath xmlns:m="http://schemas.openxmlformats.org/officeDocument/2006/math">
                    <m:r>
                      <a:rPr lang="el-GR" sz="2000" i="1" dirty="0" smtClean="0">
                        <a:latin typeface="Cambria Math" panose="02040503050406030204" pitchFamily="18" charset="0"/>
                        <a:ea typeface="Cambria Math" panose="02040503050406030204" pitchFamily="18" charset="0"/>
                      </a:rPr>
                      <m:t>𝜇</m:t>
                    </m:r>
                    <m:r>
                      <a:rPr lang="en-US" sz="2000" i="1" dirty="0" smtClean="0">
                        <a:latin typeface="Cambria Math" panose="02040503050406030204" pitchFamily="18" charset="0"/>
                      </a:rPr>
                      <m:t>=3</m:t>
                    </m:r>
                  </m:oMath>
                </a14:m>
                <a:r>
                  <a:rPr lang="en-US" sz="2000" dirty="0"/>
                  <a:t>. </a:t>
                </a:r>
              </a:p>
            </p:txBody>
          </p:sp>
        </mc:Choice>
        <mc:Fallback xmlns="">
          <p:sp>
            <p:nvSpPr>
              <p:cNvPr id="3" name="Text Placeholder 2">
                <a:extLst>
                  <a:ext uri="{FF2B5EF4-FFF2-40B4-BE49-F238E27FC236}">
                    <a16:creationId xmlns:a16="http://schemas.microsoft.com/office/drawing/2014/main" id="{E8E2FD38-F496-F5E5-2A51-1E0871AC24FB}"/>
                  </a:ext>
                </a:extLst>
              </p:cNvPr>
              <p:cNvSpPr>
                <a:spLocks noGrp="1" noRot="1" noChangeAspect="1" noMove="1" noResize="1" noEditPoints="1" noAdjustHandles="1" noChangeArrowheads="1" noChangeShapeType="1" noTextEdit="1"/>
              </p:cNvSpPr>
              <p:nvPr>
                <p:ph type="body" sz="quarter" idx="15"/>
              </p:nvPr>
            </p:nvSpPr>
            <p:spPr>
              <a:xfrm>
                <a:off x="782992" y="1489843"/>
                <a:ext cx="6011947" cy="4477897"/>
              </a:xfrm>
              <a:blipFill>
                <a:blip r:embed="rId2"/>
                <a:stretch>
                  <a:fillRect l="-2533" t="-1633" r="-3242" b="-2585"/>
                </a:stretch>
              </a:blipFill>
            </p:spPr>
            <p:txBody>
              <a:bodyPr/>
              <a:lstStyle/>
              <a:p>
                <a:r>
                  <a:rPr lang="en-US">
                    <a:noFill/>
                  </a:rPr>
                  <a:t> </a:t>
                </a:r>
              </a:p>
            </p:txBody>
          </p:sp>
        </mc:Fallback>
      </mc:AlternateContent>
      <p:pic>
        <p:nvPicPr>
          <p:cNvPr id="6" name="Picture Placeholder 5" descr="Two graphs plot sampling distribution of x-bar and z. In the first graph, the horizontal axis is labeled “x-bar” and lists mu_0 = 3. A bell-shaped curve, labeled “Sampling distribution of x-bar,” peaks at mu_0 = 3. The region under the curve to the left of x-bar = 2.92 is shaded dark. The equation adjacent to the curve is as follows: Sigma_x-bar = Sigma/sqrt(n) = 0.03. In the second graph, the horizontal axis is labeled “z” and lists 0. A bell-shaped curve, labeled “Sampling distribution of z = x-bar minus 3/0.03,” peaks at z = 0. The region under the curve to the left of z = negative 2.67 is shaded dark and labeled “p-value = 0.038.”&#10;">
            <a:extLst>
              <a:ext uri="{FF2B5EF4-FFF2-40B4-BE49-F238E27FC236}">
                <a16:creationId xmlns:a16="http://schemas.microsoft.com/office/drawing/2014/main" id="{773C6432-A3EB-E77E-F5B1-18B19FBE22A8}"/>
              </a:ext>
            </a:extLst>
          </p:cNvPr>
          <p:cNvPicPr>
            <a:picLocks noGrp="1" noChangeAspect="1"/>
          </p:cNvPicPr>
          <p:nvPr>
            <p:ph type="pic" sz="quarter" idx="16"/>
          </p:nvPr>
        </p:nvPicPr>
        <p:blipFill rotWithShape="1">
          <a:blip r:embed="rId3"/>
          <a:srcRect t="1" b="1"/>
          <a:stretch/>
        </p:blipFill>
        <p:spPr>
          <a:xfrm>
            <a:off x="6936497" y="1489734"/>
            <a:ext cx="4287838" cy="4478338"/>
          </a:xfrm>
        </p:spPr>
      </p:pic>
    </p:spTree>
    <p:extLst>
      <p:ext uri="{BB962C8B-B14F-4D97-AF65-F5344CB8AC3E}">
        <p14:creationId xmlns:p14="http://schemas.microsoft.com/office/powerpoint/2010/main" val="2396617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56E43-EFDC-8BDF-FA5D-42479093A7DF}"/>
              </a:ext>
            </a:extLst>
          </p:cNvPr>
          <p:cNvSpPr>
            <a:spLocks noGrp="1"/>
          </p:cNvSpPr>
          <p:nvPr>
            <p:ph type="title"/>
          </p:nvPr>
        </p:nvSpPr>
        <p:spPr/>
        <p:txBody>
          <a:bodyPr/>
          <a:lstStyle/>
          <a:p>
            <a:r>
              <a:rPr lang="en-US" dirty="0"/>
              <a:t>9.3 Rejection Rule Using </a:t>
            </a:r>
            <a:r>
              <a:rPr lang="en-US" i="1" dirty="0"/>
              <a:t>p</a:t>
            </a:r>
            <a:r>
              <a:rPr lang="en-US" dirty="0"/>
              <a:t>-Value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A1B81A6-7E78-B70B-A15D-A7CDA0C050F4}"/>
                  </a:ext>
                </a:extLst>
              </p:cNvPr>
              <p:cNvSpPr>
                <a:spLocks noGrp="1"/>
              </p:cNvSpPr>
              <p:nvPr>
                <p:ph type="body" sz="quarter" idx="15"/>
              </p:nvPr>
            </p:nvSpPr>
            <p:spPr>
              <a:xfrm>
                <a:off x="743576" y="1363720"/>
                <a:ext cx="10711543" cy="4437993"/>
              </a:xfrm>
            </p:spPr>
            <p:txBody>
              <a:bodyPr/>
              <a:lstStyle/>
              <a:p>
                <a:pPr>
                  <a:lnSpc>
                    <a:spcPct val="100000"/>
                  </a:lnSpc>
                  <a:spcBef>
                    <a:spcPts val="600"/>
                  </a:spcBef>
                </a:pPr>
                <a:r>
                  <a:rPr lang="en-US" sz="2000" dirty="0"/>
                  <a:t>In the previous slide, we concluded that the calculated </a:t>
                </a:r>
                <a:r>
                  <a:rPr lang="en-US" sz="2000" i="1" dirty="0"/>
                  <a:t>p</a:t>
                </a:r>
                <a:r>
                  <a:rPr lang="en-US" sz="2000" dirty="0"/>
                  <a:t>-value does not provide much support for the null hypothesis, but is it small enough to cause us to reject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oMath>
                </a14:m>
                <a:r>
                  <a:rPr lang="en-US" sz="2000" dirty="0"/>
                  <a:t>? </a:t>
                </a:r>
              </a:p>
              <a:p>
                <a:pPr>
                  <a:lnSpc>
                    <a:spcPct val="100000"/>
                  </a:lnSpc>
                  <a:spcBef>
                    <a:spcPts val="600"/>
                  </a:spcBef>
                </a:pPr>
                <a:r>
                  <a:rPr lang="en-US" sz="2000" dirty="0"/>
                  <a:t>The answer depends upon the level of significance </a:t>
                </a:r>
                <a14:m>
                  <m:oMath xmlns:m="http://schemas.openxmlformats.org/officeDocument/2006/math">
                    <m:r>
                      <a:rPr lang="en-US" sz="2000" i="1" dirty="0" smtClean="0">
                        <a:latin typeface="Cambria Math" panose="02040503050406030204" pitchFamily="18" charset="0"/>
                      </a:rPr>
                      <m:t>𝛼</m:t>
                    </m:r>
                  </m:oMath>
                </a14:m>
                <a:r>
                  <a:rPr lang="en-US" sz="2000" i="1" dirty="0"/>
                  <a:t> </a:t>
                </a:r>
                <a:r>
                  <a:rPr lang="en-US" sz="2000" dirty="0"/>
                  <a:t>for the test:</a:t>
                </a:r>
              </a:p>
              <a:p>
                <a:pPr marL="914400">
                  <a:lnSpc>
                    <a:spcPct val="100000"/>
                  </a:lnSpc>
                  <a:spcBef>
                    <a:spcPts val="600"/>
                  </a:spcBef>
                </a:pPr>
                <a:r>
                  <a:rPr lang="en-US" sz="2000" dirty="0"/>
                  <a:t>If a </a:t>
                </a:r>
                <a:r>
                  <a:rPr lang="en-US" sz="2000" i="1" dirty="0"/>
                  <a:t>p</a:t>
                </a:r>
                <a:r>
                  <a:rPr lang="en-US" sz="2000" dirty="0"/>
                  <a:t>-value is less than or equal to the level of significance </a:t>
                </a:r>
                <a14:m>
                  <m:oMath xmlns:m="http://schemas.openxmlformats.org/officeDocument/2006/math">
                    <m:r>
                      <a:rPr lang="en-US" sz="2000" i="1" dirty="0" smtClean="0">
                        <a:latin typeface="Cambria Math" panose="02040503050406030204" pitchFamily="18" charset="0"/>
                      </a:rPr>
                      <m:t>𝛼</m:t>
                    </m:r>
                  </m:oMath>
                </a14:m>
                <a:r>
                  <a:rPr lang="en-US" sz="2000" dirty="0"/>
                  <a:t>, the value of the test statistic is in the rejection region.</a:t>
                </a:r>
              </a:p>
              <a:p>
                <a:pPr>
                  <a:lnSpc>
                    <a:spcPct val="100000"/>
                  </a:lnSpc>
                  <a:spcBef>
                    <a:spcPts val="600"/>
                  </a:spcBef>
                </a:pPr>
                <a:r>
                  <a:rPr lang="en-US" sz="2000" dirty="0"/>
                  <a:t>Because the FTC stated to be willing to take a 1% risk of making a Type I error, we set the significance level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𝛼</m:t>
                    </m:r>
                    <m:r>
                      <a:rPr lang="en-US" sz="2000" i="1" dirty="0" smtClean="0">
                        <a:latin typeface="Cambria Math" panose="02040503050406030204" pitchFamily="18" charset="0"/>
                      </a:rPr>
                      <m:t>=0.01</m:t>
                    </m:r>
                  </m:oMath>
                </a14:m>
                <a:r>
                  <a:rPr lang="en-US" sz="2000" dirty="0"/>
                  <a:t>.</a:t>
                </a:r>
              </a:p>
              <a:p>
                <a:pPr>
                  <a:lnSpc>
                    <a:spcPct val="100000"/>
                  </a:lnSpc>
                  <a:spcBef>
                    <a:spcPts val="600"/>
                  </a:spcBef>
                  <a:spcAft>
                    <a:spcPts val="600"/>
                  </a:spcAft>
                </a:pPr>
                <a:r>
                  <a:rPr lang="en-US" sz="2000" dirty="0"/>
                  <a:t>We write the rejection rule using the </a:t>
                </a:r>
                <a:r>
                  <a:rPr lang="en-US" sz="2000" i="1" dirty="0"/>
                  <a:t>p</a:t>
                </a:r>
                <a:r>
                  <a:rPr lang="en-US" sz="2000" dirty="0"/>
                  <a:t>-value as: </a:t>
                </a:r>
              </a:p>
              <a:p>
                <a:pPr marL="914400">
                  <a:lnSpc>
                    <a:spcPct val="100000"/>
                  </a:lnSpc>
                  <a:spcBef>
                    <a:spcPts val="600"/>
                  </a:spcBef>
                  <a:spcAft>
                    <a:spcPts val="600"/>
                  </a:spcAft>
                </a:pPr>
                <a:r>
                  <a:rPr lang="en-US" sz="2000" b="1" dirty="0"/>
                  <a:t>Reject </a:t>
                </a:r>
                <a14:m>
                  <m:oMath xmlns:m="http://schemas.openxmlformats.org/officeDocument/2006/math">
                    <m:sSub>
                      <m:sSubPr>
                        <m:ctrlPr>
                          <a:rPr lang="en-US" sz="2000" b="1" i="1" smtClean="0">
                            <a:solidFill>
                              <a:srgbClr val="000000"/>
                            </a:solidFill>
                            <a:latin typeface="Cambria Math" panose="02040503050406030204" pitchFamily="18" charset="0"/>
                            <a:cs typeface="Arial" panose="020B0604020202020204" pitchFamily="34" charset="0"/>
                          </a:rPr>
                        </m:ctrlPr>
                      </m:sSubPr>
                      <m:e>
                        <m:r>
                          <a:rPr lang="en-US" sz="2000" b="1" i="1" smtClean="0">
                            <a:solidFill>
                              <a:srgbClr val="000000"/>
                            </a:solidFill>
                            <a:latin typeface="Cambria Math" panose="02040503050406030204" pitchFamily="18" charset="0"/>
                            <a:cs typeface="Arial" panose="020B0604020202020204" pitchFamily="34" charset="0"/>
                          </a:rPr>
                          <m:t>𝑯</m:t>
                        </m:r>
                      </m:e>
                      <m:sub>
                        <m:r>
                          <a:rPr lang="en-US" sz="2000" b="1" i="1" smtClean="0">
                            <a:solidFill>
                              <a:srgbClr val="000000"/>
                            </a:solidFill>
                            <a:latin typeface="Cambria Math" panose="02040503050406030204" pitchFamily="18" charset="0"/>
                            <a:cs typeface="Arial" panose="020B0604020202020204" pitchFamily="34" charset="0"/>
                          </a:rPr>
                          <m:t>𝟎</m:t>
                        </m:r>
                      </m:sub>
                    </m:sSub>
                  </m:oMath>
                </a14:m>
                <a:r>
                  <a:rPr lang="en-US" sz="2000" b="1" dirty="0"/>
                  <a:t> if </a:t>
                </a:r>
                <a:r>
                  <a:rPr lang="en-US" sz="2000" b="1" i="1" dirty="0"/>
                  <a:t>p</a:t>
                </a:r>
                <a:r>
                  <a:rPr lang="en-US" sz="2000" b="1" dirty="0"/>
                  <a:t>-value ≤ </a:t>
                </a:r>
                <a:r>
                  <a:rPr lang="en-US" sz="2000" b="1" i="1" dirty="0"/>
                  <a:t>α</a:t>
                </a:r>
              </a:p>
              <a:p>
                <a:pPr>
                  <a:spcBef>
                    <a:spcPts val="600"/>
                  </a:spcBef>
                </a:pPr>
                <a:r>
                  <a:rPr lang="en-US" sz="2000" dirty="0"/>
                  <a:t>With the </a:t>
                </a:r>
                <a14:m>
                  <m:oMath xmlns:m="http://schemas.openxmlformats.org/officeDocument/2006/math">
                    <m:r>
                      <a:rPr lang="en-US" sz="2000" i="1" dirty="0" smtClean="0">
                        <a:latin typeface="Cambria Math" panose="02040503050406030204" pitchFamily="18" charset="0"/>
                      </a:rPr>
                      <m:t>𝑝</m:t>
                    </m:r>
                    <m:r>
                      <m:rPr>
                        <m:nor/>
                      </m:rPr>
                      <a:rPr lang="en-US" sz="2000" i="0" dirty="0" smtClean="0">
                        <a:latin typeface="Arial" panose="020B0604020202020204" pitchFamily="34" charset="0"/>
                        <a:cs typeface="Arial" panose="020B0604020202020204" pitchFamily="34" charset="0"/>
                      </a:rPr>
                      <m:t>−</m:t>
                    </m:r>
                    <m:r>
                      <m:rPr>
                        <m:nor/>
                      </m:rPr>
                      <a:rPr lang="en-US" sz="2000" i="0" dirty="0" smtClean="0">
                        <a:latin typeface="Arial" panose="020B0604020202020204" pitchFamily="34" charset="0"/>
                        <a:cs typeface="Arial" panose="020B0604020202020204" pitchFamily="34" charset="0"/>
                      </a:rPr>
                      <m:t>value</m:t>
                    </m:r>
                    <m:r>
                      <a:rPr lang="en-US" sz="2000" i="1" dirty="0" smtClean="0">
                        <a:latin typeface="Cambria Math" panose="02040503050406030204" pitchFamily="18" charset="0"/>
                      </a:rPr>
                      <m:t>=0.0038</m:t>
                    </m:r>
                  </m:oMath>
                </a14:m>
                <a:r>
                  <a:rPr lang="en-US" sz="2000" dirty="0"/>
                  <a:t> being less than or equal to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𝛼</m:t>
                    </m:r>
                    <m:r>
                      <a:rPr lang="en-US" sz="2000" i="1" dirty="0" smtClean="0">
                        <a:latin typeface="Cambria Math" panose="02040503050406030204" pitchFamily="18" charset="0"/>
                      </a:rPr>
                      <m:t>= 0.01</m:t>
                    </m:r>
                  </m:oMath>
                </a14:m>
                <a:r>
                  <a:rPr lang="en-US" sz="2000" dirty="0"/>
                  <a:t>, we 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 </a:t>
                </a:r>
              </a:p>
              <a:p>
                <a:pPr>
                  <a:lnSpc>
                    <a:spcPct val="100000"/>
                  </a:lnSpc>
                  <a:spcBef>
                    <a:spcPts val="600"/>
                  </a:spcBef>
                </a:pPr>
                <a:r>
                  <a:rPr lang="en-US" sz="2000" dirty="0"/>
                  <a:t>Therefore, the FTC finds sufficient statistical evidence to conclude at the 0.01 level of significance that the filling weight of Hilltop Coffee cans is less than 3 pounds.</a:t>
                </a:r>
              </a:p>
            </p:txBody>
          </p:sp>
        </mc:Choice>
        <mc:Fallback xmlns="">
          <p:sp>
            <p:nvSpPr>
              <p:cNvPr id="3" name="Text Placeholder 2">
                <a:extLst>
                  <a:ext uri="{FF2B5EF4-FFF2-40B4-BE49-F238E27FC236}">
                    <a16:creationId xmlns:a16="http://schemas.microsoft.com/office/drawing/2014/main" id="{6A1B81A6-7E78-B70B-A15D-A7CDA0C050F4}"/>
                  </a:ext>
                </a:extLst>
              </p:cNvPr>
              <p:cNvSpPr>
                <a:spLocks noGrp="1" noRot="1" noChangeAspect="1" noMove="1" noResize="1" noEditPoints="1" noAdjustHandles="1" noChangeArrowheads="1" noChangeShapeType="1" noTextEdit="1"/>
              </p:cNvSpPr>
              <p:nvPr>
                <p:ph type="body" sz="quarter" idx="15"/>
              </p:nvPr>
            </p:nvSpPr>
            <p:spPr>
              <a:xfrm>
                <a:off x="743576" y="1363720"/>
                <a:ext cx="10711543" cy="4437993"/>
              </a:xfrm>
              <a:blipFill>
                <a:blip r:embed="rId3"/>
                <a:stretch>
                  <a:fillRect l="-1480" t="-1648" r="-455" b="-1374"/>
                </a:stretch>
              </a:blipFill>
            </p:spPr>
            <p:txBody>
              <a:bodyPr/>
              <a:lstStyle/>
              <a:p>
                <a:r>
                  <a:rPr lang="en-US">
                    <a:noFill/>
                  </a:rPr>
                  <a:t> </a:t>
                </a:r>
              </a:p>
            </p:txBody>
          </p:sp>
        </mc:Fallback>
      </mc:AlternateContent>
    </p:spTree>
    <p:extLst>
      <p:ext uri="{BB962C8B-B14F-4D97-AF65-F5344CB8AC3E}">
        <p14:creationId xmlns:p14="http://schemas.microsoft.com/office/powerpoint/2010/main" val="1070018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F19D-3059-BBF4-942C-2EDB235298A6}"/>
              </a:ext>
            </a:extLst>
          </p:cNvPr>
          <p:cNvSpPr>
            <a:spLocks noGrp="1"/>
          </p:cNvSpPr>
          <p:nvPr>
            <p:ph type="title"/>
          </p:nvPr>
        </p:nvSpPr>
        <p:spPr>
          <a:xfrm>
            <a:off x="291665" y="365125"/>
            <a:ext cx="11550870" cy="672105"/>
          </a:xfrm>
        </p:spPr>
        <p:txBody>
          <a:bodyPr/>
          <a:lstStyle/>
          <a:p>
            <a:r>
              <a:rPr lang="en-US" sz="3200" dirty="0"/>
              <a:t>9.3 Rejection Rule Using Critical Value for a One-Tailed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1841A2A-7DB6-89B6-5445-6929A6F3676B}"/>
                  </a:ext>
                </a:extLst>
              </p:cNvPr>
              <p:cNvSpPr>
                <a:spLocks noGrp="1"/>
              </p:cNvSpPr>
              <p:nvPr>
                <p:ph type="body" sz="quarter" idx="15"/>
              </p:nvPr>
            </p:nvSpPr>
            <p:spPr>
              <a:xfrm>
                <a:off x="743576" y="1387371"/>
                <a:ext cx="10334207" cy="4437993"/>
              </a:xfrm>
            </p:spPr>
            <p:txBody>
              <a:bodyPr/>
              <a:lstStyle/>
              <a:p>
                <a:r>
                  <a:rPr lang="en-US" sz="2000" dirty="0"/>
                  <a:t>We can use the standard normal probability distribution to find the 𝑧-value with an area of </a:t>
                </a:r>
                <a14:m>
                  <m:oMath xmlns:m="http://schemas.openxmlformats.org/officeDocument/2006/math">
                    <m:r>
                      <a:rPr lang="en-US" sz="2000" i="1" dirty="0" smtClean="0">
                        <a:latin typeface="Cambria Math" panose="02040503050406030204" pitchFamily="18" charset="0"/>
                      </a:rPr>
                      <m:t>𝛼</m:t>
                    </m:r>
                  </m:oMath>
                </a14:m>
                <a:r>
                  <a:rPr lang="en-US" sz="2000" dirty="0"/>
                  <a:t> in the lower (or upper) tail of the distribution.</a:t>
                </a:r>
              </a:p>
              <a:p>
                <a:r>
                  <a:rPr lang="en-US" sz="2000" dirty="0"/>
                  <a:t>The value of the test statistic that establishes the boundary of the rejection region is called the </a:t>
                </a:r>
                <a:r>
                  <a:rPr lang="en-US" sz="2000" b="1" dirty="0"/>
                  <a:t>critical value </a:t>
                </a:r>
                <a:r>
                  <a:rPr lang="en-US" sz="2000" dirty="0"/>
                  <a:t>for the test.</a:t>
                </a:r>
              </a:p>
              <a:p>
                <a:r>
                  <a:rPr lang="en-US" sz="2000" dirty="0"/>
                  <a:t>The rejection rule for a one-tailed test using the critical value is: </a:t>
                </a:r>
              </a:p>
              <a:p>
                <a:pPr marL="914400"/>
                <a:r>
                  <a:rPr lang="en-US" sz="2000" b="1" dirty="0"/>
                  <a:t>Lower tail: Reject </a:t>
                </a:r>
                <a14:m>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𝑯</m:t>
                        </m:r>
                      </m:e>
                      <m:sub>
                        <m:r>
                          <a:rPr lang="en-US" sz="2000" b="1" i="1">
                            <a:latin typeface="Cambria Math" panose="02040503050406030204" pitchFamily="18" charset="0"/>
                            <a:cs typeface="Arial" panose="020B0604020202020204" pitchFamily="34" charset="0"/>
                          </a:rPr>
                          <m:t>𝟎</m:t>
                        </m:r>
                      </m:sub>
                    </m:sSub>
                  </m:oMath>
                </a14:m>
                <a:r>
                  <a:rPr lang="en-US" sz="2000" b="1" dirty="0"/>
                  <a:t> if </a:t>
                </a:r>
                <a14:m>
                  <m:oMath xmlns:m="http://schemas.openxmlformats.org/officeDocument/2006/math">
                    <m:r>
                      <a:rPr lang="en-US" sz="2000" b="1" i="1" smtClean="0">
                        <a:latin typeface="Cambria Math" panose="02040503050406030204" pitchFamily="18" charset="0"/>
                      </a:rPr>
                      <m:t>𝒛</m:t>
                    </m:r>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𝒛</m:t>
                        </m:r>
                      </m:e>
                      <m:sub>
                        <m:r>
                          <a:rPr lang="en-US" sz="2000" b="1" i="1" smtClean="0">
                            <a:latin typeface="Cambria Math" panose="02040503050406030204" pitchFamily="18" charset="0"/>
                            <a:ea typeface="Cambria Math" panose="02040503050406030204" pitchFamily="18" charset="0"/>
                          </a:rPr>
                          <m:t>𝜶</m:t>
                        </m:r>
                      </m:sub>
                    </m:sSub>
                  </m:oMath>
                </a14:m>
                <a:endParaRPr lang="en-US" sz="2000" b="1" dirty="0"/>
              </a:p>
              <a:p>
                <a:pPr marL="914400">
                  <a:spcAft>
                    <a:spcPts val="600"/>
                  </a:spcAft>
                </a:pPr>
                <a:r>
                  <a:rPr lang="en-US" sz="2000" b="1" dirty="0"/>
                  <a:t>Upper tail: Reject </a:t>
                </a:r>
                <a14:m>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𝑯</m:t>
                        </m:r>
                      </m:e>
                      <m:sub>
                        <m:r>
                          <a:rPr lang="en-US" sz="2000" b="1" i="1">
                            <a:latin typeface="Cambria Math" panose="02040503050406030204" pitchFamily="18" charset="0"/>
                            <a:cs typeface="Arial" panose="020B0604020202020204" pitchFamily="34" charset="0"/>
                          </a:rPr>
                          <m:t>𝟎</m:t>
                        </m:r>
                      </m:sub>
                    </m:sSub>
                  </m:oMath>
                </a14:m>
                <a:r>
                  <a:rPr lang="en-US" sz="2000" b="1" dirty="0"/>
                  <a:t> if </a:t>
                </a:r>
                <a14:m>
                  <m:oMath xmlns:m="http://schemas.openxmlformats.org/officeDocument/2006/math">
                    <m:r>
                      <a:rPr lang="en-US" sz="2000" b="1" i="1">
                        <a:latin typeface="Cambria Math" panose="02040503050406030204" pitchFamily="18" charset="0"/>
                      </a:rPr>
                      <m:t>𝒛</m:t>
                    </m:r>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𝒛</m:t>
                        </m:r>
                      </m:e>
                      <m:sub>
                        <m:r>
                          <a:rPr lang="en-US" sz="2000" b="1" i="1">
                            <a:latin typeface="Cambria Math" panose="02040503050406030204" pitchFamily="18" charset="0"/>
                            <a:ea typeface="Cambria Math" panose="02040503050406030204" pitchFamily="18" charset="0"/>
                          </a:rPr>
                          <m:t>𝜶</m:t>
                        </m:r>
                      </m:sub>
                    </m:sSub>
                  </m:oMath>
                </a14:m>
                <a:endParaRPr lang="en-US" sz="2000" b="1" dirty="0"/>
              </a:p>
              <a:p>
                <a:pPr>
                  <a:spcAft>
                    <a:spcPts val="0"/>
                  </a:spcAft>
                </a:pP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𝑧</m:t>
                        </m:r>
                      </m:e>
                      <m:sub>
                        <m:r>
                          <a:rPr lang="en-US" sz="2000" b="0" i="1">
                            <a:latin typeface="Cambria Math" panose="02040503050406030204" pitchFamily="18" charset="0"/>
                            <a:ea typeface="Cambria Math" panose="02040503050406030204" pitchFamily="18" charset="0"/>
                          </a:rPr>
                          <m:t>𝛼</m:t>
                        </m:r>
                      </m:sub>
                    </m:sSub>
                  </m:oMath>
                </a14:m>
                <a:r>
                  <a:rPr lang="en-US" sz="2000" dirty="0"/>
                  <a:t> is such that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𝑧</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r>
                              <a:rPr lang="en-US" sz="2000" i="1">
                                <a:latin typeface="Cambria Math" panose="02040503050406030204" pitchFamily="18" charset="0"/>
                                <a:ea typeface="Cambria Math" panose="02040503050406030204" pitchFamily="18" charset="0"/>
                              </a:rPr>
                              <m:t>𝛼</m:t>
                            </m:r>
                          </m:sub>
                        </m:sSub>
                      </m:e>
                    </m:d>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𝛼</m:t>
                    </m:r>
                  </m:oMath>
                </a14:m>
                <a:r>
                  <a:rPr lang="en-US" sz="2000" dirty="0"/>
                  <a:t>. In the Hilltop</a:t>
                </a:r>
              </a:p>
              <a:p>
                <a:pPr>
                  <a:spcBef>
                    <a:spcPts val="0"/>
                  </a:spcBef>
                  <a:spcAft>
                    <a:spcPts val="0"/>
                  </a:spcAft>
                </a:pPr>
                <a:r>
                  <a:rPr lang="en-US" sz="2000" dirty="0"/>
                  <a:t>Coffee case, when </a:t>
                </a:r>
                <a14:m>
                  <m:oMath xmlns:m="http://schemas.openxmlformats.org/officeDocument/2006/math">
                    <m:r>
                      <a:rPr lang="en-US" sz="200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=0.01</m:t>
                    </m:r>
                  </m:oMath>
                </a14:m>
                <a:r>
                  <a:rPr lang="en-US" sz="2000" dirty="0"/>
                  <a: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r>
                          <a:rPr lang="en-US" sz="2000" i="1">
                            <a:latin typeface="Cambria Math" panose="02040503050406030204" pitchFamily="18" charset="0"/>
                            <a:ea typeface="Cambria Math" panose="02040503050406030204" pitchFamily="18" charset="0"/>
                          </a:rPr>
                          <m:t>𝛼</m:t>
                        </m:r>
                      </m:sub>
                    </m:sSub>
                    <m:r>
                      <a:rPr lang="en-US" sz="2000" b="0" i="1" smtClean="0">
                        <a:latin typeface="Cambria Math" panose="02040503050406030204" pitchFamily="18" charset="0"/>
                        <a:ea typeface="Cambria Math" panose="02040503050406030204" pitchFamily="18" charset="0"/>
                      </a:rPr>
                      <m:t>=−2.33</m:t>
                    </m:r>
                  </m:oMath>
                </a14:m>
                <a:r>
                  <a:rPr lang="en-US" sz="2000" dirty="0"/>
                  <a:t>.</a:t>
                </a:r>
              </a:p>
              <a:p>
                <a:pPr>
                  <a:spcAft>
                    <a:spcPts val="600"/>
                  </a:spcAft>
                </a:pPr>
                <a:r>
                  <a:rPr lang="en-US" sz="2000" dirty="0"/>
                  <a:t>The rejection rule for a lower tail test becomes</a:t>
                </a:r>
              </a:p>
              <a:p>
                <a:pPr marL="914400">
                  <a:spcAft>
                    <a:spcPts val="0"/>
                  </a:spcAft>
                </a:pPr>
                <a14:m>
                  <m:oMathPara xmlns:m="http://schemas.openxmlformats.org/officeDocument/2006/math">
                    <m:oMathParaPr>
                      <m:jc m:val="left"/>
                    </m:oMathParaPr>
                    <m:oMath xmlns:m="http://schemas.openxmlformats.org/officeDocument/2006/math">
                      <m:r>
                        <m:rPr>
                          <m:nor/>
                        </m:rPr>
                        <a:rPr lang="en-US" sz="2000" dirty="0"/>
                        <m:t>Reject</m:t>
                      </m:r>
                      <m:r>
                        <m:rPr>
                          <m:nor/>
                        </m:rPr>
                        <a:rPr lang="en-US" sz="2000" dirty="0"/>
                        <m:t> </m:t>
                      </m:r>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𝐻</m:t>
                          </m:r>
                        </m:e>
                        <m:sub>
                          <m:r>
                            <a:rPr lang="en-US" sz="2000" b="0" i="1">
                              <a:latin typeface="Cambria Math" panose="02040503050406030204" pitchFamily="18" charset="0"/>
                              <a:cs typeface="Arial" panose="020B0604020202020204" pitchFamily="34" charset="0"/>
                            </a:rPr>
                            <m:t>0</m:t>
                          </m:r>
                        </m:sub>
                      </m:sSub>
                      <m:r>
                        <m:rPr>
                          <m:nor/>
                        </m:rPr>
                        <a:rPr lang="en-US" sz="2000" dirty="0"/>
                        <m:t> </m:t>
                      </m:r>
                      <m:r>
                        <m:rPr>
                          <m:nor/>
                        </m:rPr>
                        <a:rPr lang="en-US" sz="2000" dirty="0"/>
                        <m:t>if</m:t>
                      </m:r>
                      <m:r>
                        <m:rPr>
                          <m:nor/>
                        </m:rPr>
                        <a:rPr lang="en-US" sz="2000" dirty="0"/>
                        <m:t> </m:t>
                      </m:r>
                      <m:r>
                        <a:rPr lang="en-US" sz="2000" b="0" i="1">
                          <a:latin typeface="Cambria Math" panose="02040503050406030204" pitchFamily="18" charset="0"/>
                        </a:rPr>
                        <m:t>𝑧</m:t>
                      </m:r>
                      <m:r>
                        <a:rPr lang="en-US" sz="2000" b="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−2.33</m:t>
                      </m:r>
                    </m:oMath>
                  </m:oMathPara>
                </a14:m>
                <a:endParaRPr lang="en-US" sz="2000" dirty="0"/>
              </a:p>
              <a:p>
                <a:pPr>
                  <a:spcAft>
                    <a:spcPts val="600"/>
                  </a:spcAft>
                </a:pPr>
                <a:r>
                  <a:rPr lang="en-US" sz="2000" dirty="0"/>
                  <a:t>Because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=−2.67</m:t>
                    </m:r>
                  </m:oMath>
                </a14:m>
                <a:r>
                  <a:rPr lang="en-US" sz="2000" dirty="0"/>
                  <a:t>, we reject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𝐻</m:t>
                        </m:r>
                      </m:e>
                      <m:sub>
                        <m:r>
                          <a:rPr lang="en-US" sz="2000" b="0" i="1">
                            <a:latin typeface="Cambria Math" panose="02040503050406030204" pitchFamily="18" charset="0"/>
                            <a:cs typeface="Arial" panose="020B0604020202020204" pitchFamily="34" charset="0"/>
                          </a:rPr>
                          <m:t>0</m:t>
                        </m:r>
                      </m:sub>
                    </m:sSub>
                  </m:oMath>
                </a14:m>
                <a:r>
                  <a:rPr lang="en-US" sz="2000" dirty="0"/>
                  <a:t>.</a:t>
                </a:r>
              </a:p>
            </p:txBody>
          </p:sp>
        </mc:Choice>
        <mc:Fallback xmlns="">
          <p:sp>
            <p:nvSpPr>
              <p:cNvPr id="3" name="Text Placeholder 2">
                <a:extLst>
                  <a:ext uri="{FF2B5EF4-FFF2-40B4-BE49-F238E27FC236}">
                    <a16:creationId xmlns:a16="http://schemas.microsoft.com/office/drawing/2014/main" id="{71841A2A-7DB6-89B6-5445-6929A6F3676B}"/>
                  </a:ext>
                </a:extLst>
              </p:cNvPr>
              <p:cNvSpPr>
                <a:spLocks noGrp="1" noRot="1" noChangeAspect="1" noMove="1" noResize="1" noEditPoints="1" noAdjustHandles="1" noChangeArrowheads="1" noChangeShapeType="1" noTextEdit="1"/>
              </p:cNvSpPr>
              <p:nvPr>
                <p:ph type="body" sz="quarter" idx="15"/>
              </p:nvPr>
            </p:nvSpPr>
            <p:spPr>
              <a:xfrm>
                <a:off x="743576" y="1387371"/>
                <a:ext cx="10334207" cy="4437993"/>
              </a:xfrm>
              <a:blipFill>
                <a:blip r:embed="rId2"/>
                <a:stretch>
                  <a:fillRect l="-1534" t="-1786" b="-1374"/>
                </a:stretch>
              </a:blipFill>
            </p:spPr>
            <p:txBody>
              <a:bodyPr/>
              <a:lstStyle/>
              <a:p>
                <a:r>
                  <a:rPr lang="en-US">
                    <a:noFill/>
                  </a:rPr>
                  <a:t> </a:t>
                </a:r>
              </a:p>
            </p:txBody>
          </p:sp>
        </mc:Fallback>
      </mc:AlternateContent>
      <p:pic>
        <p:nvPicPr>
          <p:cNvPr id="12" name="Picture Placeholder 7" descr="A graph plots the sampling distribution of z. The horizontal axis is labeled “z” and lists 0. A bell-shaped curve, labeled “Sampling distribution of z = x-bar minus mu_0/sigma/sqrt(n),” peaks at z = 0. The region under the curve to the left of z = negative 2.33 is shaded dark and labeled “alpha = 0.01.”&#10;">
            <a:extLst>
              <a:ext uri="{FF2B5EF4-FFF2-40B4-BE49-F238E27FC236}">
                <a16:creationId xmlns:a16="http://schemas.microsoft.com/office/drawing/2014/main" id="{8E6EB36F-DAC8-E407-4251-D30F9D4D72A1}"/>
              </a:ext>
            </a:extLst>
          </p:cNvPr>
          <p:cNvPicPr>
            <a:picLocks noGrp="1" noChangeAspect="1"/>
          </p:cNvPicPr>
          <p:nvPr>
            <p:ph type="pic" sz="quarter" idx="16"/>
          </p:nvPr>
        </p:nvPicPr>
        <p:blipFill rotWithShape="1">
          <a:blip r:embed="rId3"/>
          <a:srcRect l="27" r="27"/>
          <a:stretch/>
        </p:blipFill>
        <p:spPr>
          <a:xfrm>
            <a:off x="5950094" y="3101057"/>
            <a:ext cx="5047473" cy="2692770"/>
          </a:xfrm>
        </p:spPr>
      </p:pic>
    </p:spTree>
    <p:extLst>
      <p:ext uri="{BB962C8B-B14F-4D97-AF65-F5344CB8AC3E}">
        <p14:creationId xmlns:p14="http://schemas.microsoft.com/office/powerpoint/2010/main" val="2444581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dirty="0"/>
              <a:t>9.3 Two-Tailed Test About a Population Mean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93193" y="1150143"/>
                <a:ext cx="10515599" cy="4879181"/>
              </a:xfrm>
            </p:spPr>
            <p:txBody>
              <a:bodyPr>
                <a:noAutofit/>
              </a:bodyPr>
              <a:lstStyle/>
              <a:p>
                <a:pPr>
                  <a:lnSpc>
                    <a:spcPct val="100000"/>
                  </a:lnSpc>
                  <a:spcBef>
                    <a:spcPts val="600"/>
                  </a:spcBef>
                  <a:spcAft>
                    <a:spcPts val="0"/>
                  </a:spcAft>
                </a:pPr>
                <a:r>
                  <a:rPr lang="en-US" sz="2000" dirty="0"/>
                  <a:t>A </a:t>
                </a:r>
                <a:r>
                  <a:rPr lang="en-US" sz="2000" b="1" dirty="0"/>
                  <a:t>two-tailed test </a:t>
                </a:r>
                <a:r>
                  <a:rPr lang="en-US" sz="2000" dirty="0"/>
                  <a:t>about a population mean takes the following form.</a:t>
                </a:r>
              </a:p>
              <a:p>
                <a:pPr marL="914400">
                  <a:lnSpc>
                    <a:spcPct val="100000"/>
                  </a:lnSpc>
                  <a:spcBef>
                    <a:spcPts val="600"/>
                  </a:spcBef>
                  <a:spcAft>
                    <a:spcPts val="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oMath>
                </a14:m>
                <a:r>
                  <a:rPr lang="en-US" sz="2000" b="0" dirty="0">
                    <a:solidFill>
                      <a:srgbClr val="000000"/>
                    </a:solidFill>
                    <a:ea typeface="Cambria Math" panose="02040503050406030204" pitchFamily="18" charset="0"/>
                    <a:cs typeface="Arial" panose="020B0604020202020204" pitchFamily="34" charset="0"/>
                  </a:rPr>
                  <a:t> </a:t>
                </a:r>
              </a:p>
              <a:p>
                <a:pPr marL="914400">
                  <a:lnSpc>
                    <a:spcPct val="100000"/>
                  </a:lnSpc>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oMath>
                </a14:m>
                <a:r>
                  <a:rPr lang="en-US" sz="2000" dirty="0">
                    <a:solidFill>
                      <a:srgbClr val="000000"/>
                    </a:solidFill>
                    <a:cs typeface="Arial" panose="020B0604020202020204" pitchFamily="34" charset="0"/>
                  </a:rPr>
                  <a:t> </a:t>
                </a:r>
              </a:p>
              <a:p>
                <a:pPr>
                  <a:lnSpc>
                    <a:spcPct val="100000"/>
                  </a:lnSpc>
                  <a:spcBef>
                    <a:spcPts val="1200"/>
                  </a:spcBef>
                  <a:spcAft>
                    <a:spcPts val="0"/>
                  </a:spcAft>
                </a:pPr>
                <a:r>
                  <a:rPr lang="en-US" sz="2000" dirty="0"/>
                  <a:t>DATAfile </a:t>
                </a:r>
                <a:r>
                  <a:rPr lang="en-US" sz="2000" i="1" dirty="0"/>
                  <a:t>golftest</a:t>
                </a:r>
                <a:endParaRPr lang="en-US" sz="2000" dirty="0"/>
              </a:p>
              <a:p>
                <a:pPr>
                  <a:lnSpc>
                    <a:spcPct val="100000"/>
                  </a:lnSpc>
                  <a:spcBef>
                    <a:spcPts val="600"/>
                  </a:spcBef>
                  <a:spcAft>
                    <a:spcPts val="0"/>
                  </a:spcAft>
                </a:pPr>
                <a:r>
                  <a:rPr lang="en-US" sz="2000" dirty="0"/>
                  <a:t>As an example, consider </a:t>
                </a:r>
                <a:r>
                  <a:rPr lang="en-US" sz="2000" dirty="0" err="1"/>
                  <a:t>MaxFlight’s</a:t>
                </a:r>
                <a:r>
                  <a:rPr lang="en-US" sz="2000" dirty="0"/>
                  <a:t> need of testing its manufacturing process to ensure it produces golf balls with a mean driving distance of 295 yards.</a:t>
                </a:r>
              </a:p>
              <a:p>
                <a:pPr>
                  <a:lnSpc>
                    <a:spcPct val="100000"/>
                  </a:lnSpc>
                  <a:spcBef>
                    <a:spcPts val="600"/>
                  </a:spcBef>
                  <a:spcAft>
                    <a:spcPts val="0"/>
                  </a:spcAft>
                </a:pPr>
                <a:r>
                  <a:rPr lang="en-US" sz="2000" dirty="0"/>
                  <a:t>If the golf balls drive less than 295 yards, </a:t>
                </a:r>
                <a:r>
                  <a:rPr lang="en-US" sz="2000" dirty="0" err="1"/>
                  <a:t>MaxFlight</a:t>
                </a:r>
                <a:r>
                  <a:rPr lang="en-US" sz="2000" dirty="0"/>
                  <a:t> will eventually lose sales, and if the golf balls’ driving distance exceeds 295 yards, they may be rejected by the USGA. </a:t>
                </a:r>
              </a:p>
              <a:p>
                <a:pPr>
                  <a:lnSpc>
                    <a:spcPct val="100000"/>
                  </a:lnSpc>
                  <a:spcBef>
                    <a:spcPts val="600"/>
                  </a:spcBef>
                  <a:spcAft>
                    <a:spcPts val="0"/>
                  </a:spcAft>
                </a:pPr>
                <a:r>
                  <a:rPr lang="en-US" sz="2000" dirty="0"/>
                  <a:t>Thus, we assume that the mean driving distance is as specified by </a:t>
                </a:r>
                <a:r>
                  <a:rPr lang="en-US" sz="2000" dirty="0" err="1"/>
                  <a:t>MaxFlight</a:t>
                </a:r>
                <a:r>
                  <a:rPr lang="en-US" sz="2000" dirty="0"/>
                  <a:t>, and challenge it in the alternative hypothesis, by writing:</a:t>
                </a:r>
              </a:p>
              <a:p>
                <a:pPr marL="914400">
                  <a:lnSpc>
                    <a:spcPct val="100000"/>
                  </a:lnSpc>
                  <a:spcBef>
                    <a:spcPts val="600"/>
                  </a:spcBef>
                  <a:spcAft>
                    <a:spcPts val="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=295</m:t>
                    </m:r>
                  </m:oMath>
                </a14:m>
                <a:r>
                  <a:rPr lang="en-US" sz="2000" b="0" dirty="0">
                    <a:solidFill>
                      <a:srgbClr val="000000"/>
                    </a:solidFill>
                    <a:ea typeface="Cambria Math" panose="02040503050406030204" pitchFamily="18" charset="0"/>
                    <a:cs typeface="Arial" panose="020B0604020202020204" pitchFamily="34" charset="0"/>
                  </a:rPr>
                  <a:t> </a:t>
                </a:r>
              </a:p>
              <a:p>
                <a:pPr marL="914400">
                  <a:lnSpc>
                    <a:spcPct val="100000"/>
                  </a:lnSpc>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≠295</m:t>
                    </m:r>
                  </m:oMath>
                </a14:m>
                <a:r>
                  <a:rPr lang="en-US" sz="2000" dirty="0">
                    <a:solidFill>
                      <a:srgbClr val="000000"/>
                    </a:solidFill>
                    <a:cs typeface="Arial" panose="020B0604020202020204" pitchFamily="34" charset="0"/>
                  </a:rPr>
                  <a:t> </a:t>
                </a:r>
              </a:p>
              <a:p>
                <a:pPr>
                  <a:lnSpc>
                    <a:spcPct val="100000"/>
                  </a:lnSpc>
                  <a:spcBef>
                    <a:spcPts val="600"/>
                  </a:spcBef>
                  <a:spcAft>
                    <a:spcPts val="0"/>
                  </a:spcAft>
                </a:pPr>
                <a:r>
                  <a:rPr lang="en-US" sz="2000" dirty="0">
                    <a:solidFill>
                      <a:srgbClr val="000000"/>
                    </a:solidFill>
                    <a:cs typeface="Arial" panose="020B0604020202020204" pitchFamily="34" charset="0"/>
                  </a:rPr>
                  <a:t>The quality control team selected </a:t>
                </a:r>
                <a14:m>
                  <m:oMath xmlns:m="http://schemas.openxmlformats.org/officeDocument/2006/math">
                    <m:r>
                      <a:rPr lang="en-US" sz="200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 as the level of significance for the test.</a:t>
                </a:r>
                <a:endParaRPr lang="en-US" sz="2000" dirty="0"/>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93193" y="1150143"/>
                <a:ext cx="10515599" cy="4879181"/>
              </a:xfrm>
              <a:blipFill>
                <a:blip r:embed="rId2"/>
                <a:stretch>
                  <a:fillRect l="-1449" t="-1500" r="-522" b="-3250"/>
                </a:stretch>
              </a:blipFill>
            </p:spPr>
            <p:txBody>
              <a:bodyPr/>
              <a:lstStyle/>
              <a:p>
                <a:r>
                  <a:rPr lang="en-US">
                    <a:noFill/>
                  </a:rPr>
                  <a:t> </a:t>
                </a:r>
              </a:p>
            </p:txBody>
          </p:sp>
        </mc:Fallback>
      </mc:AlternateContent>
    </p:spTree>
    <p:extLst>
      <p:ext uri="{BB962C8B-B14F-4D97-AF65-F5344CB8AC3E}">
        <p14:creationId xmlns:p14="http://schemas.microsoft.com/office/powerpoint/2010/main" val="4165546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F19D-3059-BBF4-942C-2EDB235298A6}"/>
              </a:ext>
            </a:extLst>
          </p:cNvPr>
          <p:cNvSpPr>
            <a:spLocks noGrp="1"/>
          </p:cNvSpPr>
          <p:nvPr>
            <p:ph type="title"/>
          </p:nvPr>
        </p:nvSpPr>
        <p:spPr/>
        <p:txBody>
          <a:bodyPr/>
          <a:lstStyle/>
          <a:p>
            <a:r>
              <a:rPr lang="en-US" sz="3200" dirty="0"/>
              <a:t>9.3 Test Statistic for the </a:t>
            </a:r>
            <a:r>
              <a:rPr lang="en-US" sz="3200" dirty="0" err="1"/>
              <a:t>MaxFlight</a:t>
            </a:r>
            <a:r>
              <a:rPr lang="en-US" sz="3200" dirty="0"/>
              <a:t> Example</a:t>
            </a:r>
            <a:br>
              <a:rPr lang="en-US" sz="3200" dirty="0"/>
            </a:br>
            <a:r>
              <a:rPr lang="en-US" sz="3200" dirty="0"/>
              <a:t>(Population Mean: </a:t>
            </a:r>
            <a:r>
              <a:rPr lang="en-US" sz="3200" i="1" dirty="0">
                <a:latin typeface="Symbol" panose="05050102010706020507" pitchFamily="18" charset="2"/>
              </a:rPr>
              <a:t>s</a:t>
            </a:r>
            <a:r>
              <a:rPr lang="en-US" sz="3200" dirty="0"/>
              <a:t> Known)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1841A2A-7DB6-89B6-5445-6929A6F3676B}"/>
                  </a:ext>
                </a:extLst>
              </p:cNvPr>
              <p:cNvSpPr>
                <a:spLocks noGrp="1"/>
              </p:cNvSpPr>
              <p:nvPr>
                <p:ph type="body" sz="quarter" idx="15"/>
              </p:nvPr>
            </p:nvSpPr>
            <p:spPr>
              <a:xfrm>
                <a:off x="743577" y="1537135"/>
                <a:ext cx="10610224" cy="2041637"/>
              </a:xfrm>
            </p:spPr>
            <p:txBody>
              <a:bodyPr/>
              <a:lstStyle/>
              <a:p>
                <a:r>
                  <a:rPr lang="en-US" sz="2000" dirty="0"/>
                  <a:t>Suppose a sample of </a:t>
                </a:r>
                <a14:m>
                  <m:oMath xmlns:m="http://schemas.openxmlformats.org/officeDocument/2006/math">
                    <m:r>
                      <a:rPr lang="en-US" sz="2000" b="0" i="1" dirty="0" smtClean="0">
                        <a:latin typeface="Cambria Math" panose="02040503050406030204" pitchFamily="18" charset="0"/>
                      </a:rPr>
                      <m:t>𝑛</m:t>
                    </m:r>
                    <m:r>
                      <a:rPr lang="en-US" sz="2000" b="0" i="0" dirty="0" smtClean="0">
                        <a:latin typeface="Cambria Math" panose="02040503050406030204" pitchFamily="18" charset="0"/>
                      </a:rPr>
                      <m:t>=</m:t>
                    </m:r>
                    <m:r>
                      <a:rPr lang="en-US" sz="2000" b="0" i="1" dirty="0" smtClean="0">
                        <a:latin typeface="Cambria Math" panose="02040503050406030204" pitchFamily="18" charset="0"/>
                      </a:rPr>
                      <m:t>50</m:t>
                    </m:r>
                  </m:oMath>
                </a14:m>
                <a:r>
                  <a:rPr lang="en-US" sz="2000" dirty="0"/>
                  <a:t> golf balls is selected, and the sample mean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r>
                      <a:rPr lang="en-US" sz="2000" b="0" i="1" dirty="0" smtClean="0">
                        <a:latin typeface="Cambria Math" panose="02040503050406030204" pitchFamily="18" charset="0"/>
                      </a:rPr>
                      <m:t>=297.6</m:t>
                    </m:r>
                  </m:oMath>
                </a14:m>
                <a:r>
                  <a:rPr lang="en-US" sz="2000" dirty="0"/>
                  <a:t> is computed as an estimate of the population mean </a:t>
                </a:r>
                <a:r>
                  <a:rPr lang="en-US" sz="2000" i="1" dirty="0">
                    <a:latin typeface="Symbol" panose="05050102010706020507" pitchFamily="18" charset="2"/>
                  </a:rPr>
                  <a:t>m</a:t>
                </a:r>
                <a:r>
                  <a:rPr lang="en-US" sz="2000" dirty="0"/>
                  <a:t>. </a:t>
                </a:r>
              </a:p>
              <a:p>
                <a:r>
                  <a:rPr lang="en-US" sz="2000" dirty="0"/>
                  <a:t>Data from previous tests conducted when the process was known to be in adjustment show that the population standard deviation can be assumed known with a value of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𝜎</m:t>
                    </m:r>
                    <m:r>
                      <a:rPr lang="en-US" sz="2000" i="1" dirty="0" smtClean="0">
                        <a:latin typeface="Cambria Math" panose="02040503050406030204" pitchFamily="18" charset="0"/>
                      </a:rPr>
                      <m:t>=</m:t>
                    </m:r>
                    <m:r>
                      <a:rPr lang="en-US" sz="2000" b="0" i="1" dirty="0" smtClean="0">
                        <a:latin typeface="Cambria Math" panose="02040503050406030204" pitchFamily="18" charset="0"/>
                      </a:rPr>
                      <m:t>12</m:t>
                    </m:r>
                  </m:oMath>
                </a14:m>
                <a:r>
                  <a:rPr lang="en-US" sz="2000" dirty="0"/>
                  <a:t>.</a:t>
                </a:r>
              </a:p>
              <a:p>
                <a:r>
                  <a:rPr lang="en-US" sz="2000" dirty="0"/>
                  <a:t>We can write the sampling distribution of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oMath>
                </a14:m>
                <a:r>
                  <a:rPr lang="en-US" sz="2000" dirty="0"/>
                  <a:t> as normally distributed, centered around the hypothesized mean, </a:t>
                </a:r>
                <a14:m>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𝜇</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295</m:t>
                    </m:r>
                  </m:oMath>
                </a14:m>
                <a:r>
                  <a:rPr lang="en-US" sz="2000" dirty="0"/>
                  <a:t>, and with standard error, </a:t>
                </a:r>
                <a14:m>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𝜎</m:t>
                        </m:r>
                      </m:e>
                      <m:sub>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sub>
                    </m:sSub>
                    <m:r>
                      <a:rPr lang="en-US" sz="2000" b="0" i="1" smtClean="0">
                        <a:latin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𝑛</m:t>
                            </m:r>
                          </m:e>
                        </m:rad>
                      </m:den>
                    </m:f>
                    <m:r>
                      <a:rPr lang="en-US" sz="2000" b="0" i="1" smtClean="0">
                        <a:latin typeface="Cambria Math" panose="02040503050406030204" pitchFamily="18" charset="0"/>
                        <a:ea typeface="Cambria Math" panose="02040503050406030204" pitchFamily="18" charset="0"/>
                      </a:rPr>
                      <m:t>=</m:t>
                    </m:r>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12</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50</m:t>
                            </m:r>
                          </m:e>
                        </m:rad>
                      </m:den>
                    </m:f>
                    <m:r>
                      <a:rPr lang="en-US" sz="2000" b="0" i="1" smtClean="0">
                        <a:latin typeface="Cambria Math" panose="02040503050406030204" pitchFamily="18" charset="0"/>
                        <a:ea typeface="Cambria Math" panose="02040503050406030204" pitchFamily="18" charset="0"/>
                      </a:rPr>
                      <m:t>=1.7</m:t>
                    </m:r>
                  </m:oMath>
                </a14:m>
                <a:r>
                  <a:rPr lang="en-US" sz="2000" dirty="0"/>
                  <a:t>.</a:t>
                </a:r>
              </a:p>
            </p:txBody>
          </p:sp>
        </mc:Choice>
        <mc:Fallback xmlns="">
          <p:sp>
            <p:nvSpPr>
              <p:cNvPr id="3" name="Text Placeholder 2">
                <a:extLst>
                  <a:ext uri="{FF2B5EF4-FFF2-40B4-BE49-F238E27FC236}">
                    <a16:creationId xmlns:a16="http://schemas.microsoft.com/office/drawing/2014/main" id="{71841A2A-7DB6-89B6-5445-6929A6F3676B}"/>
                  </a:ext>
                </a:extLst>
              </p:cNvPr>
              <p:cNvSpPr>
                <a:spLocks noGrp="1" noRot="1" noChangeAspect="1" noMove="1" noResize="1" noEditPoints="1" noAdjustHandles="1" noChangeArrowheads="1" noChangeShapeType="1" noTextEdit="1"/>
              </p:cNvSpPr>
              <p:nvPr>
                <p:ph type="body" sz="quarter" idx="15"/>
              </p:nvPr>
            </p:nvSpPr>
            <p:spPr>
              <a:xfrm>
                <a:off x="743577" y="1537135"/>
                <a:ext cx="10610224" cy="2041637"/>
              </a:xfrm>
              <a:blipFill>
                <a:blip r:embed="rId2"/>
                <a:stretch>
                  <a:fillRect l="-1493" t="-3582" b="-36716"/>
                </a:stretch>
              </a:blipFill>
            </p:spPr>
            <p:txBody>
              <a:bodyPr/>
              <a:lstStyle/>
              <a:p>
                <a:r>
                  <a:rPr lang="en-US">
                    <a:noFill/>
                  </a:rPr>
                  <a:t> </a:t>
                </a:r>
              </a:p>
            </p:txBody>
          </p:sp>
        </mc:Fallback>
      </mc:AlternateContent>
      <p:pic>
        <p:nvPicPr>
          <p:cNvPr id="8" name="Picture Placeholder 7" descr="A graph plots the sampling distribution of x-bar. The horizontal axis is labeled “x-bar” and lists mu_0 = 295. A bell-shaped curve peaks at mu_0 = 295. An equation next to the curve is as follows: Sigma_x-bar = sigma/sqrt(n) = 12/sqrt(50) = 1.7.&#10;">
            <a:extLst>
              <a:ext uri="{FF2B5EF4-FFF2-40B4-BE49-F238E27FC236}">
                <a16:creationId xmlns:a16="http://schemas.microsoft.com/office/drawing/2014/main" id="{B1843F7F-38D0-C162-25A3-35444444B0F0}"/>
              </a:ext>
            </a:extLst>
          </p:cNvPr>
          <p:cNvPicPr>
            <a:picLocks noGrp="1" noChangeAspect="1"/>
          </p:cNvPicPr>
          <p:nvPr>
            <p:ph type="pic" sz="quarter" idx="16"/>
          </p:nvPr>
        </p:nvPicPr>
        <p:blipFill rotWithShape="1">
          <a:blip r:embed="rId3"/>
          <a:srcRect t="46" b="46"/>
          <a:stretch/>
        </p:blipFill>
        <p:spPr>
          <a:xfrm>
            <a:off x="742950" y="3673754"/>
            <a:ext cx="4233863" cy="2295525"/>
          </a:xfrm>
        </p:spPr>
      </p:pic>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0EDBF92-5123-D08F-DF47-A28D180C9B43}"/>
                  </a:ext>
                </a:extLst>
              </p:cNvPr>
              <p:cNvSpPr>
                <a:spLocks noGrp="1"/>
              </p:cNvSpPr>
              <p:nvPr>
                <p:ph type="body" sz="quarter" idx="17"/>
              </p:nvPr>
            </p:nvSpPr>
            <p:spPr>
              <a:xfrm>
                <a:off x="5139558" y="3649720"/>
                <a:ext cx="6214241" cy="2319559"/>
              </a:xfrm>
            </p:spPr>
            <p:txBody>
              <a:bodyPr/>
              <a:lstStyle/>
              <a:p>
                <a:pPr>
                  <a:spcAft>
                    <a:spcPts val="600"/>
                  </a:spcAft>
                </a:pPr>
                <a:r>
                  <a:rPr lang="en-US" sz="2000" dirty="0"/>
                  <a:t>We write the test statistic</a:t>
                </a:r>
                <a:r>
                  <a:rPr lang="en-US" sz="2000" b="1" dirty="0"/>
                  <a:t> </a:t>
                </a:r>
                <a:r>
                  <a:rPr lang="en-US" sz="2000" dirty="0"/>
                  <a:t>of a hypothesis test about a population mean: </a:t>
                </a:r>
                <a:r>
                  <a:rPr lang="en-US" sz="2000" i="1" dirty="0">
                    <a:latin typeface="Symbol" panose="05050102010706020507" pitchFamily="18" charset="2"/>
                  </a:rPr>
                  <a:t>s</a:t>
                </a:r>
                <a:r>
                  <a:rPr lang="en-US" sz="2000" dirty="0"/>
                  <a:t> known, using the standard normal random variable, </a:t>
                </a:r>
                <a14:m>
                  <m:oMath xmlns:m="http://schemas.openxmlformats.org/officeDocument/2006/math">
                    <m:r>
                      <a:rPr lang="en-US" sz="2000" i="1" dirty="0" smtClean="0">
                        <a:latin typeface="Cambria Math" panose="02040503050406030204" pitchFamily="18" charset="0"/>
                      </a:rPr>
                      <m:t>𝑧</m:t>
                    </m:r>
                  </m:oMath>
                </a14:m>
                <a:r>
                  <a:rPr lang="en-US" sz="2000" i="1" dirty="0"/>
                  <a:t>, as:</a:t>
                </a:r>
              </a:p>
              <a:p>
                <a:pPr marL="914400"/>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0</m:t>
                              </m:r>
                            </m:sub>
                          </m:sSub>
                        </m:num>
                        <m:den>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𝜎</m:t>
                              </m:r>
                            </m:e>
                            <m:sub>
                              <m:acc>
                                <m:accPr>
                                  <m:chr m:val="̅"/>
                                  <m:ctrlPr>
                                    <a:rPr lang="en-US" sz="2000" i="1">
                                      <a:latin typeface="Cambria Math" panose="02040503050406030204" pitchFamily="18" charset="0"/>
                                    </a:rPr>
                                  </m:ctrlPr>
                                </m:accPr>
                                <m:e>
                                  <m:r>
                                    <a:rPr lang="en-US" sz="2000" b="0" i="1">
                                      <a:latin typeface="Cambria Math" panose="02040503050406030204" pitchFamily="18" charset="0"/>
                                    </a:rPr>
                                    <m:t>𝑥</m:t>
                                  </m:r>
                                </m:e>
                              </m:acc>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297.6−295</m:t>
                          </m:r>
                        </m:num>
                        <m:den>
                          <m:r>
                            <a:rPr lang="en-US" sz="2000" b="0" i="1" smtClean="0">
                              <a:latin typeface="Cambria Math" panose="02040503050406030204" pitchFamily="18" charset="0"/>
                            </a:rPr>
                            <m:t>1.7</m:t>
                          </m:r>
                        </m:den>
                      </m:f>
                      <m:r>
                        <a:rPr lang="en-US" sz="2000" b="0" i="1" smtClean="0">
                          <a:latin typeface="Cambria Math" panose="02040503050406030204" pitchFamily="18" charset="0"/>
                        </a:rPr>
                        <m:t>=1.53</m:t>
                      </m:r>
                    </m:oMath>
                  </m:oMathPara>
                </a14:m>
                <a:endParaRPr lang="en-US" sz="2000" dirty="0"/>
              </a:p>
            </p:txBody>
          </p:sp>
        </mc:Choice>
        <mc:Fallback xmlns="">
          <p:sp>
            <p:nvSpPr>
              <p:cNvPr id="5" name="Text Placeholder 4">
                <a:extLst>
                  <a:ext uri="{FF2B5EF4-FFF2-40B4-BE49-F238E27FC236}">
                    <a16:creationId xmlns:a16="http://schemas.microsoft.com/office/drawing/2014/main" id="{40EDBF92-5123-D08F-DF47-A28D180C9B43}"/>
                  </a:ext>
                </a:extLst>
              </p:cNvPr>
              <p:cNvSpPr>
                <a:spLocks noGrp="1" noRot="1" noChangeAspect="1" noMove="1" noResize="1" noEditPoints="1" noAdjustHandles="1" noChangeArrowheads="1" noChangeShapeType="1" noTextEdit="1"/>
              </p:cNvSpPr>
              <p:nvPr>
                <p:ph type="body" sz="quarter" idx="17"/>
              </p:nvPr>
            </p:nvSpPr>
            <p:spPr>
              <a:xfrm>
                <a:off x="5139558" y="3649720"/>
                <a:ext cx="6214241" cy="2319559"/>
              </a:xfrm>
              <a:blipFill>
                <a:blip r:embed="rId4"/>
                <a:stretch>
                  <a:fillRect l="-2453" t="-3158" r="-1079"/>
                </a:stretch>
              </a:blipFill>
            </p:spPr>
            <p:txBody>
              <a:bodyPr/>
              <a:lstStyle/>
              <a:p>
                <a:r>
                  <a:rPr lang="en-US">
                    <a:noFill/>
                  </a:rPr>
                  <a:t> </a:t>
                </a:r>
              </a:p>
            </p:txBody>
          </p:sp>
        </mc:Fallback>
      </mc:AlternateContent>
    </p:spTree>
    <p:extLst>
      <p:ext uri="{BB962C8B-B14F-4D97-AF65-F5344CB8AC3E}">
        <p14:creationId xmlns:p14="http://schemas.microsoft.com/office/powerpoint/2010/main" val="202967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38315-4EFC-6969-4869-CFAD5721A9A1}"/>
              </a:ext>
            </a:extLst>
          </p:cNvPr>
          <p:cNvSpPr>
            <a:spLocks noGrp="1"/>
          </p:cNvSpPr>
          <p:nvPr>
            <p:ph type="title"/>
          </p:nvPr>
        </p:nvSpPr>
        <p:spPr>
          <a:xfrm>
            <a:off x="425670" y="365125"/>
            <a:ext cx="11290742" cy="672105"/>
          </a:xfrm>
        </p:spPr>
        <p:txBody>
          <a:bodyPr/>
          <a:lstStyle/>
          <a:p>
            <a:r>
              <a:rPr lang="en-US" dirty="0"/>
              <a:t>9.3 </a:t>
            </a:r>
            <a:r>
              <a:rPr lang="en-US" i="1" dirty="0"/>
              <a:t>p</a:t>
            </a:r>
            <a:r>
              <a:rPr lang="en-US" dirty="0"/>
              <a:t>-Value Approach to a Two-Tailed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8E2FD38-F496-F5E5-2A51-1E0871AC24FB}"/>
                  </a:ext>
                </a:extLst>
              </p:cNvPr>
              <p:cNvSpPr>
                <a:spLocks noGrp="1"/>
              </p:cNvSpPr>
              <p:nvPr>
                <p:ph type="body" sz="quarter" idx="15"/>
              </p:nvPr>
            </p:nvSpPr>
            <p:spPr>
              <a:xfrm>
                <a:off x="782992" y="1293688"/>
                <a:ext cx="10626017" cy="4725370"/>
              </a:xfrm>
            </p:spPr>
            <p:txBody>
              <a:bodyPr/>
              <a:lstStyle/>
              <a:p>
                <a:pPr>
                  <a:spcAft>
                    <a:spcPts val="0"/>
                  </a:spcAft>
                </a:pPr>
                <a:r>
                  <a:rPr lang="en-US" sz="2000" dirty="0"/>
                  <a:t>For the </a:t>
                </a:r>
                <a:r>
                  <a:rPr lang="en-US" sz="2000" dirty="0" err="1"/>
                  <a:t>MaxFlight</a:t>
                </a:r>
                <a:r>
                  <a:rPr lang="en-US" sz="2000" dirty="0"/>
                  <a:t> two-tailed test, the </a:t>
                </a:r>
                <a:r>
                  <a:rPr lang="en-US" sz="2000" i="1" dirty="0"/>
                  <a:t>p</a:t>
                </a:r>
                <a:r>
                  <a:rPr lang="en-US" sz="2000" dirty="0"/>
                  <a:t>-value corresponds to the probability of finding a value for </a:t>
                </a:r>
                <a:r>
                  <a:rPr lang="en-US" sz="2000" i="1" dirty="0"/>
                  <a:t>z</a:t>
                </a:r>
                <a:r>
                  <a:rPr lang="en-US" sz="2000" dirty="0"/>
                  <a:t> that is at least as unlikely as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=1.53</m:t>
                    </m:r>
                  </m:oMath>
                </a14:m>
                <a:r>
                  <a:rPr lang="en-US" sz="2000" dirty="0"/>
                  <a:t>.</a:t>
                </a:r>
              </a:p>
              <a:p>
                <a:pPr>
                  <a:spcAft>
                    <a:spcPts val="600"/>
                  </a:spcAft>
                </a:pPr>
                <a:r>
                  <a:rPr lang="en-US" sz="2000" dirty="0"/>
                  <a:t>For a two-tailed test of a symmetric sampling distribution, values of </a:t>
                </a:r>
                <a14:m>
                  <m:oMath xmlns:m="http://schemas.openxmlformats.org/officeDocument/2006/math">
                    <m:r>
                      <a:rPr lang="en-US" sz="2000" i="1" smtClean="0">
                        <a:latin typeface="Cambria Math" panose="02040503050406030204" pitchFamily="18" charset="0"/>
                      </a:rPr>
                      <m:t>𝑧</m:t>
                    </m:r>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1.53</m:t>
                    </m:r>
                  </m:oMath>
                </a14:m>
                <a:r>
                  <a:rPr lang="en-US" sz="2000" dirty="0"/>
                  <a:t> are just as unlikely as values of </a:t>
                </a:r>
                <a14:m>
                  <m:oMath xmlns:m="http://schemas.openxmlformats.org/officeDocument/2006/math">
                    <m:r>
                      <a:rPr lang="en-US" sz="2000" i="1">
                        <a:latin typeface="Cambria Math" panose="02040503050406030204" pitchFamily="18" charset="0"/>
                      </a:rPr>
                      <m:t>𝑧</m:t>
                    </m:r>
                    <m:r>
                      <a:rPr lang="en-US" sz="2000" i="1">
                        <a:latin typeface="Cambria Math" panose="02040503050406030204" pitchFamily="18" charset="0"/>
                        <a:ea typeface="Cambria Math" panose="02040503050406030204" pitchFamily="18" charset="0"/>
                      </a:rPr>
                      <m:t>≤−1.53</m:t>
                    </m:r>
                  </m:oMath>
                </a14:m>
                <a:r>
                  <a:rPr lang="en-US" sz="2000" dirty="0"/>
                  <a:t>. Thus, we can write the </a:t>
                </a:r>
                <a:r>
                  <a:rPr lang="en-US" sz="2000" i="1" dirty="0"/>
                  <a:t>p</a:t>
                </a:r>
                <a:r>
                  <a:rPr lang="en-US" sz="2000" dirty="0"/>
                  <a:t>-value as:</a:t>
                </a:r>
              </a:p>
              <a:p>
                <a:pPr marL="4572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𝑝</m:t>
                      </m:r>
                      <m:r>
                        <m:rPr>
                          <m:nor/>
                        </m:rPr>
                        <a:rPr lang="en-US" sz="2000" b="0" i="0" smtClean="0">
                          <a:latin typeface="Cambria Math" panose="02040503050406030204" pitchFamily="18" charset="0"/>
                        </a:rPr>
                        <m:t>−</m:t>
                      </m:r>
                      <m:r>
                        <m:rPr>
                          <m:nor/>
                        </m:rPr>
                        <a:rPr lang="en-US" sz="2000" b="0" i="0" smtClean="0">
                          <a:latin typeface="Cambria Math" panose="02040503050406030204" pitchFamily="18" charset="0"/>
                        </a:rPr>
                        <m:t>value</m:t>
                      </m:r>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≤−1.53</m:t>
                          </m:r>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𝑧</m:t>
                          </m:r>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1.53</m:t>
                          </m:r>
                        </m:e>
                      </m:d>
                    </m:oMath>
                  </m:oMathPara>
                </a14:m>
                <a:endParaRPr lang="en-US" sz="2000" i="1" dirty="0">
                  <a:latin typeface="Cambria Math" panose="02040503050406030204" pitchFamily="18" charset="0"/>
                  <a:ea typeface="Cambria Math" panose="02040503050406030204" pitchFamily="18" charset="0"/>
                </a:endParaRPr>
              </a:p>
              <a:p>
                <a:pPr>
                  <a:spcAft>
                    <a:spcPts val="0"/>
                  </a:spcAft>
                </a:pPr>
                <a:r>
                  <a:rPr lang="en-US" sz="2000" b="0" dirty="0">
                    <a:latin typeface="Arial" panose="020B0604020202020204" pitchFamily="34" charset="0"/>
                    <a:ea typeface="Cambria Math" panose="02040503050406030204" pitchFamily="18" charset="0"/>
                    <a:cs typeface="Arial" panose="020B0604020202020204" pitchFamily="34" charset="0"/>
                  </a:rPr>
                  <a:t>Because the normal distribution is symmetric,</a:t>
                </a:r>
              </a:p>
              <a:p>
                <a:pPr>
                  <a:spcBef>
                    <a:spcPts val="0"/>
                  </a:spcBef>
                  <a:spcAft>
                    <a:spcPts val="600"/>
                  </a:spcAft>
                </a:pPr>
                <a:r>
                  <a:rPr lang="en-US" sz="2000" b="0" dirty="0">
                    <a:latin typeface="Arial" panose="020B0604020202020204" pitchFamily="34" charset="0"/>
                    <a:ea typeface="Cambria Math" panose="02040503050406030204" pitchFamily="18" charset="0"/>
                    <a:cs typeface="Arial" panose="020B0604020202020204" pitchFamily="34" charset="0"/>
                  </a:rPr>
                  <a:t>we can </a:t>
                </a:r>
                <a:r>
                  <a:rPr lang="en-US" sz="2000" dirty="0">
                    <a:latin typeface="Arial" panose="020B0604020202020204" pitchFamily="34" charset="0"/>
                    <a:ea typeface="Cambria Math" panose="02040503050406030204" pitchFamily="18" charset="0"/>
                    <a:cs typeface="Arial" panose="020B0604020202020204" pitchFamily="34" charset="0"/>
                  </a:rPr>
                  <a:t>calculate the p-value as</a:t>
                </a:r>
                <a:endParaRPr lang="en-US" sz="2000" b="0" dirty="0">
                  <a:latin typeface="Arial" panose="020B0604020202020204" pitchFamily="34" charset="0"/>
                  <a:ea typeface="Cambria Math" panose="02040503050406030204" pitchFamily="18" charset="0"/>
                  <a:cs typeface="Arial" panose="020B0604020202020204" pitchFamily="34" charset="0"/>
                </a:endParaRPr>
              </a:p>
              <a:p>
                <a:pPr marL="4572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𝑝</m:t>
                      </m:r>
                      <m:r>
                        <m:rPr>
                          <m:nor/>
                        </m:rPr>
                        <a:rPr lang="en-US" sz="2000" b="0" i="0" smtClean="0">
                          <a:latin typeface="Cambria Math" panose="02040503050406030204" pitchFamily="18" charset="0"/>
                          <a:ea typeface="Cambria Math" panose="02040503050406030204" pitchFamily="18" charset="0"/>
                        </a:rPr>
                        <m:t>−</m:t>
                      </m:r>
                      <m:r>
                        <m:rPr>
                          <m:nor/>
                        </m:rPr>
                        <a:rPr lang="en-US" sz="2000" b="0" i="0" smtClean="0">
                          <a:latin typeface="Cambria Math" panose="02040503050406030204" pitchFamily="18" charset="0"/>
                          <a:ea typeface="Cambria Math" panose="02040503050406030204" pitchFamily="18" charset="0"/>
                        </a:rPr>
                        <m:t>value</m:t>
                      </m:r>
                      <m:r>
                        <a:rPr lang="en-US" sz="2000" b="0" i="1" smtClean="0">
                          <a:latin typeface="Cambria Math" panose="02040503050406030204" pitchFamily="18" charset="0"/>
                          <a:ea typeface="Cambria Math" panose="02040503050406030204" pitchFamily="18" charset="0"/>
                        </a:rPr>
                        <m:t>=2</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𝑧</m:t>
                          </m:r>
                          <m:r>
                            <a:rPr lang="en-US" sz="2000" i="1">
                              <a:latin typeface="Cambria Math" panose="02040503050406030204" pitchFamily="18" charset="0"/>
                              <a:ea typeface="Cambria Math" panose="02040503050406030204" pitchFamily="18" charset="0"/>
                            </a:rPr>
                            <m:t>≤−1.53</m:t>
                          </m:r>
                        </m:e>
                      </m:d>
                      <m:r>
                        <a:rPr lang="en-US" sz="2000" b="0" i="1" smtClean="0">
                          <a:latin typeface="Cambria Math" panose="02040503050406030204" pitchFamily="18" charset="0"/>
                          <a:ea typeface="Cambria Math" panose="02040503050406030204" pitchFamily="18" charset="0"/>
                        </a:rPr>
                        <m:t>=</m:t>
                      </m:r>
                    </m:oMath>
                  </m:oMathPara>
                </a14:m>
                <a:endParaRPr lang="en-US" sz="2000" i="1" dirty="0">
                  <a:latin typeface="Cambria Math" panose="02040503050406030204" pitchFamily="18" charset="0"/>
                  <a:ea typeface="Cambria Math" panose="02040503050406030204" pitchFamily="18" charset="0"/>
                </a:endParaRPr>
              </a:p>
              <a:p>
                <a:pPr marL="4572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ea typeface="Cambria Math" panose="02040503050406030204" pitchFamily="18" charset="0"/>
                        </a:rPr>
                        <m:t>2</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0.0630</m:t>
                          </m:r>
                        </m:e>
                      </m:d>
                      <m:r>
                        <a:rPr lang="en-US" sz="2000" b="0" i="1" smtClean="0">
                          <a:latin typeface="Cambria Math" panose="02040503050406030204" pitchFamily="18" charset="0"/>
                          <a:ea typeface="Cambria Math" panose="02040503050406030204" pitchFamily="18" charset="0"/>
                        </a:rPr>
                        <m:t>=0.1260</m:t>
                      </m:r>
                    </m:oMath>
                  </m:oMathPara>
                </a14:m>
                <a:endParaRPr lang="en-US" sz="2000" dirty="0"/>
              </a:p>
              <a:p>
                <a:r>
                  <a:rPr lang="en-US" sz="2000" dirty="0"/>
                  <a:t>Next, we apply the rejection rule:</a:t>
                </a:r>
              </a:p>
              <a:p>
                <a:r>
                  <a:rPr lang="en-US" sz="2000" dirty="0"/>
                  <a:t>Because </a:t>
                </a:r>
                <a14:m>
                  <m:oMath xmlns:m="http://schemas.openxmlformats.org/officeDocument/2006/math">
                    <m:r>
                      <a:rPr lang="en-US" sz="2000" b="0" i="1" smtClean="0">
                        <a:latin typeface="Cambria Math" panose="02040503050406030204" pitchFamily="18" charset="0"/>
                        <a:ea typeface="Cambria Math" panose="02040503050406030204" pitchFamily="18" charset="0"/>
                      </a:rPr>
                      <m:t>𝑝</m:t>
                    </m:r>
                    <m:r>
                      <m:rPr>
                        <m:nor/>
                      </m:rPr>
                      <a:rPr lang="en-US" sz="2000" b="0" i="0" smtClean="0">
                        <a:latin typeface="Cambria Math" panose="02040503050406030204" pitchFamily="18" charset="0"/>
                        <a:ea typeface="Cambria Math" panose="02040503050406030204" pitchFamily="18" charset="0"/>
                      </a:rPr>
                      <m:t>−</m:t>
                    </m:r>
                    <m:r>
                      <m:rPr>
                        <m:nor/>
                      </m:rPr>
                      <a:rPr lang="en-US" sz="2000" b="0" i="0" smtClean="0">
                        <a:latin typeface="Cambria Math" panose="02040503050406030204" pitchFamily="18" charset="0"/>
                        <a:ea typeface="Cambria Math" panose="02040503050406030204" pitchFamily="18" charset="0"/>
                      </a:rPr>
                      <m:t>value</m:t>
                    </m:r>
                    <m:r>
                      <a:rPr lang="en-US" sz="2000" b="0" i="1" smtClean="0">
                        <a:latin typeface="Cambria Math" panose="02040503050406030204" pitchFamily="18" charset="0"/>
                        <a:ea typeface="Cambria Math" panose="02040503050406030204" pitchFamily="18" charset="0"/>
                      </a:rPr>
                      <m:t>=0.1260&gt;0.05</m:t>
                    </m:r>
                  </m:oMath>
                </a14:m>
                <a:r>
                  <a:rPr lang="en-US" sz="2000" dirty="0"/>
                  <a:t>, we </a:t>
                </a:r>
              </a:p>
              <a:p>
                <a:pPr>
                  <a:spcBef>
                    <a:spcPts val="0"/>
                  </a:spcBef>
                </a:pPr>
                <a:r>
                  <a:rPr lang="en-US" sz="2000" dirty="0"/>
                  <a:t>cannot reject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oMath>
                </a14:m>
                <a:r>
                  <a:rPr lang="en-US" sz="2000" dirty="0"/>
                  <a:t>. Thus, no action will be taken</a:t>
                </a:r>
              </a:p>
              <a:p>
                <a:pPr>
                  <a:spcBef>
                    <a:spcPts val="0"/>
                  </a:spcBef>
                </a:pPr>
                <a:r>
                  <a:rPr lang="en-US" sz="2000" dirty="0"/>
                  <a:t>to adjust the </a:t>
                </a:r>
                <a:r>
                  <a:rPr lang="en-US" sz="2000" dirty="0" err="1"/>
                  <a:t>MaxFlight’s</a:t>
                </a:r>
                <a:r>
                  <a:rPr lang="en-US" sz="2000" dirty="0"/>
                  <a:t> manufacturing process.</a:t>
                </a:r>
              </a:p>
            </p:txBody>
          </p:sp>
        </mc:Choice>
        <mc:Fallback xmlns="">
          <p:sp>
            <p:nvSpPr>
              <p:cNvPr id="3" name="Text Placeholder 2">
                <a:extLst>
                  <a:ext uri="{FF2B5EF4-FFF2-40B4-BE49-F238E27FC236}">
                    <a16:creationId xmlns:a16="http://schemas.microsoft.com/office/drawing/2014/main" id="{E8E2FD38-F496-F5E5-2A51-1E0871AC24FB}"/>
                  </a:ext>
                </a:extLst>
              </p:cNvPr>
              <p:cNvSpPr>
                <a:spLocks noGrp="1" noRot="1" noChangeAspect="1" noMove="1" noResize="1" noEditPoints="1" noAdjustHandles="1" noChangeArrowheads="1" noChangeShapeType="1" noTextEdit="1"/>
              </p:cNvSpPr>
              <p:nvPr>
                <p:ph type="body" sz="quarter" idx="15"/>
              </p:nvPr>
            </p:nvSpPr>
            <p:spPr>
              <a:xfrm>
                <a:off x="782992" y="1293688"/>
                <a:ext cx="10626017" cy="4725370"/>
              </a:xfrm>
              <a:blipFill>
                <a:blip r:embed="rId2"/>
                <a:stretch>
                  <a:fillRect l="-1433" t="-1548" b="-1806"/>
                </a:stretch>
              </a:blipFill>
            </p:spPr>
            <p:txBody>
              <a:bodyPr/>
              <a:lstStyle/>
              <a:p>
                <a:r>
                  <a:rPr lang="en-US">
                    <a:noFill/>
                  </a:rPr>
                  <a:t> </a:t>
                </a:r>
              </a:p>
            </p:txBody>
          </p:sp>
        </mc:Fallback>
      </mc:AlternateContent>
      <p:pic>
        <p:nvPicPr>
          <p:cNvPr id="7" name="Picture Placeholder 6" descr="A graph plots a bell-shaped curve and two p-values. The horizontal axis is labeled “z” and lists negative 1.53, 0, and 1.53. The bell-shaped curve peaks at mu = 0. The region under the curve to the left of z = negative 1.53 is shaded dark and labeled “P(z &lt;= negative 1.53) = 0.0630.” The region under the curve to the right of z = 1.53 is shaded dark and labeled “P(z &gt;= 1.53) = 0.0630.” The darkly shaded regions are collectively labeled “p-value = 2(0.0630) = 0.1260.”&#10;">
            <a:extLst>
              <a:ext uri="{FF2B5EF4-FFF2-40B4-BE49-F238E27FC236}">
                <a16:creationId xmlns:a16="http://schemas.microsoft.com/office/drawing/2014/main" id="{92D4D3A3-ED77-4697-95C1-D396E66C1EAA}"/>
              </a:ext>
            </a:extLst>
          </p:cNvPr>
          <p:cNvPicPr>
            <a:picLocks noGrp="1" noChangeAspect="1"/>
          </p:cNvPicPr>
          <p:nvPr>
            <p:ph type="pic" sz="quarter" idx="16"/>
          </p:nvPr>
        </p:nvPicPr>
        <p:blipFill rotWithShape="1">
          <a:blip r:embed="rId3"/>
          <a:srcRect l="44" r="44"/>
          <a:stretch/>
        </p:blipFill>
        <p:spPr>
          <a:xfrm>
            <a:off x="5927836" y="2753461"/>
            <a:ext cx="5489056" cy="2938379"/>
          </a:xfrm>
        </p:spPr>
      </p:pic>
    </p:spTree>
    <p:extLst>
      <p:ext uri="{BB962C8B-B14F-4D97-AF65-F5344CB8AC3E}">
        <p14:creationId xmlns:p14="http://schemas.microsoft.com/office/powerpoint/2010/main" val="1280167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F19D-3059-BBF4-942C-2EDB235298A6}"/>
              </a:ext>
            </a:extLst>
          </p:cNvPr>
          <p:cNvSpPr>
            <a:spLocks noGrp="1"/>
          </p:cNvSpPr>
          <p:nvPr>
            <p:ph type="title"/>
          </p:nvPr>
        </p:nvSpPr>
        <p:spPr>
          <a:xfrm>
            <a:off x="338960" y="365125"/>
            <a:ext cx="11495691" cy="672105"/>
          </a:xfrm>
        </p:spPr>
        <p:txBody>
          <a:bodyPr/>
          <a:lstStyle/>
          <a:p>
            <a:r>
              <a:rPr lang="en-US" sz="3200" dirty="0"/>
              <a:t>9.3 Rejection Rule Using Critical Value for a Two-Tailed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1841A2A-7DB6-89B6-5445-6929A6F3676B}"/>
                  </a:ext>
                </a:extLst>
              </p:cNvPr>
              <p:cNvSpPr>
                <a:spLocks noGrp="1"/>
              </p:cNvSpPr>
              <p:nvPr>
                <p:ph type="body" sz="quarter" idx="15"/>
              </p:nvPr>
            </p:nvSpPr>
            <p:spPr>
              <a:xfrm>
                <a:off x="743576" y="1749981"/>
                <a:ext cx="10334207" cy="3633945"/>
              </a:xfrm>
            </p:spPr>
            <p:txBody>
              <a:bodyPr/>
              <a:lstStyle/>
              <a:p>
                <a:r>
                  <a:rPr lang="en-US" sz="2000" dirty="0"/>
                  <a:t>The rejection rule for a two-tailed test using the</a:t>
                </a:r>
              </a:p>
              <a:p>
                <a:pPr>
                  <a:spcBef>
                    <a:spcPts val="0"/>
                  </a:spcBef>
                  <a:spcAft>
                    <a:spcPts val="600"/>
                  </a:spcAft>
                </a:pPr>
                <a:r>
                  <a:rPr lang="en-US" sz="2000" dirty="0"/>
                  <a:t>critical value is: </a:t>
                </a:r>
              </a:p>
              <a:p>
                <a:pPr marL="914400">
                  <a:spcAft>
                    <a:spcPts val="600"/>
                  </a:spcAft>
                </a:pPr>
                <a:r>
                  <a:rPr lang="en-US" sz="2000" b="1" dirty="0"/>
                  <a:t>Reject </a:t>
                </a:r>
                <a14:m>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𝑯</m:t>
                        </m:r>
                      </m:e>
                      <m:sub>
                        <m:r>
                          <a:rPr lang="en-US" sz="2000" b="1" i="1">
                            <a:latin typeface="Cambria Math" panose="02040503050406030204" pitchFamily="18" charset="0"/>
                            <a:cs typeface="Arial" panose="020B0604020202020204" pitchFamily="34" charset="0"/>
                          </a:rPr>
                          <m:t>𝟎</m:t>
                        </m:r>
                      </m:sub>
                    </m:sSub>
                  </m:oMath>
                </a14:m>
                <a:r>
                  <a:rPr lang="en-US" sz="2000" b="1" dirty="0"/>
                  <a:t> if </a:t>
                </a:r>
                <a14:m>
                  <m:oMath xmlns:m="http://schemas.openxmlformats.org/officeDocument/2006/math">
                    <m:r>
                      <a:rPr lang="en-US" sz="2000" b="1" i="0" smtClean="0">
                        <a:latin typeface="Cambria Math" panose="02040503050406030204" pitchFamily="18" charset="0"/>
                      </a:rPr>
                      <m:t>𝐳</m:t>
                    </m:r>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𝒛</m:t>
                        </m:r>
                      </m:e>
                      <m:sub>
                        <m:r>
                          <a:rPr lang="en-US" sz="2000" b="1" i="1" smtClean="0">
                            <a:latin typeface="Cambria Math" panose="02040503050406030204" pitchFamily="18" charset="0"/>
                            <a:ea typeface="Cambria Math" panose="02040503050406030204" pitchFamily="18" charset="0"/>
                          </a:rPr>
                          <m:t>𝜶</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𝟐</m:t>
                        </m:r>
                      </m:sub>
                    </m:sSub>
                    <m:r>
                      <m:rPr>
                        <m:nor/>
                      </m:rPr>
                      <a:rPr lang="en-US" sz="2000" b="1" i="0" smtClean="0">
                        <a:latin typeface="Arial" panose="020B0604020202020204" pitchFamily="34" charset="0"/>
                        <a:ea typeface="Cambria Math" panose="02040503050406030204" pitchFamily="18" charset="0"/>
                        <a:cs typeface="Arial" panose="020B0604020202020204" pitchFamily="34" charset="0"/>
                      </a:rPr>
                      <m:t> </m:t>
                    </m:r>
                    <m:r>
                      <m:rPr>
                        <m:nor/>
                      </m:rPr>
                      <a:rPr lang="en-US" sz="2000" b="1" i="0" smtClean="0">
                        <a:latin typeface="Arial" panose="020B0604020202020204" pitchFamily="34" charset="0"/>
                        <a:ea typeface="Cambria Math" panose="02040503050406030204" pitchFamily="18" charset="0"/>
                        <a:cs typeface="Arial" panose="020B0604020202020204" pitchFamily="34" charset="0"/>
                      </a:rPr>
                      <m:t>or</m:t>
                    </m:r>
                    <m:r>
                      <m:rPr>
                        <m:nor/>
                      </m:rPr>
                      <a:rPr lang="en-US" sz="2000" b="1" i="0" smtClean="0">
                        <a:latin typeface="Arial" panose="020B0604020202020204" pitchFamily="34" charset="0"/>
                        <a:ea typeface="Cambria Math" panose="02040503050406030204" pitchFamily="18" charset="0"/>
                        <a:cs typeface="Arial" panose="020B0604020202020204" pitchFamily="34" charset="0"/>
                      </a:rPr>
                      <m:t> </m:t>
                    </m:r>
                    <m:r>
                      <a:rPr lang="en-US" sz="2000" b="1">
                        <a:latin typeface="Cambria Math" panose="02040503050406030204" pitchFamily="18" charset="0"/>
                      </a:rPr>
                      <m:t>𝐳</m:t>
                    </m:r>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𝒛</m:t>
                        </m:r>
                      </m:e>
                      <m:sub>
                        <m:r>
                          <a:rPr lang="en-US" sz="2000" b="1" i="1">
                            <a:latin typeface="Cambria Math" panose="02040503050406030204" pitchFamily="18" charset="0"/>
                            <a:ea typeface="Cambria Math" panose="02040503050406030204" pitchFamily="18" charset="0"/>
                          </a:rPr>
                          <m:t>𝜶</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𝟐</m:t>
                        </m:r>
                      </m:sub>
                    </m:sSub>
                  </m:oMath>
                </a14:m>
                <a:endParaRPr lang="en-US" sz="2000" b="1" dirty="0"/>
              </a:p>
              <a:p>
                <a:pPr>
                  <a:spcAft>
                    <a:spcPts val="0"/>
                  </a:spcAft>
                </a:pPr>
                <a:r>
                  <a:rPr lang="en-US" sz="2000" dirty="0"/>
                  <a:t>In the </a:t>
                </a:r>
                <a:r>
                  <a:rPr lang="en-US" sz="2000" dirty="0" err="1"/>
                  <a:t>MaxFlight</a:t>
                </a:r>
                <a:r>
                  <a:rPr lang="en-US" sz="2000" dirty="0"/>
                  <a:t> case, we have </a:t>
                </a:r>
                <a14:m>
                  <m:oMath xmlns:m="http://schemas.openxmlformats.org/officeDocument/2006/math">
                    <m:r>
                      <a:rPr lang="en-US" sz="200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=0.05</m:t>
                    </m:r>
                  </m:oMath>
                </a14:m>
                <a:r>
                  <a:rPr lang="en-US" sz="2000" dirty="0"/>
                  <a:t>.</a:t>
                </a:r>
              </a:p>
              <a:p>
                <a:pPr>
                  <a:spcAft>
                    <a:spcPts val="0"/>
                  </a:spcAft>
                </a:pPr>
                <a:r>
                  <a:rPr lang="en-US" sz="2000" dirty="0"/>
                  <a:t>Thus, </a:t>
                </a:r>
                <a14:m>
                  <m:oMath xmlns:m="http://schemas.openxmlformats.org/officeDocument/2006/math">
                    <m:r>
                      <a:rPr lang="en-US" sz="2000" i="1">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0</m:t>
                    </m:r>
                    <m:r>
                      <a:rPr lang="en-US" sz="2000" i="1">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5</m:t>
                    </m:r>
                  </m:oMath>
                </a14:m>
                <a:r>
                  <a:rPr lang="en-US" sz="2000" dirty="0"/>
                  <a: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r>
                          <a:rPr lang="en-US" sz="2000" i="1">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.025</m:t>
                        </m:r>
                      </m:sub>
                    </m:sSub>
                    <m:r>
                      <a:rPr lang="en-US" sz="2000" b="0" i="1" smtClean="0">
                        <a:latin typeface="Cambria Math" panose="02040503050406030204" pitchFamily="18" charset="0"/>
                        <a:ea typeface="Cambria Math" panose="02040503050406030204" pitchFamily="18" charset="0"/>
                      </a:rPr>
                      <m:t>=1.96</m:t>
                    </m:r>
                  </m:oMath>
                </a14:m>
                <a:r>
                  <a:rPr lang="en-US" sz="2000" dirty="0"/>
                  <a:t>.</a:t>
                </a:r>
              </a:p>
              <a:p>
                <a:pPr>
                  <a:spcAft>
                    <a:spcPts val="600"/>
                  </a:spcAft>
                </a:pPr>
                <a:r>
                  <a:rPr lang="en-US" sz="2000" dirty="0"/>
                  <a:t>The rejection rule for this two-tail test becomes</a:t>
                </a:r>
              </a:p>
              <a:p>
                <a:pPr marL="914400">
                  <a:spcAft>
                    <a:spcPts val="600"/>
                  </a:spcAft>
                </a:pPr>
                <a14:m>
                  <m:oMath xmlns:m="http://schemas.openxmlformats.org/officeDocument/2006/math">
                    <m:r>
                      <m:rPr>
                        <m:nor/>
                      </m:rPr>
                      <a:rPr lang="en-US" sz="2000" dirty="0"/>
                      <m:t>Reject</m:t>
                    </m:r>
                    <m:r>
                      <m:rPr>
                        <m:nor/>
                      </m:rPr>
                      <a:rPr lang="en-US" sz="2000" dirty="0"/>
                      <m:t> </m:t>
                    </m:r>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𝐻</m:t>
                        </m:r>
                      </m:e>
                      <m:sub>
                        <m:r>
                          <a:rPr lang="en-US" sz="2000" b="0" i="1">
                            <a:latin typeface="Cambria Math" panose="02040503050406030204" pitchFamily="18" charset="0"/>
                            <a:cs typeface="Arial" panose="020B0604020202020204" pitchFamily="34" charset="0"/>
                          </a:rPr>
                          <m:t>0</m:t>
                        </m:r>
                      </m:sub>
                    </m:sSub>
                    <m:r>
                      <m:rPr>
                        <m:nor/>
                      </m:rPr>
                      <a:rPr lang="en-US" sz="2000" dirty="0"/>
                      <m:t> </m:t>
                    </m:r>
                    <m:r>
                      <m:rPr>
                        <m:nor/>
                      </m:rPr>
                      <a:rPr lang="en-US" sz="2000" dirty="0"/>
                      <m:t>if</m:t>
                    </m:r>
                    <m:r>
                      <m:rPr>
                        <m:nor/>
                      </m:rPr>
                      <a:rPr lang="en-US" sz="2000" dirty="0"/>
                      <m:t> </m:t>
                    </m:r>
                    <m:r>
                      <a:rPr lang="en-US" sz="2000" b="0" i="1">
                        <a:latin typeface="Cambria Math" panose="02040503050406030204" pitchFamily="18" charset="0"/>
                      </a:rPr>
                      <m:t>𝑧</m:t>
                    </m:r>
                    <m:r>
                      <a:rPr lang="en-US" sz="2000" b="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−1.96</m:t>
                    </m:r>
                    <m:r>
                      <m:rPr>
                        <m:nor/>
                      </m:rPr>
                      <a:rPr lang="en-US" sz="2000" b="1" i="0" smtClean="0">
                        <a:latin typeface="Cambria Math" panose="02040503050406030204" pitchFamily="18" charset="0"/>
                        <a:ea typeface="Cambria Math" panose="02040503050406030204" pitchFamily="18" charset="0"/>
                      </a:rPr>
                      <m:t> </m:t>
                    </m:r>
                    <m:r>
                      <m:rPr>
                        <m:nor/>
                      </m:rPr>
                      <a:rPr lang="en-US" sz="2000">
                        <a:latin typeface="Arial" panose="020B0604020202020204" pitchFamily="34" charset="0"/>
                        <a:ea typeface="Cambria Math" panose="02040503050406030204" pitchFamily="18" charset="0"/>
                        <a:cs typeface="Arial" panose="020B0604020202020204" pitchFamily="34" charset="0"/>
                      </a:rPr>
                      <m:t>or</m:t>
                    </m:r>
                    <m:r>
                      <m:rPr>
                        <m:nor/>
                      </m:rPr>
                      <a:rPr lang="en-US" sz="2000">
                        <a:latin typeface="Arial" panose="020B0604020202020204" pitchFamily="34" charset="0"/>
                        <a:ea typeface="Cambria Math" panose="02040503050406030204" pitchFamily="18" charset="0"/>
                        <a:cs typeface="Arial" panose="020B0604020202020204" pitchFamily="34" charset="0"/>
                      </a:rPr>
                      <m:t> </m:t>
                    </m:r>
                    <m:r>
                      <m:rPr>
                        <m:sty m:val="p"/>
                      </m:rPr>
                      <a:rPr lang="en-US" sz="2000" b="0" i="1">
                        <a:latin typeface="Cambria Math" panose="02040503050406030204" pitchFamily="18" charset="0"/>
                      </a:rPr>
                      <m:t>z</m:t>
                    </m:r>
                    <m:r>
                      <a:rPr lang="en-US" sz="2000" b="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1.96</m:t>
                    </m:r>
                  </m:oMath>
                </a14:m>
                <a:r>
                  <a:rPr lang="en-US" sz="2000" dirty="0"/>
                  <a:t>.</a:t>
                </a:r>
              </a:p>
              <a:p>
                <a:pPr>
                  <a:spcAft>
                    <a:spcPts val="0"/>
                  </a:spcAft>
                </a:pPr>
                <a:r>
                  <a:rPr lang="en-US" sz="2000" dirty="0"/>
                  <a:t>Because the value of the test statistic for the </a:t>
                </a:r>
                <a:r>
                  <a:rPr lang="en-US" sz="2000" dirty="0" err="1"/>
                  <a:t>MaxFlight</a:t>
                </a:r>
                <a:r>
                  <a:rPr lang="en-US" sz="2000" dirty="0"/>
                  <a:t> study is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=1.53</m:t>
                    </m:r>
                  </m:oMath>
                </a14:m>
                <a:r>
                  <a:rPr lang="en-US" sz="2000" dirty="0"/>
                  <a:t>, the statistical evidence will not permit us to reject the null hypothesis at the 0.05 level of significance.</a:t>
                </a:r>
              </a:p>
            </p:txBody>
          </p:sp>
        </mc:Choice>
        <mc:Fallback xmlns="">
          <p:sp>
            <p:nvSpPr>
              <p:cNvPr id="3" name="Text Placeholder 2">
                <a:extLst>
                  <a:ext uri="{FF2B5EF4-FFF2-40B4-BE49-F238E27FC236}">
                    <a16:creationId xmlns:a16="http://schemas.microsoft.com/office/drawing/2014/main" id="{71841A2A-7DB6-89B6-5445-6929A6F3676B}"/>
                  </a:ext>
                </a:extLst>
              </p:cNvPr>
              <p:cNvSpPr>
                <a:spLocks noGrp="1" noRot="1" noChangeAspect="1" noMove="1" noResize="1" noEditPoints="1" noAdjustHandles="1" noChangeArrowheads="1" noChangeShapeType="1" noTextEdit="1"/>
              </p:cNvSpPr>
              <p:nvPr>
                <p:ph type="body" sz="quarter" idx="15"/>
              </p:nvPr>
            </p:nvSpPr>
            <p:spPr>
              <a:xfrm>
                <a:off x="743576" y="1749981"/>
                <a:ext cx="10334207" cy="3633945"/>
              </a:xfrm>
              <a:blipFill>
                <a:blip r:embed="rId2"/>
                <a:stretch>
                  <a:fillRect l="-1534" t="-2013" b="-2349"/>
                </a:stretch>
              </a:blipFill>
            </p:spPr>
            <p:txBody>
              <a:bodyPr/>
              <a:lstStyle/>
              <a:p>
                <a:r>
                  <a:rPr lang="en-US">
                    <a:noFill/>
                  </a:rPr>
                  <a:t> </a:t>
                </a:r>
              </a:p>
            </p:txBody>
          </p:sp>
        </mc:Fallback>
      </mc:AlternateContent>
      <p:pic>
        <p:nvPicPr>
          <p:cNvPr id="6" name="Picture Placeholder 5" descr="A graph plots a bell-shaped curve and the regions of rejections. The horizontal axis is labeled “z” and lists negative 1.96, 0, and 1.96. The bell-shaped curve peaks at mu = 0. The region under the curve to the left of z = negative 1.96 and to the right of z = 1.96 are shaded dark and labeled “Area = 0.025, Reject H_0.”&#10;">
            <a:extLst>
              <a:ext uri="{FF2B5EF4-FFF2-40B4-BE49-F238E27FC236}">
                <a16:creationId xmlns:a16="http://schemas.microsoft.com/office/drawing/2014/main" id="{97436147-E570-D24B-0DDA-92428A8F532C}"/>
              </a:ext>
            </a:extLst>
          </p:cNvPr>
          <p:cNvPicPr>
            <a:picLocks noGrp="1" noChangeAspect="1"/>
          </p:cNvPicPr>
          <p:nvPr>
            <p:ph type="pic" sz="quarter" idx="16"/>
          </p:nvPr>
        </p:nvPicPr>
        <p:blipFill rotWithShape="1">
          <a:blip r:embed="rId3"/>
          <a:srcRect t="3" b="3"/>
          <a:stretch/>
        </p:blipFill>
        <p:spPr>
          <a:xfrm>
            <a:off x="6591672" y="1749981"/>
            <a:ext cx="4233863" cy="2614613"/>
          </a:xfrm>
        </p:spPr>
      </p:pic>
    </p:spTree>
    <p:extLst>
      <p:ext uri="{BB962C8B-B14F-4D97-AF65-F5344CB8AC3E}">
        <p14:creationId xmlns:p14="http://schemas.microsoft.com/office/powerpoint/2010/main" val="2792948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9.3 Excel: Conduct a Hypothesis Test</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172965"/>
            <a:ext cx="10610223" cy="1027314"/>
          </a:xfrm>
        </p:spPr>
        <p:txBody>
          <a:bodyPr/>
          <a:lstStyle/>
          <a:p>
            <a:r>
              <a:rPr lang="en-US" sz="2000" b="1" dirty="0"/>
              <a:t>Enter/Access Data</a:t>
            </a:r>
            <a:r>
              <a:rPr lang="en-US" sz="2000" dirty="0"/>
              <a:t>: Open the file </a:t>
            </a:r>
            <a:r>
              <a:rPr lang="en-US" sz="2000" i="1" dirty="0"/>
              <a:t>golftest</a:t>
            </a:r>
            <a:r>
              <a:rPr lang="en-US" sz="2000" dirty="0"/>
              <a:t>. The sales data are entered in cells A2:A51.</a:t>
            </a:r>
          </a:p>
          <a:p>
            <a:r>
              <a:rPr lang="en-US" sz="2000" b="1" dirty="0"/>
              <a:t>Enter Functions and Formulas</a:t>
            </a:r>
            <a:r>
              <a:rPr lang="en-US" sz="2000" dirty="0"/>
              <a:t>: The sample size and sample mean are computed in cells C3:C4 using Excel’s COUNT and AVERAGE functions, respectively.</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D16A1EC-8780-2A26-ACE2-AAD04145147E}"/>
                  </a:ext>
                </a:extLst>
              </p:cNvPr>
              <p:cNvSpPr>
                <a:spLocks noGrp="1"/>
              </p:cNvSpPr>
              <p:nvPr>
                <p:ph type="body" sz="quarter" idx="17"/>
              </p:nvPr>
            </p:nvSpPr>
            <p:spPr>
              <a:xfrm>
                <a:off x="743576" y="2235995"/>
                <a:ext cx="4828549" cy="3778253"/>
              </a:xfrm>
            </p:spPr>
            <p:txBody>
              <a:bodyPr/>
              <a:lstStyle/>
              <a:p>
                <a:pPr>
                  <a:spcAft>
                    <a:spcPts val="0"/>
                  </a:spcAft>
                </a:pPr>
                <a:r>
                  <a:rPr lang="en-US" sz="2000" dirty="0"/>
                  <a:t>The standard error is computed in cell C9, and the </a:t>
                </a:r>
                <a14:m>
                  <m:oMath xmlns:m="http://schemas.openxmlformats.org/officeDocument/2006/math">
                    <m:r>
                      <a:rPr lang="en-US" sz="2000" i="1" dirty="0" smtClean="0">
                        <a:latin typeface="Cambria Math" panose="02040503050406030204" pitchFamily="18" charset="0"/>
                      </a:rPr>
                      <m:t>𝑧</m:t>
                    </m:r>
                  </m:oMath>
                </a14:m>
                <a:r>
                  <a:rPr lang="en-US" sz="2000" dirty="0"/>
                  <a:t> test statistic in cell C10. </a:t>
                </a:r>
              </a:p>
              <a:p>
                <a:pPr>
                  <a:spcAft>
                    <a:spcPts val="600"/>
                  </a:spcAft>
                </a:pPr>
                <a:r>
                  <a:rPr lang="en-US" sz="2000" dirty="0"/>
                  <a:t>To compute the </a:t>
                </a:r>
                <a14:m>
                  <m:oMath xmlns:m="http://schemas.openxmlformats.org/officeDocument/2006/math">
                    <m:r>
                      <a:rPr lang="en-US" sz="2000" i="1" dirty="0" smtClean="0">
                        <a:latin typeface="Cambria Math" panose="02040503050406030204" pitchFamily="18" charset="0"/>
                      </a:rPr>
                      <m:t>𝑝</m:t>
                    </m:r>
                  </m:oMath>
                </a14:m>
                <a:r>
                  <a:rPr lang="en-US" sz="2000" dirty="0"/>
                  <a:t>-value for a lower tail test, in cell C12, we enter the formula</a:t>
                </a:r>
              </a:p>
              <a:p>
                <a:pPr marL="457200">
                  <a:spcAft>
                    <a:spcPts val="0"/>
                  </a:spcAft>
                </a:pPr>
                <a14:m>
                  <m:oMathPara xmlns:m="http://schemas.openxmlformats.org/officeDocument/2006/math">
                    <m:oMathParaPr>
                      <m:jc m:val="left"/>
                    </m:oMathParaPr>
                    <m:oMath xmlns:m="http://schemas.openxmlformats.org/officeDocument/2006/math">
                      <m:r>
                        <m:rPr>
                          <m:nor/>
                        </m:rPr>
                        <a:rPr lang="en-US" sz="2000" i="0" dirty="0" smtClean="0">
                          <a:latin typeface="Cambria Math" panose="02040503050406030204" pitchFamily="18" charset="0"/>
                        </a:rPr>
                        <m:t>=</m:t>
                      </m:r>
                      <m:r>
                        <a:rPr lang="en-US" sz="2000" i="1" dirty="0" smtClean="0">
                          <a:latin typeface="Cambria Math" panose="02040503050406030204" pitchFamily="18" charset="0"/>
                        </a:rPr>
                        <m:t>𝑁𝑂𝑅𝑀</m:t>
                      </m:r>
                      <m:r>
                        <a:rPr lang="en-US" sz="2000" i="1" dirty="0" smtClean="0">
                          <a:latin typeface="Cambria Math" panose="02040503050406030204" pitchFamily="18" charset="0"/>
                        </a:rPr>
                        <m:t>.</m:t>
                      </m:r>
                      <m:r>
                        <a:rPr lang="en-US" sz="2000" i="1" dirty="0" smtClean="0">
                          <a:latin typeface="Cambria Math" panose="02040503050406030204" pitchFamily="18" charset="0"/>
                        </a:rPr>
                        <m:t>𝑆</m:t>
                      </m:r>
                      <m:r>
                        <a:rPr lang="en-US" sz="2000" i="1" dirty="0" smtClean="0">
                          <a:latin typeface="Cambria Math" panose="02040503050406030204" pitchFamily="18" charset="0"/>
                        </a:rPr>
                        <m:t>.</m:t>
                      </m:r>
                      <m:r>
                        <a:rPr lang="en-US" sz="2000" i="1" dirty="0" smtClean="0">
                          <a:latin typeface="Cambria Math" panose="02040503050406030204" pitchFamily="18" charset="0"/>
                        </a:rPr>
                        <m:t>𝐷𝐼𝑆𝑇</m:t>
                      </m:r>
                      <m:r>
                        <a:rPr lang="en-US" sz="2000" i="1" dirty="0" smtClean="0">
                          <a:latin typeface="Cambria Math" panose="02040503050406030204" pitchFamily="18" charset="0"/>
                        </a:rPr>
                        <m:t>(</m:t>
                      </m:r>
                      <m:r>
                        <a:rPr lang="en-US" sz="2000" b="0" i="1" dirty="0" smtClean="0">
                          <a:latin typeface="Cambria Math" panose="02040503050406030204" pitchFamily="18" charset="0"/>
                        </a:rPr>
                        <m:t>𝐶</m:t>
                      </m:r>
                      <m:r>
                        <a:rPr lang="en-US" sz="2000" b="0" i="1" dirty="0" smtClean="0">
                          <a:latin typeface="Cambria Math" panose="02040503050406030204" pitchFamily="18" charset="0"/>
                        </a:rPr>
                        <m:t>10,</m:t>
                      </m:r>
                      <m:r>
                        <a:rPr lang="en-US" sz="2000" i="1" dirty="0" err="1" smtClean="0">
                          <a:latin typeface="Cambria Math" panose="02040503050406030204" pitchFamily="18" charset="0"/>
                        </a:rPr>
                        <m:t>𝑇𝑅𝑈𝐸</m:t>
                      </m:r>
                      <m:r>
                        <a:rPr lang="en-US" sz="2000" i="1" dirty="0" smtClean="0">
                          <a:latin typeface="Cambria Math" panose="02040503050406030204" pitchFamily="18" charset="0"/>
                        </a:rPr>
                        <m:t>)</m:t>
                      </m:r>
                    </m:oMath>
                  </m:oMathPara>
                </a14:m>
                <a:endParaRPr lang="en-US" sz="2000" dirty="0"/>
              </a:p>
              <a:p>
                <a:pPr>
                  <a:spcAft>
                    <a:spcPts val="0"/>
                  </a:spcAft>
                </a:pPr>
                <a:r>
                  <a:rPr lang="en-US" sz="2000" dirty="0"/>
                  <a:t>To compute the </a:t>
                </a:r>
                <a14:m>
                  <m:oMath xmlns:m="http://schemas.openxmlformats.org/officeDocument/2006/math">
                    <m:r>
                      <a:rPr lang="en-US" sz="2000" i="1" dirty="0" smtClean="0">
                        <a:latin typeface="Cambria Math" panose="02040503050406030204" pitchFamily="18" charset="0"/>
                      </a:rPr>
                      <m:t>𝑝</m:t>
                    </m:r>
                  </m:oMath>
                </a14:m>
                <a:r>
                  <a:rPr lang="en-US" sz="2000" dirty="0"/>
                  <a:t>-value for an upper tail test, in cell C13 we take the complement of the lower tail test </a:t>
                </a:r>
                <a14:m>
                  <m:oMath xmlns:m="http://schemas.openxmlformats.org/officeDocument/2006/math">
                    <m:r>
                      <a:rPr lang="en-US" sz="2000" i="1" dirty="0" smtClean="0">
                        <a:latin typeface="Cambria Math" panose="02040503050406030204" pitchFamily="18" charset="0"/>
                      </a:rPr>
                      <m:t>𝑝</m:t>
                    </m:r>
                  </m:oMath>
                </a14:m>
                <a:r>
                  <a:rPr lang="en-US" sz="2000" dirty="0"/>
                  <a:t>-value in cell C12.</a:t>
                </a:r>
              </a:p>
              <a:p>
                <a:pPr>
                  <a:spcAft>
                    <a:spcPts val="600"/>
                  </a:spcAft>
                </a:pPr>
                <a:r>
                  <a:rPr lang="en-US" sz="2000" dirty="0"/>
                  <a:t>For the </a:t>
                </a:r>
                <a14:m>
                  <m:oMath xmlns:m="http://schemas.openxmlformats.org/officeDocument/2006/math">
                    <m:r>
                      <a:rPr lang="en-US" sz="2000" i="1" dirty="0" smtClean="0">
                        <a:latin typeface="Cambria Math" panose="02040503050406030204" pitchFamily="18" charset="0"/>
                      </a:rPr>
                      <m:t>𝑝</m:t>
                    </m:r>
                  </m:oMath>
                </a14:m>
                <a:r>
                  <a:rPr lang="en-US" sz="2000" dirty="0"/>
                  <a:t>-value of a two-tail test, in cell C14 we take twice the minimum of the one-tail </a:t>
                </a:r>
                <a14:m>
                  <m:oMath xmlns:m="http://schemas.openxmlformats.org/officeDocument/2006/math">
                    <m:r>
                      <a:rPr lang="en-US" sz="2000" i="1" dirty="0" smtClean="0">
                        <a:latin typeface="Cambria Math" panose="02040503050406030204" pitchFamily="18" charset="0"/>
                      </a:rPr>
                      <m:t>𝑝</m:t>
                    </m:r>
                  </m:oMath>
                </a14:m>
                <a:r>
                  <a:rPr lang="en-US" sz="2000" dirty="0"/>
                  <a:t>-values in cells C12:C13.</a:t>
                </a:r>
              </a:p>
            </p:txBody>
          </p:sp>
        </mc:Choice>
        <mc:Fallback xmlns="">
          <p:sp>
            <p:nvSpPr>
              <p:cNvPr id="5" name="Text Placeholder 4">
                <a:extLst>
                  <a:ext uri="{FF2B5EF4-FFF2-40B4-BE49-F238E27FC236}">
                    <a16:creationId xmlns:a16="http://schemas.microsoft.com/office/drawing/2014/main" id="{ED16A1EC-8780-2A26-ACE2-AAD04145147E}"/>
                  </a:ext>
                </a:extLst>
              </p:cNvPr>
              <p:cNvSpPr>
                <a:spLocks noGrp="1" noRot="1" noChangeAspect="1" noMove="1" noResize="1" noEditPoints="1" noAdjustHandles="1" noChangeArrowheads="1" noChangeShapeType="1" noTextEdit="1"/>
              </p:cNvSpPr>
              <p:nvPr>
                <p:ph type="body" sz="quarter" idx="17"/>
              </p:nvPr>
            </p:nvSpPr>
            <p:spPr>
              <a:xfrm>
                <a:off x="743576" y="2235995"/>
                <a:ext cx="4828549" cy="3778253"/>
              </a:xfrm>
              <a:blipFill>
                <a:blip r:embed="rId2"/>
                <a:stretch>
                  <a:fillRect l="-3283" t="-1935" r="-2399" b="-968"/>
                </a:stretch>
              </a:blipFill>
            </p:spPr>
            <p:txBody>
              <a:bodyPr/>
              <a:lstStyle/>
              <a:p>
                <a:r>
                  <a:rPr lang="en-US">
                    <a:noFill/>
                  </a:rPr>
                  <a:t> </a:t>
                </a:r>
              </a:p>
            </p:txBody>
          </p:sp>
        </mc:Fallback>
      </mc:AlternateContent>
      <p:pic>
        <p:nvPicPr>
          <p:cNvPr id="8" name="Picture Placeholder 7" descr="Two screenshots of Excel spreadsheets show the hypothesis about a population for a sigma known case. In both the spreadsheets, column A is labeled yards. The row entries are as follows. Row 2: 303. Row 3: 282. Row 4: 289. Row 5: 298. Row 6: 283. Row 7: 317. Row 8: 297. Row 9: 308. Row 10: 317. Row 11: 293. Row 12: 284. Row 13: 290. Row 14: 304. Row 15: 290. Row 16: 311. Row 50: 301. Row 51: 292. The entries under columns B and C in the first spreadsheet are as follows. B 3: Sample size. C 3: =COUNT(A 2:A 51). B 4: Sample mean. C 4: =AVERAGE(A 2: A 51). B 6: Population standard deviation. C 6: 12. B 7: Hypothesized value. C 7: 295. B 9: Standard error. C 9: =C 6/SQRT(C 3). B 10: Test statistic z. C 10: =(C 4 minus C 7)/C 9. B 12: p-value (Lower Tail). C 12: =NORM.S.DIST(C10, TRUE). B 13: p-value (Upper tail). C 13: =1 minus C 12. B 14: p-value (Two tail). C 14: =2*(MIN(C12,C13)). The entries under columns B and C in the second spreadsheet are as follows. B 3: Sample size. C 3: 50. B 4: Sample mean. C 4: 297.6. B 6: Population standard deviation. C 6: 12. B 7: Hypothesized value. C 7: 295. B 9: Standard error. C 9: 1.6971. B 10: Test statistic z. C 10: 1.5321. B 12: p-value (Lower Tail). C 12: 0.9372. B 13: p-value (Upper tail). C 13: 0.0628. B 14: p-value (Two tail). C 14: 0.1255.">
            <a:extLst>
              <a:ext uri="{FF2B5EF4-FFF2-40B4-BE49-F238E27FC236}">
                <a16:creationId xmlns:a16="http://schemas.microsoft.com/office/drawing/2014/main" id="{AA1E2FAB-7378-93E9-0238-98EC1BB2DAD9}"/>
              </a:ext>
            </a:extLst>
          </p:cNvPr>
          <p:cNvPicPr>
            <a:picLocks noGrp="1" noChangeAspect="1"/>
          </p:cNvPicPr>
          <p:nvPr>
            <p:ph type="pic" sz="quarter" idx="16"/>
          </p:nvPr>
        </p:nvPicPr>
        <p:blipFill>
          <a:blip r:embed="rId3"/>
          <a:srcRect l="77" r="77"/>
          <a:stretch/>
        </p:blipFill>
        <p:spPr>
          <a:xfrm>
            <a:off x="5572125" y="2282429"/>
            <a:ext cx="5813367" cy="3685384"/>
          </a:xfrm>
          <a:ln>
            <a:solidFill>
              <a:srgbClr val="000000"/>
            </a:solidFill>
          </a:ln>
        </p:spPr>
      </p:pic>
    </p:spTree>
    <p:extLst>
      <p:ext uri="{BB962C8B-B14F-4D97-AF65-F5344CB8AC3E}">
        <p14:creationId xmlns:p14="http://schemas.microsoft.com/office/powerpoint/2010/main" val="243278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79E3C-DB42-5458-C961-D022FACAB6CD}"/>
              </a:ext>
            </a:extLst>
          </p:cNvPr>
          <p:cNvSpPr>
            <a:spLocks noGrp="1"/>
          </p:cNvSpPr>
          <p:nvPr>
            <p:ph type="title"/>
          </p:nvPr>
        </p:nvSpPr>
        <p:spPr>
          <a:xfrm>
            <a:off x="1274379" y="407057"/>
            <a:ext cx="9643241" cy="672105"/>
          </a:xfrm>
        </p:spPr>
        <p:txBody>
          <a:bodyPr/>
          <a:lstStyle/>
          <a:p>
            <a:r>
              <a:rPr lang="en-US" sz="3200" dirty="0"/>
              <a:t>9.3 Summary of Hypothesis Tests About a Population Mean: </a:t>
            </a:r>
            <a:r>
              <a:rPr lang="en-US" sz="3200" i="1" dirty="0">
                <a:latin typeface="Symbol" panose="05050102010706020507" pitchFamily="18" charset="2"/>
              </a:rPr>
              <a:t>s</a:t>
            </a:r>
            <a:r>
              <a:rPr lang="en-US" sz="3200" dirty="0"/>
              <a:t>  Known Case</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A8081616-52DD-231D-607E-511C6F68FD22}"/>
                  </a:ext>
                </a:extLst>
              </p:cNvPr>
              <p:cNvGraphicFramePr>
                <a:graphicFrameLocks noGrp="1"/>
              </p:cNvGraphicFramePr>
              <p:nvPr>
                <p:ph type="tbl" sz="quarter" idx="10"/>
              </p:nvPr>
            </p:nvGraphicFramePr>
            <p:xfrm>
              <a:off x="1106213" y="1759169"/>
              <a:ext cx="9979571" cy="4077843"/>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3045617659"/>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708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Lower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370840">
                    <a:tc>
                      <a:txBody>
                        <a:bodyPr/>
                        <a:lstStyle/>
                        <a:p>
                          <a:pPr algn="l"/>
                          <a:r>
                            <a:rPr lang="en-US" sz="2000" b="1" dirty="0">
                              <a:solidFill>
                                <a:srgbClr val="000000"/>
                              </a:solidFill>
                            </a:rPr>
                            <a:t>Hypotheses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&lt;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&gt;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𝑧</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𝑥</m:t>
                                        </m:r>
                                      </m:e>
                                    </m:acc>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num>
                                  <m:den>
                                    <m:f>
                                      <m:fPr>
                                        <m:type m:val="lin"/>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𝜎</m:t>
                                        </m:r>
                                      </m:num>
                                      <m:den>
                                        <m:rad>
                                          <m:radPr>
                                            <m:degHide m:val="on"/>
                                            <m:ctrlPr>
                                              <a:rPr lang="en-US" sz="2000" b="0" i="1" smtClean="0">
                                                <a:solidFill>
                                                  <a:srgbClr val="000000"/>
                                                </a:solidFill>
                                                <a:latin typeface="Cambria Math" panose="02040503050406030204" pitchFamily="18" charset="0"/>
                                              </a:rPr>
                                            </m:ctrlPr>
                                          </m:radPr>
                                          <m:deg/>
                                          <m:e>
                                            <m:r>
                                              <a:rPr lang="en-US" sz="2000" b="0" i="1" smtClean="0">
                                                <a:solidFill>
                                                  <a:srgbClr val="000000"/>
                                                </a:solidFill>
                                                <a:latin typeface="Cambria Math" panose="02040503050406030204" pitchFamily="18" charset="0"/>
                                              </a:rPr>
                                              <m:t>𝑛</m:t>
                                            </m:r>
                                          </m:e>
                                        </m:rad>
                                      </m:den>
                                    </m:f>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𝑧</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𝑥</m:t>
                                        </m:r>
                                      </m:e>
                                    </m:acc>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num>
                                  <m:den>
                                    <m:f>
                                      <m:fPr>
                                        <m:type m:val="lin"/>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𝜎</m:t>
                                        </m:r>
                                      </m:num>
                                      <m:den>
                                        <m:rad>
                                          <m:radPr>
                                            <m:degHide m:val="on"/>
                                            <m:ctrlPr>
                                              <a:rPr lang="en-US" sz="2000" b="0" i="1" smtClean="0">
                                                <a:solidFill>
                                                  <a:srgbClr val="000000"/>
                                                </a:solidFill>
                                                <a:latin typeface="Cambria Math" panose="02040503050406030204" pitchFamily="18" charset="0"/>
                                              </a:rPr>
                                            </m:ctrlPr>
                                          </m:radPr>
                                          <m:deg/>
                                          <m:e>
                                            <m:r>
                                              <a:rPr lang="en-US" sz="2000" b="0" i="1" smtClean="0">
                                                <a:solidFill>
                                                  <a:srgbClr val="000000"/>
                                                </a:solidFill>
                                                <a:latin typeface="Cambria Math" panose="02040503050406030204" pitchFamily="18" charset="0"/>
                                              </a:rPr>
                                              <m:t>𝑛</m:t>
                                            </m:r>
                                          </m:e>
                                        </m:rad>
                                      </m:den>
                                    </m:f>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𝑧</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𝑥</m:t>
                                        </m:r>
                                      </m:e>
                                    </m:acc>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num>
                                  <m:den>
                                    <m:f>
                                      <m:fPr>
                                        <m:type m:val="lin"/>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𝜎</m:t>
                                        </m:r>
                                      </m:num>
                                      <m:den>
                                        <m:rad>
                                          <m:radPr>
                                            <m:degHide m:val="on"/>
                                            <m:ctrlPr>
                                              <a:rPr lang="en-US" sz="2000" b="0" i="1" smtClean="0">
                                                <a:solidFill>
                                                  <a:srgbClr val="000000"/>
                                                </a:solidFill>
                                                <a:latin typeface="Cambria Math" panose="02040503050406030204" pitchFamily="18" charset="0"/>
                                              </a:rPr>
                                            </m:ctrlPr>
                                          </m:radPr>
                                          <m:deg/>
                                          <m:e>
                                            <m:r>
                                              <a:rPr lang="en-US" sz="2000" b="0" i="1" smtClean="0">
                                                <a:solidFill>
                                                  <a:srgbClr val="000000"/>
                                                </a:solidFill>
                                                <a:latin typeface="Cambria Math" panose="02040503050406030204" pitchFamily="18" charset="0"/>
                                              </a:rPr>
                                              <m:t>𝑛</m:t>
                                            </m:r>
                                          </m:e>
                                        </m:rad>
                                      </m:den>
                                    </m:f>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807792594"/>
                      </a:ext>
                    </a:extLst>
                  </a:tr>
                  <a:tr h="370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p</a:t>
                          </a:r>
                          <a:r>
                            <a:rPr lang="en-US" sz="2000" b="0" i="0" dirty="0">
                              <a:solidFill>
                                <a:srgbClr val="000000"/>
                              </a:solidFill>
                              <a:latin typeface="Cambria Math" panose="02040503050406030204" pitchFamily="18" charset="0"/>
                              <a:ea typeface="Cambria Math" panose="02040503050406030204" pitchFamily="18" charset="0"/>
                            </a:rPr>
                            <a:t>-</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dirty="0">
                              <a:solidFill>
                                <a:srgbClr val="000000"/>
                              </a:solidFill>
                              <a:latin typeface="+mj-lt"/>
                              <a:cs typeface="Arial" panose="020B0604020202020204" pitchFamily="34" charset="0"/>
                            </a:rPr>
                            <a:t>α</a:t>
                          </a:r>
                          <a:endParaRPr lang="en-US" sz="2000" b="0" i="1" dirty="0">
                            <a:solidFill>
                              <a:srgbClr val="000000"/>
                            </a:solidFill>
                            <a:latin typeface="+mj-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370840">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z</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r>
                                <a:rPr lang="en-US" sz="2000" b="0" i="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z</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z</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r>
                                <a:rPr lang="en-US" sz="2000" b="0" i="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b>
                              </m:sSub>
                            </m:oMath>
                          </a14:m>
                          <a:endParaRPr lang="en-US" sz="2000" b="0" dirty="0">
                            <a:solidFill>
                              <a:srgbClr val="00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rPr>
                            <a:t>or </a:t>
                          </a:r>
                          <a:r>
                            <a:rPr lang="en-US" sz="2000" b="0" i="1" dirty="0">
                              <a:solidFill>
                                <a:srgbClr val="000000"/>
                              </a:solidFill>
                              <a:latin typeface="Cambria Math" panose="02040503050406030204" pitchFamily="18" charset="0"/>
                              <a:ea typeface="Cambria Math" panose="02040503050406030204" pitchFamily="18" charset="0"/>
                            </a:rPr>
                            <a:t>z</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63916060"/>
                      </a:ext>
                    </a:extLst>
                  </a:tr>
                </a:tbl>
              </a:graphicData>
            </a:graphic>
          </p:graphicFrame>
        </mc:Choice>
        <mc:Fallback xmlns="">
          <p:graphicFrame>
            <p:nvGraphicFramePr>
              <p:cNvPr id="6" name="Table 6">
                <a:extLst>
                  <a:ext uri="{FF2B5EF4-FFF2-40B4-BE49-F238E27FC236}">
                    <a16:creationId xmlns:a16="http://schemas.microsoft.com/office/drawing/2014/main" id="{A8081616-52DD-231D-607E-511C6F68FD22}"/>
                  </a:ext>
                </a:extLst>
              </p:cNvPr>
              <p:cNvGraphicFramePr>
                <a:graphicFrameLocks noGrp="1"/>
              </p:cNvGraphicFramePr>
              <p:nvPr>
                <p:ph type="tbl" sz="quarter" idx="10"/>
                <p:extLst>
                  <p:ext uri="{D42A27DB-BD31-4B8C-83A1-F6EECF244321}">
                    <p14:modId xmlns:p14="http://schemas.microsoft.com/office/powerpoint/2010/main" val="732359637"/>
                  </p:ext>
                </p:extLst>
              </p:nvPr>
            </p:nvGraphicFramePr>
            <p:xfrm>
              <a:off x="1106213" y="1759169"/>
              <a:ext cx="9979571" cy="4077843"/>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3045617659"/>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962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Lower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701040">
                    <a:tc>
                      <a:txBody>
                        <a:bodyPr/>
                        <a:lstStyle/>
                        <a:p>
                          <a:pPr algn="l"/>
                          <a:r>
                            <a:rPr lang="en-US" sz="2000" b="1" dirty="0">
                              <a:solidFill>
                                <a:srgbClr val="000000"/>
                              </a:solidFill>
                            </a:rPr>
                            <a:t>Hypotheses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67489" t="-60870" r="-199776" b="-438261"/>
                          </a:stretch>
                        </a:blip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167865" t="-60870" r="-100225" b="-438261"/>
                          </a:stretch>
                        </a:blip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267265" t="-60870" b="-438261"/>
                          </a:stretch>
                        </a:blip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67489" t="-122517" r="-199776" b="-233775"/>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67865" t="-122517" r="-100225" b="-233775"/>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67265" t="-122517" b="-233775"/>
                          </a:stretch>
                        </a:blipFill>
                      </a:tcPr>
                    </a:tc>
                    <a:extLst>
                      <a:ext uri="{0D108BD9-81ED-4DB2-BD59-A6C34878D82A}">
                        <a16:rowId xmlns:a16="http://schemas.microsoft.com/office/drawing/2014/main" val="807792594"/>
                      </a:ext>
                    </a:extLst>
                  </a:tr>
                  <a:tr h="1005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p</a:t>
                          </a:r>
                          <a:r>
                            <a:rPr lang="en-US" sz="2000" b="0" i="0" dirty="0">
                              <a:solidFill>
                                <a:srgbClr val="000000"/>
                              </a:solidFill>
                              <a:latin typeface="Cambria Math" panose="02040503050406030204" pitchFamily="18" charset="0"/>
                              <a:ea typeface="Cambria Math" panose="02040503050406030204" pitchFamily="18" charset="0"/>
                            </a:rPr>
                            <a:t>-</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dirty="0">
                              <a:solidFill>
                                <a:srgbClr val="000000"/>
                              </a:solidFill>
                              <a:latin typeface="+mj-lt"/>
                              <a:cs typeface="Arial" panose="020B0604020202020204" pitchFamily="34" charset="0"/>
                            </a:rPr>
                            <a:t>α</a:t>
                          </a:r>
                          <a:endParaRPr lang="en-US" sz="2000" b="0" i="1" dirty="0">
                            <a:solidFill>
                              <a:srgbClr val="000000"/>
                            </a:solidFill>
                            <a:latin typeface="+mj-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1060323">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67489" t="-287931" r="-199776" b="-8046"/>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67865" t="-287931" r="-100225" b="-8046"/>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67265" t="-287931" b="-8046"/>
                          </a:stretch>
                        </a:blipFill>
                      </a:tcPr>
                    </a:tc>
                    <a:extLst>
                      <a:ext uri="{0D108BD9-81ED-4DB2-BD59-A6C34878D82A}">
                        <a16:rowId xmlns:a16="http://schemas.microsoft.com/office/drawing/2014/main" val="3163916060"/>
                      </a:ext>
                    </a:extLst>
                  </a:tr>
                </a:tbl>
              </a:graphicData>
            </a:graphic>
          </p:graphicFrame>
        </mc:Fallback>
      </mc:AlternateContent>
    </p:spTree>
    <p:extLst>
      <p:ext uri="{BB962C8B-B14F-4D97-AF65-F5344CB8AC3E}">
        <p14:creationId xmlns:p14="http://schemas.microsoft.com/office/powerpoint/2010/main" val="897617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6B9BB-1CCB-7667-CC1E-520C18C875B5}"/>
              </a:ext>
            </a:extLst>
          </p:cNvPr>
          <p:cNvSpPr>
            <a:spLocks noGrp="1"/>
          </p:cNvSpPr>
          <p:nvPr>
            <p:ph type="title"/>
          </p:nvPr>
        </p:nvSpPr>
        <p:spPr/>
        <p:txBody>
          <a:bodyPr/>
          <a:lstStyle/>
          <a:p>
            <a:r>
              <a:rPr lang="en-US" sz="3200" dirty="0"/>
              <a:t>9.3 A Confidence Interval Approach to the</a:t>
            </a:r>
            <a:br>
              <a:rPr lang="en-US" sz="3200" dirty="0"/>
            </a:br>
            <a:r>
              <a:rPr lang="en-US" sz="3200" dirty="0"/>
              <a:t>Testing of a Hypothesis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D92A6B7-2D25-12F1-1757-1FC17FB7134F}"/>
                  </a:ext>
                </a:extLst>
              </p:cNvPr>
              <p:cNvSpPr>
                <a:spLocks noGrp="1"/>
              </p:cNvSpPr>
              <p:nvPr>
                <p:ph type="body" sz="quarter" idx="15"/>
              </p:nvPr>
            </p:nvSpPr>
            <p:spPr>
              <a:xfrm>
                <a:off x="743576" y="1781506"/>
                <a:ext cx="10711543" cy="4051736"/>
              </a:xfrm>
            </p:spPr>
            <p:txBody>
              <a:bodyPr/>
              <a:lstStyle/>
              <a:p>
                <a:pPr>
                  <a:spcBef>
                    <a:spcPts val="600"/>
                  </a:spcBef>
                  <a:spcAft>
                    <a:spcPts val="600"/>
                  </a:spcAft>
                </a:pPr>
                <a:r>
                  <a:rPr lang="en-US" sz="2000" dirty="0"/>
                  <a:t>First, let us use the sample statistics for the </a:t>
                </a:r>
                <a:r>
                  <a:rPr lang="en-US" sz="2000" dirty="0" err="1"/>
                  <a:t>MaxFlight</a:t>
                </a:r>
                <a:r>
                  <a:rPr lang="en-US" sz="2000" dirty="0"/>
                  <a:t> example to develop a confidence interval for the population mean (</a:t>
                </a:r>
                <a:r>
                  <a:rPr lang="en-US" sz="2000" i="1" dirty="0">
                    <a:latin typeface="Symbol" panose="05050102010706020507" pitchFamily="18" charset="2"/>
                  </a:rPr>
                  <a:t>s</a:t>
                </a:r>
                <a:r>
                  <a:rPr lang="en-US" sz="2000" dirty="0"/>
                  <a:t> known case)</a:t>
                </a: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𝑧</m:t>
                          </m:r>
                        </m:e>
                        <m:sub>
                          <m:r>
                            <a:rPr lang="en-US" sz="200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/2</m:t>
                          </m:r>
                        </m:sub>
                      </m:sSub>
                      <m:f>
                        <m:fPr>
                          <m:ctrlPr>
                            <a:rPr lang="en-US" sz="2000" i="1" smtClean="0">
                              <a:latin typeface="Cambria Math" panose="02040503050406030204" pitchFamily="18" charset="0"/>
                              <a:ea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𝜎</m:t>
                          </m:r>
                        </m:num>
                        <m:den>
                          <m:rad>
                            <m:radPr>
                              <m:degHide m:val="on"/>
                              <m:ctrlPr>
                                <a:rPr lang="en-US" sz="200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𝑛</m:t>
                              </m:r>
                            </m:e>
                          </m:rad>
                        </m:den>
                      </m:f>
                      <m:r>
                        <a:rPr lang="en-US" sz="2000" b="0" i="1" smtClean="0">
                          <a:latin typeface="Cambria Math" panose="02040503050406030204" pitchFamily="18" charset="0"/>
                          <a:ea typeface="Cambria Math" panose="02040503050406030204" pitchFamily="18" charset="0"/>
                        </a:rPr>
                        <m:t>=297.6±1.96</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12</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50</m:t>
                              </m:r>
                            </m:e>
                          </m:rad>
                        </m:den>
                      </m:f>
                      <m:r>
                        <a:rPr lang="en-US" sz="2000" b="0" i="1" smtClean="0">
                          <a:latin typeface="Cambria Math" panose="02040503050406030204" pitchFamily="18" charset="0"/>
                          <a:ea typeface="Cambria Math" panose="02040503050406030204" pitchFamily="18" charset="0"/>
                        </a:rPr>
                        <m:t>=297.6±3.3</m:t>
                      </m:r>
                    </m:oMath>
                  </m:oMathPara>
                </a14:m>
                <a:endParaRPr lang="en-US" sz="2000" dirty="0"/>
              </a:p>
              <a:p>
                <a:pPr>
                  <a:spcBef>
                    <a:spcPts val="600"/>
                  </a:spcBef>
                </a:pPr>
                <a:r>
                  <a:rPr lang="en-US" sz="2000" dirty="0"/>
                  <a:t>We are 95% confident that the mean distance for the population of golf balls is between </a:t>
                </a:r>
                <a14:m>
                  <m:oMath xmlns:m="http://schemas.openxmlformats.org/officeDocument/2006/math">
                    <m:r>
                      <a:rPr lang="en-US" sz="2000" b="0" i="1" smtClean="0">
                        <a:latin typeface="Cambria Math" panose="02040503050406030204" pitchFamily="18" charset="0"/>
                        <a:ea typeface="Cambria Math" panose="02040503050406030204" pitchFamily="18" charset="0"/>
                      </a:rPr>
                      <m:t>297.6−3.3=294.3</m:t>
                    </m:r>
                  </m:oMath>
                </a14:m>
                <a:r>
                  <a:rPr lang="en-US" sz="2000" dirty="0"/>
                  <a:t> and </a:t>
                </a:r>
                <a14:m>
                  <m:oMath xmlns:m="http://schemas.openxmlformats.org/officeDocument/2006/math">
                    <m:r>
                      <a:rPr lang="en-US" sz="2000" i="1">
                        <a:latin typeface="Cambria Math" panose="02040503050406030204" pitchFamily="18" charset="0"/>
                        <a:ea typeface="Cambria Math" panose="02040503050406030204" pitchFamily="18" charset="0"/>
                      </a:rPr>
                      <m:t>297.6</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3.3</m:t>
                    </m:r>
                    <m:r>
                      <a:rPr lang="en-US" sz="2000" b="0" i="1" smtClean="0">
                        <a:latin typeface="Cambria Math" panose="02040503050406030204" pitchFamily="18" charset="0"/>
                        <a:ea typeface="Cambria Math" panose="02040503050406030204" pitchFamily="18" charset="0"/>
                      </a:rPr>
                      <m:t>=300.9</m:t>
                    </m:r>
                  </m:oMath>
                </a14:m>
                <a:r>
                  <a:rPr lang="en-US" sz="2000" dirty="0"/>
                  <a:t> yards.</a:t>
                </a:r>
              </a:p>
              <a:p>
                <a:pPr>
                  <a:spcBef>
                    <a:spcPts val="600"/>
                  </a:spcBef>
                </a:pPr>
                <a:r>
                  <a:rPr lang="en-US" sz="2000" dirty="0"/>
                  <a:t>Recollect how the </a:t>
                </a:r>
                <a:r>
                  <a:rPr lang="en-US" sz="2000" dirty="0" err="1"/>
                  <a:t>MaxFlight</a:t>
                </a:r>
                <a:r>
                  <a:rPr lang="en-US" sz="2000" dirty="0"/>
                  <a:t> hypothesis test takes the following form:</a:t>
                </a:r>
              </a:p>
              <a:p>
                <a:pPr marL="914400">
                  <a:lnSpc>
                    <a:spcPct val="100000"/>
                  </a:lnSpc>
                  <a:spcBef>
                    <a:spcPts val="600"/>
                  </a:spcBef>
                  <a:spcAft>
                    <a:spcPts val="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=295</m:t>
                    </m:r>
                  </m:oMath>
                </a14:m>
                <a:r>
                  <a:rPr lang="en-US" sz="2000" b="0" dirty="0">
                    <a:solidFill>
                      <a:srgbClr val="000000"/>
                    </a:solidFill>
                    <a:ea typeface="Cambria Math" panose="02040503050406030204" pitchFamily="18" charset="0"/>
                    <a:cs typeface="Arial" panose="020B0604020202020204" pitchFamily="34" charset="0"/>
                  </a:rPr>
                  <a:t> </a:t>
                </a:r>
              </a:p>
              <a:p>
                <a:pPr marL="914400">
                  <a:lnSpc>
                    <a:spcPct val="100000"/>
                  </a:lnSpc>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≠295</m:t>
                    </m:r>
                  </m:oMath>
                </a14:m>
                <a:r>
                  <a:rPr lang="en-US" sz="2000" dirty="0">
                    <a:solidFill>
                      <a:srgbClr val="000000"/>
                    </a:solidFill>
                    <a:cs typeface="Arial" panose="020B0604020202020204" pitchFamily="34" charset="0"/>
                  </a:rPr>
                  <a:t> </a:t>
                </a:r>
                <a:endParaRPr lang="en-US" sz="2000" dirty="0"/>
              </a:p>
              <a:p>
                <a:pPr>
                  <a:spcBef>
                    <a:spcPts val="600"/>
                  </a:spcBef>
                </a:pPr>
                <a:r>
                  <a:rPr lang="en-US" sz="2000" dirty="0"/>
                  <a:t>Because the confidence interval contains the hypothesized population mean,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=295</m:t>
                    </m:r>
                  </m:oMath>
                </a14:m>
                <a:r>
                  <a:rPr lang="en-US" sz="2000" dirty="0"/>
                  <a:t>, the null hypothesis cannot be rejected.</a:t>
                </a:r>
              </a:p>
            </p:txBody>
          </p:sp>
        </mc:Choice>
        <mc:Fallback xmlns="">
          <p:sp>
            <p:nvSpPr>
              <p:cNvPr id="3" name="Text Placeholder 2">
                <a:extLst>
                  <a:ext uri="{FF2B5EF4-FFF2-40B4-BE49-F238E27FC236}">
                    <a16:creationId xmlns:a16="http://schemas.microsoft.com/office/drawing/2014/main" id="{CD92A6B7-2D25-12F1-1757-1FC17FB7134F}"/>
                  </a:ext>
                </a:extLst>
              </p:cNvPr>
              <p:cNvSpPr>
                <a:spLocks noGrp="1" noRot="1" noChangeAspect="1" noMove="1" noResize="1" noEditPoints="1" noAdjustHandles="1" noChangeArrowheads="1" noChangeShapeType="1" noTextEdit="1"/>
              </p:cNvSpPr>
              <p:nvPr>
                <p:ph type="body" sz="quarter" idx="15"/>
              </p:nvPr>
            </p:nvSpPr>
            <p:spPr>
              <a:xfrm>
                <a:off x="743576" y="1781506"/>
                <a:ext cx="10711543" cy="4051736"/>
              </a:xfrm>
              <a:blipFill>
                <a:blip r:embed="rId2"/>
                <a:stretch>
                  <a:fillRect l="-1480" t="-1805" r="-1878" b="-2256"/>
                </a:stretch>
              </a:blipFill>
            </p:spPr>
            <p:txBody>
              <a:bodyPr/>
              <a:lstStyle/>
              <a:p>
                <a:r>
                  <a:rPr lang="en-US">
                    <a:noFill/>
                  </a:rPr>
                  <a:t> </a:t>
                </a:r>
              </a:p>
            </p:txBody>
          </p:sp>
        </mc:Fallback>
      </mc:AlternateContent>
    </p:spTree>
    <p:extLst>
      <p:ext uri="{BB962C8B-B14F-4D97-AF65-F5344CB8AC3E}">
        <p14:creationId xmlns:p14="http://schemas.microsoft.com/office/powerpoint/2010/main" val="1139093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dirty="0">
                <a:solidFill>
                  <a:srgbClr val="D14B1E"/>
                </a:solidFill>
              </a:rPr>
              <a:t>9.4 Population Mean: </a:t>
            </a:r>
            <a:r>
              <a:rPr lang="el-GR" i="1" dirty="0">
                <a:solidFill>
                  <a:srgbClr val="D14B1E"/>
                </a:solidFill>
              </a:rPr>
              <a:t>σ</a:t>
            </a:r>
            <a:r>
              <a:rPr lang="en-US" dirty="0">
                <a:solidFill>
                  <a:srgbClr val="D14B1E"/>
                </a:solidFill>
              </a:rPr>
              <a:t> Unknown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43576" y="1153951"/>
                <a:ext cx="10711543" cy="4739640"/>
              </a:xfrm>
            </p:spPr>
            <p:txBody>
              <a:bodyPr>
                <a:noAutofit/>
              </a:bodyPr>
              <a:lstStyle/>
              <a:p>
                <a:r>
                  <a:rPr lang="en-US" sz="2000" dirty="0"/>
                  <a:t>In this section, we describe how to conduct hypothesis tests about a population mean for the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t> unknown case. </a:t>
                </a:r>
              </a:p>
              <a:p>
                <a:r>
                  <a:rPr lang="en-US" sz="2000" dirty="0"/>
                  <a:t>To conduct a hypothesis test about a population mean for the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t> unknown case, </a:t>
                </a:r>
              </a:p>
              <a:p>
                <a:pPr marL="914400" indent="-342900">
                  <a:spcBef>
                    <a:spcPts val="600"/>
                  </a:spcBef>
                  <a:buFont typeface="Arial" panose="020B0604020202020204" pitchFamily="34" charset="0"/>
                  <a:buChar char="•"/>
                </a:pPr>
                <a:r>
                  <a:rPr lang="en-US" sz="2000" dirty="0"/>
                  <a:t>the sample mean </a:t>
                </a:r>
                <a14:m>
                  <m:oMath xmlns:m="http://schemas.openxmlformats.org/officeDocument/2006/math">
                    <m:acc>
                      <m:accPr>
                        <m:chr m:val="̅"/>
                        <m:ctrlPr>
                          <a:rPr lang="en-US" sz="2000" i="1" dirty="0" smtClean="0">
                            <a:latin typeface="Cambria Math" panose="02040503050406030204" pitchFamily="18" charset="0"/>
                          </a:rPr>
                        </m:ctrlPr>
                      </m:accPr>
                      <m:e>
                        <m:r>
                          <a:rPr lang="en-US" sz="2000" b="0" i="1" dirty="0" smtClean="0">
                            <a:latin typeface="Cambria Math" panose="02040503050406030204" pitchFamily="18" charset="0"/>
                          </a:rPr>
                          <m:t>𝑥</m:t>
                        </m:r>
                      </m:e>
                    </m:acc>
                  </m:oMath>
                </a14:m>
                <a:r>
                  <a:rPr lang="en-US" sz="2000" dirty="0"/>
                  <a:t> is used as an estimate of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𝜇</m:t>
                    </m:r>
                  </m:oMath>
                </a14:m>
                <a:r>
                  <a:rPr lang="en-US" sz="2000" dirty="0"/>
                  <a:t> and </a:t>
                </a:r>
              </a:p>
              <a:p>
                <a:pPr marL="914400" indent="-342900">
                  <a:spcBef>
                    <a:spcPts val="600"/>
                  </a:spcBef>
                  <a:buFont typeface="Arial" panose="020B0604020202020204" pitchFamily="34" charset="0"/>
                  <a:buChar char="•"/>
                </a:pPr>
                <a:r>
                  <a:rPr lang="en-US" sz="2000" dirty="0"/>
                  <a:t>the sample standard deviation </a:t>
                </a:r>
                <a14:m>
                  <m:oMath xmlns:m="http://schemas.openxmlformats.org/officeDocument/2006/math">
                    <m:r>
                      <a:rPr lang="en-US" sz="2000" i="1" dirty="0" smtClean="0">
                        <a:latin typeface="Cambria Math" panose="02040503050406030204" pitchFamily="18" charset="0"/>
                      </a:rPr>
                      <m:t>𝑠</m:t>
                    </m:r>
                  </m:oMath>
                </a14:m>
                <a:r>
                  <a:rPr lang="en-US" sz="2000" dirty="0"/>
                  <a:t> is used as an estimate of </a:t>
                </a:r>
                <a14:m>
                  <m:oMath xmlns:m="http://schemas.openxmlformats.org/officeDocument/2006/math">
                    <m:r>
                      <a:rPr lang="en-US" sz="2000" i="1">
                        <a:latin typeface="Cambria Math" panose="02040503050406030204" pitchFamily="18" charset="0"/>
                        <a:ea typeface="Cambria Math" panose="02040503050406030204" pitchFamily="18" charset="0"/>
                      </a:rPr>
                      <m:t>𝜎</m:t>
                    </m:r>
                  </m:oMath>
                </a14:m>
                <a:r>
                  <a:rPr lang="en-US" sz="2000" dirty="0"/>
                  <a:t>.</a:t>
                </a:r>
              </a:p>
              <a:p>
                <a:r>
                  <a:rPr lang="en-US" sz="2000" dirty="0"/>
                  <a:t>With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t> unknown,  the sampling distribution of the test statistic follows a </a:t>
                </a:r>
                <a14:m>
                  <m:oMath xmlns:m="http://schemas.openxmlformats.org/officeDocument/2006/math">
                    <m:r>
                      <a:rPr lang="en-US" sz="2000" i="1" dirty="0" smtClean="0">
                        <a:latin typeface="Cambria Math" panose="02040503050406030204" pitchFamily="18" charset="0"/>
                      </a:rPr>
                      <m:t>𝑡</m:t>
                    </m:r>
                  </m:oMath>
                </a14:m>
                <a:r>
                  <a:rPr lang="en-US" sz="2000" dirty="0"/>
                  <a:t> distribution with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m:t>
                    </m:r>
                  </m:oMath>
                </a14:m>
                <a:r>
                  <a:rPr lang="en-US" sz="2000" dirty="0"/>
                  <a:t> degrees of freedom. </a:t>
                </a:r>
              </a:p>
              <a:p>
                <a:pPr marL="914400" indent="-342900">
                  <a:spcBef>
                    <a:spcPts val="600"/>
                  </a:spcBef>
                  <a:buFont typeface="Arial" panose="020B0604020202020204" pitchFamily="34" charset="0"/>
                  <a:buChar char="•"/>
                </a:pPr>
                <a:r>
                  <a:rPr lang="en-US" sz="2000" dirty="0"/>
                  <a:t>The </a:t>
                </a:r>
                <a14:m>
                  <m:oMath xmlns:m="http://schemas.openxmlformats.org/officeDocument/2006/math">
                    <m:r>
                      <a:rPr lang="en-US" sz="2000" i="1" dirty="0" smtClean="0">
                        <a:latin typeface="Cambria Math" panose="02040503050406030204" pitchFamily="18" charset="0"/>
                      </a:rPr>
                      <m:t>𝑡</m:t>
                    </m:r>
                  </m:oMath>
                </a14:m>
                <a:r>
                  <a:rPr lang="en-US" sz="2000" dirty="0"/>
                  <a:t> distribution has slightly more variability than the normal distribution because the sample is used to develop estimates of both </a:t>
                </a:r>
                <a14:m>
                  <m:oMath xmlns:m="http://schemas.openxmlformats.org/officeDocument/2006/math">
                    <m:r>
                      <a:rPr lang="en-US" sz="2000" i="1" dirty="0">
                        <a:latin typeface="Cambria Math" panose="02040503050406030204" pitchFamily="18" charset="0"/>
                        <a:ea typeface="Cambria Math" panose="02040503050406030204" pitchFamily="18" charset="0"/>
                      </a:rPr>
                      <m:t>𝜇</m:t>
                    </m:r>
                  </m:oMath>
                </a14:m>
                <a:r>
                  <a:rPr lang="en-US" sz="2000" dirty="0"/>
                  <a:t> and </a:t>
                </a:r>
                <a14:m>
                  <m:oMath xmlns:m="http://schemas.openxmlformats.org/officeDocument/2006/math">
                    <m:r>
                      <a:rPr lang="en-US" sz="2000" i="1">
                        <a:latin typeface="Cambria Math" panose="02040503050406030204" pitchFamily="18" charset="0"/>
                        <a:ea typeface="Cambria Math" panose="02040503050406030204" pitchFamily="18" charset="0"/>
                      </a:rPr>
                      <m:t>𝜎</m:t>
                    </m:r>
                  </m:oMath>
                </a14:m>
                <a:r>
                  <a:rPr lang="en-US" sz="2000" dirty="0"/>
                  <a:t>.</a:t>
                </a:r>
              </a:p>
              <a:p>
                <a:pPr marL="914400" indent="-342900">
                  <a:spcBef>
                    <a:spcPts val="600"/>
                  </a:spcBef>
                  <a:buFont typeface="Arial" panose="020B0604020202020204" pitchFamily="34" charset="0"/>
                  <a:buChar char="•"/>
                </a:pPr>
                <a:r>
                  <a:rPr lang="en-US" sz="2000" dirty="0"/>
                  <a:t>Research shows that the assumption that the population from which we are sampling has a normal distribution can be relaxed when the sample size is large enough. </a:t>
                </a:r>
              </a:p>
              <a:p>
                <a:r>
                  <a:rPr lang="en-US" sz="2000" dirty="0"/>
                  <a:t>At the end of the section, we provide some practical advice concerning the population distribution and sample size.</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43576" y="1153951"/>
                <a:ext cx="10711543" cy="4739640"/>
              </a:xfrm>
              <a:blipFill>
                <a:blip r:embed="rId3"/>
                <a:stretch>
                  <a:fillRect l="-1480" t="-1542" r="-228" b="-1414"/>
                </a:stretch>
              </a:blipFill>
            </p:spPr>
            <p:txBody>
              <a:bodyPr/>
              <a:lstStyle/>
              <a:p>
                <a:r>
                  <a:rPr lang="en-US">
                    <a:noFill/>
                  </a:rPr>
                  <a:t> </a:t>
                </a:r>
              </a:p>
            </p:txBody>
          </p:sp>
        </mc:Fallback>
      </mc:AlternateContent>
    </p:spTree>
    <p:extLst>
      <p:ext uri="{BB962C8B-B14F-4D97-AF65-F5344CB8AC3E}">
        <p14:creationId xmlns:p14="http://schemas.microsoft.com/office/powerpoint/2010/main" val="2652546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646389" y="365125"/>
            <a:ext cx="10857186" cy="672105"/>
          </a:xfrm>
        </p:spPr>
        <p:txBody>
          <a:bodyPr/>
          <a:lstStyle/>
          <a:p>
            <a:r>
              <a:rPr lang="en-US" sz="3200" dirty="0"/>
              <a:t>9.4 A One-Tailed Test Example About a Population Mean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93193" y="1501665"/>
                <a:ext cx="10515599" cy="3854669"/>
              </a:xfrm>
            </p:spPr>
            <p:txBody>
              <a:bodyPr>
                <a:noAutofit/>
              </a:bodyPr>
              <a:lstStyle/>
              <a:p>
                <a:pPr>
                  <a:lnSpc>
                    <a:spcPct val="100000"/>
                  </a:lnSpc>
                  <a:spcBef>
                    <a:spcPts val="600"/>
                  </a:spcBef>
                  <a:spcAft>
                    <a:spcPts val="0"/>
                  </a:spcAft>
                </a:pPr>
                <a:r>
                  <a:rPr lang="en-US" sz="2000" dirty="0" err="1"/>
                  <a:t>DATAFile</a:t>
                </a:r>
                <a:r>
                  <a:rPr lang="en-US" sz="2000" dirty="0"/>
                  <a:t>: </a:t>
                </a:r>
                <a:r>
                  <a:rPr lang="en-US" sz="2000" i="1" dirty="0" err="1"/>
                  <a:t>airrating</a:t>
                </a:r>
                <a:endParaRPr lang="en-US" sz="2000" i="1" dirty="0"/>
              </a:p>
              <a:p>
                <a:pPr>
                  <a:lnSpc>
                    <a:spcPct val="100000"/>
                  </a:lnSpc>
                  <a:spcBef>
                    <a:spcPts val="600"/>
                  </a:spcBef>
                  <a:spcAft>
                    <a:spcPts val="0"/>
                  </a:spcAft>
                </a:pPr>
                <a:r>
                  <a:rPr lang="en-US" sz="2000" dirty="0"/>
                  <a:t>A business travel magazine wants to classify London’s Heathrow Airport according to the mean rating for the population of business travelers.</a:t>
                </a:r>
              </a:p>
              <a:p>
                <a:pPr>
                  <a:lnSpc>
                    <a:spcPct val="100000"/>
                  </a:lnSpc>
                  <a:spcBef>
                    <a:spcPts val="600"/>
                  </a:spcBef>
                  <a:spcAft>
                    <a:spcPts val="0"/>
                  </a:spcAft>
                </a:pPr>
                <a:r>
                  <a:rPr lang="en-US" sz="2000" dirty="0"/>
                  <a:t>A rating scale with a score from 0 to 10 is used, and if the population mean rating is greater than 7, Heathrow Airport will be designated as a superior service airport.</a:t>
                </a:r>
              </a:p>
              <a:p>
                <a:pPr>
                  <a:lnSpc>
                    <a:spcPct val="100000"/>
                  </a:lnSpc>
                  <a:spcBef>
                    <a:spcPts val="600"/>
                  </a:spcBef>
                  <a:spcAft>
                    <a:spcPts val="0"/>
                  </a:spcAft>
                </a:pPr>
                <a:r>
                  <a:rPr lang="en-US" sz="2000" dirty="0"/>
                  <a:t>We set the alternative hypothesis to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&gt;7</m:t>
                    </m:r>
                  </m:oMath>
                </a14:m>
                <a:r>
                  <a:rPr lang="en-US" sz="2000" dirty="0"/>
                  <a:t>, so that the rejection of the null hypothesis leads to the conclusion that Heathrow should be designated as a superior service airport.</a:t>
                </a:r>
              </a:p>
              <a:p>
                <a:pPr marL="914400">
                  <a:lnSpc>
                    <a:spcPct val="100000"/>
                  </a:lnSpc>
                  <a:spcBef>
                    <a:spcPts val="600"/>
                  </a:spcBef>
                  <a:spcAft>
                    <a:spcPts val="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≤7</m:t>
                    </m:r>
                  </m:oMath>
                </a14:m>
                <a:r>
                  <a:rPr lang="en-US" sz="2000" b="0" dirty="0">
                    <a:solidFill>
                      <a:srgbClr val="000000"/>
                    </a:solidFill>
                    <a:ea typeface="Cambria Math" panose="02040503050406030204" pitchFamily="18" charset="0"/>
                    <a:cs typeface="Arial" panose="020B0604020202020204" pitchFamily="34" charset="0"/>
                  </a:rPr>
                  <a:t> </a:t>
                </a:r>
              </a:p>
              <a:p>
                <a:pPr marL="914400">
                  <a:lnSpc>
                    <a:spcPct val="100000"/>
                  </a:lnSpc>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&gt;7</m:t>
                    </m:r>
                  </m:oMath>
                </a14:m>
                <a:r>
                  <a:rPr lang="en-US" sz="2000" dirty="0">
                    <a:solidFill>
                      <a:srgbClr val="000000"/>
                    </a:solidFill>
                    <a:cs typeface="Arial" panose="020B0604020202020204" pitchFamily="34" charset="0"/>
                  </a:rPr>
                  <a:t> </a:t>
                </a:r>
              </a:p>
              <a:p>
                <a:pPr>
                  <a:lnSpc>
                    <a:spcPct val="100000"/>
                  </a:lnSpc>
                  <a:spcBef>
                    <a:spcPts val="600"/>
                  </a:spcBef>
                  <a:spcAft>
                    <a:spcPts val="0"/>
                  </a:spcAft>
                </a:pPr>
                <a:r>
                  <a:rPr lang="en-US" sz="2000" dirty="0">
                    <a:solidFill>
                      <a:srgbClr val="000000"/>
                    </a:solidFill>
                    <a:cs typeface="Arial" panose="020B0604020202020204" pitchFamily="34" charset="0"/>
                  </a:rPr>
                  <a:t>We use </a:t>
                </a:r>
                <a14:m>
                  <m:oMath xmlns:m="http://schemas.openxmlformats.org/officeDocument/2006/math">
                    <m:r>
                      <a:rPr lang="en-US" sz="200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 as the level of significance for the test.</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93193" y="1501665"/>
                <a:ext cx="10515599" cy="3854669"/>
              </a:xfrm>
              <a:blipFill>
                <a:blip r:embed="rId2"/>
                <a:stretch>
                  <a:fillRect l="-1449" t="-1896" r="-1739"/>
                </a:stretch>
              </a:blipFill>
            </p:spPr>
            <p:txBody>
              <a:bodyPr/>
              <a:lstStyle/>
              <a:p>
                <a:r>
                  <a:rPr lang="en-US">
                    <a:noFill/>
                  </a:rPr>
                  <a:t> </a:t>
                </a:r>
              </a:p>
            </p:txBody>
          </p:sp>
        </mc:Fallback>
      </mc:AlternateContent>
    </p:spTree>
    <p:extLst>
      <p:ext uri="{BB962C8B-B14F-4D97-AF65-F5344CB8AC3E}">
        <p14:creationId xmlns:p14="http://schemas.microsoft.com/office/powerpoint/2010/main" val="838437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646389" y="365125"/>
            <a:ext cx="10857186" cy="672105"/>
          </a:xfrm>
        </p:spPr>
        <p:txBody>
          <a:bodyPr/>
          <a:lstStyle/>
          <a:p>
            <a:r>
              <a:rPr lang="en-US" sz="3200" dirty="0"/>
              <a:t>9.4 Test Statistic for the Air Ratings Example</a:t>
            </a:r>
            <a:br>
              <a:rPr lang="en-US" sz="3200" dirty="0"/>
            </a:br>
            <a:r>
              <a:rPr lang="en-US" sz="3200" dirty="0"/>
              <a:t>(Population Mean: </a:t>
            </a:r>
            <a:r>
              <a:rPr lang="en-US" sz="3200" i="1" dirty="0">
                <a:latin typeface="Symbol" panose="05050102010706020507" pitchFamily="18" charset="2"/>
              </a:rPr>
              <a:t>s</a:t>
            </a:r>
            <a:r>
              <a:rPr lang="en-US" sz="3200" dirty="0"/>
              <a:t> Unknown)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93193" y="1608084"/>
                <a:ext cx="10515599" cy="4374930"/>
              </a:xfrm>
            </p:spPr>
            <p:txBody>
              <a:bodyPr>
                <a:noAutofit/>
              </a:bodyPr>
              <a:lstStyle/>
              <a:p>
                <a:pPr>
                  <a:lnSpc>
                    <a:spcPct val="100000"/>
                  </a:lnSpc>
                  <a:spcBef>
                    <a:spcPts val="600"/>
                  </a:spcBef>
                  <a:spcAft>
                    <a:spcPts val="0"/>
                  </a:spcAft>
                </a:pPr>
                <a:r>
                  <a:rPr lang="en-US" sz="2000" dirty="0"/>
                  <a:t>In Section 8.2 we learned that when we use the sample standard deviation, </a:t>
                </a:r>
                <a14:m>
                  <m:oMath xmlns:m="http://schemas.openxmlformats.org/officeDocument/2006/math">
                    <m:r>
                      <a:rPr lang="en-US" sz="2000" i="1" dirty="0" smtClean="0">
                        <a:latin typeface="Cambria Math" panose="02040503050406030204" pitchFamily="18" charset="0"/>
                      </a:rPr>
                      <m:t>𝑠</m:t>
                    </m:r>
                  </m:oMath>
                </a14:m>
                <a:r>
                  <a:rPr lang="en-US" sz="2000" dirty="0"/>
                  <a:t>, as an estimate of the population standard deviation, </a:t>
                </a:r>
                <a:r>
                  <a:rPr lang="en-US" sz="2000" i="1" dirty="0">
                    <a:latin typeface="Symbol" panose="05050102010706020507" pitchFamily="18" charset="2"/>
                  </a:rPr>
                  <a:t>s</a:t>
                </a:r>
                <a:r>
                  <a:rPr lang="en-US" sz="2000" dirty="0"/>
                  <a:t>, the sampling distribution of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oMath>
                </a14:m>
                <a:r>
                  <a:rPr lang="en-US" sz="2000" dirty="0"/>
                  <a:t> follows a </a:t>
                </a:r>
                <a14:m>
                  <m:oMath xmlns:m="http://schemas.openxmlformats.org/officeDocument/2006/math">
                    <m:r>
                      <a:rPr lang="en-US" sz="2000" i="1" dirty="0" smtClean="0">
                        <a:latin typeface="Cambria Math" panose="02040503050406030204" pitchFamily="18" charset="0"/>
                      </a:rPr>
                      <m:t>𝑡</m:t>
                    </m:r>
                  </m:oMath>
                </a14:m>
                <a:r>
                  <a:rPr lang="en-US" sz="2000" dirty="0"/>
                  <a:t> distribution with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m:t>
                    </m:r>
                  </m:oMath>
                </a14:m>
                <a:r>
                  <a:rPr lang="en-US" sz="2000" dirty="0"/>
                  <a:t> degrees of freedom.</a:t>
                </a:r>
              </a:p>
              <a:p>
                <a:pPr>
                  <a:lnSpc>
                    <a:spcPct val="100000"/>
                  </a:lnSpc>
                  <a:spcBef>
                    <a:spcPts val="600"/>
                  </a:spcBef>
                  <a:spcAft>
                    <a:spcPts val="600"/>
                  </a:spcAft>
                </a:pPr>
                <a:r>
                  <a:rPr lang="en-US" sz="2000" dirty="0"/>
                  <a:t>The test statistic for hypothesis tests about a population mean when </a:t>
                </a:r>
                <a:r>
                  <a:rPr lang="en-US" sz="2000" i="1" dirty="0">
                    <a:latin typeface="Symbol" panose="05050102010706020507" pitchFamily="18" charset="2"/>
                  </a:rPr>
                  <a:t>s</a:t>
                </a:r>
                <a:r>
                  <a:rPr lang="en-US" sz="2000" dirty="0"/>
                  <a:t> is unknown is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𝒕</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𝝁</m:t>
                              </m:r>
                            </m:e>
                            <m:sub>
                              <m:r>
                                <a:rPr lang="en-US" sz="2000" b="1" i="1" smtClean="0">
                                  <a:latin typeface="Cambria Math" panose="02040503050406030204" pitchFamily="18" charset="0"/>
                                </a:rPr>
                                <m:t>𝟎</m:t>
                              </m:r>
                            </m:sub>
                          </m:sSub>
                        </m:num>
                        <m:den>
                          <m:f>
                            <m:fPr>
                              <m:type m:val="lin"/>
                              <m:ctrlPr>
                                <a:rPr lang="en-US" sz="2000" b="1" i="1" smtClean="0">
                                  <a:latin typeface="Cambria Math" panose="02040503050406030204" pitchFamily="18" charset="0"/>
                                </a:rPr>
                              </m:ctrlPr>
                            </m:fPr>
                            <m:num>
                              <m:r>
                                <a:rPr lang="en-US" sz="2000" b="1" i="1" smtClean="0">
                                  <a:latin typeface="Cambria Math" panose="02040503050406030204" pitchFamily="18" charset="0"/>
                                </a:rPr>
                                <m:t>𝒔</m:t>
                              </m:r>
                            </m:num>
                            <m:den>
                              <m:rad>
                                <m:radPr>
                                  <m:degHide m:val="on"/>
                                  <m:ctrlPr>
                                    <a:rPr lang="en-US" sz="2000" b="1" i="1" smtClean="0">
                                      <a:latin typeface="Cambria Math" panose="02040503050406030204" pitchFamily="18" charset="0"/>
                                    </a:rPr>
                                  </m:ctrlPr>
                                </m:radPr>
                                <m:deg/>
                                <m:e>
                                  <m:r>
                                    <a:rPr lang="en-US" sz="2000" b="1" i="1" smtClean="0">
                                      <a:latin typeface="Cambria Math" panose="02040503050406030204" pitchFamily="18" charset="0"/>
                                    </a:rPr>
                                    <m:t>𝒏</m:t>
                                  </m:r>
                                </m:e>
                              </m:rad>
                            </m:den>
                          </m:f>
                        </m:den>
                      </m:f>
                    </m:oMath>
                  </m:oMathPara>
                </a14:m>
                <a:endParaRPr lang="en-US" sz="2000" b="1" dirty="0"/>
              </a:p>
              <a:p>
                <a:pPr>
                  <a:lnSpc>
                    <a:spcPct val="100000"/>
                  </a:lnSpc>
                  <a:spcBef>
                    <a:spcPts val="600"/>
                  </a:spcBef>
                  <a:spcAft>
                    <a:spcPts val="600"/>
                  </a:spcAft>
                </a:pPr>
                <a:r>
                  <a:rPr lang="en-US" sz="2000" dirty="0"/>
                  <a:t>The surveyed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=60 </m:t>
                    </m:r>
                  </m:oMath>
                </a14:m>
                <a:r>
                  <a:rPr lang="en-US" sz="2000" dirty="0"/>
                  <a:t>business travelers at Heathrow Airport provided sample mean rating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r>
                      <a:rPr lang="en-US" sz="2000" i="1" dirty="0" smtClean="0">
                        <a:latin typeface="Cambria Math" panose="02040503050406030204" pitchFamily="18" charset="0"/>
                      </a:rPr>
                      <m:t>=7.25</m:t>
                    </m:r>
                  </m:oMath>
                </a14:m>
                <a:r>
                  <a:rPr lang="en-US" sz="2000" dirty="0"/>
                  <a:t>, and sample standard deviation </a:t>
                </a:r>
                <a14:m>
                  <m:oMath xmlns:m="http://schemas.openxmlformats.org/officeDocument/2006/math">
                    <m:r>
                      <a:rPr lang="en-US" sz="2000" i="1" dirty="0" smtClean="0">
                        <a:latin typeface="Cambria Math" panose="02040503050406030204" pitchFamily="18" charset="0"/>
                      </a:rPr>
                      <m:t>𝑠</m:t>
                    </m:r>
                    <m:r>
                      <a:rPr lang="en-US" sz="2000" i="1" dirty="0" smtClean="0">
                        <a:latin typeface="Cambria Math" panose="02040503050406030204" pitchFamily="18" charset="0"/>
                      </a:rPr>
                      <m:t>=1.052</m:t>
                    </m:r>
                  </m:oMath>
                </a14:m>
                <a:r>
                  <a:rPr lang="en-US" sz="2000" dirty="0"/>
                  <a:t> (*see notes.) Thus, we have</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𝑡</m:t>
                      </m:r>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0</m:t>
                              </m:r>
                            </m:sub>
                          </m:sSub>
                        </m:num>
                        <m:den>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𝑠</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7.25−7</m:t>
                          </m:r>
                        </m:num>
                        <m:den>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1.052</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60</m:t>
                                  </m:r>
                                </m:e>
                              </m:rad>
                            </m:den>
                          </m:f>
                        </m:den>
                      </m:f>
                      <m:r>
                        <a:rPr lang="en-US" sz="2000" b="0" i="1" smtClean="0">
                          <a:latin typeface="Cambria Math" panose="02040503050406030204" pitchFamily="18" charset="0"/>
                        </a:rPr>
                        <m:t>=1.84</m:t>
                      </m:r>
                    </m:oMath>
                  </m:oMathPara>
                </a14:m>
                <a:endParaRPr lang="en-US" sz="2000" dirty="0"/>
              </a:p>
              <a:p>
                <a:pPr>
                  <a:lnSpc>
                    <a:spcPct val="100000"/>
                  </a:lnSpc>
                  <a:spcBef>
                    <a:spcPts val="600"/>
                  </a:spcBef>
                  <a:spcAft>
                    <a:spcPts val="600"/>
                  </a:spcAft>
                </a:pPr>
                <a:r>
                  <a:rPr lang="en-US" sz="2000" dirty="0"/>
                  <a:t>The </a:t>
                </a:r>
                <a:r>
                  <a:rPr lang="en-US" sz="2000" i="1" dirty="0"/>
                  <a:t>p</a:t>
                </a:r>
                <a:r>
                  <a:rPr lang="en-US" sz="2000" dirty="0"/>
                  <a:t>-value is in the upper tail of a </a:t>
                </a:r>
                <a14:m>
                  <m:oMath xmlns:m="http://schemas.openxmlformats.org/officeDocument/2006/math">
                    <m:r>
                      <a:rPr lang="en-US" sz="2000" i="1" dirty="0" smtClean="0">
                        <a:latin typeface="Cambria Math" panose="02040503050406030204" pitchFamily="18" charset="0"/>
                      </a:rPr>
                      <m:t>𝑡</m:t>
                    </m:r>
                  </m:oMath>
                </a14:m>
                <a:r>
                  <a:rPr lang="en-US" sz="2000" dirty="0"/>
                  <a:t> distribution with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−1=59</m:t>
                    </m:r>
                  </m:oMath>
                </a14:m>
                <a:r>
                  <a:rPr lang="en-US" sz="2000" dirty="0"/>
                  <a:t> degrees of freedom.</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rPr>
                        <m:t>𝑝</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value</m:t>
                      </m:r>
                      <m:r>
                        <a:rPr lang="en-US" sz="2000" i="1" dirty="0" smtClean="0">
                          <a:latin typeface="Cambria Math" panose="02040503050406030204" pitchFamily="18" charset="0"/>
                        </a:rPr>
                        <m:t>=</m:t>
                      </m:r>
                      <m:r>
                        <a:rPr lang="en-US" sz="2000" i="1" dirty="0" smtClean="0">
                          <a:latin typeface="Cambria Math" panose="02040503050406030204" pitchFamily="18" charset="0"/>
                        </a:rPr>
                        <m:t>𝑃</m:t>
                      </m:r>
                      <m:r>
                        <a:rPr lang="en-US" sz="2000" i="1" dirty="0" smtClean="0">
                          <a:latin typeface="Cambria Math" panose="02040503050406030204" pitchFamily="18" charset="0"/>
                        </a:rPr>
                        <m:t>(</m:t>
                      </m:r>
                      <m:r>
                        <a:rPr lang="en-US" sz="2000" i="1" dirty="0" smtClean="0">
                          <a:latin typeface="Cambria Math" panose="02040503050406030204" pitchFamily="18" charset="0"/>
                        </a:rPr>
                        <m:t>𝑡</m:t>
                      </m:r>
                      <m:r>
                        <a:rPr lang="en-US" sz="2000" i="1" dirty="0" smtClean="0">
                          <a:latin typeface="Cambria Math" panose="02040503050406030204" pitchFamily="18" charset="0"/>
                        </a:rPr>
                        <m:t>≥1.84)</m:t>
                      </m:r>
                    </m:oMath>
                  </m:oMathPara>
                </a14:m>
                <a:endParaRPr lang="en-US" sz="2000" dirty="0"/>
              </a:p>
              <a:p>
                <a:pPr>
                  <a:lnSpc>
                    <a:spcPct val="100000"/>
                  </a:lnSpc>
                  <a:spcBef>
                    <a:spcPts val="600"/>
                  </a:spcBef>
                  <a:spcAft>
                    <a:spcPts val="0"/>
                  </a:spcAft>
                </a:pPr>
                <a:endParaRPr lang="en-US" sz="2000" dirty="0"/>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93193" y="1608084"/>
                <a:ext cx="10515599" cy="4374930"/>
              </a:xfrm>
              <a:blipFill>
                <a:blip r:embed="rId3"/>
                <a:stretch>
                  <a:fillRect l="-1449" t="-1674" r="-1217"/>
                </a:stretch>
              </a:blipFill>
            </p:spPr>
            <p:txBody>
              <a:bodyPr/>
              <a:lstStyle/>
              <a:p>
                <a:r>
                  <a:rPr lang="en-US">
                    <a:noFill/>
                  </a:rPr>
                  <a:t> </a:t>
                </a:r>
              </a:p>
            </p:txBody>
          </p:sp>
        </mc:Fallback>
      </mc:AlternateContent>
    </p:spTree>
    <p:extLst>
      <p:ext uri="{BB962C8B-B14F-4D97-AF65-F5344CB8AC3E}">
        <p14:creationId xmlns:p14="http://schemas.microsoft.com/office/powerpoint/2010/main" val="1543680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sz="3200" dirty="0"/>
              <a:t>9.4 </a:t>
            </a:r>
            <a:r>
              <a:rPr lang="en-US" sz="3200" i="1" dirty="0"/>
              <a:t>p</a:t>
            </a:r>
            <a:r>
              <a:rPr lang="en-US" sz="3200" dirty="0"/>
              <a:t>-Value Approach to a One-Tailed Test About a Population Mean: </a:t>
            </a:r>
            <a:r>
              <a:rPr lang="en-US" sz="3200" i="1" dirty="0">
                <a:latin typeface="Symbol" panose="05050102010706020507" pitchFamily="18" charset="2"/>
              </a:rPr>
              <a:t>s</a:t>
            </a:r>
            <a:r>
              <a:rPr lang="en-US" sz="3200" dirty="0"/>
              <a:t> Unknown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686907"/>
                <a:ext cx="10515599" cy="1363720"/>
              </a:xfrm>
            </p:spPr>
            <p:txBody>
              <a:bodyPr>
                <a:normAutofit/>
              </a:bodyPr>
              <a:lstStyle/>
              <a:p>
                <a:pPr>
                  <a:lnSpc>
                    <a:spcPct val="100000"/>
                  </a:lnSpc>
                  <a:spcBef>
                    <a:spcPts val="600"/>
                  </a:spcBef>
                </a:pPr>
                <a:r>
                  <a:rPr lang="en-US" sz="2000" dirty="0"/>
                  <a:t>The </a:t>
                </a:r>
                <a14:m>
                  <m:oMath xmlns:m="http://schemas.openxmlformats.org/officeDocument/2006/math">
                    <m:r>
                      <a:rPr lang="en-US" sz="2000" i="1" dirty="0" smtClean="0">
                        <a:latin typeface="Cambria Math" panose="02040503050406030204" pitchFamily="18" charset="0"/>
                      </a:rPr>
                      <m:t>𝑡</m:t>
                    </m:r>
                  </m:oMath>
                </a14:m>
                <a:r>
                  <a:rPr lang="en-US" sz="2000" dirty="0"/>
                  <a:t> distribution table included in most textbooks will only provide information about a range of </a:t>
                </a:r>
                <a:r>
                  <a:rPr lang="en-US" sz="2000" i="1" dirty="0"/>
                  <a:t>p</a:t>
                </a:r>
                <a:r>
                  <a:rPr lang="en-US" sz="2000" dirty="0"/>
                  <a:t>-values.</a:t>
                </a:r>
              </a:p>
              <a:p>
                <a:pPr>
                  <a:lnSpc>
                    <a:spcPct val="100000"/>
                  </a:lnSpc>
                  <a:spcBef>
                    <a:spcPts val="600"/>
                  </a:spcBef>
                </a:pPr>
                <a:r>
                  <a:rPr lang="en-US" sz="2000" dirty="0"/>
                  <a:t>For instance, using Table 2 in Appendix B, the </a:t>
                </a:r>
                <a14:m>
                  <m:oMath xmlns:m="http://schemas.openxmlformats.org/officeDocument/2006/math">
                    <m:r>
                      <a:rPr lang="en-US" sz="2000" i="1" dirty="0" smtClean="0">
                        <a:latin typeface="Cambria Math" panose="02040503050406030204" pitchFamily="18" charset="0"/>
                      </a:rPr>
                      <m:t>𝑡</m:t>
                    </m:r>
                  </m:oMath>
                </a14:m>
                <a:r>
                  <a:rPr lang="en-US" sz="2000" dirty="0"/>
                  <a:t> distribution with 59 degrees of freedom provides the following information.</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686907"/>
                <a:ext cx="10515599" cy="1363720"/>
              </a:xfrm>
              <a:blipFill>
                <a:blip r:embed="rId3"/>
                <a:stretch>
                  <a:fillRect l="-1508" t="-5381" r="-1218" b="-67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1710559" y="3084752"/>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r>
                            <a:rPr lang="en-US" sz="1600" b="1" i="1" dirty="0">
                              <a:solidFill>
                                <a:srgbClr val="000000"/>
                              </a:solidFill>
                              <a:latin typeface="Arial" panose="020B0604020202020204" pitchFamily="34" charset="0"/>
                              <a:cs typeface="Arial" panose="020B0604020202020204" pitchFamily="34" charset="0"/>
                            </a:rPr>
                            <a:t>t</a:t>
                          </a:r>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𝟓𝟗</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0.848</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1.296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1.671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2.001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2.391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2.662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3908828691"/>
                  </p:ext>
                </p:extLst>
              </p:nvPr>
            </p:nvGraphicFramePr>
            <p:xfrm>
              <a:off x="1710559" y="3084752"/>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0000" r="-216864" b="-16393"/>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0.848</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1.296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1.671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2.001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2.391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2.662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933497"/>
                <a:ext cx="10484504" cy="1883982"/>
              </a:xfrm>
            </p:spPr>
            <p:txBody>
              <a:bodyPr>
                <a:noAutofit/>
              </a:bodyPr>
              <a:lstStyle/>
              <a:p>
                <a:pPr>
                  <a:lnSpc>
                    <a:spcPct val="110000"/>
                  </a:lnSpc>
                  <a:spcBef>
                    <a:spcPts val="600"/>
                  </a:spcBef>
                </a:pPr>
                <a:r>
                  <a:rPr lang="en-US" sz="2000" dirty="0">
                    <a:cs typeface="Arial" panose="020B0604020202020204" pitchFamily="34" charset="0"/>
                  </a:rPr>
                  <a:t>B</a:t>
                </a:r>
                <a:r>
                  <a:rPr lang="en-US" sz="2000" dirty="0">
                    <a:solidFill>
                      <a:srgbClr val="000000"/>
                    </a:solidFill>
                    <a:cs typeface="Arial" panose="020B0604020202020204" pitchFamily="34" charset="0"/>
                  </a:rPr>
                  <a:t>ecause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𝑡</m:t>
                    </m:r>
                    <m:r>
                      <a:rPr lang="en-US" sz="2000" i="1" dirty="0" smtClean="0">
                        <a:solidFill>
                          <a:srgbClr val="000000"/>
                        </a:solidFill>
                        <a:latin typeface="Cambria Math" panose="02040503050406030204" pitchFamily="18" charset="0"/>
                        <a:cs typeface="Arial" panose="020B0604020202020204" pitchFamily="34" charset="0"/>
                      </a:rPr>
                      <m:t>=1.84</m:t>
                    </m:r>
                  </m:oMath>
                </a14:m>
                <a:r>
                  <a:rPr lang="en-US" sz="2000" dirty="0">
                    <a:solidFill>
                      <a:srgbClr val="000000"/>
                    </a:solidFill>
                    <a:cs typeface="Arial" panose="020B0604020202020204" pitchFamily="34" charset="0"/>
                  </a:rPr>
                  <a:t> is between 1.671 and 2.001, the values in the “Area in Upper Tail” row show that the </a:t>
                </a:r>
                <a:r>
                  <a:rPr lang="en-US" sz="2000" i="1" dirty="0">
                    <a:solidFill>
                      <a:srgbClr val="000000"/>
                    </a:solidFill>
                    <a:cs typeface="Arial" panose="020B0604020202020204" pitchFamily="34" charset="0"/>
                  </a:rPr>
                  <a:t>p</a:t>
                </a:r>
                <a:r>
                  <a:rPr lang="en-US" sz="2000" dirty="0">
                    <a:solidFill>
                      <a:srgbClr val="000000"/>
                    </a:solidFill>
                    <a:cs typeface="Arial" panose="020B0604020202020204" pitchFamily="34" charset="0"/>
                  </a:rPr>
                  <a:t>-value range must be: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0.025≤</m:t>
                    </m:r>
                    <m:r>
                      <a:rPr lang="en-US" sz="2000" i="1" dirty="0" smtClean="0">
                        <a:solidFill>
                          <a:srgbClr val="000000"/>
                        </a:solidFill>
                        <a:latin typeface="Cambria Math" panose="02040503050406030204" pitchFamily="18" charset="0"/>
                        <a:cs typeface="Arial" panose="020B0604020202020204" pitchFamily="34" charset="0"/>
                      </a:rPr>
                      <m:t>𝑝</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smtClean="0">
                        <a:latin typeface="Cambria Math" panose="02040503050406030204" pitchFamily="18" charset="0"/>
                        <a:cs typeface="Arial" panose="020B0604020202020204" pitchFamily="34" charset="0"/>
                      </a:rPr>
                      <m:t>≤ </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a:t>
                </a:r>
              </a:p>
              <a:p>
                <a:pPr>
                  <a:lnSpc>
                    <a:spcPct val="110000"/>
                  </a:lnSpc>
                  <a:spcBef>
                    <a:spcPts val="600"/>
                  </a:spcBef>
                </a:pPr>
                <a:r>
                  <a:rPr lang="en-US" sz="2000" dirty="0">
                    <a:cs typeface="Arial" panose="020B0604020202020204" pitchFamily="34" charset="0"/>
                  </a:rPr>
                  <a:t>We can also use Excel to compute the exact </a:t>
                </a:r>
                <a:r>
                  <a:rPr lang="en-US" sz="2000" i="1" dirty="0">
                    <a:cs typeface="Arial" panose="020B0604020202020204" pitchFamily="34" charset="0"/>
                  </a:rPr>
                  <a:t>p</a:t>
                </a:r>
                <a:r>
                  <a:rPr lang="en-US" sz="2000" dirty="0">
                    <a:cs typeface="Arial" panose="020B0604020202020204" pitchFamily="34" charset="0"/>
                  </a:rPr>
                  <a:t>-value as: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T</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DIST</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(1.84,59)</m:t>
                    </m:r>
                    <m:r>
                      <a:rPr lang="en-US" sz="2000" i="1" dirty="0" smtClean="0">
                        <a:latin typeface="Cambria Math" panose="02040503050406030204" pitchFamily="18" charset="0"/>
                        <a:cs typeface="Arial" panose="020B0604020202020204" pitchFamily="34" charset="0"/>
                      </a:rPr>
                      <m:t>=0.0354</m:t>
                    </m:r>
                  </m:oMath>
                </a14:m>
                <a:endParaRPr lang="en-US" sz="2000" dirty="0">
                  <a:cs typeface="Arial" panose="020B0604020202020204" pitchFamily="34" charset="0"/>
                </a:endParaRPr>
              </a:p>
              <a:p>
                <a:pPr>
                  <a:lnSpc>
                    <a:spcPct val="110000"/>
                  </a:lnSpc>
                  <a:spcBef>
                    <a:spcPts val="600"/>
                  </a:spcBef>
                </a:pPr>
                <a:r>
                  <a:rPr lang="en-US" sz="2000" dirty="0">
                    <a:cs typeface="Arial" panose="020B0604020202020204" pitchFamily="34" charset="0"/>
                  </a:rPr>
                  <a:t>Either approach allows us to make the decision to reject the null hypothesis and conclude that Heathrow should be classified as a superior service airport.</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933497"/>
                <a:ext cx="10484504" cy="1883982"/>
              </a:xfrm>
              <a:blipFill>
                <a:blip r:embed="rId5"/>
                <a:stretch>
                  <a:fillRect l="-1513" t="-3883" b="-4207"/>
                </a:stretch>
              </a:blipFill>
            </p:spPr>
            <p:txBody>
              <a:bodyPr/>
              <a:lstStyle/>
              <a:p>
                <a:r>
                  <a:rPr lang="en-US">
                    <a:noFill/>
                  </a:rPr>
                  <a:t> </a:t>
                </a:r>
              </a:p>
            </p:txBody>
          </p:sp>
        </mc:Fallback>
      </mc:AlternateContent>
    </p:spTree>
    <p:extLst>
      <p:ext uri="{BB962C8B-B14F-4D97-AF65-F5344CB8AC3E}">
        <p14:creationId xmlns:p14="http://schemas.microsoft.com/office/powerpoint/2010/main" val="611856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846082" y="365125"/>
            <a:ext cx="10507717" cy="672105"/>
          </a:xfrm>
        </p:spPr>
        <p:txBody>
          <a:bodyPr/>
          <a:lstStyle/>
          <a:p>
            <a:r>
              <a:rPr lang="en-US" sz="3200" dirty="0"/>
              <a:t>9.4 Critical Value Approach to a One-Tailed Test</a:t>
            </a:r>
            <a:br>
              <a:rPr lang="en-US" sz="3200" dirty="0"/>
            </a:br>
            <a:r>
              <a:rPr lang="en-US" sz="3200" dirty="0"/>
              <a:t>About a Population Mean: </a:t>
            </a:r>
            <a:r>
              <a:rPr lang="en-US" sz="3200" i="1" dirty="0">
                <a:latin typeface="Symbol" panose="05050102010706020507" pitchFamily="18" charset="2"/>
              </a:rPr>
              <a:t>s</a:t>
            </a:r>
            <a:r>
              <a:rPr lang="en-US" sz="3200" dirty="0"/>
              <a:t> Unknown</a:t>
            </a:r>
          </a:p>
        </p:txBody>
      </p:sp>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686907"/>
            <a:ext cx="10515599" cy="1363720"/>
          </a:xfrm>
        </p:spPr>
        <p:txBody>
          <a:bodyPr>
            <a:normAutofit/>
          </a:bodyPr>
          <a:lstStyle/>
          <a:p>
            <a:pPr>
              <a:lnSpc>
                <a:spcPct val="100000"/>
              </a:lnSpc>
              <a:spcBef>
                <a:spcPts val="600"/>
              </a:spcBef>
            </a:pPr>
            <a:r>
              <a:rPr lang="en-US" sz="2000" dirty="0"/>
              <a:t>The decision of whether to reject the null hypothesis in the </a:t>
            </a:r>
            <a:r>
              <a:rPr lang="en-US" sz="2000" i="1" dirty="0">
                <a:latin typeface="Symbol" panose="05050102010706020507" pitchFamily="18" charset="2"/>
              </a:rPr>
              <a:t>s</a:t>
            </a:r>
            <a:r>
              <a:rPr lang="en-US" sz="2000" dirty="0"/>
              <a:t> unknown case can also be made using the critical value approach.</a:t>
            </a:r>
          </a:p>
          <a:p>
            <a:pPr>
              <a:lnSpc>
                <a:spcPct val="100000"/>
              </a:lnSpc>
              <a:spcBef>
                <a:spcPts val="600"/>
              </a:spcBef>
            </a:pPr>
            <a:r>
              <a:rPr lang="en-US" sz="2000" dirty="0"/>
              <a:t>We use the same information from Table 2 in Appendix B we just considered for the </a:t>
            </a:r>
            <a:r>
              <a:rPr lang="en-US" sz="2000" i="1" dirty="0"/>
              <a:t>p</a:t>
            </a:r>
            <a:r>
              <a:rPr lang="en-US" sz="2000" dirty="0"/>
              <a:t>-value approach.</a:t>
            </a:r>
          </a:p>
        </p:txBody>
      </p:sp>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1710559" y="3084752"/>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r>
                            <a:rPr lang="en-US" sz="1600" b="1" i="1" dirty="0">
                              <a:solidFill>
                                <a:srgbClr val="000000"/>
                              </a:solidFill>
                              <a:latin typeface="Arial" panose="020B0604020202020204" pitchFamily="34" charset="0"/>
                              <a:cs typeface="Arial" panose="020B0604020202020204" pitchFamily="34" charset="0"/>
                            </a:rPr>
                            <a:t>t</a:t>
                          </a:r>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𝟓𝟗</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0.848</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1.296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1.671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2.001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2.391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2.662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2082945085"/>
                  </p:ext>
                </p:extLst>
              </p:nvPr>
            </p:nvGraphicFramePr>
            <p:xfrm>
              <a:off x="1710559" y="3084752"/>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4"/>
                          <a:stretch>
                            <a:fillRect t="-100000" r="-216864" b="-16393"/>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0.848</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1.296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1.671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2.001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2.391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2.662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46083" y="3933497"/>
                <a:ext cx="10484504" cy="1883982"/>
              </a:xfrm>
            </p:spPr>
            <p:txBody>
              <a:bodyPr>
                <a:noAutofit/>
              </a:bodyPr>
              <a:lstStyle/>
              <a:p>
                <a:pPr>
                  <a:lnSpc>
                    <a:spcPct val="110000"/>
                  </a:lnSpc>
                  <a:spcBef>
                    <a:spcPts val="600"/>
                  </a:spcBef>
                </a:pPr>
                <a:r>
                  <a:rPr lang="en-US" sz="2000" dirty="0">
                    <a:cs typeface="Arial" panose="020B0604020202020204" pitchFamily="34" charset="0"/>
                  </a:rPr>
                  <a:t>The critical value corresponding to an area of </a:t>
                </a:r>
                <a14:m>
                  <m:oMath xmlns:m="http://schemas.openxmlformats.org/officeDocument/2006/math">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r>
                      <a:rPr lang="en-US" sz="2000" i="1" dirty="0" smtClean="0">
                        <a:latin typeface="Cambria Math" panose="02040503050406030204" pitchFamily="18" charset="0"/>
                        <a:cs typeface="Arial" panose="020B0604020202020204" pitchFamily="34" charset="0"/>
                      </a:rPr>
                      <m:t>=0.05</m:t>
                    </m:r>
                  </m:oMath>
                </a14:m>
                <a:r>
                  <a:rPr lang="en-US" sz="2000" dirty="0">
                    <a:cs typeface="Arial" panose="020B0604020202020204" pitchFamily="34" charset="0"/>
                  </a:rPr>
                  <a:t> in the upper tail of a </a:t>
                </a:r>
                <a14:m>
                  <m:oMath xmlns:m="http://schemas.openxmlformats.org/officeDocument/2006/math">
                    <m:r>
                      <a:rPr lang="en-US" sz="2000" i="1" dirty="0" smtClean="0">
                        <a:latin typeface="Cambria Math" panose="02040503050406030204" pitchFamily="18" charset="0"/>
                        <a:cs typeface="Arial" panose="020B0604020202020204" pitchFamily="34" charset="0"/>
                      </a:rPr>
                      <m:t>𝑡</m:t>
                    </m:r>
                  </m:oMath>
                </a14:m>
                <a:r>
                  <a:rPr lang="en-US" sz="2000" dirty="0">
                    <a:cs typeface="Arial" panose="020B0604020202020204" pitchFamily="34" charset="0"/>
                  </a:rPr>
                  <a:t> distribution with 59 degrees of freedom is </a:t>
                </a:r>
                <a14:m>
                  <m:oMath xmlns:m="http://schemas.openxmlformats.org/officeDocument/2006/math">
                    <m:sSub>
                      <m:sSubPr>
                        <m:ctrlPr>
                          <a:rPr lang="en-US" sz="2000" i="1" dirty="0" smtClean="0">
                            <a:latin typeface="Cambria Math" panose="02040503050406030204" pitchFamily="18" charset="0"/>
                            <a:cs typeface="Arial" panose="020B0604020202020204" pitchFamily="34" charset="0"/>
                          </a:rPr>
                        </m:ctrlPr>
                      </m:sSubPr>
                      <m:e>
                        <m:r>
                          <a:rPr lang="en-US" sz="2000" b="0" i="1" dirty="0" smtClean="0">
                            <a:latin typeface="Cambria Math" panose="02040503050406030204" pitchFamily="18" charset="0"/>
                            <a:cs typeface="Arial" panose="020B0604020202020204" pitchFamily="34" charset="0"/>
                          </a:rPr>
                          <m:t>𝑡</m:t>
                        </m:r>
                      </m:e>
                      <m:sub>
                        <m:r>
                          <a:rPr lang="en-US" sz="2000" b="0" i="1" dirty="0" smtClean="0">
                            <a:latin typeface="Cambria Math" panose="02040503050406030204" pitchFamily="18" charset="0"/>
                            <a:cs typeface="Arial" panose="020B0604020202020204" pitchFamily="34" charset="0"/>
                          </a:rPr>
                          <m:t>0.05</m:t>
                        </m:r>
                      </m:sub>
                    </m:sSub>
                    <m:r>
                      <a:rPr lang="en-US" sz="2000" i="1" dirty="0" smtClean="0">
                        <a:latin typeface="Cambria Math" panose="02040503050406030204" pitchFamily="18" charset="0"/>
                        <a:cs typeface="Arial" panose="020B0604020202020204" pitchFamily="34" charset="0"/>
                      </a:rPr>
                      <m:t>=1.671</m:t>
                    </m:r>
                    <m:r>
                      <a:rPr lang="en-US" sz="2000" b="0" i="0" dirty="0" smtClean="0">
                        <a:latin typeface="Cambria Math" panose="02040503050406030204" pitchFamily="18" charset="0"/>
                        <a:cs typeface="Arial" panose="020B0604020202020204" pitchFamily="34" charset="0"/>
                      </a:rPr>
                      <m:t>.</m:t>
                    </m:r>
                  </m:oMath>
                </a14:m>
                <a:endParaRPr lang="en-US" sz="2000" dirty="0">
                  <a:cs typeface="Arial" panose="020B0604020202020204" pitchFamily="34" charset="0"/>
                </a:endParaRPr>
              </a:p>
              <a:p>
                <a:pPr>
                  <a:lnSpc>
                    <a:spcPct val="110000"/>
                  </a:lnSpc>
                  <a:spcBef>
                    <a:spcPts val="600"/>
                  </a:spcBef>
                </a:pPr>
                <a:r>
                  <a:rPr lang="en-US" sz="2000" dirty="0">
                    <a:cs typeface="Arial" panose="020B0604020202020204" pitchFamily="34" charset="0"/>
                  </a:rPr>
                  <a:t>We can also use Excel to compute the critical value as: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T</m:t>
                    </m:r>
                    <m:r>
                      <m:rPr>
                        <m:nor/>
                      </m:rPr>
                      <a:rPr lang="en-US" sz="2000" b="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1</m:t>
                    </m:r>
                    <m:r>
                      <a:rPr lang="en-US" sz="2000" b="0" i="1"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0.05</m:t>
                    </m:r>
                    <m:r>
                      <m:rPr>
                        <m:nor/>
                      </m:rPr>
                      <a:rPr lang="en-US" sz="2000" i="0" dirty="0" smtClean="0">
                        <a:latin typeface="Cambria Math" panose="02040503050406030204" pitchFamily="18" charset="0"/>
                        <a:cs typeface="Arial" panose="020B0604020202020204" pitchFamily="34" charset="0"/>
                      </a:rPr>
                      <m:t>,59)</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1.671</m:t>
                    </m:r>
                  </m:oMath>
                </a14:m>
                <a:endParaRPr lang="en-US" sz="2000" dirty="0">
                  <a:cs typeface="Arial" panose="020B0604020202020204" pitchFamily="34" charset="0"/>
                </a:endParaRPr>
              </a:p>
              <a:p>
                <a:pPr>
                  <a:lnSpc>
                    <a:spcPct val="110000"/>
                  </a:lnSpc>
                  <a:spcBef>
                    <a:spcPts val="600"/>
                  </a:spcBef>
                </a:pPr>
                <a:r>
                  <a:rPr lang="en-US" sz="2000" dirty="0">
                    <a:cs typeface="Arial" panose="020B0604020202020204" pitchFamily="34" charset="0"/>
                  </a:rPr>
                  <a:t>Thus, because the rejection rule in this example is </a:t>
                </a:r>
                <a14:m>
                  <m:oMath xmlns:m="http://schemas.openxmlformats.org/officeDocument/2006/math">
                    <m:r>
                      <a:rPr lang="en-US" sz="2000" i="1" dirty="0" smtClean="0">
                        <a:latin typeface="Cambria Math" panose="02040503050406030204" pitchFamily="18" charset="0"/>
                        <a:cs typeface="Arial" panose="020B0604020202020204" pitchFamily="34" charset="0"/>
                      </a:rPr>
                      <m:t>𝑡</m:t>
                    </m:r>
                    <m:r>
                      <a:rPr lang="en-US" sz="2000" b="0" i="1" dirty="0" smtClean="0">
                        <a:latin typeface="Cambria Math" panose="02040503050406030204" pitchFamily="18" charset="0"/>
                        <a:cs typeface="Arial" panose="020B0604020202020204" pitchFamily="34" charset="0"/>
                      </a:rPr>
                      <m:t>=1.84</m:t>
                    </m:r>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1.671=</m:t>
                    </m:r>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𝑡</m:t>
                        </m:r>
                      </m:e>
                      <m:sub>
                        <m:r>
                          <a:rPr lang="en-US" sz="2000" i="1" dirty="0">
                            <a:latin typeface="Cambria Math" panose="02040503050406030204" pitchFamily="18" charset="0"/>
                            <a:cs typeface="Arial" panose="020B0604020202020204" pitchFamily="34" charset="0"/>
                          </a:rPr>
                          <m:t>0.05</m:t>
                        </m:r>
                      </m:sub>
                    </m:sSub>
                  </m:oMath>
                </a14:m>
                <a:r>
                  <a:rPr lang="en-US" sz="2000" dirty="0">
                    <a:cs typeface="Arial" panose="020B0604020202020204" pitchFamily="34" charset="0"/>
                  </a:rPr>
                  <a:t>, we can conclude that Heathrow should be classified as a superior service airport.</a:t>
                </a: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46083" y="3933497"/>
                <a:ext cx="10484504" cy="1883982"/>
              </a:xfrm>
              <a:blipFill>
                <a:blip r:embed="rId5"/>
                <a:stretch>
                  <a:fillRect l="-1512" t="-3883" r="-1395" b="-4207"/>
                </a:stretch>
              </a:blipFill>
            </p:spPr>
            <p:txBody>
              <a:bodyPr/>
              <a:lstStyle/>
              <a:p>
                <a:r>
                  <a:rPr lang="en-US">
                    <a:noFill/>
                  </a:rPr>
                  <a:t> </a:t>
                </a:r>
              </a:p>
            </p:txBody>
          </p:sp>
        </mc:Fallback>
      </mc:AlternateContent>
    </p:spTree>
    <p:extLst>
      <p:ext uri="{BB962C8B-B14F-4D97-AF65-F5344CB8AC3E}">
        <p14:creationId xmlns:p14="http://schemas.microsoft.com/office/powerpoint/2010/main" val="1752671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646389" y="365125"/>
            <a:ext cx="10857186" cy="672105"/>
          </a:xfrm>
        </p:spPr>
        <p:txBody>
          <a:bodyPr/>
          <a:lstStyle/>
          <a:p>
            <a:r>
              <a:rPr lang="en-US" sz="3200" dirty="0"/>
              <a:t>9.4 Two-Tailed Test Example About a Population Mean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93193" y="1371600"/>
                <a:ext cx="10515599" cy="4516822"/>
              </a:xfrm>
            </p:spPr>
            <p:txBody>
              <a:bodyPr>
                <a:noAutofit/>
              </a:bodyPr>
              <a:lstStyle/>
              <a:p>
                <a:pPr>
                  <a:lnSpc>
                    <a:spcPct val="100000"/>
                  </a:lnSpc>
                  <a:spcBef>
                    <a:spcPts val="600"/>
                  </a:spcBef>
                  <a:spcAft>
                    <a:spcPts val="0"/>
                  </a:spcAft>
                </a:pPr>
                <a:r>
                  <a:rPr lang="en-US" sz="2000" dirty="0" err="1"/>
                  <a:t>DATAFile</a:t>
                </a:r>
                <a:r>
                  <a:rPr lang="en-US" sz="2000" dirty="0"/>
                  <a:t>: </a:t>
                </a:r>
                <a:r>
                  <a:rPr lang="en-US" sz="2000" i="1" dirty="0"/>
                  <a:t>orders</a:t>
                </a:r>
              </a:p>
              <a:p>
                <a:pPr>
                  <a:lnSpc>
                    <a:spcPct val="100000"/>
                  </a:lnSpc>
                  <a:spcBef>
                    <a:spcPts val="600"/>
                  </a:spcBef>
                  <a:spcAft>
                    <a:spcPts val="0"/>
                  </a:spcAft>
                </a:pPr>
                <a:r>
                  <a:rPr lang="en-US" sz="2000" dirty="0"/>
                  <a:t>Serrano Toys’ marketing director is expecting demand for this year’s most important toy to average 40 units per retail outlet.</a:t>
                </a:r>
              </a:p>
              <a:p>
                <a:pPr>
                  <a:lnSpc>
                    <a:spcPct val="100000"/>
                  </a:lnSpc>
                  <a:spcBef>
                    <a:spcPts val="600"/>
                  </a:spcBef>
                  <a:spcAft>
                    <a:spcPts val="0"/>
                  </a:spcAft>
                </a:pPr>
                <a:r>
                  <a:rPr lang="en-US" sz="2000" dirty="0"/>
                  <a:t>Serrano’s marketing director decided to survey a sample of 25 retailers to obtain information about the demand for the new product before making the final production decision.</a:t>
                </a:r>
              </a:p>
              <a:p>
                <a:pPr>
                  <a:lnSpc>
                    <a:spcPct val="100000"/>
                  </a:lnSpc>
                  <a:spcBef>
                    <a:spcPts val="600"/>
                  </a:spcBef>
                  <a:spcAft>
                    <a:spcPts val="0"/>
                  </a:spcAft>
                </a:pPr>
                <a:r>
                  <a:rPr lang="en-US" sz="2000" dirty="0"/>
                  <a:t>We set the null hypothesis to </a:t>
                </a:r>
                <a14:m>
                  <m:oMath xmlns:m="http://schemas.openxmlformats.org/officeDocument/2006/math">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=40</m:t>
                    </m:r>
                  </m:oMath>
                </a14:m>
                <a:r>
                  <a:rPr lang="en-US" sz="2000" dirty="0"/>
                  <a:t>, so that its rejection leads to the conclusion that the expectation about the toy’s demand is incorrect.</a:t>
                </a:r>
              </a:p>
              <a:p>
                <a:pPr marL="914400">
                  <a:lnSpc>
                    <a:spcPct val="100000"/>
                  </a:lnSpc>
                  <a:spcBef>
                    <a:spcPts val="600"/>
                  </a:spcBef>
                  <a:spcAft>
                    <a:spcPts val="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=40</m:t>
                    </m:r>
                  </m:oMath>
                </a14:m>
                <a:r>
                  <a:rPr lang="en-US" sz="2000" b="0" dirty="0">
                    <a:solidFill>
                      <a:srgbClr val="000000"/>
                    </a:solidFill>
                    <a:ea typeface="Cambria Math" panose="02040503050406030204" pitchFamily="18" charset="0"/>
                    <a:cs typeface="Arial" panose="020B0604020202020204" pitchFamily="34" charset="0"/>
                  </a:rPr>
                  <a:t> </a:t>
                </a:r>
              </a:p>
              <a:p>
                <a:pPr marL="914400">
                  <a:lnSpc>
                    <a:spcPct val="100000"/>
                  </a:lnSpc>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 </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≠40</m:t>
                    </m:r>
                  </m:oMath>
                </a14:m>
                <a:r>
                  <a:rPr lang="en-US" sz="2000" dirty="0">
                    <a:solidFill>
                      <a:srgbClr val="000000"/>
                    </a:solidFill>
                    <a:cs typeface="Arial" panose="020B0604020202020204" pitchFamily="34" charset="0"/>
                  </a:rPr>
                  <a:t> </a:t>
                </a:r>
              </a:p>
              <a:p>
                <a:pPr>
                  <a:lnSpc>
                    <a:spcPct val="100000"/>
                  </a:lnSpc>
                  <a:spcBef>
                    <a:spcPts val="600"/>
                  </a:spcBef>
                  <a:spcAft>
                    <a:spcPts val="0"/>
                  </a:spcAft>
                </a:pPr>
                <a:r>
                  <a:rPr lang="en-US" sz="2000" dirty="0">
                    <a:solidFill>
                      <a:srgbClr val="000000"/>
                    </a:solidFill>
                    <a:cs typeface="Arial" panose="020B0604020202020204" pitchFamily="34" charset="0"/>
                  </a:rPr>
                  <a:t>We use </a:t>
                </a:r>
                <a14:m>
                  <m:oMath xmlns:m="http://schemas.openxmlformats.org/officeDocument/2006/math">
                    <m:r>
                      <a:rPr lang="en-US" sz="200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 as the level of significance for the test.</a:t>
                </a:r>
              </a:p>
              <a:p>
                <a:pPr>
                  <a:lnSpc>
                    <a:spcPct val="100000"/>
                  </a:lnSpc>
                  <a:spcBef>
                    <a:spcPts val="600"/>
                  </a:spcBef>
                  <a:spcAft>
                    <a:spcPts val="0"/>
                  </a:spcAft>
                </a:pPr>
                <a:r>
                  <a:rPr lang="en-US" sz="2000" dirty="0"/>
                  <a:t>The surveyed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=25 </m:t>
                    </m:r>
                  </m:oMath>
                </a14:m>
                <a:r>
                  <a:rPr lang="en-US" sz="2000" dirty="0"/>
                  <a:t>retail stores provided a sample mean rating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r>
                      <a:rPr lang="en-US" sz="2000" i="1" dirty="0" smtClean="0">
                        <a:latin typeface="Cambria Math" panose="02040503050406030204" pitchFamily="18" charset="0"/>
                      </a:rPr>
                      <m:t>=</m:t>
                    </m:r>
                    <m:r>
                      <a:rPr lang="en-US" sz="2000" b="0" i="1" dirty="0" smtClean="0">
                        <a:latin typeface="Cambria Math" panose="02040503050406030204" pitchFamily="18" charset="0"/>
                      </a:rPr>
                      <m:t>37.4</m:t>
                    </m:r>
                  </m:oMath>
                </a14:m>
                <a:r>
                  <a:rPr lang="en-US" sz="2000" dirty="0"/>
                  <a:t>, and a sample standard deviation </a:t>
                </a:r>
                <a14:m>
                  <m:oMath xmlns:m="http://schemas.openxmlformats.org/officeDocument/2006/math">
                    <m:r>
                      <a:rPr lang="en-US" sz="2000" i="1" dirty="0" smtClean="0">
                        <a:latin typeface="Cambria Math" panose="02040503050406030204" pitchFamily="18" charset="0"/>
                      </a:rPr>
                      <m:t>𝑠</m:t>
                    </m:r>
                    <m:r>
                      <a:rPr lang="en-US" sz="2000" i="1" dirty="0" smtClean="0">
                        <a:latin typeface="Cambria Math" panose="02040503050406030204" pitchFamily="18" charset="0"/>
                      </a:rPr>
                      <m:t>=11.79</m:t>
                    </m:r>
                  </m:oMath>
                </a14:m>
                <a:r>
                  <a:rPr lang="en-US" sz="2000" dirty="0"/>
                  <a:t>.</a:t>
                </a:r>
                <a:endParaRPr lang="en-US" sz="2000" dirty="0">
                  <a:solidFill>
                    <a:srgbClr val="000000"/>
                  </a:solidFill>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93193" y="1371600"/>
                <a:ext cx="10515599" cy="4516822"/>
              </a:xfrm>
              <a:blipFill>
                <a:blip r:embed="rId2"/>
                <a:stretch>
                  <a:fillRect l="-1449" t="-1619" r="-290"/>
                </a:stretch>
              </a:blipFill>
            </p:spPr>
            <p:txBody>
              <a:bodyPr/>
              <a:lstStyle/>
              <a:p>
                <a:r>
                  <a:rPr lang="en-US">
                    <a:noFill/>
                  </a:rPr>
                  <a:t> </a:t>
                </a:r>
              </a:p>
            </p:txBody>
          </p:sp>
        </mc:Fallback>
      </mc:AlternateContent>
    </p:spTree>
    <p:extLst>
      <p:ext uri="{BB962C8B-B14F-4D97-AF65-F5344CB8AC3E}">
        <p14:creationId xmlns:p14="http://schemas.microsoft.com/office/powerpoint/2010/main" val="23498070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sz="3200" dirty="0"/>
              <a:t>9.4 </a:t>
            </a:r>
            <a:r>
              <a:rPr lang="en-US" sz="3200" i="1" dirty="0"/>
              <a:t>p</a:t>
            </a:r>
            <a:r>
              <a:rPr lang="en-US" sz="3200" dirty="0"/>
              <a:t>-Value Approach to a Two-Tailed Test About a Population Mean: </a:t>
            </a:r>
            <a:r>
              <a:rPr lang="en-US" sz="3200" i="1" dirty="0">
                <a:latin typeface="Symbol" panose="05050102010706020507" pitchFamily="18" charset="2"/>
              </a:rPr>
              <a:t>s</a:t>
            </a:r>
            <a:r>
              <a:rPr lang="en-US" sz="3200" dirty="0"/>
              <a:t> Unknown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592320"/>
                <a:ext cx="10515599" cy="2380594"/>
              </a:xfrm>
            </p:spPr>
            <p:txBody>
              <a:bodyPr>
                <a:normAutofit/>
              </a:bodyPr>
              <a:lstStyle/>
              <a:p>
                <a:pPr>
                  <a:lnSpc>
                    <a:spcPct val="100000"/>
                  </a:lnSpc>
                  <a:spcBef>
                    <a:spcPts val="600"/>
                  </a:spcBef>
                  <a:spcAft>
                    <a:spcPts val="600"/>
                  </a:spcAft>
                </a:pPr>
                <a:r>
                  <a:rPr lang="en-US" sz="2000" dirty="0"/>
                  <a:t>The test statistic for the population mean, </a:t>
                </a:r>
                <a:r>
                  <a:rPr lang="en-US" sz="2000" i="1" dirty="0">
                    <a:latin typeface="Symbol" panose="05050102010706020507" pitchFamily="18" charset="2"/>
                  </a:rPr>
                  <a:t>s</a:t>
                </a:r>
                <a:r>
                  <a:rPr lang="en-US" sz="2000" dirty="0"/>
                  <a:t> unknown case is</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𝑡</m:t>
                      </m:r>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rPr>
                                <m:t>0</m:t>
                              </m:r>
                            </m:sub>
                          </m:sSub>
                        </m:num>
                        <m:den>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𝑠</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37.4−40</m:t>
                          </m:r>
                        </m:num>
                        <m:den>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11.79</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25</m:t>
                                  </m:r>
                                </m:e>
                              </m:rad>
                            </m:den>
                          </m:f>
                        </m:den>
                      </m:f>
                      <m:r>
                        <a:rPr lang="en-US" sz="2000" b="0" i="1" smtClean="0">
                          <a:latin typeface="Cambria Math" panose="02040503050406030204" pitchFamily="18" charset="0"/>
                        </a:rPr>
                        <m:t>=−1.10</m:t>
                      </m:r>
                    </m:oMath>
                  </m:oMathPara>
                </a14:m>
                <a:endParaRPr lang="en-US" sz="2000" dirty="0"/>
              </a:p>
              <a:p>
                <a:pPr>
                  <a:lnSpc>
                    <a:spcPct val="100000"/>
                  </a:lnSpc>
                  <a:spcBef>
                    <a:spcPts val="600"/>
                  </a:spcBef>
                  <a:spcAft>
                    <a:spcPts val="600"/>
                  </a:spcAft>
                </a:pPr>
                <a:r>
                  <a:rPr lang="en-US" sz="2000" dirty="0"/>
                  <a:t>Because we have a two-tailed test, the </a:t>
                </a:r>
                <a:r>
                  <a:rPr lang="en-US" sz="2000" i="1" dirty="0"/>
                  <a:t>p</a:t>
                </a:r>
                <a:r>
                  <a:rPr lang="en-US" sz="2000" dirty="0"/>
                  <a:t>-value is two times the area under the curve of the </a:t>
                </a:r>
                <a14:m>
                  <m:oMath xmlns:m="http://schemas.openxmlformats.org/officeDocument/2006/math">
                    <m:r>
                      <a:rPr lang="en-US" sz="2000" i="1" dirty="0" smtClean="0">
                        <a:latin typeface="Cambria Math" panose="02040503050406030204" pitchFamily="18" charset="0"/>
                      </a:rPr>
                      <m:t>𝑡</m:t>
                    </m:r>
                  </m:oMath>
                </a14:m>
                <a:r>
                  <a:rPr lang="en-US" sz="2000" dirty="0"/>
                  <a:t> distribution for </a:t>
                </a:r>
                <a14:m>
                  <m:oMath xmlns:m="http://schemas.openxmlformats.org/officeDocument/2006/math">
                    <m:r>
                      <a:rPr lang="en-US" sz="2000" i="1" dirty="0">
                        <a:latin typeface="Cambria Math" panose="02040503050406030204" pitchFamily="18" charset="0"/>
                      </a:rPr>
                      <m:t>𝑡</m:t>
                    </m:r>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rPr>
                      <m:t>1.</m:t>
                    </m:r>
                    <m:r>
                      <a:rPr lang="en-US" sz="2000" b="0" i="1" dirty="0" smtClean="0">
                        <a:latin typeface="Cambria Math" panose="02040503050406030204" pitchFamily="18" charset="0"/>
                      </a:rPr>
                      <m:t>10</m:t>
                    </m:r>
                  </m:oMath>
                </a14:m>
                <a:r>
                  <a:rPr lang="en-US" sz="2000" dirty="0"/>
                  <a:t>, and with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−1=24</m:t>
                    </m:r>
                  </m:oMath>
                </a14:m>
                <a:r>
                  <a:rPr lang="en-US" sz="2000" dirty="0"/>
                  <a:t> degrees of freedom.</a:t>
                </a:r>
              </a:p>
              <a:p>
                <a:pPr>
                  <a:lnSpc>
                    <a:spcPct val="100000"/>
                  </a:lnSpc>
                  <a:spcBef>
                    <a:spcPts val="600"/>
                  </a:spcBef>
                  <a:spcAft>
                    <a:spcPts val="0"/>
                  </a:spcAft>
                </a:pPr>
                <a:r>
                  <a:rPr lang="en-US" sz="2000" dirty="0"/>
                  <a:t>Using Table 2 in Appendix B, the </a:t>
                </a:r>
                <a:r>
                  <a:rPr lang="en-US" sz="2000" i="1" dirty="0"/>
                  <a:t>t</a:t>
                </a:r>
                <a:r>
                  <a:rPr lang="en-US" sz="2000" dirty="0"/>
                  <a:t> distribution table for 24 degrees of freedom provides</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592320"/>
                <a:ext cx="10515599" cy="2380594"/>
              </a:xfrm>
              <a:blipFill>
                <a:blip r:embed="rId4"/>
                <a:stretch>
                  <a:fillRect l="-1508" t="-3325" b="-1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1710559" y="3974810"/>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r>
                            <a:rPr lang="en-US" sz="1600" b="1" i="1" dirty="0">
                              <a:solidFill>
                                <a:srgbClr val="000000"/>
                              </a:solidFill>
                              <a:latin typeface="Arial" panose="020B0604020202020204" pitchFamily="34" charset="0"/>
                              <a:cs typeface="Arial" panose="020B0604020202020204" pitchFamily="34" charset="0"/>
                            </a:rPr>
                            <a:t>t</a:t>
                          </a:r>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𝟐𝟒</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0.857</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1.318</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1.711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2.064</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2.492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2.797</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2276204746"/>
                  </p:ext>
                </p:extLst>
              </p:nvPr>
            </p:nvGraphicFramePr>
            <p:xfrm>
              <a:off x="1710559" y="3974810"/>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5"/>
                          <a:stretch>
                            <a:fillRect t="-100000" r="-216864" b="-16393"/>
                          </a:stretch>
                        </a:blip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0.857</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1.318</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1.711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2.064</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2.492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2.797</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4824251"/>
                <a:ext cx="10484504" cy="1064173"/>
              </a:xfrm>
            </p:spPr>
            <p:txBody>
              <a:bodyPr>
                <a:noAutofit/>
              </a:bodyPr>
              <a:lstStyle/>
              <a:p>
                <a:pPr>
                  <a:lnSpc>
                    <a:spcPct val="100000"/>
                  </a:lnSpc>
                  <a:spcBef>
                    <a:spcPts val="600"/>
                  </a:spcBef>
                  <a:spcAft>
                    <a:spcPts val="0"/>
                  </a:spcAft>
                </a:pPr>
                <a:r>
                  <a:rPr lang="en-US" sz="2000" dirty="0">
                    <a:cs typeface="Arial" panose="020B0604020202020204" pitchFamily="34" charset="0"/>
                  </a:rPr>
                  <a:t>Because the </a:t>
                </a:r>
                <a14:m>
                  <m:oMath xmlns:m="http://schemas.openxmlformats.org/officeDocument/2006/math">
                    <m:r>
                      <a:rPr lang="en-US" sz="2000" i="1" dirty="0" smtClean="0">
                        <a:latin typeface="Cambria Math" panose="02040503050406030204" pitchFamily="18" charset="0"/>
                        <a:cs typeface="Arial" panose="020B0604020202020204" pitchFamily="34" charset="0"/>
                      </a:rPr>
                      <m:t>𝑡</m:t>
                    </m:r>
                  </m:oMath>
                </a14:m>
                <a:r>
                  <a:rPr lang="en-US" sz="2000" dirty="0">
                    <a:cs typeface="Arial" panose="020B0604020202020204" pitchFamily="34" charset="0"/>
                  </a:rPr>
                  <a:t> distribution is symmetric, the upper tail at </a:t>
                </a:r>
                <a14:m>
                  <m:oMath xmlns:m="http://schemas.openxmlformats.org/officeDocument/2006/math">
                    <m:r>
                      <a:rPr lang="en-US" sz="2000" i="1" dirty="0" smtClean="0">
                        <a:latin typeface="Cambria Math" panose="02040503050406030204" pitchFamily="18" charset="0"/>
                        <a:cs typeface="Arial" panose="020B0604020202020204" pitchFamily="34" charset="0"/>
                      </a:rPr>
                      <m:t>𝑡</m:t>
                    </m:r>
                    <m:r>
                      <a:rPr lang="en-US" sz="2000" i="1" dirty="0" smtClean="0">
                        <a:latin typeface="Cambria Math" panose="02040503050406030204" pitchFamily="18" charset="0"/>
                        <a:cs typeface="Arial" panose="020B0604020202020204" pitchFamily="34" charset="0"/>
                      </a:rPr>
                      <m:t>=1.10</m:t>
                    </m:r>
                  </m:oMath>
                </a14:m>
                <a:r>
                  <a:rPr lang="en-US" sz="2000" dirty="0">
                    <a:cs typeface="Arial" panose="020B0604020202020204" pitchFamily="34" charset="0"/>
                  </a:rPr>
                  <a:t> is the same as the lower tail at </a:t>
                </a:r>
                <a14:m>
                  <m:oMath xmlns:m="http://schemas.openxmlformats.org/officeDocument/2006/math">
                    <m:r>
                      <a:rPr lang="en-US" sz="2000" i="1" dirty="0" smtClean="0">
                        <a:latin typeface="Cambria Math" panose="02040503050406030204" pitchFamily="18" charset="0"/>
                        <a:cs typeface="Arial" panose="020B0604020202020204" pitchFamily="34" charset="0"/>
                      </a:rPr>
                      <m:t>𝑡</m:t>
                    </m:r>
                    <m:r>
                      <a:rPr lang="en-US" sz="2000" i="1" dirty="0" smtClean="0">
                        <a:latin typeface="Cambria Math" panose="02040503050406030204" pitchFamily="18" charset="0"/>
                        <a:cs typeface="Arial" panose="020B0604020202020204" pitchFamily="34" charset="0"/>
                      </a:rPr>
                      <m:t>=−1.10</m:t>
                    </m:r>
                  </m:oMath>
                </a14:m>
                <a:r>
                  <a:rPr lang="en-US" sz="2000" dirty="0">
                    <a:cs typeface="Arial" panose="020B0604020202020204" pitchFamily="34" charset="0"/>
                  </a:rPr>
                  <a:t>. Thus, the </a:t>
                </a:r>
                <a:r>
                  <a:rPr lang="en-US" sz="2000" i="1" dirty="0">
                    <a:cs typeface="Arial" panose="020B0604020202020204" pitchFamily="34" charset="0"/>
                  </a:rPr>
                  <a:t>p</a:t>
                </a:r>
                <a:r>
                  <a:rPr lang="en-US" sz="2000" dirty="0">
                    <a:cs typeface="Arial" panose="020B0604020202020204" pitchFamily="34" charset="0"/>
                  </a:rPr>
                  <a:t>-value is twice the 0.10 to 0.20 range, or </a:t>
                </a:r>
                <a14:m>
                  <m:oMath xmlns:m="http://schemas.openxmlformats.org/officeDocument/2006/math">
                    <m:r>
                      <a:rPr lang="en-US" sz="2000" i="1" dirty="0">
                        <a:latin typeface="Cambria Math" panose="02040503050406030204" pitchFamily="18" charset="0"/>
                        <a:cs typeface="Arial" panose="020B0604020202020204" pitchFamily="34" charset="0"/>
                      </a:rPr>
                      <m:t>0.</m:t>
                    </m:r>
                    <m:r>
                      <a:rPr lang="en-US" sz="2000" b="0" i="1" dirty="0" smtClean="0">
                        <a:latin typeface="Cambria Math" panose="02040503050406030204" pitchFamily="18" charset="0"/>
                        <a:cs typeface="Arial" panose="020B0604020202020204" pitchFamily="34" charset="0"/>
                      </a:rPr>
                      <m:t>20</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𝑝</m:t>
                    </m:r>
                    <m:r>
                      <m:rPr>
                        <m:nor/>
                      </m:rPr>
                      <a:rPr lang="en-US" sz="2000" i="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value</m:t>
                    </m:r>
                    <m:r>
                      <a:rPr lang="en-US" sz="2000" i="1" dirty="0">
                        <a:latin typeface="Cambria Math" panose="02040503050406030204" pitchFamily="18" charset="0"/>
                        <a:cs typeface="Arial" panose="020B0604020202020204" pitchFamily="34" charset="0"/>
                      </a:rPr>
                      <m:t>≤ 0.</m:t>
                    </m:r>
                    <m:r>
                      <a:rPr lang="en-US" sz="2000" b="0" i="1" dirty="0" smtClean="0">
                        <a:latin typeface="Cambria Math" panose="02040503050406030204" pitchFamily="18" charset="0"/>
                        <a:cs typeface="Arial" panose="020B0604020202020204" pitchFamily="34" charset="0"/>
                      </a:rPr>
                      <m:t>40</m:t>
                    </m:r>
                  </m:oMath>
                </a14:m>
                <a:r>
                  <a:rPr lang="en-US" sz="2000" dirty="0">
                    <a:cs typeface="Arial" panose="020B0604020202020204" pitchFamily="34" charset="0"/>
                  </a:rPr>
                  <a:t>.</a:t>
                </a:r>
              </a:p>
              <a:p>
                <a:pPr>
                  <a:lnSpc>
                    <a:spcPct val="100000"/>
                  </a:lnSpc>
                  <a:spcBef>
                    <a:spcPts val="600"/>
                  </a:spcBef>
                </a:pPr>
                <a:r>
                  <a:rPr lang="en-US" sz="2000" dirty="0">
                    <a:cs typeface="Arial" panose="020B0604020202020204" pitchFamily="34" charset="0"/>
                  </a:rPr>
                  <a:t>Using Excel, the exact </a:t>
                </a:r>
                <a:r>
                  <a:rPr lang="en-US" sz="2000" i="1" dirty="0">
                    <a:cs typeface="Arial" panose="020B0604020202020204" pitchFamily="34" charset="0"/>
                  </a:rPr>
                  <a:t>p</a:t>
                </a:r>
                <a:r>
                  <a:rPr lang="en-US" sz="2000" dirty="0">
                    <a:cs typeface="Arial" panose="020B0604020202020204" pitchFamily="34" charset="0"/>
                  </a:rPr>
                  <a:t>-value is</a:t>
                </a:r>
                <a:r>
                  <a:rPr lang="en-US" sz="2000" dirty="0"/>
                  <a:t> </a:t>
                </a:r>
                <a14:m>
                  <m:oMath xmlns:m="http://schemas.openxmlformats.org/officeDocument/2006/math">
                    <m:r>
                      <a:rPr lang="en-US" sz="2000" b="0" i="1" dirty="0" smtClean="0">
                        <a:latin typeface="Cambria Math" panose="02040503050406030204" pitchFamily="18" charset="0"/>
                      </a:rPr>
                      <m:t>2</m:t>
                    </m:r>
                    <m:r>
                      <a:rPr lang="en-US" sz="2000" i="1" dirty="0" smtClean="0">
                        <a:latin typeface="Cambria Math" panose="02040503050406030204" pitchFamily="18" charset="0"/>
                      </a:rPr>
                      <m:t>𝑃</m:t>
                    </m:r>
                    <m:d>
                      <m:dPr>
                        <m:ctrlPr>
                          <a:rPr lang="en-US" sz="2000" i="1" dirty="0" smtClean="0">
                            <a:latin typeface="Cambria Math" panose="02040503050406030204" pitchFamily="18" charset="0"/>
                          </a:rPr>
                        </m:ctrlPr>
                      </m:dPr>
                      <m:e>
                        <m:r>
                          <a:rPr lang="en-US" sz="2000" i="1" dirty="0">
                            <a:latin typeface="Cambria Math" panose="02040503050406030204" pitchFamily="18" charset="0"/>
                          </a:rPr>
                          <m:t>𝑡</m:t>
                        </m:r>
                        <m:r>
                          <a:rPr lang="en-US" sz="2000" i="1" dirty="0">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rPr>
                          <m:t>1.10</m:t>
                        </m:r>
                      </m:e>
                    </m:d>
                    <m:r>
                      <a:rPr lang="en-US" sz="2000" b="0" i="1" dirty="0" smtClean="0">
                        <a:latin typeface="Cambria Math" panose="02040503050406030204" pitchFamily="18" charset="0"/>
                      </a:rPr>
                      <m:t>=</m:t>
                    </m:r>
                    <m:r>
                      <m:rPr>
                        <m:nor/>
                      </m:rPr>
                      <a:rPr lang="en-US" sz="2000" b="0" i="0" dirty="0" smtClean="0">
                        <a:latin typeface="Cambria Math" panose="02040503050406030204" pitchFamily="18" charset="0"/>
                      </a:rPr>
                      <m:t>2</m:t>
                    </m:r>
                    <m:r>
                      <a:rPr lang="en-US" sz="2000" b="0" i="1" dirty="0" smtClean="0">
                        <a:latin typeface="Cambria Math" panose="02040503050406030204" pitchFamily="18" charset="0"/>
                        <a:ea typeface="Cambria Math" panose="02040503050406030204" pitchFamily="18" charset="0"/>
                      </a:rPr>
                      <m:t>×</m:t>
                    </m:r>
                    <m:r>
                      <m:rPr>
                        <m:nor/>
                      </m:rPr>
                      <a:rPr lang="en-US" sz="2000" dirty="0">
                        <a:latin typeface="Cambria Math" panose="02040503050406030204" pitchFamily="18" charset="0"/>
                        <a:cs typeface="Arial" panose="020B0604020202020204" pitchFamily="34" charset="0"/>
                      </a:rPr>
                      <m:t>T</m:t>
                    </m:r>
                    <m:r>
                      <m:rPr>
                        <m:nor/>
                      </m:rPr>
                      <a:rPr lang="en-US" sz="200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DIST</m:t>
                    </m:r>
                    <m:r>
                      <m:rPr>
                        <m:nor/>
                      </m:rPr>
                      <a:rPr lang="en-US" sz="200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RT</m:t>
                    </m:r>
                    <m:r>
                      <m:rPr>
                        <m:nor/>
                      </m:rPr>
                      <a:rPr lang="en-US" sz="2000"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1.10</m:t>
                    </m:r>
                    <m:r>
                      <m:rPr>
                        <m:nor/>
                      </m:rPr>
                      <a:rPr lang="en-US" sz="200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24</m:t>
                    </m:r>
                    <m:r>
                      <m:rPr>
                        <m:nor/>
                      </m:rPr>
                      <a:rPr lang="en-US" sz="2000"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m:t>
                    </m:r>
                    <m:r>
                      <a:rPr lang="en-US" sz="2000" i="1" dirty="0" smtClean="0">
                        <a:solidFill>
                          <a:srgbClr val="000000"/>
                        </a:solidFill>
                        <a:latin typeface="Cambria Math" panose="02040503050406030204" pitchFamily="18" charset="0"/>
                        <a:cs typeface="Arial" panose="020B0604020202020204" pitchFamily="34" charset="0"/>
                      </a:rPr>
                      <m:t>0.</m:t>
                    </m:r>
                    <m:r>
                      <a:rPr lang="en-US" sz="2000" b="0" i="1" dirty="0" smtClean="0">
                        <a:solidFill>
                          <a:srgbClr val="000000"/>
                        </a:solidFill>
                        <a:latin typeface="Cambria Math" panose="02040503050406030204" pitchFamily="18" charset="0"/>
                        <a:cs typeface="Arial" panose="020B0604020202020204" pitchFamily="34" charset="0"/>
                      </a:rPr>
                      <m:t>2811</m:t>
                    </m:r>
                  </m:oMath>
                </a14:m>
                <a:endParaRPr lang="en-US" sz="2000" dirty="0"/>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4824251"/>
                <a:ext cx="10484504" cy="1064173"/>
              </a:xfrm>
              <a:blipFill>
                <a:blip r:embed="rId6"/>
                <a:stretch>
                  <a:fillRect l="-1513" t="-6857" r="-1687" b="-8000"/>
                </a:stretch>
              </a:blipFill>
            </p:spPr>
            <p:txBody>
              <a:bodyPr/>
              <a:lstStyle/>
              <a:p>
                <a:r>
                  <a:rPr lang="en-IN">
                    <a:noFill/>
                  </a:rPr>
                  <a:t> </a:t>
                </a:r>
              </a:p>
            </p:txBody>
          </p:sp>
        </mc:Fallback>
      </mc:AlternateContent>
    </p:spTree>
    <p:extLst>
      <p:ext uri="{BB962C8B-B14F-4D97-AF65-F5344CB8AC3E}">
        <p14:creationId xmlns:p14="http://schemas.microsoft.com/office/powerpoint/2010/main" val="1156467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677920" y="365125"/>
            <a:ext cx="10754710" cy="672105"/>
          </a:xfrm>
        </p:spPr>
        <p:txBody>
          <a:bodyPr/>
          <a:lstStyle/>
          <a:p>
            <a:r>
              <a:rPr lang="en-US" sz="3200" dirty="0"/>
              <a:t>9.4 Critical Value Approach to a Two-Tailed Test About a Population Mean: </a:t>
            </a:r>
            <a:r>
              <a:rPr lang="en-US" sz="3200" i="1" dirty="0">
                <a:latin typeface="Symbol" panose="05050102010706020507" pitchFamily="18" charset="2"/>
              </a:rPr>
              <a:t>s</a:t>
            </a:r>
            <a:r>
              <a:rPr lang="en-US" sz="3200" dirty="0"/>
              <a:t> Unknown</a:t>
            </a:r>
          </a:p>
        </p:txBody>
      </p:sp>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702672"/>
            <a:ext cx="10515599" cy="672106"/>
          </a:xfrm>
        </p:spPr>
        <p:txBody>
          <a:bodyPr>
            <a:normAutofit/>
          </a:bodyPr>
          <a:lstStyle/>
          <a:p>
            <a:pPr>
              <a:lnSpc>
                <a:spcPct val="100000"/>
              </a:lnSpc>
              <a:spcBef>
                <a:spcPts val="600"/>
              </a:spcBef>
            </a:pPr>
            <a:r>
              <a:rPr lang="en-US" sz="2000" dirty="0"/>
              <a:t>For a two-tail test, </a:t>
            </a:r>
            <a:r>
              <a:rPr lang="en-US" sz="2000" i="1" dirty="0">
                <a:latin typeface="Symbol" panose="05050102010706020507" pitchFamily="18" charset="2"/>
              </a:rPr>
              <a:t>s</a:t>
            </a:r>
            <a:r>
              <a:rPr lang="en-US" sz="2000" dirty="0"/>
              <a:t> unknown case, Table 2 in Appendix B provides the critical value with 24 degrees of freedom as</a:t>
            </a:r>
          </a:p>
        </p:txBody>
      </p:sp>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nvPr>
            </p:nvGraphicFramePr>
            <p:xfrm>
              <a:off x="1765738" y="2374778"/>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pPr algn="l"/>
                          <a:r>
                            <a:rPr lang="en-US" sz="1600" b="1" i="1" dirty="0">
                              <a:solidFill>
                                <a:srgbClr val="000000"/>
                              </a:solidFill>
                              <a:latin typeface="Arial" panose="020B0604020202020204" pitchFamily="34" charset="0"/>
                              <a:cs typeface="Arial" panose="020B0604020202020204" pitchFamily="34" charset="0"/>
                            </a:rPr>
                            <a:t>t</a:t>
                          </a:r>
                          <a:r>
                            <a:rPr lang="en-US" sz="1600" b="1" dirty="0">
                              <a:solidFill>
                                <a:srgbClr val="000000"/>
                              </a:solidFill>
                              <a:latin typeface="Arial" panose="020B0604020202020204" pitchFamily="34" charset="0"/>
                              <a:cs typeface="Arial" panose="020B0604020202020204" pitchFamily="34" charset="0"/>
                            </a:rPr>
                            <a:t> Value (</a:t>
                          </a:r>
                          <a14:m>
                            <m:oMath xmlns:m="http://schemas.openxmlformats.org/officeDocument/2006/math">
                              <m:r>
                                <a:rPr lang="en-US" sz="1600" b="1" i="1" dirty="0" smtClean="0">
                                  <a:solidFill>
                                    <a:srgbClr val="000000"/>
                                  </a:solidFill>
                                  <a:latin typeface="Cambria Math" panose="02040503050406030204" pitchFamily="18" charset="0"/>
                                </a:rPr>
                                <m:t>𝒅𝒇</m:t>
                              </m:r>
                              <m:r>
                                <a:rPr lang="en-US" sz="1600" b="1" i="1" dirty="0" smtClean="0">
                                  <a:solidFill>
                                    <a:srgbClr val="000000"/>
                                  </a:solidFill>
                                  <a:latin typeface="Cambria Math" panose="02040503050406030204" pitchFamily="18" charset="0"/>
                                </a:rPr>
                                <m:t>=</m:t>
                              </m:r>
                              <m:r>
                                <a:rPr lang="en-US" sz="1600" b="1" i="1" dirty="0" smtClean="0">
                                  <a:solidFill>
                                    <a:srgbClr val="000000"/>
                                  </a:solidFill>
                                  <a:latin typeface="Cambria Math" panose="02040503050406030204" pitchFamily="18" charset="0"/>
                                </a:rPr>
                                <m:t>𝟐𝟒</m:t>
                              </m:r>
                            </m:oMath>
                          </a14:m>
                          <a:r>
                            <a:rPr lang="en-US" sz="1600" b="1" dirty="0">
                              <a:solidFill>
                                <a:srgbClr val="000000"/>
                              </a:solidFill>
                              <a:latin typeface="Arial" panose="020B0604020202020204" pitchFamily="34" charset="0"/>
                              <a:cs typeface="Arial" panose="020B0604020202020204" pitchFamily="34" charset="0"/>
                            </a:rPr>
                            <a:t>)</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0.857</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1.318</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1.711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2.064</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2.492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2.797</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Choice>
        <mc:Fallback xmlns="">
          <p:graphicFrame>
            <p:nvGraphicFramePr>
              <p:cNvPr id="8" name="Table 8">
                <a:extLst>
                  <a:ext uri="{FF2B5EF4-FFF2-40B4-BE49-F238E27FC236}">
                    <a16:creationId xmlns:a16="http://schemas.microsoft.com/office/drawing/2014/main" id="{9549EC2A-27D4-E6BD-D4A1-AD9E2B3B5672}"/>
                  </a:ext>
                </a:extLst>
              </p:cNvPr>
              <p:cNvGraphicFramePr>
                <a:graphicFrameLocks noGrp="1"/>
              </p:cNvGraphicFramePr>
              <p:nvPr>
                <p:ph type="tbl" sz="quarter" idx="22"/>
                <p:extLst>
                  <p:ext uri="{D42A27DB-BD31-4B8C-83A1-F6EECF244321}">
                    <p14:modId xmlns:p14="http://schemas.microsoft.com/office/powerpoint/2010/main" val="2276755393"/>
                  </p:ext>
                </p:extLst>
              </p:nvPr>
            </p:nvGraphicFramePr>
            <p:xfrm>
              <a:off x="1765738" y="2374778"/>
              <a:ext cx="6514224" cy="741680"/>
            </p:xfrm>
            <a:graphic>
              <a:graphicData uri="http://schemas.openxmlformats.org/drawingml/2006/table">
                <a:tbl>
                  <a:tblPr firstRow="1" bandRow="1">
                    <a:tableStyleId>{5C22544A-7EE6-4342-B048-85BDC9FD1C3A}</a:tableStyleId>
                  </a:tblPr>
                  <a:tblGrid>
                    <a:gridCol w="2056530">
                      <a:extLst>
                        <a:ext uri="{9D8B030D-6E8A-4147-A177-3AD203B41FA5}">
                          <a16:colId xmlns:a16="http://schemas.microsoft.com/office/drawing/2014/main" val="4171103348"/>
                        </a:ext>
                      </a:extLst>
                    </a:gridCol>
                    <a:gridCol w="742949">
                      <a:extLst>
                        <a:ext uri="{9D8B030D-6E8A-4147-A177-3AD203B41FA5}">
                          <a16:colId xmlns:a16="http://schemas.microsoft.com/office/drawing/2014/main" val="2157390142"/>
                        </a:ext>
                      </a:extLst>
                    </a:gridCol>
                    <a:gridCol w="742949">
                      <a:extLst>
                        <a:ext uri="{9D8B030D-6E8A-4147-A177-3AD203B41FA5}">
                          <a16:colId xmlns:a16="http://schemas.microsoft.com/office/drawing/2014/main" val="3310322248"/>
                        </a:ext>
                      </a:extLst>
                    </a:gridCol>
                    <a:gridCol w="742949">
                      <a:extLst>
                        <a:ext uri="{9D8B030D-6E8A-4147-A177-3AD203B41FA5}">
                          <a16:colId xmlns:a16="http://schemas.microsoft.com/office/drawing/2014/main" val="1345786011"/>
                        </a:ext>
                      </a:extLst>
                    </a:gridCol>
                    <a:gridCol w="742949">
                      <a:extLst>
                        <a:ext uri="{9D8B030D-6E8A-4147-A177-3AD203B41FA5}">
                          <a16:colId xmlns:a16="http://schemas.microsoft.com/office/drawing/2014/main" val="3942544080"/>
                        </a:ext>
                      </a:extLst>
                    </a:gridCol>
                    <a:gridCol w="742949">
                      <a:extLst>
                        <a:ext uri="{9D8B030D-6E8A-4147-A177-3AD203B41FA5}">
                          <a16:colId xmlns:a16="http://schemas.microsoft.com/office/drawing/2014/main" val="2859257073"/>
                        </a:ext>
                      </a:extLst>
                    </a:gridCol>
                    <a:gridCol w="742949">
                      <a:extLst>
                        <a:ext uri="{9D8B030D-6E8A-4147-A177-3AD203B41FA5}">
                          <a16:colId xmlns:a16="http://schemas.microsoft.com/office/drawing/2014/main" val="1778856805"/>
                        </a:ext>
                      </a:extLst>
                    </a:gridCol>
                  </a:tblGrid>
                  <a:tr h="370840">
                    <a:tc>
                      <a:txBody>
                        <a:bodyPr/>
                        <a:lstStyle/>
                        <a:p>
                          <a:pPr algn="l"/>
                          <a:r>
                            <a:rPr lang="en-US" sz="1600" b="1" dirty="0">
                              <a:solidFill>
                                <a:srgbClr val="000000"/>
                              </a:solidFill>
                              <a:latin typeface="Arial" panose="020B0604020202020204" pitchFamily="34" charset="0"/>
                              <a:cs typeface="Arial" panose="020B0604020202020204" pitchFamily="34" charset="0"/>
                            </a:rPr>
                            <a:t>Area in upper tail</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0.20</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0.10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highlight>
                                <a:srgbClr val="FFFF00"/>
                              </a:highlight>
                              <a:latin typeface="Arial" panose="020B0604020202020204" pitchFamily="34" charset="0"/>
                              <a:cs typeface="Arial" panose="020B0604020202020204" pitchFamily="34" charset="0"/>
                            </a:rPr>
                            <a:t>0.025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dirty="0">
                              <a:solidFill>
                                <a:srgbClr val="000000"/>
                              </a:solidFill>
                              <a:effectLst/>
                              <a:latin typeface="Arial" panose="020B0604020202020204" pitchFamily="34" charset="0"/>
                              <a:cs typeface="Arial" panose="020B0604020202020204" pitchFamily="34" charset="0"/>
                            </a:rPr>
                            <a:t>0.005</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5328705"/>
                      </a:ext>
                    </a:extLst>
                  </a:tr>
                  <a:tr h="370840">
                    <a:tc>
                      <a:txBody>
                        <a:bodyPr/>
                        <a:lstStyle/>
                        <a:p>
                          <a:endParaRPr lang="en-US"/>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blipFill>
                          <a:blip r:embed="rId3"/>
                          <a:stretch>
                            <a:fillRect t="-101639" r="-216864" b="-16393"/>
                          </a:stretch>
                        </a:blip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0.857</a:t>
                          </a:r>
                        </a:p>
                      </a:txBody>
                      <a:tcPr marL="6350" marR="6350" marT="6350" marB="0"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1.318</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1.711</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highlight>
                                <a:srgbClr val="FFFF00"/>
                              </a:highlight>
                              <a:latin typeface="Arial" panose="020B0604020202020204" pitchFamily="34" charset="0"/>
                              <a:cs typeface="Arial" panose="020B0604020202020204" pitchFamily="34" charset="0"/>
                            </a:rPr>
                            <a:t>2.064</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2.492</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tc>
                      <a:txBody>
                        <a:bodyPr/>
                        <a:lstStyle/>
                        <a:p>
                          <a:pPr algn="ctr" fontAlgn="b"/>
                          <a:r>
                            <a:rPr lang="en-US" sz="1600" b="0" i="0" u="none" strike="noStrike" dirty="0">
                              <a:solidFill>
                                <a:srgbClr val="000000"/>
                              </a:solidFill>
                              <a:effectLst/>
                              <a:latin typeface="Arial" panose="020B0604020202020204" pitchFamily="34" charset="0"/>
                              <a:cs typeface="Arial" panose="020B0604020202020204" pitchFamily="34" charset="0"/>
                            </a:rPr>
                            <a:t>2.797</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noFill/>
                      </a:tcPr>
                    </a:tc>
                    <a:extLst>
                      <a:ext uri="{0D108BD9-81ED-4DB2-BD59-A6C34878D82A}">
                        <a16:rowId xmlns:a16="http://schemas.microsoft.com/office/drawing/2014/main" val="2100353265"/>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46083" y="3180040"/>
                <a:ext cx="10484504" cy="2613786"/>
              </a:xfrm>
            </p:spPr>
            <p:txBody>
              <a:bodyPr>
                <a:noAutofit/>
              </a:bodyPr>
              <a:lstStyle/>
              <a:p>
                <a:pPr>
                  <a:lnSpc>
                    <a:spcPct val="100000"/>
                  </a:lnSpc>
                  <a:spcBef>
                    <a:spcPts val="600"/>
                  </a:spcBef>
                </a:pPr>
                <a:r>
                  <a:rPr lang="en-US" sz="2000" dirty="0">
                    <a:cs typeface="Arial" panose="020B0604020202020204" pitchFamily="34" charset="0"/>
                  </a:rPr>
                  <a:t>Thus, the two critical values for a two-tailed test are </a:t>
                </a:r>
                <a14:m>
                  <m:oMath xmlns:m="http://schemas.openxmlformats.org/officeDocument/2006/math">
                    <m:sSub>
                      <m:sSubPr>
                        <m:ctrlPr>
                          <a:rPr lang="en-US" sz="2000" i="1" dirty="0" smtClean="0">
                            <a:latin typeface="Cambria Math" panose="02040503050406030204" pitchFamily="18" charset="0"/>
                            <a:cs typeface="Arial" panose="020B0604020202020204" pitchFamily="34" charset="0"/>
                          </a:rPr>
                        </m:ctrlPr>
                      </m:sSubPr>
                      <m:e>
                        <m:r>
                          <a:rPr lang="en-US" sz="2000" b="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𝑡</m:t>
                        </m:r>
                      </m:e>
                      <m:sub>
                        <m:r>
                          <a:rPr lang="en-US" sz="2000" b="0" i="1" dirty="0" smtClean="0">
                            <a:latin typeface="Cambria Math" panose="02040503050406030204" pitchFamily="18" charset="0"/>
                            <a:cs typeface="Arial" panose="020B0604020202020204" pitchFamily="34" charset="0"/>
                          </a:rPr>
                          <m:t>.025</m:t>
                        </m:r>
                      </m:sub>
                    </m:sSub>
                    <m:r>
                      <a:rPr lang="en-US" sz="2000" i="1" dirty="0" smtClean="0">
                        <a:latin typeface="Cambria Math" panose="02040503050406030204" pitchFamily="18" charset="0"/>
                        <a:cs typeface="Arial" panose="020B0604020202020204" pitchFamily="34" charset="0"/>
                      </a:rPr>
                      <m:t>=</m:t>
                    </m:r>
                    <m:r>
                      <a:rPr lang="en-US" sz="2000" b="0" i="0" dirty="0" smtClean="0">
                        <a:latin typeface="Cambria Math" panose="02040503050406030204" pitchFamily="18" charset="0"/>
                        <a:cs typeface="Arial" panose="020B0604020202020204" pitchFamily="34" charset="0"/>
                      </a:rPr>
                      <m:t>−2.064</m:t>
                    </m:r>
                  </m:oMath>
                </a14:m>
                <a:r>
                  <a:rPr lang="en-US" sz="2000" dirty="0">
                    <a:cs typeface="Arial" panose="020B0604020202020204" pitchFamily="34" charset="0"/>
                  </a:rPr>
                  <a:t> and </a:t>
                </a:r>
                <a14:m>
                  <m:oMath xmlns:m="http://schemas.openxmlformats.org/officeDocument/2006/math">
                    <m:sSub>
                      <m:sSubPr>
                        <m:ctrlPr>
                          <a:rPr lang="en-US" sz="2000" i="1" dirty="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𝑡</m:t>
                        </m:r>
                      </m:e>
                      <m:sub>
                        <m:r>
                          <a:rPr lang="en-US" sz="2000" i="1" dirty="0">
                            <a:latin typeface="Cambria Math" panose="02040503050406030204" pitchFamily="18" charset="0"/>
                            <a:cs typeface="Arial" panose="020B0604020202020204" pitchFamily="34" charset="0"/>
                          </a:rPr>
                          <m:t>.025</m:t>
                        </m:r>
                      </m:sub>
                    </m:sSub>
                    <m:r>
                      <a:rPr lang="en-US" sz="2000" i="1" dirty="0">
                        <a:latin typeface="Cambria Math" panose="02040503050406030204" pitchFamily="18" charset="0"/>
                        <a:cs typeface="Arial" panose="020B0604020202020204" pitchFamily="34" charset="0"/>
                      </a:rPr>
                      <m:t>=</m:t>
                    </m:r>
                    <m:r>
                      <a:rPr lang="en-US" sz="2000" dirty="0">
                        <a:latin typeface="Cambria Math" panose="02040503050406030204" pitchFamily="18" charset="0"/>
                        <a:cs typeface="Arial" panose="020B0604020202020204" pitchFamily="34" charset="0"/>
                      </a:rPr>
                      <m:t>2.064</m:t>
                    </m:r>
                  </m:oMath>
                </a14:m>
                <a:r>
                  <a:rPr lang="en-US" sz="2000" dirty="0">
                    <a:cs typeface="Arial" panose="020B0604020202020204" pitchFamily="34" charset="0"/>
                  </a:rPr>
                  <a:t>.</a:t>
                </a:r>
              </a:p>
              <a:p>
                <a:pPr>
                  <a:lnSpc>
                    <a:spcPct val="100000"/>
                  </a:lnSpc>
                  <a:spcBef>
                    <a:spcPts val="600"/>
                  </a:spcBef>
                </a:pPr>
                <a:r>
                  <a:rPr lang="en-US" sz="2000" dirty="0">
                    <a:cs typeface="Arial" panose="020B0604020202020204" pitchFamily="34" charset="0"/>
                  </a:rPr>
                  <a:t>We can also use Excel to compute the critical values as: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T</m:t>
                    </m:r>
                    <m:r>
                      <m:rPr>
                        <m:nor/>
                      </m:rPr>
                      <a:rPr lang="en-US" sz="2000" b="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1</m:t>
                    </m:r>
                    <m:r>
                      <a:rPr lang="en-US" sz="2000" b="0" i="1"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.025</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24</m:t>
                    </m:r>
                    <m:r>
                      <m:rPr>
                        <m:nor/>
                      </m:rPr>
                      <a:rPr lang="en-US" sz="2000" i="0"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2.064</m:t>
                    </m:r>
                  </m:oMath>
                </a14:m>
                <a:endParaRPr lang="en-US" sz="2000" dirty="0">
                  <a:cs typeface="Arial" panose="020B0604020202020204" pitchFamily="34" charset="0"/>
                </a:endParaRPr>
              </a:p>
              <a:p>
                <a:pPr>
                  <a:lnSpc>
                    <a:spcPct val="100000"/>
                  </a:lnSpc>
                  <a:spcBef>
                    <a:spcPts val="600"/>
                  </a:spcBef>
                </a:pPr>
                <a:r>
                  <a:rPr lang="en-US" sz="2000" dirty="0">
                    <a:cs typeface="Arial" panose="020B0604020202020204" pitchFamily="34" charset="0"/>
                  </a:rPr>
                  <a:t>Using either approach, we have the following rejection rules:</a:t>
                </a:r>
              </a:p>
              <a:p>
                <a:pPr marL="914400">
                  <a:lnSpc>
                    <a:spcPct val="100000"/>
                  </a:lnSpc>
                  <a:spcBef>
                    <a:spcPts val="600"/>
                  </a:spcBef>
                </a:pPr>
                <a:r>
                  <a:rPr lang="en-US" sz="2000" i="1" dirty="0">
                    <a:cs typeface="Arial" panose="020B0604020202020204" pitchFamily="34" charset="0"/>
                  </a:rPr>
                  <a:t>p</a:t>
                </a:r>
                <a:r>
                  <a:rPr lang="en-US" sz="2000" dirty="0">
                    <a:cs typeface="Arial" panose="020B0604020202020204" pitchFamily="34" charset="0"/>
                  </a:rPr>
                  <a:t>-value approach: 	</a:t>
                </a:r>
                <a:r>
                  <a:rPr lang="en-US" sz="2000" b="1" dirty="0"/>
                  <a:t> </a:t>
                </a:r>
                <a:r>
                  <a:rPr lang="en-US" sz="2000" dirty="0"/>
                  <a:t>Reject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oMath>
                </a14:m>
                <a:r>
                  <a:rPr lang="en-US" sz="2000" dirty="0"/>
                  <a:t> if </a:t>
                </a:r>
                <a14:m>
                  <m:oMath xmlns:m="http://schemas.openxmlformats.org/officeDocument/2006/math">
                    <m:r>
                      <a:rPr lang="en-US" sz="2000" b="0" i="1" smtClean="0">
                        <a:latin typeface="Cambria Math" panose="02040503050406030204" pitchFamily="18" charset="0"/>
                      </a:rPr>
                      <m:t>𝑝</m:t>
                    </m:r>
                    <m:r>
                      <m:rPr>
                        <m:nor/>
                      </m:rPr>
                      <a:rPr lang="en-US" sz="2000" b="0" i="0" smtClean="0">
                        <a:latin typeface="Cambria Math" panose="02040503050406030204" pitchFamily="18" charset="0"/>
                      </a:rPr>
                      <m:t>−</m:t>
                    </m:r>
                    <m:r>
                      <a:rPr lang="en-US" sz="2000" b="0" i="1" smtClean="0">
                        <a:latin typeface="Cambria Math" panose="02040503050406030204" pitchFamily="18" charset="0"/>
                      </a:rPr>
                      <m:t>𝑣𝑎𝑙𝑢𝑒</m:t>
                    </m:r>
                    <m:r>
                      <a:rPr lang="en-US" sz="2000" b="0" i="1" smtClean="0">
                        <a:latin typeface="Cambria Math" panose="02040503050406030204" pitchFamily="18" charset="0"/>
                        <a:ea typeface="Cambria Math" panose="02040503050406030204" pitchFamily="18" charset="0"/>
                      </a:rPr>
                      <m:t>≤0.05</m:t>
                    </m:r>
                  </m:oMath>
                </a14:m>
                <a:endParaRPr lang="en-US" sz="2000" dirty="0">
                  <a:cs typeface="Arial" panose="020B0604020202020204" pitchFamily="34" charset="0"/>
                </a:endParaRPr>
              </a:p>
              <a:p>
                <a:pPr marL="914400">
                  <a:lnSpc>
                    <a:spcPct val="100000"/>
                  </a:lnSpc>
                  <a:spcBef>
                    <a:spcPts val="600"/>
                  </a:spcBef>
                </a:pPr>
                <a:r>
                  <a:rPr lang="en-US" sz="2000" dirty="0">
                    <a:cs typeface="Arial" panose="020B0604020202020204" pitchFamily="34" charset="0"/>
                  </a:rPr>
                  <a:t>critical value approach:	</a:t>
                </a:r>
                <a:r>
                  <a:rPr lang="en-US" sz="2000" dirty="0"/>
                  <a:t> </a:t>
                </a:r>
                <a14:m>
                  <m:oMath xmlns:m="http://schemas.openxmlformats.org/officeDocument/2006/math">
                    <m:r>
                      <m:rPr>
                        <m:nor/>
                      </m:rPr>
                      <a:rPr lang="en-US" sz="2000" dirty="0"/>
                      <m:t>Reject</m:t>
                    </m:r>
                    <m:r>
                      <m:rPr>
                        <m:nor/>
                      </m:rPr>
                      <a:rPr lang="en-US" sz="2000" dirty="0"/>
                      <m:t> </m:t>
                    </m:r>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𝐻</m:t>
                        </m:r>
                      </m:e>
                      <m:sub>
                        <m:r>
                          <a:rPr lang="en-US" sz="2000" b="0" i="1">
                            <a:latin typeface="Cambria Math" panose="02040503050406030204" pitchFamily="18" charset="0"/>
                            <a:cs typeface="Arial" panose="020B0604020202020204" pitchFamily="34" charset="0"/>
                          </a:rPr>
                          <m:t>0</m:t>
                        </m:r>
                      </m:sub>
                    </m:sSub>
                    <m:r>
                      <m:rPr>
                        <m:nor/>
                      </m:rPr>
                      <a:rPr lang="en-US" sz="2000" dirty="0"/>
                      <m:t> </m:t>
                    </m:r>
                    <m:r>
                      <m:rPr>
                        <m:nor/>
                      </m:rPr>
                      <a:rPr lang="en-US" sz="2000" dirty="0"/>
                      <m:t>if</m:t>
                    </m:r>
                    <m:r>
                      <m:rPr>
                        <m:nor/>
                      </m:rPr>
                      <a:rPr lang="en-US" sz="2000" dirty="0"/>
                      <m:t> </m:t>
                    </m:r>
                    <m:r>
                      <a:rPr lang="en-US" sz="2000" b="0" i="1" smtClean="0">
                        <a:latin typeface="Cambria Math" panose="02040503050406030204" pitchFamily="18" charset="0"/>
                      </a:rPr>
                      <m:t>𝑡</m:t>
                    </m:r>
                    <m:r>
                      <a:rPr lang="en-US" sz="2000" b="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−2.064</m:t>
                    </m:r>
                    <m:r>
                      <m:rPr>
                        <m:nor/>
                      </m:rPr>
                      <a:rPr lang="en-US" sz="2000" b="1" i="0" smtClean="0">
                        <a:latin typeface="Cambria Math" panose="02040503050406030204" pitchFamily="18" charset="0"/>
                        <a:ea typeface="Cambria Math" panose="02040503050406030204" pitchFamily="18" charset="0"/>
                      </a:rPr>
                      <m:t> </m:t>
                    </m:r>
                    <m:r>
                      <m:rPr>
                        <m:nor/>
                      </m:rPr>
                      <a:rPr lang="en-US" sz="2000">
                        <a:latin typeface="Arial" panose="020B0604020202020204" pitchFamily="34" charset="0"/>
                        <a:ea typeface="Cambria Math" panose="02040503050406030204" pitchFamily="18" charset="0"/>
                        <a:cs typeface="Arial" panose="020B0604020202020204" pitchFamily="34" charset="0"/>
                      </a:rPr>
                      <m:t>or</m:t>
                    </m:r>
                    <m:r>
                      <m:rPr>
                        <m:nor/>
                      </m:rPr>
                      <a:rPr lang="en-US" sz="2000">
                        <a:latin typeface="Arial" panose="020B0604020202020204" pitchFamily="34" charset="0"/>
                        <a:ea typeface="Cambria Math" panose="02040503050406030204" pitchFamily="18" charset="0"/>
                        <a:cs typeface="Arial" panose="020B0604020202020204" pitchFamily="34" charset="0"/>
                      </a:rPr>
                      <m:t> </m:t>
                    </m:r>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r>
                      <a:rPr lang="en-US" sz="2000" b="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2.064</m:t>
                    </m:r>
                  </m:oMath>
                </a14:m>
                <a:endParaRPr lang="en-US" sz="2000" dirty="0">
                  <a:cs typeface="Arial" panose="020B0604020202020204" pitchFamily="34" charset="0"/>
                </a:endParaRPr>
              </a:p>
              <a:p>
                <a:pPr>
                  <a:lnSpc>
                    <a:spcPct val="110000"/>
                  </a:lnSpc>
                  <a:spcBef>
                    <a:spcPts val="600"/>
                  </a:spcBef>
                </a:pPr>
                <a:r>
                  <a:rPr lang="en-US" sz="2000" dirty="0">
                    <a:cs typeface="Arial" panose="020B0604020202020204" pitchFamily="34" charset="0"/>
                  </a:rPr>
                  <a:t>Thus,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𝐻</m:t>
                        </m:r>
                      </m:e>
                      <m:sub>
                        <m:r>
                          <a:rPr lang="en-US" sz="2000" b="0" i="1">
                            <a:latin typeface="Cambria Math" panose="02040503050406030204" pitchFamily="18" charset="0"/>
                            <a:cs typeface="Arial" panose="020B0604020202020204" pitchFamily="34" charset="0"/>
                          </a:rPr>
                          <m:t>0</m:t>
                        </m:r>
                      </m:sub>
                    </m:sSub>
                  </m:oMath>
                </a14:m>
                <a:r>
                  <a:rPr lang="en-US" sz="2000" dirty="0">
                    <a:cs typeface="Arial" panose="020B0604020202020204" pitchFamily="34" charset="0"/>
                  </a:rPr>
                  <a:t> cannot be rejected, and Serrano should continue its production planning for the coming season based on an expected demand of 40 toys per retail store.</a:t>
                </a: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46083" y="3180040"/>
                <a:ext cx="10484504" cy="2613786"/>
              </a:xfrm>
              <a:blipFill>
                <a:blip r:embed="rId4"/>
                <a:stretch>
                  <a:fillRect l="-1512" t="-2804" b="-3738"/>
                </a:stretch>
              </a:blipFill>
            </p:spPr>
            <p:txBody>
              <a:bodyPr/>
              <a:lstStyle/>
              <a:p>
                <a:r>
                  <a:rPr lang="en-US">
                    <a:noFill/>
                  </a:rPr>
                  <a:t> </a:t>
                </a:r>
              </a:p>
            </p:txBody>
          </p:sp>
        </mc:Fallback>
      </mc:AlternateContent>
    </p:spTree>
    <p:extLst>
      <p:ext uri="{BB962C8B-B14F-4D97-AF65-F5344CB8AC3E}">
        <p14:creationId xmlns:p14="http://schemas.microsoft.com/office/powerpoint/2010/main" val="13828143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9.4 Excel: Conduct a Hypothesis Test</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144389"/>
            <a:ext cx="10610223" cy="1027314"/>
          </a:xfrm>
        </p:spPr>
        <p:txBody>
          <a:bodyPr/>
          <a:lstStyle/>
          <a:p>
            <a:r>
              <a:rPr lang="en-US" sz="2000" b="1" dirty="0"/>
              <a:t>Enter/Access Data</a:t>
            </a:r>
            <a:r>
              <a:rPr lang="en-US" sz="2000" dirty="0"/>
              <a:t>: Open the file </a:t>
            </a:r>
            <a:r>
              <a:rPr lang="en-US" sz="2000" i="1" dirty="0"/>
              <a:t>orders</a:t>
            </a:r>
            <a:r>
              <a:rPr lang="en-US" sz="2000" dirty="0"/>
              <a:t>. The data are entered in cells A2:A26.</a:t>
            </a:r>
          </a:p>
          <a:p>
            <a:r>
              <a:rPr lang="en-US" sz="2000" b="1" dirty="0"/>
              <a:t>Enter Functions and Formulas</a:t>
            </a:r>
            <a:r>
              <a:rPr lang="en-US" sz="2000" dirty="0"/>
              <a:t>: The sample size, sample mean, and sample standard deviation are computed in cells C3:C5 using Excel’s COUNT, AVERAGE, and STDEV.S functions, respectively.</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D16A1EC-8780-2A26-ACE2-AAD04145147E}"/>
                  </a:ext>
                </a:extLst>
              </p:cNvPr>
              <p:cNvSpPr>
                <a:spLocks noGrp="1"/>
              </p:cNvSpPr>
              <p:nvPr>
                <p:ph type="body" sz="quarter" idx="17"/>
              </p:nvPr>
            </p:nvSpPr>
            <p:spPr>
              <a:xfrm>
                <a:off x="743577" y="2514599"/>
                <a:ext cx="5352424" cy="3471073"/>
              </a:xfrm>
            </p:spPr>
            <p:txBody>
              <a:bodyPr/>
              <a:lstStyle/>
              <a:p>
                <a:pPr>
                  <a:spcAft>
                    <a:spcPts val="0"/>
                  </a:spcAft>
                </a:pPr>
                <a:r>
                  <a:rPr lang="en-US" sz="2000" dirty="0"/>
                  <a:t>The standard error is computed in cell C9, and the </a:t>
                </a:r>
                <a14:m>
                  <m:oMath xmlns:m="http://schemas.openxmlformats.org/officeDocument/2006/math">
                    <m:r>
                      <a:rPr lang="en-US" sz="2000" b="0" i="1" dirty="0" smtClean="0">
                        <a:latin typeface="Cambria Math" panose="02040503050406030204" pitchFamily="18" charset="0"/>
                      </a:rPr>
                      <m:t>𝑡</m:t>
                    </m:r>
                  </m:oMath>
                </a14:m>
                <a:r>
                  <a:rPr lang="en-US" sz="2000" dirty="0"/>
                  <a:t> test statistic in cell C10. </a:t>
                </a:r>
              </a:p>
              <a:p>
                <a:pPr>
                  <a:spcAft>
                    <a:spcPts val="600"/>
                  </a:spcAft>
                </a:pPr>
                <a:r>
                  <a:rPr lang="en-US" sz="2000" dirty="0"/>
                  <a:t>To compute the </a:t>
                </a:r>
                <a14:m>
                  <m:oMath xmlns:m="http://schemas.openxmlformats.org/officeDocument/2006/math">
                    <m:r>
                      <a:rPr lang="en-US" sz="2000" i="1" dirty="0" smtClean="0">
                        <a:latin typeface="Cambria Math" panose="02040503050406030204" pitchFamily="18" charset="0"/>
                      </a:rPr>
                      <m:t>𝑝</m:t>
                    </m:r>
                  </m:oMath>
                </a14:m>
                <a:r>
                  <a:rPr lang="en-US" sz="2000" dirty="0"/>
                  <a:t>-value for a lower tail test with </a:t>
                </a:r>
                <a14:m>
                  <m:oMath xmlns:m="http://schemas.openxmlformats.org/officeDocument/2006/math">
                    <m:r>
                      <a:rPr lang="en-US" sz="2000" i="1">
                        <a:latin typeface="Cambria Math" panose="02040503050406030204" pitchFamily="18" charset="0"/>
                        <a:ea typeface="Cambria Math" panose="02040503050406030204" pitchFamily="18" charset="0"/>
                      </a:rPr>
                      <m:t>𝜎</m:t>
                    </m:r>
                  </m:oMath>
                </a14:m>
                <a:r>
                  <a:rPr lang="en-US" sz="2000" dirty="0"/>
                  <a:t> unknown, in cell C13, we enter the formula</a:t>
                </a:r>
              </a:p>
              <a:p>
                <a:pPr marL="457200">
                  <a:spcAft>
                    <a:spcPts val="600"/>
                  </a:spcAft>
                </a:pPr>
                <a14:m>
                  <m:oMathPara xmlns:m="http://schemas.openxmlformats.org/officeDocument/2006/math">
                    <m:oMathParaPr>
                      <m:jc m:val="left"/>
                    </m:oMathParaPr>
                    <m:oMath xmlns:m="http://schemas.openxmlformats.org/officeDocument/2006/math">
                      <m:r>
                        <m:rPr>
                          <m:nor/>
                        </m:rPr>
                        <a:rPr lang="en-US" sz="2000" i="0" dirty="0" smtClean="0">
                          <a:latin typeface="Cambria Math" panose="02040503050406030204" pitchFamily="18" charset="0"/>
                        </a:rPr>
                        <m:t>=</m:t>
                      </m:r>
                      <m:r>
                        <a:rPr lang="en-US" sz="2000" b="0" i="1" dirty="0" smtClean="0">
                          <a:latin typeface="Cambria Math" panose="02040503050406030204" pitchFamily="18" charset="0"/>
                        </a:rPr>
                        <m:t>𝑇</m:t>
                      </m:r>
                      <m:r>
                        <a:rPr lang="en-US" sz="2000" i="1" dirty="0" smtClean="0">
                          <a:latin typeface="Cambria Math" panose="02040503050406030204" pitchFamily="18" charset="0"/>
                        </a:rPr>
                        <m:t>.</m:t>
                      </m:r>
                      <m:r>
                        <a:rPr lang="en-US" sz="2000" i="1" dirty="0" smtClean="0">
                          <a:latin typeface="Cambria Math" panose="02040503050406030204" pitchFamily="18" charset="0"/>
                        </a:rPr>
                        <m:t>𝐷𝐼𝑆𝑇</m:t>
                      </m:r>
                      <m:r>
                        <a:rPr lang="en-US" sz="2000" i="1" dirty="0" smtClean="0">
                          <a:latin typeface="Cambria Math" panose="02040503050406030204" pitchFamily="18" charset="0"/>
                        </a:rPr>
                        <m:t>(</m:t>
                      </m:r>
                      <m:r>
                        <a:rPr lang="en-US" sz="2000" b="0" i="1" dirty="0" smtClean="0">
                          <a:latin typeface="Cambria Math" panose="02040503050406030204" pitchFamily="18" charset="0"/>
                        </a:rPr>
                        <m:t>𝑡</m:t>
                      </m:r>
                      <m:r>
                        <a:rPr lang="en-US" sz="2000" i="1" dirty="0" err="1" smtClean="0">
                          <a:latin typeface="Cambria Math" panose="02040503050406030204" pitchFamily="18" charset="0"/>
                        </a:rPr>
                        <m:t>,</m:t>
                      </m:r>
                      <m:r>
                        <a:rPr lang="en-US" sz="2000" b="0" i="1" dirty="0" smtClean="0">
                          <a:latin typeface="Cambria Math" panose="02040503050406030204" pitchFamily="18" charset="0"/>
                        </a:rPr>
                        <m:t>𝑑𝑓</m:t>
                      </m:r>
                      <m:r>
                        <a:rPr lang="en-US" sz="2000" b="0" i="1" dirty="0" smtClean="0">
                          <a:latin typeface="Cambria Math" panose="02040503050406030204" pitchFamily="18" charset="0"/>
                        </a:rPr>
                        <m:t>,</m:t>
                      </m:r>
                      <m:r>
                        <a:rPr lang="en-US" sz="2000" i="1" dirty="0" err="1" smtClean="0">
                          <a:latin typeface="Cambria Math" panose="02040503050406030204" pitchFamily="18" charset="0"/>
                        </a:rPr>
                        <m:t>𝑇𝑅𝑈𝐸</m:t>
                      </m:r>
                      <m:r>
                        <a:rPr lang="en-US" sz="2000" i="1" dirty="0" smtClean="0">
                          <a:latin typeface="Cambria Math" panose="02040503050406030204" pitchFamily="18" charset="0"/>
                        </a:rPr>
                        <m:t>)</m:t>
                      </m:r>
                    </m:oMath>
                  </m:oMathPara>
                </a14:m>
                <a:endParaRPr lang="en-US" sz="2000" dirty="0"/>
              </a:p>
              <a:p>
                <a:pPr marL="457200">
                  <a:spcAft>
                    <a:spcPts val="0"/>
                  </a:spcAft>
                </a:pPr>
                <a:r>
                  <a:rPr lang="en-US" sz="2000" dirty="0"/>
                  <a:t>Where </a:t>
                </a:r>
                <a14:m>
                  <m:oMath xmlns:m="http://schemas.openxmlformats.org/officeDocument/2006/math">
                    <m:r>
                      <a:rPr lang="en-US" sz="2000" i="1" dirty="0" smtClean="0">
                        <a:latin typeface="Cambria Math" panose="02040503050406030204" pitchFamily="18" charset="0"/>
                      </a:rPr>
                      <m:t>𝑡</m:t>
                    </m:r>
                  </m:oMath>
                </a14:m>
                <a:r>
                  <a:rPr lang="en-US" sz="2000" dirty="0"/>
                  <a:t> is the test statistic in cell C10 and </a:t>
                </a:r>
                <a14:m>
                  <m:oMath xmlns:m="http://schemas.openxmlformats.org/officeDocument/2006/math">
                    <m:r>
                      <a:rPr lang="en-US" sz="2000" i="1" dirty="0" smtClean="0">
                        <a:latin typeface="Cambria Math" panose="02040503050406030204" pitchFamily="18" charset="0"/>
                      </a:rPr>
                      <m:t>𝑑𝑓</m:t>
                    </m:r>
                    <m:r>
                      <a:rPr lang="en-US" sz="2000" i="1" dirty="0" smtClean="0">
                        <a:latin typeface="Cambria Math" panose="02040503050406030204" pitchFamily="18" charset="0"/>
                      </a:rPr>
                      <m:t>=</m:t>
                    </m:r>
                    <m:r>
                      <a:rPr lang="en-US" sz="2000" i="1" dirty="0" smtClean="0">
                        <a:latin typeface="Cambria Math" panose="02040503050406030204" pitchFamily="18" charset="0"/>
                      </a:rPr>
                      <m:t>𝑛</m:t>
                    </m:r>
                    <m:r>
                      <a:rPr lang="en-US" sz="2000" i="1" dirty="0" smtClean="0">
                        <a:latin typeface="Cambria Math" panose="02040503050406030204" pitchFamily="18" charset="0"/>
                      </a:rPr>
                      <m:t>−1</m:t>
                    </m:r>
                  </m:oMath>
                </a14:m>
                <a:r>
                  <a:rPr lang="en-US" sz="2000" dirty="0"/>
                  <a:t> is stated in cell C11.</a:t>
                </a:r>
              </a:p>
              <a:p>
                <a:pPr>
                  <a:spcAft>
                    <a:spcPts val="0"/>
                  </a:spcAft>
                </a:pPr>
                <a:r>
                  <a:rPr lang="en-US" sz="2000" dirty="0"/>
                  <a:t>The </a:t>
                </a:r>
                <a14:m>
                  <m:oMath xmlns:m="http://schemas.openxmlformats.org/officeDocument/2006/math">
                    <m:r>
                      <a:rPr lang="en-US" sz="2000" i="1" dirty="0" smtClean="0">
                        <a:latin typeface="Cambria Math" panose="02040503050406030204" pitchFamily="18" charset="0"/>
                      </a:rPr>
                      <m:t>𝑝</m:t>
                    </m:r>
                  </m:oMath>
                </a14:m>
                <a:r>
                  <a:rPr lang="en-US" sz="2000" dirty="0"/>
                  <a:t>-values for the upper tail and two-tail tests are computed in the same way we did for the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t> known Excel example in Section 9.3. </a:t>
                </a:r>
              </a:p>
            </p:txBody>
          </p:sp>
        </mc:Choice>
        <mc:Fallback xmlns="">
          <p:sp>
            <p:nvSpPr>
              <p:cNvPr id="5" name="Text Placeholder 4">
                <a:extLst>
                  <a:ext uri="{FF2B5EF4-FFF2-40B4-BE49-F238E27FC236}">
                    <a16:creationId xmlns:a16="http://schemas.microsoft.com/office/drawing/2014/main" id="{ED16A1EC-8780-2A26-ACE2-AAD04145147E}"/>
                  </a:ext>
                </a:extLst>
              </p:cNvPr>
              <p:cNvSpPr>
                <a:spLocks noGrp="1" noRot="1" noChangeAspect="1" noMove="1" noResize="1" noEditPoints="1" noAdjustHandles="1" noChangeArrowheads="1" noChangeShapeType="1" noTextEdit="1"/>
              </p:cNvSpPr>
              <p:nvPr>
                <p:ph type="body" sz="quarter" idx="17"/>
              </p:nvPr>
            </p:nvSpPr>
            <p:spPr>
              <a:xfrm>
                <a:off x="743577" y="2514599"/>
                <a:ext cx="5352424" cy="3471073"/>
              </a:xfrm>
              <a:blipFill>
                <a:blip r:embed="rId2"/>
                <a:stretch>
                  <a:fillRect l="-2961" t="-1930" r="-4100" b="-3333"/>
                </a:stretch>
              </a:blipFill>
            </p:spPr>
            <p:txBody>
              <a:bodyPr/>
              <a:lstStyle/>
              <a:p>
                <a:r>
                  <a:rPr lang="en-US">
                    <a:noFill/>
                  </a:rPr>
                  <a:t> </a:t>
                </a:r>
              </a:p>
            </p:txBody>
          </p:sp>
        </mc:Fallback>
      </mc:AlternateContent>
      <p:pic>
        <p:nvPicPr>
          <p:cNvPr id="7" name="Picture Placeholder 6" descr="Two screenshots of Excel spreadsheet show the hypothesis test about a population with a sigma unknown case. In both the spreadsheets, column A is labeled units. The row entries are as follows. Row 2: 26. Row 3: 23. Row 4: 32. Row 5: 47. Row 6: 45. Row 7: 31. Row 8: 47. Row 9: 59. Row 10: 21. Row 11: 52. Row 12: 45. Row 13: 53. Row 14: 34. Row 15: 45. Row 16: 39. Row 17: 52. Row 25: 30. Row 26: 28. The entries under columns B and C in the first spreadsheet are as follows. B 3: Sample size. C 3: =COUNT(A 2:A 26). B 4: Sample mean. C 4: =AVERAGE(A 2:A 26). B 5: Sample standard deviation. C 5: =STDEV.S(A 2:A 26). B 7: Hypothesized value. C 7: 40. B 9: Standard error. C 9: =D 6/SQRT(C 3). B 10: Test statistic t. C 10: =(C 4 minus C 7)/C 9. B 11: Degrees of freedom. C 11: =C 3 minus 1. B 13: p-value (Lower Tail). C 13: =T.DIST(C 10,C 11,TRUE). B 14: p-value (Upper tail). C 14: =1 minus C 13. B 15: p-value (Two Tail). C 15: =2*MIN(C 13,C 14). The entries under columns B and C in the second spreadsheet are as follows. B 3: Sample size. C 3: 25. B 4: Sample mean. C 4: 37.4. B 5: Sample standard deviation. C 5: 11.79. B 7: Hypothesized value. C 7: 40. B 9: Standard error. C 9: 2.3580. B 10: Test statistic t. C 10: Negative 1.1026. B 11: Degrees of freedom. C 11: 24. B 13: p-value (Lower Tail). C 13: 0.1406. B 14: p-value (Upper tail). C 14: 0.8594. B 15: p-value (Two Tail). C 15: 0.2811.">
            <a:extLst>
              <a:ext uri="{FF2B5EF4-FFF2-40B4-BE49-F238E27FC236}">
                <a16:creationId xmlns:a16="http://schemas.microsoft.com/office/drawing/2014/main" id="{4523964B-565F-6B28-6BCA-B262D43383CB}"/>
              </a:ext>
            </a:extLst>
          </p:cNvPr>
          <p:cNvPicPr>
            <a:picLocks noGrp="1" noChangeAspect="1"/>
          </p:cNvPicPr>
          <p:nvPr>
            <p:ph type="pic" sz="quarter" idx="16"/>
          </p:nvPr>
        </p:nvPicPr>
        <p:blipFill>
          <a:blip r:embed="rId3"/>
          <a:srcRect l="21" r="21"/>
          <a:stretch/>
        </p:blipFill>
        <p:spPr>
          <a:xfrm>
            <a:off x="6305549" y="2254251"/>
            <a:ext cx="5048250" cy="3684588"/>
          </a:xfrm>
          <a:ln>
            <a:solidFill>
              <a:srgbClr val="000000"/>
            </a:solidFill>
          </a:ln>
        </p:spPr>
      </p:pic>
    </p:spTree>
    <p:extLst>
      <p:ext uri="{BB962C8B-B14F-4D97-AF65-F5344CB8AC3E}">
        <p14:creationId xmlns:p14="http://schemas.microsoft.com/office/powerpoint/2010/main" val="2905681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79E3C-DB42-5458-C961-D022FACAB6CD}"/>
              </a:ext>
            </a:extLst>
          </p:cNvPr>
          <p:cNvSpPr>
            <a:spLocks noGrp="1"/>
          </p:cNvSpPr>
          <p:nvPr>
            <p:ph type="title"/>
          </p:nvPr>
        </p:nvSpPr>
        <p:spPr>
          <a:xfrm>
            <a:off x="1274379" y="407057"/>
            <a:ext cx="9643241" cy="672105"/>
          </a:xfrm>
        </p:spPr>
        <p:txBody>
          <a:bodyPr/>
          <a:lstStyle/>
          <a:p>
            <a:r>
              <a:rPr lang="en-US" sz="3200" dirty="0"/>
              <a:t>9.4 Summary of Hypothesis Tests About a Population Mean: </a:t>
            </a:r>
            <a:r>
              <a:rPr lang="en-US" sz="3200" i="1" dirty="0">
                <a:latin typeface="Symbol" panose="05050102010706020507" pitchFamily="18" charset="2"/>
              </a:rPr>
              <a:t>s</a:t>
            </a:r>
            <a:r>
              <a:rPr lang="en-US" sz="3200" dirty="0"/>
              <a:t>  Unknown Case</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A8081616-52DD-231D-607E-511C6F68FD22}"/>
                  </a:ext>
                </a:extLst>
              </p:cNvPr>
              <p:cNvGraphicFramePr>
                <a:graphicFrameLocks noGrp="1"/>
              </p:cNvGraphicFramePr>
              <p:nvPr>
                <p:ph type="tbl" sz="quarter" idx="10"/>
              </p:nvPr>
            </p:nvGraphicFramePr>
            <p:xfrm>
              <a:off x="1106213" y="1759169"/>
              <a:ext cx="9979571" cy="4077843"/>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3045617659"/>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708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Lower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370840">
                    <a:tc>
                      <a:txBody>
                        <a:bodyPr/>
                        <a:lstStyle/>
                        <a:p>
                          <a:pPr algn="l"/>
                          <a:r>
                            <a:rPr lang="en-US" sz="2000" b="1" dirty="0">
                              <a:solidFill>
                                <a:srgbClr val="000000"/>
                              </a:solidFill>
                            </a:rPr>
                            <a:t>Hypotheses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&lt;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&gt;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𝜇</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𝑡</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𝑥</m:t>
                                        </m:r>
                                      </m:e>
                                    </m:acc>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num>
                                  <m:den>
                                    <m:f>
                                      <m:fPr>
                                        <m:type m:val="lin"/>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𝑠</m:t>
                                        </m:r>
                                      </m:num>
                                      <m:den>
                                        <m:rad>
                                          <m:radPr>
                                            <m:degHide m:val="on"/>
                                            <m:ctrlPr>
                                              <a:rPr lang="en-US" sz="2000" b="0" i="1" smtClean="0">
                                                <a:solidFill>
                                                  <a:srgbClr val="000000"/>
                                                </a:solidFill>
                                                <a:latin typeface="Cambria Math" panose="02040503050406030204" pitchFamily="18" charset="0"/>
                                              </a:rPr>
                                            </m:ctrlPr>
                                          </m:radPr>
                                          <m:deg/>
                                          <m:e>
                                            <m:r>
                                              <a:rPr lang="en-US" sz="2000" b="0" i="1" smtClean="0">
                                                <a:solidFill>
                                                  <a:srgbClr val="000000"/>
                                                </a:solidFill>
                                                <a:latin typeface="Cambria Math" panose="02040503050406030204" pitchFamily="18" charset="0"/>
                                              </a:rPr>
                                              <m:t>𝑛</m:t>
                                            </m:r>
                                          </m:e>
                                        </m:rad>
                                      </m:den>
                                    </m:f>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𝑡</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𝑥</m:t>
                                        </m:r>
                                      </m:e>
                                    </m:acc>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num>
                                  <m:den>
                                    <m:f>
                                      <m:fPr>
                                        <m:type m:val="lin"/>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𝑠</m:t>
                                        </m:r>
                                      </m:num>
                                      <m:den>
                                        <m:rad>
                                          <m:radPr>
                                            <m:degHide m:val="on"/>
                                            <m:ctrlPr>
                                              <a:rPr lang="en-US" sz="2000" b="0" i="1" smtClean="0">
                                                <a:solidFill>
                                                  <a:srgbClr val="000000"/>
                                                </a:solidFill>
                                                <a:latin typeface="Cambria Math" panose="02040503050406030204" pitchFamily="18" charset="0"/>
                                              </a:rPr>
                                            </m:ctrlPr>
                                          </m:radPr>
                                          <m:deg/>
                                          <m:e>
                                            <m:r>
                                              <a:rPr lang="en-US" sz="2000" b="0" i="1" smtClean="0">
                                                <a:solidFill>
                                                  <a:srgbClr val="000000"/>
                                                </a:solidFill>
                                                <a:latin typeface="Cambria Math" panose="02040503050406030204" pitchFamily="18" charset="0"/>
                                              </a:rPr>
                                              <m:t>𝑛</m:t>
                                            </m:r>
                                          </m:e>
                                        </m:rad>
                                      </m:den>
                                    </m:f>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𝑡</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𝑥</m:t>
                                        </m:r>
                                      </m:e>
                                    </m:acc>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𝜇</m:t>
                                        </m:r>
                                      </m:e>
                                      <m:sub>
                                        <m:r>
                                          <a:rPr lang="en-US" sz="2000" b="0" i="1" smtClean="0">
                                            <a:solidFill>
                                              <a:srgbClr val="000000"/>
                                            </a:solidFill>
                                            <a:latin typeface="Cambria Math" panose="02040503050406030204" pitchFamily="18" charset="0"/>
                                            <a:ea typeface="Cambria Math" panose="02040503050406030204" pitchFamily="18" charset="0"/>
                                          </a:rPr>
                                          <m:t>0</m:t>
                                        </m:r>
                                      </m:sub>
                                    </m:sSub>
                                  </m:num>
                                  <m:den>
                                    <m:f>
                                      <m:fPr>
                                        <m:type m:val="lin"/>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𝑠</m:t>
                                        </m:r>
                                      </m:num>
                                      <m:den>
                                        <m:rad>
                                          <m:radPr>
                                            <m:degHide m:val="on"/>
                                            <m:ctrlPr>
                                              <a:rPr lang="en-US" sz="2000" b="0" i="1" smtClean="0">
                                                <a:solidFill>
                                                  <a:srgbClr val="000000"/>
                                                </a:solidFill>
                                                <a:latin typeface="Cambria Math" panose="02040503050406030204" pitchFamily="18" charset="0"/>
                                              </a:rPr>
                                            </m:ctrlPr>
                                          </m:radPr>
                                          <m:deg/>
                                          <m:e>
                                            <m:r>
                                              <a:rPr lang="en-US" sz="2000" b="0" i="1" smtClean="0">
                                                <a:solidFill>
                                                  <a:srgbClr val="000000"/>
                                                </a:solidFill>
                                                <a:latin typeface="Cambria Math" panose="02040503050406030204" pitchFamily="18" charset="0"/>
                                              </a:rPr>
                                              <m:t>𝑛</m:t>
                                            </m:r>
                                          </m:e>
                                        </m:rad>
                                      </m:den>
                                    </m:f>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807792594"/>
                      </a:ext>
                    </a:extLst>
                  </a:tr>
                  <a:tr h="370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p</a:t>
                          </a:r>
                          <a:r>
                            <a:rPr lang="en-US" sz="2000" b="0" i="0" dirty="0">
                              <a:solidFill>
                                <a:srgbClr val="000000"/>
                              </a:solidFill>
                              <a:latin typeface="Cambria Math" panose="02040503050406030204" pitchFamily="18" charset="0"/>
                              <a:ea typeface="Cambria Math" panose="02040503050406030204" pitchFamily="18" charset="0"/>
                            </a:rPr>
                            <a:t>-</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dirty="0">
                              <a:solidFill>
                                <a:srgbClr val="000000"/>
                              </a:solidFill>
                              <a:latin typeface="+mj-lt"/>
                              <a:cs typeface="Arial" panose="020B0604020202020204" pitchFamily="34" charset="0"/>
                            </a:rPr>
                            <a:t>α</a:t>
                          </a:r>
                          <a:endParaRPr lang="en-US" sz="2000" b="0" i="1" dirty="0">
                            <a:solidFill>
                              <a:srgbClr val="000000"/>
                            </a:solidFill>
                            <a:latin typeface="+mj-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370840">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t</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r>
                                <a:rPr lang="en-US" sz="2000" b="0" i="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𝑡</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t</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𝑡</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t</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r>
                                <a:rPr lang="en-US" sz="2000" b="0" i="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𝑡</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b>
                              </m:sSub>
                            </m:oMath>
                          </a14:m>
                          <a:endParaRPr lang="en-US" sz="2000" b="0" dirty="0">
                            <a:solidFill>
                              <a:srgbClr val="00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rPr>
                            <a:t>or </a:t>
                          </a:r>
                          <a:r>
                            <a:rPr lang="en-US" sz="2000" b="0" i="1" dirty="0">
                              <a:solidFill>
                                <a:srgbClr val="000000"/>
                              </a:solidFill>
                              <a:latin typeface="Cambria Math" panose="02040503050406030204" pitchFamily="18" charset="0"/>
                              <a:ea typeface="Cambria Math" panose="02040503050406030204" pitchFamily="18" charset="0"/>
                            </a:rPr>
                            <a:t>t</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𝑡</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63916060"/>
                      </a:ext>
                    </a:extLst>
                  </a:tr>
                </a:tbl>
              </a:graphicData>
            </a:graphic>
          </p:graphicFrame>
        </mc:Choice>
        <mc:Fallback xmlns="">
          <p:graphicFrame>
            <p:nvGraphicFramePr>
              <p:cNvPr id="6" name="Table 6">
                <a:extLst>
                  <a:ext uri="{FF2B5EF4-FFF2-40B4-BE49-F238E27FC236}">
                    <a16:creationId xmlns:a16="http://schemas.microsoft.com/office/drawing/2014/main" id="{A8081616-52DD-231D-607E-511C6F68FD22}"/>
                  </a:ext>
                </a:extLst>
              </p:cNvPr>
              <p:cNvGraphicFramePr>
                <a:graphicFrameLocks noGrp="1"/>
              </p:cNvGraphicFramePr>
              <p:nvPr>
                <p:ph type="tbl" sz="quarter" idx="10"/>
                <p:extLst>
                  <p:ext uri="{D42A27DB-BD31-4B8C-83A1-F6EECF244321}">
                    <p14:modId xmlns:p14="http://schemas.microsoft.com/office/powerpoint/2010/main" val="1678997994"/>
                  </p:ext>
                </p:extLst>
              </p:nvPr>
            </p:nvGraphicFramePr>
            <p:xfrm>
              <a:off x="1106213" y="1759169"/>
              <a:ext cx="9979571" cy="4077843"/>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3045617659"/>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962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Lower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701040">
                    <a:tc>
                      <a:txBody>
                        <a:bodyPr/>
                        <a:lstStyle/>
                        <a:p>
                          <a:pPr algn="l"/>
                          <a:r>
                            <a:rPr lang="en-US" sz="2000" b="1" dirty="0">
                              <a:solidFill>
                                <a:srgbClr val="000000"/>
                              </a:solidFill>
                            </a:rPr>
                            <a:t>Hypotheses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67489" t="-60870" r="-199776" b="-438261"/>
                          </a:stretch>
                        </a:blip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167865" t="-60870" r="-100225" b="-438261"/>
                          </a:stretch>
                        </a:blip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267265" t="-60870" b="-438261"/>
                          </a:stretch>
                        </a:blip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67489" t="-122517" r="-199776" b="-233775"/>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67865" t="-122517" r="-100225" b="-233775"/>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67265" t="-122517" b="-233775"/>
                          </a:stretch>
                        </a:blipFill>
                      </a:tcPr>
                    </a:tc>
                    <a:extLst>
                      <a:ext uri="{0D108BD9-81ED-4DB2-BD59-A6C34878D82A}">
                        <a16:rowId xmlns:a16="http://schemas.microsoft.com/office/drawing/2014/main" val="807792594"/>
                      </a:ext>
                    </a:extLst>
                  </a:tr>
                  <a:tr h="1005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p</a:t>
                          </a:r>
                          <a:r>
                            <a:rPr lang="en-US" sz="2000" b="0" i="0" dirty="0">
                              <a:solidFill>
                                <a:srgbClr val="000000"/>
                              </a:solidFill>
                              <a:latin typeface="Cambria Math" panose="02040503050406030204" pitchFamily="18" charset="0"/>
                              <a:ea typeface="Cambria Math" panose="02040503050406030204" pitchFamily="18" charset="0"/>
                            </a:rPr>
                            <a:t>-</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dirty="0">
                              <a:solidFill>
                                <a:srgbClr val="000000"/>
                              </a:solidFill>
                              <a:latin typeface="+mj-lt"/>
                              <a:cs typeface="Arial" panose="020B0604020202020204" pitchFamily="34" charset="0"/>
                            </a:rPr>
                            <a:t>α</a:t>
                          </a:r>
                          <a:endParaRPr lang="en-US" sz="2000" b="0" i="1" dirty="0">
                            <a:solidFill>
                              <a:srgbClr val="000000"/>
                            </a:solidFill>
                            <a:latin typeface="+mj-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1060323">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67489" t="-287931" r="-199776" b="-8046"/>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67865" t="-287931" r="-100225" b="-8046"/>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67265" t="-287931" b="-8046"/>
                          </a:stretch>
                        </a:blipFill>
                      </a:tcPr>
                    </a:tc>
                    <a:extLst>
                      <a:ext uri="{0D108BD9-81ED-4DB2-BD59-A6C34878D82A}">
                        <a16:rowId xmlns:a16="http://schemas.microsoft.com/office/drawing/2014/main" val="3163916060"/>
                      </a:ext>
                    </a:extLst>
                  </a:tr>
                </a:tbl>
              </a:graphicData>
            </a:graphic>
          </p:graphicFrame>
        </mc:Fallback>
      </mc:AlternateContent>
    </p:spTree>
    <p:extLst>
      <p:ext uri="{BB962C8B-B14F-4D97-AF65-F5344CB8AC3E}">
        <p14:creationId xmlns:p14="http://schemas.microsoft.com/office/powerpoint/2010/main" val="750917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p:txBody>
          <a:bodyPr/>
          <a:lstStyle/>
          <a:p>
            <a:r>
              <a:rPr lang="en-US" dirty="0">
                <a:solidFill>
                  <a:srgbClr val="D14B1E"/>
                </a:solidFill>
              </a:rPr>
              <a:t>9.5 Population Proportion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93193" y="1252966"/>
                <a:ext cx="10515599" cy="1432575"/>
              </a:xfrm>
            </p:spPr>
            <p:txBody>
              <a:bodyPr>
                <a:noAutofit/>
              </a:bodyPr>
              <a:lstStyle/>
              <a:p>
                <a:pPr>
                  <a:lnSpc>
                    <a:spcPct val="110000"/>
                  </a:lnSpc>
                  <a:spcBef>
                    <a:spcPts val="600"/>
                  </a:spcBef>
                </a:pPr>
                <a:r>
                  <a:rPr lang="en-US" sz="2000" dirty="0">
                    <a:cs typeface="Arial" panose="020B0604020202020204" pitchFamily="34" charset="0"/>
                  </a:rPr>
                  <a:t>Hypothesis tests about a population proportion are based on the difference between the sample proportion </a:t>
                </a:r>
                <a14:m>
                  <m:oMath xmlns:m="http://schemas.openxmlformats.org/officeDocument/2006/math">
                    <m:r>
                      <a:rPr lang="en-US" sz="2000" i="1" dirty="0">
                        <a:latin typeface="Cambria Math" panose="02040503050406030204" pitchFamily="18" charset="0"/>
                      </a:rPr>
                      <m:t>𝑝</m:t>
                    </m:r>
                  </m:oMath>
                </a14:m>
                <a:r>
                  <a:rPr lang="en-US" sz="2000" dirty="0">
                    <a:cs typeface="Arial" panose="020B0604020202020204" pitchFamily="34" charset="0"/>
                  </a:rPr>
                  <a:t> and the hypothesized population proportion </a:t>
                </a:r>
                <a14:m>
                  <m:oMath xmlns:m="http://schemas.openxmlformats.org/officeDocument/2006/math">
                    <m:sSub>
                      <m:sSubPr>
                        <m:ctrlPr>
                          <a:rPr lang="en-US" sz="2000" i="1">
                            <a:latin typeface="Cambria Math" panose="02040503050406030204" pitchFamily="18" charset="0"/>
                            <a:ea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𝑝</m:t>
                        </m:r>
                      </m:e>
                      <m:sub>
                        <m:r>
                          <a:rPr lang="en-US" sz="2000" i="1">
                            <a:latin typeface="Cambria Math" panose="02040503050406030204" pitchFamily="18" charset="0"/>
                            <a:ea typeface="Cambria Math" panose="02040503050406030204" pitchFamily="18" charset="0"/>
                            <a:cs typeface="Arial" panose="020B0604020202020204" pitchFamily="34" charset="0"/>
                          </a:rPr>
                          <m:t>0</m:t>
                        </m:r>
                      </m:sub>
                    </m:sSub>
                  </m:oMath>
                </a14:m>
                <a:r>
                  <a:rPr lang="en-US" sz="2000" dirty="0">
                    <a:cs typeface="Arial" panose="020B0604020202020204" pitchFamily="34" charset="0"/>
                  </a:rPr>
                  <a:t>. </a:t>
                </a:r>
              </a:p>
              <a:p>
                <a:r>
                  <a:rPr lang="en-US" sz="2000" dirty="0"/>
                  <a:t>Using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a14:m>
                <a:r>
                  <a:rPr lang="en-US" sz="2000" dirty="0"/>
                  <a:t> to denote the hypothesized value for the population proportion, the three forms for a hypothesis test about a population proportion are as follows.</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93193" y="1252966"/>
                <a:ext cx="10515599" cy="1432575"/>
              </a:xfrm>
              <a:blipFill>
                <a:blip r:embed="rId3"/>
                <a:stretch>
                  <a:fillRect l="-1449" t="-5106" r="-1333" b="-46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Placeholder 5">
                <a:extLst>
                  <a:ext uri="{FF2B5EF4-FFF2-40B4-BE49-F238E27FC236}">
                    <a16:creationId xmlns:a16="http://schemas.microsoft.com/office/drawing/2014/main" id="{3FD76B32-7BE2-DC14-2CCE-049E249564F1}"/>
                  </a:ext>
                </a:extLst>
              </p:cNvPr>
              <p:cNvGraphicFramePr>
                <a:graphicFrameLocks noGrp="1"/>
              </p:cNvGraphicFramePr>
              <p:nvPr>
                <p:ph type="tbl" sz="quarter" idx="22"/>
                <p:extLst>
                  <p:ext uri="{D42A27DB-BD31-4B8C-83A1-F6EECF244321}">
                    <p14:modId xmlns:p14="http://schemas.microsoft.com/office/powerpoint/2010/main" val="3402024281"/>
                  </p:ext>
                </p:extLst>
              </p:nvPr>
            </p:nvGraphicFramePr>
            <p:xfrm>
              <a:off x="2600479" y="2685541"/>
              <a:ext cx="6901026" cy="1188720"/>
            </p:xfrm>
            <a:graphic>
              <a:graphicData uri="http://schemas.openxmlformats.org/drawingml/2006/table">
                <a:tbl>
                  <a:tblPr firstRow="1" bandRow="1">
                    <a:tableStyleId>{5C22544A-7EE6-4342-B048-85BDC9FD1C3A}</a:tableStyleId>
                  </a:tblPr>
                  <a:tblGrid>
                    <a:gridCol w="2300342">
                      <a:extLst>
                        <a:ext uri="{9D8B030D-6E8A-4147-A177-3AD203B41FA5}">
                          <a16:colId xmlns:a16="http://schemas.microsoft.com/office/drawing/2014/main" val="4221105443"/>
                        </a:ext>
                      </a:extLst>
                    </a:gridCol>
                    <a:gridCol w="2300342">
                      <a:extLst>
                        <a:ext uri="{9D8B030D-6E8A-4147-A177-3AD203B41FA5}">
                          <a16:colId xmlns:a16="http://schemas.microsoft.com/office/drawing/2014/main" val="3651132324"/>
                        </a:ext>
                      </a:extLst>
                    </a:gridCol>
                    <a:gridCol w="2300342">
                      <a:extLst>
                        <a:ext uri="{9D8B030D-6E8A-4147-A177-3AD203B41FA5}">
                          <a16:colId xmlns:a16="http://schemas.microsoft.com/office/drawing/2014/main" val="2542477386"/>
                        </a:ext>
                      </a:extLst>
                    </a:gridCol>
                  </a:tblGrid>
                  <a:tr h="0">
                    <a:tc>
                      <a:txBody>
                        <a:bodyPr/>
                        <a:lstStyle/>
                        <a:p>
                          <a:pPr algn="ctr"/>
                          <a:r>
                            <a:rPr lang="en-US" sz="2000" dirty="0">
                              <a:solidFill>
                                <a:srgbClr val="000000"/>
                              </a:solidFill>
                              <a:latin typeface="Arial" panose="020B0604020202020204" pitchFamily="34" charset="0"/>
                              <a:cs typeface="Arial" panose="020B0604020202020204" pitchFamily="34" charset="0"/>
                            </a:rPr>
                            <a:t>Lower Tail Test</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Upper Tail Test</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Two-Tailed Test</a:t>
                          </a:r>
                        </a:p>
                      </a:txBody>
                      <a:tcPr anchor="b">
                        <a:noFill/>
                      </a:tcPr>
                    </a:tc>
                    <a:extLst>
                      <a:ext uri="{0D108BD9-81ED-4DB2-BD59-A6C34878D82A}">
                        <a16:rowId xmlns:a16="http://schemas.microsoft.com/office/drawing/2014/main" val="4079977077"/>
                      </a:ext>
                    </a:extLst>
                  </a:tr>
                  <a:tr h="0">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cs typeface="Arial" panose="020B0604020202020204" pitchFamily="34" charset="0"/>
                                  </a:rPr>
                                  <m:t>𝑝</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2226032177"/>
                      </a:ext>
                    </a:extLst>
                  </a:tr>
                  <a:tr h="0">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&lt;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cs typeface="Arial" panose="020B0604020202020204" pitchFamily="34" charset="0"/>
                                  </a:rPr>
                                  <m:t>𝑝</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2428190419"/>
                      </a:ext>
                    </a:extLst>
                  </a:tr>
                </a:tbl>
              </a:graphicData>
            </a:graphic>
          </p:graphicFrame>
        </mc:Choice>
        <mc:Fallback xmlns="">
          <p:graphicFrame>
            <p:nvGraphicFramePr>
              <p:cNvPr id="6" name="Table Placeholder 5">
                <a:extLst>
                  <a:ext uri="{FF2B5EF4-FFF2-40B4-BE49-F238E27FC236}">
                    <a16:creationId xmlns:a16="http://schemas.microsoft.com/office/drawing/2014/main" id="{3FD76B32-7BE2-DC14-2CCE-049E249564F1}"/>
                  </a:ext>
                </a:extLst>
              </p:cNvPr>
              <p:cNvGraphicFramePr>
                <a:graphicFrameLocks noGrp="1"/>
              </p:cNvGraphicFramePr>
              <p:nvPr>
                <p:ph type="tbl" sz="quarter" idx="22"/>
                <p:extLst>
                  <p:ext uri="{D42A27DB-BD31-4B8C-83A1-F6EECF244321}">
                    <p14:modId xmlns:p14="http://schemas.microsoft.com/office/powerpoint/2010/main" val="3402024281"/>
                  </p:ext>
                </p:extLst>
              </p:nvPr>
            </p:nvGraphicFramePr>
            <p:xfrm>
              <a:off x="2600479" y="2685541"/>
              <a:ext cx="6901026" cy="1188720"/>
            </p:xfrm>
            <a:graphic>
              <a:graphicData uri="http://schemas.openxmlformats.org/drawingml/2006/table">
                <a:tbl>
                  <a:tblPr firstRow="1" bandRow="1">
                    <a:tableStyleId>{5C22544A-7EE6-4342-B048-85BDC9FD1C3A}</a:tableStyleId>
                  </a:tblPr>
                  <a:tblGrid>
                    <a:gridCol w="2300342">
                      <a:extLst>
                        <a:ext uri="{9D8B030D-6E8A-4147-A177-3AD203B41FA5}">
                          <a16:colId xmlns:a16="http://schemas.microsoft.com/office/drawing/2014/main" val="4221105443"/>
                        </a:ext>
                      </a:extLst>
                    </a:gridCol>
                    <a:gridCol w="2300342">
                      <a:extLst>
                        <a:ext uri="{9D8B030D-6E8A-4147-A177-3AD203B41FA5}">
                          <a16:colId xmlns:a16="http://schemas.microsoft.com/office/drawing/2014/main" val="3651132324"/>
                        </a:ext>
                      </a:extLst>
                    </a:gridCol>
                    <a:gridCol w="2300342">
                      <a:extLst>
                        <a:ext uri="{9D8B030D-6E8A-4147-A177-3AD203B41FA5}">
                          <a16:colId xmlns:a16="http://schemas.microsoft.com/office/drawing/2014/main" val="2542477386"/>
                        </a:ext>
                      </a:extLst>
                    </a:gridCol>
                  </a:tblGrid>
                  <a:tr h="396240">
                    <a:tc>
                      <a:txBody>
                        <a:bodyPr/>
                        <a:lstStyle/>
                        <a:p>
                          <a:pPr algn="ctr"/>
                          <a:r>
                            <a:rPr lang="en-US" sz="2000" dirty="0">
                              <a:solidFill>
                                <a:srgbClr val="000000"/>
                              </a:solidFill>
                              <a:latin typeface="Arial" panose="020B0604020202020204" pitchFamily="34" charset="0"/>
                              <a:cs typeface="Arial" panose="020B0604020202020204" pitchFamily="34" charset="0"/>
                            </a:rPr>
                            <a:t>Lower Tail Test</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Upper Tail Test</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Two-Tailed Test</a:t>
                          </a:r>
                        </a:p>
                      </a:txBody>
                      <a:tcPr anchor="b">
                        <a:noFill/>
                      </a:tcPr>
                    </a:tc>
                    <a:extLst>
                      <a:ext uri="{0D108BD9-81ED-4DB2-BD59-A6C34878D82A}">
                        <a16:rowId xmlns:a16="http://schemas.microsoft.com/office/drawing/2014/main" val="4079977077"/>
                      </a:ext>
                    </a:extLst>
                  </a:tr>
                  <a:tr h="396240">
                    <a:tc>
                      <a:txBody>
                        <a:bodyPr/>
                        <a:lstStyle/>
                        <a:p>
                          <a:endParaRPr lang="en-US"/>
                        </a:p>
                      </a:txBody>
                      <a:tcPr anchor="ctr">
                        <a:blipFill>
                          <a:blip r:embed="rId4"/>
                          <a:stretch>
                            <a:fillRect l="-265" t="-104545" r="-200794" b="-109091"/>
                          </a:stretch>
                        </a:blipFill>
                      </a:tcPr>
                    </a:tc>
                    <a:tc>
                      <a:txBody>
                        <a:bodyPr/>
                        <a:lstStyle/>
                        <a:p>
                          <a:endParaRPr lang="en-US"/>
                        </a:p>
                      </a:txBody>
                      <a:tcPr anchor="ctr">
                        <a:blipFill>
                          <a:blip r:embed="rId4"/>
                          <a:stretch>
                            <a:fillRect l="-100531" t="-104545" r="-101326" b="-109091"/>
                          </a:stretch>
                        </a:blipFill>
                      </a:tcPr>
                    </a:tc>
                    <a:tc>
                      <a:txBody>
                        <a:bodyPr/>
                        <a:lstStyle/>
                        <a:p>
                          <a:endParaRPr lang="en-US"/>
                        </a:p>
                      </a:txBody>
                      <a:tcPr anchor="ctr">
                        <a:blipFill>
                          <a:blip r:embed="rId4"/>
                          <a:stretch>
                            <a:fillRect l="-200000" t="-104545" r="-1058" b="-109091"/>
                          </a:stretch>
                        </a:blipFill>
                      </a:tcPr>
                    </a:tc>
                    <a:extLst>
                      <a:ext uri="{0D108BD9-81ED-4DB2-BD59-A6C34878D82A}">
                        <a16:rowId xmlns:a16="http://schemas.microsoft.com/office/drawing/2014/main" val="2226032177"/>
                      </a:ext>
                    </a:extLst>
                  </a:tr>
                  <a:tr h="396240">
                    <a:tc>
                      <a:txBody>
                        <a:bodyPr/>
                        <a:lstStyle/>
                        <a:p>
                          <a:endParaRPr lang="en-US"/>
                        </a:p>
                      </a:txBody>
                      <a:tcPr anchor="ctr">
                        <a:blipFill>
                          <a:blip r:embed="rId4"/>
                          <a:stretch>
                            <a:fillRect l="-265" t="-207692" r="-200794" b="-10769"/>
                          </a:stretch>
                        </a:blipFill>
                      </a:tcPr>
                    </a:tc>
                    <a:tc>
                      <a:txBody>
                        <a:bodyPr/>
                        <a:lstStyle/>
                        <a:p>
                          <a:endParaRPr lang="en-US"/>
                        </a:p>
                      </a:txBody>
                      <a:tcPr anchor="ctr">
                        <a:blipFill>
                          <a:blip r:embed="rId4"/>
                          <a:stretch>
                            <a:fillRect l="-100531" t="-207692" r="-101326" b="-10769"/>
                          </a:stretch>
                        </a:blipFill>
                      </a:tcPr>
                    </a:tc>
                    <a:tc>
                      <a:txBody>
                        <a:bodyPr/>
                        <a:lstStyle/>
                        <a:p>
                          <a:endParaRPr lang="en-US"/>
                        </a:p>
                      </a:txBody>
                      <a:tcPr anchor="ctr">
                        <a:blipFill>
                          <a:blip r:embed="rId4"/>
                          <a:stretch>
                            <a:fillRect l="-200000" t="-207692" r="-1058" b="-10769"/>
                          </a:stretch>
                        </a:blipFill>
                      </a:tcPr>
                    </a:tc>
                    <a:extLst>
                      <a:ext uri="{0D108BD9-81ED-4DB2-BD59-A6C34878D82A}">
                        <a16:rowId xmlns:a16="http://schemas.microsoft.com/office/drawing/2014/main" val="2428190419"/>
                      </a:ext>
                    </a:extLst>
                  </a:tr>
                </a:tbl>
              </a:graphicData>
            </a:graphic>
          </p:graphicFrame>
        </mc:Fallback>
      </mc:AlternateContent>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4050506"/>
            <a:ext cx="10484504" cy="1471613"/>
          </a:xfrm>
        </p:spPr>
        <p:txBody>
          <a:bodyPr>
            <a:noAutofit/>
          </a:bodyPr>
          <a:lstStyle/>
          <a:p>
            <a:pPr>
              <a:lnSpc>
                <a:spcPct val="110000"/>
              </a:lnSpc>
              <a:spcBef>
                <a:spcPts val="600"/>
              </a:spcBef>
            </a:pPr>
            <a:r>
              <a:rPr lang="en-US" sz="2000" dirty="0">
                <a:solidFill>
                  <a:srgbClr val="000000"/>
                </a:solidFill>
                <a:cs typeface="Arial" panose="020B0604020202020204" pitchFamily="34" charset="0"/>
              </a:rPr>
              <a:t>The methods used to conduct the hypothesis test are similar to those used for hypothesis tests about a population mean. </a:t>
            </a:r>
          </a:p>
          <a:p>
            <a:pPr marL="914400" indent="-342900">
              <a:lnSpc>
                <a:spcPct val="110000"/>
              </a:lnSpc>
              <a:spcBef>
                <a:spcPts val="600"/>
              </a:spcBef>
              <a:buFont typeface="Arial" panose="020B0604020202020204" pitchFamily="34" charset="0"/>
              <a:buChar char="•"/>
            </a:pPr>
            <a:r>
              <a:rPr lang="en-US" sz="2000" dirty="0">
                <a:solidFill>
                  <a:srgbClr val="000000"/>
                </a:solidFill>
                <a:cs typeface="Arial" panose="020B0604020202020204" pitchFamily="34" charset="0"/>
              </a:rPr>
              <a:t>The only difference is that we use the sample proportion and its standard error to compute the test statistic. </a:t>
            </a:r>
          </a:p>
        </p:txBody>
      </p:sp>
    </p:spTree>
    <p:extLst>
      <p:ext uri="{BB962C8B-B14F-4D97-AF65-F5344CB8AC3E}">
        <p14:creationId xmlns:p14="http://schemas.microsoft.com/office/powerpoint/2010/main" val="18690618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997406" y="365125"/>
            <a:ext cx="10211141" cy="672105"/>
          </a:xfrm>
        </p:spPr>
        <p:txBody>
          <a:bodyPr/>
          <a:lstStyle/>
          <a:p>
            <a:r>
              <a:rPr lang="en-US" sz="3200" dirty="0"/>
              <a:t>9.5 A Hypothesis Test About a Population Proportion</a:t>
            </a:r>
            <a:endParaRPr lang="en-US" sz="3200" dirty="0">
              <a:solidFill>
                <a:srgbClr val="D14B1E"/>
              </a:solidFill>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740228" y="1175383"/>
                <a:ext cx="10711543" cy="4732501"/>
              </a:xfrm>
            </p:spPr>
            <p:txBody>
              <a:bodyPr>
                <a:noAutofit/>
              </a:bodyPr>
              <a:lstStyle/>
              <a:p>
                <a:pPr>
                  <a:spcBef>
                    <a:spcPts val="600"/>
                  </a:spcBef>
                </a:pPr>
                <a:r>
                  <a:rPr lang="en-US" sz="2000" dirty="0"/>
                  <a:t>As an application of a hypothesis test about a population proportion, consider the following.</a:t>
                </a:r>
              </a:p>
              <a:p>
                <a:r>
                  <a:rPr lang="en-US" sz="2000" dirty="0"/>
                  <a:t>DATAfile: </a:t>
                </a:r>
                <a:r>
                  <a:rPr lang="en-US" sz="2000" i="1" dirty="0" err="1"/>
                  <a:t>womengolf</a:t>
                </a:r>
                <a:endParaRPr lang="en-US" sz="2000" i="1" dirty="0"/>
              </a:p>
              <a:p>
                <a:pPr>
                  <a:spcBef>
                    <a:spcPts val="600"/>
                  </a:spcBef>
                </a:pPr>
                <a:r>
                  <a:rPr lang="en-US" sz="2000" dirty="0"/>
                  <a:t>The course manager at Pine Creek Golf Course wants to determine whether a special promotion designed to attract women golfers has succeeded in increasing the proportion of women golfers beyond a historical 20%.</a:t>
                </a:r>
              </a:p>
              <a:p>
                <a:pPr>
                  <a:spcBef>
                    <a:spcPts val="600"/>
                  </a:spcBef>
                </a:pPr>
                <a:r>
                  <a:rPr lang="en-US" sz="2000" dirty="0"/>
                  <a:t>One month after the promotion was implemented, the course manager requested a statistical study to determine whether the proportion of women players at Pine Creek had increased.</a:t>
                </a:r>
              </a:p>
              <a:p>
                <a:pPr>
                  <a:spcBef>
                    <a:spcPts val="600"/>
                  </a:spcBef>
                </a:pPr>
                <a:r>
                  <a:rPr lang="en-US" sz="2000" dirty="0"/>
                  <a:t>Thus, the null and alternative hypotheses for the Pine Creek hypothesis test are as follows:</a:t>
                </a:r>
              </a:p>
              <a:p>
                <a:pPr marL="914400"/>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𝑝</m:t>
                    </m:r>
                    <m:r>
                      <a:rPr lang="en-US" sz="2000" i="1">
                        <a:latin typeface="Cambria Math" panose="02040503050406030204" pitchFamily="18" charset="0"/>
                        <a:ea typeface="Cambria Math" panose="02040503050406030204" pitchFamily="18" charset="0"/>
                        <a:cs typeface="Arial" panose="020B0604020202020204" pitchFamily="34" charset="0"/>
                      </a:rPr>
                      <m:t>≤0.20</m:t>
                    </m:r>
                  </m:oMath>
                </a14:m>
                <a:r>
                  <a:rPr lang="en-US" sz="2000" b="0" dirty="0">
                    <a:solidFill>
                      <a:srgbClr val="000000"/>
                    </a:solidFill>
                    <a:ea typeface="Cambria Math" panose="02040503050406030204" pitchFamily="18" charset="0"/>
                    <a:cs typeface="Arial" panose="020B0604020202020204" pitchFamily="34" charset="0"/>
                  </a:rPr>
                  <a:t> </a:t>
                </a:r>
              </a:p>
              <a:p>
                <a:pPr marL="914400">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𝑝</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&gt;0.20</m:t>
                    </m:r>
                  </m:oMath>
                </a14:m>
                <a:r>
                  <a:rPr lang="en-US" sz="2000" dirty="0">
                    <a:solidFill>
                      <a:srgbClr val="000000"/>
                    </a:solidFill>
                    <a:cs typeface="Arial" panose="020B0604020202020204" pitchFamily="34" charset="0"/>
                  </a:rPr>
                  <a:t> </a:t>
                </a:r>
              </a:p>
              <a:p>
                <a:pPr>
                  <a:spcBef>
                    <a:spcPts val="600"/>
                  </a:spcBef>
                  <a:spcAft>
                    <a:spcPts val="0"/>
                  </a:spcAft>
                </a:pPr>
                <a:r>
                  <a:rPr lang="en-US" sz="2000" dirty="0">
                    <a:cs typeface="Arial" panose="020B0604020202020204" pitchFamily="34" charset="0"/>
                  </a:rPr>
                  <a:t>If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oMath>
                </a14:m>
                <a:r>
                  <a:rPr lang="en-US" sz="2000" dirty="0">
                    <a:cs typeface="Arial" panose="020B0604020202020204" pitchFamily="34" charset="0"/>
                  </a:rPr>
                  <a:t> can be rejected, the test results will give statistical support for the conclusion that the proportion of women golfers increased, and the promotion was beneficial.</a:t>
                </a:r>
              </a:p>
              <a:p>
                <a:pPr>
                  <a:spcBef>
                    <a:spcPts val="600"/>
                  </a:spcBef>
                  <a:spcAft>
                    <a:spcPts val="0"/>
                  </a:spcAft>
                </a:pPr>
                <a:r>
                  <a:rPr lang="en-US" sz="2000" dirty="0">
                    <a:cs typeface="Arial" panose="020B0604020202020204" pitchFamily="34" charset="0"/>
                  </a:rPr>
                  <a:t>The </a:t>
                </a:r>
                <a:r>
                  <a:rPr lang="en-US" sz="2000" dirty="0">
                    <a:solidFill>
                      <a:srgbClr val="000000"/>
                    </a:solidFill>
                    <a:cs typeface="Arial" panose="020B0604020202020204" pitchFamily="34" charset="0"/>
                  </a:rPr>
                  <a:t>course manager specified that a level of significance of </a:t>
                </a:r>
                <a14:m>
                  <m:oMath xmlns:m="http://schemas.openxmlformats.org/officeDocument/2006/math">
                    <m:r>
                      <a:rPr lang="en-US" sz="200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i="1" dirty="0" smtClean="0">
                        <a:solidFill>
                          <a:srgbClr val="000000"/>
                        </a:solidFill>
                        <a:latin typeface="Cambria Math" panose="02040503050406030204" pitchFamily="18" charset="0"/>
                        <a:cs typeface="Arial" panose="020B0604020202020204" pitchFamily="34" charset="0"/>
                      </a:rPr>
                      <m:t>=0.05</m:t>
                    </m:r>
                  </m:oMath>
                </a14:m>
                <a:r>
                  <a:rPr lang="en-US" sz="2000" dirty="0">
                    <a:solidFill>
                      <a:srgbClr val="000000"/>
                    </a:solidFill>
                    <a:cs typeface="Arial" panose="020B0604020202020204" pitchFamily="34" charset="0"/>
                  </a:rPr>
                  <a:t> be used for this test.</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740228" y="1175383"/>
                <a:ext cx="10711543" cy="4732501"/>
              </a:xfrm>
              <a:blipFill>
                <a:blip r:embed="rId3"/>
                <a:stretch>
                  <a:fillRect l="-1422" t="-1546" b="-3737"/>
                </a:stretch>
              </a:blipFill>
            </p:spPr>
            <p:txBody>
              <a:bodyPr/>
              <a:lstStyle/>
              <a:p>
                <a:r>
                  <a:rPr lang="en-US">
                    <a:noFill/>
                  </a:rPr>
                  <a:t> </a:t>
                </a:r>
              </a:p>
            </p:txBody>
          </p:sp>
        </mc:Fallback>
      </mc:AlternateContent>
    </p:spTree>
    <p:extLst>
      <p:ext uri="{BB962C8B-B14F-4D97-AF65-F5344CB8AC3E}">
        <p14:creationId xmlns:p14="http://schemas.microsoft.com/office/powerpoint/2010/main" val="3471829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7F7C8-628E-AD6C-92FE-9CEC5CA264EA}"/>
              </a:ext>
            </a:extLst>
          </p:cNvPr>
          <p:cNvSpPr>
            <a:spLocks noGrp="1"/>
          </p:cNvSpPr>
          <p:nvPr>
            <p:ph type="title"/>
          </p:nvPr>
        </p:nvSpPr>
        <p:spPr/>
        <p:txBody>
          <a:bodyPr/>
          <a:lstStyle/>
          <a:p>
            <a:r>
              <a:rPr lang="en-US" dirty="0"/>
              <a:t>9.5 Test Statistic for a Population Proportion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431118C-AE52-4939-F2E2-515B7122BAE8}"/>
                  </a:ext>
                </a:extLst>
              </p:cNvPr>
              <p:cNvSpPr>
                <a:spLocks noGrp="1"/>
              </p:cNvSpPr>
              <p:nvPr>
                <p:ph type="body" sz="quarter" idx="15"/>
              </p:nvPr>
            </p:nvSpPr>
            <p:spPr>
              <a:xfrm>
                <a:off x="743576" y="1324305"/>
                <a:ext cx="10711543" cy="4556234"/>
              </a:xfrm>
            </p:spPr>
            <p:txBody>
              <a:bodyPr/>
              <a:lstStyle/>
              <a:p>
                <a:pPr>
                  <a:spcBef>
                    <a:spcPts val="600"/>
                  </a:spcBef>
                  <a:spcAft>
                    <a:spcPts val="600"/>
                  </a:spcAft>
                </a:pPr>
                <a:r>
                  <a:rPr lang="en-US" sz="2000" dirty="0"/>
                  <a:t>Suppose a random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=400</m:t>
                    </m:r>
                  </m:oMath>
                </a14:m>
                <a:r>
                  <a:rPr lang="en-US" sz="2000" dirty="0"/>
                  <a:t> golf players was selected, and that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=100</m:t>
                    </m:r>
                  </m:oMath>
                </a14:m>
                <a:r>
                  <a:rPr lang="en-US" sz="2000" dirty="0"/>
                  <a:t> of the players were women. The proportion of women golfers in the sample is</a:t>
                </a:r>
              </a:p>
              <a:p>
                <a:pPr marL="914400">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𝑝</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𝑥</m:t>
                          </m:r>
                        </m:num>
                        <m:den>
                          <m:r>
                            <a:rPr lang="en-US" sz="2000" b="0" i="1" smtClean="0">
                              <a:latin typeface="Cambria Math" panose="02040503050406030204" pitchFamily="18" charset="0"/>
                            </a:rPr>
                            <m:t>𝑛</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100</m:t>
                          </m:r>
                        </m:num>
                        <m:den>
                          <m:r>
                            <a:rPr lang="en-US" sz="2000" b="0" i="1" smtClean="0">
                              <a:latin typeface="Cambria Math" panose="02040503050406030204" pitchFamily="18" charset="0"/>
                            </a:rPr>
                            <m:t>400</m:t>
                          </m:r>
                        </m:den>
                      </m:f>
                      <m:r>
                        <a:rPr lang="en-US" sz="2000" b="0" i="1" smtClean="0">
                          <a:latin typeface="Cambria Math" panose="02040503050406030204" pitchFamily="18" charset="0"/>
                        </a:rPr>
                        <m:t>=0.25</m:t>
                      </m:r>
                    </m:oMath>
                  </m:oMathPara>
                </a14:m>
                <a:endParaRPr lang="en-US" sz="2000" dirty="0"/>
              </a:p>
              <a:p>
                <a:pPr>
                  <a:spcBef>
                    <a:spcPts val="600"/>
                  </a:spcBef>
                  <a:spcAft>
                    <a:spcPts val="0"/>
                  </a:spcAft>
                </a:pPr>
                <a:r>
                  <a:rPr lang="en-US" sz="2000" dirty="0"/>
                  <a:t>For the test statistic of a hypothesis test about a population proportion, we can use the standard normal random variable, </a:t>
                </a:r>
                <a14:m>
                  <m:oMath xmlns:m="http://schemas.openxmlformats.org/officeDocument/2006/math">
                    <m:r>
                      <a:rPr lang="en-US" sz="2000" i="1" dirty="0" smtClean="0">
                        <a:latin typeface="Cambria Math" panose="02040503050406030204" pitchFamily="18" charset="0"/>
                      </a:rPr>
                      <m:t>𝑧</m:t>
                    </m:r>
                  </m:oMath>
                </a14:m>
                <a:r>
                  <a:rPr lang="en-US" sz="2000" i="1" dirty="0"/>
                  <a:t>, </a:t>
                </a:r>
                <a:r>
                  <a:rPr lang="en-US" sz="2000" dirty="0"/>
                  <a:t>to describe the sampling distribution of </a:t>
                </a:r>
                <a14:m>
                  <m:oMath xmlns:m="http://schemas.openxmlformats.org/officeDocument/2006/math">
                    <m:acc>
                      <m:accPr>
                        <m:chr m:val="̅"/>
                        <m:ctrlPr>
                          <a:rPr lang="en-US" sz="2000" i="1">
                            <a:latin typeface="Cambria Math" panose="02040503050406030204" pitchFamily="18" charset="0"/>
                          </a:rPr>
                        </m:ctrlPr>
                      </m:accPr>
                      <m:e>
                        <m:r>
                          <a:rPr lang="en-US" sz="2000" b="0" i="1">
                            <a:latin typeface="Cambria Math" panose="02040503050406030204" pitchFamily="18" charset="0"/>
                          </a:rPr>
                          <m:t>𝑝</m:t>
                        </m:r>
                      </m:e>
                    </m:acc>
                  </m:oMath>
                </a14:m>
                <a:r>
                  <a:rPr lang="en-US" sz="2000" dirty="0"/>
                  <a:t> so long as we have at least five expected favorable outcomes, </a:t>
                </a:r>
                <a14:m>
                  <m:oMath xmlns:m="http://schemas.openxmlformats.org/officeDocument/2006/math">
                    <m:r>
                      <a:rPr lang="en-US" sz="2000" b="0" i="1" smtClean="0">
                        <a:latin typeface="Cambria Math" panose="02040503050406030204" pitchFamily="18" charset="0"/>
                      </a:rPr>
                      <m:t>𝑛</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𝑝</m:t>
                        </m:r>
                      </m:e>
                      <m:sub>
                        <m:r>
                          <a:rPr lang="en-US" sz="2000" b="0" i="1">
                            <a:latin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≥5</m:t>
                    </m:r>
                  </m:oMath>
                </a14:m>
                <a:r>
                  <a:rPr lang="en-US" sz="2000" dirty="0"/>
                  <a:t>, and five expected unfavorable outcomes, </a:t>
                </a:r>
                <a14:m>
                  <m:oMath xmlns:m="http://schemas.openxmlformats.org/officeDocument/2006/math">
                    <m:r>
                      <a:rPr lang="en-US" sz="2000" b="0" i="1" smtClean="0">
                        <a:latin typeface="Cambria Math" panose="02040503050406030204" pitchFamily="18" charset="0"/>
                      </a:rPr>
                      <m:t>𝑛</m:t>
                    </m:r>
                    <m:r>
                      <a:rPr lang="en-US" sz="2000" b="0" i="1" smtClean="0">
                        <a:latin typeface="Cambria Math" panose="02040503050406030204" pitchFamily="18" charset="0"/>
                      </a:rPr>
                      <m:t>(1−</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rPr>
                          <m:t>0</m:t>
                        </m:r>
                      </m:sub>
                    </m:sSub>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≥5</m:t>
                    </m:r>
                  </m:oMath>
                </a14:m>
                <a:r>
                  <a:rPr lang="en-US" sz="2000" dirty="0"/>
                  <a:t>.</a:t>
                </a:r>
              </a:p>
              <a:p>
                <a:pPr>
                  <a:spcBef>
                    <a:spcPts val="600"/>
                  </a:spcBef>
                  <a:spcAft>
                    <a:spcPts val="0"/>
                  </a:spcAft>
                </a:pPr>
                <a:r>
                  <a:rPr lang="en-US" sz="2000" dirty="0"/>
                  <a:t>In this example, we have:</a:t>
                </a:r>
                <a:r>
                  <a:rPr lang="en-US" sz="2000" b="0" dirty="0"/>
                  <a:t>   </a:t>
                </a:r>
                <a14:m>
                  <m:oMath xmlns:m="http://schemas.openxmlformats.org/officeDocument/2006/math">
                    <m:r>
                      <a:rPr lang="en-US" sz="2000" b="0" i="1" smtClean="0">
                        <a:latin typeface="Cambria Math" panose="02040503050406030204" pitchFamily="18" charset="0"/>
                      </a:rPr>
                      <m:t>𝑛</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rPr>
                          <m:t>0</m:t>
                        </m:r>
                      </m:sub>
                    </m:sSub>
                    <m:r>
                      <a:rPr lang="en-US" sz="2000" b="0" i="1" smtClean="0">
                        <a:latin typeface="Cambria Math" panose="02040503050406030204" pitchFamily="18" charset="0"/>
                      </a:rPr>
                      <m:t>=100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0.2</m:t>
                        </m:r>
                      </m:e>
                    </m:d>
                    <m:r>
                      <a:rPr lang="en-US" sz="2000" b="0" i="1" smtClean="0">
                        <a:latin typeface="Cambria Math" panose="02040503050406030204" pitchFamily="18" charset="0"/>
                      </a:rPr>
                      <m:t>=20</m:t>
                    </m:r>
                  </m:oMath>
                </a14:m>
                <a:r>
                  <a:rPr lang="en-US" sz="2000" dirty="0"/>
                  <a:t>, and </a:t>
                </a:r>
                <a14:m>
                  <m:oMath xmlns:m="http://schemas.openxmlformats.org/officeDocument/2006/math">
                    <m:r>
                      <a:rPr lang="en-US" sz="2000" i="1">
                        <a:latin typeface="Cambria Math" panose="02040503050406030204" pitchFamily="18" charset="0"/>
                      </a:rPr>
                      <m:t>𝑛</m:t>
                    </m:r>
                    <m:d>
                      <m:dPr>
                        <m:ctrlPr>
                          <a:rPr lang="en-US" sz="2000" i="1">
                            <a:latin typeface="Cambria Math" panose="02040503050406030204" pitchFamily="18" charset="0"/>
                          </a:rPr>
                        </m:ctrlPr>
                      </m:dPr>
                      <m:e>
                        <m:r>
                          <a:rPr lang="en-US" sz="2000" i="1">
                            <a:latin typeface="Cambria Math" panose="02040503050406030204" pitchFamily="18" charset="0"/>
                          </a:rPr>
                          <m:t>1−</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rPr>
                              <m:t>0</m:t>
                            </m:r>
                          </m:sub>
                        </m:sSub>
                      </m:e>
                    </m:d>
                    <m:r>
                      <a:rPr lang="en-US" sz="2000" b="0" i="1" smtClean="0">
                        <a:latin typeface="Cambria Math" panose="02040503050406030204" pitchFamily="18" charset="0"/>
                      </a:rPr>
                      <m:t>=100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1−0.2</m:t>
                        </m:r>
                      </m:e>
                    </m:d>
                    <m:r>
                      <a:rPr lang="en-US" sz="2000" b="0" i="1" smtClean="0">
                        <a:latin typeface="Cambria Math" panose="02040503050406030204" pitchFamily="18" charset="0"/>
                      </a:rPr>
                      <m:t>=80</m:t>
                    </m:r>
                  </m:oMath>
                </a14:m>
                <a:endParaRPr lang="en-US" sz="2000" dirty="0"/>
              </a:p>
              <a:p>
                <a:pPr>
                  <a:spcBef>
                    <a:spcPts val="600"/>
                  </a:spcBef>
                  <a:spcAft>
                    <a:spcPts val="600"/>
                  </a:spcAft>
                </a:pPr>
                <a:r>
                  <a:rPr lang="en-US" sz="2000" dirty="0"/>
                  <a:t>Thus, we can write the test statistic as:</a:t>
                </a:r>
              </a:p>
              <a:p>
                <a:pPr marL="914400">
                  <a:spcBef>
                    <a:spcPts val="600"/>
                  </a:spcBef>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𝒛</m:t>
                      </m:r>
                      <m:r>
                        <a:rPr lang="en-US" sz="2000" b="1" i="1" smtClean="0">
                          <a:latin typeface="Cambria Math" panose="02040503050406030204" pitchFamily="18" charset="0"/>
                        </a:rPr>
                        <m:t>=</m:t>
                      </m:r>
                      <m:f>
                        <m:fPr>
                          <m:ctrlPr>
                            <a:rPr lang="en-US" sz="2000" b="1" i="1">
                              <a:latin typeface="Cambria Math" panose="02040503050406030204" pitchFamily="18" charset="0"/>
                            </a:rPr>
                          </m:ctrlPr>
                        </m:fPr>
                        <m:num>
                          <m:acc>
                            <m:accPr>
                              <m:chr m:val="̅"/>
                              <m:ctrlPr>
                                <a:rPr lang="en-US" sz="2000" b="1" i="1">
                                  <a:latin typeface="Cambria Math" panose="02040503050406030204" pitchFamily="18" charset="0"/>
                                </a:rPr>
                              </m:ctrlPr>
                            </m:accPr>
                            <m:e>
                              <m:r>
                                <a:rPr lang="en-US" sz="2000" b="1" i="1">
                                  <a:latin typeface="Cambria Math" panose="02040503050406030204" pitchFamily="18" charset="0"/>
                                </a:rPr>
                                <m:t>𝒑</m:t>
                              </m:r>
                            </m:e>
                          </m:acc>
                          <m:r>
                            <a:rPr lang="en-US" sz="2000" b="1" i="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𝒑</m:t>
                              </m:r>
                            </m:e>
                            <m:sub>
                              <m:r>
                                <a:rPr lang="en-US" sz="2000" b="1" i="1">
                                  <a:latin typeface="Cambria Math" panose="02040503050406030204" pitchFamily="18" charset="0"/>
                                </a:rPr>
                                <m:t>𝟎</m:t>
                              </m:r>
                            </m:sub>
                          </m:sSub>
                        </m:num>
                        <m:den>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𝝈</m:t>
                              </m:r>
                            </m:e>
                            <m:sub>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𝒑</m:t>
                                  </m:r>
                                </m:e>
                              </m:acc>
                            </m:sub>
                          </m:sSub>
                        </m:den>
                      </m:f>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𝒑</m:t>
                              </m:r>
                            </m:e>
                          </m:acc>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𝒑</m:t>
                              </m:r>
                            </m:e>
                            <m:sub>
                              <m:r>
                                <a:rPr lang="en-US" sz="2000" b="1" i="1" smtClean="0">
                                  <a:latin typeface="Cambria Math" panose="02040503050406030204" pitchFamily="18" charset="0"/>
                                </a:rPr>
                                <m:t>𝟎</m:t>
                              </m:r>
                            </m:sub>
                          </m:sSub>
                        </m:num>
                        <m:den>
                          <m:rad>
                            <m:radPr>
                              <m:degHide m:val="on"/>
                              <m:ctrlPr>
                                <a:rPr lang="en-US" sz="2000" b="1" i="1" smtClean="0">
                                  <a:latin typeface="Cambria Math" panose="02040503050406030204" pitchFamily="18" charset="0"/>
                                </a:rPr>
                              </m:ctrlPr>
                            </m:radPr>
                            <m:deg/>
                            <m:e>
                              <m:f>
                                <m:fPr>
                                  <m:ctrlPr>
                                    <a:rPr lang="en-US" sz="2000" b="1" i="1" smtClean="0">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𝒑</m:t>
                                      </m:r>
                                    </m:e>
                                    <m:sub>
                                      <m:r>
                                        <a:rPr lang="en-US" sz="2000" b="1" i="1">
                                          <a:latin typeface="Cambria Math" panose="02040503050406030204" pitchFamily="18" charset="0"/>
                                        </a:rPr>
                                        <m:t>𝟎</m:t>
                                      </m:r>
                                    </m:sub>
                                  </m:sSub>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smtClean="0">
                                          <a:latin typeface="Cambria Math" panose="02040503050406030204" pitchFamily="18" charset="0"/>
                                        </a:rPr>
                                        <m:t>𝟏</m:t>
                                      </m:r>
                                      <m:r>
                                        <a:rPr lang="en-US" sz="2000" b="1" i="1" smtClean="0">
                                          <a:latin typeface="Cambria Math" panose="02040503050406030204" pitchFamily="18" charset="0"/>
                                        </a:rPr>
                                        <m:t>−</m:t>
                                      </m:r>
                                      <m:r>
                                        <a:rPr lang="en-US" sz="2000" b="1" i="1">
                                          <a:latin typeface="Cambria Math" panose="02040503050406030204" pitchFamily="18" charset="0"/>
                                          <a:ea typeface="Cambria Math" panose="02040503050406030204" pitchFamily="18" charset="0"/>
                                        </a:rPr>
                                        <m:t>𝒑</m:t>
                                      </m:r>
                                    </m:e>
                                    <m:sub>
                                      <m:r>
                                        <a:rPr lang="en-US" sz="2000" b="1" i="1">
                                          <a:latin typeface="Cambria Math" panose="02040503050406030204" pitchFamily="18" charset="0"/>
                                        </a:rPr>
                                        <m:t>𝟎</m:t>
                                      </m:r>
                                    </m:sub>
                                  </m:sSub>
                                  <m:r>
                                    <a:rPr lang="en-US" sz="2000" b="1" i="1" smtClean="0">
                                      <a:latin typeface="Cambria Math" panose="02040503050406030204" pitchFamily="18" charset="0"/>
                                    </a:rPr>
                                    <m:t>)</m:t>
                                  </m:r>
                                </m:num>
                                <m:den>
                                  <m:r>
                                    <a:rPr lang="en-US" sz="2000" b="1" i="1" smtClean="0">
                                      <a:latin typeface="Cambria Math" panose="02040503050406030204" pitchFamily="18" charset="0"/>
                                    </a:rPr>
                                    <m:t>𝒏</m:t>
                                  </m:r>
                                </m:den>
                              </m:f>
                            </m:e>
                          </m:rad>
                        </m:den>
                      </m:f>
                      <m:r>
                        <a:rPr lang="en-US" sz="2000" b="1" i="1" smtClean="0">
                          <a:latin typeface="Cambria Math" panose="02040503050406030204" pitchFamily="18" charset="0"/>
                        </a:rPr>
                        <m:t>=</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0.25−0.20</m:t>
                          </m:r>
                        </m:num>
                        <m:den>
                          <m:rad>
                            <m:radPr>
                              <m:degHide m:val="on"/>
                              <m:ctrlPr>
                                <a:rPr lang="en-US" sz="2000" i="1" smtClean="0">
                                  <a:latin typeface="Cambria Math" panose="02040503050406030204" pitchFamily="18" charset="0"/>
                                </a:rPr>
                              </m:ctrlPr>
                            </m:radPr>
                            <m:deg/>
                            <m:e>
                              <m:f>
                                <m:fPr>
                                  <m:ctrlPr>
                                    <a:rPr lang="en-US" sz="2000" i="1" smtClean="0">
                                      <a:latin typeface="Cambria Math" panose="02040503050406030204" pitchFamily="18" charset="0"/>
                                    </a:rPr>
                                  </m:ctrlPr>
                                </m:fPr>
                                <m:num>
                                  <m:r>
                                    <a:rPr lang="en-US" sz="2000" b="0" i="1" smtClean="0">
                                      <a:latin typeface="Cambria Math" panose="02040503050406030204" pitchFamily="18" charset="0"/>
                                    </a:rPr>
                                    <m:t>0.20(1−0.80)</m:t>
                                  </m:r>
                                </m:num>
                                <m:den>
                                  <m:r>
                                    <a:rPr lang="en-US" sz="2000" b="0" i="1" smtClean="0">
                                      <a:latin typeface="Cambria Math" panose="02040503050406030204" pitchFamily="18" charset="0"/>
                                    </a:rPr>
                                    <m:t>400</m:t>
                                  </m:r>
                                </m:den>
                              </m:f>
                            </m:e>
                          </m:rad>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0.05</m:t>
                          </m:r>
                        </m:num>
                        <m:den>
                          <m:r>
                            <a:rPr lang="en-US" sz="2000" b="0" i="1" smtClean="0">
                              <a:latin typeface="Cambria Math" panose="02040503050406030204" pitchFamily="18" charset="0"/>
                            </a:rPr>
                            <m:t>0.02</m:t>
                          </m:r>
                        </m:den>
                      </m:f>
                      <m:r>
                        <a:rPr lang="en-US" sz="2000" b="0" i="1" smtClean="0">
                          <a:latin typeface="Cambria Math" panose="02040503050406030204" pitchFamily="18" charset="0"/>
                        </a:rPr>
                        <m:t>=2.50</m:t>
                      </m:r>
                    </m:oMath>
                  </m:oMathPara>
                </a14:m>
                <a:endParaRPr lang="en-US" sz="2000" dirty="0"/>
              </a:p>
              <a:p>
                <a:pPr>
                  <a:spcBef>
                    <a:spcPts val="600"/>
                  </a:spcBef>
                </a:pPr>
                <a:endParaRPr lang="en-US" sz="2000" dirty="0"/>
              </a:p>
            </p:txBody>
          </p:sp>
        </mc:Choice>
        <mc:Fallback xmlns="">
          <p:sp>
            <p:nvSpPr>
              <p:cNvPr id="3" name="Text Placeholder 2">
                <a:extLst>
                  <a:ext uri="{FF2B5EF4-FFF2-40B4-BE49-F238E27FC236}">
                    <a16:creationId xmlns:a16="http://schemas.microsoft.com/office/drawing/2014/main" id="{3431118C-AE52-4939-F2E2-515B7122BAE8}"/>
                  </a:ext>
                </a:extLst>
              </p:cNvPr>
              <p:cNvSpPr>
                <a:spLocks noGrp="1" noRot="1" noChangeAspect="1" noMove="1" noResize="1" noEditPoints="1" noAdjustHandles="1" noChangeArrowheads="1" noChangeShapeType="1" noTextEdit="1"/>
              </p:cNvSpPr>
              <p:nvPr>
                <p:ph type="body" sz="quarter" idx="15"/>
              </p:nvPr>
            </p:nvSpPr>
            <p:spPr>
              <a:xfrm>
                <a:off x="743576" y="1324305"/>
                <a:ext cx="10711543" cy="4556234"/>
              </a:xfrm>
              <a:blipFill>
                <a:blip r:embed="rId2"/>
                <a:stretch>
                  <a:fillRect l="-1480" t="-1604"/>
                </a:stretch>
              </a:blipFill>
            </p:spPr>
            <p:txBody>
              <a:bodyPr/>
              <a:lstStyle/>
              <a:p>
                <a:r>
                  <a:rPr lang="en-US">
                    <a:noFill/>
                  </a:rPr>
                  <a:t> </a:t>
                </a:r>
              </a:p>
            </p:txBody>
          </p:sp>
        </mc:Fallback>
      </mc:AlternateContent>
    </p:spTree>
    <p:extLst>
      <p:ext uri="{BB962C8B-B14F-4D97-AF65-F5344CB8AC3E}">
        <p14:creationId xmlns:p14="http://schemas.microsoft.com/office/powerpoint/2010/main" val="24348843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2A2C6-4976-16DF-A06F-1C9140E1AEF3}"/>
              </a:ext>
            </a:extLst>
          </p:cNvPr>
          <p:cNvSpPr>
            <a:spLocks noGrp="1"/>
          </p:cNvSpPr>
          <p:nvPr>
            <p:ph type="title"/>
          </p:nvPr>
        </p:nvSpPr>
        <p:spPr>
          <a:xfrm>
            <a:off x="835571" y="365125"/>
            <a:ext cx="10429055" cy="672105"/>
          </a:xfrm>
        </p:spPr>
        <p:txBody>
          <a:bodyPr/>
          <a:lstStyle/>
          <a:p>
            <a:r>
              <a:rPr lang="en-US" sz="3200" dirty="0"/>
              <a:t>9.5 </a:t>
            </a:r>
            <a:r>
              <a:rPr lang="en-US" sz="3200" i="1" dirty="0"/>
              <a:t>p</a:t>
            </a:r>
            <a:r>
              <a:rPr lang="en-US" sz="3200" dirty="0"/>
              <a:t>-Value Approach to a One-Tailed Test About a Population Proportion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C828E13-7533-5D0B-AD99-A00288EB467A}"/>
                  </a:ext>
                </a:extLst>
              </p:cNvPr>
              <p:cNvSpPr>
                <a:spLocks noGrp="1"/>
              </p:cNvSpPr>
              <p:nvPr>
                <p:ph type="body" sz="quarter" idx="15"/>
              </p:nvPr>
            </p:nvSpPr>
            <p:spPr>
              <a:xfrm>
                <a:off x="743576" y="1772617"/>
                <a:ext cx="10662776" cy="1060019"/>
              </a:xfrm>
            </p:spPr>
            <p:txBody>
              <a:bodyPr/>
              <a:lstStyle/>
              <a:p>
                <a:pPr>
                  <a:spcAft>
                    <a:spcPts val="600"/>
                  </a:spcAft>
                </a:pPr>
                <a:r>
                  <a:rPr lang="en-US" sz="2000" dirty="0"/>
                  <a:t>We can use a statistical software package or the standard normal probability table to calculate the </a:t>
                </a:r>
                <a:r>
                  <a:rPr lang="en-US" sz="2000" i="1" dirty="0"/>
                  <a:t>p</a:t>
                </a:r>
                <a:r>
                  <a:rPr lang="en-US" sz="2000" dirty="0"/>
                  <a:t>-value for an upper tail test as</a:t>
                </a:r>
              </a:p>
              <a:p>
                <a:pPr marL="914400">
                  <a:spcAft>
                    <a:spcPts val="600"/>
                  </a:spcAft>
                </a:pPr>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rPr>
                        <m:t>𝑝</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value</m:t>
                      </m:r>
                      <m:r>
                        <a:rPr lang="en-US" sz="2000" i="1" dirty="0" smtClean="0">
                          <a:latin typeface="Cambria Math" panose="02040503050406030204" pitchFamily="18" charset="0"/>
                        </a:rPr>
                        <m:t>=</m:t>
                      </m:r>
                      <m:r>
                        <a:rPr lang="en-US" sz="2000" i="1" dirty="0" smtClean="0">
                          <a:latin typeface="Cambria Math" panose="02040503050406030204" pitchFamily="18" charset="0"/>
                        </a:rPr>
                        <m:t>𝑃</m:t>
                      </m:r>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𝑧</m:t>
                          </m:r>
                          <m:r>
                            <a:rPr lang="en-US" sz="2000" i="1" dirty="0" smtClean="0">
                              <a:latin typeface="Cambria Math" panose="02040503050406030204" pitchFamily="18" charset="0"/>
                            </a:rPr>
                            <m:t>≥2.50</m:t>
                          </m:r>
                        </m:e>
                      </m:d>
                      <m:r>
                        <a:rPr lang="en-US" sz="2000" i="1" dirty="0" smtClean="0">
                          <a:latin typeface="Cambria Math" panose="02040503050406030204" pitchFamily="18" charset="0"/>
                        </a:rPr>
                        <m:t>=</m:t>
                      </m:r>
                      <m:r>
                        <a:rPr lang="en-US" sz="2000" b="0" i="1" dirty="0" smtClean="0">
                          <a:latin typeface="Cambria Math" panose="02040503050406030204" pitchFamily="18" charset="0"/>
                        </a:rPr>
                        <m:t>1−</m:t>
                      </m:r>
                      <m:r>
                        <a:rPr lang="en-US" sz="2000" i="1" dirty="0">
                          <a:latin typeface="Cambria Math" panose="02040503050406030204" pitchFamily="18" charset="0"/>
                        </a:rPr>
                        <m:t>𝑃</m:t>
                      </m:r>
                      <m:d>
                        <m:dPr>
                          <m:ctrlPr>
                            <a:rPr lang="en-US" sz="2000" i="1" dirty="0">
                              <a:latin typeface="Cambria Math" panose="02040503050406030204" pitchFamily="18" charset="0"/>
                            </a:rPr>
                          </m:ctrlPr>
                        </m:dPr>
                        <m:e>
                          <m:r>
                            <a:rPr lang="en-US" sz="2000" i="1" dirty="0">
                              <a:latin typeface="Cambria Math" panose="02040503050406030204" pitchFamily="18" charset="0"/>
                            </a:rPr>
                            <m:t>𝑧</m:t>
                          </m:r>
                          <m:r>
                            <a:rPr lang="en-US" sz="2000" b="0" i="1" dirty="0" smtClean="0">
                              <a:latin typeface="Cambria Math" panose="02040503050406030204" pitchFamily="18" charset="0"/>
                            </a:rPr>
                            <m:t>&lt;</m:t>
                          </m:r>
                          <m:r>
                            <a:rPr lang="en-US" sz="2000" i="1" dirty="0">
                              <a:latin typeface="Cambria Math" panose="02040503050406030204" pitchFamily="18" charset="0"/>
                            </a:rPr>
                            <m:t>2.50</m:t>
                          </m:r>
                        </m:e>
                      </m:d>
                      <m:r>
                        <a:rPr lang="en-US" sz="2000" b="0" i="1" dirty="0" smtClean="0">
                          <a:latin typeface="Cambria Math" panose="02040503050406030204" pitchFamily="18" charset="0"/>
                        </a:rPr>
                        <m:t>=1−0.9938=</m:t>
                      </m:r>
                      <m:r>
                        <a:rPr lang="en-US" sz="2000" i="1" dirty="0" smtClean="0">
                          <a:latin typeface="Cambria Math" panose="02040503050406030204" pitchFamily="18" charset="0"/>
                        </a:rPr>
                        <m:t>0.0</m:t>
                      </m:r>
                      <m:r>
                        <a:rPr lang="en-US" sz="2000" b="0" i="1" dirty="0" smtClean="0">
                          <a:latin typeface="Cambria Math" panose="02040503050406030204" pitchFamily="18" charset="0"/>
                        </a:rPr>
                        <m:t>0</m:t>
                      </m:r>
                      <m:r>
                        <a:rPr lang="en-US" sz="2000" i="1" dirty="0" smtClean="0">
                          <a:latin typeface="Cambria Math" panose="02040503050406030204" pitchFamily="18" charset="0"/>
                        </a:rPr>
                        <m:t>62</m:t>
                      </m:r>
                    </m:oMath>
                  </m:oMathPara>
                </a14:m>
                <a:endParaRPr lang="en-US" sz="2000" dirty="0"/>
              </a:p>
            </p:txBody>
          </p:sp>
        </mc:Choice>
        <mc:Fallback xmlns="">
          <p:sp>
            <p:nvSpPr>
              <p:cNvPr id="3" name="Text Placeholder 2">
                <a:extLst>
                  <a:ext uri="{FF2B5EF4-FFF2-40B4-BE49-F238E27FC236}">
                    <a16:creationId xmlns:a16="http://schemas.microsoft.com/office/drawing/2014/main" id="{AC828E13-7533-5D0B-AD99-A00288EB467A}"/>
                  </a:ext>
                </a:extLst>
              </p:cNvPr>
              <p:cNvSpPr>
                <a:spLocks noGrp="1" noRot="1" noChangeAspect="1" noMove="1" noResize="1" noEditPoints="1" noAdjustHandles="1" noChangeArrowheads="1" noChangeShapeType="1" noTextEdit="1"/>
              </p:cNvSpPr>
              <p:nvPr>
                <p:ph type="body" sz="quarter" idx="15"/>
              </p:nvPr>
            </p:nvSpPr>
            <p:spPr>
              <a:xfrm>
                <a:off x="743576" y="1772617"/>
                <a:ext cx="10662776" cy="1060019"/>
              </a:xfrm>
              <a:blipFill>
                <a:blip r:embed="rId3"/>
                <a:stretch>
                  <a:fillRect l="-1487" t="-6897" r="-9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4DB12D8-FA15-95A8-A6C6-FFD308494E88}"/>
                  </a:ext>
                </a:extLst>
              </p:cNvPr>
              <p:cNvSpPr>
                <a:spLocks noGrp="1"/>
              </p:cNvSpPr>
              <p:nvPr>
                <p:ph type="body" sz="quarter" idx="17"/>
              </p:nvPr>
            </p:nvSpPr>
            <p:spPr>
              <a:xfrm>
                <a:off x="743577" y="2892973"/>
                <a:ext cx="4356568" cy="2530365"/>
              </a:xfrm>
            </p:spPr>
            <p:txBody>
              <a:bodyPr/>
              <a:lstStyle/>
              <a:p>
                <a:pPr>
                  <a:spcAft>
                    <a:spcPts val="600"/>
                  </a:spcAft>
                </a:pPr>
                <a:r>
                  <a:rPr lang="en-US" sz="2000" dirty="0"/>
                  <a:t>Recollect the rejection rule for the </a:t>
                </a:r>
                <a:r>
                  <a:rPr lang="en-US" sz="2000" i="1" dirty="0"/>
                  <a:t>p</a:t>
                </a:r>
                <a:r>
                  <a:rPr lang="en-US" sz="2000" dirty="0"/>
                  <a:t>-value approach:</a:t>
                </a:r>
              </a:p>
              <a:p>
                <a:pPr marL="457200">
                  <a:spcAft>
                    <a:spcPts val="600"/>
                  </a:spcAft>
                </a:pPr>
                <a:r>
                  <a:rPr lang="en-US" sz="2000" dirty="0"/>
                  <a:t>Reject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oMath>
                </a14:m>
                <a:r>
                  <a:rPr lang="en-US" sz="2000" dirty="0"/>
                  <a:t> if </a:t>
                </a:r>
                <a14:m>
                  <m:oMath xmlns:m="http://schemas.openxmlformats.org/officeDocument/2006/math">
                    <m:r>
                      <a:rPr lang="en-US" sz="2000" i="1" dirty="0" smtClean="0">
                        <a:latin typeface="Cambria Math" panose="02040503050406030204" pitchFamily="18" charset="0"/>
                      </a:rPr>
                      <m:t>𝑝</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value</m:t>
                    </m:r>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ea typeface="Cambria Math" panose="02040503050406030204" pitchFamily="18" charset="0"/>
                      </a:rPr>
                      <m:t>𝛼</m:t>
                    </m:r>
                  </m:oMath>
                </a14:m>
                <a:endParaRPr lang="en-US" sz="2000" dirty="0"/>
              </a:p>
              <a:p>
                <a:pPr>
                  <a:spcAft>
                    <a:spcPts val="0"/>
                  </a:spcAft>
                </a:pPr>
                <a:r>
                  <a:rPr lang="en-US" sz="2000" dirty="0"/>
                  <a:t>Because </a:t>
                </a:r>
                <a14:m>
                  <m:oMath xmlns:m="http://schemas.openxmlformats.org/officeDocument/2006/math">
                    <m:r>
                      <a:rPr lang="en-US" sz="2000" i="1" dirty="0" smtClean="0">
                        <a:latin typeface="Cambria Math" panose="02040503050406030204" pitchFamily="18" charset="0"/>
                      </a:rPr>
                      <m:t>0.0</m:t>
                    </m:r>
                    <m:r>
                      <a:rPr lang="en-US" sz="2000" b="0" i="1" dirty="0" smtClean="0">
                        <a:latin typeface="Cambria Math" panose="02040503050406030204" pitchFamily="18" charset="0"/>
                      </a:rPr>
                      <m:t>0</m:t>
                    </m:r>
                    <m:r>
                      <a:rPr lang="en-US" sz="2000" i="1" dirty="0" smtClean="0">
                        <a:latin typeface="Cambria Math" panose="02040503050406030204" pitchFamily="18" charset="0"/>
                      </a:rPr>
                      <m:t>62</m:t>
                    </m:r>
                    <m:r>
                      <a:rPr lang="en-US" sz="2000" i="1" dirty="0" smtClean="0">
                        <a:latin typeface="Cambria Math" panose="02040503050406030204" pitchFamily="18" charset="0"/>
                        <a:ea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0.05</m:t>
                    </m:r>
                  </m:oMath>
                </a14:m>
                <a:r>
                  <a:rPr lang="en-US" sz="2000" dirty="0"/>
                  <a:t>, we 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 and conclude that the proportion of women golfers at Pine Creek Golf Course has increased.</a:t>
                </a:r>
              </a:p>
            </p:txBody>
          </p:sp>
        </mc:Choice>
        <mc:Fallback xmlns="">
          <p:sp>
            <p:nvSpPr>
              <p:cNvPr id="5" name="Text Placeholder 4">
                <a:extLst>
                  <a:ext uri="{FF2B5EF4-FFF2-40B4-BE49-F238E27FC236}">
                    <a16:creationId xmlns:a16="http://schemas.microsoft.com/office/drawing/2014/main" id="{E4DB12D8-FA15-95A8-A6C6-FFD308494E88}"/>
                  </a:ext>
                </a:extLst>
              </p:cNvPr>
              <p:cNvSpPr>
                <a:spLocks noGrp="1" noRot="1" noChangeAspect="1" noMove="1" noResize="1" noEditPoints="1" noAdjustHandles="1" noChangeArrowheads="1" noChangeShapeType="1" noTextEdit="1"/>
              </p:cNvSpPr>
              <p:nvPr>
                <p:ph type="body" sz="quarter" idx="17"/>
              </p:nvPr>
            </p:nvSpPr>
            <p:spPr>
              <a:xfrm>
                <a:off x="743577" y="2892973"/>
                <a:ext cx="4356568" cy="2530365"/>
              </a:xfrm>
              <a:blipFill>
                <a:blip r:embed="rId4"/>
                <a:stretch>
                  <a:fillRect l="-3636" t="-2892" b="-2651"/>
                </a:stretch>
              </a:blipFill>
            </p:spPr>
            <p:txBody>
              <a:bodyPr/>
              <a:lstStyle/>
              <a:p>
                <a:r>
                  <a:rPr lang="en-US">
                    <a:noFill/>
                  </a:rPr>
                  <a:t> </a:t>
                </a:r>
              </a:p>
            </p:txBody>
          </p:sp>
        </mc:Fallback>
      </mc:AlternateContent>
      <p:pic>
        <p:nvPicPr>
          <p:cNvPr id="7" name="Picture Placeholder 6" descr="A graph plots a bell-shaped curve and a p-value under the curve. The horizontal axis is labeled “z” and lists 2.5. The bell-shaped curve is plotted over z. The region under the curve to the left of z = 2.5 is labeled “Area = 0.9938.” The area under the curve to the right of z = 2.5 is shaded dark and labeled “p-value = P(z &gt;= 2.50) = 0.0062.”&#10;">
            <a:extLst>
              <a:ext uri="{FF2B5EF4-FFF2-40B4-BE49-F238E27FC236}">
                <a16:creationId xmlns:a16="http://schemas.microsoft.com/office/drawing/2014/main" id="{8F258AF7-C32E-FC15-0FD2-D51C73A2FC28}"/>
              </a:ext>
            </a:extLst>
          </p:cNvPr>
          <p:cNvPicPr>
            <a:picLocks noGrp="1" noChangeAspect="1"/>
          </p:cNvPicPr>
          <p:nvPr>
            <p:ph type="pic" sz="quarter" idx="16"/>
          </p:nvPr>
        </p:nvPicPr>
        <p:blipFill rotWithShape="1">
          <a:blip r:embed="rId5"/>
          <a:srcRect l="41" r="41"/>
          <a:stretch/>
        </p:blipFill>
        <p:spPr>
          <a:xfrm>
            <a:off x="5100144" y="2956034"/>
            <a:ext cx="6206358" cy="2698416"/>
          </a:xfrm>
        </p:spPr>
      </p:pic>
    </p:spTree>
    <p:extLst>
      <p:ext uri="{BB962C8B-B14F-4D97-AF65-F5344CB8AC3E}">
        <p14:creationId xmlns:p14="http://schemas.microsoft.com/office/powerpoint/2010/main" val="39133458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2A2C6-4976-16DF-A06F-1C9140E1AEF3}"/>
              </a:ext>
            </a:extLst>
          </p:cNvPr>
          <p:cNvSpPr>
            <a:spLocks noGrp="1"/>
          </p:cNvSpPr>
          <p:nvPr>
            <p:ph type="title"/>
          </p:nvPr>
        </p:nvSpPr>
        <p:spPr>
          <a:xfrm>
            <a:off x="646384" y="365125"/>
            <a:ext cx="10775732" cy="672105"/>
          </a:xfrm>
        </p:spPr>
        <p:txBody>
          <a:bodyPr/>
          <a:lstStyle/>
          <a:p>
            <a:r>
              <a:rPr lang="en-US" sz="3200" dirty="0"/>
              <a:t>9.5 Critical Value Approach to a One-Tailed Test About a Population Proportion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C828E13-7533-5D0B-AD99-A00288EB467A}"/>
                  </a:ext>
                </a:extLst>
              </p:cNvPr>
              <p:cNvSpPr>
                <a:spLocks noGrp="1"/>
              </p:cNvSpPr>
              <p:nvPr>
                <p:ph type="body" sz="quarter" idx="15"/>
              </p:nvPr>
            </p:nvSpPr>
            <p:spPr>
              <a:xfrm>
                <a:off x="743576" y="1704109"/>
                <a:ext cx="10662776" cy="3998422"/>
              </a:xfrm>
            </p:spPr>
            <p:txBody>
              <a:bodyPr/>
              <a:lstStyle/>
              <a:p>
                <a:pPr>
                  <a:spcAft>
                    <a:spcPts val="600"/>
                  </a:spcAft>
                </a:pPr>
                <a:r>
                  <a:rPr lang="en-US" sz="2000" dirty="0"/>
                  <a:t>We can use a statistical software package or the standard normal probability table to also calculate the critical value for an upper tail test,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𝑧</m:t>
                        </m:r>
                      </m:e>
                      <m:sub>
                        <m:r>
                          <a:rPr lang="en-US" sz="2000" b="0" i="1">
                            <a:latin typeface="Cambria Math" panose="02040503050406030204" pitchFamily="18" charset="0"/>
                            <a:ea typeface="Cambria Math" panose="02040503050406030204" pitchFamily="18" charset="0"/>
                          </a:rPr>
                          <m:t>𝛼</m:t>
                        </m:r>
                      </m:sub>
                    </m:sSub>
                  </m:oMath>
                </a14:m>
                <a:r>
                  <a:rPr lang="en-US" sz="2000" dirty="0"/>
                  <a:t>, such that</a:t>
                </a:r>
              </a:p>
              <a:p>
                <a:pPr marL="914400">
                  <a:spcAft>
                    <a:spcPts val="600"/>
                  </a:spcAft>
                </a:pP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𝑧</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𝑧</m:t>
                            </m:r>
                          </m:e>
                          <m:sub>
                            <m:r>
                              <a:rPr lang="en-US" sz="2000" i="1">
                                <a:latin typeface="Cambria Math" panose="02040503050406030204" pitchFamily="18" charset="0"/>
                                <a:ea typeface="Cambria Math" panose="02040503050406030204" pitchFamily="18" charset="0"/>
                              </a:rPr>
                              <m:t>𝛼</m:t>
                            </m:r>
                          </m:sub>
                        </m:sSub>
                      </m:e>
                    </m:d>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𝛼</m:t>
                    </m:r>
                  </m:oMath>
                </a14:m>
                <a:r>
                  <a:rPr lang="en-US" sz="2000" dirty="0"/>
                  <a:t> </a:t>
                </a:r>
              </a:p>
              <a:p>
                <a:r>
                  <a:rPr lang="en-US" sz="2000" dirty="0"/>
                  <a:t>Recollect how, for this example, the course manager set the significance level to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𝛼</m:t>
                    </m:r>
                    <m:r>
                      <a:rPr lang="en-US" sz="2000" i="1" dirty="0" smtClean="0">
                        <a:latin typeface="Cambria Math" panose="02040503050406030204" pitchFamily="18" charset="0"/>
                      </a:rPr>
                      <m:t>=0.05</m:t>
                    </m:r>
                  </m:oMath>
                </a14:m>
                <a:r>
                  <a:rPr lang="en-US" sz="2000" dirty="0"/>
                  <a:t>. </a:t>
                </a:r>
              </a:p>
              <a:p>
                <a:r>
                  <a:rPr lang="en-US" sz="2000" dirty="0"/>
                  <a:t>Thus, we have</a:t>
                </a:r>
              </a:p>
              <a:p>
                <a:pPr marL="914400">
                  <a:spcAft>
                    <a:spcPts val="600"/>
                  </a:spcAft>
                </a:pP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𝑧</m:t>
                        </m:r>
                      </m:e>
                      <m:sub>
                        <m:r>
                          <a:rPr lang="en-US" sz="2000" b="0" i="1" smtClean="0">
                            <a:latin typeface="Cambria Math" panose="02040503050406030204" pitchFamily="18" charset="0"/>
                            <a:ea typeface="Cambria Math" panose="02040503050406030204" pitchFamily="18" charset="0"/>
                          </a:rPr>
                          <m:t>0.05</m:t>
                        </m:r>
                      </m:sub>
                    </m:sSub>
                    <m:r>
                      <a:rPr lang="en-US" sz="2000" b="0" i="1" smtClean="0">
                        <a:latin typeface="Cambria Math" panose="02040503050406030204" pitchFamily="18" charset="0"/>
                        <a:ea typeface="Cambria Math" panose="02040503050406030204" pitchFamily="18" charset="0"/>
                      </a:rPr>
                      <m:t>=1.645</m:t>
                    </m:r>
                  </m:oMath>
                </a14:m>
                <a:r>
                  <a:rPr lang="en-US" sz="2000" dirty="0"/>
                  <a:t>.</a:t>
                </a:r>
              </a:p>
              <a:p>
                <a:pPr>
                  <a:spcAft>
                    <a:spcPts val="600"/>
                  </a:spcAft>
                </a:pPr>
                <a:r>
                  <a:rPr lang="en-US" sz="2000" dirty="0"/>
                  <a:t>Recollect also the rejection rule for the critical value approach to an upper-tail test:</a:t>
                </a:r>
              </a:p>
              <a:p>
                <a:pPr marL="914400">
                  <a:spcAft>
                    <a:spcPts val="600"/>
                  </a:spcAft>
                </a:pPr>
                <a:r>
                  <a:rPr lang="en-US" sz="2000" dirty="0"/>
                  <a:t>Reject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𝐻</m:t>
                        </m:r>
                      </m:e>
                      <m:sub>
                        <m:r>
                          <a:rPr lang="en-US" sz="2000" b="0" i="1">
                            <a:latin typeface="Cambria Math" panose="02040503050406030204" pitchFamily="18" charset="0"/>
                            <a:cs typeface="Arial" panose="020B0604020202020204" pitchFamily="34" charset="0"/>
                          </a:rPr>
                          <m:t>0</m:t>
                        </m:r>
                      </m:sub>
                    </m:sSub>
                  </m:oMath>
                </a14:m>
                <a:r>
                  <a:rPr lang="en-US" sz="2000" dirty="0"/>
                  <a:t> if </a:t>
                </a:r>
                <a14:m>
                  <m:oMath xmlns:m="http://schemas.openxmlformats.org/officeDocument/2006/math">
                    <m:r>
                      <a:rPr lang="en-US" sz="2000" b="0" i="1">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𝑧</m:t>
                        </m:r>
                      </m:e>
                      <m:sub>
                        <m:r>
                          <a:rPr lang="en-US" sz="2000" b="0" i="1">
                            <a:latin typeface="Cambria Math" panose="02040503050406030204" pitchFamily="18" charset="0"/>
                            <a:ea typeface="Cambria Math" panose="02040503050406030204" pitchFamily="18" charset="0"/>
                          </a:rPr>
                          <m:t>𝛼</m:t>
                        </m:r>
                      </m:sub>
                    </m:sSub>
                  </m:oMath>
                </a14:m>
                <a:endParaRPr lang="en-US" sz="2000" dirty="0"/>
              </a:p>
              <a:p>
                <a:r>
                  <a:rPr lang="en-US" sz="2000" dirty="0"/>
                  <a:t>Because the test statistic, </a:t>
                </a:r>
                <a14:m>
                  <m:oMath xmlns:m="http://schemas.openxmlformats.org/officeDocument/2006/math">
                    <m:r>
                      <a:rPr lang="en-US" sz="2000" i="1" dirty="0" smtClean="0">
                        <a:latin typeface="Cambria Math" panose="02040503050406030204" pitchFamily="18" charset="0"/>
                      </a:rPr>
                      <m:t>𝑧</m:t>
                    </m:r>
                    <m:r>
                      <a:rPr lang="en-US" sz="2000" i="1" dirty="0" smtClean="0">
                        <a:latin typeface="Cambria Math" panose="02040503050406030204" pitchFamily="18" charset="0"/>
                      </a:rPr>
                      <m:t>=2.50</m:t>
                    </m:r>
                    <m:r>
                      <a:rPr lang="en-US" sz="200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1.645</m:t>
                    </m:r>
                  </m:oMath>
                </a14:m>
                <a:r>
                  <a:rPr lang="en-US" sz="2000" dirty="0"/>
                  <a:t>, we reject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oMath>
                </a14:m>
                <a:r>
                  <a:rPr lang="en-US" sz="2000" dirty="0"/>
                  <a:t> and conclude that the proportion of women golfers at Pine Creek Golf Course has increased.</a:t>
                </a:r>
              </a:p>
            </p:txBody>
          </p:sp>
        </mc:Choice>
        <mc:Fallback xmlns="">
          <p:sp>
            <p:nvSpPr>
              <p:cNvPr id="3" name="Text Placeholder 2">
                <a:extLst>
                  <a:ext uri="{FF2B5EF4-FFF2-40B4-BE49-F238E27FC236}">
                    <a16:creationId xmlns:a16="http://schemas.microsoft.com/office/drawing/2014/main" id="{AC828E13-7533-5D0B-AD99-A00288EB467A}"/>
                  </a:ext>
                </a:extLst>
              </p:cNvPr>
              <p:cNvSpPr>
                <a:spLocks noGrp="1" noRot="1" noChangeAspect="1" noMove="1" noResize="1" noEditPoints="1" noAdjustHandles="1" noChangeArrowheads="1" noChangeShapeType="1" noTextEdit="1"/>
              </p:cNvSpPr>
              <p:nvPr>
                <p:ph type="body" sz="quarter" idx="15"/>
              </p:nvPr>
            </p:nvSpPr>
            <p:spPr>
              <a:xfrm>
                <a:off x="743576" y="1704109"/>
                <a:ext cx="10662776" cy="3998422"/>
              </a:xfrm>
              <a:blipFill>
                <a:blip r:embed="rId3"/>
                <a:stretch>
                  <a:fillRect l="-1487" t="-1832" b="-3206"/>
                </a:stretch>
              </a:blipFill>
            </p:spPr>
            <p:txBody>
              <a:bodyPr/>
              <a:lstStyle/>
              <a:p>
                <a:r>
                  <a:rPr lang="en-US">
                    <a:noFill/>
                  </a:rPr>
                  <a:t> </a:t>
                </a:r>
              </a:p>
            </p:txBody>
          </p:sp>
        </mc:Fallback>
      </mc:AlternateContent>
    </p:spTree>
    <p:extLst>
      <p:ext uri="{BB962C8B-B14F-4D97-AF65-F5344CB8AC3E}">
        <p14:creationId xmlns:p14="http://schemas.microsoft.com/office/powerpoint/2010/main" val="1954941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9.5 Excel: Conduct a </a:t>
            </a:r>
            <a:r>
              <a:rPr lang="en-US">
                <a:solidFill>
                  <a:srgbClr val="25894E"/>
                </a:solidFill>
              </a:rPr>
              <a:t>Hypothesis Test</a:t>
            </a:r>
            <a:endParaRPr lang="en-US" dirty="0">
              <a:solidFill>
                <a:srgbClr val="25894E"/>
              </a:solidFill>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144389"/>
                <a:ext cx="10610223" cy="1463080"/>
              </a:xfrm>
            </p:spPr>
            <p:txBody>
              <a:bodyPr/>
              <a:lstStyle/>
              <a:p>
                <a:r>
                  <a:rPr lang="en-US" sz="2000" b="1" dirty="0"/>
                  <a:t>Enter/Access Data</a:t>
                </a:r>
                <a:r>
                  <a:rPr lang="en-US" sz="2000" dirty="0"/>
                  <a:t>: Open the file </a:t>
                </a:r>
                <a:r>
                  <a:rPr lang="en-US" sz="2000" i="1" dirty="0" err="1"/>
                  <a:t>womengolfers</a:t>
                </a:r>
                <a:r>
                  <a:rPr lang="en-US" sz="2000" dirty="0"/>
                  <a:t>. The data are entered in cells A2:A401.</a:t>
                </a:r>
              </a:p>
              <a:p>
                <a:r>
                  <a:rPr lang="en-US" sz="2000" b="1" dirty="0"/>
                  <a:t>Enter Functions and Formulas</a:t>
                </a:r>
                <a:r>
                  <a:rPr lang="en-US" sz="2000" dirty="0"/>
                  <a:t>: Cell C3 computes the sample size. Cell C4 is set to Female. </a:t>
                </a:r>
              </a:p>
              <a:p>
                <a:r>
                  <a:rPr lang="en-US" sz="2000" dirty="0"/>
                  <a:t>The count of responses is computed in cell C5 with function </a:t>
                </a:r>
                <a14:m>
                  <m:oMath xmlns:m="http://schemas.openxmlformats.org/officeDocument/2006/math">
                    <m:r>
                      <m:rPr>
                        <m:nor/>
                      </m:rPr>
                      <a:rPr lang="en-US" sz="2000" b="0" i="0" smtClean="0">
                        <a:latin typeface="Cambria Math" panose="02040503050406030204" pitchFamily="18" charset="0"/>
                      </a:rPr>
                      <m:t>=</m:t>
                    </m:r>
                    <m:r>
                      <a:rPr lang="en-US" sz="2000" b="0" i="1" smtClean="0">
                        <a:latin typeface="Cambria Math" panose="02040503050406030204" pitchFamily="18" charset="0"/>
                      </a:rPr>
                      <m:t>𝐶𝑂𝑈𝑁𝑇𝐼𝐹</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𝑟𝑎𝑛𝑔𝑒</m:t>
                        </m:r>
                        <m:r>
                          <a:rPr lang="en-US" sz="2000" b="0" i="1" smtClean="0">
                            <a:latin typeface="Cambria Math" panose="02040503050406030204" pitchFamily="18" charset="0"/>
                          </a:rPr>
                          <m:t>, </m:t>
                        </m:r>
                        <m:r>
                          <a:rPr lang="en-US" sz="2000" b="0" i="1" smtClean="0">
                            <a:latin typeface="Cambria Math" panose="02040503050406030204" pitchFamily="18" charset="0"/>
                          </a:rPr>
                          <m:t>𝑐𝑟𝑖𝑡𝑒𝑟𝑖𝑎</m:t>
                        </m:r>
                      </m:e>
                    </m:d>
                  </m:oMath>
                </a14:m>
                <a:r>
                  <a:rPr lang="en-US" sz="2000" dirty="0"/>
                  <a:t>.</a:t>
                </a:r>
              </a:p>
              <a:p>
                <a:r>
                  <a:rPr lang="en-US" sz="2000" dirty="0"/>
                  <a:t>Where, </a:t>
                </a:r>
                <a14:m>
                  <m:oMath xmlns:m="http://schemas.openxmlformats.org/officeDocument/2006/math">
                    <m:r>
                      <a:rPr lang="en-US" sz="2000" i="1" dirty="0" smtClean="0">
                        <a:latin typeface="Cambria Math" panose="02040503050406030204" pitchFamily="18" charset="0"/>
                      </a:rPr>
                      <m:t>𝑟𝑎𝑛𝑔𝑒</m:t>
                    </m:r>
                    <m:r>
                      <m:rPr>
                        <m:nor/>
                      </m:rPr>
                      <a:rPr lang="en-US" sz="2000" i="0" dirty="0" smtClean="0">
                        <a:latin typeface="Cambria Math" panose="02040503050406030204" pitchFamily="18" charset="0"/>
                      </a:rPr>
                      <m:t>=</m:t>
                    </m:r>
                    <m:r>
                      <a:rPr lang="en-US" sz="2000" i="1" dirty="0" smtClean="0">
                        <a:latin typeface="Cambria Math" panose="02040503050406030204" pitchFamily="18" charset="0"/>
                      </a:rPr>
                      <m:t>𝐴</m:t>
                    </m:r>
                    <m:r>
                      <a:rPr lang="en-US" sz="2000" i="1" dirty="0" smtClean="0">
                        <a:latin typeface="Cambria Math" panose="02040503050406030204" pitchFamily="18" charset="0"/>
                      </a:rPr>
                      <m:t>2:</m:t>
                    </m:r>
                    <m:r>
                      <a:rPr lang="en-US" sz="2000" i="1" dirty="0" smtClean="0">
                        <a:latin typeface="Cambria Math" panose="02040503050406030204" pitchFamily="18" charset="0"/>
                      </a:rPr>
                      <m:t>𝐴</m:t>
                    </m:r>
                    <m:r>
                      <a:rPr lang="en-US" sz="2000" i="1" dirty="0" smtClean="0">
                        <a:latin typeface="Cambria Math" panose="02040503050406030204" pitchFamily="18" charset="0"/>
                      </a:rPr>
                      <m:t>901</m:t>
                    </m:r>
                  </m:oMath>
                </a14:m>
                <a:r>
                  <a:rPr lang="en-US" sz="2000" dirty="0"/>
                  <a:t> and </a:t>
                </a:r>
                <a14:m>
                  <m:oMath xmlns:m="http://schemas.openxmlformats.org/officeDocument/2006/math">
                    <m:r>
                      <a:rPr lang="en-US" sz="2000" i="1" dirty="0" smtClean="0">
                        <a:latin typeface="Cambria Math" panose="02040503050406030204" pitchFamily="18" charset="0"/>
                      </a:rPr>
                      <m:t>𝑐𝑟𝑖𝑡𝑒𝑟𝑖𝑎</m:t>
                    </m:r>
                    <m:r>
                      <m:rPr>
                        <m:nor/>
                      </m:rPr>
                      <a:rPr lang="en-US" sz="2000" i="0" dirty="0" smtClean="0">
                        <a:latin typeface="Cambria Math" panose="02040503050406030204" pitchFamily="18" charset="0"/>
                      </a:rPr>
                      <m:t>=</m:t>
                    </m:r>
                    <m:r>
                      <a:rPr lang="en-US" sz="2000" i="1" dirty="0" smtClean="0">
                        <a:latin typeface="Cambria Math" panose="02040503050406030204" pitchFamily="18" charset="0"/>
                      </a:rPr>
                      <m:t>𝐶</m:t>
                    </m:r>
                    <m:r>
                      <a:rPr lang="en-US" sz="2000" i="1" dirty="0" smtClean="0">
                        <a:latin typeface="Cambria Math" panose="02040503050406030204" pitchFamily="18" charset="0"/>
                      </a:rPr>
                      <m:t>4</m:t>
                    </m:r>
                  </m:oMath>
                </a14:m>
                <a:r>
                  <a:rPr lang="en-US" sz="2000" dirty="0"/>
                  <a:t>.</a:t>
                </a:r>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43576" y="1144389"/>
                <a:ext cx="10610223" cy="1463080"/>
              </a:xfrm>
              <a:blipFill>
                <a:blip r:embed="rId2"/>
                <a:stretch>
                  <a:fillRect l="-1494" t="-5000" r="-1552" b="-95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D16A1EC-8780-2A26-ACE2-AAD04145147E}"/>
                  </a:ext>
                </a:extLst>
              </p:cNvPr>
              <p:cNvSpPr>
                <a:spLocks noGrp="1"/>
              </p:cNvSpPr>
              <p:nvPr>
                <p:ph type="body" sz="quarter" idx="17"/>
              </p:nvPr>
            </p:nvSpPr>
            <p:spPr>
              <a:xfrm>
                <a:off x="743577" y="2664622"/>
                <a:ext cx="5428623" cy="3298828"/>
              </a:xfrm>
            </p:spPr>
            <p:txBody>
              <a:bodyPr/>
              <a:lstStyle/>
              <a:p>
                <a:pPr>
                  <a:spcAft>
                    <a:spcPts val="0"/>
                  </a:spcAft>
                </a:pPr>
                <a:r>
                  <a:rPr lang="en-US" sz="2000" dirty="0"/>
                  <a:t>The standard error is computed in cell C10, and the </a:t>
                </a:r>
                <a14:m>
                  <m:oMath xmlns:m="http://schemas.openxmlformats.org/officeDocument/2006/math">
                    <m:r>
                      <a:rPr lang="en-US" sz="2000" b="0" i="1" dirty="0" smtClean="0">
                        <a:latin typeface="Cambria Math" panose="02040503050406030204" pitchFamily="18" charset="0"/>
                      </a:rPr>
                      <m:t>𝑧</m:t>
                    </m:r>
                  </m:oMath>
                </a14:m>
                <a:r>
                  <a:rPr lang="en-US" sz="2000" dirty="0"/>
                  <a:t> test statistic in cell C11. </a:t>
                </a:r>
              </a:p>
              <a:p>
                <a:pPr>
                  <a:spcAft>
                    <a:spcPts val="600"/>
                  </a:spcAft>
                </a:pPr>
                <a:r>
                  <a:rPr lang="en-US" sz="2000" dirty="0"/>
                  <a:t>To compute the </a:t>
                </a:r>
                <a14:m>
                  <m:oMath xmlns:m="http://schemas.openxmlformats.org/officeDocument/2006/math">
                    <m:r>
                      <a:rPr lang="en-US" sz="2000" i="1" dirty="0" smtClean="0">
                        <a:latin typeface="Cambria Math" panose="02040503050406030204" pitchFamily="18" charset="0"/>
                      </a:rPr>
                      <m:t>𝑝</m:t>
                    </m:r>
                  </m:oMath>
                </a14:m>
                <a:r>
                  <a:rPr lang="en-US" sz="2000" dirty="0"/>
                  <a:t>-value for a lower tail test, in cell C13, we enter the formula</a:t>
                </a:r>
              </a:p>
              <a:p>
                <a:pPr marL="457200">
                  <a:spcAft>
                    <a:spcPts val="600"/>
                  </a:spcAft>
                </a:pPr>
                <a14:m>
                  <m:oMathPara xmlns:m="http://schemas.openxmlformats.org/officeDocument/2006/math">
                    <m:oMathParaPr>
                      <m:jc m:val="left"/>
                    </m:oMathParaPr>
                    <m:oMath xmlns:m="http://schemas.openxmlformats.org/officeDocument/2006/math">
                      <m:r>
                        <m:rPr>
                          <m:nor/>
                        </m:rPr>
                        <a:rPr lang="en-US" sz="2000" i="0" dirty="0" smtClean="0">
                          <a:latin typeface="Cambria Math" panose="02040503050406030204" pitchFamily="18" charset="0"/>
                        </a:rPr>
                        <m:t>=</m:t>
                      </m:r>
                      <m:r>
                        <a:rPr lang="en-US" sz="2000" b="0" i="1" dirty="0" smtClean="0">
                          <a:latin typeface="Cambria Math" panose="02040503050406030204" pitchFamily="18" charset="0"/>
                        </a:rPr>
                        <m:t>𝑁𝑂𝑅𝑀</m:t>
                      </m:r>
                      <m:r>
                        <a:rPr lang="en-US" sz="2000" b="0" i="1" dirty="0" smtClean="0">
                          <a:latin typeface="Cambria Math" panose="02040503050406030204" pitchFamily="18" charset="0"/>
                        </a:rPr>
                        <m:t>.</m:t>
                      </m:r>
                      <m:r>
                        <a:rPr lang="en-US" sz="2000" b="0" i="1" dirty="0" smtClean="0">
                          <a:latin typeface="Cambria Math" panose="02040503050406030204" pitchFamily="18" charset="0"/>
                        </a:rPr>
                        <m:t>𝑆</m:t>
                      </m:r>
                      <m:r>
                        <a:rPr lang="en-US" sz="2000" i="1" dirty="0" smtClean="0">
                          <a:latin typeface="Cambria Math" panose="02040503050406030204" pitchFamily="18" charset="0"/>
                        </a:rPr>
                        <m:t>.</m:t>
                      </m:r>
                      <m:r>
                        <a:rPr lang="en-US" sz="2000" i="1" dirty="0" smtClean="0">
                          <a:latin typeface="Cambria Math" panose="02040503050406030204" pitchFamily="18" charset="0"/>
                        </a:rPr>
                        <m:t>𝐷𝐼𝑆𝑇</m:t>
                      </m:r>
                      <m:r>
                        <a:rPr lang="en-US" sz="2000" i="1" dirty="0" smtClean="0">
                          <a:latin typeface="Cambria Math" panose="02040503050406030204" pitchFamily="18" charset="0"/>
                        </a:rPr>
                        <m:t>(</m:t>
                      </m:r>
                      <m:r>
                        <a:rPr lang="en-US" sz="2000" b="0" i="1" dirty="0" smtClean="0">
                          <a:latin typeface="Cambria Math" panose="02040503050406030204" pitchFamily="18" charset="0"/>
                        </a:rPr>
                        <m:t>𝑧</m:t>
                      </m:r>
                      <m:r>
                        <a:rPr lang="en-US" sz="2000" b="0" i="1" dirty="0" smtClean="0">
                          <a:latin typeface="Cambria Math" panose="02040503050406030204" pitchFamily="18" charset="0"/>
                        </a:rPr>
                        <m:t>,</m:t>
                      </m:r>
                      <m:r>
                        <a:rPr lang="en-US" sz="2000" i="1" dirty="0" err="1" smtClean="0">
                          <a:latin typeface="Cambria Math" panose="02040503050406030204" pitchFamily="18" charset="0"/>
                        </a:rPr>
                        <m:t>𝑇𝑅𝑈𝐸</m:t>
                      </m:r>
                      <m:r>
                        <a:rPr lang="en-US" sz="2000" i="1" dirty="0" smtClean="0">
                          <a:latin typeface="Cambria Math" panose="02040503050406030204" pitchFamily="18" charset="0"/>
                        </a:rPr>
                        <m:t>)</m:t>
                      </m:r>
                    </m:oMath>
                  </m:oMathPara>
                </a14:m>
                <a:endParaRPr lang="en-US" sz="2000" dirty="0"/>
              </a:p>
              <a:p>
                <a:pPr marL="457200">
                  <a:spcAft>
                    <a:spcPts val="0"/>
                  </a:spcAft>
                </a:pPr>
                <a:r>
                  <a:rPr lang="en-US" sz="2000" dirty="0"/>
                  <a:t>Where </a:t>
                </a:r>
                <a14:m>
                  <m:oMath xmlns:m="http://schemas.openxmlformats.org/officeDocument/2006/math">
                    <m:r>
                      <a:rPr lang="en-US" sz="2000" b="0" i="1" dirty="0" smtClean="0">
                        <a:latin typeface="Cambria Math" panose="02040503050406030204" pitchFamily="18" charset="0"/>
                      </a:rPr>
                      <m:t>𝑧</m:t>
                    </m:r>
                  </m:oMath>
                </a14:m>
                <a:r>
                  <a:rPr lang="en-US" sz="2000" dirty="0"/>
                  <a:t> is the test statistic in cell C11.</a:t>
                </a:r>
              </a:p>
              <a:p>
                <a:pPr>
                  <a:spcAft>
                    <a:spcPts val="0"/>
                  </a:spcAft>
                </a:pPr>
                <a:r>
                  <a:rPr lang="en-US" sz="2000" dirty="0"/>
                  <a:t>The </a:t>
                </a:r>
                <a14:m>
                  <m:oMath xmlns:m="http://schemas.openxmlformats.org/officeDocument/2006/math">
                    <m:r>
                      <a:rPr lang="en-US" sz="2000" i="1" dirty="0" smtClean="0">
                        <a:latin typeface="Cambria Math" panose="02040503050406030204" pitchFamily="18" charset="0"/>
                      </a:rPr>
                      <m:t>𝑝</m:t>
                    </m:r>
                  </m:oMath>
                </a14:m>
                <a:r>
                  <a:rPr lang="en-US" sz="2000" dirty="0"/>
                  <a:t>-values for the upper tail and two-tail tests are computed in the same way we did for the Excel examples in Sections 9.3 and 9.4. </a:t>
                </a:r>
              </a:p>
            </p:txBody>
          </p:sp>
        </mc:Choice>
        <mc:Fallback xmlns="">
          <p:sp>
            <p:nvSpPr>
              <p:cNvPr id="5" name="Text Placeholder 4">
                <a:extLst>
                  <a:ext uri="{FF2B5EF4-FFF2-40B4-BE49-F238E27FC236}">
                    <a16:creationId xmlns:a16="http://schemas.microsoft.com/office/drawing/2014/main" id="{ED16A1EC-8780-2A26-ACE2-AAD04145147E}"/>
                  </a:ext>
                </a:extLst>
              </p:cNvPr>
              <p:cNvSpPr>
                <a:spLocks noGrp="1" noRot="1" noChangeAspect="1" noMove="1" noResize="1" noEditPoints="1" noAdjustHandles="1" noChangeArrowheads="1" noChangeShapeType="1" noTextEdit="1"/>
              </p:cNvSpPr>
              <p:nvPr>
                <p:ph type="body" sz="quarter" idx="17"/>
              </p:nvPr>
            </p:nvSpPr>
            <p:spPr>
              <a:xfrm>
                <a:off x="743577" y="2664622"/>
                <a:ext cx="5428623" cy="3298828"/>
              </a:xfrm>
              <a:blipFill>
                <a:blip r:embed="rId3"/>
                <a:stretch>
                  <a:fillRect l="-2918" t="-2218" r="-2806"/>
                </a:stretch>
              </a:blipFill>
            </p:spPr>
            <p:txBody>
              <a:bodyPr/>
              <a:lstStyle/>
              <a:p>
                <a:r>
                  <a:rPr lang="en-US">
                    <a:noFill/>
                  </a:rPr>
                  <a:t> </a:t>
                </a:r>
              </a:p>
            </p:txBody>
          </p:sp>
        </mc:Fallback>
      </mc:AlternateContent>
      <p:pic>
        <p:nvPicPr>
          <p:cNvPr id="8" name="Picture Placeholder 7" descr="Two screenshots of Excel spreadsheets show the hypothesis test about a population proportion. In both the spreadsheets, column A is labeled golfer. The row entries are as follows. Row 2: Female. Row 3: Male. Row 4: Female. Row 5: Male. Row 6: Male. Row 7: Female. Row 8: Male. Row 9: Male. Row 10: Female. Row 11: Male. Row 12: Male. Row 13: Male. Row 14: Male. Row 15: Male. Row 16: Female. Row 400: Male. Row 401: Male. The entries under columns B and C in the first spreadsheet are as follows. B 3: Sample size. C 3: =COUNT A(A 2:A 901). B 4: Response of interest. C 4: Female. B 5: Count for response. C 5: =COUNT IF(A 2:A 901,D 4). B 6: Sample proportion. C 6: =C 5/C 3. B 8: Hypothesized value. C 8: 0.2. B 10: Standard error. C 10: =SQRT(C 8*(1 minus C 8)/C 3). B 11: Test statistic z. C 11: =(C 6 minus C 18)/C 10. B 13: p-value (Lower tail). C 13: =NORM.S.DIST(C 11,TRUE). B 14: p-value (Upper Tail). C 14: =1 minus C 13. B 15: p-value (Two tail). C 15: =2*MIN(C 13,C 14). The entries under columns B and A in the second spreadsheet are as follows. B 3: Sample size. C 3: 400. B 4: Response of interest. C 4: Female. B 5: Count for response. C 5: 100. B 6: Sample proportion. C 6: 0.25. B 8: Hypothesized value. C 8: 0.2. B 10: Standard error. C 10: 0.02. B 11: Test statistic z. C 11: 2.5000. B 13: p-value (Lower tail). C 13: 0.993790335. B 14: p-value (Upper Tail). C 14: 0.0062. B 15: p-value (Two tail). C 15: 0.0124.">
            <a:extLst>
              <a:ext uri="{FF2B5EF4-FFF2-40B4-BE49-F238E27FC236}">
                <a16:creationId xmlns:a16="http://schemas.microsoft.com/office/drawing/2014/main" id="{D108EE8E-3527-4974-4371-FB3F893103BA}"/>
              </a:ext>
            </a:extLst>
          </p:cNvPr>
          <p:cNvPicPr>
            <a:picLocks noGrp="1" noChangeAspect="1"/>
          </p:cNvPicPr>
          <p:nvPr>
            <p:ph type="pic" sz="quarter" idx="16"/>
          </p:nvPr>
        </p:nvPicPr>
        <p:blipFill>
          <a:blip r:embed="rId4"/>
          <a:srcRect l="66" r="66"/>
          <a:stretch/>
        </p:blipFill>
        <p:spPr>
          <a:xfrm>
            <a:off x="6295397" y="2278862"/>
            <a:ext cx="5138738" cy="3684588"/>
          </a:xfrm>
          <a:ln>
            <a:solidFill>
              <a:srgbClr val="000000"/>
            </a:solidFill>
          </a:ln>
        </p:spPr>
      </p:pic>
    </p:spTree>
    <p:extLst>
      <p:ext uri="{BB962C8B-B14F-4D97-AF65-F5344CB8AC3E}">
        <p14:creationId xmlns:p14="http://schemas.microsoft.com/office/powerpoint/2010/main" val="2590757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79E3C-DB42-5458-C961-D022FACAB6CD}"/>
              </a:ext>
            </a:extLst>
          </p:cNvPr>
          <p:cNvSpPr>
            <a:spLocks noGrp="1"/>
          </p:cNvSpPr>
          <p:nvPr>
            <p:ph type="title"/>
          </p:nvPr>
        </p:nvSpPr>
        <p:spPr>
          <a:xfrm>
            <a:off x="1274379" y="407057"/>
            <a:ext cx="9643241" cy="672105"/>
          </a:xfrm>
        </p:spPr>
        <p:txBody>
          <a:bodyPr/>
          <a:lstStyle/>
          <a:p>
            <a:r>
              <a:rPr lang="en-US" sz="3200" dirty="0"/>
              <a:t>9.5 Summary of Hypothesis Tests About a Population Proportion</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A8081616-52DD-231D-607E-511C6F68FD22}"/>
                  </a:ext>
                </a:extLst>
              </p:cNvPr>
              <p:cNvGraphicFramePr>
                <a:graphicFrameLocks noGrp="1"/>
              </p:cNvGraphicFramePr>
              <p:nvPr>
                <p:ph type="tbl" sz="quarter" idx="10"/>
                <p:extLst>
                  <p:ext uri="{D42A27DB-BD31-4B8C-83A1-F6EECF244321}">
                    <p14:modId xmlns:p14="http://schemas.microsoft.com/office/powerpoint/2010/main" val="1698661209"/>
                  </p:ext>
                </p:extLst>
              </p:nvPr>
            </p:nvGraphicFramePr>
            <p:xfrm>
              <a:off x="1106213" y="1759169"/>
              <a:ext cx="9979571" cy="4077843"/>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3045617659"/>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708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Lower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370840">
                    <a:tc>
                      <a:txBody>
                        <a:bodyPr/>
                        <a:lstStyle/>
                        <a:p>
                          <a:pPr algn="l"/>
                          <a:r>
                            <a:rPr lang="en-US" sz="2000" b="1" dirty="0">
                              <a:solidFill>
                                <a:srgbClr val="000000"/>
                              </a:solidFill>
                            </a:rPr>
                            <a:t>Hypotheses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𝑝</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𝑝</m:t>
                                </m:r>
                                <m:r>
                                  <a:rPr lang="en-US" sz="2000" b="0" i="1" smtClean="0">
                                    <a:solidFill>
                                      <a:srgbClr val="000000"/>
                                    </a:solidFill>
                                    <a:latin typeface="Cambria Math" panose="02040503050406030204" pitchFamily="18" charset="0"/>
                                    <a:ea typeface="Cambria Math" panose="02040503050406030204" pitchFamily="18" charset="0"/>
                                  </a:rPr>
                                  <m:t>&lt;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𝑝</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𝑝</m:t>
                                </m:r>
                                <m:r>
                                  <a:rPr lang="en-US" sz="2000" b="0" i="1" smtClean="0">
                                    <a:solidFill>
                                      <a:srgbClr val="000000"/>
                                    </a:solidFill>
                                    <a:latin typeface="Cambria Math" panose="02040503050406030204" pitchFamily="18" charset="0"/>
                                    <a:ea typeface="Cambria Math" panose="02040503050406030204" pitchFamily="18" charset="0"/>
                                  </a:rPr>
                                  <m:t>&gt;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𝑝</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𝑝</m:t>
                                </m:r>
                                <m:r>
                                  <a:rPr lang="en-US" sz="2000" b="0" i="1" smtClean="0">
                                    <a:solidFill>
                                      <a:srgbClr val="000000"/>
                                    </a:solidFill>
                                    <a:latin typeface="Cambria Math" panose="02040503050406030204" pitchFamily="18" charset="0"/>
                                    <a:ea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𝑧</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𝑝</m:t>
                                        </m:r>
                                      </m:e>
                                    </m:acc>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num>
                                  <m:den>
                                    <m:rad>
                                      <m:radPr>
                                        <m:degHide m:val="on"/>
                                        <m:ctrlPr>
                                          <a:rPr lang="en-US" sz="2000" b="0" i="1" smtClean="0">
                                            <a:solidFill>
                                              <a:srgbClr val="000000"/>
                                            </a:solidFill>
                                            <a:latin typeface="Cambria Math" panose="02040503050406030204" pitchFamily="18" charset="0"/>
                                            <a:ea typeface="Cambria Math" panose="02040503050406030204" pitchFamily="18" charset="0"/>
                                          </a:rPr>
                                        </m:ctrlPr>
                                      </m:radPr>
                                      <m:deg/>
                                      <m:e>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d>
                                          <m:dPr>
                                            <m:ctrlPr>
                                              <a:rPr lang="en-US" sz="2000" b="0" i="1" smtClean="0">
                                                <a:solidFill>
                                                  <a:srgbClr val="000000"/>
                                                </a:solidFill>
                                                <a:latin typeface="Cambria Math" panose="02040503050406030204" pitchFamily="18" charset="0"/>
                                                <a:ea typeface="Cambria Math" panose="02040503050406030204" pitchFamily="18" charset="0"/>
                                              </a:rPr>
                                            </m:ctrlPr>
                                          </m:dPr>
                                          <m:e>
                                            <m:r>
                                              <a:rPr lang="en-US" sz="2000" b="0" i="1" smtClean="0">
                                                <a:solidFill>
                                                  <a:srgbClr val="000000"/>
                                                </a:solidFill>
                                                <a:latin typeface="Cambria Math" panose="02040503050406030204" pitchFamily="18" charset="0"/>
                                                <a:ea typeface="Cambria Math" panose="02040503050406030204" pitchFamily="18" charset="0"/>
                                              </a:rPr>
                                              <m:t>1−</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e>
                                        </m:d>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𝑛</m:t>
                                        </m:r>
                                      </m:e>
                                    </m:rad>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𝑧</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𝑝</m:t>
                                        </m:r>
                                      </m:e>
                                    </m:acc>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num>
                                  <m:den>
                                    <m:rad>
                                      <m:radPr>
                                        <m:degHide m:val="on"/>
                                        <m:ctrlPr>
                                          <a:rPr lang="en-US" sz="2000" b="0" i="1" smtClean="0">
                                            <a:solidFill>
                                              <a:srgbClr val="000000"/>
                                            </a:solidFill>
                                            <a:latin typeface="Cambria Math" panose="02040503050406030204" pitchFamily="18" charset="0"/>
                                            <a:ea typeface="Cambria Math" panose="02040503050406030204" pitchFamily="18" charset="0"/>
                                          </a:rPr>
                                        </m:ctrlPr>
                                      </m:radPr>
                                      <m:deg/>
                                      <m:e>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d>
                                          <m:dPr>
                                            <m:ctrlPr>
                                              <a:rPr lang="en-US" sz="2000" b="0" i="1" smtClean="0">
                                                <a:solidFill>
                                                  <a:srgbClr val="000000"/>
                                                </a:solidFill>
                                                <a:latin typeface="Cambria Math" panose="02040503050406030204" pitchFamily="18" charset="0"/>
                                                <a:ea typeface="Cambria Math" panose="02040503050406030204" pitchFamily="18" charset="0"/>
                                              </a:rPr>
                                            </m:ctrlPr>
                                          </m:dPr>
                                          <m:e>
                                            <m:r>
                                              <a:rPr lang="en-US" sz="2000" b="0" i="1" smtClean="0">
                                                <a:solidFill>
                                                  <a:srgbClr val="000000"/>
                                                </a:solidFill>
                                                <a:latin typeface="Cambria Math" panose="02040503050406030204" pitchFamily="18" charset="0"/>
                                                <a:ea typeface="Cambria Math" panose="02040503050406030204" pitchFamily="18" charset="0"/>
                                              </a:rPr>
                                              <m:t>1−</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e>
                                        </m:d>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𝑛</m:t>
                                        </m:r>
                                      </m:e>
                                    </m:rad>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𝑧</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𝑝</m:t>
                                        </m:r>
                                      </m:e>
                                    </m:acc>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num>
                                  <m:den>
                                    <m:rad>
                                      <m:radPr>
                                        <m:degHide m:val="on"/>
                                        <m:ctrlPr>
                                          <a:rPr lang="en-US" sz="2000" b="0" i="1" smtClean="0">
                                            <a:solidFill>
                                              <a:srgbClr val="000000"/>
                                            </a:solidFill>
                                            <a:latin typeface="Cambria Math" panose="02040503050406030204" pitchFamily="18" charset="0"/>
                                            <a:ea typeface="Cambria Math" panose="02040503050406030204" pitchFamily="18" charset="0"/>
                                          </a:rPr>
                                        </m:ctrlPr>
                                      </m:radPr>
                                      <m:deg/>
                                      <m:e>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d>
                                          <m:dPr>
                                            <m:ctrlPr>
                                              <a:rPr lang="en-US" sz="2000" b="0" i="1" smtClean="0">
                                                <a:solidFill>
                                                  <a:srgbClr val="000000"/>
                                                </a:solidFill>
                                                <a:latin typeface="Cambria Math" panose="02040503050406030204" pitchFamily="18" charset="0"/>
                                                <a:ea typeface="Cambria Math" panose="02040503050406030204" pitchFamily="18" charset="0"/>
                                              </a:rPr>
                                            </m:ctrlPr>
                                          </m:dPr>
                                          <m:e>
                                            <m:r>
                                              <a:rPr lang="en-US" sz="2000" b="0" i="1" smtClean="0">
                                                <a:solidFill>
                                                  <a:srgbClr val="000000"/>
                                                </a:solidFill>
                                                <a:latin typeface="Cambria Math" panose="02040503050406030204" pitchFamily="18" charset="0"/>
                                                <a:ea typeface="Cambria Math" panose="02040503050406030204" pitchFamily="18" charset="0"/>
                                              </a:rPr>
                                              <m:t>1−</m:t>
                                            </m:r>
                                            <m:sSub>
                                              <m:sSubPr>
                                                <m:ctrlPr>
                                                  <a:rPr lang="en-US" sz="2000" b="0" i="1" smtClean="0">
                                                    <a:solidFill>
                                                      <a:srgbClr val="000000"/>
                                                    </a:solidFill>
                                                    <a:latin typeface="Cambria Math" panose="02040503050406030204" pitchFamily="18" charset="0"/>
                                                    <a:ea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𝑝</m:t>
                                                </m:r>
                                              </m:e>
                                              <m:sub>
                                                <m:r>
                                                  <a:rPr lang="en-US" sz="2000" b="0" i="1" smtClean="0">
                                                    <a:solidFill>
                                                      <a:srgbClr val="000000"/>
                                                    </a:solidFill>
                                                    <a:latin typeface="Cambria Math" panose="02040503050406030204" pitchFamily="18" charset="0"/>
                                                    <a:ea typeface="Cambria Math" panose="02040503050406030204" pitchFamily="18" charset="0"/>
                                                  </a:rPr>
                                                  <m:t>0</m:t>
                                                </m:r>
                                              </m:sub>
                                            </m:sSub>
                                          </m:e>
                                        </m:d>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𝑛</m:t>
                                        </m:r>
                                      </m:e>
                                    </m:rad>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807792594"/>
                      </a:ext>
                    </a:extLst>
                  </a:tr>
                  <a:tr h="370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p</a:t>
                          </a:r>
                          <a:r>
                            <a:rPr lang="en-US" sz="2000" b="0" i="0" dirty="0">
                              <a:solidFill>
                                <a:srgbClr val="000000"/>
                              </a:solidFill>
                              <a:latin typeface="Cambria Math" panose="02040503050406030204" pitchFamily="18" charset="0"/>
                              <a:ea typeface="Cambria Math" panose="02040503050406030204" pitchFamily="18" charset="0"/>
                            </a:rPr>
                            <a:t>-</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dirty="0">
                              <a:solidFill>
                                <a:srgbClr val="000000"/>
                              </a:solidFill>
                              <a:latin typeface="+mj-lt"/>
                              <a:cs typeface="Arial" panose="020B0604020202020204" pitchFamily="34" charset="0"/>
                            </a:rPr>
                            <a:t>α</a:t>
                          </a:r>
                          <a:endParaRPr lang="en-US" sz="2000" b="0" i="1" dirty="0">
                            <a:solidFill>
                              <a:srgbClr val="000000"/>
                            </a:solidFill>
                            <a:latin typeface="+mj-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370840">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z</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r>
                                <a:rPr lang="en-US" sz="2000" b="0" i="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z</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z</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r>
                                <a:rPr lang="en-US" sz="2000" b="0" i="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b>
                              </m:sSub>
                            </m:oMath>
                          </a14:m>
                          <a:endParaRPr lang="en-US" sz="2000" b="0" dirty="0">
                            <a:solidFill>
                              <a:srgbClr val="00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rPr>
                            <a:t>or </a:t>
                          </a:r>
                          <a:r>
                            <a:rPr lang="en-US" sz="2000" b="0" i="1" dirty="0">
                              <a:solidFill>
                                <a:srgbClr val="000000"/>
                              </a:solidFill>
                              <a:latin typeface="Cambria Math" panose="02040503050406030204" pitchFamily="18" charset="0"/>
                              <a:ea typeface="Cambria Math" panose="02040503050406030204" pitchFamily="18" charset="0"/>
                            </a:rPr>
                            <a:t>z</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𝑧</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63916060"/>
                      </a:ext>
                    </a:extLst>
                  </a:tr>
                </a:tbl>
              </a:graphicData>
            </a:graphic>
          </p:graphicFrame>
        </mc:Choice>
        <mc:Fallback xmlns="">
          <p:graphicFrame>
            <p:nvGraphicFramePr>
              <p:cNvPr id="6" name="Table 6">
                <a:extLst>
                  <a:ext uri="{FF2B5EF4-FFF2-40B4-BE49-F238E27FC236}">
                    <a16:creationId xmlns:a16="http://schemas.microsoft.com/office/drawing/2014/main" id="{A8081616-52DD-231D-607E-511C6F68FD22}"/>
                  </a:ext>
                </a:extLst>
              </p:cNvPr>
              <p:cNvGraphicFramePr>
                <a:graphicFrameLocks noGrp="1"/>
              </p:cNvGraphicFramePr>
              <p:nvPr>
                <p:ph type="tbl" sz="quarter" idx="10"/>
                <p:extLst>
                  <p:ext uri="{D42A27DB-BD31-4B8C-83A1-F6EECF244321}">
                    <p14:modId xmlns:p14="http://schemas.microsoft.com/office/powerpoint/2010/main" val="1698661209"/>
                  </p:ext>
                </p:extLst>
              </p:nvPr>
            </p:nvGraphicFramePr>
            <p:xfrm>
              <a:off x="1106213" y="1759169"/>
              <a:ext cx="9979571" cy="4077843"/>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3045617659"/>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962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Lower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701040">
                    <a:tc>
                      <a:txBody>
                        <a:bodyPr/>
                        <a:lstStyle/>
                        <a:p>
                          <a:pPr algn="l"/>
                          <a:r>
                            <a:rPr lang="en-US" sz="2000" b="1" dirty="0">
                              <a:solidFill>
                                <a:srgbClr val="000000"/>
                              </a:solidFill>
                            </a:rPr>
                            <a:t>Hypotheses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67489" t="-60870" r="-199776" b="-438261"/>
                          </a:stretch>
                        </a:blip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167865" t="-60870" r="-100225" b="-438261"/>
                          </a:stretch>
                        </a:blip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267265" t="-60870" b="-438261"/>
                          </a:stretch>
                        </a:blip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67489" t="-122517" r="-199776" b="-233775"/>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67865" t="-122517" r="-100225" b="-233775"/>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67265" t="-122517" b="-233775"/>
                          </a:stretch>
                        </a:blipFill>
                      </a:tcPr>
                    </a:tc>
                    <a:extLst>
                      <a:ext uri="{0D108BD9-81ED-4DB2-BD59-A6C34878D82A}">
                        <a16:rowId xmlns:a16="http://schemas.microsoft.com/office/drawing/2014/main" val="807792594"/>
                      </a:ext>
                    </a:extLst>
                  </a:tr>
                  <a:tr h="1005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p</a:t>
                          </a:r>
                          <a:r>
                            <a:rPr lang="en-US" sz="2000" b="0" i="0" dirty="0">
                              <a:solidFill>
                                <a:srgbClr val="000000"/>
                              </a:solidFill>
                              <a:latin typeface="Cambria Math" panose="02040503050406030204" pitchFamily="18" charset="0"/>
                              <a:ea typeface="Cambria Math" panose="02040503050406030204" pitchFamily="18" charset="0"/>
                            </a:rPr>
                            <a:t>-</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dirty="0">
                              <a:solidFill>
                                <a:srgbClr val="000000"/>
                              </a:solidFill>
                              <a:latin typeface="+mj-lt"/>
                              <a:cs typeface="Arial" panose="020B0604020202020204" pitchFamily="34" charset="0"/>
                            </a:rPr>
                            <a:t>α</a:t>
                          </a:r>
                          <a:endParaRPr lang="en-US" sz="2000" b="0" i="1" dirty="0">
                            <a:solidFill>
                              <a:srgbClr val="000000"/>
                            </a:solidFill>
                            <a:latin typeface="+mj-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1060323">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67489" t="-287931" r="-199776" b="-8046"/>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67865" t="-287931" r="-100225" b="-8046"/>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67265" t="-287931" b="-8046"/>
                          </a:stretch>
                        </a:blipFill>
                      </a:tcPr>
                    </a:tc>
                    <a:extLst>
                      <a:ext uri="{0D108BD9-81ED-4DB2-BD59-A6C34878D82A}">
                        <a16:rowId xmlns:a16="http://schemas.microsoft.com/office/drawing/2014/main" val="3163916060"/>
                      </a:ext>
                    </a:extLst>
                  </a:tr>
                </a:tbl>
              </a:graphicData>
            </a:graphic>
          </p:graphicFrame>
        </mc:Fallback>
      </mc:AlternateContent>
    </p:spTree>
    <p:extLst>
      <p:ext uri="{BB962C8B-B14F-4D97-AF65-F5344CB8AC3E}">
        <p14:creationId xmlns:p14="http://schemas.microsoft.com/office/powerpoint/2010/main" val="2132460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A15C-FEF6-8814-0E45-379930EF28CC}"/>
              </a:ext>
            </a:extLst>
          </p:cNvPr>
          <p:cNvSpPr>
            <a:spLocks noGrp="1"/>
          </p:cNvSpPr>
          <p:nvPr>
            <p:ph type="title"/>
          </p:nvPr>
        </p:nvSpPr>
        <p:spPr/>
        <p:txBody>
          <a:bodyPr/>
          <a:lstStyle/>
          <a:p>
            <a:r>
              <a:rPr lang="en-US" sz="3200" dirty="0">
                <a:solidFill>
                  <a:srgbClr val="D14B1E"/>
                </a:solidFill>
              </a:rPr>
              <a:t>9.6 Practical Advice: Big Data and Hypothesis Testing</a:t>
            </a:r>
            <a:endParaRPr lang="en-US" sz="320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D2D5583-8B4E-2667-1F2E-A69F5B48E4D3}"/>
                  </a:ext>
                </a:extLst>
              </p:cNvPr>
              <p:cNvSpPr>
                <a:spLocks noGrp="1"/>
              </p:cNvSpPr>
              <p:nvPr>
                <p:ph type="body" sz="quarter" idx="15"/>
              </p:nvPr>
            </p:nvSpPr>
            <p:spPr>
              <a:xfrm>
                <a:off x="743576" y="1470134"/>
                <a:ext cx="10711543" cy="3917731"/>
              </a:xfrm>
            </p:spPr>
            <p:txBody>
              <a:bodyPr/>
              <a:lstStyle/>
              <a:p>
                <a:r>
                  <a:rPr lang="en-US" sz="2000" dirty="0"/>
                  <a:t>The results of a hypothesis test on a mean or a proportion are statistically significant when we have sufficient evidence to reject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oMath>
                </a14:m>
                <a:r>
                  <a:rPr lang="en-US" sz="2000" dirty="0"/>
                  <a:t>.</a:t>
                </a:r>
              </a:p>
              <a:p>
                <a:r>
                  <a:rPr lang="en-US" sz="2000" dirty="0"/>
                  <a:t>However, we learned that the standard error of the associated sampling distributions decreases as the sample size increases.</a:t>
                </a:r>
              </a:p>
              <a:p>
                <a:r>
                  <a:rPr lang="en-US" sz="2000" dirty="0"/>
                  <a:t>Thus, for increasingly larges sample sizes, we will reject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𝜇</m:t>
                        </m:r>
                      </m:e>
                      <m:sub>
                        <m:r>
                          <a:rPr lang="en-US" sz="2000" b="0" i="1" smtClean="0">
                            <a:latin typeface="Cambria Math" panose="02040503050406030204" pitchFamily="18" charset="0"/>
                            <a:ea typeface="Cambria Math" panose="02040503050406030204" pitchFamily="18" charset="0"/>
                          </a:rPr>
                          <m:t>0</m:t>
                        </m:r>
                      </m:sub>
                    </m:sSub>
                  </m:oMath>
                </a14:m>
                <a:r>
                  <a:rPr lang="en-US" sz="2000" dirty="0"/>
                  <a:t> for increasingly smaller differences between the sample mean </a:t>
                </a:r>
                <a14:m>
                  <m:oMath xmlns:m="http://schemas.openxmlformats.org/officeDocument/2006/math">
                    <m:acc>
                      <m:accPr>
                        <m:chr m:val="̅"/>
                        <m:ctrlPr>
                          <a:rPr lang="en-US" sz="2000" i="1" dirty="0" smtClean="0">
                            <a:latin typeface="Cambria Math" panose="02040503050406030204" pitchFamily="18" charset="0"/>
                          </a:rPr>
                        </m:ctrlPr>
                      </m:accPr>
                      <m:e>
                        <m:r>
                          <a:rPr lang="en-US" sz="2000" i="1" dirty="0">
                            <a:latin typeface="Cambria Math" panose="02040503050406030204" pitchFamily="18" charset="0"/>
                          </a:rPr>
                          <m:t>𝑥</m:t>
                        </m:r>
                      </m:e>
                    </m:acc>
                  </m:oMath>
                </a14:m>
                <a:r>
                  <a:rPr lang="en-US" sz="2000" dirty="0"/>
                  <a:t> and the hypothesized population mean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0</m:t>
                        </m:r>
                      </m:sub>
                    </m:sSub>
                  </m:oMath>
                </a14:m>
                <a:r>
                  <a:rPr lang="en-US" sz="2000" dirty="0"/>
                  <a:t>, or between the sample proportion </a:t>
                </a:r>
                <a14:m>
                  <m:oMath xmlns:m="http://schemas.openxmlformats.org/officeDocument/2006/math">
                    <m:acc>
                      <m:accPr>
                        <m:chr m:val="̅"/>
                        <m:ctrlPr>
                          <a:rPr lang="en-US" sz="2000" i="1" dirty="0">
                            <a:latin typeface="Cambria Math" panose="02040503050406030204" pitchFamily="18" charset="0"/>
                          </a:rPr>
                        </m:ctrlPr>
                      </m:accPr>
                      <m:e>
                        <m:r>
                          <a:rPr lang="en-US" sz="2000" b="0" i="1" dirty="0" smtClean="0">
                            <a:latin typeface="Cambria Math" panose="02040503050406030204" pitchFamily="18" charset="0"/>
                          </a:rPr>
                          <m:t>𝑝</m:t>
                        </m:r>
                      </m:e>
                    </m:acc>
                  </m:oMath>
                </a14:m>
                <a:r>
                  <a:rPr lang="en-US" sz="2000" dirty="0"/>
                  <a:t> and the hypothesized population proportion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0</m:t>
                        </m:r>
                      </m:sub>
                    </m:sSub>
                    <m:r>
                      <a:rPr lang="en-US" sz="2000" b="0" i="0" smtClean="0">
                        <a:latin typeface="Cambria Math" panose="02040503050406030204" pitchFamily="18" charset="0"/>
                        <a:ea typeface="Cambria Math" panose="02040503050406030204" pitchFamily="18" charset="0"/>
                      </a:rPr>
                      <m:t>.</m:t>
                    </m:r>
                  </m:oMath>
                </a14:m>
                <a:endParaRPr lang="en-US" sz="2000" dirty="0"/>
              </a:p>
              <a:p>
                <a:r>
                  <a:rPr lang="en-US" sz="2000" dirty="0"/>
                  <a:t>Care should be taken when interpreting the results of extremely large samples on hypothesis tests of the mean and proportion to ensure that any statistically significant differences between the point estimates and the hypothesized values of the parameters being tested are of </a:t>
                </a:r>
                <a:r>
                  <a:rPr lang="en-US" sz="2000" b="1" dirty="0"/>
                  <a:t>practical significance</a:t>
                </a:r>
                <a:r>
                  <a:rPr lang="en-US" sz="2000" dirty="0"/>
                  <a:t>.</a:t>
                </a:r>
              </a:p>
            </p:txBody>
          </p:sp>
        </mc:Choice>
        <mc:Fallback xmlns="">
          <p:sp>
            <p:nvSpPr>
              <p:cNvPr id="3" name="Text Placeholder 2">
                <a:extLst>
                  <a:ext uri="{FF2B5EF4-FFF2-40B4-BE49-F238E27FC236}">
                    <a16:creationId xmlns:a16="http://schemas.microsoft.com/office/drawing/2014/main" id="{9D2D5583-8B4E-2667-1F2E-A69F5B48E4D3}"/>
                  </a:ext>
                </a:extLst>
              </p:cNvPr>
              <p:cNvSpPr>
                <a:spLocks noGrp="1" noRot="1" noChangeAspect="1" noMove="1" noResize="1" noEditPoints="1" noAdjustHandles="1" noChangeArrowheads="1" noChangeShapeType="1" noTextEdit="1"/>
              </p:cNvSpPr>
              <p:nvPr>
                <p:ph type="body" sz="quarter" idx="15"/>
              </p:nvPr>
            </p:nvSpPr>
            <p:spPr>
              <a:xfrm>
                <a:off x="743576" y="1470134"/>
                <a:ext cx="10711543" cy="3917731"/>
              </a:xfrm>
              <a:blipFill>
                <a:blip r:embed="rId2"/>
                <a:stretch>
                  <a:fillRect l="-1480" t="-1866" r="-1878"/>
                </a:stretch>
              </a:blipFill>
            </p:spPr>
            <p:txBody>
              <a:bodyPr/>
              <a:lstStyle/>
              <a:p>
                <a:r>
                  <a:rPr lang="en-US">
                    <a:noFill/>
                  </a:rPr>
                  <a:t> </a:t>
                </a:r>
              </a:p>
            </p:txBody>
          </p:sp>
        </mc:Fallback>
      </mc:AlternateContent>
    </p:spTree>
    <p:extLst>
      <p:ext uri="{BB962C8B-B14F-4D97-AF65-F5344CB8AC3E}">
        <p14:creationId xmlns:p14="http://schemas.microsoft.com/office/powerpoint/2010/main" val="4207977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378252"/>
            <a:ext cx="10657500" cy="3972420"/>
          </a:xfrm>
        </p:spPr>
        <p:txBody>
          <a:bodyPr>
            <a:noAutofit/>
          </a:bodyPr>
          <a:lstStyle/>
          <a:p>
            <a:pPr>
              <a:lnSpc>
                <a:spcPct val="100000"/>
              </a:lnSpc>
            </a:pPr>
            <a:r>
              <a:rPr lang="en-US" dirty="0">
                <a:latin typeface="Arial" panose="020B0604020202020204" pitchFamily="34" charset="0"/>
                <a:cs typeface="Arial" panose="020B0604020202020204" pitchFamily="34" charset="0"/>
              </a:rPr>
              <a:t>Hypothesis testing is a statistical procedure that uses sample data to determine whether a statement about the value of a population parameter should or should not be rejected.</a:t>
            </a:r>
          </a:p>
          <a:p>
            <a:pPr>
              <a:lnSpc>
                <a:spcPct val="100000"/>
              </a:lnSpc>
            </a:pPr>
            <a:r>
              <a:rPr lang="en-US" dirty="0">
                <a:latin typeface="Arial" panose="020B0604020202020204" pitchFamily="34" charset="0"/>
                <a:cs typeface="Arial" panose="020B0604020202020204" pitchFamily="34" charset="0"/>
              </a:rPr>
              <a:t>We first provided guidelines for developing hypotheses for situations frequently encountered in practice. Then, we introduced Type I and Type II errors that occur when we reject a true </a:t>
            </a:r>
            <a:r>
              <a:rPr lang="en-US" i="1" dirty="0">
                <a:latin typeface="Arial" panose="020B0604020202020204" pitchFamily="34" charset="0"/>
                <a:cs typeface="Arial" panose="020B0604020202020204" pitchFamily="34" charset="0"/>
              </a:rPr>
              <a:t>H</a:t>
            </a:r>
            <a:r>
              <a:rPr lang="en-US" baseline="-25000" dirty="0">
                <a:latin typeface="Arial" panose="020B0604020202020204" pitchFamily="34" charset="0"/>
                <a:cs typeface="Arial" panose="020B0604020202020204" pitchFamily="34" charset="0"/>
              </a:rPr>
              <a:t>0</a:t>
            </a:r>
            <a:r>
              <a:rPr lang="en-US" dirty="0">
                <a:latin typeface="Arial" panose="020B0604020202020204" pitchFamily="34" charset="0"/>
                <a:cs typeface="Arial" panose="020B0604020202020204" pitchFamily="34" charset="0"/>
              </a:rPr>
              <a:t> or do not reject a false </a:t>
            </a:r>
            <a:r>
              <a:rPr lang="en-US" i="1" dirty="0">
                <a:latin typeface="Arial" panose="020B0604020202020204" pitchFamily="34" charset="0"/>
                <a:cs typeface="Arial" panose="020B0604020202020204" pitchFamily="34" charset="0"/>
              </a:rPr>
              <a:t>H</a:t>
            </a:r>
            <a:r>
              <a:rPr lang="en-US" baseline="-25000" dirty="0">
                <a:latin typeface="Arial" panose="020B0604020202020204" pitchFamily="34" charset="0"/>
                <a:cs typeface="Arial" panose="020B0604020202020204" pitchFamily="34" charset="0"/>
              </a:rPr>
              <a:t>0</a:t>
            </a:r>
            <a:r>
              <a:rPr lang="en-US" dirty="0">
                <a:latin typeface="Arial" panose="020B0604020202020204" pitchFamily="34" charset="0"/>
                <a:cs typeface="Arial" panose="020B0604020202020204" pitchFamily="34" charset="0"/>
              </a:rPr>
              <a:t>, respectively.</a:t>
            </a:r>
          </a:p>
          <a:p>
            <a:pPr>
              <a:lnSpc>
                <a:spcPct val="100000"/>
              </a:lnSpc>
            </a:pPr>
            <a:r>
              <a:rPr lang="en-US" dirty="0">
                <a:latin typeface="Arial" panose="020B0604020202020204" pitchFamily="34" charset="0"/>
                <a:cs typeface="Arial" panose="020B0604020202020204" pitchFamily="34" charset="0"/>
              </a:rPr>
              <a:t>Whenever historical data or other information provides a basis for assuming that </a:t>
            </a:r>
            <a:r>
              <a:rPr lang="en-US" i="1" dirty="0">
                <a:latin typeface="Symbol" panose="05050102010706020507" pitchFamily="18" charset="2"/>
                <a:cs typeface="Arial" panose="020B0604020202020204" pitchFamily="34" charset="0"/>
              </a:rPr>
              <a:t>s</a:t>
            </a:r>
            <a:r>
              <a:rPr lang="en-US" dirty="0">
                <a:latin typeface="Arial" panose="020B0604020202020204" pitchFamily="34" charset="0"/>
                <a:cs typeface="Arial" panose="020B0604020202020204" pitchFamily="34" charset="0"/>
              </a:rPr>
              <a:t> is known, the hypothesis testing procedure for </a:t>
            </a:r>
            <a:r>
              <a:rPr lang="en-US" i="1" dirty="0">
                <a:latin typeface="Symbol" panose="05050102010706020507" pitchFamily="18" charset="2"/>
                <a:cs typeface="Arial" panose="020B0604020202020204" pitchFamily="34" charset="0"/>
              </a:rPr>
              <a:t>m</a:t>
            </a:r>
            <a:r>
              <a:rPr lang="en-US" dirty="0">
                <a:latin typeface="Arial" panose="020B0604020202020204" pitchFamily="34" charset="0"/>
                <a:cs typeface="Arial" panose="020B0604020202020204" pitchFamily="34" charset="0"/>
              </a:rPr>
              <a:t> is based on the standard normal distribution. </a:t>
            </a:r>
          </a:p>
          <a:p>
            <a:pPr>
              <a:lnSpc>
                <a:spcPct val="100000"/>
              </a:lnSpc>
            </a:pPr>
            <a:r>
              <a:rPr lang="en-US" dirty="0">
                <a:latin typeface="Arial" panose="020B0604020202020204" pitchFamily="34" charset="0"/>
                <a:cs typeface="Arial" panose="020B0604020202020204" pitchFamily="34" charset="0"/>
              </a:rPr>
              <a:t>Whenever </a:t>
            </a:r>
            <a:r>
              <a:rPr lang="en-US" i="1" dirty="0">
                <a:latin typeface="Symbol" panose="05050102010706020507" pitchFamily="18" charset="2"/>
                <a:cs typeface="Arial" panose="020B0604020202020204" pitchFamily="34" charset="0"/>
              </a:rPr>
              <a:t>s</a:t>
            </a:r>
            <a:r>
              <a:rPr lang="en-US" dirty="0">
                <a:latin typeface="Arial" panose="020B0604020202020204" pitchFamily="34" charset="0"/>
                <a:cs typeface="Arial" panose="020B0604020202020204" pitchFamily="34" charset="0"/>
              </a:rPr>
              <a:t> is unknown, the sample standard deviation </a:t>
            </a:r>
            <a:r>
              <a:rPr lang="en-US" i="1"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is used to estimate </a:t>
            </a:r>
            <a:r>
              <a:rPr lang="en-US" i="1" dirty="0">
                <a:latin typeface="Symbol" panose="05050102010706020507" pitchFamily="18" charset="2"/>
                <a:cs typeface="Arial" panose="020B0604020202020204" pitchFamily="34" charset="0"/>
              </a:rPr>
              <a:t>s</a:t>
            </a:r>
            <a:r>
              <a:rPr lang="en-US" dirty="0">
                <a:latin typeface="Arial" panose="020B0604020202020204" pitchFamily="34" charset="0"/>
                <a:cs typeface="Arial" panose="020B0604020202020204" pitchFamily="34" charset="0"/>
              </a:rPr>
              <a:t> and the hypothesis testing procedure is based on the </a:t>
            </a:r>
            <a:r>
              <a:rPr lang="en-US" i="1" dirty="0">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 distribution.</a:t>
            </a:r>
          </a:p>
          <a:p>
            <a:pPr>
              <a:lnSpc>
                <a:spcPct val="100000"/>
              </a:lnSpc>
            </a:pPr>
            <a:r>
              <a:rPr lang="en-US" dirty="0">
                <a:latin typeface="Arial" panose="020B0604020202020204" pitchFamily="34" charset="0"/>
                <a:cs typeface="Arial" panose="020B0604020202020204" pitchFamily="34" charset="0"/>
              </a:rPr>
              <a:t>In all cases, the value of the test statistic is used to determine whether the null hypothesis should be rejected, either through a </a:t>
            </a:r>
            <a:r>
              <a:rPr lang="en-US" i="1"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-value or a critical value approach.</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100153</TotalTime>
  <Words>6045</Words>
  <Application>Microsoft Office PowerPoint</Application>
  <PresentationFormat>Widescreen</PresentationFormat>
  <Paragraphs>508</Paragraphs>
  <Slides>43</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Arial</vt:lpstr>
      <vt:lpstr>Calibri</vt:lpstr>
      <vt:lpstr>Cambria Math</vt:lpstr>
      <vt:lpstr>Helvetica</vt:lpstr>
      <vt:lpstr>Open Sans</vt:lpstr>
      <vt:lpstr>Summer Font</vt:lpstr>
      <vt:lpstr>Symbol</vt:lpstr>
      <vt:lpstr>Office Theme</vt:lpstr>
      <vt:lpstr>PowerPoint Presentation</vt:lpstr>
      <vt:lpstr>Chapter Contents</vt:lpstr>
      <vt:lpstr>Chapter Objectives (1 of 2)</vt:lpstr>
      <vt:lpstr>Chapter Objectives (2 of 2)</vt:lpstr>
      <vt:lpstr>Introduction</vt:lpstr>
      <vt:lpstr>9.1 Developing Null and Alternative Hypotheses</vt:lpstr>
      <vt:lpstr>9.1 The Alternative Hypothesis as a Research Hypothesis</vt:lpstr>
      <vt:lpstr>9.1 The Null Hypothesis as an Assumption to be Challenged</vt:lpstr>
      <vt:lpstr>9.1 Summary of Forms for Null and Alternative Hypotheses</vt:lpstr>
      <vt:lpstr>9.2 Type I and Type II Errors</vt:lpstr>
      <vt:lpstr>9.2 Example of Type I and Type II Errors</vt:lpstr>
      <vt:lpstr>9.3 Population Mean: σ Known</vt:lpstr>
      <vt:lpstr>9.3 One-Tailed Test About a Population Mean</vt:lpstr>
      <vt:lpstr>9.3 Test Statistic for the Hilltop Coffee Example (Population Mean: s Known)</vt:lpstr>
      <vt:lpstr>9.3 p-Value Approach to a Lower Tail Test About a  Population Mean: s Known</vt:lpstr>
      <vt:lpstr>9.3 Rejection Rule Using p-Value</vt:lpstr>
      <vt:lpstr>9.3 Rejection Rule Using Critical Value for a One-Tailed Test</vt:lpstr>
      <vt:lpstr>9.3 Two-Tailed Test About a Population Mean</vt:lpstr>
      <vt:lpstr>9.3 Test Statistic for the MaxFlight Example (Population Mean: s Known)</vt:lpstr>
      <vt:lpstr>9.3 p-Value Approach to a Two-Tailed Test</vt:lpstr>
      <vt:lpstr>9.3 Rejection Rule Using Critical Value for a Two-Tailed Test</vt:lpstr>
      <vt:lpstr>9.3 Excel: Conduct a Hypothesis Test</vt:lpstr>
      <vt:lpstr>9.3 Summary of Hypothesis Tests About a Population Mean: s  Known Case</vt:lpstr>
      <vt:lpstr>9.3 A Confidence Interval Approach to the Testing of a Hypothesis </vt:lpstr>
      <vt:lpstr>9.4 Population Mean: σ Unknown</vt:lpstr>
      <vt:lpstr>9.4 A One-Tailed Test Example About a Population Mean</vt:lpstr>
      <vt:lpstr>9.4 Test Statistic for the Air Ratings Example (Population Mean: s Unknown)</vt:lpstr>
      <vt:lpstr>9.4 p-Value Approach to a One-Tailed Test About a Population Mean: s Unknown</vt:lpstr>
      <vt:lpstr>9.4 Critical Value Approach to a One-Tailed Test About a Population Mean: s Unknown</vt:lpstr>
      <vt:lpstr>9.4 Two-Tailed Test Example About a Population Mean</vt:lpstr>
      <vt:lpstr>9.4 p-Value Approach to a Two-Tailed Test About a Population Mean: s Unknown</vt:lpstr>
      <vt:lpstr>9.4 Critical Value Approach to a Two-Tailed Test About a Population Mean: s Unknown</vt:lpstr>
      <vt:lpstr>9.4 Excel: Conduct a Hypothesis Test</vt:lpstr>
      <vt:lpstr>9.4 Summary of Hypothesis Tests About a Population Mean: s  Unknown Case</vt:lpstr>
      <vt:lpstr>9.5 Population Proportion</vt:lpstr>
      <vt:lpstr>9.5 A Hypothesis Test About a Population Proportion</vt:lpstr>
      <vt:lpstr>9.5 Test Statistic for a Population Proportion</vt:lpstr>
      <vt:lpstr>9.5 p-Value Approach to a One-Tailed Test About a Population Proportion  </vt:lpstr>
      <vt:lpstr>9.5 Critical Value Approach to a One-Tailed Test About a Population Proportion  </vt:lpstr>
      <vt:lpstr>9.5 Excel: Conduct a Hypothesis Test</vt:lpstr>
      <vt:lpstr>9.5 Summary of Hypothesis Tests About a Population Proportion</vt:lpstr>
      <vt:lpstr>9.6 Practical Advice: Big Data and Hypothesis Testing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2505</cp:revision>
  <cp:lastPrinted>2016-10-03T15:29:39Z</cp:lastPrinted>
  <dcterms:created xsi:type="dcterms:W3CDTF">2019-11-14T21:20:16Z</dcterms:created>
  <dcterms:modified xsi:type="dcterms:W3CDTF">2025-12-18T16:13:01Z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