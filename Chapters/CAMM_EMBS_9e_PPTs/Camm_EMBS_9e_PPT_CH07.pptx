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handoutMasterIdLst>
    <p:handoutMasterId r:id="rId41"/>
  </p:handoutMasterIdLst>
  <p:sldIdLst>
    <p:sldId id="642" r:id="rId5"/>
    <p:sldId id="524" r:id="rId6"/>
    <p:sldId id="548" r:id="rId7"/>
    <p:sldId id="597" r:id="rId8"/>
    <p:sldId id="596" r:id="rId9"/>
    <p:sldId id="598" r:id="rId10"/>
    <p:sldId id="631" r:id="rId11"/>
    <p:sldId id="632" r:id="rId12"/>
    <p:sldId id="633" r:id="rId13"/>
    <p:sldId id="605" r:id="rId14"/>
    <p:sldId id="634" r:id="rId15"/>
    <p:sldId id="606" r:id="rId16"/>
    <p:sldId id="607" r:id="rId17"/>
    <p:sldId id="608" r:id="rId18"/>
    <p:sldId id="635" r:id="rId19"/>
    <p:sldId id="427" r:id="rId20"/>
    <p:sldId id="610" r:id="rId21"/>
    <p:sldId id="638" r:id="rId22"/>
    <p:sldId id="636" r:id="rId23"/>
    <p:sldId id="637" r:id="rId24"/>
    <p:sldId id="613" r:id="rId25"/>
    <p:sldId id="614" r:id="rId26"/>
    <p:sldId id="615" r:id="rId27"/>
    <p:sldId id="639" r:id="rId28"/>
    <p:sldId id="618" r:id="rId29"/>
    <p:sldId id="640" r:id="rId30"/>
    <p:sldId id="622" r:id="rId31"/>
    <p:sldId id="623" r:id="rId32"/>
    <p:sldId id="624" r:id="rId33"/>
    <p:sldId id="625" r:id="rId34"/>
    <p:sldId id="626" r:id="rId35"/>
    <p:sldId id="641" r:id="rId36"/>
    <p:sldId id="627" r:id="rId37"/>
    <p:sldId id="630" r:id="rId38"/>
    <p:sldId id="523" r:id="rId3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4DE"/>
    <a:srgbClr val="25894E"/>
    <a:srgbClr val="D14B1E"/>
    <a:srgbClr val="FF6300"/>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7" d="100"/>
          <a:sy n="57" d="100"/>
        </p:scale>
        <p:origin x="80" y="60"/>
      </p:cViewPr>
      <p:guideLst>
        <p:guide orient="horz" pos="2160"/>
        <p:guide pos="3840"/>
      </p:guideLst>
    </p:cSldViewPr>
  </p:slideViewPr>
  <p:outlineViewPr>
    <p:cViewPr>
      <p:scale>
        <a:sx n="33" d="100"/>
        <a:sy n="33" d="100"/>
      </p:scale>
      <p:origin x="0" y="-45028"/>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3232881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In this section we have been careful to define two types of samples: a simple random sample from a finite population and a random sample from an infinite population. In the re­mainder of the text, we will generally refer to both of these as either a random sample or simply a sample. We will not make a distinction of the sample being a “simple” random sample unless it is necessary for the exercise or discussion.</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3037184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2871718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t>a different sample would have resulted in different point estimates.</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3551938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a:t>
                </a:r>
                <a:r>
                  <a:rPr lang="en-US" baseline="0" dirty="0"/>
                  <a:t> </a:t>
                </a:r>
                <a:r>
                  <a:rPr lang="en-US" dirty="0"/>
                  <a:t>:</a:t>
                </a:r>
                <a:r>
                  <a:rPr lang="en-US" sz="1800" dirty="0">
                    <a:latin typeface="Calibri" panose="020F0502020204030204" pitchFamily="34" charset="0"/>
                  </a:rPr>
                  <a:t>We refer to the standard deviation of </a:t>
                </a:r>
                <a14:m>
                  <m:oMath xmlns:m="http://schemas.openxmlformats.org/officeDocument/2006/math">
                    <m:acc>
                      <m:accPr>
                        <m:chr m:val="̅"/>
                        <m:ctrlPr>
                          <a:rPr lang="en-US" sz="1800" i="1" smtClean="0">
                            <a:latin typeface="Cambria Math" panose="02040503050406030204" pitchFamily="18" charset="0"/>
                          </a:rPr>
                        </m:ctrlPr>
                      </m:accPr>
                      <m:e>
                        <m:r>
                          <a:rPr lang="en-US" sz="1800" b="0" i="1">
                            <a:latin typeface="Cambria Math" panose="02040503050406030204" pitchFamily="18" charset="0"/>
                          </a:rPr>
                          <m:t>𝑥</m:t>
                        </m:r>
                      </m:e>
                    </m:acc>
                  </m:oMath>
                </a14:m>
                <a:r>
                  <a:rPr lang="en-US" sz="1800" dirty="0">
                    <a:latin typeface="Calibri" panose="020F0502020204030204" pitchFamily="34" charset="0"/>
                  </a:rPr>
                  <a:t>, </a:t>
                </a:r>
                <a14:m>
                  <m:oMath xmlns:m="http://schemas.openxmlformats.org/officeDocument/2006/math">
                    <m:sSub>
                      <m:sSubPr>
                        <m:ctrlPr>
                          <a:rPr lang="en-US" sz="1800" i="1" smtClean="0">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𝜎</m:t>
                        </m:r>
                      </m:e>
                      <m:sub>
                        <m:acc>
                          <m:accPr>
                            <m:chr m:val="̅"/>
                            <m:ctrlPr>
                              <a:rPr lang="en-US" sz="1800" i="1">
                                <a:latin typeface="Cambria Math" panose="02040503050406030204" pitchFamily="18" charset="0"/>
                              </a:rPr>
                            </m:ctrlPr>
                          </m:accPr>
                          <m:e>
                            <m:r>
                              <a:rPr lang="en-US" sz="1800" i="1">
                                <a:latin typeface="Cambria Math" panose="02040503050406030204" pitchFamily="18" charset="0"/>
                              </a:rPr>
                              <m:t>𝑥</m:t>
                            </m:r>
                          </m:e>
                        </m:acc>
                      </m:sub>
                    </m:sSub>
                  </m:oMath>
                </a14:m>
                <a:r>
                  <a:rPr lang="en-US" sz="1800" dirty="0">
                    <a:latin typeface="Calibri" panose="020F0502020204030204" pitchFamily="34" charset="0"/>
                  </a:rPr>
                  <a:t>, as the standard error of the mean. In general, the term standard error refers to the standard deviation of a point estimator. Later we will see that the value of the standard error of the mean is helpful in determining how far the sample mean is from the population mean.</a:t>
                </a:r>
                <a:endParaRPr lang="en-US" dirty="0"/>
              </a:p>
            </p:txBody>
          </p:sp>
        </mc:Choice>
        <mc:Fallback xmlns="">
          <p:sp>
            <p:nvSpPr>
              <p:cNvPr id="3" name="Notes Placeholder 2"/>
              <p:cNvSpPr>
                <a:spLocks noGrp="1"/>
              </p:cNvSpPr>
              <p:nvPr>
                <p:ph type="body" idx="1"/>
              </p:nvPr>
            </p:nvSpPr>
            <p:spPr/>
            <p:txBody>
              <a:bodyPr/>
              <a:lstStyle/>
              <a:p>
                <a:r>
                  <a:rPr lang="en-US" dirty="0"/>
                  <a:t>Notes</a:t>
                </a:r>
              </a:p>
              <a:p>
                <a:r>
                  <a:rPr lang="en-US" dirty="0"/>
                  <a:t>*:</a:t>
                </a:r>
                <a:r>
                  <a:rPr lang="en-US" sz="1800" dirty="0">
                    <a:latin typeface="Calibri" panose="020F0502020204030204" pitchFamily="34" charset="0"/>
                  </a:rPr>
                  <a:t>We refer to the standard deviation of </a:t>
                </a:r>
                <a:r>
                  <a:rPr lang="en-US" sz="1800" b="0" i="0">
                    <a:latin typeface="Cambria Math" panose="02040503050406030204" pitchFamily="18" charset="0"/>
                  </a:rPr>
                  <a:t>𝑥 ̅</a:t>
                </a:r>
                <a:r>
                  <a:rPr lang="en-US" sz="1800" dirty="0">
                    <a:latin typeface="Calibri" panose="020F0502020204030204" pitchFamily="34" charset="0"/>
                  </a:rPr>
                  <a:t>, </a:t>
                </a:r>
                <a:r>
                  <a:rPr lang="en-US" sz="1800" i="0">
                    <a:latin typeface="Cambria Math" panose="02040503050406030204" pitchFamily="18" charset="0"/>
                    <a:ea typeface="Cambria Math" panose="02040503050406030204" pitchFamily="18" charset="0"/>
                  </a:rPr>
                  <a:t>𝜎_</a:t>
                </a:r>
                <a:r>
                  <a:rPr lang="en-US" sz="1800" i="0">
                    <a:latin typeface="Cambria Math" panose="02040503050406030204" pitchFamily="18" charset="0"/>
                  </a:rPr>
                  <a:t>𝑥 ̅ </a:t>
                </a:r>
                <a:r>
                  <a:rPr lang="en-US" sz="1800" dirty="0">
                    <a:latin typeface="Calibri" panose="020F0502020204030204" pitchFamily="34" charset="0"/>
                  </a:rPr>
                  <a:t>, as the standard error of the mean. In general, the term standard error refers to the standard deviation of a point estimator. Later we will see that the value of the standard error of the mean is helpful in determining how far the sample mean is from the population mean.</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3233015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Rot="1" noChangeAspect="1" noChangeArrowheads="1" noTextEdit="1"/>
          </p:cNvSpPr>
          <p:nvPr>
            <p:ph type="sldImg"/>
          </p:nvPr>
        </p:nvSpPr>
        <p:spPr>
          <a:xfrm>
            <a:off x="393700" y="692150"/>
            <a:ext cx="6070600" cy="3416300"/>
          </a:xfrm>
          <a:ln/>
        </p:spPr>
      </p:sp>
      <p:sp>
        <p:nvSpPr>
          <p:cNvPr id="4352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66146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1535861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14:m>
                  <m:oMath xmlns:m="http://schemas.openxmlformats.org/officeDocument/2006/math">
                    <m:acc>
                      <m:accPr>
                        <m:chr m:val="̅"/>
                        <m:ctrlPr>
                          <a:rPr lang="en-US" sz="1200" i="1" smtClean="0">
                            <a:latin typeface="Cambria Math" panose="02040503050406030204" pitchFamily="18" charset="0"/>
                          </a:rPr>
                        </m:ctrlPr>
                      </m:accPr>
                      <m:e>
                        <m:r>
                          <a:rPr lang="en-US" sz="1200" b="0" i="1" smtClean="0">
                            <a:latin typeface="Cambria Math" panose="02040503050406030204" pitchFamily="18" charset="0"/>
                          </a:rPr>
                          <m:t>𝑝</m:t>
                        </m:r>
                      </m:e>
                    </m:acc>
                    <m:r>
                      <a:rPr lang="en-US" sz="1200" b="0" i="1" smtClean="0">
                        <a:latin typeface="Cambria Math" panose="02040503050406030204" pitchFamily="18" charset="0"/>
                      </a:rPr>
                      <m:t>=</m:t>
                    </m:r>
                    <m:f>
                      <m:fPr>
                        <m:type m:val="lin"/>
                        <m:ctrlPr>
                          <a:rPr lang="en-US" sz="1200" b="0" i="1" smtClean="0">
                            <a:latin typeface="Cambria Math" panose="02040503050406030204" pitchFamily="18" charset="0"/>
                          </a:rPr>
                        </m:ctrlPr>
                      </m:fPr>
                      <m:num>
                        <m:r>
                          <a:rPr lang="en-US" sz="1200" b="0" i="1" smtClean="0">
                            <a:latin typeface="Cambria Math" panose="02040503050406030204" pitchFamily="18" charset="0"/>
                          </a:rPr>
                          <m:t>𝑥</m:t>
                        </m:r>
                      </m:num>
                      <m:den>
                        <m:r>
                          <a:rPr lang="en-US" sz="1200" b="0" i="1" smtClean="0">
                            <a:latin typeface="Cambria Math" panose="02040503050406030204" pitchFamily="18" charset="0"/>
                          </a:rPr>
                          <m:t>𝑛</m:t>
                        </m:r>
                      </m:den>
                    </m:f>
                  </m:oMath>
                </a14:m>
                <a:r>
                  <a:rPr lang="en-US" sz="1200" dirty="0"/>
                  <a:t> is the sample proportion, the point estimator of the population proportion </a:t>
                </a:r>
                <a14:m>
                  <m:oMath xmlns:m="http://schemas.openxmlformats.org/officeDocument/2006/math">
                    <m:r>
                      <a:rPr lang="en-US" sz="1200" i="1" dirty="0" smtClean="0">
                        <a:latin typeface="Cambria Math" panose="02040503050406030204" pitchFamily="18" charset="0"/>
                      </a:rPr>
                      <m:t>𝑝</m:t>
                    </m:r>
                  </m:oMath>
                </a14:m>
                <a:r>
                  <a:rPr lang="en-US" sz="1200" i="1" dirty="0"/>
                  <a:t>, </a:t>
                </a:r>
                <a:r>
                  <a:rPr lang="en-US" sz="1200" dirty="0"/>
                  <a:t>with</a:t>
                </a:r>
                <a:r>
                  <a:rPr lang="en-US" sz="1200" i="1" dirty="0"/>
                  <a:t> </a:t>
                </a:r>
                <a14:m>
                  <m:oMath xmlns:m="http://schemas.openxmlformats.org/officeDocument/2006/math">
                    <m:r>
                      <a:rPr lang="en-US" sz="1200" i="1" dirty="0" smtClean="0">
                        <a:latin typeface="Cambria Math" panose="02040503050406030204" pitchFamily="18" charset="0"/>
                      </a:rPr>
                      <m:t>𝑥</m:t>
                    </m:r>
                  </m:oMath>
                </a14:m>
                <a:r>
                  <a:rPr lang="en-US" sz="1200" dirty="0"/>
                  <a:t> the number of elements in the sample that possess the characteristic of interest.</a:t>
                </a:r>
              </a:p>
              <a:p>
                <a:endParaRPr lang="en-US" dirty="0"/>
              </a:p>
            </p:txBody>
          </p:sp>
        </mc:Choice>
        <mc:Fallback xmlns="">
          <p:sp>
            <p:nvSpPr>
              <p:cNvPr id="3" name="Notes Placeholder 2"/>
              <p:cNvSpPr>
                <a:spLocks noGrp="1"/>
              </p:cNvSpPr>
              <p:nvPr>
                <p:ph type="body" idx="1"/>
              </p:nvPr>
            </p:nvSpPr>
            <p:spPr/>
            <p:txBody>
              <a:bodyPr/>
              <a:lstStyle/>
              <a:p>
                <a:r>
                  <a:rPr lang="en-US" dirty="0"/>
                  <a:t>Notes:</a:t>
                </a:r>
              </a:p>
              <a:p>
                <a:r>
                  <a:rPr lang="en-US" b="0" i="0" dirty="0">
                    <a:effectLst/>
                    <a:latin typeface="Times New Roman" panose="02020603050405020304" pitchFamily="18" charset="0"/>
                  </a:rPr>
                  <a:t>Just as we used the term standard </a:t>
                </a:r>
                <a:r>
                  <a:rPr lang="en-US" b="0" i="0" dirty="0">
                    <a:effectLst/>
                    <a:latin typeface="inherit"/>
                  </a:rPr>
                  <a:t>error </a:t>
                </a:r>
                <a:r>
                  <a:rPr lang="en-US" b="0" i="0" dirty="0">
                    <a:effectLst/>
                    <a:latin typeface="Times New Roman" panose="02020603050405020304" pitchFamily="18" charset="0"/>
                  </a:rPr>
                  <a:t>of the mean to refer to the standard deviation of </a:t>
                </a:r>
                <a:r>
                  <a:rPr lang="en-US" sz="1200" b="0" i="0">
                    <a:latin typeface="Cambria Math" panose="02040503050406030204" pitchFamily="18" charset="0"/>
                  </a:rPr>
                  <a:t>𝑥 ̅, </a:t>
                </a:r>
                <a:r>
                  <a:rPr lang="en-US" b="0" i="0" dirty="0">
                    <a:effectLst/>
                    <a:latin typeface="Times New Roman" panose="02020603050405020304" pitchFamily="18" charset="0"/>
                  </a:rPr>
                  <a:t>here for proportions we </a:t>
                </a:r>
                <a:r>
                  <a:rPr lang="en-US" b="0" i="0" dirty="0" err="1">
                    <a:effectLst/>
                    <a:latin typeface="Times New Roman" panose="02020603050405020304" pitchFamily="18" charset="0"/>
                  </a:rPr>
                  <a:t>uthe</a:t>
                </a:r>
                <a:r>
                  <a:rPr lang="en-US" b="0" i="0" dirty="0">
                    <a:effectLst/>
                    <a:latin typeface="Times New Roman" panose="02020603050405020304" pitchFamily="18" charset="0"/>
                  </a:rPr>
                  <a:t> se standard </a:t>
                </a:r>
                <a:r>
                  <a:rPr lang="en-US" b="0" i="0" dirty="0">
                    <a:effectLst/>
                    <a:latin typeface="inherit"/>
                  </a:rPr>
                  <a:t>error</a:t>
                </a:r>
                <a:r>
                  <a:rPr lang="en-US" b="0" i="0" dirty="0">
                    <a:effectLst/>
                    <a:latin typeface="Times New Roman" panose="02020603050405020304" pitchFamily="18" charset="0"/>
                  </a:rPr>
                  <a:t> of the proportion to refer to the standard deviation of </a:t>
                </a:r>
                <a:r>
                  <a:rPr lang="en-US" sz="1200" b="0" i="0">
                    <a:latin typeface="Cambria Math" panose="02040503050406030204" pitchFamily="18" charset="0"/>
                  </a:rPr>
                  <a:t>𝑝 ̅</a:t>
                </a:r>
                <a:r>
                  <a:rPr lang="en-US" b="0" i="0" dirty="0">
                    <a:effectLst/>
                    <a:latin typeface="Times New Roman" panose="02020603050405020304" pitchFamily="18" charset="0"/>
                  </a:rPr>
                  <a:t>. Remember that in general, the term standard </a:t>
                </a:r>
                <a:r>
                  <a:rPr lang="en-US" b="0" i="0" dirty="0">
                    <a:effectLst/>
                    <a:latin typeface="inherit"/>
                  </a:rPr>
                  <a:t>error</a:t>
                </a:r>
                <a:r>
                  <a:rPr lang="en-US" b="0" i="0" dirty="0">
                    <a:effectLst/>
                    <a:latin typeface="Times New Roman" panose="02020603050405020304" pitchFamily="18" charset="0"/>
                  </a:rPr>
                  <a:t> refers to the standard deviation of a point estimator. </a:t>
                </a:r>
                <a:endParaRPr lang="en-US" dirty="0"/>
              </a:p>
              <a:p>
                <a:r>
                  <a:rPr lang="en-US" dirty="0"/>
                  <a:t>Because for the EAI study, N = 2,500 and n = 30, we have n/N = 0.012, which is less than 0.05. Thus, we calculate the standard error of </a:t>
                </a:r>
                <a:r>
                  <a:rPr lang="en-US" sz="1200" b="1" i="0">
                    <a:latin typeface="Cambria Math" panose="02040503050406030204" pitchFamily="18" charset="0"/>
                  </a:rPr>
                  <a:t>𝒑 ̅</a:t>
                </a:r>
                <a:r>
                  <a:rPr lang="en-US" dirty="0"/>
                  <a:t> using the infinite population formula.</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288406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Rot="1" noChangeAspect="1" noChangeArrowheads="1" noTextEdit="1"/>
          </p:cNvSpPr>
          <p:nvPr>
            <p:ph type="sldImg"/>
          </p:nvPr>
        </p:nvSpPr>
        <p:spPr>
          <a:xfrm>
            <a:off x="393700" y="692150"/>
            <a:ext cx="6070600" cy="3416300"/>
          </a:xfrm>
          <a:ln/>
        </p:spPr>
      </p:sp>
      <p:sp>
        <p:nvSpPr>
          <p:cNvPr id="4352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90821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We can approximate the binomial distribution of </a:t>
                </a:r>
                <a14:m>
                  <m:oMath xmlns:m="http://schemas.openxmlformats.org/officeDocument/2006/math">
                    <m:acc>
                      <m:accPr>
                        <m:chr m:val="̅"/>
                        <m:ctrlPr>
                          <a:rPr lang="en-US" sz="1200" b="0" i="1" smtClean="0">
                            <a:latin typeface="Cambria Math" panose="02040503050406030204" pitchFamily="18" charset="0"/>
                          </a:rPr>
                        </m:ctrlPr>
                      </m:accPr>
                      <m:e>
                        <m:r>
                          <a:rPr lang="en-US" i="1">
                            <a:latin typeface="Cambria Math" panose="02040503050406030204" pitchFamily="18" charset="0"/>
                          </a:rPr>
                          <m:t>𝑝</m:t>
                        </m:r>
                      </m:e>
                    </m:acc>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with a normal distribution because </a:t>
                </a:r>
                <a14:m>
                  <m:oMath xmlns:m="http://schemas.openxmlformats.org/officeDocument/2006/math">
                    <m:r>
                      <a:rPr lang="en-US" b="0" i="1" smtClean="0">
                        <a:latin typeface="Cambria Math" panose="02040503050406030204" pitchFamily="18" charset="0"/>
                        <a:cs typeface="Arial" panose="020B0604020202020204" pitchFamily="34" charset="0"/>
                      </a:rPr>
                      <m:t>𝑛𝑝</m:t>
                    </m:r>
                    <m:r>
                      <a:rPr lang="en-US" b="0" i="1" smtClean="0">
                        <a:latin typeface="Cambria Math" panose="02040503050406030204" pitchFamily="18" charset="0"/>
                        <a:cs typeface="Arial" panose="020B0604020202020204" pitchFamily="34" charset="0"/>
                      </a:rPr>
                      <m:t>=30</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0.6</m:t>
                        </m:r>
                      </m:e>
                    </m:d>
                    <m:r>
                      <a:rPr lang="en-US" b="0" i="1" smtClean="0">
                        <a:latin typeface="Cambria Math" panose="02040503050406030204" pitchFamily="18" charset="0"/>
                        <a:cs typeface="Arial" panose="020B0604020202020204" pitchFamily="34" charset="0"/>
                      </a:rPr>
                      <m:t>=18&gt;5</m:t>
                    </m:r>
                  </m:oMath>
                </a14:m>
                <a:r>
                  <a:rPr lang="en-US" b="0" dirty="0"/>
                  <a:t> and </a:t>
                </a:r>
                <a14:m>
                  <m:oMath xmlns:m="http://schemas.openxmlformats.org/officeDocument/2006/math">
                    <m:r>
                      <a:rPr lang="en-US" b="0" i="1" smtClean="0">
                        <a:latin typeface="Cambria Math" panose="02040503050406030204" pitchFamily="18" charset="0"/>
                        <a:cs typeface="Arial" panose="020B0604020202020204" pitchFamily="34" charset="0"/>
                      </a:rPr>
                      <m:t>𝑛</m:t>
                    </m:r>
                    <m:r>
                      <a:rPr lang="en-US" b="0" i="1"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cs typeface="Arial" panose="020B0604020202020204" pitchFamily="34" charset="0"/>
                      </a:rPr>
                      <m:t>𝑝</m:t>
                    </m:r>
                    <m:r>
                      <a:rPr lang="en-US" b="0" i="1" smtClean="0">
                        <a:latin typeface="Cambria Math" panose="02040503050406030204" pitchFamily="18" charset="0"/>
                        <a:cs typeface="Arial" panose="020B0604020202020204" pitchFamily="34" charset="0"/>
                      </a:rPr>
                      <m:t>)=30</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1−0.6</m:t>
                        </m:r>
                      </m:e>
                    </m:d>
                    <m:r>
                      <a:rPr lang="en-US" b="0" i="1" smtClean="0">
                        <a:latin typeface="Cambria Math" panose="02040503050406030204" pitchFamily="18" charset="0"/>
                        <a:cs typeface="Arial" panose="020B0604020202020204" pitchFamily="34" charset="0"/>
                      </a:rPr>
                      <m:t>=12&gt;5</m:t>
                    </m:r>
                  </m:oMath>
                </a14:m>
                <a:r>
                  <a:rPr lang="en-US" b="0" dirty="0"/>
                  <a:t>.</a:t>
                </a:r>
              </a:p>
            </p:txBody>
          </p:sp>
        </mc:Choice>
        <mc:Fallback xmlns="">
          <p:sp>
            <p:nvSpPr>
              <p:cNvPr id="3" name="Notes Placeholder 2"/>
              <p:cNvSpPr>
                <a:spLocks noGrp="1"/>
              </p:cNvSpPr>
              <p:nvPr>
                <p:ph type="body" idx="1"/>
              </p:nvPr>
            </p:nvSpPr>
            <p:spPr/>
            <p:txBody>
              <a:bodyPr/>
              <a:lstStyle/>
              <a:p>
                <a:r>
                  <a:rPr lang="en-US" dirty="0"/>
                  <a:t>Note: We can approximate the binomial distribution of </a:t>
                </a:r>
                <a:r>
                  <a:rPr lang="en-US" i="0">
                    <a:latin typeface="Cambria Math" panose="02040503050406030204" pitchFamily="18" charset="0"/>
                  </a:rPr>
                  <a:t>𝑝</a:t>
                </a:r>
                <a:r>
                  <a:rPr lang="en-US" sz="1200" b="0" i="0">
                    <a:latin typeface="Cambria Math" panose="02040503050406030204" pitchFamily="18" charset="0"/>
                  </a:rPr>
                  <a:t> ̅</a:t>
                </a:r>
                <a:r>
                  <a:rPr lang="en-US" b="0" i="0">
                    <a:latin typeface="Cambria Math" panose="02040503050406030204" pitchFamily="18" charset="0"/>
                  </a:rPr>
                  <a:t>=𝑥/𝑛</a:t>
                </a:r>
                <a:r>
                  <a:rPr lang="en-US" dirty="0"/>
                  <a:t> with a normal distribution because </a:t>
                </a:r>
                <a:r>
                  <a:rPr lang="en-US" b="0" i="0">
                    <a:latin typeface="Cambria Math" panose="02040503050406030204" pitchFamily="18" charset="0"/>
                    <a:cs typeface="Arial" panose="020B0604020202020204" pitchFamily="34" charset="0"/>
                  </a:rPr>
                  <a:t>𝑛𝑝=30(0.6)=18&gt;5</a:t>
                </a:r>
                <a:r>
                  <a:rPr lang="en-US" b="0" dirty="0"/>
                  <a:t> and </a:t>
                </a:r>
                <a:r>
                  <a:rPr lang="en-US" b="0" i="0">
                    <a:latin typeface="Cambria Math" panose="02040503050406030204" pitchFamily="18" charset="0"/>
                    <a:cs typeface="Arial" panose="020B0604020202020204" pitchFamily="34" charset="0"/>
                  </a:rPr>
                  <a:t>𝑛(1−𝑝)=30(1−0.6)=12&gt;5</a:t>
                </a:r>
                <a:r>
                  <a:rPr lang="en-US" b="0" dirty="0"/>
                  <a:t>.</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1957585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We recommend using probability sampling methods when sampling from finite populations: simple random sampling, stratified random sampling, cluster sampling, or systematic sampling. For these methods, formulas are available for eval­uating the “goodness” of the sample results in terms of the closeness of the results to the population parameters being estimated. An evaluation of the goodness cannot be made with convenience or judgment sampling. Thus, great care should be taken in interpreting the results based on nonprob­ability sampling methods.</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35805342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10.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0.pn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310.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C8B017-693E-6E74-94B4-D720BDA803EC}"/>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3FECD668-A6D8-C094-ABD9-36DCC83384F4}"/>
              </a:ext>
            </a:extLst>
          </p:cNvPr>
          <p:cNvPicPr>
            <a:picLocks noChangeAspect="1"/>
          </p:cNvPicPr>
          <p:nvPr/>
        </p:nvPicPr>
        <p:blipFill>
          <a:blip r:embed="rId2"/>
          <a:stretch>
            <a:fillRect/>
          </a:stretch>
        </p:blipFill>
        <p:spPr>
          <a:xfrm>
            <a:off x="0" y="0"/>
            <a:ext cx="12191999" cy="7006728"/>
          </a:xfrm>
          <a:prstGeom prst="rect">
            <a:avLst/>
          </a:prstGeom>
        </p:spPr>
      </p:pic>
    </p:spTree>
    <p:extLst>
      <p:ext uri="{BB962C8B-B14F-4D97-AF65-F5344CB8AC3E}">
        <p14:creationId xmlns:p14="http://schemas.microsoft.com/office/powerpoint/2010/main" val="196521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338146"/>
                <a:ext cx="10711543" cy="4304371"/>
              </a:xfrm>
            </p:spPr>
            <p:txBody>
              <a:bodyPr/>
              <a:lstStyle/>
              <a:p>
                <a:pPr marL="1371600" indent="-914400"/>
                <a:r>
                  <a:rPr lang="en-US" sz="2000" dirty="0"/>
                  <a:t>7.1	The Electronics Associates Sampling Problem</a:t>
                </a:r>
              </a:p>
              <a:p>
                <a:pPr marL="1371600" indent="-914400"/>
                <a:r>
                  <a:rPr lang="en-US" sz="2000" dirty="0"/>
                  <a:t>7.2	Selecting a Sample</a:t>
                </a:r>
              </a:p>
              <a:p>
                <a:pPr marL="1371600" indent="-914400"/>
                <a:r>
                  <a:rPr lang="en-US" sz="2000" dirty="0"/>
                  <a:t>7.3	Point Estimation</a:t>
                </a:r>
              </a:p>
              <a:p>
                <a:pPr marL="1371600" indent="-914400"/>
                <a:r>
                  <a:rPr lang="en-US" sz="2000" dirty="0"/>
                  <a:t>7.4	Introduction to Sampling Distributions</a:t>
                </a:r>
              </a:p>
              <a:p>
                <a:pPr marL="1371600" indent="-914400"/>
                <a:r>
                  <a:rPr lang="en-US" sz="2000" dirty="0"/>
                  <a:t>7.5	Sampling Distribution of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endParaRPr lang="en-US" sz="2000" dirty="0"/>
              </a:p>
              <a:p>
                <a:pPr marL="1371600" indent="-914400"/>
                <a:r>
                  <a:rPr lang="en-US" sz="2000" dirty="0"/>
                  <a:t>7.6	Sampling Distribution of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oMath>
                </a14:m>
                <a:endParaRPr lang="en-US" sz="2000" dirty="0"/>
              </a:p>
              <a:p>
                <a:pPr marL="1371600" indent="-914400"/>
                <a:r>
                  <a:rPr lang="en-US" sz="2000" dirty="0"/>
                  <a:t>7.7	Other Sampling Methods</a:t>
                </a:r>
              </a:p>
              <a:p>
                <a:pPr marL="1371600" indent="-914400"/>
                <a:r>
                  <a:rPr lang="en-US" sz="2000" dirty="0"/>
                  <a:t>7.8	Big Data and Standard Errors of Sampling Distributions</a:t>
                </a:r>
              </a:p>
              <a:p>
                <a:pPr marL="1371600" indent="-914400"/>
                <a:r>
                  <a:rPr lang="en-US" sz="2000" dirty="0"/>
                  <a:t>	Summary</a:t>
                </a:r>
              </a:p>
              <a:p>
                <a:pPr marL="914400" indent="-914400">
                  <a:spcBef>
                    <a:spcPts val="600"/>
                  </a:spcBef>
                </a:pPr>
                <a:endParaRPr lang="en-US" sz="1800" dirty="0"/>
              </a:p>
            </p:txBody>
          </p:sp>
        </mc:Choice>
        <mc:Fallback xmlns="">
          <p:sp>
            <p:nvSpPr>
              <p:cNvPr id="4" name="Text Placeholder 3">
                <a:extLst>
                  <a:ext uri="{FF2B5EF4-FFF2-40B4-BE49-F238E27FC236}">
                    <a16:creationId xmlns:a16="http://schemas.microsoft.com/office/drawing/2014/main" id="{C9A0ABD4-C052-4227-B2EE-3395C907212B}"/>
                  </a:ext>
                </a:extLst>
              </p:cNvPr>
              <p:cNvSpPr>
                <a:spLocks noGrp="1" noRot="1" noChangeAspect="1" noMove="1" noResize="1" noEditPoints="1" noAdjustHandles="1" noChangeArrowheads="1" noChangeShapeType="1" noTextEdit="1"/>
              </p:cNvSpPr>
              <p:nvPr>
                <p:ph type="body" sz="quarter" idx="15"/>
              </p:nvPr>
            </p:nvSpPr>
            <p:spPr>
              <a:xfrm>
                <a:off x="743576" y="1338146"/>
                <a:ext cx="10711543" cy="4304371"/>
              </a:xfrm>
              <a:blipFill>
                <a:blip r:embed="rId2"/>
                <a:stretch>
                  <a:fillRect t="-1700"/>
                </a:stretch>
              </a:blipFill>
            </p:spPr>
            <p:txBody>
              <a:bodyPr/>
              <a:lstStyle/>
              <a:p>
                <a:r>
                  <a:rPr lang="en-US">
                    <a:noFill/>
                  </a:rPr>
                  <a:t> </a:t>
                </a:r>
              </a:p>
            </p:txBody>
          </p:sp>
        </mc:Fallback>
      </mc:AlternateContent>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mc:AlternateContent xmlns:mc="http://schemas.openxmlformats.org/markup-compatibility/2006" xmlns:a14="http://schemas.microsoft.com/office/drawing/2010/main">
        <mc:Choice Requires="a14">
          <p:sp>
            <p:nvSpPr>
              <p:cNvPr id="2" name="Text Placeholder 1"/>
              <p:cNvSpPr>
                <a:spLocks noGrp="1"/>
              </p:cNvSpPr>
              <p:nvPr>
                <p:ph type="body" sz="quarter" idx="15"/>
              </p:nvPr>
            </p:nvSpPr>
            <p:spPr>
              <a:xfrm>
                <a:off x="743577" y="1571624"/>
                <a:ext cx="10610224" cy="4048591"/>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7-1 	Select a simple random sample from a finite population.</a:t>
                </a:r>
              </a:p>
              <a:p>
                <a:pPr marL="1828800" lvl="1" indent="-1371600">
                  <a:spcBef>
                    <a:spcPts val="1200"/>
                  </a:spcBef>
                  <a:buNone/>
                </a:pPr>
                <a:r>
                  <a:rPr lang="en-US" sz="2000" dirty="0">
                    <a:latin typeface="Arial" panose="020B0604020202020204" pitchFamily="34" charset="0"/>
                    <a:cs typeface="Arial" panose="020B0604020202020204" pitchFamily="34" charset="0"/>
                  </a:rPr>
                  <a:t>LO 7-2 	Identify when a sample is being drawn from a finite or an infinite population and explain how to construct a corresponding frame.</a:t>
                </a:r>
              </a:p>
              <a:p>
                <a:pPr marL="1828800" lvl="1" indent="-1371600">
                  <a:spcBef>
                    <a:spcPts val="1200"/>
                  </a:spcBef>
                  <a:buNone/>
                </a:pPr>
                <a:r>
                  <a:rPr lang="en-US" sz="2000" dirty="0">
                    <a:latin typeface="Arial" panose="020B0604020202020204" pitchFamily="34" charset="0"/>
                    <a:cs typeface="Arial" panose="020B0604020202020204" pitchFamily="34" charset="0"/>
                  </a:rPr>
                  <a:t>LO 7-3 	Use sample data to calculate the point estimate of the population mean.</a:t>
                </a:r>
              </a:p>
              <a:p>
                <a:pPr marL="1828800" lvl="1" indent="-1371600">
                  <a:spcBef>
                    <a:spcPts val="1200"/>
                  </a:spcBef>
                  <a:buNone/>
                </a:pPr>
                <a:r>
                  <a:rPr lang="en-US" sz="2000" dirty="0">
                    <a:latin typeface="Arial" panose="020B0604020202020204" pitchFamily="34" charset="0"/>
                    <a:cs typeface="Arial" panose="020B0604020202020204" pitchFamily="34" charset="0"/>
                  </a:rPr>
                  <a:t>LO 7-4 	Use sample data to calculate the point estimate of the population standard deviation.</a:t>
                </a:r>
              </a:p>
              <a:p>
                <a:pPr marL="1828800" lvl="1" indent="-1371600">
                  <a:spcBef>
                    <a:spcPts val="1200"/>
                  </a:spcBef>
                  <a:buNone/>
                </a:pPr>
                <a:r>
                  <a:rPr lang="en-US" sz="2000" dirty="0">
                    <a:latin typeface="Arial" panose="020B0604020202020204" pitchFamily="34" charset="0"/>
                    <a:cs typeface="Arial" panose="020B0604020202020204" pitchFamily="34" charset="0"/>
                  </a:rPr>
                  <a:t>LO 7-5 	Use sample data to calculate the point estimate of the population proportion.</a:t>
                </a:r>
              </a:p>
              <a:p>
                <a:pPr marL="1828800" lvl="1" indent="-1371600">
                  <a:spcBef>
                    <a:spcPts val="1200"/>
                  </a:spcBef>
                  <a:buNone/>
                </a:pPr>
                <a:r>
                  <a:rPr lang="en-US" sz="2000" dirty="0">
                    <a:latin typeface="Arial" panose="020B0604020202020204" pitchFamily="34" charset="0"/>
                    <a:cs typeface="Arial" panose="020B0604020202020204" pitchFamily="34" charset="0"/>
                  </a:rPr>
                  <a:t>LO 7-6 	Calculate </a:t>
                </a:r>
                <a14:m>
                  <m:oMath xmlns:m="http://schemas.openxmlformats.org/officeDocument/2006/math">
                    <m:sSub>
                      <m:sSubPr>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dirty="0">
                            <a:latin typeface="Cambria Math" panose="02040503050406030204" pitchFamily="18" charset="0"/>
                            <a:ea typeface="Cambria Math" panose="02040503050406030204" pitchFamily="18" charset="0"/>
                            <a:cs typeface="Arial" panose="020B0604020202020204" pitchFamily="34" charset="0"/>
                          </a:rPr>
                          <m:t>𝜎</m:t>
                        </m:r>
                      </m:e>
                      <m:sub>
                        <m:acc>
                          <m:accPr>
                            <m:chr m:val="̅"/>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dirty="0" smtClean="0">
                                <a:latin typeface="Cambria Math" panose="02040503050406030204" pitchFamily="18" charset="0"/>
                                <a:ea typeface="Cambria Math" panose="02040503050406030204" pitchFamily="18" charset="0"/>
                                <a:cs typeface="Arial" panose="020B0604020202020204" pitchFamily="34" charset="0"/>
                              </a:rPr>
                              <m:t>𝑥</m:t>
                            </m:r>
                          </m:e>
                        </m:acc>
                      </m:sub>
                    </m:sSub>
                  </m:oMath>
                </a14:m>
                <a:r>
                  <a:rPr lang="en-US" sz="2000" dirty="0">
                    <a:latin typeface="Arial" panose="020B0604020202020204" pitchFamily="34" charset="0"/>
                    <a:cs typeface="Arial" panose="020B0604020202020204" pitchFamily="34" charset="0"/>
                  </a:rPr>
                  <a:t>, the standard deviation of the sample mean, for a sample of size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taken from a population with a known mean </a:t>
                </a:r>
                <a:r>
                  <a:rPr lang="en-US" sz="2000" i="1" dirty="0">
                    <a:latin typeface="Symbol" panose="05050102010706020507" pitchFamily="18" charset="2"/>
                    <a:cs typeface="Arial" panose="020B0604020202020204" pitchFamily="34" charset="0"/>
                  </a:rPr>
                  <a:t>m</a:t>
                </a:r>
                <a:r>
                  <a:rPr lang="en-US" sz="2000" dirty="0">
                    <a:latin typeface="Arial" panose="020B0604020202020204" pitchFamily="34" charset="0"/>
                    <a:cs typeface="Arial" panose="020B0604020202020204" pitchFamily="34" charset="0"/>
                  </a:rPr>
                  <a:t> and standard deviation </a:t>
                </a:r>
                <a:r>
                  <a:rPr lang="en-US" sz="2000" i="1" dirty="0">
                    <a:latin typeface="Symbol" panose="05050102010706020507" pitchFamily="18" charset="2"/>
                    <a:cs typeface="Arial" panose="020B0604020202020204" pitchFamily="34" charset="0"/>
                  </a:rPr>
                  <a:t>s</a:t>
                </a:r>
                <a:r>
                  <a:rPr lang="en-US" sz="2000" dirty="0">
                    <a:latin typeface="Arial" panose="020B0604020202020204" pitchFamily="34" charset="0"/>
                    <a:cs typeface="Arial" panose="020B0604020202020204" pitchFamily="34" charset="0"/>
                  </a:rPr>
                  <a:t> and use the finite population correction factor when appropriate.</a:t>
                </a:r>
              </a:p>
            </p:txBody>
          </p:sp>
        </mc:Choice>
        <mc:Fallback xmlns="">
          <p:sp>
            <p:nvSpPr>
              <p:cNvPr id="2" name="Text Placeholder 1"/>
              <p:cNvSpPr>
                <a:spLocks noGrp="1" noRot="1" noChangeAspect="1" noMove="1" noResize="1" noEditPoints="1" noAdjustHandles="1" noChangeArrowheads="1" noChangeShapeType="1" noTextEdit="1"/>
              </p:cNvSpPr>
              <p:nvPr>
                <p:ph type="body" sz="quarter" idx="15"/>
              </p:nvPr>
            </p:nvSpPr>
            <p:spPr>
              <a:xfrm>
                <a:off x="743577" y="1571624"/>
                <a:ext cx="10610224" cy="4048591"/>
              </a:xfrm>
              <a:blipFill>
                <a:blip r:embed="rId2"/>
                <a:stretch>
                  <a:fillRect l="-1493" t="-1807" r="-1091" b="-1807"/>
                </a:stretch>
              </a:blipFill>
            </p:spPr>
            <p:txBody>
              <a:bodyPr/>
              <a:lstStyle/>
              <a:p>
                <a:r>
                  <a:rPr lang="en-US">
                    <a:noFill/>
                  </a:rPr>
                  <a:t> </a:t>
                </a:r>
              </a:p>
            </p:txBody>
          </p:sp>
        </mc:Fallback>
      </mc:AlternateContent>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mc:AlternateContent xmlns:mc="http://schemas.openxmlformats.org/markup-compatibility/2006" xmlns:a14="http://schemas.microsoft.com/office/drawing/2010/main">
        <mc:Choice Requires="a14">
          <p:sp>
            <p:nvSpPr>
              <p:cNvPr id="2" name="Text Placeholder 1"/>
              <p:cNvSpPr>
                <a:spLocks noGrp="1"/>
              </p:cNvSpPr>
              <p:nvPr>
                <p:ph type="body" sz="quarter" idx="15"/>
              </p:nvPr>
            </p:nvSpPr>
            <p:spPr>
              <a:xfrm>
                <a:off x="743576" y="1583474"/>
                <a:ext cx="10610224" cy="4036741"/>
              </a:xfrm>
            </p:spPr>
            <p:txBody>
              <a:bodyPr/>
              <a:lstStyle/>
              <a:p>
                <a:pPr marL="1828800" lvl="1" indent="-1371600">
                  <a:spcBef>
                    <a:spcPts val="1200"/>
                  </a:spcBef>
                  <a:buNone/>
                </a:pPr>
                <a:r>
                  <a:rPr lang="en-US" sz="2000" dirty="0">
                    <a:latin typeface="Arial" panose="020B0604020202020204" pitchFamily="34" charset="0"/>
                    <a:cs typeface="Arial" panose="020B0604020202020204" pitchFamily="34" charset="0"/>
                  </a:rPr>
                  <a:t>LO 7-7 	Describe and explain the distribution form and parameters of the sampling distribution of the sample mean for a sample of size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taken from a population with a known mean </a:t>
                </a:r>
                <a:r>
                  <a:rPr lang="en-US" sz="2000" i="1" dirty="0">
                    <a:latin typeface="Symbol" panose="05050102010706020507" pitchFamily="18" charset="2"/>
                    <a:cs typeface="Arial" panose="020B0604020202020204" pitchFamily="34" charset="0"/>
                  </a:rPr>
                  <a:t>m</a:t>
                </a:r>
                <a:r>
                  <a:rPr lang="en-US" sz="2000" dirty="0">
                    <a:latin typeface="Arial" panose="020B0604020202020204" pitchFamily="34" charset="0"/>
                    <a:cs typeface="Arial" panose="020B0604020202020204" pitchFamily="34" charset="0"/>
                  </a:rPr>
                  <a:t> and standard deviation </a:t>
                </a:r>
                <a:r>
                  <a:rPr lang="en-US" sz="2000" i="1" dirty="0">
                    <a:latin typeface="Symbol" panose="05050102010706020507" pitchFamily="18" charset="2"/>
                    <a:cs typeface="Arial" panose="020B0604020202020204" pitchFamily="34" charset="0"/>
                  </a:rPr>
                  <a:t>s</a:t>
                </a:r>
                <a:r>
                  <a:rPr lang="en-US" sz="2000" dirty="0">
                    <a:latin typeface="Arial" panose="020B0604020202020204" pitchFamily="34" charset="0"/>
                    <a:cs typeface="Arial" panose="020B0604020202020204" pitchFamily="34" charset="0"/>
                  </a:rPr>
                  <a:t>.</a:t>
                </a:r>
              </a:p>
              <a:p>
                <a:pPr marL="1828800" lvl="1" indent="-1371600">
                  <a:spcBef>
                    <a:spcPts val="1200"/>
                  </a:spcBef>
                  <a:buNone/>
                </a:pPr>
                <a:r>
                  <a:rPr lang="en-US" sz="2000" dirty="0">
                    <a:latin typeface="Arial" panose="020B0604020202020204" pitchFamily="34" charset="0"/>
                    <a:cs typeface="Arial" panose="020B0604020202020204" pitchFamily="34" charset="0"/>
                  </a:rPr>
                  <a:t>LO 7-8 	Use the sampling distribution of the sample mean to calculate the probability the sample mean will fall between two specified values.</a:t>
                </a:r>
              </a:p>
              <a:p>
                <a:pPr marL="1828800" lvl="1" indent="-1371600">
                  <a:spcBef>
                    <a:spcPts val="1200"/>
                  </a:spcBef>
                  <a:buNone/>
                </a:pPr>
                <a:r>
                  <a:rPr lang="en-US" sz="2000" dirty="0">
                    <a:latin typeface="Arial" panose="020B0604020202020204" pitchFamily="34" charset="0"/>
                    <a:cs typeface="Arial" panose="020B0604020202020204" pitchFamily="34" charset="0"/>
                  </a:rPr>
                  <a:t>LO 7-9 	Calculate </a:t>
                </a:r>
                <a14:m>
                  <m:oMath xmlns:m="http://schemas.openxmlformats.org/officeDocument/2006/math">
                    <m:sSub>
                      <m:sSubPr>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sSubPr>
                      <m:e>
                        <m:r>
                          <a:rPr lang="en-US" sz="2000" i="1" dirty="0">
                            <a:latin typeface="Cambria Math" panose="02040503050406030204" pitchFamily="18" charset="0"/>
                            <a:ea typeface="Cambria Math" panose="02040503050406030204" pitchFamily="18" charset="0"/>
                            <a:cs typeface="Arial" panose="020B0604020202020204" pitchFamily="34" charset="0"/>
                          </a:rPr>
                          <m:t>𝜎</m:t>
                        </m:r>
                      </m:e>
                      <m:sub>
                        <m:acc>
                          <m:accPr>
                            <m:chr m:val="̅"/>
                            <m:ctrlPr>
                              <a:rPr lang="en-US" sz="2000" i="1" dirty="0" smtClean="0">
                                <a:latin typeface="Cambria Math" panose="02040503050406030204" pitchFamily="18" charset="0"/>
                                <a:ea typeface="Cambria Math" panose="02040503050406030204" pitchFamily="18" charset="0"/>
                                <a:cs typeface="Arial" panose="020B0604020202020204" pitchFamily="34" charset="0"/>
                              </a:rPr>
                            </m:ctrlPr>
                          </m:accPr>
                          <m:e>
                            <m:r>
                              <a:rPr lang="en-US" sz="2000" b="0" i="1" dirty="0" smtClean="0">
                                <a:latin typeface="Cambria Math" panose="02040503050406030204" pitchFamily="18" charset="0"/>
                                <a:ea typeface="Cambria Math" panose="02040503050406030204" pitchFamily="18" charset="0"/>
                                <a:cs typeface="Arial" panose="020B0604020202020204" pitchFamily="34" charset="0"/>
                              </a:rPr>
                              <m:t>𝑝</m:t>
                            </m:r>
                          </m:e>
                        </m:acc>
                      </m:sub>
                    </m:sSub>
                  </m:oMath>
                </a14:m>
                <a:r>
                  <a:rPr lang="en-US" sz="2000" dirty="0">
                    <a:latin typeface="Arial" panose="020B0604020202020204" pitchFamily="34" charset="0"/>
                    <a:cs typeface="Arial" panose="020B0604020202020204" pitchFamily="34" charset="0"/>
                  </a:rPr>
                  <a:t>, the standard error of the proportion, for a sample of size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taken from a population with a known proportion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a:t>
                </a:r>
              </a:p>
              <a:p>
                <a:pPr marL="1828800" lvl="1" indent="-1371600">
                  <a:spcBef>
                    <a:spcPts val="1200"/>
                  </a:spcBef>
                  <a:buNone/>
                </a:pPr>
                <a:r>
                  <a:rPr lang="en-US" sz="2000" dirty="0">
                    <a:latin typeface="Arial" panose="020B0604020202020204" pitchFamily="34" charset="0"/>
                    <a:cs typeface="Arial" panose="020B0604020202020204" pitchFamily="34" charset="0"/>
                  </a:rPr>
                  <a:t>LO 7-10	Describe and explain the distribution form and parameters of the sampling distribution of the sample proportion for a sample of size </a:t>
                </a:r>
                <a:r>
                  <a:rPr lang="en-US" sz="2000" i="1" dirty="0">
                    <a:latin typeface="Arial" panose="020B0604020202020204" pitchFamily="34" charset="0"/>
                    <a:cs typeface="Arial" panose="020B0604020202020204" pitchFamily="34" charset="0"/>
                  </a:rPr>
                  <a:t>n</a:t>
                </a:r>
                <a:r>
                  <a:rPr lang="en-US" sz="2000" dirty="0">
                    <a:latin typeface="Arial" panose="020B0604020202020204" pitchFamily="34" charset="0"/>
                    <a:cs typeface="Arial" panose="020B0604020202020204" pitchFamily="34" charset="0"/>
                  </a:rPr>
                  <a:t> taken from a population with a known proportion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a:t>
                </a:r>
              </a:p>
              <a:p>
                <a:pPr marL="1828800" lvl="1" indent="-1371600">
                  <a:spcBef>
                    <a:spcPts val="1200"/>
                  </a:spcBef>
                  <a:buNone/>
                </a:pPr>
                <a:r>
                  <a:rPr lang="en-US" sz="2000" dirty="0">
                    <a:latin typeface="Arial" panose="020B0604020202020204" pitchFamily="34" charset="0"/>
                    <a:cs typeface="Arial" panose="020B0604020202020204" pitchFamily="34" charset="0"/>
                  </a:rPr>
                  <a:t>LO 7-11	Use the sampling distribution of the sample proportion to calculate the probability the sample proportion will fall between two specified values.</a:t>
                </a:r>
              </a:p>
            </p:txBody>
          </p:sp>
        </mc:Choice>
        <mc:Fallback xmlns="">
          <p:sp>
            <p:nvSpPr>
              <p:cNvPr id="2" name="Text Placeholder 1"/>
              <p:cNvSpPr>
                <a:spLocks noGrp="1" noRot="1" noChangeAspect="1" noMove="1" noResize="1" noEditPoints="1" noAdjustHandles="1" noChangeArrowheads="1" noChangeShapeType="1" noTextEdit="1"/>
              </p:cNvSpPr>
              <p:nvPr>
                <p:ph type="body" sz="quarter" idx="15"/>
              </p:nvPr>
            </p:nvSpPr>
            <p:spPr>
              <a:xfrm>
                <a:off x="743576" y="1583474"/>
                <a:ext cx="10610224" cy="4036741"/>
              </a:xfrm>
              <a:blipFill>
                <a:blip r:embed="rId2"/>
                <a:stretch>
                  <a:fillRect t="-2568" r="-1551" b="-1057"/>
                </a:stretch>
              </a:blipFill>
            </p:spPr>
            <p:txBody>
              <a:bodyPr/>
              <a:lstStyle/>
              <a:p>
                <a:r>
                  <a:rPr lang="en-US">
                    <a:noFill/>
                  </a:rPr>
                  <a:t> </a:t>
                </a:r>
              </a:p>
            </p:txBody>
          </p:sp>
        </mc:Fallback>
      </mc:AlternateContent>
    </p:spTree>
    <p:extLst>
      <p:ext uri="{BB962C8B-B14F-4D97-AF65-F5344CB8AC3E}">
        <p14:creationId xmlns:p14="http://schemas.microsoft.com/office/powerpoint/2010/main" val="2159593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838199" y="1355273"/>
            <a:ext cx="10515601" cy="4212771"/>
          </a:xfrm>
        </p:spPr>
        <p:txBody>
          <a:bodyPr/>
          <a:lstStyle/>
          <a:p>
            <a:pPr>
              <a:lnSpc>
                <a:spcPct val="100000"/>
              </a:lnSpc>
              <a:spcBef>
                <a:spcPts val="600"/>
              </a:spcBef>
            </a:pPr>
            <a:r>
              <a:rPr lang="en-US" sz="2000" dirty="0"/>
              <a:t>In this chapter, we show how simple random sampling is used to select a sample from either a finite population or an infinite population (a process.)</a:t>
            </a:r>
          </a:p>
          <a:p>
            <a:pPr>
              <a:lnSpc>
                <a:spcPct val="100000"/>
              </a:lnSpc>
              <a:spcBef>
                <a:spcPts val="600"/>
              </a:spcBef>
            </a:pPr>
            <a:r>
              <a:rPr lang="en-US" sz="2000" dirty="0"/>
              <a:t>We then show how data obtained from a sample can be used to compute estimates of:</a:t>
            </a:r>
          </a:p>
          <a:p>
            <a:pPr marL="685800" indent="-342900">
              <a:lnSpc>
                <a:spcPct val="100000"/>
              </a:lnSpc>
              <a:spcBef>
                <a:spcPts val="600"/>
              </a:spcBef>
              <a:buFont typeface="Arial" panose="020B0604020202020204" pitchFamily="34" charset="0"/>
              <a:buChar char="•"/>
            </a:pPr>
            <a:r>
              <a:rPr lang="en-US" sz="2000" dirty="0"/>
              <a:t>a population mean from a sample mean</a:t>
            </a:r>
          </a:p>
          <a:p>
            <a:pPr marL="685800" indent="-342900">
              <a:lnSpc>
                <a:spcPct val="100000"/>
              </a:lnSpc>
              <a:spcBef>
                <a:spcPts val="600"/>
              </a:spcBef>
              <a:buFont typeface="Arial" panose="020B0604020202020204" pitchFamily="34" charset="0"/>
              <a:buChar char="•"/>
            </a:pPr>
            <a:r>
              <a:rPr lang="en-US" sz="2000" dirty="0"/>
              <a:t>a population proportion from a sample proportion</a:t>
            </a:r>
          </a:p>
          <a:p>
            <a:pPr>
              <a:spcBef>
                <a:spcPts val="600"/>
              </a:spcBef>
            </a:pPr>
            <a:r>
              <a:rPr lang="en-US" sz="2000" dirty="0"/>
              <a:t>With estimates obtained from sample statistics, some estimation error is expected. This chapter provides the basis for determining how large that error might be.</a:t>
            </a:r>
          </a:p>
          <a:p>
            <a:pPr>
              <a:lnSpc>
                <a:spcPct val="100000"/>
              </a:lnSpc>
              <a:spcBef>
                <a:spcPts val="600"/>
              </a:spcBef>
            </a:pPr>
            <a:r>
              <a:rPr lang="en-US" sz="2000" dirty="0"/>
              <a:t>In addition, we introduce the important concept of a sampling distribution, which will allow us to make statements about how close the sample estimates are to the corresponding population parameters. </a:t>
            </a:r>
          </a:p>
          <a:p>
            <a:pPr>
              <a:lnSpc>
                <a:spcPct val="100000"/>
              </a:lnSpc>
              <a:spcBef>
                <a:spcPts val="600"/>
              </a:spcBef>
            </a:pPr>
            <a:r>
              <a:rPr lang="en-US" sz="2000" dirty="0"/>
              <a:t>The last two sections discuss some alternatives to simple random sampling that are often employed in practice and the ramifications of large samples on sampling distributions.</a:t>
            </a: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 to Sampling</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838779" y="1353012"/>
            <a:ext cx="10515601" cy="4430752"/>
          </a:xfrm>
        </p:spPr>
        <p:txBody>
          <a:bodyPr/>
          <a:lstStyle/>
          <a:p>
            <a:pPr>
              <a:lnSpc>
                <a:spcPct val="100000"/>
              </a:lnSpc>
              <a:spcBef>
                <a:spcPts val="600"/>
              </a:spcBef>
            </a:pPr>
            <a:r>
              <a:rPr lang="en-US" sz="2000" dirty="0"/>
              <a:t>In Chapter 1, we presented the following definitions:</a:t>
            </a:r>
          </a:p>
          <a:p>
            <a:pPr marL="684213" indent="-223838">
              <a:lnSpc>
                <a:spcPct val="100000"/>
              </a:lnSpc>
              <a:spcBef>
                <a:spcPts val="600"/>
              </a:spcBef>
              <a:buFont typeface="Arial" panose="020B0604020202020204" pitchFamily="34" charset="0"/>
              <a:buChar char="•"/>
            </a:pPr>
            <a:r>
              <a:rPr lang="en-US" sz="2000" dirty="0"/>
              <a:t>An </a:t>
            </a:r>
            <a:r>
              <a:rPr lang="en-US" sz="2000" i="1" dirty="0"/>
              <a:t>element</a:t>
            </a:r>
            <a:r>
              <a:rPr lang="en-US" sz="2000" dirty="0"/>
              <a:t> is the entity on which data are collected.</a:t>
            </a:r>
          </a:p>
          <a:p>
            <a:pPr marL="684213" indent="-223838">
              <a:lnSpc>
                <a:spcPct val="100000"/>
              </a:lnSpc>
              <a:spcBef>
                <a:spcPts val="600"/>
              </a:spcBef>
              <a:buFont typeface="Arial" panose="020B0604020202020204" pitchFamily="34" charset="0"/>
              <a:buChar char="•"/>
            </a:pPr>
            <a:r>
              <a:rPr lang="en-US" sz="2000" dirty="0"/>
              <a:t>A </a:t>
            </a:r>
            <a:r>
              <a:rPr lang="en-US" sz="2000" i="1" dirty="0"/>
              <a:t>population</a:t>
            </a:r>
            <a:r>
              <a:rPr lang="en-US" sz="2000" dirty="0"/>
              <a:t> is a collection of all the elements of interest.</a:t>
            </a:r>
          </a:p>
          <a:p>
            <a:pPr marL="684213" indent="-223838">
              <a:lnSpc>
                <a:spcPct val="100000"/>
              </a:lnSpc>
              <a:spcBef>
                <a:spcPts val="600"/>
              </a:spcBef>
              <a:buFont typeface="Arial" panose="020B0604020202020204" pitchFamily="34" charset="0"/>
              <a:buChar char="•"/>
            </a:pPr>
            <a:r>
              <a:rPr lang="en-US" sz="2000" dirty="0"/>
              <a:t>A </a:t>
            </a:r>
            <a:r>
              <a:rPr lang="en-US" sz="2000" i="1" dirty="0"/>
              <a:t>sample</a:t>
            </a:r>
            <a:r>
              <a:rPr lang="en-US" sz="2000" dirty="0"/>
              <a:t> is a subset of the population.</a:t>
            </a:r>
          </a:p>
          <a:p>
            <a:pPr>
              <a:lnSpc>
                <a:spcPct val="100000"/>
              </a:lnSpc>
              <a:spcBef>
                <a:spcPts val="600"/>
              </a:spcBef>
            </a:pPr>
            <a:r>
              <a:rPr lang="en-US" sz="2000" b="1" dirty="0"/>
              <a:t>Sampling</a:t>
            </a:r>
            <a:r>
              <a:rPr lang="en-US" sz="2000" dirty="0"/>
              <a:t> is the process of collecting data to answer a research question about a population. </a:t>
            </a:r>
          </a:p>
          <a:p>
            <a:pPr>
              <a:lnSpc>
                <a:spcPct val="100000"/>
              </a:lnSpc>
              <a:spcBef>
                <a:spcPts val="600"/>
              </a:spcBef>
            </a:pPr>
            <a:r>
              <a:rPr lang="en-US" sz="2000" dirty="0"/>
              <a:t>Two important terms used in sampling are:</a:t>
            </a:r>
          </a:p>
          <a:p>
            <a:pPr marL="684213" indent="-223838">
              <a:spcBef>
                <a:spcPts val="600"/>
              </a:spcBef>
              <a:buFont typeface="Arial" panose="020B0604020202020204" pitchFamily="34" charset="0"/>
              <a:buChar char="•"/>
            </a:pPr>
            <a:r>
              <a:rPr lang="en-US" sz="2000" dirty="0"/>
              <a:t>The </a:t>
            </a:r>
            <a:r>
              <a:rPr lang="en-US" sz="2000" b="1" dirty="0"/>
              <a:t>sampled population </a:t>
            </a:r>
            <a:r>
              <a:rPr lang="en-US" sz="2000" dirty="0"/>
              <a:t>is the population from which the sample is drawn.</a:t>
            </a:r>
          </a:p>
          <a:p>
            <a:pPr marL="684213" indent="-223838">
              <a:spcBef>
                <a:spcPts val="600"/>
              </a:spcBef>
              <a:buFont typeface="Arial" panose="020B0604020202020204" pitchFamily="34" charset="0"/>
              <a:buChar char="•"/>
            </a:pPr>
            <a:r>
              <a:rPr lang="en-US" sz="2000" dirty="0"/>
              <a:t>A </a:t>
            </a:r>
            <a:r>
              <a:rPr lang="en-US" sz="2000" b="1" dirty="0"/>
              <a:t>frame</a:t>
            </a:r>
            <a:r>
              <a:rPr lang="en-US" sz="2000" dirty="0"/>
              <a:t> is a list of the elements that the sample will be selected from.</a:t>
            </a:r>
          </a:p>
          <a:p>
            <a:pPr>
              <a:lnSpc>
                <a:spcPct val="100000"/>
              </a:lnSpc>
              <a:spcBef>
                <a:spcPts val="600"/>
              </a:spcBef>
            </a:pPr>
            <a:r>
              <a:rPr lang="en-US" sz="2000" dirty="0"/>
              <a:t>Because the sample contains only a portion of the population, results provide only estimates of the values of the population characteristics.</a:t>
            </a:r>
          </a:p>
          <a:p>
            <a:pPr>
              <a:lnSpc>
                <a:spcPct val="100000"/>
              </a:lnSpc>
              <a:spcBef>
                <a:spcPts val="600"/>
              </a:spcBef>
            </a:pPr>
            <a:r>
              <a:rPr lang="en-US" sz="2000" dirty="0"/>
              <a:t>With proper sampling methods, the sample results can provide “good” estimates of the population characteristics.</a:t>
            </a:r>
          </a:p>
        </p:txBody>
      </p:sp>
    </p:spTree>
    <p:extLst>
      <p:ext uri="{BB962C8B-B14F-4D97-AF65-F5344CB8AC3E}">
        <p14:creationId xmlns:p14="http://schemas.microsoft.com/office/powerpoint/2010/main" val="1479836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333D3-66C7-CE9E-7256-5F9EF3A82FF7}"/>
              </a:ext>
            </a:extLst>
          </p:cNvPr>
          <p:cNvSpPr>
            <a:spLocks noGrp="1"/>
          </p:cNvSpPr>
          <p:nvPr>
            <p:ph type="title"/>
          </p:nvPr>
        </p:nvSpPr>
        <p:spPr/>
        <p:txBody>
          <a:bodyPr/>
          <a:lstStyle/>
          <a:p>
            <a:r>
              <a:rPr lang="en-US" dirty="0">
                <a:solidFill>
                  <a:srgbClr val="D14B1E"/>
                </a:solidFill>
              </a:rPr>
              <a:t>7.1 The Electronics Associates Sampling Problem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AA265B3-4C1B-01BF-ADC1-DF4783F21621}"/>
                  </a:ext>
                </a:extLst>
              </p:cNvPr>
              <p:cNvSpPr>
                <a:spLocks noGrp="1"/>
              </p:cNvSpPr>
              <p:nvPr>
                <p:ph type="body" sz="quarter" idx="15"/>
              </p:nvPr>
            </p:nvSpPr>
            <p:spPr>
              <a:xfrm>
                <a:off x="740228" y="1363164"/>
                <a:ext cx="10711543" cy="4327344"/>
              </a:xfrm>
            </p:spPr>
            <p:txBody>
              <a:bodyPr>
                <a:noAutofit/>
              </a:bodyPr>
              <a:lstStyle/>
              <a:p>
                <a:r>
                  <a:rPr lang="en-US" sz="2000" dirty="0"/>
                  <a:t>The numerical characteristics of a population are called </a:t>
                </a:r>
                <a:r>
                  <a:rPr lang="en-US" sz="2000" b="1" dirty="0"/>
                  <a:t>parameters</a:t>
                </a:r>
                <a:r>
                  <a:rPr lang="en-US" sz="2000" dirty="0"/>
                  <a:t>.</a:t>
                </a:r>
              </a:p>
              <a:p>
                <a:r>
                  <a:rPr lang="en-US" sz="2000" dirty="0"/>
                  <a:t>Using descriptive statistics, we compute the </a:t>
                </a:r>
                <a:r>
                  <a:rPr lang="en-US" sz="2000" b="1" dirty="0"/>
                  <a:t>population mean</a:t>
                </a:r>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=$71,800</m:t>
                    </m:r>
                  </m:oMath>
                </a14:m>
                <a:r>
                  <a:rPr lang="en-US" sz="2000" dirty="0"/>
                  <a:t>, and the </a:t>
                </a:r>
                <a:r>
                  <a:rPr lang="en-US" sz="2000" b="1" dirty="0"/>
                  <a:t>population standard deviation</a:t>
                </a:r>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=$4,000</m:t>
                    </m:r>
                  </m:oMath>
                </a14:m>
                <a:r>
                  <a:rPr lang="en-US" sz="2000" dirty="0"/>
                  <a:t>, for the 2,500 manager salaries included in EAI the data set (</a:t>
                </a:r>
                <a:r>
                  <a:rPr lang="en-US" sz="2000" dirty="0" err="1"/>
                  <a:t>DATAfile</a:t>
                </a:r>
                <a:r>
                  <a:rPr lang="en-US" sz="2000" dirty="0"/>
                  <a:t>: </a:t>
                </a:r>
                <a:r>
                  <a:rPr lang="en-US" sz="2000" i="1" dirty="0"/>
                  <a:t>EAI.</a:t>
                </a:r>
                <a:r>
                  <a:rPr lang="en-US" sz="2000" dirty="0"/>
                  <a:t>)</a:t>
                </a:r>
              </a:p>
              <a:p>
                <a:r>
                  <a:rPr lang="en-US" sz="2000" dirty="0"/>
                  <a:t>The data for the training program status also show that 1,500 of the 2,500 managers completed the training program. Thus, we have the </a:t>
                </a:r>
                <a:r>
                  <a:rPr lang="en-US" sz="2000" b="1" dirty="0"/>
                  <a:t>population proportion</a:t>
                </a:r>
                <a:r>
                  <a:rPr lang="en-US" sz="2000" dirty="0"/>
                  <a:t>, </a:t>
                </a:r>
                <a14:m>
                  <m:oMath xmlns:m="http://schemas.openxmlformats.org/officeDocument/2006/math">
                    <m:r>
                      <a:rPr lang="en-US" sz="2000" i="1" smtClean="0">
                        <a:latin typeface="Cambria Math" panose="02040503050406030204" pitchFamily="18" charset="0"/>
                      </a:rPr>
                      <m:t>𝑝</m:t>
                    </m:r>
                    <m:r>
                      <a:rPr lang="en-US" sz="2000" i="1" smtClean="0">
                        <a:latin typeface="Cambria Math" panose="02040503050406030204" pitchFamily="18" charset="0"/>
                      </a:rPr>
                      <m:t>=</m:t>
                    </m:r>
                    <m:f>
                      <m:fPr>
                        <m:type m:val="lin"/>
                        <m:ctrlPr>
                          <a:rPr lang="en-US" sz="2000" i="1" smtClean="0">
                            <a:latin typeface="Cambria Math" panose="02040503050406030204" pitchFamily="18" charset="0"/>
                          </a:rPr>
                        </m:ctrlPr>
                      </m:fPr>
                      <m:num>
                        <m:r>
                          <a:rPr lang="en-US" sz="2000" i="1">
                            <a:latin typeface="Cambria Math" panose="02040503050406030204" pitchFamily="18" charset="0"/>
                          </a:rPr>
                          <m:t>1500</m:t>
                        </m:r>
                      </m:num>
                      <m:den>
                        <m:r>
                          <a:rPr lang="en-US" sz="2000" i="1">
                            <a:latin typeface="Cambria Math" panose="02040503050406030204" pitchFamily="18" charset="0"/>
                          </a:rPr>
                          <m:t>2500</m:t>
                        </m:r>
                      </m:den>
                    </m:f>
                    <m:r>
                      <a:rPr lang="en-US" sz="2000" i="1">
                        <a:latin typeface="Cambria Math" panose="02040503050406030204" pitchFamily="18" charset="0"/>
                      </a:rPr>
                      <m:t>=0.6</m:t>
                    </m:r>
                  </m:oMath>
                </a14:m>
                <a:endParaRPr lang="en-US" sz="2000" dirty="0"/>
              </a:p>
              <a:p>
                <a:r>
                  <a:rPr lang="en-US" sz="2000" dirty="0"/>
                  <a:t>If the information on all the EAI managers is not readily available in the company’s database, estimates of the population parameters can be obtained using a sample of managers drawn from the population.</a:t>
                </a:r>
              </a:p>
              <a:p>
                <a:r>
                  <a:rPr lang="en-US" sz="2000" dirty="0"/>
                  <a:t>The time and cost of developing a profile on an adequate sample of 30 managers would be substantially less than collecting salary data on the entire population of 2,500 managers.</a:t>
                </a:r>
              </a:p>
              <a:p>
                <a:r>
                  <a:rPr lang="en-US" sz="2000" dirty="0"/>
                  <a:t>Let us explore the possibility of identifying a sample of 30 managers for the EAI study.</a:t>
                </a:r>
              </a:p>
              <a:p>
                <a:pPr>
                  <a:tabLst>
                    <a:tab pos="3427413" algn="dec"/>
                  </a:tabLst>
                </a:pPr>
                <a:endParaRPr lang="en-US" sz="2000" dirty="0"/>
              </a:p>
            </p:txBody>
          </p:sp>
        </mc:Choice>
        <mc:Fallback xmlns="">
          <p:sp>
            <p:nvSpPr>
              <p:cNvPr id="3" name="Text Placeholder 2">
                <a:extLst>
                  <a:ext uri="{FF2B5EF4-FFF2-40B4-BE49-F238E27FC236}">
                    <a16:creationId xmlns:a16="http://schemas.microsoft.com/office/drawing/2014/main" id="{CAA265B3-4C1B-01BF-ADC1-DF4783F21621}"/>
                  </a:ext>
                </a:extLst>
              </p:cNvPr>
              <p:cNvSpPr>
                <a:spLocks noGrp="1" noRot="1" noChangeAspect="1" noMove="1" noResize="1" noEditPoints="1" noAdjustHandles="1" noChangeArrowheads="1" noChangeShapeType="1" noTextEdit="1"/>
              </p:cNvSpPr>
              <p:nvPr>
                <p:ph type="body" sz="quarter" idx="15"/>
              </p:nvPr>
            </p:nvSpPr>
            <p:spPr>
              <a:xfrm>
                <a:off x="740228" y="1363164"/>
                <a:ext cx="10711543" cy="4327344"/>
              </a:xfrm>
              <a:blipFill>
                <a:blip r:embed="rId3"/>
                <a:stretch>
                  <a:fillRect l="-1422" t="-1693" r="-1934" b="-2962"/>
                </a:stretch>
              </a:blipFill>
            </p:spPr>
            <p:txBody>
              <a:bodyPr/>
              <a:lstStyle/>
              <a:p>
                <a:r>
                  <a:rPr lang="en-US">
                    <a:noFill/>
                  </a:rPr>
                  <a:t> </a:t>
                </a:r>
              </a:p>
            </p:txBody>
          </p:sp>
        </mc:Fallback>
      </mc:AlternateContent>
    </p:spTree>
    <p:extLst>
      <p:ext uri="{BB962C8B-B14F-4D97-AF65-F5344CB8AC3E}">
        <p14:creationId xmlns:p14="http://schemas.microsoft.com/office/powerpoint/2010/main" val="2014116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16062-6DE4-9759-10C8-C56815C899E2}"/>
              </a:ext>
            </a:extLst>
          </p:cNvPr>
          <p:cNvSpPr>
            <a:spLocks noGrp="1"/>
          </p:cNvSpPr>
          <p:nvPr>
            <p:ph type="title"/>
          </p:nvPr>
        </p:nvSpPr>
        <p:spPr/>
        <p:txBody>
          <a:bodyPr/>
          <a:lstStyle/>
          <a:p>
            <a:r>
              <a:rPr lang="en-US" dirty="0">
                <a:solidFill>
                  <a:srgbClr val="D14B1E"/>
                </a:solidFill>
              </a:rPr>
              <a:t>7.2 Selecting a Sample</a:t>
            </a:r>
          </a:p>
        </p:txBody>
      </p:sp>
      <p:sp>
        <p:nvSpPr>
          <p:cNvPr id="4" name="Text Placeholder 3">
            <a:extLst>
              <a:ext uri="{FF2B5EF4-FFF2-40B4-BE49-F238E27FC236}">
                <a16:creationId xmlns:a16="http://schemas.microsoft.com/office/drawing/2014/main" id="{7716A28F-7B50-16FE-A851-83EC5C2505C9}"/>
              </a:ext>
            </a:extLst>
          </p:cNvPr>
          <p:cNvSpPr>
            <a:spLocks noGrp="1"/>
          </p:cNvSpPr>
          <p:nvPr>
            <p:ph type="body" sz="quarter" idx="15"/>
          </p:nvPr>
        </p:nvSpPr>
        <p:spPr>
          <a:xfrm>
            <a:off x="743576" y="1224369"/>
            <a:ext cx="10711543" cy="4588603"/>
          </a:xfrm>
        </p:spPr>
        <p:txBody>
          <a:bodyPr>
            <a:normAutofit lnSpcReduction="10000"/>
          </a:bodyPr>
          <a:lstStyle/>
          <a:p>
            <a:pPr>
              <a:lnSpc>
                <a:spcPct val="110000"/>
              </a:lnSpc>
              <a:spcBef>
                <a:spcPts val="600"/>
              </a:spcBef>
            </a:pPr>
            <a:r>
              <a:rPr lang="en-US" sz="2000" dirty="0"/>
              <a:t>A </a:t>
            </a:r>
            <a:r>
              <a:rPr lang="en-US" sz="2000" b="1" dirty="0"/>
              <a:t>simple random sample </a:t>
            </a:r>
            <a:r>
              <a:rPr lang="en-US" sz="2000" dirty="0"/>
              <a:t>of size </a:t>
            </a:r>
            <a:r>
              <a:rPr lang="en-US" sz="2000" i="1" dirty="0"/>
              <a:t>n</a:t>
            </a:r>
            <a:r>
              <a:rPr lang="en-US" sz="2000" dirty="0"/>
              <a:t> is selected from a finite population of size </a:t>
            </a:r>
            <a:r>
              <a:rPr lang="en-US" sz="2000" i="1" dirty="0"/>
              <a:t>N </a:t>
            </a:r>
            <a:r>
              <a:rPr lang="en-US" sz="2000" dirty="0"/>
              <a:t>so that each possible sample of size </a:t>
            </a:r>
            <a:r>
              <a:rPr lang="en-US" sz="2000" i="1" dirty="0"/>
              <a:t>n</a:t>
            </a:r>
            <a:r>
              <a:rPr lang="en-US" sz="2000" dirty="0"/>
              <a:t> has the same probability of being selected.</a:t>
            </a:r>
          </a:p>
          <a:p>
            <a:pPr>
              <a:lnSpc>
                <a:spcPct val="110000"/>
              </a:lnSpc>
              <a:spcBef>
                <a:spcPts val="600"/>
              </a:spcBef>
            </a:pPr>
            <a:r>
              <a:rPr lang="en-US" sz="2000" dirty="0"/>
              <a:t>Replacing each sampled element before selecting subsequent elements is called </a:t>
            </a:r>
            <a:r>
              <a:rPr lang="en-US" sz="2000" b="1" dirty="0"/>
              <a:t>sampling with replacement</a:t>
            </a:r>
            <a:r>
              <a:rPr lang="en-US" sz="2000" dirty="0"/>
              <a:t>. An element can appear in the sample more than once. </a:t>
            </a:r>
          </a:p>
          <a:p>
            <a:pPr>
              <a:lnSpc>
                <a:spcPct val="110000"/>
              </a:lnSpc>
              <a:spcBef>
                <a:spcPts val="600"/>
              </a:spcBef>
            </a:pPr>
            <a:r>
              <a:rPr lang="en-US" sz="2000" b="1" dirty="0"/>
              <a:t>Sampling without replacement </a:t>
            </a:r>
            <a:r>
              <a:rPr lang="en-US" sz="2000" dirty="0"/>
              <a:t>is the procedure used most often.</a:t>
            </a:r>
          </a:p>
          <a:p>
            <a:pPr>
              <a:lnSpc>
                <a:spcPct val="110000"/>
              </a:lnSpc>
              <a:spcBef>
                <a:spcPts val="600"/>
              </a:spcBef>
            </a:pPr>
            <a:r>
              <a:rPr lang="en-US" sz="2000" dirty="0"/>
              <a:t>In large sampling projects, computer-generated random numbers are often used to automate the sample selection process.</a:t>
            </a:r>
          </a:p>
          <a:p>
            <a:pPr>
              <a:lnSpc>
                <a:spcPct val="110000"/>
              </a:lnSpc>
              <a:spcBef>
                <a:spcPts val="600"/>
              </a:spcBef>
            </a:pPr>
            <a:r>
              <a:rPr lang="en-US" sz="2000" dirty="0"/>
              <a:t>To select a simple random sample from the finite population of EAI managers, follow this procedure:</a:t>
            </a:r>
          </a:p>
          <a:p>
            <a:pPr marL="914400" indent="-914400">
              <a:lnSpc>
                <a:spcPct val="110000"/>
              </a:lnSpc>
              <a:spcBef>
                <a:spcPts val="600"/>
              </a:spcBef>
            </a:pPr>
            <a:r>
              <a:rPr lang="en-US" sz="2000" b="1" dirty="0"/>
              <a:t>Step 1</a:t>
            </a:r>
            <a:r>
              <a:rPr lang="en-US" sz="2000" dirty="0"/>
              <a:t>:	Assign a random number to each of the 2,500 managers.</a:t>
            </a:r>
          </a:p>
          <a:p>
            <a:pPr marL="914400">
              <a:lnSpc>
                <a:spcPct val="110000"/>
              </a:lnSpc>
              <a:spcBef>
                <a:spcPts val="600"/>
              </a:spcBef>
            </a:pPr>
            <a:r>
              <a:rPr lang="en-US" sz="2000" dirty="0"/>
              <a:t>The random numbers generated by Excel’s RAND function follow a uniform probability distribution between 0 and 1.</a:t>
            </a:r>
          </a:p>
          <a:p>
            <a:pPr marL="914400" indent="-914400">
              <a:lnSpc>
                <a:spcPct val="110000"/>
              </a:lnSpc>
              <a:spcBef>
                <a:spcPts val="600"/>
              </a:spcBef>
            </a:pPr>
            <a:r>
              <a:rPr lang="en-US" sz="2000" b="1" dirty="0"/>
              <a:t>Step 2</a:t>
            </a:r>
            <a:r>
              <a:rPr lang="en-US" sz="2000" dirty="0"/>
              <a:t>:	Select the 30 applicants corresponding to the 30 smallest random numbers.</a:t>
            </a:r>
          </a:p>
        </p:txBody>
      </p:sp>
    </p:spTree>
    <p:extLst>
      <p:ext uri="{BB962C8B-B14F-4D97-AF65-F5344CB8AC3E}">
        <p14:creationId xmlns:p14="http://schemas.microsoft.com/office/powerpoint/2010/main" val="225968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333D3-66C7-CE9E-7256-5F9EF3A82FF7}"/>
              </a:ext>
            </a:extLst>
          </p:cNvPr>
          <p:cNvSpPr>
            <a:spLocks noGrp="1"/>
          </p:cNvSpPr>
          <p:nvPr>
            <p:ph type="title"/>
          </p:nvPr>
        </p:nvSpPr>
        <p:spPr/>
        <p:txBody>
          <a:bodyPr/>
          <a:lstStyle/>
          <a:p>
            <a:r>
              <a:rPr lang="en-US" dirty="0"/>
              <a:t>7.2 Sampling from an Infinite Population</a:t>
            </a:r>
          </a:p>
        </p:txBody>
      </p:sp>
      <p:sp>
        <p:nvSpPr>
          <p:cNvPr id="3" name="Text Placeholder 2">
            <a:extLst>
              <a:ext uri="{FF2B5EF4-FFF2-40B4-BE49-F238E27FC236}">
                <a16:creationId xmlns:a16="http://schemas.microsoft.com/office/drawing/2014/main" id="{CAA265B3-4C1B-01BF-ADC1-DF4783F21621}"/>
              </a:ext>
            </a:extLst>
          </p:cNvPr>
          <p:cNvSpPr>
            <a:spLocks noGrp="1"/>
          </p:cNvSpPr>
          <p:nvPr>
            <p:ph type="body" sz="quarter" idx="15"/>
          </p:nvPr>
        </p:nvSpPr>
        <p:spPr>
          <a:xfrm>
            <a:off x="740228" y="1232808"/>
            <a:ext cx="10711543" cy="4563835"/>
          </a:xfrm>
        </p:spPr>
        <p:txBody>
          <a:bodyPr>
            <a:noAutofit/>
          </a:bodyPr>
          <a:lstStyle/>
          <a:p>
            <a:pPr>
              <a:spcBef>
                <a:spcPts val="600"/>
              </a:spcBef>
            </a:pPr>
            <a:r>
              <a:rPr lang="en-US" sz="2000" dirty="0"/>
              <a:t>Sometimes we want to select a sample but find that it is not possible to obtain a list of all elements in the population. As a result, we cannot construct a frame for the population.</a:t>
            </a:r>
          </a:p>
          <a:p>
            <a:pPr>
              <a:spcBef>
                <a:spcPts val="600"/>
              </a:spcBef>
            </a:pPr>
            <a:r>
              <a:rPr lang="en-US" sz="2000" dirty="0"/>
              <a:t>When a frame is not available, such as in the case of an infinite population, we cannot use the random number selection procedure previously outlined (*see notes for details.)</a:t>
            </a:r>
          </a:p>
          <a:p>
            <a:pPr>
              <a:spcBef>
                <a:spcPts val="600"/>
              </a:spcBef>
            </a:pPr>
            <a:r>
              <a:rPr lang="en-US" sz="2000" dirty="0"/>
              <a:t>To select a sample from an infinite population, we must still follow a random procedure in order to make valid statistical inferences about the population.</a:t>
            </a:r>
          </a:p>
          <a:p>
            <a:pPr>
              <a:spcBef>
                <a:spcPts val="600"/>
              </a:spcBef>
            </a:pPr>
            <a:r>
              <a:rPr lang="en-US" sz="2000" dirty="0"/>
              <a:t>A </a:t>
            </a:r>
            <a:r>
              <a:rPr lang="en-US" sz="2000" b="1" dirty="0"/>
              <a:t>random sample </a:t>
            </a:r>
            <a:r>
              <a:rPr lang="en-US" sz="2000" dirty="0"/>
              <a:t>of size </a:t>
            </a:r>
            <a:r>
              <a:rPr lang="en-US" sz="2000" i="1" dirty="0"/>
              <a:t>n</a:t>
            </a:r>
            <a:r>
              <a:rPr lang="en-US" sz="2000" dirty="0"/>
              <a:t> is selected from an infinite population so that</a:t>
            </a:r>
          </a:p>
          <a:p>
            <a:pPr marL="684213" indent="-342900">
              <a:spcBef>
                <a:spcPts val="600"/>
              </a:spcBef>
              <a:buFont typeface="+mj-lt"/>
              <a:buAutoNum type="arabicPeriod"/>
            </a:pPr>
            <a:r>
              <a:rPr lang="en-US" sz="2000" dirty="0"/>
              <a:t>each element selected comes from the same population</a:t>
            </a:r>
          </a:p>
          <a:p>
            <a:pPr marL="684213" indent="-342900">
              <a:spcBef>
                <a:spcPts val="600"/>
              </a:spcBef>
              <a:buFont typeface="+mj-lt"/>
              <a:buAutoNum type="arabicPeriod"/>
            </a:pPr>
            <a:r>
              <a:rPr lang="en-US" sz="2000" dirty="0"/>
              <a:t>each element is selected independently</a:t>
            </a:r>
          </a:p>
          <a:p>
            <a:pPr>
              <a:spcBef>
                <a:spcPts val="600"/>
              </a:spcBef>
            </a:pPr>
            <a:r>
              <a:rPr lang="en-US" sz="2000" dirty="0"/>
              <a:t>An ongoing process often generates an infinite population because there is no upper limit on the number of units it can create.</a:t>
            </a:r>
          </a:p>
          <a:p>
            <a:pPr>
              <a:spcBef>
                <a:spcPts val="600"/>
              </a:spcBef>
            </a:pPr>
            <a:r>
              <a:rPr lang="en-US" sz="2000" dirty="0"/>
              <a:t>Examples of ongoing processes include parts manufactured on a production line and transactions occurring at a bank </a:t>
            </a:r>
          </a:p>
        </p:txBody>
      </p:sp>
    </p:spTree>
    <p:extLst>
      <p:ext uri="{BB962C8B-B14F-4D97-AF65-F5344CB8AC3E}">
        <p14:creationId xmlns:p14="http://schemas.microsoft.com/office/powerpoint/2010/main" val="80007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0A0F4-69B5-73B4-80E6-196C4328A00E}"/>
              </a:ext>
            </a:extLst>
          </p:cNvPr>
          <p:cNvSpPr>
            <a:spLocks noGrp="1"/>
          </p:cNvSpPr>
          <p:nvPr>
            <p:ph type="title"/>
          </p:nvPr>
        </p:nvSpPr>
        <p:spPr/>
        <p:txBody>
          <a:bodyPr/>
          <a:lstStyle/>
          <a:p>
            <a:r>
              <a:rPr lang="en-US" dirty="0">
                <a:solidFill>
                  <a:srgbClr val="D14B1E"/>
                </a:solidFill>
              </a:rPr>
              <a:t>7.3 Point Estimation</a:t>
            </a:r>
          </a:p>
        </p:txBody>
      </p:sp>
      <p:sp>
        <p:nvSpPr>
          <p:cNvPr id="3" name="Text Placeholder 2">
            <a:extLst>
              <a:ext uri="{FF2B5EF4-FFF2-40B4-BE49-F238E27FC236}">
                <a16:creationId xmlns:a16="http://schemas.microsoft.com/office/drawing/2014/main" id="{FBB8DBDC-8885-E627-059A-E67BC74AF7F2}"/>
              </a:ext>
            </a:extLst>
          </p:cNvPr>
          <p:cNvSpPr>
            <a:spLocks noGrp="1"/>
          </p:cNvSpPr>
          <p:nvPr>
            <p:ph type="body" sz="quarter" idx="15"/>
          </p:nvPr>
        </p:nvSpPr>
        <p:spPr>
          <a:xfrm>
            <a:off x="743577" y="1580707"/>
            <a:ext cx="4106719" cy="4253024"/>
          </a:xfrm>
        </p:spPr>
        <p:txBody>
          <a:bodyPr/>
          <a:lstStyle/>
          <a:p>
            <a:r>
              <a:rPr lang="en-US" sz="2000" dirty="0"/>
              <a:t>A </a:t>
            </a:r>
            <a:r>
              <a:rPr lang="en-US" sz="2000" b="1" dirty="0"/>
              <a:t>sample statistic </a:t>
            </a:r>
            <a:r>
              <a:rPr lang="en-US" sz="2000" dirty="0"/>
              <a:t>that estimates the value of a population parameter is called a </a:t>
            </a:r>
            <a:r>
              <a:rPr lang="en-US" sz="2000" b="1" dirty="0"/>
              <a:t>point estimator</a:t>
            </a:r>
            <a:r>
              <a:rPr lang="en-US" sz="2000" dirty="0"/>
              <a:t>.</a:t>
            </a:r>
          </a:p>
          <a:p>
            <a:r>
              <a:rPr lang="en-US" sz="2000" dirty="0">
                <a:latin typeface="Arial" panose="020B0604020202020204" pitchFamily="34" charset="0"/>
                <a:cs typeface="Arial" panose="020B0604020202020204" pitchFamily="34" charset="0"/>
              </a:rPr>
              <a:t>In </a:t>
            </a:r>
            <a:r>
              <a:rPr lang="en-US" sz="2000" b="1" dirty="0">
                <a:latin typeface="Arial" panose="020B0604020202020204" pitchFamily="34" charset="0"/>
                <a:cs typeface="Arial" panose="020B0604020202020204" pitchFamily="34" charset="0"/>
              </a:rPr>
              <a:t>point estimation</a:t>
            </a:r>
            <a:r>
              <a:rPr lang="en-US" sz="2000" dirty="0">
                <a:latin typeface="Arial" panose="020B0604020202020204" pitchFamily="34" charset="0"/>
                <a:cs typeface="Arial" panose="020B0604020202020204" pitchFamily="34" charset="0"/>
              </a:rPr>
              <a:t>, the value of a sample statistic is the </a:t>
            </a:r>
            <a:r>
              <a:rPr lang="en-US" sz="2000" b="1" dirty="0">
                <a:latin typeface="Arial" panose="020B0604020202020204" pitchFamily="34" charset="0"/>
                <a:cs typeface="Arial" panose="020B0604020202020204" pitchFamily="34" charset="0"/>
              </a:rPr>
              <a:t>point estimate </a:t>
            </a:r>
            <a:r>
              <a:rPr lang="en-US" sz="2000" dirty="0">
                <a:latin typeface="Arial" panose="020B0604020202020204" pitchFamily="34" charset="0"/>
                <a:cs typeface="Arial" panose="020B0604020202020204" pitchFamily="34" charset="0"/>
              </a:rPr>
              <a:t>of a population.</a:t>
            </a:r>
          </a:p>
          <a:p>
            <a:r>
              <a:rPr lang="en-US" sz="2000" dirty="0"/>
              <a:t>The annual salaries and training program status for a simple random sample of 30 EAI Managers are reported in the table to the right.</a:t>
            </a:r>
          </a:p>
          <a:p>
            <a:r>
              <a:rPr lang="en-US" sz="2000" dirty="0"/>
              <a:t>Note: different random numbers would have identified a different sample.</a:t>
            </a:r>
          </a:p>
        </p:txBody>
      </p:sp>
      <p:graphicFrame>
        <p:nvGraphicFramePr>
          <p:cNvPr id="5" name="Table 5">
            <a:extLst>
              <a:ext uri="{FF2B5EF4-FFF2-40B4-BE49-F238E27FC236}">
                <a16:creationId xmlns:a16="http://schemas.microsoft.com/office/drawing/2014/main" id="{E163BE7B-812B-648F-D1A0-40FEA0BA628B}"/>
              </a:ext>
            </a:extLst>
          </p:cNvPr>
          <p:cNvGraphicFramePr>
            <a:graphicFrameLocks noGrp="1"/>
          </p:cNvGraphicFramePr>
          <p:nvPr>
            <p:ph type="tbl" sz="quarter" idx="16"/>
          </p:nvPr>
        </p:nvGraphicFramePr>
        <p:xfrm>
          <a:off x="5001370" y="1251571"/>
          <a:ext cx="6035040" cy="45821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1192324971"/>
                    </a:ext>
                  </a:extLst>
                </a:gridCol>
                <a:gridCol w="914400">
                  <a:extLst>
                    <a:ext uri="{9D8B030D-6E8A-4147-A177-3AD203B41FA5}">
                      <a16:colId xmlns:a16="http://schemas.microsoft.com/office/drawing/2014/main" val="21751091"/>
                    </a:ext>
                  </a:extLst>
                </a:gridCol>
                <a:gridCol w="1188720">
                  <a:extLst>
                    <a:ext uri="{9D8B030D-6E8A-4147-A177-3AD203B41FA5}">
                      <a16:colId xmlns:a16="http://schemas.microsoft.com/office/drawing/2014/main" val="3317687529"/>
                    </a:ext>
                  </a:extLst>
                </a:gridCol>
                <a:gridCol w="914400">
                  <a:extLst>
                    <a:ext uri="{9D8B030D-6E8A-4147-A177-3AD203B41FA5}">
                      <a16:colId xmlns:a16="http://schemas.microsoft.com/office/drawing/2014/main" val="1630512458"/>
                    </a:ext>
                  </a:extLst>
                </a:gridCol>
                <a:gridCol w="914400">
                  <a:extLst>
                    <a:ext uri="{9D8B030D-6E8A-4147-A177-3AD203B41FA5}">
                      <a16:colId xmlns:a16="http://schemas.microsoft.com/office/drawing/2014/main" val="4112223443"/>
                    </a:ext>
                  </a:extLst>
                </a:gridCol>
                <a:gridCol w="1188720">
                  <a:extLst>
                    <a:ext uri="{9D8B030D-6E8A-4147-A177-3AD203B41FA5}">
                      <a16:colId xmlns:a16="http://schemas.microsoft.com/office/drawing/2014/main" val="2950581834"/>
                    </a:ext>
                  </a:extLst>
                </a:gridCol>
              </a:tblGrid>
              <a:tr h="638842">
                <a:tc>
                  <a:txBody>
                    <a:bodyPr/>
                    <a:lstStyle/>
                    <a:p>
                      <a:pPr algn="ctr" fontAlgn="b"/>
                      <a:r>
                        <a:rPr lang="en-US" sz="1600" b="1" i="0" u="none" strike="noStrike" dirty="0">
                          <a:solidFill>
                            <a:srgbClr val="000000"/>
                          </a:solidFill>
                          <a:effectLst/>
                          <a:latin typeface="+mn-lt"/>
                        </a:rPr>
                        <a:t>Manager Number</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mn-lt"/>
                        </a:rPr>
                        <a:t>Annual Salary (S)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mn-lt"/>
                        </a:rPr>
                        <a:t>Management Training Program</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mn-lt"/>
                        </a:rPr>
                        <a:t>Manager Number</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mn-lt"/>
                        </a:rPr>
                        <a:t>Annual Salary (S)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mn-lt"/>
                        </a:rPr>
                        <a:t>Management Training Program</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15485080"/>
                  </a:ext>
                </a:extLst>
              </a:tr>
              <a:tr h="192729">
                <a:tc>
                  <a:txBody>
                    <a:bodyPr/>
                    <a:lstStyle/>
                    <a:p>
                      <a:pPr algn="ctr" fontAlgn="b"/>
                      <a:r>
                        <a:rPr lang="en-US" sz="1600" b="0" i="0" u="none" strike="noStrike">
                          <a:solidFill>
                            <a:srgbClr val="000000"/>
                          </a:solidFill>
                          <a:effectLst/>
                          <a:latin typeface="+mn-lt"/>
                        </a:rPr>
                        <a:t>1</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69,094.30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16</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71,766.00 </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714050248"/>
                  </a:ext>
                </a:extLst>
              </a:tr>
              <a:tr h="192729">
                <a:tc>
                  <a:txBody>
                    <a:bodyPr/>
                    <a:lstStyle/>
                    <a:p>
                      <a:pPr algn="ctr" fontAlgn="b"/>
                      <a:r>
                        <a:rPr lang="en-US" sz="1600" b="0" i="0" u="none" strike="noStrike" dirty="0">
                          <a:solidFill>
                            <a:srgbClr val="000000"/>
                          </a:solidFill>
                          <a:effectLst/>
                          <a:latin typeface="+mn-lt"/>
                        </a:rPr>
                        <a:t>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73,263.90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72,541.30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14483927"/>
                  </a:ext>
                </a:extLst>
              </a:tr>
              <a:tr h="192729">
                <a:tc>
                  <a:txBody>
                    <a:bodyPr/>
                    <a:lstStyle/>
                    <a:p>
                      <a:pPr algn="ctr" fontAlgn="b"/>
                      <a:r>
                        <a:rPr lang="en-US" sz="1600" b="0" i="0" u="none" strike="noStrike">
                          <a:solidFill>
                            <a:srgbClr val="000000"/>
                          </a:solidFill>
                          <a:effectLst/>
                          <a:latin typeface="+mn-lt"/>
                        </a:rPr>
                        <a:t>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69,643.50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18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64,980.00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8278234"/>
                  </a:ext>
                </a:extLst>
              </a:tr>
              <a:tr h="192729">
                <a:tc>
                  <a:txBody>
                    <a:bodyPr/>
                    <a:lstStyle/>
                    <a:p>
                      <a:pPr algn="ctr" fontAlgn="b"/>
                      <a:r>
                        <a:rPr lang="en-US" sz="1600" b="0" i="0" u="none" strike="noStrike" dirty="0">
                          <a:solidFill>
                            <a:srgbClr val="000000"/>
                          </a:solidFill>
                          <a:effectLst/>
                          <a:latin typeface="+mn-lt"/>
                        </a:rPr>
                        <a:t>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69,894.90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19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71,932.60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44958234"/>
                  </a:ext>
                </a:extLst>
              </a:tr>
              <a:tr h="192729">
                <a:tc>
                  <a:txBody>
                    <a:bodyPr/>
                    <a:lstStyle/>
                    <a:p>
                      <a:pPr algn="ctr" fontAlgn="b"/>
                      <a:r>
                        <a:rPr lang="en-US" sz="1600" b="0" i="0" u="none" strike="noStrike">
                          <a:solidFill>
                            <a:srgbClr val="000000"/>
                          </a:solidFill>
                          <a:effectLst/>
                          <a:latin typeface="+mn-lt"/>
                        </a:rPr>
                        <a:t>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67,621.60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72,973.00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11904739"/>
                  </a:ext>
                </a:extLst>
              </a:tr>
              <a:tr h="192729">
                <a:tc>
                  <a:txBody>
                    <a:bodyPr/>
                    <a:lstStyle/>
                    <a:p>
                      <a:pPr algn="ctr" fontAlgn="b"/>
                      <a:r>
                        <a:rPr lang="en-US" sz="1600" b="0" i="0" u="none" strike="noStrike" dirty="0">
                          <a:solidFill>
                            <a:srgbClr val="000000"/>
                          </a:solidFill>
                          <a:effectLst/>
                          <a:latin typeface="+mn-lt"/>
                        </a:rPr>
                        <a:t>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75,924.00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21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65,120.90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294376729"/>
                  </a:ext>
                </a:extLst>
              </a:tr>
              <a:tr h="192729">
                <a:tc>
                  <a:txBody>
                    <a:bodyPr/>
                    <a:lstStyle/>
                    <a:p>
                      <a:pPr algn="ctr" fontAlgn="b"/>
                      <a:r>
                        <a:rPr lang="en-US" sz="1600" b="0" i="0" u="none" strike="noStrike" dirty="0">
                          <a:solidFill>
                            <a:srgbClr val="000000"/>
                          </a:solidFill>
                          <a:effectLst/>
                          <a:latin typeface="+mn-lt"/>
                        </a:rPr>
                        <a:t>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69,092.30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a:solidFill>
                            <a:srgbClr val="000000"/>
                          </a:solidFill>
                          <a:effectLst/>
                          <a:latin typeface="+mn-lt"/>
                        </a:rPr>
                        <a:t>71,753.00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62626504"/>
                  </a:ext>
                </a:extLst>
              </a:tr>
              <a:tr h="192729">
                <a:tc>
                  <a:txBody>
                    <a:bodyPr/>
                    <a:lstStyle/>
                    <a:p>
                      <a:pPr algn="ctr" fontAlgn="b"/>
                      <a:r>
                        <a:rPr lang="en-US" sz="1600" b="0" i="0" u="none" strike="noStrike" dirty="0">
                          <a:solidFill>
                            <a:srgbClr val="000000"/>
                          </a:solidFill>
                          <a:effectLst/>
                          <a:latin typeface="+mn-lt"/>
                        </a:rPr>
                        <a:t>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71,404.40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74,391.80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3925902"/>
                  </a:ext>
                </a:extLst>
              </a:tr>
              <a:tr h="192729">
                <a:tc>
                  <a:txBody>
                    <a:bodyPr/>
                    <a:lstStyle/>
                    <a:p>
                      <a:pPr algn="ctr" fontAlgn="b"/>
                      <a:r>
                        <a:rPr lang="en-US" sz="1600" b="0" i="0" u="none" strike="noStrike" dirty="0">
                          <a:solidFill>
                            <a:srgbClr val="000000"/>
                          </a:solidFill>
                          <a:effectLst/>
                          <a:latin typeface="+mn-lt"/>
                        </a:rPr>
                        <a:t>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70,957.70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70,164.20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11552520"/>
                  </a:ext>
                </a:extLst>
              </a:tr>
              <a:tr h="192729">
                <a:tc>
                  <a:txBody>
                    <a:bodyPr/>
                    <a:lstStyle/>
                    <a:p>
                      <a:pPr algn="ctr" fontAlgn="b"/>
                      <a:r>
                        <a:rPr lang="en-US" sz="1600" b="0" i="0" u="none" strike="noStrike" dirty="0">
                          <a:solidFill>
                            <a:srgbClr val="000000"/>
                          </a:solidFill>
                          <a:effectLst/>
                          <a:latin typeface="+mn-lt"/>
                        </a:rPr>
                        <a:t>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75,109.70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72,973.60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30014845"/>
                  </a:ext>
                </a:extLst>
              </a:tr>
              <a:tr h="192729">
                <a:tc>
                  <a:txBody>
                    <a:bodyPr/>
                    <a:lstStyle/>
                    <a:p>
                      <a:pPr algn="ctr" fontAlgn="b"/>
                      <a:r>
                        <a:rPr lang="en-US" sz="1600" b="0" i="0" u="none" strike="noStrike" dirty="0">
                          <a:solidFill>
                            <a:srgbClr val="000000"/>
                          </a:solidFill>
                          <a:effectLst/>
                          <a:latin typeface="+mn-lt"/>
                        </a:rPr>
                        <a:t>11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65,922.60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70,241.30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78432682"/>
                  </a:ext>
                </a:extLst>
              </a:tr>
              <a:tr h="192729">
                <a:tc>
                  <a:txBody>
                    <a:bodyPr/>
                    <a:lstStyle/>
                    <a:p>
                      <a:pPr algn="ctr" fontAlgn="b"/>
                      <a:r>
                        <a:rPr lang="en-US" sz="1600" b="0" i="0" u="none" strike="noStrike" dirty="0">
                          <a:solidFill>
                            <a:srgbClr val="000000"/>
                          </a:solidFill>
                          <a:effectLst/>
                          <a:latin typeface="+mn-lt"/>
                        </a:rPr>
                        <a:t>12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77,268.40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72,793.90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3974746"/>
                  </a:ext>
                </a:extLst>
              </a:tr>
              <a:tr h="192729">
                <a:tc>
                  <a:txBody>
                    <a:bodyPr/>
                    <a:lstStyle/>
                    <a:p>
                      <a:pPr algn="ctr" fontAlgn="b"/>
                      <a:r>
                        <a:rPr lang="en-US" sz="1600" b="0" i="0" u="none" strike="noStrike" dirty="0">
                          <a:solidFill>
                            <a:srgbClr val="000000"/>
                          </a:solidFill>
                          <a:effectLst/>
                          <a:latin typeface="+mn-lt"/>
                        </a:rPr>
                        <a:t>13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75,688.80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70,979.40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79306263"/>
                  </a:ext>
                </a:extLst>
              </a:tr>
              <a:tr h="192729">
                <a:tc>
                  <a:txBody>
                    <a:bodyPr/>
                    <a:lstStyle/>
                    <a:p>
                      <a:pPr algn="ctr" fontAlgn="b"/>
                      <a:r>
                        <a:rPr lang="en-US" sz="1600" b="0" i="0" u="none" strike="noStrike" dirty="0">
                          <a:solidFill>
                            <a:srgbClr val="000000"/>
                          </a:solidFill>
                          <a:effectLst/>
                          <a:latin typeface="+mn-lt"/>
                        </a:rPr>
                        <a:t>14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71,564.70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29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75,860.90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Yes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08198650"/>
                  </a:ext>
                </a:extLst>
              </a:tr>
              <a:tr h="192729">
                <a:tc>
                  <a:txBody>
                    <a:bodyPr/>
                    <a:lstStyle/>
                    <a:p>
                      <a:pPr algn="ctr" fontAlgn="b"/>
                      <a:r>
                        <a:rPr lang="en-US" sz="1600" b="0" i="0" u="none" strike="noStrike" dirty="0">
                          <a:solidFill>
                            <a:srgbClr val="000000"/>
                          </a:solidFill>
                          <a:effectLst/>
                          <a:latin typeface="+mn-lt"/>
                        </a:rPr>
                        <a:t>15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76,188.20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30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77,309.10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No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97353855"/>
                  </a:ext>
                </a:extLst>
              </a:tr>
            </a:tbl>
          </a:graphicData>
        </a:graphic>
      </p:graphicFrame>
    </p:spTree>
    <p:extLst>
      <p:ext uri="{BB962C8B-B14F-4D97-AF65-F5344CB8AC3E}">
        <p14:creationId xmlns:p14="http://schemas.microsoft.com/office/powerpoint/2010/main" val="210784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FEE71-6324-8DC5-1A21-CA71533BBC78}"/>
              </a:ext>
            </a:extLst>
          </p:cNvPr>
          <p:cNvSpPr>
            <a:spLocks noGrp="1"/>
          </p:cNvSpPr>
          <p:nvPr>
            <p:ph type="title"/>
          </p:nvPr>
        </p:nvSpPr>
        <p:spPr/>
        <p:txBody>
          <a:bodyPr/>
          <a:lstStyle/>
          <a:p>
            <a:r>
              <a:rPr lang="en-US" dirty="0"/>
              <a:t>7.3 Point Estimation for the EAI Managers 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5B8C83-5268-6702-AF12-933CBF8F2610}"/>
                  </a:ext>
                </a:extLst>
              </p:cNvPr>
              <p:cNvSpPr>
                <a:spLocks noGrp="1"/>
              </p:cNvSpPr>
              <p:nvPr>
                <p:ph type="body" sz="quarter" idx="15"/>
              </p:nvPr>
            </p:nvSpPr>
            <p:spPr>
              <a:xfrm>
                <a:off x="743576" y="1461134"/>
                <a:ext cx="10711543" cy="4057924"/>
              </a:xfrm>
            </p:spPr>
            <p:txBody>
              <a:bodyPr>
                <a:noAutofit/>
              </a:bodyPr>
              <a:lstStyle/>
              <a:p>
                <a:pPr>
                  <a:spcAft>
                    <a:spcPts val="0"/>
                  </a:spcAft>
                </a:pPr>
                <a:r>
                  <a:rPr lang="en-US" sz="2000" dirty="0"/>
                  <a:t>Let us compute sample statistics for a simple random sample of EAI managers (*see notes.)</a:t>
                </a:r>
              </a:p>
              <a:p>
                <a:pPr>
                  <a:spcBef>
                    <a:spcPts val="600"/>
                  </a:spcBef>
                  <a:spcAft>
                    <a:spcPts val="600"/>
                  </a:spcAft>
                </a:pPr>
                <a14:m>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𝑥</m:t>
                        </m:r>
                      </m:e>
                    </m:acc>
                  </m:oMath>
                </a14:m>
                <a:r>
                  <a:rPr lang="en-US" sz="2000" dirty="0"/>
                  <a:t> is the point estimator of the population mean, </a:t>
                </a:r>
                <a14:m>
                  <m:oMath xmlns:m="http://schemas.openxmlformats.org/officeDocument/2006/math">
                    <m:r>
                      <a:rPr lang="en-US" sz="2000" i="1">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=$71,800</m:t>
                    </m:r>
                  </m:oMath>
                </a14:m>
                <a:r>
                  <a:rPr lang="en-US" sz="2000" dirty="0"/>
                  <a:t>.</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subHide m:val="on"/>
                              <m:supHide m:val="on"/>
                              <m:ctrlPr>
                                <a:rPr lang="en-US" sz="2000" b="0" i="1" smtClean="0">
                                  <a:latin typeface="Cambria Math" panose="02040503050406030204" pitchFamily="18" charset="0"/>
                                </a:rPr>
                              </m:ctrlPr>
                            </m:naryP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e>
                          </m:nary>
                        </m:num>
                        <m:den>
                          <m:r>
                            <a:rPr lang="en-US" sz="2000" b="0" i="1" smtClean="0">
                              <a:latin typeface="Cambria Math" panose="02040503050406030204" pitchFamily="18" charset="0"/>
                            </a:rPr>
                            <m:t>𝑛</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2,154,420</m:t>
                          </m:r>
                        </m:num>
                        <m:den>
                          <m:r>
                            <a:rPr lang="en-US" sz="2000" b="0" i="1" smtClean="0">
                              <a:latin typeface="Cambria Math" panose="02040503050406030204" pitchFamily="18" charset="0"/>
                            </a:rPr>
                            <m:t>30</m:t>
                          </m:r>
                        </m:den>
                      </m:f>
                      <m:r>
                        <a:rPr lang="en-US" sz="2000" b="0" i="1" smtClean="0">
                          <a:latin typeface="Cambria Math" panose="02040503050406030204" pitchFamily="18" charset="0"/>
                        </a:rPr>
                        <m:t>=$71,814</m:t>
                      </m:r>
                    </m:oMath>
                  </m:oMathPara>
                </a14:m>
                <a:endParaRPr lang="en-US" sz="2000" dirty="0">
                  <a:latin typeface="Symbol" panose="05050102010706020507" pitchFamily="18" charset="2"/>
                </a:endParaRPr>
              </a:p>
              <a:p>
                <a:pPr>
                  <a:spcBef>
                    <a:spcPts val="600"/>
                  </a:spcBef>
                  <a:spcAft>
                    <a:spcPts val="600"/>
                  </a:spcAft>
                </a:pPr>
                <a:r>
                  <a:rPr lang="en-US" sz="2000" i="1" dirty="0"/>
                  <a:t>s</a:t>
                </a:r>
                <a:r>
                  <a:rPr lang="en-US" sz="2000" dirty="0"/>
                  <a:t> is the point estimator of the population standard deviation,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=$4,000</m:t>
                    </m:r>
                  </m:oMath>
                </a14:m>
                <a:endParaRPr lang="en-US" sz="2000" dirty="0">
                  <a:latin typeface="Symbol" panose="05050102010706020507" pitchFamily="18" charset="2"/>
                </a:endParaRP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𝑠</m:t>
                      </m:r>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f>
                            <m:fPr>
                              <m:ctrlPr>
                                <a:rPr lang="en-US" sz="2000" b="0" i="1" smtClean="0">
                                  <a:latin typeface="Cambria Math" panose="02040503050406030204" pitchFamily="18" charset="0"/>
                                </a:rPr>
                              </m:ctrlPr>
                            </m:fPr>
                            <m:num>
                              <m:nary>
                                <m:naryPr>
                                  <m:chr m:val="∑"/>
                                  <m:subHide m:val="on"/>
                                  <m:supHide m:val="on"/>
                                  <m:ctrlPr>
                                    <a:rPr lang="en-US" sz="2000" b="0" i="1" smtClean="0">
                                      <a:latin typeface="Cambria Math" panose="02040503050406030204" pitchFamily="18" charset="0"/>
                                    </a:rPr>
                                  </m:ctrlPr>
                                </m:naryPr>
                                <m:sub/>
                                <m:sup/>
                                <m:e>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𝑥</m:t>
                                              </m:r>
                                            </m:e>
                                          </m:acc>
                                        </m:e>
                                      </m:d>
                                    </m:e>
                                    <m:sup>
                                      <m:r>
                                        <a:rPr lang="en-US" sz="2000" b="0" i="1" smtClean="0">
                                          <a:latin typeface="Cambria Math" panose="02040503050406030204" pitchFamily="18" charset="0"/>
                                        </a:rPr>
                                        <m:t>2</m:t>
                                      </m:r>
                                    </m:sup>
                                  </m:sSup>
                                </m:e>
                              </m:nary>
                            </m:num>
                            <m:den>
                              <m:r>
                                <a:rPr lang="en-US" sz="2000" b="0" i="1" smtClean="0">
                                  <a:latin typeface="Cambria Math" panose="02040503050406030204" pitchFamily="18" charset="0"/>
                                </a:rPr>
                                <m:t>𝑛</m:t>
                              </m:r>
                              <m:r>
                                <a:rPr lang="en-US" sz="2000" b="0" i="1" smtClean="0">
                                  <a:latin typeface="Cambria Math" panose="02040503050406030204" pitchFamily="18" charset="0"/>
                                </a:rPr>
                                <m:t>−1</m:t>
                              </m:r>
                            </m:den>
                          </m:f>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325,009,260</m:t>
                              </m:r>
                            </m:num>
                            <m:den>
                              <m:r>
                                <a:rPr lang="en-US" sz="2000" b="0" i="1" smtClean="0">
                                  <a:latin typeface="Cambria Math" panose="02040503050406030204" pitchFamily="18" charset="0"/>
                                </a:rPr>
                                <m:t>29</m:t>
                              </m:r>
                            </m:den>
                          </m:f>
                        </m:e>
                      </m:rad>
                      <m:r>
                        <a:rPr lang="en-US" sz="2000" b="0" i="1" smtClean="0">
                          <a:latin typeface="Cambria Math" panose="02040503050406030204" pitchFamily="18" charset="0"/>
                        </a:rPr>
                        <m:t>=$3,348</m:t>
                      </m:r>
                    </m:oMath>
                  </m:oMathPara>
                </a14:m>
                <a:endParaRPr lang="en-US" sz="2000" dirty="0">
                  <a:latin typeface="Symbol" panose="05050102010706020507" pitchFamily="18" charset="2"/>
                </a:endParaRPr>
              </a:p>
              <a:p>
                <a:pPr>
                  <a:spcBef>
                    <a:spcPts val="600"/>
                  </a:spcBef>
                  <a:spcAft>
                    <a:spcPts val="600"/>
                  </a:spcAft>
                </a:pP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oMath>
                </a14:m>
                <a:r>
                  <a:rPr lang="en-US" sz="2000" dirty="0"/>
                  <a:t> is the point estimator of the population proportion, </a:t>
                </a:r>
                <a14:m>
                  <m:oMath xmlns:m="http://schemas.openxmlformats.org/officeDocument/2006/math">
                    <m:r>
                      <a:rPr lang="en-US" sz="2000" i="1">
                        <a:latin typeface="Cambria Math" panose="02040503050406030204" pitchFamily="18" charset="0"/>
                      </a:rPr>
                      <m:t>𝑝</m:t>
                    </m:r>
                    <m:r>
                      <a:rPr lang="en-US" sz="2000" i="1">
                        <a:latin typeface="Cambria Math" panose="02040503050406030204" pitchFamily="18" charset="0"/>
                      </a:rPr>
                      <m:t>=0.6</m:t>
                    </m:r>
                  </m:oMath>
                </a14:m>
                <a:r>
                  <a:rPr lang="en-US" sz="2000" dirty="0"/>
                  <a:t>.</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𝑥</m:t>
                          </m:r>
                        </m:num>
                        <m:den>
                          <m:r>
                            <a:rPr lang="en-US" sz="2000" b="0" i="1" smtClean="0">
                              <a:latin typeface="Cambria Math" panose="02040503050406030204" pitchFamily="18" charset="0"/>
                            </a:rPr>
                            <m:t>𝑛</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19</m:t>
                          </m:r>
                        </m:num>
                        <m:den>
                          <m:r>
                            <a:rPr lang="en-US" sz="2000" b="0" i="1" smtClean="0">
                              <a:latin typeface="Cambria Math" panose="02040503050406030204" pitchFamily="18" charset="0"/>
                            </a:rPr>
                            <m:t>30</m:t>
                          </m:r>
                        </m:den>
                      </m:f>
                      <m:r>
                        <a:rPr lang="en-US" sz="2000" b="0" i="1" smtClean="0">
                          <a:latin typeface="Cambria Math" panose="02040503050406030204" pitchFamily="18" charset="0"/>
                        </a:rPr>
                        <m:t>=0.633</m:t>
                      </m:r>
                    </m:oMath>
                  </m:oMathPara>
                </a14:m>
                <a:endParaRPr lang="en-US" sz="2000" dirty="0"/>
              </a:p>
            </p:txBody>
          </p:sp>
        </mc:Choice>
        <mc:Fallback xmlns="">
          <p:sp>
            <p:nvSpPr>
              <p:cNvPr id="3" name="Text Placeholder 2">
                <a:extLst>
                  <a:ext uri="{FF2B5EF4-FFF2-40B4-BE49-F238E27FC236}">
                    <a16:creationId xmlns:a16="http://schemas.microsoft.com/office/drawing/2014/main" id="{625B8C83-5268-6702-AF12-933CBF8F2610}"/>
                  </a:ext>
                </a:extLst>
              </p:cNvPr>
              <p:cNvSpPr>
                <a:spLocks noGrp="1" noRot="1" noChangeAspect="1" noMove="1" noResize="1" noEditPoints="1" noAdjustHandles="1" noChangeArrowheads="1" noChangeShapeType="1" noTextEdit="1"/>
              </p:cNvSpPr>
              <p:nvPr>
                <p:ph type="body" sz="quarter" idx="15"/>
              </p:nvPr>
            </p:nvSpPr>
            <p:spPr>
              <a:xfrm>
                <a:off x="743576" y="1461134"/>
                <a:ext cx="10711543" cy="4057924"/>
              </a:xfrm>
              <a:blipFill>
                <a:blip r:embed="rId3"/>
                <a:stretch>
                  <a:fillRect l="-1480" t="-1805"/>
                </a:stretch>
              </a:blipFill>
            </p:spPr>
            <p:txBody>
              <a:bodyPr/>
              <a:lstStyle/>
              <a:p>
                <a:r>
                  <a:rPr lang="en-US">
                    <a:noFill/>
                  </a:rPr>
                  <a:t> </a:t>
                </a:r>
              </a:p>
            </p:txBody>
          </p:sp>
        </mc:Fallback>
      </mc:AlternateContent>
    </p:spTree>
    <p:extLst>
      <p:ext uri="{BB962C8B-B14F-4D97-AF65-F5344CB8AC3E}">
        <p14:creationId xmlns:p14="http://schemas.microsoft.com/office/powerpoint/2010/main" val="349938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D2B5-75B3-26FC-C56F-9B7CB2C2E622}"/>
              </a:ext>
            </a:extLst>
          </p:cNvPr>
          <p:cNvSpPr>
            <a:spLocks noGrp="1"/>
          </p:cNvSpPr>
          <p:nvPr>
            <p:ph type="title"/>
          </p:nvPr>
        </p:nvSpPr>
        <p:spPr/>
        <p:txBody>
          <a:bodyPr/>
          <a:lstStyle/>
          <a:p>
            <a:r>
              <a:rPr lang="en-US" dirty="0"/>
              <a:t>7.3 Practical Advice</a:t>
            </a:r>
          </a:p>
        </p:txBody>
      </p:sp>
      <p:sp>
        <p:nvSpPr>
          <p:cNvPr id="3" name="Text Placeholder 2">
            <a:extLst>
              <a:ext uri="{FF2B5EF4-FFF2-40B4-BE49-F238E27FC236}">
                <a16:creationId xmlns:a16="http://schemas.microsoft.com/office/drawing/2014/main" id="{ADBD5B45-790A-1356-CE57-D63897BCF240}"/>
              </a:ext>
            </a:extLst>
          </p:cNvPr>
          <p:cNvSpPr>
            <a:spLocks noGrp="1"/>
          </p:cNvSpPr>
          <p:nvPr>
            <p:ph type="body" sz="quarter" idx="15"/>
          </p:nvPr>
        </p:nvSpPr>
        <p:spPr>
          <a:xfrm>
            <a:off x="838200" y="1461407"/>
            <a:ext cx="10711543" cy="4155621"/>
          </a:xfrm>
        </p:spPr>
        <p:txBody>
          <a:bodyPr/>
          <a:lstStyle/>
          <a:p>
            <a:pPr>
              <a:spcBef>
                <a:spcPts val="600"/>
              </a:spcBef>
            </a:pPr>
            <a:r>
              <a:rPr lang="en-US" sz="2000" dirty="0"/>
              <a:t>The subject matter of most of the rest of the book is concerned with statistical inference. </a:t>
            </a:r>
          </a:p>
          <a:p>
            <a:pPr>
              <a:spcBef>
                <a:spcPts val="600"/>
              </a:spcBef>
            </a:pPr>
            <a:r>
              <a:rPr lang="en-US" sz="2000" dirty="0"/>
              <a:t>In statistical inference, the subject of most of the rest of the book, we use a sample statistic as a point estimator of a population parameter.</a:t>
            </a:r>
          </a:p>
          <a:p>
            <a:pPr marL="457200">
              <a:spcBef>
                <a:spcPts val="600"/>
              </a:spcBef>
            </a:pPr>
            <a:r>
              <a:rPr lang="en-US" sz="2000" dirty="0"/>
              <a:t>The </a:t>
            </a:r>
            <a:r>
              <a:rPr lang="en-US" sz="2000" b="1" dirty="0"/>
              <a:t>target population </a:t>
            </a:r>
            <a:r>
              <a:rPr lang="en-US" sz="2000" dirty="0"/>
              <a:t>is the population we want to make inferences about.</a:t>
            </a:r>
          </a:p>
          <a:p>
            <a:pPr marL="457200">
              <a:spcBef>
                <a:spcPts val="600"/>
              </a:spcBef>
            </a:pPr>
            <a:r>
              <a:rPr lang="en-US" sz="2000" dirty="0"/>
              <a:t>The </a:t>
            </a:r>
            <a:r>
              <a:rPr lang="en-US" sz="2000" b="1" dirty="0"/>
              <a:t>sampled population </a:t>
            </a:r>
            <a:r>
              <a:rPr lang="en-US" sz="2000" dirty="0"/>
              <a:t>is the population from which the sample is actually taken.</a:t>
            </a:r>
          </a:p>
          <a:p>
            <a:pPr>
              <a:spcBef>
                <a:spcPts val="600"/>
              </a:spcBef>
            </a:pPr>
            <a:r>
              <a:rPr lang="en-US" sz="2000" dirty="0"/>
              <a:t>In the EAI example, we drew a simple random sample from the sampled population of 2,500 managers to make point estimates of parameters of an identical target population. </a:t>
            </a:r>
          </a:p>
          <a:p>
            <a:pPr>
              <a:spcBef>
                <a:spcPts val="600"/>
              </a:spcBef>
            </a:pPr>
            <a:r>
              <a:rPr lang="en-US" sz="2000" dirty="0"/>
              <a:t>However, it is not always easy to obtain a close correspondence between the sampled and target populations as we did in the EAI example.</a:t>
            </a:r>
          </a:p>
          <a:p>
            <a:pPr>
              <a:spcBef>
                <a:spcPts val="600"/>
              </a:spcBef>
            </a:pPr>
            <a:r>
              <a:rPr lang="en-US" sz="2000" dirty="0"/>
              <a:t>Whenever a sample is used to make inferences about a population, we should make sure that the targeted population and the sampled population are in close agreement, or we cannot guarantee that the sample is representative of the target population.</a:t>
            </a:r>
          </a:p>
        </p:txBody>
      </p:sp>
    </p:spTree>
    <p:extLst>
      <p:ext uri="{BB962C8B-B14F-4D97-AF65-F5344CB8AC3E}">
        <p14:creationId xmlns:p14="http://schemas.microsoft.com/office/powerpoint/2010/main" val="149357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A920-EEB6-1B08-7498-9B7C98E394A8}"/>
              </a:ext>
            </a:extLst>
          </p:cNvPr>
          <p:cNvSpPr>
            <a:spLocks noGrp="1"/>
          </p:cNvSpPr>
          <p:nvPr>
            <p:ph type="title"/>
          </p:nvPr>
        </p:nvSpPr>
        <p:spPr/>
        <p:txBody>
          <a:bodyPr/>
          <a:lstStyle/>
          <a:p>
            <a:r>
              <a:rPr lang="en-US" dirty="0">
                <a:solidFill>
                  <a:srgbClr val="D14B1E"/>
                </a:solidFill>
              </a:rPr>
              <a:t>7.4 Introduction to Sampling Distributions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89994F9-8228-CA62-810D-B1A1B34E4DD1}"/>
                  </a:ext>
                </a:extLst>
              </p:cNvPr>
              <p:cNvSpPr>
                <a:spLocks noGrp="1"/>
              </p:cNvSpPr>
              <p:nvPr>
                <p:ph type="body" sz="quarter" idx="15"/>
              </p:nvPr>
            </p:nvSpPr>
            <p:spPr>
              <a:xfrm>
                <a:off x="743576" y="1319918"/>
                <a:ext cx="10348095" cy="672106"/>
              </a:xfrm>
            </p:spPr>
            <p:txBody>
              <a:bodyPr/>
              <a:lstStyle/>
              <a:p>
                <a:r>
                  <a:rPr lang="en-US" sz="2000" dirty="0"/>
                  <a:t>Suppose we repeat the process of selecting a simple random sample of 30 EAI managers over and over again, each time computing the values of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t> and </a:t>
                </a:r>
                <a14:m>
                  <m:oMath xmlns:m="http://schemas.openxmlformats.org/officeDocument/2006/math">
                    <m:acc>
                      <m:accPr>
                        <m:chr m:val="̅"/>
                        <m:ctrlPr>
                          <a:rPr lang="en-US" sz="2000" i="1">
                            <a:latin typeface="Cambria Math" panose="02040503050406030204" pitchFamily="18" charset="0"/>
                          </a:rPr>
                        </m:ctrlPr>
                      </m:accPr>
                      <m:e>
                        <m:r>
                          <a:rPr lang="en-US" sz="2000" b="0" i="1" smtClean="0">
                            <a:latin typeface="Cambria Math" panose="02040503050406030204" pitchFamily="18" charset="0"/>
                          </a:rPr>
                          <m:t>𝑝</m:t>
                        </m:r>
                      </m:e>
                    </m:acc>
                  </m:oMath>
                </a14:m>
                <a:r>
                  <a:rPr lang="en-US" sz="2000" dirty="0"/>
                  <a:t>.</a:t>
                </a:r>
              </a:p>
            </p:txBody>
          </p:sp>
        </mc:Choice>
        <mc:Fallback xmlns="">
          <p:sp>
            <p:nvSpPr>
              <p:cNvPr id="3" name="Text Placeholder 2">
                <a:extLst>
                  <a:ext uri="{FF2B5EF4-FFF2-40B4-BE49-F238E27FC236}">
                    <a16:creationId xmlns:a16="http://schemas.microsoft.com/office/drawing/2014/main" id="{489994F9-8228-CA62-810D-B1A1B34E4DD1}"/>
                  </a:ext>
                </a:extLst>
              </p:cNvPr>
              <p:cNvSpPr>
                <a:spLocks noGrp="1" noRot="1" noChangeAspect="1" noMove="1" noResize="1" noEditPoints="1" noAdjustHandles="1" noChangeArrowheads="1" noChangeShapeType="1" noTextEdit="1"/>
              </p:cNvSpPr>
              <p:nvPr>
                <p:ph type="body" sz="quarter" idx="15"/>
              </p:nvPr>
            </p:nvSpPr>
            <p:spPr>
              <a:xfrm>
                <a:off x="743576" y="1319918"/>
                <a:ext cx="10348095" cy="672106"/>
              </a:xfrm>
              <a:blipFill>
                <a:blip r:embed="rId2"/>
                <a:stretch>
                  <a:fillRect l="-1532" t="-10909" b="-1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DF6D7F0B-1E1A-4268-B64C-3264D87CAAE1}"/>
                  </a:ext>
                </a:extLst>
              </p:cNvPr>
              <p:cNvSpPr>
                <a:spLocks noGrp="1"/>
              </p:cNvSpPr>
              <p:nvPr>
                <p:ph type="body" sz="quarter" idx="17"/>
              </p:nvPr>
            </p:nvSpPr>
            <p:spPr>
              <a:xfrm>
                <a:off x="743577" y="1992024"/>
                <a:ext cx="4697103" cy="3856413"/>
              </a:xfrm>
            </p:spPr>
            <p:txBody>
              <a:bodyPr/>
              <a:lstStyle/>
              <a:p>
                <a:r>
                  <a:rPr lang="en-US" sz="2000" dirty="0"/>
                  <a:t>Because each random sample likely contains a unique random selection of 30 managers, each point estimate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oMath>
                </a14:m>
                <a:r>
                  <a:rPr lang="en-US" sz="2000" dirty="0"/>
                  <a:t> and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r>
                  <a:rPr lang="en-US" sz="2000" dirty="0"/>
                  <a:t> will be different.</a:t>
                </a:r>
              </a:p>
              <a:p>
                <a:r>
                  <a:rPr lang="en-US" sz="2000" dirty="0"/>
                  <a:t>As a random variable,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oMath>
                </a14:m>
                <a:r>
                  <a:rPr lang="en-US" sz="2000" dirty="0"/>
                  <a:t> will have an expected value, a standard deviation, and a probability distribution, called the </a:t>
                </a:r>
                <a:r>
                  <a:rPr lang="en-US" sz="2000" b="1" dirty="0"/>
                  <a:t>sampling distribution </a:t>
                </a:r>
                <a:r>
                  <a:rPr lang="en-US" sz="2000" dirty="0"/>
                  <a:t>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oMath>
                </a14:m>
                <a:r>
                  <a:rPr lang="en-US" sz="2000" dirty="0"/>
                  <a:t>.</a:t>
                </a:r>
              </a:p>
              <a:p>
                <a:r>
                  <a:rPr lang="en-US" sz="2000" dirty="0"/>
                  <a:t>The relative frequency histogram of 500 values of </a:t>
                </a:r>
                <a14:m>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𝑥</m:t>
                        </m:r>
                      </m:e>
                    </m:acc>
                  </m:oMath>
                </a14:m>
                <a:r>
                  <a:rPr lang="en-US" sz="2000" dirty="0"/>
                  <a:t>, as shown in the figure on the bottom right, approximates 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oMath>
                </a14:m>
                <a:r>
                  <a:rPr lang="en-US" sz="2000" dirty="0"/>
                  <a:t>.</a:t>
                </a:r>
              </a:p>
            </p:txBody>
          </p:sp>
        </mc:Choice>
        <mc:Fallback xmlns="">
          <p:sp>
            <p:nvSpPr>
              <p:cNvPr id="5" name="Text Placeholder 4">
                <a:extLst>
                  <a:ext uri="{FF2B5EF4-FFF2-40B4-BE49-F238E27FC236}">
                    <a16:creationId xmlns:a16="http://schemas.microsoft.com/office/drawing/2014/main" id="{DF6D7F0B-1E1A-4268-B64C-3264D87CAAE1}"/>
                  </a:ext>
                </a:extLst>
              </p:cNvPr>
              <p:cNvSpPr>
                <a:spLocks noGrp="1" noRot="1" noChangeAspect="1" noMove="1" noResize="1" noEditPoints="1" noAdjustHandles="1" noChangeArrowheads="1" noChangeShapeType="1" noTextEdit="1"/>
              </p:cNvSpPr>
              <p:nvPr>
                <p:ph type="body" sz="quarter" idx="17"/>
              </p:nvPr>
            </p:nvSpPr>
            <p:spPr>
              <a:xfrm>
                <a:off x="743577" y="1992024"/>
                <a:ext cx="4697103" cy="3856413"/>
              </a:xfrm>
              <a:blipFill>
                <a:blip r:embed="rId3"/>
                <a:stretch>
                  <a:fillRect l="-3372" t="-1899" r="-7393" b="-3006"/>
                </a:stretch>
              </a:blipFill>
            </p:spPr>
            <p:txBody>
              <a:bodyPr/>
              <a:lstStyle/>
              <a:p>
                <a:r>
                  <a:rPr lang="en-US">
                    <a:noFill/>
                  </a:rPr>
                  <a:t> </a:t>
                </a:r>
              </a:p>
            </p:txBody>
          </p:sp>
        </mc:Fallback>
      </mc:AlternateContent>
      <p:pic>
        <p:nvPicPr>
          <p:cNvPr id="9" name="Picture Placeholder 8" descr="A histogram with nine vertical bars plots relative frequency versus values of x-bar. The horizontal axis is labeled “Values of x-bar” and ranges from 70,000 to 74,000 with tickmarks in increments of 1,000. The vertical axis is labeled “Relative Frequency” and ranges from 0 to 0.30 with tickmarks in increments of 0.05. The data from the histogram are as follows. 69,500 to 70,000: 0.004. 70,000 to 70,500: 0.032. 70,500 to 71,000: 0.104. 71,000 to 71,500: 0.202. 71,500 to 72,000: 0.266. 72,500 to 73,000: 0.220. 73,000 to 73,500: 0.108. 73,500 to 74,000: 0.052. 74,000 to 74,500: 0.012.&#10;">
            <a:extLst>
              <a:ext uri="{FF2B5EF4-FFF2-40B4-BE49-F238E27FC236}">
                <a16:creationId xmlns:a16="http://schemas.microsoft.com/office/drawing/2014/main" id="{42031BA7-5169-8C26-E8E0-BEF90169A313}"/>
              </a:ext>
            </a:extLst>
          </p:cNvPr>
          <p:cNvPicPr>
            <a:picLocks noGrp="1" noChangeAspect="1"/>
          </p:cNvPicPr>
          <p:nvPr>
            <p:ph type="pic" sz="quarter" idx="16"/>
          </p:nvPr>
        </p:nvPicPr>
        <p:blipFill rotWithShape="1">
          <a:blip r:embed="rId4"/>
          <a:srcRect t="5" b="5"/>
          <a:stretch/>
        </p:blipFill>
        <p:spPr>
          <a:xfrm>
            <a:off x="5733288" y="2112264"/>
            <a:ext cx="5402509" cy="3736173"/>
          </a:xfrm>
        </p:spPr>
      </p:pic>
    </p:spTree>
    <p:extLst>
      <p:ext uri="{BB962C8B-B14F-4D97-AF65-F5344CB8AC3E}">
        <p14:creationId xmlns:p14="http://schemas.microsoft.com/office/powerpoint/2010/main" val="3094622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4822324-328E-C8C3-3146-B40480AE7306}"/>
              </a:ext>
            </a:extLst>
          </p:cNvPr>
          <p:cNvSpPr>
            <a:spLocks noGrp="1"/>
          </p:cNvSpPr>
          <p:nvPr>
            <p:ph type="title"/>
          </p:nvPr>
        </p:nvSpPr>
        <p:spPr/>
        <p:txBody>
          <a:bodyPr/>
          <a:lstStyle/>
          <a:p>
            <a:r>
              <a:rPr lang="en-US" dirty="0"/>
              <a:t>7.4 Approximation of a Sampling Distribution</a:t>
            </a:r>
          </a:p>
        </p:txBody>
      </p:sp>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0555904-EE0B-EE1A-DB45-C9C24072F301}"/>
                  </a:ext>
                </a:extLst>
              </p:cNvPr>
              <p:cNvSpPr>
                <a:spLocks noGrp="1"/>
              </p:cNvSpPr>
              <p:nvPr>
                <p:ph type="body" sz="quarter" idx="15"/>
              </p:nvPr>
            </p:nvSpPr>
            <p:spPr>
              <a:xfrm>
                <a:off x="743577" y="1396660"/>
                <a:ext cx="6110706" cy="4253024"/>
              </a:xfrm>
            </p:spPr>
            <p:txBody>
              <a:bodyPr/>
              <a:lstStyle/>
              <a:p>
                <a14:m>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𝑝</m:t>
                        </m:r>
                      </m:e>
                    </m:acc>
                  </m:oMath>
                </a14:m>
                <a:r>
                  <a:rPr lang="en-US" sz="2000" dirty="0"/>
                  <a:t> is also a random variable. If a value of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𝑝</m:t>
                        </m:r>
                      </m:e>
                    </m:acc>
                  </m:oMath>
                </a14:m>
                <a:r>
                  <a:rPr lang="en-US" sz="2000" dirty="0"/>
                  <a:t> was computed for every possible sample of size 30, the resulting probability distribution would be 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r>
                  <a:rPr lang="en-US" sz="2000" dirty="0"/>
                  <a:t>.</a:t>
                </a:r>
              </a:p>
              <a:p>
                <a:r>
                  <a:rPr lang="en-US" sz="2000" dirty="0"/>
                  <a:t>The relative frequency histogram of the 500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r>
                  <a:rPr lang="en-US" sz="2000" dirty="0"/>
                  <a:t> values in the figure to the right provides a general idea of the appearance of the sampling distribution of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𝑝</m:t>
                        </m:r>
                      </m:e>
                    </m:acc>
                  </m:oMath>
                </a14:m>
                <a:r>
                  <a:rPr lang="en-US" sz="2000" dirty="0"/>
                  <a:t>.</a:t>
                </a:r>
              </a:p>
              <a:p>
                <a:r>
                  <a:rPr lang="en-US" sz="2000" dirty="0"/>
                  <a:t>From the approximations of the sampling distributions of </a:t>
                </a:r>
                <a14:m>
                  <m:oMath xmlns:m="http://schemas.openxmlformats.org/officeDocument/2006/math">
                    <m:acc>
                      <m:accPr>
                        <m:chr m:val="̅"/>
                        <m:ctrlPr>
                          <a:rPr lang="en-US" sz="2000" i="1">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t> and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𝑝</m:t>
                        </m:r>
                      </m:e>
                    </m:acc>
                  </m:oMath>
                </a14:m>
                <a:r>
                  <a:rPr lang="en-US" sz="2000" dirty="0"/>
                  <a:t>, we observe the bell-shaped appearance and the concentration of most values of the sample statistic around their respective population parameter.</a:t>
                </a:r>
              </a:p>
              <a:p>
                <a:r>
                  <a:rPr lang="en-US" sz="2000" dirty="0"/>
                  <a:t>In practice, to build a sampling distribution we select only one simple random sample from the population.</a:t>
                </a:r>
              </a:p>
            </p:txBody>
          </p:sp>
        </mc:Choice>
        <mc:Fallback xmlns="">
          <p:sp>
            <p:nvSpPr>
              <p:cNvPr id="9" name="Text Placeholder 8">
                <a:extLst>
                  <a:ext uri="{FF2B5EF4-FFF2-40B4-BE49-F238E27FC236}">
                    <a16:creationId xmlns:a16="http://schemas.microsoft.com/office/drawing/2014/main" id="{50555904-EE0B-EE1A-DB45-C9C24072F301}"/>
                  </a:ext>
                </a:extLst>
              </p:cNvPr>
              <p:cNvSpPr>
                <a:spLocks noGrp="1" noRot="1" noChangeAspect="1" noMove="1" noResize="1" noEditPoints="1" noAdjustHandles="1" noChangeArrowheads="1" noChangeShapeType="1" noTextEdit="1"/>
              </p:cNvSpPr>
              <p:nvPr>
                <p:ph type="body" sz="quarter" idx="15"/>
              </p:nvPr>
            </p:nvSpPr>
            <p:spPr>
              <a:xfrm>
                <a:off x="743577" y="1396660"/>
                <a:ext cx="6110706" cy="4253024"/>
              </a:xfrm>
              <a:blipFill>
                <a:blip r:embed="rId2"/>
                <a:stretch>
                  <a:fillRect l="-2595" t="-1719" r="-3293" b="-2292"/>
                </a:stretch>
              </a:blipFill>
            </p:spPr>
            <p:txBody>
              <a:bodyPr/>
              <a:lstStyle/>
              <a:p>
                <a:r>
                  <a:rPr lang="en-US">
                    <a:noFill/>
                  </a:rPr>
                  <a:t> </a:t>
                </a:r>
              </a:p>
            </p:txBody>
          </p:sp>
        </mc:Fallback>
      </mc:AlternateContent>
      <p:pic>
        <p:nvPicPr>
          <p:cNvPr id="7" name="Picture Placeholder 6" descr="A histogram with seven vertical bars plots relative frequency versus values of p-bar. The horizontal axis is labeled “Values of p-bar” and ranges from 0.32 to 0.88 with tickmarks in increments of 0.08. The vertical axis is labeled “Relative Frequency” and ranges from 0 to 0.40 with tickmarks in increments of 0.05. The data from the histogram are as follows. 0.32 to 0.40: 0.02. 0.40 to 0.48: 0.095. 0.48 to 0.56: 0.20. 0.56 to 0.64: 0.40. 0.64 to 0.72: 0.20. 0.72 to 0.80: 0.095. 0.80 to 0.88: 0.01. All data are approximate.&#10;">
            <a:extLst>
              <a:ext uri="{FF2B5EF4-FFF2-40B4-BE49-F238E27FC236}">
                <a16:creationId xmlns:a16="http://schemas.microsoft.com/office/drawing/2014/main" id="{B73BDDF8-7EC2-6D74-E87A-5C54E2384D37}"/>
              </a:ext>
            </a:extLst>
          </p:cNvPr>
          <p:cNvPicPr>
            <a:picLocks noGrp="1" noChangeAspect="1"/>
          </p:cNvPicPr>
          <p:nvPr>
            <p:ph type="pic" sz="quarter" idx="16"/>
          </p:nvPr>
        </p:nvPicPr>
        <p:blipFill rotWithShape="1">
          <a:blip r:embed="rId3"/>
          <a:srcRect l="3297" r="3297"/>
          <a:stretch/>
        </p:blipFill>
        <p:spPr>
          <a:xfrm>
            <a:off x="7038975" y="1453928"/>
            <a:ext cx="4314825" cy="4252913"/>
          </a:xfrm>
        </p:spPr>
      </p:pic>
    </p:spTree>
    <p:extLst>
      <p:ext uri="{BB962C8B-B14F-4D97-AF65-F5344CB8AC3E}">
        <p14:creationId xmlns:p14="http://schemas.microsoft.com/office/powerpoint/2010/main" val="3887230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EEC1D41-03BA-1A12-59F6-D910E2F34950}"/>
                  </a:ext>
                </a:extLst>
              </p:cNvPr>
              <p:cNvSpPr>
                <a:spLocks noGrp="1"/>
              </p:cNvSpPr>
              <p:nvPr>
                <p:ph type="title"/>
              </p:nvPr>
            </p:nvSpPr>
            <p:spPr/>
            <p:txBody>
              <a:bodyPr/>
              <a:lstStyle/>
              <a:p>
                <a:r>
                  <a:rPr lang="en-US" dirty="0">
                    <a:solidFill>
                      <a:srgbClr val="D14B1E"/>
                    </a:solidFill>
                  </a:rPr>
                  <a:t>7.5 Sampling Distribution of</a:t>
                </a:r>
                <a:r>
                  <a:rPr lang="en-US" b="0" dirty="0">
                    <a:solidFill>
                      <a:srgbClr val="D14B1E"/>
                    </a:solidFill>
                  </a:rPr>
                  <a:t> </a:t>
                </a:r>
                <a14:m>
                  <m:oMath xmlns:m="http://schemas.openxmlformats.org/officeDocument/2006/math">
                    <m:acc>
                      <m:accPr>
                        <m:chr m:val="̅"/>
                        <m:ctrlPr>
                          <a:rPr lang="en-US" sz="3600" i="1" smtClean="0">
                            <a:solidFill>
                              <a:srgbClr val="D14B1E"/>
                            </a:solidFill>
                            <a:latin typeface="Cambria Math" panose="02040503050406030204" pitchFamily="18" charset="0"/>
                          </a:rPr>
                        </m:ctrlPr>
                      </m:accPr>
                      <m:e>
                        <m:r>
                          <a:rPr lang="en-US" sz="3600" b="1" i="1" smtClean="0">
                            <a:solidFill>
                              <a:srgbClr val="D14B1E"/>
                            </a:solidFill>
                            <a:latin typeface="Cambria Math" panose="02040503050406030204" pitchFamily="18" charset="0"/>
                          </a:rPr>
                          <m:t>𝒙</m:t>
                        </m:r>
                      </m:e>
                    </m:acc>
                  </m:oMath>
                </a14:m>
                <a:endParaRPr lang="en-US" dirty="0">
                  <a:solidFill>
                    <a:srgbClr val="D14B1E"/>
                  </a:solidFill>
                </a:endParaRPr>
              </a:p>
            </p:txBody>
          </p:sp>
        </mc:Choice>
        <mc:Fallback xmlns="">
          <p:sp>
            <p:nvSpPr>
              <p:cNvPr id="2" name="Title 1">
                <a:extLst>
                  <a:ext uri="{FF2B5EF4-FFF2-40B4-BE49-F238E27FC236}">
                    <a16:creationId xmlns:a16="http://schemas.microsoft.com/office/drawing/2014/main" id="{3EEC1D41-03BA-1A12-59F6-D910E2F34950}"/>
                  </a:ext>
                </a:extLst>
              </p:cNvPr>
              <p:cNvSpPr>
                <a:spLocks noGrp="1" noRot="1" noChangeAspect="1" noMove="1" noResize="1" noEditPoints="1" noAdjustHandles="1" noChangeArrowheads="1" noChangeShapeType="1" noTextEdit="1"/>
              </p:cNvSpPr>
              <p:nvPr>
                <p:ph type="title"/>
              </p:nvPr>
            </p:nvSpPr>
            <p:spPr>
              <a:blipFill>
                <a:blip r:embed="rId3"/>
                <a:stretch>
                  <a:fillRect t="-24545" b="-1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0A481166-A02D-F72D-615F-3181BDFE06FB}"/>
                  </a:ext>
                </a:extLst>
              </p:cNvPr>
              <p:cNvSpPr>
                <a:spLocks noGrp="1"/>
              </p:cNvSpPr>
              <p:nvPr>
                <p:ph type="body" sz="quarter" idx="16"/>
              </p:nvPr>
            </p:nvSpPr>
            <p:spPr>
              <a:xfrm>
                <a:off x="740228" y="1289497"/>
                <a:ext cx="10711543" cy="4587768"/>
              </a:xfrm>
            </p:spPr>
            <p:txBody>
              <a:bodyPr/>
              <a:lstStyle/>
              <a:p>
                <a:pPr>
                  <a:spcBef>
                    <a:spcPts val="600"/>
                  </a:spcBef>
                  <a:spcAft>
                    <a:spcPts val="600"/>
                  </a:spcAft>
                </a:pPr>
                <a:r>
                  <a:rPr lang="en-US" sz="2000" dirty="0"/>
                  <a:t>The </a:t>
                </a:r>
                <a:r>
                  <a:rPr lang="en-US" sz="2000" b="1" dirty="0"/>
                  <a:t>sampling distribution of </a:t>
                </a:r>
                <a14:m>
                  <m:oMath xmlns:m="http://schemas.openxmlformats.org/officeDocument/2006/math">
                    <m:acc>
                      <m:accPr>
                        <m:chr m:val="̅"/>
                        <m:ctrlPr>
                          <a:rPr lang="en-US" sz="2000" b="1" i="1" smtClean="0">
                            <a:latin typeface="Cambria Math" panose="02040503050406030204" pitchFamily="18" charset="0"/>
                          </a:rPr>
                        </m:ctrlPr>
                      </m:accPr>
                      <m:e>
                        <m:r>
                          <a:rPr lang="en-US" sz="2000" b="1" i="1">
                            <a:latin typeface="Cambria Math" panose="02040503050406030204" pitchFamily="18" charset="0"/>
                          </a:rPr>
                          <m:t>𝒙</m:t>
                        </m:r>
                      </m:e>
                    </m:acc>
                  </m:oMath>
                </a14:m>
                <a:r>
                  <a:rPr lang="en-US" sz="2000" dirty="0"/>
                  <a:t>, the probability distribution of all possible values of the sample mean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oMath>
                </a14:m>
                <a:r>
                  <a:rPr lang="en-US" sz="2000" dirty="0"/>
                  <a:t>, is defined by</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𝑬</m:t>
                      </m:r>
                      <m:d>
                        <m:dPr>
                          <m:ctrlPr>
                            <a:rPr lang="en-US" sz="2000" b="1" i="1" smtClean="0">
                              <a:latin typeface="Cambria Math" panose="02040503050406030204" pitchFamily="18" charset="0"/>
                            </a:rPr>
                          </m:ctrlPr>
                        </m:dPr>
                        <m:e>
                          <m:acc>
                            <m:accPr>
                              <m:chr m:val="̅"/>
                              <m:ctrlPr>
                                <a:rPr lang="en-US" sz="2000" b="1" i="1">
                                  <a:latin typeface="Cambria Math" panose="02040503050406030204" pitchFamily="18" charset="0"/>
                                </a:rPr>
                              </m:ctrlPr>
                            </m:accPr>
                            <m:e>
                              <m:r>
                                <a:rPr lang="en-US" sz="2000" b="1" i="1">
                                  <a:latin typeface="Cambria Math" panose="02040503050406030204" pitchFamily="18" charset="0"/>
                                </a:rPr>
                                <m:t>𝒙</m:t>
                              </m:r>
                            </m:e>
                          </m:acc>
                        </m:e>
                      </m:d>
                      <m:r>
                        <a:rPr lang="en-US" sz="2000" b="1" i="1" smtClean="0">
                          <a:latin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𝝁</m:t>
                      </m:r>
                      <m:r>
                        <a:rPr lang="en-US" sz="2000" b="0" i="1" smtClean="0">
                          <a:latin typeface="Cambria Math" panose="02040503050406030204" pitchFamily="18" charset="0"/>
                          <a:ea typeface="Cambria Math" panose="02040503050406030204" pitchFamily="18" charset="0"/>
                        </a:rPr>
                        <m:t> </m:t>
                      </m:r>
                      <m:r>
                        <m:rPr>
                          <m:nor/>
                        </m:rPr>
                        <a:rPr lang="en-US" sz="2000" b="0" i="0" smtClean="0">
                          <a:latin typeface="Cambria Math" panose="02040503050406030204" pitchFamily="18" charset="0"/>
                          <a:ea typeface="Cambria Math" panose="02040503050406030204" pitchFamily="18"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the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epected</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value</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of</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 </m:t>
                      </m:r>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𝑥</m:t>
                          </m:r>
                        </m:e>
                      </m:acc>
                    </m:oMath>
                  </m:oMathPara>
                </a14:m>
                <a:endParaRPr lang="en-US" sz="2000" dirty="0"/>
              </a:p>
              <a:p>
                <a:pPr>
                  <a:spcAft>
                    <a:spcPts val="600"/>
                  </a:spcAft>
                </a:pPr>
                <a:r>
                  <a:rPr lang="en-US" sz="2000" dirty="0"/>
                  <a:t>When the expected value of the point estimator equals the population parameter, we say the point estimator is </a:t>
                </a:r>
                <a:r>
                  <a:rPr lang="en-US" sz="2000" b="1" dirty="0"/>
                  <a:t>unbiased</a:t>
                </a:r>
                <a:r>
                  <a:rPr lang="en-US" sz="2000" dirty="0"/>
                  <a:t>.</a:t>
                </a:r>
              </a:p>
              <a:p>
                <a:pPr marL="914400">
                  <a:spcAft>
                    <a:spcPts val="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sub>
                      </m:sSub>
                      <m:r>
                        <a:rPr lang="en-US" sz="2000" b="1" i="1" smtClean="0">
                          <a:latin typeface="Cambria Math" panose="02040503050406030204" pitchFamily="18" charset="0"/>
                        </a:rPr>
                        <m:t>=</m:t>
                      </m:r>
                      <m:rad>
                        <m:radPr>
                          <m:degHide m:val="on"/>
                          <m:ctrlPr>
                            <a:rPr lang="en-US" sz="2000" b="1" i="1" smtClean="0">
                              <a:latin typeface="Cambria Math" panose="02040503050406030204" pitchFamily="18" charset="0"/>
                            </a:rPr>
                          </m:ctrlPr>
                        </m:radPr>
                        <m:deg/>
                        <m:e>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𝑵</m:t>
                              </m:r>
                              <m:r>
                                <a:rPr lang="en-US" sz="2000" b="1" i="1" smtClean="0">
                                  <a:latin typeface="Cambria Math" panose="02040503050406030204" pitchFamily="18" charset="0"/>
                                </a:rPr>
                                <m:t>−</m:t>
                              </m:r>
                              <m:r>
                                <a:rPr lang="en-US" sz="2000" b="1" i="1" smtClean="0">
                                  <a:latin typeface="Cambria Math" panose="02040503050406030204" pitchFamily="18" charset="0"/>
                                </a:rPr>
                                <m:t>𝒏</m:t>
                              </m:r>
                            </m:num>
                            <m:den>
                              <m:r>
                                <a:rPr lang="en-US" sz="2000" b="1" i="1" smtClean="0">
                                  <a:latin typeface="Cambria Math" panose="02040503050406030204" pitchFamily="18" charset="0"/>
                                </a:rPr>
                                <m:t>𝑵</m:t>
                              </m:r>
                              <m:r>
                                <a:rPr lang="en-US" sz="2000" b="1" i="1" smtClean="0">
                                  <a:latin typeface="Cambria Math" panose="02040503050406030204" pitchFamily="18" charset="0"/>
                                </a:rPr>
                                <m:t>−</m:t>
                              </m:r>
                              <m:r>
                                <a:rPr lang="en-US" sz="2000" b="1" i="1" smtClean="0">
                                  <a:latin typeface="Cambria Math" panose="02040503050406030204" pitchFamily="18" charset="0"/>
                                </a:rPr>
                                <m:t>𝟏</m:t>
                              </m:r>
                            </m:den>
                          </m:f>
                        </m:e>
                      </m:rad>
                      <m:d>
                        <m:dPr>
                          <m:ctrlPr>
                            <a:rPr lang="en-US" sz="2000" b="1" i="1" smtClean="0">
                              <a:latin typeface="Cambria Math" panose="02040503050406030204" pitchFamily="18" charset="0"/>
                            </a:rPr>
                          </m:ctrlPr>
                        </m:dPr>
                        <m:e>
                          <m:f>
                            <m:fPr>
                              <m:ctrlPr>
                                <a:rPr lang="en-US" sz="2000" b="1" i="1" smtClean="0">
                                  <a:latin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𝝈</m:t>
                              </m:r>
                            </m:num>
                            <m:den>
                              <m:rad>
                                <m:radPr>
                                  <m:degHide m:val="on"/>
                                  <m:ctrlPr>
                                    <a:rPr lang="en-US" sz="2000" b="1" i="1" smtClean="0">
                                      <a:latin typeface="Cambria Math" panose="02040503050406030204" pitchFamily="18" charset="0"/>
                                    </a:rPr>
                                  </m:ctrlPr>
                                </m:radPr>
                                <m:deg/>
                                <m:e>
                                  <m:r>
                                    <a:rPr lang="en-US" sz="2000" b="1" i="1" smtClean="0">
                                      <a:latin typeface="Cambria Math" panose="02040503050406030204" pitchFamily="18" charset="0"/>
                                    </a:rPr>
                                    <m:t>𝒏</m:t>
                                  </m:r>
                                </m:e>
                              </m:rad>
                            </m:den>
                          </m:f>
                        </m:e>
                      </m:d>
                      <m:r>
                        <m:rPr>
                          <m:nor/>
                        </m:rPr>
                        <a:rPr lang="en-US" sz="2000" b="0" i="0" smtClean="0">
                          <a:latin typeface="Cambria Math" panose="02040503050406030204" pitchFamily="18" charset="0"/>
                        </a:rPr>
                        <m:t>    </m:t>
                      </m:r>
                      <m:r>
                        <m:rPr>
                          <m:nor/>
                        </m:rPr>
                        <a:rPr lang="en-US" sz="2000" dirty="0"/>
                        <m:t>the</m:t>
                      </m:r>
                      <m:r>
                        <m:rPr>
                          <m:nor/>
                        </m:rPr>
                        <a:rPr lang="en-US" sz="2000" dirty="0"/>
                        <m:t> </m:t>
                      </m:r>
                      <m:r>
                        <m:rPr>
                          <m:nor/>
                        </m:rPr>
                        <a:rPr lang="en-US" sz="2000" b="1" dirty="0"/>
                        <m:t>standard</m:t>
                      </m:r>
                      <m:r>
                        <m:rPr>
                          <m:nor/>
                        </m:rPr>
                        <a:rPr lang="en-US" sz="2000" b="1" dirty="0"/>
                        <m:t> </m:t>
                      </m:r>
                      <m:r>
                        <m:rPr>
                          <m:nor/>
                        </m:rPr>
                        <a:rPr lang="en-US" sz="2000" b="1" dirty="0"/>
                        <m:t>error</m:t>
                      </m:r>
                      <m:r>
                        <m:rPr>
                          <m:nor/>
                        </m:rPr>
                        <a:rPr lang="en-US" sz="2000" b="1" dirty="0"/>
                        <m:t> </m:t>
                      </m:r>
                      <m:r>
                        <m:rPr>
                          <m:nor/>
                        </m:rPr>
                        <a:rPr lang="en-US" sz="2000" dirty="0"/>
                        <m:t>of</m:t>
                      </m:r>
                      <m:r>
                        <m:rPr>
                          <m:nor/>
                        </m:rPr>
                        <a:rPr lang="en-US" sz="2000" b="0" i="0" dirty="0" smtClean="0"/>
                        <m:t> </m:t>
                      </m:r>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𝑥</m:t>
                          </m:r>
                        </m:e>
                      </m:acc>
                      <m:r>
                        <m:rPr>
                          <m:nor/>
                        </m:rPr>
                        <a:rPr lang="en-US" sz="2000" dirty="0"/>
                        <m:t> </m:t>
                      </m:r>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m:t>
                          </m:r>
                        </m:e>
                        <m:sup>
                          <m:r>
                            <a:rPr lang="en-US" sz="2000" b="0" i="1" dirty="0" smtClean="0">
                              <a:latin typeface="Cambria Math" panose="02040503050406030204" pitchFamily="18" charset="0"/>
                            </a:rPr>
                            <m:t>∗</m:t>
                          </m:r>
                        </m:sup>
                      </m:sSup>
                      <m:r>
                        <m:rPr>
                          <m:nor/>
                        </m:rPr>
                        <a:rPr lang="en-US" sz="2000" dirty="0"/>
                        <m:t>see</m:t>
                      </m:r>
                      <m:r>
                        <m:rPr>
                          <m:nor/>
                        </m:rPr>
                        <a:rPr lang="en-US" sz="2000" dirty="0"/>
                        <m:t> </m:t>
                      </m:r>
                      <m:r>
                        <m:rPr>
                          <m:nor/>
                        </m:rPr>
                        <a:rPr lang="en-US" sz="2000" dirty="0"/>
                        <m:t>notes</m:t>
                      </m:r>
                      <m:r>
                        <m:rPr>
                          <m:nor/>
                        </m:rPr>
                        <a:rPr lang="en-US" sz="2000" dirty="0"/>
                        <m:t>)</m:t>
                      </m:r>
                    </m:oMath>
                  </m:oMathPara>
                </a14:m>
                <a:endParaRPr lang="en-US" sz="2000" dirty="0"/>
              </a:p>
              <a:p>
                <a:pPr>
                  <a:spcBef>
                    <a:spcPts val="600"/>
                  </a:spcBef>
                </a:pPr>
                <a:r>
                  <a:rPr lang="en-US" sz="2000" dirty="0"/>
                  <a:t>Where </a:t>
                </a:r>
                <a14:m>
                  <m:oMath xmlns:m="http://schemas.openxmlformats.org/officeDocument/2006/math">
                    <m:r>
                      <a:rPr lang="en-US" sz="2000" i="1" dirty="0" smtClean="0">
                        <a:latin typeface="Cambria Math" panose="02040503050406030204" pitchFamily="18" charset="0"/>
                      </a:rPr>
                      <m:t>𝑛</m:t>
                    </m:r>
                  </m:oMath>
                </a14:m>
                <a:r>
                  <a:rPr lang="en-US" sz="2000" dirty="0"/>
                  <a:t> is the sample size, </a:t>
                </a:r>
                <a14:m>
                  <m:oMath xmlns:m="http://schemas.openxmlformats.org/officeDocument/2006/math">
                    <m:r>
                      <a:rPr lang="en-US" sz="2000" i="1" dirty="0" smtClean="0">
                        <a:latin typeface="Cambria Math" panose="02040503050406030204" pitchFamily="18" charset="0"/>
                      </a:rPr>
                      <m:t>𝑁</m:t>
                    </m:r>
                  </m:oMath>
                </a14:m>
                <a:r>
                  <a:rPr lang="en-US" sz="2000" dirty="0"/>
                  <a:t> the population size, and </a:t>
                </a:r>
                <a14:m>
                  <m:oMath xmlns:m="http://schemas.openxmlformats.org/officeDocument/2006/math">
                    <m:rad>
                      <m:radPr>
                        <m:degHide m:val="on"/>
                        <m:ctrlPr>
                          <a:rPr lang="en-US" sz="2000" i="1">
                            <a:latin typeface="Cambria Math" panose="02040503050406030204" pitchFamily="18" charset="0"/>
                          </a:rPr>
                        </m:ctrlPr>
                      </m:radPr>
                      <m:deg/>
                      <m:e>
                        <m:r>
                          <a:rPr lang="en-US" sz="2000" i="1">
                            <a:latin typeface="Cambria Math" panose="02040503050406030204" pitchFamily="18" charset="0"/>
                          </a:rPr>
                          <m:t>(</m:t>
                        </m:r>
                        <m:r>
                          <a:rPr lang="en-US" sz="2000" i="1">
                            <a:latin typeface="Cambria Math" panose="02040503050406030204" pitchFamily="18" charset="0"/>
                          </a:rPr>
                          <m:t>𝑁</m:t>
                        </m:r>
                        <m:r>
                          <a:rPr lang="en-US" sz="2000" i="1">
                            <a:latin typeface="Cambria Math" panose="02040503050406030204" pitchFamily="18" charset="0"/>
                          </a:rPr>
                          <m:t>−</m:t>
                        </m:r>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𝑁</m:t>
                        </m:r>
                        <m:r>
                          <a:rPr lang="en-US" sz="2000" i="1">
                            <a:latin typeface="Cambria Math" panose="02040503050406030204" pitchFamily="18" charset="0"/>
                          </a:rPr>
                          <m:t>−1)</m:t>
                        </m:r>
                      </m:e>
                    </m:rad>
                  </m:oMath>
                </a14:m>
                <a:r>
                  <a:rPr lang="en-US" sz="2000" dirty="0"/>
                  <a:t> is the finite population correction factor.</a:t>
                </a:r>
              </a:p>
              <a:p>
                <a:pPr>
                  <a:spcBef>
                    <a:spcPts val="600"/>
                  </a:spcBef>
                  <a:spcAft>
                    <a:spcPts val="600"/>
                  </a:spcAft>
                </a:pPr>
                <a:r>
                  <a:rPr lang="en-US" sz="2000" dirty="0"/>
                  <a:t>When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𝑁</m:t>
                    </m:r>
                    <m:r>
                      <a:rPr lang="en-US" sz="2000" b="0" i="1" smtClean="0">
                        <a:latin typeface="Cambria Math" panose="02040503050406030204" pitchFamily="18" charset="0"/>
                        <a:ea typeface="Cambria Math" panose="02040503050406030204" pitchFamily="18" charset="0"/>
                      </a:rPr>
                      <m:t>&lt;0.05</m:t>
                    </m:r>
                  </m:oMath>
                </a14:m>
                <a:r>
                  <a:rPr lang="en-US" sz="2000" dirty="0"/>
                  <a:t>, we can neglect the population correction factor,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sub>
                    </m:sSub>
                  </m:oMath>
                </a14:m>
                <a:r>
                  <a:rPr lang="en-US" sz="2000" dirty="0"/>
                  <a:t> simplifies as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𝝈</m:t>
                          </m:r>
                        </m:e>
                        <m:sub>
                          <m:acc>
                            <m:accPr>
                              <m:chr m:val="̅"/>
                              <m:ctrlPr>
                                <a:rPr lang="en-US" sz="2000" b="1" i="1">
                                  <a:latin typeface="Cambria Math" panose="02040503050406030204" pitchFamily="18" charset="0"/>
                                </a:rPr>
                              </m:ctrlPr>
                            </m:accPr>
                            <m:e>
                              <m:r>
                                <a:rPr lang="en-US" sz="2000" b="1" i="1">
                                  <a:latin typeface="Cambria Math" panose="02040503050406030204" pitchFamily="18" charset="0"/>
                                </a:rPr>
                                <m:t>𝒙</m:t>
                              </m:r>
                            </m:e>
                          </m:acc>
                        </m:sub>
                      </m:sSub>
                      <m:r>
                        <a:rPr lang="en-US" sz="2000" b="1" i="1">
                          <a:latin typeface="Cambria Math" panose="02040503050406030204" pitchFamily="18" charset="0"/>
                        </a:rPr>
                        <m:t>=</m:t>
                      </m:r>
                      <m:f>
                        <m:fPr>
                          <m:ctrlPr>
                            <a:rPr lang="en-US" sz="2000" b="1" i="1">
                              <a:latin typeface="Cambria Math" panose="02040503050406030204" pitchFamily="18" charset="0"/>
                            </a:rPr>
                          </m:ctrlPr>
                        </m:fPr>
                        <m:num>
                          <m:r>
                            <a:rPr lang="en-US" sz="2000" b="1" i="1">
                              <a:latin typeface="Cambria Math" panose="02040503050406030204" pitchFamily="18" charset="0"/>
                              <a:ea typeface="Cambria Math" panose="02040503050406030204" pitchFamily="18" charset="0"/>
                            </a:rPr>
                            <m:t>𝝈</m:t>
                          </m:r>
                        </m:num>
                        <m:den>
                          <m:rad>
                            <m:radPr>
                              <m:degHide m:val="on"/>
                              <m:ctrlPr>
                                <a:rPr lang="en-US" sz="2000" b="1" i="1">
                                  <a:latin typeface="Cambria Math" panose="02040503050406030204" pitchFamily="18" charset="0"/>
                                </a:rPr>
                              </m:ctrlPr>
                            </m:radPr>
                            <m:deg/>
                            <m:e>
                              <m:r>
                                <a:rPr lang="en-US" sz="2000" b="1" i="1">
                                  <a:latin typeface="Cambria Math" panose="02040503050406030204" pitchFamily="18" charset="0"/>
                                </a:rPr>
                                <m:t>𝒏</m:t>
                              </m:r>
                            </m:e>
                          </m:rad>
                        </m:den>
                      </m:f>
                    </m:oMath>
                  </m:oMathPara>
                </a14:m>
                <a:endParaRPr lang="en-US" sz="2000" b="1" dirty="0"/>
              </a:p>
              <a:p>
                <a:endParaRPr lang="en-US" sz="2000" dirty="0"/>
              </a:p>
            </p:txBody>
          </p:sp>
        </mc:Choice>
        <mc:Fallback xmlns="">
          <p:sp>
            <p:nvSpPr>
              <p:cNvPr id="7" name="Text Placeholder 6">
                <a:extLst>
                  <a:ext uri="{FF2B5EF4-FFF2-40B4-BE49-F238E27FC236}">
                    <a16:creationId xmlns:a16="http://schemas.microsoft.com/office/drawing/2014/main" id="{0A481166-A02D-F72D-615F-3181BDFE06FB}"/>
                  </a:ext>
                </a:extLst>
              </p:cNvPr>
              <p:cNvSpPr>
                <a:spLocks noGrp="1" noRot="1" noChangeAspect="1" noMove="1" noResize="1" noEditPoints="1" noAdjustHandles="1" noChangeArrowheads="1" noChangeShapeType="1" noTextEdit="1"/>
              </p:cNvSpPr>
              <p:nvPr>
                <p:ph type="body" sz="quarter" idx="16"/>
              </p:nvPr>
            </p:nvSpPr>
            <p:spPr>
              <a:xfrm>
                <a:off x="740228" y="1289497"/>
                <a:ext cx="10711543" cy="4587768"/>
              </a:xfrm>
              <a:blipFill>
                <a:blip r:embed="rId4"/>
                <a:stretch>
                  <a:fillRect l="-1422" t="-1596" r="-1422"/>
                </a:stretch>
              </a:blipFill>
            </p:spPr>
            <p:txBody>
              <a:bodyPr/>
              <a:lstStyle/>
              <a:p>
                <a:r>
                  <a:rPr lang="en-US">
                    <a:noFill/>
                  </a:rPr>
                  <a:t> </a:t>
                </a:r>
              </a:p>
            </p:txBody>
          </p:sp>
        </mc:Fallback>
      </mc:AlternateContent>
    </p:spTree>
    <p:extLst>
      <p:ext uri="{BB962C8B-B14F-4D97-AF65-F5344CB8AC3E}">
        <p14:creationId xmlns:p14="http://schemas.microsoft.com/office/powerpoint/2010/main" val="2155191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p:cNvSpPr>
                <a:spLocks noGrp="1"/>
              </p:cNvSpPr>
              <p:nvPr>
                <p:ph type="title"/>
              </p:nvPr>
            </p:nvSpPr>
            <p:spPr/>
            <p:txBody>
              <a:bodyPr>
                <a:normAutofit/>
              </a:bodyPr>
              <a:lstStyle/>
              <a:p>
                <a:r>
                  <a:rPr lang="en-US" dirty="0">
                    <a:cs typeface="Arial" panose="020B0604020202020204" pitchFamily="34" charset="0"/>
                  </a:rPr>
                  <a:t>7.5 Form of the Sampling Distribution of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1" i="1" smtClean="0">
                            <a:latin typeface="Cambria Math" panose="02040503050406030204" pitchFamily="18" charset="0"/>
                            <a:cs typeface="Arial" panose="020B0604020202020204" pitchFamily="34" charset="0"/>
                          </a:rPr>
                          <m:t>𝒙</m:t>
                        </m:r>
                      </m:e>
                    </m:acc>
                  </m:oMath>
                </a14:m>
                <a:endParaRPr lang="en-US" sz="1600" dirty="0"/>
              </a:p>
            </p:txBody>
          </p:sp>
        </mc:Choice>
        <mc:Fallback xmlns="">
          <p:sp>
            <p:nvSpPr>
              <p:cNvPr id="3" name="Title 2"/>
              <p:cNvSpPr>
                <a:spLocks noGrp="1" noRot="1" noChangeAspect="1" noMove="1" noResize="1" noEditPoints="1" noAdjustHandles="1" noChangeArrowheads="1" noChangeShapeType="1" noTextEdit="1"/>
              </p:cNvSpPr>
              <p:nvPr>
                <p:ph type="title"/>
              </p:nvPr>
            </p:nvSpPr>
            <p:spPr>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type="body" sz="quarter" idx="15"/>
              </p:nvPr>
            </p:nvSpPr>
            <p:spPr>
              <a:xfrm>
                <a:off x="743576" y="1226635"/>
                <a:ext cx="10711543" cy="4586868"/>
              </a:xfrm>
            </p:spPr>
            <p:txBody>
              <a:bodyPr>
                <a:noAutofit/>
              </a:bodyPr>
              <a:lstStyle/>
              <a:p>
                <a:pPr>
                  <a:spcBef>
                    <a:spcPts val="600"/>
                  </a:spcBef>
                </a:pPr>
                <a:r>
                  <a:rPr lang="en-US" sz="2000" dirty="0">
                    <a:latin typeface="Arial" panose="020B0604020202020204" pitchFamily="34" charset="0"/>
                    <a:cs typeface="Arial" panose="020B0604020202020204" pitchFamily="34" charset="0"/>
                  </a:rPr>
                  <a:t>When the population has a normal distribution, 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𝑥</m:t>
                        </m:r>
                      </m:e>
                    </m:acc>
                  </m:oMath>
                </a14:m>
                <a:r>
                  <a:rPr lang="en-US" sz="2000" dirty="0">
                    <a:latin typeface="Arial" panose="020B0604020202020204" pitchFamily="34" charset="0"/>
                    <a:cs typeface="Arial" panose="020B0604020202020204" pitchFamily="34" charset="0"/>
                  </a:rPr>
                  <a:t> is normally distributed for any sample size.</a:t>
                </a:r>
              </a:p>
              <a:p>
                <a:pPr>
                  <a:spcBef>
                    <a:spcPts val="600"/>
                  </a:spcBef>
                  <a:spcAft>
                    <a:spcPts val="600"/>
                  </a:spcAft>
                </a:pPr>
                <a:r>
                  <a:rPr lang="en-US" sz="2000" dirty="0">
                    <a:latin typeface="Arial" panose="020B0604020202020204" pitchFamily="34" charset="0"/>
                    <a:cs typeface="Arial" panose="020B0604020202020204" pitchFamily="34" charset="0"/>
                  </a:rPr>
                  <a:t>When the population does not have a normal distribution, the </a:t>
                </a:r>
                <a:r>
                  <a:rPr lang="en-US" sz="2000" b="1" dirty="0">
                    <a:latin typeface="Arial" panose="020B0604020202020204" pitchFamily="34" charset="0"/>
                    <a:cs typeface="Arial" panose="020B0604020202020204" pitchFamily="34" charset="0"/>
                  </a:rPr>
                  <a:t>central limit theorem</a:t>
                </a:r>
                <a:r>
                  <a:rPr lang="en-US" sz="2000" dirty="0">
                    <a:latin typeface="Arial" panose="020B0604020202020204" pitchFamily="34" charset="0"/>
                    <a:cs typeface="Arial" panose="020B0604020202020204" pitchFamily="34" charset="0"/>
                  </a:rPr>
                  <a:t> helps identify 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𝑥</m:t>
                        </m:r>
                      </m:e>
                    </m:acc>
                  </m:oMath>
                </a14:m>
                <a:r>
                  <a:rPr lang="en-US" sz="2000" dirty="0">
                    <a:latin typeface="Arial" panose="020B0604020202020204" pitchFamily="34" charset="0"/>
                    <a:cs typeface="Arial" panose="020B0604020202020204" pitchFamily="34" charset="0"/>
                  </a:rPr>
                  <a:t>.</a:t>
                </a:r>
              </a:p>
              <a:p>
                <a:pPr>
                  <a:spcBef>
                    <a:spcPts val="600"/>
                  </a:spcBef>
                </a:pPr>
                <a:r>
                  <a:rPr lang="en-US" sz="2000" b="1" dirty="0">
                    <a:latin typeface="Arial" panose="020B0604020202020204" pitchFamily="34" charset="0"/>
                    <a:cs typeface="Arial" panose="020B0604020202020204" pitchFamily="34" charset="0"/>
                  </a:rPr>
                  <a:t>Central Limit Theorem</a:t>
                </a:r>
              </a:p>
              <a:p>
                <a:pPr marL="457200">
                  <a:spcBef>
                    <a:spcPts val="600"/>
                  </a:spcBef>
                </a:pPr>
                <a:r>
                  <a:rPr lang="en-US" sz="2000" b="1" dirty="0">
                    <a:highlight>
                      <a:srgbClr val="FFF4DE"/>
                    </a:highlight>
                    <a:latin typeface="Arial" panose="020B0604020202020204" pitchFamily="34" charset="0"/>
                    <a:cs typeface="Arial" panose="020B0604020202020204" pitchFamily="34" charset="0"/>
                  </a:rPr>
                  <a:t>In selecting random samples of size </a:t>
                </a:r>
                <a:r>
                  <a:rPr lang="en-US" sz="2000" b="1" i="1" dirty="0">
                    <a:highlight>
                      <a:srgbClr val="FFF4DE"/>
                    </a:highlight>
                    <a:latin typeface="Arial" panose="020B0604020202020204" pitchFamily="34" charset="0"/>
                    <a:cs typeface="Arial" panose="020B0604020202020204" pitchFamily="34" charset="0"/>
                  </a:rPr>
                  <a:t>n</a:t>
                </a:r>
                <a:r>
                  <a:rPr lang="en-US" sz="2000" b="1" dirty="0">
                    <a:highlight>
                      <a:srgbClr val="FFF4DE"/>
                    </a:highlight>
                    <a:latin typeface="Arial" panose="020B0604020202020204" pitchFamily="34" charset="0"/>
                    <a:cs typeface="Arial" panose="020B0604020202020204" pitchFamily="34" charset="0"/>
                  </a:rPr>
                  <a:t> from a population, the sampling distribution of </a:t>
                </a:r>
                <a14:m>
                  <m:oMath xmlns:m="http://schemas.openxmlformats.org/officeDocument/2006/math">
                    <m:acc>
                      <m:accPr>
                        <m:chr m:val="̅"/>
                        <m:ctrlPr>
                          <a:rPr lang="en-US" sz="2000" b="1" i="1" smtClean="0">
                            <a:highlight>
                              <a:srgbClr val="FFF4DE"/>
                            </a:highlight>
                            <a:latin typeface="Cambria Math" panose="02040503050406030204" pitchFamily="18" charset="0"/>
                          </a:rPr>
                        </m:ctrlPr>
                      </m:accPr>
                      <m:e>
                        <m:r>
                          <a:rPr lang="en-US" sz="2000" b="1" i="1">
                            <a:highlight>
                              <a:srgbClr val="FFF4DE"/>
                            </a:highlight>
                            <a:latin typeface="Cambria Math"/>
                          </a:rPr>
                          <m:t>𝒙</m:t>
                        </m:r>
                      </m:e>
                    </m:acc>
                  </m:oMath>
                </a14:m>
                <a:r>
                  <a:rPr lang="en-US" sz="2000" b="1" dirty="0">
                    <a:highlight>
                      <a:srgbClr val="FFF4DE"/>
                    </a:highlight>
                    <a:latin typeface="Arial" panose="020B0604020202020204" pitchFamily="34" charset="0"/>
                    <a:cs typeface="Arial" panose="020B0604020202020204" pitchFamily="34" charset="0"/>
                  </a:rPr>
                  <a:t> can be approximated by a normal distribution as the sample size becomes large.</a:t>
                </a:r>
              </a:p>
              <a:p>
                <a:pPr>
                  <a:spcBef>
                    <a:spcPts val="600"/>
                  </a:spcBef>
                </a:pPr>
                <a:r>
                  <a:rPr lang="en-US" sz="2000" dirty="0">
                    <a:latin typeface="Arial" panose="020B0604020202020204" pitchFamily="34" charset="0"/>
                    <a:cs typeface="Arial" panose="020B0604020202020204" pitchFamily="34" charset="0"/>
                  </a:rPr>
                  <a:t>In most applications, 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𝑥</m:t>
                        </m:r>
                      </m:e>
                    </m:acc>
                  </m:oMath>
                </a14:m>
                <a:r>
                  <a:rPr lang="en-US" sz="2000" dirty="0">
                    <a:latin typeface="Arial" panose="020B0604020202020204" pitchFamily="34" charset="0"/>
                    <a:cs typeface="Arial" panose="020B0604020202020204" pitchFamily="34" charset="0"/>
                  </a:rPr>
                  <a:t> can be approximated by a normal distribution whenever the sample is size 30 or more.</a:t>
                </a:r>
              </a:p>
              <a:p>
                <a:pPr>
                  <a:spcBef>
                    <a:spcPts val="600"/>
                  </a:spcBef>
                </a:pPr>
                <a:r>
                  <a:rPr lang="en-US" sz="2000" dirty="0">
                    <a:latin typeface="Arial" panose="020B0604020202020204" pitchFamily="34" charset="0"/>
                    <a:cs typeface="Arial" panose="020B0604020202020204" pitchFamily="34" charset="0"/>
                  </a:rPr>
                  <a:t>In cases where the population is highly skewed or outliers are present, samples of size 50 may be needed.</a:t>
                </a:r>
              </a:p>
              <a:p>
                <a:pPr>
                  <a:spcBef>
                    <a:spcPts val="600"/>
                  </a:spcBef>
                </a:pPr>
                <a:r>
                  <a:rPr lang="en-US" sz="2000" dirty="0">
                    <a:latin typeface="Arial" panose="020B0604020202020204" pitchFamily="34" charset="0"/>
                    <a:cs typeface="Arial" panose="020B0604020202020204" pitchFamily="34" charset="0"/>
                  </a:rPr>
                  <a:t>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𝑥</m:t>
                        </m:r>
                      </m:e>
                    </m:acc>
                  </m:oMath>
                </a14:m>
                <a:r>
                  <a:rPr lang="en-US" sz="2000" dirty="0">
                    <a:latin typeface="Arial" panose="020B0604020202020204" pitchFamily="34" charset="0"/>
                    <a:cs typeface="Arial" panose="020B0604020202020204" pitchFamily="34" charset="0"/>
                  </a:rPr>
                  <a:t> can be used to provide probability information about how close the sample mean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𝑥</m:t>
                        </m:r>
                      </m:e>
                    </m:acc>
                  </m:oMath>
                </a14:m>
                <a:r>
                  <a:rPr lang="en-US" sz="2000" dirty="0">
                    <a:latin typeface="Arial" panose="020B0604020202020204" pitchFamily="34" charset="0"/>
                    <a:cs typeface="Arial" panose="020B0604020202020204" pitchFamily="34" charset="0"/>
                  </a:rPr>
                  <a:t> is to the population mean </a:t>
                </a:r>
                <a:r>
                  <a:rPr lang="el-GR" sz="2000" i="1" dirty="0">
                    <a:latin typeface="Arial" panose="020B0604020202020204" pitchFamily="34" charset="0"/>
                    <a:cs typeface="Arial" panose="020B0604020202020204" pitchFamily="34" charset="0"/>
                  </a:rPr>
                  <a:t>μ</a:t>
                </a:r>
                <a:r>
                  <a:rPr lang="en-US" sz="2000" dirty="0">
                    <a:latin typeface="Arial" panose="020B0604020202020204" pitchFamily="34" charset="0"/>
                    <a:cs typeface="Arial" panose="020B0604020202020204" pitchFamily="34" charset="0"/>
                  </a:rPr>
                  <a:t>.</a:t>
                </a:r>
              </a:p>
            </p:txBody>
          </p:sp>
        </mc:Choice>
        <mc:Fallback xmlns="">
          <p:sp>
            <p:nvSpPr>
              <p:cNvPr id="4" name="Content Placeholder 3"/>
              <p:cNvSpPr>
                <a:spLocks noGrp="1" noRot="1" noChangeAspect="1" noMove="1" noResize="1" noEditPoints="1" noAdjustHandles="1" noChangeArrowheads="1" noChangeShapeType="1" noTextEdit="1"/>
              </p:cNvSpPr>
              <p:nvPr>
                <p:ph type="body" sz="quarter" idx="15"/>
              </p:nvPr>
            </p:nvSpPr>
            <p:spPr>
              <a:xfrm>
                <a:off x="743576" y="1226635"/>
                <a:ext cx="10711543" cy="4586868"/>
              </a:xfrm>
              <a:blipFill>
                <a:blip r:embed="rId4"/>
                <a:stretch>
                  <a:fillRect l="-1480" t="-1594" r="-1366" b="-1461"/>
                </a:stretch>
              </a:blipFill>
            </p:spPr>
            <p:txBody>
              <a:bodyPr/>
              <a:lstStyle/>
              <a:p>
                <a:r>
                  <a:rPr 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4822324-328E-C8C3-3146-B40480AE7306}"/>
              </a:ext>
            </a:extLst>
          </p:cNvPr>
          <p:cNvSpPr>
            <a:spLocks noGrp="1"/>
          </p:cNvSpPr>
          <p:nvPr>
            <p:ph type="title"/>
          </p:nvPr>
        </p:nvSpPr>
        <p:spPr>
          <a:xfrm>
            <a:off x="672193" y="365125"/>
            <a:ext cx="10847614" cy="672105"/>
          </a:xfrm>
        </p:spPr>
        <p:txBody>
          <a:bodyPr/>
          <a:lstStyle/>
          <a:p>
            <a:r>
              <a:rPr lang="en-US" dirty="0"/>
              <a:t>7.5 Sampling from Different Population Distributions</a:t>
            </a:r>
          </a:p>
        </p:txBody>
      </p:sp>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0555904-EE0B-EE1A-DB45-C9C24072F301}"/>
                  </a:ext>
                </a:extLst>
              </p:cNvPr>
              <p:cNvSpPr>
                <a:spLocks noGrp="1"/>
              </p:cNvSpPr>
              <p:nvPr>
                <p:ph type="body" sz="quarter" idx="15"/>
              </p:nvPr>
            </p:nvSpPr>
            <p:spPr>
              <a:xfrm>
                <a:off x="743576" y="1310709"/>
                <a:ext cx="10610224" cy="4401229"/>
              </a:xfrm>
            </p:spPr>
            <p:txBody>
              <a:bodyPr/>
              <a:lstStyle/>
              <a:p>
                <a:r>
                  <a:rPr lang="en-US" sz="2000" dirty="0"/>
                  <a:t>Let us consider three different population distributions.</a:t>
                </a:r>
              </a:p>
              <a:p>
                <a:pPr marL="684213" indent="-342900">
                  <a:buFont typeface="Arial" panose="020B0604020202020204" pitchFamily="34" charset="0"/>
                  <a:buChar char="•"/>
                  <a:tabLst>
                    <a:tab pos="2514600" algn="l"/>
                  </a:tabLst>
                </a:pPr>
                <a:r>
                  <a:rPr lang="en-US" sz="2000" dirty="0"/>
                  <a:t>Population I: 	uniform distribution</a:t>
                </a:r>
              </a:p>
              <a:p>
                <a:pPr marL="684213" indent="-342900">
                  <a:buFont typeface="Arial" panose="020B0604020202020204" pitchFamily="34" charset="0"/>
                  <a:buChar char="•"/>
                  <a:tabLst>
                    <a:tab pos="2514600" algn="l"/>
                  </a:tabLst>
                </a:pPr>
                <a:r>
                  <a:rPr lang="en-US" sz="2000" dirty="0"/>
                  <a:t>Population II: 	rabbit-eared distribution</a:t>
                </a:r>
              </a:p>
              <a:p>
                <a:pPr marL="684213" indent="-342900">
                  <a:buFont typeface="Arial" panose="020B0604020202020204" pitchFamily="34" charset="0"/>
                  <a:buChar char="•"/>
                  <a:tabLst>
                    <a:tab pos="2514600" algn="l"/>
                  </a:tabLst>
                </a:pPr>
                <a:r>
                  <a:rPr lang="en-US" sz="2000" dirty="0"/>
                  <a:t>Population III: 	exponential distribution (right-skewed)</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In the next slide, we will examine how the central limit theorem works by increasing the sample size </a:t>
                </a:r>
                <a14:m>
                  <m:oMath xmlns:m="http://schemas.openxmlformats.org/officeDocument/2006/math">
                    <m:r>
                      <a:rPr lang="en-US" sz="2000" i="1" dirty="0" smtClean="0">
                        <a:latin typeface="Cambria Math" panose="02040503050406030204" pitchFamily="18" charset="0"/>
                      </a:rPr>
                      <m:t>𝑛</m:t>
                    </m:r>
                  </m:oMath>
                </a14:m>
                <a:r>
                  <a:rPr lang="en-US" sz="2000" dirty="0"/>
                  <a:t> of the sampling distribution of </a:t>
                </a:r>
                <a14:m>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𝑥</m:t>
                        </m:r>
                      </m:e>
                    </m:acc>
                  </m:oMath>
                </a14:m>
                <a:r>
                  <a:rPr lang="en-US" sz="2000" dirty="0"/>
                  <a:t> for each of the three population distributions.</a:t>
                </a:r>
              </a:p>
            </p:txBody>
          </p:sp>
        </mc:Choice>
        <mc:Fallback xmlns="">
          <p:sp>
            <p:nvSpPr>
              <p:cNvPr id="9" name="Text Placeholder 8">
                <a:extLst>
                  <a:ext uri="{FF2B5EF4-FFF2-40B4-BE49-F238E27FC236}">
                    <a16:creationId xmlns:a16="http://schemas.microsoft.com/office/drawing/2014/main" id="{50555904-EE0B-EE1A-DB45-C9C24072F301}"/>
                  </a:ext>
                </a:extLst>
              </p:cNvPr>
              <p:cNvSpPr>
                <a:spLocks noGrp="1" noRot="1" noChangeAspect="1" noMove="1" noResize="1" noEditPoints="1" noAdjustHandles="1" noChangeArrowheads="1" noChangeShapeType="1" noTextEdit="1"/>
              </p:cNvSpPr>
              <p:nvPr>
                <p:ph type="body" sz="quarter" idx="15"/>
              </p:nvPr>
            </p:nvSpPr>
            <p:spPr>
              <a:xfrm>
                <a:off x="743576" y="1310709"/>
                <a:ext cx="10610224" cy="4401229"/>
              </a:xfrm>
              <a:blipFill>
                <a:blip r:embed="rId2"/>
                <a:stretch>
                  <a:fillRect l="-1493" t="-1662" b="-4155"/>
                </a:stretch>
              </a:blipFill>
            </p:spPr>
            <p:txBody>
              <a:bodyPr/>
              <a:lstStyle/>
              <a:p>
                <a:r>
                  <a:rPr lang="en-US">
                    <a:noFill/>
                  </a:rPr>
                  <a:t> </a:t>
                </a:r>
              </a:p>
            </p:txBody>
          </p:sp>
        </mc:Fallback>
      </mc:AlternateContent>
      <p:pic>
        <p:nvPicPr>
          <p:cNvPr id="5" name="Picture Placeholder 4" descr="An illustration shows population distribution for three different populations. The region under the distribution is shaded. The horizontal axis is labeled “Values of x.” For population 1, the distribution is rectangular. For population 2, the distribution is M-shaped. For population 3, a curve falls in a concave up manner.&#10;">
            <a:extLst>
              <a:ext uri="{FF2B5EF4-FFF2-40B4-BE49-F238E27FC236}">
                <a16:creationId xmlns:a16="http://schemas.microsoft.com/office/drawing/2014/main" id="{C0BE1C9E-6106-6F23-9EC7-B90F2F3F7CC8}"/>
              </a:ext>
            </a:extLst>
          </p:cNvPr>
          <p:cNvPicPr>
            <a:picLocks noGrp="1" noChangeAspect="1"/>
          </p:cNvPicPr>
          <p:nvPr>
            <p:ph type="pic" sz="quarter" idx="16"/>
          </p:nvPr>
        </p:nvPicPr>
        <p:blipFill rotWithShape="1">
          <a:blip r:embed="rId3"/>
          <a:srcRect l="14" r="14"/>
          <a:stretch/>
        </p:blipFill>
        <p:spPr>
          <a:xfrm>
            <a:off x="2139043" y="3017140"/>
            <a:ext cx="6519635" cy="1916971"/>
          </a:xfrm>
        </p:spPr>
      </p:pic>
    </p:spTree>
    <p:extLst>
      <p:ext uri="{BB962C8B-B14F-4D97-AF65-F5344CB8AC3E}">
        <p14:creationId xmlns:p14="http://schemas.microsoft.com/office/powerpoint/2010/main" val="3747321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4822324-328E-C8C3-3146-B40480AE7306}"/>
              </a:ext>
            </a:extLst>
          </p:cNvPr>
          <p:cNvSpPr>
            <a:spLocks noGrp="1"/>
          </p:cNvSpPr>
          <p:nvPr>
            <p:ph type="title"/>
          </p:nvPr>
        </p:nvSpPr>
        <p:spPr/>
        <p:txBody>
          <a:bodyPr/>
          <a:lstStyle/>
          <a:p>
            <a:r>
              <a:rPr lang="en-US" dirty="0"/>
              <a:t>7.5 Illustration of the Central Limit Theorem</a:t>
            </a:r>
          </a:p>
        </p:txBody>
      </p:sp>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0555904-EE0B-EE1A-DB45-C9C24072F301}"/>
                  </a:ext>
                </a:extLst>
              </p:cNvPr>
              <p:cNvSpPr>
                <a:spLocks noGrp="1"/>
              </p:cNvSpPr>
              <p:nvPr>
                <p:ph type="body" sz="quarter" idx="15"/>
              </p:nvPr>
            </p:nvSpPr>
            <p:spPr>
              <a:xfrm>
                <a:off x="743577" y="1195586"/>
                <a:ext cx="10610222" cy="672105"/>
              </a:xfrm>
            </p:spPr>
            <p:txBody>
              <a:bodyPr/>
              <a:lstStyle/>
              <a:p>
                <a:r>
                  <a:rPr lang="en-US" sz="2000" dirty="0"/>
                  <a:t>The three panels shows what happens to the sampling distribution of </a:t>
                </a:r>
                <a14:m>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𝑥</m:t>
                        </m:r>
                      </m:e>
                    </m:acc>
                  </m:oMath>
                </a14:m>
                <a:r>
                  <a:rPr lang="en-US" sz="2000" dirty="0"/>
                  <a:t> for the three population distributions introduced in the previous slide when the sample size </a:t>
                </a:r>
                <a14:m>
                  <m:oMath xmlns:m="http://schemas.openxmlformats.org/officeDocument/2006/math">
                    <m:r>
                      <a:rPr lang="en-US" sz="2000" i="1" dirty="0" smtClean="0">
                        <a:latin typeface="Cambria Math" panose="02040503050406030204" pitchFamily="18" charset="0"/>
                      </a:rPr>
                      <m:t>𝑛</m:t>
                    </m:r>
                  </m:oMath>
                </a14:m>
                <a:r>
                  <a:rPr lang="en-US" sz="2000" dirty="0"/>
                  <a:t> is increased.</a:t>
                </a:r>
              </a:p>
            </p:txBody>
          </p:sp>
        </mc:Choice>
        <mc:Fallback xmlns="">
          <p:sp>
            <p:nvSpPr>
              <p:cNvPr id="9" name="Text Placeholder 8">
                <a:extLst>
                  <a:ext uri="{FF2B5EF4-FFF2-40B4-BE49-F238E27FC236}">
                    <a16:creationId xmlns:a16="http://schemas.microsoft.com/office/drawing/2014/main" id="{50555904-EE0B-EE1A-DB45-C9C24072F301}"/>
                  </a:ext>
                </a:extLst>
              </p:cNvPr>
              <p:cNvSpPr>
                <a:spLocks noGrp="1" noRot="1" noChangeAspect="1" noMove="1" noResize="1" noEditPoints="1" noAdjustHandles="1" noChangeArrowheads="1" noChangeShapeType="1" noTextEdit="1"/>
              </p:cNvSpPr>
              <p:nvPr>
                <p:ph type="body" sz="quarter" idx="15"/>
              </p:nvPr>
            </p:nvSpPr>
            <p:spPr>
              <a:xfrm>
                <a:off x="743577" y="1195586"/>
                <a:ext cx="10610222" cy="672105"/>
              </a:xfrm>
              <a:blipFill>
                <a:blip r:embed="rId2"/>
                <a:stretch>
                  <a:fillRect l="-1494" t="-10909" r="-2069" b="-1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Placeholder 12">
                <a:extLst>
                  <a:ext uri="{FF2B5EF4-FFF2-40B4-BE49-F238E27FC236}">
                    <a16:creationId xmlns:a16="http://schemas.microsoft.com/office/drawing/2014/main" id="{92DEBED8-57CB-901E-F871-9A2F731F8E4A}"/>
                  </a:ext>
                </a:extLst>
              </p:cNvPr>
              <p:cNvSpPr>
                <a:spLocks noGrp="1"/>
              </p:cNvSpPr>
              <p:nvPr>
                <p:ph type="body" sz="quarter" idx="17"/>
              </p:nvPr>
            </p:nvSpPr>
            <p:spPr>
              <a:xfrm>
                <a:off x="743576" y="2155371"/>
                <a:ext cx="5352423" cy="3693066"/>
              </a:xfrm>
            </p:spPr>
            <p:txBody>
              <a:bodyPr/>
              <a:lstStyle/>
              <a:p>
                <a:pPr marL="914400" indent="-914400"/>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=2</m:t>
                    </m:r>
                  </m:oMath>
                </a14:m>
                <a:r>
                  <a:rPr lang="en-US" sz="2000" dirty="0"/>
                  <a:t>	the shape of each sampling distribution is different from the shape of the corresponding population distribution.</a:t>
                </a:r>
              </a:p>
              <a:p>
                <a:pPr marL="914400" indent="-914400">
                  <a:spcBef>
                    <a:spcPts val="2400"/>
                  </a:spcBef>
                </a:pP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=5</m:t>
                    </m:r>
                  </m:oMath>
                </a14:m>
                <a:r>
                  <a:rPr lang="en-US" sz="2000" i="1" dirty="0"/>
                  <a:t> 	</a:t>
                </a:r>
                <a:r>
                  <a:rPr lang="en-US" sz="2000" dirty="0"/>
                  <a:t>the shapes of sampling distributions I and II begin to look similar, but III is still skewed to the right.</a:t>
                </a:r>
              </a:p>
              <a:p>
                <a:pPr marL="914400" indent="-914400">
                  <a:spcBef>
                    <a:spcPts val="2400"/>
                  </a:spcBef>
                </a:pP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=30</m:t>
                    </m:r>
                  </m:oMath>
                </a14:m>
                <a:r>
                  <a:rPr lang="en-US" sz="2000" dirty="0"/>
                  <a:t> </a:t>
                </a:r>
                <a:r>
                  <a:rPr lang="en-US" sz="2000" i="1" dirty="0"/>
                  <a:t>	</a:t>
                </a:r>
                <a:r>
                  <a:rPr lang="en-US" sz="2000" dirty="0"/>
                  <a:t>the shape of each sampling distribution has already become approximately normal.</a:t>
                </a:r>
              </a:p>
              <a:p>
                <a:endParaRPr lang="en-US" sz="2000" dirty="0"/>
              </a:p>
            </p:txBody>
          </p:sp>
        </mc:Choice>
        <mc:Fallback xmlns="">
          <p:sp>
            <p:nvSpPr>
              <p:cNvPr id="13" name="Text Placeholder 12">
                <a:extLst>
                  <a:ext uri="{FF2B5EF4-FFF2-40B4-BE49-F238E27FC236}">
                    <a16:creationId xmlns:a16="http://schemas.microsoft.com/office/drawing/2014/main" id="{92DEBED8-57CB-901E-F871-9A2F731F8E4A}"/>
                  </a:ext>
                </a:extLst>
              </p:cNvPr>
              <p:cNvSpPr>
                <a:spLocks noGrp="1" noRot="1" noChangeAspect="1" noMove="1" noResize="1" noEditPoints="1" noAdjustHandles="1" noChangeArrowheads="1" noChangeShapeType="1" noTextEdit="1"/>
              </p:cNvSpPr>
              <p:nvPr>
                <p:ph type="body" sz="quarter" idx="17"/>
              </p:nvPr>
            </p:nvSpPr>
            <p:spPr>
              <a:xfrm>
                <a:off x="743576" y="2155371"/>
                <a:ext cx="5352423" cy="3693066"/>
              </a:xfrm>
              <a:blipFill>
                <a:blip r:embed="rId4"/>
                <a:stretch>
                  <a:fillRect l="-1253" t="-1983" r="-3531"/>
                </a:stretch>
              </a:blipFill>
            </p:spPr>
            <p:txBody>
              <a:bodyPr/>
              <a:lstStyle/>
              <a:p>
                <a:r>
                  <a:rPr lang="en-US">
                    <a:noFill/>
                  </a:rPr>
                  <a:t> </a:t>
                </a:r>
              </a:p>
            </p:txBody>
          </p:sp>
        </mc:Fallback>
      </mc:AlternateContent>
      <p:pic>
        <p:nvPicPr>
          <p:cNvPr id="15" name="Picture Placeholder 14" descr="An illustration shows three sampling distributions for three different populations. The region under the distribution is shaded. Sampling distribution of x-bar, n = 2: The horizontal axis is labeled “Values of x-bar.” For population, the distribution is triangular. For population 2, there is a curve that consists of a tall, curved peak on either side of two shorter peaks. For population 3, A curve peaks at low value of x-bar and then falls. Sampling distribution of x-bar, n = 5: The horizontal axis is labeled “Values of x-bar.” For population 1, there is a bell-shaped curve with peak at the center of the horizontal axis. For population 2, there is a bell-shaped curve with peak slightly off to the right from the center of the horizontal axis. For population 3, there is a bell-shaped curve with peak on the left side of the horizontal axis. Sampling distribution of x-bar, n = 30: The horizontal axis is labeled “Values of x-bar.” For population 1, there is a narrow bell-shaped curve with peak at the center of the horizontal axis. For population 2, there is a wider bell-shaped curve with peak at the center of the horizontal axis. For population 3, a narrow bell-shaped curve peaks on the left side of the horizontal axis.&#10;">
            <a:extLst>
              <a:ext uri="{FF2B5EF4-FFF2-40B4-BE49-F238E27FC236}">
                <a16:creationId xmlns:a16="http://schemas.microsoft.com/office/drawing/2014/main" id="{78AD24D6-3A99-C42C-1583-DBECB5F66410}"/>
              </a:ext>
            </a:extLst>
          </p:cNvPr>
          <p:cNvPicPr>
            <a:picLocks noGrp="1" noChangeAspect="1"/>
          </p:cNvPicPr>
          <p:nvPr>
            <p:ph type="pic" sz="quarter" idx="16"/>
          </p:nvPr>
        </p:nvPicPr>
        <p:blipFill rotWithShape="1">
          <a:blip r:embed="rId5"/>
          <a:srcRect t="26" b="26"/>
          <a:stretch/>
        </p:blipFill>
        <p:spPr>
          <a:xfrm>
            <a:off x="6477680" y="2016048"/>
            <a:ext cx="4791075" cy="3832225"/>
          </a:xfrm>
        </p:spPr>
      </p:pic>
    </p:spTree>
    <p:extLst>
      <p:ext uri="{BB962C8B-B14F-4D97-AF65-F5344CB8AC3E}">
        <p14:creationId xmlns:p14="http://schemas.microsoft.com/office/powerpoint/2010/main" val="3353482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36FEE71-6324-8DC5-1A21-CA71533BBC78}"/>
                  </a:ext>
                </a:extLst>
              </p:cNvPr>
              <p:cNvSpPr>
                <a:spLocks noGrp="1"/>
              </p:cNvSpPr>
              <p:nvPr>
                <p:ph type="title"/>
              </p:nvPr>
            </p:nvSpPr>
            <p:spPr/>
            <p:txBody>
              <a:bodyPr/>
              <a:lstStyle/>
              <a:p>
                <a:r>
                  <a:rPr lang="en-US" dirty="0"/>
                  <a:t>7.5 Sampling Distribution of </a:t>
                </a:r>
                <a14:m>
                  <m:oMath xmlns:m="http://schemas.openxmlformats.org/officeDocument/2006/math">
                    <m:acc>
                      <m:accPr>
                        <m:chr m:val="̅"/>
                        <m:ctrlPr>
                          <a:rPr lang="en-US" i="1" dirty="0" smtClean="0">
                            <a:latin typeface="Cambria Math" panose="02040503050406030204" pitchFamily="18" charset="0"/>
                          </a:rPr>
                        </m:ctrlPr>
                      </m:accPr>
                      <m:e>
                        <m:r>
                          <a:rPr lang="en-US" b="1" i="1" dirty="0" smtClean="0">
                            <a:latin typeface="Cambria Math" panose="02040503050406030204" pitchFamily="18" charset="0"/>
                          </a:rPr>
                          <m:t>𝒙</m:t>
                        </m:r>
                      </m:e>
                    </m:acc>
                  </m:oMath>
                </a14:m>
                <a:r>
                  <a:rPr lang="en-US" dirty="0"/>
                  <a:t> for the EAI Problem</a:t>
                </a:r>
              </a:p>
            </p:txBody>
          </p:sp>
        </mc:Choice>
        <mc:Fallback xmlns="">
          <p:sp>
            <p:nvSpPr>
              <p:cNvPr id="2" name="Title 1">
                <a:extLst>
                  <a:ext uri="{FF2B5EF4-FFF2-40B4-BE49-F238E27FC236}">
                    <a16:creationId xmlns:a16="http://schemas.microsoft.com/office/drawing/2014/main" id="{736FEE71-6324-8DC5-1A21-CA71533BBC78}"/>
                  </a:ext>
                </a:extLst>
              </p:cNvPr>
              <p:cNvSpPr>
                <a:spLocks noGrp="1" noRot="1" noChangeAspect="1" noMove="1" noResize="1" noEditPoints="1" noAdjustHandles="1" noChangeArrowheads="1" noChangeShapeType="1" noTextEdit="1"/>
              </p:cNvSpPr>
              <p:nvPr>
                <p:ph type="title"/>
              </p:nvPr>
            </p:nvSpPr>
            <p:spPr>
              <a:blipFill>
                <a:blip r:embed="rId2"/>
                <a:stretch>
                  <a:fillRect l="-1275" t="-28182" r="-1275"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5B8C83-5268-6702-AF12-933CBF8F2610}"/>
                  </a:ext>
                </a:extLst>
              </p:cNvPr>
              <p:cNvSpPr>
                <a:spLocks noGrp="1"/>
              </p:cNvSpPr>
              <p:nvPr>
                <p:ph type="body" sz="quarter" idx="15"/>
              </p:nvPr>
            </p:nvSpPr>
            <p:spPr>
              <a:xfrm>
                <a:off x="743577" y="1441911"/>
                <a:ext cx="10610222" cy="1848293"/>
              </a:xfrm>
            </p:spPr>
            <p:txBody>
              <a:bodyPr>
                <a:noAutofit/>
              </a:bodyPr>
              <a:lstStyle/>
              <a:p>
                <a:pPr>
                  <a:spcAft>
                    <a:spcPts val="600"/>
                  </a:spcAft>
                </a:pPr>
                <a:r>
                  <a:rPr lang="en-US" sz="2000" dirty="0">
                    <a:latin typeface="Arial" panose="020B0604020202020204" pitchFamily="34" charset="0"/>
                    <a:cs typeface="Arial" panose="020B0604020202020204" pitchFamily="34" charset="0"/>
                  </a:rPr>
                  <a:t>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oMath>
                </a14:m>
                <a:r>
                  <a:rPr lang="en-US" sz="2000" dirty="0">
                    <a:latin typeface="Arial" panose="020B0604020202020204" pitchFamily="34" charset="0"/>
                    <a:cs typeface="Arial" panose="020B0604020202020204" pitchFamily="34" charset="0"/>
                  </a:rPr>
                  <a:t> for the EAI problem is characterized by expected value and standard error of the mean equal to</a:t>
                </a:r>
              </a:p>
              <a:p>
                <a:pPr marL="401638">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𝐸</m:t>
                      </m:r>
                      <m:d>
                        <m:dPr>
                          <m:ctrlPr>
                            <a:rPr lang="en-US" sz="2000" i="1" smtClean="0">
                              <a:latin typeface="Cambria Math" panose="02040503050406030204" pitchFamily="18" charset="0"/>
                            </a:rPr>
                          </m:ctrlPr>
                        </m:dPr>
                        <m:e>
                          <m:acc>
                            <m:accPr>
                              <m:chr m:val="̅"/>
                              <m:ctrlPr>
                                <a:rPr lang="en-US" sz="2000" i="1">
                                  <a:latin typeface="Cambria Math" panose="02040503050406030204" pitchFamily="18" charset="0"/>
                                </a:rPr>
                              </m:ctrlPr>
                            </m:accPr>
                            <m:e>
                              <m:r>
                                <a:rPr lang="en-US" sz="2000" b="0" i="1">
                                  <a:latin typeface="Cambria Math" panose="02040503050406030204" pitchFamily="18" charset="0"/>
                                </a:rPr>
                                <m:t>𝑥</m:t>
                              </m:r>
                            </m:e>
                          </m:acc>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=$71,800</m:t>
                      </m:r>
                    </m:oMath>
                  </m:oMathPara>
                </a14:m>
                <a:endParaRPr lang="en-US" sz="2000" b="0" dirty="0">
                  <a:latin typeface="Arial" panose="020B0604020202020204" pitchFamily="34" charset="0"/>
                  <a:ea typeface="Cambria Math" panose="02040503050406030204" pitchFamily="18" charset="0"/>
                </a:endParaRPr>
              </a:p>
              <a:p>
                <a:pPr marL="401638">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4000</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30</m:t>
                              </m:r>
                            </m:e>
                          </m:rad>
                        </m:den>
                      </m:f>
                      <m:r>
                        <a:rPr lang="en-US" sz="2000" b="0" i="1" smtClean="0">
                          <a:latin typeface="Cambria Math" panose="02040503050406030204" pitchFamily="18" charset="0"/>
                        </a:rPr>
                        <m:t>=$730.3</m:t>
                      </m:r>
                    </m:oMath>
                  </m:oMathPara>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625B8C83-5268-6702-AF12-933CBF8F2610}"/>
                  </a:ext>
                </a:extLst>
              </p:cNvPr>
              <p:cNvSpPr>
                <a:spLocks noGrp="1" noRot="1" noChangeAspect="1" noMove="1" noResize="1" noEditPoints="1" noAdjustHandles="1" noChangeArrowheads="1" noChangeShapeType="1" noTextEdit="1"/>
              </p:cNvSpPr>
              <p:nvPr>
                <p:ph type="body" sz="quarter" idx="15"/>
              </p:nvPr>
            </p:nvSpPr>
            <p:spPr>
              <a:xfrm>
                <a:off x="743577" y="1441911"/>
                <a:ext cx="10610222" cy="1848293"/>
              </a:xfrm>
              <a:blipFill>
                <a:blip r:embed="rId3"/>
                <a:stretch>
                  <a:fillRect l="-1494" t="-39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9F9360C-84CE-2FA3-538F-63B76193BF29}"/>
                  </a:ext>
                </a:extLst>
              </p:cNvPr>
              <p:cNvSpPr>
                <a:spLocks noGrp="1"/>
              </p:cNvSpPr>
              <p:nvPr>
                <p:ph type="body" sz="quarter" idx="17"/>
              </p:nvPr>
            </p:nvSpPr>
            <p:spPr>
              <a:xfrm>
                <a:off x="743577" y="3290206"/>
                <a:ext cx="4350937" cy="2245178"/>
              </a:xfrm>
            </p:spPr>
            <p:txBody>
              <a:bodyPr>
                <a:noAutofit/>
              </a:bodyPr>
              <a:lstStyle/>
              <a:p>
                <a:pPr>
                  <a:spcAft>
                    <a:spcPts val="0"/>
                  </a:spcAft>
                </a:pPr>
                <a:r>
                  <a:rPr lang="en-US" sz="2000" dirty="0">
                    <a:latin typeface="Arial" panose="020B0604020202020204" pitchFamily="34" charset="0"/>
                    <a:cs typeface="Arial" panose="020B0604020202020204" pitchFamily="34" charset="0"/>
                  </a:rPr>
                  <a:t>Because </a:t>
                </a:r>
                <a14:m>
                  <m:oMath xmlns:m="http://schemas.openxmlformats.org/officeDocument/2006/math">
                    <m:f>
                      <m:fPr>
                        <m:type m:val="lin"/>
                        <m:ctrlPr>
                          <a:rPr lang="en-US" sz="2000" i="1" dirty="0" smtClean="0">
                            <a:latin typeface="Cambria Math" panose="02040503050406030204" pitchFamily="18" charset="0"/>
                          </a:rPr>
                        </m:ctrlPr>
                      </m:fPr>
                      <m:num>
                        <m:r>
                          <a:rPr lang="en-US" sz="2000" i="1" dirty="0" smtClean="0">
                            <a:latin typeface="Cambria Math" panose="02040503050406030204" pitchFamily="18" charset="0"/>
                          </a:rPr>
                          <m:t>𝑛</m:t>
                        </m:r>
                      </m:num>
                      <m:den>
                        <m:r>
                          <a:rPr lang="en-US" sz="2000" i="1" dirty="0" smtClean="0">
                            <a:latin typeface="Cambria Math" panose="02040503050406030204" pitchFamily="18" charset="0"/>
                          </a:rPr>
                          <m:t>𝑁</m:t>
                        </m:r>
                      </m:den>
                    </m:f>
                    <m:r>
                      <a:rPr lang="en-US" sz="2000" b="0" i="1" dirty="0" smtClean="0">
                        <a:latin typeface="Cambria Math" panose="02040503050406030204" pitchFamily="18" charset="0"/>
                      </a:rPr>
                      <m:t>=</m:t>
                    </m:r>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30</m:t>
                        </m:r>
                      </m:num>
                      <m:den>
                        <m:r>
                          <a:rPr lang="en-US" sz="2000" b="0" i="1" dirty="0" smtClean="0">
                            <a:latin typeface="Cambria Math" panose="02040503050406030204" pitchFamily="18" charset="0"/>
                          </a:rPr>
                          <m:t>2500</m:t>
                        </m:r>
                      </m:den>
                    </m:f>
                    <m:r>
                      <a:rPr lang="en-US" sz="2000" b="0" i="1" dirty="0" smtClean="0">
                        <a:latin typeface="Cambria Math" panose="02040503050406030204" pitchFamily="18" charset="0"/>
                      </a:rPr>
                      <m:t>=0.012</m:t>
                    </m:r>
                    <m:r>
                      <a:rPr lang="en-US" sz="2000" b="0" i="0" dirty="0" smtClean="0">
                        <a:latin typeface="Cambria Math" panose="02040503050406030204" pitchFamily="18" charset="0"/>
                      </a:rPr>
                      <m:t>&lt;0.05</m:t>
                    </m:r>
                  </m:oMath>
                </a14:m>
                <a:r>
                  <a:rPr lang="en-US" sz="2000" dirty="0">
                    <a:latin typeface="Arial" panose="020B0604020202020204" pitchFamily="34" charset="0"/>
                    <a:cs typeface="Arial" panose="020B0604020202020204" pitchFamily="34" charset="0"/>
                  </a:rPr>
                  <a:t>, we do not need the finite population correction factor.</a:t>
                </a:r>
              </a:p>
              <a:p>
                <a:pPr>
                  <a:spcAft>
                    <a:spcPts val="600"/>
                  </a:spcAft>
                </a:pPr>
                <a:r>
                  <a:rPr lang="en-US" sz="2000" dirty="0">
                    <a:latin typeface="Arial" panose="020B0604020202020204" pitchFamily="34" charset="0"/>
                    <a:cs typeface="Arial" panose="020B0604020202020204" pitchFamily="34" charset="0"/>
                  </a:rPr>
                  <a:t>With a sample of 30 managers, the central limit theorem enables us to conclude that the sampling distribution follows the normal distribution.</a:t>
                </a:r>
              </a:p>
            </p:txBody>
          </p:sp>
        </mc:Choice>
        <mc:Fallback xmlns="">
          <p:sp>
            <p:nvSpPr>
              <p:cNvPr id="4" name="Text Placeholder 3">
                <a:extLst>
                  <a:ext uri="{FF2B5EF4-FFF2-40B4-BE49-F238E27FC236}">
                    <a16:creationId xmlns:a16="http://schemas.microsoft.com/office/drawing/2014/main" id="{69F9360C-84CE-2FA3-538F-63B76193BF29}"/>
                  </a:ext>
                </a:extLst>
              </p:cNvPr>
              <p:cNvSpPr>
                <a:spLocks noGrp="1" noRot="1" noChangeAspect="1" noMove="1" noResize="1" noEditPoints="1" noAdjustHandles="1" noChangeArrowheads="1" noChangeShapeType="1" noTextEdit="1"/>
              </p:cNvSpPr>
              <p:nvPr>
                <p:ph type="body" sz="quarter" idx="17"/>
              </p:nvPr>
            </p:nvSpPr>
            <p:spPr>
              <a:xfrm>
                <a:off x="743577" y="3290206"/>
                <a:ext cx="4350937" cy="2245178"/>
              </a:xfrm>
              <a:blipFill>
                <a:blip r:embed="rId4"/>
                <a:stretch>
                  <a:fillRect l="-3641" t="-22554" r="-4342" b="-5435"/>
                </a:stretch>
              </a:blipFill>
            </p:spPr>
            <p:txBody>
              <a:bodyPr/>
              <a:lstStyle/>
              <a:p>
                <a:r>
                  <a:rPr lang="en-US">
                    <a:noFill/>
                  </a:rPr>
                  <a:t> </a:t>
                </a:r>
              </a:p>
            </p:txBody>
          </p:sp>
        </mc:Fallback>
      </mc:AlternateContent>
      <p:pic>
        <p:nvPicPr>
          <p:cNvPr id="11" name="Picture Placeholder 7" descr="A graph plots the sampling distribution of x-bar. The horizontal axis is labeled “x-bar” and lists E(x-bar) = 71,800. A bell-shaped curve labeled “Sampling distribution of x-bar” peaks at x-bar = 71,800. An equation beside the curve reads, sigma_x-bar equals sigma/sqrt(n) = 4000/sqrt(30) = 730.3.&#10;">
            <a:extLst>
              <a:ext uri="{FF2B5EF4-FFF2-40B4-BE49-F238E27FC236}">
                <a16:creationId xmlns:a16="http://schemas.microsoft.com/office/drawing/2014/main" id="{D6C92749-795E-6C28-76E4-96C4DF7A26D1}"/>
              </a:ext>
            </a:extLst>
          </p:cNvPr>
          <p:cNvPicPr>
            <a:picLocks noGrp="1" noChangeAspect="1"/>
          </p:cNvPicPr>
          <p:nvPr>
            <p:ph type="pic" sz="quarter" idx="16"/>
          </p:nvPr>
        </p:nvPicPr>
        <p:blipFill rotWithShape="1">
          <a:blip r:embed="rId5"/>
          <a:srcRect l="60" r="60"/>
          <a:stretch/>
        </p:blipFill>
        <p:spPr>
          <a:xfrm>
            <a:off x="5209780" y="2201547"/>
            <a:ext cx="6028753" cy="3497123"/>
          </a:xfrm>
        </p:spPr>
      </p:pic>
    </p:spTree>
    <p:extLst>
      <p:ext uri="{BB962C8B-B14F-4D97-AF65-F5344CB8AC3E}">
        <p14:creationId xmlns:p14="http://schemas.microsoft.com/office/powerpoint/2010/main" val="4043033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36FEE71-6324-8DC5-1A21-CA71533BBC78}"/>
                  </a:ext>
                </a:extLst>
              </p:cNvPr>
              <p:cNvSpPr>
                <a:spLocks noGrp="1"/>
              </p:cNvSpPr>
              <p:nvPr>
                <p:ph type="title"/>
              </p:nvPr>
            </p:nvSpPr>
            <p:spPr/>
            <p:txBody>
              <a:bodyPr/>
              <a:lstStyle/>
              <a:p>
                <a:r>
                  <a:rPr lang="en-US" dirty="0"/>
                  <a:t>7.5 Application of the Sampling Distribution of </a:t>
                </a:r>
                <a14:m>
                  <m:oMath xmlns:m="http://schemas.openxmlformats.org/officeDocument/2006/math">
                    <m:acc>
                      <m:accPr>
                        <m:chr m:val="̅"/>
                        <m:ctrlPr>
                          <a:rPr lang="en-US" i="1" dirty="0" smtClean="0">
                            <a:latin typeface="Cambria Math" panose="02040503050406030204" pitchFamily="18" charset="0"/>
                          </a:rPr>
                        </m:ctrlPr>
                      </m:accPr>
                      <m:e>
                        <m:r>
                          <a:rPr lang="en-US" b="1" i="1" dirty="0" smtClean="0">
                            <a:latin typeface="Cambria Math" panose="02040503050406030204" pitchFamily="18" charset="0"/>
                          </a:rPr>
                          <m:t>𝒙</m:t>
                        </m:r>
                      </m:e>
                    </m:acc>
                  </m:oMath>
                </a14:m>
                <a:endParaRPr lang="en-US" dirty="0"/>
              </a:p>
            </p:txBody>
          </p:sp>
        </mc:Choice>
        <mc:Fallback xmlns="">
          <p:sp>
            <p:nvSpPr>
              <p:cNvPr id="2" name="Title 1">
                <a:extLst>
                  <a:ext uri="{FF2B5EF4-FFF2-40B4-BE49-F238E27FC236}">
                    <a16:creationId xmlns:a16="http://schemas.microsoft.com/office/drawing/2014/main" id="{736FEE71-6324-8DC5-1A21-CA71533BBC78}"/>
                  </a:ext>
                </a:extLst>
              </p:cNvPr>
              <p:cNvSpPr>
                <a:spLocks noGrp="1" noRot="1" noChangeAspect="1" noMove="1" noResize="1" noEditPoints="1" noAdjustHandles="1" noChangeArrowheads="1" noChangeShapeType="1" noTextEdit="1"/>
              </p:cNvSpPr>
              <p:nvPr>
                <p:ph type="title"/>
              </p:nvPr>
            </p:nvSpPr>
            <p:spPr>
              <a:blipFill>
                <a:blip r:embed="rId2"/>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5B8C83-5268-6702-AF12-933CBF8F2610}"/>
                  </a:ext>
                </a:extLst>
              </p:cNvPr>
              <p:cNvSpPr>
                <a:spLocks noGrp="1"/>
              </p:cNvSpPr>
              <p:nvPr>
                <p:ph type="body" sz="quarter" idx="15"/>
              </p:nvPr>
            </p:nvSpPr>
            <p:spPr>
              <a:xfrm>
                <a:off x="743576" y="1420585"/>
                <a:ext cx="10610223" cy="2506436"/>
              </a:xfrm>
            </p:spPr>
            <p:txBody>
              <a:bodyPr>
                <a:noAutofit/>
              </a:bodyPr>
              <a:lstStyle/>
              <a:p>
                <a:pPr>
                  <a:spcAft>
                    <a:spcPts val="0"/>
                  </a:spcAft>
                </a:pPr>
                <a:r>
                  <a:rPr lang="en-US" sz="2000" dirty="0">
                    <a:latin typeface="Arial" panose="020B0604020202020204" pitchFamily="34" charset="0"/>
                    <a:cs typeface="Arial" panose="020B0604020202020204" pitchFamily="34" charset="0"/>
                  </a:rPr>
                  <a:t>EAI wants to know the probability that the sample mean computed using a simple random sample of 30 EAI managers will be within $500 of the population mean.</a:t>
                </a:r>
              </a:p>
              <a:p>
                <a:pPr>
                  <a:spcAft>
                    <a:spcPts val="0"/>
                  </a:spcAft>
                </a:pPr>
                <a:r>
                  <a:rPr lang="en-US" sz="2000" dirty="0">
                    <a:latin typeface="Arial" panose="020B0604020202020204" pitchFamily="34" charset="0"/>
                    <a:cs typeface="Arial" panose="020B0604020202020204" pitchFamily="34" charset="0"/>
                  </a:rPr>
                  <a:t>Because </a:t>
                </a:r>
                <a:r>
                  <a:rPr lang="en-US" sz="2000" i="1" dirty="0">
                    <a:latin typeface="Symbol" panose="05050102010706020507" pitchFamily="18" charset="2"/>
                    <a:cs typeface="Arial" panose="020B0604020202020204" pitchFamily="34" charset="0"/>
                  </a:rPr>
                  <a:t>m</a:t>
                </a:r>
                <a:r>
                  <a:rPr lang="en-US" sz="2000" dirty="0">
                    <a:latin typeface="Arial" panose="020B0604020202020204" pitchFamily="34" charset="0"/>
                    <a:cs typeface="Arial" panose="020B0604020202020204" pitchFamily="34" charset="0"/>
                  </a:rPr>
                  <a:t> = $71,800, we want to know the probability that </a:t>
                </a:r>
                <a14:m>
                  <m:oMath xmlns:m="http://schemas.openxmlformats.org/officeDocument/2006/math">
                    <m:acc>
                      <m:accPr>
                        <m:chr m:val="̅"/>
                        <m:ctrlPr>
                          <a:rPr lang="en-US" sz="2000" i="1" dirty="0" smtClean="0">
                            <a:latin typeface="Cambria Math" panose="02040503050406030204" pitchFamily="18" charset="0"/>
                            <a:cs typeface="Arial" panose="020B0604020202020204" pitchFamily="34" charset="0"/>
                          </a:rPr>
                        </m:ctrlPr>
                      </m:accPr>
                      <m:e>
                        <m:r>
                          <a:rPr lang="en-US" sz="2000" i="1" dirty="0">
                            <a:latin typeface="Cambria Math" panose="02040503050406030204" pitchFamily="18" charset="0"/>
                            <a:cs typeface="Arial" panose="020B0604020202020204" pitchFamily="34" charset="0"/>
                          </a:rPr>
                          <m:t>𝑥</m:t>
                        </m:r>
                      </m:e>
                    </m:acc>
                  </m:oMath>
                </a14:m>
                <a:r>
                  <a:rPr lang="en-US" sz="2000" dirty="0">
                    <a:latin typeface="Arial" panose="020B0604020202020204" pitchFamily="34" charset="0"/>
                    <a:cs typeface="Arial" panose="020B0604020202020204" pitchFamily="34" charset="0"/>
                  </a:rPr>
                  <a:t> is between $71,300 and $72,300, represented in the figure to the right.</a:t>
                </a:r>
              </a:p>
              <a:p>
                <a:pPr>
                  <a:spcAft>
                    <a:spcPts val="1200"/>
                  </a:spcAft>
                </a:pPr>
                <a:r>
                  <a:rPr lang="en-US" sz="2000" dirty="0">
                    <a:latin typeface="Arial" panose="020B0604020202020204" pitchFamily="34" charset="0"/>
                    <a:cs typeface="Arial" panose="020B0604020202020204" pitchFamily="34" charset="0"/>
                  </a:rPr>
                  <a:t>At </a:t>
                </a:r>
                <a14:m>
                  <m:oMath xmlns:m="http://schemas.openxmlformats.org/officeDocument/2006/math">
                    <m:acc>
                      <m:accPr>
                        <m:chr m:val="̅"/>
                        <m:ctrlPr>
                          <a:rPr lang="en-US" sz="2000" i="1" dirty="0" smtClean="0">
                            <a:latin typeface="Cambria Math" panose="02040503050406030204" pitchFamily="18" charset="0"/>
                            <a:cs typeface="Arial" panose="020B0604020202020204" pitchFamily="34" charset="0"/>
                          </a:rPr>
                        </m:ctrlPr>
                      </m:accPr>
                      <m:e>
                        <m:r>
                          <a:rPr lang="en-US" sz="2000" i="1" dirty="0">
                            <a:latin typeface="Cambria Math" panose="02040503050406030204" pitchFamily="18" charset="0"/>
                            <a:cs typeface="Arial" panose="020B0604020202020204" pitchFamily="34" charset="0"/>
                          </a:rPr>
                          <m:t>𝑥</m:t>
                        </m:r>
                      </m:e>
                    </m:acc>
                    <m:r>
                      <a:rPr lang="en-US" sz="2000" b="0" i="1" dirty="0" smtClean="0">
                        <a:latin typeface="Cambria Math" panose="02040503050406030204" pitchFamily="18" charset="0"/>
                        <a:cs typeface="Arial" panose="020B0604020202020204" pitchFamily="34" charset="0"/>
                      </a:rPr>
                      <m:t>=$72,300</m:t>
                    </m:r>
                  </m:oMath>
                </a14:m>
                <a:r>
                  <a:rPr lang="en-US" sz="2000" dirty="0">
                    <a:latin typeface="Arial" panose="020B0604020202020204" pitchFamily="34" charset="0"/>
                    <a:cs typeface="Arial" panose="020B0604020202020204" pitchFamily="34" charset="0"/>
                  </a:rPr>
                  <a:t>, we have:</a:t>
                </a:r>
              </a:p>
              <a:p>
                <a:pPr marL="460375">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sub>
                          </m:sSub>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72300−71800</m:t>
                          </m:r>
                        </m:num>
                        <m:den>
                          <m:r>
                            <a:rPr lang="en-US" sz="2000" b="0" i="1" smtClean="0">
                              <a:latin typeface="Cambria Math" panose="02040503050406030204" pitchFamily="18" charset="0"/>
                              <a:cs typeface="Arial" panose="020B0604020202020204" pitchFamily="34" charset="0"/>
                            </a:rPr>
                            <m:t>730.3</m:t>
                          </m:r>
                        </m:den>
                      </m:f>
                      <m:r>
                        <a:rPr lang="en-US" sz="2000" b="0" i="1" smtClean="0">
                          <a:latin typeface="Cambria Math" panose="02040503050406030204" pitchFamily="18" charset="0"/>
                          <a:cs typeface="Arial" panose="020B0604020202020204" pitchFamily="34" charset="0"/>
                        </a:rPr>
                        <m:t>=0.68</m:t>
                      </m:r>
                    </m:oMath>
                  </m:oMathPara>
                </a14:m>
                <a:endParaRPr lang="en-US" sz="2000" dirty="0">
                  <a:latin typeface="Arial" panose="020B0604020202020204" pitchFamily="34" charset="0"/>
                  <a:cs typeface="Arial" panose="020B0604020202020204" pitchFamily="34" charset="0"/>
                </a:endParaRPr>
              </a:p>
              <a:p>
                <a:pPr>
                  <a:spcAft>
                    <a:spcPts val="600"/>
                  </a:spcAft>
                </a:pPr>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625B8C83-5268-6702-AF12-933CBF8F2610}"/>
                  </a:ext>
                </a:extLst>
              </p:cNvPr>
              <p:cNvSpPr>
                <a:spLocks noGrp="1" noRot="1" noChangeAspect="1" noMove="1" noResize="1" noEditPoints="1" noAdjustHandles="1" noChangeArrowheads="1" noChangeShapeType="1" noTextEdit="1"/>
              </p:cNvSpPr>
              <p:nvPr>
                <p:ph type="body" sz="quarter" idx="15"/>
              </p:nvPr>
            </p:nvSpPr>
            <p:spPr>
              <a:xfrm>
                <a:off x="743576" y="1420585"/>
                <a:ext cx="10610223" cy="2506436"/>
              </a:xfrm>
              <a:blipFill>
                <a:blip r:embed="rId3"/>
                <a:stretch>
                  <a:fillRect l="-1494" t="-2920" r="-20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6881068F-3918-3983-0946-DE6C7BB67827}"/>
                  </a:ext>
                </a:extLst>
              </p:cNvPr>
              <p:cNvSpPr>
                <a:spLocks noGrp="1"/>
              </p:cNvSpPr>
              <p:nvPr>
                <p:ph type="body" sz="quarter" idx="17"/>
              </p:nvPr>
            </p:nvSpPr>
            <p:spPr>
              <a:xfrm>
                <a:off x="743576" y="3988891"/>
                <a:ext cx="10558063" cy="1881227"/>
              </a:xfrm>
            </p:spPr>
            <p:txBody>
              <a:bodyPr/>
              <a:lstStyle/>
              <a:p>
                <a:pPr>
                  <a:spcAft>
                    <a:spcPts val="600"/>
                  </a:spcAft>
                </a:pPr>
                <a:r>
                  <a:rPr lang="en-US" sz="2000" dirty="0">
                    <a:latin typeface="Arial" panose="020B0604020202020204" pitchFamily="34" charset="0"/>
                    <a:cs typeface="Arial" panose="020B0604020202020204" pitchFamily="34" charset="0"/>
                  </a:rPr>
                  <a:t>And at </a:t>
                </a:r>
                <a14:m>
                  <m:oMath xmlns:m="http://schemas.openxmlformats.org/officeDocument/2006/math">
                    <m:acc>
                      <m:accPr>
                        <m:chr m:val="̅"/>
                        <m:ctrlPr>
                          <a:rPr lang="en-US" sz="2000" i="1" dirty="0" smtClean="0">
                            <a:latin typeface="Cambria Math" panose="02040503050406030204" pitchFamily="18" charset="0"/>
                            <a:cs typeface="Arial" panose="020B0604020202020204" pitchFamily="34" charset="0"/>
                          </a:rPr>
                        </m:ctrlPr>
                      </m:accPr>
                      <m:e>
                        <m:r>
                          <a:rPr lang="en-US" sz="2000" i="1" dirty="0">
                            <a:latin typeface="Cambria Math" panose="02040503050406030204" pitchFamily="18" charset="0"/>
                            <a:cs typeface="Arial" panose="020B0604020202020204" pitchFamily="34" charset="0"/>
                          </a:rPr>
                          <m:t>𝑥</m:t>
                        </m:r>
                      </m:e>
                    </m:acc>
                    <m:r>
                      <a:rPr lang="en-US" sz="2000" b="0" i="1" dirty="0" smtClean="0">
                        <a:latin typeface="Cambria Math" panose="02040503050406030204" pitchFamily="18" charset="0"/>
                        <a:cs typeface="Arial" panose="020B0604020202020204" pitchFamily="34" charset="0"/>
                      </a:rPr>
                      <m:t>=$71,300</m:t>
                    </m:r>
                  </m:oMath>
                </a14:m>
                <a:r>
                  <a:rPr lang="en-US" sz="2000" dirty="0">
                    <a:latin typeface="Arial" panose="020B0604020202020204" pitchFamily="34" charset="0"/>
                    <a:cs typeface="Arial" panose="020B0604020202020204" pitchFamily="34" charset="0"/>
                  </a:rPr>
                  <a:t>, we have</a:t>
                </a:r>
              </a:p>
              <a:p>
                <a:pPr marL="457200">
                  <a:spcAft>
                    <a:spcPts val="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cs typeface="Arial" panose="020B0604020202020204" pitchFamily="34" charset="0"/>
                        </a:rPr>
                        <m:t>=−0.68</m:t>
                      </m:r>
                    </m:oMath>
                  </m:oMathPara>
                </a14:m>
                <a:endParaRPr lang="en-US" sz="2000" dirty="0">
                  <a:latin typeface="Arial" panose="020B0604020202020204" pitchFamily="34" charset="0"/>
                  <a:cs typeface="Arial" panose="020B0604020202020204" pitchFamily="34" charset="0"/>
                </a:endParaRPr>
              </a:p>
              <a:p>
                <a:pPr>
                  <a:spcAft>
                    <a:spcPts val="600"/>
                  </a:spcAft>
                </a:pPr>
                <a:r>
                  <a:rPr lang="en-US" sz="2000" dirty="0">
                    <a:latin typeface="Arial" panose="020B0604020202020204" pitchFamily="34" charset="0"/>
                    <a:cs typeface="Arial" panose="020B0604020202020204" pitchFamily="34" charset="0"/>
                  </a:rPr>
                  <a:t>Therefore, the desired probability is</a:t>
                </a:r>
              </a:p>
              <a:p>
                <a:pPr marL="460375">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71300</m:t>
                          </m:r>
                          <m:r>
                            <a:rPr lang="en-US" sz="2000"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72300</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−0.68</m:t>
                          </m:r>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𝑧</m:t>
                          </m:r>
                          <m:r>
                            <a:rPr lang="en-US" sz="2000" i="1">
                              <a:latin typeface="Cambria Math" panose="02040503050406030204" pitchFamily="18" charset="0"/>
                              <a:ea typeface="Cambria Math" panose="02040503050406030204" pitchFamily="18" charset="0"/>
                              <a:cs typeface="Arial" panose="020B0604020202020204" pitchFamily="34" charset="0"/>
                            </a:rPr>
                            <m:t>≤0.68</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≤0.68</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𝑧</m:t>
                          </m:r>
                          <m:r>
                            <a:rPr lang="en-US" sz="2000" i="1">
                              <a:latin typeface="Cambria Math" panose="02040503050406030204" pitchFamily="18" charset="0"/>
                              <a:ea typeface="Cambria Math" panose="02040503050406030204" pitchFamily="18" charset="0"/>
                              <a:cs typeface="Arial" panose="020B0604020202020204" pitchFamily="34" charset="0"/>
                            </a:rPr>
                            <m:t>≤−0.68</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=0.7517−0.2483=0.5034≈50%</m:t>
                      </m:r>
                    </m:oMath>
                  </m:oMathPara>
                </a14:m>
                <a:endParaRPr lang="en-US" sz="2000" dirty="0">
                  <a:latin typeface="Arial" panose="020B0604020202020204" pitchFamily="34" charset="0"/>
                  <a:cs typeface="Arial" panose="020B0604020202020204" pitchFamily="34" charset="0"/>
                </a:endParaRPr>
              </a:p>
            </p:txBody>
          </p:sp>
        </mc:Choice>
        <mc:Fallback xmlns="">
          <p:sp>
            <p:nvSpPr>
              <p:cNvPr id="9" name="Text Placeholder 8">
                <a:extLst>
                  <a:ext uri="{FF2B5EF4-FFF2-40B4-BE49-F238E27FC236}">
                    <a16:creationId xmlns:a16="http://schemas.microsoft.com/office/drawing/2014/main" id="{6881068F-3918-3983-0946-DE6C7BB67827}"/>
                  </a:ext>
                </a:extLst>
              </p:cNvPr>
              <p:cNvSpPr>
                <a:spLocks noGrp="1" noRot="1" noChangeAspect="1" noMove="1" noResize="1" noEditPoints="1" noAdjustHandles="1" noChangeArrowheads="1" noChangeShapeType="1" noTextEdit="1"/>
              </p:cNvSpPr>
              <p:nvPr>
                <p:ph type="body" sz="quarter" idx="17"/>
              </p:nvPr>
            </p:nvSpPr>
            <p:spPr>
              <a:xfrm>
                <a:off x="743576" y="3988891"/>
                <a:ext cx="10558063" cy="1881227"/>
              </a:xfrm>
              <a:blipFill>
                <a:blip r:embed="rId4"/>
                <a:stretch>
                  <a:fillRect l="-1501" t="-3883"/>
                </a:stretch>
              </a:blipFill>
            </p:spPr>
            <p:txBody>
              <a:bodyPr/>
              <a:lstStyle/>
              <a:p>
                <a:r>
                  <a:rPr lang="en-US">
                    <a:noFill/>
                  </a:rPr>
                  <a:t> </a:t>
                </a:r>
              </a:p>
            </p:txBody>
          </p:sp>
        </mc:Fallback>
      </mc:AlternateContent>
      <p:pic>
        <p:nvPicPr>
          <p:cNvPr id="10" name="Picture Placeholder 6" descr="A graph plots the sampling distribution of x-bar and a probability range. The horizontal axis is labeled “x-bar” and ranges from 71,300 to 72,300 with tickmarks in increments of 500. A bell-shaped curve labeled “Sampling distribution of x-bar, sigma_x-bar = 730.30” peaks at x-bar = 71,800. The region under the curve to the left of x-bar = 71,300 is labeled “P(x-bar &lt; 71,300).” The region under the curve between x-bar = 71,300 and x-bar = 72,300 is shaded dark and labeled “P(71,300 &lt;= x-bar &lt;= 72,300).” &#10;">
            <a:extLst>
              <a:ext uri="{FF2B5EF4-FFF2-40B4-BE49-F238E27FC236}">
                <a16:creationId xmlns:a16="http://schemas.microsoft.com/office/drawing/2014/main" id="{A41BA552-8C77-B3DE-8487-678A6CCCDF64}"/>
              </a:ext>
            </a:extLst>
          </p:cNvPr>
          <p:cNvPicPr>
            <a:picLocks noGrp="1" noChangeAspect="1"/>
          </p:cNvPicPr>
          <p:nvPr>
            <p:ph type="pic" sz="quarter" idx="16"/>
          </p:nvPr>
        </p:nvPicPr>
        <p:blipFill rotWithShape="1">
          <a:blip r:embed="rId5"/>
          <a:srcRect l="75" r="75"/>
          <a:stretch/>
        </p:blipFill>
        <p:spPr>
          <a:xfrm>
            <a:off x="5908307" y="2598148"/>
            <a:ext cx="4892675" cy="2359025"/>
          </a:xfrm>
        </p:spPr>
      </p:pic>
    </p:spTree>
    <p:extLst>
      <p:ext uri="{BB962C8B-B14F-4D97-AF65-F5344CB8AC3E}">
        <p14:creationId xmlns:p14="http://schemas.microsoft.com/office/powerpoint/2010/main" val="906216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D235C5-0E6C-DFB0-A126-4E2A5FC9C498}"/>
                  </a:ext>
                </a:extLst>
              </p:cNvPr>
              <p:cNvSpPr>
                <a:spLocks noGrp="1"/>
              </p:cNvSpPr>
              <p:nvPr>
                <p:ph type="title"/>
              </p:nvPr>
            </p:nvSpPr>
            <p:spPr/>
            <p:txBody>
              <a:bodyPr/>
              <a:lstStyle/>
              <a:p>
                <a:r>
                  <a:rPr lang="en-US" sz="3200" dirty="0"/>
                  <a:t>7.5 Relationship Between the Sample Size and the Sampling Distribution of </a:t>
                </a:r>
                <a14:m>
                  <m:oMath xmlns:m="http://schemas.openxmlformats.org/officeDocument/2006/math">
                    <m:acc>
                      <m:accPr>
                        <m:chr m:val="̅"/>
                        <m:ctrlPr>
                          <a:rPr lang="en-US" sz="3200" i="1" dirty="0" smtClean="0">
                            <a:latin typeface="Cambria Math" panose="02040503050406030204" pitchFamily="18" charset="0"/>
                          </a:rPr>
                        </m:ctrlPr>
                      </m:accPr>
                      <m:e>
                        <m:r>
                          <a:rPr lang="en-US" sz="3200" b="1" i="1" dirty="0" smtClean="0">
                            <a:latin typeface="Cambria Math" panose="02040503050406030204" pitchFamily="18" charset="0"/>
                          </a:rPr>
                          <m:t>𝒙</m:t>
                        </m:r>
                      </m:e>
                    </m:acc>
                  </m:oMath>
                </a14:m>
                <a:endParaRPr lang="en-US" sz="3200" dirty="0"/>
              </a:p>
            </p:txBody>
          </p:sp>
        </mc:Choice>
        <mc:Fallback xmlns="">
          <p:sp>
            <p:nvSpPr>
              <p:cNvPr id="2" name="Title 1">
                <a:extLst>
                  <a:ext uri="{FF2B5EF4-FFF2-40B4-BE49-F238E27FC236}">
                    <a16:creationId xmlns:a16="http://schemas.microsoft.com/office/drawing/2014/main" id="{D4D235C5-0E6C-DFB0-A126-4E2A5FC9C498}"/>
                  </a:ext>
                </a:extLst>
              </p:cNvPr>
              <p:cNvSpPr>
                <a:spLocks noGrp="1" noRot="1" noChangeAspect="1" noMove="1" noResize="1" noEditPoints="1" noAdjustHandles="1" noChangeArrowheads="1" noChangeShapeType="1" noTextEdit="1"/>
              </p:cNvSpPr>
              <p:nvPr>
                <p:ph type="title"/>
              </p:nvPr>
            </p:nvSpPr>
            <p:spPr>
              <a:blipFill>
                <a:blip r:embed="rId3"/>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546075B-C944-6D63-DAE3-0BF6D5485616}"/>
                  </a:ext>
                </a:extLst>
              </p:cNvPr>
              <p:cNvSpPr>
                <a:spLocks noGrp="1"/>
              </p:cNvSpPr>
              <p:nvPr>
                <p:ph type="body" sz="quarter" idx="15"/>
              </p:nvPr>
            </p:nvSpPr>
            <p:spPr>
              <a:xfrm>
                <a:off x="713840" y="1644163"/>
                <a:ext cx="6014063" cy="4274944"/>
              </a:xfrm>
            </p:spPr>
            <p:txBody>
              <a:bodyPr/>
              <a:lstStyle/>
              <a:p>
                <a:r>
                  <a:rPr lang="en-US" dirty="0"/>
                  <a:t>Suppose the personnel director at EAI selects a larger simple random sample of 100 managers.</a:t>
                </a:r>
              </a:p>
              <a:p>
                <a:pPr>
                  <a:spcAft>
                    <a:spcPts val="600"/>
                  </a:spcAft>
                </a:pPr>
                <a14:m>
                  <m:oMath xmlns:m="http://schemas.openxmlformats.org/officeDocument/2006/math">
                    <m:r>
                      <a:rPr lang="en-US" sz="2000" b="0" i="1" smtClean="0">
                        <a:latin typeface="Cambria Math" panose="02040503050406030204" pitchFamily="18" charset="0"/>
                      </a:rPr>
                      <m:t>𝐸</m:t>
                    </m:r>
                    <m:d>
                      <m:dPr>
                        <m:ctrlPr>
                          <a:rPr lang="en-US" sz="2000" i="1" smtClean="0">
                            <a:latin typeface="Cambria Math" panose="02040503050406030204" pitchFamily="18" charset="0"/>
                          </a:rPr>
                        </m:ctrlPr>
                      </m:dPr>
                      <m:e>
                        <m:acc>
                          <m:accPr>
                            <m:chr m:val="̅"/>
                            <m:ctrlPr>
                              <a:rPr lang="en-US" sz="2000" i="1">
                                <a:latin typeface="Cambria Math" panose="02040503050406030204" pitchFamily="18" charset="0"/>
                              </a:rPr>
                            </m:ctrlPr>
                          </m:accPr>
                          <m:e>
                            <m:r>
                              <a:rPr lang="en-US" sz="2000" b="0" i="1">
                                <a:latin typeface="Cambria Math" panose="02040503050406030204" pitchFamily="18" charset="0"/>
                              </a:rPr>
                              <m:t>𝑥</m:t>
                            </m:r>
                          </m:e>
                        </m:acc>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𝜇</m:t>
                    </m:r>
                  </m:oMath>
                </a14:m>
                <a:r>
                  <a:rPr lang="en-US" dirty="0"/>
                  <a:t>, so it is still $71,800, but the standard error of the mean is now narrower, with</a:t>
                </a:r>
              </a:p>
              <a:p>
                <a:pPr marL="460375">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sub>
                      </m:sSub>
                      <m:r>
                        <a:rPr lang="en-US" sz="2000" i="1">
                          <a:latin typeface="Cambria Math" panose="02040503050406030204" pitchFamily="18" charset="0"/>
                        </a:rPr>
                        <m:t>=</m:t>
                      </m:r>
                      <m:f>
                        <m:fPr>
                          <m:type m:val="lin"/>
                          <m:ctrlPr>
                            <a:rPr lang="en-US" sz="2000" i="1" smtClean="0">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4000</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100</m:t>
                              </m:r>
                            </m:e>
                          </m:rad>
                        </m:den>
                      </m:f>
                      <m:r>
                        <a:rPr lang="en-US" sz="2000" b="0" i="1" smtClean="0">
                          <a:latin typeface="Cambria Math" panose="02040503050406030204" pitchFamily="18" charset="0"/>
                        </a:rPr>
                        <m:t>=$400</m:t>
                      </m:r>
                    </m:oMath>
                  </m:oMathPara>
                </a14:m>
                <a:endParaRPr lang="en-US" sz="2000" dirty="0">
                  <a:latin typeface="Arial" panose="020B0604020202020204" pitchFamily="34" charset="0"/>
                  <a:cs typeface="Arial" panose="020B0604020202020204" pitchFamily="34" charset="0"/>
                </a:endParaRPr>
              </a:p>
              <a:p>
                <a:pPr>
                  <a:spcAft>
                    <a:spcPts val="600"/>
                  </a:spcAft>
                </a:pPr>
                <a:r>
                  <a:rPr lang="en-US" dirty="0"/>
                  <a:t>At </a:t>
                </a:r>
                <a14:m>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𝑥</m:t>
                        </m:r>
                      </m:e>
                    </m:acc>
                    <m:r>
                      <a:rPr lang="en-US" sz="2000" b="0" i="1" smtClean="0">
                        <a:latin typeface="Cambria Math" panose="02040503050406030204" pitchFamily="18" charset="0"/>
                      </a:rPr>
                      <m:t>=$72,300</m:t>
                    </m:r>
                  </m:oMath>
                </a14:m>
                <a:r>
                  <a:rPr lang="en-US" dirty="0"/>
                  <a:t>, we have:</a:t>
                </a:r>
              </a:p>
              <a:p>
                <a:pPr marL="401638">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𝑥</m:t>
                                  </m:r>
                                </m:e>
                              </m:acc>
                            </m:sub>
                          </m:sSub>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72300−71800</m:t>
                          </m:r>
                        </m:num>
                        <m:den>
                          <m:r>
                            <a:rPr lang="en-US" sz="2000" b="0" i="1" smtClean="0">
                              <a:latin typeface="Cambria Math" panose="02040503050406030204" pitchFamily="18" charset="0"/>
                              <a:cs typeface="Arial" panose="020B0604020202020204" pitchFamily="34" charset="0"/>
                            </a:rPr>
                            <m:t>400</m:t>
                          </m:r>
                        </m:den>
                      </m:f>
                      <m:r>
                        <a:rPr lang="en-US" sz="2000" b="0" i="1" smtClean="0">
                          <a:latin typeface="Cambria Math" panose="02040503050406030204" pitchFamily="18" charset="0"/>
                          <a:cs typeface="Arial" panose="020B0604020202020204" pitchFamily="34" charset="0"/>
                        </a:rPr>
                        <m:t>=1.25</m:t>
                      </m:r>
                    </m:oMath>
                  </m:oMathPara>
                </a14:m>
                <a:endParaRPr lang="en-US" dirty="0"/>
              </a:p>
              <a:p>
                <a:pPr>
                  <a:spcAft>
                    <a:spcPts val="600"/>
                  </a:spcAft>
                </a:pPr>
                <a:r>
                  <a:rPr lang="en-US" dirty="0"/>
                  <a:t>The probability that </a:t>
                </a:r>
                <a14:m>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𝑥</m:t>
                        </m:r>
                      </m:e>
                    </m:acc>
                  </m:oMath>
                </a14:m>
                <a:r>
                  <a:rPr lang="en-US" dirty="0"/>
                  <a:t> is within $500 of </a:t>
                </a:r>
                <a:r>
                  <a:rPr lang="en-US" dirty="0">
                    <a:latin typeface="Symbol" panose="05050102010706020507" pitchFamily="18" charset="2"/>
                  </a:rPr>
                  <a:t>m</a:t>
                </a:r>
                <a:r>
                  <a:rPr lang="en-US" dirty="0"/>
                  <a:t> becomes</a:t>
                </a:r>
              </a:p>
              <a:p>
                <a:pPr marL="460375"/>
                <a14:m>
                  <m:oMathPara xmlns:m="http://schemas.openxmlformats.org/officeDocument/2006/math">
                    <m:oMathParaPr>
                      <m:jc m:val="left"/>
                    </m:oMathParaPr>
                    <m:oMath xmlns:m="http://schemas.openxmlformats.org/officeDocument/2006/math">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71300</m:t>
                          </m:r>
                          <m:r>
                            <a:rPr lang="en-US"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72300</m:t>
                          </m:r>
                        </m:e>
                      </m:d>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sz="2000" i="1" smtClean="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−1.25</m:t>
                          </m:r>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𝑧</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1.25</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ea typeface="Cambria Math" panose="02040503050406030204" pitchFamily="18" charset="0"/>
                              <a:cs typeface="Arial" panose="020B0604020202020204" pitchFamily="34" charset="0"/>
                            </a:rPr>
                            <m:t>≤1.25</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𝑧</m:t>
                          </m:r>
                          <m:r>
                            <a:rPr lang="en-US"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−1.25</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=0.9472−0.0528=0.8944≈89%</m:t>
                      </m:r>
                    </m:oMath>
                  </m:oMathPara>
                </a14:m>
                <a:endParaRPr lang="en-US" sz="2000" dirty="0">
                  <a:latin typeface="Arial" panose="020B0604020202020204" pitchFamily="34" charset="0"/>
                  <a:cs typeface="Arial" panose="020B0604020202020204" pitchFamily="34" charset="0"/>
                </a:endParaRPr>
              </a:p>
              <a:p>
                <a:endParaRPr lang="en-US" dirty="0"/>
              </a:p>
            </p:txBody>
          </p:sp>
        </mc:Choice>
        <mc:Fallback xmlns="">
          <p:sp>
            <p:nvSpPr>
              <p:cNvPr id="3" name="Text Placeholder 2">
                <a:extLst>
                  <a:ext uri="{FF2B5EF4-FFF2-40B4-BE49-F238E27FC236}">
                    <a16:creationId xmlns:a16="http://schemas.microsoft.com/office/drawing/2014/main" id="{0546075B-C944-6D63-DAE3-0BF6D5485616}"/>
                  </a:ext>
                </a:extLst>
              </p:cNvPr>
              <p:cNvSpPr>
                <a:spLocks noGrp="1" noRot="1" noChangeAspect="1" noMove="1" noResize="1" noEditPoints="1" noAdjustHandles="1" noChangeArrowheads="1" noChangeShapeType="1" noTextEdit="1"/>
              </p:cNvSpPr>
              <p:nvPr>
                <p:ph type="body" sz="quarter" idx="15"/>
              </p:nvPr>
            </p:nvSpPr>
            <p:spPr>
              <a:xfrm>
                <a:off x="713840" y="1644163"/>
                <a:ext cx="6014063" cy="4274944"/>
              </a:xfrm>
              <a:blipFill>
                <a:blip r:embed="rId4"/>
                <a:stretch>
                  <a:fillRect l="-2533" t="-1712" r="-1216"/>
                </a:stretch>
              </a:blipFill>
            </p:spPr>
            <p:txBody>
              <a:bodyPr/>
              <a:lstStyle/>
              <a:p>
                <a:r>
                  <a:rPr lang="en-US">
                    <a:noFill/>
                  </a:rPr>
                  <a:t> </a:t>
                </a:r>
              </a:p>
            </p:txBody>
          </p:sp>
        </mc:Fallback>
      </mc:AlternateContent>
      <p:pic>
        <p:nvPicPr>
          <p:cNvPr id="7" name="Picture Placeholder 6" descr="A graph plots two sampling distributions. The horizontal axis is labeled “x-bar” and lists 71,800. Two bell-shaped curves peak at x-bar = 71,800. The wider curve with shorter peak is labeled “With n = 30, sigma_x-bar = 730.3.” The narrower curve with taller peak is labeled “With n = 100, sigma_x-bar = 400.”&#10;">
            <a:extLst>
              <a:ext uri="{FF2B5EF4-FFF2-40B4-BE49-F238E27FC236}">
                <a16:creationId xmlns:a16="http://schemas.microsoft.com/office/drawing/2014/main" id="{53EE7738-8DAF-1779-7536-3917719B5FFE}"/>
              </a:ext>
            </a:extLst>
          </p:cNvPr>
          <p:cNvPicPr>
            <a:picLocks noGrp="1" noChangeAspect="1"/>
          </p:cNvPicPr>
          <p:nvPr>
            <p:ph type="pic" sz="quarter" idx="16"/>
          </p:nvPr>
        </p:nvPicPr>
        <p:blipFill rotWithShape="1">
          <a:blip r:embed="rId5"/>
          <a:srcRect t="24" b="24"/>
          <a:stretch/>
        </p:blipFill>
        <p:spPr>
          <a:xfrm>
            <a:off x="6876624" y="1644163"/>
            <a:ext cx="4773612" cy="2149475"/>
          </a:xfrm>
        </p:spPr>
      </p:pic>
      <p:pic>
        <p:nvPicPr>
          <p:cNvPr id="9" name="Picture Placeholder 8" descr="A graph plots the sampling distribution of x-bar and a probability range. The horizontal axis is labeled “x-bar” and ranges from 71,300 to 72,300 with tickmarks in increments of 500. A narrow, tall bell-shaped curve labeled “Sampling distribution of x-bar, sigma_x-bar = 400” peaks at x-bar = 71,800. The region under the curve between x-bar = 71,300 and x-bar = 72,300 is shaded dark and labeled “P(71,300 &lt;= x-bar &lt;= 72,300) = 0.8944 minus 0.1056 = 0.7888.”&#10;">
            <a:extLst>
              <a:ext uri="{FF2B5EF4-FFF2-40B4-BE49-F238E27FC236}">
                <a16:creationId xmlns:a16="http://schemas.microsoft.com/office/drawing/2014/main" id="{ECD9B7CE-D8E7-A693-C194-418D7B6D61A7}"/>
              </a:ext>
            </a:extLst>
          </p:cNvPr>
          <p:cNvPicPr>
            <a:picLocks noGrp="1" noChangeAspect="1"/>
          </p:cNvPicPr>
          <p:nvPr>
            <p:ph type="pic" sz="quarter" idx="17"/>
          </p:nvPr>
        </p:nvPicPr>
        <p:blipFill rotWithShape="1">
          <a:blip r:embed="rId6"/>
          <a:srcRect t="24" b="24"/>
          <a:stretch/>
        </p:blipFill>
        <p:spPr>
          <a:xfrm>
            <a:off x="6876624" y="3667612"/>
            <a:ext cx="4773612" cy="2149475"/>
          </a:xfrm>
        </p:spPr>
      </p:pic>
    </p:spTree>
    <p:extLst>
      <p:ext uri="{BB962C8B-B14F-4D97-AF65-F5344CB8AC3E}">
        <p14:creationId xmlns:p14="http://schemas.microsoft.com/office/powerpoint/2010/main" val="4221442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EEC1D41-03BA-1A12-59F6-D910E2F34950}"/>
                  </a:ext>
                </a:extLst>
              </p:cNvPr>
              <p:cNvSpPr>
                <a:spLocks noGrp="1"/>
              </p:cNvSpPr>
              <p:nvPr>
                <p:ph type="title"/>
              </p:nvPr>
            </p:nvSpPr>
            <p:spPr/>
            <p:txBody>
              <a:bodyPr/>
              <a:lstStyle/>
              <a:p>
                <a:r>
                  <a:rPr lang="en-US" dirty="0">
                    <a:solidFill>
                      <a:srgbClr val="D14B1E"/>
                    </a:solidFill>
                  </a:rPr>
                  <a:t>7.6 Sampling Distribution of</a:t>
                </a:r>
                <a:r>
                  <a:rPr lang="en-US" b="0" dirty="0">
                    <a:solidFill>
                      <a:srgbClr val="D14B1E"/>
                    </a:solidFill>
                  </a:rPr>
                  <a:t> </a:t>
                </a:r>
                <a14:m>
                  <m:oMath xmlns:m="http://schemas.openxmlformats.org/officeDocument/2006/math">
                    <m:acc>
                      <m:accPr>
                        <m:chr m:val="̅"/>
                        <m:ctrlPr>
                          <a:rPr lang="en-US" sz="3600" i="1" smtClean="0">
                            <a:solidFill>
                              <a:srgbClr val="D14B1E"/>
                            </a:solidFill>
                            <a:latin typeface="Cambria Math" panose="02040503050406030204" pitchFamily="18" charset="0"/>
                          </a:rPr>
                        </m:ctrlPr>
                      </m:accPr>
                      <m:e>
                        <m:r>
                          <a:rPr lang="en-US" sz="3600" b="1" i="1" smtClean="0">
                            <a:solidFill>
                              <a:srgbClr val="D14B1E"/>
                            </a:solidFill>
                            <a:latin typeface="Cambria Math" panose="02040503050406030204" pitchFamily="18" charset="0"/>
                          </a:rPr>
                          <m:t>𝒑</m:t>
                        </m:r>
                      </m:e>
                    </m:acc>
                  </m:oMath>
                </a14:m>
                <a:endParaRPr lang="en-US" dirty="0">
                  <a:solidFill>
                    <a:srgbClr val="D14B1E"/>
                  </a:solidFill>
                </a:endParaRPr>
              </a:p>
            </p:txBody>
          </p:sp>
        </mc:Choice>
        <mc:Fallback xmlns="">
          <p:sp>
            <p:nvSpPr>
              <p:cNvPr id="2" name="Title 1">
                <a:extLst>
                  <a:ext uri="{FF2B5EF4-FFF2-40B4-BE49-F238E27FC236}">
                    <a16:creationId xmlns:a16="http://schemas.microsoft.com/office/drawing/2014/main" id="{3EEC1D41-03BA-1A12-59F6-D910E2F34950}"/>
                  </a:ext>
                </a:extLst>
              </p:cNvPr>
              <p:cNvSpPr>
                <a:spLocks noGrp="1" noRot="1" noChangeAspect="1" noMove="1" noResize="1" noEditPoints="1" noAdjustHandles="1" noChangeArrowheads="1" noChangeShapeType="1" noTextEdit="1"/>
              </p:cNvSpPr>
              <p:nvPr>
                <p:ph type="title"/>
              </p:nvPr>
            </p:nvSpPr>
            <p:spPr>
              <a:blipFill>
                <a:blip r:embed="rId3"/>
                <a:stretch>
                  <a:fillRect t="-24545" b="-1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0A481166-A02D-F72D-615F-3181BDFE06FB}"/>
                  </a:ext>
                </a:extLst>
              </p:cNvPr>
              <p:cNvSpPr>
                <a:spLocks noGrp="1"/>
              </p:cNvSpPr>
              <p:nvPr>
                <p:ph type="body" sz="quarter" idx="16"/>
              </p:nvPr>
            </p:nvSpPr>
            <p:spPr>
              <a:xfrm>
                <a:off x="740228" y="1418842"/>
                <a:ext cx="10711543" cy="4385966"/>
              </a:xfrm>
            </p:spPr>
            <p:txBody>
              <a:bodyPr/>
              <a:lstStyle/>
              <a:p>
                <a:pPr>
                  <a:spcBef>
                    <a:spcPts val="600"/>
                  </a:spcBef>
                  <a:spcAft>
                    <a:spcPts val="600"/>
                  </a:spcAft>
                </a:pPr>
                <a:r>
                  <a:rPr lang="en-US" sz="2000" dirty="0"/>
                  <a:t>The </a:t>
                </a:r>
                <a:r>
                  <a:rPr lang="en-US" sz="2000" b="1" dirty="0"/>
                  <a:t>sampling distribution of </a:t>
                </a:r>
                <a14:m>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𝒑</m:t>
                        </m:r>
                      </m:e>
                    </m:acc>
                  </m:oMath>
                </a14:m>
                <a:r>
                  <a:rPr lang="en-US" sz="2000" dirty="0"/>
                  <a:t>, the probability distribution of all possible values of the sample proportion </a:t>
                </a:r>
                <a14:m>
                  <m:oMath xmlns:m="http://schemas.openxmlformats.org/officeDocument/2006/math">
                    <m:acc>
                      <m:accPr>
                        <m:chr m:val="̅"/>
                        <m:ctrlPr>
                          <a:rPr lang="en-US" sz="2000" i="1">
                            <a:latin typeface="Cambria Math" panose="02040503050406030204" pitchFamily="18" charset="0"/>
                          </a:rPr>
                        </m:ctrlPr>
                      </m:accPr>
                      <m:e>
                        <m:r>
                          <a:rPr lang="en-US" sz="2000" b="0" i="1" smtClean="0">
                            <a:latin typeface="Cambria Math" panose="02040503050406030204" pitchFamily="18" charset="0"/>
                          </a:rPr>
                          <m:t>𝑝</m:t>
                        </m:r>
                      </m:e>
                    </m:acc>
                  </m:oMath>
                </a14:m>
                <a:r>
                  <a:rPr lang="en-US" sz="2000" dirty="0"/>
                  <a:t> (*see notes), is defined as</a:t>
                </a:r>
              </a:p>
              <a:p>
                <a:pPr marL="914400">
                  <a:spcBef>
                    <a:spcPts val="600"/>
                  </a:spcBef>
                  <a:spcAft>
                    <a:spcPts val="600"/>
                  </a:spcAft>
                  <a:tabLst>
                    <a:tab pos="4171950" algn="l"/>
                  </a:tabLst>
                </a:pPr>
                <a14:m>
                  <m:oMath xmlns:m="http://schemas.openxmlformats.org/officeDocument/2006/math">
                    <m:r>
                      <a:rPr lang="en-US" sz="2000" b="1" i="1" smtClean="0">
                        <a:latin typeface="Cambria Math" panose="02040503050406030204" pitchFamily="18" charset="0"/>
                      </a:rPr>
                      <m:t>𝑬</m:t>
                    </m:r>
                    <m:d>
                      <m:dPr>
                        <m:ctrlPr>
                          <a:rPr lang="en-US" sz="2000" b="1" i="1" smtClean="0">
                            <a:latin typeface="Cambria Math" panose="02040503050406030204" pitchFamily="18" charset="0"/>
                          </a:rPr>
                        </m:ctrlPr>
                      </m:dPr>
                      <m:e>
                        <m:acc>
                          <m:accPr>
                            <m:chr m:val="̅"/>
                            <m:ctrlPr>
                              <a:rPr lang="en-US" sz="2000" b="1" i="1">
                                <a:latin typeface="Cambria Math" panose="02040503050406030204" pitchFamily="18" charset="0"/>
                              </a:rPr>
                            </m:ctrlPr>
                          </m:accPr>
                          <m:e>
                            <m:r>
                              <a:rPr lang="en-US" sz="2000" b="1" i="1" smtClean="0">
                                <a:latin typeface="Cambria Math" panose="02040503050406030204" pitchFamily="18" charset="0"/>
                              </a:rPr>
                              <m:t>𝒑</m:t>
                            </m:r>
                          </m:e>
                        </m:acc>
                      </m:e>
                    </m:d>
                    <m:r>
                      <a:rPr lang="en-US" sz="2000" b="1" i="1" smtClean="0">
                        <a:latin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𝒑</m:t>
                    </m:r>
                  </m:oMath>
                </a14:m>
                <a:r>
                  <a:rPr lang="en-US" sz="2000" dirty="0"/>
                  <a:t>	the expected value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a14:m>
                <a:endParaRPr lang="en-US" sz="2000" dirty="0"/>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𝒑</m:t>
                              </m:r>
                            </m:e>
                          </m:acc>
                        </m:sub>
                      </m:sSub>
                      <m:r>
                        <a:rPr lang="en-US" sz="2000" b="1" i="1" smtClean="0">
                          <a:latin typeface="Cambria Math" panose="02040503050406030204" pitchFamily="18" charset="0"/>
                        </a:rPr>
                        <m:t>=</m:t>
                      </m:r>
                      <m:rad>
                        <m:radPr>
                          <m:degHide m:val="on"/>
                          <m:ctrlPr>
                            <a:rPr lang="en-US" sz="2000" b="1" i="1" smtClean="0">
                              <a:latin typeface="Cambria Math" panose="02040503050406030204" pitchFamily="18" charset="0"/>
                            </a:rPr>
                          </m:ctrlPr>
                        </m:radPr>
                        <m:deg/>
                        <m:e>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𝑵</m:t>
                              </m:r>
                              <m:r>
                                <a:rPr lang="en-US" sz="2000" b="1" i="1" smtClean="0">
                                  <a:latin typeface="Cambria Math" panose="02040503050406030204" pitchFamily="18" charset="0"/>
                                </a:rPr>
                                <m:t>−</m:t>
                              </m:r>
                              <m:r>
                                <a:rPr lang="en-US" sz="2000" b="1" i="1" smtClean="0">
                                  <a:latin typeface="Cambria Math" panose="02040503050406030204" pitchFamily="18" charset="0"/>
                                </a:rPr>
                                <m:t>𝒏</m:t>
                              </m:r>
                            </m:num>
                            <m:den>
                              <m:r>
                                <a:rPr lang="en-US" sz="2000" b="1" i="1" smtClean="0">
                                  <a:latin typeface="Cambria Math" panose="02040503050406030204" pitchFamily="18" charset="0"/>
                                </a:rPr>
                                <m:t>𝑵</m:t>
                              </m:r>
                              <m:r>
                                <a:rPr lang="en-US" sz="2000" b="1" i="1" smtClean="0">
                                  <a:latin typeface="Cambria Math" panose="02040503050406030204" pitchFamily="18" charset="0"/>
                                </a:rPr>
                                <m:t>−</m:t>
                              </m:r>
                              <m:r>
                                <a:rPr lang="en-US" sz="2000" b="1" i="1" smtClean="0">
                                  <a:latin typeface="Cambria Math" panose="02040503050406030204" pitchFamily="18" charset="0"/>
                                </a:rPr>
                                <m:t>𝟏</m:t>
                              </m:r>
                            </m:den>
                          </m:f>
                        </m:e>
                      </m:rad>
                      <m:rad>
                        <m:radPr>
                          <m:degHide m:val="on"/>
                          <m:ctrlPr>
                            <a:rPr lang="en-US" sz="2000" b="1" i="1" smtClean="0">
                              <a:latin typeface="Cambria Math" panose="02040503050406030204" pitchFamily="18" charset="0"/>
                            </a:rPr>
                          </m:ctrlPr>
                        </m:radPr>
                        <m:deg/>
                        <m:e>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𝒑</m:t>
                              </m:r>
                              <m:r>
                                <a:rPr lang="en-US" sz="2000" b="1" i="1" smtClean="0">
                                  <a:latin typeface="Cambria Math" panose="02040503050406030204" pitchFamily="18" charset="0"/>
                                </a:rPr>
                                <m:t>(</m:t>
                              </m:r>
                              <m:r>
                                <a:rPr lang="en-US" sz="2000" b="1" i="1" smtClean="0">
                                  <a:latin typeface="Cambria Math" panose="02040503050406030204" pitchFamily="18" charset="0"/>
                                </a:rPr>
                                <m:t>𝟏</m:t>
                              </m:r>
                              <m:r>
                                <a:rPr lang="en-US" sz="2000" b="1" i="1" smtClean="0">
                                  <a:latin typeface="Cambria Math" panose="02040503050406030204" pitchFamily="18" charset="0"/>
                                </a:rPr>
                                <m:t>−</m:t>
                              </m:r>
                              <m:r>
                                <a:rPr lang="en-US" sz="2000" b="1" i="1" smtClean="0">
                                  <a:latin typeface="Cambria Math" panose="02040503050406030204" pitchFamily="18" charset="0"/>
                                </a:rPr>
                                <m:t>𝒑</m:t>
                              </m:r>
                              <m:r>
                                <a:rPr lang="en-US" sz="2000" b="1" i="1" smtClean="0">
                                  <a:latin typeface="Cambria Math" panose="02040503050406030204" pitchFamily="18" charset="0"/>
                                </a:rPr>
                                <m:t>)</m:t>
                              </m:r>
                            </m:num>
                            <m:den>
                              <m:r>
                                <a:rPr lang="en-US" sz="2000" b="1" i="1" smtClean="0">
                                  <a:latin typeface="Cambria Math" panose="02040503050406030204" pitchFamily="18" charset="0"/>
                                </a:rPr>
                                <m:t>𝒏</m:t>
                              </m:r>
                            </m:den>
                          </m:f>
                        </m:e>
                      </m:rad>
                      <m:r>
                        <a:rPr lang="en-US" sz="2000" b="0" i="1" smtClean="0">
                          <a:latin typeface="Cambria Math" panose="02040503050406030204" pitchFamily="18" charset="0"/>
                        </a:rPr>
                        <m:t>         </m:t>
                      </m:r>
                      <m:r>
                        <m:rPr>
                          <m:nor/>
                        </m:rPr>
                        <a:rPr lang="en-US" sz="2000" b="0" i="0" smtClean="0">
                          <a:latin typeface="Cambria Math" panose="02040503050406030204" pitchFamily="18" charset="0"/>
                        </a:rPr>
                        <m:t> </m:t>
                      </m:r>
                      <m:r>
                        <m:rPr>
                          <m:nor/>
                        </m:rPr>
                        <a:rPr lang="en-US" sz="2000" b="0" i="0" smtClean="0"/>
                        <m:t>the</m:t>
                      </m:r>
                      <m:r>
                        <m:rPr>
                          <m:nor/>
                        </m:rPr>
                        <a:rPr lang="en-US" sz="2000" b="0" i="0" smtClean="0"/>
                        <m:t> </m:t>
                      </m:r>
                      <m:r>
                        <m:rPr>
                          <m:nor/>
                        </m:rPr>
                        <a:rPr lang="en-US" sz="2000" b="0" i="0" smtClean="0"/>
                        <m:t>standard</m:t>
                      </m:r>
                      <m:r>
                        <m:rPr>
                          <m:nor/>
                        </m:rPr>
                        <a:rPr lang="en-US" sz="2000" b="0" i="0" smtClean="0"/>
                        <m:t> </m:t>
                      </m:r>
                      <m:r>
                        <m:rPr>
                          <m:nor/>
                        </m:rPr>
                        <a:rPr lang="en-US" sz="2000" b="0" i="0" smtClean="0"/>
                        <m:t>error</m:t>
                      </m:r>
                      <m:r>
                        <m:rPr>
                          <m:nor/>
                        </m:rPr>
                        <a:rPr lang="en-US" sz="2000" b="0" i="0" smtClean="0"/>
                        <m:t> </m:t>
                      </m:r>
                      <m:r>
                        <m:rPr>
                          <m:nor/>
                        </m:rPr>
                        <a:rPr lang="en-US" sz="2000" b="0" i="0" smtClean="0"/>
                        <m:t>of</m:t>
                      </m:r>
                      <m:r>
                        <m:rPr>
                          <m:nor/>
                        </m:rPr>
                        <a:rPr lang="en-US" sz="2000" b="0" i="0" smtClean="0"/>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oMath>
                  </m:oMathPara>
                </a14:m>
                <a:endParaRPr lang="en-US" sz="2000" dirty="0"/>
              </a:p>
              <a:p>
                <a:pPr>
                  <a:spcBef>
                    <a:spcPts val="600"/>
                  </a:spcBef>
                  <a:spcAft>
                    <a:spcPts val="0"/>
                  </a:spcAft>
                </a:pPr>
                <a:r>
                  <a:rPr lang="en-US" sz="2000" dirty="0"/>
                  <a:t>Where </a:t>
                </a:r>
                <a14:m>
                  <m:oMath xmlns:m="http://schemas.openxmlformats.org/officeDocument/2006/math">
                    <m:r>
                      <a:rPr lang="en-US" sz="2000" i="1" dirty="0" smtClean="0">
                        <a:latin typeface="Cambria Math" panose="02040503050406030204" pitchFamily="18" charset="0"/>
                      </a:rPr>
                      <m:t>𝑝</m:t>
                    </m:r>
                  </m:oMath>
                </a14:m>
                <a:r>
                  <a:rPr lang="en-US" sz="2000" dirty="0"/>
                  <a:t> is the population proportion and </a:t>
                </a:r>
                <a14:m>
                  <m:oMath xmlns:m="http://schemas.openxmlformats.org/officeDocument/2006/math">
                    <m:rad>
                      <m:radPr>
                        <m:degHide m:val="on"/>
                        <m:ctrlPr>
                          <a:rPr lang="en-US" sz="2000" i="1">
                            <a:latin typeface="Cambria Math" panose="02040503050406030204" pitchFamily="18" charset="0"/>
                          </a:rPr>
                        </m:ctrlPr>
                      </m:radPr>
                      <m:deg/>
                      <m:e>
                        <m:r>
                          <a:rPr lang="en-US" sz="2000" i="1">
                            <a:latin typeface="Cambria Math" panose="02040503050406030204" pitchFamily="18" charset="0"/>
                          </a:rPr>
                          <m:t>(</m:t>
                        </m:r>
                        <m:r>
                          <a:rPr lang="en-US" sz="2000" i="1">
                            <a:latin typeface="Cambria Math" panose="02040503050406030204" pitchFamily="18" charset="0"/>
                          </a:rPr>
                          <m:t>𝑁</m:t>
                        </m:r>
                        <m:r>
                          <a:rPr lang="en-US" sz="2000" i="1">
                            <a:latin typeface="Cambria Math" panose="02040503050406030204" pitchFamily="18" charset="0"/>
                          </a:rPr>
                          <m:t>−</m:t>
                        </m:r>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𝑁</m:t>
                        </m:r>
                        <m:r>
                          <a:rPr lang="en-US" sz="2000" i="1">
                            <a:latin typeface="Cambria Math" panose="02040503050406030204" pitchFamily="18" charset="0"/>
                          </a:rPr>
                          <m:t>−1)</m:t>
                        </m:r>
                      </m:e>
                    </m:rad>
                  </m:oMath>
                </a14:m>
                <a:r>
                  <a:rPr lang="en-US" sz="2000" dirty="0"/>
                  <a:t> the finite population correction factor.</a:t>
                </a:r>
              </a:p>
              <a:p>
                <a:pPr>
                  <a:spcBef>
                    <a:spcPts val="600"/>
                  </a:spcBef>
                  <a:spcAft>
                    <a:spcPts val="600"/>
                  </a:spcAft>
                </a:pPr>
                <a:r>
                  <a:rPr lang="en-US" sz="2000" dirty="0"/>
                  <a:t>When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𝑁</m:t>
                    </m:r>
                    <m:r>
                      <a:rPr lang="en-US" sz="2000" b="0" i="1" smtClean="0">
                        <a:latin typeface="Cambria Math" panose="02040503050406030204" pitchFamily="18" charset="0"/>
                        <a:ea typeface="Cambria Math" panose="02040503050406030204" pitchFamily="18" charset="0"/>
                      </a:rPr>
                      <m:t>&lt;0.05</m:t>
                    </m:r>
                  </m:oMath>
                </a14:m>
                <a:r>
                  <a:rPr lang="en-US" sz="2000" dirty="0"/>
                  <a:t>, we can neglect the population correction factor,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b="0" i="1" smtClean="0">
                                <a:latin typeface="Cambria Math" panose="02040503050406030204" pitchFamily="18" charset="0"/>
                              </a:rPr>
                              <m:t>𝑝</m:t>
                            </m:r>
                          </m:e>
                        </m:acc>
                      </m:sub>
                    </m:sSub>
                  </m:oMath>
                </a14:m>
                <a:r>
                  <a:rPr lang="en-US" sz="2000" dirty="0"/>
                  <a:t> simplifies as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𝝈</m:t>
                          </m:r>
                        </m:e>
                        <m:sub>
                          <m:acc>
                            <m:accPr>
                              <m:chr m:val="̅"/>
                              <m:ctrlPr>
                                <a:rPr lang="en-US" sz="2000" b="1" i="1">
                                  <a:latin typeface="Cambria Math" panose="02040503050406030204" pitchFamily="18" charset="0"/>
                                </a:rPr>
                              </m:ctrlPr>
                            </m:accPr>
                            <m:e>
                              <m:r>
                                <a:rPr lang="en-US" sz="2000" b="1" i="1" smtClean="0">
                                  <a:latin typeface="Cambria Math" panose="02040503050406030204" pitchFamily="18" charset="0"/>
                                </a:rPr>
                                <m:t>𝒑</m:t>
                              </m:r>
                            </m:e>
                          </m:acc>
                        </m:sub>
                      </m:sSub>
                      <m:r>
                        <a:rPr lang="en-US" sz="2000" b="1" i="1">
                          <a:latin typeface="Cambria Math" panose="02040503050406030204" pitchFamily="18" charset="0"/>
                        </a:rPr>
                        <m:t>=</m:t>
                      </m:r>
                      <m:rad>
                        <m:radPr>
                          <m:degHide m:val="on"/>
                          <m:ctrlPr>
                            <a:rPr lang="en-US" sz="2000" b="1" i="1">
                              <a:latin typeface="Cambria Math" panose="02040503050406030204" pitchFamily="18" charset="0"/>
                            </a:rPr>
                          </m:ctrlPr>
                        </m:radPr>
                        <m:deg/>
                        <m:e>
                          <m:f>
                            <m:fPr>
                              <m:ctrlPr>
                                <a:rPr lang="en-US" sz="2000" b="1" i="1">
                                  <a:latin typeface="Cambria Math" panose="02040503050406030204" pitchFamily="18" charset="0"/>
                                </a:rPr>
                              </m:ctrlPr>
                            </m:fPr>
                            <m:num>
                              <m:r>
                                <a:rPr lang="en-US" sz="2000" b="1" i="1">
                                  <a:latin typeface="Cambria Math" panose="02040503050406030204" pitchFamily="18" charset="0"/>
                                </a:rPr>
                                <m:t>𝒑</m:t>
                              </m:r>
                              <m:r>
                                <a:rPr lang="en-US" sz="2000" b="1" i="1">
                                  <a:latin typeface="Cambria Math" panose="02040503050406030204" pitchFamily="18" charset="0"/>
                                </a:rPr>
                                <m:t>(</m:t>
                              </m:r>
                              <m:r>
                                <a:rPr lang="en-US" sz="2000" b="1" i="1">
                                  <a:latin typeface="Cambria Math" panose="02040503050406030204" pitchFamily="18" charset="0"/>
                                </a:rPr>
                                <m:t>𝟏</m:t>
                              </m:r>
                              <m:r>
                                <a:rPr lang="en-US" sz="2000" b="1" i="1">
                                  <a:latin typeface="Cambria Math" panose="02040503050406030204" pitchFamily="18" charset="0"/>
                                </a:rPr>
                                <m:t>−</m:t>
                              </m:r>
                              <m:r>
                                <a:rPr lang="en-US" sz="2000" b="1" i="1">
                                  <a:latin typeface="Cambria Math" panose="02040503050406030204" pitchFamily="18" charset="0"/>
                                </a:rPr>
                                <m:t>𝒑</m:t>
                              </m:r>
                              <m:r>
                                <a:rPr lang="en-US" sz="2000" b="1" i="1">
                                  <a:latin typeface="Cambria Math" panose="02040503050406030204" pitchFamily="18" charset="0"/>
                                </a:rPr>
                                <m:t>)</m:t>
                              </m:r>
                            </m:num>
                            <m:den>
                              <m:r>
                                <a:rPr lang="en-US" sz="2000" b="1" i="1">
                                  <a:latin typeface="Cambria Math" panose="02040503050406030204" pitchFamily="18" charset="0"/>
                                </a:rPr>
                                <m:t>𝒏</m:t>
                              </m:r>
                            </m:den>
                          </m:f>
                        </m:e>
                      </m:rad>
                    </m:oMath>
                  </m:oMathPara>
                </a14:m>
                <a:endParaRPr lang="en-US" sz="2000" b="1" dirty="0"/>
              </a:p>
              <a:p>
                <a:pPr>
                  <a:spcBef>
                    <a:spcPts val="600"/>
                  </a:spcBef>
                  <a:spcAft>
                    <a:spcPts val="0"/>
                  </a:spcAft>
                </a:pPr>
                <a:endParaRPr lang="en-US" sz="2000" dirty="0"/>
              </a:p>
              <a:p>
                <a:pPr marL="914400">
                  <a:spcBef>
                    <a:spcPts val="600"/>
                  </a:spcBef>
                  <a:spcAft>
                    <a:spcPts val="0"/>
                  </a:spcAft>
                </a:pPr>
                <a:endParaRPr lang="en-US" sz="2000" dirty="0"/>
              </a:p>
            </p:txBody>
          </p:sp>
        </mc:Choice>
        <mc:Fallback xmlns="">
          <p:sp>
            <p:nvSpPr>
              <p:cNvPr id="7" name="Text Placeholder 6">
                <a:extLst>
                  <a:ext uri="{FF2B5EF4-FFF2-40B4-BE49-F238E27FC236}">
                    <a16:creationId xmlns:a16="http://schemas.microsoft.com/office/drawing/2014/main" id="{0A481166-A02D-F72D-615F-3181BDFE06FB}"/>
                  </a:ext>
                </a:extLst>
              </p:cNvPr>
              <p:cNvSpPr>
                <a:spLocks noGrp="1" noRot="1" noChangeAspect="1" noMove="1" noResize="1" noEditPoints="1" noAdjustHandles="1" noChangeArrowheads="1" noChangeShapeType="1" noTextEdit="1"/>
              </p:cNvSpPr>
              <p:nvPr>
                <p:ph type="body" sz="quarter" idx="16"/>
              </p:nvPr>
            </p:nvSpPr>
            <p:spPr>
              <a:xfrm>
                <a:off x="740228" y="1418842"/>
                <a:ext cx="10711543" cy="4385966"/>
              </a:xfrm>
              <a:blipFill>
                <a:blip r:embed="rId4"/>
                <a:stretch>
                  <a:fillRect l="-1422" t="-1669" r="-1536"/>
                </a:stretch>
              </a:blipFill>
            </p:spPr>
            <p:txBody>
              <a:bodyPr/>
              <a:lstStyle/>
              <a:p>
                <a:r>
                  <a:rPr lang="en-US">
                    <a:noFill/>
                  </a:rPr>
                  <a:t> </a:t>
                </a:r>
              </a:p>
            </p:txBody>
          </p:sp>
        </mc:Fallback>
      </mc:AlternateContent>
    </p:spTree>
    <p:extLst>
      <p:ext uri="{BB962C8B-B14F-4D97-AF65-F5344CB8AC3E}">
        <p14:creationId xmlns:p14="http://schemas.microsoft.com/office/powerpoint/2010/main" val="2096950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p:cNvSpPr>
                <a:spLocks noGrp="1"/>
              </p:cNvSpPr>
              <p:nvPr>
                <p:ph type="title"/>
              </p:nvPr>
            </p:nvSpPr>
            <p:spPr/>
            <p:txBody>
              <a:bodyPr>
                <a:normAutofit/>
              </a:bodyPr>
              <a:lstStyle/>
              <a:p>
                <a:r>
                  <a:rPr lang="en-US" dirty="0">
                    <a:cs typeface="Arial" panose="020B0604020202020204" pitchFamily="34" charset="0"/>
                  </a:rPr>
                  <a:t>7.6 Form of the Sampling Distribution of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1" i="1" smtClean="0">
                            <a:latin typeface="Cambria Math" panose="02040503050406030204" pitchFamily="18" charset="0"/>
                            <a:cs typeface="Arial" panose="020B0604020202020204" pitchFamily="34" charset="0"/>
                          </a:rPr>
                          <m:t>𝒑</m:t>
                        </m:r>
                      </m:e>
                    </m:acc>
                  </m:oMath>
                </a14:m>
                <a:endParaRPr lang="en-US" sz="1600" dirty="0"/>
              </a:p>
            </p:txBody>
          </p:sp>
        </mc:Choice>
        <mc:Fallback xmlns="">
          <p:sp>
            <p:nvSpPr>
              <p:cNvPr id="3" name="Title 2"/>
              <p:cNvSpPr>
                <a:spLocks noGrp="1" noRot="1" noChangeAspect="1" noMove="1" noResize="1" noEditPoints="1" noAdjustHandles="1" noChangeArrowheads="1" noChangeShapeType="1" noTextEdit="1"/>
              </p:cNvSpPr>
              <p:nvPr>
                <p:ph type="title"/>
              </p:nvPr>
            </p:nvSpPr>
            <p:spPr>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type="body" sz="quarter" idx="15"/>
              </p:nvPr>
            </p:nvSpPr>
            <p:spPr>
              <a:xfrm>
                <a:off x="743576" y="1551213"/>
                <a:ext cx="10711543" cy="3755573"/>
              </a:xfrm>
            </p:spPr>
            <p:txBody>
              <a:bodyPr>
                <a:noAutofit/>
              </a:bodyPr>
              <a:lstStyle/>
              <a:p>
                <a:pPr>
                  <a:spcAft>
                    <a:spcPts val="600"/>
                  </a:spcAft>
                </a:pPr>
                <a:r>
                  <a:rPr lang="en-US" sz="2000" dirty="0">
                    <a:latin typeface="Arial" panose="020B0604020202020204" pitchFamily="34" charset="0"/>
                    <a:cs typeface="Arial" panose="020B0604020202020204" pitchFamily="34" charset="0"/>
                  </a:rPr>
                  <a:t>In Chapter 6, we showed that a binomial distribution can be approximated by a normal distribution whenever the sample size is large enough to satisfy the following two conditions:</a:t>
                </a:r>
                <a:endParaRPr lang="en-US" sz="2000" b="0" dirty="0">
                  <a:cs typeface="Arial" panose="020B0604020202020204" pitchFamily="34" charset="0"/>
                </a:endParaRPr>
              </a:p>
              <a:p>
                <a:pPr marL="9144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𝑛𝑝</m:t>
                      </m:r>
                      <m:r>
                        <a:rPr lang="en-US" sz="2000" b="0" i="1" smtClean="0">
                          <a:latin typeface="Cambria Math" panose="02040503050406030204" pitchFamily="18" charset="0"/>
                          <a:ea typeface="Cambria Math" panose="02040503050406030204" pitchFamily="18" charset="0"/>
                          <a:cs typeface="Arial" panose="020B0604020202020204" pitchFamily="34" charset="0"/>
                        </a:rPr>
                        <m:t>≥5</m:t>
                      </m:r>
                    </m:oMath>
                  </m:oMathPara>
                </a14:m>
                <a:endParaRPr lang="en-US" sz="2000" b="0" i="1" dirty="0">
                  <a:latin typeface="Cambria Math" panose="02040503050406030204" pitchFamily="18" charset="0"/>
                  <a:ea typeface="Cambria Math" panose="02040503050406030204" pitchFamily="18" charset="0"/>
                  <a:cs typeface="Arial" panose="020B0604020202020204" pitchFamily="34" charset="0"/>
                </a:endParaRPr>
              </a:p>
              <a:p>
                <a:pPr marL="914400">
                  <a:spcAft>
                    <a:spcPts val="60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cs typeface="Arial" panose="020B0604020202020204" pitchFamily="34" charset="0"/>
                        </a:rPr>
                        <m:t>𝑛</m:t>
                      </m:r>
                      <m:r>
                        <a:rPr lang="en-US" sz="2000" b="0" i="1" smtClean="0">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𝑝</m:t>
                      </m:r>
                      <m:r>
                        <a:rPr lang="en-US" sz="2000" b="0" i="1" smtClean="0">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≥5</m:t>
                      </m:r>
                    </m:oMath>
                  </m:oMathPara>
                </a14:m>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Because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oMath>
                </a14:m>
                <a:r>
                  <a:rPr lang="en-US" sz="2000" dirty="0">
                    <a:latin typeface="Arial" panose="020B0604020202020204" pitchFamily="34" charset="0"/>
                    <a:cs typeface="Arial" panose="020B0604020202020204" pitchFamily="34" charset="0"/>
                  </a:rPr>
                  <a:t> is a constant, if the probability distribution of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oMath>
                </a14:m>
                <a:r>
                  <a:rPr lang="en-US" sz="2000" dirty="0">
                    <a:latin typeface="Arial" panose="020B0604020202020204" pitchFamily="34" charset="0"/>
                    <a:cs typeface="Arial" panose="020B0604020202020204" pitchFamily="34" charset="0"/>
                  </a:rPr>
                  <a:t> in the sample proportion </a:t>
                </a:r>
                <a14:m>
                  <m:oMath xmlns:m="http://schemas.openxmlformats.org/officeDocument/2006/math">
                    <m:acc>
                      <m:accPr>
                        <m:chr m:val="̅"/>
                        <m:ctrlPr>
                          <a:rPr lang="en-US" sz="2000" i="1" dirty="0" smtClean="0">
                            <a:latin typeface="Cambria Math" panose="02040503050406030204" pitchFamily="18" charset="0"/>
                            <a:cs typeface="Arial" panose="020B0604020202020204" pitchFamily="34" charset="0"/>
                          </a:rPr>
                        </m:ctrlPr>
                      </m:accPr>
                      <m:e>
                        <m:r>
                          <a:rPr lang="en-US" sz="2000" i="1" dirty="0">
                            <a:latin typeface="Cambria Math" panose="02040503050406030204" pitchFamily="18" charset="0"/>
                            <a:cs typeface="Arial" panose="020B0604020202020204" pitchFamily="34" charset="0"/>
                          </a:rPr>
                          <m:t>𝑝</m:t>
                        </m:r>
                      </m:e>
                    </m:acc>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𝑛</m:t>
                    </m:r>
                  </m:oMath>
                </a14:m>
                <a:r>
                  <a:rPr lang="en-US" sz="2000" dirty="0">
                    <a:latin typeface="Arial" panose="020B0604020202020204" pitchFamily="34" charset="0"/>
                    <a:cs typeface="Arial" panose="020B0604020202020204" pitchFamily="34" charset="0"/>
                  </a:rPr>
                  <a:t> can be approximated by a normal distribution, it follows that the sampling distribution of </a:t>
                </a:r>
                <a14:m>
                  <m:oMath xmlns:m="http://schemas.openxmlformats.org/officeDocument/2006/math">
                    <m:acc>
                      <m:accPr>
                        <m:chr m:val="̅"/>
                        <m:ctrlPr>
                          <a:rPr lang="en-US" sz="2000" i="1" dirty="0">
                            <a:latin typeface="Cambria Math" panose="02040503050406030204" pitchFamily="18" charset="0"/>
                            <a:cs typeface="Arial" panose="020B0604020202020204" pitchFamily="34" charset="0"/>
                          </a:rPr>
                        </m:ctrlPr>
                      </m:accPr>
                      <m:e>
                        <m:r>
                          <a:rPr lang="en-US" sz="2000" i="1" dirty="0">
                            <a:latin typeface="Cambria Math" panose="02040503050406030204" pitchFamily="18" charset="0"/>
                            <a:cs typeface="Arial" panose="020B0604020202020204" pitchFamily="34" charset="0"/>
                          </a:rPr>
                          <m:t>𝑝</m:t>
                        </m:r>
                      </m:e>
                    </m:acc>
                  </m:oMath>
                </a14:m>
                <a:r>
                  <a:rPr lang="en-US" sz="2000" dirty="0">
                    <a:latin typeface="Arial" panose="020B0604020202020204" pitchFamily="34" charset="0"/>
                    <a:cs typeface="Arial" panose="020B0604020202020204" pitchFamily="34" charset="0"/>
                  </a:rPr>
                  <a:t> can also be approximated by a normal distribution.</a:t>
                </a:r>
              </a:p>
              <a:p>
                <a:r>
                  <a:rPr lang="en-US" sz="2000" dirty="0">
                    <a:latin typeface="Arial" panose="020B0604020202020204" pitchFamily="34" charset="0"/>
                    <a:cs typeface="Arial" panose="020B0604020202020204" pitchFamily="34" charset="0"/>
                  </a:rPr>
                  <a:t>Thus, we formally state that</a:t>
                </a:r>
              </a:p>
              <a:p>
                <a:pPr marL="457200"/>
                <a:r>
                  <a:rPr lang="en-US" sz="2000" b="1" dirty="0">
                    <a:highlight>
                      <a:srgbClr val="FFF4DE"/>
                    </a:highlight>
                    <a:latin typeface="Arial" panose="020B0604020202020204" pitchFamily="34" charset="0"/>
                    <a:cs typeface="Arial" panose="020B0604020202020204" pitchFamily="34" charset="0"/>
                  </a:rPr>
                  <a:t>The sampling distribution of </a:t>
                </a:r>
                <a14:m>
                  <m:oMath xmlns:m="http://schemas.openxmlformats.org/officeDocument/2006/math">
                    <m:acc>
                      <m:accPr>
                        <m:chr m:val="̅"/>
                        <m:ctrlPr>
                          <a:rPr lang="en-US" sz="2000" b="1" i="1" dirty="0">
                            <a:highlight>
                              <a:srgbClr val="FFF4DE"/>
                            </a:highlight>
                            <a:latin typeface="Cambria Math" panose="02040503050406030204" pitchFamily="18" charset="0"/>
                            <a:cs typeface="Arial" panose="020B0604020202020204" pitchFamily="34" charset="0"/>
                          </a:rPr>
                        </m:ctrlPr>
                      </m:accPr>
                      <m:e>
                        <m:r>
                          <a:rPr lang="en-US" sz="2000" b="1" i="1" dirty="0">
                            <a:highlight>
                              <a:srgbClr val="FFF4DE"/>
                            </a:highlight>
                            <a:latin typeface="Cambria Math" panose="02040503050406030204" pitchFamily="18" charset="0"/>
                            <a:cs typeface="Arial" panose="020B0604020202020204" pitchFamily="34" charset="0"/>
                          </a:rPr>
                          <m:t>𝒑</m:t>
                        </m:r>
                      </m:e>
                    </m:acc>
                  </m:oMath>
                </a14:m>
                <a:r>
                  <a:rPr lang="en-US" sz="2000" b="1" dirty="0">
                    <a:highlight>
                      <a:srgbClr val="FFF4DE"/>
                    </a:highlight>
                    <a:latin typeface="Arial" panose="020B0604020202020204" pitchFamily="34" charset="0"/>
                    <a:cs typeface="Arial" panose="020B0604020202020204" pitchFamily="34" charset="0"/>
                  </a:rPr>
                  <a:t> can be approximated by a normal distribution whenever </a:t>
                </a:r>
                <a14:m>
                  <m:oMath xmlns:m="http://schemas.openxmlformats.org/officeDocument/2006/math">
                    <m:r>
                      <a:rPr lang="en-US" sz="2000" b="1" i="1" smtClean="0">
                        <a:highlight>
                          <a:srgbClr val="FFF4DE"/>
                        </a:highlight>
                        <a:latin typeface="Cambria Math" panose="02040503050406030204" pitchFamily="18" charset="0"/>
                        <a:cs typeface="Arial" panose="020B0604020202020204" pitchFamily="34" charset="0"/>
                      </a:rPr>
                      <m:t>𝒏𝒑</m:t>
                    </m:r>
                    <m:r>
                      <a:rPr lang="en-US" sz="2000" b="1" i="1" smtClean="0">
                        <a:highlight>
                          <a:srgbClr val="FFF4DE"/>
                        </a:highlight>
                        <a:latin typeface="Cambria Math" panose="02040503050406030204" pitchFamily="18" charset="0"/>
                        <a:ea typeface="Cambria Math" panose="02040503050406030204" pitchFamily="18" charset="0"/>
                        <a:cs typeface="Arial" panose="020B0604020202020204" pitchFamily="34" charset="0"/>
                      </a:rPr>
                      <m:t>≥</m:t>
                    </m:r>
                    <m:r>
                      <a:rPr lang="en-US" sz="2000" b="1" i="1" smtClean="0">
                        <a:highlight>
                          <a:srgbClr val="FFF4DE"/>
                        </a:highlight>
                        <a:latin typeface="Cambria Math" panose="02040503050406030204" pitchFamily="18" charset="0"/>
                        <a:ea typeface="Cambria Math" panose="02040503050406030204" pitchFamily="18" charset="0"/>
                        <a:cs typeface="Arial" panose="020B0604020202020204" pitchFamily="34" charset="0"/>
                      </a:rPr>
                      <m:t>𝟓</m:t>
                    </m:r>
                  </m:oMath>
                </a14:m>
                <a:r>
                  <a:rPr lang="en-US" sz="2000" b="1" dirty="0">
                    <a:highlight>
                      <a:srgbClr val="FFF4DE"/>
                    </a:highlight>
                    <a:latin typeface="Arial" panose="020B0604020202020204" pitchFamily="34" charset="0"/>
                    <a:cs typeface="Arial" panose="020B0604020202020204" pitchFamily="34" charset="0"/>
                  </a:rPr>
                  <a:t> and </a:t>
                </a:r>
                <a14:m>
                  <m:oMath xmlns:m="http://schemas.openxmlformats.org/officeDocument/2006/math">
                    <m:r>
                      <a:rPr lang="en-US" sz="2000" b="1" i="1">
                        <a:highlight>
                          <a:srgbClr val="FFF4DE"/>
                        </a:highlight>
                        <a:latin typeface="Cambria Math" panose="02040503050406030204" pitchFamily="18" charset="0"/>
                        <a:cs typeface="Arial" panose="020B0604020202020204" pitchFamily="34" charset="0"/>
                      </a:rPr>
                      <m:t>𝒏</m:t>
                    </m:r>
                    <m:r>
                      <a:rPr lang="en-US" sz="2000" b="1" i="1" smtClean="0">
                        <a:highlight>
                          <a:srgbClr val="FFF4DE"/>
                        </a:highlight>
                        <a:latin typeface="Cambria Math" panose="02040503050406030204" pitchFamily="18" charset="0"/>
                        <a:cs typeface="Arial" panose="020B0604020202020204" pitchFamily="34" charset="0"/>
                      </a:rPr>
                      <m:t>(</m:t>
                    </m:r>
                    <m:r>
                      <a:rPr lang="en-US" sz="2000" b="1" i="1" smtClean="0">
                        <a:highlight>
                          <a:srgbClr val="FFF4DE"/>
                        </a:highlight>
                        <a:latin typeface="Cambria Math" panose="02040503050406030204" pitchFamily="18" charset="0"/>
                        <a:cs typeface="Arial" panose="020B0604020202020204" pitchFamily="34" charset="0"/>
                      </a:rPr>
                      <m:t>𝟏</m:t>
                    </m:r>
                    <m:r>
                      <a:rPr lang="en-US" sz="2000" b="1" i="1" smtClean="0">
                        <a:highlight>
                          <a:srgbClr val="FFF4DE"/>
                        </a:highlight>
                        <a:latin typeface="Cambria Math" panose="02040503050406030204" pitchFamily="18" charset="0"/>
                        <a:cs typeface="Arial" panose="020B0604020202020204" pitchFamily="34" charset="0"/>
                      </a:rPr>
                      <m:t>−</m:t>
                    </m:r>
                    <m:r>
                      <a:rPr lang="en-US" sz="2000" b="1" i="1">
                        <a:highlight>
                          <a:srgbClr val="FFF4DE"/>
                        </a:highlight>
                        <a:latin typeface="Cambria Math" panose="02040503050406030204" pitchFamily="18" charset="0"/>
                        <a:cs typeface="Arial" panose="020B0604020202020204" pitchFamily="34" charset="0"/>
                      </a:rPr>
                      <m:t>𝒑</m:t>
                    </m:r>
                    <m:r>
                      <a:rPr lang="en-US" sz="2000" b="1" i="1" smtClean="0">
                        <a:highlight>
                          <a:srgbClr val="FFF4DE"/>
                        </a:highlight>
                        <a:latin typeface="Cambria Math" panose="02040503050406030204" pitchFamily="18" charset="0"/>
                        <a:cs typeface="Arial" panose="020B0604020202020204" pitchFamily="34" charset="0"/>
                      </a:rPr>
                      <m:t>)</m:t>
                    </m:r>
                    <m:r>
                      <a:rPr lang="en-US" sz="2000" b="1" i="1">
                        <a:highlight>
                          <a:srgbClr val="FFF4DE"/>
                        </a:highlight>
                        <a:latin typeface="Cambria Math" panose="02040503050406030204" pitchFamily="18" charset="0"/>
                        <a:ea typeface="Cambria Math" panose="02040503050406030204" pitchFamily="18" charset="0"/>
                        <a:cs typeface="Arial" panose="020B0604020202020204" pitchFamily="34" charset="0"/>
                      </a:rPr>
                      <m:t>≥</m:t>
                    </m:r>
                    <m:r>
                      <a:rPr lang="en-US" sz="2000" b="1" i="1">
                        <a:highlight>
                          <a:srgbClr val="FFF4DE"/>
                        </a:highlight>
                        <a:latin typeface="Cambria Math" panose="02040503050406030204" pitchFamily="18" charset="0"/>
                        <a:ea typeface="Cambria Math" panose="02040503050406030204" pitchFamily="18" charset="0"/>
                        <a:cs typeface="Arial" panose="020B0604020202020204" pitchFamily="34" charset="0"/>
                      </a:rPr>
                      <m:t>𝟓</m:t>
                    </m:r>
                  </m:oMath>
                </a14:m>
                <a:endParaRPr lang="en-US" sz="2000" b="1" dirty="0">
                  <a:highlight>
                    <a:srgbClr val="FFF4DE"/>
                  </a:highlight>
                  <a:latin typeface="Arial" panose="020B0604020202020204" pitchFamily="34" charset="0"/>
                  <a:cs typeface="Arial" panose="020B0604020202020204" pitchFamily="34" charset="0"/>
                </a:endParaRPr>
              </a:p>
            </p:txBody>
          </p:sp>
        </mc:Choice>
        <mc:Fallback xmlns="">
          <p:sp>
            <p:nvSpPr>
              <p:cNvPr id="4" name="Content Placeholder 3"/>
              <p:cNvSpPr>
                <a:spLocks noGrp="1" noRot="1" noChangeAspect="1" noMove="1" noResize="1" noEditPoints="1" noAdjustHandles="1" noChangeArrowheads="1" noChangeShapeType="1" noTextEdit="1"/>
              </p:cNvSpPr>
              <p:nvPr>
                <p:ph type="body" sz="quarter" idx="15"/>
              </p:nvPr>
            </p:nvSpPr>
            <p:spPr>
              <a:xfrm>
                <a:off x="743576" y="1551213"/>
                <a:ext cx="10711543" cy="3755573"/>
              </a:xfrm>
              <a:blipFill>
                <a:blip r:embed="rId4"/>
                <a:stretch>
                  <a:fillRect l="-1480" t="-1945" r="-1480" b="-1621"/>
                </a:stretch>
              </a:blipFill>
            </p:spPr>
            <p:txBody>
              <a:bodyPr/>
              <a:lstStyle/>
              <a:p>
                <a:r>
                  <a:rPr lang="en-US">
                    <a:noFill/>
                  </a:rPr>
                  <a:t> </a:t>
                </a:r>
              </a:p>
            </p:txBody>
          </p:sp>
        </mc:Fallback>
      </mc:AlternateContent>
    </p:spTree>
    <p:extLst>
      <p:ext uri="{BB962C8B-B14F-4D97-AF65-F5344CB8AC3E}">
        <p14:creationId xmlns:p14="http://schemas.microsoft.com/office/powerpoint/2010/main" val="2663793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D235C5-0E6C-DFB0-A126-4E2A5FC9C498}"/>
                  </a:ext>
                </a:extLst>
              </p:cNvPr>
              <p:cNvSpPr>
                <a:spLocks noGrp="1"/>
              </p:cNvSpPr>
              <p:nvPr>
                <p:ph type="title"/>
              </p:nvPr>
            </p:nvSpPr>
            <p:spPr/>
            <p:txBody>
              <a:bodyPr/>
              <a:lstStyle/>
              <a:p>
                <a:r>
                  <a:rPr lang="en-US" sz="3200" dirty="0"/>
                  <a:t>7.6 Practical Value of the Sampling Distribution of </a:t>
                </a:r>
                <a14:m>
                  <m:oMath xmlns:m="http://schemas.openxmlformats.org/officeDocument/2006/math">
                    <m:acc>
                      <m:accPr>
                        <m:chr m:val="̅"/>
                        <m:ctrlPr>
                          <a:rPr lang="en-US" sz="3200" i="1" dirty="0" smtClean="0">
                            <a:latin typeface="Cambria Math" panose="02040503050406030204" pitchFamily="18" charset="0"/>
                          </a:rPr>
                        </m:ctrlPr>
                      </m:accPr>
                      <m:e>
                        <m:r>
                          <a:rPr lang="en-US" sz="3200" b="1" i="1" dirty="0" smtClean="0">
                            <a:latin typeface="Cambria Math" panose="02040503050406030204" pitchFamily="18" charset="0"/>
                          </a:rPr>
                          <m:t>𝒑</m:t>
                        </m:r>
                      </m:e>
                    </m:acc>
                  </m:oMath>
                </a14:m>
                <a:endParaRPr lang="en-US" sz="3200" dirty="0"/>
              </a:p>
            </p:txBody>
          </p:sp>
        </mc:Choice>
        <mc:Fallback xmlns="">
          <p:sp>
            <p:nvSpPr>
              <p:cNvPr id="2" name="Title 1">
                <a:extLst>
                  <a:ext uri="{FF2B5EF4-FFF2-40B4-BE49-F238E27FC236}">
                    <a16:creationId xmlns:a16="http://schemas.microsoft.com/office/drawing/2014/main" id="{D4D235C5-0E6C-DFB0-A126-4E2A5FC9C498}"/>
                  </a:ext>
                </a:extLst>
              </p:cNvPr>
              <p:cNvSpPr>
                <a:spLocks noGrp="1" noRot="1" noChangeAspect="1" noMove="1" noResize="1" noEditPoints="1" noAdjustHandles="1" noChangeArrowheads="1" noChangeShapeType="1" noTextEdit="1"/>
              </p:cNvSpPr>
              <p:nvPr>
                <p:ph type="title"/>
              </p:nvPr>
            </p:nvSpPr>
            <p:spPr>
              <a:blipFill>
                <a:blip r:embed="rId4"/>
                <a:stretch>
                  <a:fillRect t="-26364" b="-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546075B-C944-6D63-DAE3-0BF6D5485616}"/>
                  </a:ext>
                </a:extLst>
              </p:cNvPr>
              <p:cNvSpPr>
                <a:spLocks noGrp="1"/>
              </p:cNvSpPr>
              <p:nvPr>
                <p:ph type="body" sz="quarter" idx="15"/>
              </p:nvPr>
            </p:nvSpPr>
            <p:spPr>
              <a:xfrm>
                <a:off x="743577" y="1297641"/>
                <a:ext cx="10610223" cy="1078165"/>
              </a:xfrm>
            </p:spPr>
            <p:txBody>
              <a:bodyPr/>
              <a:lstStyle/>
              <a:p>
                <a:pPr>
                  <a:spcAft>
                    <a:spcPts val="0"/>
                  </a:spcAft>
                </a:pPr>
                <a:r>
                  <a:rPr lang="en-US" sz="2000" dirty="0"/>
                  <a:t>What is the probability of obtaining a value of </a:t>
                </a:r>
                <a14:m>
                  <m:oMath xmlns:m="http://schemas.openxmlformats.org/officeDocument/2006/math">
                    <m:acc>
                      <m:accPr>
                        <m:chr m:val="̅"/>
                        <m:ctrlPr>
                          <a:rPr lang="en-US" sz="2000" i="1" dirty="0" smtClean="0">
                            <a:latin typeface="Cambria Math" panose="02040503050406030204" pitchFamily="18" charset="0"/>
                            <a:cs typeface="Arial" panose="020B0604020202020204" pitchFamily="34" charset="0"/>
                          </a:rPr>
                        </m:ctrlPr>
                      </m:accPr>
                      <m:e>
                        <m:r>
                          <a:rPr lang="en-US" sz="2000" i="1" dirty="0">
                            <a:latin typeface="Cambria Math" panose="02040503050406030204" pitchFamily="18" charset="0"/>
                            <a:cs typeface="Arial" panose="020B0604020202020204" pitchFamily="34" charset="0"/>
                          </a:rPr>
                          <m:t>𝑝</m:t>
                        </m:r>
                      </m:e>
                    </m:acc>
                  </m:oMath>
                </a14:m>
                <a:r>
                  <a:rPr lang="en-US" sz="2000" dirty="0"/>
                  <a:t> that is within 0.05 of the population proportion, </a:t>
                </a:r>
                <a14:m>
                  <m:oMath xmlns:m="http://schemas.openxmlformats.org/officeDocument/2006/math">
                    <m:r>
                      <a:rPr lang="en-US" sz="2000" i="1" dirty="0" smtClean="0">
                        <a:latin typeface="Cambria Math" panose="02040503050406030204" pitchFamily="18" charset="0"/>
                      </a:rPr>
                      <m:t>𝑝</m:t>
                    </m:r>
                  </m:oMath>
                </a14:m>
                <a:r>
                  <a:rPr lang="en-US" sz="2000" dirty="0"/>
                  <a:t>, of EAI managers who participated in the training program?</a:t>
                </a:r>
              </a:p>
              <a:p>
                <a:pPr>
                  <a:spcAft>
                    <a:spcPts val="600"/>
                  </a:spcAft>
                </a:pPr>
                <a:r>
                  <a:rPr lang="en-US" sz="2000" dirty="0"/>
                  <a:t>The expected value and standard error of the sampling distribution of </a:t>
                </a:r>
                <a14:m>
                  <m:oMath xmlns:m="http://schemas.openxmlformats.org/officeDocument/2006/math">
                    <m:acc>
                      <m:accPr>
                        <m:chr m:val="̅"/>
                        <m:ctrlPr>
                          <a:rPr lang="en-US" sz="2000" i="1" dirty="0" smtClean="0">
                            <a:latin typeface="Cambria Math" panose="02040503050406030204" pitchFamily="18" charset="0"/>
                            <a:cs typeface="Arial" panose="020B0604020202020204" pitchFamily="34" charset="0"/>
                          </a:rPr>
                        </m:ctrlPr>
                      </m:accPr>
                      <m:e>
                        <m:r>
                          <a:rPr lang="en-US" sz="2000" i="1" dirty="0">
                            <a:latin typeface="Cambria Math" panose="02040503050406030204" pitchFamily="18" charset="0"/>
                            <a:cs typeface="Arial" panose="020B0604020202020204" pitchFamily="34" charset="0"/>
                          </a:rPr>
                          <m:t>𝑝</m:t>
                        </m:r>
                      </m:e>
                    </m:acc>
                  </m:oMath>
                </a14:m>
                <a:r>
                  <a:rPr lang="en-US" sz="2000" dirty="0"/>
                  <a:t> can be written as</a:t>
                </a:r>
              </a:p>
            </p:txBody>
          </p:sp>
        </mc:Choice>
        <mc:Fallback xmlns="">
          <p:sp>
            <p:nvSpPr>
              <p:cNvPr id="3" name="Text Placeholder 2">
                <a:extLst>
                  <a:ext uri="{FF2B5EF4-FFF2-40B4-BE49-F238E27FC236}">
                    <a16:creationId xmlns:a16="http://schemas.microsoft.com/office/drawing/2014/main" id="{0546075B-C944-6D63-DAE3-0BF6D5485616}"/>
                  </a:ext>
                </a:extLst>
              </p:cNvPr>
              <p:cNvSpPr>
                <a:spLocks noGrp="1" noRot="1" noChangeAspect="1" noMove="1" noResize="1" noEditPoints="1" noAdjustHandles="1" noChangeArrowheads="1" noChangeShapeType="1" noTextEdit="1"/>
              </p:cNvSpPr>
              <p:nvPr>
                <p:ph type="body" sz="quarter" idx="15"/>
              </p:nvPr>
            </p:nvSpPr>
            <p:spPr>
              <a:xfrm>
                <a:off x="743577" y="1297641"/>
                <a:ext cx="10610223" cy="1078165"/>
              </a:xfrm>
              <a:blipFill>
                <a:blip r:embed="rId5"/>
                <a:stretch>
                  <a:fillRect l="-1493" t="-6780" r="-1264" b="-62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BA8900E6-2FE0-5B1C-3A21-C2F2C672032B}"/>
                  </a:ext>
                </a:extLst>
              </p:cNvPr>
              <p:cNvSpPr>
                <a:spLocks noGrp="1"/>
              </p:cNvSpPr>
              <p:nvPr>
                <p:ph type="body" sz="quarter" idx="17"/>
              </p:nvPr>
            </p:nvSpPr>
            <p:spPr>
              <a:xfrm>
                <a:off x="743577" y="2375806"/>
                <a:ext cx="5447048" cy="3526973"/>
              </a:xfrm>
            </p:spPr>
            <p:txBody>
              <a:bodyPr/>
              <a:lstStyle/>
              <a:p>
                <a:pPr marL="457200" indent="4763">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𝐸</m:t>
                      </m:r>
                      <m:d>
                        <m:dPr>
                          <m:ctrlPr>
                            <a:rPr lang="en-US" sz="200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i="1">
                                  <a:latin typeface="Cambria Math" panose="02040503050406030204" pitchFamily="18" charset="0"/>
                                </a:rPr>
                                <m:t>𝑝</m:t>
                              </m:r>
                            </m:e>
                          </m:acc>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=0.6</m:t>
                      </m:r>
                    </m:oMath>
                  </m:oMathPara>
                </a14:m>
                <a:endParaRPr lang="en-US" sz="2000" b="0" dirty="0">
                  <a:ea typeface="Cambria Math" panose="02040503050406030204" pitchFamily="18" charset="0"/>
                </a:endParaRPr>
              </a:p>
              <a:p>
                <a:pPr marL="461963"/>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i="1">
                                  <a:latin typeface="Cambria Math" panose="02040503050406030204" pitchFamily="18" charset="0"/>
                                </a:rPr>
                                <m:t>𝑝</m:t>
                              </m:r>
                            </m:e>
                          </m:acc>
                        </m:sub>
                      </m:sSub>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panose="02040503050406030204" pitchFamily="18" charset="0"/>
                                </a:rPr>
                                <m:t>𝑝</m:t>
                              </m:r>
                              <m:r>
                                <a:rPr lang="en-US" sz="2000" i="1">
                                  <a:latin typeface="Cambria Math" panose="02040503050406030204" pitchFamily="18" charset="0"/>
                                </a:rPr>
                                <m:t>(1−</m:t>
                              </m:r>
                              <m:r>
                                <a:rPr lang="en-US" sz="2000" i="1">
                                  <a:latin typeface="Cambria Math" panose="02040503050406030204" pitchFamily="18" charset="0"/>
                                </a:rPr>
                                <m:t>𝑝</m:t>
                              </m:r>
                              <m:r>
                                <a:rPr lang="en-US" sz="2000" i="1">
                                  <a:latin typeface="Cambria Math" panose="02040503050406030204" pitchFamily="18" charset="0"/>
                                </a:rPr>
                                <m:t>)</m:t>
                              </m:r>
                            </m:num>
                            <m:den>
                              <m:r>
                                <a:rPr lang="en-US" sz="2000" i="1">
                                  <a:latin typeface="Cambria Math" panose="02040503050406030204" pitchFamily="18" charset="0"/>
                                </a:rPr>
                                <m:t>𝑛</m:t>
                              </m:r>
                            </m:den>
                          </m:f>
                        </m:e>
                      </m:rad>
                      <m:r>
                        <a:rPr lang="en-US" sz="2000" b="0" i="1" smtClean="0">
                          <a:latin typeface="Cambria Math" panose="02040503050406030204" pitchFamily="18" charset="0"/>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b="0" i="1" smtClean="0">
                                  <a:latin typeface="Cambria Math" panose="02040503050406030204" pitchFamily="18" charset="0"/>
                                </a:rPr>
                                <m:t>0.6</m:t>
                              </m:r>
                              <m:r>
                                <a:rPr lang="en-US" sz="2000" i="1">
                                  <a:latin typeface="Cambria Math" panose="02040503050406030204" pitchFamily="18" charset="0"/>
                                </a:rPr>
                                <m:t>(1−</m:t>
                              </m:r>
                              <m:r>
                                <a:rPr lang="en-US" sz="2000" b="0" i="1" smtClean="0">
                                  <a:latin typeface="Cambria Math" panose="02040503050406030204" pitchFamily="18" charset="0"/>
                                </a:rPr>
                                <m:t>0.6</m:t>
                              </m:r>
                              <m:r>
                                <a:rPr lang="en-US" sz="2000" i="1">
                                  <a:latin typeface="Cambria Math" panose="02040503050406030204" pitchFamily="18" charset="0"/>
                                </a:rPr>
                                <m:t>)</m:t>
                              </m:r>
                            </m:num>
                            <m:den>
                              <m:r>
                                <a:rPr lang="en-US" sz="2000" b="0" i="1" smtClean="0">
                                  <a:latin typeface="Cambria Math" panose="02040503050406030204" pitchFamily="18" charset="0"/>
                                </a:rPr>
                                <m:t>30</m:t>
                              </m:r>
                            </m:den>
                          </m:f>
                        </m:e>
                      </m:rad>
                      <m:r>
                        <a:rPr lang="en-US" sz="2000" b="0" i="1" smtClean="0">
                          <a:latin typeface="Cambria Math" panose="02040503050406030204" pitchFamily="18" charset="0"/>
                        </a:rPr>
                        <m:t>=0.0894</m:t>
                      </m:r>
                    </m:oMath>
                  </m:oMathPara>
                </a14:m>
                <a:endParaRPr lang="en-US" sz="2000" dirty="0">
                  <a:latin typeface="Arial" panose="020B0604020202020204" pitchFamily="34" charset="0"/>
                  <a:cs typeface="Arial" panose="020B0604020202020204" pitchFamily="34" charset="0"/>
                </a:endParaRPr>
              </a:p>
              <a:p>
                <a:pPr>
                  <a:spcAft>
                    <a:spcPts val="600"/>
                  </a:spcAft>
                </a:pPr>
                <a:r>
                  <a:rPr lang="en-US" sz="2000" dirty="0"/>
                  <a:t>At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r>
                      <a:rPr lang="en-US" sz="2000" b="0" i="1" smtClean="0">
                        <a:latin typeface="Cambria Math" panose="02040503050406030204" pitchFamily="18" charset="0"/>
                      </a:rPr>
                      <m:t>=0.65</m:t>
                    </m:r>
                  </m:oMath>
                </a14:m>
                <a:r>
                  <a:rPr lang="en-US" sz="2000" dirty="0"/>
                  <a:t>, we have (*see notes):</a:t>
                </a:r>
              </a:p>
              <a:p>
                <a:pPr marL="457200">
                  <a:spcAft>
                    <a:spcPts val="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𝑧</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𝑝</m:t>
                          </m:r>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b>
                              <m:acc>
                                <m:accPr>
                                  <m:chr m:val="̅"/>
                                  <m:ctrlPr>
                                    <a:rPr lang="en-US" sz="2000" b="0" i="1" smtClean="0">
                                      <a:latin typeface="Cambria Math" panose="02040503050406030204" pitchFamily="18" charset="0"/>
                                      <a:cs typeface="Arial" panose="020B0604020202020204" pitchFamily="34" charset="0"/>
                                    </a:rPr>
                                  </m:ctrlPr>
                                </m:accPr>
                                <m:e>
                                  <m:r>
                                    <a:rPr lang="en-US" sz="2000" b="0" i="1" smtClean="0">
                                      <a:latin typeface="Cambria Math" panose="02040503050406030204" pitchFamily="18" charset="0"/>
                                      <a:cs typeface="Arial" panose="020B0604020202020204" pitchFamily="34" charset="0"/>
                                    </a:rPr>
                                    <m:t>𝑝</m:t>
                                  </m:r>
                                </m:e>
                              </m:acc>
                            </m:sub>
                          </m:sSub>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0.65−0.6</m:t>
                          </m:r>
                        </m:num>
                        <m:den>
                          <m:r>
                            <a:rPr lang="en-US" sz="2000" b="0" i="1" smtClean="0">
                              <a:latin typeface="Cambria Math" panose="02040503050406030204" pitchFamily="18" charset="0"/>
                              <a:cs typeface="Arial" panose="020B0604020202020204" pitchFamily="34" charset="0"/>
                            </a:rPr>
                            <m:t>0.0894</m:t>
                          </m:r>
                        </m:den>
                      </m:f>
                      <m:r>
                        <a:rPr lang="en-US" sz="2000" b="0" i="1" smtClean="0">
                          <a:latin typeface="Cambria Math" panose="02040503050406030204" pitchFamily="18" charset="0"/>
                          <a:cs typeface="Arial" panose="020B0604020202020204" pitchFamily="34" charset="0"/>
                        </a:rPr>
                        <m:t>=0.56</m:t>
                      </m:r>
                    </m:oMath>
                  </m:oMathPara>
                </a14:m>
                <a:endParaRPr lang="en-US" sz="2000" dirty="0"/>
              </a:p>
              <a:p>
                <a:pPr>
                  <a:spcAft>
                    <a:spcPts val="600"/>
                  </a:spcAft>
                </a:pPr>
                <a:r>
                  <a:rPr lang="en-US" sz="2000" dirty="0"/>
                  <a:t>Thus, the probability that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oMath>
                </a14:m>
                <a:r>
                  <a:rPr lang="en-US" sz="2000" dirty="0"/>
                  <a:t> is within 0.05 of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oMath>
                </a14:m>
                <a:r>
                  <a:rPr lang="en-US" sz="2000" dirty="0">
                    <a:latin typeface="Arial" panose="020B0604020202020204" pitchFamily="34" charset="0"/>
                    <a:cs typeface="Arial" panose="020B0604020202020204" pitchFamily="34" charset="0"/>
                  </a:rPr>
                  <a:t> is</a:t>
                </a:r>
                <a:endParaRPr lang="en-US" sz="2000" dirty="0"/>
              </a:p>
              <a:p>
                <a:pPr marL="457200"/>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0.55</m:t>
                          </m:r>
                          <m:r>
                            <a:rPr lang="en-US" sz="2000" i="1">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i="1">
                                  <a:latin typeface="Cambria Math" panose="02040503050406030204" pitchFamily="18" charset="0"/>
                                </a:rPr>
                              </m:ctrlPr>
                            </m:accPr>
                            <m:e>
                              <m:r>
                                <a:rPr lang="en-US" sz="2000" b="0" i="1" smtClean="0">
                                  <a:latin typeface="Cambria Math" panose="02040503050406030204" pitchFamily="18" charset="0"/>
                                </a:rPr>
                                <m:t>𝑝</m:t>
                              </m:r>
                            </m:e>
                          </m:acc>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0.65</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smtClean="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−0.56</m:t>
                          </m:r>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𝑧</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0.56</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0.7120−0.2880=0.424</m:t>
                      </m:r>
                      <m:r>
                        <a:rPr lang="en-US" sz="2000" b="0" i="1" smtClean="0">
                          <a:latin typeface="Cambria Math" panose="02040503050406030204" pitchFamily="18" charset="0"/>
                          <a:ea typeface="Cambria Math" panose="02040503050406030204" pitchFamily="18" charset="0"/>
                          <a:cs typeface="Arial" panose="020B0604020202020204" pitchFamily="34" charset="0"/>
                        </a:rPr>
                        <m:t>≈42%</m:t>
                      </m:r>
                    </m:oMath>
                  </m:oMathPara>
                </a14:m>
                <a:endParaRPr lang="en-US" sz="2000" dirty="0">
                  <a:latin typeface="Arial" panose="020B0604020202020204" pitchFamily="34" charset="0"/>
                  <a:cs typeface="Arial" panose="020B0604020202020204" pitchFamily="34" charset="0"/>
                </a:endParaRPr>
              </a:p>
            </p:txBody>
          </p:sp>
        </mc:Choice>
        <mc:Fallback xmlns="">
          <p:sp>
            <p:nvSpPr>
              <p:cNvPr id="7" name="Text Placeholder 6">
                <a:extLst>
                  <a:ext uri="{FF2B5EF4-FFF2-40B4-BE49-F238E27FC236}">
                    <a16:creationId xmlns:a16="http://schemas.microsoft.com/office/drawing/2014/main" id="{BA8900E6-2FE0-5B1C-3A21-C2F2C672032B}"/>
                  </a:ext>
                </a:extLst>
              </p:cNvPr>
              <p:cNvSpPr>
                <a:spLocks noGrp="1" noRot="1" noChangeAspect="1" noMove="1" noResize="1" noEditPoints="1" noAdjustHandles="1" noChangeArrowheads="1" noChangeShapeType="1" noTextEdit="1"/>
              </p:cNvSpPr>
              <p:nvPr>
                <p:ph type="body" sz="quarter" idx="17"/>
              </p:nvPr>
            </p:nvSpPr>
            <p:spPr>
              <a:xfrm>
                <a:off x="743577" y="2375806"/>
                <a:ext cx="5447048" cy="3526973"/>
              </a:xfrm>
              <a:blipFill>
                <a:blip r:embed="rId6"/>
                <a:stretch>
                  <a:fillRect l="-2908"/>
                </a:stretch>
              </a:blipFill>
            </p:spPr>
            <p:txBody>
              <a:bodyPr/>
              <a:lstStyle/>
              <a:p>
                <a:r>
                  <a:rPr lang="en-IN">
                    <a:noFill/>
                  </a:rPr>
                  <a:t> </a:t>
                </a:r>
              </a:p>
            </p:txBody>
          </p:sp>
        </mc:Fallback>
      </mc:AlternateContent>
      <p:pic>
        <p:nvPicPr>
          <p:cNvPr id="6" name="Picture 5" descr="A bell-shaped curve shows the sampling distribution of p-bar with the mean equal to 0.60 and the standard deviation of p-bar equal to 0.0894. The area left of 0.55 is lightly shaded and represents the probability that p-bar is less than or equal to 0.55, which equals 0.2880. The area between 0.55 and 0.65 is heavily shaded, representing the probability that p-bar lies between 0.55 and 0.65 and equals 0.4240.  ">
            <a:extLst>
              <a:ext uri="{FF2B5EF4-FFF2-40B4-BE49-F238E27FC236}">
                <a16:creationId xmlns:a16="http://schemas.microsoft.com/office/drawing/2014/main" id="{A022208E-0A22-9F0A-B48C-7E5D4E2E05C6}"/>
              </a:ext>
            </a:extLst>
          </p:cNvPr>
          <p:cNvPicPr>
            <a:picLocks noChangeAspect="1"/>
          </p:cNvPicPr>
          <p:nvPr/>
        </p:nvPicPr>
        <p:blipFill>
          <a:blip r:embed="rId7"/>
          <a:stretch>
            <a:fillRect/>
          </a:stretch>
        </p:blipFill>
        <p:spPr>
          <a:xfrm>
            <a:off x="6096000" y="2636217"/>
            <a:ext cx="5703290" cy="2529188"/>
          </a:xfrm>
          <a:prstGeom prst="rect">
            <a:avLst/>
          </a:prstGeom>
        </p:spPr>
      </p:pic>
    </p:spTree>
    <p:extLst>
      <p:ext uri="{BB962C8B-B14F-4D97-AF65-F5344CB8AC3E}">
        <p14:creationId xmlns:p14="http://schemas.microsoft.com/office/powerpoint/2010/main" val="31094518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48D2951-F4FA-8AB0-BAA9-9A98571906EA}"/>
                  </a:ext>
                </a:extLst>
              </p:cNvPr>
              <p:cNvSpPr>
                <a:spLocks noGrp="1"/>
              </p:cNvSpPr>
              <p:nvPr>
                <p:ph type="title"/>
              </p:nvPr>
            </p:nvSpPr>
            <p:spPr/>
            <p:txBody>
              <a:bodyPr/>
              <a:lstStyle/>
              <a:p>
                <a:r>
                  <a:rPr lang="en-US" sz="3200" dirty="0"/>
                  <a:t>7.6 Relationship Between the Sample Size and the Sampling Distribution of </a:t>
                </a:r>
                <a14:m>
                  <m:oMath xmlns:m="http://schemas.openxmlformats.org/officeDocument/2006/math">
                    <m:acc>
                      <m:accPr>
                        <m:chr m:val="̅"/>
                        <m:ctrlPr>
                          <a:rPr lang="en-US" sz="3200" i="1" dirty="0" smtClean="0">
                            <a:latin typeface="Cambria Math" panose="02040503050406030204" pitchFamily="18" charset="0"/>
                          </a:rPr>
                        </m:ctrlPr>
                      </m:accPr>
                      <m:e>
                        <m:r>
                          <a:rPr lang="en-US" sz="3200" b="1" i="1" dirty="0" smtClean="0">
                            <a:latin typeface="Cambria Math" panose="02040503050406030204" pitchFamily="18" charset="0"/>
                          </a:rPr>
                          <m:t>𝒑</m:t>
                        </m:r>
                      </m:e>
                    </m:acc>
                  </m:oMath>
                </a14:m>
                <a:endParaRPr lang="en-US" sz="3200" dirty="0"/>
              </a:p>
            </p:txBody>
          </p:sp>
        </mc:Choice>
        <mc:Fallback xmlns="">
          <p:sp>
            <p:nvSpPr>
              <p:cNvPr id="2" name="Title 1">
                <a:extLst>
                  <a:ext uri="{FF2B5EF4-FFF2-40B4-BE49-F238E27FC236}">
                    <a16:creationId xmlns:a16="http://schemas.microsoft.com/office/drawing/2014/main" id="{848D2951-F4FA-8AB0-BAA9-9A98571906EA}"/>
                  </a:ext>
                </a:extLst>
              </p:cNvPr>
              <p:cNvSpPr>
                <a:spLocks noGrp="1" noRot="1" noChangeAspect="1" noMove="1" noResize="1" noEditPoints="1" noAdjustHandles="1" noChangeArrowheads="1" noChangeShapeType="1" noTextEdit="1"/>
              </p:cNvSpPr>
              <p:nvPr>
                <p:ph type="title"/>
              </p:nvPr>
            </p:nvSpPr>
            <p:spPr>
              <a:blipFill>
                <a:blip r:embed="rId3"/>
                <a:stretch>
                  <a:fillRect t="-26364" b="-6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BCFA5D6-67E7-D449-FF91-AA198EF973DD}"/>
                  </a:ext>
                </a:extLst>
              </p:cNvPr>
              <p:cNvSpPr>
                <a:spLocks noGrp="1"/>
              </p:cNvSpPr>
              <p:nvPr>
                <p:ph type="body" sz="quarter" idx="15"/>
              </p:nvPr>
            </p:nvSpPr>
            <p:spPr>
              <a:xfrm>
                <a:off x="743576" y="1681565"/>
                <a:ext cx="10711543" cy="4153545"/>
              </a:xfrm>
            </p:spPr>
            <p:txBody>
              <a:bodyPr/>
              <a:lstStyle/>
              <a:p>
                <a:r>
                  <a:rPr lang="en-US" sz="2000" dirty="0">
                    <a:solidFill>
                      <a:srgbClr val="000000"/>
                    </a:solidFill>
                  </a:rPr>
                  <a:t>Increasing the sample size will also narrow the sampling distribution of </a:t>
                </a:r>
                <a14:m>
                  <m:oMath xmlns:m="http://schemas.openxmlformats.org/officeDocument/2006/math">
                    <m:acc>
                      <m:accPr>
                        <m:chr m:val="̅"/>
                        <m:ctrlPr>
                          <a:rPr lang="en-US" sz="2000" i="1" dirty="0" smtClean="0">
                            <a:solidFill>
                              <a:srgbClr val="000000"/>
                            </a:solidFill>
                            <a:latin typeface="Cambria Math" panose="02040503050406030204" pitchFamily="18" charset="0"/>
                            <a:cs typeface="Arial" panose="020B0604020202020204" pitchFamily="34" charset="0"/>
                          </a:rPr>
                        </m:ctrlPr>
                      </m:accPr>
                      <m:e>
                        <m:r>
                          <a:rPr lang="en-US" sz="2000" i="1" dirty="0">
                            <a:solidFill>
                              <a:srgbClr val="000000"/>
                            </a:solidFill>
                            <a:latin typeface="Cambria Math" panose="02040503050406030204" pitchFamily="18" charset="0"/>
                            <a:cs typeface="Arial" panose="020B0604020202020204" pitchFamily="34" charset="0"/>
                          </a:rPr>
                          <m:t>𝑝</m:t>
                        </m:r>
                      </m:e>
                    </m:acc>
                  </m:oMath>
                </a14:m>
                <a:r>
                  <a:rPr lang="en-US" sz="2000" dirty="0">
                    <a:solidFill>
                      <a:srgbClr val="000000"/>
                    </a:solidFill>
                  </a:rPr>
                  <a:t>.</a:t>
                </a:r>
              </a:p>
              <a:p>
                <a:pPr>
                  <a:spcAft>
                    <a:spcPts val="600"/>
                  </a:spcAft>
                </a:pPr>
                <a:r>
                  <a:rPr lang="en-US" sz="2000" dirty="0">
                    <a:solidFill>
                      <a:srgbClr val="000000"/>
                    </a:solidFill>
                  </a:rPr>
                  <a:t>If we increased the sample size to </a:t>
                </a:r>
                <a:r>
                  <a:rPr lang="en-US" sz="2000" i="1" dirty="0">
                    <a:solidFill>
                      <a:srgbClr val="000000"/>
                    </a:solidFill>
                  </a:rPr>
                  <a:t>n</a:t>
                </a:r>
                <a:r>
                  <a:rPr lang="en-US" sz="2000" dirty="0">
                    <a:solidFill>
                      <a:srgbClr val="000000"/>
                    </a:solidFill>
                  </a:rPr>
                  <a:t> = 100, the standard error of the proportion becomes</a:t>
                </a:r>
              </a:p>
              <a:p>
                <a:pPr marL="914400"/>
                <a14:m>
                  <m:oMathPara xmlns:m="http://schemas.openxmlformats.org/officeDocument/2006/math">
                    <m:oMathParaPr>
                      <m:jc m:val="left"/>
                    </m:oMathParaPr>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𝜎</m:t>
                          </m:r>
                        </m:e>
                        <m:sub>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𝑝</m:t>
                              </m:r>
                            </m:e>
                          </m:acc>
                        </m:sub>
                      </m:sSub>
                      <m:r>
                        <a:rPr lang="en-US" sz="2000" i="1">
                          <a:solidFill>
                            <a:srgbClr val="000000"/>
                          </a:solidFill>
                          <a:latin typeface="Cambria Math" panose="02040503050406030204" pitchFamily="18" charset="0"/>
                        </a:rPr>
                        <m:t>=</m:t>
                      </m:r>
                      <m:rad>
                        <m:radPr>
                          <m:degHide m:val="on"/>
                          <m:ctrlPr>
                            <a:rPr lang="en-US" sz="2000" i="1">
                              <a:solidFill>
                                <a:srgbClr val="000000"/>
                              </a:solidFill>
                              <a:latin typeface="Cambria Math" panose="02040503050406030204" pitchFamily="18" charset="0"/>
                            </a:rPr>
                          </m:ctrlPr>
                        </m:radPr>
                        <m:deg/>
                        <m:e>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𝑝</m:t>
                              </m:r>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𝑝</m:t>
                              </m:r>
                              <m:r>
                                <a:rPr lang="en-US" sz="2000" i="1">
                                  <a:solidFill>
                                    <a:srgbClr val="000000"/>
                                  </a:solidFill>
                                  <a:latin typeface="Cambria Math" panose="02040503050406030204" pitchFamily="18" charset="0"/>
                                </a:rPr>
                                <m:t>)</m:t>
                              </m:r>
                            </m:num>
                            <m:den>
                              <m:r>
                                <a:rPr lang="en-US" sz="2000" i="1">
                                  <a:solidFill>
                                    <a:srgbClr val="000000"/>
                                  </a:solidFill>
                                  <a:latin typeface="Cambria Math" panose="02040503050406030204" pitchFamily="18" charset="0"/>
                                </a:rPr>
                                <m:t>𝑛</m:t>
                              </m:r>
                            </m:den>
                          </m:f>
                        </m:e>
                      </m:rad>
                      <m:r>
                        <a:rPr lang="en-US" sz="2000" b="0" i="1" smtClean="0">
                          <a:solidFill>
                            <a:srgbClr val="000000"/>
                          </a:solidFill>
                          <a:latin typeface="Cambria Math" panose="02040503050406030204" pitchFamily="18" charset="0"/>
                        </a:rPr>
                        <m:t>=</m:t>
                      </m:r>
                      <m:rad>
                        <m:radPr>
                          <m:degHide m:val="on"/>
                          <m:ctrlPr>
                            <a:rPr lang="en-US" sz="2000" i="1">
                              <a:solidFill>
                                <a:srgbClr val="000000"/>
                              </a:solidFill>
                              <a:latin typeface="Cambria Math" panose="02040503050406030204" pitchFamily="18" charset="0"/>
                            </a:rPr>
                          </m:ctrlPr>
                        </m:radPr>
                        <m:deg/>
                        <m:e>
                          <m:f>
                            <m:fPr>
                              <m:ctrlPr>
                                <a:rPr lang="en-US" sz="2000" i="1">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0.6</m:t>
                              </m:r>
                              <m:r>
                                <a:rPr lang="en-US" sz="2000" i="1">
                                  <a:solidFill>
                                    <a:srgbClr val="000000"/>
                                  </a:solidFill>
                                  <a:latin typeface="Cambria Math" panose="02040503050406030204" pitchFamily="18" charset="0"/>
                                </a:rPr>
                                <m:t>(1−</m:t>
                              </m:r>
                              <m:r>
                                <a:rPr lang="en-US" sz="2000" b="0" i="1" smtClean="0">
                                  <a:solidFill>
                                    <a:srgbClr val="000000"/>
                                  </a:solidFill>
                                  <a:latin typeface="Cambria Math" panose="02040503050406030204" pitchFamily="18" charset="0"/>
                                </a:rPr>
                                <m:t>0.6</m:t>
                              </m:r>
                              <m:r>
                                <a:rPr lang="en-US" sz="2000" i="1">
                                  <a:solidFill>
                                    <a:srgbClr val="000000"/>
                                  </a:solidFill>
                                  <a:latin typeface="Cambria Math" panose="02040503050406030204" pitchFamily="18" charset="0"/>
                                </a:rPr>
                                <m:t>)</m:t>
                              </m:r>
                            </m:num>
                            <m:den>
                              <m:r>
                                <a:rPr lang="en-US" sz="2000" b="0" i="1" smtClean="0">
                                  <a:solidFill>
                                    <a:srgbClr val="000000"/>
                                  </a:solidFill>
                                  <a:latin typeface="Cambria Math" panose="02040503050406030204" pitchFamily="18" charset="0"/>
                                </a:rPr>
                                <m:t>100</m:t>
                              </m:r>
                            </m:den>
                          </m:f>
                        </m:e>
                      </m:rad>
                      <m:r>
                        <a:rPr lang="en-US" sz="2000" b="0" i="1" smtClean="0">
                          <a:solidFill>
                            <a:srgbClr val="000000"/>
                          </a:solidFill>
                          <a:latin typeface="Cambria Math" panose="02040503050406030204" pitchFamily="18" charset="0"/>
                        </a:rPr>
                        <m:t>=0.049</m:t>
                      </m:r>
                    </m:oMath>
                  </m:oMathPara>
                </a14:m>
                <a:endParaRPr lang="en-US" sz="2000" dirty="0">
                  <a:solidFill>
                    <a:srgbClr val="000000"/>
                  </a:solidFill>
                </a:endParaRPr>
              </a:p>
              <a:p>
                <a:pPr>
                  <a:spcAft>
                    <a:spcPts val="600"/>
                  </a:spcAft>
                </a:pPr>
                <a:r>
                  <a:rPr lang="en-US" sz="2000" dirty="0">
                    <a:solidFill>
                      <a:srgbClr val="000000"/>
                    </a:solidFill>
                  </a:rPr>
                  <a:t>We do not have to consider the finite population correction factor for the standard error of the proportion because </a:t>
                </a:r>
                <a14:m>
                  <m:oMath xmlns:m="http://schemas.openxmlformats.org/officeDocument/2006/math">
                    <m:r>
                      <a:rPr lang="en-US" sz="2000" i="1" dirty="0" smtClean="0">
                        <a:solidFill>
                          <a:srgbClr val="000000"/>
                        </a:solidFill>
                        <a:latin typeface="Cambria Math" panose="02040503050406030204" pitchFamily="18" charset="0"/>
                      </a:rPr>
                      <m:t>𝑛</m:t>
                    </m:r>
                    <m:r>
                      <a:rPr lang="en-US" sz="2000" i="1" dirty="0" smtClean="0">
                        <a:solidFill>
                          <a:srgbClr val="000000"/>
                        </a:solidFill>
                        <a:latin typeface="Cambria Math" panose="02040503050406030204" pitchFamily="18" charset="0"/>
                      </a:rPr>
                      <m:t>/</m:t>
                    </m:r>
                    <m:r>
                      <a:rPr lang="en-US" sz="2000" i="1" dirty="0" smtClean="0">
                        <a:solidFill>
                          <a:srgbClr val="000000"/>
                        </a:solidFill>
                        <a:latin typeface="Cambria Math" panose="02040503050406030204" pitchFamily="18" charset="0"/>
                      </a:rPr>
                      <m:t>𝑁</m:t>
                    </m:r>
                    <m:r>
                      <a:rPr lang="en-US" sz="2000" i="1" dirty="0" smtClean="0">
                        <a:solidFill>
                          <a:srgbClr val="000000"/>
                        </a:solidFill>
                        <a:latin typeface="Cambria Math" panose="02040503050406030204" pitchFamily="18" charset="0"/>
                      </a:rPr>
                      <m:t>=100/2,500=0.04&lt;0.05</m:t>
                    </m:r>
                    <m:r>
                      <a:rPr lang="en-US" sz="2000" b="0" i="0" dirty="0" smtClean="0">
                        <a:solidFill>
                          <a:srgbClr val="000000"/>
                        </a:solidFill>
                        <a:latin typeface="Cambria Math" panose="02040503050406030204" pitchFamily="18" charset="0"/>
                      </a:rPr>
                      <m:t>.</m:t>
                    </m:r>
                  </m:oMath>
                </a14:m>
                <a:r>
                  <a:rPr lang="en-US" sz="2000" dirty="0">
                    <a:solidFill>
                      <a:srgbClr val="000000"/>
                    </a:solidFill>
                  </a:rPr>
                  <a:t> So,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𝑝</m:t>
                        </m:r>
                      </m:e>
                    </m:acc>
                    <m:r>
                      <a:rPr lang="en-US" sz="2000" i="1">
                        <a:solidFill>
                          <a:srgbClr val="000000"/>
                        </a:solidFill>
                        <a:latin typeface="Cambria Math" panose="02040503050406030204" pitchFamily="18" charset="0"/>
                      </a:rPr>
                      <m:t>=0.65</m:t>
                    </m:r>
                  </m:oMath>
                </a14:m>
                <a:r>
                  <a:rPr lang="en-US" sz="2000" dirty="0">
                    <a:solidFill>
                      <a:srgbClr val="000000"/>
                    </a:solidFill>
                  </a:rPr>
                  <a:t>, we have</a:t>
                </a:r>
              </a:p>
              <a:p>
                <a:pPr marL="914400">
                  <a:spcAft>
                    <a:spcPts val="0"/>
                  </a:spcAft>
                </a:pPr>
                <a14:m>
                  <m:oMathPara xmlns:m="http://schemas.openxmlformats.org/officeDocument/2006/math">
                    <m:oMathParaPr>
                      <m:jc m:val="left"/>
                    </m:oMathParaPr>
                    <m:oMath xmlns:m="http://schemas.openxmlformats.org/officeDocument/2006/math">
                      <m:r>
                        <a:rPr lang="en-US" sz="2000" b="0" i="1" smtClean="0">
                          <a:solidFill>
                            <a:srgbClr val="000000"/>
                          </a:solidFill>
                          <a:latin typeface="Cambria Math" panose="02040503050406030204" pitchFamily="18" charset="0"/>
                          <a:cs typeface="Arial" panose="020B0604020202020204" pitchFamily="34" charset="0"/>
                        </a:rPr>
                        <m:t>𝑧</m:t>
                      </m:r>
                      <m:r>
                        <a:rPr lang="en-US" sz="2000" b="0" i="1" smtClean="0">
                          <a:solidFill>
                            <a:srgbClr val="000000"/>
                          </a:solidFill>
                          <a:latin typeface="Cambria Math" panose="02040503050406030204" pitchFamily="18" charset="0"/>
                          <a:cs typeface="Arial" panose="020B0604020202020204" pitchFamily="34" charset="0"/>
                        </a:rPr>
                        <m:t>=</m:t>
                      </m:r>
                      <m:f>
                        <m:fPr>
                          <m:ctrlPr>
                            <a:rPr lang="en-US" sz="2000" b="0" i="1" smtClean="0">
                              <a:solidFill>
                                <a:srgbClr val="000000"/>
                              </a:solidFill>
                              <a:latin typeface="Cambria Math" panose="02040503050406030204" pitchFamily="18" charset="0"/>
                              <a:cs typeface="Arial" panose="020B0604020202020204" pitchFamily="34" charset="0"/>
                            </a:rPr>
                          </m:ctrlPr>
                        </m:fPr>
                        <m:num>
                          <m:acc>
                            <m:accPr>
                              <m:chr m:val="̅"/>
                              <m:ctrlPr>
                                <a:rPr lang="en-US" sz="2000" b="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𝑝</m:t>
                              </m:r>
                            </m:e>
                          </m:acc>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num>
                        <m:den>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e>
                            <m:sub>
                              <m:acc>
                                <m:accPr>
                                  <m:chr m:val="̅"/>
                                  <m:ctrlPr>
                                    <a:rPr lang="en-US" sz="2000" b="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𝑝</m:t>
                                  </m:r>
                                </m:e>
                              </m:acc>
                            </m:sub>
                          </m:sSub>
                        </m:den>
                      </m:f>
                      <m:r>
                        <a:rPr lang="en-US" sz="2000" b="0" i="1" smtClean="0">
                          <a:solidFill>
                            <a:srgbClr val="000000"/>
                          </a:solidFill>
                          <a:latin typeface="Cambria Math" panose="02040503050406030204" pitchFamily="18" charset="0"/>
                          <a:cs typeface="Arial" panose="020B0604020202020204" pitchFamily="34" charset="0"/>
                        </a:rPr>
                        <m:t>=</m:t>
                      </m:r>
                      <m:f>
                        <m:fPr>
                          <m:ctrlPr>
                            <a:rPr lang="en-US" sz="2000" b="0" i="1" smtClean="0">
                              <a:solidFill>
                                <a:srgbClr val="000000"/>
                              </a:solidFill>
                              <a:latin typeface="Cambria Math" panose="02040503050406030204" pitchFamily="18" charset="0"/>
                              <a:cs typeface="Arial" panose="020B0604020202020204" pitchFamily="34" charset="0"/>
                            </a:rPr>
                          </m:ctrlPr>
                        </m:fPr>
                        <m:num>
                          <m:r>
                            <a:rPr lang="en-US" sz="2000" b="0" i="1" smtClean="0">
                              <a:solidFill>
                                <a:srgbClr val="000000"/>
                              </a:solidFill>
                              <a:latin typeface="Cambria Math" panose="02040503050406030204" pitchFamily="18" charset="0"/>
                              <a:cs typeface="Arial" panose="020B0604020202020204" pitchFamily="34" charset="0"/>
                            </a:rPr>
                            <m:t>0.65−0.6</m:t>
                          </m:r>
                        </m:num>
                        <m:den>
                          <m:r>
                            <a:rPr lang="en-US" sz="2000" b="0" i="1" smtClean="0">
                              <a:solidFill>
                                <a:srgbClr val="000000"/>
                              </a:solidFill>
                              <a:latin typeface="Cambria Math" panose="02040503050406030204" pitchFamily="18" charset="0"/>
                              <a:cs typeface="Arial" panose="020B0604020202020204" pitchFamily="34" charset="0"/>
                            </a:rPr>
                            <m:t>0.049</m:t>
                          </m:r>
                        </m:den>
                      </m:f>
                      <m:r>
                        <a:rPr lang="en-US" sz="2000" b="0" i="1" smtClean="0">
                          <a:solidFill>
                            <a:srgbClr val="000000"/>
                          </a:solidFill>
                          <a:latin typeface="Cambria Math" panose="02040503050406030204" pitchFamily="18" charset="0"/>
                          <a:cs typeface="Arial" panose="020B0604020202020204" pitchFamily="34" charset="0"/>
                        </a:rPr>
                        <m:t>=1.02</m:t>
                      </m:r>
                    </m:oMath>
                  </m:oMathPara>
                </a14:m>
                <a:endParaRPr lang="en-US" sz="2000" dirty="0">
                  <a:solidFill>
                    <a:srgbClr val="000000"/>
                  </a:solidFill>
                </a:endParaRPr>
              </a:p>
              <a:p>
                <a:pPr>
                  <a:spcAft>
                    <a:spcPts val="1200"/>
                  </a:spcAft>
                </a:pPr>
                <a:r>
                  <a:rPr lang="en-US" sz="2000" dirty="0">
                    <a:solidFill>
                      <a:srgbClr val="000000"/>
                    </a:solidFill>
                  </a:rPr>
                  <a:t>The probability that </a:t>
                </a:r>
                <a14:m>
                  <m:oMath xmlns:m="http://schemas.openxmlformats.org/officeDocument/2006/math">
                    <m:acc>
                      <m:accPr>
                        <m:chr m:val="̅"/>
                        <m:ctrlPr>
                          <a:rPr lang="en-US" sz="200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𝑝</m:t>
                        </m:r>
                      </m:e>
                    </m:acc>
                  </m:oMath>
                </a14:m>
                <a:r>
                  <a:rPr lang="en-US" sz="2000" dirty="0">
                    <a:solidFill>
                      <a:srgbClr val="000000"/>
                    </a:solidFill>
                  </a:rPr>
                  <a:t> is within 0.05 of </a:t>
                </a:r>
                <a:r>
                  <a:rPr lang="en-US" sz="2000" i="1" dirty="0">
                    <a:solidFill>
                      <a:srgbClr val="000000"/>
                    </a:solidFill>
                    <a:latin typeface="Arial" panose="020B0604020202020204" pitchFamily="34" charset="0"/>
                    <a:cs typeface="Arial" panose="020B0604020202020204" pitchFamily="34" charset="0"/>
                  </a:rPr>
                  <a:t>p</a:t>
                </a:r>
                <a:r>
                  <a:rPr lang="en-US" sz="2000" dirty="0">
                    <a:solidFill>
                      <a:srgbClr val="000000"/>
                    </a:solidFill>
                    <a:latin typeface="Arial" panose="020B0604020202020204" pitchFamily="34" charset="0"/>
                    <a:cs typeface="Arial" panose="020B0604020202020204" pitchFamily="34" charset="0"/>
                  </a:rPr>
                  <a:t> becomes</a:t>
                </a:r>
                <a:endParaRPr lang="en-US" sz="2000" dirty="0">
                  <a:solidFill>
                    <a:srgbClr val="000000"/>
                  </a:solidFill>
                </a:endParaRPr>
              </a:p>
              <a:p>
                <a:pPr marL="914400"/>
                <a14:m>
                  <m:oMathPara xmlns:m="http://schemas.openxmlformats.org/officeDocument/2006/math">
                    <m:oMathParaPr>
                      <m:jc m:val="left"/>
                    </m:oMathParaPr>
                    <m:oMath xmlns:m="http://schemas.openxmlformats.org/officeDocument/2006/math">
                      <m:r>
                        <a:rPr lang="en-US" sz="2000" i="1" smtClean="0">
                          <a:solidFill>
                            <a:srgbClr val="000000"/>
                          </a:solidFill>
                          <a:latin typeface="Cambria Math" panose="02040503050406030204" pitchFamily="18" charset="0"/>
                          <a:cs typeface="Arial" panose="020B0604020202020204" pitchFamily="34" charset="0"/>
                        </a:rPr>
                        <m:t>𝑃</m:t>
                      </m:r>
                      <m:d>
                        <m:dPr>
                          <m:ctrlPr>
                            <a:rPr lang="en-US" sz="2000" i="1">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0.55</m:t>
                          </m:r>
                          <m:r>
                            <a:rPr lang="en-US" sz="2000"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acc>
                            <m:accPr>
                              <m:chr m:val="̅"/>
                              <m:ctrlPr>
                                <a:rPr lang="en-US" sz="2000" i="1">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𝑝</m:t>
                              </m:r>
                            </m:e>
                          </m:acc>
                          <m:r>
                            <a:rPr lang="en-US" sz="2000"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0.65</m:t>
                          </m:r>
                        </m:e>
                      </m:d>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
                        <a:rPr lang="en-US" sz="2000" i="1" smtClean="0">
                          <a:solidFill>
                            <a:srgbClr val="000000"/>
                          </a:solidFill>
                          <a:latin typeface="Cambria Math" panose="02040503050406030204" pitchFamily="18" charset="0"/>
                          <a:cs typeface="Arial" panose="020B0604020202020204" pitchFamily="34" charset="0"/>
                        </a:rPr>
                        <m:t>𝑃</m:t>
                      </m:r>
                      <m:d>
                        <m:dPr>
                          <m:ctrlPr>
                            <a:rPr lang="en-US" sz="2000" i="1">
                              <a:solidFill>
                                <a:srgbClr val="000000"/>
                              </a:solidFill>
                              <a:latin typeface="Cambria Math" panose="02040503050406030204" pitchFamily="18" charset="0"/>
                              <a:cs typeface="Arial" panose="020B0604020202020204" pitchFamily="34" charset="0"/>
                            </a:rPr>
                          </m:ctrlPr>
                        </m:dPr>
                        <m:e>
                          <m:r>
                            <a:rPr lang="en-US" sz="2000" b="0" i="1" smtClean="0">
                              <a:solidFill>
                                <a:srgbClr val="000000"/>
                              </a:solidFill>
                              <a:latin typeface="Cambria Math" panose="02040503050406030204" pitchFamily="18" charset="0"/>
                              <a:cs typeface="Arial" panose="020B0604020202020204" pitchFamily="34" charset="0"/>
                            </a:rPr>
                            <m:t>−1.02</m:t>
                          </m:r>
                          <m:r>
                            <a:rPr lang="en-US" sz="200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
                            <a:rPr lang="en-US" sz="2000" i="1">
                              <a:solidFill>
                                <a:srgbClr val="000000"/>
                              </a:solidFill>
                              <a:latin typeface="Cambria Math" panose="02040503050406030204" pitchFamily="18" charset="0"/>
                              <a:cs typeface="Arial" panose="020B0604020202020204" pitchFamily="34" charset="0"/>
                            </a:rPr>
                            <m:t>𝑧</m:t>
                          </m:r>
                          <m:r>
                            <a:rPr lang="en-US" sz="2000"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1.02</m:t>
                          </m:r>
                        </m:e>
                      </m:d>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=0.8462−0.1538=0.6924≈69%</m:t>
                      </m:r>
                    </m:oMath>
                  </m:oMathPara>
                </a14:m>
                <a:endParaRPr lang="en-US" sz="2000" dirty="0">
                  <a:solidFill>
                    <a:srgbClr val="000000"/>
                  </a:solidFill>
                  <a:latin typeface="Arial" panose="020B0604020202020204" pitchFamily="34" charset="0"/>
                  <a:cs typeface="Arial" panose="020B0604020202020204" pitchFamily="34" charset="0"/>
                </a:endParaRPr>
              </a:p>
              <a:p>
                <a:endParaRPr lang="en-US" sz="2000" dirty="0">
                  <a:solidFill>
                    <a:srgbClr val="000000"/>
                  </a:solidFill>
                </a:endParaRPr>
              </a:p>
            </p:txBody>
          </p:sp>
        </mc:Choice>
        <mc:Fallback xmlns="">
          <p:sp>
            <p:nvSpPr>
              <p:cNvPr id="3" name="Text Placeholder 2">
                <a:extLst>
                  <a:ext uri="{FF2B5EF4-FFF2-40B4-BE49-F238E27FC236}">
                    <a16:creationId xmlns:a16="http://schemas.microsoft.com/office/drawing/2014/main" id="{9BCFA5D6-67E7-D449-FF91-AA198EF973DD}"/>
                  </a:ext>
                </a:extLst>
              </p:cNvPr>
              <p:cNvSpPr>
                <a:spLocks noGrp="1" noRot="1" noChangeAspect="1" noMove="1" noResize="1" noEditPoints="1" noAdjustHandles="1" noChangeArrowheads="1" noChangeShapeType="1" noTextEdit="1"/>
              </p:cNvSpPr>
              <p:nvPr>
                <p:ph type="body" sz="quarter" idx="15"/>
              </p:nvPr>
            </p:nvSpPr>
            <p:spPr>
              <a:xfrm>
                <a:off x="743576" y="1681565"/>
                <a:ext cx="10711543" cy="4153545"/>
              </a:xfrm>
              <a:blipFill>
                <a:blip r:embed="rId4"/>
                <a:stretch>
                  <a:fillRect l="-1480" t="-1762" b="-441"/>
                </a:stretch>
              </a:blipFill>
            </p:spPr>
            <p:txBody>
              <a:bodyPr/>
              <a:lstStyle/>
              <a:p>
                <a:r>
                  <a:rPr lang="en-IN">
                    <a:noFill/>
                  </a:rPr>
                  <a:t> </a:t>
                </a:r>
              </a:p>
            </p:txBody>
          </p:sp>
        </mc:Fallback>
      </mc:AlternateContent>
    </p:spTree>
    <p:extLst>
      <p:ext uri="{BB962C8B-B14F-4D97-AF65-F5344CB8AC3E}">
        <p14:creationId xmlns:p14="http://schemas.microsoft.com/office/powerpoint/2010/main" val="518709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3A18-600C-F2F6-107F-D1D7BB21265F}"/>
              </a:ext>
            </a:extLst>
          </p:cNvPr>
          <p:cNvSpPr>
            <a:spLocks noGrp="1"/>
          </p:cNvSpPr>
          <p:nvPr>
            <p:ph type="title"/>
          </p:nvPr>
        </p:nvSpPr>
        <p:spPr/>
        <p:txBody>
          <a:bodyPr/>
          <a:lstStyle/>
          <a:p>
            <a:r>
              <a:rPr lang="en-US" dirty="0">
                <a:solidFill>
                  <a:srgbClr val="D14B1E"/>
                </a:solidFill>
              </a:rPr>
              <a:t>7.7 Other Sampling Methods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261D7AC-77C2-A1E2-E511-F80CC3F53680}"/>
                  </a:ext>
                </a:extLst>
              </p:cNvPr>
              <p:cNvSpPr>
                <a:spLocks noGrp="1"/>
              </p:cNvSpPr>
              <p:nvPr>
                <p:ph type="body" sz="quarter" idx="15"/>
              </p:nvPr>
            </p:nvSpPr>
            <p:spPr>
              <a:xfrm>
                <a:off x="743576" y="1343926"/>
                <a:ext cx="10711543" cy="4150221"/>
              </a:xfrm>
            </p:spPr>
            <p:txBody>
              <a:bodyPr/>
              <a:lstStyle/>
              <a:p>
                <a:r>
                  <a:rPr lang="en-US" sz="2000" dirty="0"/>
                  <a:t>This section provides a brief introduction to survey sampling methods other than simple random sampling.</a:t>
                </a:r>
              </a:p>
              <a:p>
                <a:r>
                  <a:rPr lang="en-US" sz="2000" dirty="0"/>
                  <a:t>We described simple random sampling as a procedure for sampling from a finite population and discussed the properties of the sampling distributions of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𝑥</m:t>
                        </m:r>
                      </m:e>
                    </m:acc>
                  </m:oMath>
                </a14:m>
                <a:r>
                  <a:rPr lang="en-US" sz="2000" dirty="0"/>
                  <a:t> and </a:t>
                </a:r>
                <a14:m>
                  <m:oMath xmlns:m="http://schemas.openxmlformats.org/officeDocument/2006/math">
                    <m:acc>
                      <m:accPr>
                        <m:chr m:val="̅"/>
                        <m:ctrlPr>
                          <a:rPr lang="en-US" sz="2000" i="1" dirty="0">
                            <a:latin typeface="Cambria Math" panose="02040503050406030204" pitchFamily="18" charset="0"/>
                          </a:rPr>
                        </m:ctrlPr>
                      </m:accPr>
                      <m:e>
                        <m:r>
                          <a:rPr lang="en-US" sz="2000" b="0" i="1" dirty="0" smtClean="0">
                            <a:latin typeface="Cambria Math" panose="02040503050406030204" pitchFamily="18" charset="0"/>
                          </a:rPr>
                          <m:t>𝑝</m:t>
                        </m:r>
                      </m:e>
                    </m:acc>
                  </m:oMath>
                </a14:m>
                <a:r>
                  <a:rPr lang="en-US" sz="2000" dirty="0"/>
                  <a:t> when simple random sampling is used. </a:t>
                </a:r>
              </a:p>
              <a:p>
                <a:r>
                  <a:rPr lang="en-US" sz="2000" dirty="0"/>
                  <a:t>Other sampling methods provide advantages over simple random sampling in some situations.</a:t>
                </a:r>
              </a:p>
              <a:p>
                <a:r>
                  <a:rPr lang="en-US" sz="2000" dirty="0"/>
                  <a:t>These methods include</a:t>
                </a:r>
              </a:p>
              <a:p>
                <a:pPr marL="914400" indent="-342900">
                  <a:spcBef>
                    <a:spcPts val="600"/>
                  </a:spcBef>
                  <a:buFont typeface="Arial" panose="020B0604020202020204" pitchFamily="34" charset="0"/>
                  <a:buChar char="•"/>
                </a:pPr>
                <a:r>
                  <a:rPr lang="en-US" sz="2000" dirty="0"/>
                  <a:t>stratified random sampling, </a:t>
                </a:r>
              </a:p>
              <a:p>
                <a:pPr marL="914400" indent="-342900">
                  <a:spcBef>
                    <a:spcPts val="600"/>
                  </a:spcBef>
                  <a:buFont typeface="Arial" panose="020B0604020202020204" pitchFamily="34" charset="0"/>
                  <a:buChar char="•"/>
                </a:pPr>
                <a:r>
                  <a:rPr lang="en-US" sz="2000" dirty="0"/>
                  <a:t>cluster sampling, and </a:t>
                </a:r>
              </a:p>
              <a:p>
                <a:pPr marL="914400" indent="-342900">
                  <a:spcBef>
                    <a:spcPts val="600"/>
                  </a:spcBef>
                  <a:buFont typeface="Arial" panose="020B0604020202020204" pitchFamily="34" charset="0"/>
                  <a:buChar char="•"/>
                </a:pPr>
                <a:r>
                  <a:rPr lang="en-US" sz="2000" dirty="0"/>
                  <a:t>systematic sampling.</a:t>
                </a:r>
              </a:p>
              <a:p>
                <a:r>
                  <a:rPr lang="en-US" sz="2000" dirty="0"/>
                  <a:t>In this section, we briefly introduce these alternative sampling methods.</a:t>
                </a:r>
              </a:p>
            </p:txBody>
          </p:sp>
        </mc:Choice>
        <mc:Fallback xmlns="">
          <p:sp>
            <p:nvSpPr>
              <p:cNvPr id="3" name="Text Placeholder 2">
                <a:extLst>
                  <a:ext uri="{FF2B5EF4-FFF2-40B4-BE49-F238E27FC236}">
                    <a16:creationId xmlns:a16="http://schemas.microsoft.com/office/drawing/2014/main" id="{1261D7AC-77C2-A1E2-E511-F80CC3F53680}"/>
                  </a:ext>
                </a:extLst>
              </p:cNvPr>
              <p:cNvSpPr>
                <a:spLocks noGrp="1" noRot="1" noChangeAspect="1" noMove="1" noResize="1" noEditPoints="1" noAdjustHandles="1" noChangeArrowheads="1" noChangeShapeType="1" noTextEdit="1"/>
              </p:cNvSpPr>
              <p:nvPr>
                <p:ph type="body" sz="quarter" idx="15"/>
              </p:nvPr>
            </p:nvSpPr>
            <p:spPr>
              <a:xfrm>
                <a:off x="743576" y="1343926"/>
                <a:ext cx="10711543" cy="4150221"/>
              </a:xfrm>
              <a:blipFill>
                <a:blip r:embed="rId2"/>
                <a:stretch>
                  <a:fillRect l="-1480" t="-1762" r="-512" b="-2349"/>
                </a:stretch>
              </a:blipFill>
            </p:spPr>
            <p:txBody>
              <a:bodyPr/>
              <a:lstStyle/>
              <a:p>
                <a:r>
                  <a:rPr lang="en-US">
                    <a:noFill/>
                  </a:rPr>
                  <a:t> </a:t>
                </a:r>
              </a:p>
            </p:txBody>
          </p:sp>
        </mc:Fallback>
      </mc:AlternateContent>
    </p:spTree>
    <p:extLst>
      <p:ext uri="{BB962C8B-B14F-4D97-AF65-F5344CB8AC3E}">
        <p14:creationId xmlns:p14="http://schemas.microsoft.com/office/powerpoint/2010/main" val="4202125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02AE0-5623-4C73-C072-EBBA492EAB50}"/>
              </a:ext>
            </a:extLst>
          </p:cNvPr>
          <p:cNvSpPr>
            <a:spLocks noGrp="1"/>
          </p:cNvSpPr>
          <p:nvPr>
            <p:ph type="title"/>
          </p:nvPr>
        </p:nvSpPr>
        <p:spPr/>
        <p:txBody>
          <a:bodyPr/>
          <a:lstStyle/>
          <a:p>
            <a:r>
              <a:rPr lang="en-US" dirty="0"/>
              <a:t>7.7 Stratified Random Sampling</a:t>
            </a:r>
          </a:p>
        </p:txBody>
      </p:sp>
      <p:sp>
        <p:nvSpPr>
          <p:cNvPr id="3" name="Text Placeholder 2">
            <a:extLst>
              <a:ext uri="{FF2B5EF4-FFF2-40B4-BE49-F238E27FC236}">
                <a16:creationId xmlns:a16="http://schemas.microsoft.com/office/drawing/2014/main" id="{1C0C4187-DB1F-764D-7D7A-2FB5C8EDDD70}"/>
              </a:ext>
            </a:extLst>
          </p:cNvPr>
          <p:cNvSpPr>
            <a:spLocks noGrp="1"/>
          </p:cNvSpPr>
          <p:nvPr>
            <p:ph type="body" sz="quarter" idx="15"/>
          </p:nvPr>
        </p:nvSpPr>
        <p:spPr>
          <a:xfrm>
            <a:off x="743576" y="1401684"/>
            <a:ext cx="5257800" cy="2309368"/>
          </a:xfrm>
        </p:spPr>
        <p:txBody>
          <a:bodyPr/>
          <a:lstStyle/>
          <a:p>
            <a:r>
              <a:rPr lang="en-US" sz="2000" dirty="0"/>
              <a:t>The population is first divided into groups of elements called </a:t>
            </a:r>
            <a:r>
              <a:rPr lang="en-US" sz="2000" i="1" dirty="0"/>
              <a:t>strata</a:t>
            </a:r>
            <a:r>
              <a:rPr lang="en-US" sz="2000" dirty="0"/>
              <a:t>.</a:t>
            </a:r>
          </a:p>
          <a:p>
            <a:r>
              <a:rPr lang="en-US" sz="2000" dirty="0"/>
              <a:t>Each element in the population must belong to one and only one stratum.</a:t>
            </a:r>
          </a:p>
          <a:p>
            <a:r>
              <a:rPr lang="en-US" sz="2000" dirty="0"/>
              <a:t>Best results are obtained when the elements within each stratum are as much alike as possible (i.e. a homogeneous group.)</a:t>
            </a:r>
          </a:p>
        </p:txBody>
      </p:sp>
      <p:pic>
        <p:nvPicPr>
          <p:cNvPr id="7" name="Picture Placeholder 6" descr="An organization chart shows the strata in a population. Population branches into stratum 1 and stratum 2, goes up to stratum H.&#10;">
            <a:extLst>
              <a:ext uri="{FF2B5EF4-FFF2-40B4-BE49-F238E27FC236}">
                <a16:creationId xmlns:a16="http://schemas.microsoft.com/office/drawing/2014/main" id="{AD9E4F04-2BEB-CAAB-0139-D3AD879ACBBD}"/>
              </a:ext>
            </a:extLst>
          </p:cNvPr>
          <p:cNvPicPr>
            <a:picLocks noGrp="1" noChangeAspect="1"/>
          </p:cNvPicPr>
          <p:nvPr>
            <p:ph type="pic" sz="quarter" idx="16"/>
          </p:nvPr>
        </p:nvPicPr>
        <p:blipFill rotWithShape="1">
          <a:blip r:embed="rId2"/>
          <a:srcRect t="34" b="34"/>
          <a:stretch/>
        </p:blipFill>
        <p:spPr>
          <a:xfrm>
            <a:off x="6096000" y="1519158"/>
            <a:ext cx="5257800" cy="2074863"/>
          </a:xfrm>
        </p:spPr>
      </p:pic>
      <p:sp>
        <p:nvSpPr>
          <p:cNvPr id="5" name="Text Placeholder 4">
            <a:extLst>
              <a:ext uri="{FF2B5EF4-FFF2-40B4-BE49-F238E27FC236}">
                <a16:creationId xmlns:a16="http://schemas.microsoft.com/office/drawing/2014/main" id="{5B9A5146-DE84-1A3B-0E92-4EC852A85457}"/>
              </a:ext>
            </a:extLst>
          </p:cNvPr>
          <p:cNvSpPr>
            <a:spLocks noGrp="1"/>
          </p:cNvSpPr>
          <p:nvPr>
            <p:ph type="body" sz="quarter" idx="17"/>
          </p:nvPr>
        </p:nvSpPr>
        <p:spPr>
          <a:xfrm>
            <a:off x="743576" y="3766089"/>
            <a:ext cx="10717421" cy="2154264"/>
          </a:xfrm>
        </p:spPr>
        <p:txBody>
          <a:bodyPr/>
          <a:lstStyle/>
          <a:p>
            <a:r>
              <a:rPr lang="en-US" sz="2000" dirty="0"/>
              <a:t>A simple random sample is then taken from each stratum. Formulas are used (i.e., weighted average) for combining the stratum sample results into one population parameter estimate.</a:t>
            </a:r>
          </a:p>
          <a:p>
            <a:r>
              <a:rPr lang="en-US" sz="2000" b="1" dirty="0"/>
              <a:t>Advantage</a:t>
            </a:r>
            <a:r>
              <a:rPr lang="en-US" sz="2000" dirty="0"/>
              <a:t>: if the strata are homogeneous, this method may provide results just as precise as those of simple random sampling by using a smaller total sample size.</a:t>
            </a:r>
          </a:p>
          <a:p>
            <a:r>
              <a:rPr lang="en-US" sz="2000" b="1" dirty="0"/>
              <a:t>Disadvantage</a:t>
            </a:r>
            <a:r>
              <a:rPr lang="en-US" sz="2000" dirty="0"/>
              <a:t>: may require a larger total sample size than simple random sampling.</a:t>
            </a:r>
          </a:p>
          <a:p>
            <a:r>
              <a:rPr lang="en-US" sz="2000" b="1" dirty="0"/>
              <a:t>Example</a:t>
            </a:r>
            <a:r>
              <a:rPr lang="en-US" sz="2000" dirty="0"/>
              <a:t>: the basis for forming the strata might be department, location, age, industry type, etc.</a:t>
            </a:r>
          </a:p>
        </p:txBody>
      </p:sp>
    </p:spTree>
    <p:extLst>
      <p:ext uri="{BB962C8B-B14F-4D97-AF65-F5344CB8AC3E}">
        <p14:creationId xmlns:p14="http://schemas.microsoft.com/office/powerpoint/2010/main" val="1793989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02AE0-5623-4C73-C072-EBBA492EAB50}"/>
              </a:ext>
            </a:extLst>
          </p:cNvPr>
          <p:cNvSpPr>
            <a:spLocks noGrp="1"/>
          </p:cNvSpPr>
          <p:nvPr>
            <p:ph type="title"/>
          </p:nvPr>
        </p:nvSpPr>
        <p:spPr/>
        <p:txBody>
          <a:bodyPr/>
          <a:lstStyle/>
          <a:p>
            <a:r>
              <a:rPr lang="en-US" dirty="0"/>
              <a:t>7.7 Cluster Sampling</a:t>
            </a:r>
          </a:p>
        </p:txBody>
      </p:sp>
      <p:sp>
        <p:nvSpPr>
          <p:cNvPr id="3" name="Text Placeholder 2">
            <a:extLst>
              <a:ext uri="{FF2B5EF4-FFF2-40B4-BE49-F238E27FC236}">
                <a16:creationId xmlns:a16="http://schemas.microsoft.com/office/drawing/2014/main" id="{1C0C4187-DB1F-764D-7D7A-2FB5C8EDDD70}"/>
              </a:ext>
            </a:extLst>
          </p:cNvPr>
          <p:cNvSpPr>
            <a:spLocks noGrp="1"/>
          </p:cNvSpPr>
          <p:nvPr>
            <p:ph type="body" sz="quarter" idx="15"/>
          </p:nvPr>
        </p:nvSpPr>
        <p:spPr>
          <a:xfrm>
            <a:off x="743576" y="1401684"/>
            <a:ext cx="5099285" cy="2309368"/>
          </a:xfrm>
        </p:spPr>
        <p:txBody>
          <a:bodyPr/>
          <a:lstStyle/>
          <a:p>
            <a:pPr marL="0" indent="0">
              <a:lnSpc>
                <a:spcPct val="100000"/>
              </a:lnSpc>
              <a:spcBef>
                <a:spcPts val="600"/>
              </a:spcBef>
              <a:buNone/>
            </a:pPr>
            <a:r>
              <a:rPr lang="en-US" sz="2000" dirty="0">
                <a:solidFill>
                  <a:srgbClr val="000000"/>
                </a:solidFill>
                <a:cs typeface="Arial" panose="020B0604020202020204" pitchFamily="34" charset="0"/>
              </a:rPr>
              <a:t>The population is first divided into separate groups of elements called </a:t>
            </a:r>
            <a:r>
              <a:rPr lang="en-US" sz="2000" i="1" dirty="0">
                <a:solidFill>
                  <a:srgbClr val="000000"/>
                </a:solidFill>
                <a:cs typeface="Arial" panose="020B0604020202020204" pitchFamily="34" charset="0"/>
              </a:rPr>
              <a:t>clusters</a:t>
            </a:r>
            <a:r>
              <a:rPr lang="en-US" sz="2000" dirty="0">
                <a:solidFill>
                  <a:srgbClr val="000000"/>
                </a:solidFill>
                <a:cs typeface="Arial" panose="020B0604020202020204" pitchFamily="34" charset="0"/>
              </a:rPr>
              <a:t>.</a:t>
            </a:r>
          </a:p>
          <a:p>
            <a:pPr marL="0" indent="0">
              <a:lnSpc>
                <a:spcPct val="100000"/>
              </a:lnSpc>
              <a:spcBef>
                <a:spcPts val="600"/>
              </a:spcBef>
              <a:buNone/>
            </a:pPr>
            <a:r>
              <a:rPr lang="en-US" sz="2000" dirty="0">
                <a:solidFill>
                  <a:srgbClr val="000000"/>
                </a:solidFill>
                <a:cs typeface="Arial" panose="020B0604020202020204" pitchFamily="34" charset="0"/>
              </a:rPr>
              <a:t>Ideally, each cluster is a representative small-scale version of the population (i.e. heterogeneous group).</a:t>
            </a:r>
          </a:p>
          <a:p>
            <a:pPr marL="0" indent="0">
              <a:lnSpc>
                <a:spcPct val="100000"/>
              </a:lnSpc>
              <a:spcBef>
                <a:spcPts val="600"/>
              </a:spcBef>
              <a:buNone/>
            </a:pPr>
            <a:r>
              <a:rPr lang="en-US" sz="2000" dirty="0">
                <a:solidFill>
                  <a:srgbClr val="000000"/>
                </a:solidFill>
                <a:cs typeface="Arial" panose="020B0604020202020204" pitchFamily="34" charset="0"/>
              </a:rPr>
              <a:t>A simple random sample of the clusters is then taken.</a:t>
            </a:r>
          </a:p>
        </p:txBody>
      </p:sp>
      <p:pic>
        <p:nvPicPr>
          <p:cNvPr id="10" name="Picture Placeholder 9" descr="An organization chart shows the clusters in a population. Population branches into cluster 1 and cluster 2, goes up to cluster K.&#10;">
            <a:extLst>
              <a:ext uri="{FF2B5EF4-FFF2-40B4-BE49-F238E27FC236}">
                <a16:creationId xmlns:a16="http://schemas.microsoft.com/office/drawing/2014/main" id="{69BBA5FB-8748-EF7B-A59E-1DCD4F2B2020}"/>
              </a:ext>
            </a:extLst>
          </p:cNvPr>
          <p:cNvPicPr>
            <a:picLocks noGrp="1" noChangeAspect="1"/>
          </p:cNvPicPr>
          <p:nvPr>
            <p:ph type="pic" sz="quarter" idx="16"/>
          </p:nvPr>
        </p:nvPicPr>
        <p:blipFill rotWithShape="1">
          <a:blip r:embed="rId2"/>
          <a:srcRect l="4" r="4"/>
          <a:stretch/>
        </p:blipFill>
        <p:spPr>
          <a:xfrm>
            <a:off x="5900057" y="1509292"/>
            <a:ext cx="5257800" cy="2076450"/>
          </a:xfrm>
        </p:spPr>
      </p:pic>
      <p:sp>
        <p:nvSpPr>
          <p:cNvPr id="5" name="Text Placeholder 4">
            <a:extLst>
              <a:ext uri="{FF2B5EF4-FFF2-40B4-BE49-F238E27FC236}">
                <a16:creationId xmlns:a16="http://schemas.microsoft.com/office/drawing/2014/main" id="{5B9A5146-DE84-1A3B-0E92-4EC852A85457}"/>
              </a:ext>
            </a:extLst>
          </p:cNvPr>
          <p:cNvSpPr>
            <a:spLocks noGrp="1"/>
          </p:cNvSpPr>
          <p:nvPr>
            <p:ph type="body" sz="quarter" idx="17"/>
          </p:nvPr>
        </p:nvSpPr>
        <p:spPr>
          <a:xfrm>
            <a:off x="743576" y="3766089"/>
            <a:ext cx="10610223" cy="2138766"/>
          </a:xfrm>
        </p:spPr>
        <p:txBody>
          <a:bodyPr/>
          <a:lstStyle/>
          <a:p>
            <a:r>
              <a:rPr lang="en-US" sz="2000" dirty="0">
                <a:solidFill>
                  <a:srgbClr val="000000"/>
                </a:solidFill>
                <a:cs typeface="Arial" panose="020B0604020202020204" pitchFamily="34" charset="0"/>
              </a:rPr>
              <a:t>All elements within each sampled (chosen) cluster form the sample.</a:t>
            </a:r>
          </a:p>
          <a:p>
            <a:r>
              <a:rPr lang="en-US" sz="2000" b="1" dirty="0"/>
              <a:t>Advantage</a:t>
            </a:r>
            <a:r>
              <a:rPr lang="en-US" sz="2000" dirty="0"/>
              <a:t>: the close proximity of elements can be cost effective (i.e. many sample observations can be obtained in a short time).</a:t>
            </a:r>
          </a:p>
          <a:p>
            <a:r>
              <a:rPr lang="en-US" sz="2000" b="1" dirty="0"/>
              <a:t>Disadvantage</a:t>
            </a:r>
            <a:r>
              <a:rPr lang="en-US" sz="2000" dirty="0"/>
              <a:t>: this method generally requires a larger total sample size than simple or stratified random sampling.</a:t>
            </a:r>
          </a:p>
          <a:p>
            <a:r>
              <a:rPr lang="en-US" sz="2000" b="1" dirty="0"/>
              <a:t>Example</a:t>
            </a:r>
            <a:r>
              <a:rPr lang="en-US" sz="2000" dirty="0"/>
              <a:t>: typical in area sampling, with clusters being well-defined geographical areas.</a:t>
            </a:r>
          </a:p>
          <a:p>
            <a:endParaRPr lang="en-US" sz="2000" dirty="0"/>
          </a:p>
          <a:p>
            <a:endParaRPr lang="en-US" sz="2000" dirty="0"/>
          </a:p>
        </p:txBody>
      </p:sp>
    </p:spTree>
    <p:extLst>
      <p:ext uri="{BB962C8B-B14F-4D97-AF65-F5344CB8AC3E}">
        <p14:creationId xmlns:p14="http://schemas.microsoft.com/office/powerpoint/2010/main" val="2775542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FA39-E943-6CCF-63ED-8016695AB34E}"/>
              </a:ext>
            </a:extLst>
          </p:cNvPr>
          <p:cNvSpPr>
            <a:spLocks noGrp="1"/>
          </p:cNvSpPr>
          <p:nvPr>
            <p:ph type="title"/>
          </p:nvPr>
        </p:nvSpPr>
        <p:spPr/>
        <p:txBody>
          <a:bodyPr/>
          <a:lstStyle/>
          <a:p>
            <a:r>
              <a:rPr lang="en-US" dirty="0"/>
              <a:t>7.7 Systematic Sampling</a:t>
            </a:r>
          </a:p>
        </p:txBody>
      </p:sp>
      <p:sp>
        <p:nvSpPr>
          <p:cNvPr id="3" name="Text Placeholder 2">
            <a:extLst>
              <a:ext uri="{FF2B5EF4-FFF2-40B4-BE49-F238E27FC236}">
                <a16:creationId xmlns:a16="http://schemas.microsoft.com/office/drawing/2014/main" id="{884E443B-B551-2971-FD0B-2F8E97F1045C}"/>
              </a:ext>
            </a:extLst>
          </p:cNvPr>
          <p:cNvSpPr>
            <a:spLocks noGrp="1"/>
          </p:cNvSpPr>
          <p:nvPr>
            <p:ph type="body" sz="quarter" idx="15"/>
          </p:nvPr>
        </p:nvSpPr>
        <p:spPr>
          <a:xfrm>
            <a:off x="743576" y="1740884"/>
            <a:ext cx="10711543" cy="3732692"/>
          </a:xfrm>
        </p:spPr>
        <p:txBody>
          <a:bodyPr/>
          <a:lstStyle/>
          <a:p>
            <a:pPr marL="0" indent="0">
              <a:lnSpc>
                <a:spcPct val="100000"/>
              </a:lnSpc>
              <a:spcBef>
                <a:spcPts val="600"/>
              </a:spcBef>
              <a:buNone/>
            </a:pPr>
            <a:r>
              <a:rPr lang="en-US" sz="2000" dirty="0">
                <a:solidFill>
                  <a:srgbClr val="000000"/>
                </a:solidFill>
                <a:cs typeface="Arial" panose="020B0604020202020204" pitchFamily="34" charset="0"/>
              </a:rPr>
              <a:t>If a sample size of </a:t>
            </a:r>
            <a:r>
              <a:rPr lang="en-US" sz="2000" i="1" dirty="0">
                <a:solidFill>
                  <a:srgbClr val="000000"/>
                </a:solidFill>
                <a:cs typeface="Arial" panose="020B0604020202020204" pitchFamily="34" charset="0"/>
              </a:rPr>
              <a:t>n</a:t>
            </a:r>
            <a:r>
              <a:rPr lang="en-US" sz="2000" dirty="0">
                <a:solidFill>
                  <a:srgbClr val="000000"/>
                </a:solidFill>
                <a:cs typeface="Arial" panose="020B0604020202020204" pitchFamily="34" charset="0"/>
              </a:rPr>
              <a:t> is desired from a population containing </a:t>
            </a:r>
            <a:r>
              <a:rPr lang="en-US" sz="2000" i="1" dirty="0">
                <a:solidFill>
                  <a:srgbClr val="000000"/>
                </a:solidFill>
                <a:cs typeface="Arial" panose="020B0604020202020204" pitchFamily="34" charset="0"/>
              </a:rPr>
              <a:t>N</a:t>
            </a:r>
            <a:r>
              <a:rPr lang="en-US" sz="2000" dirty="0">
                <a:solidFill>
                  <a:srgbClr val="000000"/>
                </a:solidFill>
                <a:cs typeface="Arial" panose="020B0604020202020204" pitchFamily="34" charset="0"/>
              </a:rPr>
              <a:t> elements, we might sample one element for every </a:t>
            </a:r>
            <a:r>
              <a:rPr lang="en-US" sz="2000" i="1" dirty="0">
                <a:solidFill>
                  <a:srgbClr val="000000"/>
                </a:solidFill>
                <a:cs typeface="Arial" panose="020B0604020202020204" pitchFamily="34" charset="0"/>
              </a:rPr>
              <a:t>N/n</a:t>
            </a:r>
            <a:r>
              <a:rPr lang="en-US" sz="2000" dirty="0">
                <a:solidFill>
                  <a:srgbClr val="000000"/>
                </a:solidFill>
                <a:cs typeface="Arial" panose="020B0604020202020204" pitchFamily="34" charset="0"/>
              </a:rPr>
              <a:t> elements in the population.</a:t>
            </a:r>
          </a:p>
          <a:p>
            <a:pPr marL="0" lvl="0" indent="0">
              <a:lnSpc>
                <a:spcPct val="100000"/>
              </a:lnSpc>
              <a:spcBef>
                <a:spcPts val="600"/>
              </a:spcBef>
              <a:buNone/>
            </a:pPr>
            <a:r>
              <a:rPr lang="en-US" sz="2000" dirty="0">
                <a:solidFill>
                  <a:srgbClr val="000000"/>
                </a:solidFill>
                <a:cs typeface="Arial" panose="020B0604020202020204" pitchFamily="34" charset="0"/>
              </a:rPr>
              <a:t>We randomly select one of the first </a:t>
            </a:r>
            <a:r>
              <a:rPr lang="en-US" sz="2000" i="1" dirty="0">
                <a:solidFill>
                  <a:srgbClr val="000000"/>
                </a:solidFill>
                <a:cs typeface="Arial" panose="020B0604020202020204" pitchFamily="34" charset="0"/>
              </a:rPr>
              <a:t>N/n</a:t>
            </a:r>
            <a:r>
              <a:rPr lang="en-US" sz="2000" dirty="0">
                <a:solidFill>
                  <a:srgbClr val="000000"/>
                </a:solidFill>
                <a:cs typeface="Arial" panose="020B0604020202020204" pitchFamily="34" charset="0"/>
              </a:rPr>
              <a:t> elements from the population list.</a:t>
            </a:r>
          </a:p>
          <a:p>
            <a:pPr marL="0" lvl="0" indent="0">
              <a:lnSpc>
                <a:spcPct val="100000"/>
              </a:lnSpc>
              <a:spcBef>
                <a:spcPts val="600"/>
              </a:spcBef>
              <a:buNone/>
            </a:pPr>
            <a:r>
              <a:rPr lang="en-US" sz="2000" dirty="0">
                <a:solidFill>
                  <a:srgbClr val="000000"/>
                </a:solidFill>
                <a:cs typeface="Arial" panose="020B0604020202020204" pitchFamily="34" charset="0"/>
              </a:rPr>
              <a:t>We then select every </a:t>
            </a:r>
            <a:r>
              <a:rPr lang="en-US" sz="2000" i="1" dirty="0">
                <a:solidFill>
                  <a:srgbClr val="000000"/>
                </a:solidFill>
                <a:cs typeface="Arial" panose="020B0604020202020204" pitchFamily="34" charset="0"/>
              </a:rPr>
              <a:t>N/n</a:t>
            </a:r>
            <a:r>
              <a:rPr lang="en-US" sz="2000" baseline="30000" dirty="0">
                <a:solidFill>
                  <a:srgbClr val="000000"/>
                </a:solidFill>
                <a:cs typeface="Arial" panose="020B0604020202020204" pitchFamily="34" charset="0"/>
              </a:rPr>
              <a:t>th</a:t>
            </a:r>
            <a:r>
              <a:rPr lang="en-US" sz="2000" dirty="0">
                <a:solidFill>
                  <a:srgbClr val="000000"/>
                </a:solidFill>
                <a:cs typeface="Arial" panose="020B0604020202020204" pitchFamily="34" charset="0"/>
              </a:rPr>
              <a:t> element that follows in the population list.</a:t>
            </a:r>
          </a:p>
          <a:p>
            <a:pPr marL="0" indent="0">
              <a:lnSpc>
                <a:spcPct val="100000"/>
              </a:lnSpc>
              <a:spcBef>
                <a:spcPts val="600"/>
              </a:spcBef>
              <a:buNone/>
            </a:pPr>
            <a:r>
              <a:rPr lang="en-US" sz="2000" dirty="0">
                <a:solidFill>
                  <a:srgbClr val="000000"/>
                </a:solidFill>
                <a:cs typeface="Arial" panose="020B0604020202020204" pitchFamily="34" charset="0"/>
              </a:rPr>
              <a:t>This method has the properties of a simple random sample, especially if the list of the population elements is a random ordering.</a:t>
            </a:r>
          </a:p>
          <a:p>
            <a:pPr marL="0" lvl="0" indent="0">
              <a:lnSpc>
                <a:spcPct val="100000"/>
              </a:lnSpc>
              <a:spcBef>
                <a:spcPts val="600"/>
              </a:spcBef>
              <a:buNone/>
            </a:pPr>
            <a:r>
              <a:rPr lang="en-US" sz="2000" b="1" dirty="0">
                <a:solidFill>
                  <a:srgbClr val="000000"/>
                </a:solidFill>
                <a:cs typeface="Arial" panose="020B0604020202020204" pitchFamily="34" charset="0"/>
              </a:rPr>
              <a:t>Advantage</a:t>
            </a:r>
            <a:r>
              <a:rPr lang="en-US" sz="2000" dirty="0">
                <a:solidFill>
                  <a:srgbClr val="000000"/>
                </a:solidFill>
                <a:cs typeface="Arial" panose="020B0604020202020204" pitchFamily="34" charset="0"/>
              </a:rPr>
              <a:t>: the sample usually will be easier to identify than it would be if simple random sampling were used.</a:t>
            </a:r>
          </a:p>
          <a:p>
            <a:pPr marL="0" lvl="0" indent="0">
              <a:lnSpc>
                <a:spcPct val="100000"/>
              </a:lnSpc>
              <a:spcBef>
                <a:spcPts val="600"/>
              </a:spcBef>
              <a:buNone/>
            </a:pPr>
            <a:r>
              <a:rPr lang="en-US" sz="2000" b="1" dirty="0">
                <a:solidFill>
                  <a:srgbClr val="000000"/>
                </a:solidFill>
                <a:cs typeface="Arial" panose="020B0604020202020204" pitchFamily="34" charset="0"/>
              </a:rPr>
              <a:t>Example</a:t>
            </a:r>
            <a:r>
              <a:rPr lang="en-US" sz="2000" dirty="0">
                <a:solidFill>
                  <a:srgbClr val="000000"/>
                </a:solidFill>
                <a:cs typeface="Arial" panose="020B0604020202020204" pitchFamily="34" charset="0"/>
              </a:rPr>
              <a:t>: selecting every 100</a:t>
            </a:r>
            <a:r>
              <a:rPr lang="en-US" sz="2000" baseline="30000" dirty="0">
                <a:solidFill>
                  <a:srgbClr val="000000"/>
                </a:solidFill>
                <a:cs typeface="Arial" panose="020B0604020202020204" pitchFamily="34" charset="0"/>
              </a:rPr>
              <a:t>th</a:t>
            </a:r>
            <a:r>
              <a:rPr lang="en-US" sz="2000" dirty="0">
                <a:solidFill>
                  <a:srgbClr val="000000"/>
                </a:solidFill>
                <a:cs typeface="Arial" panose="020B0604020202020204" pitchFamily="34" charset="0"/>
              </a:rPr>
              <a:t> listing in a telephone book after the first randomly selected listing.</a:t>
            </a:r>
          </a:p>
        </p:txBody>
      </p:sp>
    </p:spTree>
    <p:extLst>
      <p:ext uri="{BB962C8B-B14F-4D97-AF65-F5344CB8AC3E}">
        <p14:creationId xmlns:p14="http://schemas.microsoft.com/office/powerpoint/2010/main" val="636539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F2462-E64A-A516-4155-B37E225370A0}"/>
              </a:ext>
            </a:extLst>
          </p:cNvPr>
          <p:cNvSpPr>
            <a:spLocks noGrp="1"/>
          </p:cNvSpPr>
          <p:nvPr>
            <p:ph type="title"/>
          </p:nvPr>
        </p:nvSpPr>
        <p:spPr/>
        <p:txBody>
          <a:bodyPr/>
          <a:lstStyle/>
          <a:p>
            <a:r>
              <a:rPr lang="en-US" dirty="0"/>
              <a:t>7.7 Nonprobability Sampling Methods</a:t>
            </a:r>
          </a:p>
        </p:txBody>
      </p:sp>
      <p:sp>
        <p:nvSpPr>
          <p:cNvPr id="3" name="Text Placeholder 2">
            <a:extLst>
              <a:ext uri="{FF2B5EF4-FFF2-40B4-BE49-F238E27FC236}">
                <a16:creationId xmlns:a16="http://schemas.microsoft.com/office/drawing/2014/main" id="{D18753B1-2464-C09C-2E9C-26F4504A5846}"/>
              </a:ext>
            </a:extLst>
          </p:cNvPr>
          <p:cNvSpPr>
            <a:spLocks noGrp="1"/>
          </p:cNvSpPr>
          <p:nvPr>
            <p:ph type="body" sz="quarter" idx="21"/>
          </p:nvPr>
        </p:nvSpPr>
        <p:spPr>
          <a:xfrm>
            <a:off x="743575" y="1231148"/>
            <a:ext cx="5200024" cy="349023"/>
          </a:xfrm>
        </p:spPr>
        <p:txBody>
          <a:bodyPr/>
          <a:lstStyle/>
          <a:p>
            <a:r>
              <a:rPr lang="en-US" dirty="0"/>
              <a:t>Convenience Sampling</a:t>
            </a:r>
          </a:p>
        </p:txBody>
      </p:sp>
      <p:sp>
        <p:nvSpPr>
          <p:cNvPr id="4" name="Text Placeholder 3">
            <a:extLst>
              <a:ext uri="{FF2B5EF4-FFF2-40B4-BE49-F238E27FC236}">
                <a16:creationId xmlns:a16="http://schemas.microsoft.com/office/drawing/2014/main" id="{DBF1ABF5-2923-8E34-097A-4329386089DC}"/>
              </a:ext>
            </a:extLst>
          </p:cNvPr>
          <p:cNvSpPr>
            <a:spLocks noGrp="1"/>
          </p:cNvSpPr>
          <p:nvPr>
            <p:ph type="body" sz="quarter" idx="15"/>
          </p:nvPr>
        </p:nvSpPr>
        <p:spPr>
          <a:xfrm>
            <a:off x="743576" y="1635072"/>
            <a:ext cx="5200024" cy="4277532"/>
          </a:xfrm>
        </p:spPr>
        <p:txBody>
          <a:bodyPr>
            <a:normAutofit lnSpcReduction="10000"/>
          </a:bodyPr>
          <a:lstStyle/>
          <a:p>
            <a:r>
              <a:rPr lang="en-US" sz="2000" dirty="0"/>
              <a:t>Items are included in the sample without known probabilities of being selected.</a:t>
            </a:r>
          </a:p>
          <a:p>
            <a:r>
              <a:rPr lang="en-US" sz="2000" dirty="0"/>
              <a:t>The sample is identified primarily by convenience.</a:t>
            </a:r>
          </a:p>
          <a:p>
            <a:r>
              <a:rPr lang="en-US" sz="2000" dirty="0"/>
              <a:t>It is a </a:t>
            </a:r>
            <a:r>
              <a:rPr lang="en-US" sz="2000" i="1" dirty="0"/>
              <a:t>nonprobability sampling </a:t>
            </a:r>
            <a:r>
              <a:rPr lang="en-US" sz="2000" dirty="0"/>
              <a:t>technique.</a:t>
            </a:r>
          </a:p>
          <a:p>
            <a:r>
              <a:rPr lang="en-US" sz="2000" b="1" dirty="0"/>
              <a:t>Advantage</a:t>
            </a:r>
            <a:r>
              <a:rPr lang="en-US" sz="2000" dirty="0"/>
              <a:t>: sample selection and data collection are relatively easy.</a:t>
            </a:r>
          </a:p>
          <a:p>
            <a:r>
              <a:rPr lang="en-US" sz="2000" b="1" dirty="0"/>
              <a:t>Disadvantage</a:t>
            </a:r>
            <a:r>
              <a:rPr lang="en-US" sz="2000" dirty="0"/>
              <a:t>: it is impossible to determine how representative of the population the sample is (*see notes.)</a:t>
            </a:r>
          </a:p>
          <a:p>
            <a:r>
              <a:rPr lang="en-US" sz="2000" b="1" dirty="0"/>
              <a:t>Example</a:t>
            </a:r>
            <a:r>
              <a:rPr lang="en-US" sz="2000" dirty="0"/>
              <a:t>: a professor conducting research might use student volunteers to constitute a sample.</a:t>
            </a:r>
          </a:p>
        </p:txBody>
      </p:sp>
      <p:sp>
        <p:nvSpPr>
          <p:cNvPr id="5" name="Text Placeholder 4">
            <a:extLst>
              <a:ext uri="{FF2B5EF4-FFF2-40B4-BE49-F238E27FC236}">
                <a16:creationId xmlns:a16="http://schemas.microsoft.com/office/drawing/2014/main" id="{D2A115C7-4C99-C911-E864-FAA07DD44534}"/>
              </a:ext>
            </a:extLst>
          </p:cNvPr>
          <p:cNvSpPr>
            <a:spLocks noGrp="1"/>
          </p:cNvSpPr>
          <p:nvPr>
            <p:ph type="body" sz="quarter" idx="22"/>
          </p:nvPr>
        </p:nvSpPr>
        <p:spPr>
          <a:xfrm>
            <a:off x="6122680" y="1231147"/>
            <a:ext cx="5200024" cy="349023"/>
          </a:xfrm>
        </p:spPr>
        <p:txBody>
          <a:bodyPr/>
          <a:lstStyle/>
          <a:p>
            <a:r>
              <a:rPr lang="en-US" dirty="0"/>
              <a:t>Judgment Sampling</a:t>
            </a:r>
          </a:p>
        </p:txBody>
      </p:sp>
      <p:sp>
        <p:nvSpPr>
          <p:cNvPr id="6" name="Text Placeholder 5">
            <a:extLst>
              <a:ext uri="{FF2B5EF4-FFF2-40B4-BE49-F238E27FC236}">
                <a16:creationId xmlns:a16="http://schemas.microsoft.com/office/drawing/2014/main" id="{CFB56D02-7E48-F43C-AEA1-2CC05DD8CF1D}"/>
              </a:ext>
            </a:extLst>
          </p:cNvPr>
          <p:cNvSpPr>
            <a:spLocks noGrp="1"/>
          </p:cNvSpPr>
          <p:nvPr>
            <p:ph type="body" sz="quarter" idx="18"/>
          </p:nvPr>
        </p:nvSpPr>
        <p:spPr>
          <a:xfrm>
            <a:off x="6122680" y="1635072"/>
            <a:ext cx="5200024" cy="4277532"/>
          </a:xfrm>
        </p:spPr>
        <p:txBody>
          <a:bodyPr>
            <a:normAutofit/>
          </a:bodyPr>
          <a:lstStyle/>
          <a:p>
            <a:r>
              <a:rPr lang="en-US" sz="2000" dirty="0"/>
              <a:t>The person most knowledgeable on the subject of the study selects elements of the population that they feel as most representative of the population.</a:t>
            </a:r>
          </a:p>
          <a:p>
            <a:r>
              <a:rPr lang="en-US" sz="2000" dirty="0"/>
              <a:t>It is a nonprobability sampling technique.</a:t>
            </a:r>
          </a:p>
          <a:p>
            <a:r>
              <a:rPr lang="en-US" sz="2000" b="1" dirty="0"/>
              <a:t>Advantage</a:t>
            </a:r>
            <a:r>
              <a:rPr lang="en-US" sz="2000" dirty="0"/>
              <a:t>: it is a relatively easy way of selecting a sample.</a:t>
            </a:r>
          </a:p>
          <a:p>
            <a:r>
              <a:rPr lang="en-US" sz="2000" b="1" dirty="0"/>
              <a:t>Disadvantage</a:t>
            </a:r>
            <a:r>
              <a:rPr lang="en-US" sz="2000" dirty="0"/>
              <a:t>: the quality of the sample results depends on the judgment of the person selecting the sample (*see notes.)</a:t>
            </a:r>
          </a:p>
          <a:p>
            <a:r>
              <a:rPr lang="en-US" sz="2000" b="1" dirty="0"/>
              <a:t>Example</a:t>
            </a:r>
            <a:r>
              <a:rPr lang="en-US" sz="2000" dirty="0"/>
              <a:t>: a reporter might sample three or four senators, judging them as reflecting the general opinion of the senate.</a:t>
            </a:r>
          </a:p>
        </p:txBody>
      </p:sp>
    </p:spTree>
    <p:extLst>
      <p:ext uri="{BB962C8B-B14F-4D97-AF65-F5344CB8AC3E}">
        <p14:creationId xmlns:p14="http://schemas.microsoft.com/office/powerpoint/2010/main" val="1137266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3C6A-CBE5-1E3E-DA99-972EBD877419}"/>
              </a:ext>
            </a:extLst>
          </p:cNvPr>
          <p:cNvSpPr>
            <a:spLocks noGrp="1"/>
          </p:cNvSpPr>
          <p:nvPr>
            <p:ph type="title"/>
          </p:nvPr>
        </p:nvSpPr>
        <p:spPr/>
        <p:txBody>
          <a:bodyPr/>
          <a:lstStyle/>
          <a:p>
            <a:r>
              <a:rPr lang="en-US" sz="3200" dirty="0">
                <a:solidFill>
                  <a:srgbClr val="D14B1E"/>
                </a:solidFill>
              </a:rPr>
              <a:t>7.8 Practical Advice: Big Data and Errors in Sampling</a:t>
            </a:r>
            <a:endParaRPr lang="en-US" sz="3200" dirty="0"/>
          </a:p>
        </p:txBody>
      </p:sp>
      <p:sp>
        <p:nvSpPr>
          <p:cNvPr id="3" name="Text Placeholder 2">
            <a:extLst>
              <a:ext uri="{FF2B5EF4-FFF2-40B4-BE49-F238E27FC236}">
                <a16:creationId xmlns:a16="http://schemas.microsoft.com/office/drawing/2014/main" id="{B154DFED-73A0-8D7E-E7C1-9C0AC33D5B3D}"/>
              </a:ext>
            </a:extLst>
          </p:cNvPr>
          <p:cNvSpPr>
            <a:spLocks noGrp="1"/>
          </p:cNvSpPr>
          <p:nvPr>
            <p:ph type="body" sz="quarter" idx="15"/>
          </p:nvPr>
        </p:nvSpPr>
        <p:spPr>
          <a:xfrm>
            <a:off x="740228" y="1562654"/>
            <a:ext cx="10711543" cy="3732692"/>
          </a:xfrm>
        </p:spPr>
        <p:txBody>
          <a:bodyPr/>
          <a:lstStyle/>
          <a:p>
            <a:r>
              <a:rPr lang="en-US" sz="2000" dirty="0"/>
              <a:t>The purpose of collecting a sample is to make inferences and answer research questions about a population. </a:t>
            </a:r>
          </a:p>
          <a:p>
            <a:pPr marL="914400" indent="-342900">
              <a:spcBef>
                <a:spcPts val="600"/>
              </a:spcBef>
              <a:buFont typeface="Arial" panose="020B0604020202020204" pitchFamily="34" charset="0"/>
              <a:buChar char="•"/>
            </a:pPr>
            <a:r>
              <a:rPr lang="en-US" sz="2000" dirty="0"/>
              <a:t>Therefore, it is important that the sample look like, or be representative of, the population being investigated.</a:t>
            </a:r>
          </a:p>
          <a:p>
            <a:r>
              <a:rPr lang="en-US" sz="2000" dirty="0"/>
              <a:t>In practice, individual samples always, to varying degrees, fail to be perfectly representative of the populations from which they have been taken. </a:t>
            </a:r>
          </a:p>
          <a:p>
            <a:r>
              <a:rPr lang="en-US" sz="2000" dirty="0"/>
              <a:t>There are two general reasons a sample may fail to be representative of the population of interest:</a:t>
            </a:r>
          </a:p>
          <a:p>
            <a:pPr marL="914400" indent="-342900">
              <a:spcBef>
                <a:spcPts val="600"/>
              </a:spcBef>
              <a:buFont typeface="Arial" panose="020B0604020202020204" pitchFamily="34" charset="0"/>
              <a:buChar char="•"/>
            </a:pPr>
            <a:r>
              <a:rPr lang="en-US" sz="2000" dirty="0"/>
              <a:t>sampling error </a:t>
            </a:r>
          </a:p>
          <a:p>
            <a:pPr marL="914400" indent="-342900">
              <a:spcBef>
                <a:spcPts val="600"/>
              </a:spcBef>
              <a:buFont typeface="Arial" panose="020B0604020202020204" pitchFamily="34" charset="0"/>
              <a:buChar char="•"/>
            </a:pPr>
            <a:r>
              <a:rPr lang="en-US" sz="2000" dirty="0" err="1"/>
              <a:t>nonsampling</a:t>
            </a:r>
            <a:r>
              <a:rPr lang="en-US" sz="2000" dirty="0"/>
              <a:t> error</a:t>
            </a:r>
          </a:p>
          <a:p>
            <a:endParaRPr lang="en-US" sz="2000" dirty="0"/>
          </a:p>
        </p:txBody>
      </p:sp>
    </p:spTree>
    <p:extLst>
      <p:ext uri="{BB962C8B-B14F-4D97-AF65-F5344CB8AC3E}">
        <p14:creationId xmlns:p14="http://schemas.microsoft.com/office/powerpoint/2010/main" val="209460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3C6A-CBE5-1E3E-DA99-972EBD877419}"/>
              </a:ext>
            </a:extLst>
          </p:cNvPr>
          <p:cNvSpPr>
            <a:spLocks noGrp="1"/>
          </p:cNvSpPr>
          <p:nvPr>
            <p:ph type="title"/>
          </p:nvPr>
        </p:nvSpPr>
        <p:spPr/>
        <p:txBody>
          <a:bodyPr/>
          <a:lstStyle/>
          <a:p>
            <a:r>
              <a:rPr lang="en-US" dirty="0"/>
              <a:t>7.8 Sampling Error</a:t>
            </a:r>
          </a:p>
        </p:txBody>
      </p:sp>
      <p:sp>
        <p:nvSpPr>
          <p:cNvPr id="3" name="Text Placeholder 2">
            <a:extLst>
              <a:ext uri="{FF2B5EF4-FFF2-40B4-BE49-F238E27FC236}">
                <a16:creationId xmlns:a16="http://schemas.microsoft.com/office/drawing/2014/main" id="{B154DFED-73A0-8D7E-E7C1-9C0AC33D5B3D}"/>
              </a:ext>
            </a:extLst>
          </p:cNvPr>
          <p:cNvSpPr>
            <a:spLocks noGrp="1"/>
          </p:cNvSpPr>
          <p:nvPr>
            <p:ph type="body" sz="quarter" idx="15"/>
          </p:nvPr>
        </p:nvSpPr>
        <p:spPr>
          <a:xfrm>
            <a:off x="740228" y="1562654"/>
            <a:ext cx="10711543" cy="3732692"/>
          </a:xfrm>
        </p:spPr>
        <p:txBody>
          <a:bodyPr/>
          <a:lstStyle/>
          <a:p>
            <a:r>
              <a:rPr lang="en-US" sz="2000" b="1" dirty="0"/>
              <a:t>Sampling error </a:t>
            </a:r>
            <a:r>
              <a:rPr lang="en-US" sz="2000" dirty="0"/>
              <a:t>is the natural deviation of the sample from the population that results from random sampling.</a:t>
            </a:r>
          </a:p>
          <a:p>
            <a:r>
              <a:rPr lang="en-US" sz="2000" dirty="0"/>
              <a:t>On average, random samples will be representative of the population from which they are collected.</a:t>
            </a:r>
          </a:p>
          <a:p>
            <a:r>
              <a:rPr lang="en-US" sz="2000" dirty="0"/>
              <a:t>However, the random collection of sample data does not ensure that every single sample will be perfectly representative of the population of interest.</a:t>
            </a:r>
          </a:p>
          <a:p>
            <a:r>
              <a:rPr lang="en-US" sz="2000" dirty="0"/>
              <a:t>Because the standard error of the sampling distribution of a sample statistic becomes smaller as the size of the sample increases, we can limit the impact of sampling error by collecting larger sample sizes.</a:t>
            </a:r>
          </a:p>
        </p:txBody>
      </p:sp>
    </p:spTree>
    <p:extLst>
      <p:ext uri="{BB962C8B-B14F-4D97-AF65-F5344CB8AC3E}">
        <p14:creationId xmlns:p14="http://schemas.microsoft.com/office/powerpoint/2010/main" val="4292826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3C6A-CBE5-1E3E-DA99-972EBD877419}"/>
              </a:ext>
            </a:extLst>
          </p:cNvPr>
          <p:cNvSpPr>
            <a:spLocks noGrp="1"/>
          </p:cNvSpPr>
          <p:nvPr>
            <p:ph type="title"/>
          </p:nvPr>
        </p:nvSpPr>
        <p:spPr/>
        <p:txBody>
          <a:bodyPr/>
          <a:lstStyle/>
          <a:p>
            <a:r>
              <a:rPr lang="en-US" dirty="0"/>
              <a:t>7.8 </a:t>
            </a:r>
            <a:r>
              <a:rPr lang="en-US" dirty="0" err="1"/>
              <a:t>Nonsampling</a:t>
            </a:r>
            <a:r>
              <a:rPr lang="en-US" dirty="0"/>
              <a:t> Error</a:t>
            </a:r>
          </a:p>
        </p:txBody>
      </p:sp>
      <p:sp>
        <p:nvSpPr>
          <p:cNvPr id="3" name="Text Placeholder 2">
            <a:extLst>
              <a:ext uri="{FF2B5EF4-FFF2-40B4-BE49-F238E27FC236}">
                <a16:creationId xmlns:a16="http://schemas.microsoft.com/office/drawing/2014/main" id="{B154DFED-73A0-8D7E-E7C1-9C0AC33D5B3D}"/>
              </a:ext>
            </a:extLst>
          </p:cNvPr>
          <p:cNvSpPr>
            <a:spLocks noGrp="1"/>
          </p:cNvSpPr>
          <p:nvPr>
            <p:ph type="body" sz="quarter" idx="15"/>
          </p:nvPr>
        </p:nvSpPr>
        <p:spPr>
          <a:xfrm>
            <a:off x="740228" y="1431851"/>
            <a:ext cx="10711543" cy="4224549"/>
          </a:xfrm>
        </p:spPr>
        <p:txBody>
          <a:bodyPr/>
          <a:lstStyle/>
          <a:p>
            <a:pPr>
              <a:spcBef>
                <a:spcPts val="600"/>
              </a:spcBef>
            </a:pPr>
            <a:r>
              <a:rPr lang="en-US" sz="2000" dirty="0"/>
              <a:t>Deviations of the sample from the population that occur for reasons other than random sampling are referred to as </a:t>
            </a:r>
            <a:r>
              <a:rPr lang="en-US" sz="2000" b="1" dirty="0" err="1"/>
              <a:t>nonsampling</a:t>
            </a:r>
            <a:r>
              <a:rPr lang="en-US" sz="2000" b="1" dirty="0"/>
              <a:t> error</a:t>
            </a:r>
            <a:r>
              <a:rPr lang="en-US" sz="2000" dirty="0"/>
              <a:t>.</a:t>
            </a:r>
          </a:p>
          <a:p>
            <a:pPr>
              <a:spcBef>
                <a:spcPts val="600"/>
              </a:spcBef>
            </a:pPr>
            <a:r>
              <a:rPr lang="en-US" sz="2000" dirty="0"/>
              <a:t>Types of </a:t>
            </a:r>
            <a:r>
              <a:rPr lang="en-US" sz="2000" dirty="0" err="1"/>
              <a:t>nonsampling</a:t>
            </a:r>
            <a:r>
              <a:rPr lang="en-US" sz="2000" dirty="0"/>
              <a:t> error may include:</a:t>
            </a:r>
          </a:p>
          <a:p>
            <a:pPr marL="914400" indent="-342900">
              <a:spcBef>
                <a:spcPts val="600"/>
              </a:spcBef>
              <a:buFont typeface="Arial" panose="020B0604020202020204" pitchFamily="34" charset="0"/>
              <a:buChar char="•"/>
            </a:pPr>
            <a:r>
              <a:rPr lang="en-US" sz="2000" b="1" dirty="0"/>
              <a:t>Coverage error</a:t>
            </a:r>
            <a:r>
              <a:rPr lang="en-US" sz="2000" dirty="0"/>
              <a:t> may occur when the research objective and the population from which the sample is to be drawn are not aligned.</a:t>
            </a:r>
          </a:p>
          <a:p>
            <a:pPr marL="914400" indent="-342900">
              <a:spcBef>
                <a:spcPts val="600"/>
              </a:spcBef>
              <a:buFont typeface="Arial" panose="020B0604020202020204" pitchFamily="34" charset="0"/>
              <a:buChar char="•"/>
            </a:pPr>
            <a:r>
              <a:rPr lang="en-US" sz="2000" b="1" dirty="0"/>
              <a:t>Nonresponse error </a:t>
            </a:r>
            <a:r>
              <a:rPr lang="en-US" sz="2000" dirty="0"/>
              <a:t>may occur in surveys when some segments of the population are either more or less likely to respond to the survey mechanism.</a:t>
            </a:r>
          </a:p>
          <a:p>
            <a:pPr marL="914400" indent="-342900">
              <a:spcBef>
                <a:spcPts val="600"/>
              </a:spcBef>
              <a:buFont typeface="Arial" panose="020B0604020202020204" pitchFamily="34" charset="0"/>
              <a:buChar char="•"/>
            </a:pPr>
            <a:r>
              <a:rPr lang="en-US" sz="2000" b="1" dirty="0"/>
              <a:t>Measurement error </a:t>
            </a:r>
            <a:r>
              <a:rPr lang="en-US" sz="2000" dirty="0"/>
              <a:t>may result from the incorrect measurement of the population characteristic of interest.</a:t>
            </a:r>
          </a:p>
          <a:p>
            <a:pPr marL="914400" indent="-342900">
              <a:spcBef>
                <a:spcPts val="600"/>
              </a:spcBef>
              <a:buFont typeface="Arial" panose="020B0604020202020204" pitchFamily="34" charset="0"/>
              <a:buChar char="•"/>
            </a:pPr>
            <a:r>
              <a:rPr lang="en-US" sz="2000" b="1" dirty="0"/>
              <a:t>Interviewer error </a:t>
            </a:r>
            <a:r>
              <a:rPr lang="en-US" sz="2000" dirty="0"/>
              <a:t>may be caused by introducing a bias toward positive or negative responses during a telephone or in-person survey.</a:t>
            </a:r>
          </a:p>
          <a:p>
            <a:pPr marL="914400" indent="-342900">
              <a:spcBef>
                <a:spcPts val="600"/>
              </a:spcBef>
              <a:buFont typeface="Arial" panose="020B0604020202020204" pitchFamily="34" charset="0"/>
              <a:buChar char="•"/>
            </a:pPr>
            <a:r>
              <a:rPr lang="en-US" sz="2000" b="1" dirty="0"/>
              <a:t>Processing error </a:t>
            </a:r>
            <a:r>
              <a:rPr lang="en-US" sz="2000" dirty="0"/>
              <a:t>may be introduced during data recording and preparation.</a:t>
            </a:r>
          </a:p>
        </p:txBody>
      </p:sp>
    </p:spTree>
    <p:extLst>
      <p:ext uri="{BB962C8B-B14F-4D97-AF65-F5344CB8AC3E}">
        <p14:creationId xmlns:p14="http://schemas.microsoft.com/office/powerpoint/2010/main" val="1610224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3C6A-CBE5-1E3E-DA99-972EBD877419}"/>
              </a:ext>
            </a:extLst>
          </p:cNvPr>
          <p:cNvSpPr>
            <a:spLocks noGrp="1"/>
          </p:cNvSpPr>
          <p:nvPr>
            <p:ph type="title"/>
          </p:nvPr>
        </p:nvSpPr>
        <p:spPr/>
        <p:txBody>
          <a:bodyPr/>
          <a:lstStyle/>
          <a:p>
            <a:r>
              <a:rPr lang="en-US" dirty="0"/>
              <a:t>7.8 Big Data and Sampling Error</a:t>
            </a:r>
          </a:p>
        </p:txBody>
      </p:sp>
      <p:sp>
        <p:nvSpPr>
          <p:cNvPr id="3" name="Text Placeholder 2">
            <a:extLst>
              <a:ext uri="{FF2B5EF4-FFF2-40B4-BE49-F238E27FC236}">
                <a16:creationId xmlns:a16="http://schemas.microsoft.com/office/drawing/2014/main" id="{B154DFED-73A0-8D7E-E7C1-9C0AC33D5B3D}"/>
              </a:ext>
            </a:extLst>
          </p:cNvPr>
          <p:cNvSpPr>
            <a:spLocks noGrp="1"/>
          </p:cNvSpPr>
          <p:nvPr>
            <p:ph type="body" sz="quarter" idx="15"/>
          </p:nvPr>
        </p:nvSpPr>
        <p:spPr>
          <a:xfrm>
            <a:off x="740228" y="1431851"/>
            <a:ext cx="10711543" cy="4345172"/>
          </a:xfrm>
        </p:spPr>
        <p:txBody>
          <a:bodyPr/>
          <a:lstStyle/>
          <a:p>
            <a:pPr>
              <a:spcBef>
                <a:spcPts val="600"/>
              </a:spcBef>
            </a:pPr>
            <a:r>
              <a:rPr lang="en-US" sz="2000" b="1" dirty="0"/>
              <a:t>Big data </a:t>
            </a:r>
            <a:r>
              <a:rPr lang="en-US" sz="2000" dirty="0"/>
              <a:t>is defined as any set of data that is too large or too complex to be handled by standard data-processing techniques and typical desktop software.</a:t>
            </a:r>
          </a:p>
          <a:p>
            <a:pPr>
              <a:spcBef>
                <a:spcPts val="600"/>
              </a:spcBef>
            </a:pPr>
            <a:r>
              <a:rPr lang="en-US" sz="2000" dirty="0"/>
              <a:t>The </a:t>
            </a:r>
            <a:r>
              <a:rPr lang="en-US" sz="2000" b="1" dirty="0"/>
              <a:t>Four V’s </a:t>
            </a:r>
            <a:r>
              <a:rPr lang="en-US" sz="2000" dirty="0"/>
              <a:t>are the four attributes that characterize the processes that generate big data:</a:t>
            </a:r>
          </a:p>
          <a:p>
            <a:pPr marL="914400" indent="-342900">
              <a:spcBef>
                <a:spcPts val="600"/>
              </a:spcBef>
              <a:buFont typeface="Arial" panose="020B0604020202020204" pitchFamily="34" charset="0"/>
              <a:buChar char="•"/>
            </a:pPr>
            <a:r>
              <a:rPr lang="en-US" sz="2000" b="1" dirty="0"/>
              <a:t>Volume</a:t>
            </a:r>
            <a:r>
              <a:rPr lang="en-US" sz="2000" dirty="0"/>
              <a:t> – the amount of data generated</a:t>
            </a:r>
          </a:p>
          <a:p>
            <a:pPr marL="914400" indent="-342900">
              <a:spcBef>
                <a:spcPts val="600"/>
              </a:spcBef>
              <a:buFont typeface="Arial" panose="020B0604020202020204" pitchFamily="34" charset="0"/>
              <a:buChar char="•"/>
            </a:pPr>
            <a:r>
              <a:rPr lang="en-US" sz="2000" b="1" dirty="0"/>
              <a:t>Variety</a:t>
            </a:r>
            <a:r>
              <a:rPr lang="en-US" sz="2000" dirty="0"/>
              <a:t> – the diversity in types and structures of data generated</a:t>
            </a:r>
          </a:p>
          <a:p>
            <a:pPr marL="914400" indent="-342900">
              <a:spcBef>
                <a:spcPts val="600"/>
              </a:spcBef>
              <a:buFont typeface="Arial" panose="020B0604020202020204" pitchFamily="34" charset="0"/>
              <a:buChar char="•"/>
            </a:pPr>
            <a:r>
              <a:rPr lang="en-US" sz="2000" b="1" dirty="0"/>
              <a:t>Veracity</a:t>
            </a:r>
            <a:r>
              <a:rPr lang="en-US" sz="2000" dirty="0"/>
              <a:t> – the reliability of the data generated</a:t>
            </a:r>
          </a:p>
          <a:p>
            <a:pPr marL="914400" indent="-342900">
              <a:spcBef>
                <a:spcPts val="600"/>
              </a:spcBef>
              <a:buFont typeface="Arial" panose="020B0604020202020204" pitchFamily="34" charset="0"/>
              <a:buChar char="•"/>
            </a:pPr>
            <a:r>
              <a:rPr lang="en-US" sz="2000" b="1" dirty="0"/>
              <a:t>Velocity</a:t>
            </a:r>
            <a:r>
              <a:rPr lang="en-US" sz="2000" dirty="0"/>
              <a:t> – the speed at which the data are generated</a:t>
            </a:r>
          </a:p>
          <a:p>
            <a:pPr>
              <a:spcBef>
                <a:spcPts val="600"/>
              </a:spcBef>
            </a:pPr>
            <a:r>
              <a:rPr lang="en-US" sz="2000" dirty="0"/>
              <a:t>The large structural dimension of a data set may present the following challenges:</a:t>
            </a:r>
          </a:p>
          <a:p>
            <a:pPr marL="914400" indent="-342900">
              <a:spcBef>
                <a:spcPts val="600"/>
              </a:spcBef>
              <a:buFont typeface="Arial" panose="020B0604020202020204" pitchFamily="34" charset="0"/>
              <a:buChar char="•"/>
            </a:pPr>
            <a:r>
              <a:rPr lang="en-US" sz="2000" b="1" dirty="0"/>
              <a:t>Tall data </a:t>
            </a:r>
            <a:r>
              <a:rPr lang="en-US" sz="2000" dirty="0"/>
              <a:t>– a data set has so many observations that make traditional statistical inference obsolete.</a:t>
            </a:r>
          </a:p>
          <a:p>
            <a:pPr marL="914400" indent="-342900">
              <a:spcBef>
                <a:spcPts val="600"/>
              </a:spcBef>
              <a:buFont typeface="Arial" panose="020B0604020202020204" pitchFamily="34" charset="0"/>
              <a:buChar char="•"/>
            </a:pPr>
            <a:r>
              <a:rPr lang="en-US" sz="2000" b="1" dirty="0"/>
              <a:t>Wide data </a:t>
            </a:r>
            <a:r>
              <a:rPr lang="en-US" sz="2000" dirty="0"/>
              <a:t>– a data set has so many variables that render infeasible their simultaneous consideration.</a:t>
            </a:r>
          </a:p>
        </p:txBody>
      </p:sp>
    </p:spTree>
    <p:extLst>
      <p:ext uri="{BB962C8B-B14F-4D97-AF65-F5344CB8AC3E}">
        <p14:creationId xmlns:p14="http://schemas.microsoft.com/office/powerpoint/2010/main" val="948962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228725"/>
                <a:ext cx="10657500" cy="4647535"/>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presented the concepts of sampling and sampling distributions. </a:t>
                </a:r>
              </a:p>
              <a:p>
                <a:pPr>
                  <a:lnSpc>
                    <a:spcPct val="100000"/>
                  </a:lnSpc>
                  <a:spcBef>
                    <a:spcPts val="600"/>
                  </a:spcBef>
                </a:pPr>
                <a:r>
                  <a:rPr lang="en-US" dirty="0">
                    <a:latin typeface="Arial" panose="020B0604020202020204" pitchFamily="34" charset="0"/>
                    <a:cs typeface="Arial" panose="020B0604020202020204" pitchFamily="34" charset="0"/>
                  </a:rPr>
                  <a:t>We demonstrated how:</a:t>
                </a:r>
              </a:p>
              <a:p>
                <a:pPr lvl="1">
                  <a:lnSpc>
                    <a:spcPct val="100000"/>
                  </a:lnSpc>
                  <a:spcBef>
                    <a:spcPts val="600"/>
                  </a:spcBef>
                </a:pPr>
                <a:r>
                  <a:rPr lang="en-US" dirty="0">
                    <a:latin typeface="Arial" panose="020B0604020202020204" pitchFamily="34" charset="0"/>
                    <a:cs typeface="Arial" panose="020B0604020202020204" pitchFamily="34" charset="0"/>
                  </a:rPr>
                  <a:t>A simple random sample can be selected from a finite population.</a:t>
                </a:r>
              </a:p>
              <a:p>
                <a:pPr lvl="1">
                  <a:lnSpc>
                    <a:spcPct val="100000"/>
                  </a:lnSpc>
                  <a:spcBef>
                    <a:spcPts val="600"/>
                  </a:spcBef>
                </a:pPr>
                <a:r>
                  <a:rPr lang="en-US" dirty="0">
                    <a:latin typeface="Arial" panose="020B0604020202020204" pitchFamily="34" charset="0"/>
                    <a:cs typeface="Arial" panose="020B0604020202020204" pitchFamily="34" charset="0"/>
                  </a:rPr>
                  <a:t>A random sample can be collected from an infinite population. </a:t>
                </a:r>
              </a:p>
              <a:p>
                <a:pPr lvl="1">
                  <a:lnSpc>
                    <a:spcPct val="100000"/>
                  </a:lnSpc>
                  <a:spcBef>
                    <a:spcPts val="600"/>
                  </a:spcBef>
                </a:pPr>
                <a:r>
                  <a:rPr lang="en-US" dirty="0">
                    <a:latin typeface="Arial" panose="020B0604020202020204" pitchFamily="34" charset="0"/>
                    <a:cs typeface="Arial" panose="020B0604020202020204" pitchFamily="34" charset="0"/>
                  </a:rPr>
                  <a:t>The data collected from such samples can be used to develop point estimates of population parameters. </a:t>
                </a:r>
              </a:p>
              <a:p>
                <a:pPr>
                  <a:lnSpc>
                    <a:spcPct val="100000"/>
                  </a:lnSpc>
                  <a:spcBef>
                    <a:spcPts val="600"/>
                  </a:spcBef>
                </a:pPr>
                <a:r>
                  <a:rPr lang="en-US" dirty="0">
                    <a:latin typeface="Arial" panose="020B0604020202020204" pitchFamily="34" charset="0"/>
                    <a:cs typeface="Arial" panose="020B0604020202020204" pitchFamily="34" charset="0"/>
                  </a:rPr>
                  <a:t>Because different samples provide different values for the point estimators, point estimators such as </a:t>
                </a:r>
                <a14:m>
                  <m:oMath xmlns:m="http://schemas.openxmlformats.org/officeDocument/2006/math">
                    <m:acc>
                      <m:accPr>
                        <m:chr m:val="̅"/>
                        <m:ctrlPr>
                          <a:rPr lang="en-US" i="1" dirty="0" smtClean="0">
                            <a:latin typeface="Cambria Math" panose="02040503050406030204" pitchFamily="18" charset="0"/>
                            <a:cs typeface="Arial" panose="020B0604020202020204" pitchFamily="34" charset="0"/>
                          </a:rPr>
                        </m:ctrlPr>
                      </m:accPr>
                      <m:e>
                        <m:r>
                          <a:rPr lang="en-US" i="1" dirty="0">
                            <a:latin typeface="Cambria Math" panose="02040503050406030204" pitchFamily="18" charset="0"/>
                            <a:cs typeface="Arial" panose="020B0604020202020204" pitchFamily="34" charset="0"/>
                          </a:rPr>
                          <m:t>𝑥</m:t>
                        </m:r>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dirty="0">
                            <a:latin typeface="Cambria Math" panose="02040503050406030204" pitchFamily="18" charset="0"/>
                            <a:cs typeface="Arial" panose="020B0604020202020204" pitchFamily="34" charset="0"/>
                          </a:rPr>
                        </m:ctrlPr>
                      </m:accPr>
                      <m:e>
                        <m:r>
                          <a:rPr lang="en-US" b="0" i="1" dirty="0" smtClean="0">
                            <a:latin typeface="Cambria Math" panose="02040503050406030204" pitchFamily="18" charset="0"/>
                            <a:cs typeface="Arial" panose="020B0604020202020204" pitchFamily="34" charset="0"/>
                          </a:rPr>
                          <m:t>𝑝</m:t>
                        </m:r>
                      </m:e>
                    </m:acc>
                  </m:oMath>
                </a14:m>
                <a:r>
                  <a:rPr lang="en-US" dirty="0">
                    <a:latin typeface="Arial" panose="020B0604020202020204" pitchFamily="34" charset="0"/>
                    <a:cs typeface="Arial" panose="020B0604020202020204" pitchFamily="34" charset="0"/>
                  </a:rPr>
                  <a:t> are random variables. </a:t>
                </a:r>
              </a:p>
              <a:p>
                <a:pPr>
                  <a:lnSpc>
                    <a:spcPct val="100000"/>
                  </a:lnSpc>
                  <a:spcBef>
                    <a:spcPts val="600"/>
                  </a:spcBef>
                </a:pPr>
                <a:r>
                  <a:rPr lang="en-US" dirty="0">
                    <a:latin typeface="Arial" panose="020B0604020202020204" pitchFamily="34" charset="0"/>
                    <a:cs typeface="Arial" panose="020B0604020202020204" pitchFamily="34" charset="0"/>
                  </a:rPr>
                  <a:t>The probability distribution of such random variables is called a sampling distribution.</a:t>
                </a:r>
              </a:p>
              <a:p>
                <a:pPr>
                  <a:lnSpc>
                    <a:spcPct val="100000"/>
                  </a:lnSpc>
                  <a:spcBef>
                    <a:spcPts val="600"/>
                  </a:spcBef>
                </a:pPr>
                <a:r>
                  <a:rPr lang="en-US" dirty="0">
                    <a:latin typeface="Arial" panose="020B0604020202020204" pitchFamily="34" charset="0"/>
                    <a:cs typeface="Arial" panose="020B0604020202020204" pitchFamily="34" charset="0"/>
                  </a:rPr>
                  <a:t>We stated that </a:t>
                </a:r>
                <a14:m>
                  <m:oMath xmlns:m="http://schemas.openxmlformats.org/officeDocument/2006/math">
                    <m:acc>
                      <m:accPr>
                        <m:chr m:val="̅"/>
                        <m:ctrlPr>
                          <a:rPr lang="en-US" i="1" dirty="0" smtClean="0">
                            <a:latin typeface="Cambria Math" panose="02040503050406030204" pitchFamily="18" charset="0"/>
                            <a:cs typeface="Arial" panose="020B0604020202020204" pitchFamily="34" charset="0"/>
                          </a:rPr>
                        </m:ctrlPr>
                      </m:accPr>
                      <m:e>
                        <m:r>
                          <a:rPr lang="en-US" i="1" dirty="0">
                            <a:latin typeface="Cambria Math" panose="02040503050406030204" pitchFamily="18" charset="0"/>
                            <a:cs typeface="Arial" panose="020B0604020202020204" pitchFamily="34" charset="0"/>
                          </a:rPr>
                          <m:t>𝑥</m:t>
                        </m:r>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dirty="0">
                            <a:latin typeface="Cambria Math" panose="02040503050406030204" pitchFamily="18" charset="0"/>
                            <a:cs typeface="Arial" panose="020B0604020202020204" pitchFamily="34" charset="0"/>
                          </a:rPr>
                        </m:ctrlPr>
                      </m:accPr>
                      <m:e>
                        <m:r>
                          <a:rPr lang="en-US" b="0" i="1" dirty="0" smtClean="0">
                            <a:latin typeface="Cambria Math" panose="02040503050406030204" pitchFamily="18" charset="0"/>
                            <a:cs typeface="Arial" panose="020B0604020202020204" pitchFamily="34" charset="0"/>
                          </a:rPr>
                          <m:t>𝑝</m:t>
                        </m:r>
                      </m:e>
                    </m:acc>
                  </m:oMath>
                </a14:m>
                <a:r>
                  <a:rPr lang="en-US" dirty="0">
                    <a:latin typeface="Arial" panose="020B0604020202020204" pitchFamily="34" charset="0"/>
                    <a:cs typeface="Arial" panose="020B0604020202020204" pitchFamily="34" charset="0"/>
                  </a:rPr>
                  <a:t> are unbiased estimators. </a:t>
                </a:r>
              </a:p>
              <a:p>
                <a:pPr>
                  <a:lnSpc>
                    <a:spcPct val="100000"/>
                  </a:lnSpc>
                  <a:spcBef>
                    <a:spcPts val="600"/>
                  </a:spcBef>
                </a:pPr>
                <a:r>
                  <a:rPr lang="en-US" dirty="0">
                    <a:latin typeface="Arial" panose="020B0604020202020204" pitchFamily="34" charset="0"/>
                    <a:cs typeface="Arial" panose="020B0604020202020204" pitchFamily="34" charset="0"/>
                  </a:rPr>
                  <a:t>After developing the standard error formulas for these estimators, we described the conditions necessary for the sampling distributions of </a:t>
                </a:r>
                <a14:m>
                  <m:oMath xmlns:m="http://schemas.openxmlformats.org/officeDocument/2006/math">
                    <m:acc>
                      <m:accPr>
                        <m:chr m:val="̅"/>
                        <m:ctrlPr>
                          <a:rPr lang="en-US" i="1" dirty="0" smtClean="0">
                            <a:latin typeface="Cambria Math" panose="02040503050406030204" pitchFamily="18" charset="0"/>
                            <a:cs typeface="Arial" panose="020B0604020202020204" pitchFamily="34" charset="0"/>
                          </a:rPr>
                        </m:ctrlPr>
                      </m:accPr>
                      <m:e>
                        <m:r>
                          <a:rPr lang="en-US" i="1" dirty="0">
                            <a:latin typeface="Cambria Math" panose="02040503050406030204" pitchFamily="18" charset="0"/>
                            <a:cs typeface="Arial" panose="020B0604020202020204" pitchFamily="34" charset="0"/>
                          </a:rPr>
                          <m:t>𝑥</m:t>
                        </m:r>
                      </m:e>
                    </m:acc>
                  </m:oMath>
                </a14:m>
                <a:r>
                  <a:rPr lang="en-US" dirty="0">
                    <a:latin typeface="Arial" panose="020B0604020202020204" pitchFamily="34" charset="0"/>
                    <a:cs typeface="Arial" panose="020B0604020202020204" pitchFamily="34" charset="0"/>
                  </a:rPr>
                  <a:t> and </a:t>
                </a:r>
                <a14:m>
                  <m:oMath xmlns:m="http://schemas.openxmlformats.org/officeDocument/2006/math">
                    <m:acc>
                      <m:accPr>
                        <m:chr m:val="̅"/>
                        <m:ctrlPr>
                          <a:rPr lang="en-US" i="1" dirty="0">
                            <a:latin typeface="Cambria Math" panose="02040503050406030204" pitchFamily="18" charset="0"/>
                            <a:cs typeface="Arial" panose="020B0604020202020204" pitchFamily="34" charset="0"/>
                          </a:rPr>
                        </m:ctrlPr>
                      </m:accPr>
                      <m:e>
                        <m:r>
                          <a:rPr lang="en-US" b="0" i="1" dirty="0" smtClean="0">
                            <a:latin typeface="Cambria Math" panose="02040503050406030204" pitchFamily="18" charset="0"/>
                            <a:cs typeface="Arial" panose="020B0604020202020204" pitchFamily="34" charset="0"/>
                          </a:rPr>
                          <m:t>𝑝</m:t>
                        </m:r>
                      </m:e>
                    </m:acc>
                  </m:oMath>
                </a14:m>
                <a:r>
                  <a:rPr lang="en-US" dirty="0">
                    <a:latin typeface="Arial" panose="020B0604020202020204" pitchFamily="34" charset="0"/>
                    <a:cs typeface="Arial" panose="020B0604020202020204" pitchFamily="34" charset="0"/>
                  </a:rPr>
                  <a:t> to follow a normal distribution.</a:t>
                </a:r>
              </a:p>
              <a:p>
                <a:pPr>
                  <a:lnSpc>
                    <a:spcPct val="100000"/>
                  </a:lnSpc>
                  <a:spcBef>
                    <a:spcPts val="600"/>
                  </a:spcBef>
                </a:pPr>
                <a:r>
                  <a:rPr lang="en-US" dirty="0">
                    <a:latin typeface="Arial" panose="020B0604020202020204" pitchFamily="34" charset="0"/>
                    <a:cs typeface="Arial" panose="020B0604020202020204" pitchFamily="34" charset="0"/>
                  </a:rPr>
                  <a:t>Finally, we considered other sampling methods and discussed big data on sampling error.</a:t>
                </a:r>
              </a:p>
            </p:txBody>
          </p:sp>
        </mc:Choice>
        <mc:Fallback xmlns="">
          <p:sp>
            <p:nvSpPr>
              <p:cNvPr id="3" name="Text Placeholder 2">
                <a:extLst>
                  <a:ext uri="{FF2B5EF4-FFF2-40B4-BE49-F238E27FC236}">
                    <a16:creationId xmlns:a16="http://schemas.microsoft.com/office/drawing/2014/main" id="{87C197FC-1825-404A-BE9E-EA5BA19058B7}"/>
                  </a:ext>
                </a:extLst>
              </p:cNvPr>
              <p:cNvSpPr>
                <a:spLocks noGrp="1" noRot="1" noChangeAspect="1" noMove="1" noResize="1" noEditPoints="1" noAdjustHandles="1" noChangeArrowheads="1" noChangeShapeType="1" noTextEdit="1"/>
              </p:cNvSpPr>
              <p:nvPr>
                <p:ph type="body" sz="quarter" idx="17"/>
              </p:nvPr>
            </p:nvSpPr>
            <p:spPr>
              <a:xfrm>
                <a:off x="751069" y="1228725"/>
                <a:ext cx="10657500" cy="4647535"/>
              </a:xfrm>
              <a:blipFill>
                <a:blip r:embed="rId2"/>
                <a:stretch>
                  <a:fillRect l="-1373" t="-1575" r="-1602" b="-3412"/>
                </a:stretch>
              </a:blipFill>
            </p:spPr>
            <p:txBody>
              <a:bodyPr/>
              <a:lstStyle/>
              <a:p>
                <a:r>
                  <a:rPr lang="en-US">
                    <a:noFill/>
                  </a:rPr>
                  <a:t> </a:t>
                </a:r>
              </a:p>
            </p:txBody>
          </p:sp>
        </mc:Fallback>
      </mc:AlternateContent>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99894</TotalTime>
  <Words>4627</Words>
  <Application>Microsoft Office PowerPoint</Application>
  <PresentationFormat>Widescreen</PresentationFormat>
  <Paragraphs>384</Paragraphs>
  <Slides>35</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arial</vt:lpstr>
      <vt:lpstr>Calibri</vt:lpstr>
      <vt:lpstr>Cambria Math</vt:lpstr>
      <vt:lpstr>Helvetica</vt:lpstr>
      <vt:lpstr>Open Sans</vt:lpstr>
      <vt:lpstr>Summer Font</vt:lpstr>
      <vt:lpstr>Symbol</vt:lpstr>
      <vt:lpstr>Office Theme</vt:lpstr>
      <vt:lpstr>PowerPoint Presentation</vt:lpstr>
      <vt:lpstr>Chapter Contents</vt:lpstr>
      <vt:lpstr>Chapter Objectives (1 of 2)</vt:lpstr>
      <vt:lpstr>Chapter Objectives (2 of 2)</vt:lpstr>
      <vt:lpstr>Introduction</vt:lpstr>
      <vt:lpstr>Introduction to Sampling</vt:lpstr>
      <vt:lpstr>7.1 The Electronics Associates Sampling Problem</vt:lpstr>
      <vt:lpstr>7.2 Selecting a Sample</vt:lpstr>
      <vt:lpstr>7.2 Sampling from an Infinite Population</vt:lpstr>
      <vt:lpstr>7.3 Point Estimation</vt:lpstr>
      <vt:lpstr>7.3 Point Estimation for the EAI Managers Example</vt:lpstr>
      <vt:lpstr>7.3 Practical Advice</vt:lpstr>
      <vt:lpstr>7.4 Introduction to Sampling Distributions</vt:lpstr>
      <vt:lpstr>7.4 Approximation of a Sampling Distribution</vt:lpstr>
      <vt:lpstr>7.5 Sampling Distribution of x ̅</vt:lpstr>
      <vt:lpstr>7.5 Form of the Sampling Distribution of x ̅</vt:lpstr>
      <vt:lpstr>7.5 Sampling from Different Population Distributions</vt:lpstr>
      <vt:lpstr>7.5 Illustration of the Central Limit Theorem</vt:lpstr>
      <vt:lpstr>7.5 Sampling Distribution of x ̅ for the EAI Problem</vt:lpstr>
      <vt:lpstr>7.5 Application of the Sampling Distribution of x ̅</vt:lpstr>
      <vt:lpstr>7.5 Relationship Between the Sample Size and the Sampling Distribution of x ̅</vt:lpstr>
      <vt:lpstr>7.6 Sampling Distribution of p ̅</vt:lpstr>
      <vt:lpstr>7.6 Form of the Sampling Distribution of p ̅</vt:lpstr>
      <vt:lpstr>7.6 Practical Value of the Sampling Distribution of p ̅</vt:lpstr>
      <vt:lpstr>7.6 Relationship Between the Sample Size and the Sampling Distribution of p ̅</vt:lpstr>
      <vt:lpstr>7.7 Other Sampling Methods</vt:lpstr>
      <vt:lpstr>7.7 Stratified Random Sampling</vt:lpstr>
      <vt:lpstr>7.7 Cluster Sampling</vt:lpstr>
      <vt:lpstr>7.7 Systematic Sampling</vt:lpstr>
      <vt:lpstr>7.7 Nonprobability Sampling Methods</vt:lpstr>
      <vt:lpstr>7.8 Practical Advice: Big Data and Errors in Sampling</vt:lpstr>
      <vt:lpstr>7.8 Sampling Error</vt:lpstr>
      <vt:lpstr>7.8 Nonsampling Error</vt:lpstr>
      <vt:lpstr>7.8 Big Data and Sampling Error</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2488</cp:revision>
  <cp:lastPrinted>2016-10-03T15:29:39Z</cp:lastPrinted>
  <dcterms:created xsi:type="dcterms:W3CDTF">2019-11-14T21:20:16Z</dcterms:created>
  <dcterms:modified xsi:type="dcterms:W3CDTF">2025-12-18T16:08:29Z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