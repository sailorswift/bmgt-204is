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handoutMasterIdLst>
    <p:handoutMasterId r:id="rId57"/>
  </p:handoutMasterIdLst>
  <p:sldIdLst>
    <p:sldId id="731" r:id="rId5"/>
    <p:sldId id="524" r:id="rId6"/>
    <p:sldId id="548" r:id="rId7"/>
    <p:sldId id="683" r:id="rId8"/>
    <p:sldId id="596" r:id="rId9"/>
    <p:sldId id="597" r:id="rId10"/>
    <p:sldId id="684" r:id="rId11"/>
    <p:sldId id="685" r:id="rId12"/>
    <p:sldId id="686" r:id="rId13"/>
    <p:sldId id="687" r:id="rId14"/>
    <p:sldId id="688" r:id="rId15"/>
    <p:sldId id="689" r:id="rId16"/>
    <p:sldId id="725" r:id="rId17"/>
    <p:sldId id="690" r:id="rId18"/>
    <p:sldId id="691" r:id="rId19"/>
    <p:sldId id="693" r:id="rId20"/>
    <p:sldId id="692" r:id="rId21"/>
    <p:sldId id="655" r:id="rId22"/>
    <p:sldId id="722" r:id="rId23"/>
    <p:sldId id="723" r:id="rId24"/>
    <p:sldId id="695" r:id="rId25"/>
    <p:sldId id="670" r:id="rId26"/>
    <p:sldId id="671" r:id="rId27"/>
    <p:sldId id="726" r:id="rId28"/>
    <p:sldId id="697" r:id="rId29"/>
    <p:sldId id="698" r:id="rId30"/>
    <p:sldId id="699" r:id="rId31"/>
    <p:sldId id="700" r:id="rId32"/>
    <p:sldId id="701" r:id="rId33"/>
    <p:sldId id="702" r:id="rId34"/>
    <p:sldId id="721" r:id="rId35"/>
    <p:sldId id="703" r:id="rId36"/>
    <p:sldId id="704" r:id="rId37"/>
    <p:sldId id="705" r:id="rId38"/>
    <p:sldId id="706" r:id="rId39"/>
    <p:sldId id="707" r:id="rId40"/>
    <p:sldId id="708" r:id="rId41"/>
    <p:sldId id="710" r:id="rId42"/>
    <p:sldId id="727" r:id="rId43"/>
    <p:sldId id="728" r:id="rId44"/>
    <p:sldId id="716" r:id="rId45"/>
    <p:sldId id="712" r:id="rId46"/>
    <p:sldId id="717" r:id="rId47"/>
    <p:sldId id="718" r:id="rId48"/>
    <p:sldId id="724" r:id="rId49"/>
    <p:sldId id="713" r:id="rId50"/>
    <p:sldId id="715" r:id="rId51"/>
    <p:sldId id="729" r:id="rId52"/>
    <p:sldId id="730" r:id="rId53"/>
    <p:sldId id="719" r:id="rId54"/>
    <p:sldId id="523" r:id="rId5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25894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9" d="100"/>
          <a:sy n="59" d="100"/>
        </p:scale>
        <p:origin x="884" y="52"/>
      </p:cViewPr>
      <p:guideLst>
        <p:guide orient="horz" pos="2160"/>
        <p:guide pos="3840"/>
      </p:guideLst>
    </p:cSldViewPr>
  </p:slideViewPr>
  <p:outlineViewPr>
    <p:cViewPr>
      <p:scale>
        <a:sx n="33" d="100"/>
        <a:sy n="33" d="100"/>
      </p:scale>
      <p:origin x="0" y="-69404"/>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3036830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243129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2964622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2369626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3064651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solidFill>
                      <a:srgbClr val="000000"/>
                    </a:solidFill>
                    <a:latin typeface="Arial" panose="020B0604020202020204" pitchFamily="34" charset="0"/>
                    <a:cs typeface="Arial" panose="020B0604020202020204" pitchFamily="34" charset="0"/>
                  </a:rPr>
                  <a:t>we know from Chapter 11 </a:t>
                </a:r>
                <a:r>
                  <a:rPr lang="en-US" sz="1200" dirty="0">
                    <a:latin typeface="Arial" panose="020B0604020202020204" pitchFamily="34" charset="0"/>
                    <a:cs typeface="Arial" panose="020B0604020202020204" pitchFamily="34" charset="0"/>
                  </a:rPr>
                  <a:t>that, for normal populations, the sampling distribution of the ratio of two independent estimates of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𝜎</m:t>
                        </m:r>
                      </m:e>
                      <m:sup>
                        <m:r>
                          <a:rPr lang="en-US" sz="1200" i="1">
                            <a:latin typeface="Cambria Math" panose="02040503050406030204" pitchFamily="18" charset="0"/>
                          </a:rPr>
                          <m:t>2</m:t>
                        </m:r>
                      </m:sup>
                    </m:sSup>
                  </m:oMath>
                </a14:m>
                <a:r>
                  <a:rPr lang="en-US" sz="1200" dirty="0">
                    <a:latin typeface="Arial" panose="020B0604020202020204" pitchFamily="34" charset="0"/>
                    <a:cs typeface="Arial" panose="020B0604020202020204" pitchFamily="34" charset="0"/>
                  </a:rPr>
                  <a:t> follows an </a:t>
                </a:r>
                <a:r>
                  <a:rPr lang="en-US" sz="1200" i="1" dirty="0">
                    <a:latin typeface="Arial" panose="020B0604020202020204" pitchFamily="34" charset="0"/>
                    <a:cs typeface="Arial" panose="020B0604020202020204" pitchFamily="34" charset="0"/>
                  </a:rPr>
                  <a:t>F</a:t>
                </a:r>
                <a:r>
                  <a:rPr lang="en-US" sz="1200" dirty="0">
                    <a:latin typeface="Arial" panose="020B0604020202020204" pitchFamily="34" charset="0"/>
                    <a:cs typeface="Arial" panose="020B0604020202020204" pitchFamily="34" charset="0"/>
                  </a:rPr>
                  <a:t> distribution.</a:t>
                </a:r>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solidFill>
                      <a:srgbClr val="000000"/>
                    </a:solidFill>
                    <a:latin typeface="Arial" panose="020B0604020202020204" pitchFamily="34" charset="0"/>
                    <a:cs typeface="Arial" panose="020B0604020202020204" pitchFamily="34" charset="0"/>
                  </a:rPr>
                  <a:t>we know from Chapter 11 </a:t>
                </a:r>
                <a:r>
                  <a:rPr lang="en-US" sz="1200" dirty="0">
                    <a:latin typeface="Arial" panose="020B0604020202020204" pitchFamily="34" charset="0"/>
                    <a:cs typeface="Arial" panose="020B0604020202020204" pitchFamily="34" charset="0"/>
                  </a:rPr>
                  <a:t>that, for normal populations, the sampling distribution of the ratio of two independent estimates of </a:t>
                </a:r>
                <a:r>
                  <a:rPr lang="en-US" sz="1200" i="0">
                    <a:latin typeface="Cambria Math" panose="02040503050406030204" pitchFamily="18" charset="0"/>
                    <a:ea typeface="Cambria Math" panose="02040503050406030204" pitchFamily="18" charset="0"/>
                  </a:rPr>
                  <a:t>𝜎^</a:t>
                </a:r>
                <a:r>
                  <a:rPr lang="en-US" sz="1200" i="0">
                    <a:latin typeface="Cambria Math" panose="02040503050406030204" pitchFamily="18" charset="0"/>
                  </a:rPr>
                  <a:t>2</a:t>
                </a:r>
                <a:r>
                  <a:rPr lang="en-US" sz="1200" dirty="0">
                    <a:latin typeface="Arial" panose="020B0604020202020204" pitchFamily="34" charset="0"/>
                    <a:cs typeface="Arial" panose="020B0604020202020204" pitchFamily="34" charset="0"/>
                  </a:rPr>
                  <a:t> follows an </a:t>
                </a:r>
                <a:r>
                  <a:rPr lang="en-US" sz="1200" i="1" dirty="0">
                    <a:latin typeface="Arial" panose="020B0604020202020204" pitchFamily="34" charset="0"/>
                    <a:cs typeface="Arial" panose="020B0604020202020204" pitchFamily="34" charset="0"/>
                  </a:rPr>
                  <a:t>F</a:t>
                </a:r>
                <a:r>
                  <a:rPr lang="en-US" sz="1200" dirty="0">
                    <a:latin typeface="Arial" panose="020B0604020202020204" pitchFamily="34" charset="0"/>
                    <a:cs typeface="Arial" panose="020B0604020202020204" pitchFamily="34" charset="0"/>
                  </a:rPr>
                  <a:t> distribution.</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354079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14:m>
                  <m:oMath xmlns:m="http://schemas.openxmlformats.org/officeDocument/2006/math">
                    <m:r>
                      <m:rPr>
                        <m:nor/>
                      </m:rPr>
                      <a:rPr lang="en-US" sz="1200" b="0" i="0" dirty="0" smtClean="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F</m:t>
                    </m:r>
                    <m:r>
                      <m:rPr>
                        <m:nor/>
                      </m:rPr>
                      <a:rPr lang="en-US" sz="1200" b="0" i="0" dirty="0" smtClean="0">
                        <a:latin typeface="Cambria Math" panose="02040503050406030204" pitchFamily="18" charset="0"/>
                        <a:cs typeface="Arial" panose="020B0604020202020204" pitchFamily="34" charset="0"/>
                      </a:rPr>
                      <m:t>.</m:t>
                    </m:r>
                    <m:r>
                      <m:rPr>
                        <m:nor/>
                      </m:rPr>
                      <a:rPr lang="en-US" sz="1200" b="0" i="0" dirty="0" smtClean="0">
                        <a:latin typeface="Cambria Math" panose="02040503050406030204" pitchFamily="18" charset="0"/>
                        <a:cs typeface="Arial" panose="020B0604020202020204" pitchFamily="34" charset="0"/>
                      </a:rPr>
                      <m:t>DIST</m:t>
                    </m:r>
                    <m:r>
                      <m:rPr>
                        <m:nor/>
                      </m:rPr>
                      <a:rPr lang="en-US" sz="1200" i="0" dirty="0" smtClean="0">
                        <a:latin typeface="Cambria Math" panose="02040503050406030204" pitchFamily="18" charset="0"/>
                        <a:cs typeface="Arial" panose="020B0604020202020204" pitchFamily="34" charset="0"/>
                      </a:rPr>
                      <m:t>.</m:t>
                    </m:r>
                    <m:r>
                      <m:rPr>
                        <m:nor/>
                      </m:rPr>
                      <a:rPr lang="en-US" sz="1200" i="0" dirty="0" smtClean="0">
                        <a:latin typeface="Cambria Math" panose="02040503050406030204" pitchFamily="18" charset="0"/>
                        <a:cs typeface="Arial" panose="020B0604020202020204" pitchFamily="34" charset="0"/>
                      </a:rPr>
                      <m:t>RT</m:t>
                    </m:r>
                    <m:r>
                      <m:rPr>
                        <m:nor/>
                      </m:rPr>
                      <a:rPr lang="en-US" sz="1200" i="0" dirty="0" smtClean="0">
                        <a:latin typeface="Cambria Math" panose="02040503050406030204" pitchFamily="18" charset="0"/>
                        <a:cs typeface="Arial" panose="020B0604020202020204" pitchFamily="34" charset="0"/>
                      </a:rPr>
                      <m:t>(9.18,2,12)</m:t>
                    </m:r>
                    <m:r>
                      <a:rPr lang="en-US" sz="1200" i="1" dirty="0" smtClean="0">
                        <a:latin typeface="Cambria Math" panose="02040503050406030204" pitchFamily="18" charset="0"/>
                        <a:cs typeface="Arial" panose="020B0604020202020204" pitchFamily="34" charset="0"/>
                      </a:rPr>
                      <m:t>=0.</m:t>
                    </m:r>
                    <m:r>
                      <a:rPr lang="en-US" sz="1200" b="0" i="1" dirty="0" smtClean="0">
                        <a:latin typeface="Cambria Math" panose="02040503050406030204" pitchFamily="18" charset="0"/>
                        <a:cs typeface="Arial" panose="020B0604020202020204" pitchFamily="34" charset="0"/>
                      </a:rPr>
                      <m:t>004</m:t>
                    </m:r>
                  </m:oMath>
                </a14:m>
                <a:endParaRPr lang="en-US" sz="1200" dirty="0">
                  <a:cs typeface="Arial" panose="020B060402020202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cs typeface="Arial" panose="020B0604020202020204" pitchFamily="34" charset="0"/>
                  </a:rPr>
                  <a:t>using Excel, we have the exact </a:t>
                </a:r>
                <a:r>
                  <a:rPr lang="en-US" sz="1200" i="1" dirty="0">
                    <a:cs typeface="Arial" panose="020B0604020202020204" pitchFamily="34" charset="0"/>
                  </a:rPr>
                  <a:t>p</a:t>
                </a:r>
                <a:r>
                  <a:rPr lang="en-US" sz="1200" dirty="0">
                    <a:cs typeface="Arial" panose="020B0604020202020204" pitchFamily="34" charset="0"/>
                  </a:rPr>
                  <a:t>-value: </a:t>
                </a:r>
                <a:r>
                  <a:rPr lang="en-US" sz="1200" b="0" i="0" dirty="0">
                    <a:latin typeface="Cambria Math" panose="02040503050406030204" pitchFamily="18" charset="0"/>
                    <a:cs typeface="Arial" panose="020B0604020202020204" pitchFamily="34" charset="0"/>
                  </a:rPr>
                  <a:t>"=F.DIST</a:t>
                </a:r>
                <a:r>
                  <a:rPr lang="en-US" sz="1200" i="0" dirty="0">
                    <a:latin typeface="Cambria Math" panose="02040503050406030204" pitchFamily="18" charset="0"/>
                    <a:cs typeface="Arial" panose="020B0604020202020204" pitchFamily="34" charset="0"/>
                  </a:rPr>
                  <a:t>.RT(9.18,2,12)"=0.</a:t>
                </a:r>
                <a:r>
                  <a:rPr lang="en-US" sz="1200" b="0" i="0" dirty="0">
                    <a:latin typeface="Cambria Math" panose="02040503050406030204" pitchFamily="18" charset="0"/>
                    <a:cs typeface="Arial" panose="020B0604020202020204" pitchFamily="34" charset="0"/>
                  </a:rPr>
                  <a:t>004</a:t>
                </a:r>
                <a:endParaRPr lang="en-US" sz="1200" dirty="0">
                  <a:cs typeface="Arial" panose="020B0604020202020204" pitchFamily="34" charset="0"/>
                </a:endParaRP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3223323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2271960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1282062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4199202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*Note: the number of comparisons for </a:t>
                </a:r>
                <a:r>
                  <a:rPr lang="en-US" i="1" dirty="0"/>
                  <a:t>k</a:t>
                </a:r>
                <a:r>
                  <a:rPr lang="en-US" dirty="0"/>
                  <a:t> treatments can be computed as the number of combinations of k treatments taken 2 at a time, or </a:t>
                </a:r>
                <a:r>
                  <a:rPr lang="en-US" b="0" i="0">
                    <a:latin typeface="Cambria Math" panose="02040503050406030204" pitchFamily="18" charset="0"/>
                  </a:rPr>
                  <a:t>𝑘!∕(𝑘−2)  !</a:t>
                </a:r>
                <a:r>
                  <a:rPr lang="en-US" dirty="0"/>
                  <a:t>. Thus,</a:t>
                </a:r>
                <a:r>
                  <a:rPr lang="en-US" baseline="0" dirty="0"/>
                  <a:t> when </a:t>
                </a:r>
                <a:r>
                  <a:rPr lang="en-US" i="0" baseline="0" dirty="0">
                    <a:latin typeface="Cambria Math" panose="02040503050406030204" pitchFamily="18" charset="0"/>
                  </a:rPr>
                  <a:t>𝑘=3</a:t>
                </a:r>
                <a:r>
                  <a:rPr lang="en-US" baseline="0" dirty="0"/>
                  <a:t>, </a:t>
                </a:r>
                <a:r>
                  <a:rPr lang="en-US" i="0" baseline="0" dirty="0">
                    <a:latin typeface="Cambria Math" panose="02040503050406030204" pitchFamily="18" charset="0"/>
                  </a:rPr>
                  <a:t>𝐶=3</a:t>
                </a:r>
                <a:r>
                  <a:rPr lang="en-US" baseline="0" dirty="0"/>
                  <a:t>, when </a:t>
                </a:r>
                <a:r>
                  <a:rPr lang="en-US" i="0" baseline="0" dirty="0">
                    <a:latin typeface="Cambria Math" panose="02040503050406030204" pitchFamily="18" charset="0"/>
                  </a:rPr>
                  <a:t>𝑘=4</a:t>
                </a:r>
                <a:r>
                  <a:rPr lang="en-US" baseline="0" dirty="0"/>
                  <a:t>, </a:t>
                </a:r>
                <a:r>
                  <a:rPr lang="en-US" i="0" baseline="0" dirty="0">
                    <a:latin typeface="Cambria Math" panose="02040503050406030204" pitchFamily="18" charset="0"/>
                  </a:rPr>
                  <a:t>𝐶=6</a:t>
                </a:r>
                <a:r>
                  <a:rPr lang="en-US" baseline="0" dirty="0"/>
                  <a:t>, when </a:t>
                </a:r>
                <a:r>
                  <a:rPr lang="en-US" i="0" baseline="0" dirty="0">
                    <a:latin typeface="Cambria Math" panose="02040503050406030204" pitchFamily="18" charset="0"/>
                  </a:rPr>
                  <a:t>𝑘−5</a:t>
                </a:r>
                <a:r>
                  <a:rPr lang="en-US" baseline="0" dirty="0"/>
                  <a:t>, </a:t>
                </a:r>
                <a:r>
                  <a:rPr lang="en-US" i="0" baseline="0" dirty="0">
                    <a:latin typeface="Cambria Math" panose="02040503050406030204" pitchFamily="18" charset="0"/>
                  </a:rPr>
                  <a:t>𝐶=10</a:t>
                </a:r>
                <a:r>
                  <a:rPr lang="en-US" baseline="0" dirty="0"/>
                  <a:t>, and so on.</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367861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3838310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3973145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3914946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517999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142012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1993427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1186751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28831473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44</a:t>
            </a:fld>
            <a:endParaRPr lang="en-US" dirty="0"/>
          </a:p>
        </p:txBody>
      </p:sp>
    </p:spTree>
    <p:extLst>
      <p:ext uri="{BB962C8B-B14F-4D97-AF65-F5344CB8AC3E}">
        <p14:creationId xmlns:p14="http://schemas.microsoft.com/office/powerpoint/2010/main" val="3500357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4146572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47</a:t>
            </a:fld>
            <a:endParaRPr lang="en-US" dirty="0"/>
          </a:p>
        </p:txBody>
      </p:sp>
    </p:spTree>
    <p:extLst>
      <p:ext uri="{BB962C8B-B14F-4D97-AF65-F5344CB8AC3E}">
        <p14:creationId xmlns:p14="http://schemas.microsoft.com/office/powerpoint/2010/main" val="2333289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dirty="0"/>
          </a:p>
        </p:txBody>
      </p:sp>
    </p:spTree>
    <p:extLst>
      <p:ext uri="{BB962C8B-B14F-4D97-AF65-F5344CB8AC3E}">
        <p14:creationId xmlns:p14="http://schemas.microsoft.com/office/powerpoint/2010/main" val="3731930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NUL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NUL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NULL"/><Relationship Id="rId5" Type="http://schemas.openxmlformats.org/officeDocument/2006/relationships/image" Target="../media/image9.png"/><Relationship Id="rId4" Type="http://schemas.openxmlformats.org/officeDocument/2006/relationships/image" Target="NUL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3" Type="http://schemas.openxmlformats.org/officeDocument/2006/relationships/image" Target="../media/image90.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4.xml"/><Relationship Id="rId4" Type="http://schemas.openxmlformats.org/officeDocument/2006/relationships/image" Target="NUL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NUL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5.xml"/></Relationships>
</file>

<file path=ppt/slides/_rels/slide4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40.png"/></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283550-7DC0-0CB3-1CC2-7F8B2C06687A}"/>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AA1A31FD-8A26-E3DE-6BFF-9526D8F99041}"/>
              </a:ext>
            </a:extLst>
          </p:cNvPr>
          <p:cNvPicPr>
            <a:picLocks noChangeAspect="1"/>
          </p:cNvPicPr>
          <p:nvPr/>
        </p:nvPicPr>
        <p:blipFill>
          <a:blip r:embed="rId2"/>
          <a:stretch>
            <a:fillRect/>
          </a:stretch>
        </p:blipFill>
        <p:spPr>
          <a:xfrm>
            <a:off x="-1" y="-2"/>
            <a:ext cx="12192001" cy="6858001"/>
          </a:xfrm>
          <a:prstGeom prst="rect">
            <a:avLst/>
          </a:prstGeom>
        </p:spPr>
      </p:pic>
    </p:spTree>
    <p:extLst>
      <p:ext uri="{BB962C8B-B14F-4D97-AF65-F5344CB8AC3E}">
        <p14:creationId xmlns:p14="http://schemas.microsoft.com/office/powerpoint/2010/main" val="374778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710558"/>
            <a:ext cx="10711543" cy="3263462"/>
          </a:xfrm>
        </p:spPr>
        <p:txBody>
          <a:bodyPr/>
          <a:lstStyle/>
          <a:p>
            <a:pPr marL="1371600" indent="-914400">
              <a:spcAft>
                <a:spcPts val="600"/>
              </a:spcAft>
              <a:buNone/>
            </a:pPr>
            <a:r>
              <a:rPr lang="en-US" sz="2000" dirty="0"/>
              <a:t>13.1	An Introduction to Experimental Design and Analysis of Variance </a:t>
            </a:r>
          </a:p>
          <a:p>
            <a:pPr marL="1371600" indent="-914400">
              <a:spcAft>
                <a:spcPts val="600"/>
              </a:spcAft>
              <a:buNone/>
            </a:pPr>
            <a:r>
              <a:rPr lang="en-US" sz="2000" dirty="0"/>
              <a:t>13.2	Analysis of Variance and the Completely Randomized Design</a:t>
            </a:r>
          </a:p>
          <a:p>
            <a:pPr marL="1371600" indent="-914400">
              <a:spcAft>
                <a:spcPts val="600"/>
              </a:spcAft>
              <a:buNone/>
            </a:pPr>
            <a:r>
              <a:rPr lang="en-US" sz="2000" dirty="0"/>
              <a:t>13.3	Multiple Comparison Procedures</a:t>
            </a:r>
          </a:p>
          <a:p>
            <a:pPr marL="1371600" indent="-914400">
              <a:spcAft>
                <a:spcPts val="600"/>
              </a:spcAft>
              <a:buNone/>
            </a:pPr>
            <a:r>
              <a:rPr lang="en-US" sz="2000" dirty="0"/>
              <a:t>13.4	Randomized Block Design</a:t>
            </a:r>
          </a:p>
          <a:p>
            <a:pPr marL="1371600" indent="-914400">
              <a:spcAft>
                <a:spcPts val="600"/>
              </a:spcAft>
              <a:buNone/>
            </a:pPr>
            <a:r>
              <a:rPr lang="en-US" sz="2000" dirty="0"/>
              <a:t>13.5	Factorial Experiment</a:t>
            </a:r>
          </a:p>
          <a:p>
            <a:pPr marL="1371600" indent="-914400">
              <a:spcAft>
                <a:spcPts val="600"/>
              </a:spcAft>
              <a:buNone/>
            </a:pPr>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416672"/>
            <a:ext cx="10610224" cy="4106918"/>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1200"/>
              </a:spcBef>
            </a:pPr>
            <a:r>
              <a:rPr lang="en-US" sz="2000" dirty="0">
                <a:latin typeface="Arial" panose="020B0604020202020204" pitchFamily="34" charset="0"/>
                <a:cs typeface="Arial" panose="020B0604020202020204" pitchFamily="34" charset="0"/>
              </a:rPr>
              <a:t>LO 13-1	Compute the various components of an analysis of variance (ANOVA) table needed for testing of population means from a completely randomized design.</a:t>
            </a:r>
          </a:p>
          <a:p>
            <a:pPr marL="1828800" indent="-1371600">
              <a:spcBef>
                <a:spcPts val="1200"/>
              </a:spcBef>
            </a:pPr>
            <a:r>
              <a:rPr lang="en-US" sz="2000" dirty="0">
                <a:latin typeface="Arial" panose="020B0604020202020204" pitchFamily="34" charset="0"/>
                <a:cs typeface="Arial" panose="020B0604020202020204" pitchFamily="34" charset="0"/>
              </a:rPr>
              <a:t>LO 13-2	Identify appropriate hypotheses to be tested with ANOVA.</a:t>
            </a:r>
          </a:p>
          <a:p>
            <a:pPr marL="1828800" indent="-1371600">
              <a:spcBef>
                <a:spcPts val="1200"/>
              </a:spcBef>
            </a:pPr>
            <a:r>
              <a:rPr lang="en-US" sz="2000" dirty="0">
                <a:latin typeface="Arial" panose="020B0604020202020204" pitchFamily="34" charset="0"/>
                <a:cs typeface="Arial" panose="020B0604020202020204" pitchFamily="34" charset="0"/>
              </a:rPr>
              <a:t>LO 13-3	Test if the means of multiple populations are equal using ANOVA in a completely randomized design.</a:t>
            </a:r>
          </a:p>
          <a:p>
            <a:pPr marL="1828800" indent="-1371600">
              <a:spcBef>
                <a:spcPts val="1200"/>
              </a:spcBef>
            </a:pPr>
            <a:r>
              <a:rPr lang="en-US" sz="2000" dirty="0">
                <a:latin typeface="Arial" panose="020B0604020202020204" pitchFamily="34" charset="0"/>
                <a:cs typeface="Arial" panose="020B0604020202020204" pitchFamily="34" charset="0"/>
              </a:rPr>
              <a:t>LO 13-4	Employ Fisher’s least significant difference (LSD) procedure to conduct statistical comparisons between pairs of population means.</a:t>
            </a:r>
          </a:p>
          <a:p>
            <a:pPr marL="1828800" indent="-1371600">
              <a:spcBef>
                <a:spcPts val="1200"/>
              </a:spcBef>
            </a:pPr>
            <a:r>
              <a:rPr lang="en-US" sz="2000" dirty="0">
                <a:latin typeface="Arial" panose="020B0604020202020204" pitchFamily="34" charset="0"/>
                <a:cs typeface="Arial" panose="020B0604020202020204" pitchFamily="34" charset="0"/>
              </a:rPr>
              <a:t>LO 13-5	Use Fisher’s LSD procedure to estimate a confidence interval of the difference between means.</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409528"/>
            <a:ext cx="10610224" cy="4106918"/>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indent="-1371600">
              <a:spcBef>
                <a:spcPts val="1200"/>
              </a:spcBef>
            </a:pPr>
            <a:r>
              <a:rPr lang="en-US" sz="2000" dirty="0">
                <a:latin typeface="Arial" panose="020B0604020202020204" pitchFamily="34" charset="0"/>
                <a:cs typeface="Arial" panose="020B0604020202020204" pitchFamily="34" charset="0"/>
              </a:rPr>
              <a:t>LO 13-6	Compute the various components of an ANOVA table needed for testing of population means from a randomized block design.</a:t>
            </a:r>
          </a:p>
          <a:p>
            <a:pPr marL="1828800" indent="-1371600">
              <a:spcBef>
                <a:spcPts val="1200"/>
              </a:spcBef>
            </a:pPr>
            <a:r>
              <a:rPr lang="en-US" sz="2000" dirty="0">
                <a:latin typeface="Arial" panose="020B0604020202020204" pitchFamily="34" charset="0"/>
                <a:cs typeface="Arial" panose="020B0604020202020204" pitchFamily="34" charset="0"/>
              </a:rPr>
              <a:t>LO 13-7	Test if the means of multiple populations are equal using ANOVA in a randomized block design.</a:t>
            </a:r>
          </a:p>
          <a:p>
            <a:pPr marL="1828800" indent="-1371600">
              <a:spcBef>
                <a:spcPts val="1200"/>
              </a:spcBef>
            </a:pPr>
            <a:r>
              <a:rPr lang="en-US" sz="2000" dirty="0">
                <a:latin typeface="Arial" panose="020B0604020202020204" pitchFamily="34" charset="0"/>
                <a:cs typeface="Arial" panose="020B0604020202020204" pitchFamily="34" charset="0"/>
              </a:rPr>
              <a:t>LO 13-8	Compute the various components of an ANOVA table needed for testing of population means from a factorial experiment.</a:t>
            </a:r>
          </a:p>
          <a:p>
            <a:pPr marL="1828800" indent="-1371600">
              <a:spcBef>
                <a:spcPts val="1200"/>
              </a:spcBef>
            </a:pPr>
            <a:r>
              <a:rPr lang="en-US" sz="2000" dirty="0">
                <a:latin typeface="Arial" panose="020B0604020202020204" pitchFamily="34" charset="0"/>
                <a:cs typeface="Arial" panose="020B0604020202020204" pitchFamily="34" charset="0"/>
              </a:rPr>
              <a:t>LO 13-9	Test if the means of multiple populations  are equal using ANOVA in a factorial experiment.</a:t>
            </a:r>
          </a:p>
        </p:txBody>
      </p:sp>
    </p:spTree>
    <p:extLst>
      <p:ext uri="{BB962C8B-B14F-4D97-AF65-F5344CB8AC3E}">
        <p14:creationId xmlns:p14="http://schemas.microsoft.com/office/powerpoint/2010/main" val="3628634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211974"/>
            <a:ext cx="10711543" cy="4595649"/>
          </a:xfrm>
        </p:spPr>
        <p:txBody>
          <a:bodyPr/>
          <a:lstStyle/>
          <a:p>
            <a:pPr>
              <a:lnSpc>
                <a:spcPct val="100000"/>
              </a:lnSpc>
              <a:spcBef>
                <a:spcPts val="600"/>
              </a:spcBef>
            </a:pPr>
            <a:r>
              <a:rPr lang="en-US" sz="2000" dirty="0">
                <a:cs typeface="Arial" panose="020B0604020202020204" pitchFamily="34" charset="0"/>
              </a:rPr>
              <a:t>S</a:t>
            </a:r>
            <a:r>
              <a:rPr lang="en-US" sz="2000" dirty="0">
                <a:solidFill>
                  <a:srgbClr val="000000"/>
                </a:solidFill>
                <a:cs typeface="Arial" panose="020B0604020202020204" pitchFamily="34" charset="0"/>
              </a:rPr>
              <a:t>tatistical studies can be classified as either experimental or observational.</a:t>
            </a:r>
          </a:p>
          <a:p>
            <a:pPr marL="574675" lvl="1" indent="-284163">
              <a:lnSpc>
                <a:spcPct val="100000"/>
              </a:lnSpc>
              <a:spcBef>
                <a:spcPts val="600"/>
              </a:spcBef>
            </a:pPr>
            <a:r>
              <a:rPr lang="en-US" sz="2000" dirty="0">
                <a:latin typeface="Arial" panose="020B0604020202020204" pitchFamily="34" charset="0"/>
                <a:cs typeface="Arial" panose="020B0604020202020204" pitchFamily="34" charset="0"/>
              </a:rPr>
              <a:t>In a</a:t>
            </a:r>
            <a:r>
              <a:rPr lang="en-US" sz="2000" dirty="0">
                <a:solidFill>
                  <a:srgbClr val="000000"/>
                </a:solidFill>
                <a:latin typeface="Arial" panose="020B0604020202020204" pitchFamily="34" charset="0"/>
                <a:cs typeface="Arial" panose="020B0604020202020204" pitchFamily="34" charset="0"/>
              </a:rPr>
              <a:t>n experimental study, a variable of interest is identified, one or more other variables are identified and controlled, and data are collected about how those variables influence the variable of interest. </a:t>
            </a:r>
          </a:p>
          <a:p>
            <a:pPr marL="574675" lvl="1" indent="-284163">
              <a:lnSpc>
                <a:spcPct val="100000"/>
              </a:lnSpc>
              <a:spcBef>
                <a:spcPts val="600"/>
              </a:spcBef>
            </a:pPr>
            <a:r>
              <a:rPr lang="en-US" sz="2000" dirty="0">
                <a:solidFill>
                  <a:srgbClr val="000000"/>
                </a:solidFill>
                <a:latin typeface="Arial" panose="020B0604020202020204" pitchFamily="34" charset="0"/>
                <a:cs typeface="Arial" panose="020B0604020202020204" pitchFamily="34" charset="0"/>
              </a:rPr>
              <a:t>In an observational study, data are usually obtained through sample surveys that use good design principles, but the lack of rigorous controls associated with an experimental study prevents to establish cause-and-effect relationships.</a:t>
            </a:r>
          </a:p>
          <a:p>
            <a:pPr>
              <a:lnSpc>
                <a:spcPct val="100000"/>
              </a:lnSpc>
              <a:spcBef>
                <a:spcPts val="600"/>
              </a:spcBef>
            </a:pPr>
            <a:r>
              <a:rPr lang="en-US" sz="2000" dirty="0">
                <a:solidFill>
                  <a:srgbClr val="000000"/>
                </a:solidFill>
                <a:cs typeface="Arial" panose="020B0604020202020204" pitchFamily="34" charset="0"/>
              </a:rPr>
              <a:t>In this chapter, we introduce three types of experimental designs:</a:t>
            </a:r>
          </a:p>
          <a:p>
            <a:pPr marL="574675" lvl="1" indent="-284163">
              <a:lnSpc>
                <a:spcPct val="100000"/>
              </a:lnSpc>
              <a:spcBef>
                <a:spcPts val="600"/>
              </a:spcBef>
            </a:pPr>
            <a:r>
              <a:rPr lang="en-US" sz="2000" dirty="0">
                <a:latin typeface="Arial" panose="020B0604020202020204" pitchFamily="34" charset="0"/>
                <a:cs typeface="Arial" panose="020B0604020202020204" pitchFamily="34" charset="0"/>
              </a:rPr>
              <a:t>a completely ran­domized design</a:t>
            </a:r>
          </a:p>
          <a:p>
            <a:pPr marL="574675" lvl="1" indent="-284163">
              <a:lnSpc>
                <a:spcPct val="100000"/>
              </a:lnSpc>
              <a:spcBef>
                <a:spcPts val="600"/>
              </a:spcBef>
            </a:pPr>
            <a:r>
              <a:rPr lang="en-US" sz="2000" dirty="0">
                <a:latin typeface="Arial" panose="020B0604020202020204" pitchFamily="34" charset="0"/>
                <a:cs typeface="Arial" panose="020B0604020202020204" pitchFamily="34" charset="0"/>
              </a:rPr>
              <a:t>a randomized block design</a:t>
            </a:r>
          </a:p>
          <a:p>
            <a:pPr marL="574675" lvl="1" indent="-284163">
              <a:lnSpc>
                <a:spcPct val="100000"/>
              </a:lnSpc>
              <a:spcBef>
                <a:spcPts val="600"/>
              </a:spcBef>
            </a:pPr>
            <a:r>
              <a:rPr lang="en-US" sz="2000" dirty="0">
                <a:latin typeface="Arial" panose="020B0604020202020204" pitchFamily="34" charset="0"/>
                <a:cs typeface="Arial" panose="020B0604020202020204" pitchFamily="34" charset="0"/>
              </a:rPr>
              <a:t>a factorial experiment.</a:t>
            </a:r>
          </a:p>
          <a:p>
            <a:pPr>
              <a:lnSpc>
                <a:spcPct val="100000"/>
              </a:lnSpc>
              <a:spcBef>
                <a:spcPts val="600"/>
              </a:spcBef>
            </a:pPr>
            <a:r>
              <a:rPr lang="en-US" sz="2000" dirty="0">
                <a:solidFill>
                  <a:srgbClr val="000000"/>
                </a:solidFill>
                <a:cs typeface="Arial" panose="020B0604020202020204" pitchFamily="34" charset="0"/>
              </a:rPr>
              <a:t>For each design we show how analysis of variance (ANOVA) can be used to analyze the data available. ANOVA can also be used to analyze data obtained through observational studies.</a:t>
            </a: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sz="3200" dirty="0">
                <a:solidFill>
                  <a:srgbClr val="D14B1E"/>
                </a:solidFill>
              </a:rPr>
              <a:t>13.1 An Introduction to Experimental Design and Analysis of Variance</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675580"/>
            <a:ext cx="10711543" cy="4028090"/>
          </a:xfrm>
        </p:spPr>
        <p:txBody>
          <a:bodyPr/>
          <a:lstStyle/>
          <a:p>
            <a:pPr>
              <a:lnSpc>
                <a:spcPct val="100000"/>
              </a:lnSpc>
              <a:spcBef>
                <a:spcPts val="600"/>
              </a:spcBef>
            </a:pPr>
            <a:r>
              <a:rPr lang="en-US" sz="2000" dirty="0">
                <a:solidFill>
                  <a:srgbClr val="000000"/>
                </a:solidFill>
                <a:cs typeface="Arial" panose="020B0604020202020204" pitchFamily="34" charset="0"/>
              </a:rPr>
              <a:t>Managers at Chemitech, Inc. want to implement an experimental study to determine which of three assembly methods can produce the greatest number of filtration systems per week.</a:t>
            </a:r>
          </a:p>
          <a:p>
            <a:pPr>
              <a:lnSpc>
                <a:spcPct val="100000"/>
              </a:lnSpc>
              <a:spcBef>
                <a:spcPts val="600"/>
              </a:spcBef>
            </a:pPr>
            <a:r>
              <a:rPr lang="en-US" sz="2000" dirty="0">
                <a:cs typeface="Arial" panose="020B0604020202020204" pitchFamily="34" charset="0"/>
              </a:rPr>
              <a:t>In this example, the assembly method is an independent categorical variable, called the </a:t>
            </a:r>
            <a:r>
              <a:rPr lang="en-US" sz="2000" b="1" dirty="0">
                <a:cs typeface="Arial" panose="020B0604020202020204" pitchFamily="34" charset="0"/>
              </a:rPr>
              <a:t>factor</a:t>
            </a:r>
            <a:r>
              <a:rPr lang="en-US" sz="2000" dirty="0">
                <a:cs typeface="Arial" panose="020B0604020202020204" pitchFamily="34" charset="0"/>
              </a:rPr>
              <a:t> of the study, and it consists of three outcomes: method A, method B, and method C. </a:t>
            </a:r>
          </a:p>
          <a:p>
            <a:pPr>
              <a:lnSpc>
                <a:spcPct val="100000"/>
              </a:lnSpc>
              <a:spcBef>
                <a:spcPts val="600"/>
              </a:spcBef>
            </a:pPr>
            <a:r>
              <a:rPr lang="en-US" sz="2000" dirty="0">
                <a:cs typeface="Arial" panose="020B0604020202020204" pitchFamily="34" charset="0"/>
              </a:rPr>
              <a:t>Each outcome is called a </a:t>
            </a:r>
            <a:r>
              <a:rPr lang="en-US" sz="2000" b="1" dirty="0">
                <a:cs typeface="Arial" panose="020B0604020202020204" pitchFamily="34" charset="0"/>
              </a:rPr>
              <a:t>treatment</a:t>
            </a:r>
            <a:r>
              <a:rPr lang="en-US" sz="2000" dirty="0">
                <a:cs typeface="Arial" panose="020B0604020202020204" pitchFamily="34" charset="0"/>
              </a:rPr>
              <a:t>. Each treatment defines one of the three populations of interest in the experimental study.</a:t>
            </a:r>
          </a:p>
          <a:p>
            <a:pPr>
              <a:lnSpc>
                <a:spcPct val="100000"/>
              </a:lnSpc>
              <a:spcBef>
                <a:spcPts val="600"/>
              </a:spcBef>
            </a:pPr>
            <a:r>
              <a:rPr lang="en-US" sz="2000" dirty="0">
                <a:solidFill>
                  <a:srgbClr val="000000"/>
                </a:solidFill>
                <a:cs typeface="Arial" panose="020B0604020202020204" pitchFamily="34" charset="0"/>
              </a:rPr>
              <a:t>The Chemitech problem is an example of a </a:t>
            </a:r>
            <a:r>
              <a:rPr lang="en-US" sz="2000" b="1" dirty="0">
                <a:solidFill>
                  <a:srgbClr val="000000"/>
                </a:solidFill>
                <a:cs typeface="Arial" panose="020B0604020202020204" pitchFamily="34" charset="0"/>
              </a:rPr>
              <a:t>single-factor experiment</a:t>
            </a:r>
            <a:r>
              <a:rPr lang="en-US" sz="2000" dirty="0">
                <a:cs typeface="Arial" panose="020B0604020202020204" pitchFamily="34" charset="0"/>
              </a:rPr>
              <a:t>,</a:t>
            </a:r>
            <a:r>
              <a:rPr lang="en-US" sz="2000" dirty="0">
                <a:solidFill>
                  <a:srgbClr val="000000"/>
                </a:solidFill>
                <a:cs typeface="Arial" panose="020B0604020202020204" pitchFamily="34" charset="0"/>
              </a:rPr>
              <a:t> as it involves one categorical factor (method of assembly.) More complex problems consisting of multiple factors are possible.</a:t>
            </a:r>
          </a:p>
          <a:p>
            <a:pPr>
              <a:lnSpc>
                <a:spcPct val="100000"/>
              </a:lnSpc>
              <a:spcBef>
                <a:spcPts val="600"/>
              </a:spcBef>
            </a:pPr>
            <a:r>
              <a:rPr lang="en-US" sz="2000" dirty="0">
                <a:cs typeface="Arial" panose="020B0604020202020204" pitchFamily="34" charset="0"/>
              </a:rPr>
              <a:t>T</a:t>
            </a:r>
            <a:r>
              <a:rPr lang="en-US" sz="2000" dirty="0">
                <a:solidFill>
                  <a:srgbClr val="000000"/>
                </a:solidFill>
                <a:cs typeface="Arial" panose="020B0604020202020204" pitchFamily="34" charset="0"/>
              </a:rPr>
              <a:t>he dependent or </a:t>
            </a:r>
            <a:r>
              <a:rPr lang="en-US" sz="2000" b="1" dirty="0">
                <a:solidFill>
                  <a:srgbClr val="000000"/>
                </a:solidFill>
                <a:cs typeface="Arial" panose="020B0604020202020204" pitchFamily="34" charset="0"/>
              </a:rPr>
              <a:t>response</a:t>
            </a:r>
            <a:r>
              <a:rPr lang="en-US" sz="2000" dirty="0">
                <a:solidFill>
                  <a:srgbClr val="000000"/>
                </a:solidFill>
                <a:cs typeface="Arial" panose="020B0604020202020204" pitchFamily="34" charset="0"/>
              </a:rPr>
              <a:t> variable is the number of filtra­tion systems assembled per week. </a:t>
            </a:r>
          </a:p>
          <a:p>
            <a:pPr>
              <a:lnSpc>
                <a:spcPct val="100000"/>
              </a:lnSpc>
              <a:spcBef>
                <a:spcPts val="600"/>
              </a:spcBef>
            </a:pPr>
            <a:r>
              <a:rPr lang="en-US" sz="2000" dirty="0">
                <a:cs typeface="Arial" panose="020B0604020202020204" pitchFamily="34" charset="0"/>
              </a:rPr>
              <a:t>T</a:t>
            </a:r>
            <a:r>
              <a:rPr lang="en-US" sz="2000" dirty="0">
                <a:solidFill>
                  <a:srgbClr val="000000"/>
                </a:solidFill>
                <a:cs typeface="Arial" panose="020B0604020202020204" pitchFamily="34" charset="0"/>
              </a:rPr>
              <a:t>he primary statistical objective of the experiment is to determine whether the mean number of units produced per week is the same for all three populations (methods).</a:t>
            </a:r>
          </a:p>
        </p:txBody>
      </p:sp>
    </p:spTree>
    <p:extLst>
      <p:ext uri="{BB962C8B-B14F-4D97-AF65-F5344CB8AC3E}">
        <p14:creationId xmlns:p14="http://schemas.microsoft.com/office/powerpoint/2010/main" val="48905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13.1 Data Collection</a:t>
            </a:r>
          </a:p>
        </p:txBody>
      </p:sp>
      <p:sp>
        <p:nvSpPr>
          <p:cNvPr id="12" name="Text Placeholder 11">
            <a:extLst>
              <a:ext uri="{FF2B5EF4-FFF2-40B4-BE49-F238E27FC236}">
                <a16:creationId xmlns:a16="http://schemas.microsoft.com/office/drawing/2014/main" id="{A4E578D9-7F5F-F0FF-3AB6-732EC93AC62F}"/>
              </a:ext>
            </a:extLst>
          </p:cNvPr>
          <p:cNvSpPr>
            <a:spLocks noGrp="1"/>
          </p:cNvSpPr>
          <p:nvPr>
            <p:ph type="body" sz="quarter" idx="15"/>
          </p:nvPr>
        </p:nvSpPr>
        <p:spPr>
          <a:xfrm>
            <a:off x="743577" y="1377878"/>
            <a:ext cx="5608010" cy="4253024"/>
          </a:xfrm>
        </p:spPr>
        <p:txBody>
          <a:bodyPr/>
          <a:lstStyle/>
          <a:p>
            <a:r>
              <a:rPr lang="en-US" sz="2000" dirty="0"/>
              <a:t>A random sample of 15 workers is selected from all assembly workers at the Chemitech production facility and each of the three assembly methods is randomly assigned to five employees.</a:t>
            </a:r>
          </a:p>
          <a:p>
            <a:r>
              <a:rPr lang="en-US" sz="2000" dirty="0"/>
              <a:t>In experimental design terminology, the 15 randomly selected workers are the </a:t>
            </a:r>
            <a:r>
              <a:rPr lang="en-US" sz="2000" b="1" dirty="0"/>
              <a:t>experimental units</a:t>
            </a:r>
            <a:r>
              <a:rPr lang="en-US" sz="2000" dirty="0"/>
              <a:t>, and the experimental design used is called a </a:t>
            </a:r>
            <a:r>
              <a:rPr lang="en-US" sz="2000" b="1" dirty="0"/>
              <a:t>completely randomized design</a:t>
            </a:r>
            <a:r>
              <a:rPr lang="en-US" sz="2000" dirty="0"/>
              <a:t>.</a:t>
            </a:r>
          </a:p>
          <a:p>
            <a:r>
              <a:rPr lang="en-US" sz="2000" dirty="0"/>
              <a:t>Because each method of assembly is assigned to five workers, we say that five </a:t>
            </a:r>
            <a:r>
              <a:rPr lang="en-US" sz="2000" i="1" dirty="0"/>
              <a:t>replicates</a:t>
            </a:r>
            <a:r>
              <a:rPr lang="en-US" sz="2000" dirty="0"/>
              <a:t> have been obtained.</a:t>
            </a:r>
          </a:p>
          <a:p>
            <a:r>
              <a:rPr lang="en-US" sz="2000" dirty="0"/>
              <a:t>The process of </a:t>
            </a:r>
            <a:r>
              <a:rPr lang="en-US" sz="2000" b="1" dirty="0"/>
              <a:t>replication</a:t>
            </a:r>
            <a:r>
              <a:rPr lang="en-US" sz="2000" dirty="0"/>
              <a:t> is another important principle of experimental design.</a:t>
            </a:r>
          </a:p>
        </p:txBody>
      </p:sp>
      <p:pic>
        <p:nvPicPr>
          <p:cNvPr id="15" name="Picture Placeholder 14" descr="A flow diagram shows the design for an experiment. The steps in the diagram are as follows. Employees at the plant in Columbia, South Carolina. Random sample of 15 employees is selected for the experiment. Each of the three assembly methods is randomly assigned to five employees. Method A: n_1 = 5. Method B: n_2 = 5. Method c: n_3 = 5.&#10;">
            <a:extLst>
              <a:ext uri="{FF2B5EF4-FFF2-40B4-BE49-F238E27FC236}">
                <a16:creationId xmlns:a16="http://schemas.microsoft.com/office/drawing/2014/main" id="{50832F32-931D-D74E-378F-78D0881F9D26}"/>
              </a:ext>
            </a:extLst>
          </p:cNvPr>
          <p:cNvPicPr>
            <a:picLocks noGrp="1" noChangeAspect="1"/>
          </p:cNvPicPr>
          <p:nvPr>
            <p:ph type="pic" sz="quarter" idx="16"/>
          </p:nvPr>
        </p:nvPicPr>
        <p:blipFill rotWithShape="1">
          <a:blip r:embed="rId3"/>
          <a:srcRect l="35" r="35"/>
          <a:stretch/>
        </p:blipFill>
        <p:spPr>
          <a:xfrm>
            <a:off x="6351587" y="1378321"/>
            <a:ext cx="5002213" cy="4252913"/>
          </a:xfrm>
        </p:spPr>
      </p:pic>
    </p:spTree>
    <p:extLst>
      <p:ext uri="{BB962C8B-B14F-4D97-AF65-F5344CB8AC3E}">
        <p14:creationId xmlns:p14="http://schemas.microsoft.com/office/powerpoint/2010/main" val="3181099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a:xfrm>
            <a:off x="381049" y="365125"/>
            <a:ext cx="11353800" cy="672105"/>
          </a:xfrm>
        </p:spPr>
        <p:txBody>
          <a:bodyPr/>
          <a:lstStyle/>
          <a:p>
            <a:r>
              <a:rPr lang="en-US" sz="3200" dirty="0"/>
              <a:t>13.1 Hypothesis Test for a Completely Randomized Design</a:t>
            </a:r>
          </a:p>
        </p:txBody>
      </p:sp>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93194" y="1345721"/>
            <a:ext cx="7237998" cy="2915728"/>
          </a:xfrm>
        </p:spPr>
        <p:txBody>
          <a:bodyPr>
            <a:normAutofit/>
          </a:bodyPr>
          <a:lstStyle/>
          <a:p>
            <a:r>
              <a:rPr lang="en-US" sz="2000" dirty="0"/>
              <a:t>In the Chemitech case, each worker assembles for one week the new filtration systems using the assigned method after being trained, and the number of units assembled is recorded.</a:t>
            </a:r>
          </a:p>
          <a:p>
            <a:r>
              <a:rPr lang="en-US" sz="2000" dirty="0" err="1"/>
              <a:t>DATAFile</a:t>
            </a:r>
            <a:r>
              <a:rPr lang="en-US" sz="2000" dirty="0"/>
              <a:t>: </a:t>
            </a:r>
            <a:r>
              <a:rPr lang="en-US" sz="2000" i="1" dirty="0" err="1"/>
              <a:t>chemitech</a:t>
            </a:r>
            <a:endParaRPr lang="en-US" sz="2000" i="1" dirty="0"/>
          </a:p>
          <a:p>
            <a:r>
              <a:rPr lang="en-US" sz="2000" dirty="0"/>
              <a:t>The table to the right shows the sample mean, sample variance, and sample standard deviation for the three methods.</a:t>
            </a:r>
          </a:p>
          <a:p>
            <a:r>
              <a:rPr lang="en-US" sz="2000" dirty="0"/>
              <a:t>The objective is to determine whether the differences between the sample means are large enough to make a conclusion about differences existing between the underlying population means.</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30B8C991-17A3-1B62-F468-83F42FBF319B}"/>
                  </a:ext>
                </a:extLst>
              </p:cNvPr>
              <p:cNvGraphicFramePr>
                <a:graphicFrameLocks noGrp="1"/>
              </p:cNvGraphicFramePr>
              <p:nvPr>
                <p:ph type="tbl" sz="quarter" idx="22"/>
              </p:nvPr>
            </p:nvGraphicFramePr>
            <p:xfrm>
              <a:off x="8254718" y="1395428"/>
              <a:ext cx="3067986" cy="256421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87997935"/>
                        </a:ext>
                      </a:extLst>
                    </a:gridCol>
                    <a:gridCol w="748342">
                      <a:extLst>
                        <a:ext uri="{9D8B030D-6E8A-4147-A177-3AD203B41FA5}">
                          <a16:colId xmlns:a16="http://schemas.microsoft.com/office/drawing/2014/main" val="2879349729"/>
                        </a:ext>
                      </a:extLst>
                    </a:gridCol>
                    <a:gridCol w="748342">
                      <a:extLst>
                        <a:ext uri="{9D8B030D-6E8A-4147-A177-3AD203B41FA5}">
                          <a16:colId xmlns:a16="http://schemas.microsoft.com/office/drawing/2014/main" val="2432629871"/>
                        </a:ext>
                      </a:extLst>
                    </a:gridCol>
                    <a:gridCol w="748342">
                      <a:extLst>
                        <a:ext uri="{9D8B030D-6E8A-4147-A177-3AD203B41FA5}">
                          <a16:colId xmlns:a16="http://schemas.microsoft.com/office/drawing/2014/main" val="3135418434"/>
                        </a:ext>
                      </a:extLst>
                    </a:gridCol>
                  </a:tblGrid>
                  <a:tr h="365760">
                    <a:tc>
                      <a:txBody>
                        <a:bodyPr/>
                        <a:lstStyle/>
                        <a:p>
                          <a:pPr algn="l" fontAlgn="b"/>
                          <a:r>
                            <a:rPr lang="en-US" sz="1600" b="1" i="0" u="none" strike="noStrike" dirty="0">
                              <a:solidFill>
                                <a:srgbClr val="000000"/>
                              </a:solidFill>
                              <a:effectLst/>
                              <a:latin typeface="+mn-lt"/>
                            </a:rPr>
                            <a:t> </a:t>
                          </a:r>
                          <a:r>
                            <a:rPr lang="en-US" sz="1600" b="1" i="0" u="none" strike="noStrike" dirty="0">
                              <a:solidFill>
                                <a:srgbClr val="0070C0"/>
                              </a:solidFill>
                              <a:effectLst/>
                              <a:latin typeface="+mn-lt"/>
                            </a:rPr>
                            <a:t>Method</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A</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B</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C</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10784014"/>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58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48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24282137"/>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17315980"/>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71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59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7002693"/>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mn-lt"/>
                            </a:rPr>
                            <a:t>66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47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667768510"/>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49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01958698"/>
                      </a:ext>
                    </a:extLst>
                  </a:tr>
                  <a:tr h="365760">
                    <a:tc>
                      <a:txBody>
                        <a:bodyPr/>
                        <a:lstStyle/>
                        <a:p>
                          <a:pPr algn="l" fontAlgn="b">
                            <a:tabLst>
                              <a:tab pos="284163" algn="l"/>
                            </a:tabLst>
                          </a:pPr>
                          <a:r>
                            <a:rPr lang="en-US" sz="1600" b="0" i="0" u="none" strike="noStrike" dirty="0">
                              <a:solidFill>
                                <a:srgbClr val="000000"/>
                              </a:solidFill>
                              <a:effectLst/>
                              <a:latin typeface="+mn-lt"/>
                            </a:rPr>
                            <a:t>  	</a:t>
                          </a:r>
                          <a14:m>
                            <m:oMath xmlns:m="http://schemas.openxmlformats.org/officeDocument/2006/math">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oMath>
                          </a14:m>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62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135933084"/>
                      </a:ext>
                    </a:extLst>
                  </a:tr>
                  <a:tr h="261813">
                    <a:tc>
                      <a:txBody>
                        <a:bodyPr/>
                        <a:lstStyle/>
                        <a:p>
                          <a:pPr algn="l" fontAlgn="b">
                            <a:tabLst>
                              <a:tab pos="284163" algn="l"/>
                            </a:tabLst>
                          </a:pPr>
                          <a:r>
                            <a:rPr lang="en-US" sz="1600" b="0" u="none" strike="noStrike" dirty="0">
                              <a:solidFill>
                                <a:srgbClr val="000000"/>
                              </a:solidFill>
                              <a:effectLst/>
                            </a:rPr>
                            <a:t>	</a:t>
                          </a:r>
                          <a14:m>
                            <m:oMath xmlns:m="http://schemas.openxmlformats.org/officeDocument/2006/math">
                              <m:sSup>
                                <m:sSupPr>
                                  <m:ctrlPr>
                                    <a:rPr lang="en-US" sz="1600" b="0" i="1" u="none" strike="noStrike" smtClean="0">
                                      <a:solidFill>
                                        <a:srgbClr val="000000"/>
                                      </a:solidFill>
                                      <a:effectLst/>
                                      <a:latin typeface="Cambria Math" panose="02040503050406030204" pitchFamily="18" charset="0"/>
                                    </a:rPr>
                                  </m:ctrlPr>
                                </m:sSupPr>
                                <m:e>
                                  <m:r>
                                    <a:rPr lang="en-US" sz="1600" b="0" i="1" u="none" strike="noStrike" smtClean="0">
                                      <a:solidFill>
                                        <a:srgbClr val="000000"/>
                                      </a:solidFill>
                                      <a:effectLst/>
                                      <a:latin typeface="Cambria Math" panose="02040503050406030204" pitchFamily="18" charset="0"/>
                                    </a:rPr>
                                    <m:t>𝑠</m:t>
                                  </m:r>
                                </m:e>
                                <m:sup>
                                  <m:r>
                                    <a:rPr lang="en-US" sz="1600" b="0" i="1" u="none" strike="noStrike" smtClean="0">
                                      <a:solidFill>
                                        <a:srgbClr val="000000"/>
                                      </a:solidFill>
                                      <a:effectLst/>
                                      <a:latin typeface="Cambria Math" panose="02040503050406030204" pitchFamily="18" charset="0"/>
                                    </a:rPr>
                                    <m:t>2</m:t>
                                  </m:r>
                                </m:sup>
                              </m:sSup>
                            </m:oMath>
                          </a14:m>
                          <a:endParaRPr lang="en-US" sz="1600" b="0" i="1"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27.5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26.5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31.0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135632327"/>
                      </a:ext>
                    </a:extLst>
                  </a:tr>
                  <a:tr h="261813">
                    <a:tc>
                      <a:txBody>
                        <a:bodyPr/>
                        <a:lstStyle/>
                        <a:p>
                          <a:pPr algn="l" fontAlgn="b">
                            <a:tabLst>
                              <a:tab pos="284163" algn="l"/>
                            </a:tabLst>
                          </a:pPr>
                          <a:r>
                            <a:rPr lang="en-US" sz="1600" b="0" i="0" u="none" strike="noStrike" dirty="0">
                              <a:solidFill>
                                <a:srgbClr val="000000"/>
                              </a:solidFill>
                              <a:effectLst/>
                              <a:latin typeface="+mn-lt"/>
                            </a:rPr>
                            <a:t>  	</a:t>
                          </a:r>
                          <a14:m>
                            <m:oMath xmlns:m="http://schemas.openxmlformats.org/officeDocument/2006/math">
                              <m:r>
                                <a:rPr lang="en-US" sz="1600" b="0" i="1" u="none" strike="noStrike" smtClean="0">
                                  <a:solidFill>
                                    <a:srgbClr val="000000"/>
                                  </a:solidFill>
                                  <a:effectLst/>
                                  <a:latin typeface="Cambria Math" panose="02040503050406030204" pitchFamily="18" charset="0"/>
                                </a:rPr>
                                <m:t>𝑠</m:t>
                              </m:r>
                            </m:oMath>
                          </a14:m>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5.244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5.148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5.568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96551"/>
                      </a:ext>
                    </a:extLst>
                  </a:tr>
                </a:tbl>
              </a:graphicData>
            </a:graphic>
          </p:graphicFrame>
        </mc:Choice>
        <mc:Fallback xmlns="">
          <p:graphicFrame>
            <p:nvGraphicFramePr>
              <p:cNvPr id="6" name="Table 6">
                <a:extLst>
                  <a:ext uri="{FF2B5EF4-FFF2-40B4-BE49-F238E27FC236}">
                    <a16:creationId xmlns:a16="http://schemas.microsoft.com/office/drawing/2014/main" id="{30B8C991-17A3-1B62-F468-83F42FBF319B}"/>
                  </a:ext>
                </a:extLst>
              </p:cNvPr>
              <p:cNvGraphicFramePr>
                <a:graphicFrameLocks noGrp="1"/>
              </p:cNvGraphicFramePr>
              <p:nvPr>
                <p:ph type="tbl" sz="quarter" idx="22"/>
                <p:extLst>
                  <p:ext uri="{D42A27DB-BD31-4B8C-83A1-F6EECF244321}">
                    <p14:modId xmlns:p14="http://schemas.microsoft.com/office/powerpoint/2010/main" val="1564608164"/>
                  </p:ext>
                </p:extLst>
              </p:nvPr>
            </p:nvGraphicFramePr>
            <p:xfrm>
              <a:off x="8254718" y="1395428"/>
              <a:ext cx="3067986" cy="256421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87997935"/>
                        </a:ext>
                      </a:extLst>
                    </a:gridCol>
                    <a:gridCol w="748342">
                      <a:extLst>
                        <a:ext uri="{9D8B030D-6E8A-4147-A177-3AD203B41FA5}">
                          <a16:colId xmlns:a16="http://schemas.microsoft.com/office/drawing/2014/main" val="2879349729"/>
                        </a:ext>
                      </a:extLst>
                    </a:gridCol>
                    <a:gridCol w="748342">
                      <a:extLst>
                        <a:ext uri="{9D8B030D-6E8A-4147-A177-3AD203B41FA5}">
                          <a16:colId xmlns:a16="http://schemas.microsoft.com/office/drawing/2014/main" val="2432629871"/>
                        </a:ext>
                      </a:extLst>
                    </a:gridCol>
                    <a:gridCol w="748342">
                      <a:extLst>
                        <a:ext uri="{9D8B030D-6E8A-4147-A177-3AD203B41FA5}">
                          <a16:colId xmlns:a16="http://schemas.microsoft.com/office/drawing/2014/main" val="3135418434"/>
                        </a:ext>
                      </a:extLst>
                    </a:gridCol>
                  </a:tblGrid>
                  <a:tr h="365760">
                    <a:tc>
                      <a:txBody>
                        <a:bodyPr/>
                        <a:lstStyle/>
                        <a:p>
                          <a:pPr algn="l" fontAlgn="b"/>
                          <a:r>
                            <a:rPr lang="en-US" sz="1600" b="1" i="0" u="none" strike="noStrike" dirty="0">
                              <a:solidFill>
                                <a:srgbClr val="000000"/>
                              </a:solidFill>
                              <a:effectLst/>
                              <a:latin typeface="+mn-lt"/>
                            </a:rPr>
                            <a:t> </a:t>
                          </a:r>
                          <a:r>
                            <a:rPr lang="en-US" sz="1600" b="1" i="0" u="none" strike="noStrike" dirty="0">
                              <a:solidFill>
                                <a:srgbClr val="0070C0"/>
                              </a:solidFill>
                              <a:effectLst/>
                              <a:latin typeface="+mn-lt"/>
                            </a:rPr>
                            <a:t>Method</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A</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B</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mn-lt"/>
                            </a:rPr>
                            <a:t>C</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10784014"/>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58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48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24282137"/>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mn-lt"/>
                            </a:rPr>
                            <a:t>64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17315980"/>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71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59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827002693"/>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mn-lt"/>
                            </a:rPr>
                            <a:t>66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47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667768510"/>
                      </a:ext>
                    </a:extLst>
                  </a:tr>
                  <a:tr h="261813">
                    <a:tc>
                      <a:txBody>
                        <a:bodyPr/>
                        <a:lstStyle/>
                        <a:p>
                          <a:pPr algn="l" fontAlgn="b"/>
                          <a:endParaRPr lang="en-US" sz="16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a:solidFill>
                                <a:srgbClr val="000000"/>
                              </a:solidFill>
                              <a:effectLst/>
                              <a:latin typeface="+mn-lt"/>
                            </a:rPr>
                            <a:t>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49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01958698"/>
                      </a:ext>
                    </a:extLst>
                  </a:tr>
                  <a:tr h="365760">
                    <a:tc>
                      <a:txBody>
                        <a:bodyPr/>
                        <a:lstStyle/>
                        <a:p>
                          <a:endParaRPr lang="en-US"/>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460000" r="-273333" b="-175000"/>
                          </a:stretch>
                        </a:blipFill>
                      </a:tcPr>
                    </a:tc>
                    <a:tc>
                      <a:txBody>
                        <a:bodyPr/>
                        <a:lstStyle/>
                        <a:p>
                          <a:pPr algn="ctr" fontAlgn="b"/>
                          <a:r>
                            <a:rPr lang="en-US" sz="1600" b="0" i="0" u="none" strike="noStrike" dirty="0">
                              <a:solidFill>
                                <a:srgbClr val="000000"/>
                              </a:solidFill>
                              <a:effectLst/>
                              <a:latin typeface="+mn-lt"/>
                            </a:rPr>
                            <a:t>62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66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135933084"/>
                      </a:ext>
                    </a:extLst>
                  </a:tr>
                  <a:tr h="261813">
                    <a:tc>
                      <a:txBody>
                        <a:bodyPr/>
                        <a:lstStyle/>
                        <a:p>
                          <a:endParaRPr lang="en-US"/>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781395" r="-273333" b="-144186"/>
                          </a:stretch>
                        </a:blipFill>
                      </a:tcPr>
                    </a:tc>
                    <a:tc>
                      <a:txBody>
                        <a:bodyPr/>
                        <a:lstStyle/>
                        <a:p>
                          <a:pPr algn="ctr" fontAlgn="ctr"/>
                          <a:r>
                            <a:rPr lang="en-US" sz="1600" b="0" i="0" u="none" strike="noStrike" dirty="0">
                              <a:solidFill>
                                <a:srgbClr val="000000"/>
                              </a:solidFill>
                              <a:effectLst/>
                              <a:latin typeface="+mn-lt"/>
                            </a:rPr>
                            <a:t>27.5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26.5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31.0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135632327"/>
                      </a:ext>
                    </a:extLst>
                  </a:tr>
                  <a:tr h="261813">
                    <a:tc>
                      <a:txBody>
                        <a:bodyPr/>
                        <a:lstStyle/>
                        <a:p>
                          <a:endParaRPr lang="en-US"/>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881395" r="-273333" b="-44186"/>
                          </a:stretch>
                        </a:blipFill>
                      </a:tcPr>
                    </a:tc>
                    <a:tc>
                      <a:txBody>
                        <a:bodyPr/>
                        <a:lstStyle/>
                        <a:p>
                          <a:pPr algn="ctr" fontAlgn="ctr"/>
                          <a:r>
                            <a:rPr lang="en-US" sz="1600" b="0" i="0" u="none" strike="noStrike" dirty="0">
                              <a:solidFill>
                                <a:srgbClr val="000000"/>
                              </a:solidFill>
                              <a:effectLst/>
                              <a:latin typeface="+mn-lt"/>
                            </a:rPr>
                            <a:t>5.244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5.148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ctr"/>
                          <a:r>
                            <a:rPr lang="en-US" sz="1600" b="0" i="0" u="none" strike="noStrike" dirty="0">
                              <a:solidFill>
                                <a:srgbClr val="000000"/>
                              </a:solidFill>
                              <a:effectLst/>
                              <a:latin typeface="+mn-lt"/>
                            </a:rPr>
                            <a:t>5.568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696551"/>
                      </a:ext>
                    </a:extLst>
                  </a:tr>
                </a:tbl>
              </a:graphicData>
            </a:graphic>
          </p:graphicFrame>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536C1A1-67D9-8091-B2DF-77E63E72C219}"/>
                  </a:ext>
                </a:extLst>
              </p:cNvPr>
              <p:cNvSpPr>
                <a:spLocks noGrp="1"/>
              </p:cNvSpPr>
              <p:nvPr>
                <p:ph type="body" sz="quarter" idx="18"/>
              </p:nvPr>
            </p:nvSpPr>
            <p:spPr>
              <a:xfrm>
                <a:off x="793194" y="4283332"/>
                <a:ext cx="10529510" cy="1392849"/>
              </a:xfrm>
            </p:spPr>
            <p:txBody>
              <a:bodyPr>
                <a:normAutofit/>
              </a:bodyPr>
              <a:lstStyle/>
              <a:p>
                <a:r>
                  <a:rPr lang="en-US" sz="2000" dirty="0"/>
                  <a:t>In statistical terms, we write the hypotheses as follows, with index 1 corresponding to method A, index 2 to method B, and index 3 to method C.</a:t>
                </a:r>
              </a:p>
              <a:p>
                <a:pPr marL="914400"/>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3</m:t>
                        </m:r>
                      </m:sub>
                    </m:sSub>
                  </m:oMath>
                </a14:m>
                <a:endParaRPr lang="en-US" sz="2000" dirty="0"/>
              </a:p>
              <a:p>
                <a:pPr marL="914400"/>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𝑎</m:t>
                        </m:r>
                      </m:sub>
                    </m:sSub>
                    <m:r>
                      <a:rPr lang="en-US" sz="2000" b="0" i="1" smtClean="0">
                        <a:latin typeface="Cambria Math" panose="02040503050406030204" pitchFamily="18" charset="0"/>
                      </a:rPr>
                      <m:t>:</m:t>
                    </m:r>
                  </m:oMath>
                </a14:m>
                <a:r>
                  <a:rPr lang="en-US" sz="2000" dirty="0"/>
                  <a:t> Not all population means are equal</a:t>
                </a:r>
              </a:p>
            </p:txBody>
          </p:sp>
        </mc:Choice>
        <mc:Fallback xmlns="">
          <p:sp>
            <p:nvSpPr>
              <p:cNvPr id="5" name="Text Placeholder 4">
                <a:extLst>
                  <a:ext uri="{FF2B5EF4-FFF2-40B4-BE49-F238E27FC236}">
                    <a16:creationId xmlns:a16="http://schemas.microsoft.com/office/drawing/2014/main" id="{3536C1A1-67D9-8091-B2DF-77E63E72C219}"/>
                  </a:ext>
                </a:extLst>
              </p:cNvPr>
              <p:cNvSpPr>
                <a:spLocks noGrp="1" noRot="1" noChangeAspect="1" noMove="1" noResize="1" noEditPoints="1" noAdjustHandles="1" noChangeArrowheads="1" noChangeShapeType="1" noTextEdit="1"/>
              </p:cNvSpPr>
              <p:nvPr>
                <p:ph type="body" sz="quarter" idx="18"/>
              </p:nvPr>
            </p:nvSpPr>
            <p:spPr>
              <a:xfrm>
                <a:off x="793194" y="4283332"/>
                <a:ext cx="10529510" cy="1392849"/>
              </a:xfrm>
              <a:blipFill>
                <a:blip r:embed="rId3"/>
                <a:stretch>
                  <a:fillRect l="-1448" t="-7456" r="-1274" b="-8333"/>
                </a:stretch>
              </a:blipFill>
            </p:spPr>
            <p:txBody>
              <a:bodyPr/>
              <a:lstStyle/>
              <a:p>
                <a:r>
                  <a:rPr lang="en-US">
                    <a:noFill/>
                  </a:rPr>
                  <a:t> </a:t>
                </a:r>
              </a:p>
            </p:txBody>
          </p:sp>
        </mc:Fallback>
      </mc:AlternateContent>
    </p:spTree>
    <p:extLst>
      <p:ext uri="{BB962C8B-B14F-4D97-AF65-F5344CB8AC3E}">
        <p14:creationId xmlns:p14="http://schemas.microsoft.com/office/powerpoint/2010/main" val="237807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13.1 Assumptions for Analysis of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81959"/>
                <a:ext cx="10711543" cy="4114801"/>
              </a:xfrm>
            </p:spPr>
            <p:txBody>
              <a:bodyPr/>
              <a:lstStyle/>
              <a:p>
                <a:pPr>
                  <a:lnSpc>
                    <a:spcPct val="100000"/>
                  </a:lnSpc>
                  <a:spcBef>
                    <a:spcPts val="600"/>
                  </a:spcBef>
                </a:pPr>
                <a:r>
                  <a:rPr lang="en-US" sz="2000" b="1" dirty="0">
                    <a:cs typeface="Arial" panose="020B0604020202020204" pitchFamily="34" charset="0"/>
                  </a:rPr>
                  <a:t>A</a:t>
                </a:r>
                <a:r>
                  <a:rPr lang="en-US" sz="2000" b="1" dirty="0">
                    <a:solidFill>
                      <a:srgbClr val="000000"/>
                    </a:solidFill>
                    <a:cs typeface="Arial" panose="020B0604020202020204" pitchFamily="34" charset="0"/>
                  </a:rPr>
                  <a:t>nalysis of variance </a:t>
                </a:r>
                <a:r>
                  <a:rPr lang="en-US" sz="2000" dirty="0">
                    <a:solidFill>
                      <a:srgbClr val="000000"/>
                    </a:solidFill>
                    <a:cs typeface="Arial" panose="020B0604020202020204" pitchFamily="34" charset="0"/>
                  </a:rPr>
                  <a:t>(ANOVA) is the statistical procedure used to determine whether the observed differences in the three sample means are large enough to reject the null hypothesis.</a:t>
                </a:r>
              </a:p>
              <a:p>
                <a:pPr>
                  <a:lnSpc>
                    <a:spcPct val="100000"/>
                  </a:lnSpc>
                  <a:spcBef>
                    <a:spcPts val="600"/>
                  </a:spcBef>
                </a:pPr>
                <a:r>
                  <a:rPr lang="en-US" sz="2000" dirty="0">
                    <a:solidFill>
                      <a:srgbClr val="000000"/>
                    </a:solidFill>
                    <a:cs typeface="Arial" panose="020B0604020202020204" pitchFamily="34" charset="0"/>
                  </a:rPr>
                  <a:t>Three assumptions are required to conduct an analysis of variance.</a:t>
                </a:r>
              </a:p>
              <a:p>
                <a:pPr marL="685800" indent="-457200">
                  <a:lnSpc>
                    <a:spcPct val="100000"/>
                  </a:lnSpc>
                  <a:spcBef>
                    <a:spcPts val="600"/>
                  </a:spcBef>
                  <a:buFont typeface="+mj-lt"/>
                  <a:buAutoNum type="arabicPeriod"/>
                </a:pPr>
                <a:r>
                  <a:rPr lang="en-US" sz="2000" b="1" dirty="0">
                    <a:solidFill>
                      <a:srgbClr val="000000"/>
                    </a:solidFill>
                    <a:cs typeface="Arial" panose="020B0604020202020204" pitchFamily="34" charset="0"/>
                  </a:rPr>
                  <a:t>For each population, the response variable is normally distributed</a:t>
                </a:r>
                <a:r>
                  <a:rPr lang="en-US" sz="2000" dirty="0">
                    <a:solidFill>
                      <a:srgbClr val="000000"/>
                    </a:solidFill>
                    <a:cs typeface="Arial" panose="020B0604020202020204" pitchFamily="34" charset="0"/>
                  </a:rPr>
                  <a:t>.</a:t>
                </a:r>
              </a:p>
              <a:p>
                <a:pPr marL="914400" lvl="1" indent="0">
                  <a:lnSpc>
                    <a:spcPct val="100000"/>
                  </a:lnSpc>
                  <a:spcBef>
                    <a:spcPts val="600"/>
                  </a:spcBef>
                  <a:buNone/>
                </a:pPr>
                <a:r>
                  <a:rPr lang="en-US" sz="1800" dirty="0">
                    <a:solidFill>
                      <a:srgbClr val="000000"/>
                    </a:solidFill>
                    <a:latin typeface="Arial" panose="020B0604020202020204" pitchFamily="34" charset="0"/>
                    <a:cs typeface="Arial" panose="020B0604020202020204" pitchFamily="34" charset="0"/>
                  </a:rPr>
                  <a:t>Implication: In the Chemitech experiment, the number of units produced per week (response variable) must be normally distributed for each assembly method.</a:t>
                </a:r>
              </a:p>
              <a:p>
                <a:pPr marL="685800" indent="-457200">
                  <a:lnSpc>
                    <a:spcPct val="100000"/>
                  </a:lnSpc>
                  <a:spcBef>
                    <a:spcPts val="600"/>
                  </a:spcBef>
                  <a:buFont typeface="+mj-lt"/>
                  <a:buAutoNum type="arabicPeriod"/>
                </a:pPr>
                <a:r>
                  <a:rPr lang="en-US" sz="2000" b="1" dirty="0">
                    <a:solidFill>
                      <a:srgbClr val="000000"/>
                    </a:solidFill>
                    <a:cs typeface="Arial" panose="020B0604020202020204" pitchFamily="34" charset="0"/>
                  </a:rPr>
                  <a:t>The variance of the response variable, </a:t>
                </a:r>
                <a14:m>
                  <m:oMath xmlns:m="http://schemas.openxmlformats.org/officeDocument/2006/math">
                    <m:sSup>
                      <m:sSupPr>
                        <m:ctrlPr>
                          <a:rPr lang="en-US" sz="2000" b="1" i="1" smtClean="0">
                            <a:solidFill>
                              <a:srgbClr val="000000"/>
                            </a:solidFill>
                            <a:latin typeface="Cambria Math" panose="02040503050406030204" pitchFamily="18" charset="0"/>
                            <a:cs typeface="Arial" panose="020B0604020202020204" pitchFamily="34" charset="0"/>
                          </a:rPr>
                        </m:ctrlPr>
                      </m:sSupPr>
                      <m:e>
                        <m:r>
                          <a:rPr lang="en-US" sz="2000" b="1"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𝝈</m:t>
                        </m:r>
                      </m:e>
                      <m:sup>
                        <m:r>
                          <a:rPr lang="en-US" sz="2000" b="1" i="1" smtClean="0">
                            <a:solidFill>
                              <a:srgbClr val="000000"/>
                            </a:solidFill>
                            <a:latin typeface="Cambria Math" panose="02040503050406030204" pitchFamily="18" charset="0"/>
                            <a:cs typeface="Arial" panose="020B0604020202020204" pitchFamily="34" charset="0"/>
                          </a:rPr>
                          <m:t>𝟐</m:t>
                        </m:r>
                      </m:sup>
                    </m:sSup>
                  </m:oMath>
                </a14:m>
                <a:r>
                  <a:rPr lang="en-US" sz="2000" b="1" dirty="0">
                    <a:solidFill>
                      <a:srgbClr val="000000"/>
                    </a:solidFill>
                    <a:cs typeface="Arial" panose="020B0604020202020204" pitchFamily="34" charset="0"/>
                  </a:rPr>
                  <a:t>, is the same for all of the populations</a:t>
                </a:r>
                <a:r>
                  <a:rPr lang="en-US" sz="2000" dirty="0">
                    <a:solidFill>
                      <a:srgbClr val="000000"/>
                    </a:solidFill>
                    <a:cs typeface="Arial" panose="020B0604020202020204" pitchFamily="34" charset="0"/>
                  </a:rPr>
                  <a:t>. </a:t>
                </a:r>
              </a:p>
              <a:p>
                <a:pPr marL="914400" lvl="1" indent="0">
                  <a:lnSpc>
                    <a:spcPct val="100000"/>
                  </a:lnSpc>
                  <a:spcBef>
                    <a:spcPts val="600"/>
                  </a:spcBef>
                  <a:buNone/>
                </a:pPr>
                <a:r>
                  <a:rPr lang="en-US" sz="1800" dirty="0">
                    <a:solidFill>
                      <a:srgbClr val="000000"/>
                    </a:solidFill>
                    <a:latin typeface="Arial" panose="020B0604020202020204" pitchFamily="34" charset="0"/>
                    <a:cs typeface="Arial" panose="020B0604020202020204" pitchFamily="34" charset="0"/>
                  </a:rPr>
                  <a:t>Implication: In the Chemitech experiment, the variance of the number of units produced per week must be the same for each assembly method.</a:t>
                </a:r>
              </a:p>
              <a:p>
                <a:pPr marL="685800" indent="-457200">
                  <a:lnSpc>
                    <a:spcPct val="100000"/>
                  </a:lnSpc>
                  <a:spcBef>
                    <a:spcPts val="600"/>
                  </a:spcBef>
                  <a:buFont typeface="+mj-lt"/>
                  <a:buAutoNum type="arabicPeriod"/>
                </a:pPr>
                <a:r>
                  <a:rPr lang="en-US" sz="2000" b="1" dirty="0">
                    <a:solidFill>
                      <a:srgbClr val="000000"/>
                    </a:solidFill>
                    <a:cs typeface="Arial" panose="020B0604020202020204" pitchFamily="34" charset="0"/>
                  </a:rPr>
                  <a:t>The observations must be independent</a:t>
                </a:r>
                <a:r>
                  <a:rPr lang="en-US" sz="2000" dirty="0">
                    <a:solidFill>
                      <a:srgbClr val="000000"/>
                    </a:solidFill>
                    <a:cs typeface="Arial" panose="020B0604020202020204" pitchFamily="34" charset="0"/>
                  </a:rPr>
                  <a:t>.</a:t>
                </a:r>
              </a:p>
              <a:p>
                <a:pPr marL="914400" lvl="1" indent="0">
                  <a:lnSpc>
                    <a:spcPct val="100000"/>
                  </a:lnSpc>
                  <a:spcBef>
                    <a:spcPts val="600"/>
                  </a:spcBef>
                  <a:buNone/>
                </a:pPr>
                <a:r>
                  <a:rPr lang="en-US" sz="1800" dirty="0">
                    <a:solidFill>
                      <a:srgbClr val="000000"/>
                    </a:solidFill>
                    <a:latin typeface="Arial" panose="020B0604020202020204" pitchFamily="34" charset="0"/>
                    <a:cs typeface="Arial" panose="020B0604020202020204" pitchFamily="34" charset="0"/>
                  </a:rPr>
                  <a:t>Implication: In the Chemitech experi­ment, the number of units produced per week for each worker must be independ­ent of the number of units produced per week for any other worker.</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81959"/>
                <a:ext cx="10711543" cy="4114801"/>
              </a:xfrm>
              <a:blipFill>
                <a:blip r:embed="rId2"/>
                <a:stretch>
                  <a:fillRect l="-1422" t="-1778" r="-1877" b="-1185"/>
                </a:stretch>
              </a:blipFill>
            </p:spPr>
            <p:txBody>
              <a:bodyPr/>
              <a:lstStyle/>
              <a:p>
                <a:r>
                  <a:rPr lang="en-US">
                    <a:noFill/>
                  </a:rPr>
                  <a:t> </a:t>
                </a:r>
              </a:p>
            </p:txBody>
          </p:sp>
        </mc:Fallback>
      </mc:AlternateContent>
    </p:spTree>
    <p:extLst>
      <p:ext uri="{BB962C8B-B14F-4D97-AF65-F5344CB8AC3E}">
        <p14:creationId xmlns:p14="http://schemas.microsoft.com/office/powerpoint/2010/main" val="3807914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a:xfrm>
                <a:off x="441436" y="365125"/>
                <a:ext cx="11290738" cy="672105"/>
              </a:xfrm>
            </p:spPr>
            <p:txBody>
              <a:bodyPr/>
              <a:lstStyle/>
              <a:p>
                <a:r>
                  <a:rPr lang="en-US" sz="3200" dirty="0"/>
                  <a:t>13.1 Analysis of Variance: a Conceptual Overview of the Sampling Distribution of </a:t>
                </a:r>
                <a14:m>
                  <m:oMath xmlns:m="http://schemas.openxmlformats.org/officeDocument/2006/math">
                    <m:acc>
                      <m:accPr>
                        <m:chr m:val="̅"/>
                        <m:ctrlPr>
                          <a:rPr lang="en-US" sz="3200" i="1" dirty="0" smtClean="0">
                            <a:latin typeface="Cambria Math" panose="02040503050406030204" pitchFamily="18" charset="0"/>
                          </a:rPr>
                        </m:ctrlPr>
                      </m:accPr>
                      <m:e>
                        <m:r>
                          <a:rPr lang="en-US" sz="3200" b="1" i="1" dirty="0">
                            <a:latin typeface="Cambria Math" panose="02040503050406030204" pitchFamily="18" charset="0"/>
                          </a:rPr>
                          <m:t>𝒙</m:t>
                        </m:r>
                      </m:e>
                    </m:acc>
                  </m:oMath>
                </a14:m>
                <a:r>
                  <a:rPr lang="en-US" sz="3200" dirty="0"/>
                  <a:t> when </a:t>
                </a:r>
                <a:r>
                  <a:rPr lang="en-US" sz="3200" i="1" dirty="0"/>
                  <a:t>H</a:t>
                </a:r>
                <a:r>
                  <a:rPr lang="en-US" sz="3200" baseline="-25000" dirty="0"/>
                  <a:t>0</a:t>
                </a:r>
                <a:r>
                  <a:rPr lang="en-US" sz="3200" dirty="0"/>
                  <a:t> Is True</a:t>
                </a:r>
              </a:p>
            </p:txBody>
          </p:sp>
        </mc:Choice>
        <mc:Fallback xmlns="">
          <p:sp>
            <p:nvSpPr>
              <p:cNvPr id="2" name="Title 1">
                <a:extLst>
                  <a:ext uri="{FF2B5EF4-FFF2-40B4-BE49-F238E27FC236}">
                    <a16:creationId xmlns:a16="http://schemas.microsoft.com/office/drawing/2014/main" id="{6EB4563C-542A-D08C-1A11-F2F943F613B0}"/>
                  </a:ext>
                </a:extLst>
              </p:cNvPr>
              <p:cNvSpPr>
                <a:spLocks noGrp="1" noRot="1" noChangeAspect="1" noMove="1" noResize="1" noEditPoints="1" noAdjustHandles="1" noChangeArrowheads="1" noChangeShapeType="1" noTextEdit="1"/>
              </p:cNvSpPr>
              <p:nvPr>
                <p:ph type="title"/>
              </p:nvPr>
            </p:nvSpPr>
            <p:spPr>
              <a:xfrm>
                <a:off x="441436" y="365125"/>
                <a:ext cx="11290738" cy="672105"/>
              </a:xfrm>
              <a:blipFill>
                <a:blip r:embed="rId3"/>
                <a:stretch>
                  <a:fillRect t="-26364" r="-809"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42950" y="1710559"/>
                <a:ext cx="10599712" cy="1355833"/>
              </a:xfrm>
            </p:spPr>
            <p:txBody>
              <a:bodyPr/>
              <a:lstStyle/>
              <a:p>
                <a:r>
                  <a:rPr lang="en-US" sz="2000" dirty="0"/>
                  <a:t>if we assume the null hypothesis true, we can think of each of the three sample means, </a:t>
                </a:r>
                <a14:m>
                  <m:oMath xmlns:m="http://schemas.openxmlformats.org/officeDocument/2006/math">
                    <m:sSub>
                      <m:sSubPr>
                        <m:ctrlPr>
                          <a:rPr lang="en-US" sz="2000" i="1" dirty="0" smtClean="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e>
                      <m:sub>
                        <m:r>
                          <a:rPr lang="en-US" sz="2000" b="0" i="1" dirty="0" smtClean="0">
                            <a:latin typeface="Cambria Math" panose="02040503050406030204" pitchFamily="18" charset="0"/>
                          </a:rPr>
                          <m:t>1</m:t>
                        </m:r>
                      </m:sub>
                    </m:sSub>
                    <m:r>
                      <a:rPr lang="en-US" sz="2000" i="1" dirty="0" smtClean="0">
                        <a:latin typeface="Cambria Math" panose="02040503050406030204" pitchFamily="18" charset="0"/>
                      </a:rPr>
                      <m:t>=62</m:t>
                    </m:r>
                  </m:oMath>
                </a14:m>
                <a:r>
                  <a:rPr lang="en-US" sz="2000" dirty="0"/>
                  <a:t>, </a:t>
                </a:r>
                <a14:m>
                  <m:oMath xmlns:m="http://schemas.openxmlformats.org/officeDocument/2006/math">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e>
                      <m:sub>
                        <m:r>
                          <a:rPr lang="en-US" sz="2000" b="0" i="1" dirty="0" smtClean="0">
                            <a:latin typeface="Cambria Math" panose="02040503050406030204" pitchFamily="18" charset="0"/>
                          </a:rPr>
                          <m:t>2</m:t>
                        </m:r>
                      </m:sub>
                    </m:sSub>
                    <m:r>
                      <a:rPr lang="en-US" sz="2000" i="1" dirty="0" smtClean="0">
                        <a:latin typeface="Cambria Math" panose="02040503050406030204" pitchFamily="18" charset="0"/>
                      </a:rPr>
                      <m:t>=66</m:t>
                    </m:r>
                  </m:oMath>
                </a14:m>
                <a:r>
                  <a:rPr lang="en-US" sz="2000" dirty="0"/>
                  <a:t>, and</a:t>
                </a:r>
                <a14:m>
                  <m:oMath xmlns:m="http://schemas.openxmlformats.org/officeDocument/2006/math">
                    <m:r>
                      <a:rPr lang="en-US" sz="2000" b="0" i="0" dirty="0" smtClean="0">
                        <a:latin typeface="Cambria Math" panose="02040503050406030204" pitchFamily="18" charset="0"/>
                      </a:rPr>
                      <m:t> </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e>
                      <m:sub>
                        <m:r>
                          <a:rPr lang="en-US" sz="2000" b="0" i="1" dirty="0" smtClean="0">
                            <a:latin typeface="Cambria Math" panose="02040503050406030204" pitchFamily="18" charset="0"/>
                          </a:rPr>
                          <m:t>3</m:t>
                        </m:r>
                      </m:sub>
                    </m:sSub>
                    <m:r>
                      <a:rPr lang="en-US" sz="2000" i="1" dirty="0" smtClean="0">
                        <a:latin typeface="Cambria Math" panose="02040503050406030204" pitchFamily="18" charset="0"/>
                      </a:rPr>
                      <m:t>=52</m:t>
                    </m:r>
                  </m:oMath>
                </a14:m>
                <a:r>
                  <a:rPr lang="en-US" sz="2000" dirty="0"/>
                  <a:t> as values drawn at random from the same sampling distribution of </a:t>
                </a:r>
                <a14:m>
                  <m:oMath xmlns:m="http://schemas.openxmlformats.org/officeDocument/2006/math">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a:t>
                </a:r>
              </a:p>
              <a:p>
                <a:r>
                  <a:rPr lang="en-US" sz="2000" dirty="0"/>
                  <a:t>In this case, we can use the three sample means to estimate mean and variance of the sampling distribution of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as follows.</a:t>
                </a:r>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742950" y="1710559"/>
                <a:ext cx="10599712" cy="1355833"/>
              </a:xfrm>
              <a:blipFill>
                <a:blip r:embed="rId4"/>
                <a:stretch>
                  <a:fillRect l="-1495" t="-5405" r="-2185" b="-72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536C1A1-67D9-8091-B2DF-77E63E72C219}"/>
                  </a:ext>
                </a:extLst>
              </p:cNvPr>
              <p:cNvSpPr>
                <a:spLocks noGrp="1"/>
              </p:cNvSpPr>
              <p:nvPr>
                <p:ph type="body" sz="quarter" idx="17"/>
              </p:nvPr>
            </p:nvSpPr>
            <p:spPr>
              <a:xfrm>
                <a:off x="742950" y="3113690"/>
                <a:ext cx="7620658" cy="2814143"/>
              </a:xfrm>
            </p:spPr>
            <p:txBody>
              <a:bodyPr/>
              <a:lstStyle/>
              <a:p>
                <a:pPr>
                  <a:spcAft>
                    <a:spcPts val="600"/>
                  </a:spcAft>
                </a:pPr>
                <a:r>
                  <a:rPr lang="en-US" sz="2000" dirty="0"/>
                  <a:t>The overall sample mean: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r>
                              <a:rPr lang="en-US" sz="2000" b="0" i="1" smtClean="0">
                                <a:latin typeface="Cambria Math" panose="02040503050406030204" pitchFamily="18" charset="0"/>
                              </a:rPr>
                              <m:t>62+66+52</m:t>
                            </m:r>
                          </m:e>
                        </m:d>
                      </m:num>
                      <m:den>
                        <m:r>
                          <a:rPr lang="en-US" sz="2000" b="0" i="1" smtClean="0">
                            <a:latin typeface="Cambria Math" panose="02040503050406030204" pitchFamily="18" charset="0"/>
                          </a:rPr>
                          <m:t>3</m:t>
                        </m:r>
                      </m:den>
                    </m:f>
                    <m:r>
                      <a:rPr lang="en-US" sz="2000" b="0" i="1" smtClean="0">
                        <a:latin typeface="Cambria Math" panose="02040503050406030204" pitchFamily="18" charset="0"/>
                      </a:rPr>
                      <m:t>=60</m:t>
                    </m:r>
                  </m:oMath>
                </a14:m>
                <a:r>
                  <a:rPr lang="en-US" sz="2000" dirty="0"/>
                  <a:t> </a:t>
                </a:r>
              </a:p>
              <a:p>
                <a:pPr>
                  <a:spcAft>
                    <a:spcPts val="600"/>
                  </a:spcAft>
                </a:pPr>
                <a:r>
                  <a:rPr lang="en-US" sz="2000" dirty="0"/>
                  <a:t>Variance of the sample means: </a:t>
                </a:r>
              </a:p>
              <a:p>
                <a:pPr marL="457200">
                  <a:spcAft>
                    <a:spcPts val="600"/>
                  </a:spcAft>
                </a:pP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𝑠</m:t>
                        </m:r>
                      </m:e>
                      <m:sub>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d>
                          <m:dPr>
                            <m:begChr m:val="["/>
                            <m:endChr m:val="]"/>
                            <m:ctrlPr>
                              <a:rPr lang="en-US" sz="2000" i="1">
                                <a:latin typeface="Cambria Math" panose="02040503050406030204" pitchFamily="18" charset="0"/>
                              </a:rPr>
                            </m:ctrlPr>
                          </m:dPr>
                          <m:e>
                            <m:sSup>
                              <m:sSupPr>
                                <m:ctrlPr>
                                  <a:rPr lang="en-US" sz="2000" i="1" smtClean="0">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62−60</m:t>
                                    </m:r>
                                  </m:e>
                                </m:d>
                              </m:e>
                              <m:sup>
                                <m:r>
                                  <a:rPr lang="en-US" sz="2000" b="0" i="1" smtClean="0">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6</m:t>
                                    </m:r>
                                    <m:r>
                                      <a:rPr lang="en-US" sz="2000" b="0" i="1" smtClean="0">
                                        <a:latin typeface="Cambria Math" panose="02040503050406030204" pitchFamily="18" charset="0"/>
                                      </a:rPr>
                                      <m:t>6</m:t>
                                    </m:r>
                                    <m:r>
                                      <a:rPr lang="en-US" sz="2000" i="1">
                                        <a:latin typeface="Cambria Math" panose="02040503050406030204" pitchFamily="18" charset="0"/>
                                      </a:rPr>
                                      <m:t>−60</m:t>
                                    </m:r>
                                  </m:e>
                                </m:d>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b="0" i="1" smtClean="0">
                                        <a:latin typeface="Cambria Math" panose="02040503050406030204" pitchFamily="18" charset="0"/>
                                      </a:rPr>
                                      <m:t>5</m:t>
                                    </m:r>
                                    <m:r>
                                      <a:rPr lang="en-US" sz="2000" i="1">
                                        <a:latin typeface="Cambria Math" panose="02040503050406030204" pitchFamily="18" charset="0"/>
                                      </a:rPr>
                                      <m:t>2−60</m:t>
                                    </m:r>
                                  </m:e>
                                </m:d>
                              </m:e>
                              <m:sup>
                                <m:r>
                                  <a:rPr lang="en-US" sz="2000" i="1">
                                    <a:latin typeface="Cambria Math" panose="02040503050406030204" pitchFamily="18" charset="0"/>
                                  </a:rPr>
                                  <m:t>2</m:t>
                                </m:r>
                              </m:sup>
                            </m:sSup>
                          </m:e>
                        </m:d>
                      </m:num>
                      <m:den>
                        <m:r>
                          <a:rPr lang="en-US" sz="2000" b="0" i="1" smtClean="0">
                            <a:latin typeface="Cambria Math" panose="02040503050406030204" pitchFamily="18" charset="0"/>
                          </a:rPr>
                          <m:t>(3−1)</m:t>
                        </m:r>
                      </m:den>
                    </m:f>
                    <m:r>
                      <a:rPr lang="en-US" sz="2000" b="0" i="1" smtClean="0">
                        <a:latin typeface="Cambria Math" panose="02040503050406030204" pitchFamily="18" charset="0"/>
                      </a:rPr>
                      <m:t>=52</m:t>
                    </m:r>
                  </m:oMath>
                </a14:m>
                <a:r>
                  <a:rPr lang="en-US" sz="2000" dirty="0"/>
                  <a:t> </a:t>
                </a:r>
              </a:p>
              <a:p>
                <a:pPr>
                  <a:spcAft>
                    <a:spcPts val="600"/>
                  </a:spcAft>
                </a:pPr>
                <a:r>
                  <a:rPr lang="en-US" sz="2000" dirty="0"/>
                  <a:t>Because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𝜎</m:t>
                        </m:r>
                      </m:e>
                      <m:sub>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𝑛</m:t>
                        </m:r>
                      </m:den>
                    </m:f>
                  </m:oMath>
                </a14:m>
                <a:r>
                  <a:rPr lang="en-US" sz="2000" dirty="0"/>
                  <a:t>, solving for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oMath>
                </a14:m>
                <a:r>
                  <a:rPr lang="en-US" sz="2000" dirty="0"/>
                  <a:t> gives</a:t>
                </a:r>
              </a:p>
              <a:p>
                <a:pPr marL="457200">
                  <a:spcAft>
                    <a:spcPts val="600"/>
                  </a:spcAft>
                </a:pPr>
                <a14:m>
                  <m:oMath xmlns:m="http://schemas.openxmlformats.org/officeDocument/2006/math">
                    <m:r>
                      <m:rPr>
                        <m:nor/>
                      </m:rPr>
                      <a:rPr lang="en-US" sz="2000" i="0" dirty="0" smtClean="0">
                        <a:latin typeface="Arial" panose="020B0604020202020204" pitchFamily="34" charset="0"/>
                        <a:cs typeface="Arial" panose="020B0604020202020204" pitchFamily="34" charset="0"/>
                      </a:rPr>
                      <m:t>Estimate</m:t>
                    </m:r>
                    <m:r>
                      <m:rPr>
                        <m:nor/>
                      </m:rPr>
                      <a:rPr lang="en-US" sz="2000" i="0" dirty="0" smtClean="0">
                        <a:latin typeface="Arial" panose="020B0604020202020204" pitchFamily="34" charset="0"/>
                        <a:cs typeface="Arial" panose="020B0604020202020204" pitchFamily="34" charset="0"/>
                      </a:rPr>
                      <m:t> </m:t>
                    </m:r>
                    <m:r>
                      <m:rPr>
                        <m:nor/>
                      </m:rPr>
                      <a:rPr lang="en-US" sz="2000" i="0" dirty="0" smtClean="0">
                        <a:latin typeface="Arial" panose="020B0604020202020204" pitchFamily="34" charset="0"/>
                        <a:cs typeface="Arial" panose="020B0604020202020204" pitchFamily="34" charset="0"/>
                      </a:rPr>
                      <m:t>of</m:t>
                    </m:r>
                    <m:r>
                      <m:rPr>
                        <m:nor/>
                      </m:rPr>
                      <a:rPr lang="en-US" sz="2000" i="0" dirty="0" smtClean="0">
                        <a:latin typeface="Arial" panose="020B0604020202020204" pitchFamily="34" charset="0"/>
                        <a:cs typeface="Arial" panose="020B0604020202020204" pitchFamily="34"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r>
                      <a:rPr lang="en-US" sz="2000" i="1" dirty="0" smtClean="0">
                        <a:latin typeface="Cambria Math" panose="02040503050406030204" pitchFamily="18" charset="0"/>
                      </a:rPr>
                      <m:t>=</m:t>
                    </m:r>
                    <m:r>
                      <a:rPr lang="en-US" sz="2000" i="1" dirty="0" smtClean="0">
                        <a:latin typeface="Cambria Math" panose="02040503050406030204" pitchFamily="18" charset="0"/>
                      </a:rPr>
                      <m:t>𝑛</m:t>
                    </m:r>
                    <m:r>
                      <a:rPr lang="en-US" sz="2000" i="1" dirty="0" smtClean="0">
                        <a:latin typeface="Cambria Math" panose="02040503050406030204" pitchFamily="18" charset="0"/>
                      </a:rPr>
                      <m:t>(</m:t>
                    </m:r>
                    <m:r>
                      <m:rPr>
                        <m:nor/>
                      </m:rPr>
                      <a:rPr lang="en-US" sz="2000" i="0" dirty="0" smtClean="0">
                        <a:latin typeface="Arial" panose="020B0604020202020204" pitchFamily="34" charset="0"/>
                        <a:cs typeface="Arial" panose="020B0604020202020204" pitchFamily="34" charset="0"/>
                      </a:rPr>
                      <m:t>Estimate</m:t>
                    </m:r>
                    <m:r>
                      <m:rPr>
                        <m:nor/>
                      </m:rPr>
                      <a:rPr lang="en-US" sz="2000" i="0" dirty="0" smtClean="0">
                        <a:latin typeface="Arial" panose="020B0604020202020204" pitchFamily="34" charset="0"/>
                        <a:cs typeface="Arial" panose="020B0604020202020204" pitchFamily="34" charset="0"/>
                      </a:rPr>
                      <m:t> </m:t>
                    </m:r>
                    <m:r>
                      <m:rPr>
                        <m:nor/>
                      </m:rPr>
                      <a:rPr lang="en-US" sz="2000" i="0" dirty="0" smtClean="0">
                        <a:latin typeface="Arial" panose="020B0604020202020204" pitchFamily="34" charset="0"/>
                        <a:cs typeface="Arial" panose="020B0604020202020204" pitchFamily="34" charset="0"/>
                      </a:rPr>
                      <m:t>of</m:t>
                    </m:r>
                    <m:r>
                      <m:rPr>
                        <m:nor/>
                      </m:rPr>
                      <a:rPr lang="en-US" sz="2000" i="0" dirty="0" smtClean="0">
                        <a:latin typeface="Arial" panose="020B0604020202020204" pitchFamily="34" charset="0"/>
                        <a:cs typeface="Arial" panose="020B0604020202020204" pitchFamily="34" charset="0"/>
                      </a:rPr>
                      <m:t> </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up>
                        <m:r>
                          <a:rPr lang="en-US" sz="2000" i="1">
                            <a:latin typeface="Cambria Math" panose="02040503050406030204" pitchFamily="18" charset="0"/>
                          </a:rPr>
                          <m:t>2</m:t>
                        </m:r>
                      </m:sup>
                    </m:sSubSup>
                    <m:r>
                      <a:rPr lang="en-US" sz="2000" i="1" dirty="0" smtClean="0">
                        <a:latin typeface="Cambria Math" panose="02040503050406030204" pitchFamily="18" charset="0"/>
                      </a:rPr>
                      <m:t>)=</m:t>
                    </m:r>
                    <m:r>
                      <a:rPr lang="en-US" sz="2000" i="1" dirty="0" smtClean="0">
                        <a:latin typeface="Cambria Math" panose="02040503050406030204" pitchFamily="18" charset="0"/>
                      </a:rPr>
                      <m:t>𝑛</m:t>
                    </m:r>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up>
                        <m:r>
                          <a:rPr lang="en-US" sz="2000" i="1">
                            <a:latin typeface="Cambria Math" panose="02040503050406030204" pitchFamily="18" charset="0"/>
                          </a:rPr>
                          <m:t>2</m:t>
                        </m:r>
                      </m:sup>
                    </m:sSubSup>
                    <m:r>
                      <a:rPr lang="en-US" sz="2000" i="1">
                        <a:latin typeface="Cambria Math" panose="02040503050406030204" pitchFamily="18" charset="0"/>
                      </a:rPr>
                      <m:t>=</m:t>
                    </m:r>
                    <m:r>
                      <a:rPr lang="en-US" sz="2000" i="1" dirty="0" smtClean="0">
                        <a:latin typeface="Cambria Math" panose="02040503050406030204" pitchFamily="18" charset="0"/>
                      </a:rPr>
                      <m:t>5(52)=260</m:t>
                    </m:r>
                  </m:oMath>
                </a14:m>
                <a:r>
                  <a:rPr lang="en-US" sz="2000" dirty="0">
                    <a:latin typeface="Arial" panose="020B0604020202020204" pitchFamily="34" charset="0"/>
                    <a:cs typeface="Arial" panose="020B0604020202020204" pitchFamily="34" charset="0"/>
                  </a:rPr>
                  <a:t> </a:t>
                </a:r>
              </a:p>
              <a:p>
                <a14:m>
                  <m:oMath xmlns:m="http://schemas.openxmlformats.org/officeDocument/2006/math">
                    <m:r>
                      <a:rPr lang="en-US" sz="2000" i="1" dirty="0" smtClean="0">
                        <a:latin typeface="Cambria Math" panose="02040503050406030204" pitchFamily="18" charset="0"/>
                      </a:rPr>
                      <m:t>𝑛</m:t>
                    </m:r>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up>
                        <m:r>
                          <a:rPr lang="en-US" sz="2000" i="1">
                            <a:latin typeface="Cambria Math" panose="02040503050406030204" pitchFamily="18" charset="0"/>
                          </a:rPr>
                          <m:t>2</m:t>
                        </m:r>
                      </m:sup>
                    </m:sSubSup>
                  </m:oMath>
                </a14:m>
                <a:r>
                  <a:rPr lang="en-US" sz="2000" dirty="0"/>
                  <a:t> is referred to as the </a:t>
                </a:r>
                <a:r>
                  <a:rPr lang="en-US" sz="2000" b="1" dirty="0"/>
                  <a:t>between-treatments</a:t>
                </a:r>
                <a:r>
                  <a:rPr lang="en-US" sz="2000" dirty="0"/>
                  <a:t> estimate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oMath>
                </a14:m>
                <a:r>
                  <a:rPr lang="en-US" sz="2000" dirty="0"/>
                  <a:t>.</a:t>
                </a:r>
              </a:p>
            </p:txBody>
          </p:sp>
        </mc:Choice>
        <mc:Fallback xmlns="">
          <p:sp>
            <p:nvSpPr>
              <p:cNvPr id="5" name="Text Placeholder 4">
                <a:extLst>
                  <a:ext uri="{FF2B5EF4-FFF2-40B4-BE49-F238E27FC236}">
                    <a16:creationId xmlns:a16="http://schemas.microsoft.com/office/drawing/2014/main" id="{3536C1A1-67D9-8091-B2DF-77E63E72C219}"/>
                  </a:ext>
                </a:extLst>
              </p:cNvPr>
              <p:cNvSpPr>
                <a:spLocks noGrp="1" noRot="1" noChangeAspect="1" noMove="1" noResize="1" noEditPoints="1" noAdjustHandles="1" noChangeArrowheads="1" noChangeShapeType="1" noTextEdit="1"/>
              </p:cNvSpPr>
              <p:nvPr>
                <p:ph type="body" sz="quarter" idx="17"/>
              </p:nvPr>
            </p:nvSpPr>
            <p:spPr>
              <a:xfrm>
                <a:off x="742950" y="3113690"/>
                <a:ext cx="7620658" cy="2814143"/>
              </a:xfrm>
              <a:blipFill>
                <a:blip r:embed="rId5"/>
                <a:stretch>
                  <a:fillRect l="-2080" t="-18004"/>
                </a:stretch>
              </a:blipFill>
            </p:spPr>
            <p:txBody>
              <a:bodyPr/>
              <a:lstStyle/>
              <a:p>
                <a:r>
                  <a:rPr lang="en-US">
                    <a:noFill/>
                  </a:rPr>
                  <a:t> </a:t>
                </a:r>
              </a:p>
            </p:txBody>
          </p:sp>
        </mc:Fallback>
      </mc:AlternateContent>
      <p:pic>
        <p:nvPicPr>
          <p:cNvPr id="10" name="Picture Placeholder 9" descr="A graph plots a sampling distribution. The horizontal axis lists x_3-bar, mu, x_1-bar, and x_2-bar. x_3-bar, x_1-bar, and x_2-bar are labeled “Sample means are close together because there is only one sampling distribution when H_0 is true.” A bell-shaped curve labeled “Sigma_s-bar^2 = sigma^2/n” peaks at mu.&#10;">
            <a:extLst>
              <a:ext uri="{FF2B5EF4-FFF2-40B4-BE49-F238E27FC236}">
                <a16:creationId xmlns:a16="http://schemas.microsoft.com/office/drawing/2014/main" id="{FE5ED2DA-19EB-FDEF-7637-1E218A798958}"/>
              </a:ext>
            </a:extLst>
          </p:cNvPr>
          <p:cNvPicPr>
            <a:picLocks noGrp="1" noChangeAspect="1"/>
          </p:cNvPicPr>
          <p:nvPr>
            <p:ph type="pic" sz="quarter" idx="16"/>
          </p:nvPr>
        </p:nvPicPr>
        <p:blipFill rotWithShape="1">
          <a:blip r:embed="rId6"/>
          <a:srcRect l="31" r="31"/>
          <a:stretch/>
        </p:blipFill>
        <p:spPr>
          <a:xfrm>
            <a:off x="8526463" y="2793977"/>
            <a:ext cx="2816225" cy="3144837"/>
          </a:xfrm>
        </p:spPr>
      </p:pic>
    </p:spTree>
    <p:extLst>
      <p:ext uri="{BB962C8B-B14F-4D97-AF65-F5344CB8AC3E}">
        <p14:creationId xmlns:p14="http://schemas.microsoft.com/office/powerpoint/2010/main" val="2442747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a:xfrm>
                <a:off x="441436" y="365125"/>
                <a:ext cx="11290738" cy="672105"/>
              </a:xfrm>
            </p:spPr>
            <p:txBody>
              <a:bodyPr/>
              <a:lstStyle/>
              <a:p>
                <a:r>
                  <a:rPr lang="en-US" sz="3200" dirty="0"/>
                  <a:t>13.1 Analysis of Variance: a Conceptual Overview of the Sampling Distribution of </a:t>
                </a:r>
                <a14:m>
                  <m:oMath xmlns:m="http://schemas.openxmlformats.org/officeDocument/2006/math">
                    <m:acc>
                      <m:accPr>
                        <m:chr m:val="̅"/>
                        <m:ctrlPr>
                          <a:rPr lang="en-US" sz="3200" i="1" dirty="0" smtClean="0">
                            <a:latin typeface="Cambria Math" panose="02040503050406030204" pitchFamily="18" charset="0"/>
                          </a:rPr>
                        </m:ctrlPr>
                      </m:accPr>
                      <m:e>
                        <m:r>
                          <a:rPr lang="en-US" sz="3200" b="1" i="1" dirty="0">
                            <a:latin typeface="Cambria Math" panose="02040503050406030204" pitchFamily="18" charset="0"/>
                          </a:rPr>
                          <m:t>𝒙</m:t>
                        </m:r>
                      </m:e>
                    </m:acc>
                  </m:oMath>
                </a14:m>
                <a:r>
                  <a:rPr lang="en-US" sz="3200" dirty="0"/>
                  <a:t> when </a:t>
                </a:r>
                <a:r>
                  <a:rPr lang="en-US" sz="3200" i="1" dirty="0"/>
                  <a:t>H</a:t>
                </a:r>
                <a:r>
                  <a:rPr lang="en-US" sz="3200" baseline="-25000" dirty="0"/>
                  <a:t>0</a:t>
                </a:r>
                <a:r>
                  <a:rPr lang="en-US" sz="3200" dirty="0"/>
                  <a:t> Is False</a:t>
                </a:r>
              </a:p>
            </p:txBody>
          </p:sp>
        </mc:Choice>
        <mc:Fallback xmlns="">
          <p:sp>
            <p:nvSpPr>
              <p:cNvPr id="2" name="Title 1">
                <a:extLst>
                  <a:ext uri="{FF2B5EF4-FFF2-40B4-BE49-F238E27FC236}">
                    <a16:creationId xmlns:a16="http://schemas.microsoft.com/office/drawing/2014/main" id="{6EB4563C-542A-D08C-1A11-F2F943F613B0}"/>
                  </a:ext>
                </a:extLst>
              </p:cNvPr>
              <p:cNvSpPr>
                <a:spLocks noGrp="1" noRot="1" noChangeAspect="1" noMove="1" noResize="1" noEditPoints="1" noAdjustHandles="1" noChangeArrowheads="1" noChangeShapeType="1" noTextEdit="1"/>
              </p:cNvSpPr>
              <p:nvPr>
                <p:ph type="title"/>
              </p:nvPr>
            </p:nvSpPr>
            <p:spPr>
              <a:xfrm>
                <a:off x="441436" y="365125"/>
                <a:ext cx="11290738" cy="672105"/>
              </a:xfrm>
              <a:blipFill>
                <a:blip r:embed="rId3"/>
                <a:stretch>
                  <a:fillRect t="-26364" r="-809"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42950" y="1710559"/>
                <a:ext cx="10599712" cy="1355833"/>
              </a:xfrm>
            </p:spPr>
            <p:txBody>
              <a:bodyPr/>
              <a:lstStyle/>
              <a:p>
                <a:r>
                  <a:rPr lang="en-US" sz="2000" dirty="0"/>
                  <a:t>If we assume the null hypothesis false, and suppose that the three population means all differ, then the three sample means must be drawn from distinct sampling distributions. </a:t>
                </a:r>
              </a:p>
              <a:p>
                <a:r>
                  <a:rPr lang="en-US" sz="2000" dirty="0"/>
                  <a:t>In this case, we provide an unbiased estimate of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t> by pooling the three sample variances,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b="0" i="1" smtClean="0">
                            <a:latin typeface="Cambria Math" panose="02040503050406030204" pitchFamily="18" charset="0"/>
                          </a:rPr>
                          <m:t>1</m:t>
                        </m:r>
                      </m:sub>
                      <m:sup>
                        <m:r>
                          <a:rPr lang="en-US" sz="2000" i="1">
                            <a:latin typeface="Cambria Math" panose="02040503050406030204" pitchFamily="18" charset="0"/>
                          </a:rPr>
                          <m:t>2</m:t>
                        </m:r>
                      </m:sup>
                    </m:sSubSup>
                  </m:oMath>
                </a14:m>
                <a:r>
                  <a:rPr lang="en-US" sz="2000" dirty="0"/>
                  <a:t>,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b="0" i="1" smtClean="0">
                            <a:latin typeface="Cambria Math" panose="02040503050406030204" pitchFamily="18" charset="0"/>
                          </a:rPr>
                          <m:t>2</m:t>
                        </m:r>
                      </m:sub>
                      <m:sup>
                        <m:r>
                          <a:rPr lang="en-US" sz="2000" i="1">
                            <a:latin typeface="Cambria Math" panose="02040503050406030204" pitchFamily="18" charset="0"/>
                          </a:rPr>
                          <m:t>2</m:t>
                        </m:r>
                      </m:sup>
                    </m:sSubSup>
                  </m:oMath>
                </a14:m>
                <a:r>
                  <a:rPr lang="en-US" sz="2000" dirty="0"/>
                  <a:t>, and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b="0" i="1" smtClean="0">
                            <a:latin typeface="Cambria Math" panose="02040503050406030204" pitchFamily="18" charset="0"/>
                          </a:rPr>
                          <m:t>3</m:t>
                        </m:r>
                      </m:sub>
                      <m:sup>
                        <m:r>
                          <a:rPr lang="en-US" sz="2000" i="1">
                            <a:latin typeface="Cambria Math" panose="02040503050406030204" pitchFamily="18" charset="0"/>
                          </a:rPr>
                          <m:t>2</m:t>
                        </m:r>
                      </m:sup>
                    </m:sSubSup>
                  </m:oMath>
                </a14:m>
                <a:r>
                  <a:rPr lang="en-US" sz="2000" dirty="0"/>
                  <a:t>, into one overall estimate.</a:t>
                </a:r>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742950" y="1710559"/>
                <a:ext cx="10599712" cy="1355833"/>
              </a:xfrm>
              <a:blipFill>
                <a:blip r:embed="rId4"/>
                <a:stretch>
                  <a:fillRect l="-1495" t="-5405" r="-1783" b="-7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3536C1A1-67D9-8091-B2DF-77E63E72C219}"/>
                  </a:ext>
                </a:extLst>
              </p:cNvPr>
              <p:cNvSpPr>
                <a:spLocks noGrp="1"/>
              </p:cNvSpPr>
              <p:nvPr>
                <p:ph type="body" sz="quarter" idx="17"/>
              </p:nvPr>
            </p:nvSpPr>
            <p:spPr>
              <a:xfrm>
                <a:off x="742950" y="3090038"/>
                <a:ext cx="4617326" cy="2727436"/>
              </a:xfrm>
            </p:spPr>
            <p:txBody>
              <a:bodyPr/>
              <a:lstStyle/>
              <a:p>
                <a:pPr>
                  <a:spcAft>
                    <a:spcPts val="600"/>
                  </a:spcAft>
                </a:pPr>
                <a14:m>
                  <m:oMath xmlns:m="http://schemas.openxmlformats.org/officeDocument/2006/math">
                    <m:r>
                      <m:rPr>
                        <m:nor/>
                      </m:rPr>
                      <a:rPr lang="en-US" sz="2000" i="0" dirty="0" smtClean="0">
                        <a:latin typeface="Arial" panose="020B0604020202020204" pitchFamily="34" charset="0"/>
                        <a:cs typeface="Arial" panose="020B0604020202020204" pitchFamily="34" charset="0"/>
                      </a:rPr>
                      <m:t>Estimate</m:t>
                    </m:r>
                    <m:r>
                      <m:rPr>
                        <m:nor/>
                      </m:rPr>
                      <a:rPr lang="en-US" sz="2000" i="0" dirty="0" smtClean="0">
                        <a:latin typeface="Arial" panose="020B0604020202020204" pitchFamily="34" charset="0"/>
                        <a:cs typeface="Arial" panose="020B0604020202020204" pitchFamily="34" charset="0"/>
                      </a:rPr>
                      <m:t> </m:t>
                    </m:r>
                    <m:r>
                      <m:rPr>
                        <m:nor/>
                      </m:rPr>
                      <a:rPr lang="en-US" sz="2000" i="0" dirty="0" smtClean="0">
                        <a:latin typeface="Arial" panose="020B0604020202020204" pitchFamily="34" charset="0"/>
                        <a:cs typeface="Arial" panose="020B0604020202020204" pitchFamily="34" charset="0"/>
                      </a:rPr>
                      <m:t>of</m:t>
                    </m:r>
                    <m:r>
                      <m:rPr>
                        <m:nor/>
                      </m:rPr>
                      <a:rPr lang="en-US" sz="2000" i="0" dirty="0" smtClean="0">
                        <a:latin typeface="Arial" panose="020B0604020202020204" pitchFamily="34" charset="0"/>
                        <a:cs typeface="Arial" panose="020B0604020202020204" pitchFamily="34"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b="0" dirty="0">
                    <a:latin typeface="Arial" panose="020B0604020202020204" pitchFamily="34" charset="0"/>
                    <a:cs typeface="Arial" panose="020B0604020202020204" pitchFamily="34" charset="0"/>
                  </a:rPr>
                  <a:t>:</a:t>
                </a:r>
                <a:r>
                  <a:rPr lang="en-US" sz="2000" b="0" i="1" dirty="0">
                    <a:latin typeface="Cambria Math" panose="02040503050406030204" pitchFamily="18" charset="0"/>
                  </a:rPr>
                  <a:t> </a:t>
                </a:r>
              </a:p>
              <a:p>
                <a:pPr marL="457200">
                  <a:spcBef>
                    <a:spcPts val="0"/>
                  </a:spcBef>
                  <a:spcAft>
                    <a:spcPts val="600"/>
                  </a:spcAft>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m:t>
                      </m:r>
                      <m:f>
                        <m:fPr>
                          <m:type m:val="lin"/>
                          <m:ctrlPr>
                            <a:rPr lang="en-US" sz="2000" i="1" dirty="0" smtClean="0">
                              <a:latin typeface="Cambria Math" panose="02040503050406030204" pitchFamily="18" charset="0"/>
                            </a:rPr>
                          </m:ctrlPr>
                        </m:fPr>
                        <m:num>
                          <m:d>
                            <m:dPr>
                              <m:ctrlPr>
                                <a:rPr lang="en-US" sz="2000" i="1" dirty="0" smtClean="0">
                                  <a:latin typeface="Cambria Math" panose="02040503050406030204" pitchFamily="18" charset="0"/>
                                </a:rPr>
                              </m:ctrlPr>
                            </m:dPr>
                            <m:e>
                              <m:r>
                                <a:rPr lang="en-US" sz="2000" b="0" i="1" dirty="0" smtClean="0">
                                  <a:latin typeface="Cambria Math" panose="02040503050406030204" pitchFamily="18" charset="0"/>
                                </a:rPr>
                                <m:t>27.5+26.5+31.0</m:t>
                              </m:r>
                            </m:e>
                          </m:d>
                        </m:num>
                        <m:den>
                          <m:r>
                            <a:rPr lang="en-US" sz="2000" b="0" i="1" dirty="0" smtClean="0">
                              <a:latin typeface="Cambria Math" panose="02040503050406030204" pitchFamily="18" charset="0"/>
                            </a:rPr>
                            <m:t>3</m:t>
                          </m:r>
                        </m:den>
                      </m:f>
                      <m:r>
                        <a:rPr lang="en-US" sz="2000" b="0" i="1" dirty="0" smtClean="0">
                          <a:latin typeface="Cambria Math" panose="02040503050406030204" pitchFamily="18" charset="0"/>
                        </a:rPr>
                        <m:t>=28.33</m:t>
                      </m:r>
                    </m:oMath>
                  </m:oMathPara>
                </a14:m>
                <a:endParaRPr lang="en-US" sz="2000" dirty="0"/>
              </a:p>
              <a:p>
                <a:pPr>
                  <a:spcAft>
                    <a:spcPts val="0"/>
                  </a:spcAft>
                </a:pPr>
                <a:r>
                  <a:rPr lang="en-US" sz="2000" dirty="0"/>
                  <a:t>This estimate of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t> is called the pooled or </a:t>
                </a:r>
                <a:r>
                  <a:rPr lang="en-US" sz="2000" b="1" dirty="0"/>
                  <a:t>within-treatments</a:t>
                </a:r>
                <a:r>
                  <a:rPr lang="en-US" sz="2000" dirty="0"/>
                  <a:t> estimate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oMath>
                </a14:m>
                <a:r>
                  <a:rPr lang="en-US" sz="2000" dirty="0"/>
                  <a:t>.</a:t>
                </a:r>
              </a:p>
              <a:p>
                <a:pPr>
                  <a:spcAft>
                    <a:spcPts val="0"/>
                  </a:spcAft>
                </a:pPr>
                <a:r>
                  <a:rPr lang="en-US" sz="2000" dirty="0"/>
                  <a:t>In general, when the population means are not equal, the between­-treatments estimate seen in the previous slide will overestimate the population variance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t>.</a:t>
                </a:r>
              </a:p>
            </p:txBody>
          </p:sp>
        </mc:Choice>
        <mc:Fallback xmlns="">
          <p:sp>
            <p:nvSpPr>
              <p:cNvPr id="5" name="Text Placeholder 4">
                <a:extLst>
                  <a:ext uri="{FF2B5EF4-FFF2-40B4-BE49-F238E27FC236}">
                    <a16:creationId xmlns:a16="http://schemas.microsoft.com/office/drawing/2014/main" id="{3536C1A1-67D9-8091-B2DF-77E63E72C219}"/>
                  </a:ext>
                </a:extLst>
              </p:cNvPr>
              <p:cNvSpPr>
                <a:spLocks noGrp="1" noRot="1" noChangeAspect="1" noMove="1" noResize="1" noEditPoints="1" noAdjustHandles="1" noChangeArrowheads="1" noChangeShapeType="1" noTextEdit="1"/>
              </p:cNvSpPr>
              <p:nvPr>
                <p:ph type="body" sz="quarter" idx="17"/>
              </p:nvPr>
            </p:nvSpPr>
            <p:spPr>
              <a:xfrm>
                <a:off x="742950" y="3090038"/>
                <a:ext cx="4617326" cy="2727436"/>
              </a:xfrm>
              <a:blipFill>
                <a:blip r:embed="rId5"/>
                <a:stretch>
                  <a:fillRect l="-3435" t="-2685" r="-2378" b="-6488"/>
                </a:stretch>
              </a:blipFill>
            </p:spPr>
            <p:txBody>
              <a:bodyPr/>
              <a:lstStyle/>
              <a:p>
                <a:r>
                  <a:rPr lang="en-US">
                    <a:noFill/>
                  </a:rPr>
                  <a:t> </a:t>
                </a:r>
              </a:p>
            </p:txBody>
          </p:sp>
        </mc:Fallback>
      </mc:AlternateContent>
      <p:pic>
        <p:nvPicPr>
          <p:cNvPr id="7" name="Picture Placeholder 6" descr="A graph plots three sampling distributions. The horizontal axis lists x_3-bar, mu_3, mu_1, x_1-bar, x_2-bar, and mu_2. x_3-bar, x_1-bar, and x_2-bar are labeled “Sample means come from different sampling distributions and are not close together when H_0 is false.” There are three bell-shaped curves that peak at mu_3, mu_1, and mu_2.&#10;">
            <a:extLst>
              <a:ext uri="{FF2B5EF4-FFF2-40B4-BE49-F238E27FC236}">
                <a16:creationId xmlns:a16="http://schemas.microsoft.com/office/drawing/2014/main" id="{2E079876-1C99-8024-1ACF-1C2FB0ECE2BD}"/>
              </a:ext>
            </a:extLst>
          </p:cNvPr>
          <p:cNvPicPr>
            <a:picLocks noGrp="1" noChangeAspect="1"/>
          </p:cNvPicPr>
          <p:nvPr>
            <p:ph type="pic" sz="quarter" idx="16"/>
          </p:nvPr>
        </p:nvPicPr>
        <p:blipFill rotWithShape="1">
          <a:blip r:embed="rId6"/>
          <a:srcRect t="28" b="28"/>
          <a:stretch/>
        </p:blipFill>
        <p:spPr>
          <a:xfrm>
            <a:off x="5360276" y="2845843"/>
            <a:ext cx="6072188" cy="3144837"/>
          </a:xfrm>
        </p:spPr>
      </p:pic>
    </p:spTree>
    <p:extLst>
      <p:ext uri="{BB962C8B-B14F-4D97-AF65-F5344CB8AC3E}">
        <p14:creationId xmlns:p14="http://schemas.microsoft.com/office/powerpoint/2010/main" val="2566612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88735" y="365125"/>
            <a:ext cx="11180379" cy="672105"/>
          </a:xfrm>
        </p:spPr>
        <p:txBody>
          <a:bodyPr/>
          <a:lstStyle/>
          <a:p>
            <a:r>
              <a:rPr lang="en-US" sz="3200" dirty="0">
                <a:solidFill>
                  <a:srgbClr val="D14B1E"/>
                </a:solidFill>
              </a:rPr>
              <a:t>13.2 Analysis of Variance and the Completely Randomized Design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71612"/>
                <a:ext cx="10711543" cy="4572000"/>
              </a:xfrm>
            </p:spPr>
            <p:txBody>
              <a:bodyPr/>
              <a:lstStyle/>
              <a:p>
                <a:pPr>
                  <a:spcBef>
                    <a:spcPts val="600"/>
                  </a:spcBef>
                </a:pPr>
                <a:r>
                  <a:rPr lang="en-US" sz="2000" dirty="0">
                    <a:solidFill>
                      <a:srgbClr val="000000"/>
                    </a:solidFill>
                    <a:latin typeface="Arial" panose="020B0604020202020204" pitchFamily="34" charset="0"/>
                    <a:cs typeface="Arial" panose="020B0604020202020204" pitchFamily="34" charset="0"/>
                  </a:rPr>
                  <a:t>The general form of the hypotheses when testing for the equality of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𝑘</m:t>
                    </m:r>
                  </m:oMath>
                </a14:m>
                <a:r>
                  <a:rPr lang="en-US" sz="2000" dirty="0">
                    <a:solidFill>
                      <a:srgbClr val="000000"/>
                    </a:solidFill>
                    <a:latin typeface="Arial" panose="020B0604020202020204" pitchFamily="34" charset="0"/>
                    <a:cs typeface="Arial" panose="020B0604020202020204" pitchFamily="34" charset="0"/>
                  </a:rPr>
                  <a:t> population means for a completely randomized design (where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𝑗</m:t>
                        </m:r>
                      </m:sub>
                    </m:sSub>
                  </m:oMath>
                </a14:m>
                <a:r>
                  <a:rPr lang="en-US" sz="2000" dirty="0">
                    <a:solidFill>
                      <a:srgbClr val="000000"/>
                    </a:solidFill>
                    <a:latin typeface="Arial" panose="020B0604020202020204" pitchFamily="34" charset="0"/>
                    <a:cs typeface="Arial" panose="020B0604020202020204" pitchFamily="34" charset="0"/>
                  </a:rPr>
                  <a:t> is the mean of the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𝑗</m:t>
                    </m:r>
                  </m:oMath>
                </a14:m>
                <a:r>
                  <a:rPr lang="en-US" sz="2000" dirty="0" err="1">
                    <a:solidFill>
                      <a:srgbClr val="000000"/>
                    </a:solidFill>
                    <a:latin typeface="Arial" panose="020B0604020202020204" pitchFamily="34" charset="0"/>
                    <a:cs typeface="Arial" panose="020B0604020202020204" pitchFamily="34" charset="0"/>
                  </a:rPr>
                  <a:t>th</a:t>
                </a:r>
                <a:r>
                  <a:rPr lang="en-US" sz="2000" dirty="0">
                    <a:solidFill>
                      <a:srgbClr val="000000"/>
                    </a:solidFill>
                    <a:latin typeface="Arial" panose="020B0604020202020204" pitchFamily="34" charset="0"/>
                    <a:cs typeface="Arial" panose="020B0604020202020204" pitchFamily="34" charset="0"/>
                  </a:rPr>
                  <a:t> population) is</a:t>
                </a:r>
              </a:p>
              <a:p>
                <a:pPr marL="914400">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0"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𝑘</m:t>
                        </m:r>
                      </m:sub>
                    </m:sSub>
                  </m:oMath>
                </a14:m>
                <a:r>
                  <a:rPr lang="en-US" sz="2000" dirty="0"/>
                  <a:t> </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𝑎</m:t>
                        </m:r>
                      </m:sub>
                    </m:sSub>
                    <m:r>
                      <a:rPr lang="en-US" sz="2000" b="0" i="1" smtClean="0">
                        <a:latin typeface="Cambria Math" panose="02040503050406030204" pitchFamily="18" charset="0"/>
                      </a:rPr>
                      <m:t>:</m:t>
                    </m:r>
                  </m:oMath>
                </a14:m>
                <a:r>
                  <a:rPr lang="en-US" sz="2000" dirty="0"/>
                  <a:t> </a:t>
                </a:r>
                <a14:m>
                  <m:oMath xmlns:m="http://schemas.openxmlformats.org/officeDocument/2006/math">
                    <m:r>
                      <m:rPr>
                        <m:nor/>
                      </m:rPr>
                      <a:rPr lang="en-US" sz="2000" i="0" dirty="0" smtClean="0">
                        <a:latin typeface="Cambria Math" panose="02040503050406030204" pitchFamily="18" charset="0"/>
                      </a:rPr>
                      <m:t>Not</m:t>
                    </m:r>
                    <m:r>
                      <m:rPr>
                        <m:nor/>
                      </m:rPr>
                      <a:rPr lang="en-US" sz="2000" i="0" dirty="0" smtClean="0">
                        <a:latin typeface="Cambria Math" panose="02040503050406030204" pitchFamily="18" charset="0"/>
                      </a:rPr>
                      <m:t> </m:t>
                    </m:r>
                    <m:r>
                      <m:rPr>
                        <m:nor/>
                      </m:rPr>
                      <a:rPr lang="en-US" sz="2000" i="0" dirty="0" smtClean="0">
                        <a:latin typeface="Cambria Math" panose="02040503050406030204" pitchFamily="18" charset="0"/>
                      </a:rPr>
                      <m:t>all</m:t>
                    </m:r>
                    <m:r>
                      <m:rPr>
                        <m:nor/>
                      </m:rPr>
                      <a:rPr lang="en-US" sz="2000" i="0" dirty="0" smtClean="0">
                        <a:latin typeface="Cambria Math" panose="02040503050406030204" pitchFamily="18" charset="0"/>
                      </a:rPr>
                      <m:t> </m:t>
                    </m:r>
                    <m:r>
                      <m:rPr>
                        <m:nor/>
                      </m:rPr>
                      <a:rPr lang="en-US" sz="2000" i="0" dirty="0" smtClean="0">
                        <a:latin typeface="Cambria Math" panose="02040503050406030204" pitchFamily="18" charset="0"/>
                      </a:rPr>
                      <m:t>population</m:t>
                    </m:r>
                    <m:r>
                      <m:rPr>
                        <m:nor/>
                      </m:rPr>
                      <a:rPr lang="en-US" sz="2000" i="0" dirty="0" smtClean="0">
                        <a:latin typeface="Cambria Math" panose="02040503050406030204" pitchFamily="18" charset="0"/>
                      </a:rPr>
                      <m:t> </m:t>
                    </m:r>
                    <m:r>
                      <m:rPr>
                        <m:nor/>
                      </m:rPr>
                      <a:rPr lang="en-US" sz="2000" i="0" dirty="0" smtClean="0">
                        <a:latin typeface="Cambria Math" panose="02040503050406030204" pitchFamily="18" charset="0"/>
                      </a:rPr>
                      <m:t>means</m:t>
                    </m:r>
                    <m:r>
                      <m:rPr>
                        <m:nor/>
                      </m:rPr>
                      <a:rPr lang="en-US" sz="2000" i="0" dirty="0" smtClean="0">
                        <a:latin typeface="Cambria Math" panose="02040503050406030204" pitchFamily="18" charset="0"/>
                      </a:rPr>
                      <m:t> </m:t>
                    </m:r>
                    <m:r>
                      <m:rPr>
                        <m:nor/>
                      </m:rPr>
                      <a:rPr lang="en-US" sz="2000" i="0" dirty="0" smtClean="0">
                        <a:latin typeface="Cambria Math" panose="02040503050406030204" pitchFamily="18" charset="0"/>
                      </a:rPr>
                      <m:t>are</m:t>
                    </m:r>
                    <m:r>
                      <m:rPr>
                        <m:nor/>
                      </m:rPr>
                      <a:rPr lang="en-US" sz="2000" i="0" dirty="0" smtClean="0">
                        <a:latin typeface="Cambria Math" panose="02040503050406030204" pitchFamily="18" charset="0"/>
                      </a:rPr>
                      <m:t> </m:t>
                    </m:r>
                    <m:r>
                      <m:rPr>
                        <m:nor/>
                      </m:rPr>
                      <a:rPr lang="en-US" sz="2000" i="0" dirty="0" smtClean="0">
                        <a:latin typeface="Cambria Math" panose="02040503050406030204" pitchFamily="18" charset="0"/>
                      </a:rPr>
                      <m:t>equal</m:t>
                    </m:r>
                  </m:oMath>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If we assume that a random sample of size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𝑛</m:t>
                        </m:r>
                      </m:e>
                      <m:sub>
                        <m:r>
                          <a:rPr lang="en-US" sz="2000" b="0" i="1" smtClean="0">
                            <a:solidFill>
                              <a:srgbClr val="000000"/>
                            </a:solidFill>
                            <a:latin typeface="Cambria Math" panose="02040503050406030204" pitchFamily="18" charset="0"/>
                            <a:cs typeface="Arial" panose="020B0604020202020204" pitchFamily="34" charset="0"/>
                          </a:rPr>
                          <m:t>𝑗</m:t>
                        </m:r>
                      </m:sub>
                    </m:sSub>
                  </m:oMath>
                </a14:m>
                <a:r>
                  <a:rPr lang="en-US" sz="2000" dirty="0">
                    <a:solidFill>
                      <a:srgbClr val="000000"/>
                    </a:solidFill>
                    <a:latin typeface="Arial" panose="020B0604020202020204" pitchFamily="34" charset="0"/>
                    <a:cs typeface="Arial" panose="020B0604020202020204" pitchFamily="34" charset="0"/>
                  </a:rPr>
                  <a:t> has been selected from each of the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𝑘</m:t>
                    </m:r>
                  </m:oMath>
                </a14:m>
                <a:r>
                  <a:rPr lang="en-US" sz="2000" dirty="0">
                    <a:solidFill>
                      <a:srgbClr val="000000"/>
                    </a:solidFill>
                    <a:latin typeface="Arial" panose="020B0604020202020204" pitchFamily="34" charset="0"/>
                    <a:cs typeface="Arial" panose="020B0604020202020204" pitchFamily="34" charset="0"/>
                  </a:rPr>
                  <a:t> populations or treatment, and that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𝑖𝑗</m:t>
                        </m:r>
                      </m:sub>
                    </m:sSub>
                  </m:oMath>
                </a14:m>
                <a:r>
                  <a:rPr lang="en-US" sz="2000" dirty="0">
                    <a:solidFill>
                      <a:srgbClr val="000000"/>
                    </a:solidFill>
                    <a:latin typeface="Arial" panose="020B0604020202020204" pitchFamily="34" charset="0"/>
                    <a:cs typeface="Arial" panose="020B0604020202020204" pitchFamily="34" charset="0"/>
                  </a:rPr>
                  <a:t> represents the value of observation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𝑖</m:t>
                    </m:r>
                  </m:oMath>
                </a14:m>
                <a:r>
                  <a:rPr lang="en-US" sz="2000" dirty="0">
                    <a:solidFill>
                      <a:srgbClr val="000000"/>
                    </a:solidFill>
                    <a:latin typeface="Arial" panose="020B0604020202020204" pitchFamily="34" charset="0"/>
                    <a:cs typeface="Arial" panose="020B0604020202020204" pitchFamily="34" charset="0"/>
                  </a:rPr>
                  <a:t> for treatment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𝑗</m:t>
                    </m:r>
                  </m:oMath>
                </a14:m>
                <a:r>
                  <a:rPr lang="en-US" sz="2000" dirty="0">
                    <a:solidFill>
                      <a:srgbClr val="000000"/>
                    </a:solidFill>
                    <a:latin typeface="Arial" panose="020B0604020202020204" pitchFamily="34" charset="0"/>
                    <a:cs typeface="Arial" panose="020B0604020202020204" pitchFamily="34" charset="0"/>
                  </a:rPr>
                  <a:t>, we can write sample mean and sample variance for treatment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𝑗</m:t>
                    </m:r>
                  </m:oMath>
                </a14:m>
                <a:r>
                  <a:rPr lang="en-US" sz="2000" dirty="0">
                    <a:solidFill>
                      <a:srgbClr val="000000"/>
                    </a:solidFill>
                    <a:latin typeface="Arial" panose="020B0604020202020204" pitchFamily="34" charset="0"/>
                    <a:cs typeface="Arial" panose="020B0604020202020204" pitchFamily="34" charset="0"/>
                  </a:rPr>
                  <a:t> as</a:t>
                </a:r>
              </a:p>
              <a:p>
                <a:pPr>
                  <a:spcBef>
                    <a:spcPts val="600"/>
                  </a:spcBef>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𝑗</m:t>
                          </m:r>
                        </m:sub>
                      </m:sSub>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nary>
                            <m:naryPr>
                              <m:chr m:val="∑"/>
                              <m:ctrlPr>
                                <a:rPr lang="en-US" sz="2000" b="0" i="1" smtClean="0">
                                  <a:latin typeface="Cambria Math" panose="02040503050406030204" pitchFamily="18" charset="0"/>
                                  <a:cs typeface="Arial" panose="020B0604020202020204" pitchFamily="34" charset="0"/>
                                </a:rPr>
                              </m:ctrlPr>
                            </m:naryPr>
                            <m:sub>
                              <m:r>
                                <m:rPr>
                                  <m:brk m:alnAt="23"/>
                                </m:rPr>
                                <a:rPr lang="en-US" sz="2000" b="0" i="1" smtClean="0">
                                  <a:latin typeface="Cambria Math" panose="02040503050406030204" pitchFamily="18" charset="0"/>
                                  <a:cs typeface="Arial" panose="020B0604020202020204" pitchFamily="34" charset="0"/>
                                </a:rPr>
                                <m:t>𝑖</m:t>
                              </m:r>
                              <m:r>
                                <a:rPr lang="en-US" sz="2000" b="0" i="1" smtClean="0">
                                  <a:latin typeface="Cambria Math" panose="02040503050406030204" pitchFamily="18" charset="0"/>
                                  <a:cs typeface="Arial" panose="020B0604020202020204" pitchFamily="34" charset="0"/>
                                </a:rPr>
                                <m:t>=1</m:t>
                              </m:r>
                            </m:sub>
                            <m:sup>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sup>
                            <m:e>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𝑖𝑗</m:t>
                                  </m:r>
                                </m:sub>
                              </m:sSub>
                            </m:e>
                          </m:nary>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den>
                      </m:f>
                      <m:r>
                        <a:rPr lang="en-US" sz="2000" b="0" i="1" smtClean="0">
                          <a:latin typeface="Cambria Math" panose="02040503050406030204" pitchFamily="18" charset="0"/>
                          <a:cs typeface="Arial" panose="020B0604020202020204" pitchFamily="34" charset="0"/>
                        </a:rPr>
                        <m:t>                       </m:t>
                      </m:r>
                      <m:sSubSup>
                        <m:sSubSupPr>
                          <m:ctrlPr>
                            <a:rPr lang="en-US" sz="2000" b="0" i="1" smtClean="0">
                              <a:latin typeface="Cambria Math" panose="02040503050406030204" pitchFamily="18" charset="0"/>
                              <a:cs typeface="Arial" panose="020B0604020202020204" pitchFamily="34" charset="0"/>
                            </a:rPr>
                          </m:ctrlPr>
                        </m:sSubSupPr>
                        <m:e>
                          <m:r>
                            <a:rPr lang="en-US" sz="2000" b="0" i="1" smtClean="0">
                              <a:latin typeface="Cambria Math" panose="02040503050406030204" pitchFamily="18" charset="0"/>
                              <a:cs typeface="Arial" panose="020B0604020202020204" pitchFamily="34" charset="0"/>
                            </a:rPr>
                            <m:t>𝑠</m:t>
                          </m:r>
                        </m:e>
                        <m:sub>
                          <m:r>
                            <a:rPr lang="en-US" sz="2000" b="0" i="1" smtClean="0">
                              <a:latin typeface="Cambria Math" panose="02040503050406030204" pitchFamily="18" charset="0"/>
                              <a:cs typeface="Arial" panose="020B0604020202020204" pitchFamily="34" charset="0"/>
                            </a:rPr>
                            <m:t>𝑗</m:t>
                          </m:r>
                        </m:sub>
                        <m:sup>
                          <m:r>
                            <a:rPr lang="en-US" sz="2000" b="0" i="1" smtClean="0">
                              <a:latin typeface="Cambria Math" panose="02040503050406030204" pitchFamily="18" charset="0"/>
                              <a:cs typeface="Arial" panose="020B0604020202020204" pitchFamily="34" charset="0"/>
                            </a:rPr>
                            <m:t>2</m:t>
                          </m:r>
                        </m:sup>
                      </m:sSubSup>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nary>
                            <m:naryPr>
                              <m:chr m:val="∑"/>
                              <m:ctrlPr>
                                <a:rPr lang="en-US" sz="2000" i="1">
                                  <a:latin typeface="Cambria Math" panose="02040503050406030204" pitchFamily="18" charset="0"/>
                                  <a:cs typeface="Arial" panose="020B0604020202020204" pitchFamily="34" charset="0"/>
                                </a:rPr>
                              </m:ctrlPr>
                            </m:naryPr>
                            <m:sub>
                              <m:r>
                                <m:rPr>
                                  <m:brk m:alnAt="23"/>
                                </m:rPr>
                                <a:rPr lang="en-US" sz="2000" i="1">
                                  <a:latin typeface="Cambria Math" panose="02040503050406030204" pitchFamily="18" charset="0"/>
                                  <a:cs typeface="Arial" panose="020B0604020202020204" pitchFamily="34" charset="0"/>
                                </a:rPr>
                                <m:t>𝑖</m:t>
                              </m:r>
                              <m:r>
                                <a:rPr lang="en-US" sz="2000" i="1">
                                  <a:latin typeface="Cambria Math" panose="02040503050406030204" pitchFamily="18" charset="0"/>
                                  <a:cs typeface="Arial" panose="020B0604020202020204" pitchFamily="34" charset="0"/>
                                </a:rPr>
                                <m:t>=1</m:t>
                              </m:r>
                            </m:sub>
                            <m:sup>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sup>
                            <m:e>
                              <m:sSup>
                                <m:sSupPr>
                                  <m:ctrlPr>
                                    <a:rPr lang="en-US" sz="2000" i="1" smtClean="0">
                                      <a:latin typeface="Cambria Math" panose="02040503050406030204" pitchFamily="18" charset="0"/>
                                      <a:cs typeface="Arial" panose="020B0604020202020204" pitchFamily="34" charset="0"/>
                                    </a:rPr>
                                  </m:ctrlPr>
                                </m:sSupPr>
                                <m:e>
                                  <m:d>
                                    <m:dPr>
                                      <m:ctrlPr>
                                        <a:rPr lang="en-US" sz="2000" i="1" smtClean="0">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𝑖𝑗</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𝑗</m:t>
                                          </m:r>
                                        </m:sub>
                                      </m:sSub>
                                    </m:e>
                                  </m:d>
                                </m:e>
                                <m:sup>
                                  <m:r>
                                    <a:rPr lang="en-US" sz="2000" b="0" i="1" smtClean="0">
                                      <a:latin typeface="Cambria Math" panose="02040503050406030204" pitchFamily="18" charset="0"/>
                                      <a:cs typeface="Arial" panose="020B0604020202020204" pitchFamily="34" charset="0"/>
                                    </a:rPr>
                                    <m:t>2</m:t>
                                  </m:r>
                                </m:sup>
                              </m:sSup>
                            </m:e>
                          </m:nary>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r>
                            <a:rPr lang="en-US" sz="2000" b="0" i="1" smtClean="0">
                              <a:latin typeface="Cambria Math" panose="02040503050406030204" pitchFamily="18" charset="0"/>
                              <a:cs typeface="Arial" panose="020B0604020202020204" pitchFamily="34" charset="0"/>
                            </a:rPr>
                            <m:t>−1</m:t>
                          </m:r>
                        </m:den>
                      </m:f>
                    </m:oMath>
                  </m:oMathPara>
                </a14:m>
                <a:endParaRPr lang="en-US" sz="2000" dirty="0">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2000" dirty="0">
                    <a:latin typeface="Arial" panose="020B0604020202020204" pitchFamily="34" charset="0"/>
                    <a:cs typeface="Arial" panose="020B0604020202020204" pitchFamily="34" charset="0"/>
                  </a:rPr>
                  <a:t>Then, we can writ</a:t>
                </a:r>
                <a:r>
                  <a:rPr lang="en-US" sz="2000" dirty="0">
                    <a:solidFill>
                      <a:srgbClr val="000000"/>
                    </a:solidFill>
                    <a:latin typeface="Arial" panose="020B0604020202020204" pitchFamily="34" charset="0"/>
                    <a:cs typeface="Arial" panose="020B0604020202020204" pitchFamily="34" charset="0"/>
                  </a:rPr>
                  <a:t>e the overall sample mean, denoted </a:t>
                </a:r>
                <a14:m>
                  <m:oMath xmlns:m="http://schemas.openxmlformats.org/officeDocument/2006/math">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oMath>
                </a14:m>
                <a:r>
                  <a:rPr lang="en-US" sz="2000" dirty="0">
                    <a:solidFill>
                      <a:srgbClr val="000000"/>
                    </a:solidFill>
                    <a:latin typeface="Arial" panose="020B0604020202020204" pitchFamily="34" charset="0"/>
                    <a:cs typeface="Arial" panose="020B0604020202020204" pitchFamily="34" charset="0"/>
                  </a:rPr>
                  <a:t>, of the entire experiment as</a:t>
                </a:r>
              </a:p>
              <a:p>
                <a:pPr>
                  <a:spcBef>
                    <a:spcPts val="600"/>
                  </a:spcBef>
                </a:pPr>
                <a14:m>
                  <m:oMathPara xmlns:m="http://schemas.openxmlformats.org/officeDocument/2006/math">
                    <m:oMathParaPr>
                      <m:jc m:val="centerGroup"/>
                    </m:oMathParaPr>
                    <m:oMath xmlns:m="http://schemas.openxmlformats.org/officeDocument/2006/math">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nary>
                            <m:naryPr>
                              <m:chr m:val="∑"/>
                              <m:ctrlPr>
                                <a:rPr lang="en-US" sz="2000" i="1">
                                  <a:latin typeface="Cambria Math" panose="02040503050406030204" pitchFamily="18" charset="0"/>
                                  <a:cs typeface="Arial" panose="020B0604020202020204" pitchFamily="34" charset="0"/>
                                </a:rPr>
                              </m:ctrlPr>
                            </m:naryPr>
                            <m:sub>
                              <m:r>
                                <m:rPr>
                                  <m:brk m:alnAt="23"/>
                                </m:rPr>
                                <a:rPr lang="en-US" sz="2000" i="1">
                                  <a:latin typeface="Cambria Math" panose="02040503050406030204" pitchFamily="18" charset="0"/>
                                  <a:cs typeface="Arial" panose="020B0604020202020204" pitchFamily="34" charset="0"/>
                                </a:rPr>
                                <m:t>𝑗</m:t>
                              </m:r>
                              <m:r>
                                <a:rPr lang="en-US" sz="2000" i="1">
                                  <a:latin typeface="Cambria Math" panose="02040503050406030204" pitchFamily="18" charset="0"/>
                                  <a:cs typeface="Arial" panose="020B0604020202020204" pitchFamily="34" charset="0"/>
                                </a:rPr>
                                <m:t>=1</m:t>
                              </m:r>
                            </m:sub>
                            <m:sup>
                              <m:r>
                                <a:rPr lang="en-US" sz="2000" i="1">
                                  <a:latin typeface="Cambria Math" panose="02040503050406030204" pitchFamily="18" charset="0"/>
                                  <a:cs typeface="Arial" panose="020B0604020202020204" pitchFamily="34" charset="0"/>
                                </a:rPr>
                                <m:t>𝑘</m:t>
                              </m:r>
                            </m:sup>
                            <m:e>
                              <m:nary>
                                <m:naryPr>
                                  <m:chr m:val="∑"/>
                                  <m:ctrlPr>
                                    <a:rPr lang="en-US" sz="2000" i="1">
                                      <a:latin typeface="Cambria Math" panose="02040503050406030204" pitchFamily="18" charset="0"/>
                                      <a:cs typeface="Arial" panose="020B0604020202020204" pitchFamily="34" charset="0"/>
                                    </a:rPr>
                                  </m:ctrlPr>
                                </m:naryPr>
                                <m:sub>
                                  <m:r>
                                    <m:rPr>
                                      <m:brk m:alnAt="23"/>
                                    </m:rPr>
                                    <a:rPr lang="en-US" sz="2000" i="1">
                                      <a:latin typeface="Cambria Math" panose="02040503050406030204" pitchFamily="18" charset="0"/>
                                      <a:cs typeface="Arial" panose="020B0604020202020204" pitchFamily="34" charset="0"/>
                                    </a:rPr>
                                    <m:t>𝑖</m:t>
                                  </m:r>
                                  <m:r>
                                    <a:rPr lang="en-US" sz="2000" i="1">
                                      <a:latin typeface="Cambria Math" panose="02040503050406030204" pitchFamily="18" charset="0"/>
                                      <a:cs typeface="Arial" panose="020B0604020202020204" pitchFamily="34" charset="0"/>
                                    </a:rPr>
                                    <m:t>=1</m:t>
                                  </m:r>
                                </m:sub>
                                <m:sup>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sup>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𝑖𝑗</m:t>
                                      </m:r>
                                    </m:sub>
                                  </m:sSub>
                                </m:e>
                              </m:nary>
                            </m:e>
                          </m:nary>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𝑘</m:t>
                              </m:r>
                            </m:sub>
                          </m:sSub>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nary>
                            <m:naryPr>
                              <m:chr m:val="∑"/>
                              <m:ctrlPr>
                                <a:rPr lang="en-US" sz="2000" b="0" i="1" smtClean="0">
                                  <a:latin typeface="Cambria Math" panose="02040503050406030204" pitchFamily="18" charset="0"/>
                                  <a:cs typeface="Arial" panose="020B0604020202020204" pitchFamily="34" charset="0"/>
                                </a:rPr>
                              </m:ctrlPr>
                            </m:naryPr>
                            <m:sub>
                              <m:r>
                                <m:rPr>
                                  <m:brk m:alnAt="23"/>
                                </m:rPr>
                                <a:rPr lang="en-US" sz="2000" b="0" i="1" smtClean="0">
                                  <a:latin typeface="Cambria Math" panose="02040503050406030204" pitchFamily="18" charset="0"/>
                                  <a:cs typeface="Arial" panose="020B0604020202020204" pitchFamily="34" charset="0"/>
                                </a:rPr>
                                <m:t>𝑗</m:t>
                              </m:r>
                              <m:r>
                                <a:rPr lang="en-US" sz="2000" b="0" i="1" smtClean="0">
                                  <a:latin typeface="Cambria Math" panose="02040503050406030204" pitchFamily="18" charset="0"/>
                                  <a:cs typeface="Arial" panose="020B0604020202020204" pitchFamily="34" charset="0"/>
                                </a:rPr>
                                <m:t>=1</m:t>
                              </m:r>
                            </m:sub>
                            <m:sup>
                              <m:r>
                                <a:rPr lang="en-US" sz="2000" b="0" i="1" smtClean="0">
                                  <a:latin typeface="Cambria Math" panose="02040503050406030204" pitchFamily="18" charset="0"/>
                                  <a:cs typeface="Arial" panose="020B0604020202020204" pitchFamily="34" charset="0"/>
                                </a:rPr>
                                <m:t>𝑘</m:t>
                              </m:r>
                            </m:sup>
                            <m:e>
                              <m:nary>
                                <m:naryPr>
                                  <m:chr m:val="∑"/>
                                  <m:ctrlPr>
                                    <a:rPr lang="en-US" sz="2000" i="1">
                                      <a:latin typeface="Cambria Math" panose="02040503050406030204" pitchFamily="18" charset="0"/>
                                      <a:cs typeface="Arial" panose="020B0604020202020204" pitchFamily="34" charset="0"/>
                                    </a:rPr>
                                  </m:ctrlPr>
                                </m:naryPr>
                                <m:sub>
                                  <m:r>
                                    <m:rPr>
                                      <m:brk m:alnAt="23"/>
                                    </m:rPr>
                                    <a:rPr lang="en-US" sz="2000" i="1">
                                      <a:latin typeface="Cambria Math" panose="02040503050406030204" pitchFamily="18" charset="0"/>
                                      <a:cs typeface="Arial" panose="020B0604020202020204" pitchFamily="34" charset="0"/>
                                    </a:rPr>
                                    <m:t>𝑖</m:t>
                                  </m:r>
                                  <m:r>
                                    <a:rPr lang="en-US" sz="2000" i="1">
                                      <a:latin typeface="Cambria Math" panose="02040503050406030204" pitchFamily="18" charset="0"/>
                                      <a:cs typeface="Arial" panose="020B0604020202020204" pitchFamily="34" charset="0"/>
                                    </a:rPr>
                                    <m:t>=1</m:t>
                                  </m:r>
                                </m:sub>
                                <m:sup>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sup>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𝑖𝑗</m:t>
                                      </m:r>
                                    </m:sub>
                                  </m:sSub>
                                </m:e>
                              </m:nary>
                            </m:e>
                          </m:nary>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𝑇</m:t>
                              </m:r>
                            </m:sub>
                          </m:sSub>
                        </m:den>
                      </m:f>
                    </m:oMath>
                  </m:oMathPara>
                </a14:m>
                <a:endParaRPr lang="en-US" sz="2000" dirty="0">
                  <a:solidFill>
                    <a:srgbClr val="000000"/>
                  </a:solidFill>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71612"/>
                <a:ext cx="10711543" cy="4572000"/>
              </a:xfrm>
              <a:blipFill>
                <a:blip r:embed="rId2"/>
                <a:stretch>
                  <a:fillRect l="-1422" t="-1600" r="-57" b="-133"/>
                </a:stretch>
              </a:blipFill>
            </p:spPr>
            <p:txBody>
              <a:bodyPr/>
              <a:lstStyle/>
              <a:p>
                <a:r>
                  <a:rPr lang="en-US">
                    <a:noFill/>
                  </a:rPr>
                  <a:t> </a:t>
                </a:r>
              </a:p>
            </p:txBody>
          </p:sp>
        </mc:Fallback>
      </mc:AlternateContent>
    </p:spTree>
    <p:extLst>
      <p:ext uri="{BB962C8B-B14F-4D97-AF65-F5344CB8AC3E}">
        <p14:creationId xmlns:p14="http://schemas.microsoft.com/office/powerpoint/2010/main" val="440950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88735" y="365125"/>
            <a:ext cx="11180379" cy="672105"/>
          </a:xfrm>
        </p:spPr>
        <p:txBody>
          <a:bodyPr/>
          <a:lstStyle/>
          <a:p>
            <a:r>
              <a:rPr lang="en-US" sz="3200" dirty="0"/>
              <a:t>13.2 Between-Treatments Estimate of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66862"/>
                <a:ext cx="10711543" cy="4267631"/>
              </a:xfrm>
            </p:spPr>
            <p:txBody>
              <a:bodyPr/>
              <a:lstStyle/>
              <a:p>
                <a:pPr>
                  <a:lnSpc>
                    <a:spcPct val="100000"/>
                  </a:lnSpc>
                  <a:spcBef>
                    <a:spcPts val="600"/>
                  </a:spcBef>
                </a:pPr>
                <a:r>
                  <a:rPr lang="en-US" sz="2000" dirty="0">
                    <a:solidFill>
                      <a:srgbClr val="000000"/>
                    </a:solidFill>
                    <a:latin typeface="Arial" panose="020B0604020202020204" pitchFamily="34" charset="0"/>
                    <a:cs typeface="Arial" panose="020B0604020202020204" pitchFamily="34" charset="0"/>
                  </a:rPr>
                  <a:t>The between-treatments estimate of the population variance,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solidFill>
                      <a:srgbClr val="000000"/>
                    </a:solidFill>
                    <a:latin typeface="Arial" panose="020B0604020202020204" pitchFamily="34" charset="0"/>
                    <a:cs typeface="Arial" panose="020B0604020202020204" pitchFamily="34" charset="0"/>
                  </a:rPr>
                  <a:t>, is called the </a:t>
                </a:r>
                <a:r>
                  <a:rPr lang="en-US" sz="2000" b="1" dirty="0">
                    <a:solidFill>
                      <a:srgbClr val="000000"/>
                    </a:solidFill>
                    <a:latin typeface="Arial" panose="020B0604020202020204" pitchFamily="34" charset="0"/>
                    <a:cs typeface="Arial" panose="020B0604020202020204" pitchFamily="34" charset="0"/>
                  </a:rPr>
                  <a:t>mean square due to treatments</a:t>
                </a:r>
                <a:r>
                  <a:rPr lang="en-US" sz="2000" dirty="0">
                    <a:solidFill>
                      <a:srgbClr val="000000"/>
                    </a:solidFill>
                    <a:latin typeface="Arial" panose="020B0604020202020204" pitchFamily="34" charset="0"/>
                    <a:cs typeface="Arial" panose="020B0604020202020204" pitchFamily="34" charset="0"/>
                  </a:rPr>
                  <a:t> and is denoted MSTR. </a:t>
                </a:r>
              </a:p>
              <a:p>
                <a:pPr>
                  <a:lnSpc>
                    <a:spcPct val="100000"/>
                  </a:lnSpc>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The general formula for computing MSTR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𝑴𝑺𝑻𝑹</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𝑺𝑺𝑻𝑹</m:t>
                          </m:r>
                        </m:num>
                        <m:den>
                          <m:r>
                            <a:rPr lang="en-US" sz="2000" b="1" i="1" smtClean="0">
                              <a:latin typeface="Cambria Math" panose="02040503050406030204" pitchFamily="18" charset="0"/>
                              <a:cs typeface="Arial" panose="020B0604020202020204" pitchFamily="34" charset="0"/>
                            </a:rPr>
                            <m:t>𝒌</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𝟏</m:t>
                          </m:r>
                        </m:den>
                      </m:f>
                    </m:oMath>
                  </m:oMathPara>
                </a14:m>
                <a:endParaRPr lang="en-US" sz="2000" b="1" dirty="0">
                  <a:latin typeface="Arial" panose="020B0604020202020204" pitchFamily="34" charset="0"/>
                  <a:cs typeface="Arial" panose="020B0604020202020204" pitchFamily="34" charset="0"/>
                </a:endParaRPr>
              </a:p>
              <a:p>
                <a:pPr>
                  <a:spcBef>
                    <a:spcPts val="600"/>
                  </a:spcBef>
                </a:pPr>
                <a:r>
                  <a:rPr lang="en-US" sz="2000" dirty="0">
                    <a:solidFill>
                      <a:srgbClr val="000000"/>
                    </a:solidFill>
                    <a:latin typeface="Arial" panose="020B0604020202020204" pitchFamily="34" charset="0"/>
                    <a:cs typeface="Arial" panose="020B0604020202020204" pitchFamily="34" charset="0"/>
                  </a:rPr>
                  <a:t>Where </a:t>
                </a:r>
                <a:r>
                  <a:rPr lang="en-US" sz="2000" i="1" dirty="0">
                    <a:latin typeface="Arial" panose="020B0604020202020204" pitchFamily="34" charset="0"/>
                    <a:cs typeface="Arial" panose="020B0604020202020204" pitchFamily="34" charset="0"/>
                  </a:rPr>
                  <a:t>k</a:t>
                </a:r>
                <a:r>
                  <a:rPr lang="en-US" sz="2000" dirty="0">
                    <a:latin typeface="Arial" panose="020B0604020202020204" pitchFamily="34" charset="0"/>
                    <a:cs typeface="Arial" panose="020B0604020202020204" pitchFamily="34" charset="0"/>
                  </a:rPr>
                  <a:t> is the number of treatments and </a:t>
                </a:r>
                <a14:m>
                  <m:oMath xmlns:m="http://schemas.openxmlformats.org/officeDocument/2006/math">
                    <m:r>
                      <a:rPr lang="en-US" sz="200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−1</m:t>
                    </m:r>
                  </m:oMath>
                </a14:m>
                <a:r>
                  <a:rPr lang="en-US" sz="2000" dirty="0">
                    <a:solidFill>
                      <a:srgbClr val="00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represents</a:t>
                </a:r>
                <a:r>
                  <a:rPr lang="en-US" sz="2000" dirty="0">
                    <a:solidFill>
                      <a:srgbClr val="000000"/>
                    </a:solidFill>
                    <a:latin typeface="Arial" panose="020B0604020202020204" pitchFamily="34" charset="0"/>
                    <a:cs typeface="Arial" panose="020B0604020202020204" pitchFamily="34" charset="0"/>
                  </a:rPr>
                  <a:t> the numerator degrees of freedom</a:t>
                </a:r>
              </a:p>
              <a:p>
                <a:pPr marL="914400">
                  <a:lnSpc>
                    <a:spcPct val="100000"/>
                  </a:lnSpc>
                  <a:spcBef>
                    <a:spcPts val="600"/>
                  </a:spcBef>
                </a:pPr>
                <a14:m>
                  <m:oMathPara xmlns:m="http://schemas.openxmlformats.org/officeDocument/2006/math">
                    <m:oMathParaPr>
                      <m:jc m:val="left"/>
                    </m:oMathParaPr>
                    <m:oMath xmlns:m="http://schemas.openxmlformats.org/officeDocument/2006/math">
                      <m:r>
                        <a:rPr lang="en-US" sz="2000" b="1" i="1" smtClean="0">
                          <a:solidFill>
                            <a:srgbClr val="000000"/>
                          </a:solidFill>
                          <a:latin typeface="Cambria Math" panose="02040503050406030204" pitchFamily="18" charset="0"/>
                          <a:cs typeface="Arial" panose="020B0604020202020204" pitchFamily="34" charset="0"/>
                        </a:rPr>
                        <m:t>𝑺𝑺𝑻𝑹</m:t>
                      </m:r>
                      <m:r>
                        <a:rPr lang="en-US" sz="2000" b="1" i="1" smtClean="0">
                          <a:solidFill>
                            <a:srgbClr val="000000"/>
                          </a:solidFill>
                          <a:latin typeface="Cambria Math" panose="02040503050406030204" pitchFamily="18" charset="0"/>
                          <a:cs typeface="Arial" panose="020B0604020202020204" pitchFamily="34" charset="0"/>
                        </a:rPr>
                        <m:t>=</m:t>
                      </m:r>
                      <m:nary>
                        <m:naryPr>
                          <m:chr m:val="∑"/>
                          <m:ctrlPr>
                            <a:rPr lang="en-US" sz="2000" b="1" i="1" smtClean="0">
                              <a:solidFill>
                                <a:srgbClr val="000000"/>
                              </a:solidFill>
                              <a:latin typeface="Cambria Math" panose="02040503050406030204" pitchFamily="18" charset="0"/>
                              <a:cs typeface="Arial" panose="020B0604020202020204" pitchFamily="34" charset="0"/>
                            </a:rPr>
                          </m:ctrlPr>
                        </m:naryPr>
                        <m:sub>
                          <m:r>
                            <m:rPr>
                              <m:brk m:alnAt="23"/>
                            </m:rPr>
                            <a:rPr lang="en-US" sz="2000" b="1" i="1" smtClean="0">
                              <a:solidFill>
                                <a:srgbClr val="000000"/>
                              </a:solidFill>
                              <a:latin typeface="Cambria Math" panose="02040503050406030204" pitchFamily="18" charset="0"/>
                              <a:cs typeface="Arial" panose="020B0604020202020204" pitchFamily="34" charset="0"/>
                            </a:rPr>
                            <m:t>𝒋</m:t>
                          </m:r>
                          <m:r>
                            <a:rPr lang="en-US" sz="2000" b="1" i="1" smtClean="0">
                              <a:solidFill>
                                <a:srgbClr val="000000"/>
                              </a:solidFill>
                              <a:latin typeface="Cambria Math" panose="02040503050406030204" pitchFamily="18" charset="0"/>
                              <a:cs typeface="Arial" panose="020B0604020202020204" pitchFamily="34" charset="0"/>
                            </a:rPr>
                            <m:t>=</m:t>
                          </m:r>
                          <m:r>
                            <a:rPr lang="en-US" sz="2000" b="1" i="1" smtClean="0">
                              <a:solidFill>
                                <a:srgbClr val="000000"/>
                              </a:solidFill>
                              <a:latin typeface="Cambria Math" panose="02040503050406030204" pitchFamily="18" charset="0"/>
                              <a:cs typeface="Arial" panose="020B0604020202020204" pitchFamily="34" charset="0"/>
                            </a:rPr>
                            <m:t>𝟏</m:t>
                          </m:r>
                        </m:sub>
                        <m:sup>
                          <m:r>
                            <a:rPr lang="en-US" sz="2000" b="1" i="1" smtClean="0">
                              <a:solidFill>
                                <a:srgbClr val="000000"/>
                              </a:solidFill>
                              <a:latin typeface="Cambria Math" panose="02040503050406030204" pitchFamily="18" charset="0"/>
                              <a:cs typeface="Arial" panose="020B0604020202020204" pitchFamily="34" charset="0"/>
                            </a:rPr>
                            <m:t>𝒌</m:t>
                          </m:r>
                        </m:sup>
                        <m:e>
                          <m:sSub>
                            <m:sSubPr>
                              <m:ctrlPr>
                                <a:rPr lang="en-US" sz="2000" b="1" i="1" smtClean="0">
                                  <a:solidFill>
                                    <a:srgbClr val="000000"/>
                                  </a:solidFill>
                                  <a:latin typeface="Cambria Math" panose="02040503050406030204" pitchFamily="18" charset="0"/>
                                  <a:cs typeface="Arial" panose="020B0604020202020204" pitchFamily="34" charset="0"/>
                                </a:rPr>
                              </m:ctrlPr>
                            </m:sSubPr>
                            <m:e>
                              <m:r>
                                <a:rPr lang="en-US" sz="2000" b="1" i="1" smtClean="0">
                                  <a:solidFill>
                                    <a:srgbClr val="000000"/>
                                  </a:solidFill>
                                  <a:latin typeface="Cambria Math" panose="02040503050406030204" pitchFamily="18" charset="0"/>
                                  <a:cs typeface="Arial" panose="020B0604020202020204" pitchFamily="34" charset="0"/>
                                </a:rPr>
                                <m:t>𝒏</m:t>
                              </m:r>
                            </m:e>
                            <m:sub>
                              <m:r>
                                <a:rPr lang="en-US" sz="2000" b="1" i="1" smtClean="0">
                                  <a:solidFill>
                                    <a:srgbClr val="000000"/>
                                  </a:solidFill>
                                  <a:latin typeface="Cambria Math" panose="02040503050406030204" pitchFamily="18" charset="0"/>
                                  <a:cs typeface="Arial" panose="020B0604020202020204" pitchFamily="34" charset="0"/>
                                </a:rPr>
                                <m:t>𝒋</m:t>
                              </m:r>
                            </m:sub>
                          </m:sSub>
                          <m:sSup>
                            <m:sSupPr>
                              <m:ctrlPr>
                                <a:rPr lang="en-US" sz="2000" b="1" i="1" smtClean="0">
                                  <a:solidFill>
                                    <a:srgbClr val="000000"/>
                                  </a:solidFill>
                                  <a:latin typeface="Cambria Math" panose="02040503050406030204" pitchFamily="18" charset="0"/>
                                  <a:cs typeface="Arial" panose="020B0604020202020204" pitchFamily="34" charset="0"/>
                                </a:rPr>
                              </m:ctrlPr>
                            </m:sSupPr>
                            <m:e>
                              <m:d>
                                <m:dPr>
                                  <m:ctrlPr>
                                    <a:rPr lang="en-US" sz="2000" b="1" i="1" smtClean="0">
                                      <a:solidFill>
                                        <a:srgbClr val="000000"/>
                                      </a:solidFill>
                                      <a:latin typeface="Cambria Math" panose="02040503050406030204" pitchFamily="18" charset="0"/>
                                      <a:cs typeface="Arial" panose="020B0604020202020204" pitchFamily="34" charset="0"/>
                                    </a:rPr>
                                  </m:ctrlPr>
                                </m:dPr>
                                <m:e>
                                  <m:sSub>
                                    <m:sSubPr>
                                      <m:ctrlPr>
                                        <a:rPr lang="en-US" sz="2000" b="1" i="1" smtClean="0">
                                          <a:solidFill>
                                            <a:srgbClr val="000000"/>
                                          </a:solidFill>
                                          <a:latin typeface="Cambria Math" panose="02040503050406030204" pitchFamily="18" charset="0"/>
                                          <a:cs typeface="Arial" panose="020B0604020202020204" pitchFamily="34" charset="0"/>
                                        </a:rPr>
                                      </m:ctrlPr>
                                    </m:sSubPr>
                                    <m:e>
                                      <m:acc>
                                        <m:accPr>
                                          <m:chr m:val="̅"/>
                                          <m:ctrlPr>
                                            <a:rPr lang="en-US" sz="2000" b="1" i="1" smtClean="0">
                                              <a:solidFill>
                                                <a:srgbClr val="000000"/>
                                              </a:solidFill>
                                              <a:latin typeface="Cambria Math" panose="02040503050406030204" pitchFamily="18" charset="0"/>
                                              <a:cs typeface="Arial" panose="020B0604020202020204" pitchFamily="34" charset="0"/>
                                            </a:rPr>
                                          </m:ctrlPr>
                                        </m:accPr>
                                        <m:e>
                                          <m:r>
                                            <a:rPr lang="en-US" sz="2000" b="1" i="1" smtClean="0">
                                              <a:solidFill>
                                                <a:srgbClr val="000000"/>
                                              </a:solidFill>
                                              <a:latin typeface="Cambria Math" panose="02040503050406030204" pitchFamily="18" charset="0"/>
                                              <a:cs typeface="Arial" panose="020B0604020202020204" pitchFamily="34" charset="0"/>
                                            </a:rPr>
                                            <m:t>𝒙</m:t>
                                          </m:r>
                                        </m:e>
                                      </m:acc>
                                    </m:e>
                                    <m:sub>
                                      <m:r>
                                        <a:rPr lang="en-US" sz="2000" b="1" i="1" smtClean="0">
                                          <a:solidFill>
                                            <a:srgbClr val="000000"/>
                                          </a:solidFill>
                                          <a:latin typeface="Cambria Math" panose="02040503050406030204" pitchFamily="18" charset="0"/>
                                          <a:cs typeface="Arial" panose="020B0604020202020204" pitchFamily="34" charset="0"/>
                                        </a:rPr>
                                        <m:t>𝒋</m:t>
                                      </m:r>
                                    </m:sub>
                                  </m:sSub>
                                  <m:r>
                                    <a:rPr lang="en-US" sz="2000" b="1" i="1" smtClean="0">
                                      <a:solidFill>
                                        <a:srgbClr val="000000"/>
                                      </a:solidFill>
                                      <a:latin typeface="Cambria Math" panose="02040503050406030204" pitchFamily="18" charset="0"/>
                                      <a:cs typeface="Arial" panose="020B0604020202020204" pitchFamily="34" charset="0"/>
                                    </a:rPr>
                                    <m:t>−</m:t>
                                  </m:r>
                                  <m:acc>
                                    <m:accPr>
                                      <m:chr m:val="̿"/>
                                      <m:ctrlPr>
                                        <a:rPr lang="en-US" sz="2000" b="1" i="1" smtClean="0">
                                          <a:solidFill>
                                            <a:srgbClr val="000000"/>
                                          </a:solidFill>
                                          <a:latin typeface="Cambria Math" panose="02040503050406030204" pitchFamily="18" charset="0"/>
                                          <a:cs typeface="Arial" panose="020B0604020202020204" pitchFamily="34" charset="0"/>
                                        </a:rPr>
                                      </m:ctrlPr>
                                    </m:accPr>
                                    <m:e>
                                      <m:r>
                                        <a:rPr lang="en-US" sz="2000" b="1" i="1" smtClean="0">
                                          <a:solidFill>
                                            <a:srgbClr val="000000"/>
                                          </a:solidFill>
                                          <a:latin typeface="Cambria Math" panose="02040503050406030204" pitchFamily="18" charset="0"/>
                                          <a:cs typeface="Arial" panose="020B0604020202020204" pitchFamily="34" charset="0"/>
                                        </a:rPr>
                                        <m:t>𝒙</m:t>
                                      </m:r>
                                    </m:e>
                                  </m:acc>
                                </m:e>
                              </m:d>
                            </m:e>
                            <m:sup>
                              <m:r>
                                <a:rPr lang="en-US" sz="2000" b="1" i="1" smtClean="0">
                                  <a:solidFill>
                                    <a:srgbClr val="000000"/>
                                  </a:solidFill>
                                  <a:latin typeface="Cambria Math" panose="02040503050406030204" pitchFamily="18" charset="0"/>
                                  <a:cs typeface="Arial" panose="020B0604020202020204" pitchFamily="34" charset="0"/>
                                </a:rPr>
                                <m:t>𝟐</m:t>
                              </m:r>
                            </m:sup>
                          </m:sSup>
                        </m:e>
                      </m:nary>
                      <m:r>
                        <a:rPr lang="en-US" sz="2000" b="0" i="1" smtClean="0">
                          <a:solidFill>
                            <a:srgbClr val="000000"/>
                          </a:solidFill>
                          <a:latin typeface="Cambria Math" panose="02040503050406030204" pitchFamily="18" charset="0"/>
                          <a:cs typeface="Arial" panose="020B0604020202020204" pitchFamily="34" charset="0"/>
                        </a:rPr>
                        <m:t> </m:t>
                      </m:r>
                      <m:r>
                        <m:rPr>
                          <m:nor/>
                        </m:rPr>
                        <a:rPr lang="en-US" sz="2000" b="0" i="0" smtClean="0">
                          <a:solidFill>
                            <a:srgbClr val="000000"/>
                          </a:solidFill>
                          <a:latin typeface="Cambria Math" panose="02040503050406030204" pitchFamily="18" charset="0"/>
                          <a:cs typeface="Arial" panose="020B0604020202020204" pitchFamily="34" charset="0"/>
                        </a:rPr>
                        <m:t>   </m:t>
                      </m:r>
                      <m:r>
                        <m:rPr>
                          <m:nor/>
                        </m:rPr>
                        <a:rPr lang="en-US" sz="2000" b="0" i="0" smtClean="0">
                          <a:solidFill>
                            <a:srgbClr val="000000"/>
                          </a:solidFill>
                          <a:latin typeface="Arial" panose="020B0604020202020204" pitchFamily="34" charset="0"/>
                          <a:cs typeface="Arial" panose="020B0604020202020204" pitchFamily="34" charset="0"/>
                        </a:rPr>
                        <m:t>is</m:t>
                      </m:r>
                      <m:r>
                        <m:rPr>
                          <m:nor/>
                        </m:rPr>
                        <a:rPr lang="en-US" sz="2000" b="0" i="0" smtClean="0">
                          <a:solidFill>
                            <a:srgbClr val="000000"/>
                          </a:solidFill>
                          <a:latin typeface="Arial" panose="020B0604020202020204" pitchFamily="34" charset="0"/>
                          <a:cs typeface="Arial" panose="020B0604020202020204" pitchFamily="34" charset="0"/>
                        </a:rPr>
                        <m:t> </m:t>
                      </m:r>
                      <m:r>
                        <m:rPr>
                          <m:nor/>
                        </m:rPr>
                        <a:rPr lang="en-US" sz="2000" b="0" i="0" smtClean="0">
                          <a:solidFill>
                            <a:srgbClr val="000000"/>
                          </a:solidFill>
                          <a:latin typeface="Arial" panose="020B0604020202020204" pitchFamily="34" charset="0"/>
                          <a:cs typeface="Arial" panose="020B0604020202020204" pitchFamily="34" charset="0"/>
                        </a:rPr>
                        <m:t>the</m:t>
                      </m:r>
                      <m:r>
                        <m:rPr>
                          <m:nor/>
                        </m:rPr>
                        <a:rPr lang="en-US" sz="2000" b="0" i="0"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sum</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of</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squares</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due</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to</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treatments</m:t>
                      </m:r>
                    </m:oMath>
                  </m:oMathPara>
                </a14:m>
                <a:endParaRPr lang="en-US" sz="2000" i="1" dirty="0">
                  <a:solidFill>
                    <a:srgbClr val="000000"/>
                  </a:solidFill>
                  <a:latin typeface="Arial" panose="020B0604020202020204" pitchFamily="34" charset="0"/>
                  <a:cs typeface="Arial" panose="020B0604020202020204" pitchFamily="34" charset="0"/>
                </a:endParaRPr>
              </a:p>
              <a:p>
                <a:pPr marL="914400">
                  <a:spcBef>
                    <a:spcPts val="600"/>
                  </a:spcBef>
                </a:pPr>
                <a14:m>
                  <m:oMath xmlns:m="http://schemas.openxmlformats.org/officeDocument/2006/math">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𝑛</m:t>
                        </m:r>
                      </m:e>
                      <m:sub>
                        <m:r>
                          <a:rPr lang="en-US" sz="2000" b="0" i="1" smtClean="0">
                            <a:solidFill>
                              <a:srgbClr val="000000"/>
                            </a:solidFill>
                            <a:latin typeface="Cambria Math" panose="02040503050406030204" pitchFamily="18" charset="0"/>
                            <a:cs typeface="Arial" panose="020B0604020202020204" pitchFamily="34" charset="0"/>
                          </a:rPr>
                          <m:t>𝑗</m:t>
                        </m:r>
                      </m:sub>
                    </m:sSub>
                  </m:oMath>
                </a14:m>
                <a:r>
                  <a:rPr lang="en-US" sz="2000" dirty="0">
                    <a:solidFill>
                      <a:srgbClr val="000000"/>
                    </a:solidFill>
                    <a:latin typeface="Arial" panose="020B0604020202020204" pitchFamily="34" charset="0"/>
                    <a:cs typeface="Arial" panose="020B0604020202020204" pitchFamily="34" charset="0"/>
                  </a:rPr>
                  <a:t> is the sample size of treatment </a:t>
                </a:r>
                <a:r>
                  <a:rPr lang="en-US" sz="2000" i="1" dirty="0">
                    <a:solidFill>
                      <a:srgbClr val="000000"/>
                    </a:solidFill>
                    <a:latin typeface="Arial" panose="020B0604020202020204" pitchFamily="34" charset="0"/>
                    <a:cs typeface="Arial" panose="020B0604020202020204" pitchFamily="34" charset="0"/>
                  </a:rPr>
                  <a:t>j</a:t>
                </a:r>
                <a:r>
                  <a:rPr lang="en-US" sz="2000" dirty="0">
                    <a:solidFill>
                      <a:srgbClr val="000000"/>
                    </a:solidFill>
                    <a:latin typeface="Arial" panose="020B0604020202020204" pitchFamily="34" charset="0"/>
                    <a:cs typeface="Arial" panose="020B0604020202020204" pitchFamily="34" charset="0"/>
                  </a:rPr>
                  <a:t>, with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𝑗</m:t>
                    </m:r>
                    <m:r>
                      <a:rPr lang="en-US" sz="2000" i="1" dirty="0" smtClean="0">
                        <a:solidFill>
                          <a:srgbClr val="000000"/>
                        </a:solidFill>
                        <a:latin typeface="Cambria Math" panose="02040503050406030204" pitchFamily="18" charset="0"/>
                        <a:cs typeface="Arial" panose="020B0604020202020204" pitchFamily="34" charset="0"/>
                      </a:rPr>
                      <m:t>=1…</m:t>
                    </m:r>
                    <m:r>
                      <a:rPr lang="en-US" sz="2000" i="1" dirty="0" smtClean="0">
                        <a:solidFill>
                          <a:srgbClr val="000000"/>
                        </a:solidFill>
                        <a:latin typeface="Cambria Math" panose="02040503050406030204" pitchFamily="18" charset="0"/>
                        <a:cs typeface="Arial" panose="020B0604020202020204" pitchFamily="34" charset="0"/>
                      </a:rPr>
                      <m:t>𝑘</m:t>
                    </m:r>
                  </m:oMath>
                </a14:m>
                <a:endParaRPr lang="en-US" sz="2000" dirty="0">
                  <a:solidFill>
                    <a:srgbClr val="000000"/>
                  </a:solidFill>
                  <a:latin typeface="Arial" panose="020B0604020202020204" pitchFamily="34" charset="0"/>
                  <a:cs typeface="Arial" panose="020B0604020202020204" pitchFamily="34" charset="0"/>
                </a:endParaRPr>
              </a:p>
              <a:p>
                <a:pPr marL="914400">
                  <a:spcBef>
                    <a:spcPts val="600"/>
                  </a:spcBef>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𝑗</m:t>
                        </m:r>
                      </m:sub>
                    </m:sSub>
                    <m:r>
                      <a:rPr lang="en-US" sz="2000" i="1">
                        <a:latin typeface="Cambria Math" panose="02040503050406030204" pitchFamily="18" charset="0"/>
                        <a:cs typeface="Arial" panose="020B0604020202020204" pitchFamily="34" charset="0"/>
                      </a:rPr>
                      <m:t> </m:t>
                    </m:r>
                  </m:oMath>
                </a14:m>
                <a:r>
                  <a:rPr lang="en-US" sz="2000" dirty="0">
                    <a:solidFill>
                      <a:srgbClr val="000000"/>
                    </a:solidFill>
                    <a:latin typeface="Arial" panose="020B0604020202020204" pitchFamily="34" charset="0"/>
                    <a:cs typeface="Arial" panose="020B0604020202020204" pitchFamily="34" charset="0"/>
                  </a:rPr>
                  <a:t>is the sample mean of treatment </a:t>
                </a:r>
                <a:r>
                  <a:rPr lang="en-US" sz="2000" i="1" dirty="0">
                    <a:solidFill>
                      <a:srgbClr val="000000"/>
                    </a:solidFill>
                    <a:latin typeface="Arial" panose="020B0604020202020204" pitchFamily="34" charset="0"/>
                    <a:cs typeface="Arial" panose="020B0604020202020204" pitchFamily="34" charset="0"/>
                  </a:rPr>
                  <a:t>j</a:t>
                </a:r>
                <a:r>
                  <a:rPr lang="en-US" sz="2000" dirty="0">
                    <a:solidFill>
                      <a:srgbClr val="000000"/>
                    </a:solidFill>
                    <a:latin typeface="Arial" panose="020B0604020202020204" pitchFamily="34" charset="0"/>
                    <a:cs typeface="Arial" panose="020B0604020202020204" pitchFamily="34" charset="0"/>
                  </a:rPr>
                  <a:t>, with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𝑗</m:t>
                    </m:r>
                    <m:r>
                      <a:rPr lang="en-US" sz="2000" i="1" dirty="0" smtClean="0">
                        <a:solidFill>
                          <a:srgbClr val="000000"/>
                        </a:solidFill>
                        <a:latin typeface="Cambria Math" panose="02040503050406030204" pitchFamily="18" charset="0"/>
                        <a:cs typeface="Arial" panose="020B0604020202020204" pitchFamily="34" charset="0"/>
                      </a:rPr>
                      <m:t>=1…</m:t>
                    </m:r>
                    <m:r>
                      <a:rPr lang="en-US" sz="2000" i="1" dirty="0" smtClean="0">
                        <a:solidFill>
                          <a:srgbClr val="000000"/>
                        </a:solidFill>
                        <a:latin typeface="Cambria Math" panose="02040503050406030204" pitchFamily="18" charset="0"/>
                        <a:cs typeface="Arial" panose="020B0604020202020204" pitchFamily="34" charset="0"/>
                      </a:rPr>
                      <m:t>𝑘</m:t>
                    </m:r>
                  </m:oMath>
                </a14:m>
                <a:endParaRPr lang="en-US" sz="2000" dirty="0">
                  <a:solidFill>
                    <a:srgbClr val="000000"/>
                  </a:solidFill>
                  <a:latin typeface="Arial" panose="020B0604020202020204" pitchFamily="34" charset="0"/>
                  <a:cs typeface="Arial" panose="020B0604020202020204" pitchFamily="34" charset="0"/>
                </a:endParaRPr>
              </a:p>
              <a:p>
                <a:pPr marL="914400">
                  <a:lnSpc>
                    <a:spcPct val="100000"/>
                  </a:lnSpc>
                  <a:spcBef>
                    <a:spcPts val="600"/>
                  </a:spcBef>
                </a:pPr>
                <a14:m>
                  <m:oMath xmlns:m="http://schemas.openxmlformats.org/officeDocument/2006/math">
                    <m:acc>
                      <m:accPr>
                        <m:chr m:val="̿"/>
                        <m:ctrlPr>
                          <a:rPr lang="en-US" sz="2000" b="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𝑥</m:t>
                        </m:r>
                      </m:e>
                    </m:acc>
                  </m:oMath>
                </a14:m>
                <a:r>
                  <a:rPr lang="en-US" sz="2000" dirty="0">
                    <a:solidFill>
                      <a:srgbClr val="000000"/>
                    </a:solidFill>
                    <a:latin typeface="Arial" panose="020B0604020202020204" pitchFamily="34" charset="0"/>
                    <a:cs typeface="Arial" panose="020B0604020202020204" pitchFamily="34" charset="0"/>
                  </a:rPr>
                  <a:t> is the overall sample mean</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66862"/>
                <a:ext cx="10711543" cy="4267631"/>
              </a:xfrm>
              <a:blipFill>
                <a:blip r:embed="rId2"/>
                <a:stretch>
                  <a:fillRect l="-1422" t="-1714" b="-2000"/>
                </a:stretch>
              </a:blipFill>
            </p:spPr>
            <p:txBody>
              <a:bodyPr/>
              <a:lstStyle/>
              <a:p>
                <a:r>
                  <a:rPr lang="en-US">
                    <a:noFill/>
                  </a:rPr>
                  <a:t> </a:t>
                </a:r>
              </a:p>
            </p:txBody>
          </p:sp>
        </mc:Fallback>
      </mc:AlternateContent>
    </p:spTree>
    <p:extLst>
      <p:ext uri="{BB962C8B-B14F-4D97-AF65-F5344CB8AC3E}">
        <p14:creationId xmlns:p14="http://schemas.microsoft.com/office/powerpoint/2010/main" val="1015735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88735" y="365125"/>
            <a:ext cx="11180379" cy="672105"/>
          </a:xfrm>
        </p:spPr>
        <p:txBody>
          <a:bodyPr/>
          <a:lstStyle/>
          <a:p>
            <a:r>
              <a:rPr lang="en-US" sz="3200" dirty="0"/>
              <a:t>13.2 Within-Treatments Estimate of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43216"/>
                <a:ext cx="10711543" cy="4213305"/>
              </a:xfrm>
            </p:spPr>
            <p:txBody>
              <a:bodyPr/>
              <a:lstStyle/>
              <a:p>
                <a:pPr>
                  <a:lnSpc>
                    <a:spcPct val="100000"/>
                  </a:lnSpc>
                  <a:spcBef>
                    <a:spcPts val="600"/>
                  </a:spcBef>
                </a:pPr>
                <a:r>
                  <a:rPr lang="en-US" sz="2000" dirty="0">
                    <a:solidFill>
                      <a:srgbClr val="000000"/>
                    </a:solidFill>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withi</a:t>
                </a:r>
                <a:r>
                  <a:rPr lang="en-US" sz="2000" dirty="0">
                    <a:solidFill>
                      <a:srgbClr val="000000"/>
                    </a:solidFill>
                    <a:latin typeface="Arial" panose="020B0604020202020204" pitchFamily="34" charset="0"/>
                    <a:cs typeface="Arial" panose="020B0604020202020204" pitchFamily="34" charset="0"/>
                  </a:rPr>
                  <a:t>n-treatments estimate of the population variance,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solidFill>
                      <a:srgbClr val="000000"/>
                    </a:solidFill>
                    <a:latin typeface="Arial" panose="020B0604020202020204" pitchFamily="34" charset="0"/>
                    <a:cs typeface="Arial" panose="020B0604020202020204" pitchFamily="34" charset="0"/>
                  </a:rPr>
                  <a:t>, is called the </a:t>
                </a:r>
                <a:r>
                  <a:rPr lang="en-US" sz="2000" b="1" dirty="0">
                    <a:solidFill>
                      <a:srgbClr val="000000"/>
                    </a:solidFill>
                    <a:latin typeface="Arial" panose="020B0604020202020204" pitchFamily="34" charset="0"/>
                    <a:cs typeface="Arial" panose="020B0604020202020204" pitchFamily="34" charset="0"/>
                  </a:rPr>
                  <a:t>mean square due to error</a:t>
                </a:r>
                <a:r>
                  <a:rPr lang="en-US" sz="2000" dirty="0">
                    <a:solidFill>
                      <a:srgbClr val="000000"/>
                    </a:solidFill>
                    <a:latin typeface="Arial" panose="020B0604020202020204" pitchFamily="34" charset="0"/>
                    <a:cs typeface="Arial" panose="020B0604020202020204" pitchFamily="34" charset="0"/>
                  </a:rPr>
                  <a:t> and is denoted MSE. </a:t>
                </a:r>
              </a:p>
              <a:p>
                <a:pPr>
                  <a:lnSpc>
                    <a:spcPct val="100000"/>
                  </a:lnSpc>
                  <a:spcBef>
                    <a:spcPts val="600"/>
                  </a:spcBef>
                </a:pPr>
                <a:r>
                  <a:rPr lang="en-US" sz="2000" dirty="0">
                    <a:solidFill>
                      <a:srgbClr val="000000"/>
                    </a:solidFill>
                    <a:latin typeface="Arial" panose="020B0604020202020204" pitchFamily="34" charset="0"/>
                    <a:cs typeface="Arial" panose="020B0604020202020204" pitchFamily="34" charset="0"/>
                  </a:rPr>
                  <a:t>Because MSE is based on the variation within each of the treatments, and it is not influenced by whether the null hypothesis is true, MSE always provides an unbiased estimate of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solidFill>
                      <a:srgbClr val="000000"/>
                    </a:solidFill>
                    <a:latin typeface="Arial" panose="020B0604020202020204" pitchFamily="34" charset="0"/>
                    <a:cs typeface="Arial" panose="020B0604020202020204" pitchFamily="34" charset="0"/>
                  </a:rPr>
                  <a:t>.</a:t>
                </a:r>
              </a:p>
              <a:p>
                <a:pPr>
                  <a:lnSpc>
                    <a:spcPct val="100000"/>
                  </a:lnSpc>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The general formula for computing MSE is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𝑴𝑺𝑬</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𝑺𝑺𝑬</m:t>
                          </m:r>
                        </m:num>
                        <m:den>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𝒏</m:t>
                              </m:r>
                            </m:e>
                            <m:sub>
                              <m:r>
                                <a:rPr lang="en-US" sz="2000" b="1" i="1" smtClean="0">
                                  <a:latin typeface="Cambria Math" panose="02040503050406030204" pitchFamily="18" charset="0"/>
                                  <a:cs typeface="Arial" panose="020B0604020202020204" pitchFamily="34" charset="0"/>
                                </a:rPr>
                                <m:t>𝑻</m:t>
                              </m:r>
                            </m:sub>
                          </m:sSub>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𝒌</m:t>
                          </m:r>
                        </m:den>
                      </m:f>
                    </m:oMath>
                  </m:oMathPara>
                </a14:m>
                <a:endParaRPr lang="en-US" sz="2000" b="1" dirty="0">
                  <a:latin typeface="Arial" panose="020B0604020202020204" pitchFamily="34" charset="0"/>
                  <a:cs typeface="Arial" panose="020B0604020202020204" pitchFamily="34" charset="0"/>
                </a:endParaRPr>
              </a:p>
              <a:p>
                <a:pPr>
                  <a:spcBef>
                    <a:spcPts val="600"/>
                  </a:spcBef>
                </a:pPr>
                <a:r>
                  <a:rPr lang="en-US" sz="2000" dirty="0">
                    <a:solidFill>
                      <a:srgbClr val="000000"/>
                    </a:solidFill>
                    <a:latin typeface="Arial" panose="020B0604020202020204" pitchFamily="34" charset="0"/>
                    <a:cs typeface="Arial" panose="020B0604020202020204" pitchFamily="34" charset="0"/>
                  </a:rPr>
                  <a:t>Where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m:rPr>
                        <m:nor/>
                      </m:rPr>
                      <a:rPr lang="en-US" sz="2000">
                        <a:latin typeface="Cambria Math" panose="02040503050406030204" pitchFamily="18" charset="0"/>
                        <a:cs typeface="Arial" panose="020B0604020202020204" pitchFamily="34" charset="0"/>
                      </a:rPr>
                      <m:t> </m:t>
                    </m:r>
                    <m:r>
                      <m:rPr>
                        <m:nor/>
                      </m:rPr>
                      <a:rPr lang="en-US" sz="2000">
                        <a:latin typeface="Arial" panose="020B0604020202020204" pitchFamily="34" charset="0"/>
                        <a:cs typeface="Arial" panose="020B0604020202020204" pitchFamily="34" charset="0"/>
                      </a:rPr>
                      <m:t>is</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the</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total</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number</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of</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observations</m:t>
                    </m:r>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cs typeface="Arial" panose="020B0604020202020204" pitchFamily="34" charset="0"/>
                          </a:rPr>
                          <m:t>𝑛</m:t>
                        </m:r>
                      </m:e>
                      <m:sub>
                        <m:r>
                          <a:rPr lang="en-US" sz="2000" i="1" smtClean="0">
                            <a:latin typeface="Cambria Math" panose="02040503050406030204" pitchFamily="18" charset="0"/>
                            <a:cs typeface="Arial" panose="020B0604020202020204" pitchFamily="34" charset="0"/>
                          </a:rPr>
                          <m:t>𝑇</m:t>
                        </m:r>
                      </m:sub>
                    </m:sSub>
                    <m:r>
                      <a:rPr lang="en-US" sz="2000" i="1" smtClean="0">
                        <a:latin typeface="Cambria Math" panose="02040503050406030204" pitchFamily="18" charset="0"/>
                        <a:cs typeface="Arial" panose="020B0604020202020204" pitchFamily="34" charset="0"/>
                      </a:rPr>
                      <m:t>−</m:t>
                    </m:r>
                    <m:r>
                      <a:rPr lang="en-US" sz="2000" i="1" smtClean="0">
                        <a:latin typeface="Cambria Math" panose="02040503050406030204" pitchFamily="18" charset="0"/>
                        <a:cs typeface="Arial" panose="020B0604020202020204" pitchFamily="34" charset="0"/>
                      </a:rPr>
                      <m:t>𝑘</m:t>
                    </m:r>
                  </m:oMath>
                </a14:m>
                <a:r>
                  <a:rPr lang="en-US" sz="2000" dirty="0">
                    <a:solidFill>
                      <a:srgbClr val="000000"/>
                    </a:solidFill>
                    <a:latin typeface="Arial" panose="020B0604020202020204" pitchFamily="34" charset="0"/>
                    <a:cs typeface="Arial" panose="020B0604020202020204" pitchFamily="34" charset="0"/>
                  </a:rPr>
                  <a:t> the denominator degrees of freedom.</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solidFill>
                            <a:srgbClr val="000000"/>
                          </a:solidFill>
                          <a:latin typeface="Cambria Math" panose="02040503050406030204" pitchFamily="18" charset="0"/>
                          <a:cs typeface="Arial" panose="020B0604020202020204" pitchFamily="34" charset="0"/>
                        </a:rPr>
                        <m:t>𝑺𝑺𝑬</m:t>
                      </m:r>
                      <m:r>
                        <a:rPr lang="en-US" sz="2000" b="1" i="1" smtClean="0">
                          <a:solidFill>
                            <a:srgbClr val="000000"/>
                          </a:solidFill>
                          <a:latin typeface="Cambria Math" panose="02040503050406030204" pitchFamily="18" charset="0"/>
                          <a:cs typeface="Arial" panose="020B0604020202020204" pitchFamily="34" charset="0"/>
                        </a:rPr>
                        <m:t>=</m:t>
                      </m:r>
                      <m:nary>
                        <m:naryPr>
                          <m:chr m:val="∑"/>
                          <m:ctrlPr>
                            <a:rPr lang="en-US" sz="2000" b="1" i="1" smtClean="0">
                              <a:solidFill>
                                <a:srgbClr val="000000"/>
                              </a:solidFill>
                              <a:latin typeface="Cambria Math" panose="02040503050406030204" pitchFamily="18" charset="0"/>
                              <a:cs typeface="Arial" panose="020B0604020202020204" pitchFamily="34" charset="0"/>
                            </a:rPr>
                          </m:ctrlPr>
                        </m:naryPr>
                        <m:sub>
                          <m:r>
                            <m:rPr>
                              <m:brk m:alnAt="23"/>
                            </m:rPr>
                            <a:rPr lang="en-US" sz="2000" b="1" i="1" smtClean="0">
                              <a:solidFill>
                                <a:srgbClr val="000000"/>
                              </a:solidFill>
                              <a:latin typeface="Cambria Math" panose="02040503050406030204" pitchFamily="18" charset="0"/>
                              <a:cs typeface="Arial" panose="020B0604020202020204" pitchFamily="34" charset="0"/>
                            </a:rPr>
                            <m:t>𝒋</m:t>
                          </m:r>
                          <m:r>
                            <a:rPr lang="en-US" sz="2000" b="1" i="1" smtClean="0">
                              <a:solidFill>
                                <a:srgbClr val="000000"/>
                              </a:solidFill>
                              <a:latin typeface="Cambria Math" panose="02040503050406030204" pitchFamily="18" charset="0"/>
                              <a:cs typeface="Arial" panose="020B0604020202020204" pitchFamily="34" charset="0"/>
                            </a:rPr>
                            <m:t>=</m:t>
                          </m:r>
                          <m:r>
                            <a:rPr lang="en-US" sz="2000" b="1" i="1" smtClean="0">
                              <a:solidFill>
                                <a:srgbClr val="000000"/>
                              </a:solidFill>
                              <a:latin typeface="Cambria Math" panose="02040503050406030204" pitchFamily="18" charset="0"/>
                              <a:cs typeface="Arial" panose="020B0604020202020204" pitchFamily="34" charset="0"/>
                            </a:rPr>
                            <m:t>𝟏</m:t>
                          </m:r>
                        </m:sub>
                        <m:sup>
                          <m:r>
                            <a:rPr lang="en-US" sz="2000" b="1" i="1" smtClean="0">
                              <a:solidFill>
                                <a:srgbClr val="000000"/>
                              </a:solidFill>
                              <a:latin typeface="Cambria Math" panose="02040503050406030204" pitchFamily="18" charset="0"/>
                              <a:cs typeface="Arial" panose="020B0604020202020204" pitchFamily="34" charset="0"/>
                            </a:rPr>
                            <m:t>𝒌</m:t>
                          </m:r>
                        </m:sup>
                        <m:e>
                          <m:d>
                            <m:dPr>
                              <m:ctrlPr>
                                <a:rPr lang="en-US" sz="2000" b="1" i="1" smtClean="0">
                                  <a:solidFill>
                                    <a:srgbClr val="000000"/>
                                  </a:solidFill>
                                  <a:latin typeface="Cambria Math" panose="02040503050406030204" pitchFamily="18" charset="0"/>
                                  <a:cs typeface="Arial" panose="020B0604020202020204" pitchFamily="34" charset="0"/>
                                </a:rPr>
                              </m:ctrlPr>
                            </m:dPr>
                            <m:e>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𝒏</m:t>
                                  </m:r>
                                </m:e>
                                <m:sub>
                                  <m:r>
                                    <a:rPr lang="en-US" sz="2000" b="1" i="1">
                                      <a:latin typeface="Cambria Math" panose="02040503050406030204" pitchFamily="18" charset="0"/>
                                      <a:cs typeface="Arial" panose="020B0604020202020204" pitchFamily="34" charset="0"/>
                                    </a:rPr>
                                    <m:t>𝒋</m:t>
                                  </m:r>
                                </m:sub>
                              </m:sSub>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𝟏</m:t>
                              </m:r>
                            </m:e>
                          </m:d>
                          <m:sSubSup>
                            <m:sSubSupPr>
                              <m:ctrlPr>
                                <a:rPr lang="en-US" sz="2000" b="1" i="1" smtClean="0">
                                  <a:solidFill>
                                    <a:srgbClr val="000000"/>
                                  </a:solidFill>
                                  <a:latin typeface="Cambria Math" panose="02040503050406030204" pitchFamily="18" charset="0"/>
                                  <a:cs typeface="Arial" panose="020B0604020202020204" pitchFamily="34" charset="0"/>
                                </a:rPr>
                              </m:ctrlPr>
                            </m:sSubSupPr>
                            <m:e>
                              <m:r>
                                <a:rPr lang="en-US" sz="2000" b="1" i="1" smtClean="0">
                                  <a:solidFill>
                                    <a:srgbClr val="000000"/>
                                  </a:solidFill>
                                  <a:latin typeface="Cambria Math" panose="02040503050406030204" pitchFamily="18" charset="0"/>
                                  <a:cs typeface="Arial" panose="020B0604020202020204" pitchFamily="34" charset="0"/>
                                </a:rPr>
                                <m:t>𝒔</m:t>
                              </m:r>
                            </m:e>
                            <m:sub>
                              <m:r>
                                <a:rPr lang="en-US" sz="2000" b="1" i="1" smtClean="0">
                                  <a:solidFill>
                                    <a:srgbClr val="000000"/>
                                  </a:solidFill>
                                  <a:latin typeface="Cambria Math" panose="02040503050406030204" pitchFamily="18" charset="0"/>
                                  <a:cs typeface="Arial" panose="020B0604020202020204" pitchFamily="34" charset="0"/>
                                </a:rPr>
                                <m:t>𝒋</m:t>
                              </m:r>
                            </m:sub>
                            <m:sup>
                              <m:r>
                                <a:rPr lang="en-US" sz="2000" b="1" i="1" smtClean="0">
                                  <a:solidFill>
                                    <a:srgbClr val="000000"/>
                                  </a:solidFill>
                                  <a:latin typeface="Cambria Math" panose="02040503050406030204" pitchFamily="18" charset="0"/>
                                  <a:cs typeface="Arial" panose="020B0604020202020204" pitchFamily="34" charset="0"/>
                                </a:rPr>
                                <m:t>𝟐</m:t>
                              </m:r>
                            </m:sup>
                          </m:sSubSup>
                        </m:e>
                      </m:nary>
                      <m:r>
                        <a:rPr lang="en-US" sz="2000" b="0" i="1" smtClean="0">
                          <a:solidFill>
                            <a:srgbClr val="000000"/>
                          </a:solidFill>
                          <a:latin typeface="Cambria Math" panose="02040503050406030204" pitchFamily="18" charset="0"/>
                          <a:cs typeface="Arial" panose="020B0604020202020204" pitchFamily="34" charset="0"/>
                        </a:rPr>
                        <m:t>  </m:t>
                      </m:r>
                      <m:r>
                        <m:rPr>
                          <m:nor/>
                        </m:rPr>
                        <a:rPr lang="en-US" sz="2000" b="0" i="0" smtClean="0">
                          <a:solidFill>
                            <a:srgbClr val="000000"/>
                          </a:solidFill>
                          <a:latin typeface="Cambria Math" panose="02040503050406030204" pitchFamily="18" charset="0"/>
                          <a:cs typeface="Arial" panose="020B0604020202020204" pitchFamily="34" charset="0"/>
                        </a:rPr>
                        <m:t>  </m:t>
                      </m:r>
                      <m:r>
                        <m:rPr>
                          <m:nor/>
                        </m:rPr>
                        <a:rPr lang="en-US" sz="2000" b="0" i="0" smtClean="0">
                          <a:solidFill>
                            <a:srgbClr val="000000"/>
                          </a:solidFill>
                          <a:latin typeface="Arial" panose="020B0604020202020204" pitchFamily="34" charset="0"/>
                          <a:cs typeface="Arial" panose="020B0604020202020204" pitchFamily="34" charset="0"/>
                        </a:rPr>
                        <m:t>is</m:t>
                      </m:r>
                      <m:r>
                        <m:rPr>
                          <m:nor/>
                        </m:rPr>
                        <a:rPr lang="en-US" sz="2000" b="0" i="0" smtClean="0">
                          <a:solidFill>
                            <a:srgbClr val="000000"/>
                          </a:solidFill>
                          <a:latin typeface="Arial" panose="020B0604020202020204" pitchFamily="34" charset="0"/>
                          <a:cs typeface="Arial" panose="020B0604020202020204" pitchFamily="34" charset="0"/>
                        </a:rPr>
                        <m:t> </m:t>
                      </m:r>
                      <m:r>
                        <m:rPr>
                          <m:nor/>
                        </m:rPr>
                        <a:rPr lang="en-US" sz="2000" b="0" i="0" smtClean="0">
                          <a:solidFill>
                            <a:srgbClr val="000000"/>
                          </a:solidFill>
                          <a:latin typeface="Arial" panose="020B0604020202020204" pitchFamily="34" charset="0"/>
                          <a:cs typeface="Arial" panose="020B0604020202020204" pitchFamily="34" charset="0"/>
                        </a:rPr>
                        <m:t>the</m:t>
                      </m:r>
                      <m:r>
                        <m:rPr>
                          <m:nor/>
                        </m:rPr>
                        <a:rPr lang="en-US" sz="2000" b="0" i="0"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sum</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of</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squares</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due</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to</m:t>
                      </m:r>
                      <m:r>
                        <m:rPr>
                          <m:nor/>
                        </m:rPr>
                        <a:rPr lang="en-US" sz="2000" b="0" i="1" smtClean="0">
                          <a:solidFill>
                            <a:srgbClr val="000000"/>
                          </a:solidFill>
                          <a:latin typeface="Arial" panose="020B0604020202020204" pitchFamily="34" charset="0"/>
                          <a:cs typeface="Arial" panose="020B0604020202020204" pitchFamily="34" charset="0"/>
                        </a:rPr>
                        <m:t> </m:t>
                      </m:r>
                      <m:r>
                        <m:rPr>
                          <m:nor/>
                        </m:rPr>
                        <a:rPr lang="en-US" sz="2000" b="0" i="1" smtClean="0">
                          <a:solidFill>
                            <a:srgbClr val="000000"/>
                          </a:solidFill>
                          <a:latin typeface="Arial" panose="020B0604020202020204" pitchFamily="34" charset="0"/>
                          <a:cs typeface="Arial" panose="020B0604020202020204" pitchFamily="34" charset="0"/>
                        </a:rPr>
                        <m:t>error</m:t>
                      </m:r>
                    </m:oMath>
                  </m:oMathPara>
                </a14:m>
                <a:endParaRPr lang="en-US" sz="2000" i="1" dirty="0">
                  <a:solidFill>
                    <a:srgbClr val="000000"/>
                  </a:solidFill>
                  <a:latin typeface="Arial" panose="020B0604020202020204" pitchFamily="34" charset="0"/>
                  <a:cs typeface="Arial" panose="020B0604020202020204" pitchFamily="34" charset="0"/>
                </a:endParaRPr>
              </a:p>
              <a:p>
                <a:pPr>
                  <a:spcBef>
                    <a:spcPts val="600"/>
                  </a:spcBef>
                  <a:spcAft>
                    <a:spcPts val="600"/>
                  </a:spcAft>
                </a:pPr>
                <a:r>
                  <a:rPr lang="en-US" sz="2000" b="0" dirty="0">
                    <a:solidFill>
                      <a:srgbClr val="000000"/>
                    </a:solidFill>
                    <a:cs typeface="Arial" panose="020B0604020202020204" pitchFamily="34" charset="0"/>
                  </a:rPr>
                  <a:t>Where </a:t>
                </a:r>
                <a14:m>
                  <m:oMath xmlns:m="http://schemas.openxmlformats.org/officeDocument/2006/math">
                    <m:sSubSup>
                      <m:sSubSupPr>
                        <m:ctrlPr>
                          <a:rPr lang="en-US" sz="2000" b="0" i="1" smtClean="0">
                            <a:solidFill>
                              <a:srgbClr val="000000"/>
                            </a:solidFill>
                            <a:latin typeface="Cambria Math" panose="02040503050406030204" pitchFamily="18" charset="0"/>
                            <a:cs typeface="Arial" panose="020B0604020202020204" pitchFamily="34" charset="0"/>
                          </a:rPr>
                        </m:ctrlPr>
                      </m:sSubSupPr>
                      <m:e>
                        <m:r>
                          <a:rPr lang="en-US" sz="2000" b="0" i="1" smtClean="0">
                            <a:solidFill>
                              <a:srgbClr val="000000"/>
                            </a:solidFill>
                            <a:latin typeface="Cambria Math" panose="02040503050406030204" pitchFamily="18" charset="0"/>
                            <a:cs typeface="Arial" panose="020B0604020202020204" pitchFamily="34" charset="0"/>
                          </a:rPr>
                          <m:t>𝑠</m:t>
                        </m:r>
                      </m:e>
                      <m:sub>
                        <m:r>
                          <a:rPr lang="en-US" sz="2000" b="0" i="1" smtClean="0">
                            <a:solidFill>
                              <a:srgbClr val="000000"/>
                            </a:solidFill>
                            <a:latin typeface="Cambria Math" panose="02040503050406030204" pitchFamily="18" charset="0"/>
                            <a:cs typeface="Arial" panose="020B0604020202020204" pitchFamily="34" charset="0"/>
                          </a:rPr>
                          <m:t>𝑗</m:t>
                        </m:r>
                      </m:sub>
                      <m:sup>
                        <m:r>
                          <a:rPr lang="en-US" sz="2000" b="0" i="1" smtClean="0">
                            <a:solidFill>
                              <a:srgbClr val="000000"/>
                            </a:solidFill>
                            <a:latin typeface="Cambria Math" panose="02040503050406030204" pitchFamily="18" charset="0"/>
                            <a:cs typeface="Arial" panose="020B0604020202020204" pitchFamily="34" charset="0"/>
                          </a:rPr>
                          <m:t>2</m:t>
                        </m:r>
                      </m:sup>
                    </m:sSubSup>
                  </m:oMath>
                </a14:m>
                <a:r>
                  <a:rPr lang="en-US" sz="2000" dirty="0">
                    <a:solidFill>
                      <a:srgbClr val="000000"/>
                    </a:solidFill>
                    <a:latin typeface="Arial" panose="020B0604020202020204" pitchFamily="34" charset="0"/>
                    <a:cs typeface="Arial" panose="020B0604020202020204" pitchFamily="34" charset="0"/>
                  </a:rPr>
                  <a:t> is the sample variance of treatment </a:t>
                </a:r>
                <a:r>
                  <a:rPr lang="en-US" sz="2000" i="1" dirty="0">
                    <a:solidFill>
                      <a:srgbClr val="000000"/>
                    </a:solidFill>
                    <a:latin typeface="Arial" panose="020B0604020202020204" pitchFamily="34" charset="0"/>
                    <a:cs typeface="Arial" panose="020B0604020202020204" pitchFamily="34" charset="0"/>
                  </a:rPr>
                  <a:t>j</a:t>
                </a:r>
                <a:r>
                  <a:rPr lang="en-US" sz="2000" dirty="0">
                    <a:solidFill>
                      <a:srgbClr val="000000"/>
                    </a:solidFill>
                    <a:latin typeface="Arial" panose="020B0604020202020204" pitchFamily="34" charset="0"/>
                    <a:cs typeface="Arial" panose="020B0604020202020204" pitchFamily="34" charset="0"/>
                  </a:rPr>
                  <a:t>, with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𝑗</m:t>
                    </m:r>
                    <m:r>
                      <a:rPr lang="en-US" sz="2000" i="1" dirty="0" smtClean="0">
                        <a:solidFill>
                          <a:srgbClr val="000000"/>
                        </a:solidFill>
                        <a:latin typeface="Cambria Math" panose="02040503050406030204" pitchFamily="18" charset="0"/>
                        <a:cs typeface="Arial" panose="020B0604020202020204" pitchFamily="34" charset="0"/>
                      </a:rPr>
                      <m:t>=1…</m:t>
                    </m:r>
                    <m:r>
                      <a:rPr lang="en-US" sz="2000" i="1" dirty="0" smtClean="0">
                        <a:solidFill>
                          <a:srgbClr val="000000"/>
                        </a:solidFill>
                        <a:latin typeface="Cambria Math" panose="02040503050406030204" pitchFamily="18" charset="0"/>
                        <a:cs typeface="Arial" panose="020B0604020202020204" pitchFamily="34" charset="0"/>
                      </a:rPr>
                      <m:t>𝑘</m:t>
                    </m:r>
                  </m:oMath>
                </a14:m>
                <a:endParaRPr lang="en-US" sz="2000" b="0" i="1" dirty="0">
                  <a:solidFill>
                    <a:srgbClr val="000000"/>
                  </a:solidFill>
                  <a:latin typeface="Cambria Math" panose="02040503050406030204" pitchFamily="18"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43216"/>
                <a:ext cx="10711543" cy="4213305"/>
              </a:xfrm>
              <a:blipFill>
                <a:blip r:embed="rId2"/>
                <a:stretch>
                  <a:fillRect l="-1422" t="-1737" r="-341" b="-1737"/>
                </a:stretch>
              </a:blipFill>
            </p:spPr>
            <p:txBody>
              <a:bodyPr/>
              <a:lstStyle/>
              <a:p>
                <a:r>
                  <a:rPr lang="en-US">
                    <a:noFill/>
                  </a:rPr>
                  <a:t> </a:t>
                </a:r>
              </a:p>
            </p:txBody>
          </p:sp>
        </mc:Fallback>
      </mc:AlternateContent>
    </p:spTree>
    <p:extLst>
      <p:ext uri="{BB962C8B-B14F-4D97-AF65-F5344CB8AC3E}">
        <p14:creationId xmlns:p14="http://schemas.microsoft.com/office/powerpoint/2010/main" val="3612004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96157" y="365125"/>
            <a:ext cx="10584668" cy="672105"/>
          </a:xfrm>
        </p:spPr>
        <p:txBody>
          <a:bodyPr/>
          <a:lstStyle/>
          <a:p>
            <a:r>
              <a:rPr lang="en-US" dirty="0"/>
              <a:t>13.2 Comparing the Variance Estimates: The </a:t>
            </a:r>
            <a:r>
              <a:rPr lang="en-US" i="1" dirty="0"/>
              <a:t>F</a:t>
            </a:r>
            <a:r>
              <a:rPr lang="en-US" dirty="0"/>
              <a: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07677"/>
                <a:ext cx="10711543" cy="4420693"/>
              </a:xfrm>
            </p:spPr>
            <p:txBody>
              <a:bodyPr/>
              <a:lstStyle/>
              <a:p>
                <a:pPr>
                  <a:lnSpc>
                    <a:spcPct val="100000"/>
                  </a:lnSpc>
                  <a:spcBef>
                    <a:spcPts val="600"/>
                  </a:spcBef>
                </a:pPr>
                <a:r>
                  <a:rPr lang="en-US" sz="2000" dirty="0">
                    <a:latin typeface="Arial" panose="020B0604020202020204" pitchFamily="34" charset="0"/>
                    <a:cs typeface="Arial" panose="020B0604020202020204" pitchFamily="34" charset="0"/>
                  </a:rPr>
                  <a:t>We can write the hypothesis t</a:t>
                </a:r>
                <a:r>
                  <a:rPr lang="en-US" sz="2000" dirty="0">
                    <a:solidFill>
                      <a:srgbClr val="000000"/>
                    </a:solidFill>
                    <a:latin typeface="Arial" panose="020B0604020202020204" pitchFamily="34" charset="0"/>
                    <a:cs typeface="Arial" panose="020B0604020202020204" pitchFamily="34" charset="0"/>
                  </a:rPr>
                  <a:t>est for the equality of </a:t>
                </a:r>
                <a:r>
                  <a:rPr lang="en-US" sz="2000" i="1" dirty="0">
                    <a:solidFill>
                      <a:srgbClr val="000000"/>
                    </a:solidFill>
                    <a:latin typeface="Arial" panose="020B0604020202020204" pitchFamily="34" charset="0"/>
                    <a:cs typeface="Arial" panose="020B0604020202020204" pitchFamily="34" charset="0"/>
                  </a:rPr>
                  <a:t>k</a:t>
                </a:r>
                <a:r>
                  <a:rPr lang="en-US" sz="2000" dirty="0">
                    <a:solidFill>
                      <a:srgbClr val="000000"/>
                    </a:solidFill>
                    <a:latin typeface="Arial" panose="020B0604020202020204" pitchFamily="34" charset="0"/>
                    <a:cs typeface="Arial" panose="020B0604020202020204" pitchFamily="34" charset="0"/>
                  </a:rPr>
                  <a:t> population </a:t>
                </a:r>
                <a:r>
                  <a:rPr lang="en-US" sz="2000" dirty="0">
                    <a:latin typeface="Arial" panose="020B0604020202020204" pitchFamily="34" charset="0"/>
                    <a:cs typeface="Arial" panose="020B0604020202020204" pitchFamily="34" charset="0"/>
                  </a:rPr>
                  <a:t>m</a:t>
                </a:r>
                <a:r>
                  <a:rPr lang="en-US" sz="2000" dirty="0">
                    <a:solidFill>
                      <a:srgbClr val="000000"/>
                    </a:solidFill>
                    <a:latin typeface="Arial" panose="020B0604020202020204" pitchFamily="34" charset="0"/>
                    <a:cs typeface="Arial" panose="020B0604020202020204" pitchFamily="34" charset="0"/>
                  </a:rPr>
                  <a:t>eans as</a:t>
                </a:r>
              </a:p>
              <a:p>
                <a:pPr marL="914400">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b="0" i="0"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𝑘</m:t>
                        </m:r>
                      </m:sub>
                    </m:sSub>
                  </m:oMath>
                </a14:m>
                <a:r>
                  <a:rPr lang="en-US" sz="2000" dirty="0"/>
                  <a:t> </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𝑎</m:t>
                        </m:r>
                      </m:sub>
                    </m:sSub>
                    <m:r>
                      <a:rPr lang="en-US" sz="2000" b="0" i="1" smtClean="0">
                        <a:latin typeface="Cambria Math" panose="02040503050406030204" pitchFamily="18" charset="0"/>
                      </a:rPr>
                      <m:t>:</m:t>
                    </m:r>
                  </m:oMath>
                </a14:m>
                <a:r>
                  <a:rPr lang="en-US" sz="2000" dirty="0"/>
                  <a:t> Not all population means are equal</a:t>
                </a:r>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If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m:t>
                        </m:r>
                      </m:sub>
                    </m:sSub>
                  </m:oMath>
                </a14:m>
                <a:r>
                  <a:rPr lang="en-US" sz="2000" dirty="0">
                    <a:solidFill>
                      <a:srgbClr val="000000"/>
                    </a:solidFill>
                    <a:latin typeface="Arial" panose="020B0604020202020204" pitchFamily="34" charset="0"/>
                    <a:cs typeface="Arial" panose="020B0604020202020204" pitchFamily="34" charset="0"/>
                  </a:rPr>
                  <a:t> is true, MSTR and MSE provide two independent, unbiased estimates of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i="1">
                            <a:latin typeface="Cambria Math" panose="02040503050406030204" pitchFamily="18" charset="0"/>
                          </a:rPr>
                          <m:t>2</m:t>
                        </m:r>
                      </m:sup>
                    </m:sSup>
                  </m:oMath>
                </a14:m>
                <a:r>
                  <a:rPr lang="en-US" sz="2000" dirty="0">
                    <a:solidFill>
                      <a:srgbClr val="00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Thus, t</a:t>
                </a:r>
                <a:r>
                  <a:rPr lang="en-US" sz="2000" dirty="0">
                    <a:solidFill>
                      <a:srgbClr val="000000"/>
                    </a:solidFill>
                    <a:latin typeface="Arial" panose="020B0604020202020204" pitchFamily="34" charset="0"/>
                    <a:cs typeface="Arial" panose="020B0604020202020204" pitchFamily="34" charset="0"/>
                  </a:rPr>
                  <a:t>he test statistic for the equality of </a:t>
                </a:r>
                <a:r>
                  <a:rPr lang="en-US" sz="2000" i="1" dirty="0">
                    <a:solidFill>
                      <a:srgbClr val="000000"/>
                    </a:solidFill>
                    <a:latin typeface="Arial" panose="020B0604020202020204" pitchFamily="34" charset="0"/>
                    <a:cs typeface="Arial" panose="020B0604020202020204" pitchFamily="34" charset="0"/>
                  </a:rPr>
                  <a:t>k</a:t>
                </a:r>
                <a:r>
                  <a:rPr lang="en-US" sz="2000" dirty="0">
                    <a:solidFill>
                      <a:srgbClr val="000000"/>
                    </a:solidFill>
                    <a:latin typeface="Arial" panose="020B0604020202020204" pitchFamily="34" charset="0"/>
                    <a:cs typeface="Arial" panose="020B0604020202020204" pitchFamily="34" charset="0"/>
                  </a:rPr>
                  <a:t> population </a:t>
                </a:r>
                <a:r>
                  <a:rPr lang="en-US" sz="2000" dirty="0">
                    <a:latin typeface="Arial" panose="020B0604020202020204" pitchFamily="34" charset="0"/>
                    <a:cs typeface="Arial" panose="020B0604020202020204" pitchFamily="34" charset="0"/>
                  </a:rPr>
                  <a:t>m</a:t>
                </a:r>
                <a:r>
                  <a:rPr lang="en-US" sz="2000" dirty="0">
                    <a:solidFill>
                      <a:srgbClr val="000000"/>
                    </a:solidFill>
                    <a:latin typeface="Arial" panose="020B0604020202020204" pitchFamily="34" charset="0"/>
                    <a:cs typeface="Arial" panose="020B0604020202020204" pitchFamily="34" charset="0"/>
                  </a:rPr>
                  <a:t>eans is written as the ratio of the two mean squares.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𝑭</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𝑴𝑺𝑻𝑹</m:t>
                          </m:r>
                        </m:num>
                        <m:den>
                          <m:r>
                            <a:rPr lang="en-US" sz="2000" b="1" i="1" smtClean="0">
                              <a:latin typeface="Cambria Math" panose="02040503050406030204" pitchFamily="18" charset="0"/>
                              <a:cs typeface="Arial" panose="020B0604020202020204" pitchFamily="34" charset="0"/>
                            </a:rPr>
                            <m:t>𝑴𝑺𝑬</m:t>
                          </m:r>
                        </m:den>
                      </m:f>
                    </m:oMath>
                  </m:oMathPara>
                </a14:m>
                <a:endParaRPr lang="en-US" sz="2000" b="1" dirty="0">
                  <a:solidFill>
                    <a:srgbClr val="000000"/>
                  </a:solidFill>
                  <a:latin typeface="Arial" panose="020B0604020202020204" pitchFamily="34" charset="0"/>
                  <a:cs typeface="Arial" panose="020B0604020202020204" pitchFamily="34" charset="0"/>
                </a:endParaRPr>
              </a:p>
              <a:p>
                <a:pPr>
                  <a:spcBef>
                    <a:spcPts val="600"/>
                  </a:spcBef>
                </a:pPr>
                <a:r>
                  <a:rPr lang="en-US" sz="2000" dirty="0">
                    <a:latin typeface="Arial" panose="020B0604020202020204" pitchFamily="34" charset="0"/>
                    <a:cs typeface="Arial" panose="020B0604020202020204" pitchFamily="34" charset="0"/>
                  </a:rPr>
                  <a:t>T</a:t>
                </a:r>
                <a:r>
                  <a:rPr lang="en-US" sz="2000" dirty="0">
                    <a:solidFill>
                      <a:srgbClr val="000000"/>
                    </a:solidFill>
                    <a:latin typeface="Arial" panose="020B0604020202020204" pitchFamily="34" charset="0"/>
                    <a:cs typeface="Arial" panose="020B0604020202020204" pitchFamily="34" charset="0"/>
                  </a:rPr>
                  <a:t>he test statistic follows an </a:t>
                </a:r>
                <a:r>
                  <a:rPr lang="en-US" sz="2000" i="1" dirty="0">
                    <a:solidFill>
                      <a:srgbClr val="000000"/>
                    </a:solidFill>
                    <a:latin typeface="Arial" panose="020B0604020202020204" pitchFamily="34" charset="0"/>
                    <a:cs typeface="Arial" panose="020B0604020202020204" pitchFamily="34" charset="0"/>
                  </a:rPr>
                  <a:t>F</a:t>
                </a:r>
                <a:r>
                  <a:rPr lang="en-US" sz="2000" dirty="0">
                    <a:solidFill>
                      <a:srgbClr val="000000"/>
                    </a:solidFill>
                    <a:latin typeface="Arial" panose="020B0604020202020204" pitchFamily="34" charset="0"/>
                    <a:cs typeface="Arial" panose="020B0604020202020204" pitchFamily="34" charset="0"/>
                  </a:rPr>
                  <a:t> distribution with </a:t>
                </a:r>
                <a14:m>
                  <m:oMath xmlns:m="http://schemas.openxmlformats.org/officeDocument/2006/math">
                    <m:r>
                      <a:rPr lang="en-US" sz="2000" i="1">
                        <a:latin typeface="Cambria Math" panose="02040503050406030204" pitchFamily="18" charset="0"/>
                        <a:cs typeface="Arial" panose="020B0604020202020204" pitchFamily="34" charset="0"/>
                      </a:rPr>
                      <m:t>𝑘</m:t>
                    </m:r>
                    <m:r>
                      <a:rPr lang="en-US" sz="2000" i="1">
                        <a:latin typeface="Cambria Math" panose="02040503050406030204" pitchFamily="18" charset="0"/>
                        <a:cs typeface="Arial" panose="020B0604020202020204" pitchFamily="34" charset="0"/>
                      </a:rPr>
                      <m:t>−1</m:t>
                    </m:r>
                  </m:oMath>
                </a14:m>
                <a:r>
                  <a:rPr lang="en-US" sz="2000" dirty="0">
                    <a:solidFill>
                      <a:srgbClr val="000000"/>
                    </a:solidFill>
                    <a:latin typeface="Arial" panose="020B0604020202020204" pitchFamily="34" charset="0"/>
                    <a:cs typeface="Arial" panose="020B0604020202020204" pitchFamily="34" charset="0"/>
                  </a:rPr>
                  <a:t> degrees of freedom in the numerator and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𝑇</m:t>
                        </m:r>
                      </m:sub>
                    </m:sSub>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m:t>
                    </m:r>
                  </m:oMath>
                </a14:m>
                <a:r>
                  <a:rPr lang="en-US" sz="2000" dirty="0">
                    <a:solidFill>
                      <a:srgbClr val="000000"/>
                    </a:solidFill>
                    <a:latin typeface="Arial" panose="020B0604020202020204" pitchFamily="34" charset="0"/>
                    <a:cs typeface="Arial" panose="020B0604020202020204" pitchFamily="34" charset="0"/>
                  </a:rPr>
                  <a:t> degrees of freedom in the denominator (*see notes.)</a:t>
                </a:r>
              </a:p>
              <a:p>
                <a:pPr>
                  <a:spcBef>
                    <a:spcPts val="600"/>
                  </a:spcBef>
                  <a:tabLst>
                    <a:tab pos="4232275" algn="l"/>
                    <a:tab pos="7142163" algn="l"/>
                  </a:tabLst>
                </a:pPr>
                <a:r>
                  <a:rPr lang="en-US" sz="2000" dirty="0">
                    <a:latin typeface="Arial" panose="020B0604020202020204" pitchFamily="34" charset="0"/>
                    <a:cs typeface="Arial" panose="020B0604020202020204" pitchFamily="34" charset="0"/>
                  </a:rPr>
                  <a:t>The following rejection rules apply	</a:t>
                </a:r>
              </a:p>
              <a:p>
                <a:pPr marL="914400">
                  <a:spcBef>
                    <a:spcPts val="600"/>
                  </a:spcBef>
                  <a:tabLst>
                    <a:tab pos="4170363" algn="l"/>
                    <a:tab pos="7142163" algn="l"/>
                  </a:tabLst>
                </a:pP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dirty="0">
                    <a:latin typeface="Arial" panose="020B0604020202020204" pitchFamily="34" charset="0"/>
                    <a:cs typeface="Arial" panose="020B0604020202020204" pitchFamily="34" charset="0"/>
                  </a:rPr>
                  <a:t>-value approach: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if </a:t>
                </a:r>
                <a14:m>
                  <m:oMath xmlns:m="http://schemas.openxmlformats.org/officeDocument/2006/math">
                    <m:r>
                      <a:rPr lang="en-US" sz="2000" b="0" i="1" dirty="0" smtClean="0">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endParaRPr lang="en-US" sz="2000" dirty="0">
                  <a:latin typeface="Arial" panose="020B0604020202020204" pitchFamily="34" charset="0"/>
                  <a:cs typeface="Arial" panose="020B0604020202020204" pitchFamily="34" charset="0"/>
                </a:endParaRPr>
              </a:p>
              <a:p>
                <a:pPr marL="914400">
                  <a:spcBef>
                    <a:spcPts val="600"/>
                  </a:spcBef>
                  <a:tabLst>
                    <a:tab pos="4170363" algn="l"/>
                    <a:tab pos="7142163" algn="l"/>
                  </a:tabLst>
                </a:pPr>
                <a:r>
                  <a:rPr lang="en-US" sz="2000" dirty="0">
                    <a:latin typeface="Arial" panose="020B0604020202020204" pitchFamily="34" charset="0"/>
                    <a:cs typeface="Arial" panose="020B0604020202020204" pitchFamily="34" charset="0"/>
                  </a:rPr>
                  <a:t>critical value approach: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if </a:t>
                </a:r>
                <a14:m>
                  <m:oMath xmlns:m="http://schemas.openxmlformats.org/officeDocument/2006/math">
                    <m:r>
                      <a:rPr lang="en-US" sz="2000" b="0" i="1" smtClean="0">
                        <a:latin typeface="Cambria Math" panose="02040503050406030204" pitchFamily="18" charset="0"/>
                        <a:cs typeface="Arial" panose="020B0604020202020204" pitchFamily="34" charset="0"/>
                      </a:rPr>
                      <m:t>𝐹</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𝐹</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dirty="0">
                  <a:solidFill>
                    <a:srgbClr val="000000"/>
                  </a:solidFill>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07677"/>
                <a:ext cx="10711543" cy="4420693"/>
              </a:xfrm>
              <a:blipFill>
                <a:blip r:embed="rId3"/>
                <a:stretch>
                  <a:fillRect l="-1422" t="-1655" r="-1991" b="-2621"/>
                </a:stretch>
              </a:blipFill>
            </p:spPr>
            <p:txBody>
              <a:bodyPr/>
              <a:lstStyle/>
              <a:p>
                <a:r>
                  <a:rPr lang="en-US">
                    <a:noFill/>
                  </a:rPr>
                  <a:t> </a:t>
                </a:r>
              </a:p>
            </p:txBody>
          </p:sp>
        </mc:Fallback>
      </mc:AlternateContent>
    </p:spTree>
    <p:extLst>
      <p:ext uri="{BB962C8B-B14F-4D97-AF65-F5344CB8AC3E}">
        <p14:creationId xmlns:p14="http://schemas.microsoft.com/office/powerpoint/2010/main" val="2139523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88735" y="365125"/>
            <a:ext cx="11180379" cy="672105"/>
          </a:xfrm>
        </p:spPr>
        <p:txBody>
          <a:bodyPr/>
          <a:lstStyle/>
          <a:p>
            <a:r>
              <a:rPr lang="en-US" sz="3200" dirty="0"/>
              <a:t>13.2 Test Statistic for the Chemitech Completely Randomized Design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716197"/>
                <a:ext cx="10711543" cy="3948623"/>
              </a:xfrm>
            </p:spPr>
            <p:txBody>
              <a:bodyPr/>
              <a:lstStyle/>
              <a:p>
                <a:pPr>
                  <a:lnSpc>
                    <a:spcPct val="100000"/>
                  </a:lnSpc>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The calculations of the </a:t>
                </a:r>
                <a:r>
                  <a:rPr lang="en-US" sz="2000" i="1" dirty="0">
                    <a:solidFill>
                      <a:srgbClr val="000000"/>
                    </a:solidFill>
                    <a:latin typeface="Arial" panose="020B0604020202020204" pitchFamily="34" charset="0"/>
                    <a:cs typeface="Arial" panose="020B0604020202020204" pitchFamily="34" charset="0"/>
                  </a:rPr>
                  <a:t>F</a:t>
                </a:r>
                <a:r>
                  <a:rPr lang="en-US" sz="2000" dirty="0">
                    <a:solidFill>
                      <a:srgbClr val="000000"/>
                    </a:solidFill>
                    <a:latin typeface="Arial" panose="020B0604020202020204" pitchFamily="34" charset="0"/>
                    <a:cs typeface="Arial" panose="020B0604020202020204" pitchFamily="34" charset="0"/>
                  </a:rPr>
                  <a:t> statistic for the results of the Chemitech experiment are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𝑆𝑆𝑇𝑅</m:t>
                      </m:r>
                      <m:r>
                        <a:rPr lang="en-US" sz="2000" b="0" i="1" smtClean="0">
                          <a:solidFill>
                            <a:srgbClr val="000000"/>
                          </a:solidFill>
                          <a:latin typeface="Cambria Math" panose="02040503050406030204" pitchFamily="18" charset="0"/>
                          <a:cs typeface="Arial" panose="020B0604020202020204" pitchFamily="34" charset="0"/>
                        </a:rPr>
                        <m:t>=</m:t>
                      </m:r>
                      <m:nary>
                        <m:naryPr>
                          <m:chr m:val="∑"/>
                          <m:ctrlPr>
                            <a:rPr lang="en-US" sz="2000" b="0" i="1" smtClean="0">
                              <a:solidFill>
                                <a:srgbClr val="000000"/>
                              </a:solidFill>
                              <a:latin typeface="Cambria Math" panose="02040503050406030204" pitchFamily="18" charset="0"/>
                              <a:cs typeface="Arial" panose="020B0604020202020204" pitchFamily="34" charset="0"/>
                            </a:rPr>
                          </m:ctrlPr>
                        </m:naryPr>
                        <m:sub>
                          <m:r>
                            <m:rPr>
                              <m:brk m:alnAt="23"/>
                            </m:rPr>
                            <a:rPr lang="en-US" sz="2000" b="0" i="1" smtClean="0">
                              <a:solidFill>
                                <a:srgbClr val="000000"/>
                              </a:solidFill>
                              <a:latin typeface="Cambria Math" panose="02040503050406030204" pitchFamily="18" charset="0"/>
                              <a:cs typeface="Arial" panose="020B0604020202020204" pitchFamily="34" charset="0"/>
                            </a:rPr>
                            <m:t>𝑗</m:t>
                          </m:r>
                          <m:r>
                            <a:rPr lang="en-US" sz="2000" b="0" i="1" smtClean="0">
                              <a:solidFill>
                                <a:srgbClr val="000000"/>
                              </a:solidFill>
                              <a:latin typeface="Cambria Math" panose="02040503050406030204" pitchFamily="18" charset="0"/>
                              <a:cs typeface="Arial" panose="020B0604020202020204" pitchFamily="34" charset="0"/>
                            </a:rPr>
                            <m:t>=1</m:t>
                          </m:r>
                        </m:sub>
                        <m:sup>
                          <m:r>
                            <a:rPr lang="en-US" sz="2000" b="0" i="1" smtClean="0">
                              <a:solidFill>
                                <a:srgbClr val="000000"/>
                              </a:solidFill>
                              <a:latin typeface="Cambria Math" panose="02040503050406030204" pitchFamily="18" charset="0"/>
                              <a:cs typeface="Arial" panose="020B0604020202020204" pitchFamily="34" charset="0"/>
                            </a:rPr>
                            <m:t>3</m:t>
                          </m:r>
                        </m:sup>
                        <m:e>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𝑛</m:t>
                              </m:r>
                            </m:e>
                            <m:sub>
                              <m:r>
                                <a:rPr lang="en-US" sz="2000" b="0" i="1" smtClean="0">
                                  <a:solidFill>
                                    <a:srgbClr val="000000"/>
                                  </a:solidFill>
                                  <a:latin typeface="Cambria Math" panose="02040503050406030204" pitchFamily="18" charset="0"/>
                                  <a:cs typeface="Arial" panose="020B0604020202020204" pitchFamily="34" charset="0"/>
                                </a:rPr>
                                <m:t>𝑗</m:t>
                              </m:r>
                            </m:sub>
                          </m:sSub>
                          <m:sSup>
                            <m:sSupPr>
                              <m:ctrlPr>
                                <a:rPr lang="en-US" sz="2000" b="0" i="1" smtClean="0">
                                  <a:solidFill>
                                    <a:srgbClr val="000000"/>
                                  </a:solidFill>
                                  <a:latin typeface="Cambria Math" panose="02040503050406030204" pitchFamily="18" charset="0"/>
                                  <a:cs typeface="Arial" panose="020B0604020202020204" pitchFamily="34" charset="0"/>
                                </a:rPr>
                              </m:ctrlPr>
                            </m:sSupPr>
                            <m:e>
                              <m:d>
                                <m:dPr>
                                  <m:ctrlPr>
                                    <a:rPr lang="en-US" sz="2000" b="0" i="1" smtClean="0">
                                      <a:solidFill>
                                        <a:srgbClr val="000000"/>
                                      </a:solidFill>
                                      <a:latin typeface="Cambria Math" panose="02040503050406030204" pitchFamily="18" charset="0"/>
                                      <a:cs typeface="Arial" panose="020B0604020202020204" pitchFamily="34" charset="0"/>
                                    </a:rPr>
                                  </m:ctrlPr>
                                </m:dPr>
                                <m:e>
                                  <m:sSub>
                                    <m:sSubPr>
                                      <m:ctrlPr>
                                        <a:rPr lang="en-US" sz="2000" b="0" i="1" smtClean="0">
                                          <a:solidFill>
                                            <a:srgbClr val="000000"/>
                                          </a:solidFill>
                                          <a:latin typeface="Cambria Math" panose="02040503050406030204" pitchFamily="18" charset="0"/>
                                          <a:cs typeface="Arial" panose="020B0604020202020204" pitchFamily="34" charset="0"/>
                                        </a:rPr>
                                      </m:ctrlPr>
                                    </m:sSubPr>
                                    <m:e>
                                      <m:acc>
                                        <m:accPr>
                                          <m:chr m:val="̅"/>
                                          <m:ctrlPr>
                                            <a:rPr lang="en-US" sz="2000" b="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𝑥</m:t>
                                          </m:r>
                                        </m:e>
                                      </m:acc>
                                    </m:e>
                                    <m:sub>
                                      <m:r>
                                        <a:rPr lang="en-US" sz="2000" b="0" i="1" smtClean="0">
                                          <a:solidFill>
                                            <a:srgbClr val="000000"/>
                                          </a:solidFill>
                                          <a:latin typeface="Cambria Math" panose="02040503050406030204" pitchFamily="18" charset="0"/>
                                          <a:cs typeface="Arial" panose="020B0604020202020204" pitchFamily="34" charset="0"/>
                                        </a:rPr>
                                        <m:t>𝑗</m:t>
                                      </m:r>
                                    </m:sub>
                                  </m:sSub>
                                  <m:r>
                                    <a:rPr lang="en-US" sz="2000" b="0" i="1" smtClean="0">
                                      <a:solidFill>
                                        <a:srgbClr val="000000"/>
                                      </a:solidFill>
                                      <a:latin typeface="Cambria Math" panose="02040503050406030204" pitchFamily="18" charset="0"/>
                                      <a:cs typeface="Arial" panose="020B0604020202020204" pitchFamily="34" charset="0"/>
                                    </a:rPr>
                                    <m:t>−</m:t>
                                  </m:r>
                                  <m:acc>
                                    <m:accPr>
                                      <m:chr m:val="̿"/>
                                      <m:ctrlPr>
                                        <a:rPr lang="en-US" sz="2000" b="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𝑥</m:t>
                                      </m:r>
                                    </m:e>
                                  </m:acc>
                                </m:e>
                              </m:d>
                            </m:e>
                            <m:sup>
                              <m:r>
                                <a:rPr lang="en-US" sz="2000" b="0" i="1" smtClean="0">
                                  <a:solidFill>
                                    <a:srgbClr val="000000"/>
                                  </a:solidFill>
                                  <a:latin typeface="Cambria Math" panose="02040503050406030204" pitchFamily="18" charset="0"/>
                                  <a:cs typeface="Arial" panose="020B0604020202020204" pitchFamily="34" charset="0"/>
                                </a:rPr>
                                <m:t>2</m:t>
                              </m:r>
                            </m:sup>
                          </m:sSup>
                        </m:e>
                      </m:nary>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5</m:t>
                          </m:r>
                          <m:d>
                            <m:dPr>
                              <m:ctrlPr>
                                <a:rPr lang="en-US" sz="2000" i="1">
                                  <a:latin typeface="Cambria Math" panose="02040503050406030204" pitchFamily="18" charset="0"/>
                                </a:rPr>
                              </m:ctrlPr>
                            </m:dPr>
                            <m:e>
                              <m:r>
                                <a:rPr lang="en-US" sz="2000" i="1">
                                  <a:latin typeface="Cambria Math" panose="02040503050406030204" pitchFamily="18" charset="0"/>
                                </a:rPr>
                                <m:t>62−60</m:t>
                              </m:r>
                            </m:e>
                          </m:d>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5</m:t>
                          </m:r>
                          <m:d>
                            <m:dPr>
                              <m:ctrlPr>
                                <a:rPr lang="en-US" sz="2000" i="1">
                                  <a:latin typeface="Cambria Math" panose="02040503050406030204" pitchFamily="18" charset="0"/>
                                </a:rPr>
                              </m:ctrlPr>
                            </m:dPr>
                            <m:e>
                              <m:r>
                                <a:rPr lang="en-US" sz="2000" i="1">
                                  <a:latin typeface="Cambria Math" panose="02040503050406030204" pitchFamily="18" charset="0"/>
                                </a:rPr>
                                <m:t>66−60</m:t>
                              </m:r>
                            </m:e>
                          </m:d>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5</m:t>
                          </m:r>
                          <m:d>
                            <m:dPr>
                              <m:ctrlPr>
                                <a:rPr lang="en-US" sz="2000" i="1">
                                  <a:latin typeface="Cambria Math" panose="02040503050406030204" pitchFamily="18" charset="0"/>
                                </a:rPr>
                              </m:ctrlPr>
                            </m:dPr>
                            <m:e>
                              <m:r>
                                <a:rPr lang="en-US" sz="2000" i="1">
                                  <a:latin typeface="Cambria Math" panose="02040503050406030204" pitchFamily="18" charset="0"/>
                                </a:rPr>
                                <m:t>52−60</m:t>
                              </m:r>
                            </m:e>
                          </m:d>
                        </m:e>
                        <m:sup>
                          <m:r>
                            <a:rPr lang="en-US" sz="2000" i="1">
                              <a:latin typeface="Cambria Math" panose="02040503050406030204" pitchFamily="18" charset="0"/>
                            </a:rPr>
                            <m:t>2</m:t>
                          </m:r>
                        </m:sup>
                      </m:sSup>
                      <m:r>
                        <a:rPr lang="en-US" sz="2000" b="0" i="1" smtClean="0">
                          <a:latin typeface="Cambria Math" panose="02040503050406030204" pitchFamily="18" charset="0"/>
                        </a:rPr>
                        <m:t>=520</m:t>
                      </m:r>
                    </m:oMath>
                  </m:oMathPara>
                </a14:m>
                <a:endParaRPr lang="en-US" sz="2000" dirty="0">
                  <a:solidFill>
                    <a:srgbClr val="000000"/>
                  </a:solidFill>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𝑀𝑆𝑇𝑅</m:t>
                      </m:r>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𝑆𝑆𝑇𝑅</m:t>
                          </m:r>
                        </m:num>
                        <m:den>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m:t>
                          </m:r>
                        </m:den>
                      </m:f>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520</m:t>
                          </m:r>
                        </m:num>
                        <m:den>
                          <m:r>
                            <a:rPr lang="en-US" sz="2000" b="0" i="1" smtClean="0">
                              <a:latin typeface="Cambria Math" panose="02040503050406030204" pitchFamily="18" charset="0"/>
                              <a:cs typeface="Arial" panose="020B0604020202020204" pitchFamily="34" charset="0"/>
                            </a:rPr>
                            <m:t>(3−1)</m:t>
                          </m:r>
                        </m:den>
                      </m:f>
                      <m:r>
                        <a:rPr lang="en-US" sz="2000" b="0" i="1" smtClean="0">
                          <a:latin typeface="Cambria Math" panose="02040503050406030204" pitchFamily="18" charset="0"/>
                          <a:cs typeface="Arial" panose="020B0604020202020204" pitchFamily="34" charset="0"/>
                        </a:rPr>
                        <m:t>=260</m:t>
                      </m:r>
                    </m:oMath>
                  </m:oMathPara>
                </a14:m>
                <a:endParaRPr lang="en-US" sz="2000" dirty="0">
                  <a:solidFill>
                    <a:srgbClr val="000000"/>
                  </a:solidFill>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𝑆𝑆𝐸</m:t>
                      </m:r>
                      <m:r>
                        <a:rPr lang="en-US" sz="2000" b="0" i="1" smtClean="0">
                          <a:solidFill>
                            <a:srgbClr val="000000"/>
                          </a:solidFill>
                          <a:latin typeface="Cambria Math" panose="02040503050406030204" pitchFamily="18" charset="0"/>
                          <a:cs typeface="Arial" panose="020B0604020202020204" pitchFamily="34" charset="0"/>
                        </a:rPr>
                        <m:t>=</m:t>
                      </m:r>
                      <m:nary>
                        <m:naryPr>
                          <m:chr m:val="∑"/>
                          <m:ctrlPr>
                            <a:rPr lang="en-US" sz="2000" b="0" i="1" smtClean="0">
                              <a:solidFill>
                                <a:srgbClr val="000000"/>
                              </a:solidFill>
                              <a:latin typeface="Cambria Math" panose="02040503050406030204" pitchFamily="18" charset="0"/>
                              <a:cs typeface="Arial" panose="020B0604020202020204" pitchFamily="34" charset="0"/>
                            </a:rPr>
                          </m:ctrlPr>
                        </m:naryPr>
                        <m:sub>
                          <m:r>
                            <m:rPr>
                              <m:brk m:alnAt="23"/>
                            </m:rPr>
                            <a:rPr lang="en-US" sz="2000" b="0" i="1" smtClean="0">
                              <a:solidFill>
                                <a:srgbClr val="000000"/>
                              </a:solidFill>
                              <a:latin typeface="Cambria Math" panose="02040503050406030204" pitchFamily="18" charset="0"/>
                              <a:cs typeface="Arial" panose="020B0604020202020204" pitchFamily="34" charset="0"/>
                            </a:rPr>
                            <m:t>𝑗</m:t>
                          </m:r>
                          <m:r>
                            <a:rPr lang="en-US" sz="2000" b="0" i="1" smtClean="0">
                              <a:solidFill>
                                <a:srgbClr val="000000"/>
                              </a:solidFill>
                              <a:latin typeface="Cambria Math" panose="02040503050406030204" pitchFamily="18" charset="0"/>
                              <a:cs typeface="Arial" panose="020B0604020202020204" pitchFamily="34" charset="0"/>
                            </a:rPr>
                            <m:t>=1</m:t>
                          </m:r>
                        </m:sub>
                        <m:sup>
                          <m:r>
                            <a:rPr lang="en-US" sz="2000" b="0" i="1" smtClean="0">
                              <a:solidFill>
                                <a:srgbClr val="000000"/>
                              </a:solidFill>
                              <a:latin typeface="Cambria Math" panose="02040503050406030204" pitchFamily="18" charset="0"/>
                              <a:cs typeface="Arial" panose="020B0604020202020204" pitchFamily="34" charset="0"/>
                            </a:rPr>
                            <m:t>3</m:t>
                          </m:r>
                        </m:sup>
                        <m:e>
                          <m:d>
                            <m:dPr>
                              <m:ctrlPr>
                                <a:rPr lang="en-US" sz="2000" b="0" i="1" smtClean="0">
                                  <a:solidFill>
                                    <a:srgbClr val="000000"/>
                                  </a:solidFill>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𝑗</m:t>
                                  </m:r>
                                </m:sub>
                              </m:sSub>
                              <m:r>
                                <a:rPr lang="en-US" sz="2000" b="0" i="1" smtClean="0">
                                  <a:latin typeface="Cambria Math" panose="02040503050406030204" pitchFamily="18" charset="0"/>
                                  <a:cs typeface="Arial" panose="020B0604020202020204" pitchFamily="34" charset="0"/>
                                </a:rPr>
                                <m:t>−1</m:t>
                              </m:r>
                            </m:e>
                          </m:d>
                          <m:sSubSup>
                            <m:sSubSupPr>
                              <m:ctrlPr>
                                <a:rPr lang="en-US" sz="2000" b="0" i="1" smtClean="0">
                                  <a:solidFill>
                                    <a:srgbClr val="000000"/>
                                  </a:solidFill>
                                  <a:latin typeface="Cambria Math" panose="02040503050406030204" pitchFamily="18" charset="0"/>
                                  <a:cs typeface="Arial" panose="020B0604020202020204" pitchFamily="34" charset="0"/>
                                </a:rPr>
                              </m:ctrlPr>
                            </m:sSubSupPr>
                            <m:e>
                              <m:r>
                                <a:rPr lang="en-US" sz="2000" b="0" i="1" smtClean="0">
                                  <a:solidFill>
                                    <a:srgbClr val="000000"/>
                                  </a:solidFill>
                                  <a:latin typeface="Cambria Math" panose="02040503050406030204" pitchFamily="18" charset="0"/>
                                  <a:cs typeface="Arial" panose="020B0604020202020204" pitchFamily="34" charset="0"/>
                                </a:rPr>
                                <m:t>𝑠</m:t>
                              </m:r>
                            </m:e>
                            <m:sub>
                              <m:r>
                                <a:rPr lang="en-US" sz="2000" b="0" i="1" smtClean="0">
                                  <a:solidFill>
                                    <a:srgbClr val="000000"/>
                                  </a:solidFill>
                                  <a:latin typeface="Cambria Math" panose="02040503050406030204" pitchFamily="18" charset="0"/>
                                  <a:cs typeface="Arial" panose="020B0604020202020204" pitchFamily="34" charset="0"/>
                                </a:rPr>
                                <m:t>𝑗</m:t>
                              </m:r>
                            </m:sub>
                            <m:sup>
                              <m:r>
                                <a:rPr lang="en-US" sz="2000" b="0" i="1" smtClean="0">
                                  <a:solidFill>
                                    <a:srgbClr val="000000"/>
                                  </a:solidFill>
                                  <a:latin typeface="Cambria Math" panose="02040503050406030204" pitchFamily="18" charset="0"/>
                                  <a:cs typeface="Arial" panose="020B0604020202020204" pitchFamily="34" charset="0"/>
                                </a:rPr>
                                <m:t>2</m:t>
                              </m:r>
                            </m:sup>
                          </m:sSubSup>
                        </m:e>
                      </m:nary>
                      <m:r>
                        <a:rPr lang="en-US" sz="2000" b="0" i="1" smtClean="0">
                          <a:solidFill>
                            <a:srgbClr val="000000"/>
                          </a:solidFill>
                          <a:latin typeface="Cambria Math" panose="02040503050406030204" pitchFamily="18" charset="0"/>
                          <a:cs typeface="Arial" panose="020B0604020202020204" pitchFamily="34" charset="0"/>
                        </a:rPr>
                        <m:t>=</m:t>
                      </m:r>
                      <m:d>
                        <m:dPr>
                          <m:ctrlPr>
                            <a:rPr lang="en-US" sz="2000" b="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5−1</m:t>
                          </m:r>
                        </m:e>
                      </m:d>
                      <m:r>
                        <a:rPr lang="en-US" sz="2000" b="0" i="1" smtClean="0">
                          <a:solidFill>
                            <a:srgbClr val="000000"/>
                          </a:solidFill>
                          <a:latin typeface="Cambria Math" panose="02040503050406030204" pitchFamily="18" charset="0"/>
                          <a:cs typeface="Arial" panose="020B0604020202020204" pitchFamily="34" charset="0"/>
                        </a:rPr>
                        <m:t>27.5+</m:t>
                      </m:r>
                      <m:d>
                        <m:dPr>
                          <m:ctrlPr>
                            <a:rPr lang="en-US" sz="2000" b="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5−1</m:t>
                          </m:r>
                        </m:e>
                      </m:d>
                      <m:r>
                        <a:rPr lang="en-US" sz="2000" b="0" i="1" smtClean="0">
                          <a:solidFill>
                            <a:srgbClr val="000000"/>
                          </a:solidFill>
                          <a:latin typeface="Cambria Math" panose="02040503050406030204" pitchFamily="18" charset="0"/>
                          <a:cs typeface="Arial" panose="020B0604020202020204" pitchFamily="34" charset="0"/>
                        </a:rPr>
                        <m:t>26.5+</m:t>
                      </m:r>
                      <m:d>
                        <m:dPr>
                          <m:ctrlPr>
                            <a:rPr lang="en-US" sz="2000" b="0" i="1" smtClean="0">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5−1</m:t>
                          </m:r>
                        </m:e>
                      </m:d>
                      <m:r>
                        <a:rPr lang="en-US" sz="2000" b="0" i="1" smtClean="0">
                          <a:solidFill>
                            <a:srgbClr val="000000"/>
                          </a:solidFill>
                          <a:latin typeface="Cambria Math" panose="02040503050406030204" pitchFamily="18" charset="0"/>
                          <a:cs typeface="Arial" panose="020B0604020202020204" pitchFamily="34" charset="0"/>
                        </a:rPr>
                        <m:t>31.0=340</m:t>
                      </m:r>
                    </m:oMath>
                  </m:oMathPara>
                </a14:m>
                <a:endParaRPr lang="en-US" sz="2000" dirty="0">
                  <a:solidFill>
                    <a:srgbClr val="000000"/>
                  </a:solidFill>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𝑀𝑆𝐸</m:t>
                      </m:r>
                      <m:r>
                        <a:rPr lang="en-US" sz="2000" b="0" i="1" smtClean="0">
                          <a:latin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𝑆𝑆</m:t>
                          </m:r>
                          <m:r>
                            <a:rPr lang="en-US" sz="2000" b="0" i="1" smtClean="0">
                              <a:latin typeface="Cambria Math" panose="02040503050406030204" pitchFamily="18" charset="0"/>
                              <a:cs typeface="Arial" panose="020B0604020202020204" pitchFamily="34" charset="0"/>
                            </a:rPr>
                            <m:t>𝐸</m:t>
                          </m:r>
                        </m:num>
                        <m:den>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𝑘</m:t>
                              </m:r>
                            </m:e>
                          </m:d>
                          <m:r>
                            <a:rPr lang="en-US" sz="2000" i="1">
                              <a:latin typeface="Cambria Math" panose="02040503050406030204" pitchFamily="18" charset="0"/>
                              <a:cs typeface="Arial" panose="020B0604020202020204" pitchFamily="34" charset="0"/>
                            </a:rPr>
                            <m:t>=</m:t>
                          </m:r>
                        </m:den>
                      </m:f>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34</m:t>
                          </m:r>
                          <m:r>
                            <a:rPr lang="en-US" sz="2000" i="1">
                              <a:latin typeface="Cambria Math" panose="02040503050406030204" pitchFamily="18" charset="0"/>
                              <a:cs typeface="Arial" panose="020B0604020202020204" pitchFamily="34" charset="0"/>
                            </a:rPr>
                            <m:t>0</m:t>
                          </m:r>
                        </m:num>
                        <m:den>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15</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3</m:t>
                          </m:r>
                          <m:r>
                            <a:rPr lang="en-US" sz="2000" i="1">
                              <a:latin typeface="Cambria Math" panose="02040503050406030204" pitchFamily="18" charset="0"/>
                              <a:cs typeface="Arial" panose="020B0604020202020204" pitchFamily="34" charset="0"/>
                            </a:rPr>
                            <m:t>)</m:t>
                          </m:r>
                        </m:den>
                      </m:f>
                      <m:r>
                        <a:rPr lang="en-US" sz="2000" b="0" i="1" smtClean="0">
                          <a:latin typeface="Cambria Math" panose="02040503050406030204" pitchFamily="18" charset="0"/>
                          <a:cs typeface="Arial" panose="020B0604020202020204" pitchFamily="34" charset="0"/>
                        </a:rPr>
                        <m:t>=28.33</m:t>
                      </m:r>
                    </m:oMath>
                  </m:oMathPara>
                </a14:m>
                <a:endParaRPr lang="en-US" sz="2000" dirty="0">
                  <a:solidFill>
                    <a:srgbClr val="000000"/>
                  </a:solidFill>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The test statistic for the equality of the population </a:t>
                </a:r>
                <a:r>
                  <a:rPr lang="en-US" sz="2000" dirty="0">
                    <a:latin typeface="Arial" panose="020B0604020202020204" pitchFamily="34" charset="0"/>
                    <a:cs typeface="Arial" panose="020B0604020202020204" pitchFamily="34" charset="0"/>
                  </a:rPr>
                  <a:t>m</a:t>
                </a:r>
                <a:r>
                  <a:rPr lang="en-US" sz="2000" dirty="0">
                    <a:solidFill>
                      <a:srgbClr val="000000"/>
                    </a:solidFill>
                    <a:latin typeface="Arial" panose="020B0604020202020204" pitchFamily="34" charset="0"/>
                    <a:cs typeface="Arial" panose="020B0604020202020204" pitchFamily="34" charset="0"/>
                  </a:rPr>
                  <a:t>eans for the three assembly methods is</a:t>
                </a:r>
              </a:p>
              <a:p>
                <a:pPr marL="914400">
                  <a:lnSpc>
                    <a:spcPct val="100000"/>
                  </a:lnSpc>
                  <a:spcBef>
                    <a:spcPts val="600"/>
                  </a:spcBef>
                  <a:spcAft>
                    <a:spcPts val="600"/>
                  </a:spcAft>
                </a:pPr>
                <a14:m>
                  <m:oMath xmlns:m="http://schemas.openxmlformats.org/officeDocument/2006/math">
                    <m:r>
                      <a:rPr lang="en-US" sz="2000" b="0" i="1" smtClean="0">
                        <a:latin typeface="Cambria Math" panose="02040503050406030204" pitchFamily="18" charset="0"/>
                        <a:cs typeface="Arial" panose="020B0604020202020204" pitchFamily="34" charset="0"/>
                      </a:rPr>
                      <m:t>𝐹</m:t>
                    </m:r>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𝑀𝑆𝑇𝑅</m:t>
                        </m:r>
                      </m:num>
                      <m:den>
                        <m:r>
                          <a:rPr lang="en-US" sz="2000" b="0" i="1" smtClean="0">
                            <a:latin typeface="Cambria Math" panose="02040503050406030204" pitchFamily="18" charset="0"/>
                            <a:cs typeface="Arial" panose="020B0604020202020204" pitchFamily="34" charset="0"/>
                          </a:rPr>
                          <m:t>𝑀𝑆𝐸</m:t>
                        </m:r>
                      </m:den>
                    </m:f>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260</m:t>
                        </m:r>
                      </m:num>
                      <m:den>
                        <m:r>
                          <a:rPr lang="en-US" sz="2000" b="0" i="1" smtClean="0">
                            <a:latin typeface="Cambria Math" panose="02040503050406030204" pitchFamily="18" charset="0"/>
                            <a:cs typeface="Arial" panose="020B0604020202020204" pitchFamily="34" charset="0"/>
                          </a:rPr>
                          <m:t>28.33</m:t>
                        </m:r>
                      </m:den>
                    </m:f>
                    <m:r>
                      <a:rPr lang="en-US" sz="2000" b="0" i="1" smtClean="0">
                        <a:latin typeface="Cambria Math" panose="02040503050406030204" pitchFamily="18" charset="0"/>
                        <a:cs typeface="Arial" panose="020B0604020202020204" pitchFamily="34" charset="0"/>
                      </a:rPr>
                      <m:t>=9.18</m:t>
                    </m:r>
                  </m:oMath>
                </a14:m>
                <a:r>
                  <a:rPr lang="en-US" sz="2000" dirty="0">
                    <a:solidFill>
                      <a:srgbClr val="000000"/>
                    </a:solidFill>
                    <a:latin typeface="Arial" panose="020B0604020202020204" pitchFamily="34" charset="0"/>
                    <a:cs typeface="Arial" panose="020B0604020202020204" pitchFamily="34" charset="0"/>
                  </a:rPr>
                  <a:t> </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716197"/>
                <a:ext cx="10711543" cy="3948623"/>
              </a:xfrm>
              <a:blipFill>
                <a:blip r:embed="rId2"/>
                <a:stretch>
                  <a:fillRect l="-1422" t="-1855" b="-18856"/>
                </a:stretch>
              </a:blipFill>
            </p:spPr>
            <p:txBody>
              <a:bodyPr/>
              <a:lstStyle/>
              <a:p>
                <a:r>
                  <a:rPr lang="en-US">
                    <a:noFill/>
                  </a:rPr>
                  <a:t> </a:t>
                </a:r>
              </a:p>
            </p:txBody>
          </p:sp>
        </mc:Fallback>
      </mc:AlternateContent>
    </p:spTree>
    <p:extLst>
      <p:ext uri="{BB962C8B-B14F-4D97-AF65-F5344CB8AC3E}">
        <p14:creationId xmlns:p14="http://schemas.microsoft.com/office/powerpoint/2010/main" val="639814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t>13.2 </a:t>
            </a:r>
            <a:r>
              <a:rPr lang="en-US" i="1" dirty="0"/>
              <a:t>p</a:t>
            </a:r>
            <a:r>
              <a:rPr lang="en-US" dirty="0"/>
              <a:t>-Value Approach to an </a:t>
            </a:r>
            <a:r>
              <a:rPr lang="en-US" i="1" dirty="0"/>
              <a:t>F</a:t>
            </a:r>
            <a:r>
              <a:rPr lang="en-US" dirty="0"/>
              <a: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3576" y="1548359"/>
                <a:ext cx="5885824" cy="1629895"/>
              </a:xfrm>
            </p:spPr>
            <p:txBody>
              <a:bodyPr>
                <a:noAutofit/>
              </a:bodyPr>
              <a:lstStyle/>
              <a:p>
                <a:pPr>
                  <a:lnSpc>
                    <a:spcPct val="100000"/>
                  </a:lnSpc>
                  <a:spcBef>
                    <a:spcPts val="600"/>
                  </a:spcBef>
                  <a:spcAft>
                    <a:spcPts val="0"/>
                  </a:spcAft>
                  <a:tabLst>
                    <a:tab pos="8804275" algn="l"/>
                  </a:tabLst>
                </a:pPr>
                <a:r>
                  <a:rPr lang="en-US" sz="2000" dirty="0"/>
                  <a:t>In the Chemitech example, the </a:t>
                </a:r>
                <a:r>
                  <a:rPr lang="en-US" sz="2000" i="1" dirty="0"/>
                  <a:t>p</a:t>
                </a:r>
                <a:r>
                  <a:rPr lang="en-US" sz="2000" dirty="0"/>
                  <a:t>-value is the upper tail of an </a:t>
                </a:r>
                <a14:m>
                  <m:oMath xmlns:m="http://schemas.openxmlformats.org/officeDocument/2006/math">
                    <m:r>
                      <a:rPr lang="en-US" sz="2000" i="1" smtClean="0">
                        <a:latin typeface="Cambria Math" panose="02040503050406030204" pitchFamily="18" charset="0"/>
                        <a:cs typeface="Arial" panose="020B0604020202020204" pitchFamily="34" charset="0"/>
                      </a:rPr>
                      <m:t>𝐹</m:t>
                    </m:r>
                  </m:oMath>
                </a14:m>
                <a:r>
                  <a:rPr lang="en-US" sz="2000" dirty="0"/>
                  <a:t> distribution with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rPr>
                      <m:t>−1=3−1=2</m:t>
                    </m:r>
                  </m:oMath>
                </a14:m>
                <a:r>
                  <a:rPr lang="en-US" sz="2000" dirty="0"/>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=15−3=12 </m:t>
                    </m:r>
                  </m:oMath>
                </a14:m>
                <a:r>
                  <a:rPr lang="en-US" sz="2000" dirty="0"/>
                  <a:t>degrees of freedom.</a:t>
                </a:r>
              </a:p>
              <a:p>
                <a:pPr>
                  <a:lnSpc>
                    <a:spcPct val="100000"/>
                  </a:lnSpc>
                  <a:spcBef>
                    <a:spcPts val="600"/>
                  </a:spcBef>
                  <a:spcAft>
                    <a:spcPts val="0"/>
                  </a:spcAft>
                  <a:tabLst>
                    <a:tab pos="8804275" algn="l"/>
                  </a:tabLst>
                </a:pPr>
                <a:r>
                  <a:rPr lang="en-US" sz="2000" dirty="0"/>
                  <a:t>Using Table 4 in Appendix B, the </a:t>
                </a:r>
                <a14:m>
                  <m:oMath xmlns:m="http://schemas.openxmlformats.org/officeDocument/2006/math">
                    <m:r>
                      <a:rPr lang="en-US" sz="2000" i="1" smtClean="0">
                        <a:latin typeface="Cambria Math" panose="02040503050406030204" pitchFamily="18" charset="0"/>
                        <a:cs typeface="Arial" panose="020B0604020202020204" pitchFamily="34" charset="0"/>
                      </a:rPr>
                      <m:t>𝐹</m:t>
                    </m:r>
                  </m:oMath>
                </a14:m>
                <a:r>
                  <a:rPr lang="en-US" sz="2000" dirty="0"/>
                  <a:t> distribution with 2 and 12 degrees of freedom provides the following.</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3576" y="1548359"/>
                <a:ext cx="5885824" cy="1629895"/>
              </a:xfrm>
              <a:blipFill>
                <a:blip r:embed="rId3"/>
                <a:stretch>
                  <a:fillRect l="-2692" t="-4494" r="-1967" b="-78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930303" y="3265163"/>
              <a:ext cx="5512370" cy="741680"/>
            </p:xfrm>
            <a:graphic>
              <a:graphicData uri="http://schemas.openxmlformats.org/drawingml/2006/table">
                <a:tbl>
                  <a:tblPr firstRow="1" bandRow="1">
                    <a:tableStyleId>{5C22544A-7EE6-4342-B048-85BDC9FD1C3A}</a:tableStyleId>
                  </a:tblPr>
                  <a:tblGrid>
                    <a:gridCol w="2757314">
                      <a:extLst>
                        <a:ext uri="{9D8B030D-6E8A-4147-A177-3AD203B41FA5}">
                          <a16:colId xmlns:a16="http://schemas.microsoft.com/office/drawing/2014/main" val="4171103348"/>
                        </a:ext>
                      </a:extLst>
                    </a:gridCol>
                    <a:gridCol w="688764">
                      <a:extLst>
                        <a:ext uri="{9D8B030D-6E8A-4147-A177-3AD203B41FA5}">
                          <a16:colId xmlns:a16="http://schemas.microsoft.com/office/drawing/2014/main" val="3310322248"/>
                        </a:ext>
                      </a:extLst>
                    </a:gridCol>
                    <a:gridCol w="688764">
                      <a:extLst>
                        <a:ext uri="{9D8B030D-6E8A-4147-A177-3AD203B41FA5}">
                          <a16:colId xmlns:a16="http://schemas.microsoft.com/office/drawing/2014/main" val="1345786011"/>
                        </a:ext>
                      </a:extLst>
                    </a:gridCol>
                    <a:gridCol w="688764">
                      <a:extLst>
                        <a:ext uri="{9D8B030D-6E8A-4147-A177-3AD203B41FA5}">
                          <a16:colId xmlns:a16="http://schemas.microsoft.com/office/drawing/2014/main" val="3942544080"/>
                        </a:ext>
                      </a:extLst>
                    </a:gridCol>
                    <a:gridCol w="688764">
                      <a:extLst>
                        <a:ext uri="{9D8B030D-6E8A-4147-A177-3AD203B41FA5}">
                          <a16:colId xmlns:a16="http://schemas.microsoft.com/office/drawing/2014/main" val="2859257073"/>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r>
                                <a:rPr lang="en-US" sz="1600" b="1" i="1" smtClean="0">
                                  <a:latin typeface="Cambria Math" panose="02040503050406030204" pitchFamily="18" charset="0"/>
                                  <a:cs typeface="Arial" panose="020B0604020202020204" pitchFamily="34" charset="0"/>
                                </a:rPr>
                                <m:t>𝑭</m:t>
                              </m:r>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sSub>
                                <m:sSubPr>
                                  <m:ctrlPr>
                                    <a:rPr lang="en-US" sz="1600" b="1" i="1" dirty="0" smtClean="0">
                                      <a:solidFill>
                                        <a:srgbClr val="000000"/>
                                      </a:solidFill>
                                      <a:latin typeface="Cambria Math" panose="02040503050406030204" pitchFamily="18" charset="0"/>
                                    </a:rPr>
                                  </m:ctrlPr>
                                </m:sSubPr>
                                <m:e>
                                  <m:r>
                                    <a:rPr lang="en-US" sz="1600" b="1" i="1" dirty="0" smtClean="0">
                                      <a:solidFill>
                                        <a:srgbClr val="000000"/>
                                      </a:solidFill>
                                      <a:latin typeface="Cambria Math" panose="02040503050406030204" pitchFamily="18" charset="0"/>
                                    </a:rPr>
                                    <m:t>𝒅𝒇</m:t>
                                  </m:r>
                                </m:e>
                                <m:sub>
                                  <m:r>
                                    <a:rPr lang="en-US" sz="1600" b="1" i="1" dirty="0" smtClean="0">
                                      <a:solidFill>
                                        <a:srgbClr val="000000"/>
                                      </a:solidFill>
                                      <a:latin typeface="Cambria Math" panose="02040503050406030204" pitchFamily="18" charset="0"/>
                                    </a:rPr>
                                    <m:t>𝟏</m:t>
                                  </m:r>
                                </m:sub>
                              </m:sSub>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r>
                                <a:rPr lang="en-US" sz="1600" b="1" i="1" dirty="0" smtClean="0">
                                  <a:solidFill>
                                    <a:srgbClr val="000000"/>
                                  </a:solidFill>
                                  <a:latin typeface="Cambria Math" panose="02040503050406030204" pitchFamily="18" charset="0"/>
                                </a:rPr>
                                <m:t>,</m:t>
                              </m:r>
                              <m:sSub>
                                <m:sSubPr>
                                  <m:ctrlPr>
                                    <a:rPr lang="en-US" sz="1600" b="1" i="1" dirty="0" smtClean="0">
                                      <a:solidFill>
                                        <a:srgbClr val="000000"/>
                                      </a:solidFill>
                                      <a:latin typeface="Cambria Math" panose="02040503050406030204" pitchFamily="18" charset="0"/>
                                    </a:rPr>
                                  </m:ctrlPr>
                                </m:sSubPr>
                                <m:e>
                                  <m:r>
                                    <a:rPr lang="en-US" sz="1600" b="1" i="1" dirty="0" smtClean="0">
                                      <a:solidFill>
                                        <a:srgbClr val="000000"/>
                                      </a:solidFill>
                                      <a:latin typeface="Cambria Math" panose="02040503050406030204" pitchFamily="18" charset="0"/>
                                    </a:rPr>
                                    <m:t>𝒅𝒇</m:t>
                                  </m:r>
                                </m:e>
                                <m:sub>
                                  <m:r>
                                    <a:rPr lang="en-US" sz="1600" b="1" i="1" dirty="0" smtClean="0">
                                      <a:solidFill>
                                        <a:srgbClr val="000000"/>
                                      </a:solidFill>
                                      <a:latin typeface="Cambria Math" panose="02040503050406030204" pitchFamily="18" charset="0"/>
                                    </a:rPr>
                                    <m:t>𝟐</m:t>
                                  </m:r>
                                </m:sub>
                              </m:sSub>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𝟏𝟐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2.81</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3.89</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5.10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6.93</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112581745"/>
                  </p:ext>
                </p:extLst>
              </p:nvPr>
            </p:nvGraphicFramePr>
            <p:xfrm>
              <a:off x="930303" y="3265163"/>
              <a:ext cx="5512370" cy="741680"/>
            </p:xfrm>
            <a:graphic>
              <a:graphicData uri="http://schemas.openxmlformats.org/drawingml/2006/table">
                <a:tbl>
                  <a:tblPr firstRow="1" bandRow="1">
                    <a:tableStyleId>{5C22544A-7EE6-4342-B048-85BDC9FD1C3A}</a:tableStyleId>
                  </a:tblPr>
                  <a:tblGrid>
                    <a:gridCol w="2757314">
                      <a:extLst>
                        <a:ext uri="{9D8B030D-6E8A-4147-A177-3AD203B41FA5}">
                          <a16:colId xmlns:a16="http://schemas.microsoft.com/office/drawing/2014/main" val="4171103348"/>
                        </a:ext>
                      </a:extLst>
                    </a:gridCol>
                    <a:gridCol w="688764">
                      <a:extLst>
                        <a:ext uri="{9D8B030D-6E8A-4147-A177-3AD203B41FA5}">
                          <a16:colId xmlns:a16="http://schemas.microsoft.com/office/drawing/2014/main" val="3310322248"/>
                        </a:ext>
                      </a:extLst>
                    </a:gridCol>
                    <a:gridCol w="688764">
                      <a:extLst>
                        <a:ext uri="{9D8B030D-6E8A-4147-A177-3AD203B41FA5}">
                          <a16:colId xmlns:a16="http://schemas.microsoft.com/office/drawing/2014/main" val="1345786011"/>
                        </a:ext>
                      </a:extLst>
                    </a:gridCol>
                    <a:gridCol w="688764">
                      <a:extLst>
                        <a:ext uri="{9D8B030D-6E8A-4147-A177-3AD203B41FA5}">
                          <a16:colId xmlns:a16="http://schemas.microsoft.com/office/drawing/2014/main" val="3942544080"/>
                        </a:ext>
                      </a:extLst>
                    </a:gridCol>
                    <a:gridCol w="688764">
                      <a:extLst>
                        <a:ext uri="{9D8B030D-6E8A-4147-A177-3AD203B41FA5}">
                          <a16:colId xmlns:a16="http://schemas.microsoft.com/office/drawing/2014/main" val="2859257073"/>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1639" r="-100000"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2.81</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3.89</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5.10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6.93</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p:pic>
        <p:nvPicPr>
          <p:cNvPr id="9" name="Picture Placeholder 8" descr="A graph plots the sampling distribution of M S T R/M S E. The horizontal axis is labeled “M S T R/M S E” and lists F = 9.18. A curve labeled “Sampling distribution of M S T R/M S E” rises sharply from the origin, peaks at a small value of the horizontal axis, and falls gradually. The region under the curve to the right of F = 9.18 is shaded and labeled “p-value.”&#10;">
            <a:extLst>
              <a:ext uri="{FF2B5EF4-FFF2-40B4-BE49-F238E27FC236}">
                <a16:creationId xmlns:a16="http://schemas.microsoft.com/office/drawing/2014/main" id="{61E2B8C6-8591-0A5B-4F34-67F45BE92FC7}"/>
              </a:ext>
            </a:extLst>
          </p:cNvPr>
          <p:cNvPicPr>
            <a:picLocks noGrp="1" noChangeAspect="1"/>
          </p:cNvPicPr>
          <p:nvPr>
            <p:ph type="pic" sz="quarter" idx="23"/>
          </p:nvPr>
        </p:nvPicPr>
        <p:blipFill rotWithShape="1">
          <a:blip r:embed="rId5"/>
          <a:srcRect l="27" r="27"/>
          <a:stretch/>
        </p:blipFill>
        <p:spPr>
          <a:xfrm>
            <a:off x="6629400" y="1663976"/>
            <a:ext cx="4632325" cy="2120900"/>
          </a:xfrm>
        </p:spPr>
      </p:pic>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706437" y="4133574"/>
                <a:ext cx="10488168" cy="1503163"/>
              </a:xfrm>
            </p:spPr>
            <p:txBody>
              <a:bodyPr>
                <a:noAutofit/>
              </a:bodyPr>
              <a:lstStyle/>
              <a:p>
                <a:pPr>
                  <a:lnSpc>
                    <a:spcPct val="110000"/>
                  </a:lnSpc>
                  <a:spcBef>
                    <a:spcPts val="600"/>
                  </a:spcBef>
                </a:pPr>
                <a:r>
                  <a:rPr lang="en-US" sz="2000" dirty="0">
                    <a:cs typeface="Arial" panose="020B0604020202020204" pitchFamily="34" charset="0"/>
                  </a:rPr>
                  <a:t>B</a:t>
                </a:r>
                <a:r>
                  <a:rPr lang="en-US" sz="2000" dirty="0">
                    <a:solidFill>
                      <a:srgbClr val="000000"/>
                    </a:solidFill>
                    <a:cs typeface="Arial" panose="020B0604020202020204" pitchFamily="34" charset="0"/>
                  </a:rPr>
                  <a:t>ecause </a:t>
                </a:r>
                <a14:m>
                  <m:oMath xmlns:m="http://schemas.openxmlformats.org/officeDocument/2006/math">
                    <m:r>
                      <a:rPr lang="en-US" sz="2000" b="0" i="1" smtClean="0">
                        <a:latin typeface="Cambria Math" panose="02040503050406030204" pitchFamily="18" charset="0"/>
                        <a:cs typeface="Arial" panose="020B0604020202020204" pitchFamily="34" charset="0"/>
                      </a:rPr>
                      <m:t>𝐹</m:t>
                    </m:r>
                    <m:r>
                      <a:rPr lang="en-US" sz="2000" i="1" dirty="0" smtClean="0">
                        <a:solidFill>
                          <a:srgbClr val="000000"/>
                        </a:solidFill>
                        <a:latin typeface="Cambria Math" panose="02040503050406030204" pitchFamily="18" charset="0"/>
                        <a:cs typeface="Arial" panose="020B0604020202020204" pitchFamily="34" charset="0"/>
                      </a:rPr>
                      <m:t>=</m:t>
                    </m:r>
                    <m:r>
                      <a:rPr lang="en-US" sz="2000" b="0" i="1" dirty="0" smtClean="0">
                        <a:solidFill>
                          <a:srgbClr val="000000"/>
                        </a:solidFill>
                        <a:latin typeface="Cambria Math" panose="02040503050406030204" pitchFamily="18" charset="0"/>
                        <a:cs typeface="Arial" panose="020B0604020202020204" pitchFamily="34" charset="0"/>
                      </a:rPr>
                      <m:t>9.18</m:t>
                    </m:r>
                  </m:oMath>
                </a14:m>
                <a:r>
                  <a:rPr lang="en-US" sz="2000" dirty="0">
                    <a:solidFill>
                      <a:srgbClr val="000000"/>
                    </a:solidFill>
                    <a:cs typeface="Arial" panose="020B0604020202020204" pitchFamily="34" charset="0"/>
                  </a:rPr>
                  <a:t> is greater than </a:t>
                </a:r>
                <a:r>
                  <a:rPr lang="en-US" sz="2000" dirty="0">
                    <a:cs typeface="Arial" panose="020B0604020202020204" pitchFamily="34" charset="0"/>
                  </a:rPr>
                  <a:t>6.93</a:t>
                </a:r>
                <a:r>
                  <a:rPr lang="en-US" sz="2000" dirty="0">
                    <a:solidFill>
                      <a:srgbClr val="000000"/>
                    </a:solidFill>
                    <a:cs typeface="Arial" panose="020B0604020202020204" pitchFamily="34" charset="0"/>
                  </a:rPr>
                  <a:t>, the values in the “Area in Upper Tail” row show that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range must be: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0.0</m:t>
                    </m:r>
                    <m:r>
                      <a:rPr lang="en-US" sz="2000" b="0" i="1" dirty="0" smtClean="0">
                        <a:solidFill>
                          <a:srgbClr val="000000"/>
                        </a:solidFill>
                        <a:latin typeface="Cambria Math" panose="02040503050406030204" pitchFamily="18" charset="0"/>
                        <a:cs typeface="Arial" panose="020B0604020202020204" pitchFamily="34" charset="0"/>
                      </a:rPr>
                      <m:t>1</m:t>
                    </m:r>
                  </m:oMath>
                </a14:m>
                <a:r>
                  <a:rPr lang="en-US" sz="2000" dirty="0">
                    <a:solidFill>
                      <a:srgbClr val="000000"/>
                    </a:solidFill>
                    <a:cs typeface="Arial" panose="020B0604020202020204" pitchFamily="34" charset="0"/>
                  </a:rPr>
                  <a:t> (*see notes.)</a:t>
                </a:r>
              </a:p>
              <a:p>
                <a:pPr>
                  <a:lnSpc>
                    <a:spcPct val="110000"/>
                  </a:lnSpc>
                  <a:spcBef>
                    <a:spcPts val="600"/>
                  </a:spcBef>
                </a:pPr>
                <a:r>
                  <a:rPr lang="en-US" sz="2000" dirty="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=0.05</m:t>
                    </m:r>
                  </m:oMath>
                </a14:m>
                <a:r>
                  <a:rPr lang="en-US" sz="2000" dirty="0">
                    <a:cs typeface="Arial" panose="020B0604020202020204" pitchFamily="34" charset="0"/>
                  </a:rPr>
                  <a:t>, we reject the null hypothesis and conclude that the population mean number of units produced per week for the three assembly methods are not equal.</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706437" y="4133574"/>
                <a:ext cx="10488168" cy="1503163"/>
              </a:xfrm>
              <a:blipFill>
                <a:blip r:embed="rId6"/>
                <a:stretch>
                  <a:fillRect l="-1512" t="-4858" r="-581" b="-3239"/>
                </a:stretch>
              </a:blipFill>
            </p:spPr>
            <p:txBody>
              <a:bodyPr/>
              <a:lstStyle/>
              <a:p>
                <a:r>
                  <a:rPr lang="en-US">
                    <a:noFill/>
                  </a:rPr>
                  <a:t> </a:t>
                </a:r>
              </a:p>
            </p:txBody>
          </p:sp>
        </mc:Fallback>
      </mc:AlternateContent>
    </p:spTree>
    <p:extLst>
      <p:ext uri="{BB962C8B-B14F-4D97-AF65-F5344CB8AC3E}">
        <p14:creationId xmlns:p14="http://schemas.microsoft.com/office/powerpoint/2010/main" val="2228996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dirty="0"/>
              <a:t>13.2 Critical Value Approach to an </a:t>
            </a:r>
            <a:r>
              <a:rPr lang="en-US" i="1" dirty="0"/>
              <a:t>F</a:t>
            </a:r>
            <a:r>
              <a:rPr lang="en-US" dirty="0"/>
              <a:t>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545026"/>
                <a:ext cx="10515599" cy="929439"/>
              </a:xfrm>
            </p:spPr>
            <p:txBody>
              <a:bodyPr>
                <a:normAutofit/>
              </a:bodyPr>
              <a:lstStyle/>
              <a:p>
                <a:pPr>
                  <a:lnSpc>
                    <a:spcPct val="100000"/>
                  </a:lnSpc>
                  <a:spcBef>
                    <a:spcPts val="600"/>
                  </a:spcBef>
                </a:pPr>
                <a:r>
                  <a:rPr lang="en-US" sz="2000" dirty="0"/>
                  <a:t>With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i="1" smtClean="0">
                            <a:latin typeface="Cambria Math" panose="02040503050406030204" pitchFamily="18" charset="0"/>
                            <a:ea typeface="Cambria Math" panose="02040503050406030204" pitchFamily="18" charset="0"/>
                          </a:rPr>
                          <m:t>𝛼</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b="0" i="1" smtClean="0">
                            <a:latin typeface="Cambria Math" panose="02040503050406030204" pitchFamily="18" charset="0"/>
                            <a:ea typeface="Cambria Math" panose="02040503050406030204" pitchFamily="18" charset="0"/>
                          </a:rPr>
                          <m:t>0.05</m:t>
                        </m:r>
                      </m:sub>
                    </m:sSub>
                  </m:oMath>
                </a14:m>
                <a:r>
                  <a:rPr lang="en-US" sz="2000" dirty="0"/>
                  <a:t> provides the critical value for the upper tail </a:t>
                </a:r>
                <a:r>
                  <a:rPr lang="en-US" sz="2000" i="1" dirty="0"/>
                  <a:t>F</a:t>
                </a:r>
                <a:r>
                  <a:rPr lang="en-US" sz="2000" dirty="0"/>
                  <a:t> test. Using Table 4 in Appendix B, with 2 degrees of freedom at the numerator, and 12 degrees of freedom at the denominator, we obtain the critical value,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ea typeface="Cambria Math" panose="02040503050406030204" pitchFamily="18" charset="0"/>
                          </a:rPr>
                          <m:t>0.05</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3.89</m:t>
                    </m:r>
                  </m:oMath>
                </a14:m>
                <a:r>
                  <a:rPr lang="en-US" sz="2000" dirty="0"/>
                  <a:t>.</a:t>
                </a:r>
              </a:p>
              <a:p>
                <a:pPr>
                  <a:lnSpc>
                    <a:spcPct val="100000"/>
                  </a:lnSpc>
                  <a:spcBef>
                    <a:spcPts val="600"/>
                  </a:spcBef>
                </a:pPr>
                <a:endParaRPr lang="en-US" sz="2000" dirty="0"/>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545026"/>
                <a:ext cx="10515599" cy="929439"/>
              </a:xfrm>
              <a:blipFill>
                <a:blip r:embed="rId3"/>
                <a:stretch>
                  <a:fillRect l="-1508" t="-7843"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2FB9AF6B-72D9-0751-A314-37720DEC08E5}"/>
                  </a:ext>
                </a:extLst>
              </p:cNvPr>
              <p:cNvGraphicFramePr>
                <a:graphicFrameLocks noGrp="1"/>
              </p:cNvGraphicFramePr>
              <p:nvPr>
                <p:ph type="tbl" sz="quarter" idx="22"/>
              </p:nvPr>
            </p:nvGraphicFramePr>
            <p:xfrm>
              <a:off x="1767708" y="2592710"/>
              <a:ext cx="5512370" cy="741680"/>
            </p:xfrm>
            <a:graphic>
              <a:graphicData uri="http://schemas.openxmlformats.org/drawingml/2006/table">
                <a:tbl>
                  <a:tblPr firstRow="1" bandRow="1">
                    <a:tableStyleId>{5C22544A-7EE6-4342-B048-85BDC9FD1C3A}</a:tableStyleId>
                  </a:tblPr>
                  <a:tblGrid>
                    <a:gridCol w="2757314">
                      <a:extLst>
                        <a:ext uri="{9D8B030D-6E8A-4147-A177-3AD203B41FA5}">
                          <a16:colId xmlns:a16="http://schemas.microsoft.com/office/drawing/2014/main" val="4171103348"/>
                        </a:ext>
                      </a:extLst>
                    </a:gridCol>
                    <a:gridCol w="688764">
                      <a:extLst>
                        <a:ext uri="{9D8B030D-6E8A-4147-A177-3AD203B41FA5}">
                          <a16:colId xmlns:a16="http://schemas.microsoft.com/office/drawing/2014/main" val="3310322248"/>
                        </a:ext>
                      </a:extLst>
                    </a:gridCol>
                    <a:gridCol w="688764">
                      <a:extLst>
                        <a:ext uri="{9D8B030D-6E8A-4147-A177-3AD203B41FA5}">
                          <a16:colId xmlns:a16="http://schemas.microsoft.com/office/drawing/2014/main" val="1345786011"/>
                        </a:ext>
                      </a:extLst>
                    </a:gridCol>
                    <a:gridCol w="688764">
                      <a:extLst>
                        <a:ext uri="{9D8B030D-6E8A-4147-A177-3AD203B41FA5}">
                          <a16:colId xmlns:a16="http://schemas.microsoft.com/office/drawing/2014/main" val="3942544080"/>
                        </a:ext>
                      </a:extLst>
                    </a:gridCol>
                    <a:gridCol w="688764">
                      <a:extLst>
                        <a:ext uri="{9D8B030D-6E8A-4147-A177-3AD203B41FA5}">
                          <a16:colId xmlns:a16="http://schemas.microsoft.com/office/drawing/2014/main" val="2859257073"/>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r>
                                <a:rPr lang="en-US" sz="1600" b="1" i="1" smtClean="0">
                                  <a:latin typeface="Cambria Math" panose="02040503050406030204" pitchFamily="18" charset="0"/>
                                  <a:cs typeface="Arial" panose="020B0604020202020204" pitchFamily="34" charset="0"/>
                                </a:rPr>
                                <m:t>𝑭</m:t>
                              </m:r>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sSub>
                                <m:sSubPr>
                                  <m:ctrlPr>
                                    <a:rPr lang="en-US" sz="1600" b="1" i="1" dirty="0" smtClean="0">
                                      <a:solidFill>
                                        <a:srgbClr val="000000"/>
                                      </a:solidFill>
                                      <a:latin typeface="Cambria Math" panose="02040503050406030204" pitchFamily="18" charset="0"/>
                                    </a:rPr>
                                  </m:ctrlPr>
                                </m:sSubPr>
                                <m:e>
                                  <m:r>
                                    <a:rPr lang="en-US" sz="1600" b="1" i="1" dirty="0" smtClean="0">
                                      <a:solidFill>
                                        <a:srgbClr val="000000"/>
                                      </a:solidFill>
                                      <a:latin typeface="Cambria Math" panose="02040503050406030204" pitchFamily="18" charset="0"/>
                                    </a:rPr>
                                    <m:t>𝒅𝒇</m:t>
                                  </m:r>
                                </m:e>
                                <m:sub>
                                  <m:r>
                                    <a:rPr lang="en-US" sz="1600" b="1" i="1" dirty="0" smtClean="0">
                                      <a:solidFill>
                                        <a:srgbClr val="000000"/>
                                      </a:solidFill>
                                      <a:latin typeface="Cambria Math" panose="02040503050406030204" pitchFamily="18" charset="0"/>
                                    </a:rPr>
                                    <m:t>𝟏</m:t>
                                  </m:r>
                                </m:sub>
                              </m:sSub>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m:t>
                              </m:r>
                              <m:r>
                                <a:rPr lang="en-US" sz="1600" b="1" i="1" dirty="0" smtClean="0">
                                  <a:solidFill>
                                    <a:srgbClr val="000000"/>
                                  </a:solidFill>
                                  <a:latin typeface="Cambria Math" panose="02040503050406030204" pitchFamily="18" charset="0"/>
                                </a:rPr>
                                <m:t>,</m:t>
                              </m:r>
                              <m:sSub>
                                <m:sSubPr>
                                  <m:ctrlPr>
                                    <a:rPr lang="en-US" sz="1600" b="1" i="1" dirty="0" smtClean="0">
                                      <a:solidFill>
                                        <a:srgbClr val="000000"/>
                                      </a:solidFill>
                                      <a:latin typeface="Cambria Math" panose="02040503050406030204" pitchFamily="18" charset="0"/>
                                    </a:rPr>
                                  </m:ctrlPr>
                                </m:sSubPr>
                                <m:e>
                                  <m:r>
                                    <a:rPr lang="en-US" sz="1600" b="1" i="1" dirty="0" smtClean="0">
                                      <a:solidFill>
                                        <a:srgbClr val="000000"/>
                                      </a:solidFill>
                                      <a:latin typeface="Cambria Math" panose="02040503050406030204" pitchFamily="18" charset="0"/>
                                    </a:rPr>
                                    <m:t>𝒅𝒇</m:t>
                                  </m:r>
                                </m:e>
                                <m:sub>
                                  <m:r>
                                    <a:rPr lang="en-US" sz="1600" b="1" i="1" dirty="0" smtClean="0">
                                      <a:solidFill>
                                        <a:srgbClr val="000000"/>
                                      </a:solidFill>
                                      <a:latin typeface="Cambria Math" panose="02040503050406030204" pitchFamily="18" charset="0"/>
                                    </a:rPr>
                                    <m:t>𝟐</m:t>
                                  </m:r>
                                </m:sub>
                              </m:sSub>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𝟏𝟐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2.81</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3.89</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5.10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6.93</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2FB9AF6B-72D9-0751-A314-37720DEC08E5}"/>
                  </a:ext>
                </a:extLst>
              </p:cNvPr>
              <p:cNvGraphicFramePr>
                <a:graphicFrameLocks noGrp="1"/>
              </p:cNvGraphicFramePr>
              <p:nvPr>
                <p:ph type="tbl" sz="quarter" idx="22"/>
                <p:extLst>
                  <p:ext uri="{D42A27DB-BD31-4B8C-83A1-F6EECF244321}">
                    <p14:modId xmlns:p14="http://schemas.microsoft.com/office/powerpoint/2010/main" val="3642363976"/>
                  </p:ext>
                </p:extLst>
              </p:nvPr>
            </p:nvGraphicFramePr>
            <p:xfrm>
              <a:off x="1767708" y="2592710"/>
              <a:ext cx="5512370" cy="741680"/>
            </p:xfrm>
            <a:graphic>
              <a:graphicData uri="http://schemas.openxmlformats.org/drawingml/2006/table">
                <a:tbl>
                  <a:tblPr firstRow="1" bandRow="1">
                    <a:tableStyleId>{5C22544A-7EE6-4342-B048-85BDC9FD1C3A}</a:tableStyleId>
                  </a:tblPr>
                  <a:tblGrid>
                    <a:gridCol w="2757314">
                      <a:extLst>
                        <a:ext uri="{9D8B030D-6E8A-4147-A177-3AD203B41FA5}">
                          <a16:colId xmlns:a16="http://schemas.microsoft.com/office/drawing/2014/main" val="4171103348"/>
                        </a:ext>
                      </a:extLst>
                    </a:gridCol>
                    <a:gridCol w="688764">
                      <a:extLst>
                        <a:ext uri="{9D8B030D-6E8A-4147-A177-3AD203B41FA5}">
                          <a16:colId xmlns:a16="http://schemas.microsoft.com/office/drawing/2014/main" val="3310322248"/>
                        </a:ext>
                      </a:extLst>
                    </a:gridCol>
                    <a:gridCol w="688764">
                      <a:extLst>
                        <a:ext uri="{9D8B030D-6E8A-4147-A177-3AD203B41FA5}">
                          <a16:colId xmlns:a16="http://schemas.microsoft.com/office/drawing/2014/main" val="1345786011"/>
                        </a:ext>
                      </a:extLst>
                    </a:gridCol>
                    <a:gridCol w="688764">
                      <a:extLst>
                        <a:ext uri="{9D8B030D-6E8A-4147-A177-3AD203B41FA5}">
                          <a16:colId xmlns:a16="http://schemas.microsoft.com/office/drawing/2014/main" val="3942544080"/>
                        </a:ext>
                      </a:extLst>
                    </a:gridCol>
                    <a:gridCol w="688764">
                      <a:extLst>
                        <a:ext uri="{9D8B030D-6E8A-4147-A177-3AD203B41FA5}">
                          <a16:colId xmlns:a16="http://schemas.microsoft.com/office/drawing/2014/main" val="2859257073"/>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100221" b="-32787"/>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2.81</a:t>
                          </a:r>
                        </a:p>
                      </a:txBody>
                      <a:tcPr marL="6350" marR="6350" marT="6350" marB="0" anchor="b">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3.89</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5.10</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6.93</a:t>
                          </a:r>
                        </a:p>
                      </a:txBody>
                      <a:tcPr marL="6350" marR="6350" marT="6350" marB="0" anchor="b">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505966"/>
                <a:ext cx="10484504" cy="1980434"/>
              </a:xfrm>
            </p:spPr>
            <p:txBody>
              <a:bodyPr>
                <a:noAutofit/>
              </a:bodyPr>
              <a:lstStyle/>
              <a:p>
                <a:pPr>
                  <a:lnSpc>
                    <a:spcPct val="100000"/>
                  </a:lnSpc>
                  <a:spcBef>
                    <a:spcPts val="600"/>
                  </a:spcBef>
                  <a:spcAft>
                    <a:spcPts val="0"/>
                  </a:spcAft>
                </a:pPr>
                <a:r>
                  <a:rPr lang="en-US" sz="2000" dirty="0"/>
                  <a:t>We </a:t>
                </a:r>
                <a:r>
                  <a:rPr lang="en-US" sz="2000" dirty="0">
                    <a:solidFill>
                      <a:srgbClr val="000000"/>
                    </a:solidFill>
                    <a:cs typeface="Arial" panose="020B0604020202020204" pitchFamily="34" charset="0"/>
                  </a:rPr>
                  <a:t>can also use Excel to compute the critical value,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ea typeface="Cambria Math" panose="02040503050406030204" pitchFamily="18" charset="0"/>
                          </a:rPr>
                          <m:t>0.05</m:t>
                        </m:r>
                      </m:sub>
                    </m:sSub>
                    <m:r>
                      <m:rPr>
                        <m:nor/>
                      </m:rPr>
                      <a:rPr lang="en-US" sz="2000" b="0" i="0" smtClean="0">
                        <a:latin typeface="Cambria Math" panose="02040503050406030204" pitchFamily="18" charset="0"/>
                        <a:ea typeface="Cambria Math" panose="02040503050406030204" pitchFamily="18" charset="0"/>
                      </a:rPr>
                      <m:t> </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F</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(0.05,2,12)</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3.89</m:t>
                    </m:r>
                  </m:oMath>
                </a14:m>
                <a:endParaRPr lang="en-US" sz="2000" dirty="0">
                  <a:solidFill>
                    <a:srgbClr val="000000"/>
                  </a:solidFill>
                  <a:cs typeface="Arial" panose="020B0604020202020204" pitchFamily="34" charset="0"/>
                </a:endParaRPr>
              </a:p>
              <a:p>
                <a:pPr>
                  <a:lnSpc>
                    <a:spcPct val="100000"/>
                  </a:lnSpc>
                  <a:spcBef>
                    <a:spcPts val="600"/>
                  </a:spcBef>
                  <a:spcAft>
                    <a:spcPts val="600"/>
                  </a:spcAft>
                </a:pPr>
                <a:r>
                  <a:rPr lang="en-US" sz="2000" dirty="0">
                    <a:solidFill>
                      <a:srgbClr val="000000"/>
                    </a:solidFill>
                    <a:cs typeface="Arial" panose="020B0604020202020204" pitchFamily="34" charset="0"/>
                  </a:rPr>
                  <a:t>Thus, the rejection rule for the </a:t>
                </a:r>
                <a:r>
                  <a:rPr lang="en-US" sz="2000" i="1" dirty="0">
                    <a:solidFill>
                      <a:srgbClr val="000000"/>
                    </a:solidFill>
                    <a:cs typeface="Arial" panose="020B0604020202020204" pitchFamily="34" charset="0"/>
                  </a:rPr>
                  <a:t>F</a:t>
                </a:r>
                <a:r>
                  <a:rPr lang="en-US" sz="2000" dirty="0">
                    <a:solidFill>
                      <a:srgbClr val="000000"/>
                    </a:solidFill>
                    <a:cs typeface="Arial" panose="020B0604020202020204" pitchFamily="34" charset="0"/>
                  </a:rPr>
                  <a:t> test is:</a:t>
                </a:r>
              </a:p>
              <a:p>
                <a:pPr marL="914400">
                  <a:lnSpc>
                    <a:spcPct val="100000"/>
                  </a:lnSpc>
                  <a:spcBef>
                    <a:spcPts val="600"/>
                  </a:spcBef>
                  <a:spcAft>
                    <a:spcPts val="600"/>
                  </a:spcAft>
                </a:pPr>
                <a:r>
                  <a:rPr lang="en-US" sz="2000" dirty="0">
                    <a:solidFill>
                      <a:srgbClr val="000000"/>
                    </a:solidFill>
                    <a:cs typeface="Arial" panose="020B0604020202020204" pitchFamily="34" charset="0"/>
                  </a:rPr>
                  <a:t>Reject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if</a:t>
                </a:r>
                <a14:m>
                  <m:oMath xmlns:m="http://schemas.openxmlformats.org/officeDocument/2006/math">
                    <m:r>
                      <a:rPr lang="en-US" sz="2000" b="0" i="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𝐹</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ea typeface="Cambria Math" panose="02040503050406030204" pitchFamily="18" charset="0"/>
                          </a:rPr>
                          <m:t>0.05</m:t>
                        </m:r>
                      </m:sub>
                    </m:sSub>
                    <m:r>
                      <a:rPr lang="en-US" sz="2000" b="0" i="1" smtClean="0">
                        <a:latin typeface="Cambria Math" panose="02040503050406030204" pitchFamily="18" charset="0"/>
                        <a:ea typeface="Cambria Math" panose="02040503050406030204" pitchFamily="18" charset="0"/>
                      </a:rPr>
                      <m:t>=3.89</m:t>
                    </m:r>
                  </m:oMath>
                </a14:m>
                <a:endParaRPr lang="en-US" sz="2000" dirty="0">
                  <a:solidFill>
                    <a:srgbClr val="000000"/>
                  </a:solidFill>
                  <a:cs typeface="Arial" panose="020B0604020202020204" pitchFamily="34" charset="0"/>
                </a:endParaRPr>
              </a:p>
              <a:p>
                <a:pPr>
                  <a:lnSpc>
                    <a:spcPct val="100000"/>
                  </a:lnSpc>
                  <a:spcBef>
                    <a:spcPts val="600"/>
                  </a:spcBef>
                  <a:spcAft>
                    <a:spcPts val="0"/>
                  </a:spcAft>
                </a:pPr>
                <a:r>
                  <a:rPr lang="en-US" sz="2000" dirty="0">
                    <a:solidFill>
                      <a:srgbClr val="000000"/>
                    </a:solidFill>
                    <a:cs typeface="Arial" panose="020B0604020202020204" pitchFamily="34" charset="0"/>
                  </a:rPr>
                  <a:t>Because </a:t>
                </a:r>
                <a14:m>
                  <m:oMath xmlns:m="http://schemas.openxmlformats.org/officeDocument/2006/math">
                    <m:r>
                      <a:rPr lang="en-US" sz="2000" b="0" i="1" smtClean="0">
                        <a:latin typeface="Cambria Math" panose="02040503050406030204" pitchFamily="18" charset="0"/>
                        <a:cs typeface="Arial" panose="020B0604020202020204" pitchFamily="34" charset="0"/>
                      </a:rPr>
                      <m:t>𝐹</m:t>
                    </m:r>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9.18</m:t>
                    </m:r>
                  </m:oMath>
                </a14:m>
                <a:r>
                  <a:rPr lang="en-US" sz="2000" dirty="0">
                    <a:solidFill>
                      <a:srgbClr val="000000"/>
                    </a:solidFill>
                    <a:cs typeface="Arial" panose="020B0604020202020204" pitchFamily="34" charset="0"/>
                  </a:rPr>
                  <a:t>, we reject the null hypothesis and </a:t>
                </a:r>
                <a:r>
                  <a:rPr lang="en-US" sz="2000" dirty="0">
                    <a:cs typeface="Arial" panose="020B0604020202020204" pitchFamily="34" charset="0"/>
                  </a:rPr>
                  <a:t>conclude that the population mean number of units produced per week for the three assembly methods are not equal.</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505966"/>
                <a:ext cx="10484504" cy="1980434"/>
              </a:xfrm>
              <a:blipFill>
                <a:blip r:embed="rId5"/>
                <a:stretch>
                  <a:fillRect l="-1513" t="-3692" b="-4308"/>
                </a:stretch>
              </a:blipFill>
            </p:spPr>
            <p:txBody>
              <a:bodyPr/>
              <a:lstStyle/>
              <a:p>
                <a:r>
                  <a:rPr lang="en-US">
                    <a:noFill/>
                  </a:rPr>
                  <a:t> </a:t>
                </a:r>
              </a:p>
            </p:txBody>
          </p:sp>
        </mc:Fallback>
      </mc:AlternateContent>
    </p:spTree>
    <p:extLst>
      <p:ext uri="{BB962C8B-B14F-4D97-AF65-F5344CB8AC3E}">
        <p14:creationId xmlns:p14="http://schemas.microsoft.com/office/powerpoint/2010/main" val="1274482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A8A8-69C6-C618-DB9F-6DA57A0C239B}"/>
              </a:ext>
            </a:extLst>
          </p:cNvPr>
          <p:cNvSpPr>
            <a:spLocks noGrp="1"/>
          </p:cNvSpPr>
          <p:nvPr>
            <p:ph type="title"/>
          </p:nvPr>
        </p:nvSpPr>
        <p:spPr>
          <a:xfrm>
            <a:off x="705171" y="365125"/>
            <a:ext cx="10757115" cy="672105"/>
          </a:xfrm>
        </p:spPr>
        <p:txBody>
          <a:bodyPr/>
          <a:lstStyle/>
          <a:p>
            <a:r>
              <a:rPr lang="en-US" sz="3200" dirty="0"/>
              <a:t>13.2 ANOVA Table for a Completely Randomized Design</a:t>
            </a:r>
          </a:p>
        </p:txBody>
      </p:sp>
      <p:sp>
        <p:nvSpPr>
          <p:cNvPr id="3" name="Text Placeholder 2">
            <a:extLst>
              <a:ext uri="{FF2B5EF4-FFF2-40B4-BE49-F238E27FC236}">
                <a16:creationId xmlns:a16="http://schemas.microsoft.com/office/drawing/2014/main" id="{19DDD177-F2EB-46E4-4E1B-F62383358B7A}"/>
              </a:ext>
            </a:extLst>
          </p:cNvPr>
          <p:cNvSpPr>
            <a:spLocks noGrp="1"/>
          </p:cNvSpPr>
          <p:nvPr>
            <p:ph type="body" sz="quarter" idx="15"/>
          </p:nvPr>
        </p:nvSpPr>
        <p:spPr>
          <a:xfrm>
            <a:off x="742950" y="1193835"/>
            <a:ext cx="10529510" cy="410964"/>
          </a:xfrm>
        </p:spPr>
        <p:txBody>
          <a:bodyPr>
            <a:normAutofit/>
          </a:bodyPr>
          <a:lstStyle/>
          <a:p>
            <a:pPr>
              <a:lnSpc>
                <a:spcPct val="100000"/>
              </a:lnSpc>
              <a:spcBef>
                <a:spcPts val="600"/>
              </a:spcBef>
            </a:pPr>
            <a:r>
              <a:rPr lang="en-US" sz="2000" dirty="0"/>
              <a:t>The ANOVA table for a completely randomized design is formatted as follows</a:t>
            </a:r>
          </a:p>
        </p:txBody>
      </p:sp>
      <p:graphicFrame>
        <p:nvGraphicFramePr>
          <p:cNvPr id="10" name="Table 13">
            <a:extLst>
              <a:ext uri="{FF2B5EF4-FFF2-40B4-BE49-F238E27FC236}">
                <a16:creationId xmlns:a16="http://schemas.microsoft.com/office/drawing/2014/main" id="{8DBAA526-EB5A-3DDB-CBE8-9D4A60B3BA7B}"/>
              </a:ext>
            </a:extLst>
          </p:cNvPr>
          <p:cNvGraphicFramePr>
            <a:graphicFrameLocks noGrp="1"/>
          </p:cNvGraphicFramePr>
          <p:nvPr>
            <p:ph type="tbl" sz="quarter" idx="22"/>
            <p:extLst>
              <p:ext uri="{D42A27DB-BD31-4B8C-83A1-F6EECF244321}">
                <p14:modId xmlns:p14="http://schemas.microsoft.com/office/powerpoint/2010/main" val="3858393472"/>
              </p:ext>
            </p:extLst>
          </p:nvPr>
        </p:nvGraphicFramePr>
        <p:xfrm>
          <a:off x="742950" y="1661951"/>
          <a:ext cx="10457824" cy="1516600"/>
        </p:xfrm>
        <a:graphic>
          <a:graphicData uri="http://schemas.openxmlformats.org/drawingml/2006/table">
            <a:tbl>
              <a:tblPr firstRow="1" bandRow="1">
                <a:tableStyleId>{5C22544A-7EE6-4342-B048-85BDC9FD1C3A}</a:tableStyleId>
              </a:tblPr>
              <a:tblGrid>
                <a:gridCol w="2016015">
                  <a:extLst>
                    <a:ext uri="{9D8B030D-6E8A-4147-A177-3AD203B41FA5}">
                      <a16:colId xmlns:a16="http://schemas.microsoft.com/office/drawing/2014/main" val="4281494615"/>
                    </a:ext>
                  </a:extLst>
                </a:gridCol>
                <a:gridCol w="1607457">
                  <a:extLst>
                    <a:ext uri="{9D8B030D-6E8A-4147-A177-3AD203B41FA5}">
                      <a16:colId xmlns:a16="http://schemas.microsoft.com/office/drawing/2014/main" val="1658350638"/>
                    </a:ext>
                  </a:extLst>
                </a:gridCol>
                <a:gridCol w="1947042">
                  <a:extLst>
                    <a:ext uri="{9D8B030D-6E8A-4147-A177-3AD203B41FA5}">
                      <a16:colId xmlns:a16="http://schemas.microsoft.com/office/drawing/2014/main" val="665697469"/>
                    </a:ext>
                  </a:extLst>
                </a:gridCol>
                <a:gridCol w="1939158">
                  <a:extLst>
                    <a:ext uri="{9D8B030D-6E8A-4147-A177-3AD203B41FA5}">
                      <a16:colId xmlns:a16="http://schemas.microsoft.com/office/drawing/2014/main" val="230204798"/>
                    </a:ext>
                  </a:extLst>
                </a:gridCol>
                <a:gridCol w="1261242">
                  <a:extLst>
                    <a:ext uri="{9D8B030D-6E8A-4147-A177-3AD203B41FA5}">
                      <a16:colId xmlns:a16="http://schemas.microsoft.com/office/drawing/2014/main" val="4176669424"/>
                    </a:ext>
                  </a:extLst>
                </a:gridCol>
                <a:gridCol w="1686910">
                  <a:extLst>
                    <a:ext uri="{9D8B030D-6E8A-4147-A177-3AD203B41FA5}">
                      <a16:colId xmlns:a16="http://schemas.microsoft.com/office/drawing/2014/main" val="1389891288"/>
                    </a:ext>
                  </a:extLst>
                </a:gridCol>
              </a:tblGrid>
              <a:tr h="379150">
                <a:tc>
                  <a:txBody>
                    <a:bodyPr/>
                    <a:lstStyle/>
                    <a:p>
                      <a:r>
                        <a:rPr lang="en-US" sz="16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79150">
                <a:tc>
                  <a:txBody>
                    <a:bodyPr/>
                    <a:lstStyle/>
                    <a:p>
                      <a:r>
                        <a:rPr lang="en-US" sz="1600" dirty="0">
                          <a:solidFill>
                            <a:srgbClr val="000000"/>
                          </a:solidFill>
                        </a:rPr>
                        <a:t>  Treatments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SSTR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k</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MSTR = SSTR / (</a:t>
                      </a:r>
                      <a:r>
                        <a:rPr lang="en-US" sz="1600" i="1" dirty="0">
                          <a:solidFill>
                            <a:srgbClr val="000000"/>
                          </a:solidFill>
                        </a:rPr>
                        <a:t>k</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MSTR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a:t>
                      </a:r>
                      <a:r>
                        <a:rPr lang="en-US" sz="1600" i="1" dirty="0">
                          <a:solidFill>
                            <a:srgbClr val="000000"/>
                          </a:solidFill>
                        </a:rPr>
                        <a:t>F </a:t>
                      </a:r>
                      <a:r>
                        <a:rPr lang="en-US" sz="1600" dirty="0">
                          <a:solidFill>
                            <a:srgbClr val="000000"/>
                          </a:solidFill>
                        </a:rPr>
                        <a:t>≥ MSTR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79150">
                <a:tc>
                  <a:txBody>
                    <a:bodyPr/>
                    <a:lstStyle/>
                    <a:p>
                      <a:r>
                        <a:rPr lang="en-US" sz="16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err="1">
                          <a:solidFill>
                            <a:srgbClr val="000000"/>
                          </a:solidFill>
                        </a:rPr>
                        <a:t>n</a:t>
                      </a:r>
                      <a:r>
                        <a:rPr lang="en-US" sz="1600" baseline="-25000" dirty="0" err="1">
                          <a:solidFill>
                            <a:srgbClr val="000000"/>
                          </a:solidFill>
                        </a:rPr>
                        <a:t>T</a:t>
                      </a:r>
                      <a:r>
                        <a:rPr lang="en-US" sz="1600" dirty="0">
                          <a:solidFill>
                            <a:srgbClr val="000000"/>
                          </a:solidFill>
                        </a:rPr>
                        <a:t> − </a:t>
                      </a:r>
                      <a:r>
                        <a:rPr lang="en-US" sz="1600" i="1" dirty="0">
                          <a:solidFill>
                            <a:srgbClr val="000000"/>
                          </a:solidFill>
                        </a:rPr>
                        <a:t>k</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MSE = SSE / (</a:t>
                      </a:r>
                      <a:r>
                        <a:rPr lang="en-US" sz="1600" i="1" dirty="0" err="1">
                          <a:solidFill>
                            <a:srgbClr val="000000"/>
                          </a:solidFill>
                        </a:rPr>
                        <a:t>n</a:t>
                      </a:r>
                      <a:r>
                        <a:rPr lang="en-US" sz="1600" baseline="-25000" dirty="0" err="1">
                          <a:solidFill>
                            <a:srgbClr val="000000"/>
                          </a:solidFill>
                        </a:rPr>
                        <a:t>T</a:t>
                      </a:r>
                      <a:r>
                        <a:rPr lang="en-US" sz="1600" dirty="0">
                          <a:solidFill>
                            <a:srgbClr val="000000"/>
                          </a:solidFill>
                        </a:rPr>
                        <a:t> − </a:t>
                      </a:r>
                      <a:r>
                        <a:rPr lang="en-US" sz="1600" i="1" dirty="0">
                          <a:solidFill>
                            <a:srgbClr val="000000"/>
                          </a:solidFill>
                        </a:rPr>
                        <a:t>k</a:t>
                      </a:r>
                      <a:r>
                        <a:rPr lang="en-US" sz="160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79150">
                <a:tc>
                  <a:txBody>
                    <a:bodyPr/>
                    <a:lstStyle/>
                    <a:p>
                      <a:r>
                        <a:rPr lang="en-US" sz="16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err="1">
                          <a:solidFill>
                            <a:srgbClr val="000000"/>
                          </a:solidFill>
                        </a:rPr>
                        <a:t>n</a:t>
                      </a:r>
                      <a:r>
                        <a:rPr lang="en-US" sz="1600" baseline="-25000" dirty="0" err="1">
                          <a:solidFill>
                            <a:srgbClr val="000000"/>
                          </a:solidFill>
                        </a:rPr>
                        <a:t>T</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2A090CF-86F9-C143-E94D-4A1E6EE887F9}"/>
                  </a:ext>
                </a:extLst>
              </p:cNvPr>
              <p:cNvSpPr>
                <a:spLocks noGrp="1"/>
              </p:cNvSpPr>
              <p:nvPr>
                <p:ph type="body" sz="quarter" idx="18"/>
              </p:nvPr>
            </p:nvSpPr>
            <p:spPr>
              <a:xfrm>
                <a:off x="742950" y="3288739"/>
                <a:ext cx="10579754" cy="2504842"/>
              </a:xfrm>
            </p:spPr>
            <p:txBody>
              <a:bodyPr>
                <a:noAutofit/>
              </a:bodyPr>
              <a:lstStyle/>
              <a:p>
                <a:pPr>
                  <a:lnSpc>
                    <a:spcPct val="100000"/>
                  </a:lnSpc>
                  <a:spcBef>
                    <a:spcPts val="600"/>
                  </a:spcBef>
                </a:pPr>
                <a:r>
                  <a:rPr lang="en-US" sz="2000" dirty="0"/>
                  <a:t>The </a:t>
                </a:r>
                <a:r>
                  <a:rPr lang="en-US" sz="2000" i="1" dirty="0"/>
                  <a:t>total sum of squares</a:t>
                </a:r>
                <a:r>
                  <a:rPr lang="en-US" sz="2000" dirty="0"/>
                  <a:t>, </a:t>
                </a:r>
                <a14:m>
                  <m:oMath xmlns:m="http://schemas.openxmlformats.org/officeDocument/2006/math">
                    <m:r>
                      <a:rPr lang="en-US" sz="2000" i="1" dirty="0">
                        <a:latin typeface="Cambria Math" panose="02040503050406030204" pitchFamily="18" charset="0"/>
                      </a:rPr>
                      <m:t>𝑆𝑆𝑇</m:t>
                    </m:r>
                  </m:oMath>
                </a14:m>
                <a:r>
                  <a:rPr lang="en-US" sz="2000" dirty="0"/>
                  <a:t>, when divided by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𝑇</m:t>
                        </m:r>
                      </m:sub>
                    </m:sSub>
                    <m:r>
                      <a:rPr lang="en-US" sz="2000" b="0" i="1" smtClean="0">
                        <a:latin typeface="Cambria Math" panose="02040503050406030204" pitchFamily="18" charset="0"/>
                        <a:cs typeface="Arial" panose="020B0604020202020204" pitchFamily="34" charset="0"/>
                      </a:rPr>
                      <m:t>−1</m:t>
                    </m:r>
                  </m:oMath>
                </a14:m>
                <a:r>
                  <a:rPr lang="en-US" sz="2000" dirty="0"/>
                  <a:t>, provides the overall sample variance obtained by treating the entire set of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oMath>
                </a14:m>
                <a:r>
                  <a:rPr lang="en-US" sz="2000" dirty="0"/>
                  <a:t> observations as one data set.</a:t>
                </a:r>
              </a:p>
              <a:p>
                <a:pPr>
                  <a:lnSpc>
                    <a:spcPct val="100000"/>
                  </a:lnSpc>
                  <a:spcBef>
                    <a:spcPts val="600"/>
                  </a:spcBef>
                </a:pPr>
                <a:r>
                  <a:rPr lang="en-US" sz="2000" dirty="0"/>
                  <a:t>Also, because</a:t>
                </a:r>
              </a:p>
              <a:p>
                <a:pPr marL="914400">
                  <a:lnSpc>
                    <a:spcPct val="100000"/>
                  </a:lnSpc>
                  <a:spcBef>
                    <a:spcPts val="600"/>
                  </a:spcBef>
                </a:pPr>
                <a14:m>
                  <m:oMath xmlns:m="http://schemas.openxmlformats.org/officeDocument/2006/math">
                    <m:r>
                      <a:rPr lang="en-US" sz="2000" i="1" dirty="0" smtClean="0">
                        <a:latin typeface="Cambria Math" panose="02040503050406030204" pitchFamily="18" charset="0"/>
                      </a:rPr>
                      <m:t>𝑆𝑆𝑇</m:t>
                    </m:r>
                    <m:r>
                      <a:rPr lang="en-US" sz="2000" b="0" i="1" dirty="0" smtClean="0">
                        <a:latin typeface="Cambria Math" panose="02040503050406030204" pitchFamily="18" charset="0"/>
                      </a:rPr>
                      <m:t>=</m:t>
                    </m:r>
                    <m:r>
                      <a:rPr lang="en-US" sz="2000" b="0" i="1" dirty="0" smtClean="0">
                        <a:latin typeface="Cambria Math" panose="02040503050406030204" pitchFamily="18" charset="0"/>
                      </a:rPr>
                      <m:t>𝑆𝑆𝑇𝑅</m:t>
                    </m:r>
                    <m:r>
                      <a:rPr lang="en-US" sz="2000" b="0" i="1" dirty="0" smtClean="0">
                        <a:latin typeface="Cambria Math" panose="02040503050406030204" pitchFamily="18" charset="0"/>
                      </a:rPr>
                      <m:t>+</m:t>
                    </m:r>
                    <m:r>
                      <a:rPr lang="en-US" sz="2000" b="0" i="1" dirty="0" smtClean="0">
                        <a:latin typeface="Cambria Math" panose="02040503050406030204" pitchFamily="18" charset="0"/>
                      </a:rPr>
                      <m:t>𝑆𝑆𝐸</m:t>
                    </m:r>
                  </m:oMath>
                </a14:m>
                <a:r>
                  <a:rPr lang="en-US" sz="2000" dirty="0"/>
                  <a:t> </a:t>
                </a:r>
              </a:p>
              <a:p>
                <a:pPr>
                  <a:lnSpc>
                    <a:spcPct val="100000"/>
                  </a:lnSpc>
                  <a:spcBef>
                    <a:spcPts val="0"/>
                  </a:spcBef>
                </a:pPr>
                <a:r>
                  <a:rPr lang="en-US" sz="2000" dirty="0"/>
                  <a:t>and</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m:t>
                      </m:r>
                      <m:d>
                        <m:dPr>
                          <m:ctrlPr>
                            <a:rPr lang="en-US" sz="2000" b="0" i="1" smtClean="0">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m:t>
                          </m:r>
                        </m:e>
                      </m:d>
                    </m:oMath>
                  </m:oMathPara>
                </a14:m>
                <a:endParaRPr lang="en-US" sz="2000" b="0" dirty="0">
                  <a:cs typeface="Arial" panose="020B0604020202020204" pitchFamily="34" charset="0"/>
                </a:endParaRPr>
              </a:p>
              <a:p>
                <a:pPr>
                  <a:lnSpc>
                    <a:spcPct val="100000"/>
                  </a:lnSpc>
                  <a:spcBef>
                    <a:spcPts val="600"/>
                  </a:spcBef>
                </a:pPr>
                <a:r>
                  <a:rPr lang="en-US" sz="2000" dirty="0"/>
                  <a:t>ANOVA is viewed as the process of </a:t>
                </a:r>
                <a:r>
                  <a:rPr lang="en-US" sz="2000" b="1" dirty="0"/>
                  <a:t>partitioning</a:t>
                </a:r>
                <a:r>
                  <a:rPr lang="en-US" sz="2000" dirty="0"/>
                  <a:t> </a:t>
                </a:r>
                <a14:m>
                  <m:oMath xmlns:m="http://schemas.openxmlformats.org/officeDocument/2006/math">
                    <m:r>
                      <a:rPr lang="en-US" sz="2000" i="1" dirty="0">
                        <a:latin typeface="Cambria Math" panose="02040503050406030204" pitchFamily="18" charset="0"/>
                      </a:rPr>
                      <m:t>𝑆𝑆𝑇</m:t>
                    </m:r>
                    <m:r>
                      <a:rPr lang="en-US" sz="2000" i="1" dirty="0">
                        <a:latin typeface="Cambria Math" panose="02040503050406030204" pitchFamily="18" charset="0"/>
                      </a:rPr>
                      <m:t> </m:t>
                    </m:r>
                  </m:oMath>
                </a14:m>
                <a:r>
                  <a:rPr lang="en-US" sz="2000" dirty="0"/>
                  <a:t>into its sources of treatments and error.</a:t>
                </a:r>
              </a:p>
            </p:txBody>
          </p:sp>
        </mc:Choice>
        <mc:Fallback xmlns="">
          <p:sp>
            <p:nvSpPr>
              <p:cNvPr id="5" name="Text Placeholder 4">
                <a:extLst>
                  <a:ext uri="{FF2B5EF4-FFF2-40B4-BE49-F238E27FC236}">
                    <a16:creationId xmlns:a16="http://schemas.microsoft.com/office/drawing/2014/main" id="{42A090CF-86F9-C143-E94D-4A1E6EE887F9}"/>
                  </a:ext>
                </a:extLst>
              </p:cNvPr>
              <p:cNvSpPr>
                <a:spLocks noGrp="1" noRot="1" noChangeAspect="1" noMove="1" noResize="1" noEditPoints="1" noAdjustHandles="1" noChangeArrowheads="1" noChangeShapeType="1" noTextEdit="1"/>
              </p:cNvSpPr>
              <p:nvPr>
                <p:ph type="body" sz="quarter" idx="18"/>
              </p:nvPr>
            </p:nvSpPr>
            <p:spPr>
              <a:xfrm>
                <a:off x="742950" y="3288739"/>
                <a:ext cx="10579754" cy="2504842"/>
              </a:xfrm>
              <a:blipFill>
                <a:blip r:embed="rId3"/>
                <a:stretch>
                  <a:fillRect l="-1499" t="-2920" r="-231" b="-3893"/>
                </a:stretch>
              </a:blipFill>
            </p:spPr>
            <p:txBody>
              <a:bodyPr/>
              <a:lstStyle/>
              <a:p>
                <a:r>
                  <a:rPr lang="en-US">
                    <a:noFill/>
                  </a:rPr>
                  <a:t> </a:t>
                </a:r>
              </a:p>
            </p:txBody>
          </p:sp>
        </mc:Fallback>
      </mc:AlternateContent>
    </p:spTree>
    <p:extLst>
      <p:ext uri="{BB962C8B-B14F-4D97-AF65-F5344CB8AC3E}">
        <p14:creationId xmlns:p14="http://schemas.microsoft.com/office/powerpoint/2010/main" val="1449701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A8A8-69C6-C618-DB9F-6DA57A0C239B}"/>
              </a:ext>
            </a:extLst>
          </p:cNvPr>
          <p:cNvSpPr>
            <a:spLocks noGrp="1"/>
          </p:cNvSpPr>
          <p:nvPr>
            <p:ph type="title"/>
          </p:nvPr>
        </p:nvSpPr>
        <p:spPr/>
        <p:txBody>
          <a:bodyPr/>
          <a:lstStyle/>
          <a:p>
            <a:r>
              <a:rPr lang="en-US" dirty="0"/>
              <a:t>13.2 ANOVA Table for the Chemitech Experiment</a:t>
            </a:r>
          </a:p>
        </p:txBody>
      </p:sp>
      <p:sp>
        <p:nvSpPr>
          <p:cNvPr id="5" name="Text Placeholder 4">
            <a:extLst>
              <a:ext uri="{FF2B5EF4-FFF2-40B4-BE49-F238E27FC236}">
                <a16:creationId xmlns:a16="http://schemas.microsoft.com/office/drawing/2014/main" id="{42A090CF-86F9-C143-E94D-4A1E6EE887F9}"/>
              </a:ext>
            </a:extLst>
          </p:cNvPr>
          <p:cNvSpPr>
            <a:spLocks noGrp="1"/>
          </p:cNvSpPr>
          <p:nvPr>
            <p:ph type="body" sz="quarter" idx="15"/>
          </p:nvPr>
        </p:nvSpPr>
        <p:spPr>
          <a:xfrm>
            <a:off x="779284" y="1334927"/>
            <a:ext cx="10529510" cy="356720"/>
          </a:xfrm>
        </p:spPr>
        <p:txBody>
          <a:bodyPr>
            <a:noAutofit/>
          </a:bodyPr>
          <a:lstStyle/>
          <a:p>
            <a:pPr>
              <a:lnSpc>
                <a:spcPct val="100000"/>
              </a:lnSpc>
              <a:spcBef>
                <a:spcPts val="600"/>
              </a:spcBef>
            </a:pPr>
            <a:r>
              <a:rPr lang="en-US" sz="2000" dirty="0"/>
              <a:t>In the ANOVA table for the Chemitech experiment, we have</a:t>
            </a:r>
          </a:p>
        </p:txBody>
      </p:sp>
      <p:graphicFrame>
        <p:nvGraphicFramePr>
          <p:cNvPr id="8" name="Table Placeholder 13">
            <a:extLst>
              <a:ext uri="{FF2B5EF4-FFF2-40B4-BE49-F238E27FC236}">
                <a16:creationId xmlns:a16="http://schemas.microsoft.com/office/drawing/2014/main" id="{77D49883-197B-2BEF-3772-317BEC9EAC96}"/>
              </a:ext>
            </a:extLst>
          </p:cNvPr>
          <p:cNvGraphicFramePr>
            <a:graphicFrameLocks noGrp="1"/>
          </p:cNvGraphicFramePr>
          <p:nvPr>
            <p:ph type="tbl" sz="quarter" idx="22"/>
          </p:nvPr>
        </p:nvGraphicFramePr>
        <p:xfrm>
          <a:off x="742950" y="1754313"/>
          <a:ext cx="10462554" cy="1566212"/>
        </p:xfrm>
        <a:graphic>
          <a:graphicData uri="http://schemas.openxmlformats.org/drawingml/2006/table">
            <a:tbl>
              <a:tblPr firstRow="1" bandRow="1">
                <a:tableStyleId>{5C22544A-7EE6-4342-B048-85BDC9FD1C3A}</a:tableStyleId>
              </a:tblPr>
              <a:tblGrid>
                <a:gridCol w="2267253">
                  <a:extLst>
                    <a:ext uri="{9D8B030D-6E8A-4147-A177-3AD203B41FA5}">
                      <a16:colId xmlns:a16="http://schemas.microsoft.com/office/drawing/2014/main" val="4281494615"/>
                    </a:ext>
                  </a:extLst>
                </a:gridCol>
                <a:gridCol w="1717288">
                  <a:extLst>
                    <a:ext uri="{9D8B030D-6E8A-4147-A177-3AD203B41FA5}">
                      <a16:colId xmlns:a16="http://schemas.microsoft.com/office/drawing/2014/main" val="1658350638"/>
                    </a:ext>
                  </a:extLst>
                </a:gridCol>
                <a:gridCol w="2222810">
                  <a:extLst>
                    <a:ext uri="{9D8B030D-6E8A-4147-A177-3AD203B41FA5}">
                      <a16:colId xmlns:a16="http://schemas.microsoft.com/office/drawing/2014/main" val="665697469"/>
                    </a:ext>
                  </a:extLst>
                </a:gridCol>
                <a:gridCol w="1769327">
                  <a:extLst>
                    <a:ext uri="{9D8B030D-6E8A-4147-A177-3AD203B41FA5}">
                      <a16:colId xmlns:a16="http://schemas.microsoft.com/office/drawing/2014/main" val="230204798"/>
                    </a:ext>
                  </a:extLst>
                </a:gridCol>
                <a:gridCol w="1167161">
                  <a:extLst>
                    <a:ext uri="{9D8B030D-6E8A-4147-A177-3AD203B41FA5}">
                      <a16:colId xmlns:a16="http://schemas.microsoft.com/office/drawing/2014/main" val="4176669424"/>
                    </a:ext>
                  </a:extLst>
                </a:gridCol>
                <a:gridCol w="1318715">
                  <a:extLst>
                    <a:ext uri="{9D8B030D-6E8A-4147-A177-3AD203B41FA5}">
                      <a16:colId xmlns:a16="http://schemas.microsoft.com/office/drawing/2014/main" val="1389891288"/>
                    </a:ext>
                  </a:extLst>
                </a:gridCol>
              </a:tblGrid>
              <a:tr h="391553">
                <a:tc>
                  <a:txBody>
                    <a:bodyPr/>
                    <a:lstStyle/>
                    <a:p>
                      <a:r>
                        <a:rPr lang="en-US" sz="20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i="1" dirty="0">
                          <a:solidFill>
                            <a:srgbClr val="000000"/>
                          </a:solidFill>
                        </a:rPr>
                        <a:t>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i="1" dirty="0">
                          <a:solidFill>
                            <a:srgbClr val="000000"/>
                          </a:solidFill>
                        </a:rPr>
                        <a:t>p</a:t>
                      </a:r>
                      <a:r>
                        <a:rPr lang="en-US" sz="20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91553">
                <a:tc>
                  <a:txBody>
                    <a:bodyPr/>
                    <a:lstStyle/>
                    <a:p>
                      <a:r>
                        <a:rPr lang="en-US" sz="2000" dirty="0">
                          <a:solidFill>
                            <a:srgbClr val="000000"/>
                          </a:solidFill>
                        </a:rPr>
                        <a:t>  Treatments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520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i="0" dirty="0">
                          <a:solidFill>
                            <a:srgbClr val="000000"/>
                          </a:solidFill>
                        </a:rPr>
                        <a:t>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260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9.18</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0.004</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91553">
                <a:tc>
                  <a:txBody>
                    <a:bodyPr/>
                    <a:lstStyle/>
                    <a:p>
                      <a:r>
                        <a:rPr lang="en-US" sz="20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340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i="0" dirty="0">
                          <a:solidFill>
                            <a:srgbClr val="000000"/>
                          </a:solidFill>
                        </a:rPr>
                        <a:t>12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28.33</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20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20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91553">
                <a:tc>
                  <a:txBody>
                    <a:bodyPr/>
                    <a:lstStyle/>
                    <a:p>
                      <a:r>
                        <a:rPr lang="en-US" sz="20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860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2000" dirty="0">
                          <a:solidFill>
                            <a:srgbClr val="000000"/>
                          </a:solidFill>
                        </a:rPr>
                        <a:t>14</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20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20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20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9893767-11E8-8451-B334-C891DF5E1DEE}"/>
                  </a:ext>
                </a:extLst>
              </p:cNvPr>
              <p:cNvSpPr>
                <a:spLocks noGrp="1"/>
              </p:cNvSpPr>
              <p:nvPr>
                <p:ph type="body" sz="quarter" idx="18"/>
              </p:nvPr>
            </p:nvSpPr>
            <p:spPr>
              <a:xfrm>
                <a:off x="754162" y="3401892"/>
                <a:ext cx="10579754" cy="2324746"/>
              </a:xfrm>
            </p:spPr>
            <p:txBody>
              <a:bodyPr>
                <a:normAutofit/>
              </a:bodyPr>
              <a:lstStyle/>
              <a:p>
                <a:pPr>
                  <a:lnSpc>
                    <a:spcPct val="100000"/>
                  </a:lnSpc>
                  <a:spcBef>
                    <a:spcPts val="600"/>
                  </a:spcBef>
                </a:pPr>
                <a:r>
                  <a:rPr lang="en-US" sz="2000" dirty="0"/>
                  <a:t>Where</a:t>
                </a:r>
              </a:p>
              <a:p>
                <a:pPr marL="914400">
                  <a:lnSpc>
                    <a:spcPct val="100000"/>
                  </a:lnSpc>
                  <a:spcBef>
                    <a:spcPts val="600"/>
                  </a:spcBef>
                </a:pPr>
                <a14:m>
                  <m:oMath xmlns:m="http://schemas.openxmlformats.org/officeDocument/2006/math">
                    <m:r>
                      <a:rPr lang="en-US" sz="2000" i="1" dirty="0">
                        <a:latin typeface="Cambria Math" panose="02040503050406030204" pitchFamily="18" charset="0"/>
                      </a:rPr>
                      <m:t>𝑆𝑆𝑇</m:t>
                    </m:r>
                    <m:r>
                      <a:rPr lang="en-US" sz="2000" i="1" dirty="0">
                        <a:latin typeface="Cambria Math" panose="02040503050406030204" pitchFamily="18" charset="0"/>
                      </a:rPr>
                      <m:t>=</m:t>
                    </m:r>
                    <m:r>
                      <a:rPr lang="en-US" sz="2000" i="1" dirty="0">
                        <a:latin typeface="Cambria Math" panose="02040503050406030204" pitchFamily="18" charset="0"/>
                      </a:rPr>
                      <m:t>𝑆𝑆𝑇𝑅</m:t>
                    </m:r>
                    <m:r>
                      <a:rPr lang="en-US" sz="2000" i="1" dirty="0">
                        <a:latin typeface="Cambria Math" panose="02040503050406030204" pitchFamily="18" charset="0"/>
                      </a:rPr>
                      <m:t>+</m:t>
                    </m:r>
                    <m:r>
                      <a:rPr lang="en-US" sz="2000" i="1" dirty="0">
                        <a:latin typeface="Cambria Math" panose="02040503050406030204" pitchFamily="18" charset="0"/>
                      </a:rPr>
                      <m:t>𝑆𝑆𝐸</m:t>
                    </m:r>
                    <m:r>
                      <a:rPr lang="en-US" sz="2000" i="1" dirty="0">
                        <a:latin typeface="Cambria Math" panose="02040503050406030204" pitchFamily="18" charset="0"/>
                      </a:rPr>
                      <m:t>=520+340=860</m:t>
                    </m:r>
                  </m:oMath>
                </a14:m>
                <a:r>
                  <a:rPr lang="en-US" sz="2000" i="1" dirty="0">
                    <a:latin typeface="Cambria Math" panose="02040503050406030204" pitchFamily="18" charset="0"/>
                  </a:rPr>
                  <a:t> </a:t>
                </a:r>
              </a:p>
              <a:p>
                <a:pPr marL="914400">
                  <a:lnSpc>
                    <a:spcPct val="100000"/>
                  </a:lnSpc>
                  <a:spcBef>
                    <a:spcPts val="600"/>
                  </a:spcBef>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−1=</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𝑘</m:t>
                        </m:r>
                        <m:r>
                          <a:rPr lang="en-US" sz="2000" i="1">
                            <a:latin typeface="Cambria Math" panose="02040503050406030204" pitchFamily="18" charset="0"/>
                            <a:cs typeface="Arial" panose="020B0604020202020204" pitchFamily="34" charset="0"/>
                          </a:rPr>
                          <m:t>−1</m:t>
                        </m:r>
                      </m:e>
                    </m:d>
                    <m:r>
                      <a:rPr lang="en-US" sz="2000" i="1">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𝑘</m:t>
                        </m:r>
                      </m:e>
                    </m:d>
                    <m:r>
                      <a:rPr lang="en-US" sz="2000" i="1">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3−1</m:t>
                        </m:r>
                      </m:e>
                    </m:d>
                    <m:r>
                      <a:rPr lang="en-US" sz="2000" i="1">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15−3</m:t>
                        </m:r>
                      </m:e>
                    </m:d>
                    <m:r>
                      <a:rPr lang="en-US" sz="2000" i="1">
                        <a:latin typeface="Cambria Math" panose="02040503050406030204" pitchFamily="18" charset="0"/>
                        <a:cs typeface="Arial" panose="020B0604020202020204" pitchFamily="34" charset="0"/>
                      </a:rPr>
                      <m:t>=2+12=14</m:t>
                    </m:r>
                  </m:oMath>
                </a14:m>
                <a:r>
                  <a:rPr lang="en-US" sz="2000" dirty="0"/>
                  <a:t> </a:t>
                </a:r>
              </a:p>
              <a:p>
                <a:pPr marL="914400">
                  <a:lnSpc>
                    <a:spcPct val="100000"/>
                  </a:lnSpc>
                  <a:spcBef>
                    <a:spcPts val="600"/>
                  </a:spcBef>
                </a:pPr>
                <a14:m>
                  <m:oMath xmlns:m="http://schemas.openxmlformats.org/officeDocument/2006/math">
                    <m:r>
                      <a:rPr lang="en-US" sz="2000" i="1">
                        <a:latin typeface="Cambria Math" panose="02040503050406030204" pitchFamily="18" charset="0"/>
                      </a:rPr>
                      <m:t>𝑀𝑆𝑇𝑅</m:t>
                    </m:r>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𝑆𝑆𝑇𝑅</m:t>
                        </m:r>
                      </m:num>
                      <m:den>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𝑘</m:t>
                            </m:r>
                            <m:r>
                              <a:rPr lang="en-US" sz="2000" i="1">
                                <a:latin typeface="Cambria Math" panose="02040503050406030204" pitchFamily="18" charset="0"/>
                                <a:cs typeface="Arial" panose="020B0604020202020204" pitchFamily="34" charset="0"/>
                              </a:rPr>
                              <m:t>−1</m:t>
                            </m:r>
                          </m:e>
                        </m:d>
                      </m:den>
                    </m:f>
                    <m:r>
                      <a:rPr lang="en-US" sz="2000" i="1">
                        <a:latin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520</m:t>
                        </m:r>
                      </m:num>
                      <m:den>
                        <m:r>
                          <a:rPr lang="en-US" sz="2000" i="1">
                            <a:latin typeface="Cambria Math" panose="02040503050406030204" pitchFamily="18" charset="0"/>
                            <a:cs typeface="Arial" panose="020B0604020202020204" pitchFamily="34" charset="0"/>
                          </a:rPr>
                          <m:t>2</m:t>
                        </m:r>
                      </m:den>
                    </m:f>
                    <m:r>
                      <a:rPr lang="en-US" sz="2000" i="1">
                        <a:latin typeface="Cambria Math" panose="02040503050406030204" pitchFamily="18" charset="0"/>
                        <a:cs typeface="Arial" panose="020B0604020202020204" pitchFamily="34" charset="0"/>
                      </a:rPr>
                      <m:t>=260</m:t>
                    </m:r>
                  </m:oMath>
                </a14:m>
                <a:r>
                  <a:rPr lang="en-US" sz="2000" dirty="0"/>
                  <a:t> </a:t>
                </a:r>
              </a:p>
              <a:p>
                <a:pPr marL="914400">
                  <a:lnSpc>
                    <a:spcPct val="100000"/>
                  </a:lnSpc>
                  <a:spcBef>
                    <a:spcPts val="600"/>
                  </a:spcBef>
                </a:pPr>
                <a14:m>
                  <m:oMath xmlns:m="http://schemas.openxmlformats.org/officeDocument/2006/math">
                    <m:r>
                      <a:rPr lang="en-US" sz="2000" i="1">
                        <a:latin typeface="Cambria Math" panose="02040503050406030204" pitchFamily="18" charset="0"/>
                      </a:rPr>
                      <m:t>𝑀𝑆𝐸</m:t>
                    </m:r>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𝑆𝑆𝐸</m:t>
                        </m:r>
                      </m:num>
                      <m:den>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𝑘</m:t>
                            </m:r>
                          </m:e>
                        </m:d>
                      </m:den>
                    </m:f>
                    <m:r>
                      <a:rPr lang="en-US" sz="2000" i="1">
                        <a:latin typeface="Cambria Math" panose="02040503050406030204" pitchFamily="18" charset="0"/>
                        <a:cs typeface="Arial" panose="020B0604020202020204" pitchFamily="34" charset="0"/>
                      </a:rPr>
                      <m:t>=</m:t>
                    </m:r>
                    <m:f>
                      <m:fPr>
                        <m:type m:val="lin"/>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340</m:t>
                        </m:r>
                      </m:num>
                      <m:den>
                        <m:r>
                          <a:rPr lang="en-US" sz="2000" i="1">
                            <a:latin typeface="Cambria Math" panose="02040503050406030204" pitchFamily="18" charset="0"/>
                            <a:cs typeface="Arial" panose="020B0604020202020204" pitchFamily="34" charset="0"/>
                          </a:rPr>
                          <m:t>12</m:t>
                        </m:r>
                      </m:den>
                    </m:f>
                    <m:r>
                      <a:rPr lang="en-US" sz="2000" i="1">
                        <a:latin typeface="Cambria Math" panose="02040503050406030204" pitchFamily="18" charset="0"/>
                        <a:cs typeface="Arial" panose="020B0604020202020204" pitchFamily="34" charset="0"/>
                      </a:rPr>
                      <m:t>=28.33</m:t>
                    </m:r>
                  </m:oMath>
                </a14:m>
                <a:r>
                  <a:rPr lang="en-US" sz="2000" dirty="0"/>
                  <a:t> </a:t>
                </a:r>
              </a:p>
              <a:p>
                <a:pPr marL="914400">
                  <a:lnSpc>
                    <a:spcPct val="100000"/>
                  </a:lnSpc>
                  <a:spcBef>
                    <a:spcPts val="600"/>
                  </a:spcBef>
                </a:pPr>
                <a14:m>
                  <m:oMath xmlns:m="http://schemas.openxmlformats.org/officeDocument/2006/math">
                    <m:r>
                      <a:rPr lang="en-US" sz="2000" i="1">
                        <a:latin typeface="Cambria Math" panose="02040503050406030204" pitchFamily="18" charset="0"/>
                      </a:rPr>
                      <m:t>𝐹</m:t>
                    </m:r>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𝑀𝑆𝑇𝑅</m:t>
                        </m:r>
                      </m:num>
                      <m:den>
                        <m:r>
                          <a:rPr lang="en-US" sz="2000" i="1">
                            <a:latin typeface="Cambria Math" panose="02040503050406030204" pitchFamily="18" charset="0"/>
                          </a:rPr>
                          <m:t>𝑀𝑆𝐸</m:t>
                        </m:r>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260</m:t>
                            </m:r>
                          </m:num>
                          <m:den>
                            <m:r>
                              <a:rPr lang="en-US" sz="2000" i="1">
                                <a:latin typeface="Cambria Math" panose="02040503050406030204" pitchFamily="18" charset="0"/>
                              </a:rPr>
                              <m:t>28.33</m:t>
                            </m:r>
                          </m:den>
                        </m:f>
                        <m:r>
                          <a:rPr lang="en-US" sz="2000" i="1">
                            <a:latin typeface="Cambria Math" panose="02040503050406030204" pitchFamily="18" charset="0"/>
                          </a:rPr>
                          <m:t>=9.18</m:t>
                        </m:r>
                      </m:den>
                    </m:f>
                  </m:oMath>
                </a14:m>
                <a:r>
                  <a:rPr lang="en-US" sz="2000" dirty="0"/>
                  <a:t> </a:t>
                </a:r>
              </a:p>
            </p:txBody>
          </p:sp>
        </mc:Choice>
        <mc:Fallback xmlns="">
          <p:sp>
            <p:nvSpPr>
              <p:cNvPr id="3" name="Text Placeholder 2">
                <a:extLst>
                  <a:ext uri="{FF2B5EF4-FFF2-40B4-BE49-F238E27FC236}">
                    <a16:creationId xmlns:a16="http://schemas.microsoft.com/office/drawing/2014/main" id="{89893767-11E8-8451-B334-C891DF5E1DEE}"/>
                  </a:ext>
                </a:extLst>
              </p:cNvPr>
              <p:cNvSpPr>
                <a:spLocks noGrp="1" noRot="1" noChangeAspect="1" noMove="1" noResize="1" noEditPoints="1" noAdjustHandles="1" noChangeArrowheads="1" noChangeShapeType="1" noTextEdit="1"/>
              </p:cNvSpPr>
              <p:nvPr>
                <p:ph type="body" sz="quarter" idx="18"/>
              </p:nvPr>
            </p:nvSpPr>
            <p:spPr>
              <a:xfrm>
                <a:off x="754162" y="3401892"/>
                <a:ext cx="10579754" cy="2324746"/>
              </a:xfrm>
              <a:blipFill>
                <a:blip r:embed="rId2"/>
                <a:stretch>
                  <a:fillRect l="-1499" t="-3150" b="-28609"/>
                </a:stretch>
              </a:blipFill>
            </p:spPr>
            <p:txBody>
              <a:bodyPr/>
              <a:lstStyle/>
              <a:p>
                <a:r>
                  <a:rPr lang="en-US">
                    <a:noFill/>
                  </a:rPr>
                  <a:t> </a:t>
                </a:r>
              </a:p>
            </p:txBody>
          </p:sp>
        </mc:Fallback>
      </mc:AlternateContent>
    </p:spTree>
    <p:extLst>
      <p:ext uri="{BB962C8B-B14F-4D97-AF65-F5344CB8AC3E}">
        <p14:creationId xmlns:p14="http://schemas.microsoft.com/office/powerpoint/2010/main" val="346394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t>13.2 Interval Estimate of the Population Means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9052" y="1434789"/>
                <a:ext cx="10711543" cy="4378713"/>
              </a:xfrm>
            </p:spPr>
            <p:txBody>
              <a:bodyPr/>
              <a:lstStyle/>
              <a:p>
                <a:pPr>
                  <a:lnSpc>
                    <a:spcPct val="100000"/>
                  </a:lnSpc>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The square root of MSE provides the best estimate of the population standard deviation </a:t>
                </a:r>
                <a:r>
                  <a:rPr lang="el-GR" sz="2000" i="1" dirty="0">
                    <a:solidFill>
                      <a:srgbClr val="000000"/>
                    </a:solidFill>
                    <a:latin typeface="Calibri" panose="020F0502020204030204" pitchFamily="34" charset="0"/>
                    <a:cs typeface="Calibri" panose="020F0502020204030204" pitchFamily="34" charset="0"/>
                  </a:rPr>
                  <a:t>σ</a:t>
                </a:r>
                <a:r>
                  <a:rPr lang="en-US" sz="2000" i="1" dirty="0">
                    <a:solidFill>
                      <a:srgbClr val="000000"/>
                    </a:solidFill>
                    <a:latin typeface="Calibri" panose="020F0502020204030204" pitchFamily="34" charset="0"/>
                    <a:cs typeface="Calibri" panose="020F0502020204030204" pitchFamily="34" charset="0"/>
                  </a:rPr>
                  <a:t>.</a:t>
                </a:r>
              </a:p>
              <a:p>
                <a:pPr marL="914400">
                  <a:lnSpc>
                    <a:spcPct val="100000"/>
                  </a:lnSpc>
                  <a:spcBef>
                    <a:spcPts val="600"/>
                  </a:spcBef>
                  <a:spcAft>
                    <a:spcPts val="0"/>
                  </a:spcAft>
                </a:pPr>
                <a14:m>
                  <m:oMath xmlns:m="http://schemas.openxmlformats.org/officeDocument/2006/math">
                    <m:r>
                      <a:rPr lang="en-US" sz="2000" b="0" i="1" smtClean="0">
                        <a:latin typeface="Cambria Math" panose="02040503050406030204" pitchFamily="18" charset="0"/>
                        <a:cs typeface="Calibri" panose="020F0502020204030204" pitchFamily="34" charset="0"/>
                      </a:rPr>
                      <m:t>𝑠</m:t>
                    </m:r>
                    <m:r>
                      <a:rPr lang="en-US" sz="2000" b="0" i="1" smtClean="0">
                        <a:latin typeface="Cambria Math" panose="02040503050406030204" pitchFamily="18" charset="0"/>
                        <a:cs typeface="Calibri" panose="020F0502020204030204" pitchFamily="34" charset="0"/>
                      </a:rPr>
                      <m:t>=</m:t>
                    </m:r>
                    <m:rad>
                      <m:radPr>
                        <m:degHide m:val="on"/>
                        <m:ctrlPr>
                          <a:rPr lang="en-US" sz="2000" b="0" i="1" smtClean="0">
                            <a:latin typeface="Cambria Math" panose="02040503050406030204" pitchFamily="18" charset="0"/>
                            <a:cs typeface="Calibri" panose="020F0502020204030204" pitchFamily="34" charset="0"/>
                          </a:rPr>
                        </m:ctrlPr>
                      </m:radPr>
                      <m:deg/>
                      <m:e>
                        <m:r>
                          <a:rPr lang="en-US" sz="2000" b="0" i="1" smtClean="0">
                            <a:latin typeface="Cambria Math" panose="02040503050406030204" pitchFamily="18" charset="0"/>
                            <a:cs typeface="Calibri" panose="020F0502020204030204" pitchFamily="34" charset="0"/>
                          </a:rPr>
                          <m:t>𝑀𝑆𝐸</m:t>
                        </m:r>
                      </m:e>
                    </m:rad>
                    <m:r>
                      <a:rPr lang="en-US" sz="2000" b="0" i="1" smtClean="0">
                        <a:latin typeface="Cambria Math" panose="02040503050406030204" pitchFamily="18" charset="0"/>
                        <a:cs typeface="Calibri" panose="020F0502020204030204" pitchFamily="34" charset="0"/>
                      </a:rPr>
                      <m:t>=</m:t>
                    </m:r>
                    <m:rad>
                      <m:radPr>
                        <m:degHide m:val="on"/>
                        <m:ctrlPr>
                          <a:rPr lang="en-US" sz="2000" b="0" i="1" smtClean="0">
                            <a:latin typeface="Cambria Math" panose="02040503050406030204" pitchFamily="18" charset="0"/>
                            <a:cs typeface="Calibri" panose="020F0502020204030204" pitchFamily="34" charset="0"/>
                          </a:rPr>
                        </m:ctrlPr>
                      </m:radPr>
                      <m:deg/>
                      <m:e>
                        <m:r>
                          <a:rPr lang="en-US" sz="2000" b="0" i="1" smtClean="0">
                            <a:latin typeface="Cambria Math" panose="02040503050406030204" pitchFamily="18" charset="0"/>
                            <a:cs typeface="Calibri" panose="020F0502020204030204" pitchFamily="34" charset="0"/>
                          </a:rPr>
                          <m:t>28.33</m:t>
                        </m:r>
                      </m:e>
                    </m:rad>
                    <m:r>
                      <a:rPr lang="en-US" sz="2000" b="0" i="1" smtClean="0">
                        <a:latin typeface="Cambria Math" panose="02040503050406030204" pitchFamily="18" charset="0"/>
                        <a:cs typeface="Calibri" panose="020F0502020204030204" pitchFamily="34" charset="0"/>
                      </a:rPr>
                      <m:t>=5.323</m:t>
                    </m:r>
                  </m:oMath>
                </a14:m>
                <a:r>
                  <a:rPr lang="en-US" sz="2000" i="1" dirty="0">
                    <a:latin typeface="Calibri" panose="020F0502020204030204" pitchFamily="34" charset="0"/>
                    <a:cs typeface="Calibri" panose="020F0502020204030204" pitchFamily="34" charset="0"/>
                  </a:rPr>
                  <a:t> </a:t>
                </a:r>
              </a:p>
              <a:p>
                <a:pPr>
                  <a:lnSpc>
                    <a:spcPct val="100000"/>
                  </a:lnSpc>
                  <a:spcBef>
                    <a:spcPts val="600"/>
                  </a:spcBef>
                  <a:spcAft>
                    <a:spcPts val="0"/>
                  </a:spcAft>
                </a:pPr>
                <a:r>
                  <a:rPr lang="en-US" sz="2000" dirty="0">
                    <a:latin typeface="Arial" panose="020B0604020202020204" pitchFamily="34" charset="0"/>
                    <a:cs typeface="Arial" panose="020B0604020202020204" pitchFamily="34" charset="0"/>
                  </a:rPr>
                  <a:t>This estimate of </a:t>
                </a:r>
                <a:r>
                  <a:rPr lang="el-GR" sz="2000" i="1" dirty="0">
                    <a:solidFill>
                      <a:srgbClr val="000000"/>
                    </a:solidFill>
                    <a:latin typeface="Arial" panose="020B0604020202020204" pitchFamily="34" charset="0"/>
                    <a:cs typeface="Arial" panose="020B0604020202020204" pitchFamily="34" charset="0"/>
                  </a:rPr>
                  <a:t>σ</a:t>
                </a:r>
                <a:r>
                  <a:rPr lang="en-US" sz="2000" dirty="0">
                    <a:solidFill>
                      <a:srgbClr val="000000"/>
                    </a:solidFill>
                    <a:latin typeface="Arial" panose="020B0604020202020204" pitchFamily="34" charset="0"/>
                    <a:cs typeface="Arial" panose="020B0604020202020204" pitchFamily="34" charset="0"/>
                  </a:rPr>
                  <a:t> is a pooled standard deviation because it is derived from MSE.</a:t>
                </a:r>
              </a:p>
              <a:p>
                <a:pPr>
                  <a:lnSpc>
                    <a:spcPct val="100000"/>
                  </a:lnSpc>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From our study of interval estimation in Chapter 8, we know that we can write the interval estimate of the population mean for method A of the Chemitech example as</a:t>
                </a:r>
              </a:p>
              <a:p>
                <a:pPr marL="914400">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sub>
                      </m:sSub>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𝑠</m:t>
                          </m:r>
                        </m:num>
                        <m:den>
                          <m:rad>
                            <m:radPr>
                              <m:degHide m:val="on"/>
                              <m:ctrlPr>
                                <a:rPr lang="en-US" sz="2000" i="1" smtClean="0">
                                  <a:latin typeface="Cambria Math" panose="02040503050406030204" pitchFamily="18" charset="0"/>
                                  <a:ea typeface="Cambria Math" panose="02040503050406030204" pitchFamily="18" charset="0"/>
                                  <a:cs typeface="Arial" panose="020B0604020202020204" pitchFamily="34" charset="0"/>
                                </a:rPr>
                              </m:ctrlPr>
                            </m:radPr>
                            <m:deg/>
                            <m:e>
                              <m:sSub>
                                <m:sSub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1</m:t>
                                  </m:r>
                                </m:sub>
                              </m:sSub>
                            </m:e>
                          </m:rad>
                        </m:den>
                      </m:f>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The degrees of freedom for </a:t>
                </a: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𝑡</m:t>
                        </m:r>
                      </m:e>
                      <m:sub>
                        <m:f>
                          <m:fPr>
                            <m:type m:val="lin"/>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𝛼</m:t>
                            </m:r>
                          </m:num>
                          <m:den>
                            <m:r>
                              <a:rPr lang="en-US" sz="2000" i="1">
                                <a:latin typeface="Cambria Math" panose="02040503050406030204" pitchFamily="18" charset="0"/>
                                <a:ea typeface="Cambria Math" panose="02040503050406030204" pitchFamily="18" charset="0"/>
                                <a:cs typeface="Arial" panose="020B0604020202020204" pitchFamily="34" charset="0"/>
                              </a:rPr>
                              <m:t>2</m:t>
                            </m:r>
                          </m:den>
                        </m:f>
                      </m:sub>
                    </m:sSub>
                  </m:oMath>
                </a14:m>
                <a:r>
                  <a:rPr lang="en-US" sz="2000" dirty="0">
                    <a:solidFill>
                      <a:srgbClr val="000000"/>
                    </a:solidFill>
                    <a:latin typeface="Arial" panose="020B0604020202020204" pitchFamily="34" charset="0"/>
                    <a:cs typeface="Arial" panose="020B0604020202020204" pitchFamily="34" charset="0"/>
                  </a:rPr>
                  <a:t> is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𝑇</m:t>
                        </m:r>
                      </m:sub>
                    </m:sSub>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cs typeface="Arial" panose="020B0604020202020204" pitchFamily="34" charset="0"/>
                      </a:rPr>
                      <m:t>=12</m:t>
                    </m:r>
                  </m:oMath>
                </a14:m>
                <a:r>
                  <a:rPr lang="en-US" sz="2000" dirty="0">
                    <a:solidFill>
                      <a:srgbClr val="000000"/>
                    </a:solidFill>
                    <a:latin typeface="Arial" panose="020B0604020202020204" pitchFamily="34" charset="0"/>
                    <a:cs typeface="Arial" panose="020B0604020202020204" pitchFamily="34" charset="0"/>
                  </a:rPr>
                  <a:t>. Using </a:t>
                </a:r>
                <a14:m>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1−</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=0.95</m:t>
                    </m:r>
                  </m:oMath>
                </a14:m>
                <a:r>
                  <a:rPr lang="en-US" sz="2000" dirty="0">
                    <a:solidFill>
                      <a:srgbClr val="000000"/>
                    </a:solidFill>
                    <a:latin typeface="Arial" panose="020B0604020202020204" pitchFamily="34" charset="0"/>
                    <a:cs typeface="Arial" panose="020B0604020202020204" pitchFamily="34" charset="0"/>
                  </a:rPr>
                  <a:t>, we have</a:t>
                </a:r>
              </a:p>
              <a:p>
                <a:pPr marL="914400">
                  <a:spcBef>
                    <a:spcPts val="600"/>
                  </a:spcBef>
                  <a:spcAft>
                    <a:spcPts val="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𝑡</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.025</m:t>
                          </m:r>
                        </m:sub>
                      </m:sSub>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𝑠</m:t>
                          </m:r>
                        </m:num>
                        <m:den>
                          <m:rad>
                            <m:radPr>
                              <m:degHide m:val="on"/>
                              <m:ctrlPr>
                                <a:rPr lang="en-US" sz="2000" i="1">
                                  <a:latin typeface="Cambria Math" panose="02040503050406030204" pitchFamily="18" charset="0"/>
                                  <a:ea typeface="Cambria Math" panose="02040503050406030204" pitchFamily="18" charset="0"/>
                                  <a:cs typeface="Arial" panose="020B0604020202020204" pitchFamily="34" charset="0"/>
                                </a:rPr>
                              </m:ctrlPr>
                            </m:radPr>
                            <m:deg/>
                            <m:e>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𝑛</m:t>
                                  </m:r>
                                </m:e>
                                <m:sub>
                                  <m:r>
                                    <a:rPr lang="en-US" sz="2000" i="1">
                                      <a:latin typeface="Cambria Math" panose="02040503050406030204" pitchFamily="18" charset="0"/>
                                      <a:ea typeface="Cambria Math" panose="02040503050406030204" pitchFamily="18" charset="0"/>
                                      <a:cs typeface="Arial" panose="020B0604020202020204" pitchFamily="34" charset="0"/>
                                    </a:rPr>
                                    <m:t>1</m:t>
                                  </m:r>
                                </m:sub>
                              </m:sSub>
                            </m:e>
                          </m:rad>
                        </m:den>
                      </m:f>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62</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±2.179</m:t>
                      </m:r>
                      <m:f>
                        <m:f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5.323</m:t>
                          </m:r>
                        </m:num>
                        <m:den>
                          <m:rad>
                            <m:radPr>
                              <m:degHide m:val="on"/>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radPr>
                            <m:deg/>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5</m:t>
                              </m:r>
                            </m:e>
                          </m:rad>
                        </m:den>
                      </m:f>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=62±5.19</m:t>
                      </m:r>
                    </m:oMath>
                  </m:oMathPara>
                </a14:m>
                <a:endParaRPr lang="en-US" sz="2000" dirty="0">
                  <a:solidFill>
                    <a:srgbClr val="000000"/>
                  </a:solidFill>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The 95% confidence interval for method A goes from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62−5.19=56.81</m:t>
                    </m:r>
                  </m:oMath>
                </a14:m>
                <a:r>
                  <a:rPr lang="en-US" sz="2000" dirty="0">
                    <a:solidFill>
                      <a:srgbClr val="000000"/>
                    </a:solidFill>
                    <a:latin typeface="Arial" panose="020B0604020202020204" pitchFamily="34" charset="0"/>
                    <a:cs typeface="Arial" panose="020B0604020202020204" pitchFamily="34" charset="0"/>
                  </a:rPr>
                  <a:t> to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62</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5.19=</m:t>
                    </m:r>
                    <m:r>
                      <a:rPr lang="en-US" sz="2000" b="0" i="1" smtClean="0">
                        <a:latin typeface="Cambria Math" panose="02040503050406030204" pitchFamily="18" charset="0"/>
                        <a:ea typeface="Cambria Math" panose="02040503050406030204" pitchFamily="18" charset="0"/>
                        <a:cs typeface="Arial" panose="020B0604020202020204" pitchFamily="34" charset="0"/>
                      </a:rPr>
                      <m:t>67</m:t>
                    </m:r>
                    <m:r>
                      <a:rPr lang="en-US" sz="2000" i="1">
                        <a:latin typeface="Cambria Math" panose="02040503050406030204" pitchFamily="18" charset="0"/>
                        <a:ea typeface="Cambria Math" panose="02040503050406030204" pitchFamily="18" charset="0"/>
                        <a:cs typeface="Arial" panose="020B0604020202020204" pitchFamily="34" charset="0"/>
                      </a:rPr>
                      <m:t>.1</m:t>
                    </m:r>
                    <m:r>
                      <a:rPr lang="en-US" sz="2000" b="0" i="1" smtClean="0">
                        <a:latin typeface="Cambria Math" panose="02040503050406030204" pitchFamily="18" charset="0"/>
                        <a:ea typeface="Cambria Math" panose="02040503050406030204" pitchFamily="18" charset="0"/>
                        <a:cs typeface="Arial" panose="020B0604020202020204" pitchFamily="34" charset="0"/>
                      </a:rPr>
                      <m:t>9</m:t>
                    </m:r>
                  </m:oMath>
                </a14:m>
                <a:r>
                  <a:rPr lang="en-US" sz="2000" dirty="0">
                    <a:solidFill>
                      <a:srgbClr val="000000"/>
                    </a:solidFill>
                    <a:latin typeface="Arial" panose="020B0604020202020204" pitchFamily="34" charset="0"/>
                    <a:cs typeface="Arial" panose="020B0604020202020204" pitchFamily="34" charset="0"/>
                  </a:rPr>
                  <a:t>. </a:t>
                </a:r>
              </a:p>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Similar calculations for methods B and C lead to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(60.81,</m:t>
                    </m:r>
                    <m:r>
                      <a:rPr lang="en-US" sz="2000" b="0" i="1" dirty="0" smtClean="0">
                        <a:solidFill>
                          <a:srgbClr val="000000"/>
                        </a:solidFill>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71.19)</m:t>
                    </m:r>
                  </m:oMath>
                </a14:m>
                <a:r>
                  <a:rPr lang="en-US" sz="2000" dirty="0">
                    <a:solidFill>
                      <a:srgbClr val="000000"/>
                    </a:solidFill>
                    <a:latin typeface="Arial" panose="020B0604020202020204" pitchFamily="34" charset="0"/>
                    <a:cs typeface="Arial" panose="020B0604020202020204" pitchFamily="34" charset="0"/>
                  </a:rPr>
                  <a:t> and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(46.81,</m:t>
                    </m:r>
                    <m:r>
                      <a:rPr lang="en-US" sz="2000" b="0" i="1" dirty="0" smtClean="0">
                        <a:solidFill>
                          <a:srgbClr val="000000"/>
                        </a:solidFill>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57.19)</m:t>
                    </m:r>
                  </m:oMath>
                </a14:m>
                <a:r>
                  <a:rPr lang="en-US" sz="2000" dirty="0">
                    <a:solidFill>
                      <a:srgbClr val="000000"/>
                    </a:solidFill>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9052" y="1434789"/>
                <a:ext cx="10711543" cy="4378713"/>
              </a:xfrm>
              <a:blipFill>
                <a:blip r:embed="rId3"/>
                <a:stretch>
                  <a:fillRect l="-1480" t="-1947" b="-2643"/>
                </a:stretch>
              </a:blipFill>
            </p:spPr>
            <p:txBody>
              <a:bodyPr/>
              <a:lstStyle/>
              <a:p>
                <a:r>
                  <a:rPr lang="en-US">
                    <a:noFill/>
                  </a:rPr>
                  <a:t> </a:t>
                </a:r>
              </a:p>
            </p:txBody>
          </p:sp>
        </mc:Fallback>
      </mc:AlternateContent>
    </p:spTree>
    <p:extLst>
      <p:ext uri="{BB962C8B-B14F-4D97-AF65-F5344CB8AC3E}">
        <p14:creationId xmlns:p14="http://schemas.microsoft.com/office/powerpoint/2010/main" val="2755111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a:xfrm>
            <a:off x="564358" y="365125"/>
            <a:ext cx="11046619" cy="672105"/>
          </a:xfrm>
        </p:spPr>
        <p:txBody>
          <a:bodyPr/>
          <a:lstStyle/>
          <a:p>
            <a:r>
              <a:rPr lang="en-US" sz="3200" dirty="0">
                <a:solidFill>
                  <a:srgbClr val="25894E"/>
                </a:solidFill>
              </a:rPr>
              <a:t>13.2 Excel: Dialog Box for the</a:t>
            </a:r>
            <a:r>
              <a:rPr lang="en-US" sz="3200" i="1" dirty="0">
                <a:solidFill>
                  <a:srgbClr val="25894E"/>
                </a:solidFill>
              </a:rPr>
              <a:t> </a:t>
            </a:r>
            <a:r>
              <a:rPr lang="en-US" sz="3200" dirty="0">
                <a:solidFill>
                  <a:srgbClr val="25894E"/>
                </a:solidFill>
              </a:rPr>
              <a:t>ANOVA: Single Factor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157288"/>
            <a:ext cx="10704846" cy="1321593"/>
          </a:xfrm>
        </p:spPr>
        <p:txBody>
          <a:bodyPr/>
          <a:lstStyle/>
          <a:p>
            <a:r>
              <a:rPr lang="en-US" sz="2000" dirty="0"/>
              <a:t>Excel’s </a:t>
            </a:r>
            <a:r>
              <a:rPr lang="en-US" sz="2000" dirty="0" err="1"/>
              <a:t>Anova</a:t>
            </a:r>
            <a:r>
              <a:rPr lang="en-US" sz="2000" dirty="0"/>
              <a:t>: Single Factor tool can be used to conduct a hypothesis test about the difference between the population means for the </a:t>
            </a:r>
            <a:r>
              <a:rPr lang="en-US" sz="2000" dirty="0" err="1"/>
              <a:t>Chemitech</a:t>
            </a:r>
            <a:r>
              <a:rPr lang="en-US" sz="2000" dirty="0"/>
              <a:t> experiment.</a:t>
            </a:r>
          </a:p>
          <a:p>
            <a:r>
              <a:rPr lang="en-US" sz="2000" b="1" dirty="0"/>
              <a:t>Enter/Access Data</a:t>
            </a:r>
            <a:r>
              <a:rPr lang="en-US" sz="2000" dirty="0"/>
              <a:t>: Open the file </a:t>
            </a:r>
            <a:r>
              <a:rPr lang="en-US" sz="2000" i="1" dirty="0" err="1"/>
              <a:t>chemitech</a:t>
            </a:r>
            <a:r>
              <a:rPr lang="en-US" sz="2000" dirty="0"/>
              <a:t>. The data are in cells A1:C6.</a:t>
            </a:r>
          </a:p>
          <a:p>
            <a:r>
              <a:rPr lang="en-US" sz="2000" b="1" dirty="0"/>
              <a:t>Apply Tools</a:t>
            </a:r>
            <a:r>
              <a:rPr lang="en-US" sz="2000" dirty="0"/>
              <a:t>: Follow these steps in the ANOVA: Single Factor dialog box.</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6" y="2636047"/>
            <a:ext cx="5800099" cy="3321841"/>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914400" indent="-800100">
              <a:spcBef>
                <a:spcPts val="300"/>
              </a:spcBef>
            </a:pPr>
            <a:r>
              <a:rPr lang="en-US" sz="1800" b="1" dirty="0"/>
              <a:t>Step 3</a:t>
            </a:r>
            <a:r>
              <a:rPr lang="en-US" sz="1800" dirty="0"/>
              <a:t>. Choose </a:t>
            </a:r>
            <a:r>
              <a:rPr lang="en-US" sz="1800" b="1" dirty="0"/>
              <a:t>ANOVA: Single Factor </a:t>
            </a:r>
            <a:r>
              <a:rPr lang="en-US" sz="1800" dirty="0"/>
              <a:t>from the list of Analysis Tools</a:t>
            </a:r>
          </a:p>
          <a:p>
            <a:pPr marL="914400" indent="-800100">
              <a:spcBef>
                <a:spcPts val="300"/>
              </a:spcBef>
            </a:pPr>
            <a:r>
              <a:rPr lang="en-US" sz="1800" b="1" dirty="0"/>
              <a:t>Step 4</a:t>
            </a:r>
            <a:r>
              <a:rPr lang="en-US" sz="1800" dirty="0"/>
              <a:t>.	In the dialog box:</a:t>
            </a:r>
          </a:p>
          <a:p>
            <a:pPr marL="1143000">
              <a:spcBef>
                <a:spcPts val="300"/>
              </a:spcBef>
            </a:pPr>
            <a:r>
              <a:rPr lang="en-US" sz="1800" dirty="0"/>
              <a:t>Enter </a:t>
            </a:r>
            <a:r>
              <a:rPr lang="en-US" sz="1800" i="1" dirty="0"/>
              <a:t>A1:C6 </a:t>
            </a:r>
            <a:r>
              <a:rPr lang="en-US" sz="1800" dirty="0"/>
              <a:t>in the </a:t>
            </a:r>
            <a:r>
              <a:rPr lang="en-US" sz="1800" b="1" dirty="0"/>
              <a:t>Input Range: </a:t>
            </a:r>
            <a:r>
              <a:rPr lang="en-US" sz="1800" dirty="0"/>
              <a:t>box</a:t>
            </a:r>
          </a:p>
          <a:p>
            <a:pPr marL="1143000">
              <a:spcBef>
                <a:spcPts val="300"/>
              </a:spcBef>
            </a:pPr>
            <a:r>
              <a:rPr lang="en-US" sz="1800" dirty="0"/>
              <a:t>Select </a:t>
            </a:r>
            <a:r>
              <a:rPr lang="en-US" sz="1800" b="1" dirty="0"/>
              <a:t>Columns</a:t>
            </a:r>
            <a:r>
              <a:rPr lang="en-US" sz="1800" dirty="0"/>
              <a:t> in the </a:t>
            </a:r>
            <a:r>
              <a:rPr lang="en-US" sz="1800" b="1" dirty="0"/>
              <a:t>Grouped By: </a:t>
            </a:r>
            <a:r>
              <a:rPr lang="en-US" sz="1800" dirty="0"/>
              <a:t>area</a:t>
            </a:r>
          </a:p>
          <a:p>
            <a:pPr marL="1143000">
              <a:spcBef>
                <a:spcPts val="300"/>
              </a:spcBef>
            </a:pPr>
            <a:r>
              <a:rPr lang="en-US" sz="1800" dirty="0"/>
              <a:t>Select the check box for </a:t>
            </a:r>
            <a:r>
              <a:rPr lang="en-US" sz="1800" b="1" dirty="0"/>
              <a:t>Labels in First Row</a:t>
            </a:r>
            <a:endParaRPr lang="en-US" sz="1800" dirty="0"/>
          </a:p>
          <a:p>
            <a:pPr marL="1371600" indent="-228600">
              <a:spcBef>
                <a:spcPts val="300"/>
              </a:spcBef>
            </a:pPr>
            <a:r>
              <a:rPr lang="en-US" sz="1800" dirty="0"/>
              <a:t>In the </a:t>
            </a:r>
            <a:r>
              <a:rPr lang="en-US" sz="1800" b="1" dirty="0"/>
              <a:t>Output options </a:t>
            </a:r>
            <a:r>
              <a:rPr lang="en-US" sz="1800" dirty="0"/>
              <a:t>area, select </a:t>
            </a:r>
            <a:r>
              <a:rPr lang="en-US" sz="1800" b="1" dirty="0"/>
              <a:t>Output Range:</a:t>
            </a:r>
            <a:r>
              <a:rPr lang="en-US" sz="1800" dirty="0"/>
              <a:t> and enter </a:t>
            </a:r>
            <a:r>
              <a:rPr lang="en-US" sz="1800" i="1" dirty="0"/>
              <a:t>A8</a:t>
            </a:r>
            <a:r>
              <a:rPr lang="en-US" sz="1800" dirty="0"/>
              <a:t>.</a:t>
            </a:r>
          </a:p>
          <a:p>
            <a:pPr marL="1371600" indent="-228600">
              <a:spcBef>
                <a:spcPts val="300"/>
              </a:spcBef>
            </a:pPr>
            <a:r>
              <a:rPr lang="en-US" sz="1800" dirty="0"/>
              <a:t>Click </a:t>
            </a:r>
            <a:r>
              <a:rPr lang="en-US" sz="1800" b="1" dirty="0"/>
              <a:t>OK</a:t>
            </a:r>
          </a:p>
        </p:txBody>
      </p:sp>
      <p:pic>
        <p:nvPicPr>
          <p:cNvPr id="10" name="Picture Placeholder 9" descr="A screenshot shows an Excel spreadsheet Anova: Single Factor dialog box. In the spreadsheet, column A is labeled method A, column B is labeled method B, and column C is labeled method C. The entries in rows 2 through 6 are as follows. Row 2. A: 58. B: 58. C: 48. Row 3. A: 64. B: 69. C: 57. Row 4. A: 55. B: 71. C: 59. Row 5. A: 66. B: 64. C: 47. Row 6. A: 67. B: 68. C: 49. The Anova: Single Factor dialog box has two sections. The first section is titled Input and consists of the following elements. Entry field labeled input range with the entry dollar sign A dollar sign 1: dollar sign C dollar sign 6. Radio buttons columns (selected) and rows under grouped by. Checked checkbox labeled labels in first row. Entry field alpha with the entry 0.05. The second section is titled Output Options and consists of the following elements. Radio button labeled output range (selected) with entry dollar sign A dollar sign 8. Radio button labeled new worksheet ply with a grayed-out field. Radio button labeled new workbook. There are three buttons on the right side: O K, Cancel, and Help. The O K button is selected.">
            <a:extLst>
              <a:ext uri="{FF2B5EF4-FFF2-40B4-BE49-F238E27FC236}">
                <a16:creationId xmlns:a16="http://schemas.microsoft.com/office/drawing/2014/main" id="{43EC12E4-4B02-8229-5E97-51250E56157E}"/>
              </a:ext>
            </a:extLst>
          </p:cNvPr>
          <p:cNvPicPr>
            <a:picLocks noGrp="1" noChangeAspect="1"/>
          </p:cNvPicPr>
          <p:nvPr>
            <p:ph type="pic" sz="quarter" idx="16"/>
          </p:nvPr>
        </p:nvPicPr>
        <p:blipFill>
          <a:blip r:embed="rId2"/>
          <a:srcRect t="109" b="109"/>
          <a:stretch/>
        </p:blipFill>
        <p:spPr>
          <a:xfrm>
            <a:off x="6615113" y="2788444"/>
            <a:ext cx="4833937" cy="3162300"/>
          </a:xfrm>
        </p:spPr>
      </p:pic>
    </p:spTree>
    <p:extLst>
      <p:ext uri="{BB962C8B-B14F-4D97-AF65-F5344CB8AC3E}">
        <p14:creationId xmlns:p14="http://schemas.microsoft.com/office/powerpoint/2010/main" val="1852785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13.2 Excel: Conduct ANOVA for a Completely Randomized Design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50721" y="1554957"/>
                <a:ext cx="4899192" cy="4410075"/>
              </a:xfrm>
            </p:spPr>
            <p:txBody>
              <a:bodyPr/>
              <a:lstStyle/>
              <a:p>
                <a:r>
                  <a:rPr lang="en-US" sz="2000" dirty="0"/>
                  <a:t>The output, titled </a:t>
                </a:r>
                <a:r>
                  <a:rPr lang="en-US" sz="2000" i="1" dirty="0" err="1"/>
                  <a:t>Anova</a:t>
                </a:r>
                <a:r>
                  <a:rPr lang="en-US" sz="2000" i="1" dirty="0"/>
                  <a:t>: Single Factor</a:t>
                </a:r>
                <a:r>
                  <a:rPr lang="en-US" sz="2000" dirty="0"/>
                  <a:t>, appears in cells A8:G22 of the worksheet. </a:t>
                </a:r>
              </a:p>
              <a:p>
                <a:pPr marL="457200" indent="-342900">
                  <a:buFont typeface="Arial" panose="020B0604020202020204" pitchFamily="34" charset="0"/>
                  <a:buChar char="•"/>
                </a:pPr>
                <a:r>
                  <a:rPr lang="en-US" sz="2000" dirty="0"/>
                  <a:t>Cells A10:E14 provide a summary of the data. </a:t>
                </a:r>
              </a:p>
              <a:p>
                <a:pPr marL="457200" indent="-342900">
                  <a:buFont typeface="Arial" panose="020B0604020202020204" pitchFamily="34" charset="0"/>
                  <a:buChar char="•"/>
                </a:pPr>
                <a:r>
                  <a:rPr lang="en-US" sz="2000" dirty="0"/>
                  <a:t>The ANOVA table, shown in cells A17:G22, is essentially the same as the ANOVA table we saw earlier.</a:t>
                </a:r>
              </a:p>
              <a:p>
                <a:pPr marL="457200" indent="-342900">
                  <a:buFont typeface="Arial" panose="020B0604020202020204" pitchFamily="34" charset="0"/>
                  <a:buChar char="•"/>
                </a:pPr>
                <a:r>
                  <a:rPr lang="en-US" sz="2000" dirty="0"/>
                  <a:t>Excel identifies sources of variation as:</a:t>
                </a:r>
              </a:p>
              <a:p>
                <a:pPr marL="914400" indent="-342900">
                  <a:spcBef>
                    <a:spcPts val="400"/>
                  </a:spcBef>
                  <a:buClr>
                    <a:srgbClr val="FF0000"/>
                  </a:buClr>
                  <a:buFont typeface="Arial" panose="020B0604020202020204" pitchFamily="34" charset="0"/>
                  <a:buChar char="•"/>
                </a:pPr>
                <a:r>
                  <a:rPr lang="en-US" sz="2000" dirty="0"/>
                  <a:t>Treatments as </a:t>
                </a:r>
                <a:r>
                  <a:rPr lang="en-US" sz="2000" i="1" dirty="0"/>
                  <a:t>Between Groups</a:t>
                </a:r>
              </a:p>
              <a:p>
                <a:pPr marL="914400" indent="-342900">
                  <a:spcBef>
                    <a:spcPts val="400"/>
                  </a:spcBef>
                  <a:buClr>
                    <a:srgbClr val="FF0000"/>
                  </a:buClr>
                  <a:buFont typeface="Arial" panose="020B0604020202020204" pitchFamily="34" charset="0"/>
                  <a:buChar char="•"/>
                </a:pPr>
                <a:r>
                  <a:rPr lang="en-US" sz="2000" dirty="0"/>
                  <a:t>Error as </a:t>
                </a:r>
                <a:r>
                  <a:rPr lang="en-US" sz="2000" i="1" dirty="0"/>
                  <a:t>Within Groups</a:t>
                </a:r>
              </a:p>
              <a:p>
                <a:r>
                  <a:rPr lang="en-US" sz="2000" dirty="0"/>
                  <a:t>Because the 𝑝-value, 0.038, is less than </a:t>
                </a:r>
                <a14:m>
                  <m:oMath xmlns:m="http://schemas.openxmlformats.org/officeDocument/2006/math">
                    <m:r>
                      <a:rPr lang="en-US" sz="2000" i="1" dirty="0" smtClean="0">
                        <a:latin typeface="Cambria Math" panose="02040503050406030204" pitchFamily="18" charset="0"/>
                      </a:rPr>
                      <m:t>𝛼</m:t>
                    </m:r>
                    <m:r>
                      <a:rPr lang="en-US" sz="2000" i="1" dirty="0" smtClean="0">
                        <a:latin typeface="Cambria Math" panose="02040503050406030204" pitchFamily="18" charset="0"/>
                      </a:rPr>
                      <m:t>=0.05</m:t>
                    </m:r>
                  </m:oMath>
                </a14:m>
                <a:r>
                  <a:rPr lang="en-US" sz="2000" dirty="0"/>
                  <a:t>, we conclude that the means for the three populations are not all equal.</a:t>
                </a:r>
              </a:p>
              <a:p>
                <a:endParaRPr lang="en-US" sz="2000" dirty="0"/>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50721" y="1554957"/>
                <a:ext cx="4899192" cy="4410075"/>
              </a:xfrm>
              <a:blipFill>
                <a:blip r:embed="rId2"/>
                <a:stretch>
                  <a:fillRect l="-3109" t="-1657" r="-1741" b="-2624"/>
                </a:stretch>
              </a:blipFill>
            </p:spPr>
            <p:txBody>
              <a:bodyPr/>
              <a:lstStyle/>
              <a:p>
                <a:r>
                  <a:rPr lang="en-US">
                    <a:noFill/>
                  </a:rPr>
                  <a:t> </a:t>
                </a:r>
              </a:p>
            </p:txBody>
          </p:sp>
        </mc:Fallback>
      </mc:AlternateContent>
      <p:pic>
        <p:nvPicPr>
          <p:cNvPr id="6" name="Picture Placeholder 5" descr="A screenshot of an Excel spreadsheet with three tables consisting of Anova outputs. In the first table, column A is labeled method A, column B is labeled method B, and column C is labeled method C. The entries in rows 2 through 6 are as follows. Row 2. A: 58. B: 58. C: 48. Row 3. A: 64. B: 69. C: 57. Row 4. A: 55. B: 71. C: 59. Row 5. A: 66. B: 64. C: 47. Row 6. A: 67. B: 68. C: 49. The second table is under Anova: Single factor and titled summary. Column A is labeled groups, column B is labeled count, column C is labeled sum, column D is labeled average, and column D is labeled variance. The entries in rows 12 through 14 are as follows. Row 12. Groups: Method A. Count: 5. Sum: 310. Average: 62. Variance: 27.5. Row 13. Groups: Method B. Count: 5. Sum: 330. Average: 66. Variance: 26.5. Row 14. Groups: Method C. Count: 5. Sum: 260. Average: 52. Variance: 31. The third table is titled ANOVA. Column A is labeled source of variation, column B is labeled S S, column C is labeled d f, column D is labeled M S, column E is labeled F, column F is labeled P-value, and column G is labeled F crit. The entries in rows 19 through 22 are as follows. Row 19. Source of variation: Between groups. S S: 520. d f: 2. M S: 260. F: 9.1765. P-value: 0.0038. F crit: 3.8853. Row 20. Source of variation: Within groups. S S: 340. d f: 12. M S: 28.3333. Row 22. Source of variation: Total. S S: 860. d f: 14.">
            <a:extLst>
              <a:ext uri="{FF2B5EF4-FFF2-40B4-BE49-F238E27FC236}">
                <a16:creationId xmlns:a16="http://schemas.microsoft.com/office/drawing/2014/main" id="{3158764B-1D4C-D4D9-7F4A-7E576135614A}"/>
              </a:ext>
            </a:extLst>
          </p:cNvPr>
          <p:cNvPicPr>
            <a:picLocks noGrp="1" noChangeAspect="1"/>
          </p:cNvPicPr>
          <p:nvPr>
            <p:ph type="pic" sz="quarter" idx="16"/>
          </p:nvPr>
        </p:nvPicPr>
        <p:blipFill>
          <a:blip r:embed="rId3"/>
          <a:srcRect l="33" r="33"/>
          <a:stretch/>
        </p:blipFill>
        <p:spPr>
          <a:xfrm>
            <a:off x="5779293" y="1626852"/>
            <a:ext cx="5661985" cy="4266284"/>
          </a:xfrm>
          <a:ln>
            <a:solidFill>
              <a:srgbClr val="000000"/>
            </a:solidFill>
          </a:ln>
        </p:spPr>
      </p:pic>
    </p:spTree>
    <p:extLst>
      <p:ext uri="{BB962C8B-B14F-4D97-AF65-F5344CB8AC3E}">
        <p14:creationId xmlns:p14="http://schemas.microsoft.com/office/powerpoint/2010/main" val="2609169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88735" y="365125"/>
            <a:ext cx="11180379" cy="672105"/>
          </a:xfrm>
        </p:spPr>
        <p:txBody>
          <a:bodyPr/>
          <a:lstStyle/>
          <a:p>
            <a:r>
              <a:rPr lang="en-US" dirty="0">
                <a:solidFill>
                  <a:srgbClr val="D14B1E"/>
                </a:solidFill>
              </a:rPr>
              <a:t>13.3 Multiple Comparison Procedures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71612"/>
                <a:ext cx="10711543" cy="2521744"/>
              </a:xfrm>
            </p:spPr>
            <p:txBody>
              <a:bodyPr/>
              <a:lstStyle/>
              <a:p>
                <a:pPr>
                  <a:spcBef>
                    <a:spcPts val="600"/>
                  </a:spcBef>
                </a:pPr>
                <a:r>
                  <a:rPr lang="en-US" sz="2000" dirty="0">
                    <a:solidFill>
                      <a:srgbClr val="000000"/>
                    </a:solidFill>
                    <a:latin typeface="Arial" panose="020B0604020202020204" pitchFamily="34" charset="0"/>
                    <a:cs typeface="Arial" panose="020B0604020202020204" pitchFamily="34" charset="0"/>
                  </a:rPr>
                  <a:t>When we use analysis of variance to test whether the means of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𝑘</m:t>
                    </m:r>
                  </m:oMath>
                </a14:m>
                <a:r>
                  <a:rPr lang="en-US" sz="2000" dirty="0">
                    <a:solidFill>
                      <a:srgbClr val="000000"/>
                    </a:solidFill>
                    <a:latin typeface="Arial" panose="020B0604020202020204" pitchFamily="34" charset="0"/>
                    <a:cs typeface="Arial" panose="020B0604020202020204" pitchFamily="34" charset="0"/>
                  </a:rPr>
                  <a:t> populations are equal, rejection of the null hypothesis allows us to conclude only that the population means are not all equal. </a:t>
                </a:r>
              </a:p>
              <a:p>
                <a:pPr marL="914400" indent="-342900">
                  <a:spcBef>
                    <a:spcPts val="600"/>
                  </a:spcBef>
                  <a:buFont typeface="Arial" panose="020B0604020202020204" pitchFamily="34" charset="0"/>
                  <a:buChar char="•"/>
                </a:pPr>
                <a:r>
                  <a:rPr lang="en-US" sz="2000" dirty="0">
                    <a:solidFill>
                      <a:srgbClr val="000000"/>
                    </a:solidFill>
                    <a:latin typeface="Arial" panose="020B0604020202020204" pitchFamily="34" charset="0"/>
                    <a:cs typeface="Arial" panose="020B0604020202020204" pitchFamily="34" charset="0"/>
                  </a:rPr>
                  <a:t>In some cases, we will want to go a step further and determine where the differences among means occur. </a:t>
                </a:r>
              </a:p>
              <a:p>
                <a:pPr>
                  <a:spcBef>
                    <a:spcPts val="600"/>
                  </a:spcBef>
                </a:pPr>
                <a:r>
                  <a:rPr lang="en-US" sz="2000" dirty="0">
                    <a:solidFill>
                      <a:srgbClr val="000000"/>
                    </a:solidFill>
                    <a:latin typeface="Arial" panose="020B0604020202020204" pitchFamily="34" charset="0"/>
                    <a:cs typeface="Arial" panose="020B0604020202020204" pitchFamily="34" charset="0"/>
                  </a:rPr>
                  <a:t>The purpose of this section is to show how </a:t>
                </a:r>
                <a:r>
                  <a:rPr lang="en-US" sz="2000" b="1" dirty="0">
                    <a:solidFill>
                      <a:srgbClr val="000000"/>
                    </a:solidFill>
                    <a:latin typeface="Arial" panose="020B0604020202020204" pitchFamily="34" charset="0"/>
                    <a:cs typeface="Arial" panose="020B0604020202020204" pitchFamily="34" charset="0"/>
                  </a:rPr>
                  <a:t>multiple comparison procedures </a:t>
                </a:r>
                <a:r>
                  <a:rPr lang="en-US" sz="2000" dirty="0">
                    <a:solidFill>
                      <a:srgbClr val="000000"/>
                    </a:solidFill>
                    <a:latin typeface="Arial" panose="020B0604020202020204" pitchFamily="34" charset="0"/>
                    <a:cs typeface="Arial" panose="020B0604020202020204" pitchFamily="34" charset="0"/>
                  </a:rPr>
                  <a:t>can be used to conduct statistical comparisons between pairs of population means.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71612"/>
                <a:ext cx="10711543" cy="2521744"/>
              </a:xfrm>
              <a:blipFill>
                <a:blip r:embed="rId2"/>
                <a:stretch>
                  <a:fillRect l="-1422" t="-2899" r="-1138"/>
                </a:stretch>
              </a:blipFill>
            </p:spPr>
            <p:txBody>
              <a:bodyPr/>
              <a:lstStyle/>
              <a:p>
                <a:r>
                  <a:rPr lang="en-US">
                    <a:noFill/>
                  </a:rPr>
                  <a:t> </a:t>
                </a:r>
              </a:p>
            </p:txBody>
          </p:sp>
        </mc:Fallback>
      </mc:AlternateContent>
    </p:spTree>
    <p:extLst>
      <p:ext uri="{BB962C8B-B14F-4D97-AF65-F5344CB8AC3E}">
        <p14:creationId xmlns:p14="http://schemas.microsoft.com/office/powerpoint/2010/main" val="1843090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t>13.3 Fisher’s LSD Procedure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04091"/>
                <a:ext cx="10711543" cy="4312767"/>
              </a:xfrm>
            </p:spPr>
            <p:txBody>
              <a:bodyPr/>
              <a:lstStyle/>
              <a:p>
                <a:pPr>
                  <a:lnSpc>
                    <a:spcPct val="100000"/>
                  </a:lnSpc>
                  <a:spcBef>
                    <a:spcPts val="600"/>
                  </a:spcBef>
                  <a:spcAft>
                    <a:spcPts val="0"/>
                  </a:spcAft>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multiple comparison procedure </a:t>
                </a:r>
                <a:r>
                  <a:rPr lang="en-US" sz="2000" dirty="0">
                    <a:latin typeface="Arial" panose="020B0604020202020204" pitchFamily="34" charset="0"/>
                    <a:cs typeface="Arial" panose="020B0604020202020204" pitchFamily="34" charset="0"/>
                  </a:rPr>
                  <a:t>such as </a:t>
                </a:r>
                <a:r>
                  <a:rPr lang="en-US" sz="2000" b="1" dirty="0">
                    <a:latin typeface="Arial" panose="020B0604020202020204" pitchFamily="34" charset="0"/>
                    <a:cs typeface="Arial" panose="020B0604020202020204" pitchFamily="34" charset="0"/>
                  </a:rPr>
                  <a:t>Fisher’s Least Significant Difference (LSD) </a:t>
                </a:r>
                <a:r>
                  <a:rPr lang="en-US" sz="2000" dirty="0">
                    <a:latin typeface="Arial" panose="020B0604020202020204" pitchFamily="34" charset="0"/>
                    <a:cs typeface="Arial" panose="020B0604020202020204" pitchFamily="34" charset="0"/>
                  </a:rPr>
                  <a:t>can be used to conduct statistical comparisons between pairs of population means.</a:t>
                </a:r>
              </a:p>
              <a:p>
                <a:pPr>
                  <a:spcBef>
                    <a:spcPts val="600"/>
                  </a:spcBef>
                  <a:spcAft>
                    <a:spcPts val="0"/>
                  </a:spcAft>
                </a:pPr>
                <a:r>
                  <a:rPr lang="en-US" sz="2000" dirty="0">
                    <a:latin typeface="Arial" panose="020B0604020202020204" pitchFamily="34" charset="0"/>
                    <a:cs typeface="Arial" panose="020B0604020202020204" pitchFamily="34" charset="0"/>
                  </a:rPr>
                  <a:t>The Fisher’s LSD procedure for the comparisons of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𝑖</m:t>
                        </m:r>
                      </m:sub>
                    </m:sSub>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𝑗</m:t>
                        </m:r>
                      </m:sub>
                    </m:sSub>
                  </m:oMath>
                </a14:m>
                <a:r>
                  <a:rPr lang="en-US" sz="2000" dirty="0">
                    <a:latin typeface="Arial" panose="020B0604020202020204" pitchFamily="34" charset="0"/>
                    <a:cs typeface="Arial" panose="020B0604020202020204" pitchFamily="34" charset="0"/>
                  </a:rPr>
                  <a:t>, can be summarized as follows.</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𝑗</m:t>
                        </m:r>
                      </m:sub>
                    </m:sSub>
                  </m:oMath>
                </a14:m>
                <a:r>
                  <a:rPr lang="en-US" sz="2000" dirty="0"/>
                  <a:t> </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𝑎</m:t>
                        </m:r>
                      </m:sub>
                    </m:sSub>
                    <m:r>
                      <a:rPr lang="en-US" sz="2000" b="0" i="1" smtClean="0">
                        <a:latin typeface="Cambria Math" panose="02040503050406030204" pitchFamily="18" charset="0"/>
                      </a:rPr>
                      <m:t>:</m:t>
                    </m:r>
                  </m:oMath>
                </a14:m>
                <a:r>
                  <a:rPr lang="en-US" sz="20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𝑖</m:t>
                        </m:r>
                      </m:sub>
                    </m:sSub>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𝑗</m:t>
                        </m:r>
                      </m:sub>
                    </m:sSub>
                  </m:oMath>
                </a14:m>
                <a:endParaRPr lang="en-US" sz="2000" dirty="0">
                  <a:solidFill>
                    <a:srgbClr val="000000"/>
                  </a:solidFill>
                  <a:latin typeface="Arial" panose="020B0604020202020204" pitchFamily="34" charset="0"/>
                  <a:cs typeface="Arial" panose="020B0604020202020204" pitchFamily="34" charset="0"/>
                </a:endParaRPr>
              </a:p>
              <a:p>
                <a:pPr>
                  <a:lnSpc>
                    <a:spcPct val="100000"/>
                  </a:lnSpc>
                  <a:spcBef>
                    <a:spcPts val="0"/>
                  </a:spcBef>
                  <a:spcAft>
                    <a:spcPts val="0"/>
                  </a:spcAft>
                </a:pPr>
                <a:r>
                  <a:rPr lang="en-US" sz="2000" dirty="0">
                    <a:solidFill>
                      <a:srgbClr val="000000"/>
                    </a:solidFill>
                    <a:latin typeface="Arial" panose="020B0604020202020204" pitchFamily="34" charset="0"/>
                    <a:cs typeface="Arial" panose="020B0604020202020204" pitchFamily="34" charset="0"/>
                  </a:rPr>
                  <a:t>Test statistic:</a:t>
                </a:r>
              </a:p>
              <a:p>
                <a:pPr marL="914400">
                  <a:spcBef>
                    <a:spcPts val="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𝒕</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sSub>
                            <m:sSubPr>
                              <m:ctrlPr>
                                <a:rPr lang="en-US" sz="2000" b="1" i="1" smtClean="0">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𝒋</m:t>
                              </m:r>
                            </m:sub>
                          </m:sSub>
                        </m:num>
                        <m:den>
                          <m:rad>
                            <m:radPr>
                              <m:degHide m:val="on"/>
                              <m:ctrlPr>
                                <a:rPr lang="en-US" sz="2000" b="1" i="1" smtClean="0">
                                  <a:latin typeface="Cambria Math" panose="02040503050406030204" pitchFamily="18" charset="0"/>
                                  <a:cs typeface="Arial" panose="020B0604020202020204" pitchFamily="34" charset="0"/>
                                </a:rPr>
                              </m:ctrlPr>
                            </m:radPr>
                            <m:deg/>
                            <m:e>
                              <m:r>
                                <a:rPr lang="en-US" sz="2000" b="1" i="1" smtClean="0">
                                  <a:latin typeface="Cambria Math" panose="02040503050406030204" pitchFamily="18" charset="0"/>
                                  <a:cs typeface="Arial" panose="020B0604020202020204" pitchFamily="34" charset="0"/>
                                </a:rPr>
                                <m:t>𝑴𝑺𝑬</m:t>
                              </m:r>
                              <m:d>
                                <m:dPr>
                                  <m:ctrlPr>
                                    <a:rPr lang="en-US" sz="2000" b="1" i="1" smtClean="0">
                                      <a:latin typeface="Cambria Math" panose="02040503050406030204" pitchFamily="18" charset="0"/>
                                      <a:cs typeface="Arial" panose="020B0604020202020204" pitchFamily="34" charset="0"/>
                                    </a:rPr>
                                  </m:ctrlPr>
                                </m:dPr>
                                <m:e>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𝟏</m:t>
                                      </m:r>
                                    </m:num>
                                    <m:den>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𝒏</m:t>
                                          </m:r>
                                        </m:e>
                                        <m:sub>
                                          <m:r>
                                            <a:rPr lang="en-US" sz="2000" b="1" i="1" smtClean="0">
                                              <a:latin typeface="Cambria Math" panose="02040503050406030204" pitchFamily="18" charset="0"/>
                                              <a:cs typeface="Arial" panose="020B0604020202020204" pitchFamily="34" charset="0"/>
                                            </a:rPr>
                                            <m:t>𝒊</m:t>
                                          </m:r>
                                        </m:sub>
                                      </m:sSub>
                                    </m:den>
                                  </m:f>
                                  <m:r>
                                    <a:rPr lang="en-US" sz="2000" b="1" i="1" smtClean="0">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r>
                                        <a:rPr lang="en-US" sz="2000" b="1" i="1">
                                          <a:latin typeface="Cambria Math" panose="02040503050406030204" pitchFamily="18" charset="0"/>
                                          <a:cs typeface="Arial" panose="020B0604020202020204" pitchFamily="34" charset="0"/>
                                        </a:rPr>
                                        <m:t>𝟏</m:t>
                                      </m:r>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𝒏</m:t>
                                          </m:r>
                                        </m:e>
                                        <m:sub>
                                          <m:r>
                                            <a:rPr lang="en-US" sz="2000" b="1" i="1" smtClean="0">
                                              <a:latin typeface="Cambria Math" panose="02040503050406030204" pitchFamily="18" charset="0"/>
                                              <a:cs typeface="Arial" panose="020B0604020202020204" pitchFamily="34" charset="0"/>
                                            </a:rPr>
                                            <m:t>𝒋</m:t>
                                          </m:r>
                                        </m:sub>
                                      </m:sSub>
                                    </m:den>
                                  </m:f>
                                </m:e>
                              </m:d>
                            </m:e>
                          </m:rad>
                        </m:den>
                      </m:f>
                    </m:oMath>
                  </m:oMathPara>
                </a14:m>
                <a:endParaRPr lang="en-US" sz="2000" b="1" dirty="0">
                  <a:latin typeface="Arial" panose="020B0604020202020204" pitchFamily="34" charset="0"/>
                  <a:cs typeface="Arial" panose="020B0604020202020204" pitchFamily="34" charset="0"/>
                </a:endParaRPr>
              </a:p>
              <a:p>
                <a:pPr>
                  <a:spcBef>
                    <a:spcPts val="600"/>
                  </a:spcBef>
                  <a:tabLst>
                    <a:tab pos="4170363" algn="l"/>
                    <a:tab pos="6975475" algn="l"/>
                  </a:tabLst>
                </a:pPr>
                <a:r>
                  <a:rPr lang="en-US" sz="2000" dirty="0">
                    <a:latin typeface="Arial" panose="020B0604020202020204" pitchFamily="34" charset="0"/>
                    <a:cs typeface="Arial" panose="020B0604020202020204" pitchFamily="34" charset="0"/>
                  </a:rPr>
                  <a:t>The following rejection rules apply	p-value approach: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if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p</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endParaRPr lang="en-US" sz="2000" dirty="0">
                  <a:latin typeface="Arial" panose="020B0604020202020204" pitchFamily="34" charset="0"/>
                  <a:cs typeface="Arial" panose="020B0604020202020204" pitchFamily="34" charset="0"/>
                </a:endParaRPr>
              </a:p>
              <a:p>
                <a:pPr>
                  <a:spcBef>
                    <a:spcPts val="600"/>
                  </a:spcBef>
                  <a:tabLst>
                    <a:tab pos="4170363" algn="l"/>
                    <a:tab pos="6975475" algn="l"/>
                  </a:tabLst>
                </a:pPr>
                <a:r>
                  <a:rPr lang="en-US" sz="2000" dirty="0">
                    <a:latin typeface="Arial" panose="020B0604020202020204" pitchFamily="34" charset="0"/>
                    <a:cs typeface="Arial" panose="020B0604020202020204" pitchFamily="34" charset="0"/>
                  </a:rPr>
                  <a:t>	critical value approach: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if </a:t>
                </a:r>
                <a14:m>
                  <m:oMath xmlns:m="http://schemas.openxmlformats.org/officeDocument/2006/math">
                    <m:r>
                      <a:rPr lang="en-US" sz="2000" b="0" i="1" smtClean="0">
                        <a:latin typeface="Cambria Math" panose="02040503050406030204" pitchFamily="18" charset="0"/>
                        <a:cs typeface="Arial" panose="020B0604020202020204" pitchFamily="34" charset="0"/>
                      </a:rPr>
                      <m:t>𝑡</m:t>
                    </m:r>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e>
                      <m:sub>
                        <m:r>
                          <a:rPr lang="en-US" sz="2000" i="1">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or </a:t>
                </a:r>
                <a14:m>
                  <m:oMath xmlns:m="http://schemas.openxmlformats.org/officeDocument/2006/math">
                    <m:r>
                      <a:rPr lang="en-US" sz="2000" i="1">
                        <a:latin typeface="Cambria Math" panose="02040503050406030204" pitchFamily="18" charset="0"/>
                        <a:cs typeface="Arial" panose="020B0604020202020204" pitchFamily="34" charset="0"/>
                      </a:rPr>
                      <m:t>𝑡</m:t>
                    </m:r>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𝑡</m:t>
                        </m:r>
                      </m:e>
                      <m:sub>
                        <m:r>
                          <a:rPr lang="en-US" sz="2000" i="1">
                            <a:latin typeface="Cambria Math" panose="02040503050406030204" pitchFamily="18" charset="0"/>
                            <a:ea typeface="Cambria Math" panose="02040503050406030204" pitchFamily="18" charset="0"/>
                            <a:cs typeface="Arial" panose="020B0604020202020204" pitchFamily="34" charset="0"/>
                          </a:rPr>
                          <m:t>𝛼</m:t>
                        </m:r>
                        <m:r>
                          <a:rPr lang="en-US" sz="2000" i="1">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dirty="0">
                  <a:solidFill>
                    <a:srgbClr val="000000"/>
                  </a:solidFill>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04091"/>
                <a:ext cx="10711543" cy="4312767"/>
              </a:xfrm>
              <a:blipFill>
                <a:blip r:embed="rId2"/>
                <a:stretch>
                  <a:fillRect l="-1422" t="-1695" r="-1479" b="-1130"/>
                </a:stretch>
              </a:blipFill>
            </p:spPr>
            <p:txBody>
              <a:bodyPr/>
              <a:lstStyle/>
              <a:p>
                <a:r>
                  <a:rPr lang="en-US">
                    <a:noFill/>
                  </a:rPr>
                  <a:t> </a:t>
                </a:r>
              </a:p>
            </p:txBody>
          </p:sp>
        </mc:Fallback>
      </mc:AlternateContent>
    </p:spTree>
    <p:extLst>
      <p:ext uri="{BB962C8B-B14F-4D97-AF65-F5344CB8AC3E}">
        <p14:creationId xmlns:p14="http://schemas.microsoft.com/office/powerpoint/2010/main" val="1810418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sz="3200" dirty="0"/>
                  <a:t>13.3 Fisher’s LSD Procedure Based on the Test Statistic </a:t>
                </a:r>
                <a14:m>
                  <m:oMath xmlns:m="http://schemas.openxmlformats.org/officeDocument/2006/math">
                    <m:sSub>
                      <m:sSubPr>
                        <m:ctrlPr>
                          <a:rPr lang="en-US" sz="3200" i="1" smtClean="0">
                            <a:latin typeface="Cambria Math" panose="02040503050406030204" pitchFamily="18" charset="0"/>
                            <a:cs typeface="Arial" panose="020B0604020202020204" pitchFamily="34" charset="0"/>
                          </a:rPr>
                        </m:ctrlPr>
                      </m:sSubPr>
                      <m:e>
                        <m:acc>
                          <m:accPr>
                            <m:chr m:val="̅"/>
                            <m:ctrlPr>
                              <a:rPr lang="en-US" sz="3200" i="1" smtClean="0">
                                <a:latin typeface="Cambria Math" panose="02040503050406030204" pitchFamily="18" charset="0"/>
                                <a:cs typeface="Arial" panose="020B0604020202020204" pitchFamily="34" charset="0"/>
                              </a:rPr>
                            </m:ctrlPr>
                          </m:accPr>
                          <m:e>
                            <m:r>
                              <a:rPr lang="en-US" sz="3200" b="1" i="1" smtClean="0">
                                <a:latin typeface="Cambria Math" panose="02040503050406030204" pitchFamily="18" charset="0"/>
                                <a:cs typeface="Arial" panose="020B0604020202020204" pitchFamily="34" charset="0"/>
                              </a:rPr>
                              <m:t>𝒙</m:t>
                            </m:r>
                          </m:e>
                        </m:acc>
                      </m:e>
                      <m:sub>
                        <m:r>
                          <a:rPr lang="en-US" sz="3200" b="1" i="1" smtClean="0">
                            <a:latin typeface="Cambria Math" panose="02040503050406030204" pitchFamily="18" charset="0"/>
                            <a:cs typeface="Arial" panose="020B0604020202020204" pitchFamily="34" charset="0"/>
                          </a:rPr>
                          <m:t>𝒊</m:t>
                        </m:r>
                      </m:sub>
                    </m:sSub>
                    <m:r>
                      <a:rPr lang="en-US" sz="3200" b="1" i="1" smtClean="0">
                        <a:latin typeface="Cambria Math" panose="02040503050406030204" pitchFamily="18" charset="0"/>
                        <a:cs typeface="Arial" panose="020B0604020202020204" pitchFamily="34" charset="0"/>
                      </a:rPr>
                      <m:t>−</m:t>
                    </m:r>
                    <m:sSub>
                      <m:sSubPr>
                        <m:ctrlPr>
                          <a:rPr lang="en-US" sz="3200" i="1">
                            <a:latin typeface="Cambria Math" panose="02040503050406030204" pitchFamily="18" charset="0"/>
                            <a:cs typeface="Arial" panose="020B0604020202020204" pitchFamily="34" charset="0"/>
                          </a:rPr>
                        </m:ctrlPr>
                      </m:sSubPr>
                      <m:e>
                        <m:acc>
                          <m:accPr>
                            <m:chr m:val="̅"/>
                            <m:ctrlPr>
                              <a:rPr lang="en-US" sz="3200" i="1">
                                <a:latin typeface="Cambria Math" panose="02040503050406030204" pitchFamily="18" charset="0"/>
                                <a:cs typeface="Arial" panose="020B0604020202020204" pitchFamily="34" charset="0"/>
                              </a:rPr>
                            </m:ctrlPr>
                          </m:accPr>
                          <m:e>
                            <m:r>
                              <a:rPr lang="en-US" sz="3200" b="1" i="1">
                                <a:latin typeface="Cambria Math" panose="02040503050406030204" pitchFamily="18" charset="0"/>
                                <a:cs typeface="Arial" panose="020B0604020202020204" pitchFamily="34" charset="0"/>
                              </a:rPr>
                              <m:t>𝒙</m:t>
                            </m:r>
                          </m:e>
                        </m:acc>
                      </m:e>
                      <m:sub>
                        <m:r>
                          <a:rPr lang="en-US" sz="3200" b="1" i="1" smtClean="0">
                            <a:latin typeface="Cambria Math" panose="02040503050406030204" pitchFamily="18" charset="0"/>
                            <a:cs typeface="Arial" panose="020B0604020202020204" pitchFamily="34" charset="0"/>
                          </a:rPr>
                          <m:t>𝒋</m:t>
                        </m:r>
                      </m:sub>
                    </m:sSub>
                  </m:oMath>
                </a14:m>
                <a:endParaRPr lang="en-US" sz="3200" dirty="0"/>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850590" y="365125"/>
                <a:ext cx="10508469" cy="672105"/>
              </a:xfrm>
              <a:blipFill>
                <a:blip r:embed="rId2"/>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811175" y="1696845"/>
                <a:ext cx="10516352" cy="4131526"/>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Many practitioners find easier to determine how large the difference between the sample means must be to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Thus, this version of the Fisher’s LSD procedure is preferred.</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𝑗</m:t>
                        </m:r>
                      </m:sub>
                    </m:sSub>
                  </m:oMath>
                </a14:m>
                <a:r>
                  <a:rPr lang="en-US" sz="2000" dirty="0"/>
                  <a:t> </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𝑎</m:t>
                        </m:r>
                      </m:sub>
                    </m:sSub>
                    <m:r>
                      <a:rPr lang="en-US" sz="2000" b="0" i="1" smtClean="0">
                        <a:latin typeface="Cambria Math" panose="02040503050406030204" pitchFamily="18" charset="0"/>
                      </a:rPr>
                      <m:t>:</m:t>
                    </m:r>
                  </m:oMath>
                </a14:m>
                <a:r>
                  <a:rPr lang="en-US" sz="20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𝑖</m:t>
                        </m:r>
                      </m:sub>
                    </m:sSub>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𝑗</m:t>
                        </m:r>
                      </m:sub>
                    </m:sSub>
                  </m:oMath>
                </a14:m>
                <a:endParaRPr lang="en-US" sz="2000" dirty="0">
                  <a:latin typeface="Arial" panose="020B0604020202020204" pitchFamily="34" charset="0"/>
                  <a:cs typeface="Arial" panose="020B0604020202020204" pitchFamily="34" charset="0"/>
                </a:endParaRPr>
              </a:p>
              <a:p>
                <a:pPr>
                  <a:spcBef>
                    <a:spcPts val="600"/>
                  </a:spcBef>
                  <a:spcAft>
                    <a:spcPts val="600"/>
                  </a:spcAft>
                  <a:tabLst>
                    <a:tab pos="5029200" algn="l"/>
                  </a:tabLst>
                </a:pPr>
                <a:r>
                  <a:rPr lang="en-US" sz="2000" dirty="0">
                    <a:latin typeface="Arial" panose="020B0604020202020204" pitchFamily="34" charset="0"/>
                    <a:cs typeface="Arial" panose="020B0604020202020204" pitchFamily="34" charset="0"/>
                  </a:rPr>
                  <a:t>Rejection rule at a level of significance, </a:t>
                </a:r>
                <a:r>
                  <a:rPr lang="el-GR" sz="2000" i="1" dirty="0">
                    <a:latin typeface="Arial" panose="020B0604020202020204" pitchFamily="34" charset="0"/>
                    <a:cs typeface="Arial" panose="020B0604020202020204" pitchFamily="34" charset="0"/>
                  </a:rPr>
                  <a:t>α</a:t>
                </a:r>
                <a:endParaRPr lang="en-US" sz="2000" i="1" dirty="0">
                  <a:latin typeface="Arial" panose="020B0604020202020204" pitchFamily="34" charset="0"/>
                  <a:cs typeface="Arial" panose="020B0604020202020204" pitchFamily="34" charset="0"/>
                </a:endParaRPr>
              </a:p>
              <a:p>
                <a:pPr marL="914400">
                  <a:spcBef>
                    <a:spcPts val="600"/>
                  </a:spcBef>
                  <a:spcAft>
                    <a:spcPts val="600"/>
                  </a:spcAft>
                  <a:tabLst>
                    <a:tab pos="5029200" algn="l"/>
                  </a:tabLst>
                </a:pPr>
                <a:r>
                  <a:rPr lang="en-US" sz="2000" dirty="0">
                    <a:latin typeface="Arial" panose="020B0604020202020204" pitchFamily="34" charset="0"/>
                    <a:cs typeface="Arial" panose="020B0604020202020204" pitchFamily="34" charset="0"/>
                  </a:rPr>
                  <a:t>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if </a:t>
                </a:r>
                <a14:m>
                  <m:oMath xmlns:m="http://schemas.openxmlformats.org/officeDocument/2006/math">
                    <m:d>
                      <m:dPr>
                        <m:begChr m:val="|"/>
                        <m:endChr m:val="|"/>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𝑖</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𝑗</m:t>
                            </m:r>
                          </m:sub>
                        </m:sSub>
                      </m:e>
                    </m:d>
                    <m:r>
                      <a:rPr lang="en-US" sz="2000" i="1" dirty="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𝐿𝑆𝐷</m:t>
                    </m:r>
                  </m:oMath>
                </a14:m>
                <a:endParaRPr lang="en-US" sz="2000" dirty="0">
                  <a:latin typeface="Arial" panose="020B0604020202020204" pitchFamily="34" charset="0"/>
                  <a:cs typeface="Arial" panose="020B0604020202020204" pitchFamily="34" charset="0"/>
                </a:endParaRPr>
              </a:p>
              <a:p>
                <a:pPr>
                  <a:spcBef>
                    <a:spcPts val="600"/>
                  </a:spcBef>
                  <a:tabLst>
                    <a:tab pos="4170363" algn="l"/>
                    <a:tab pos="6975475" algn="l"/>
                  </a:tabLst>
                </a:pPr>
                <a:r>
                  <a:rPr lang="en-US" sz="2000" dirty="0">
                    <a:latin typeface="Arial" panose="020B0604020202020204" pitchFamily="34" charset="0"/>
                    <a:cs typeface="Arial" panose="020B0604020202020204" pitchFamily="34" charset="0"/>
                  </a:rPr>
                  <a:t>Where</a:t>
                </a:r>
              </a:p>
              <a:p>
                <a:pPr marL="914400">
                  <a:spcBef>
                    <a:spcPts val="600"/>
                  </a:spcBef>
                  <a:tabLst>
                    <a:tab pos="4170363" algn="l"/>
                    <a:tab pos="6975475" algn="l"/>
                  </a:tabLst>
                </a:pP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𝑗</m:t>
                        </m:r>
                      </m:sub>
                    </m:sSub>
                    <m:r>
                      <a:rPr lang="en-US" sz="2000" b="0" i="1" smtClean="0">
                        <a:latin typeface="Cambria Math" panose="02040503050406030204" pitchFamily="18" charset="0"/>
                        <a:cs typeface="Arial" panose="020B0604020202020204" pitchFamily="34" charset="0"/>
                      </a:rPr>
                      <m:t>=</m:t>
                    </m:r>
                  </m:oMath>
                </a14:m>
                <a:r>
                  <a:rPr lang="en-US" sz="2000" dirty="0">
                    <a:solidFill>
                      <a:srgbClr val="000000"/>
                    </a:solidFill>
                    <a:latin typeface="Arial" panose="020B0604020202020204" pitchFamily="34" charset="0"/>
                    <a:cs typeface="Arial" panose="020B0604020202020204" pitchFamily="34" charset="0"/>
                  </a:rPr>
                  <a:t> test statistic	</a:t>
                </a:r>
                <a:endParaRPr lang="en-US" sz="2000" dirty="0">
                  <a:latin typeface="Arial" panose="020B0604020202020204" pitchFamily="34" charset="0"/>
                  <a:cs typeface="Arial" panose="020B0604020202020204" pitchFamily="34" charset="0"/>
                </a:endParaRPr>
              </a:p>
              <a:p>
                <a:pPr marL="914400">
                  <a:spcBef>
                    <a:spcPts val="0"/>
                  </a:spcBef>
                  <a:tabLst>
                    <a:tab pos="4170363" algn="l"/>
                    <a:tab pos="6975475" algn="l"/>
                  </a:tabLs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𝑳𝑺𝑫</m:t>
                      </m:r>
                      <m:r>
                        <a:rPr lang="en-US" sz="2000" b="1" i="1" smtClean="0">
                          <a:latin typeface="Cambria Math" panose="02040503050406030204" pitchFamily="18" charset="0"/>
                          <a:cs typeface="Arial" panose="020B0604020202020204" pitchFamily="34" charset="0"/>
                        </a:rPr>
                        <m:t>=</m:t>
                      </m:r>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𝒕</m:t>
                          </m:r>
                        </m:e>
                        <m:sub>
                          <m:f>
                            <m:fPr>
                              <m:type m:val="lin"/>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𝜶</m:t>
                              </m:r>
                            </m:num>
                            <m:den>
                              <m:r>
                                <a:rPr lang="en-US" sz="2000" b="1" i="1" smtClean="0">
                                  <a:latin typeface="Cambria Math" panose="02040503050406030204" pitchFamily="18" charset="0"/>
                                  <a:cs typeface="Arial" panose="020B0604020202020204" pitchFamily="34" charset="0"/>
                                </a:rPr>
                                <m:t>𝟐</m:t>
                              </m:r>
                            </m:den>
                          </m:f>
                        </m:sub>
                      </m:sSub>
                      <m:rad>
                        <m:radPr>
                          <m:degHide m:val="on"/>
                          <m:ctrlPr>
                            <a:rPr lang="en-US" sz="2000" b="1" i="1">
                              <a:latin typeface="Cambria Math" panose="02040503050406030204" pitchFamily="18" charset="0"/>
                              <a:cs typeface="Arial" panose="020B0604020202020204" pitchFamily="34" charset="0"/>
                            </a:rPr>
                          </m:ctrlPr>
                        </m:radPr>
                        <m:deg/>
                        <m:e>
                          <m:r>
                            <a:rPr lang="en-US" sz="2000" b="1" i="1">
                              <a:latin typeface="Cambria Math" panose="02040503050406030204" pitchFamily="18" charset="0"/>
                              <a:cs typeface="Arial" panose="020B0604020202020204" pitchFamily="34" charset="0"/>
                            </a:rPr>
                            <m:t>𝑴𝑺𝑬</m:t>
                          </m:r>
                          <m:d>
                            <m:dPr>
                              <m:ctrlPr>
                                <a:rPr lang="en-US" sz="2000" b="1" i="1">
                                  <a:latin typeface="Cambria Math" panose="02040503050406030204" pitchFamily="18" charset="0"/>
                                  <a:cs typeface="Arial" panose="020B0604020202020204" pitchFamily="34" charset="0"/>
                                </a:rPr>
                              </m:ctrlPr>
                            </m:dPr>
                            <m:e>
                              <m:f>
                                <m:fPr>
                                  <m:ctrlPr>
                                    <a:rPr lang="en-US" sz="2000" b="1" i="1">
                                      <a:latin typeface="Cambria Math" panose="02040503050406030204" pitchFamily="18" charset="0"/>
                                      <a:cs typeface="Arial" panose="020B0604020202020204" pitchFamily="34" charset="0"/>
                                    </a:rPr>
                                  </m:ctrlPr>
                                </m:fPr>
                                <m:num>
                                  <m:r>
                                    <a:rPr lang="en-US" sz="2000" b="1" i="1">
                                      <a:latin typeface="Cambria Math" panose="02040503050406030204" pitchFamily="18" charset="0"/>
                                      <a:cs typeface="Arial" panose="020B0604020202020204" pitchFamily="34" charset="0"/>
                                    </a:rPr>
                                    <m:t>𝟏</m:t>
                                  </m:r>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𝒏</m:t>
                                      </m:r>
                                    </m:e>
                                    <m:sub>
                                      <m:r>
                                        <a:rPr lang="en-US" sz="2000" b="1" i="1">
                                          <a:latin typeface="Cambria Math" panose="02040503050406030204" pitchFamily="18" charset="0"/>
                                          <a:cs typeface="Arial" panose="020B0604020202020204" pitchFamily="34" charset="0"/>
                                        </a:rPr>
                                        <m:t>𝒊</m:t>
                                      </m:r>
                                    </m:sub>
                                  </m:sSub>
                                </m:den>
                              </m:f>
                              <m:r>
                                <a:rPr lang="en-US" sz="2000" b="1" i="1">
                                  <a:latin typeface="Cambria Math" panose="02040503050406030204" pitchFamily="18" charset="0"/>
                                  <a:cs typeface="Arial" panose="020B0604020202020204" pitchFamily="34" charset="0"/>
                                </a:rPr>
                                <m:t>+</m:t>
                              </m:r>
                              <m:f>
                                <m:fPr>
                                  <m:ctrlPr>
                                    <a:rPr lang="en-US" sz="2000" b="1" i="1">
                                      <a:latin typeface="Cambria Math" panose="02040503050406030204" pitchFamily="18" charset="0"/>
                                      <a:cs typeface="Arial" panose="020B0604020202020204" pitchFamily="34" charset="0"/>
                                    </a:rPr>
                                  </m:ctrlPr>
                                </m:fPr>
                                <m:num>
                                  <m:r>
                                    <a:rPr lang="en-US" sz="2000" b="1" i="1">
                                      <a:latin typeface="Cambria Math" panose="02040503050406030204" pitchFamily="18" charset="0"/>
                                      <a:cs typeface="Arial" panose="020B0604020202020204" pitchFamily="34" charset="0"/>
                                    </a:rPr>
                                    <m:t>𝟏</m:t>
                                  </m:r>
                                </m:num>
                                <m:den>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𝒏</m:t>
                                      </m:r>
                                    </m:e>
                                    <m:sub>
                                      <m:r>
                                        <a:rPr lang="en-US" sz="2000" b="1" i="1">
                                          <a:latin typeface="Cambria Math" panose="02040503050406030204" pitchFamily="18" charset="0"/>
                                          <a:cs typeface="Arial" panose="020B0604020202020204" pitchFamily="34" charset="0"/>
                                        </a:rPr>
                                        <m:t>𝒋</m:t>
                                      </m:r>
                                    </m:sub>
                                  </m:sSub>
                                </m:den>
                              </m:f>
                            </m:e>
                          </m:d>
                        </m:e>
                      </m:rad>
                    </m:oMath>
                  </m:oMathPara>
                </a14:m>
                <a:endParaRPr lang="en-US" sz="2000" b="1"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811175" y="1696845"/>
                <a:ext cx="10516352" cy="4131526"/>
              </a:xfrm>
              <a:blipFill>
                <a:blip r:embed="rId3"/>
                <a:stretch>
                  <a:fillRect l="-1449" t="-1770"/>
                </a:stretch>
              </a:blipFill>
            </p:spPr>
            <p:txBody>
              <a:bodyPr/>
              <a:lstStyle/>
              <a:p>
                <a:r>
                  <a:rPr lang="en-US">
                    <a:noFill/>
                  </a:rPr>
                  <a:t> </a:t>
                </a:r>
              </a:p>
            </p:txBody>
          </p:sp>
        </mc:Fallback>
      </mc:AlternateContent>
    </p:spTree>
    <p:extLst>
      <p:ext uri="{BB962C8B-B14F-4D97-AF65-F5344CB8AC3E}">
        <p14:creationId xmlns:p14="http://schemas.microsoft.com/office/powerpoint/2010/main" val="3154154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dirty="0"/>
              <a:t>13.3 Application of the Fisher’s LSD Procedure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415736"/>
                <a:ext cx="10515599" cy="1445005"/>
              </a:xfrm>
            </p:spPr>
            <p:txBody>
              <a:bodyPr>
                <a:noAutofit/>
              </a:bodyPr>
              <a:lstStyle/>
              <a:p>
                <a:pPr>
                  <a:lnSpc>
                    <a:spcPct val="100000"/>
                  </a:lnSpc>
                  <a:spcBef>
                    <a:spcPts val="600"/>
                  </a:spcBef>
                </a:pPr>
                <a:r>
                  <a:rPr lang="en-US" sz="2000" dirty="0"/>
                  <a:t>Let us apply the Fisher’s LSD procedure to determine whether the population means of method A and method C are different, at a significance level, </a:t>
                </a:r>
                <a14:m>
                  <m:oMath xmlns:m="http://schemas.openxmlformats.org/officeDocument/2006/math">
                    <m:r>
                      <m:rPr>
                        <m:sty m:val="p"/>
                      </m:rPr>
                      <a:rPr lang="el-GR" sz="2000" i="1" dirty="0" smtClean="0">
                        <a:latin typeface="Cambria Math" panose="02040503050406030204" pitchFamily="18" charset="0"/>
                        <a:ea typeface="Cambria Math" panose="02040503050406030204" pitchFamily="18" charset="0"/>
                      </a:rPr>
                      <m:t>α</m:t>
                    </m:r>
                    <m:r>
                      <a:rPr lang="en-US" sz="2000" i="1" dirty="0" smtClean="0">
                        <a:latin typeface="Cambria Math" panose="02040503050406030204" pitchFamily="18" charset="0"/>
                      </a:rPr>
                      <m:t>=0.05</m:t>
                    </m:r>
                  </m:oMath>
                </a14:m>
                <a:r>
                  <a:rPr lang="en-US" sz="2000" dirty="0"/>
                  <a:t>.</a:t>
                </a:r>
              </a:p>
              <a:p>
                <a:pPr>
                  <a:lnSpc>
                    <a:spcPct val="100000"/>
                  </a:lnSpc>
                  <a:spcBef>
                    <a:spcPts val="600"/>
                  </a:spcBef>
                </a:pPr>
                <a:r>
                  <a:rPr lang="en-US" sz="2000" dirty="0"/>
                  <a:t>The test statistic is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3</m:t>
                        </m:r>
                      </m:sub>
                    </m:sSub>
                    <m:r>
                      <a:rPr lang="en-US" sz="2000" b="0" i="1" smtClean="0">
                        <a:latin typeface="Cambria Math" panose="02040503050406030204" pitchFamily="18" charset="0"/>
                        <a:cs typeface="Arial" panose="020B0604020202020204" pitchFamily="34" charset="0"/>
                      </a:rPr>
                      <m:t>=62−52=10</m:t>
                    </m:r>
                  </m:oMath>
                </a14:m>
                <a:endParaRPr lang="en-US" sz="2000" dirty="0"/>
              </a:p>
              <a:p>
                <a:pPr>
                  <a:lnSpc>
                    <a:spcPct val="100000"/>
                  </a:lnSpc>
                  <a:spcBef>
                    <a:spcPts val="600"/>
                  </a:spcBef>
                </a:pPr>
                <a:r>
                  <a:rPr lang="en-US" sz="2000" dirty="0"/>
                  <a:t>For a two-tail test, Table 2 in Appendix B provides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r>
                          <a:rPr lang="en-US" sz="2000" i="1">
                            <a:latin typeface="Cambria Math" panose="02040503050406030204" pitchFamily="18" charset="0"/>
                            <a:ea typeface="Cambria Math" panose="02040503050406030204" pitchFamily="18" charset="0"/>
                          </a:rPr>
                          <m:t>0.025</m:t>
                        </m:r>
                      </m:sub>
                    </m:sSub>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2.179</m:t>
                    </m:r>
                  </m:oMath>
                </a14:m>
                <a:r>
                  <a:rPr lang="en-US" sz="2000" dirty="0"/>
                  <a:t> with 12 degrees of freedom.</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415736"/>
                <a:ext cx="10515599" cy="1445005"/>
              </a:xfrm>
              <a:blipFill>
                <a:blip r:embed="rId3"/>
                <a:stretch>
                  <a:fillRect l="-1508" t="-5063" r="-232"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2FB9AF6B-72D9-0751-A314-37720DEC08E5}"/>
                  </a:ext>
                </a:extLst>
              </p:cNvPr>
              <p:cNvGraphicFramePr>
                <a:graphicFrameLocks noGrp="1"/>
              </p:cNvGraphicFramePr>
              <p:nvPr>
                <p:ph type="tbl" sz="quarter" idx="22"/>
              </p:nvPr>
            </p:nvGraphicFramePr>
            <p:xfrm>
              <a:off x="1923393" y="2939216"/>
              <a:ext cx="6117021" cy="741680"/>
            </p:xfrm>
            <a:graphic>
              <a:graphicData uri="http://schemas.openxmlformats.org/drawingml/2006/table">
                <a:tbl>
                  <a:tblPr firstRow="1" bandRow="1">
                    <a:tableStyleId>{5C22544A-7EE6-4342-B048-85BDC9FD1C3A}</a:tableStyleId>
                  </a:tblPr>
                  <a:tblGrid>
                    <a:gridCol w="2002221">
                      <a:extLst>
                        <a:ext uri="{9D8B030D-6E8A-4147-A177-3AD203B41FA5}">
                          <a16:colId xmlns:a16="http://schemas.microsoft.com/office/drawing/2014/main" val="4171103348"/>
                        </a:ext>
                      </a:extLst>
                    </a:gridCol>
                    <a:gridCol w="685800">
                      <a:extLst>
                        <a:ext uri="{9D8B030D-6E8A-4147-A177-3AD203B41FA5}">
                          <a16:colId xmlns:a16="http://schemas.microsoft.com/office/drawing/2014/main" val="3310322248"/>
                        </a:ext>
                      </a:extLst>
                    </a:gridCol>
                    <a:gridCol w="685800">
                      <a:extLst>
                        <a:ext uri="{9D8B030D-6E8A-4147-A177-3AD203B41FA5}">
                          <a16:colId xmlns:a16="http://schemas.microsoft.com/office/drawing/2014/main" val="1345786011"/>
                        </a:ext>
                      </a:extLst>
                    </a:gridCol>
                    <a:gridCol w="685800">
                      <a:extLst>
                        <a:ext uri="{9D8B030D-6E8A-4147-A177-3AD203B41FA5}">
                          <a16:colId xmlns:a16="http://schemas.microsoft.com/office/drawing/2014/main" val="3942544080"/>
                        </a:ext>
                      </a:extLst>
                    </a:gridCol>
                    <a:gridCol w="685800">
                      <a:extLst>
                        <a:ext uri="{9D8B030D-6E8A-4147-A177-3AD203B41FA5}">
                          <a16:colId xmlns:a16="http://schemas.microsoft.com/office/drawing/2014/main" val="2859257073"/>
                        </a:ext>
                      </a:extLst>
                    </a:gridCol>
                    <a:gridCol w="685800">
                      <a:extLst>
                        <a:ext uri="{9D8B030D-6E8A-4147-A177-3AD203B41FA5}">
                          <a16:colId xmlns:a16="http://schemas.microsoft.com/office/drawing/2014/main" val="2834450305"/>
                        </a:ext>
                      </a:extLst>
                    </a:gridCol>
                    <a:gridCol w="685800">
                      <a:extLst>
                        <a:ext uri="{9D8B030D-6E8A-4147-A177-3AD203B41FA5}">
                          <a16:colId xmlns:a16="http://schemas.microsoft.com/office/drawing/2014/main" val="1724343618"/>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14:m>
                            <m:oMath xmlns:m="http://schemas.openxmlformats.org/officeDocument/2006/math">
                              <m:r>
                                <a:rPr lang="en-US" sz="1600" b="1" i="1" smtClean="0">
                                  <a:latin typeface="Cambria Math" panose="02040503050406030204" pitchFamily="18" charset="0"/>
                                  <a:cs typeface="Arial" panose="020B0604020202020204" pitchFamily="34" charset="0"/>
                                </a:rPr>
                                <m:t>𝒕</m:t>
                              </m:r>
                            </m:oMath>
                          </a14:m>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𝟏𝟐</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0.873</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1.356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1.782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2.179</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2.681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3.055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2FB9AF6B-72D9-0751-A314-37720DEC08E5}"/>
                  </a:ext>
                </a:extLst>
              </p:cNvPr>
              <p:cNvGraphicFramePr>
                <a:graphicFrameLocks noGrp="1"/>
              </p:cNvGraphicFramePr>
              <p:nvPr>
                <p:ph type="tbl" sz="quarter" idx="22"/>
                <p:extLst>
                  <p:ext uri="{D42A27DB-BD31-4B8C-83A1-F6EECF244321}">
                    <p14:modId xmlns:p14="http://schemas.microsoft.com/office/powerpoint/2010/main" val="3458748720"/>
                  </p:ext>
                </p:extLst>
              </p:nvPr>
            </p:nvGraphicFramePr>
            <p:xfrm>
              <a:off x="1923393" y="2939216"/>
              <a:ext cx="6117021" cy="741680"/>
            </p:xfrm>
            <a:graphic>
              <a:graphicData uri="http://schemas.openxmlformats.org/drawingml/2006/table">
                <a:tbl>
                  <a:tblPr firstRow="1" bandRow="1">
                    <a:tableStyleId>{5C22544A-7EE6-4342-B048-85BDC9FD1C3A}</a:tableStyleId>
                  </a:tblPr>
                  <a:tblGrid>
                    <a:gridCol w="2002221">
                      <a:extLst>
                        <a:ext uri="{9D8B030D-6E8A-4147-A177-3AD203B41FA5}">
                          <a16:colId xmlns:a16="http://schemas.microsoft.com/office/drawing/2014/main" val="4171103348"/>
                        </a:ext>
                      </a:extLst>
                    </a:gridCol>
                    <a:gridCol w="685800">
                      <a:extLst>
                        <a:ext uri="{9D8B030D-6E8A-4147-A177-3AD203B41FA5}">
                          <a16:colId xmlns:a16="http://schemas.microsoft.com/office/drawing/2014/main" val="3310322248"/>
                        </a:ext>
                      </a:extLst>
                    </a:gridCol>
                    <a:gridCol w="685800">
                      <a:extLst>
                        <a:ext uri="{9D8B030D-6E8A-4147-A177-3AD203B41FA5}">
                          <a16:colId xmlns:a16="http://schemas.microsoft.com/office/drawing/2014/main" val="1345786011"/>
                        </a:ext>
                      </a:extLst>
                    </a:gridCol>
                    <a:gridCol w="685800">
                      <a:extLst>
                        <a:ext uri="{9D8B030D-6E8A-4147-A177-3AD203B41FA5}">
                          <a16:colId xmlns:a16="http://schemas.microsoft.com/office/drawing/2014/main" val="3942544080"/>
                        </a:ext>
                      </a:extLst>
                    </a:gridCol>
                    <a:gridCol w="685800">
                      <a:extLst>
                        <a:ext uri="{9D8B030D-6E8A-4147-A177-3AD203B41FA5}">
                          <a16:colId xmlns:a16="http://schemas.microsoft.com/office/drawing/2014/main" val="2859257073"/>
                        </a:ext>
                      </a:extLst>
                    </a:gridCol>
                    <a:gridCol w="685800">
                      <a:extLst>
                        <a:ext uri="{9D8B030D-6E8A-4147-A177-3AD203B41FA5}">
                          <a16:colId xmlns:a16="http://schemas.microsoft.com/office/drawing/2014/main" val="2834450305"/>
                        </a:ext>
                      </a:extLst>
                    </a:gridCol>
                    <a:gridCol w="685800">
                      <a:extLst>
                        <a:ext uri="{9D8B030D-6E8A-4147-A177-3AD203B41FA5}">
                          <a16:colId xmlns:a16="http://schemas.microsoft.com/office/drawing/2014/main" val="1724343618"/>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205775"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0.873</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1.356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1.782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2.179</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2.681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3.055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0317" y="3813812"/>
                <a:ext cx="10484504" cy="1924138"/>
              </a:xfrm>
            </p:spPr>
            <p:txBody>
              <a:bodyPr>
                <a:noAutofit/>
              </a:bodyPr>
              <a:lstStyle/>
              <a:p>
                <a:pPr>
                  <a:lnSpc>
                    <a:spcPct val="100000"/>
                  </a:lnSpc>
                  <a:spcBef>
                    <a:spcPts val="600"/>
                  </a:spcBef>
                </a:pPr>
                <a:r>
                  <a:rPr lang="en-US" sz="2000" dirty="0">
                    <a:latin typeface="Arial" panose="020B0604020202020204" pitchFamily="34" charset="0"/>
                    <a:cs typeface="Arial" panose="020B0604020202020204" pitchFamily="34" charset="0"/>
                  </a:rPr>
                  <a:t>Thus, we have</a:t>
                </a:r>
              </a:p>
              <a:p>
                <a:pPr marL="914400">
                  <a:lnSpc>
                    <a:spcPct val="100000"/>
                  </a:lnSpc>
                  <a:spcBef>
                    <a:spcPts val="600"/>
                  </a:spcBef>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𝐿𝑆𝐷</m:t>
                      </m:r>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𝑡</m:t>
                          </m:r>
                        </m:e>
                        <m:sub>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2</m:t>
                              </m:r>
                            </m:den>
                          </m:f>
                        </m:sub>
                      </m:sSub>
                      <m:rad>
                        <m:radPr>
                          <m:degHide m:val="on"/>
                          <m:ctrlPr>
                            <a:rPr lang="en-US" sz="2000" i="1">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𝑀𝑆𝐸</m:t>
                          </m:r>
                          <m:d>
                            <m:dPr>
                              <m:ctrlPr>
                                <a:rPr lang="en-US" sz="2000" i="1">
                                  <a:latin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1</m:t>
                                      </m:r>
                                    </m:sub>
                                  </m:sSub>
                                </m:den>
                              </m:f>
                              <m:r>
                                <a:rPr lang="en-US" sz="2000" b="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3</m:t>
                                      </m:r>
                                    </m:sub>
                                  </m:sSub>
                                </m:den>
                              </m:f>
                            </m:e>
                          </m:d>
                        </m:e>
                      </m:rad>
                      <m:r>
                        <a:rPr lang="en-US" sz="2000" b="0" i="1" smtClean="0">
                          <a:latin typeface="Cambria Math" panose="02040503050406030204" pitchFamily="18" charset="0"/>
                          <a:cs typeface="Arial" panose="020B0604020202020204" pitchFamily="34" charset="0"/>
                        </a:rPr>
                        <m:t>=2.179</m:t>
                      </m:r>
                      <m:rad>
                        <m:radPr>
                          <m:degHide m:val="on"/>
                          <m:ctrlPr>
                            <a:rPr lang="en-US" sz="2000" i="1">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28.33</m:t>
                          </m:r>
                          <m:d>
                            <m:dPr>
                              <m:ctrlPr>
                                <a:rPr lang="en-US" sz="2000" i="1">
                                  <a:latin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5</m:t>
                                  </m:r>
                                </m:den>
                              </m:f>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5</m:t>
                                  </m:r>
                                </m:den>
                              </m:f>
                            </m:e>
                          </m:d>
                        </m:e>
                      </m:rad>
                      <m:r>
                        <a:rPr lang="en-US" sz="2000" b="0" i="1" smtClean="0">
                          <a:latin typeface="Cambria Math" panose="02040503050406030204" pitchFamily="18" charset="0"/>
                          <a:cs typeface="Arial" panose="020B0604020202020204" pitchFamily="34" charset="0"/>
                        </a:rPr>
                        <m:t>=7.34</m:t>
                      </m:r>
                    </m:oMath>
                  </m:oMathPara>
                </a14:m>
                <a:endParaRPr lang="en-US" sz="2000" dirty="0"/>
              </a:p>
              <a:p>
                <a:pPr>
                  <a:lnSpc>
                    <a:spcPct val="100000"/>
                  </a:lnSpc>
                  <a:spcBef>
                    <a:spcPts val="600"/>
                  </a:spcBef>
                </a:pPr>
                <a:r>
                  <a:rPr lang="en-US" sz="2000" dirty="0"/>
                  <a:t>Because </a:t>
                </a:r>
                <a14:m>
                  <m:oMath xmlns:m="http://schemas.openxmlformats.org/officeDocument/2006/math">
                    <m:d>
                      <m:dPr>
                        <m:begChr m:val="|"/>
                        <m:endChr m:val="|"/>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3</m:t>
                            </m:r>
                          </m:sub>
                        </m:sSub>
                      </m:e>
                    </m:d>
                    <m:r>
                      <a:rPr lang="en-US" sz="2000" b="0" i="1" smtClean="0">
                        <a:latin typeface="Cambria Math" panose="02040503050406030204" pitchFamily="18" charset="0"/>
                        <a:cs typeface="Arial" panose="020B0604020202020204" pitchFamily="34" charset="0"/>
                      </a:rPr>
                      <m:t>=10</m:t>
                    </m:r>
                    <m:r>
                      <a:rPr lang="en-US" sz="2000" i="1" dirty="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7.34</m:t>
                    </m:r>
                  </m:oMath>
                </a14:m>
                <a:r>
                  <a:rPr lang="en-US" sz="2000" dirty="0"/>
                  <a:t>, we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and conclude that the population means for method A and method C differ.</a:t>
                </a:r>
                <a:endParaRPr lang="en-US" sz="2000" dirty="0"/>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0317" y="3813812"/>
                <a:ext cx="10484504" cy="1924138"/>
              </a:xfrm>
              <a:blipFill>
                <a:blip r:embed="rId5"/>
                <a:stretch>
                  <a:fillRect l="-1453" t="-3810" b="-6667"/>
                </a:stretch>
              </a:blipFill>
            </p:spPr>
            <p:txBody>
              <a:bodyPr/>
              <a:lstStyle/>
              <a:p>
                <a:r>
                  <a:rPr lang="en-US">
                    <a:noFill/>
                  </a:rPr>
                  <a:t> </a:t>
                </a:r>
              </a:p>
            </p:txBody>
          </p:sp>
        </mc:Fallback>
      </mc:AlternateContent>
    </p:spTree>
    <p:extLst>
      <p:ext uri="{BB962C8B-B14F-4D97-AF65-F5344CB8AC3E}">
        <p14:creationId xmlns:p14="http://schemas.microsoft.com/office/powerpoint/2010/main" val="4270625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sz="3200" dirty="0"/>
              <a:t>13.3 Fisher’s LSD Procedure for the Complete Chemitech 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850590" y="1714403"/>
                <a:ext cx="10508469" cy="4084233"/>
              </a:xfrm>
            </p:spPr>
            <p:txBody>
              <a:bodyPr/>
              <a:lstStyle/>
              <a:p>
                <a:pPr>
                  <a:spcBef>
                    <a:spcPts val="0"/>
                  </a:spcBef>
                  <a:spcAft>
                    <a:spcPts val="0"/>
                  </a:spcAft>
                </a:pPr>
                <a:r>
                  <a:rPr lang="en-US" sz="2000" dirty="0">
                    <a:latin typeface="Arial" panose="020B0604020202020204" pitchFamily="34" charset="0"/>
                    <a:cs typeface="Arial" panose="020B0604020202020204" pitchFamily="34" charset="0"/>
                  </a:rPr>
                  <a:t>Because the sample sizes for the three treatments in the Chemitech example are equal,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b="0" i="1" smtClean="0">
                            <a:latin typeface="Cambria Math" panose="02040503050406030204" pitchFamily="18" charset="0"/>
                            <a:cs typeface="Arial" panose="020B0604020202020204" pitchFamily="34" charset="0"/>
                          </a:rPr>
                          <m:t>3</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5</m:t>
                    </m:r>
                  </m:oMath>
                </a14:m>
                <a:r>
                  <a:rPr lang="en-US" sz="2000" dirty="0">
                    <a:latin typeface="Arial" panose="020B0604020202020204" pitchFamily="34" charset="0"/>
                    <a:cs typeface="Arial" panose="020B0604020202020204" pitchFamily="34" charset="0"/>
                  </a:rPr>
                  <a:t>, it follows that only one value for LSD needs to be computed.</a:t>
                </a:r>
              </a:p>
              <a:p>
                <a:pPr>
                  <a:spcBef>
                    <a:spcPts val="600"/>
                  </a:spcBef>
                  <a:spcAft>
                    <a:spcPts val="0"/>
                  </a:spcAft>
                </a:pPr>
                <a:r>
                  <a:rPr lang="en-US" sz="2000" dirty="0">
                    <a:latin typeface="Arial" panose="020B0604020202020204" pitchFamily="34" charset="0"/>
                    <a:cs typeface="Arial" panose="020B0604020202020204" pitchFamily="34" charset="0"/>
                  </a:rPr>
                  <a:t>The computations for the remaining pairwise test statistics are</a:t>
                </a:r>
              </a:p>
              <a:p>
                <a:pPr marL="914400" defTabSz="803275">
                  <a:spcBef>
                    <a:spcPts val="600"/>
                  </a:spcBef>
                  <a:spcAft>
                    <a:spcPts val="0"/>
                  </a:spcAft>
                </a:pPr>
                <a:r>
                  <a:rPr lang="en-US" sz="2000" dirty="0">
                    <a:ea typeface="Cambria Math" panose="02040503050406030204" pitchFamily="18" charset="0"/>
                    <a:cs typeface="Arial" panose="020B0604020202020204" pitchFamily="34" charset="0"/>
                  </a:rPr>
                  <a:t>method A vs. method B: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=62−66=−4</m:t>
                    </m:r>
                  </m:oMath>
                </a14:m>
                <a:endParaRPr lang="en-US" sz="2000" dirty="0">
                  <a:latin typeface="Arial" panose="020B0604020202020204" pitchFamily="34" charset="0"/>
                  <a:cs typeface="Arial" panose="020B0604020202020204" pitchFamily="34" charset="0"/>
                </a:endParaRPr>
              </a:p>
              <a:p>
                <a:pPr marL="914400" defTabSz="803275">
                  <a:spcBef>
                    <a:spcPts val="600"/>
                  </a:spcBef>
                  <a:spcAft>
                    <a:spcPts val="600"/>
                  </a:spcAft>
                </a:pPr>
                <a:r>
                  <a:rPr lang="en-US" sz="2000" dirty="0">
                    <a:ea typeface="Cambria Math" panose="02040503050406030204" pitchFamily="18" charset="0"/>
                    <a:cs typeface="Arial" panose="020B0604020202020204" pitchFamily="34" charset="0"/>
                  </a:rPr>
                  <a:t>method B vs. method C: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3</m:t>
                        </m:r>
                      </m:sub>
                    </m:sSub>
                    <m:r>
                      <a:rPr lang="en-US" sz="2000" b="0" i="1" smtClean="0">
                        <a:latin typeface="Cambria Math" panose="02040503050406030204" pitchFamily="18" charset="0"/>
                        <a:cs typeface="Arial" panose="020B0604020202020204" pitchFamily="34" charset="0"/>
                      </a:rPr>
                      <m:t>=66−52=14</m:t>
                    </m:r>
                  </m:oMath>
                </a14:m>
                <a:r>
                  <a:rPr lang="en-US" sz="2000"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Using </a:t>
                </a:r>
                <a14:m>
                  <m:oMath xmlns:m="http://schemas.openxmlformats.org/officeDocument/2006/math">
                    <m:r>
                      <a:rPr lang="en-US" sz="2000" b="0" i="1" smtClean="0">
                        <a:latin typeface="Cambria Math" panose="02040503050406030204" pitchFamily="18" charset="0"/>
                        <a:cs typeface="Arial" panose="020B0604020202020204" pitchFamily="34" charset="0"/>
                      </a:rPr>
                      <m:t>𝐿𝑆𝐷</m:t>
                    </m:r>
                    <m:r>
                      <a:rPr lang="en-US" sz="2000" b="0" i="1" smtClean="0">
                        <a:latin typeface="Cambria Math" panose="02040503050406030204" pitchFamily="18" charset="0"/>
                        <a:cs typeface="Arial" panose="020B0604020202020204" pitchFamily="34" charset="0"/>
                      </a:rPr>
                      <m:t>=7.34</m:t>
                    </m:r>
                  </m:oMath>
                </a14:m>
                <a:r>
                  <a:rPr lang="en-US" sz="2000" dirty="0">
                    <a:latin typeface="Arial" panose="020B0604020202020204" pitchFamily="34" charset="0"/>
                    <a:cs typeface="Arial" panose="020B0604020202020204" pitchFamily="34" charset="0"/>
                  </a:rPr>
                  <a:t> calculated for the method A vs. method C comparison in the previous slide, we have the following rejection rules for the remaining pairwise comparisons.</a:t>
                </a:r>
              </a:p>
              <a:p>
                <a:pPr marL="914400">
                  <a:spcBef>
                    <a:spcPts val="600"/>
                  </a:spcBef>
                  <a:spcAft>
                    <a:spcPts val="0"/>
                  </a:spcAft>
                  <a:tabLst>
                    <a:tab pos="4003675" algn="l"/>
                    <a:tab pos="6858000" algn="l"/>
                  </a:tabLst>
                </a:pPr>
                <a:r>
                  <a:rPr lang="en-US" sz="2000" dirty="0">
                    <a:ea typeface="Cambria Math" panose="02040503050406030204" pitchFamily="18" charset="0"/>
                    <a:cs typeface="Arial" panose="020B0604020202020204" pitchFamily="34" charset="0"/>
                  </a:rPr>
                  <a:t>method A vs. method B:	</a:t>
                </a:r>
                <a14:m>
                  <m:oMath xmlns:m="http://schemas.openxmlformats.org/officeDocument/2006/math">
                    <m:d>
                      <m:dPr>
                        <m:begChr m:val="|"/>
                        <m:endChr m:val="|"/>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e>
                    </m:d>
                    <m:r>
                      <a:rPr lang="en-US" sz="2000" b="0" i="1" smtClean="0">
                        <a:latin typeface="Cambria Math" panose="02040503050406030204" pitchFamily="18" charset="0"/>
                        <a:cs typeface="Arial" panose="020B0604020202020204" pitchFamily="34" charset="0"/>
                      </a:rPr>
                      <m:t>=4&lt;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7.34</m:t>
                    </m:r>
                  </m:oMath>
                </a14:m>
                <a:r>
                  <a:rPr lang="en-US" sz="2000" dirty="0">
                    <a:latin typeface="Arial" panose="020B0604020202020204" pitchFamily="34" charset="0"/>
                    <a:cs typeface="Arial" panose="020B0604020202020204" pitchFamily="34" charset="0"/>
                  </a:rPr>
                  <a:t> 	Do not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p>
              <a:p>
                <a:pPr marL="914400">
                  <a:spcBef>
                    <a:spcPts val="600"/>
                  </a:spcBef>
                  <a:spcAft>
                    <a:spcPts val="600"/>
                  </a:spcAft>
                  <a:tabLst>
                    <a:tab pos="4003675" algn="l"/>
                    <a:tab pos="6858000" algn="l"/>
                  </a:tabLst>
                </a:pPr>
                <a:r>
                  <a:rPr lang="en-US" sz="2000" dirty="0">
                    <a:ea typeface="Cambria Math" panose="02040503050406030204" pitchFamily="18" charset="0"/>
                    <a:cs typeface="Arial" panose="020B0604020202020204" pitchFamily="34" charset="0"/>
                  </a:rPr>
                  <a:t>method B vs. method C: 	</a:t>
                </a:r>
                <a14:m>
                  <m:oMath xmlns:m="http://schemas.openxmlformats.org/officeDocument/2006/math">
                    <m:d>
                      <m:dPr>
                        <m:begChr m:val="|"/>
                        <m:endChr m:val="|"/>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3</m:t>
                            </m:r>
                          </m:sub>
                        </m:sSub>
                      </m:e>
                    </m:d>
                    <m:r>
                      <a:rPr lang="en-US" sz="2000" b="0" i="1" smtClean="0">
                        <a:latin typeface="Cambria Math" panose="02040503050406030204" pitchFamily="18" charset="0"/>
                        <a:cs typeface="Arial" panose="020B0604020202020204" pitchFamily="34" charset="0"/>
                      </a:rPr>
                      <m:t>=14</m:t>
                    </m:r>
                    <m:r>
                      <a:rPr lang="en-US" sz="2000" i="1" dirty="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7.34</m:t>
                    </m:r>
                  </m:oMath>
                </a14:m>
                <a:r>
                  <a:rPr lang="en-US" sz="2000" dirty="0">
                    <a:latin typeface="Arial" panose="020B0604020202020204" pitchFamily="34" charset="0"/>
                    <a:cs typeface="Arial" panose="020B0604020202020204" pitchFamily="34" charset="0"/>
                  </a:rPr>
                  <a:t>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p>
              <a:p>
                <a:pPr>
                  <a:spcBef>
                    <a:spcPts val="600"/>
                  </a:spcBef>
                  <a:spcAft>
                    <a:spcPts val="0"/>
                  </a:spcAft>
                </a:pPr>
                <a:r>
                  <a:rPr lang="en-US" sz="2000" dirty="0">
                    <a:latin typeface="Arial" panose="020B0604020202020204" pitchFamily="34" charset="0"/>
                    <a:cs typeface="Arial" panose="020B0604020202020204" pitchFamily="34" charset="0"/>
                  </a:rPr>
                  <a:t>Thus, we conclude that the population means for method A and method B both differ from the population mean for method C.</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850590" y="1714403"/>
                <a:ext cx="10508469" cy="4084233"/>
              </a:xfrm>
              <a:blipFill>
                <a:blip r:embed="rId2"/>
                <a:stretch>
                  <a:fillRect l="-1509" t="-1791" r="-1567" b="-2836"/>
                </a:stretch>
              </a:blipFill>
            </p:spPr>
            <p:txBody>
              <a:bodyPr/>
              <a:lstStyle/>
              <a:p>
                <a:r>
                  <a:rPr lang="en-US">
                    <a:noFill/>
                  </a:rPr>
                  <a:t> </a:t>
                </a:r>
              </a:p>
            </p:txBody>
          </p:sp>
        </mc:Fallback>
      </mc:AlternateContent>
    </p:spTree>
    <p:extLst>
      <p:ext uri="{BB962C8B-B14F-4D97-AF65-F5344CB8AC3E}">
        <p14:creationId xmlns:p14="http://schemas.microsoft.com/office/powerpoint/2010/main" val="2157718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sz="3200" dirty="0"/>
                  <a:t>13.3 Confidence Interval Estimate of </a:t>
                </a:r>
                <a14:m>
                  <m:oMath xmlns:m="http://schemas.openxmlformats.org/officeDocument/2006/math">
                    <m:sSub>
                      <m:sSubPr>
                        <m:ctrlPr>
                          <a:rPr lang="en-US" sz="3200" i="1" smtClean="0">
                            <a:latin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𝝁</m:t>
                        </m:r>
                      </m:e>
                      <m:sub>
                        <m:r>
                          <a:rPr lang="en-US" sz="3200" b="1" i="1" smtClean="0">
                            <a:latin typeface="Cambria Math" panose="02040503050406030204" pitchFamily="18" charset="0"/>
                          </a:rPr>
                          <m:t>𝟏</m:t>
                        </m:r>
                      </m:sub>
                    </m:sSub>
                    <m:r>
                      <a:rPr lang="en-US" sz="3200" b="1"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𝝁</m:t>
                        </m:r>
                      </m:e>
                      <m:sub>
                        <m:r>
                          <a:rPr lang="en-US" sz="3200" b="1" i="1" smtClean="0">
                            <a:latin typeface="Cambria Math" panose="02040503050406030204" pitchFamily="18" charset="0"/>
                          </a:rPr>
                          <m:t>𝟐</m:t>
                        </m:r>
                      </m:sub>
                    </m:sSub>
                  </m:oMath>
                </a14:m>
                <a:r>
                  <a:rPr lang="en-US" sz="3200" dirty="0"/>
                  <a:t> Using Fisher’s LSD Procedure</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xfrm>
                <a:off x="850590" y="365125"/>
                <a:ext cx="10508469" cy="672105"/>
              </a:xfrm>
              <a:blipFill>
                <a:blip r:embed="rId2"/>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72510" y="1733116"/>
                <a:ext cx="10586549" cy="4028347"/>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The general procedure to develop a confidence interval estimate of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is</a:t>
                </a:r>
              </a:p>
              <a:p>
                <a:pPr marL="914400">
                  <a:spcBef>
                    <a:spcPts val="600"/>
                  </a:spcBef>
                  <a:spcAft>
                    <a:spcPts val="0"/>
                  </a:spcAft>
                </a:pPr>
                <a14:m>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acc>
                          <m:accPr>
                            <m:chr m:val="̅"/>
                            <m:ctrlPr>
                              <a:rPr lang="en-US" sz="2000" b="1" i="1">
                                <a:latin typeface="Cambria Math" panose="02040503050406030204" pitchFamily="18" charset="0"/>
                                <a:cs typeface="Arial" panose="020B0604020202020204" pitchFamily="34" charset="0"/>
                              </a:rPr>
                            </m:ctrlPr>
                          </m:accPr>
                          <m:e>
                            <m:r>
                              <a:rPr lang="en-US" sz="2000" b="1" i="1">
                                <a:latin typeface="Cambria Math" panose="02040503050406030204" pitchFamily="18" charset="0"/>
                                <a:cs typeface="Arial" panose="020B0604020202020204" pitchFamily="34" charset="0"/>
                              </a:rPr>
                              <m:t>𝒙</m:t>
                            </m:r>
                          </m:e>
                        </m:acc>
                      </m:e>
                      <m:sub>
                        <m:r>
                          <a:rPr lang="en-US" sz="2000" b="1" i="1" smtClean="0">
                            <a:latin typeface="Cambria Math" panose="02040503050406030204" pitchFamily="18" charset="0"/>
                            <a:cs typeface="Arial" panose="020B0604020202020204" pitchFamily="34" charset="0"/>
                          </a:rPr>
                          <m:t>𝒋</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𝑳𝑺𝑫</m:t>
                    </m:r>
                  </m:oMath>
                </a14:m>
                <a:r>
                  <a:rPr lang="en-US" sz="2000" b="1"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𝑡</m:t>
                        </m:r>
                      </m:e>
                      <m:sub>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2</m:t>
                            </m:r>
                          </m:den>
                        </m:f>
                      </m:sub>
                    </m:sSub>
                  </m:oMath>
                </a14:m>
                <a:r>
                  <a:rPr lang="en-US" sz="2000" dirty="0">
                    <a:latin typeface="Arial" panose="020B0604020202020204" pitchFamily="34" charset="0"/>
                    <a:cs typeface="Arial" panose="020B0604020202020204" pitchFamily="34" charset="0"/>
                  </a:rPr>
                  <a:t> is based on a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distribution with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𝑘</m:t>
                    </m:r>
                  </m:oMath>
                </a14:m>
                <a:r>
                  <a:rPr lang="en-US" sz="2000" dirty="0">
                    <a:latin typeface="Arial" panose="020B0604020202020204" pitchFamily="34" charset="0"/>
                    <a:cs typeface="Arial" panose="020B0604020202020204" pitchFamily="34" charset="0"/>
                  </a:rPr>
                  <a:t> degrees of freedom.</a:t>
                </a:r>
              </a:p>
              <a:p>
                <a:pPr>
                  <a:spcBef>
                    <a:spcPts val="600"/>
                  </a:spcBef>
                  <a:spcAft>
                    <a:spcPts val="0"/>
                  </a:spcAft>
                </a:pPr>
                <a:r>
                  <a:rPr lang="en-US" sz="2000" dirty="0">
                    <a:latin typeface="Arial" panose="020B0604020202020204" pitchFamily="34" charset="0"/>
                    <a:cs typeface="Arial" panose="020B0604020202020204" pitchFamily="34" charset="0"/>
                  </a:rPr>
                  <a:t>For the Chemitech experiment, we found </a:t>
                </a:r>
                <a14:m>
                  <m:oMath xmlns:m="http://schemas.openxmlformats.org/officeDocument/2006/math">
                    <m:r>
                      <a:rPr lang="en-US" sz="2000" i="1" dirty="0" smtClean="0">
                        <a:latin typeface="Cambria Math" panose="02040503050406030204" pitchFamily="18" charset="0"/>
                        <a:cs typeface="Arial" panose="020B0604020202020204" pitchFamily="34" charset="0"/>
                      </a:rPr>
                      <m:t>𝐿𝑆𝐷</m:t>
                    </m:r>
                    <m:r>
                      <a:rPr lang="en-US" sz="2000" i="1" dirty="0" smtClean="0">
                        <a:latin typeface="Cambria Math" panose="02040503050406030204" pitchFamily="18" charset="0"/>
                        <a:cs typeface="Arial" panose="020B0604020202020204" pitchFamily="34" charset="0"/>
                      </a:rPr>
                      <m:t>=7.34</m:t>
                    </m:r>
                  </m:oMath>
                </a14:m>
                <a:r>
                  <a:rPr lang="en-US" sz="2000"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The 95% confidence interval estimates for the difference between each pairs of population means in the Chemitech example follow.</a:t>
                </a:r>
              </a:p>
              <a:p>
                <a:pPr marL="914400" defTabSz="803275">
                  <a:spcBef>
                    <a:spcPts val="600"/>
                  </a:spcBef>
                  <a:spcAft>
                    <a:spcPts val="0"/>
                  </a:spcAft>
                </a:pPr>
                <a:r>
                  <a:rPr lang="en-US" sz="2000" dirty="0">
                    <a:ea typeface="Cambria Math" panose="02040503050406030204" pitchFamily="18" charset="0"/>
                    <a:cs typeface="Arial" panose="020B0604020202020204" pitchFamily="34" charset="0"/>
                  </a:rPr>
                  <a:t>method A vs. method B: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a:latin typeface="Cambria Math" panose="02040503050406030204" pitchFamily="18" charset="0"/>
                        <a:ea typeface="Cambria Math" panose="02040503050406030204" pitchFamily="18" charset="0"/>
                        <a:cs typeface="Arial" panose="020B0604020202020204" pitchFamily="34" charset="0"/>
                      </a:rPr>
                      <m:t>±</m:t>
                    </m:r>
                    <m:r>
                      <a:rPr lang="en-US" sz="2000" b="0" i="1">
                        <a:latin typeface="Cambria Math" panose="02040503050406030204" pitchFamily="18" charset="0"/>
                        <a:ea typeface="Cambria Math" panose="02040503050406030204" pitchFamily="18" charset="0"/>
                        <a:cs typeface="Arial" panose="020B0604020202020204" pitchFamily="34" charset="0"/>
                      </a:rPr>
                      <m:t>𝐿𝑆𝐷</m:t>
                    </m:r>
                    <m:r>
                      <a:rPr lang="en-US" sz="2000" b="0" i="1" smtClean="0">
                        <a:latin typeface="Cambria Math" panose="02040503050406030204" pitchFamily="18" charset="0"/>
                        <a:cs typeface="Arial" panose="020B0604020202020204" pitchFamily="34" charset="0"/>
                      </a:rPr>
                      <m:t>=−4</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7.34=(−11.34, 3.34)</m:t>
                    </m:r>
                  </m:oMath>
                </a14:m>
                <a:endParaRPr lang="en-US" sz="2000" dirty="0">
                  <a:latin typeface="Arial" panose="020B0604020202020204" pitchFamily="34" charset="0"/>
                  <a:cs typeface="Arial" panose="020B0604020202020204" pitchFamily="34" charset="0"/>
                </a:endParaRPr>
              </a:p>
              <a:p>
                <a:pPr marL="914400" defTabSz="803275">
                  <a:spcBef>
                    <a:spcPts val="600"/>
                  </a:spcBef>
                  <a:spcAft>
                    <a:spcPts val="0"/>
                  </a:spcAft>
                </a:pPr>
                <a:r>
                  <a:rPr lang="en-US" sz="2000" dirty="0">
                    <a:ea typeface="Cambria Math" panose="02040503050406030204" pitchFamily="18" charset="0"/>
                    <a:cs typeface="Arial" panose="020B0604020202020204" pitchFamily="34" charset="0"/>
                  </a:rPr>
                  <a:t>method A vs. method C: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3</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𝐿𝑆𝐷</m:t>
                    </m:r>
                    <m:r>
                      <a:rPr lang="en-US" sz="2000" b="0" i="1" smtClean="0">
                        <a:latin typeface="Cambria Math" panose="02040503050406030204" pitchFamily="18" charset="0"/>
                        <a:cs typeface="Arial" panose="020B0604020202020204" pitchFamily="34" charset="0"/>
                      </a:rPr>
                      <m:t>=10</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7.34=(2.66, 17.34)</m:t>
                    </m:r>
                  </m:oMath>
                </a14:m>
                <a:endParaRPr lang="en-US" sz="2000" dirty="0">
                  <a:latin typeface="Arial" panose="020B0604020202020204" pitchFamily="34" charset="0"/>
                  <a:cs typeface="Arial" panose="020B0604020202020204" pitchFamily="34" charset="0"/>
                </a:endParaRPr>
              </a:p>
              <a:p>
                <a:pPr marL="914400" defTabSz="803275">
                  <a:spcBef>
                    <a:spcPts val="600"/>
                  </a:spcBef>
                  <a:spcAft>
                    <a:spcPts val="0"/>
                  </a:spcAft>
                </a:pPr>
                <a:r>
                  <a:rPr lang="en-US" sz="2000" dirty="0">
                    <a:ea typeface="Cambria Math" panose="02040503050406030204" pitchFamily="18" charset="0"/>
                    <a:cs typeface="Arial" panose="020B0604020202020204" pitchFamily="34" charset="0"/>
                  </a:rPr>
                  <a:t>method B vs. method C: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b="0" i="1" smtClean="0">
                            <a:latin typeface="Cambria Math" panose="02040503050406030204" pitchFamily="18" charset="0"/>
                            <a:cs typeface="Arial" panose="020B0604020202020204" pitchFamily="34" charset="0"/>
                          </a:rPr>
                          <m:t>3</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𝐿𝑆𝐷</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14</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7.34=(6.66, 21.34)</m:t>
                    </m:r>
                  </m:oMath>
                </a14:m>
                <a:endParaRPr lang="en-US" sz="2000" dirty="0">
                  <a:latin typeface="Arial" panose="020B0604020202020204" pitchFamily="34" charset="0"/>
                  <a:cs typeface="Arial" panose="020B0604020202020204" pitchFamily="34" charset="0"/>
                </a:endParaRPr>
              </a:p>
              <a:p>
                <a:pPr defTabSz="803275">
                  <a:spcBef>
                    <a:spcPts val="600"/>
                  </a:spcBef>
                  <a:spcAft>
                    <a:spcPts val="0"/>
                  </a:spcAft>
                </a:pPr>
                <a:r>
                  <a:rPr lang="en-US" sz="2000" dirty="0">
                    <a:latin typeface="Arial" panose="020B0604020202020204" pitchFamily="34" charset="0"/>
                    <a:cs typeface="Arial" panose="020B0604020202020204" pitchFamily="34" charset="0"/>
                  </a:rPr>
                  <a:t>Because the interval estimate for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includes zero, we cannot reject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for the method A vs method B pair of treatment means.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72510" y="1733116"/>
                <a:ext cx="10586549" cy="4028347"/>
              </a:xfrm>
              <a:blipFill>
                <a:blip r:embed="rId3"/>
                <a:stretch>
                  <a:fillRect l="-1498" t="-1815" r="-346" b="-3480"/>
                </a:stretch>
              </a:blipFill>
            </p:spPr>
            <p:txBody>
              <a:bodyPr/>
              <a:lstStyle/>
              <a:p>
                <a:r>
                  <a:rPr lang="en-US">
                    <a:noFill/>
                  </a:rPr>
                  <a:t> </a:t>
                </a:r>
              </a:p>
            </p:txBody>
          </p:sp>
        </mc:Fallback>
      </mc:AlternateContent>
    </p:spTree>
    <p:extLst>
      <p:ext uri="{BB962C8B-B14F-4D97-AF65-F5344CB8AC3E}">
        <p14:creationId xmlns:p14="http://schemas.microsoft.com/office/powerpoint/2010/main" val="294682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t>13.3 Type I Error Rates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64627" y="1330711"/>
                <a:ext cx="10594432" cy="4460489"/>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In the Chemitech experiment, we used Fisher’s LSD procedure to make three pairwise comparisons </a:t>
                </a:r>
                <a:r>
                  <a:rPr lang="en-US" sz="2000" dirty="0"/>
                  <a:t>at a level of significance, </a:t>
                </a:r>
                <a14:m>
                  <m:oMath xmlns:m="http://schemas.openxmlformats.org/officeDocument/2006/math">
                    <m:r>
                      <m:rPr>
                        <m:sty m:val="p"/>
                      </m:rPr>
                      <a:rPr lang="el-GR" sz="2000" i="1" dirty="0" smtClean="0">
                        <a:latin typeface="Cambria Math" panose="02040503050406030204" pitchFamily="18" charset="0"/>
                        <a:ea typeface="Cambria Math" panose="02040503050406030204" pitchFamily="18" charset="0"/>
                      </a:rPr>
                      <m:t>α</m:t>
                    </m:r>
                    <m:r>
                      <a:rPr lang="en-US" sz="2000" i="1" dirty="0" smtClean="0">
                        <a:latin typeface="Cambria Math" panose="02040503050406030204" pitchFamily="18" charset="0"/>
                      </a:rPr>
                      <m:t>=0.05</m:t>
                    </m:r>
                  </m:oMath>
                </a14:m>
                <a:r>
                  <a:rPr lang="en-US" sz="2000" dirty="0"/>
                  <a:t>.</a:t>
                </a:r>
              </a:p>
              <a:p>
                <a:pPr>
                  <a:spcBef>
                    <a:spcPts val="600"/>
                  </a:spcBef>
                  <a:spcAft>
                    <a:spcPts val="0"/>
                  </a:spcAft>
                </a:pPr>
                <a:r>
                  <a:rPr lang="en-US" sz="2000" dirty="0">
                    <a:latin typeface="Arial" panose="020B0604020202020204" pitchFamily="34" charset="0"/>
                    <a:cs typeface="Arial" panose="020B0604020202020204" pitchFamily="34" charset="0"/>
                  </a:rPr>
                  <a:t>Thus, for each pairwise comparison, if </a:t>
                </a:r>
                <a:r>
                  <a:rPr lang="en-US" sz="2000" i="1" dirty="0">
                    <a:latin typeface="Arial" panose="020B0604020202020204" pitchFamily="34" charset="0"/>
                    <a:cs typeface="Arial" panose="020B0604020202020204" pitchFamily="34" charset="0"/>
                  </a:rPr>
                  <a:t>H</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is true, the probability to make a Type I error is 0.05.</a:t>
                </a:r>
              </a:p>
              <a:p>
                <a:pPr>
                  <a:spcBef>
                    <a:spcPts val="600"/>
                  </a:spcBef>
                  <a:spcAft>
                    <a:spcPts val="0"/>
                  </a:spcAft>
                </a:pPr>
                <a:r>
                  <a:rPr lang="en-US" sz="2000" dirty="0">
                    <a:latin typeface="Arial" panose="020B0604020202020204" pitchFamily="34" charset="0"/>
                    <a:cs typeface="Arial" panose="020B0604020202020204" pitchFamily="34" charset="0"/>
                  </a:rPr>
                  <a:t>In multiple comparison procedures, we refer to the level of significance </a:t>
                </a:r>
                <a14:m>
                  <m:oMath xmlns:m="http://schemas.openxmlformats.org/officeDocument/2006/math">
                    <m:r>
                      <m:rPr>
                        <m:sty m:val="p"/>
                      </m:rPr>
                      <a:rPr lang="el-GR" sz="2000" i="1" dirty="0" smtClean="0">
                        <a:latin typeface="Cambria Math" panose="02040503050406030204" pitchFamily="18" charset="0"/>
                        <a:ea typeface="Cambria Math" panose="02040503050406030204" pitchFamily="18" charset="0"/>
                      </a:rPr>
                      <m:t>α</m:t>
                    </m:r>
                  </m:oMath>
                </a14:m>
                <a:r>
                  <a:rPr lang="en-US" sz="2000" dirty="0">
                    <a:latin typeface="Arial" panose="020B0604020202020204" pitchFamily="34" charset="0"/>
                    <a:cs typeface="Arial" panose="020B0604020202020204" pitchFamily="34" charset="0"/>
                  </a:rPr>
                  <a:t> as the </a:t>
                </a:r>
                <a:r>
                  <a:rPr lang="en-US" sz="2000" b="1" dirty="0">
                    <a:latin typeface="Arial" panose="020B0604020202020204" pitchFamily="34" charset="0"/>
                    <a:cs typeface="Arial" panose="020B0604020202020204" pitchFamily="34" charset="0"/>
                  </a:rPr>
                  <a:t>comparison</a:t>
                </a:r>
                <a:r>
                  <a:rPr lang="en-US" sz="2000" b="1" dirty="0">
                    <a:solidFill>
                      <a:srgbClr val="FF0000"/>
                    </a:solidFill>
                    <a:latin typeface="Arial" panose="020B0604020202020204" pitchFamily="34" charset="0"/>
                    <a:cs typeface="Arial" panose="020B0604020202020204" pitchFamily="34" charset="0"/>
                  </a:rPr>
                  <a:t>-</a:t>
                </a:r>
                <a:r>
                  <a:rPr lang="en-US" sz="2000" b="1" dirty="0">
                    <a:latin typeface="Arial" panose="020B0604020202020204" pitchFamily="34" charset="0"/>
                    <a:cs typeface="Arial" panose="020B0604020202020204" pitchFamily="34" charset="0"/>
                  </a:rPr>
                  <a:t>wise Type I error rate </a:t>
                </a:r>
                <a:r>
                  <a:rPr lang="en-US" sz="2000" dirty="0">
                    <a:latin typeface="Arial" panose="020B0604020202020204" pitchFamily="34" charset="0"/>
                    <a:cs typeface="Arial" panose="020B0604020202020204" pitchFamily="34" charset="0"/>
                  </a:rPr>
                  <a:t>associated with a single pairwise comparison.</a:t>
                </a:r>
              </a:p>
              <a:p>
                <a:pPr>
                  <a:spcBef>
                    <a:spcPts val="600"/>
                  </a:spcBef>
                  <a:spcAft>
                    <a:spcPts val="600"/>
                  </a:spcAft>
                </a:pPr>
                <a:r>
                  <a:rPr lang="en-US" sz="2000" dirty="0">
                    <a:latin typeface="Arial" panose="020B0604020202020204" pitchFamily="34" charset="0"/>
                    <a:cs typeface="Arial" panose="020B0604020202020204" pitchFamily="34" charset="0"/>
                  </a:rPr>
                  <a:t>However, in an experiment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𝑘</m:t>
                    </m:r>
                  </m:oMath>
                </a14:m>
                <a:r>
                  <a:rPr lang="en-US" sz="2000" dirty="0">
                    <a:latin typeface="Arial" panose="020B0604020202020204" pitchFamily="34" charset="0"/>
                    <a:cs typeface="Arial" panose="020B0604020202020204" pitchFamily="34" charset="0"/>
                  </a:rPr>
                  <a:t> treatments, the number of </a:t>
                </a:r>
                <a14:m>
                  <m:oMath xmlns:m="http://schemas.openxmlformats.org/officeDocument/2006/math">
                    <m:r>
                      <a:rPr lang="en-US" sz="2000" i="1" dirty="0" smtClean="0">
                        <a:latin typeface="Cambria Math" panose="02040503050406030204" pitchFamily="18" charset="0"/>
                        <a:cs typeface="Arial" panose="020B0604020202020204" pitchFamily="34" charset="0"/>
                      </a:rPr>
                      <m:t>𝐶</m:t>
                    </m:r>
                  </m:oMath>
                </a14:m>
                <a:r>
                  <a:rPr lang="en-US" sz="2000" dirty="0">
                    <a:latin typeface="Arial" panose="020B0604020202020204" pitchFamily="34" charset="0"/>
                    <a:cs typeface="Arial" panose="020B0604020202020204" pitchFamily="34" charset="0"/>
                  </a:rPr>
                  <a:t> pairwise comparisons is given by the number of combinations of </a:t>
                </a:r>
                <a14:m>
                  <m:oMath xmlns:m="http://schemas.openxmlformats.org/officeDocument/2006/math">
                    <m:r>
                      <a:rPr lang="en-US" sz="2000" i="1" dirty="0" smtClean="0">
                        <a:latin typeface="Cambria Math" panose="02040503050406030204" pitchFamily="18" charset="0"/>
                        <a:cs typeface="Arial" panose="020B0604020202020204" pitchFamily="34" charset="0"/>
                      </a:rPr>
                      <m:t>𝑘</m:t>
                    </m:r>
                  </m:oMath>
                </a14:m>
                <a:r>
                  <a:rPr lang="en-US" sz="2000" dirty="0">
                    <a:latin typeface="Arial" panose="020B0604020202020204" pitchFamily="34" charset="0"/>
                    <a:cs typeface="Arial" panose="020B0604020202020204" pitchFamily="34" charset="0"/>
                  </a:rPr>
                  <a:t> treatments taken 2 at a time, as seen in Chapter 4.</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𝐶</m:t>
                      </m:r>
                      <m:r>
                        <a:rPr lang="en-US" sz="2000" b="0" i="1" smtClean="0">
                          <a:latin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a:rPr lang="en-US" sz="2000" b="0" i="1">
                              <a:latin typeface="Cambria Math" panose="02040503050406030204" pitchFamily="18" charset="0"/>
                            </a:rPr>
                            <m:t>𝐶</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𝑘</m:t>
                          </m:r>
                        </m:sup>
                      </m:sSubSup>
                      <m:r>
                        <a:rPr lang="en-US" sz="2000" b="0" i="1">
                          <a:latin typeface="Cambria Math" panose="02040503050406030204" pitchFamily="18" charset="0"/>
                        </a:rPr>
                        <m:t>=</m:t>
                      </m:r>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𝑘</m:t>
                              </m:r>
                            </m:num>
                            <m:den>
                              <m:r>
                                <a:rPr lang="en-US" sz="2000" b="0" i="1" smtClean="0">
                                  <a:latin typeface="Cambria Math" panose="02040503050406030204" pitchFamily="18" charset="0"/>
                                </a:rPr>
                                <m:t>2</m:t>
                              </m:r>
                            </m:den>
                          </m:f>
                        </m:e>
                      </m:d>
                      <m:r>
                        <a:rPr lang="en-US" sz="2000" b="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𝑘</m:t>
                          </m:r>
                          <m:r>
                            <a:rPr lang="en-US" sz="2000" b="0" i="1">
                              <a:latin typeface="Cambria Math" panose="02040503050406030204" pitchFamily="18" charset="0"/>
                            </a:rPr>
                            <m:t>!</m:t>
                          </m:r>
                        </m:num>
                        <m:den>
                          <m:r>
                            <a:rPr lang="en-US" sz="2000" b="0" i="1" smtClean="0">
                              <a:latin typeface="Cambria Math" panose="02040503050406030204" pitchFamily="18" charset="0"/>
                            </a:rPr>
                            <m:t>2</m:t>
                          </m:r>
                          <m:r>
                            <a:rPr lang="en-US" sz="2000" b="0" i="1">
                              <a:latin typeface="Cambria Math" panose="02040503050406030204" pitchFamily="18" charset="0"/>
                            </a:rPr>
                            <m:t>!</m:t>
                          </m:r>
                          <m:d>
                            <m:dPr>
                              <m:ctrlPr>
                                <a:rPr lang="en-US" sz="2000" b="0" i="1">
                                  <a:latin typeface="Cambria Math" panose="02040503050406030204" pitchFamily="18" charset="0"/>
                                </a:rPr>
                              </m:ctrlPr>
                            </m:dPr>
                            <m:e>
                              <m:r>
                                <a:rPr lang="en-US" sz="2000" b="0" i="1" smtClean="0">
                                  <a:latin typeface="Cambria Math" panose="02040503050406030204" pitchFamily="18" charset="0"/>
                                </a:rPr>
                                <m:t>𝑘</m:t>
                              </m:r>
                              <m:r>
                                <a:rPr lang="en-US" sz="2000" b="0" i="1">
                                  <a:latin typeface="Cambria Math" panose="02040503050406030204" pitchFamily="18" charset="0"/>
                                </a:rPr>
                                <m:t>−</m:t>
                              </m:r>
                              <m:r>
                                <a:rPr lang="en-US" sz="2000" b="0" i="1" smtClean="0">
                                  <a:latin typeface="Cambria Math" panose="02040503050406030204" pitchFamily="18" charset="0"/>
                                </a:rPr>
                                <m:t>2</m:t>
                              </m:r>
                            </m:e>
                          </m:d>
                          <m:r>
                            <a:rPr lang="en-US" sz="2000" b="0" i="1" smtClean="0">
                              <a:latin typeface="Cambria Math" panose="02040503050406030204" pitchFamily="18" charset="0"/>
                            </a:rPr>
                            <m:t>!</m:t>
                          </m:r>
                        </m:den>
                      </m:f>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Thus, the probability of making at least a Type I error for one of the pairwise comparisons is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𝛼</m:t>
                          </m:r>
                        </m:e>
                        <m:sub>
                          <m:r>
                            <a:rPr lang="en-US" sz="2000" b="0" i="1" smtClean="0">
                              <a:latin typeface="Cambria Math" panose="02040503050406030204" pitchFamily="18" charset="0"/>
                              <a:cs typeface="Arial" panose="020B0604020202020204" pitchFamily="34" charset="0"/>
                            </a:rPr>
                            <m:t>𝑒𝑤</m:t>
                          </m:r>
                        </m:sub>
                      </m:sSub>
                      <m:r>
                        <a:rPr lang="en-US" sz="2000" b="0" i="1" smtClean="0">
                          <a:latin typeface="Cambria Math" panose="02040503050406030204" pitchFamily="18" charset="0"/>
                          <a:cs typeface="Arial" panose="020B0604020202020204" pitchFamily="34" charset="0"/>
                        </a:rPr>
                        <m:t>=1−</m:t>
                      </m:r>
                      <m:sSup>
                        <m:sSupPr>
                          <m:ctrlPr>
                            <a:rPr lang="en-US" sz="2000" b="0" i="1" smtClean="0">
                              <a:latin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e>
                          </m:d>
                        </m:e>
                        <m:sup>
                          <m:r>
                            <a:rPr lang="en-US" sz="2000" b="0" i="1" smtClean="0">
                              <a:latin typeface="Cambria Math" panose="02040503050406030204" pitchFamily="18" charset="0"/>
                              <a:cs typeface="Arial" panose="020B0604020202020204" pitchFamily="34" charset="0"/>
                            </a:rPr>
                            <m:t>𝐶</m:t>
                          </m:r>
                        </m:sup>
                      </m:sSup>
                    </m:oMath>
                  </m:oMathPara>
                </a14:m>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We refer to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𝛼</m:t>
                        </m:r>
                      </m:e>
                      <m:sub>
                        <m:r>
                          <a:rPr lang="en-US" sz="2000" b="0" i="1" smtClean="0">
                            <a:latin typeface="Cambria Math" panose="02040503050406030204" pitchFamily="18" charset="0"/>
                            <a:cs typeface="Arial" panose="020B0604020202020204" pitchFamily="34" charset="0"/>
                          </a:rPr>
                          <m:t>𝑒𝑤</m:t>
                        </m:r>
                      </m:sub>
                    </m:sSub>
                  </m:oMath>
                </a14:m>
                <a:r>
                  <a:rPr lang="en-US" sz="2000" dirty="0">
                    <a:latin typeface="Arial" panose="020B0604020202020204" pitchFamily="34" charset="0"/>
                    <a:cs typeface="Arial" panose="020B0604020202020204" pitchFamily="34" charset="0"/>
                  </a:rPr>
                  <a:t> as the </a:t>
                </a:r>
                <a:r>
                  <a:rPr lang="en-US" sz="2000" b="1" dirty="0">
                    <a:latin typeface="Arial" panose="020B0604020202020204" pitchFamily="34" charset="0"/>
                    <a:cs typeface="Arial" panose="020B0604020202020204" pitchFamily="34" charset="0"/>
                  </a:rPr>
                  <a:t>experiment</a:t>
                </a:r>
                <a:r>
                  <a:rPr lang="en-US" sz="2000" b="1" dirty="0">
                    <a:solidFill>
                      <a:srgbClr val="FF0000"/>
                    </a:solidFill>
                    <a:latin typeface="Arial" panose="020B0604020202020204" pitchFamily="34" charset="0"/>
                    <a:cs typeface="Arial" panose="020B0604020202020204" pitchFamily="34" charset="0"/>
                  </a:rPr>
                  <a:t>-</a:t>
                </a:r>
                <a:r>
                  <a:rPr lang="en-US" sz="2000" b="1" dirty="0">
                    <a:latin typeface="Arial" panose="020B0604020202020204" pitchFamily="34" charset="0"/>
                    <a:cs typeface="Arial" panose="020B0604020202020204" pitchFamily="34" charset="0"/>
                  </a:rPr>
                  <a:t>wise Type I error rate</a:t>
                </a:r>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64627" y="1330711"/>
                <a:ext cx="10594432" cy="4460489"/>
              </a:xfrm>
              <a:blipFill>
                <a:blip r:embed="rId3"/>
                <a:stretch>
                  <a:fillRect l="-1438" t="-1639" r="-921" b="-2732"/>
                </a:stretch>
              </a:blipFill>
            </p:spPr>
            <p:txBody>
              <a:bodyPr/>
              <a:lstStyle/>
              <a:p>
                <a:r>
                  <a:rPr lang="en-US">
                    <a:noFill/>
                  </a:rPr>
                  <a:t> </a:t>
                </a:r>
              </a:p>
            </p:txBody>
          </p:sp>
        </mc:Fallback>
      </mc:AlternateContent>
    </p:spTree>
    <p:extLst>
      <p:ext uri="{BB962C8B-B14F-4D97-AF65-F5344CB8AC3E}">
        <p14:creationId xmlns:p14="http://schemas.microsoft.com/office/powerpoint/2010/main" val="3833040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19929" y="365125"/>
            <a:ext cx="10917357" cy="672105"/>
          </a:xfrm>
        </p:spPr>
        <p:txBody>
          <a:bodyPr/>
          <a:lstStyle/>
          <a:p>
            <a:r>
              <a:rPr lang="en-US" dirty="0"/>
              <a:t>13.3 Type I Error Rates for the Chemitech Experiment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64627" y="1317357"/>
                <a:ext cx="10594432" cy="4556502"/>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In the Chemitech example, with </a:t>
                </a:r>
                <a14:m>
                  <m:oMath xmlns:m="http://schemas.openxmlformats.org/officeDocument/2006/math">
                    <m:r>
                      <a:rPr lang="en-US" sz="2000" b="0" i="1" dirty="0" smtClean="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=3</m:t>
                    </m:r>
                  </m:oMath>
                </a14:m>
                <a:r>
                  <a:rPr lang="en-US" sz="2000" dirty="0">
                    <a:latin typeface="Arial" panose="020B0604020202020204" pitchFamily="34" charset="0"/>
                    <a:cs typeface="Arial" panose="020B0604020202020204" pitchFamily="34" charset="0"/>
                  </a:rPr>
                  <a:t> treatments,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dirty="0">
                          <a:latin typeface="Cambria Math" panose="02040503050406030204" pitchFamily="18" charset="0"/>
                          <a:cs typeface="Arial" panose="020B0604020202020204" pitchFamily="34" charset="0"/>
                        </a:rPr>
                        <m:t>𝐶</m:t>
                      </m:r>
                      <m:r>
                        <a:rPr lang="en-US" sz="2000" i="1" dirty="0">
                          <a:latin typeface="Cambria Math" panose="02040503050406030204" pitchFamily="18" charset="0"/>
                          <a:cs typeface="Arial" panose="020B0604020202020204" pitchFamily="34" charset="0"/>
                        </a:rPr>
                        <m:t>=</m:t>
                      </m:r>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3</m:t>
                              </m:r>
                            </m:num>
                            <m:den>
                              <m:r>
                                <a:rPr lang="en-US" sz="2000" i="1">
                                  <a:latin typeface="Cambria Math" panose="02040503050406030204" pitchFamily="18" charset="0"/>
                                </a:rPr>
                                <m:t>2</m:t>
                              </m:r>
                            </m:den>
                          </m:f>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3</m:t>
                          </m:r>
                          <m:r>
                            <a:rPr lang="en-US" sz="2000" i="1">
                              <a:latin typeface="Cambria Math" panose="02040503050406030204" pitchFamily="18" charset="0"/>
                            </a:rPr>
                            <m:t>!</m:t>
                          </m:r>
                        </m:num>
                        <m:den>
                          <m:r>
                            <a:rPr lang="en-US" sz="2000" i="1">
                              <a:latin typeface="Cambria Math" panose="02040503050406030204" pitchFamily="18" charset="0"/>
                            </a:rPr>
                            <m:t>2!</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−2</m:t>
                              </m:r>
                            </m:e>
                          </m:d>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6</m:t>
                          </m:r>
                        </m:num>
                        <m:den>
                          <m:r>
                            <a:rPr lang="en-US" sz="2000" b="0" i="1" smtClean="0">
                              <a:latin typeface="Cambria Math" panose="02040503050406030204" pitchFamily="18" charset="0"/>
                            </a:rPr>
                            <m:t>(2)(1)</m:t>
                          </m:r>
                        </m:den>
                      </m:f>
                      <m:r>
                        <a:rPr lang="en-US" sz="2000" b="0" i="1" smtClean="0">
                          <a:latin typeface="Cambria Math" panose="02040503050406030204" pitchFamily="18" charset="0"/>
                        </a:rPr>
                        <m:t>=3 </m:t>
                      </m:r>
                      <m:r>
                        <m:rPr>
                          <m:nor/>
                        </m:rPr>
                        <a:rPr lang="en-US" sz="2000" b="0" i="0" smtClean="0">
                          <a:latin typeface="Arial" panose="020B0604020202020204" pitchFamily="34" charset="0"/>
                          <a:cs typeface="Arial" panose="020B0604020202020204" pitchFamily="34" charset="0"/>
                        </a:rPr>
                        <m:t>combinations</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and</a:t>
                </a:r>
              </a:p>
              <a:p>
                <a:pPr marL="914400">
                  <a:spcBef>
                    <a:spcPts val="600"/>
                  </a:spcBef>
                  <a:spcAft>
                    <a:spcPts val="600"/>
                  </a:spcAft>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𝛼</m:t>
                        </m:r>
                      </m:e>
                      <m:sub>
                        <m:r>
                          <a:rPr lang="en-US" sz="2000" b="0" i="1" smtClean="0">
                            <a:latin typeface="Cambria Math" panose="02040503050406030204" pitchFamily="18" charset="0"/>
                            <a:cs typeface="Arial" panose="020B0604020202020204" pitchFamily="34" charset="0"/>
                          </a:rPr>
                          <m:t>𝑒𝑤</m:t>
                        </m:r>
                      </m:sub>
                    </m:sSub>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ea typeface="Cambria Math" panose="02040503050406030204" pitchFamily="18" charset="0"/>
                                <a:cs typeface="Arial" panose="020B0604020202020204" pitchFamily="34" charset="0"/>
                              </a:rPr>
                              <m:t>𝛼</m:t>
                            </m:r>
                          </m:e>
                        </m:d>
                      </m:e>
                      <m:sup>
                        <m:r>
                          <a:rPr lang="en-US" sz="2000" i="1">
                            <a:latin typeface="Cambria Math" panose="02040503050406030204" pitchFamily="18" charset="0"/>
                            <a:cs typeface="Arial" panose="020B0604020202020204" pitchFamily="34" charset="0"/>
                          </a:rPr>
                          <m:t>𝐶</m:t>
                        </m:r>
                      </m:sup>
                    </m:sSup>
                    <m:r>
                      <a:rPr lang="en-US" sz="2000" b="0" i="1" smtClean="0">
                        <a:latin typeface="Cambria Math" panose="02040503050406030204" pitchFamily="18" charset="0"/>
                        <a:cs typeface="Arial" panose="020B0604020202020204" pitchFamily="34" charset="0"/>
                      </a:rPr>
                      <m:t>=1−</m:t>
                    </m:r>
                    <m:sSup>
                      <m:sSupPr>
                        <m:ctrlPr>
                          <a:rPr lang="en-US" sz="2000" b="0" i="1" smtClean="0">
                            <a:latin typeface="Cambria Math" panose="02040503050406030204" pitchFamily="18" charset="0"/>
                            <a:cs typeface="Arial" panose="020B0604020202020204" pitchFamily="34" charset="0"/>
                          </a:rPr>
                        </m:ctrlPr>
                      </m:sSupPr>
                      <m:e>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1−0.05</m:t>
                            </m:r>
                          </m:e>
                        </m:d>
                      </m:e>
                      <m:sup>
                        <m:r>
                          <a:rPr lang="en-US" sz="2000" b="0" i="1" smtClean="0">
                            <a:latin typeface="Cambria Math" panose="02040503050406030204" pitchFamily="18" charset="0"/>
                            <a:cs typeface="Arial" panose="020B0604020202020204" pitchFamily="34" charset="0"/>
                          </a:rPr>
                          <m:t>3</m:t>
                        </m:r>
                      </m:sup>
                    </m:sSup>
                    <m:r>
                      <a:rPr lang="en-US" sz="2000" b="0" i="1" smtClean="0">
                        <a:latin typeface="Cambria Math" panose="02040503050406030204" pitchFamily="18" charset="0"/>
                        <a:cs typeface="Arial" panose="020B0604020202020204" pitchFamily="34" charset="0"/>
                      </a:rPr>
                      <m:t>=0.143</m:t>
                    </m:r>
                  </m:oMath>
                </a14:m>
                <a:r>
                  <a:rPr lang="en-US" sz="2000"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It should be noted that the experiment</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wise Type I error rate gets considerably larger for problems with more populations. </a:t>
                </a:r>
              </a:p>
              <a:p>
                <a:pPr>
                  <a:spcBef>
                    <a:spcPts val="600"/>
                  </a:spcBef>
                  <a:spcAft>
                    <a:spcPts val="600"/>
                  </a:spcAft>
                </a:pPr>
                <a:r>
                  <a:rPr lang="en-US" sz="2000" dirty="0">
                    <a:latin typeface="Arial" panose="020B0604020202020204" pitchFamily="34" charset="0"/>
                    <a:cs typeface="Arial" panose="020B0604020202020204" pitchFamily="34" charset="0"/>
                  </a:rPr>
                  <a:t>For example, with </a:t>
                </a:r>
                <a14:m>
                  <m:oMath xmlns:m="http://schemas.openxmlformats.org/officeDocument/2006/math">
                    <m:r>
                      <m:rPr>
                        <m:sty m:val="p"/>
                      </m:rPr>
                      <a:rPr lang="en-US" sz="2000" dirty="0">
                        <a:latin typeface="Cambria Math" panose="02040503050406030204" pitchFamily="18" charset="0"/>
                        <a:cs typeface="Arial" panose="020B0604020202020204" pitchFamily="34" charset="0"/>
                      </a:rPr>
                      <m:t>k</m:t>
                    </m:r>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4</m:t>
                    </m:r>
                  </m:oMath>
                </a14:m>
                <a:r>
                  <a:rPr lang="en-US" sz="2000" dirty="0">
                    <a:latin typeface="Arial" panose="020B0604020202020204" pitchFamily="34" charset="0"/>
                    <a:cs typeface="Arial" panose="020B0604020202020204" pitchFamily="34" charset="0"/>
                  </a:rPr>
                  <a:t> treatments, we would have </a:t>
                </a:r>
                <a14:m>
                  <m:oMath xmlns:m="http://schemas.openxmlformats.org/officeDocument/2006/math">
                    <m:r>
                      <a:rPr lang="en-US" sz="2000" i="1" dirty="0">
                        <a:latin typeface="Cambria Math" panose="02040503050406030204" pitchFamily="18" charset="0"/>
                        <a:cs typeface="Arial" panose="020B0604020202020204" pitchFamily="34" charset="0"/>
                      </a:rPr>
                      <m:t>𝐶</m:t>
                    </m:r>
                    <m:r>
                      <a:rPr lang="en-US" sz="2000" i="1" dirty="0">
                        <a:latin typeface="Cambria Math" panose="02040503050406030204" pitchFamily="18" charset="0"/>
                        <a:cs typeface="Arial" panose="020B0604020202020204" pitchFamily="34" charset="0"/>
                      </a:rPr>
                      <m:t>=6 </m:t>
                    </m:r>
                  </m:oMath>
                </a14:m>
                <a:r>
                  <a:rPr lang="en-US" sz="2000" dirty="0">
                    <a:latin typeface="Arial" panose="020B0604020202020204" pitchFamily="34" charset="0"/>
                    <a:cs typeface="Arial" panose="020B0604020202020204" pitchFamily="34" charset="0"/>
                  </a:rPr>
                  <a:t>combinations, and</a:t>
                </a:r>
              </a:p>
              <a:p>
                <a:pPr marL="914400">
                  <a:spcBef>
                    <a:spcPts val="600"/>
                  </a:spcBef>
                  <a:spcAft>
                    <a:spcPts val="600"/>
                  </a:spcAft>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𝛼</m:t>
                        </m:r>
                      </m:e>
                      <m:sub>
                        <m:r>
                          <a:rPr lang="en-US" sz="2000" i="1">
                            <a:latin typeface="Cambria Math" panose="02040503050406030204" pitchFamily="18" charset="0"/>
                            <a:cs typeface="Arial" panose="020B0604020202020204" pitchFamily="34" charset="0"/>
                          </a:rPr>
                          <m:t>𝑒𝑤</m:t>
                        </m:r>
                      </m:sub>
                    </m:sSub>
                    <m:r>
                      <a:rPr lang="en-US" sz="2000" i="1">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1−0.05</m:t>
                            </m:r>
                          </m:e>
                        </m:d>
                      </m:e>
                      <m:sup>
                        <m:r>
                          <a:rPr lang="en-US" sz="2000" b="0" i="1" smtClean="0">
                            <a:latin typeface="Cambria Math" panose="02040503050406030204" pitchFamily="18" charset="0"/>
                            <a:cs typeface="Arial" panose="020B0604020202020204" pitchFamily="34" charset="0"/>
                          </a:rPr>
                          <m:t>6</m:t>
                        </m:r>
                      </m:sup>
                    </m:sSup>
                    <m:r>
                      <a:rPr lang="en-US" sz="2000" i="1">
                        <a:latin typeface="Cambria Math" panose="02040503050406030204" pitchFamily="18" charset="0"/>
                        <a:cs typeface="Arial" panose="020B0604020202020204" pitchFamily="34" charset="0"/>
                      </a:rPr>
                      <m:t>=</m:t>
                    </m:r>
                    <m:r>
                      <a:rPr lang="en-US" sz="2000" b="0" i="0" smtClean="0">
                        <a:latin typeface="Cambria Math" panose="02040503050406030204" pitchFamily="18" charset="0"/>
                        <a:cs typeface="Arial" panose="020B0604020202020204" pitchFamily="34" charset="0"/>
                      </a:rPr>
                      <m:t>0.265</m:t>
                    </m:r>
                  </m:oMath>
                </a14:m>
                <a:r>
                  <a:rPr lang="en-US" sz="2000" dirty="0">
                    <a:latin typeface="Arial" panose="020B0604020202020204" pitchFamily="34" charset="0"/>
                    <a:cs typeface="Arial" panose="020B0604020202020204" pitchFamily="34" charset="0"/>
                  </a:rPr>
                  <a:t> </a:t>
                </a:r>
              </a:p>
              <a:p>
                <a:pPr>
                  <a:spcBef>
                    <a:spcPts val="600"/>
                  </a:spcBef>
                  <a:spcAft>
                    <a:spcPts val="600"/>
                  </a:spcAft>
                </a:pPr>
                <a:r>
                  <a:rPr lang="en-US" sz="2000" dirty="0">
                    <a:latin typeface="Arial" panose="020B0604020202020204" pitchFamily="34" charset="0"/>
                    <a:cs typeface="Arial" panose="020B0604020202020204" pitchFamily="34" charset="0"/>
                  </a:rPr>
                  <a:t>And with </a:t>
                </a:r>
                <a14:m>
                  <m:oMath xmlns:m="http://schemas.openxmlformats.org/officeDocument/2006/math">
                    <m:r>
                      <m:rPr>
                        <m:sty m:val="p"/>
                      </m:rPr>
                      <a:rPr lang="en-US" sz="2000" dirty="0">
                        <a:latin typeface="Cambria Math" panose="02040503050406030204" pitchFamily="18" charset="0"/>
                        <a:cs typeface="Arial" panose="020B0604020202020204" pitchFamily="34" charset="0"/>
                      </a:rPr>
                      <m:t>k</m:t>
                    </m:r>
                    <m:r>
                      <a:rPr lang="en-US" sz="200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5</m:t>
                    </m:r>
                  </m:oMath>
                </a14:m>
                <a:r>
                  <a:rPr lang="en-US" sz="2000" dirty="0">
                    <a:latin typeface="Arial" panose="020B0604020202020204" pitchFamily="34" charset="0"/>
                    <a:cs typeface="Arial" panose="020B0604020202020204" pitchFamily="34" charset="0"/>
                  </a:rPr>
                  <a:t> treatments, we would have </a:t>
                </a:r>
                <a14:m>
                  <m:oMath xmlns:m="http://schemas.openxmlformats.org/officeDocument/2006/math">
                    <m:r>
                      <a:rPr lang="en-US" sz="2000" i="1" dirty="0">
                        <a:latin typeface="Cambria Math" panose="02040503050406030204" pitchFamily="18" charset="0"/>
                        <a:cs typeface="Arial" panose="020B0604020202020204" pitchFamily="34" charset="0"/>
                      </a:rPr>
                      <m:t>𝐶</m:t>
                    </m:r>
                    <m:r>
                      <a:rPr lang="en-US" sz="2000" i="1" dirty="0">
                        <a:latin typeface="Cambria Math" panose="02040503050406030204" pitchFamily="18" charset="0"/>
                        <a:cs typeface="Arial" panose="020B0604020202020204" pitchFamily="34" charset="0"/>
                      </a:rPr>
                      <m:t>=10</m:t>
                    </m:r>
                  </m:oMath>
                </a14:m>
                <a:r>
                  <a:rPr lang="en-US" sz="2000" dirty="0">
                    <a:latin typeface="Arial" panose="020B0604020202020204" pitchFamily="34" charset="0"/>
                    <a:cs typeface="Arial" panose="020B0604020202020204" pitchFamily="34" charset="0"/>
                  </a:rPr>
                  <a:t> combinations, and</a:t>
                </a:r>
              </a:p>
              <a:p>
                <a:pPr marL="914400">
                  <a:spcBef>
                    <a:spcPts val="600"/>
                  </a:spcBef>
                  <a:spcAft>
                    <a:spcPts val="0"/>
                  </a:spcAft>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𝛼</m:t>
                        </m:r>
                      </m:e>
                      <m:sub>
                        <m:r>
                          <a:rPr lang="en-US" sz="2000" i="1">
                            <a:latin typeface="Cambria Math" panose="02040503050406030204" pitchFamily="18" charset="0"/>
                            <a:cs typeface="Arial" panose="020B0604020202020204" pitchFamily="34" charset="0"/>
                          </a:rPr>
                          <m:t>𝑒𝑤</m:t>
                        </m:r>
                      </m:sub>
                    </m:sSub>
                    <m:r>
                      <a:rPr lang="en-US" sz="2000" i="1">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1−0.05</m:t>
                            </m:r>
                          </m:e>
                        </m:d>
                      </m:e>
                      <m:sup>
                        <m:r>
                          <a:rPr lang="en-US" sz="2000" b="0" i="1" smtClean="0">
                            <a:latin typeface="Cambria Math" panose="02040503050406030204" pitchFamily="18" charset="0"/>
                            <a:cs typeface="Arial" panose="020B0604020202020204" pitchFamily="34" charset="0"/>
                          </a:rPr>
                          <m:t>10</m:t>
                        </m:r>
                      </m:sup>
                    </m:sSup>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0.401</m:t>
                    </m:r>
                  </m:oMath>
                </a14:m>
                <a:r>
                  <a:rPr lang="en-US" sz="2000" dirty="0">
                    <a:latin typeface="Arial" panose="020B0604020202020204" pitchFamily="34" charset="0"/>
                    <a:cs typeface="Arial" panose="020B0604020202020204" pitchFamily="34" charset="0"/>
                  </a:rPr>
                  <a:t> </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64627" y="1317357"/>
                <a:ext cx="10594432" cy="4556502"/>
              </a:xfrm>
              <a:blipFill>
                <a:blip r:embed="rId3"/>
                <a:stretch>
                  <a:fillRect l="-1438" t="-1604"/>
                </a:stretch>
              </a:blipFill>
            </p:spPr>
            <p:txBody>
              <a:bodyPr/>
              <a:lstStyle/>
              <a:p>
                <a:r>
                  <a:rPr lang="en-US">
                    <a:noFill/>
                  </a:rPr>
                  <a:t> </a:t>
                </a:r>
              </a:p>
            </p:txBody>
          </p:sp>
        </mc:Fallback>
      </mc:AlternateContent>
    </p:spTree>
    <p:extLst>
      <p:ext uri="{BB962C8B-B14F-4D97-AF65-F5344CB8AC3E}">
        <p14:creationId xmlns:p14="http://schemas.microsoft.com/office/powerpoint/2010/main" val="1478002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t>13.3 Bonferroni Adjustment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64627" y="1340602"/>
                <a:ext cx="10594432" cy="4308529"/>
              </a:xfrm>
            </p:spPr>
            <p:txBody>
              <a:bodyPr/>
              <a:lstStyle/>
              <a:p>
                <a:pPr>
                  <a:spcAft>
                    <a:spcPts val="0"/>
                  </a:spcAft>
                </a:pPr>
                <a:r>
                  <a:rPr lang="en-US" sz="2000" dirty="0">
                    <a:latin typeface="Arial" panose="020B0604020202020204" pitchFamily="34" charset="0"/>
                    <a:cs typeface="Arial" panose="020B0604020202020204" pitchFamily="34" charset="0"/>
                  </a:rPr>
                  <a:t>The Bonferroni adjustment allows to control the overall experiment</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wise error rate using a smaller comparison</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wise error rate for each test, calculated as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𝐶</m:t>
                    </m:r>
                  </m:oMath>
                </a14:m>
                <a:r>
                  <a:rPr lang="en-US" sz="2000" dirty="0">
                    <a:latin typeface="Arial" panose="020B0604020202020204" pitchFamily="34" charset="0"/>
                    <a:cs typeface="Arial" panose="020B0604020202020204" pitchFamily="34" charset="0"/>
                  </a:rPr>
                  <a:t>, where </a:t>
                </a:r>
                <a:r>
                  <a:rPr lang="en-US" sz="2000" i="1" dirty="0">
                    <a:latin typeface="Arial" panose="020B0604020202020204" pitchFamily="34" charset="0"/>
                    <a:cs typeface="Arial" panose="020B0604020202020204" pitchFamily="34" charset="0"/>
                  </a:rPr>
                  <a:t>C</a:t>
                </a:r>
                <a:r>
                  <a:rPr lang="en-US" sz="2000" dirty="0">
                    <a:latin typeface="Arial" panose="020B0604020202020204" pitchFamily="34" charset="0"/>
                    <a:cs typeface="Arial" panose="020B0604020202020204" pitchFamily="34" charset="0"/>
                  </a:rPr>
                  <a:t> is the number of pairwise comparisons.</a:t>
                </a:r>
              </a:p>
              <a:p>
                <a:pPr>
                  <a:spcAft>
                    <a:spcPts val="0"/>
                  </a:spcAft>
                </a:pPr>
                <a:r>
                  <a:rPr lang="en-US" sz="2000" dirty="0">
                    <a:latin typeface="Arial" panose="020B0604020202020204" pitchFamily="34" charset="0"/>
                    <a:cs typeface="Arial" panose="020B0604020202020204" pitchFamily="34" charset="0"/>
                  </a:rPr>
                  <a:t>For example, in the Chemitech example, </a:t>
                </a:r>
                <a14:m>
                  <m:oMath xmlns:m="http://schemas.openxmlformats.org/officeDocument/2006/math">
                    <m:f>
                      <m:fPr>
                        <m:type m:val="lin"/>
                        <m:ctrlPr>
                          <a:rPr lang="en-US" sz="2000" i="1" smtClean="0">
                            <a:latin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𝐶</m:t>
                        </m:r>
                      </m:den>
                    </m:f>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0.05</m:t>
                        </m:r>
                      </m:num>
                      <m:den>
                        <m:r>
                          <a:rPr lang="en-US" sz="2000" b="0" i="1" smtClean="0">
                            <a:latin typeface="Cambria Math" panose="02040503050406030204" pitchFamily="18" charset="0"/>
                            <a:cs typeface="Arial" panose="020B0604020202020204" pitchFamily="34" charset="0"/>
                          </a:rPr>
                          <m:t>3</m:t>
                        </m:r>
                      </m:den>
                    </m:f>
                    <m:r>
                      <a:rPr lang="en-US" sz="2000" b="0" i="1" smtClean="0">
                        <a:latin typeface="Cambria Math" panose="02040503050406030204" pitchFamily="18" charset="0"/>
                        <a:cs typeface="Arial" panose="020B0604020202020204" pitchFamily="34" charset="0"/>
                      </a:rPr>
                      <m:t>=0.017</m:t>
                    </m:r>
                  </m:oMath>
                </a14:m>
                <a:r>
                  <a:rPr lang="en-US" sz="2000" dirty="0">
                    <a:latin typeface="Arial" panose="020B0604020202020204" pitchFamily="34" charset="0"/>
                    <a:cs typeface="Arial" panose="020B0604020202020204" pitchFamily="34" charset="0"/>
                  </a:rPr>
                  <a:t>. Thus, the experiment</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wise error rate would decrease to: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𝛼</m:t>
                        </m:r>
                      </m:e>
                      <m:sub>
                        <m:r>
                          <a:rPr lang="en-US" sz="2000" i="1">
                            <a:latin typeface="Cambria Math" panose="02040503050406030204" pitchFamily="18" charset="0"/>
                            <a:cs typeface="Arial" panose="020B0604020202020204" pitchFamily="34" charset="0"/>
                          </a:rPr>
                          <m:t>𝑒𝑤</m:t>
                        </m:r>
                      </m:sub>
                    </m:sSub>
                    <m:r>
                      <a:rPr lang="en-US" sz="2000" i="1">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1−0.05</m:t>
                            </m:r>
                            <m:r>
                              <a:rPr lang="en-US" sz="2000" b="0" i="1" smtClean="0">
                                <a:latin typeface="Cambria Math" panose="02040503050406030204" pitchFamily="18" charset="0"/>
                                <a:cs typeface="Arial" panose="020B0604020202020204" pitchFamily="34" charset="0"/>
                              </a:rPr>
                              <m:t>/3</m:t>
                            </m:r>
                          </m:e>
                        </m:d>
                      </m:e>
                      <m:sup>
                        <m:r>
                          <a:rPr lang="en-US" sz="2000" i="1">
                            <a:latin typeface="Cambria Math" panose="02040503050406030204" pitchFamily="18" charset="0"/>
                            <a:cs typeface="Arial" panose="020B0604020202020204" pitchFamily="34" charset="0"/>
                          </a:rPr>
                          <m:t>3</m:t>
                        </m:r>
                      </m:sup>
                    </m:sSup>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049</m:t>
                    </m:r>
                  </m:oMath>
                </a14:m>
                <a:r>
                  <a:rPr lang="en-US" sz="2000" dirty="0">
                    <a:latin typeface="Arial" panose="020B0604020202020204" pitchFamily="34" charset="0"/>
                    <a:cs typeface="Arial" panose="020B0604020202020204" pitchFamily="34" charset="0"/>
                  </a:rPr>
                  <a:t>.</a:t>
                </a:r>
              </a:p>
              <a:p>
                <a:pPr>
                  <a:spcAft>
                    <a:spcPts val="0"/>
                  </a:spcAft>
                </a:pPr>
                <a:r>
                  <a:rPr lang="en-US" sz="2000" dirty="0">
                    <a:latin typeface="Arial" panose="020B0604020202020204" pitchFamily="34" charset="0"/>
                    <a:cs typeface="Arial" panose="020B0604020202020204" pitchFamily="34" charset="0"/>
                  </a:rPr>
                  <a:t>For </a:t>
                </a:r>
                <a14:m>
                  <m:oMath xmlns:m="http://schemas.openxmlformats.org/officeDocument/2006/math">
                    <m:r>
                      <a:rPr lang="en-US" sz="2000" i="1" dirty="0" smtClean="0">
                        <a:latin typeface="Cambria Math" panose="02040503050406030204" pitchFamily="18" charset="0"/>
                        <a:cs typeface="Arial" panose="020B0604020202020204" pitchFamily="34" charset="0"/>
                      </a:rPr>
                      <m:t>𝑘</m:t>
                    </m:r>
                    <m:r>
                      <a:rPr lang="en-US" sz="2000" i="1" dirty="0" smtClean="0">
                        <a:latin typeface="Cambria Math" panose="02040503050406030204" pitchFamily="18" charset="0"/>
                        <a:cs typeface="Arial" panose="020B0604020202020204" pitchFamily="34" charset="0"/>
                      </a:rPr>
                      <m:t>=4</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smtClean="0">
                        <a:latin typeface="Cambria Math" panose="02040503050406030204" pitchFamily="18" charset="0"/>
                        <a:cs typeface="Arial" panose="020B0604020202020204" pitchFamily="34" charset="0"/>
                      </a:rPr>
                      <m:t>𝐶</m:t>
                    </m:r>
                    <m:r>
                      <a:rPr lang="en-US" sz="2000" i="1" dirty="0" smtClean="0">
                        <a:latin typeface="Cambria Math" panose="02040503050406030204" pitchFamily="18" charset="0"/>
                        <a:cs typeface="Arial" panose="020B0604020202020204" pitchFamily="34" charset="0"/>
                      </a:rPr>
                      <m:t>=6</m:t>
                    </m:r>
                  </m:oMath>
                </a14:m>
                <a:r>
                  <a:rPr lang="en-US" sz="2000" dirty="0">
                    <a:latin typeface="Arial" panose="020B0604020202020204" pitchFamily="34" charset="0"/>
                    <a:cs typeface="Arial" panose="020B0604020202020204" pitchFamily="34" charset="0"/>
                  </a:rPr>
                  <a:t>, and </a:t>
                </a:r>
                <a14:m>
                  <m:oMath xmlns:m="http://schemas.openxmlformats.org/officeDocument/2006/math">
                    <m:f>
                      <m:fPr>
                        <m:type m:val="lin"/>
                        <m:ctrlPr>
                          <a:rPr lang="en-US" sz="2000" i="1" smtClean="0">
                            <a:latin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𝐶</m:t>
                        </m:r>
                      </m:den>
                    </m:f>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0.05</m:t>
                        </m:r>
                      </m:num>
                      <m:den>
                        <m:r>
                          <a:rPr lang="en-US" sz="2000" b="0" i="1" smtClean="0">
                            <a:latin typeface="Cambria Math" panose="02040503050406030204" pitchFamily="18" charset="0"/>
                            <a:cs typeface="Arial" panose="020B0604020202020204" pitchFamily="34" charset="0"/>
                          </a:rPr>
                          <m:t>6</m:t>
                        </m:r>
                      </m:den>
                    </m:f>
                    <m:r>
                      <a:rPr lang="en-US" sz="2000" b="0" i="1" smtClean="0">
                        <a:latin typeface="Cambria Math" panose="02040503050406030204" pitchFamily="18" charset="0"/>
                        <a:cs typeface="Arial" panose="020B0604020202020204" pitchFamily="34" charset="0"/>
                      </a:rPr>
                      <m:t>=0.0083</m:t>
                    </m:r>
                  </m:oMath>
                </a14:m>
                <a:r>
                  <a:rPr lang="en-US" sz="2000" dirty="0">
                    <a:latin typeface="Arial" panose="020B0604020202020204" pitchFamily="34" charset="0"/>
                    <a:cs typeface="Arial" panose="020B0604020202020204" pitchFamily="34" charset="0"/>
                  </a:rPr>
                  <a:t>. Thus,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𝛼</m:t>
                        </m:r>
                      </m:e>
                      <m:sub>
                        <m:r>
                          <a:rPr lang="en-US" sz="2000" i="1">
                            <a:latin typeface="Cambria Math" panose="02040503050406030204" pitchFamily="18" charset="0"/>
                            <a:cs typeface="Arial" panose="020B0604020202020204" pitchFamily="34" charset="0"/>
                          </a:rPr>
                          <m:t>𝑒𝑤</m:t>
                        </m:r>
                      </m:sub>
                    </m:sSub>
                    <m:r>
                      <a:rPr lang="en-US" sz="2000" i="1">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1−0.</m:t>
                            </m:r>
                            <m:r>
                              <a:rPr lang="en-US" sz="2000" i="1" smtClean="0">
                                <a:latin typeface="Cambria Math" panose="02040503050406030204" pitchFamily="18" charset="0"/>
                                <a:cs typeface="Arial" panose="020B0604020202020204" pitchFamily="34" charset="0"/>
                              </a:rPr>
                              <m:t>05/</m:t>
                            </m:r>
                            <m:r>
                              <a:rPr lang="en-US" sz="2000" b="0" i="1" smtClean="0">
                                <a:latin typeface="Cambria Math" panose="02040503050406030204" pitchFamily="18" charset="0"/>
                                <a:cs typeface="Arial" panose="020B0604020202020204" pitchFamily="34" charset="0"/>
                              </a:rPr>
                              <m:t>6</m:t>
                            </m:r>
                          </m:e>
                        </m:d>
                      </m:e>
                      <m:sup>
                        <m:r>
                          <a:rPr lang="en-US" sz="2000" b="0" i="1" smtClean="0">
                            <a:latin typeface="Cambria Math" panose="02040503050406030204" pitchFamily="18" charset="0"/>
                            <a:cs typeface="Arial" panose="020B0604020202020204" pitchFamily="34" charset="0"/>
                          </a:rPr>
                          <m:t>6</m:t>
                        </m:r>
                      </m:sup>
                    </m:sSup>
                    <m:r>
                      <a:rPr lang="en-US" sz="2000" i="1">
                        <a:latin typeface="Cambria Math" panose="02040503050406030204" pitchFamily="18" charset="0"/>
                        <a:cs typeface="Arial" panose="020B0604020202020204" pitchFamily="34" charset="0"/>
                      </a:rPr>
                      <m:t>=0.049</m:t>
                    </m:r>
                  </m:oMath>
                </a14:m>
                <a:r>
                  <a:rPr lang="en-US" sz="2000" dirty="0">
                    <a:latin typeface="Arial" panose="020B0604020202020204" pitchFamily="34" charset="0"/>
                    <a:cs typeface="Arial" panose="020B0604020202020204" pitchFamily="34" charset="0"/>
                  </a:rPr>
                  <a:t>.</a:t>
                </a:r>
              </a:p>
              <a:p>
                <a:pPr>
                  <a:spcAft>
                    <a:spcPts val="0"/>
                  </a:spcAft>
                </a:pPr>
                <a:r>
                  <a:rPr lang="en-US" sz="2000" dirty="0">
                    <a:latin typeface="Arial" panose="020B0604020202020204" pitchFamily="34" charset="0"/>
                    <a:cs typeface="Arial" panose="020B0604020202020204" pitchFamily="34" charset="0"/>
                  </a:rPr>
                  <a:t>And for </a:t>
                </a:r>
                <a14:m>
                  <m:oMath xmlns:m="http://schemas.openxmlformats.org/officeDocument/2006/math">
                    <m:r>
                      <a:rPr lang="en-US" sz="2000" i="1" dirty="0" smtClean="0">
                        <a:latin typeface="Cambria Math" panose="02040503050406030204" pitchFamily="18" charset="0"/>
                        <a:cs typeface="Arial" panose="020B0604020202020204" pitchFamily="34" charset="0"/>
                      </a:rPr>
                      <m:t>𝑘</m:t>
                    </m:r>
                    <m:r>
                      <a:rPr lang="en-US" sz="2000" i="1" dirty="0" smtClean="0">
                        <a:latin typeface="Cambria Math" panose="02040503050406030204" pitchFamily="18" charset="0"/>
                        <a:cs typeface="Arial" panose="020B0604020202020204" pitchFamily="34" charset="0"/>
                      </a:rPr>
                      <m:t>=5</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smtClean="0">
                        <a:latin typeface="Cambria Math" panose="02040503050406030204" pitchFamily="18" charset="0"/>
                        <a:cs typeface="Arial" panose="020B0604020202020204" pitchFamily="34" charset="0"/>
                      </a:rPr>
                      <m:t>𝐶</m:t>
                    </m:r>
                    <m:r>
                      <a:rPr lang="en-US" sz="2000" i="1" dirty="0" smtClean="0">
                        <a:latin typeface="Cambria Math" panose="02040503050406030204" pitchFamily="18" charset="0"/>
                        <a:cs typeface="Arial" panose="020B0604020202020204" pitchFamily="34" charset="0"/>
                      </a:rPr>
                      <m:t>=10</m:t>
                    </m:r>
                  </m:oMath>
                </a14:m>
                <a:r>
                  <a:rPr lang="en-US" sz="2000" dirty="0">
                    <a:latin typeface="Arial" panose="020B0604020202020204" pitchFamily="34" charset="0"/>
                    <a:cs typeface="Arial" panose="020B0604020202020204" pitchFamily="34" charset="0"/>
                  </a:rPr>
                  <a:t>, and </a:t>
                </a:r>
                <a14:m>
                  <m:oMath xmlns:m="http://schemas.openxmlformats.org/officeDocument/2006/math">
                    <m:f>
                      <m:fPr>
                        <m:type m:val="lin"/>
                        <m:ctrlPr>
                          <a:rPr lang="en-US" sz="2000" i="1" smtClean="0">
                            <a:latin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𝐶</m:t>
                        </m:r>
                      </m:den>
                    </m:f>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0.05</m:t>
                        </m:r>
                      </m:num>
                      <m:den>
                        <m:r>
                          <a:rPr lang="en-US" sz="2000" b="0" i="1" smtClean="0">
                            <a:latin typeface="Cambria Math" panose="02040503050406030204" pitchFamily="18" charset="0"/>
                            <a:cs typeface="Arial" panose="020B0604020202020204" pitchFamily="34" charset="0"/>
                          </a:rPr>
                          <m:t>10</m:t>
                        </m:r>
                      </m:den>
                    </m:f>
                    <m:r>
                      <a:rPr lang="en-US" sz="2000" b="0" i="1" smtClean="0">
                        <a:latin typeface="Cambria Math" panose="02040503050406030204" pitchFamily="18" charset="0"/>
                        <a:cs typeface="Arial" panose="020B0604020202020204" pitchFamily="34" charset="0"/>
                      </a:rPr>
                      <m:t>=0.005</m:t>
                    </m:r>
                  </m:oMath>
                </a14:m>
                <a:r>
                  <a:rPr lang="en-US" sz="2000" dirty="0">
                    <a:latin typeface="Arial" panose="020B0604020202020204" pitchFamily="34" charset="0"/>
                    <a:cs typeface="Arial" panose="020B0604020202020204" pitchFamily="34" charset="0"/>
                  </a:rPr>
                  <a:t>. Thus,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𝛼</m:t>
                        </m:r>
                      </m:e>
                      <m:sub>
                        <m:r>
                          <a:rPr lang="en-US" sz="2000" i="1">
                            <a:latin typeface="Cambria Math" panose="02040503050406030204" pitchFamily="18" charset="0"/>
                            <a:cs typeface="Arial" panose="020B0604020202020204" pitchFamily="34" charset="0"/>
                          </a:rPr>
                          <m:t>𝑒𝑤</m:t>
                        </m:r>
                      </m:sub>
                    </m:sSub>
                    <m:r>
                      <a:rPr lang="en-US" sz="2000" i="1">
                        <a:latin typeface="Cambria Math" panose="02040503050406030204" pitchFamily="18" charset="0"/>
                        <a:cs typeface="Arial" panose="020B0604020202020204" pitchFamily="34" charset="0"/>
                      </a:rPr>
                      <m:t>=1−</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1−0.05/</m:t>
                            </m:r>
                            <m:r>
                              <a:rPr lang="en-US" sz="2000" b="0" i="1" smtClean="0">
                                <a:latin typeface="Cambria Math" panose="02040503050406030204" pitchFamily="18" charset="0"/>
                                <a:cs typeface="Arial" panose="020B0604020202020204" pitchFamily="34" charset="0"/>
                              </a:rPr>
                              <m:t>10</m:t>
                            </m:r>
                          </m:e>
                        </m:d>
                      </m:e>
                      <m:sup>
                        <m:r>
                          <a:rPr lang="en-US" sz="2000" b="0" i="1" smtClean="0">
                            <a:latin typeface="Cambria Math" panose="02040503050406030204" pitchFamily="18" charset="0"/>
                            <a:cs typeface="Arial" panose="020B0604020202020204" pitchFamily="34" charset="0"/>
                          </a:rPr>
                          <m:t>10</m:t>
                        </m:r>
                      </m:sup>
                    </m:sSup>
                    <m:r>
                      <a:rPr lang="en-US" sz="2000" i="1">
                        <a:latin typeface="Cambria Math" panose="02040503050406030204" pitchFamily="18" charset="0"/>
                        <a:cs typeface="Arial" panose="020B0604020202020204" pitchFamily="34" charset="0"/>
                      </a:rPr>
                      <m:t>=0.049</m:t>
                    </m:r>
                  </m:oMath>
                </a14:m>
                <a:r>
                  <a:rPr lang="en-US" sz="2000" dirty="0">
                    <a:latin typeface="Arial" panose="020B0604020202020204" pitchFamily="34" charset="0"/>
                    <a:cs typeface="Arial" panose="020B0604020202020204" pitchFamily="34" charset="0"/>
                  </a:rPr>
                  <a:t>.</a:t>
                </a:r>
              </a:p>
              <a:p>
                <a:pPr>
                  <a:spcAft>
                    <a:spcPts val="0"/>
                  </a:spcAft>
                </a:pPr>
                <a:r>
                  <a:rPr lang="en-US" sz="2000" dirty="0">
                    <a:latin typeface="Arial" panose="020B0604020202020204" pitchFamily="34" charset="0"/>
                    <a:cs typeface="Arial" panose="020B0604020202020204" pitchFamily="34" charset="0"/>
                  </a:rPr>
                  <a:t>However, as we learned in Chapter 9, for a fixed sample size, any decrease in the probability of making a Type I error will result in an increase in the probability of making a Type II error.</a:t>
                </a:r>
              </a:p>
              <a:p>
                <a:pPr>
                  <a:spcAft>
                    <a:spcPts val="0"/>
                  </a:spcAft>
                </a:pPr>
                <a:r>
                  <a:rPr lang="en-US" sz="2000" dirty="0">
                    <a:latin typeface="Arial" panose="020B0604020202020204" pitchFamily="34" charset="0"/>
                    <a:cs typeface="Arial" panose="020B0604020202020204" pitchFamily="34" charset="0"/>
                  </a:rPr>
                  <a:t>As a result, many practitioners are reluctant to apply the Bonferroni adjustment to control the probability of making a Type I error and adopt instead other procedures such as the Tukey’s HSD procedure or Duncan’s multiple range test.</a:t>
                </a:r>
              </a:p>
              <a:p>
                <a:pPr>
                  <a:spcBef>
                    <a:spcPts val="600"/>
                  </a:spcBef>
                  <a:spcAft>
                    <a:spcPts val="0"/>
                  </a:spcAft>
                </a:pPr>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64627" y="1340602"/>
                <a:ext cx="10594432" cy="4308529"/>
              </a:xfrm>
              <a:blipFill>
                <a:blip r:embed="rId3"/>
                <a:stretch>
                  <a:fillRect l="-1438" t="-1697" r="-1093" b="-3253"/>
                </a:stretch>
              </a:blipFill>
            </p:spPr>
            <p:txBody>
              <a:bodyPr/>
              <a:lstStyle/>
              <a:p>
                <a:r>
                  <a:rPr lang="en-US">
                    <a:noFill/>
                  </a:rPr>
                  <a:t> </a:t>
                </a:r>
              </a:p>
            </p:txBody>
          </p:sp>
        </mc:Fallback>
      </mc:AlternateContent>
    </p:spTree>
    <p:extLst>
      <p:ext uri="{BB962C8B-B14F-4D97-AF65-F5344CB8AC3E}">
        <p14:creationId xmlns:p14="http://schemas.microsoft.com/office/powerpoint/2010/main" val="1530431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solidFill>
                  <a:srgbClr val="D14B1E"/>
                </a:solidFill>
              </a:rPr>
              <a:t>13.4 Randomized Block Design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64627" y="1513490"/>
            <a:ext cx="10594432" cy="4067503"/>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Recollect how in the completely randomized design, the treatments are randomly assigned to the experimental units.</a:t>
            </a:r>
          </a:p>
          <a:p>
            <a:pPr>
              <a:spcBef>
                <a:spcPts val="600"/>
              </a:spcBef>
              <a:spcAft>
                <a:spcPts val="0"/>
              </a:spcAft>
            </a:pPr>
            <a:r>
              <a:rPr lang="en-US" sz="2000" dirty="0">
                <a:latin typeface="Arial" panose="020B0604020202020204" pitchFamily="34" charset="0"/>
                <a:cs typeface="Arial" panose="020B0604020202020204" pitchFamily="34" charset="0"/>
              </a:rPr>
              <a:t>A problem can arise whenever differences due to extraneous factors (ones not con­sidered in the experiment) cause the experimental units to be heterogeneous.</a:t>
            </a:r>
          </a:p>
          <a:p>
            <a:pPr>
              <a:spcBef>
                <a:spcPts val="600"/>
              </a:spcBef>
              <a:spcAft>
                <a:spcPts val="0"/>
              </a:spcAft>
            </a:pPr>
            <a:r>
              <a:rPr lang="en-US" sz="2000" dirty="0">
                <a:latin typeface="Arial" panose="020B0604020202020204" pitchFamily="34" charset="0"/>
                <a:cs typeface="Arial" panose="020B0604020202020204" pitchFamily="34" charset="0"/>
              </a:rPr>
              <a:t>When that happens, the MSE term becomes large, making the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statistic smaller, and signaling no difference among treatment means when in fact such a difference exists.</a:t>
            </a:r>
          </a:p>
          <a:p>
            <a:pPr>
              <a:spcBef>
                <a:spcPts val="600"/>
              </a:spcBef>
              <a:spcAft>
                <a:spcPts val="0"/>
              </a:spcAft>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randomized block design </a:t>
            </a:r>
            <a:r>
              <a:rPr lang="en-US" sz="2000" dirty="0">
                <a:latin typeface="Arial" panose="020B0604020202020204" pitchFamily="34" charset="0"/>
                <a:cs typeface="Arial" panose="020B0604020202020204" pitchFamily="34" charset="0"/>
              </a:rPr>
              <a:t>controls some of the extraneous sources of variation by </a:t>
            </a:r>
            <a:r>
              <a:rPr lang="en-US" sz="2000" b="1" dirty="0">
                <a:latin typeface="Arial" panose="020B0604020202020204" pitchFamily="34" charset="0"/>
                <a:cs typeface="Arial" panose="020B0604020202020204" pitchFamily="34" charset="0"/>
              </a:rPr>
              <a:t>blocking</a:t>
            </a:r>
            <a:r>
              <a:rPr lang="en-US" sz="2000" dirty="0">
                <a:latin typeface="Arial" panose="020B0604020202020204" pitchFamily="34" charset="0"/>
                <a:cs typeface="Arial" panose="020B0604020202020204" pitchFamily="34" charset="0"/>
              </a:rPr>
              <a:t> the experimental units into homogenous group, thus removing the sources of variation from the MSE term. </a:t>
            </a:r>
          </a:p>
          <a:p>
            <a:pPr>
              <a:spcBef>
                <a:spcPts val="600"/>
              </a:spcBef>
              <a:spcAft>
                <a:spcPts val="0"/>
              </a:spcAft>
            </a:pPr>
            <a:r>
              <a:rPr lang="en-US" sz="2000" dirty="0">
                <a:latin typeface="Arial" panose="020B0604020202020204" pitchFamily="34" charset="0"/>
                <a:cs typeface="Arial" panose="020B0604020202020204" pitchFamily="34" charset="0"/>
              </a:rPr>
              <a:t>A randomized block design provides a better estimate of the true error variance and leads to a more powerful hypothesis test in terms of its ability to detect differences among treatment means.</a:t>
            </a:r>
          </a:p>
        </p:txBody>
      </p:sp>
    </p:spTree>
    <p:extLst>
      <p:ext uri="{BB962C8B-B14F-4D97-AF65-F5344CB8AC3E}">
        <p14:creationId xmlns:p14="http://schemas.microsoft.com/office/powerpoint/2010/main" val="4217352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9D15-B197-09B5-C16B-34F52C2D78BC}"/>
              </a:ext>
            </a:extLst>
          </p:cNvPr>
          <p:cNvSpPr>
            <a:spLocks noGrp="1"/>
          </p:cNvSpPr>
          <p:nvPr>
            <p:ph type="title"/>
          </p:nvPr>
        </p:nvSpPr>
        <p:spPr/>
        <p:txBody>
          <a:bodyPr/>
          <a:lstStyle/>
          <a:p>
            <a:r>
              <a:rPr lang="en-US" dirty="0"/>
              <a:t>13.4 ANOVA Table for a Randomized Block Design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5DFAD8A-F14F-71F1-C97E-801BF3F52F6E}"/>
                  </a:ext>
                </a:extLst>
              </p:cNvPr>
              <p:cNvSpPr>
                <a:spLocks noGrp="1"/>
              </p:cNvSpPr>
              <p:nvPr>
                <p:ph type="body" sz="quarter" idx="15"/>
              </p:nvPr>
            </p:nvSpPr>
            <p:spPr>
              <a:xfrm>
                <a:off x="743576" y="1355834"/>
                <a:ext cx="10610223" cy="2758964"/>
              </a:xfrm>
            </p:spPr>
            <p:txBody>
              <a:bodyPr/>
              <a:lstStyle/>
              <a:p>
                <a:pPr>
                  <a:lnSpc>
                    <a:spcPct val="100000"/>
                  </a:lnSpc>
                  <a:spcBef>
                    <a:spcPts val="600"/>
                  </a:spcBef>
                </a:pPr>
                <a:r>
                  <a:rPr lang="en-US" sz="2000" dirty="0"/>
                  <a:t>The ANOVA procedure for the randomized block design partitions the total sum of squares (SST) into three groups: sum of squares due to treatments (SSTR), sum of squares due to blocks (SSBL), and sum of squares due to error (SSE).</a:t>
                </a:r>
              </a:p>
              <a:p>
                <a:pPr marL="914400">
                  <a:lnSpc>
                    <a:spcPct val="100000"/>
                  </a:lnSpc>
                  <a:spcBef>
                    <a:spcPts val="600"/>
                  </a:spcBef>
                </a:pPr>
                <a14:m>
                  <m:oMath xmlns:m="http://schemas.openxmlformats.org/officeDocument/2006/math">
                    <m:r>
                      <a:rPr lang="en-US" sz="2000" b="0" i="1" smtClean="0">
                        <a:latin typeface="Cambria Math" panose="02040503050406030204" pitchFamily="18" charset="0"/>
                      </a:rPr>
                      <m:t>𝑆𝑆𝑇</m:t>
                    </m:r>
                    <m:r>
                      <a:rPr lang="en-US" sz="2000" b="0" i="1" smtClean="0">
                        <a:latin typeface="Cambria Math" panose="02040503050406030204" pitchFamily="18" charset="0"/>
                      </a:rPr>
                      <m:t>=</m:t>
                    </m:r>
                    <m:r>
                      <a:rPr lang="en-US" sz="2000" b="0" i="1" smtClean="0">
                        <a:latin typeface="Cambria Math" panose="02040503050406030204" pitchFamily="18" charset="0"/>
                      </a:rPr>
                      <m:t>𝑆𝑆𝑇𝑅</m:t>
                    </m:r>
                    <m:r>
                      <a:rPr lang="en-US" sz="2000" b="0" i="1" smtClean="0">
                        <a:latin typeface="Cambria Math" panose="02040503050406030204" pitchFamily="18" charset="0"/>
                      </a:rPr>
                      <m:t>+</m:t>
                    </m:r>
                    <m:r>
                      <a:rPr lang="en-US" sz="2000" b="0" i="1" smtClean="0">
                        <a:latin typeface="Cambria Math" panose="02040503050406030204" pitchFamily="18" charset="0"/>
                      </a:rPr>
                      <m:t>𝑆𝑆𝐵𝐿</m:t>
                    </m:r>
                    <m:r>
                      <a:rPr lang="en-US" sz="2000" b="0" i="1" smtClean="0">
                        <a:latin typeface="Cambria Math" panose="02040503050406030204" pitchFamily="18" charset="0"/>
                      </a:rPr>
                      <m:t>+</m:t>
                    </m:r>
                    <m:r>
                      <a:rPr lang="en-US" sz="2000" b="0" i="1" smtClean="0">
                        <a:latin typeface="Cambria Math" panose="02040503050406030204" pitchFamily="18" charset="0"/>
                      </a:rPr>
                      <m:t>𝑆𝑆𝐸</m:t>
                    </m:r>
                  </m:oMath>
                </a14:m>
                <a:r>
                  <a:rPr lang="en-US" sz="2000" dirty="0"/>
                  <a:t> </a:t>
                </a:r>
              </a:p>
              <a:p>
                <a:pPr>
                  <a:lnSpc>
                    <a:spcPct val="100000"/>
                  </a:lnSpc>
                  <a:spcBef>
                    <a:spcPts val="600"/>
                  </a:spcBef>
                </a:pPr>
                <a:r>
                  <a:rPr lang="en-US" sz="2000" dirty="0"/>
                  <a:t>The total degrees of freedom,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smtClean="0">
                        <a:latin typeface="Cambria Math" panose="02040503050406030204" pitchFamily="18" charset="0"/>
                        <a:cs typeface="Arial" panose="020B0604020202020204" pitchFamily="34" charset="0"/>
                      </a:rPr>
                      <m:t>1</m:t>
                    </m:r>
                  </m:oMath>
                </a14:m>
                <a:r>
                  <a:rPr lang="en-US" sz="2000" dirty="0"/>
                  <a:t>, are partitioned so that</a:t>
                </a:r>
              </a:p>
              <a:p>
                <a:pPr marL="914400">
                  <a:lnSpc>
                    <a:spcPct val="100000"/>
                  </a:lnSpc>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−1=</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𝑘</m:t>
                        </m:r>
                        <m:r>
                          <a:rPr lang="en-US" sz="2000" i="1">
                            <a:latin typeface="Cambria Math" panose="02040503050406030204" pitchFamily="18" charset="0"/>
                            <a:cs typeface="Arial" panose="020B0604020202020204" pitchFamily="34" charset="0"/>
                          </a:rPr>
                          <m:t>−1</m:t>
                        </m:r>
                      </m:e>
                    </m:d>
                    <m:r>
                      <a:rPr lang="en-US" sz="2000" i="1">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𝑏</m:t>
                        </m:r>
                        <m:r>
                          <a:rPr lang="en-US" sz="2000" i="1">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𝑘</m:t>
                        </m:r>
                        <m:r>
                          <a:rPr lang="en-US" sz="2000" i="1">
                            <a:latin typeface="Cambria Math" panose="02040503050406030204" pitchFamily="18" charset="0"/>
                            <a:cs typeface="Arial" panose="020B0604020202020204" pitchFamily="34" charset="0"/>
                          </a:rPr>
                          <m:t>−1</m:t>
                        </m:r>
                      </m:e>
                    </m:d>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𝑏</m:t>
                        </m:r>
                        <m:r>
                          <a:rPr lang="en-US" sz="2000" i="1">
                            <a:latin typeface="Cambria Math" panose="02040503050406030204" pitchFamily="18" charset="0"/>
                            <a:cs typeface="Arial" panose="020B0604020202020204" pitchFamily="34" charset="0"/>
                          </a:rPr>
                          <m:t>−1</m:t>
                        </m:r>
                      </m:e>
                    </m:d>
                  </m:oMath>
                </a14:m>
                <a:r>
                  <a:rPr lang="en-US" sz="2000" dirty="0"/>
                  <a:t> </a:t>
                </a:r>
              </a:p>
              <a:p>
                <a:pPr>
                  <a:lnSpc>
                    <a:spcPct val="100000"/>
                  </a:lnSpc>
                  <a:spcBef>
                    <a:spcPts val="600"/>
                  </a:spcBef>
                </a:pPr>
                <a:r>
                  <a:rPr lang="en-US" sz="2000" dirty="0"/>
                  <a:t>Where </a:t>
                </a:r>
                <a:r>
                  <a:rPr lang="en-US" sz="2000" i="1" dirty="0"/>
                  <a:t>k</a:t>
                </a:r>
                <a:r>
                  <a:rPr lang="en-US" sz="2000" dirty="0"/>
                  <a:t> is the number of treatments, </a:t>
                </a:r>
                <a:r>
                  <a:rPr lang="en-US" sz="2000" i="1" dirty="0"/>
                  <a:t>b</a:t>
                </a:r>
                <a:r>
                  <a:rPr lang="en-US" sz="2000" dirty="0"/>
                  <a:t> the number of blocks,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𝑘𝑏</m:t>
                    </m:r>
                  </m:oMath>
                </a14:m>
                <a:r>
                  <a:rPr lang="en-US" sz="2000" dirty="0"/>
                  <a:t> the total number of observations.</a:t>
                </a:r>
              </a:p>
            </p:txBody>
          </p:sp>
        </mc:Choice>
        <mc:Fallback xmlns="">
          <p:sp>
            <p:nvSpPr>
              <p:cNvPr id="3" name="Text Placeholder 2">
                <a:extLst>
                  <a:ext uri="{FF2B5EF4-FFF2-40B4-BE49-F238E27FC236}">
                    <a16:creationId xmlns:a16="http://schemas.microsoft.com/office/drawing/2014/main" id="{85DFAD8A-F14F-71F1-C97E-801BF3F52F6E}"/>
                  </a:ext>
                </a:extLst>
              </p:cNvPr>
              <p:cNvSpPr>
                <a:spLocks noGrp="1" noRot="1" noChangeAspect="1" noMove="1" noResize="1" noEditPoints="1" noAdjustHandles="1" noChangeArrowheads="1" noChangeShapeType="1" noTextEdit="1"/>
              </p:cNvSpPr>
              <p:nvPr>
                <p:ph type="body" sz="quarter" idx="15"/>
              </p:nvPr>
            </p:nvSpPr>
            <p:spPr>
              <a:xfrm>
                <a:off x="743576" y="1355834"/>
                <a:ext cx="10610223" cy="2758964"/>
              </a:xfrm>
              <a:blipFill>
                <a:blip r:embed="rId3"/>
                <a:stretch>
                  <a:fillRect l="-1494" t="-2649" r="-1264" b="-5298"/>
                </a:stretch>
              </a:blipFill>
            </p:spPr>
            <p:txBody>
              <a:bodyPr/>
              <a:lstStyle/>
              <a:p>
                <a:r>
                  <a:rPr lang="en-US">
                    <a:noFill/>
                  </a:rPr>
                  <a:t> </a:t>
                </a:r>
              </a:p>
            </p:txBody>
          </p:sp>
        </mc:Fallback>
      </mc:AlternateContent>
      <p:graphicFrame>
        <p:nvGraphicFramePr>
          <p:cNvPr id="5" name="Table 13">
            <a:extLst>
              <a:ext uri="{FF2B5EF4-FFF2-40B4-BE49-F238E27FC236}">
                <a16:creationId xmlns:a16="http://schemas.microsoft.com/office/drawing/2014/main" id="{ACEAD64B-4766-F70F-AE34-9F2E3D6EFF38}"/>
              </a:ext>
            </a:extLst>
          </p:cNvPr>
          <p:cNvGraphicFramePr>
            <a:graphicFrameLocks noGrp="1"/>
          </p:cNvGraphicFramePr>
          <p:nvPr>
            <p:ph type="tbl" sz="quarter" idx="16"/>
            <p:extLst>
              <p:ext uri="{D42A27DB-BD31-4B8C-83A1-F6EECF244321}">
                <p14:modId xmlns:p14="http://schemas.microsoft.com/office/powerpoint/2010/main" val="476432845"/>
              </p:ext>
            </p:extLst>
          </p:nvPr>
        </p:nvGraphicFramePr>
        <p:xfrm>
          <a:off x="811892" y="4209394"/>
          <a:ext cx="10457824" cy="1592315"/>
        </p:xfrm>
        <a:graphic>
          <a:graphicData uri="http://schemas.openxmlformats.org/drawingml/2006/table">
            <a:tbl>
              <a:tblPr firstRow="1" bandRow="1">
                <a:tableStyleId>{5C22544A-7EE6-4342-B048-85BDC9FD1C3A}</a:tableStyleId>
              </a:tblPr>
              <a:tblGrid>
                <a:gridCol w="1860363">
                  <a:extLst>
                    <a:ext uri="{9D8B030D-6E8A-4147-A177-3AD203B41FA5}">
                      <a16:colId xmlns:a16="http://schemas.microsoft.com/office/drawing/2014/main" val="4281494615"/>
                    </a:ext>
                  </a:extLst>
                </a:gridCol>
                <a:gridCol w="1466193">
                  <a:extLst>
                    <a:ext uri="{9D8B030D-6E8A-4147-A177-3AD203B41FA5}">
                      <a16:colId xmlns:a16="http://schemas.microsoft.com/office/drawing/2014/main" val="1658350638"/>
                    </a:ext>
                  </a:extLst>
                </a:gridCol>
                <a:gridCol w="1828800">
                  <a:extLst>
                    <a:ext uri="{9D8B030D-6E8A-4147-A177-3AD203B41FA5}">
                      <a16:colId xmlns:a16="http://schemas.microsoft.com/office/drawing/2014/main" val="665697469"/>
                    </a:ext>
                  </a:extLst>
                </a:gridCol>
                <a:gridCol w="2354316">
                  <a:extLst>
                    <a:ext uri="{9D8B030D-6E8A-4147-A177-3AD203B41FA5}">
                      <a16:colId xmlns:a16="http://schemas.microsoft.com/office/drawing/2014/main" val="230204798"/>
                    </a:ext>
                  </a:extLst>
                </a:gridCol>
                <a:gridCol w="1261242">
                  <a:extLst>
                    <a:ext uri="{9D8B030D-6E8A-4147-A177-3AD203B41FA5}">
                      <a16:colId xmlns:a16="http://schemas.microsoft.com/office/drawing/2014/main" val="4176669424"/>
                    </a:ext>
                  </a:extLst>
                </a:gridCol>
                <a:gridCol w="1686910">
                  <a:extLst>
                    <a:ext uri="{9D8B030D-6E8A-4147-A177-3AD203B41FA5}">
                      <a16:colId xmlns:a16="http://schemas.microsoft.com/office/drawing/2014/main" val="1389891288"/>
                    </a:ext>
                  </a:extLst>
                </a:gridCol>
              </a:tblGrid>
              <a:tr h="318463">
                <a:tc>
                  <a:txBody>
                    <a:bodyPr/>
                    <a:lstStyle/>
                    <a:p>
                      <a:r>
                        <a:rPr lang="en-US" sz="16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18463">
                <a:tc>
                  <a:txBody>
                    <a:bodyPr/>
                    <a:lstStyle/>
                    <a:p>
                      <a:r>
                        <a:rPr lang="en-US" sz="1600" dirty="0">
                          <a:solidFill>
                            <a:srgbClr val="000000"/>
                          </a:solidFill>
                        </a:rPr>
                        <a:t>  Treatments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SSTR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k</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MSTR = SSTR / (</a:t>
                      </a:r>
                      <a:r>
                        <a:rPr lang="en-US" sz="1600" i="1" dirty="0">
                          <a:solidFill>
                            <a:srgbClr val="000000"/>
                          </a:solidFill>
                        </a:rPr>
                        <a:t>k</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MSTR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a:t>
                      </a:r>
                      <a:r>
                        <a:rPr lang="en-US" sz="1600" i="1" dirty="0">
                          <a:solidFill>
                            <a:srgbClr val="000000"/>
                          </a:solidFill>
                        </a:rPr>
                        <a:t>F </a:t>
                      </a:r>
                      <a:r>
                        <a:rPr lang="en-US" sz="1600" dirty="0">
                          <a:solidFill>
                            <a:srgbClr val="000000"/>
                          </a:solidFill>
                        </a:rPr>
                        <a:t>≥ MSTR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18463">
                <a:tc>
                  <a:txBody>
                    <a:bodyPr/>
                    <a:lstStyle/>
                    <a:p>
                      <a:r>
                        <a:rPr lang="en-US" sz="1600" dirty="0">
                          <a:solidFill>
                            <a:srgbClr val="000000"/>
                          </a:solidFill>
                        </a:rPr>
                        <a:t>  Blocks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SSBL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solidFill>
                            <a:srgbClr val="000000"/>
                          </a:solidFill>
                        </a:rPr>
                        <a:t>b</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rPr>
                        <a:t>MSBL = SSBL / (</a:t>
                      </a:r>
                      <a:r>
                        <a:rPr lang="en-US" sz="1600" i="1" dirty="0">
                          <a:solidFill>
                            <a:srgbClr val="000000"/>
                          </a:solidFill>
                        </a:rPr>
                        <a:t>b</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301589553"/>
                  </a:ext>
                </a:extLst>
              </a:tr>
              <a:tr h="318463">
                <a:tc>
                  <a:txBody>
                    <a:bodyPr/>
                    <a:lstStyle/>
                    <a:p>
                      <a:r>
                        <a:rPr lang="en-US" sz="16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0" dirty="0">
                          <a:solidFill>
                            <a:srgbClr val="000000"/>
                          </a:solidFill>
                        </a:rPr>
                        <a:t>(</a:t>
                      </a:r>
                      <a:r>
                        <a:rPr lang="en-US" sz="1600" i="1" dirty="0">
                          <a:solidFill>
                            <a:srgbClr val="000000"/>
                          </a:solidFill>
                        </a:rPr>
                        <a:t>k</a:t>
                      </a:r>
                      <a:r>
                        <a:rPr lang="en-US" sz="1600" dirty="0">
                          <a:solidFill>
                            <a:srgbClr val="000000"/>
                          </a:solidFill>
                        </a:rPr>
                        <a:t> − 1</a:t>
                      </a:r>
                      <a:r>
                        <a:rPr lang="en-US" sz="1600" i="0" dirty="0">
                          <a:solidFill>
                            <a:srgbClr val="000000"/>
                          </a:solidFill>
                        </a:rPr>
                        <a:t>)(</a:t>
                      </a:r>
                      <a:r>
                        <a:rPr lang="en-US" sz="1600" i="1" dirty="0">
                          <a:solidFill>
                            <a:srgbClr val="000000"/>
                          </a:solidFill>
                        </a:rPr>
                        <a:t>b</a:t>
                      </a:r>
                      <a:r>
                        <a:rPr lang="en-US" sz="1600" dirty="0">
                          <a:solidFill>
                            <a:srgbClr val="000000"/>
                          </a:solidFill>
                        </a:rPr>
                        <a:t> − 1</a:t>
                      </a:r>
                      <a:r>
                        <a:rPr lang="en-US" sz="1600" i="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MSE = SSE / [</a:t>
                      </a:r>
                      <a:r>
                        <a:rPr lang="en-US" sz="1600" i="0" dirty="0">
                          <a:solidFill>
                            <a:srgbClr val="000000"/>
                          </a:solidFill>
                        </a:rPr>
                        <a:t>(</a:t>
                      </a:r>
                      <a:r>
                        <a:rPr lang="en-US" sz="1600" i="1" dirty="0">
                          <a:solidFill>
                            <a:srgbClr val="000000"/>
                          </a:solidFill>
                        </a:rPr>
                        <a:t>k</a:t>
                      </a:r>
                      <a:r>
                        <a:rPr lang="en-US" sz="1600" dirty="0">
                          <a:solidFill>
                            <a:srgbClr val="000000"/>
                          </a:solidFill>
                        </a:rPr>
                        <a:t> − 1</a:t>
                      </a:r>
                      <a:r>
                        <a:rPr lang="en-US" sz="1600" i="0" dirty="0">
                          <a:solidFill>
                            <a:srgbClr val="000000"/>
                          </a:solidFill>
                        </a:rPr>
                        <a:t>)(</a:t>
                      </a:r>
                      <a:r>
                        <a:rPr lang="en-US" sz="1600" i="1" dirty="0">
                          <a:solidFill>
                            <a:srgbClr val="000000"/>
                          </a:solidFill>
                        </a:rPr>
                        <a:t>b</a:t>
                      </a:r>
                      <a:r>
                        <a:rPr lang="en-US" sz="1600" dirty="0">
                          <a:solidFill>
                            <a:srgbClr val="000000"/>
                          </a:solidFill>
                        </a:rPr>
                        <a:t> − 1</a:t>
                      </a:r>
                      <a:r>
                        <a:rPr lang="en-US" sz="1600" i="0" dirty="0">
                          <a:solidFill>
                            <a:srgbClr val="000000"/>
                          </a:solidFill>
                        </a:rPr>
                        <a:t>)</a:t>
                      </a:r>
                      <a:r>
                        <a:rPr lang="en-US" sz="160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18463">
                <a:tc>
                  <a:txBody>
                    <a:bodyPr/>
                    <a:lstStyle/>
                    <a:p>
                      <a:r>
                        <a:rPr lang="en-US" sz="16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err="1">
                          <a:solidFill>
                            <a:srgbClr val="000000"/>
                          </a:solidFill>
                        </a:rPr>
                        <a:t>n</a:t>
                      </a:r>
                      <a:r>
                        <a:rPr lang="en-US" sz="1600" baseline="-25000" dirty="0" err="1">
                          <a:solidFill>
                            <a:srgbClr val="000000"/>
                          </a:solidFill>
                        </a:rPr>
                        <a:t>T</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Tree>
    <p:extLst>
      <p:ext uri="{BB962C8B-B14F-4D97-AF65-F5344CB8AC3E}">
        <p14:creationId xmlns:p14="http://schemas.microsoft.com/office/powerpoint/2010/main" val="1339849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t>13.4 Air Traffic Controller Stress Test</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72510" y="1285878"/>
            <a:ext cx="10594432" cy="4603239"/>
          </a:xfrm>
        </p:spPr>
        <p:txBody>
          <a:bodyPr/>
          <a:lstStyle/>
          <a:p>
            <a:pPr>
              <a:spcBef>
                <a:spcPts val="600"/>
              </a:spcBef>
              <a:spcAft>
                <a:spcPts val="0"/>
              </a:spcAft>
            </a:pPr>
            <a:r>
              <a:rPr lang="en-US" sz="2000" dirty="0" err="1">
                <a:latin typeface="Arial" panose="020B0604020202020204" pitchFamily="34" charset="0"/>
                <a:cs typeface="Arial" panose="020B0604020202020204" pitchFamily="34" charset="0"/>
              </a:rPr>
              <a:t>DATAfile</a:t>
            </a:r>
            <a:r>
              <a:rPr lang="en-US" sz="2000"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airtraffic</a:t>
            </a:r>
            <a:r>
              <a:rPr lang="en-US" sz="2000" i="1"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Three workstation alternatives (system A, system B, and system C) have been selected as having the best potential for reducing fatigue and stress of air traffic controllers.</a:t>
            </a:r>
          </a:p>
          <a:p>
            <a:pPr>
              <a:spcBef>
                <a:spcPts val="600"/>
              </a:spcBef>
              <a:spcAft>
                <a:spcPts val="0"/>
              </a:spcAft>
            </a:pPr>
            <a:r>
              <a:rPr lang="en-US" sz="2000" dirty="0">
                <a:latin typeface="Arial" panose="020B0604020202020204" pitchFamily="34" charset="0"/>
                <a:cs typeface="Arial" panose="020B0604020202020204" pitchFamily="34" charset="0"/>
              </a:rPr>
              <a:t>To account for the within-­group source of variation (MSE) due to individual controller differences, a randomized block design was selected.</a:t>
            </a:r>
          </a:p>
          <a:p>
            <a:pPr>
              <a:spcBef>
                <a:spcPts val="600"/>
              </a:spcBef>
              <a:spcAft>
                <a:spcPts val="0"/>
              </a:spcAft>
            </a:pPr>
            <a:r>
              <a:rPr lang="en-US" sz="2000" dirty="0">
                <a:latin typeface="Arial" panose="020B0604020202020204" pitchFamily="34" charset="0"/>
                <a:cs typeface="Arial" panose="020B0604020202020204" pitchFamily="34" charset="0"/>
              </a:rPr>
              <a:t>In experimental design terminology:</a:t>
            </a:r>
          </a:p>
          <a:p>
            <a:pPr marL="914400" indent="-342900">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workstation is the </a:t>
            </a:r>
            <a:r>
              <a:rPr lang="en-US" sz="2000" i="1" dirty="0">
                <a:latin typeface="Arial" panose="020B0604020202020204" pitchFamily="34" charset="0"/>
                <a:cs typeface="Arial" panose="020B0604020202020204" pitchFamily="34" charset="0"/>
              </a:rPr>
              <a:t>factor of interest</a:t>
            </a:r>
          </a:p>
          <a:p>
            <a:pPr marL="914400" indent="-342900">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three workstation alternatives (systems A, B, and C) are the three treatments</a:t>
            </a:r>
          </a:p>
          <a:p>
            <a:pPr marL="914400" indent="-342900">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sample of six controllers assigned to each treatment are the </a:t>
            </a:r>
            <a:r>
              <a:rPr lang="en-US" sz="2000" i="1" dirty="0">
                <a:latin typeface="Arial" panose="020B0604020202020204" pitchFamily="34" charset="0"/>
                <a:cs typeface="Arial" panose="020B0604020202020204" pitchFamily="34" charset="0"/>
              </a:rPr>
              <a:t>blocks</a:t>
            </a:r>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The </a:t>
            </a:r>
            <a:r>
              <a:rPr lang="en-US" sz="2000" i="1" dirty="0">
                <a:latin typeface="Arial" panose="020B0604020202020204" pitchFamily="34" charset="0"/>
                <a:cs typeface="Arial" panose="020B0604020202020204" pitchFamily="34" charset="0"/>
              </a:rPr>
              <a:t>randomized</a:t>
            </a:r>
            <a:r>
              <a:rPr lang="en-US" sz="2000" dirty="0">
                <a:latin typeface="Arial" panose="020B0604020202020204" pitchFamily="34" charset="0"/>
                <a:cs typeface="Arial" panose="020B0604020202020204" pitchFamily="34" charset="0"/>
              </a:rPr>
              <a:t> aspect of the randomized block design is the random order in which the treatments (systems) are assigned to the controllers.</a:t>
            </a:r>
          </a:p>
          <a:p>
            <a:pPr>
              <a:spcBef>
                <a:spcPts val="600"/>
              </a:spcBef>
              <a:spcAft>
                <a:spcPts val="0"/>
              </a:spcAft>
            </a:pPr>
            <a:r>
              <a:rPr lang="en-US" sz="2000" dirty="0">
                <a:latin typeface="Arial" panose="020B0604020202020204" pitchFamily="34" charset="0"/>
                <a:cs typeface="Arial" panose="020B0604020202020204" pitchFamily="34" charset="0"/>
              </a:rPr>
              <a:t>The </a:t>
            </a:r>
            <a:r>
              <a:rPr lang="en-US" sz="2000" i="1" dirty="0">
                <a:latin typeface="Arial" panose="020B0604020202020204" pitchFamily="34" charset="0"/>
                <a:cs typeface="Arial" panose="020B0604020202020204" pitchFamily="34" charset="0"/>
              </a:rPr>
              <a:t>response variable</a:t>
            </a:r>
            <a:r>
              <a:rPr lang="en-US" sz="2000" dirty="0">
                <a:latin typeface="Arial" panose="020B0604020202020204" pitchFamily="34" charset="0"/>
                <a:cs typeface="Arial" panose="020B0604020202020204" pitchFamily="34" charset="0"/>
              </a:rPr>
              <a:t> is the stress level on each system measured for each participating controller during a follow-up interview and medical examination.</a:t>
            </a:r>
            <a:endParaRPr lang="en-US" sz="2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6623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2446-B766-8353-1453-CEFAB37DD64F}"/>
              </a:ext>
            </a:extLst>
          </p:cNvPr>
          <p:cNvSpPr>
            <a:spLocks noGrp="1"/>
          </p:cNvSpPr>
          <p:nvPr>
            <p:ph type="title"/>
          </p:nvPr>
        </p:nvSpPr>
        <p:spPr/>
        <p:txBody>
          <a:bodyPr/>
          <a:lstStyle/>
          <a:p>
            <a:r>
              <a:rPr lang="en-US" sz="3200" dirty="0"/>
              <a:t>13.4 Summary of Stress Data for the Air Traffic Controller Stress Test</a:t>
            </a:r>
          </a:p>
        </p:txBody>
      </p:sp>
      <mc:AlternateContent xmlns:mc="http://schemas.openxmlformats.org/markup-compatibility/2006" xmlns:a14="http://schemas.microsoft.com/office/drawing/2010/main">
        <mc:Choice Requires="a14">
          <p:graphicFrame>
            <p:nvGraphicFramePr>
              <p:cNvPr id="4" name="Table 5">
                <a:extLst>
                  <a:ext uri="{FF2B5EF4-FFF2-40B4-BE49-F238E27FC236}">
                    <a16:creationId xmlns:a16="http://schemas.microsoft.com/office/drawing/2014/main" id="{2B3708E6-253E-FAA6-C3FF-19B86C7BD359}"/>
                  </a:ext>
                </a:extLst>
              </p:cNvPr>
              <p:cNvGraphicFramePr>
                <a:graphicFrameLocks noGrp="1"/>
              </p:cNvGraphicFramePr>
              <p:nvPr>
                <p:ph type="tbl" sz="quarter" idx="10"/>
              </p:nvPr>
            </p:nvGraphicFramePr>
            <p:xfrm>
              <a:off x="1699673" y="1726002"/>
              <a:ext cx="8913423" cy="4172903"/>
            </p:xfrm>
            <a:graphic>
              <a:graphicData uri="http://schemas.openxmlformats.org/drawingml/2006/table">
                <a:tbl>
                  <a:tblPr firstRow="1" bandRow="1">
                    <a:tableStyleId>{5C22544A-7EE6-4342-B048-85BDC9FD1C3A}</a:tableStyleId>
                  </a:tblPr>
                  <a:tblGrid>
                    <a:gridCol w="1161142">
                      <a:extLst>
                        <a:ext uri="{9D8B030D-6E8A-4147-A177-3AD203B41FA5}">
                          <a16:colId xmlns:a16="http://schemas.microsoft.com/office/drawing/2014/main" val="3621196883"/>
                        </a:ext>
                      </a:extLst>
                    </a:gridCol>
                    <a:gridCol w="1161142">
                      <a:extLst>
                        <a:ext uri="{9D8B030D-6E8A-4147-A177-3AD203B41FA5}">
                          <a16:colId xmlns:a16="http://schemas.microsoft.com/office/drawing/2014/main" val="3873066617"/>
                        </a:ext>
                      </a:extLst>
                    </a:gridCol>
                    <a:gridCol w="1161142">
                      <a:extLst>
                        <a:ext uri="{9D8B030D-6E8A-4147-A177-3AD203B41FA5}">
                          <a16:colId xmlns:a16="http://schemas.microsoft.com/office/drawing/2014/main" val="1542531638"/>
                        </a:ext>
                      </a:extLst>
                    </a:gridCol>
                    <a:gridCol w="1161142">
                      <a:extLst>
                        <a:ext uri="{9D8B030D-6E8A-4147-A177-3AD203B41FA5}">
                          <a16:colId xmlns:a16="http://schemas.microsoft.com/office/drawing/2014/main" val="3536836984"/>
                        </a:ext>
                      </a:extLst>
                    </a:gridCol>
                    <a:gridCol w="1161142">
                      <a:extLst>
                        <a:ext uri="{9D8B030D-6E8A-4147-A177-3AD203B41FA5}">
                          <a16:colId xmlns:a16="http://schemas.microsoft.com/office/drawing/2014/main" val="1033946081"/>
                        </a:ext>
                      </a:extLst>
                    </a:gridCol>
                    <a:gridCol w="1278913">
                      <a:extLst>
                        <a:ext uri="{9D8B030D-6E8A-4147-A177-3AD203B41FA5}">
                          <a16:colId xmlns:a16="http://schemas.microsoft.com/office/drawing/2014/main" val="2678697134"/>
                        </a:ext>
                      </a:extLst>
                    </a:gridCol>
                    <a:gridCol w="1828800">
                      <a:extLst>
                        <a:ext uri="{9D8B030D-6E8A-4147-A177-3AD203B41FA5}">
                          <a16:colId xmlns:a16="http://schemas.microsoft.com/office/drawing/2014/main" val="2337405120"/>
                        </a:ext>
                      </a:extLst>
                    </a:gridCol>
                  </a:tblGrid>
                  <a:tr h="370840">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a:solidFill>
                              <a:srgbClr val="0070C0"/>
                            </a:solidFill>
                            <a:effectLst/>
                            <a:latin typeface="Calibri" panose="020F0502020204030204" pitchFamily="34" charset="0"/>
                          </a:endParaRPr>
                        </a:p>
                      </a:txBody>
                      <a:tcPr marL="6350" marR="6350" marT="6350" marB="0" anchor="b">
                        <a:lnL w="12700" cmpd="sng">
                          <a:noFill/>
                        </a:lnL>
                        <a:lnR w="19050" cap="flat" cmpd="sng" algn="ctr">
                          <a:solidFill>
                            <a:srgbClr val="0070C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a:solidFill>
                              <a:srgbClr val="0070C0"/>
                            </a:solidFill>
                            <a:effectLst/>
                            <a:latin typeface="Calibri" panose="020F0502020204030204" pitchFamily="34" charset="0"/>
                          </a:endParaRPr>
                        </a:p>
                      </a:txBody>
                      <a:tcPr marL="6350" marR="6350" marT="6350" marB="0" anchor="b">
                        <a:lnL w="19050" cap="flat" cmpd="sng" algn="ctr">
                          <a:solidFill>
                            <a:srgbClr val="0070C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70C0"/>
                              </a:solidFill>
                              <a:effectLst/>
                              <a:latin typeface="Calibri" panose="020F0502020204030204" pitchFamily="34" charset="0"/>
                            </a:rPr>
                            <a:t>Treatments</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a:solidFill>
                              <a:srgbClr val="0070C0"/>
                            </a:solidFill>
                            <a:effectLst/>
                            <a:latin typeface="Calibri" panose="020F0502020204030204" pitchFamily="34" charset="0"/>
                          </a:endParaRPr>
                        </a:p>
                      </a:txBody>
                      <a:tcPr marL="6350" marR="6350" marT="6350" marB="0" anchor="b">
                        <a:lnL w="12700" cmpd="sng">
                          <a:noFill/>
                        </a:lnL>
                        <a:lnR w="19050" cap="flat" cmpd="sng" algn="ctr">
                          <a:solidFill>
                            <a:srgbClr val="0070C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b">
                        <a:lnL w="19050" cap="flat" cmpd="sng" algn="ctr">
                          <a:solidFill>
                            <a:srgbClr val="0070C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143582140"/>
                      </a:ext>
                    </a:extLst>
                  </a:tr>
                  <a:tr h="640080">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ctr">
                        <a:lnL w="12700" cmpd="sng">
                          <a:noFill/>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ctr">
                        <a:lnL w="12700" cmpd="sng">
                          <a:noFill/>
                        </a:lnL>
                        <a:lnR w="19050" cap="flat" cmpd="sng" algn="ctr">
                          <a:solidFill>
                            <a:srgbClr val="0070C0"/>
                          </a:solidFill>
                          <a:prstDash val="solid"/>
                          <a:round/>
                          <a:headEnd type="none" w="med" len="med"/>
                          <a:tailEnd type="none" w="med" len="med"/>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System A</a:t>
                          </a:r>
                        </a:p>
                      </a:txBody>
                      <a:tcPr marL="6350" marR="6350" marT="6350" marB="91440" anchor="b">
                        <a:lnL w="19050" cap="flat" cmpd="sng" algn="ctr">
                          <a:solidFill>
                            <a:srgbClr val="0070C0"/>
                          </a:solidFill>
                          <a:prstDash val="solid"/>
                          <a:round/>
                          <a:headEnd type="none" w="med" len="med"/>
                          <a:tailEnd type="none" w="med" len="med"/>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System B</a:t>
                          </a:r>
                        </a:p>
                      </a:txBody>
                      <a:tcPr marL="6350" marR="6350" marT="6350" marB="91440" anchor="b">
                        <a:lnL w="12700" cmpd="sng">
                          <a:noFill/>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System C</a:t>
                          </a:r>
                        </a:p>
                      </a:txBody>
                      <a:tcPr marL="6350" marR="6350" marT="6350" marB="91440" anchor="b">
                        <a:lnL w="12700" cmpd="sng">
                          <a:noFill/>
                        </a:lnL>
                        <a:lnR w="19050" cap="flat" cmpd="sng" algn="ctr">
                          <a:solidFill>
                            <a:srgbClr val="0070C0"/>
                          </a:solidFill>
                          <a:prstDash val="solid"/>
                          <a:round/>
                          <a:headEnd type="none" w="med" len="med"/>
                          <a:tailEnd type="none" w="med" len="med"/>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en-US" sz="1600" b="1" i="0" u="none" strike="noStrike" dirty="0">
                              <a:solidFill>
                                <a:srgbClr val="0070C0"/>
                              </a:solidFill>
                              <a:effectLst/>
                              <a:latin typeface="Calibri" panose="020F0502020204030204" pitchFamily="34" charset="0"/>
                            </a:rPr>
                            <a:t>  Row or </a:t>
                          </a:r>
                        </a:p>
                        <a:p>
                          <a:pPr algn="l" fontAlgn="b"/>
                          <a:r>
                            <a:rPr lang="en-US" sz="1600" b="1" i="0" u="none" strike="noStrike" dirty="0">
                              <a:solidFill>
                                <a:srgbClr val="0070C0"/>
                              </a:solidFill>
                              <a:effectLst/>
                              <a:latin typeface="Calibri" panose="020F0502020204030204" pitchFamily="34" charset="0"/>
                            </a:rPr>
                            <a:t>  Block Totals</a:t>
                          </a:r>
                        </a:p>
                      </a:txBody>
                      <a:tcPr marL="6350" marR="6350" marT="6350" marB="91440"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70C0"/>
                              </a:solidFill>
                              <a:effectLst/>
                              <a:latin typeface="Calibri" panose="020F0502020204030204" pitchFamily="34" charset="0"/>
                            </a:rPr>
                            <a:t>Block Means</a:t>
                          </a:r>
                        </a:p>
                      </a:txBody>
                      <a:tcPr marL="6350" marR="6350" marT="6350" marB="91440" anchor="b">
                        <a:lnL w="19050" cap="flat" cmpd="sng" algn="ctr">
                          <a:solidFill>
                            <a:srgbClr val="0070C0"/>
                          </a:solidFill>
                          <a:prstDash val="solid"/>
                          <a:round/>
                          <a:headEnd type="none" w="med" len="med"/>
                          <a:tailEnd type="none" w="med" len="med"/>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18355460"/>
                      </a:ext>
                    </a:extLst>
                  </a:tr>
                  <a:tr h="370840">
                    <a:tc>
                      <a:txBody>
                        <a:bodyPr/>
                        <a:lstStyle/>
                        <a:p>
                          <a:pPr algn="l" fontAlgn="b"/>
                          <a:r>
                            <a:rPr lang="en-US" sz="1600" b="1" i="0" u="none" strike="noStrike" dirty="0">
                              <a:solidFill>
                                <a:srgbClr val="0070C0"/>
                              </a:solidFill>
                              <a:effectLst/>
                              <a:latin typeface="Calibri" panose="020F0502020204030204" pitchFamily="34" charset="0"/>
                            </a:rPr>
                            <a:t> Blocks</a:t>
                          </a:r>
                        </a:p>
                      </a:txBody>
                      <a:tcPr marL="6350" marR="6350" anchor="ctr">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it-IT" sz="1600" b="1" i="0" u="none" strike="noStrike" dirty="0">
                              <a:solidFill>
                                <a:srgbClr val="000000"/>
                              </a:solidFill>
                              <a:effectLst/>
                              <a:latin typeface="Calibri" panose="020F0502020204030204" pitchFamily="34" charset="0"/>
                            </a:rPr>
                            <a:t>Controller 1</a:t>
                          </a:r>
                        </a:p>
                        <a:p>
                          <a:pPr algn="l" fontAlgn="b"/>
                          <a:r>
                            <a:rPr lang="it-IT" sz="1600" b="1" i="0" u="none" strike="noStrike" dirty="0">
                              <a:solidFill>
                                <a:srgbClr val="000000"/>
                              </a:solidFill>
                              <a:effectLst/>
                              <a:latin typeface="Calibri" panose="020F0502020204030204" pitchFamily="34" charset="0"/>
                            </a:rPr>
                            <a:t>Controller 2</a:t>
                          </a:r>
                        </a:p>
                        <a:p>
                          <a:pPr algn="l" fontAlgn="b"/>
                          <a:r>
                            <a:rPr lang="it-IT" sz="1600" b="1" i="0" u="none" strike="noStrike" dirty="0">
                              <a:solidFill>
                                <a:srgbClr val="000000"/>
                              </a:solidFill>
                              <a:effectLst/>
                              <a:latin typeface="Calibri" panose="020F0502020204030204" pitchFamily="34" charset="0"/>
                            </a:rPr>
                            <a:t>Controller 3</a:t>
                          </a:r>
                        </a:p>
                        <a:p>
                          <a:pPr algn="l" fontAlgn="b"/>
                          <a:r>
                            <a:rPr lang="it-IT" sz="1600" b="1" i="0" u="none" strike="noStrike" dirty="0">
                              <a:solidFill>
                                <a:srgbClr val="000000"/>
                              </a:solidFill>
                              <a:effectLst/>
                              <a:latin typeface="Calibri" panose="020F0502020204030204" pitchFamily="34" charset="0"/>
                            </a:rPr>
                            <a:t>Controller 4</a:t>
                          </a:r>
                        </a:p>
                        <a:p>
                          <a:pPr algn="l" fontAlgn="b"/>
                          <a:r>
                            <a:rPr lang="it-IT" sz="1600" b="1" i="0" u="none" strike="noStrike" dirty="0">
                              <a:solidFill>
                                <a:srgbClr val="000000"/>
                              </a:solidFill>
                              <a:effectLst/>
                              <a:latin typeface="Calibri" panose="020F0502020204030204" pitchFamily="34" charset="0"/>
                            </a:rPr>
                            <a:t>Controller 5</a:t>
                          </a:r>
                        </a:p>
                        <a:p>
                          <a:pPr algn="l" fontAlgn="b"/>
                          <a:r>
                            <a:rPr lang="it-IT" sz="1600" b="1" i="0" u="none" strike="noStrike" dirty="0">
                              <a:solidFill>
                                <a:srgbClr val="000000"/>
                              </a:solidFill>
                              <a:effectLst/>
                              <a:latin typeface="Calibri" panose="020F0502020204030204" pitchFamily="34" charset="0"/>
                            </a:rPr>
                            <a:t>Controller 6</a:t>
                          </a:r>
                        </a:p>
                      </a:txBody>
                      <a:tcPr marL="6350" marR="635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15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14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10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16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a:t>
                          </a:r>
                        </a:p>
                      </a:txBody>
                      <a:tcPr marL="6350" marR="6350" anchor="b">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15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14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11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12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a:t>
                          </a:r>
                        </a:p>
                      </a:txBody>
                      <a:tcPr marL="6350" marR="6350" anchor="b">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18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14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15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17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16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a:t>
                          </a:r>
                        </a:p>
                      </a:txBody>
                      <a:tcPr marL="6350" marR="635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48</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42</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36</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42</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45</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39</a:t>
                          </a:r>
                        </a:p>
                      </a:txBody>
                      <a:tcPr marL="6350" marR="6350"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rPr>
                                      <m:t>1</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rPr>
                                  <m:t>=</m:t>
                                </m:r>
                                <m:f>
                                  <m:fPr>
                                    <m:type m:val="lin"/>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48</m:t>
                                    </m:r>
                                  </m:num>
                                  <m:den>
                                    <m:r>
                                      <a:rPr lang="en-US" sz="1600" b="0" i="1" u="none" strike="noStrike" smtClean="0">
                                        <a:solidFill>
                                          <a:srgbClr val="000000"/>
                                        </a:solidFill>
                                        <a:effectLst/>
                                        <a:latin typeface="Cambria Math" panose="02040503050406030204" pitchFamily="18" charset="0"/>
                                      </a:rPr>
                                      <m:t>3</m:t>
                                    </m:r>
                                  </m:den>
                                </m:f>
                                <m:r>
                                  <a:rPr lang="en-US" sz="1600" b="0" i="1" u="none" strike="noStrike" smtClean="0">
                                    <a:solidFill>
                                      <a:srgbClr val="000000"/>
                                    </a:solidFill>
                                    <a:effectLst/>
                                    <a:latin typeface="Cambria Math" panose="02040503050406030204" pitchFamily="18" charset="0"/>
                                  </a:rPr>
                                  <m:t>=16.0</m:t>
                                </m:r>
                              </m:oMath>
                            </m:oMathPara>
                          </a14:m>
                          <a:endParaRPr lang="en-US" sz="1600" b="0" i="0" u="none" strike="noStrike" dirty="0">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rPr>
                                      <m:t>2</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rPr>
                                  <m:t>=</m:t>
                                </m:r>
                                <m:f>
                                  <m:fPr>
                                    <m:type m:val="lin"/>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42</m:t>
                                    </m:r>
                                  </m:num>
                                  <m:den>
                                    <m:r>
                                      <a:rPr lang="en-US" sz="1600" b="0" i="1" u="none" strike="noStrike" smtClean="0">
                                        <a:solidFill>
                                          <a:srgbClr val="000000"/>
                                        </a:solidFill>
                                        <a:effectLst/>
                                        <a:latin typeface="Cambria Math" panose="02040503050406030204" pitchFamily="18" charset="0"/>
                                      </a:rPr>
                                      <m:t>3</m:t>
                                    </m:r>
                                  </m:den>
                                </m:f>
                                <m:r>
                                  <a:rPr lang="en-US" sz="1600" b="0" i="1" u="none" strike="noStrike" smtClean="0">
                                    <a:solidFill>
                                      <a:srgbClr val="000000"/>
                                    </a:solidFill>
                                    <a:effectLst/>
                                    <a:latin typeface="Cambria Math" panose="02040503050406030204" pitchFamily="18" charset="0"/>
                                  </a:rPr>
                                  <m:t>=14.0</m:t>
                                </m:r>
                              </m:oMath>
                            </m:oMathPara>
                          </a14:m>
                          <a:endParaRPr lang="en-US" sz="1600" b="0" i="0" u="none" strike="noStrike" dirty="0">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rPr>
                                      <m:t>3</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rPr>
                                  <m:t>=</m:t>
                                </m:r>
                                <m:f>
                                  <m:fPr>
                                    <m:type m:val="lin"/>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36</m:t>
                                    </m:r>
                                  </m:num>
                                  <m:den>
                                    <m:r>
                                      <a:rPr lang="en-US" sz="1600" b="0" i="1" u="none" strike="noStrike" smtClean="0">
                                        <a:solidFill>
                                          <a:srgbClr val="000000"/>
                                        </a:solidFill>
                                        <a:effectLst/>
                                        <a:latin typeface="Cambria Math" panose="02040503050406030204" pitchFamily="18" charset="0"/>
                                      </a:rPr>
                                      <m:t>3</m:t>
                                    </m:r>
                                  </m:den>
                                </m:f>
                                <m:r>
                                  <a:rPr lang="en-US" sz="1600" b="0" i="1" u="none" strike="noStrike" smtClean="0">
                                    <a:solidFill>
                                      <a:srgbClr val="000000"/>
                                    </a:solidFill>
                                    <a:effectLst/>
                                    <a:latin typeface="Cambria Math" panose="02040503050406030204" pitchFamily="18" charset="0"/>
                                  </a:rPr>
                                  <m:t>=12.0</m:t>
                                </m:r>
                              </m:oMath>
                            </m:oMathPara>
                          </a14:m>
                          <a:endParaRPr lang="en-US" sz="1600" b="0" i="0" u="none" strike="noStrike" dirty="0">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rPr>
                                      <m:t>4</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rPr>
                                  <m:t>=</m:t>
                                </m:r>
                                <m:f>
                                  <m:fPr>
                                    <m:type m:val="lin"/>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42</m:t>
                                    </m:r>
                                  </m:num>
                                  <m:den>
                                    <m:r>
                                      <a:rPr lang="en-US" sz="1600" b="0" i="1" u="none" strike="noStrike" smtClean="0">
                                        <a:solidFill>
                                          <a:srgbClr val="000000"/>
                                        </a:solidFill>
                                        <a:effectLst/>
                                        <a:latin typeface="Cambria Math" panose="02040503050406030204" pitchFamily="18" charset="0"/>
                                      </a:rPr>
                                      <m:t>3</m:t>
                                    </m:r>
                                  </m:den>
                                </m:f>
                                <m:r>
                                  <a:rPr lang="en-US" sz="1600" b="0" i="1" u="none" strike="noStrike" smtClean="0">
                                    <a:solidFill>
                                      <a:srgbClr val="000000"/>
                                    </a:solidFill>
                                    <a:effectLst/>
                                    <a:latin typeface="Cambria Math" panose="02040503050406030204" pitchFamily="18" charset="0"/>
                                  </a:rPr>
                                  <m:t>=14.0</m:t>
                                </m:r>
                              </m:oMath>
                            </m:oMathPara>
                          </a14:m>
                          <a:endParaRPr lang="en-US" sz="1600" b="0" i="0" u="none" strike="noStrike" dirty="0">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rPr>
                                      <m:t>5</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rPr>
                                  <m:t>=</m:t>
                                </m:r>
                                <m:f>
                                  <m:fPr>
                                    <m:type m:val="lin"/>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45</m:t>
                                    </m:r>
                                  </m:num>
                                  <m:den>
                                    <m:r>
                                      <a:rPr lang="en-US" sz="1600" b="0" i="1" u="none" strike="noStrike" smtClean="0">
                                        <a:solidFill>
                                          <a:srgbClr val="000000"/>
                                        </a:solidFill>
                                        <a:effectLst/>
                                        <a:latin typeface="Cambria Math" panose="02040503050406030204" pitchFamily="18" charset="0"/>
                                      </a:rPr>
                                      <m:t>3</m:t>
                                    </m:r>
                                  </m:den>
                                </m:f>
                                <m:r>
                                  <a:rPr lang="en-US" sz="1600" b="0" i="1" u="none" strike="noStrike" smtClean="0">
                                    <a:solidFill>
                                      <a:srgbClr val="000000"/>
                                    </a:solidFill>
                                    <a:effectLst/>
                                    <a:latin typeface="Cambria Math" panose="02040503050406030204" pitchFamily="18" charset="0"/>
                                  </a:rPr>
                                  <m:t>=15.0</m:t>
                                </m:r>
                              </m:oMath>
                            </m:oMathPara>
                          </a14:m>
                          <a:endParaRPr lang="en-US" sz="1600" b="0" i="0" u="none" strike="noStrike" dirty="0">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rPr>
                                      <m:t>6</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rPr>
                                  <m:t>=</m:t>
                                </m:r>
                                <m:f>
                                  <m:fPr>
                                    <m:type m:val="lin"/>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39</m:t>
                                    </m:r>
                                  </m:num>
                                  <m:den>
                                    <m:r>
                                      <a:rPr lang="en-US" sz="1600" b="0" i="1" u="none" strike="noStrike" smtClean="0">
                                        <a:solidFill>
                                          <a:srgbClr val="000000"/>
                                        </a:solidFill>
                                        <a:effectLst/>
                                        <a:latin typeface="Cambria Math" panose="02040503050406030204" pitchFamily="18" charset="0"/>
                                      </a:rPr>
                                      <m:t>3</m:t>
                                    </m:r>
                                  </m:den>
                                </m:f>
                                <m:r>
                                  <a:rPr lang="en-US" sz="1600" b="0" i="1" u="none" strike="noStrike" smtClean="0">
                                    <a:solidFill>
                                      <a:srgbClr val="000000"/>
                                    </a:solidFill>
                                    <a:effectLst/>
                                    <a:latin typeface="Cambria Math" panose="02040503050406030204" pitchFamily="18" charset="0"/>
                                  </a:rPr>
                                  <m:t>=13.0</m:t>
                                </m:r>
                              </m:oMath>
                            </m:oMathPara>
                          </a14:m>
                          <a:endParaRPr lang="en-US" sz="1600" b="0" i="0" u="none" strike="noStrike" dirty="0">
                            <a:solidFill>
                              <a:srgbClr val="000000"/>
                            </a:solidFill>
                            <a:effectLst/>
                            <a:latin typeface="Calibri" panose="020F0502020204030204" pitchFamily="34" charset="0"/>
                          </a:endParaRPr>
                        </a:p>
                      </a:txBody>
                      <a:tcPr marL="6350" marR="6350">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23105077"/>
                      </a:ext>
                    </a:extLst>
                  </a:tr>
                  <a:tr h="370840">
                    <a:tc>
                      <a:txBody>
                        <a:bodyPr/>
                        <a:lstStyle/>
                        <a:p>
                          <a:pPr algn="l" fontAlgn="b"/>
                          <a:r>
                            <a:rPr lang="en-US" sz="1600" b="1" i="0" u="none" strike="noStrike" dirty="0">
                              <a:solidFill>
                                <a:srgbClr val="0070C0"/>
                              </a:solidFill>
                              <a:effectLst/>
                              <a:latin typeface="Calibri" panose="020F0502020204030204" pitchFamily="34" charset="0"/>
                            </a:rPr>
                            <a:t> Column or  </a:t>
                          </a:r>
                        </a:p>
                        <a:p>
                          <a:pPr algn="l" fontAlgn="b"/>
                          <a:r>
                            <a:rPr lang="en-US" sz="1600" b="1" i="0" u="none" strike="noStrike" dirty="0">
                              <a:solidFill>
                                <a:srgbClr val="0070C0"/>
                              </a:solidFill>
                              <a:effectLst/>
                              <a:latin typeface="Calibri" panose="020F0502020204030204" pitchFamily="34" charset="0"/>
                            </a:rPr>
                            <a:t> Treatment   </a:t>
                          </a:r>
                        </a:p>
                        <a:p>
                          <a:pPr algn="l" fontAlgn="b"/>
                          <a:r>
                            <a:rPr lang="en-US" sz="1600" b="1" i="0" u="none" strike="noStrike" dirty="0">
                              <a:solidFill>
                                <a:srgbClr val="0070C0"/>
                              </a:solidFill>
                              <a:effectLst/>
                              <a:latin typeface="Calibri" panose="020F0502020204030204" pitchFamily="34" charset="0"/>
                            </a:rPr>
                            <a:t> Totals</a:t>
                          </a:r>
                        </a:p>
                      </a:txBody>
                      <a:tcPr marL="6350" marR="6350" marT="6350" marB="0" anchor="b">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endParaRPr lang="en-US" sz="1600" b="1" i="0" u="none" strike="noStrike" dirty="0">
                            <a:solidFill>
                              <a:srgbClr val="0070C0"/>
                            </a:solidFill>
                            <a:effectLst/>
                            <a:latin typeface="Calibri" panose="020F0502020204030204" pitchFamily="34" charset="0"/>
                          </a:endParaRPr>
                        </a:p>
                      </a:txBody>
                      <a:tcPr marL="6350" marR="6350" marT="6350" marB="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81</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78</a:t>
                          </a:r>
                        </a:p>
                      </a:txBody>
                      <a:tcPr marL="6350" marR="6350" marT="6350" marB="0" anchor="ctr">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93</a:t>
                          </a:r>
                        </a:p>
                      </a:txBody>
                      <a:tcPr marL="6350" marR="6350" marT="6350" marB="0" anchor="ctr">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252</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r>
                                  <a:rPr lang="en-US" sz="1600" b="0" i="1" u="none" strike="noStrike" smtClean="0">
                                    <a:solidFill>
                                      <a:srgbClr val="000000"/>
                                    </a:solidFill>
                                    <a:effectLst/>
                                    <a:latin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252</m:t>
                                    </m:r>
                                  </m:num>
                                  <m:den>
                                    <m:r>
                                      <a:rPr lang="en-US" sz="1600" b="0" i="1" u="none" strike="noStrike" smtClean="0">
                                        <a:solidFill>
                                          <a:srgbClr val="000000"/>
                                        </a:solidFill>
                                        <a:effectLst/>
                                        <a:latin typeface="Cambria Math" panose="02040503050406030204" pitchFamily="18" charset="0"/>
                                      </a:rPr>
                                      <m:t>18</m:t>
                                    </m:r>
                                  </m:den>
                                </m:f>
                                <m:r>
                                  <a:rPr lang="en-US" sz="1600" b="0" i="1" u="none" strike="noStrike" smtClean="0">
                                    <a:solidFill>
                                      <a:srgbClr val="000000"/>
                                    </a:solidFill>
                                    <a:effectLst/>
                                    <a:latin typeface="Cambria Math" panose="02040503050406030204" pitchFamily="18" charset="0"/>
                                  </a:rPr>
                                  <m:t>=14.0</m:t>
                                </m:r>
                              </m:oMath>
                            </m:oMathPara>
                          </a14:m>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1081277"/>
                      </a:ext>
                    </a:extLst>
                  </a:tr>
                  <a:tr h="731520">
                    <a:tc>
                      <a:txBody>
                        <a:bodyPr/>
                        <a:lstStyle/>
                        <a:p>
                          <a:pPr algn="l" fontAlgn="b"/>
                          <a:r>
                            <a:rPr lang="en-US" sz="1600" b="1" i="0" u="none" strike="noStrike" dirty="0">
                              <a:solidFill>
                                <a:srgbClr val="0070C0"/>
                              </a:solidFill>
                              <a:effectLst/>
                              <a:latin typeface="Calibri" panose="020F0502020204030204" pitchFamily="34" charset="0"/>
                            </a:rPr>
                            <a:t> Treatment </a:t>
                          </a:r>
                        </a:p>
                        <a:p>
                          <a:pPr algn="l" fontAlgn="b"/>
                          <a:r>
                            <a:rPr lang="en-US" sz="1600" b="1" i="0" u="none" strike="noStrike" dirty="0">
                              <a:solidFill>
                                <a:srgbClr val="0070C0"/>
                              </a:solidFill>
                              <a:effectLst/>
                              <a:latin typeface="Calibri" panose="020F0502020204030204" pitchFamily="34" charset="0"/>
                            </a:rPr>
                            <a:t> Means</a:t>
                          </a:r>
                        </a:p>
                      </a:txBody>
                      <a:tcPr marL="6350" marR="6350" marB="0">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1" i="0" u="none" strike="noStrike" dirty="0">
                            <a:solidFill>
                              <a:srgbClr val="0070C0"/>
                            </a:solidFill>
                            <a:effectLst/>
                            <a:latin typeface="Calibri" panose="020F0502020204030204" pitchFamily="34" charset="0"/>
                          </a:endParaRPr>
                        </a:p>
                      </a:txBody>
                      <a:tcPr marL="6350" marR="6350" marB="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600" b="0" i="1" u="none" strike="noStrike" smtClean="0">
                                    <a:solidFill>
                                      <a:srgbClr val="000000"/>
                                    </a:solidFill>
                                    <a:effectLst/>
                                    <a:latin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81</m:t>
                                    </m:r>
                                  </m:num>
                                  <m:den>
                                    <m:r>
                                      <a:rPr lang="en-US" sz="1600" b="0" i="1" u="none" strike="noStrike" smtClean="0">
                                        <a:solidFill>
                                          <a:srgbClr val="000000"/>
                                        </a:solidFill>
                                        <a:effectLst/>
                                        <a:latin typeface="Cambria Math" panose="02040503050406030204" pitchFamily="18" charset="0"/>
                                      </a:rPr>
                                      <m:t>6</m:t>
                                    </m:r>
                                  </m:den>
                                </m:f>
                              </m:oMath>
                            </m:oMathPara>
                          </a14:m>
                          <a:endParaRPr lang="en-US" sz="1600" b="0" i="1" u="none" strike="noStrike" dirty="0">
                            <a:solidFill>
                              <a:srgbClr val="000000"/>
                            </a:solidFill>
                            <a:effectLst/>
                            <a:latin typeface="Cambria Math" panose="02040503050406030204" pitchFamily="18" charset="0"/>
                          </a:endParaRPr>
                        </a:p>
                        <a:p>
                          <a:pPr algn="ctr" fontAlgn="b"/>
                          <a:endParaRPr lang="en-US" sz="800" b="0" i="1" u="none" strike="noStrike" dirty="0">
                            <a:solidFill>
                              <a:srgbClr val="000000"/>
                            </a:solidFill>
                            <a:effectLst/>
                            <a:latin typeface="Cambria Math" panose="02040503050406030204" pitchFamily="18" charset="0"/>
                          </a:endParaRPr>
                        </a:p>
                        <a:p>
                          <a:pPr algn="ctr" fontAlgn="b"/>
                          <a:r>
                            <a:rPr lang="en-US" sz="1600" b="0" i="1" u="none" strike="noStrike" dirty="0">
                              <a:solidFill>
                                <a:srgbClr val="000000"/>
                              </a:solidFill>
                              <a:effectLst/>
                              <a:latin typeface="Cambria Math" panose="02040503050406030204" pitchFamily="18"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rPr>
                                <m:t>     =13.5</m:t>
                              </m:r>
                            </m:oMath>
                          </a14:m>
                          <a:endParaRPr lang="en-US" sz="1600" b="0" i="0" u="none" strike="noStrike" dirty="0">
                            <a:solidFill>
                              <a:srgbClr val="000000"/>
                            </a:solidFill>
                            <a:effectLst/>
                            <a:latin typeface="Calibri" panose="020F0502020204030204" pitchFamily="34" charset="0"/>
                          </a:endParaRPr>
                        </a:p>
                      </a:txBody>
                      <a:tcPr marL="6350" marR="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sub>
                                </m:sSub>
                                <m:r>
                                  <a:rPr lang="en-US" sz="1600" b="0" i="1" u="none" strike="noStrike" smtClean="0">
                                    <a:solidFill>
                                      <a:srgbClr val="000000"/>
                                    </a:solidFill>
                                    <a:effectLst/>
                                    <a:latin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78</m:t>
                                    </m:r>
                                  </m:num>
                                  <m:den>
                                    <m:r>
                                      <a:rPr lang="en-US" sz="1600" b="0" i="1" u="none" strike="noStrike" smtClean="0">
                                        <a:solidFill>
                                          <a:srgbClr val="000000"/>
                                        </a:solidFill>
                                        <a:effectLst/>
                                        <a:latin typeface="Cambria Math" panose="02040503050406030204" pitchFamily="18" charset="0"/>
                                      </a:rPr>
                                      <m:t>6</m:t>
                                    </m:r>
                                  </m:den>
                                </m:f>
                              </m:oMath>
                            </m:oMathPara>
                          </a14:m>
                          <a:endParaRPr lang="en-US" sz="1600" b="0" i="1" u="none" strike="noStrike" dirty="0">
                            <a:solidFill>
                              <a:srgbClr val="000000"/>
                            </a:solidFill>
                            <a:effectLst/>
                            <a:latin typeface="Cambria Math" panose="02040503050406030204" pitchFamily="18" charset="0"/>
                          </a:endParaRPr>
                        </a:p>
                        <a:p>
                          <a:pPr algn="ctr" fontAlgn="b"/>
                          <a:endParaRPr lang="en-US" sz="800" b="0" i="1" u="none" strike="noStrike" dirty="0">
                            <a:solidFill>
                              <a:srgbClr val="000000"/>
                            </a:solidFill>
                            <a:effectLst/>
                            <a:latin typeface="Cambria Math" panose="02040503050406030204" pitchFamily="18" charset="0"/>
                          </a:endParaRPr>
                        </a:p>
                        <a:p>
                          <a:pPr algn="ctr" fontAlgn="b"/>
                          <a:r>
                            <a:rPr lang="en-US" sz="1600" b="0" i="1" u="none" strike="noStrike" dirty="0">
                              <a:solidFill>
                                <a:srgbClr val="000000"/>
                              </a:solidFill>
                              <a:effectLst/>
                              <a:latin typeface="Cambria Math" panose="02040503050406030204" pitchFamily="18"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rPr>
                                <m:t>     =13.0</m:t>
                              </m:r>
                            </m:oMath>
                          </a14:m>
                          <a:endParaRPr lang="en-US" sz="1600" b="0" i="0" u="none" strike="noStrike" dirty="0">
                            <a:solidFill>
                              <a:srgbClr val="000000"/>
                            </a:solidFill>
                            <a:effectLst/>
                            <a:latin typeface="Calibri" panose="020F0502020204030204" pitchFamily="34" charset="0"/>
                          </a:endParaRPr>
                        </a:p>
                      </a:txBody>
                      <a:tcPr marL="6350" marR="6350" marB="0" anchor="ctr">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∙3</m:t>
                                    </m:r>
                                  </m:sub>
                                </m:sSub>
                                <m:r>
                                  <a:rPr lang="en-US" sz="1600" b="0" i="1" u="none" strike="noStrike" smtClean="0">
                                    <a:solidFill>
                                      <a:srgbClr val="000000"/>
                                    </a:solidFill>
                                    <a:effectLst/>
                                    <a:latin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93</m:t>
                                    </m:r>
                                  </m:num>
                                  <m:den>
                                    <m:r>
                                      <a:rPr lang="en-US" sz="1600" b="0" i="1" u="none" strike="noStrike" smtClean="0">
                                        <a:solidFill>
                                          <a:srgbClr val="000000"/>
                                        </a:solidFill>
                                        <a:effectLst/>
                                        <a:latin typeface="Cambria Math" panose="02040503050406030204" pitchFamily="18" charset="0"/>
                                      </a:rPr>
                                      <m:t>6</m:t>
                                    </m:r>
                                  </m:den>
                                </m:f>
                              </m:oMath>
                            </m:oMathPara>
                          </a14:m>
                          <a:endParaRPr lang="en-US" sz="1600" b="0" i="1" u="none" strike="noStrike" dirty="0">
                            <a:solidFill>
                              <a:srgbClr val="000000"/>
                            </a:solidFill>
                            <a:effectLst/>
                            <a:latin typeface="Cambria Math" panose="02040503050406030204" pitchFamily="18" charset="0"/>
                          </a:endParaRPr>
                        </a:p>
                        <a:p>
                          <a:pPr algn="ctr" fontAlgn="b"/>
                          <a:endParaRPr lang="en-US" sz="800" b="0" i="1" u="none" strike="noStrike" dirty="0">
                            <a:solidFill>
                              <a:srgbClr val="000000"/>
                            </a:solidFill>
                            <a:effectLst/>
                            <a:latin typeface="Cambria Math" panose="02040503050406030204" pitchFamily="18" charset="0"/>
                          </a:endParaRPr>
                        </a:p>
                        <a:p>
                          <a:pPr algn="ctr" fontAlgn="b"/>
                          <a:r>
                            <a:rPr lang="en-US" sz="1600" b="0" i="1" u="none" strike="noStrike" dirty="0">
                              <a:solidFill>
                                <a:srgbClr val="000000"/>
                              </a:solidFill>
                              <a:effectLst/>
                              <a:latin typeface="Cambria Math" panose="02040503050406030204" pitchFamily="18"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rPr>
                                <m:t>     =15.5</m:t>
                              </m:r>
                            </m:oMath>
                          </a14:m>
                          <a:endParaRPr lang="en-US" sz="1600" b="0" i="0" u="none" strike="noStrike" dirty="0">
                            <a:solidFill>
                              <a:srgbClr val="000000"/>
                            </a:solidFill>
                            <a:effectLst/>
                            <a:latin typeface="Calibri" panose="020F0502020204030204" pitchFamily="34" charset="0"/>
                          </a:endParaRPr>
                        </a:p>
                      </a:txBody>
                      <a:tcPr marL="6350" marR="6350" marB="0" anchor="ctr">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6350" marR="6350" marB="0" anchor="b">
                        <a:lnL w="1905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6350" marR="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342874598"/>
                      </a:ext>
                    </a:extLst>
                  </a:tr>
                </a:tbl>
              </a:graphicData>
            </a:graphic>
          </p:graphicFrame>
        </mc:Choice>
        <mc:Fallback xmlns="">
          <p:graphicFrame>
            <p:nvGraphicFramePr>
              <p:cNvPr id="4" name="Table 5">
                <a:extLst>
                  <a:ext uri="{FF2B5EF4-FFF2-40B4-BE49-F238E27FC236}">
                    <a16:creationId xmlns:a16="http://schemas.microsoft.com/office/drawing/2014/main" id="{2B3708E6-253E-FAA6-C3FF-19B86C7BD359}"/>
                  </a:ext>
                </a:extLst>
              </p:cNvPr>
              <p:cNvGraphicFramePr>
                <a:graphicFrameLocks noGrp="1"/>
              </p:cNvGraphicFramePr>
              <p:nvPr>
                <p:ph type="tbl" sz="quarter" idx="10"/>
                <p:extLst>
                  <p:ext uri="{D42A27DB-BD31-4B8C-83A1-F6EECF244321}">
                    <p14:modId xmlns:p14="http://schemas.microsoft.com/office/powerpoint/2010/main" val="3121249301"/>
                  </p:ext>
                </p:extLst>
              </p:nvPr>
            </p:nvGraphicFramePr>
            <p:xfrm>
              <a:off x="1699673" y="1726002"/>
              <a:ext cx="8913423" cy="4172903"/>
            </p:xfrm>
            <a:graphic>
              <a:graphicData uri="http://schemas.openxmlformats.org/drawingml/2006/table">
                <a:tbl>
                  <a:tblPr firstRow="1" bandRow="1">
                    <a:tableStyleId>{5C22544A-7EE6-4342-B048-85BDC9FD1C3A}</a:tableStyleId>
                  </a:tblPr>
                  <a:tblGrid>
                    <a:gridCol w="1161142">
                      <a:extLst>
                        <a:ext uri="{9D8B030D-6E8A-4147-A177-3AD203B41FA5}">
                          <a16:colId xmlns:a16="http://schemas.microsoft.com/office/drawing/2014/main" val="3621196883"/>
                        </a:ext>
                      </a:extLst>
                    </a:gridCol>
                    <a:gridCol w="1161142">
                      <a:extLst>
                        <a:ext uri="{9D8B030D-6E8A-4147-A177-3AD203B41FA5}">
                          <a16:colId xmlns:a16="http://schemas.microsoft.com/office/drawing/2014/main" val="3873066617"/>
                        </a:ext>
                      </a:extLst>
                    </a:gridCol>
                    <a:gridCol w="1161142">
                      <a:extLst>
                        <a:ext uri="{9D8B030D-6E8A-4147-A177-3AD203B41FA5}">
                          <a16:colId xmlns:a16="http://schemas.microsoft.com/office/drawing/2014/main" val="1542531638"/>
                        </a:ext>
                      </a:extLst>
                    </a:gridCol>
                    <a:gridCol w="1161142">
                      <a:extLst>
                        <a:ext uri="{9D8B030D-6E8A-4147-A177-3AD203B41FA5}">
                          <a16:colId xmlns:a16="http://schemas.microsoft.com/office/drawing/2014/main" val="3536836984"/>
                        </a:ext>
                      </a:extLst>
                    </a:gridCol>
                    <a:gridCol w="1161142">
                      <a:extLst>
                        <a:ext uri="{9D8B030D-6E8A-4147-A177-3AD203B41FA5}">
                          <a16:colId xmlns:a16="http://schemas.microsoft.com/office/drawing/2014/main" val="1033946081"/>
                        </a:ext>
                      </a:extLst>
                    </a:gridCol>
                    <a:gridCol w="1278913">
                      <a:extLst>
                        <a:ext uri="{9D8B030D-6E8A-4147-A177-3AD203B41FA5}">
                          <a16:colId xmlns:a16="http://schemas.microsoft.com/office/drawing/2014/main" val="2678697134"/>
                        </a:ext>
                      </a:extLst>
                    </a:gridCol>
                    <a:gridCol w="1828800">
                      <a:extLst>
                        <a:ext uri="{9D8B030D-6E8A-4147-A177-3AD203B41FA5}">
                          <a16:colId xmlns:a16="http://schemas.microsoft.com/office/drawing/2014/main" val="2337405120"/>
                        </a:ext>
                      </a:extLst>
                    </a:gridCol>
                  </a:tblGrid>
                  <a:tr h="370840">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a:solidFill>
                              <a:srgbClr val="0070C0"/>
                            </a:solidFill>
                            <a:effectLst/>
                            <a:latin typeface="Calibri" panose="020F0502020204030204" pitchFamily="34" charset="0"/>
                          </a:endParaRPr>
                        </a:p>
                      </a:txBody>
                      <a:tcPr marL="6350" marR="6350" marT="6350" marB="0" anchor="b">
                        <a:lnL w="12700" cmpd="sng">
                          <a:noFill/>
                        </a:lnL>
                        <a:lnR w="19050" cap="flat" cmpd="sng" algn="ctr">
                          <a:solidFill>
                            <a:srgbClr val="0070C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a:solidFill>
                              <a:srgbClr val="0070C0"/>
                            </a:solidFill>
                            <a:effectLst/>
                            <a:latin typeface="Calibri" panose="020F0502020204030204" pitchFamily="34" charset="0"/>
                          </a:endParaRPr>
                        </a:p>
                      </a:txBody>
                      <a:tcPr marL="6350" marR="6350" marT="6350" marB="0" anchor="b">
                        <a:lnL w="19050" cap="flat" cmpd="sng" algn="ctr">
                          <a:solidFill>
                            <a:srgbClr val="0070C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70C0"/>
                              </a:solidFill>
                              <a:effectLst/>
                              <a:latin typeface="Calibri" panose="020F0502020204030204" pitchFamily="34" charset="0"/>
                            </a:rPr>
                            <a:t>Treatments</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a:solidFill>
                              <a:srgbClr val="0070C0"/>
                            </a:solidFill>
                            <a:effectLst/>
                            <a:latin typeface="Calibri" panose="020F0502020204030204" pitchFamily="34" charset="0"/>
                          </a:endParaRPr>
                        </a:p>
                      </a:txBody>
                      <a:tcPr marL="6350" marR="6350" marT="6350" marB="0" anchor="b">
                        <a:lnL w="12700" cmpd="sng">
                          <a:noFill/>
                        </a:lnL>
                        <a:lnR w="19050" cap="flat" cmpd="sng" algn="ctr">
                          <a:solidFill>
                            <a:srgbClr val="0070C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b">
                        <a:lnL w="19050" cap="flat" cmpd="sng" algn="ctr">
                          <a:solidFill>
                            <a:srgbClr val="0070C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143582140"/>
                      </a:ext>
                    </a:extLst>
                  </a:tr>
                  <a:tr h="640080">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ctr">
                        <a:lnL w="12700" cmpd="sng">
                          <a:noFill/>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70C0"/>
                            </a:solidFill>
                            <a:effectLst/>
                            <a:latin typeface="Calibri" panose="020F0502020204030204" pitchFamily="34" charset="0"/>
                          </a:endParaRPr>
                        </a:p>
                      </a:txBody>
                      <a:tcPr marL="6350" marR="6350" marT="6350" marB="0" anchor="ctr">
                        <a:lnL w="12700" cmpd="sng">
                          <a:noFill/>
                        </a:lnL>
                        <a:lnR w="19050" cap="flat" cmpd="sng" algn="ctr">
                          <a:solidFill>
                            <a:srgbClr val="0070C0"/>
                          </a:solidFill>
                          <a:prstDash val="solid"/>
                          <a:round/>
                          <a:headEnd type="none" w="med" len="med"/>
                          <a:tailEnd type="none" w="med" len="med"/>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System A</a:t>
                          </a:r>
                        </a:p>
                      </a:txBody>
                      <a:tcPr marL="6350" marR="6350" marT="6350" marB="91440" anchor="b">
                        <a:lnL w="19050" cap="flat" cmpd="sng" algn="ctr">
                          <a:solidFill>
                            <a:srgbClr val="0070C0"/>
                          </a:solidFill>
                          <a:prstDash val="solid"/>
                          <a:round/>
                          <a:headEnd type="none" w="med" len="med"/>
                          <a:tailEnd type="none" w="med" len="med"/>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System B</a:t>
                          </a:r>
                        </a:p>
                      </a:txBody>
                      <a:tcPr marL="6350" marR="6350" marT="6350" marB="91440" anchor="b">
                        <a:lnL w="12700" cmpd="sng">
                          <a:noFill/>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System C</a:t>
                          </a:r>
                        </a:p>
                      </a:txBody>
                      <a:tcPr marL="6350" marR="6350" marT="6350" marB="91440" anchor="b">
                        <a:lnL w="12700" cmpd="sng">
                          <a:noFill/>
                        </a:lnL>
                        <a:lnR w="19050" cap="flat" cmpd="sng" algn="ctr">
                          <a:solidFill>
                            <a:srgbClr val="0070C0"/>
                          </a:solidFill>
                          <a:prstDash val="solid"/>
                          <a:round/>
                          <a:headEnd type="none" w="med" len="med"/>
                          <a:tailEnd type="none" w="med" len="med"/>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en-US" sz="1600" b="1" i="0" u="none" strike="noStrike" dirty="0">
                              <a:solidFill>
                                <a:srgbClr val="0070C0"/>
                              </a:solidFill>
                              <a:effectLst/>
                              <a:latin typeface="Calibri" panose="020F0502020204030204" pitchFamily="34" charset="0"/>
                            </a:rPr>
                            <a:t>  Row or </a:t>
                          </a:r>
                        </a:p>
                        <a:p>
                          <a:pPr algn="l" fontAlgn="b"/>
                          <a:r>
                            <a:rPr lang="en-US" sz="1600" b="1" i="0" u="none" strike="noStrike" dirty="0">
                              <a:solidFill>
                                <a:srgbClr val="0070C0"/>
                              </a:solidFill>
                              <a:effectLst/>
                              <a:latin typeface="Calibri" panose="020F0502020204030204" pitchFamily="34" charset="0"/>
                            </a:rPr>
                            <a:t>  Block Totals</a:t>
                          </a:r>
                        </a:p>
                      </a:txBody>
                      <a:tcPr marL="6350" marR="6350" marT="6350" marB="91440"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70C0"/>
                              </a:solidFill>
                              <a:effectLst/>
                              <a:latin typeface="Calibri" panose="020F0502020204030204" pitchFamily="34" charset="0"/>
                            </a:rPr>
                            <a:t>Block Means</a:t>
                          </a:r>
                        </a:p>
                      </a:txBody>
                      <a:tcPr marL="6350" marR="6350" marT="6350" marB="91440" anchor="b">
                        <a:lnL w="19050" cap="flat" cmpd="sng" algn="ctr">
                          <a:solidFill>
                            <a:srgbClr val="0070C0"/>
                          </a:solidFill>
                          <a:prstDash val="solid"/>
                          <a:round/>
                          <a:headEnd type="none" w="med" len="med"/>
                          <a:tailEnd type="none" w="med" len="med"/>
                        </a:lnL>
                        <a:lnR w="12700" cmpd="sng">
                          <a:noFill/>
                        </a:lnR>
                        <a:lnT w="38100" cmpd="sng">
                          <a:noFill/>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18355460"/>
                      </a:ext>
                    </a:extLst>
                  </a:tr>
                  <a:tr h="1554480">
                    <a:tc>
                      <a:txBody>
                        <a:bodyPr/>
                        <a:lstStyle/>
                        <a:p>
                          <a:pPr algn="l" fontAlgn="b"/>
                          <a:r>
                            <a:rPr lang="en-US" sz="1600" b="1" i="0" u="none" strike="noStrike" dirty="0">
                              <a:solidFill>
                                <a:srgbClr val="0070C0"/>
                              </a:solidFill>
                              <a:effectLst/>
                              <a:latin typeface="Calibri" panose="020F0502020204030204" pitchFamily="34" charset="0"/>
                            </a:rPr>
                            <a:t> Blocks</a:t>
                          </a:r>
                        </a:p>
                      </a:txBody>
                      <a:tcPr marL="6350" marR="6350" anchor="ctr">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r>
                            <a:rPr lang="it-IT" sz="1600" b="1" i="0" u="none" strike="noStrike" dirty="0">
                              <a:solidFill>
                                <a:srgbClr val="000000"/>
                              </a:solidFill>
                              <a:effectLst/>
                              <a:latin typeface="Calibri" panose="020F0502020204030204" pitchFamily="34" charset="0"/>
                            </a:rPr>
                            <a:t>Controller 1</a:t>
                          </a:r>
                        </a:p>
                        <a:p>
                          <a:pPr algn="l" fontAlgn="b"/>
                          <a:r>
                            <a:rPr lang="it-IT" sz="1600" b="1" i="0" u="none" strike="noStrike" dirty="0">
                              <a:solidFill>
                                <a:srgbClr val="000000"/>
                              </a:solidFill>
                              <a:effectLst/>
                              <a:latin typeface="Calibri" panose="020F0502020204030204" pitchFamily="34" charset="0"/>
                            </a:rPr>
                            <a:t>Controller 2</a:t>
                          </a:r>
                        </a:p>
                        <a:p>
                          <a:pPr algn="l" fontAlgn="b"/>
                          <a:r>
                            <a:rPr lang="it-IT" sz="1600" b="1" i="0" u="none" strike="noStrike" dirty="0">
                              <a:solidFill>
                                <a:srgbClr val="000000"/>
                              </a:solidFill>
                              <a:effectLst/>
                              <a:latin typeface="Calibri" panose="020F0502020204030204" pitchFamily="34" charset="0"/>
                            </a:rPr>
                            <a:t>Controller 3</a:t>
                          </a:r>
                        </a:p>
                        <a:p>
                          <a:pPr algn="l" fontAlgn="b"/>
                          <a:r>
                            <a:rPr lang="it-IT" sz="1600" b="1" i="0" u="none" strike="noStrike" dirty="0">
                              <a:solidFill>
                                <a:srgbClr val="000000"/>
                              </a:solidFill>
                              <a:effectLst/>
                              <a:latin typeface="Calibri" panose="020F0502020204030204" pitchFamily="34" charset="0"/>
                            </a:rPr>
                            <a:t>Controller 4</a:t>
                          </a:r>
                        </a:p>
                        <a:p>
                          <a:pPr algn="l" fontAlgn="b"/>
                          <a:r>
                            <a:rPr lang="it-IT" sz="1600" b="1" i="0" u="none" strike="noStrike" dirty="0">
                              <a:solidFill>
                                <a:srgbClr val="000000"/>
                              </a:solidFill>
                              <a:effectLst/>
                              <a:latin typeface="Calibri" panose="020F0502020204030204" pitchFamily="34" charset="0"/>
                            </a:rPr>
                            <a:t>Controller 5</a:t>
                          </a:r>
                        </a:p>
                        <a:p>
                          <a:pPr algn="l" fontAlgn="b"/>
                          <a:r>
                            <a:rPr lang="it-IT" sz="1600" b="1" i="0" u="none" strike="noStrike" dirty="0">
                              <a:solidFill>
                                <a:srgbClr val="000000"/>
                              </a:solidFill>
                              <a:effectLst/>
                              <a:latin typeface="Calibri" panose="020F0502020204030204" pitchFamily="34" charset="0"/>
                            </a:rPr>
                            <a:t>Controller 6</a:t>
                          </a:r>
                        </a:p>
                      </a:txBody>
                      <a:tcPr marL="6350" marR="635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15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14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10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16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a:t>
                          </a:r>
                        </a:p>
                      </a:txBody>
                      <a:tcPr marL="6350" marR="6350" anchor="b">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15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14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11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12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a:t>
                          </a:r>
                        </a:p>
                      </a:txBody>
                      <a:tcPr marL="6350" marR="6350" anchor="b">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18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14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15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17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16 </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13</a:t>
                          </a:r>
                        </a:p>
                      </a:txBody>
                      <a:tcPr marL="6350" marR="635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48</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42</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36</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42</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45</a:t>
                          </a:r>
                        </a:p>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39</a:t>
                          </a:r>
                        </a:p>
                      </a:txBody>
                      <a:tcPr marL="6350" marR="6350"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a:p>
                      </a:txBody>
                      <a:tcPr marL="6350" marR="6350">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387667" t="-65098" r="-667" b="-105490"/>
                          </a:stretch>
                        </a:blipFill>
                      </a:tcPr>
                    </a:tc>
                    <a:extLst>
                      <a:ext uri="{0D108BD9-81ED-4DB2-BD59-A6C34878D82A}">
                        <a16:rowId xmlns:a16="http://schemas.microsoft.com/office/drawing/2014/main" val="4023105077"/>
                      </a:ext>
                    </a:extLst>
                  </a:tr>
                  <a:tr h="737870">
                    <a:tc>
                      <a:txBody>
                        <a:bodyPr/>
                        <a:lstStyle/>
                        <a:p>
                          <a:pPr algn="l" fontAlgn="b"/>
                          <a:r>
                            <a:rPr lang="en-US" sz="1600" b="1" i="0" u="none" strike="noStrike" dirty="0">
                              <a:solidFill>
                                <a:srgbClr val="0070C0"/>
                              </a:solidFill>
                              <a:effectLst/>
                              <a:latin typeface="Calibri" panose="020F0502020204030204" pitchFamily="34" charset="0"/>
                            </a:rPr>
                            <a:t> Column or  </a:t>
                          </a:r>
                        </a:p>
                        <a:p>
                          <a:pPr algn="l" fontAlgn="b"/>
                          <a:r>
                            <a:rPr lang="en-US" sz="1600" b="1" i="0" u="none" strike="noStrike" dirty="0">
                              <a:solidFill>
                                <a:srgbClr val="0070C0"/>
                              </a:solidFill>
                              <a:effectLst/>
                              <a:latin typeface="Calibri" panose="020F0502020204030204" pitchFamily="34" charset="0"/>
                            </a:rPr>
                            <a:t> Treatment   </a:t>
                          </a:r>
                        </a:p>
                        <a:p>
                          <a:pPr algn="l" fontAlgn="b"/>
                          <a:r>
                            <a:rPr lang="en-US" sz="1600" b="1" i="0" u="none" strike="noStrike" dirty="0">
                              <a:solidFill>
                                <a:srgbClr val="0070C0"/>
                              </a:solidFill>
                              <a:effectLst/>
                              <a:latin typeface="Calibri" panose="020F0502020204030204" pitchFamily="34" charset="0"/>
                            </a:rPr>
                            <a:t> Totals</a:t>
                          </a:r>
                        </a:p>
                      </a:txBody>
                      <a:tcPr marL="6350" marR="6350" marT="6350" marB="0" anchor="b">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fontAlgn="b"/>
                          <a:endParaRPr lang="en-US" sz="1600" b="1" i="0" u="none" strike="noStrike" dirty="0">
                            <a:solidFill>
                              <a:srgbClr val="0070C0"/>
                            </a:solidFill>
                            <a:effectLst/>
                            <a:latin typeface="Calibri" panose="020F0502020204030204" pitchFamily="34" charset="0"/>
                          </a:endParaRPr>
                        </a:p>
                      </a:txBody>
                      <a:tcPr marL="6350" marR="6350" marT="6350" marB="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81</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78</a:t>
                          </a:r>
                        </a:p>
                      </a:txBody>
                      <a:tcPr marL="6350" marR="6350" marT="6350" marB="0" anchor="ctr">
                        <a:lnL w="12700" cmpd="sng">
                          <a:noFill/>
                        </a:lnL>
                        <a:lnR w="12700" cmpd="sng">
                          <a:noFill/>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93</a:t>
                          </a:r>
                        </a:p>
                      </a:txBody>
                      <a:tcPr marL="6350" marR="6350" marT="6350" marB="0" anchor="ctr">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mbria Math" panose="02040503050406030204" pitchFamily="18" charset="0"/>
                              <a:ea typeface="Cambria Math" panose="02040503050406030204" pitchFamily="18" charset="0"/>
                            </a:rPr>
                            <a:t>252</a:t>
                          </a:r>
                        </a:p>
                      </a:txBody>
                      <a:tcPr marL="6350" marR="6350" marT="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endParaRPr lang="en-US"/>
                        </a:p>
                      </a:txBody>
                      <a:tcPr marL="6350" marR="6350" marT="6350" marB="0" anchor="ctr">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87667" t="-347934" r="-667" b="-122314"/>
                          </a:stretch>
                        </a:blipFill>
                      </a:tcPr>
                    </a:tc>
                    <a:extLst>
                      <a:ext uri="{0D108BD9-81ED-4DB2-BD59-A6C34878D82A}">
                        <a16:rowId xmlns:a16="http://schemas.microsoft.com/office/drawing/2014/main" val="401081277"/>
                      </a:ext>
                    </a:extLst>
                  </a:tr>
                  <a:tr h="869633">
                    <a:tc>
                      <a:txBody>
                        <a:bodyPr/>
                        <a:lstStyle/>
                        <a:p>
                          <a:pPr algn="l" fontAlgn="b"/>
                          <a:r>
                            <a:rPr lang="en-US" sz="1600" b="1" i="0" u="none" strike="noStrike" dirty="0">
                              <a:solidFill>
                                <a:srgbClr val="0070C0"/>
                              </a:solidFill>
                              <a:effectLst/>
                              <a:latin typeface="Calibri" panose="020F0502020204030204" pitchFamily="34" charset="0"/>
                            </a:rPr>
                            <a:t> Treatment </a:t>
                          </a:r>
                        </a:p>
                        <a:p>
                          <a:pPr algn="l" fontAlgn="b"/>
                          <a:r>
                            <a:rPr lang="en-US" sz="1600" b="1" i="0" u="none" strike="noStrike" dirty="0">
                              <a:solidFill>
                                <a:srgbClr val="0070C0"/>
                              </a:solidFill>
                              <a:effectLst/>
                              <a:latin typeface="Calibri" panose="020F0502020204030204" pitchFamily="34" charset="0"/>
                            </a:rPr>
                            <a:t> Means</a:t>
                          </a:r>
                        </a:p>
                      </a:txBody>
                      <a:tcPr marL="6350" marR="6350" marB="0">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1" i="0" u="none" strike="noStrike" dirty="0">
                            <a:solidFill>
                              <a:srgbClr val="0070C0"/>
                            </a:solidFill>
                            <a:effectLst/>
                            <a:latin typeface="Calibri" panose="020F0502020204030204" pitchFamily="34" charset="0"/>
                          </a:endParaRPr>
                        </a:p>
                      </a:txBody>
                      <a:tcPr marL="6350" marR="6350" marB="0" anchor="b">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C"/>
                        </a:solidFill>
                      </a:tcPr>
                    </a:tc>
                    <a:tc>
                      <a:txBody>
                        <a:bodyPr/>
                        <a:lstStyle/>
                        <a:p>
                          <a:endParaRPr lang="en-US"/>
                        </a:p>
                      </a:txBody>
                      <a:tcPr marL="6350" marR="6350" marB="0" anchor="ctr">
                        <a:lnL w="19050" cap="flat" cmpd="sng" algn="ctr">
                          <a:solidFill>
                            <a:srgbClr val="0070C0"/>
                          </a:solidFill>
                          <a:prstDash val="solid"/>
                          <a:round/>
                          <a:headEnd type="none" w="med" len="med"/>
                          <a:tailEnd type="none" w="med" len="med"/>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199476" t="-379021" r="-467539" b="-3497"/>
                          </a:stretch>
                        </a:blipFill>
                      </a:tcPr>
                    </a:tc>
                    <a:tc>
                      <a:txBody>
                        <a:bodyPr/>
                        <a:lstStyle/>
                        <a:p>
                          <a:endParaRPr lang="en-US"/>
                        </a:p>
                      </a:txBody>
                      <a:tcPr marL="6350" marR="6350" marB="0" anchor="ctr">
                        <a:lnL w="12700" cmpd="sng">
                          <a:noFill/>
                        </a:lnL>
                        <a:lnR w="12700" cmpd="sng">
                          <a:noFill/>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01053" t="-379021" r="-370000" b="-3497"/>
                          </a:stretch>
                        </a:blipFill>
                      </a:tcPr>
                    </a:tc>
                    <a:tc>
                      <a:txBody>
                        <a:bodyPr/>
                        <a:lstStyle/>
                        <a:p>
                          <a:endParaRPr lang="en-US"/>
                        </a:p>
                      </a:txBody>
                      <a:tcPr marL="6350" marR="6350" marB="0" anchor="ctr">
                        <a:lnL w="12700" cmpd="sng">
                          <a:noFill/>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2"/>
                          <a:stretch>
                            <a:fillRect l="-398953" t="-379021" r="-268063" b="-3497"/>
                          </a:stretch>
                        </a:blipFill>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6350" marR="6350" marB="0" anchor="b">
                        <a:lnL w="1905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endParaRPr lang="en-US" sz="1600" b="0" i="0" u="none" strike="noStrike" dirty="0">
                            <a:solidFill>
                              <a:srgbClr val="000000"/>
                            </a:solidFill>
                            <a:effectLst/>
                            <a:latin typeface="Calibri" panose="020F0502020204030204" pitchFamily="34" charset="0"/>
                          </a:endParaRPr>
                        </a:p>
                      </a:txBody>
                      <a:tcPr marL="6350" marR="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342874598"/>
                      </a:ext>
                    </a:extLst>
                  </a:tr>
                </a:tbl>
              </a:graphicData>
            </a:graphic>
          </p:graphicFrame>
        </mc:Fallback>
      </mc:AlternateContent>
    </p:spTree>
    <p:extLst>
      <p:ext uri="{BB962C8B-B14F-4D97-AF65-F5344CB8AC3E}">
        <p14:creationId xmlns:p14="http://schemas.microsoft.com/office/powerpoint/2010/main" val="2464312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17789" y="365125"/>
            <a:ext cx="11335411" cy="672105"/>
          </a:xfrm>
        </p:spPr>
        <p:txBody>
          <a:bodyPr/>
          <a:lstStyle/>
          <a:p>
            <a:r>
              <a:rPr lang="en-US" sz="3200" dirty="0"/>
              <a:t>13.4 Computations for the Air Traffic Controller Stress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72510" y="1316419"/>
                <a:ext cx="10594432" cy="4508938"/>
              </a:xfrm>
            </p:spPr>
            <p:txBody>
              <a:bodyPr/>
              <a:lstStyle/>
              <a:p>
                <a:pPr>
                  <a:spcBef>
                    <a:spcPts val="600"/>
                  </a:spcBef>
                  <a:spcAft>
                    <a:spcPts val="600"/>
                  </a:spcAft>
                </a:pPr>
                <a:r>
                  <a:rPr lang="en-US" sz="2000" b="1" dirty="0">
                    <a:latin typeface="Arial" panose="020B0604020202020204" pitchFamily="34" charset="0"/>
                    <a:cs typeface="Arial" panose="020B0604020202020204" pitchFamily="34" charset="0"/>
                  </a:rPr>
                  <a:t>Step 1.</a:t>
                </a:r>
                <a:r>
                  <a:rPr lang="en-US" sz="2000" dirty="0">
                    <a:latin typeface="Arial" panose="020B0604020202020204" pitchFamily="34" charset="0"/>
                    <a:cs typeface="Arial" panose="020B0604020202020204" pitchFamily="34" charset="0"/>
                  </a:rPr>
                  <a:t>	Compute the total sum of squares (SST)</a:t>
                </a:r>
              </a:p>
              <a:p>
                <a:pPr marL="457200">
                  <a:spcBef>
                    <a:spcPts val="600"/>
                  </a:spcBef>
                  <a:spcAft>
                    <a:spcPts val="0"/>
                  </a:spcAft>
                </a:pPr>
                <a14:m>
                  <m:oMathPara xmlns:m="http://schemas.openxmlformats.org/officeDocument/2006/math">
                    <m:oMathParaPr>
                      <m:jc m:val="left"/>
                    </m:oMathParaPr>
                    <m:oMath xmlns:m="http://schemas.openxmlformats.org/officeDocument/2006/math">
                      <m:r>
                        <a:rPr lang="en-US" sz="1800" b="0" i="1" smtClean="0">
                          <a:solidFill>
                            <a:srgbClr val="000000"/>
                          </a:solidFill>
                          <a:latin typeface="Cambria Math" panose="02040503050406030204" pitchFamily="18" charset="0"/>
                          <a:cs typeface="Arial" panose="020B0604020202020204" pitchFamily="34" charset="0"/>
                        </a:rPr>
                        <m:t>𝑆𝑆𝑇</m:t>
                      </m:r>
                      <m:r>
                        <a:rPr lang="en-US" sz="1800" b="0" i="1" smtClean="0">
                          <a:solidFill>
                            <a:srgbClr val="000000"/>
                          </a:solidFill>
                          <a:latin typeface="Cambria Math" panose="02040503050406030204" pitchFamily="18" charset="0"/>
                          <a:cs typeface="Arial" panose="020B0604020202020204" pitchFamily="34" charset="0"/>
                        </a:rPr>
                        <m:t>=</m:t>
                      </m:r>
                      <m:nary>
                        <m:naryPr>
                          <m:chr m:val="∑"/>
                          <m:ctrlPr>
                            <a:rPr lang="en-US" sz="1800" b="0" i="1" smtClean="0">
                              <a:solidFill>
                                <a:srgbClr val="000000"/>
                              </a:solidFill>
                              <a:latin typeface="Cambria Math" panose="02040503050406030204" pitchFamily="18" charset="0"/>
                              <a:cs typeface="Arial" panose="020B0604020202020204" pitchFamily="34" charset="0"/>
                            </a:rPr>
                          </m:ctrlPr>
                        </m:naryPr>
                        <m:sub>
                          <m:r>
                            <m:rPr>
                              <m:brk m:alnAt="23"/>
                            </m:rPr>
                            <a:rPr lang="en-US" sz="1800" b="0" i="1" smtClean="0">
                              <a:solidFill>
                                <a:srgbClr val="000000"/>
                              </a:solidFill>
                              <a:latin typeface="Cambria Math" panose="02040503050406030204" pitchFamily="18" charset="0"/>
                              <a:cs typeface="Arial" panose="020B0604020202020204" pitchFamily="34" charset="0"/>
                            </a:rPr>
                            <m:t>𝑖</m:t>
                          </m:r>
                          <m:r>
                            <a:rPr lang="en-US" sz="1800" b="0" i="1" smtClean="0">
                              <a:solidFill>
                                <a:srgbClr val="000000"/>
                              </a:solidFill>
                              <a:latin typeface="Cambria Math" panose="02040503050406030204" pitchFamily="18" charset="0"/>
                              <a:cs typeface="Arial" panose="020B0604020202020204" pitchFamily="34" charset="0"/>
                            </a:rPr>
                            <m:t>=1</m:t>
                          </m:r>
                        </m:sub>
                        <m:sup>
                          <m:r>
                            <a:rPr lang="en-US" sz="1800" b="0" i="1" smtClean="0">
                              <a:solidFill>
                                <a:srgbClr val="000000"/>
                              </a:solidFill>
                              <a:latin typeface="Cambria Math" panose="02040503050406030204" pitchFamily="18" charset="0"/>
                              <a:cs typeface="Arial" panose="020B0604020202020204" pitchFamily="34" charset="0"/>
                            </a:rPr>
                            <m:t>𝑏</m:t>
                          </m:r>
                        </m:sup>
                        <m:e>
                          <m:nary>
                            <m:naryPr>
                              <m:chr m:val="∑"/>
                              <m:ctrlPr>
                                <a:rPr lang="en-US" sz="1800" i="1">
                                  <a:latin typeface="Cambria Math" panose="02040503050406030204" pitchFamily="18" charset="0"/>
                                  <a:cs typeface="Arial" panose="020B0604020202020204" pitchFamily="34" charset="0"/>
                                </a:rPr>
                              </m:ctrlPr>
                            </m:naryPr>
                            <m:sub>
                              <m:r>
                                <m:rPr>
                                  <m:brk m:alnAt="23"/>
                                </m:rPr>
                                <a:rPr lang="en-US" sz="1800" i="1">
                                  <a:latin typeface="Cambria Math" panose="02040503050406030204" pitchFamily="18" charset="0"/>
                                  <a:cs typeface="Arial" panose="020B0604020202020204" pitchFamily="34" charset="0"/>
                                </a:rPr>
                                <m:t>𝑗</m:t>
                              </m:r>
                              <m:r>
                                <a:rPr lang="en-US" sz="1800" i="1">
                                  <a:latin typeface="Cambria Math" panose="02040503050406030204" pitchFamily="18" charset="0"/>
                                  <a:cs typeface="Arial" panose="020B0604020202020204" pitchFamily="34" charset="0"/>
                                </a:rPr>
                                <m:t>=1</m:t>
                              </m:r>
                            </m:sub>
                            <m:sup>
                              <m:r>
                                <a:rPr lang="en-US" sz="1800" i="1">
                                  <a:latin typeface="Cambria Math" panose="02040503050406030204" pitchFamily="18" charset="0"/>
                                  <a:cs typeface="Arial" panose="020B0604020202020204" pitchFamily="34" charset="0"/>
                                </a:rPr>
                                <m:t>𝑘</m:t>
                              </m:r>
                            </m:sup>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sSub>
                                        <m:sSubPr>
                                          <m:ctrlPr>
                                            <a:rPr lang="en-US" sz="1800" i="1" smtClean="0">
                                              <a:latin typeface="Cambria Math" panose="02040503050406030204" pitchFamily="18" charset="0"/>
                                              <a:cs typeface="Arial" panose="020B0604020202020204" pitchFamily="34" charset="0"/>
                                            </a:rPr>
                                          </m:ctrlPr>
                                        </m:sSubPr>
                                        <m:e>
                                          <m:r>
                                            <a:rPr lang="en-US" sz="1800" b="0" i="1" smtClean="0">
                                              <a:latin typeface="Cambria Math" panose="02040503050406030204" pitchFamily="18" charset="0"/>
                                              <a:cs typeface="Arial" panose="020B0604020202020204" pitchFamily="34" charset="0"/>
                                            </a:rPr>
                                            <m:t>𝑥</m:t>
                                          </m:r>
                                        </m:e>
                                        <m:sub>
                                          <m:r>
                                            <a:rPr lang="en-US" sz="1800" b="0" i="1" smtClean="0">
                                              <a:latin typeface="Cambria Math" panose="02040503050406030204" pitchFamily="18" charset="0"/>
                                              <a:cs typeface="Arial" panose="020B0604020202020204" pitchFamily="34" charset="0"/>
                                            </a:rPr>
                                            <m:t>𝑖𝑗</m:t>
                                          </m:r>
                                        </m:sub>
                                      </m:sSub>
                                      <m:r>
                                        <a:rPr lang="en-US" sz="1800" i="1">
                                          <a:latin typeface="Cambria Math" panose="02040503050406030204" pitchFamily="18" charset="0"/>
                                          <a:cs typeface="Arial" panose="020B0604020202020204" pitchFamily="34" charset="0"/>
                                        </a:rPr>
                                        <m:t>−</m:t>
                                      </m:r>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d>
                                </m:e>
                                <m:sup>
                                  <m:r>
                                    <a:rPr lang="en-US" sz="1800" i="1">
                                      <a:latin typeface="Cambria Math" panose="02040503050406030204" pitchFamily="18" charset="0"/>
                                      <a:cs typeface="Arial" panose="020B0604020202020204" pitchFamily="34" charset="0"/>
                                    </a:rPr>
                                    <m:t>2</m:t>
                                  </m:r>
                                </m:sup>
                              </m:sSup>
                            </m:e>
                          </m:nary>
                        </m:e>
                      </m:nary>
                      <m:r>
                        <a:rPr lang="en-US" sz="1800" i="1">
                          <a:latin typeface="Cambria Math" panose="02040503050406030204" pitchFamily="18" charset="0"/>
                          <a:cs typeface="Arial" panose="020B0604020202020204" pitchFamily="34" charset="0"/>
                        </a:rPr>
                        <m:t>=</m:t>
                      </m:r>
                      <m:sSup>
                        <m:sSupPr>
                          <m:ctrlPr>
                            <a:rPr lang="en-US" sz="1800" i="1" smtClean="0">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(15−14)</m:t>
                          </m:r>
                        </m:e>
                        <m:sup>
                          <m:r>
                            <a:rPr lang="en-US" sz="1800" b="0" i="1" smtClean="0">
                              <a:latin typeface="Cambria Math" panose="02040503050406030204" pitchFamily="18" charset="0"/>
                              <a:cs typeface="Arial" panose="020B0604020202020204" pitchFamily="34" charset="0"/>
                            </a:rPr>
                            <m:t>2</m:t>
                          </m:r>
                        </m:sup>
                      </m:sSup>
                      <m:r>
                        <a:rPr lang="en-US" sz="1800" b="0" i="1" smtClean="0">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(15−14)</m:t>
                          </m:r>
                        </m:e>
                        <m:sup>
                          <m:r>
                            <a:rPr lang="en-US" sz="1800" i="1">
                              <a:latin typeface="Cambria Math" panose="02040503050406030204" pitchFamily="18" charset="0"/>
                              <a:cs typeface="Arial" panose="020B0604020202020204" pitchFamily="34" charset="0"/>
                            </a:rPr>
                            <m:t>2</m:t>
                          </m:r>
                        </m:sup>
                      </m:sSup>
                      <m:r>
                        <a:rPr lang="en-US" sz="1800" b="0" i="1" smtClean="0">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8</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r>
                        <a:rPr lang="en-US" sz="1800" b="0" i="1" smtClean="0">
                          <a:latin typeface="Cambria Math" panose="02040503050406030204" pitchFamily="18" charset="0"/>
                          <a:cs typeface="Arial" panose="020B0604020202020204" pitchFamily="34" charset="0"/>
                        </a:rPr>
                        <m:t>+</m:t>
                      </m:r>
                      <m:r>
                        <m:rPr>
                          <m:nor/>
                        </m:rPr>
                        <a:rPr lang="en-US" sz="1800" b="0" i="0" smtClean="0">
                          <a:latin typeface="Cambria Math" panose="02040503050406030204" pitchFamily="18" charset="0"/>
                          <a:cs typeface="Arial" panose="020B0604020202020204" pitchFamily="34" charset="0"/>
                        </a:rPr>
                        <m:t>…</m:t>
                      </m:r>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3</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=70</m:t>
                      </m:r>
                    </m:oMath>
                  </m:oMathPara>
                </a14:m>
                <a:endParaRPr lang="en-US" sz="1800" dirty="0">
                  <a:latin typeface="Arial" panose="020B0604020202020204" pitchFamily="34" charset="0"/>
                  <a:cs typeface="Arial" panose="020B0604020202020204" pitchFamily="34" charset="0"/>
                </a:endParaRPr>
              </a:p>
              <a:p>
                <a:pPr>
                  <a:spcBef>
                    <a:spcPts val="600"/>
                  </a:spcBef>
                  <a:spcAft>
                    <a:spcPts val="600"/>
                  </a:spcAft>
                </a:pPr>
                <a:r>
                  <a:rPr lang="en-US" sz="2000" b="1" dirty="0">
                    <a:latin typeface="Arial" panose="020B0604020202020204" pitchFamily="34" charset="0"/>
                    <a:cs typeface="Arial" panose="020B0604020202020204" pitchFamily="34" charset="0"/>
                  </a:rPr>
                  <a:t>Step 2.</a:t>
                </a:r>
                <a:r>
                  <a:rPr lang="en-US" sz="2000" dirty="0">
                    <a:latin typeface="Arial" panose="020B0604020202020204" pitchFamily="34" charset="0"/>
                    <a:cs typeface="Arial" panose="020B0604020202020204" pitchFamily="34" charset="0"/>
                  </a:rPr>
                  <a:t>	Compute the sum of squares due to treatments (SSTR)</a:t>
                </a:r>
              </a:p>
              <a:p>
                <a:pPr marL="457200">
                  <a:spcBef>
                    <a:spcPts val="600"/>
                  </a:spcBef>
                  <a:spcAft>
                    <a:spcPts val="0"/>
                  </a:spcAft>
                </a:pPr>
                <a14:m>
                  <m:oMathPara xmlns:m="http://schemas.openxmlformats.org/officeDocument/2006/math">
                    <m:oMathParaPr>
                      <m:jc m:val="left"/>
                    </m:oMathParaPr>
                    <m:oMath xmlns:m="http://schemas.openxmlformats.org/officeDocument/2006/math">
                      <m:r>
                        <a:rPr lang="en-US" sz="1800" b="0" i="1" smtClean="0">
                          <a:solidFill>
                            <a:srgbClr val="000000"/>
                          </a:solidFill>
                          <a:latin typeface="Cambria Math" panose="02040503050406030204" pitchFamily="18" charset="0"/>
                          <a:cs typeface="Arial" panose="020B0604020202020204" pitchFamily="34" charset="0"/>
                        </a:rPr>
                        <m:t>𝑆𝑆𝑇𝑅</m:t>
                      </m:r>
                      <m:r>
                        <a:rPr lang="en-US" sz="1800" b="0" i="1" smtClean="0">
                          <a:solidFill>
                            <a:srgbClr val="000000"/>
                          </a:solidFill>
                          <a:latin typeface="Cambria Math" panose="02040503050406030204" pitchFamily="18" charset="0"/>
                          <a:cs typeface="Arial" panose="020B0604020202020204" pitchFamily="34" charset="0"/>
                        </a:rPr>
                        <m:t>=</m:t>
                      </m:r>
                      <m:r>
                        <a:rPr lang="en-US" sz="1800" b="0" i="1" smtClean="0">
                          <a:solidFill>
                            <a:srgbClr val="000000"/>
                          </a:solidFill>
                          <a:latin typeface="Cambria Math" panose="02040503050406030204" pitchFamily="18" charset="0"/>
                          <a:cs typeface="Arial" panose="020B0604020202020204" pitchFamily="34" charset="0"/>
                        </a:rPr>
                        <m:t>𝑏</m:t>
                      </m:r>
                      <m:nary>
                        <m:naryPr>
                          <m:chr m:val="∑"/>
                          <m:ctrlPr>
                            <a:rPr lang="en-US" sz="1800" i="1">
                              <a:latin typeface="Cambria Math" panose="02040503050406030204" pitchFamily="18" charset="0"/>
                              <a:cs typeface="Arial" panose="020B0604020202020204" pitchFamily="34" charset="0"/>
                            </a:rPr>
                          </m:ctrlPr>
                        </m:naryPr>
                        <m:sub>
                          <m:r>
                            <m:rPr>
                              <m:brk m:alnAt="23"/>
                            </m:rPr>
                            <a:rPr lang="en-US" sz="1800" i="1">
                              <a:latin typeface="Cambria Math" panose="02040503050406030204" pitchFamily="18" charset="0"/>
                              <a:cs typeface="Arial" panose="020B0604020202020204" pitchFamily="34" charset="0"/>
                            </a:rPr>
                            <m:t>𝑗</m:t>
                          </m:r>
                          <m:r>
                            <a:rPr lang="en-US" sz="1800" i="1">
                              <a:latin typeface="Cambria Math" panose="02040503050406030204" pitchFamily="18" charset="0"/>
                              <a:cs typeface="Arial" panose="020B0604020202020204" pitchFamily="34" charset="0"/>
                            </a:rPr>
                            <m:t>=1</m:t>
                          </m:r>
                        </m:sub>
                        <m:sup>
                          <m:r>
                            <a:rPr lang="en-US" sz="1800" i="1">
                              <a:latin typeface="Cambria Math" panose="02040503050406030204" pitchFamily="18" charset="0"/>
                              <a:cs typeface="Arial" panose="020B0604020202020204" pitchFamily="34" charset="0"/>
                            </a:rPr>
                            <m:t>𝑘</m:t>
                          </m:r>
                        </m:sup>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sSub>
                                    <m:sSubPr>
                                      <m:ctrlPr>
                                        <a:rPr lang="en-US" sz="1800" i="1" smtClean="0">
                                          <a:latin typeface="Cambria Math" panose="02040503050406030204" pitchFamily="18" charset="0"/>
                                          <a:cs typeface="Arial" panose="020B0604020202020204" pitchFamily="34" charset="0"/>
                                        </a:rPr>
                                      </m:ctrlPr>
                                    </m:sSubPr>
                                    <m:e>
                                      <m:acc>
                                        <m:accPr>
                                          <m:chr m:val="̅"/>
                                          <m:ctrlPr>
                                            <a:rPr lang="en-US" sz="1800" b="0" i="1" smtClean="0">
                                              <a:solidFill>
                                                <a:srgbClr val="000000"/>
                                              </a:solidFill>
                                              <a:latin typeface="Cambria Math" panose="02040503050406030204" pitchFamily="18" charset="0"/>
                                              <a:cs typeface="Arial" panose="020B0604020202020204" pitchFamily="34" charset="0"/>
                                            </a:rPr>
                                          </m:ctrlPr>
                                        </m:accPr>
                                        <m:e>
                                          <m:r>
                                            <a:rPr lang="en-US" sz="1800" b="0" i="1" smtClean="0">
                                              <a:solidFill>
                                                <a:srgbClr val="000000"/>
                                              </a:solidFill>
                                              <a:latin typeface="Cambria Math" panose="02040503050406030204" pitchFamily="18" charset="0"/>
                                              <a:cs typeface="Arial" panose="020B0604020202020204" pitchFamily="34" charset="0"/>
                                            </a:rPr>
                                            <m:t>𝑥</m:t>
                                          </m:r>
                                        </m:e>
                                      </m:acc>
                                    </m:e>
                                    <m:sub>
                                      <m:r>
                                        <a:rPr lang="en-US" sz="1800" i="1" smtClean="0">
                                          <a:latin typeface="Cambria Math" panose="02040503050406030204" pitchFamily="18" charset="0"/>
                                          <a:ea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𝑗</m:t>
                                      </m:r>
                                    </m:sub>
                                  </m:sSub>
                                  <m:r>
                                    <a:rPr lang="en-US" sz="1800" i="1">
                                      <a:latin typeface="Cambria Math" panose="02040503050406030204" pitchFamily="18" charset="0"/>
                                      <a:cs typeface="Arial" panose="020B0604020202020204" pitchFamily="34" charset="0"/>
                                    </a:rPr>
                                    <m:t>−</m:t>
                                  </m:r>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d>
                            </m:e>
                            <m:sup>
                              <m:r>
                                <a:rPr lang="en-US" sz="1800" i="1">
                                  <a:latin typeface="Cambria Math" panose="02040503050406030204" pitchFamily="18" charset="0"/>
                                  <a:cs typeface="Arial" panose="020B0604020202020204" pitchFamily="34" charset="0"/>
                                </a:rPr>
                                <m:t>2</m:t>
                              </m:r>
                            </m:sup>
                          </m:sSup>
                        </m:e>
                      </m:nary>
                      <m:r>
                        <a:rPr lang="en-US" sz="1800" b="0" i="1" smtClean="0">
                          <a:latin typeface="Cambria Math" panose="02040503050406030204" pitchFamily="18" charset="0"/>
                          <a:cs typeface="Arial" panose="020B0604020202020204" pitchFamily="34" charset="0"/>
                        </a:rPr>
                        <m:t>=6</m:t>
                      </m:r>
                      <m:d>
                        <m:dPr>
                          <m:begChr m:val="["/>
                          <m:endChr m:val="]"/>
                          <m:ctrlPr>
                            <a:rPr lang="en-US" sz="1800" b="0" i="1" smtClean="0">
                              <a:latin typeface="Cambria Math" panose="02040503050406030204" pitchFamily="18" charset="0"/>
                              <a:cs typeface="Arial" panose="020B0604020202020204" pitchFamily="34" charset="0"/>
                            </a:rPr>
                          </m:ctrlPr>
                        </m:dPr>
                        <m:e>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3.5</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3.0</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5.5</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e>
                      </m:d>
                      <m:r>
                        <a:rPr lang="en-US" sz="1800" b="0" i="1" smtClean="0">
                          <a:latin typeface="Cambria Math" panose="02040503050406030204" pitchFamily="18" charset="0"/>
                          <a:cs typeface="Arial" panose="020B0604020202020204" pitchFamily="34" charset="0"/>
                        </a:rPr>
                        <m:t>=21</m:t>
                      </m:r>
                    </m:oMath>
                  </m:oMathPara>
                </a14:m>
                <a:endParaRPr lang="en-US" sz="1800" dirty="0">
                  <a:latin typeface="Arial" panose="020B0604020202020204" pitchFamily="34" charset="0"/>
                  <a:cs typeface="Arial" panose="020B0604020202020204" pitchFamily="34" charset="0"/>
                </a:endParaRPr>
              </a:p>
              <a:p>
                <a:pPr>
                  <a:spcBef>
                    <a:spcPts val="600"/>
                  </a:spcBef>
                  <a:spcAft>
                    <a:spcPts val="600"/>
                  </a:spcAft>
                </a:pPr>
                <a:r>
                  <a:rPr lang="en-US" sz="2000" b="1" dirty="0">
                    <a:latin typeface="Arial" panose="020B0604020202020204" pitchFamily="34" charset="0"/>
                    <a:cs typeface="Arial" panose="020B0604020202020204" pitchFamily="34" charset="0"/>
                  </a:rPr>
                  <a:t>Step 3.</a:t>
                </a:r>
                <a:r>
                  <a:rPr lang="en-US" sz="2000" dirty="0">
                    <a:latin typeface="Arial" panose="020B0604020202020204" pitchFamily="34" charset="0"/>
                    <a:cs typeface="Arial" panose="020B0604020202020204" pitchFamily="34" charset="0"/>
                  </a:rPr>
                  <a:t>	Compute the sum of squares due to blocks (SSBL)</a:t>
                </a:r>
              </a:p>
              <a:p>
                <a:pPr marL="457200">
                  <a:spcBef>
                    <a:spcPts val="600"/>
                  </a:spcBef>
                  <a:spcAft>
                    <a:spcPts val="0"/>
                  </a:spcAft>
                </a:pPr>
                <a14:m>
                  <m:oMathPara xmlns:m="http://schemas.openxmlformats.org/officeDocument/2006/math">
                    <m:oMathParaPr>
                      <m:jc m:val="left"/>
                    </m:oMathParaPr>
                    <m:oMath xmlns:m="http://schemas.openxmlformats.org/officeDocument/2006/math">
                      <m:r>
                        <a:rPr lang="en-US" sz="1800" b="0" i="1" smtClean="0">
                          <a:solidFill>
                            <a:srgbClr val="000000"/>
                          </a:solidFill>
                          <a:latin typeface="Cambria Math" panose="02040503050406030204" pitchFamily="18" charset="0"/>
                          <a:cs typeface="Arial" panose="020B0604020202020204" pitchFamily="34" charset="0"/>
                        </a:rPr>
                        <m:t>𝑆𝑆𝐵𝐿</m:t>
                      </m:r>
                      <m:r>
                        <a:rPr lang="en-US" sz="1800" b="0" i="1" smtClean="0">
                          <a:solidFill>
                            <a:srgbClr val="000000"/>
                          </a:solidFill>
                          <a:latin typeface="Cambria Math" panose="02040503050406030204" pitchFamily="18" charset="0"/>
                          <a:cs typeface="Arial" panose="020B0604020202020204" pitchFamily="34" charset="0"/>
                        </a:rPr>
                        <m:t>=</m:t>
                      </m:r>
                      <m:r>
                        <a:rPr lang="en-US" sz="1800" b="0" i="1" smtClean="0">
                          <a:solidFill>
                            <a:srgbClr val="000000"/>
                          </a:solidFill>
                          <a:latin typeface="Cambria Math" panose="02040503050406030204" pitchFamily="18" charset="0"/>
                          <a:cs typeface="Arial" panose="020B0604020202020204" pitchFamily="34" charset="0"/>
                        </a:rPr>
                        <m:t>𝑘</m:t>
                      </m:r>
                      <m:nary>
                        <m:naryPr>
                          <m:chr m:val="∑"/>
                          <m:ctrlPr>
                            <a:rPr lang="en-US" sz="1800" i="1">
                              <a:latin typeface="Cambria Math" panose="02040503050406030204" pitchFamily="18" charset="0"/>
                              <a:cs typeface="Arial" panose="020B0604020202020204" pitchFamily="34" charset="0"/>
                            </a:rPr>
                          </m:ctrlPr>
                        </m:naryPr>
                        <m:sub>
                          <m:r>
                            <a:rPr lang="en-US" sz="1800" b="0" i="1" smtClean="0">
                              <a:latin typeface="Cambria Math" panose="02040503050406030204" pitchFamily="18" charset="0"/>
                              <a:cs typeface="Arial" panose="020B0604020202020204" pitchFamily="34" charset="0"/>
                            </a:rPr>
                            <m:t>𝑖</m:t>
                          </m:r>
                          <m:r>
                            <a:rPr lang="en-US" sz="1800" i="1">
                              <a:latin typeface="Cambria Math" panose="02040503050406030204" pitchFamily="18" charset="0"/>
                              <a:cs typeface="Arial" panose="020B0604020202020204" pitchFamily="34" charset="0"/>
                            </a:rPr>
                            <m:t>=1</m:t>
                          </m:r>
                        </m:sub>
                        <m:sup>
                          <m:r>
                            <a:rPr lang="en-US" sz="1800" b="0" i="1" smtClean="0">
                              <a:latin typeface="Cambria Math" panose="02040503050406030204" pitchFamily="18" charset="0"/>
                              <a:cs typeface="Arial" panose="020B0604020202020204" pitchFamily="34" charset="0"/>
                            </a:rPr>
                            <m:t>𝑏</m:t>
                          </m:r>
                        </m:sup>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sSub>
                                    <m:sSubPr>
                                      <m:ctrlPr>
                                        <a:rPr lang="en-US" sz="1800" i="1" smtClean="0">
                                          <a:latin typeface="Cambria Math" panose="02040503050406030204" pitchFamily="18" charset="0"/>
                                          <a:cs typeface="Arial" panose="020B0604020202020204" pitchFamily="34" charset="0"/>
                                        </a:rPr>
                                      </m:ctrlPr>
                                    </m:sSubPr>
                                    <m:e>
                                      <m:acc>
                                        <m:accPr>
                                          <m:chr m:val="̅"/>
                                          <m:ctrlPr>
                                            <a:rPr lang="en-US" sz="1800" b="0" i="1" smtClean="0">
                                              <a:solidFill>
                                                <a:srgbClr val="000000"/>
                                              </a:solidFill>
                                              <a:latin typeface="Cambria Math" panose="02040503050406030204" pitchFamily="18" charset="0"/>
                                              <a:cs typeface="Arial" panose="020B0604020202020204" pitchFamily="34" charset="0"/>
                                            </a:rPr>
                                          </m:ctrlPr>
                                        </m:accPr>
                                        <m:e>
                                          <m:r>
                                            <a:rPr lang="en-US" sz="1800" b="0" i="1" smtClean="0">
                                              <a:solidFill>
                                                <a:srgbClr val="000000"/>
                                              </a:solidFill>
                                              <a:latin typeface="Cambria Math" panose="02040503050406030204" pitchFamily="18" charset="0"/>
                                              <a:cs typeface="Arial" panose="020B0604020202020204" pitchFamily="34" charset="0"/>
                                            </a:rPr>
                                            <m:t>𝑥</m:t>
                                          </m:r>
                                        </m:e>
                                      </m:acc>
                                    </m:e>
                                    <m:sub>
                                      <m:r>
                                        <a:rPr lang="en-US" sz="1800" b="0" i="1" smtClean="0">
                                          <a:solidFill>
                                            <a:srgbClr val="000000"/>
                                          </a:solidFill>
                                          <a:latin typeface="Cambria Math" panose="02040503050406030204" pitchFamily="18" charset="0"/>
                                          <a:cs typeface="Arial" panose="020B0604020202020204" pitchFamily="34" charset="0"/>
                                        </a:rPr>
                                        <m:t>𝑖</m:t>
                                      </m:r>
                                      <m:r>
                                        <a:rPr lang="en-US" sz="1800" i="1" smtClean="0">
                                          <a:latin typeface="Cambria Math" panose="02040503050406030204" pitchFamily="18" charset="0"/>
                                          <a:ea typeface="Cambria Math" panose="02040503050406030204" pitchFamily="18" charset="0"/>
                                          <a:cs typeface="Arial" panose="020B0604020202020204" pitchFamily="34" charset="0"/>
                                        </a:rPr>
                                        <m:t>∙</m:t>
                                      </m:r>
                                    </m:sub>
                                  </m:sSub>
                                  <m:r>
                                    <a:rPr lang="en-US" sz="1800" i="1">
                                      <a:latin typeface="Cambria Math" panose="02040503050406030204" pitchFamily="18" charset="0"/>
                                      <a:cs typeface="Arial" panose="020B0604020202020204" pitchFamily="34" charset="0"/>
                                    </a:rPr>
                                    <m:t>−</m:t>
                                  </m:r>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d>
                            </m:e>
                            <m:sup>
                              <m:r>
                                <a:rPr lang="en-US" sz="1800" i="1">
                                  <a:latin typeface="Cambria Math" panose="02040503050406030204" pitchFamily="18" charset="0"/>
                                  <a:cs typeface="Arial" panose="020B0604020202020204" pitchFamily="34" charset="0"/>
                                </a:rPr>
                                <m:t>2</m:t>
                              </m:r>
                            </m:sup>
                          </m:sSup>
                        </m:e>
                      </m:nary>
                      <m:r>
                        <a:rPr lang="en-US" sz="1800" b="0" i="1" smtClean="0">
                          <a:latin typeface="Cambria Math" panose="02040503050406030204" pitchFamily="18" charset="0"/>
                          <a:cs typeface="Arial" panose="020B0604020202020204" pitchFamily="34" charset="0"/>
                        </a:rPr>
                        <m:t>=3</m:t>
                      </m:r>
                      <m:d>
                        <m:dPr>
                          <m:begChr m:val="["/>
                          <m:endChr m:val="]"/>
                          <m:ctrlPr>
                            <a:rPr lang="en-US" sz="1800" b="0" i="1" smtClean="0">
                              <a:latin typeface="Cambria Math" panose="02040503050406030204" pitchFamily="18" charset="0"/>
                              <a:cs typeface="Arial" panose="020B0604020202020204" pitchFamily="34" charset="0"/>
                            </a:rPr>
                          </m:ctrlPr>
                        </m:dPr>
                        <m:e>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6.0</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4.0</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2</m:t>
                              </m:r>
                              <m:r>
                                <a:rPr lang="en-US" sz="1800" i="1">
                                  <a:latin typeface="Cambria Math" panose="02040503050406030204" pitchFamily="18" charset="0"/>
                                  <a:cs typeface="Arial" panose="020B0604020202020204" pitchFamily="34" charset="0"/>
                                </a:rPr>
                                <m:t>.0−14)</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r>
                            <m:rPr>
                              <m:nor/>
                            </m:rPr>
                            <a:rPr lang="en-US" sz="1800">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(1</m:t>
                              </m:r>
                              <m:r>
                                <a:rPr lang="en-US" sz="1800" b="0" i="1" smtClean="0">
                                  <a:latin typeface="Cambria Math" panose="02040503050406030204" pitchFamily="18" charset="0"/>
                                  <a:cs typeface="Arial" panose="020B0604020202020204" pitchFamily="34" charset="0"/>
                                </a:rPr>
                                <m:t>3.0</m:t>
                              </m:r>
                              <m:r>
                                <a:rPr lang="en-US" sz="1800" i="1">
                                  <a:latin typeface="Cambria Math" panose="02040503050406030204" pitchFamily="18" charset="0"/>
                                  <a:cs typeface="Arial" panose="020B0604020202020204" pitchFamily="34" charset="0"/>
                                </a:rPr>
                                <m:t>−14)</m:t>
                              </m:r>
                            </m:e>
                            <m:sup>
                              <m:r>
                                <a:rPr lang="en-US" sz="1800" i="1">
                                  <a:latin typeface="Cambria Math" panose="02040503050406030204" pitchFamily="18" charset="0"/>
                                  <a:cs typeface="Arial" panose="020B0604020202020204" pitchFamily="34" charset="0"/>
                                </a:rPr>
                                <m:t>2</m:t>
                              </m:r>
                            </m:sup>
                          </m:sSup>
                        </m:e>
                      </m:d>
                      <m:r>
                        <a:rPr lang="en-US" sz="1800" b="0" i="1" smtClean="0">
                          <a:latin typeface="Cambria Math" panose="02040503050406030204" pitchFamily="18" charset="0"/>
                          <a:cs typeface="Arial" panose="020B0604020202020204" pitchFamily="34" charset="0"/>
                        </a:rPr>
                        <m:t>=30</m:t>
                      </m:r>
                    </m:oMath>
                  </m:oMathPara>
                </a14:m>
                <a:endParaRPr lang="en-US" sz="1800" dirty="0">
                  <a:latin typeface="Arial" panose="020B0604020202020204" pitchFamily="34" charset="0"/>
                  <a:cs typeface="Arial" panose="020B0604020202020204" pitchFamily="34" charset="0"/>
                </a:endParaRPr>
              </a:p>
              <a:p>
                <a:pPr>
                  <a:spcBef>
                    <a:spcPts val="600"/>
                  </a:spcBef>
                  <a:spcAft>
                    <a:spcPts val="600"/>
                  </a:spcAft>
                </a:pPr>
                <a:r>
                  <a:rPr lang="en-US" sz="2000" b="1" dirty="0">
                    <a:latin typeface="Arial" panose="020B0604020202020204" pitchFamily="34" charset="0"/>
                    <a:cs typeface="Arial" panose="020B0604020202020204" pitchFamily="34" charset="0"/>
                  </a:rPr>
                  <a:t>Step 4.</a:t>
                </a:r>
                <a:r>
                  <a:rPr lang="en-US" sz="2000" dirty="0">
                    <a:latin typeface="Arial" panose="020B0604020202020204" pitchFamily="34" charset="0"/>
                    <a:cs typeface="Arial" panose="020B0604020202020204" pitchFamily="34" charset="0"/>
                  </a:rPr>
                  <a:t>	Compute the sum of squares due to error (SSE)</a:t>
                </a:r>
              </a:p>
              <a:p>
                <a:pPr marL="457200">
                  <a:spcBef>
                    <a:spcPts val="600"/>
                  </a:spcBef>
                  <a:spcAft>
                    <a:spcPts val="0"/>
                  </a:spcAft>
                </a:pPr>
                <a14:m>
                  <m:oMath xmlns:m="http://schemas.openxmlformats.org/officeDocument/2006/math">
                    <m:r>
                      <a:rPr lang="en-US" sz="1800" i="1">
                        <a:latin typeface="Cambria Math" panose="02040503050406030204" pitchFamily="18" charset="0"/>
                      </a:rPr>
                      <m:t>𝑆𝑆𝐸</m:t>
                    </m:r>
                    <m:r>
                      <a:rPr lang="en-US" sz="1800" b="0" i="1" smtClean="0">
                        <a:latin typeface="Cambria Math" panose="02040503050406030204" pitchFamily="18" charset="0"/>
                      </a:rPr>
                      <m:t>=</m:t>
                    </m:r>
                    <m:r>
                      <a:rPr lang="en-US" sz="1800" i="1">
                        <a:latin typeface="Cambria Math" panose="02040503050406030204" pitchFamily="18" charset="0"/>
                      </a:rPr>
                      <m:t>𝑆𝑆𝑇</m:t>
                    </m:r>
                    <m:r>
                      <a:rPr lang="en-US" sz="1800" i="1">
                        <a:latin typeface="Cambria Math" panose="02040503050406030204" pitchFamily="18" charset="0"/>
                      </a:rPr>
                      <m:t>−</m:t>
                    </m:r>
                    <m:r>
                      <a:rPr lang="en-US" sz="1800" i="1">
                        <a:latin typeface="Cambria Math" panose="02040503050406030204" pitchFamily="18" charset="0"/>
                      </a:rPr>
                      <m:t>𝑆𝑆𝑇𝑅</m:t>
                    </m:r>
                    <m:r>
                      <a:rPr lang="en-US" sz="1800" b="0" i="1" smtClean="0">
                        <a:latin typeface="Cambria Math" panose="02040503050406030204" pitchFamily="18" charset="0"/>
                      </a:rPr>
                      <m:t>−</m:t>
                    </m:r>
                    <m:r>
                      <a:rPr lang="en-US" sz="1800" i="1">
                        <a:latin typeface="Cambria Math" panose="02040503050406030204" pitchFamily="18" charset="0"/>
                      </a:rPr>
                      <m:t>𝑆𝑆𝐵𝐿</m:t>
                    </m:r>
                    <m:r>
                      <a:rPr lang="en-US" sz="1800" b="0" i="1" smtClean="0">
                        <a:latin typeface="Cambria Math" panose="02040503050406030204" pitchFamily="18" charset="0"/>
                      </a:rPr>
                      <m:t>=70−21−30=19</m:t>
                    </m:r>
                  </m:oMath>
                </a14:m>
                <a:r>
                  <a:rPr lang="en-US" sz="1800" dirty="0">
                    <a:latin typeface="Arial" panose="020B0604020202020204" pitchFamily="34" charset="0"/>
                    <a:cs typeface="Arial" panose="020B0604020202020204" pitchFamily="34" charset="0"/>
                  </a:rPr>
                  <a:t> </a:t>
                </a:r>
              </a:p>
              <a:p>
                <a:pPr>
                  <a:spcBef>
                    <a:spcPts val="600"/>
                  </a:spcBef>
                  <a:spcAft>
                    <a:spcPts val="0"/>
                  </a:spcAft>
                </a:pPr>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72510" y="1316419"/>
                <a:ext cx="10594432" cy="4508938"/>
              </a:xfrm>
              <a:blipFill>
                <a:blip r:embed="rId3"/>
                <a:stretch>
                  <a:fillRect l="-1496" t="-1622" b="-270"/>
                </a:stretch>
              </a:blipFill>
            </p:spPr>
            <p:txBody>
              <a:bodyPr/>
              <a:lstStyle/>
              <a:p>
                <a:r>
                  <a:rPr lang="en-US">
                    <a:noFill/>
                  </a:rPr>
                  <a:t> </a:t>
                </a:r>
              </a:p>
            </p:txBody>
          </p:sp>
        </mc:Fallback>
      </mc:AlternateContent>
    </p:spTree>
    <p:extLst>
      <p:ext uri="{BB962C8B-B14F-4D97-AF65-F5344CB8AC3E}">
        <p14:creationId xmlns:p14="http://schemas.microsoft.com/office/powerpoint/2010/main" val="1819410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A8A8-69C6-C618-DB9F-6DA57A0C239B}"/>
              </a:ext>
            </a:extLst>
          </p:cNvPr>
          <p:cNvSpPr>
            <a:spLocks noGrp="1"/>
          </p:cNvSpPr>
          <p:nvPr>
            <p:ph type="title"/>
          </p:nvPr>
        </p:nvSpPr>
        <p:spPr>
          <a:xfrm>
            <a:off x="516834" y="365125"/>
            <a:ext cx="11147729" cy="672105"/>
          </a:xfrm>
        </p:spPr>
        <p:txBody>
          <a:bodyPr/>
          <a:lstStyle/>
          <a:p>
            <a:r>
              <a:rPr lang="en-US" sz="3200" dirty="0"/>
              <a:t>13.4 ANOVA Table for the Air Traffic Controller Stress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9DDD177-F2EB-46E4-4E1B-F62383358B7A}"/>
                  </a:ext>
                </a:extLst>
              </p:cNvPr>
              <p:cNvSpPr>
                <a:spLocks noGrp="1"/>
              </p:cNvSpPr>
              <p:nvPr>
                <p:ph type="body" sz="quarter" idx="15"/>
              </p:nvPr>
            </p:nvSpPr>
            <p:spPr>
              <a:xfrm>
                <a:off x="822406" y="1273032"/>
                <a:ext cx="10515600" cy="1705044"/>
              </a:xfrm>
            </p:spPr>
            <p:txBody>
              <a:bodyPr>
                <a:noAutofit/>
              </a:bodyPr>
              <a:lstStyle/>
              <a:p>
                <a:pPr>
                  <a:lnSpc>
                    <a:spcPct val="100000"/>
                  </a:lnSpc>
                  <a:spcBef>
                    <a:spcPts val="600"/>
                  </a:spcBef>
                </a:pPr>
                <a:r>
                  <a:rPr lang="en-US" sz="2000" dirty="0"/>
                  <a:t>The sums of squares computed in the four steps and divided by their degrees of freedom, provide the corresponding mean square values shown in the ANOVA table below.</a:t>
                </a:r>
              </a:p>
              <a:p>
                <a:pPr>
                  <a:lnSpc>
                    <a:spcPct val="100000"/>
                  </a:lnSpc>
                  <a:spcBef>
                    <a:spcPts val="600"/>
                  </a:spcBef>
                </a:pPr>
                <a:r>
                  <a:rPr lang="en-US" sz="2000" dirty="0"/>
                  <a:t>The ratio of MSRT and MSE produces the test statistic: </a:t>
                </a:r>
                <a14:m>
                  <m:oMath xmlns:m="http://schemas.openxmlformats.org/officeDocument/2006/math">
                    <m:r>
                      <a:rPr lang="en-US" sz="2000" b="0" i="1" smtClean="0">
                        <a:latin typeface="Cambria Math" panose="02040503050406030204" pitchFamily="18" charset="0"/>
                      </a:rPr>
                      <m:t>𝐹</m:t>
                    </m:r>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𝑀𝑆𝑅𝑇</m:t>
                        </m:r>
                      </m:num>
                      <m:den>
                        <m:r>
                          <a:rPr lang="en-US" sz="2000" b="0" i="1" smtClean="0">
                            <a:latin typeface="Cambria Math" panose="02040503050406030204" pitchFamily="18" charset="0"/>
                          </a:rPr>
                          <m:t>𝑀𝑆𝐸</m:t>
                        </m:r>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10.5</m:t>
                            </m:r>
                          </m:num>
                          <m:den>
                            <m:r>
                              <a:rPr lang="en-US" sz="2000" b="0" i="1" smtClean="0">
                                <a:latin typeface="Cambria Math" panose="02040503050406030204" pitchFamily="18" charset="0"/>
                              </a:rPr>
                              <m:t>1.9</m:t>
                            </m:r>
                          </m:den>
                        </m:f>
                        <m:r>
                          <a:rPr lang="en-US" sz="2000" b="0" i="1" smtClean="0">
                            <a:latin typeface="Cambria Math" panose="02040503050406030204" pitchFamily="18" charset="0"/>
                          </a:rPr>
                          <m:t>=5.53</m:t>
                        </m:r>
                      </m:den>
                    </m:f>
                  </m:oMath>
                </a14:m>
                <a:endParaRPr lang="en-US" sz="2000" dirty="0"/>
              </a:p>
              <a:p>
                <a:pPr>
                  <a:lnSpc>
                    <a:spcPct val="100000"/>
                  </a:lnSpc>
                  <a:spcBef>
                    <a:spcPts val="600"/>
                  </a:spcBef>
                </a:pPr>
                <a:r>
                  <a:rPr lang="en-US" sz="2000" dirty="0"/>
                  <a:t>Table 4 in Appendix B, with degrees of freedom </a:t>
                </a:r>
                <a14:m>
                  <m:oMath xmlns:m="http://schemas.openxmlformats.org/officeDocument/2006/math">
                    <m:r>
                      <a:rPr lang="en-US" sz="2000" i="1" dirty="0" smtClean="0">
                        <a:latin typeface="Cambria Math" panose="02040503050406030204" pitchFamily="18" charset="0"/>
                      </a:rPr>
                      <m:t>𝑘</m:t>
                    </m:r>
                    <m:r>
                      <a:rPr lang="en-US" sz="2000" i="1" dirty="0" smtClean="0">
                        <a:latin typeface="Cambria Math" panose="02040503050406030204" pitchFamily="18" charset="0"/>
                      </a:rPr>
                      <m:t>−1=2</m:t>
                    </m:r>
                  </m:oMath>
                </a14:m>
                <a:r>
                  <a:rPr lang="en-US" sz="2000" dirty="0"/>
                  <a:t> for the numerator, and </a:t>
                </a:r>
                <a14:m>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𝑘</m:t>
                    </m:r>
                    <m:r>
                      <a:rPr lang="en-US" sz="2000" i="1" dirty="0" smtClean="0">
                        <a:latin typeface="Cambria Math" panose="02040503050406030204" pitchFamily="18" charset="0"/>
                      </a:rPr>
                      <m:t>−1)(</m:t>
                    </m:r>
                    <m:r>
                      <a:rPr lang="en-US" sz="2000" i="1" dirty="0" smtClean="0">
                        <a:latin typeface="Cambria Math" panose="02040503050406030204" pitchFamily="18" charset="0"/>
                      </a:rPr>
                      <m:t>𝑏</m:t>
                    </m:r>
                    <m:r>
                      <a:rPr lang="en-US" sz="2000" i="1" dirty="0" smtClean="0">
                        <a:latin typeface="Cambria Math" panose="02040503050406030204" pitchFamily="18" charset="0"/>
                      </a:rPr>
                      <m:t>−1)=10</m:t>
                    </m:r>
                  </m:oMath>
                </a14:m>
                <a:r>
                  <a:rPr lang="en-US" sz="2000" dirty="0"/>
                  <a:t> for the denominator, indicates that </a:t>
                </a:r>
                <a14:m>
                  <m:oMath xmlns:m="http://schemas.openxmlformats.org/officeDocument/2006/math">
                    <m:r>
                      <a:rPr lang="en-US" sz="2000" i="1" dirty="0" smtClean="0">
                        <a:latin typeface="Cambria Math" panose="02040503050406030204" pitchFamily="18" charset="0"/>
                      </a:rPr>
                      <m:t>𝐹</m:t>
                    </m:r>
                    <m:r>
                      <a:rPr lang="en-US" sz="2000" i="1" dirty="0" smtClean="0">
                        <a:latin typeface="Cambria Math" panose="02040503050406030204" pitchFamily="18" charset="0"/>
                      </a:rPr>
                      <m:t>=5.53</m:t>
                    </m:r>
                  </m:oMath>
                </a14:m>
                <a:r>
                  <a:rPr lang="en-US" sz="2000" dirty="0"/>
                  <a:t> is between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𝐹</m:t>
                        </m:r>
                      </m:e>
                      <m:sub>
                        <m:r>
                          <a:rPr lang="en-US" sz="2000" b="0" i="1" dirty="0" smtClean="0">
                            <a:latin typeface="Cambria Math" panose="02040503050406030204" pitchFamily="18" charset="0"/>
                          </a:rPr>
                          <m:t>.025</m:t>
                        </m:r>
                      </m:sub>
                    </m:sSub>
                    <m:r>
                      <a:rPr lang="en-US" sz="2000" i="1" dirty="0" smtClean="0">
                        <a:latin typeface="Cambria Math" panose="02040503050406030204" pitchFamily="18" charset="0"/>
                      </a:rPr>
                      <m:t>=5.46</m:t>
                    </m:r>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𝐹</m:t>
                        </m:r>
                      </m:e>
                      <m:sub>
                        <m:r>
                          <a:rPr lang="en-US" sz="2000" i="1" dirty="0">
                            <a:latin typeface="Cambria Math" panose="02040503050406030204" pitchFamily="18" charset="0"/>
                          </a:rPr>
                          <m:t>.0</m:t>
                        </m:r>
                        <m:r>
                          <a:rPr lang="en-US" sz="2000" b="0" i="1" dirty="0" smtClean="0">
                            <a:latin typeface="Cambria Math" panose="02040503050406030204" pitchFamily="18" charset="0"/>
                          </a:rPr>
                          <m:t>1</m:t>
                        </m:r>
                      </m:sub>
                    </m:sSub>
                    <m:r>
                      <a:rPr lang="en-US" sz="2000" i="1" dirty="0">
                        <a:latin typeface="Cambria Math" panose="02040503050406030204" pitchFamily="18" charset="0"/>
                      </a:rPr>
                      <m:t>=</m:t>
                    </m:r>
                    <m:r>
                      <a:rPr lang="en-US" sz="2000" b="0" i="1" dirty="0" smtClean="0">
                        <a:latin typeface="Cambria Math" panose="02040503050406030204" pitchFamily="18" charset="0"/>
                      </a:rPr>
                      <m:t>7.56</m:t>
                    </m:r>
                  </m:oMath>
                </a14:m>
                <a:r>
                  <a:rPr lang="en-US" sz="2000" dirty="0"/>
                  <a:t>.</a:t>
                </a:r>
              </a:p>
            </p:txBody>
          </p:sp>
        </mc:Choice>
        <mc:Fallback xmlns="">
          <p:sp>
            <p:nvSpPr>
              <p:cNvPr id="3" name="Text Placeholder 2">
                <a:extLst>
                  <a:ext uri="{FF2B5EF4-FFF2-40B4-BE49-F238E27FC236}">
                    <a16:creationId xmlns:a16="http://schemas.microsoft.com/office/drawing/2014/main" id="{19DDD177-F2EB-46E4-4E1B-F62383358B7A}"/>
                  </a:ext>
                </a:extLst>
              </p:cNvPr>
              <p:cNvSpPr>
                <a:spLocks noGrp="1" noRot="1" noChangeAspect="1" noMove="1" noResize="1" noEditPoints="1" noAdjustHandles="1" noChangeArrowheads="1" noChangeShapeType="1" noTextEdit="1"/>
              </p:cNvSpPr>
              <p:nvPr>
                <p:ph type="body" sz="quarter" idx="15"/>
              </p:nvPr>
            </p:nvSpPr>
            <p:spPr>
              <a:xfrm>
                <a:off x="822406" y="1273032"/>
                <a:ext cx="10515600" cy="1705044"/>
              </a:xfrm>
              <a:blipFill>
                <a:blip r:embed="rId2"/>
                <a:stretch>
                  <a:fillRect l="-1507" t="-4286"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8">
                <a:extLst>
                  <a:ext uri="{FF2B5EF4-FFF2-40B4-BE49-F238E27FC236}">
                    <a16:creationId xmlns:a16="http://schemas.microsoft.com/office/drawing/2014/main" id="{A2FE1B75-A1D6-7C00-23EB-B77640B52909}"/>
                  </a:ext>
                </a:extLst>
              </p:cNvPr>
              <p:cNvGraphicFramePr>
                <a:graphicFrameLocks noGrp="1"/>
              </p:cNvGraphicFramePr>
              <p:nvPr>
                <p:ph type="tbl" sz="quarter" idx="23"/>
              </p:nvPr>
            </p:nvGraphicFramePr>
            <p:xfrm>
              <a:off x="1775704" y="3027138"/>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600" b="1" i="1" smtClean="0">
                                  <a:latin typeface="Cambria Math" panose="02040503050406030204" pitchFamily="18" charset="0"/>
                                </a:rPr>
                                <m:t>𝑭</m:t>
                              </m:r>
                            </m:oMath>
                          </a14:m>
                          <a:r>
                            <a:rPr lang="en-US" sz="1600" b="1" i="0" u="none" strike="noStrike" kern="1200" dirty="0">
                              <a:solidFill>
                                <a:srgbClr val="000000"/>
                              </a:solidFill>
                              <a:effectLst/>
                              <a:latin typeface="Calibri" panose="020F0502020204030204" pitchFamily="34" charset="0"/>
                              <a:ea typeface="+mn-ea"/>
                              <a:cs typeface="+mn-cs"/>
                            </a:rPr>
                            <a:t> Value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𝟏</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𝟐</m:t>
                              </m:r>
                              <m:r>
                                <a:rPr lang="en-US" sz="1600" b="1" i="1" u="none" strike="noStrike" kern="1200" smtClean="0">
                                  <a:solidFill>
                                    <a:srgbClr val="000000"/>
                                  </a:solidFill>
                                  <a:effectLst/>
                                  <a:latin typeface="Cambria Math" panose="02040503050406030204" pitchFamily="18" charset="0"/>
                                  <a:ea typeface="+mn-ea"/>
                                  <a:cs typeface="+mn-cs"/>
                                </a:rPr>
                                <m:t>,</m:t>
                              </m:r>
                            </m:oMath>
                          </a14:m>
                          <a:r>
                            <a:rPr lang="en-US" sz="1600" b="1" i="0" u="none" strike="noStrike" kern="1200" dirty="0">
                              <a:solidFill>
                                <a:srgbClr val="000000"/>
                              </a:solidFill>
                              <a:effectLst/>
                              <a:latin typeface="Calibri" panose="020F0502020204030204" pitchFamily="34" charset="0"/>
                              <a:ea typeface="+mn-ea"/>
                              <a:cs typeface="+mn-cs"/>
                            </a:rPr>
                            <a:t>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𝟐</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𝟏𝟎</m:t>
                              </m:r>
                            </m:oMath>
                          </a14:m>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2.92</a:t>
                          </a: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4.10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5.46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7.56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13" name="Table 8">
                <a:extLst>
                  <a:ext uri="{FF2B5EF4-FFF2-40B4-BE49-F238E27FC236}">
                    <a16:creationId xmlns:a16="http://schemas.microsoft.com/office/drawing/2014/main" id="{A2FE1B75-A1D6-7C00-23EB-B77640B52909}"/>
                  </a:ext>
                </a:extLst>
              </p:cNvPr>
              <p:cNvGraphicFramePr>
                <a:graphicFrameLocks noGrp="1"/>
              </p:cNvGraphicFramePr>
              <p:nvPr>
                <p:ph type="tbl" sz="quarter" idx="23"/>
                <p:extLst>
                  <p:ext uri="{D42A27DB-BD31-4B8C-83A1-F6EECF244321}">
                    <p14:modId xmlns:p14="http://schemas.microsoft.com/office/powerpoint/2010/main" val="2697393814"/>
                  </p:ext>
                </p:extLst>
              </p:nvPr>
            </p:nvGraphicFramePr>
            <p:xfrm>
              <a:off x="1775704" y="3027138"/>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22222" r="-89484" b="-37037"/>
                          </a:stretch>
                        </a:blipFill>
                      </a:tcPr>
                    </a:tc>
                    <a:tc>
                      <a:txBody>
                        <a:bodyPr/>
                        <a:lstStyle/>
                        <a:p>
                          <a:pPr algn="ctr" fontAlgn="b"/>
                          <a:r>
                            <a:rPr lang="en-US" sz="1800" b="0" i="0" u="none" strike="noStrike" dirty="0">
                              <a:solidFill>
                                <a:srgbClr val="000000"/>
                              </a:solidFill>
                              <a:effectLst/>
                              <a:latin typeface="Calibri" panose="020F0502020204030204" pitchFamily="34" charset="0"/>
                            </a:rPr>
                            <a:t>2.92</a:t>
                          </a:r>
                        </a:p>
                      </a:txBody>
                      <a:tcPr marL="6350" marR="6350" marT="635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4.10</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5.46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7.56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2A090CF-86F9-C143-E94D-4A1E6EE887F9}"/>
                  </a:ext>
                </a:extLst>
              </p:cNvPr>
              <p:cNvSpPr>
                <a:spLocks noGrp="1"/>
              </p:cNvSpPr>
              <p:nvPr>
                <p:ph type="body" sz="quarter" idx="18"/>
              </p:nvPr>
            </p:nvSpPr>
            <p:spPr>
              <a:xfrm>
                <a:off x="822406" y="3813153"/>
                <a:ext cx="10515600" cy="799986"/>
              </a:xfrm>
            </p:spPr>
            <p:txBody>
              <a:bodyPr>
                <a:noAutofit/>
              </a:bodyPr>
              <a:lstStyle/>
              <a:p>
                <a:pPr>
                  <a:lnSpc>
                    <a:spcPct val="100000"/>
                  </a:lnSpc>
                  <a:spcBef>
                    <a:spcPts val="600"/>
                  </a:spcBef>
                </a:pPr>
                <a:r>
                  <a:rPr lang="en-US" sz="2000" dirty="0"/>
                  <a:t>The </a:t>
                </a:r>
                <a:r>
                  <a:rPr lang="en-US" sz="2000" i="1" dirty="0"/>
                  <a:t>p</a:t>
                </a:r>
                <a:r>
                  <a:rPr lang="en-US" sz="2000" dirty="0"/>
                  <a:t>-value is the area in the upper tail: </a:t>
                </a:r>
                <a14:m>
                  <m:oMath xmlns:m="http://schemas.openxmlformats.org/officeDocument/2006/math">
                    <m:r>
                      <a:rPr lang="en-US" sz="2000" i="1" dirty="0">
                        <a:latin typeface="Cambria Math" panose="02040503050406030204" pitchFamily="18" charset="0"/>
                        <a:cs typeface="Arial" panose="020B0604020202020204" pitchFamily="34" charset="0"/>
                      </a:rPr>
                      <m:t>0.0</m:t>
                    </m:r>
                    <m:r>
                      <a:rPr lang="en-US" sz="2000" b="0" i="1" dirty="0" smtClean="0">
                        <a:latin typeface="Cambria Math" panose="02040503050406030204" pitchFamily="18" charset="0"/>
                        <a:cs typeface="Arial" panose="020B0604020202020204" pitchFamily="34" charset="0"/>
                      </a:rPr>
                      <m:t>1</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r>
                      <m:rPr>
                        <m:nor/>
                      </m:rPr>
                      <a:rPr lang="en-US" sz="2000" i="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m:t>
                    </m:r>
                    <m:r>
                      <a:rPr lang="en-US" sz="2000" b="0" i="1" dirty="0" smtClean="0">
                        <a:latin typeface="Cambria Math" panose="02040503050406030204" pitchFamily="18" charset="0"/>
                        <a:cs typeface="Arial" panose="020B0604020202020204" pitchFamily="34" charset="0"/>
                      </a:rPr>
                      <m:t>025</m:t>
                    </m:r>
                  </m:oMath>
                </a14:m>
                <a:r>
                  <a:rPr lang="en-US" sz="2000" dirty="0"/>
                  <a:t>. </a:t>
                </a:r>
              </a:p>
              <a:p>
                <a:pPr>
                  <a:lnSpc>
                    <a:spcPct val="100000"/>
                  </a:lnSpc>
                  <a:spcBef>
                    <a:spcPts val="600"/>
                  </a:spcBef>
                </a:pPr>
                <a:r>
                  <a:rPr lang="en-US" sz="2000" dirty="0"/>
                  <a:t>Thus, we reject </a:t>
                </a:r>
                <a:r>
                  <a:rPr lang="en-US" sz="2000" i="1" dirty="0"/>
                  <a:t>H</a:t>
                </a:r>
                <a:r>
                  <a:rPr lang="en-US" sz="2000" baseline="-25000" dirty="0"/>
                  <a:t>0</a:t>
                </a:r>
                <a:r>
                  <a:rPr lang="en-US" sz="2000" dirty="0"/>
                  <a:t> and conclude that at least one population mean stress level differs.</a:t>
                </a:r>
              </a:p>
            </p:txBody>
          </p:sp>
        </mc:Choice>
        <mc:Fallback xmlns="">
          <p:sp>
            <p:nvSpPr>
              <p:cNvPr id="5" name="Text Placeholder 4">
                <a:extLst>
                  <a:ext uri="{FF2B5EF4-FFF2-40B4-BE49-F238E27FC236}">
                    <a16:creationId xmlns:a16="http://schemas.microsoft.com/office/drawing/2014/main" id="{42A090CF-86F9-C143-E94D-4A1E6EE887F9}"/>
                  </a:ext>
                </a:extLst>
              </p:cNvPr>
              <p:cNvSpPr>
                <a:spLocks noGrp="1" noRot="1" noChangeAspect="1" noMove="1" noResize="1" noEditPoints="1" noAdjustHandles="1" noChangeArrowheads="1" noChangeShapeType="1" noTextEdit="1"/>
              </p:cNvSpPr>
              <p:nvPr>
                <p:ph type="body" sz="quarter" idx="18"/>
              </p:nvPr>
            </p:nvSpPr>
            <p:spPr>
              <a:xfrm>
                <a:off x="822406" y="3813153"/>
                <a:ext cx="10515600" cy="799986"/>
              </a:xfrm>
              <a:blipFill>
                <a:blip r:embed="rId4"/>
                <a:stretch>
                  <a:fillRect l="-1507" t="-9160" b="-5344"/>
                </a:stretch>
              </a:blipFill>
            </p:spPr>
            <p:txBody>
              <a:bodyPr/>
              <a:lstStyle/>
              <a:p>
                <a:r>
                  <a:rPr lang="en-US">
                    <a:noFill/>
                  </a:rPr>
                  <a:t> </a:t>
                </a:r>
              </a:p>
            </p:txBody>
          </p:sp>
        </mc:Fallback>
      </mc:AlternateContent>
      <p:graphicFrame>
        <p:nvGraphicFramePr>
          <p:cNvPr id="12" name="Table 13">
            <a:extLst>
              <a:ext uri="{FF2B5EF4-FFF2-40B4-BE49-F238E27FC236}">
                <a16:creationId xmlns:a16="http://schemas.microsoft.com/office/drawing/2014/main" id="{43E6D48E-C3EB-21F0-7924-5F27C22AB081}"/>
              </a:ext>
            </a:extLst>
          </p:cNvPr>
          <p:cNvGraphicFramePr>
            <a:graphicFrameLocks noGrp="1"/>
          </p:cNvGraphicFramePr>
          <p:nvPr>
            <p:ph type="tbl" sz="quarter" idx="22"/>
          </p:nvPr>
        </p:nvGraphicFramePr>
        <p:xfrm>
          <a:off x="1650434" y="4613139"/>
          <a:ext cx="8859544" cy="1228064"/>
        </p:xfrm>
        <a:graphic>
          <a:graphicData uri="http://schemas.openxmlformats.org/drawingml/2006/table">
            <a:tbl>
              <a:tblPr firstRow="1" bandRow="1">
                <a:tableStyleId>{5C22544A-7EE6-4342-B048-85BDC9FD1C3A}</a:tableStyleId>
              </a:tblPr>
              <a:tblGrid>
                <a:gridCol w="1860363">
                  <a:extLst>
                    <a:ext uri="{9D8B030D-6E8A-4147-A177-3AD203B41FA5}">
                      <a16:colId xmlns:a16="http://schemas.microsoft.com/office/drawing/2014/main" val="4281494615"/>
                    </a:ext>
                  </a:extLst>
                </a:gridCol>
                <a:gridCol w="1466193">
                  <a:extLst>
                    <a:ext uri="{9D8B030D-6E8A-4147-A177-3AD203B41FA5}">
                      <a16:colId xmlns:a16="http://schemas.microsoft.com/office/drawing/2014/main" val="1658350638"/>
                    </a:ext>
                  </a:extLst>
                </a:gridCol>
                <a:gridCol w="1828800">
                  <a:extLst>
                    <a:ext uri="{9D8B030D-6E8A-4147-A177-3AD203B41FA5}">
                      <a16:colId xmlns:a16="http://schemas.microsoft.com/office/drawing/2014/main" val="665697469"/>
                    </a:ext>
                  </a:extLst>
                </a:gridCol>
                <a:gridCol w="1326959">
                  <a:extLst>
                    <a:ext uri="{9D8B030D-6E8A-4147-A177-3AD203B41FA5}">
                      <a16:colId xmlns:a16="http://schemas.microsoft.com/office/drawing/2014/main" val="230204798"/>
                    </a:ext>
                  </a:extLst>
                </a:gridCol>
                <a:gridCol w="1470712">
                  <a:extLst>
                    <a:ext uri="{9D8B030D-6E8A-4147-A177-3AD203B41FA5}">
                      <a16:colId xmlns:a16="http://schemas.microsoft.com/office/drawing/2014/main" val="4176669424"/>
                    </a:ext>
                  </a:extLst>
                </a:gridCol>
                <a:gridCol w="906517">
                  <a:extLst>
                    <a:ext uri="{9D8B030D-6E8A-4147-A177-3AD203B41FA5}">
                      <a16:colId xmlns:a16="http://schemas.microsoft.com/office/drawing/2014/main" val="1389891288"/>
                    </a:ext>
                  </a:extLst>
                </a:gridCol>
              </a:tblGrid>
              <a:tr h="252704">
                <a:tc>
                  <a:txBody>
                    <a:bodyPr/>
                    <a:lstStyle/>
                    <a:p>
                      <a:r>
                        <a:rPr lang="en-US" sz="16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630238" indent="0"/>
                      <a:r>
                        <a:rPr lang="en-US" sz="1600" i="1" dirty="0">
                          <a:solidFill>
                            <a:srgbClr val="000000"/>
                          </a:solidFill>
                        </a:rPr>
                        <a:t>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184652">
                <a:tc>
                  <a:txBody>
                    <a:bodyPr/>
                    <a:lstStyle/>
                    <a:p>
                      <a:r>
                        <a:rPr lang="en-US" sz="1600" dirty="0">
                          <a:solidFill>
                            <a:srgbClr val="000000"/>
                          </a:solidFill>
                        </a:rPr>
                        <a:t>  Treatments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defTabSz="685800">
                        <a:tabLst>
                          <a:tab pos="741363" algn="r"/>
                        </a:tabLst>
                      </a:pPr>
                      <a:r>
                        <a:rPr lang="en-US" sz="1600" dirty="0">
                          <a:solidFill>
                            <a:srgbClr val="000000"/>
                          </a:solidFill>
                        </a:rPr>
                        <a:t>	21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i="0" dirty="0">
                          <a:solidFill>
                            <a:srgbClr val="000000"/>
                          </a:solidFill>
                        </a:rPr>
                        <a:t>	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03275" algn="r"/>
                        </a:tabLst>
                      </a:pPr>
                      <a:r>
                        <a:rPr lang="en-US" sz="1600" dirty="0">
                          <a:solidFill>
                            <a:srgbClr val="000000"/>
                          </a:solidFill>
                        </a:rPr>
                        <a:t>	10.5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10.5 / 1.9 = 5.53</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indent="0"/>
                      <a:r>
                        <a:rPr lang="en-US" sz="1600" dirty="0">
                          <a:solidFill>
                            <a:srgbClr val="000000"/>
                          </a:solidFill>
                        </a:rPr>
                        <a:t>  0.024</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125652">
                <a:tc>
                  <a:txBody>
                    <a:bodyPr/>
                    <a:lstStyle/>
                    <a:p>
                      <a:r>
                        <a:rPr lang="en-US" sz="1600" dirty="0">
                          <a:solidFill>
                            <a:srgbClr val="000000"/>
                          </a:solidFill>
                        </a:rPr>
                        <a:t>  Blocks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defTabSz="914400">
                        <a:tabLst>
                          <a:tab pos="741363" algn="r"/>
                        </a:tabLst>
                      </a:pPr>
                      <a:r>
                        <a:rPr lang="en-US" sz="1600" dirty="0">
                          <a:solidFill>
                            <a:srgbClr val="000000"/>
                          </a:solidFill>
                        </a:rPr>
                        <a:t>	30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58838" algn="r"/>
                        </a:tabLst>
                        <a:defRPr/>
                      </a:pPr>
                      <a:r>
                        <a:rPr lang="en-US" sz="1600" i="0" dirty="0">
                          <a:solidFill>
                            <a:srgbClr val="000000"/>
                          </a:solidFill>
                        </a:rPr>
                        <a:t>	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03275" algn="r"/>
                        </a:tabLst>
                        <a:defRPr/>
                      </a:pPr>
                      <a:r>
                        <a:rPr lang="en-US" sz="1600" dirty="0">
                          <a:solidFill>
                            <a:srgbClr val="000000"/>
                          </a:solidFill>
                        </a:rPr>
                        <a:t>	6.0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301589553"/>
                  </a:ext>
                </a:extLst>
              </a:tr>
              <a:tr h="125652">
                <a:tc>
                  <a:txBody>
                    <a:bodyPr/>
                    <a:lstStyle/>
                    <a:p>
                      <a:r>
                        <a:rPr lang="en-US" sz="16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defTabSz="630238">
                        <a:tabLst>
                          <a:tab pos="741363" algn="r"/>
                        </a:tabLst>
                      </a:pPr>
                      <a:r>
                        <a:rPr lang="en-US" sz="1600" dirty="0">
                          <a:solidFill>
                            <a:srgbClr val="000000"/>
                          </a:solidFill>
                        </a:rPr>
                        <a:t>	19</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i="0" dirty="0">
                          <a:solidFill>
                            <a:srgbClr val="000000"/>
                          </a:solidFill>
                        </a:rPr>
                        <a:t>	10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03275" algn="r"/>
                        </a:tabLst>
                      </a:pPr>
                      <a:r>
                        <a:rPr lang="en-US" sz="1600" dirty="0">
                          <a:solidFill>
                            <a:srgbClr val="000000"/>
                          </a:solidFill>
                        </a:rPr>
                        <a:t>	1.9</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125652">
                <a:tc>
                  <a:txBody>
                    <a:bodyPr/>
                    <a:lstStyle/>
                    <a:p>
                      <a:r>
                        <a:rPr lang="en-US" sz="16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741363" algn="r"/>
                        </a:tabLst>
                      </a:pPr>
                      <a:r>
                        <a:rPr lang="en-US" sz="1600" dirty="0">
                          <a:solidFill>
                            <a:srgbClr val="000000"/>
                          </a:solidFill>
                        </a:rPr>
                        <a:t>	70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dirty="0">
                          <a:solidFill>
                            <a:srgbClr val="000000"/>
                          </a:solidFill>
                        </a:rPr>
                        <a:t>	17</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Tree>
    <p:extLst>
      <p:ext uri="{BB962C8B-B14F-4D97-AF65-F5344CB8AC3E}">
        <p14:creationId xmlns:p14="http://schemas.microsoft.com/office/powerpoint/2010/main" val="4195722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a:xfrm>
            <a:off x="564358" y="365125"/>
            <a:ext cx="11046619" cy="672105"/>
          </a:xfrm>
        </p:spPr>
        <p:txBody>
          <a:bodyPr/>
          <a:lstStyle/>
          <a:p>
            <a:r>
              <a:rPr lang="en-US" sz="3200" dirty="0">
                <a:solidFill>
                  <a:srgbClr val="25894E"/>
                </a:solidFill>
              </a:rPr>
              <a:t>13.4 Excel: Dialog Box for the</a:t>
            </a:r>
            <a:r>
              <a:rPr lang="en-US" sz="3200" i="1" dirty="0">
                <a:solidFill>
                  <a:srgbClr val="25894E"/>
                </a:solidFill>
              </a:rPr>
              <a:t> </a:t>
            </a:r>
            <a:r>
              <a:rPr lang="en-US" sz="3200" dirty="0">
                <a:solidFill>
                  <a:srgbClr val="25894E"/>
                </a:solidFill>
              </a:rPr>
              <a:t>ANOVA: Two-Factor Without Replication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614485"/>
            <a:ext cx="10704846" cy="1107281"/>
          </a:xfrm>
        </p:spPr>
        <p:txBody>
          <a:bodyPr/>
          <a:lstStyle/>
          <a:p>
            <a:r>
              <a:rPr lang="en-US" sz="2000" dirty="0"/>
              <a:t>Excel’s </a:t>
            </a:r>
            <a:r>
              <a:rPr lang="en-US" sz="2000" dirty="0" err="1"/>
              <a:t>Anova</a:t>
            </a:r>
            <a:r>
              <a:rPr lang="en-US" sz="2000" dirty="0"/>
              <a:t>: Two-Factor Without Replication tool is used for a randomized block design.</a:t>
            </a:r>
          </a:p>
          <a:p>
            <a:r>
              <a:rPr lang="en-US" sz="2000" b="1" dirty="0"/>
              <a:t>Enter/Access Data</a:t>
            </a:r>
            <a:r>
              <a:rPr lang="en-US" sz="2000" dirty="0"/>
              <a:t>: Open the file </a:t>
            </a:r>
            <a:r>
              <a:rPr lang="en-US" sz="2000" i="1" dirty="0" err="1"/>
              <a:t>airtraffic</a:t>
            </a:r>
            <a:r>
              <a:rPr lang="en-US" sz="2000" dirty="0"/>
              <a:t>. The data and labels are in cells A1:D7.</a:t>
            </a:r>
          </a:p>
          <a:p>
            <a:r>
              <a:rPr lang="en-US" sz="2000" b="1" dirty="0"/>
              <a:t>Apply Tools</a:t>
            </a:r>
            <a:r>
              <a:rPr lang="en-US" sz="2000" dirty="0"/>
              <a:t>: Follow these steps in the ANOVA: Two-Factor Without Replication dialog box.</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6" y="2827336"/>
            <a:ext cx="5750093" cy="3016250"/>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914400" indent="-800100">
              <a:spcBef>
                <a:spcPts val="300"/>
              </a:spcBef>
            </a:pPr>
            <a:r>
              <a:rPr lang="en-US" sz="1800" b="1" dirty="0"/>
              <a:t>Step 3</a:t>
            </a:r>
            <a:r>
              <a:rPr lang="en-US" sz="1800" dirty="0"/>
              <a:t>. Choose </a:t>
            </a:r>
            <a:r>
              <a:rPr lang="en-US" sz="1800" b="1" dirty="0"/>
              <a:t>ANOVA: Two-Factor Without Replication </a:t>
            </a:r>
            <a:r>
              <a:rPr lang="en-US" sz="1800" dirty="0"/>
              <a:t>from the list of Analysis Tools</a:t>
            </a:r>
          </a:p>
          <a:p>
            <a:pPr marL="914400" indent="-800100">
              <a:spcBef>
                <a:spcPts val="300"/>
              </a:spcBef>
            </a:pPr>
            <a:r>
              <a:rPr lang="en-US" sz="1800" b="1" dirty="0"/>
              <a:t>Step 4</a:t>
            </a:r>
            <a:r>
              <a:rPr lang="en-US" sz="1800" dirty="0"/>
              <a:t>.	In the dialog box:</a:t>
            </a:r>
          </a:p>
          <a:p>
            <a:pPr marL="1143000">
              <a:spcBef>
                <a:spcPts val="300"/>
              </a:spcBef>
            </a:pPr>
            <a:r>
              <a:rPr lang="en-US" sz="1800" dirty="0"/>
              <a:t>Enter </a:t>
            </a:r>
            <a:r>
              <a:rPr lang="en-US" sz="1800" i="1" dirty="0"/>
              <a:t>A1:D7 </a:t>
            </a:r>
            <a:r>
              <a:rPr lang="en-US" sz="1800" dirty="0"/>
              <a:t>in the </a:t>
            </a:r>
            <a:r>
              <a:rPr lang="en-US" sz="1800" b="1" dirty="0"/>
              <a:t>Input Range: </a:t>
            </a:r>
            <a:r>
              <a:rPr lang="en-US" sz="1800" dirty="0"/>
              <a:t>box</a:t>
            </a:r>
          </a:p>
          <a:p>
            <a:pPr marL="1143000">
              <a:spcBef>
                <a:spcPts val="300"/>
              </a:spcBef>
            </a:pPr>
            <a:r>
              <a:rPr lang="en-US" sz="1800" dirty="0"/>
              <a:t>Select the check box for </a:t>
            </a:r>
            <a:r>
              <a:rPr lang="en-US" sz="1800" b="1" dirty="0"/>
              <a:t>Labels in First Row</a:t>
            </a:r>
            <a:endParaRPr lang="en-US" sz="1800" dirty="0"/>
          </a:p>
          <a:p>
            <a:pPr marL="1371600" indent="-228600">
              <a:spcBef>
                <a:spcPts val="300"/>
              </a:spcBef>
            </a:pPr>
            <a:r>
              <a:rPr lang="en-US" sz="1800" dirty="0"/>
              <a:t>In the </a:t>
            </a:r>
            <a:r>
              <a:rPr lang="en-US" sz="1800" b="1" dirty="0"/>
              <a:t>Output options </a:t>
            </a:r>
            <a:r>
              <a:rPr lang="en-US" sz="1800" dirty="0"/>
              <a:t>area, select </a:t>
            </a:r>
            <a:r>
              <a:rPr lang="en-US" sz="1800" b="1" dirty="0"/>
              <a:t>Output Range:</a:t>
            </a:r>
            <a:r>
              <a:rPr lang="en-US" sz="1800" dirty="0"/>
              <a:t> and enter </a:t>
            </a:r>
            <a:r>
              <a:rPr lang="en-US" sz="1800" i="1" dirty="0"/>
              <a:t>A9</a:t>
            </a:r>
            <a:r>
              <a:rPr lang="en-US" sz="1800" dirty="0"/>
              <a:t>.</a:t>
            </a:r>
          </a:p>
          <a:p>
            <a:pPr marL="1371600" indent="-228600">
              <a:spcBef>
                <a:spcPts val="300"/>
              </a:spcBef>
            </a:pPr>
            <a:r>
              <a:rPr lang="en-US" sz="1800" dirty="0"/>
              <a:t>Click </a:t>
            </a:r>
            <a:r>
              <a:rPr lang="en-US" sz="1800" b="1" dirty="0"/>
              <a:t>OK</a:t>
            </a:r>
          </a:p>
        </p:txBody>
      </p:sp>
      <p:pic>
        <p:nvPicPr>
          <p:cNvPr id="7" name="Picture Placeholder 6" descr="A screenshot shows an Excel spreadsheet Anova: Two-factor without replication dialog box. In the spreadsheet, column A is labeled controller, column B is labeled system A, column C is labeled system B, and column D is labeled system C. The entries in rows 2 through 7 are as follows. Row 2. Controller: 1. A: 15. B: 15. C: 18. Row 3. Controller: 2. A: 14. B: 14. C: 14. Row 4. Controller: 3. A: 10. B: 11. C: 15. Row 5. Controller: 4. A: 13. B: 12. C: 17. Row 6. Controller: 5. A: 16. B: 13. C: 16. Row 7. Controller: 6. A: 13. B: 13. C: 13. The Anova: Two-factor without replication dialog box has two sections. The first section is titled Input and consists of the following elements. Entry field labeled input range with the entry dollar sign A dollar sign 1: dollar sign D dollar sign 7. Checked checkbox labeled labels in first row. Entry field alpha with the entry 0.05. The second section is titled Output Options and consists of the following elements. Radio button labeled output range (selected) with entry dollar sign A dollar sign 9. Radio button labeled new worksheet ply with a grayed-out field. Radio button labeled new workbook. There are three buttons on the right side: O K, Cancel, and Help. The O K button is selected.">
            <a:extLst>
              <a:ext uri="{FF2B5EF4-FFF2-40B4-BE49-F238E27FC236}">
                <a16:creationId xmlns:a16="http://schemas.microsoft.com/office/drawing/2014/main" id="{4B977762-DCB8-5C17-BDFE-302C6AB868DE}"/>
              </a:ext>
            </a:extLst>
          </p:cNvPr>
          <p:cNvPicPr>
            <a:picLocks noGrp="1" noChangeAspect="1"/>
          </p:cNvPicPr>
          <p:nvPr>
            <p:ph type="pic" sz="quarter" idx="16"/>
          </p:nvPr>
        </p:nvPicPr>
        <p:blipFill>
          <a:blip r:embed="rId2"/>
          <a:srcRect t="112" b="112"/>
          <a:stretch/>
        </p:blipFill>
        <p:spPr>
          <a:xfrm>
            <a:off x="6557336" y="2827336"/>
            <a:ext cx="4891087" cy="3016250"/>
          </a:xfrm>
        </p:spPr>
      </p:pic>
    </p:spTree>
    <p:extLst>
      <p:ext uri="{BB962C8B-B14F-4D97-AF65-F5344CB8AC3E}">
        <p14:creationId xmlns:p14="http://schemas.microsoft.com/office/powerpoint/2010/main" val="1555728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13.4 Excel: Conduct ANOVA for a Randomized Block Design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50721" y="1497805"/>
                <a:ext cx="5578642" cy="4410075"/>
              </a:xfrm>
            </p:spPr>
            <p:txBody>
              <a:bodyPr/>
              <a:lstStyle/>
              <a:p>
                <a:r>
                  <a:rPr lang="en-US" sz="2000" dirty="0"/>
                  <a:t>The output, titled </a:t>
                </a:r>
                <a:r>
                  <a:rPr lang="en-US" sz="2000" i="1" dirty="0" err="1"/>
                  <a:t>Anova</a:t>
                </a:r>
                <a:r>
                  <a:rPr lang="en-US" sz="2000" i="1" dirty="0"/>
                  <a:t>: Two-Factor Without Replication</a:t>
                </a:r>
                <a:r>
                  <a:rPr lang="en-US" sz="2000" dirty="0"/>
                  <a:t>, appears in cells A9:G30. </a:t>
                </a:r>
              </a:p>
              <a:p>
                <a:pPr marL="457200" indent="-342900">
                  <a:buFont typeface="Arial" panose="020B0604020202020204" pitchFamily="34" charset="0"/>
                  <a:buChar char="•"/>
                </a:pPr>
                <a:r>
                  <a:rPr lang="en-US" sz="2000" dirty="0"/>
                  <a:t>Cells A12:E17 provide a summary of the treatments, and cells A19:E21 of the blocks. </a:t>
                </a:r>
              </a:p>
              <a:p>
                <a:pPr marL="457200" indent="-342900">
                  <a:buFont typeface="Arial" panose="020B0604020202020204" pitchFamily="34" charset="0"/>
                  <a:buChar char="•"/>
                </a:pPr>
                <a:r>
                  <a:rPr lang="en-US" sz="2000" dirty="0"/>
                  <a:t>The ANOVA table, shown in cells A25:G30, is the same as the ANOVA table we saw earlier.</a:t>
                </a:r>
              </a:p>
              <a:p>
                <a:pPr marL="457200" indent="-342900">
                  <a:buFont typeface="Arial" panose="020B0604020202020204" pitchFamily="34" charset="0"/>
                  <a:buChar char="•"/>
                </a:pPr>
                <a:r>
                  <a:rPr lang="en-US" sz="2000" dirty="0"/>
                  <a:t>Excel identifies sources of variation as:</a:t>
                </a:r>
              </a:p>
              <a:p>
                <a:pPr marL="914400" indent="-342900">
                  <a:spcBef>
                    <a:spcPts val="400"/>
                  </a:spcBef>
                  <a:buClr>
                    <a:srgbClr val="FF0000"/>
                  </a:buClr>
                  <a:buFont typeface="Arial" panose="020B0604020202020204" pitchFamily="34" charset="0"/>
                  <a:buChar char="•"/>
                </a:pPr>
                <a:r>
                  <a:rPr lang="en-US" sz="2000" dirty="0"/>
                  <a:t>Blocks as </a:t>
                </a:r>
                <a:r>
                  <a:rPr lang="en-US" sz="2000" i="1" dirty="0"/>
                  <a:t>Rows</a:t>
                </a:r>
              </a:p>
              <a:p>
                <a:pPr marL="914400" indent="-342900">
                  <a:spcBef>
                    <a:spcPts val="400"/>
                  </a:spcBef>
                  <a:buClr>
                    <a:srgbClr val="FF0000"/>
                  </a:buClr>
                  <a:buFont typeface="Arial" panose="020B0604020202020204" pitchFamily="34" charset="0"/>
                  <a:buChar char="•"/>
                </a:pPr>
                <a:r>
                  <a:rPr lang="en-US" sz="2000" dirty="0"/>
                  <a:t>Treatments as </a:t>
                </a:r>
                <a:r>
                  <a:rPr lang="en-US" sz="2000" i="1" dirty="0"/>
                  <a:t>Columns</a:t>
                </a:r>
              </a:p>
              <a:p>
                <a:pPr marL="914400" indent="-342900">
                  <a:spcBef>
                    <a:spcPts val="400"/>
                  </a:spcBef>
                  <a:buClr>
                    <a:srgbClr val="FF0000"/>
                  </a:buClr>
                  <a:buFont typeface="Arial" panose="020B0604020202020204" pitchFamily="34" charset="0"/>
                  <a:buChar char="•"/>
                </a:pPr>
                <a:r>
                  <a:rPr lang="en-US" sz="2000" dirty="0"/>
                  <a:t>Error is the same</a:t>
                </a:r>
                <a:r>
                  <a:rPr lang="en-US" sz="2000" i="1" dirty="0"/>
                  <a:t>.</a:t>
                </a:r>
              </a:p>
              <a:p>
                <a:r>
                  <a:rPr lang="en-US" sz="2000" dirty="0"/>
                  <a:t>Because the 𝑝-value for treatments, 0.0242, is less than </a:t>
                </a:r>
                <a14:m>
                  <m:oMath xmlns:m="http://schemas.openxmlformats.org/officeDocument/2006/math">
                    <m:r>
                      <a:rPr lang="en-US" sz="2000" i="1" dirty="0" smtClean="0">
                        <a:latin typeface="Cambria Math" panose="02040503050406030204" pitchFamily="18" charset="0"/>
                      </a:rPr>
                      <m:t>𝛼</m:t>
                    </m:r>
                    <m:r>
                      <a:rPr lang="en-US" sz="2000" i="1" dirty="0" smtClean="0">
                        <a:latin typeface="Cambria Math" panose="02040503050406030204" pitchFamily="18" charset="0"/>
                      </a:rPr>
                      <m:t>=0.05</m:t>
                    </m:r>
                  </m:oMath>
                </a14:m>
                <a:r>
                  <a:rPr lang="en-US" sz="2000" dirty="0"/>
                  <a:t>, we conclude that the means for the three populations are not all equal.</a:t>
                </a:r>
              </a:p>
              <a:p>
                <a:endParaRPr lang="en-US" sz="2000" dirty="0"/>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50721" y="1497805"/>
                <a:ext cx="5578642" cy="4410075"/>
              </a:xfrm>
              <a:blipFill>
                <a:blip r:embed="rId2"/>
                <a:stretch>
                  <a:fillRect l="-2732" t="-1660" r="-3279" b="-3873"/>
                </a:stretch>
              </a:blipFill>
            </p:spPr>
            <p:txBody>
              <a:bodyPr/>
              <a:lstStyle/>
              <a:p>
                <a:r>
                  <a:rPr lang="en-US">
                    <a:noFill/>
                  </a:rPr>
                  <a:t> </a:t>
                </a:r>
              </a:p>
            </p:txBody>
          </p:sp>
        </mc:Fallback>
      </mc:AlternateContent>
      <p:pic>
        <p:nvPicPr>
          <p:cNvPr id="7" name="Picture Placeholder 6" descr="A screenshot shows an Excel spreadsheet with an input table and two output tables. In the first table, column A is labeled controller, column B is labeled system A, column C is labeled system B, and column D is labeled system C. The entries in rows 2 through 7 are as follows. Row 2. Controller: 1. A: 15. B: 15. C: 18. Row 3. Controller: 2. A: 14. B: 14. C: 14. Row 4. Controller: 3. A: 10. B: 11. C: 15. Row 5. Controller: 4. A: 13. B: 12. C: 17. Row 6. Controller: 5. A: 16. B: 13. C: 16. Row 7. Controller: 6. A: 13. B: 13. C: 13. The second table is titled Anova: Two-factor without replication. Column A is labeled summary, column B is labeled count, column C is labeled sum, column D is labeled average, and column E is labeled variance. The entries in rows 12 through 21 are as follows. Row 12. Summary: 1. Count: 3. Sum: 48. Average: 16. Variance: 3. Row 13. Summary: 2. Count: 3. Sum: 42. Average: 14. Variance: 0. Row 14. Summary: 3. Count: 3. Sum: 36. Average: 12. Variance: 7. Row 15. Summary: 4. Count: 3. Sum: 42. Average: 14. Variance: 7. Row 16. Summary: 5. Count: 3. Sum: 45. Average: 15. Variance: 3. Row 17. Summary: 6. Count: 3. Sum: 39. Average: 13. Variance: 0. Row 19. Summary: System A. Count: 6. Sum: 81. Average: 13.5. Variance: 4.3. Row 20. Summary: System B. Count: 6. Sum: 78. Average: 13. Variance: 2. Row 21. Summary: System C. Count: 6. Sum: 93. Average: 15.5. Variance: 3.5. The third table is titled ANOVA. Column A is labeled source of variation, column B is labeled S S, column C is labeled d f, column D is labeled M S, column E is labeled F, column F is labeled P-value, and column G is labeled F crit. The entries in rows 26 through 30 are as follows. Row 26. Source of variation: Rows. S S: 30. d f: 5. M S: 6. F: 3.1579. P value: 0.0574. F crit: 3.3258. Row 27: Source of variation: Columns. S S: 21. d f: 2. M S: 10.5. F: 5.5263. P-value: 0.0242. F crit: 4.1028. Row 28: Source of variation: Error. S S: 19. d f: 10. M S: 1.9. Row 30. Source of variation: Total. S S: 70. d f: 17.">
            <a:extLst>
              <a:ext uri="{FF2B5EF4-FFF2-40B4-BE49-F238E27FC236}">
                <a16:creationId xmlns:a16="http://schemas.microsoft.com/office/drawing/2014/main" id="{BBAB2BA3-2E95-1AC5-81DF-9279357CF547}"/>
              </a:ext>
            </a:extLst>
          </p:cNvPr>
          <p:cNvPicPr>
            <a:picLocks noGrp="1" noChangeAspect="1"/>
          </p:cNvPicPr>
          <p:nvPr>
            <p:ph type="pic" sz="quarter" idx="16"/>
          </p:nvPr>
        </p:nvPicPr>
        <p:blipFill>
          <a:blip r:embed="rId3"/>
          <a:srcRect l="56" r="56"/>
          <a:stretch/>
        </p:blipFill>
        <p:spPr>
          <a:xfrm>
            <a:off x="6404142" y="1576385"/>
            <a:ext cx="5037137" cy="4252913"/>
          </a:xfrm>
          <a:ln>
            <a:solidFill>
              <a:srgbClr val="000000"/>
            </a:solidFill>
          </a:ln>
        </p:spPr>
      </p:pic>
    </p:spTree>
    <p:extLst>
      <p:ext uri="{BB962C8B-B14F-4D97-AF65-F5344CB8AC3E}">
        <p14:creationId xmlns:p14="http://schemas.microsoft.com/office/powerpoint/2010/main" val="2714257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dirty="0">
                <a:solidFill>
                  <a:srgbClr val="D14B1E"/>
                </a:solidFill>
              </a:rPr>
              <a:t>13.5 Factorial Experiment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98784" y="1511219"/>
                <a:ext cx="10594432" cy="3982931"/>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The completely randomized design and the randomized block design we have considered so far enable us to draw statistical conclusions about one factor.</a:t>
                </a:r>
              </a:p>
              <a:p>
                <a:pPr>
                  <a:spcBef>
                    <a:spcPts val="600"/>
                  </a:spcBef>
                  <a:spcAft>
                    <a:spcPts val="0"/>
                  </a:spcAft>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factorial experiment </a:t>
                </a:r>
                <a:r>
                  <a:rPr lang="en-US" sz="2000" dirty="0">
                    <a:latin typeface="Arial" panose="020B0604020202020204" pitchFamily="34" charset="0"/>
                    <a:cs typeface="Arial" panose="020B0604020202020204" pitchFamily="34" charset="0"/>
                  </a:rPr>
                  <a:t>allows simultan­eous conclusions about two or more factors.</a:t>
                </a:r>
              </a:p>
              <a:p>
                <a:pPr>
                  <a:spcBef>
                    <a:spcPts val="600"/>
                  </a:spcBef>
                  <a:spcAft>
                    <a:spcPts val="0"/>
                  </a:spcAft>
                </a:pPr>
                <a:r>
                  <a:rPr lang="en-US" sz="2000" dirty="0">
                    <a:latin typeface="Arial" panose="020B0604020202020204" pitchFamily="34" charset="0"/>
                    <a:cs typeface="Arial" panose="020B0604020202020204" pitchFamily="34" charset="0"/>
                  </a:rPr>
                  <a:t>In this section, we will show the analysis for a two­-factor experiment. The basic approach can be extended to experiments involving more than two factors.</a:t>
                </a:r>
              </a:p>
              <a:p>
                <a:pPr>
                  <a:spcBef>
                    <a:spcPts val="600"/>
                  </a:spcBef>
                  <a:spcAft>
                    <a:spcPts val="0"/>
                  </a:spcAft>
                </a:pPr>
                <a:r>
                  <a:rPr lang="en-US" sz="2000" dirty="0">
                    <a:latin typeface="Arial" panose="020B0604020202020204" pitchFamily="34" charset="0"/>
                    <a:cs typeface="Arial" panose="020B0604020202020204" pitchFamily="34" charset="0"/>
                  </a:rPr>
                  <a:t>The term </a:t>
                </a:r>
                <a:r>
                  <a:rPr lang="en-US" sz="2000" i="1" dirty="0">
                    <a:latin typeface="Arial" panose="020B0604020202020204" pitchFamily="34" charset="0"/>
                    <a:cs typeface="Arial" panose="020B0604020202020204" pitchFamily="34" charset="0"/>
                  </a:rPr>
                  <a:t>factorial</a:t>
                </a:r>
                <a:r>
                  <a:rPr lang="en-US" sz="2000" dirty="0">
                    <a:latin typeface="Arial" panose="020B0604020202020204" pitchFamily="34" charset="0"/>
                    <a:cs typeface="Arial" panose="020B0604020202020204" pitchFamily="34" charset="0"/>
                  </a:rPr>
                  <a:t> is used because the experimental conditions include all possible combinations of the factors.</a:t>
                </a:r>
              </a:p>
              <a:p>
                <a:pPr lvl="1">
                  <a:spcBef>
                    <a:spcPts val="600"/>
                  </a:spcBef>
                  <a:spcAft>
                    <a:spcPts val="0"/>
                  </a:spcAft>
                </a:pPr>
                <a:r>
                  <a:rPr lang="en-US" sz="2000" dirty="0">
                    <a:latin typeface="Arial" panose="020B0604020202020204" pitchFamily="34" charset="0"/>
                    <a:cs typeface="Arial" panose="020B0604020202020204" pitchFamily="34" charset="0"/>
                  </a:rPr>
                  <a:t>For example, for </a:t>
                </a:r>
                <a14:m>
                  <m:oMath xmlns:m="http://schemas.openxmlformats.org/officeDocument/2006/math">
                    <m:r>
                      <a:rPr lang="en-US" sz="2000" i="1" dirty="0" smtClean="0">
                        <a:latin typeface="Cambria Math" panose="02040503050406030204" pitchFamily="18" charset="0"/>
                        <a:cs typeface="Arial" panose="020B0604020202020204" pitchFamily="34" charset="0"/>
                      </a:rPr>
                      <m:t>𝑎</m:t>
                    </m:r>
                  </m:oMath>
                </a14:m>
                <a:r>
                  <a:rPr lang="en-US" sz="2000" dirty="0">
                    <a:latin typeface="Arial" panose="020B0604020202020204" pitchFamily="34" charset="0"/>
                    <a:cs typeface="Arial" panose="020B0604020202020204" pitchFamily="34" charset="0"/>
                  </a:rPr>
                  <a:t> levels of factor A and </a:t>
                </a:r>
                <a:r>
                  <a:rPr lang="en-US" sz="2000" i="1" dirty="0">
                    <a:latin typeface="Arial" panose="020B0604020202020204" pitchFamily="34" charset="0"/>
                    <a:cs typeface="Arial" panose="020B0604020202020204" pitchFamily="34" charset="0"/>
                  </a:rPr>
                  <a:t>b</a:t>
                </a:r>
                <a:r>
                  <a:rPr lang="en-US" sz="2000" dirty="0">
                    <a:latin typeface="Arial" panose="020B0604020202020204" pitchFamily="34" charset="0"/>
                    <a:cs typeface="Arial" panose="020B0604020202020204" pitchFamily="34" charset="0"/>
                  </a:rPr>
                  <a:t> levels of factor B, the experiment will involve collecting data on </a:t>
                </a:r>
                <a:r>
                  <a:rPr lang="en-US" sz="2000" i="1" dirty="0">
                    <a:latin typeface="Arial" panose="020B0604020202020204" pitchFamily="34" charset="0"/>
                    <a:cs typeface="Arial" panose="020B0604020202020204" pitchFamily="34" charset="0"/>
                  </a:rPr>
                  <a:t>ab</a:t>
                </a:r>
                <a:r>
                  <a:rPr lang="en-US" sz="2000" dirty="0">
                    <a:latin typeface="Arial" panose="020B0604020202020204" pitchFamily="34" charset="0"/>
                    <a:cs typeface="Arial" panose="020B0604020202020204" pitchFamily="34" charset="0"/>
                  </a:rPr>
                  <a:t> treatment combinations.</a:t>
                </a:r>
              </a:p>
              <a:p>
                <a:pPr>
                  <a:spcBef>
                    <a:spcPts val="600"/>
                  </a:spcBef>
                  <a:spcAft>
                    <a:spcPts val="0"/>
                  </a:spcAft>
                </a:pPr>
                <a:r>
                  <a:rPr lang="en-US" sz="2000" dirty="0">
                    <a:latin typeface="Arial" panose="020B0604020202020204" pitchFamily="34" charset="0"/>
                    <a:cs typeface="Arial" panose="020B0604020202020204" pitchFamily="34" charset="0"/>
                  </a:rPr>
                  <a:t>In experimental design terminology, the sample size for each treatment combination indicates the number of </a:t>
                </a:r>
                <a:r>
                  <a:rPr lang="en-US" sz="2000" i="1" dirty="0">
                    <a:latin typeface="Arial" panose="020B0604020202020204" pitchFamily="34" charset="0"/>
                    <a:cs typeface="Arial" panose="020B0604020202020204" pitchFamily="34" charset="0"/>
                  </a:rPr>
                  <a:t>replications</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smtClean="0">
                        <a:latin typeface="Cambria Math" panose="02040503050406030204" pitchFamily="18" charset="0"/>
                        <a:cs typeface="Arial" panose="020B0604020202020204" pitchFamily="34" charset="0"/>
                      </a:rPr>
                      <m:t>𝑟</m:t>
                    </m:r>
                  </m:oMath>
                </a14:m>
                <a:r>
                  <a:rPr lang="en-US" sz="2000" dirty="0">
                    <a:latin typeface="Arial" panose="020B0604020202020204" pitchFamily="34" charset="0"/>
                    <a:cs typeface="Arial" panose="020B0604020202020204" pitchFamily="34" charset="0"/>
                  </a:rPr>
                  <a:t>, so that the total number of observations for a two-factor factorial experiment is </a:t>
                </a:r>
                <a14:m>
                  <m:oMath xmlns:m="http://schemas.openxmlformats.org/officeDocument/2006/math">
                    <m:r>
                      <a:rPr lang="en-US" sz="2000" i="1" dirty="0" smtClean="0">
                        <a:latin typeface="Cambria Math" panose="02040503050406030204" pitchFamily="18" charset="0"/>
                        <a:cs typeface="Arial" panose="020B0604020202020204" pitchFamily="34" charset="0"/>
                      </a:rPr>
                      <m:t>𝑎𝑏𝑟</m:t>
                    </m:r>
                  </m:oMath>
                </a14:m>
                <a:r>
                  <a:rPr lang="en-US" sz="2000" i="1"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98784" y="1511219"/>
                <a:ext cx="10594432" cy="3982931"/>
              </a:xfrm>
              <a:blipFill>
                <a:blip r:embed="rId3"/>
                <a:stretch>
                  <a:fillRect l="-1438" t="-1838" r="-863" b="-3828"/>
                </a:stretch>
              </a:blipFill>
            </p:spPr>
            <p:txBody>
              <a:bodyPr/>
              <a:lstStyle/>
              <a:p>
                <a:r>
                  <a:rPr lang="en-US">
                    <a:noFill/>
                  </a:rPr>
                  <a:t> </a:t>
                </a:r>
              </a:p>
            </p:txBody>
          </p:sp>
        </mc:Fallback>
      </mc:AlternateContent>
    </p:spTree>
    <p:extLst>
      <p:ext uri="{BB962C8B-B14F-4D97-AF65-F5344CB8AC3E}">
        <p14:creationId xmlns:p14="http://schemas.microsoft.com/office/powerpoint/2010/main" val="1620679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9D15-B197-09B5-C16B-34F52C2D78BC}"/>
              </a:ext>
            </a:extLst>
          </p:cNvPr>
          <p:cNvSpPr>
            <a:spLocks noGrp="1"/>
          </p:cNvSpPr>
          <p:nvPr>
            <p:ph type="title"/>
          </p:nvPr>
        </p:nvSpPr>
        <p:spPr/>
        <p:txBody>
          <a:bodyPr/>
          <a:lstStyle/>
          <a:p>
            <a:r>
              <a:rPr lang="en-US" dirty="0"/>
              <a:t>13.5 ANOVA Table for a Two-Factor Experiment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5DFAD8A-F14F-71F1-C97E-801BF3F52F6E}"/>
                  </a:ext>
                </a:extLst>
              </p:cNvPr>
              <p:cNvSpPr>
                <a:spLocks noGrp="1"/>
              </p:cNvSpPr>
              <p:nvPr>
                <p:ph type="body" sz="quarter" idx="15"/>
              </p:nvPr>
            </p:nvSpPr>
            <p:spPr>
              <a:xfrm>
                <a:off x="743576" y="1213940"/>
                <a:ext cx="10610223" cy="2758964"/>
              </a:xfrm>
            </p:spPr>
            <p:txBody>
              <a:bodyPr/>
              <a:lstStyle/>
              <a:p>
                <a:pPr>
                  <a:lnSpc>
                    <a:spcPct val="100000"/>
                  </a:lnSpc>
                  <a:spcBef>
                    <a:spcPts val="600"/>
                  </a:spcBef>
                </a:pPr>
                <a:r>
                  <a:rPr lang="en-US" sz="2000" dirty="0"/>
                  <a:t>The ANOVA procedure for a two-factor experiment partitions the total sum of squares (SST) into four groups: sum of squares for factor A (SSA), sum of squares for factor B (SSB), sum of squares for interaction (SSAB), and sum of squares due to error (SSE).</a:t>
                </a:r>
              </a:p>
              <a:p>
                <a:pPr marL="914400">
                  <a:lnSpc>
                    <a:spcPct val="100000"/>
                  </a:lnSpc>
                  <a:spcBef>
                    <a:spcPts val="600"/>
                  </a:spcBef>
                </a:pPr>
                <a14:m>
                  <m:oMath xmlns:m="http://schemas.openxmlformats.org/officeDocument/2006/math">
                    <m:r>
                      <a:rPr lang="en-US" sz="2000" b="0" i="1" smtClean="0">
                        <a:latin typeface="Cambria Math" panose="02040503050406030204" pitchFamily="18" charset="0"/>
                      </a:rPr>
                      <m:t>𝑆𝑆𝑇</m:t>
                    </m:r>
                    <m:r>
                      <a:rPr lang="en-US" sz="2000" b="0" i="1" smtClean="0">
                        <a:latin typeface="Cambria Math" panose="02040503050406030204" pitchFamily="18" charset="0"/>
                      </a:rPr>
                      <m:t>=</m:t>
                    </m:r>
                    <m:r>
                      <a:rPr lang="en-US" sz="2000" b="0" i="1" smtClean="0">
                        <a:latin typeface="Cambria Math" panose="02040503050406030204" pitchFamily="18" charset="0"/>
                      </a:rPr>
                      <m:t>𝑆𝑆𝐴</m:t>
                    </m:r>
                    <m:r>
                      <a:rPr lang="en-US" sz="2000" b="0" i="1" smtClean="0">
                        <a:latin typeface="Cambria Math" panose="02040503050406030204" pitchFamily="18" charset="0"/>
                      </a:rPr>
                      <m:t>+</m:t>
                    </m:r>
                    <m:r>
                      <a:rPr lang="en-US" sz="2000" b="0" i="1" smtClean="0">
                        <a:latin typeface="Cambria Math" panose="02040503050406030204" pitchFamily="18" charset="0"/>
                      </a:rPr>
                      <m:t>𝑆𝑆𝐵</m:t>
                    </m:r>
                    <m:r>
                      <a:rPr lang="en-US" sz="2000" b="0" i="1" smtClean="0">
                        <a:latin typeface="Cambria Math" panose="02040503050406030204" pitchFamily="18" charset="0"/>
                      </a:rPr>
                      <m:t>+</m:t>
                    </m:r>
                    <m:r>
                      <a:rPr lang="en-US" sz="2000" b="0" i="1" smtClean="0">
                        <a:latin typeface="Cambria Math" panose="02040503050406030204" pitchFamily="18" charset="0"/>
                      </a:rPr>
                      <m:t>𝑆𝑆𝐴𝐵</m:t>
                    </m:r>
                    <m:r>
                      <a:rPr lang="en-US" sz="2000" b="0" i="1" smtClean="0">
                        <a:latin typeface="Cambria Math" panose="02040503050406030204" pitchFamily="18" charset="0"/>
                      </a:rPr>
                      <m:t>+</m:t>
                    </m:r>
                    <m:r>
                      <a:rPr lang="en-US" sz="2000" b="0" i="1" smtClean="0">
                        <a:latin typeface="Cambria Math" panose="02040503050406030204" pitchFamily="18" charset="0"/>
                      </a:rPr>
                      <m:t>𝑆𝑆𝐸</m:t>
                    </m:r>
                  </m:oMath>
                </a14:m>
                <a:r>
                  <a:rPr lang="en-US" sz="2000" dirty="0"/>
                  <a:t> </a:t>
                </a:r>
              </a:p>
              <a:p>
                <a:pPr>
                  <a:lnSpc>
                    <a:spcPct val="100000"/>
                  </a:lnSpc>
                  <a:spcBef>
                    <a:spcPts val="600"/>
                  </a:spcBef>
                </a:pPr>
                <a:r>
                  <a:rPr lang="en-US" sz="2000" dirty="0"/>
                  <a:t>The total degrees of freedom,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m:t>
                    </m:r>
                    <m:r>
                      <a:rPr lang="en-US" sz="2000" i="1" smtClean="0">
                        <a:latin typeface="Cambria Math" panose="02040503050406030204" pitchFamily="18" charset="0"/>
                        <a:cs typeface="Arial" panose="020B0604020202020204" pitchFamily="34" charset="0"/>
                      </a:rPr>
                      <m:t>1</m:t>
                    </m:r>
                  </m:oMath>
                </a14:m>
                <a:r>
                  <a:rPr lang="en-US" sz="2000" dirty="0"/>
                  <a:t>, are partitioned so that</a:t>
                </a:r>
              </a:p>
              <a:p>
                <a:pPr marL="914400">
                  <a:lnSpc>
                    <a:spcPct val="100000"/>
                  </a:lnSpc>
                  <a:spcBef>
                    <a:spcPts val="600"/>
                  </a:spcBef>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i="1">
                        <a:latin typeface="Cambria Math" panose="02040503050406030204" pitchFamily="18" charset="0"/>
                        <a:cs typeface="Arial" panose="020B0604020202020204" pitchFamily="34" charset="0"/>
                      </a:rPr>
                      <m:t>−1=</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𝑎</m:t>
                        </m:r>
                        <m:r>
                          <a:rPr lang="en-US" sz="2000" i="1">
                            <a:latin typeface="Cambria Math" panose="02040503050406030204" pitchFamily="18" charset="0"/>
                            <a:cs typeface="Arial" panose="020B0604020202020204" pitchFamily="34" charset="0"/>
                          </a:rPr>
                          <m:t>−1</m:t>
                        </m:r>
                      </m:e>
                    </m:d>
                    <m:r>
                      <a:rPr lang="en-US" sz="2000" i="1">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𝑏</m:t>
                        </m:r>
                        <m:r>
                          <a:rPr lang="en-US" sz="2000" i="1">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𝑎</m:t>
                        </m:r>
                        <m:r>
                          <a:rPr lang="en-US" sz="2000" i="1">
                            <a:latin typeface="Cambria Math" panose="02040503050406030204" pitchFamily="18" charset="0"/>
                            <a:cs typeface="Arial" panose="020B0604020202020204" pitchFamily="34" charset="0"/>
                          </a:rPr>
                          <m:t>−1</m:t>
                        </m:r>
                      </m:e>
                    </m:d>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𝑏</m:t>
                        </m:r>
                        <m:r>
                          <a:rPr lang="en-US" sz="2000" i="1">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𝑎𝑏</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𝑟</m:t>
                    </m:r>
                    <m:r>
                      <a:rPr lang="en-US" sz="2000" b="0" i="1" smtClean="0">
                        <a:latin typeface="Cambria Math" panose="02040503050406030204" pitchFamily="18" charset="0"/>
                        <a:cs typeface="Arial" panose="020B0604020202020204" pitchFamily="34" charset="0"/>
                      </a:rPr>
                      <m:t>−1)</m:t>
                    </m:r>
                  </m:oMath>
                </a14:m>
                <a:r>
                  <a:rPr lang="en-US" sz="2000" dirty="0"/>
                  <a:t> </a:t>
                </a:r>
              </a:p>
              <a:p>
                <a:pPr>
                  <a:lnSpc>
                    <a:spcPct val="100000"/>
                  </a:lnSpc>
                  <a:spcBef>
                    <a:spcPts val="600"/>
                  </a:spcBef>
                </a:pPr>
                <a:r>
                  <a:rPr lang="en-US" sz="2000" dirty="0"/>
                  <a:t>Where </a:t>
                </a:r>
                <a14:m>
                  <m:oMath xmlns:m="http://schemas.openxmlformats.org/officeDocument/2006/math">
                    <m:r>
                      <a:rPr lang="en-US" sz="2000" i="1" dirty="0" smtClean="0">
                        <a:latin typeface="Cambria Math" panose="02040503050406030204" pitchFamily="18" charset="0"/>
                      </a:rPr>
                      <m:t>𝑎</m:t>
                    </m:r>
                  </m:oMath>
                </a14:m>
                <a:r>
                  <a:rPr lang="en-US" sz="2000" dirty="0"/>
                  <a:t> is the number of levels for factor A, </a:t>
                </a:r>
                <a14:m>
                  <m:oMath xmlns:m="http://schemas.openxmlformats.org/officeDocument/2006/math">
                    <m:r>
                      <a:rPr lang="en-US" sz="2000" i="1" dirty="0" smtClean="0">
                        <a:latin typeface="Cambria Math" panose="02040503050406030204" pitchFamily="18" charset="0"/>
                      </a:rPr>
                      <m:t>𝑏</m:t>
                    </m:r>
                  </m:oMath>
                </a14:m>
                <a:r>
                  <a:rPr lang="en-US" sz="2000" dirty="0"/>
                  <a:t> the number of levels for factor B, </a:t>
                </a:r>
                <a14:m>
                  <m:oMath xmlns:m="http://schemas.openxmlformats.org/officeDocument/2006/math">
                    <m:r>
                      <a:rPr lang="en-US" sz="2000" i="1" dirty="0" smtClean="0">
                        <a:latin typeface="Cambria Math" panose="02040503050406030204" pitchFamily="18" charset="0"/>
                      </a:rPr>
                      <m:t>𝑟</m:t>
                    </m:r>
                  </m:oMath>
                </a14:m>
                <a:r>
                  <a:rPr lang="en-US" sz="2000" dirty="0"/>
                  <a:t> the number of replications,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𝑛</m:t>
                        </m:r>
                      </m:e>
                      <m:sub>
                        <m:r>
                          <a:rPr lang="en-US" sz="2000" i="1">
                            <a:latin typeface="Cambria Math" panose="02040503050406030204" pitchFamily="18" charset="0"/>
                            <a:cs typeface="Arial" panose="020B0604020202020204" pitchFamily="34" charset="0"/>
                          </a:rPr>
                          <m:t>𝑇</m:t>
                        </m:r>
                      </m:sub>
                    </m:sSub>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𝑎𝑏𝑟</m:t>
                    </m:r>
                  </m:oMath>
                </a14:m>
                <a:r>
                  <a:rPr lang="en-US" sz="2000" dirty="0"/>
                  <a:t> the total number of observations.</a:t>
                </a:r>
              </a:p>
            </p:txBody>
          </p:sp>
        </mc:Choice>
        <mc:Fallback xmlns="">
          <p:sp>
            <p:nvSpPr>
              <p:cNvPr id="3" name="Text Placeholder 2">
                <a:extLst>
                  <a:ext uri="{FF2B5EF4-FFF2-40B4-BE49-F238E27FC236}">
                    <a16:creationId xmlns:a16="http://schemas.microsoft.com/office/drawing/2014/main" id="{85DFAD8A-F14F-71F1-C97E-801BF3F52F6E}"/>
                  </a:ext>
                </a:extLst>
              </p:cNvPr>
              <p:cNvSpPr>
                <a:spLocks noGrp="1" noRot="1" noChangeAspect="1" noMove="1" noResize="1" noEditPoints="1" noAdjustHandles="1" noChangeArrowheads="1" noChangeShapeType="1" noTextEdit="1"/>
              </p:cNvSpPr>
              <p:nvPr>
                <p:ph type="body" sz="quarter" idx="15"/>
              </p:nvPr>
            </p:nvSpPr>
            <p:spPr>
              <a:xfrm>
                <a:off x="743576" y="1213940"/>
                <a:ext cx="10610223" cy="2758964"/>
              </a:xfrm>
              <a:blipFill>
                <a:blip r:embed="rId4"/>
                <a:stretch>
                  <a:fillRect l="-1494" t="-2649" r="-1034" b="-5298"/>
                </a:stretch>
              </a:blipFill>
            </p:spPr>
            <p:txBody>
              <a:bodyPr/>
              <a:lstStyle/>
              <a:p>
                <a:r>
                  <a:rPr lang="en-US">
                    <a:noFill/>
                  </a:rPr>
                  <a:t> </a:t>
                </a:r>
              </a:p>
            </p:txBody>
          </p:sp>
        </mc:Fallback>
      </mc:AlternateContent>
      <p:graphicFrame>
        <p:nvGraphicFramePr>
          <p:cNvPr id="5" name="Table 13">
            <a:extLst>
              <a:ext uri="{FF2B5EF4-FFF2-40B4-BE49-F238E27FC236}">
                <a16:creationId xmlns:a16="http://schemas.microsoft.com/office/drawing/2014/main" id="{ACEAD64B-4766-F70F-AE34-9F2E3D6EFF38}"/>
              </a:ext>
            </a:extLst>
          </p:cNvPr>
          <p:cNvGraphicFramePr>
            <a:graphicFrameLocks noGrp="1"/>
          </p:cNvGraphicFramePr>
          <p:nvPr>
            <p:ph type="tbl" sz="quarter" idx="16"/>
            <p:extLst>
              <p:ext uri="{D42A27DB-BD31-4B8C-83A1-F6EECF244321}">
                <p14:modId xmlns:p14="http://schemas.microsoft.com/office/powerpoint/2010/main" val="3253460403"/>
              </p:ext>
            </p:extLst>
          </p:nvPr>
        </p:nvGraphicFramePr>
        <p:xfrm>
          <a:off x="811892" y="4067500"/>
          <a:ext cx="10457824" cy="1951552"/>
        </p:xfrm>
        <a:graphic>
          <a:graphicData uri="http://schemas.openxmlformats.org/drawingml/2006/table">
            <a:tbl>
              <a:tblPr firstRow="1" bandRow="1">
                <a:tableStyleId>{5C22544A-7EE6-4342-B048-85BDC9FD1C3A}</a:tableStyleId>
              </a:tblPr>
              <a:tblGrid>
                <a:gridCol w="1781536">
                  <a:extLst>
                    <a:ext uri="{9D8B030D-6E8A-4147-A177-3AD203B41FA5}">
                      <a16:colId xmlns:a16="http://schemas.microsoft.com/office/drawing/2014/main" val="4281494615"/>
                    </a:ext>
                  </a:extLst>
                </a:gridCol>
                <a:gridCol w="1395248">
                  <a:extLst>
                    <a:ext uri="{9D8B030D-6E8A-4147-A177-3AD203B41FA5}">
                      <a16:colId xmlns:a16="http://schemas.microsoft.com/office/drawing/2014/main" val="1658350638"/>
                    </a:ext>
                  </a:extLst>
                </a:gridCol>
                <a:gridCol w="1797269">
                  <a:extLst>
                    <a:ext uri="{9D8B030D-6E8A-4147-A177-3AD203B41FA5}">
                      <a16:colId xmlns:a16="http://schemas.microsoft.com/office/drawing/2014/main" val="665697469"/>
                    </a:ext>
                  </a:extLst>
                </a:gridCol>
                <a:gridCol w="2601310">
                  <a:extLst>
                    <a:ext uri="{9D8B030D-6E8A-4147-A177-3AD203B41FA5}">
                      <a16:colId xmlns:a16="http://schemas.microsoft.com/office/drawing/2014/main" val="230204798"/>
                    </a:ext>
                  </a:extLst>
                </a:gridCol>
                <a:gridCol w="1195551">
                  <a:extLst>
                    <a:ext uri="{9D8B030D-6E8A-4147-A177-3AD203B41FA5}">
                      <a16:colId xmlns:a16="http://schemas.microsoft.com/office/drawing/2014/main" val="4176669424"/>
                    </a:ext>
                  </a:extLst>
                </a:gridCol>
                <a:gridCol w="1686910">
                  <a:extLst>
                    <a:ext uri="{9D8B030D-6E8A-4147-A177-3AD203B41FA5}">
                      <a16:colId xmlns:a16="http://schemas.microsoft.com/office/drawing/2014/main" val="1389891288"/>
                    </a:ext>
                  </a:extLst>
                </a:gridCol>
              </a:tblGrid>
              <a:tr h="318463">
                <a:tc>
                  <a:txBody>
                    <a:bodyPr/>
                    <a:lstStyle/>
                    <a:p>
                      <a:r>
                        <a:rPr lang="en-US" sz="16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18463">
                <a:tc>
                  <a:txBody>
                    <a:bodyPr/>
                    <a:lstStyle/>
                    <a:p>
                      <a:r>
                        <a:rPr lang="en-US" sz="1600" dirty="0">
                          <a:solidFill>
                            <a:srgbClr val="000000"/>
                          </a:solidFill>
                        </a:rPr>
                        <a:t>  Factor A</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SSA</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a</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MSA = SSA / (</a:t>
                      </a:r>
                      <a:r>
                        <a:rPr lang="en-US" sz="1600" i="1" dirty="0">
                          <a:solidFill>
                            <a:srgbClr val="000000"/>
                          </a:solidFill>
                        </a:rPr>
                        <a:t>a</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MSA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a:t>
                      </a:r>
                      <a:r>
                        <a:rPr lang="en-US" sz="1600" i="1" dirty="0">
                          <a:solidFill>
                            <a:srgbClr val="000000"/>
                          </a:solidFill>
                        </a:rPr>
                        <a:t>F </a:t>
                      </a:r>
                      <a:r>
                        <a:rPr lang="en-US" sz="1600" dirty="0">
                          <a:solidFill>
                            <a:srgbClr val="000000"/>
                          </a:solidFill>
                        </a:rPr>
                        <a:t>≥ MSA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18463">
                <a:tc>
                  <a:txBody>
                    <a:bodyPr/>
                    <a:lstStyle/>
                    <a:p>
                      <a:r>
                        <a:rPr lang="en-US" sz="1600" dirty="0">
                          <a:solidFill>
                            <a:srgbClr val="000000"/>
                          </a:solidFill>
                        </a:rPr>
                        <a:t>  Factor B</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SSB</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dirty="0">
                          <a:solidFill>
                            <a:srgbClr val="000000"/>
                          </a:solidFill>
                        </a:rPr>
                        <a:t>b</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rPr>
                        <a:t>MSB = SSB / (</a:t>
                      </a:r>
                      <a:r>
                        <a:rPr lang="en-US" sz="1600" i="1" dirty="0">
                          <a:solidFill>
                            <a:srgbClr val="000000"/>
                          </a:solidFill>
                        </a:rPr>
                        <a:t>b</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MSB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a:t>
                      </a:r>
                      <a:r>
                        <a:rPr lang="en-US" sz="1600" i="1" dirty="0">
                          <a:solidFill>
                            <a:srgbClr val="000000"/>
                          </a:solidFill>
                        </a:rPr>
                        <a:t>F </a:t>
                      </a:r>
                      <a:r>
                        <a:rPr lang="en-US" sz="1600" dirty="0">
                          <a:solidFill>
                            <a:srgbClr val="000000"/>
                          </a:solidFill>
                        </a:rPr>
                        <a:t>≥ MSB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301589553"/>
                  </a:ext>
                </a:extLst>
              </a:tr>
              <a:tr h="359237">
                <a:tc>
                  <a:txBody>
                    <a:bodyPr/>
                    <a:lstStyle/>
                    <a:p>
                      <a:r>
                        <a:rPr lang="en-US" sz="1600" dirty="0">
                          <a:solidFill>
                            <a:srgbClr val="000000"/>
                          </a:solidFill>
                        </a:rPr>
                        <a:t>  Interaction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SSAB</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0" dirty="0">
                          <a:solidFill>
                            <a:srgbClr val="000000"/>
                          </a:solidFill>
                        </a:rPr>
                        <a:t>(</a:t>
                      </a:r>
                      <a:r>
                        <a:rPr lang="en-US" sz="1600" i="1" dirty="0">
                          <a:solidFill>
                            <a:srgbClr val="000000"/>
                          </a:solidFill>
                        </a:rPr>
                        <a:t>a</a:t>
                      </a:r>
                      <a:r>
                        <a:rPr lang="en-US" sz="1600" dirty="0">
                          <a:solidFill>
                            <a:srgbClr val="000000"/>
                          </a:solidFill>
                        </a:rPr>
                        <a:t> − 1</a:t>
                      </a:r>
                      <a:r>
                        <a:rPr lang="en-US" sz="1600" i="0" dirty="0">
                          <a:solidFill>
                            <a:srgbClr val="000000"/>
                          </a:solidFill>
                        </a:rPr>
                        <a:t>)(</a:t>
                      </a:r>
                      <a:r>
                        <a:rPr lang="en-US" sz="1600" i="1" dirty="0">
                          <a:solidFill>
                            <a:srgbClr val="000000"/>
                          </a:solidFill>
                        </a:rPr>
                        <a:t>b</a:t>
                      </a:r>
                      <a:r>
                        <a:rPr lang="en-US" sz="1600" dirty="0">
                          <a:solidFill>
                            <a:srgbClr val="000000"/>
                          </a:solidFill>
                        </a:rPr>
                        <a:t> − 1</a:t>
                      </a:r>
                      <a:r>
                        <a:rPr lang="en-US" sz="1600" i="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MSAB = SSAB / [</a:t>
                      </a:r>
                      <a:r>
                        <a:rPr lang="en-US" sz="1600" i="0" dirty="0">
                          <a:solidFill>
                            <a:srgbClr val="000000"/>
                          </a:solidFill>
                        </a:rPr>
                        <a:t>(</a:t>
                      </a:r>
                      <a:r>
                        <a:rPr lang="en-US" sz="1600" i="1" dirty="0">
                          <a:solidFill>
                            <a:srgbClr val="000000"/>
                          </a:solidFill>
                        </a:rPr>
                        <a:t>a</a:t>
                      </a:r>
                      <a:r>
                        <a:rPr lang="en-US" sz="1600" dirty="0">
                          <a:solidFill>
                            <a:srgbClr val="000000"/>
                          </a:solidFill>
                        </a:rPr>
                        <a:t> − 1</a:t>
                      </a:r>
                      <a:r>
                        <a:rPr lang="en-US" sz="1600" i="0" dirty="0">
                          <a:solidFill>
                            <a:srgbClr val="000000"/>
                          </a:solidFill>
                        </a:rPr>
                        <a:t>)(</a:t>
                      </a:r>
                      <a:r>
                        <a:rPr lang="en-US" sz="1600" i="1" dirty="0">
                          <a:solidFill>
                            <a:srgbClr val="000000"/>
                          </a:solidFill>
                        </a:rPr>
                        <a:t>b</a:t>
                      </a:r>
                      <a:r>
                        <a:rPr lang="en-US" sz="1600" dirty="0">
                          <a:solidFill>
                            <a:srgbClr val="000000"/>
                          </a:solidFill>
                        </a:rPr>
                        <a:t> − 1</a:t>
                      </a:r>
                      <a:r>
                        <a:rPr lang="en-US" sz="1600" i="0" dirty="0">
                          <a:solidFill>
                            <a:srgbClr val="000000"/>
                          </a:solidFill>
                        </a:rPr>
                        <a:t>)</a:t>
                      </a:r>
                      <a:r>
                        <a:rPr lang="en-US" sz="160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MSAB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a:t>
                      </a:r>
                      <a:r>
                        <a:rPr lang="en-US" sz="1600" i="1" dirty="0">
                          <a:solidFill>
                            <a:srgbClr val="000000"/>
                          </a:solidFill>
                        </a:rPr>
                        <a:t>F </a:t>
                      </a:r>
                      <a:r>
                        <a:rPr lang="en-US" sz="1600" dirty="0">
                          <a:solidFill>
                            <a:srgbClr val="000000"/>
                          </a:solidFill>
                        </a:rPr>
                        <a:t>≥ MSAB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18463">
                <a:tc>
                  <a:txBody>
                    <a:bodyPr/>
                    <a:lstStyle/>
                    <a:p>
                      <a:r>
                        <a:rPr lang="en-US" sz="16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ab</a:t>
                      </a:r>
                      <a:r>
                        <a:rPr lang="en-US" sz="1600" i="0" dirty="0">
                          <a:solidFill>
                            <a:srgbClr val="000000"/>
                          </a:solidFill>
                        </a:rPr>
                        <a:t>(</a:t>
                      </a:r>
                      <a:r>
                        <a:rPr lang="en-US" sz="1600" i="1" dirty="0">
                          <a:solidFill>
                            <a:srgbClr val="000000"/>
                          </a:solidFill>
                        </a:rPr>
                        <a:t>r</a:t>
                      </a:r>
                      <a:r>
                        <a:rPr lang="en-US" sz="1600" i="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MSE = SSE/[ab(r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578921453"/>
                  </a:ext>
                </a:extLst>
              </a:tr>
              <a:tr h="318463">
                <a:tc>
                  <a:txBody>
                    <a:bodyPr/>
                    <a:lstStyle/>
                    <a:p>
                      <a:r>
                        <a:rPr lang="en-US" sz="16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SST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err="1">
                          <a:solidFill>
                            <a:srgbClr val="000000"/>
                          </a:solidFill>
                        </a:rPr>
                        <a:t>n</a:t>
                      </a:r>
                      <a:r>
                        <a:rPr lang="en-US" sz="1600" baseline="-25000" dirty="0" err="1">
                          <a:solidFill>
                            <a:srgbClr val="000000"/>
                          </a:solidFill>
                        </a:rPr>
                        <a:t>T</a:t>
                      </a:r>
                      <a:r>
                        <a:rPr lang="en-US" sz="16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Tree>
    <p:extLst>
      <p:ext uri="{BB962C8B-B14F-4D97-AF65-F5344CB8AC3E}">
        <p14:creationId xmlns:p14="http://schemas.microsoft.com/office/powerpoint/2010/main" val="1460389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E046-47E1-D6C9-0136-55BC97C30E26}"/>
              </a:ext>
            </a:extLst>
          </p:cNvPr>
          <p:cNvSpPr>
            <a:spLocks noGrp="1"/>
          </p:cNvSpPr>
          <p:nvPr>
            <p:ph type="title"/>
          </p:nvPr>
        </p:nvSpPr>
        <p:spPr/>
        <p:txBody>
          <a:bodyPr/>
          <a:lstStyle/>
          <a:p>
            <a:r>
              <a:rPr lang="en-US" dirty="0"/>
              <a:t>13.5 The Two-Factor GMAT Experiment</a:t>
            </a:r>
          </a:p>
        </p:txBody>
      </p:sp>
      <p:sp>
        <p:nvSpPr>
          <p:cNvPr id="3" name="Text Placeholder 2">
            <a:extLst>
              <a:ext uri="{FF2B5EF4-FFF2-40B4-BE49-F238E27FC236}">
                <a16:creationId xmlns:a16="http://schemas.microsoft.com/office/drawing/2014/main" id="{C224EE4F-F89D-B455-1570-7D291B1C1EA3}"/>
              </a:ext>
            </a:extLst>
          </p:cNvPr>
          <p:cNvSpPr>
            <a:spLocks noGrp="1"/>
          </p:cNvSpPr>
          <p:nvPr>
            <p:ph type="body" sz="quarter" idx="15"/>
          </p:nvPr>
        </p:nvSpPr>
        <p:spPr>
          <a:xfrm>
            <a:off x="793194" y="1115812"/>
            <a:ext cx="10408206" cy="2016522"/>
          </a:xfrm>
        </p:spPr>
        <p:txBody>
          <a:bodyPr>
            <a:normAutofit/>
          </a:bodyPr>
          <a:lstStyle/>
          <a:p>
            <a:pPr>
              <a:lnSpc>
                <a:spcPct val="100000"/>
              </a:lnSpc>
              <a:spcBef>
                <a:spcPts val="600"/>
              </a:spcBef>
            </a:pPr>
            <a:r>
              <a:rPr lang="en-US" sz="2000" dirty="0" err="1">
                <a:latin typeface="Arial" panose="020B0604020202020204" pitchFamily="34" charset="0"/>
                <a:cs typeface="Arial" panose="020B0604020202020204" pitchFamily="34" charset="0"/>
              </a:rPr>
              <a:t>DATAfile</a:t>
            </a:r>
            <a:r>
              <a:rPr lang="en-US" sz="2000"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gmatstudy</a:t>
            </a:r>
            <a:r>
              <a:rPr lang="en-US" sz="2000" i="1" dirty="0">
                <a:latin typeface="Arial" panose="020B0604020202020204" pitchFamily="34" charset="0"/>
                <a:cs typeface="Arial" panose="020B0604020202020204" pitchFamily="34" charset="0"/>
              </a:rPr>
              <a:t> </a:t>
            </a:r>
          </a:p>
          <a:p>
            <a:pPr>
              <a:lnSpc>
                <a:spcPct val="100000"/>
              </a:lnSpc>
              <a:spcBef>
                <a:spcPts val="600"/>
              </a:spcBef>
            </a:pPr>
            <a:r>
              <a:rPr lang="en-US" sz="2000" dirty="0"/>
              <a:t>To improve students’ performance on the Graduate Management Admissions Test (GMAT), a Texas university is considering offering the following three GMAT preparation programs: (1) a three-hour review session, (2) a one-day program, or (3) an intensive 10-week course.</a:t>
            </a:r>
          </a:p>
          <a:p>
            <a:pPr>
              <a:lnSpc>
                <a:spcPct val="100000"/>
              </a:lnSpc>
              <a:spcBef>
                <a:spcPts val="600"/>
              </a:spcBef>
            </a:pPr>
            <a:r>
              <a:rPr lang="en-US" sz="2000" dirty="0"/>
              <a:t>The second factor of interest is whether a student’s undergraduate college affects the GMAT score. Three colleges are being considered: Business, Engineering, and Arts and Sciences.</a:t>
            </a:r>
          </a:p>
        </p:txBody>
      </p:sp>
      <p:sp>
        <p:nvSpPr>
          <p:cNvPr id="5" name="Text Placeholder 4">
            <a:extLst>
              <a:ext uri="{FF2B5EF4-FFF2-40B4-BE49-F238E27FC236}">
                <a16:creationId xmlns:a16="http://schemas.microsoft.com/office/drawing/2014/main" id="{E92B80F0-E7EF-9C1F-21DF-6F36626AC357}"/>
              </a:ext>
            </a:extLst>
          </p:cNvPr>
          <p:cNvSpPr>
            <a:spLocks noGrp="1"/>
          </p:cNvSpPr>
          <p:nvPr>
            <p:ph type="body" sz="quarter" idx="18"/>
          </p:nvPr>
        </p:nvSpPr>
        <p:spPr>
          <a:xfrm>
            <a:off x="793194" y="3200811"/>
            <a:ext cx="4586050" cy="2621345"/>
          </a:xfrm>
        </p:spPr>
        <p:txBody>
          <a:bodyPr>
            <a:normAutofit/>
          </a:bodyPr>
          <a:lstStyle/>
          <a:p>
            <a:pPr>
              <a:lnSpc>
                <a:spcPct val="100000"/>
              </a:lnSpc>
              <a:spcBef>
                <a:spcPts val="600"/>
              </a:spcBef>
            </a:pPr>
            <a:r>
              <a:rPr lang="en-US" sz="2000" dirty="0"/>
              <a:t>Assume that a sample of two students from each college will be randomly assigned to each of the programs, for a total of 3 x 3 = 9 treatment combinations and 18 observations.</a:t>
            </a:r>
          </a:p>
          <a:p>
            <a:pPr>
              <a:lnSpc>
                <a:spcPct val="100000"/>
              </a:lnSpc>
              <a:spcBef>
                <a:spcPts val="600"/>
              </a:spcBef>
            </a:pPr>
            <a:r>
              <a:rPr lang="en-US" sz="2000" dirty="0"/>
              <a:t>The table to the right shows the GMAT scores for the 18 students, the response variable for this two-factor experiment.</a:t>
            </a:r>
          </a:p>
        </p:txBody>
      </p:sp>
      <p:graphicFrame>
        <p:nvGraphicFramePr>
          <p:cNvPr id="6" name="Table 7">
            <a:extLst>
              <a:ext uri="{FF2B5EF4-FFF2-40B4-BE49-F238E27FC236}">
                <a16:creationId xmlns:a16="http://schemas.microsoft.com/office/drawing/2014/main" id="{FC3E2A72-555E-20AD-92DD-8893E27576F2}"/>
              </a:ext>
            </a:extLst>
          </p:cNvPr>
          <p:cNvGraphicFramePr>
            <a:graphicFrameLocks noGrp="1"/>
          </p:cNvGraphicFramePr>
          <p:nvPr>
            <p:ph type="tbl" sz="quarter" idx="22"/>
            <p:extLst>
              <p:ext uri="{D42A27DB-BD31-4B8C-83A1-F6EECF244321}">
                <p14:modId xmlns:p14="http://schemas.microsoft.com/office/powerpoint/2010/main" val="1478328377"/>
              </p:ext>
            </p:extLst>
          </p:nvPr>
        </p:nvGraphicFramePr>
        <p:xfrm>
          <a:off x="5483166" y="3218597"/>
          <a:ext cx="6080311" cy="2922895"/>
        </p:xfrm>
        <a:graphic>
          <a:graphicData uri="http://schemas.openxmlformats.org/drawingml/2006/table">
            <a:tbl>
              <a:tblPr firstRow="1" bandRow="1">
                <a:tableStyleId>{5C22544A-7EE6-4342-B048-85BDC9FD1C3A}</a:tableStyleId>
              </a:tblPr>
              <a:tblGrid>
                <a:gridCol w="2083538">
                  <a:extLst>
                    <a:ext uri="{9D8B030D-6E8A-4147-A177-3AD203B41FA5}">
                      <a16:colId xmlns:a16="http://schemas.microsoft.com/office/drawing/2014/main" val="522958381"/>
                    </a:ext>
                  </a:extLst>
                </a:gridCol>
                <a:gridCol w="1179935">
                  <a:extLst>
                    <a:ext uri="{9D8B030D-6E8A-4147-A177-3AD203B41FA5}">
                      <a16:colId xmlns:a16="http://schemas.microsoft.com/office/drawing/2014/main" val="2209048204"/>
                    </a:ext>
                  </a:extLst>
                </a:gridCol>
                <a:gridCol w="1636903">
                  <a:extLst>
                    <a:ext uri="{9D8B030D-6E8A-4147-A177-3AD203B41FA5}">
                      <a16:colId xmlns:a16="http://schemas.microsoft.com/office/drawing/2014/main" val="3381510730"/>
                    </a:ext>
                  </a:extLst>
                </a:gridCol>
                <a:gridCol w="1179935">
                  <a:extLst>
                    <a:ext uri="{9D8B030D-6E8A-4147-A177-3AD203B41FA5}">
                      <a16:colId xmlns:a16="http://schemas.microsoft.com/office/drawing/2014/main" val="1646900867"/>
                    </a:ext>
                  </a:extLst>
                </a:gridCol>
              </a:tblGrid>
              <a:tr h="584579">
                <a:tc>
                  <a:txBody>
                    <a:bodyPr/>
                    <a:lstStyle/>
                    <a:p>
                      <a:pPr algn="l" fontAlgn="b"/>
                      <a:endParaRPr lang="en-US" sz="18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800" b="1"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70C0"/>
                          </a:solidFill>
                          <a:effectLst/>
                          <a:latin typeface="Calibri" panose="020F0502020204030204" pitchFamily="34" charset="0"/>
                        </a:rPr>
                        <a:t>Factor B: College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800" b="1"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338262046"/>
                  </a:ext>
                </a:extLst>
              </a:tr>
              <a:tr h="584579">
                <a:tc>
                  <a:txBody>
                    <a:bodyPr/>
                    <a:lstStyle/>
                    <a:p>
                      <a:pPr algn="l" fontAlgn="b"/>
                      <a:r>
                        <a:rPr lang="en-US" sz="1800" b="1" i="0" u="none" strike="noStrike" dirty="0">
                          <a:solidFill>
                            <a:srgbClr val="0070C0"/>
                          </a:solidFill>
                          <a:effectLst/>
                          <a:latin typeface="Calibri" panose="020F0502020204030204" pitchFamily="34" charset="0"/>
                        </a:rPr>
                        <a:t>Factor A: </a:t>
                      </a:r>
                    </a:p>
                    <a:p>
                      <a:pPr algn="l" fontAlgn="b"/>
                      <a:r>
                        <a:rPr lang="en-US" sz="1800" b="1" i="0" u="none" strike="noStrike" dirty="0">
                          <a:solidFill>
                            <a:srgbClr val="0070C0"/>
                          </a:solidFill>
                          <a:effectLst/>
                          <a:latin typeface="Calibri" panose="020F0502020204030204" pitchFamily="34" charset="0"/>
                        </a:rPr>
                        <a:t> Preparation Program</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1" i="0" u="none" strike="noStrike" dirty="0">
                          <a:solidFill>
                            <a:srgbClr val="000000"/>
                          </a:solidFill>
                          <a:effectLst/>
                          <a:latin typeface="Calibri" panose="020F0502020204030204" pitchFamily="34" charset="0"/>
                        </a:rPr>
                        <a:t>Business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1" i="0" u="none" strike="noStrike" dirty="0">
                          <a:solidFill>
                            <a:srgbClr val="000000"/>
                          </a:solidFill>
                          <a:effectLst/>
                          <a:latin typeface="Calibri" panose="020F0502020204030204" pitchFamily="34" charset="0"/>
                        </a:rPr>
                        <a:t>Engineering</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1" i="0" u="none" strike="noStrike" dirty="0">
                          <a:solidFill>
                            <a:srgbClr val="000000"/>
                          </a:solidFill>
                          <a:effectLst/>
                          <a:latin typeface="Calibri" panose="020F0502020204030204" pitchFamily="34" charset="0"/>
                        </a:rPr>
                        <a:t>Arts and Sciences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5560442"/>
                  </a:ext>
                </a:extLst>
              </a:tr>
              <a:tr h="584579">
                <a:tc>
                  <a:txBody>
                    <a:bodyPr/>
                    <a:lstStyle/>
                    <a:p>
                      <a:pPr algn="l" fontAlgn="b"/>
                      <a:r>
                        <a:rPr lang="en-US" sz="1800" b="1" i="0" u="none" strike="noStrike" dirty="0">
                          <a:solidFill>
                            <a:srgbClr val="000000"/>
                          </a:solidFill>
                          <a:effectLst/>
                          <a:latin typeface="Calibri" panose="020F0502020204030204" pitchFamily="34" charset="0"/>
                        </a:rPr>
                        <a:t> Three-hour review</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500 </a:t>
                      </a:r>
                    </a:p>
                    <a:p>
                      <a:pPr algn="ctr" fontAlgn="b"/>
                      <a:r>
                        <a:rPr lang="en-US" sz="1800" b="0" i="0" u="none" strike="noStrike" dirty="0">
                          <a:solidFill>
                            <a:srgbClr val="000000"/>
                          </a:solidFill>
                          <a:effectLst/>
                          <a:latin typeface="Calibri" panose="020F0502020204030204" pitchFamily="34" charset="0"/>
                        </a:rPr>
                        <a:t>580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540 </a:t>
                      </a:r>
                    </a:p>
                    <a:p>
                      <a:pPr algn="ctr" fontAlgn="b"/>
                      <a:r>
                        <a:rPr lang="en-US" sz="1800" b="0" i="0" u="none" strike="noStrike" dirty="0">
                          <a:solidFill>
                            <a:srgbClr val="000000"/>
                          </a:solidFill>
                          <a:effectLst/>
                          <a:latin typeface="Calibri" panose="020F0502020204030204" pitchFamily="34" charset="0"/>
                        </a:rPr>
                        <a:t>460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480 </a:t>
                      </a:r>
                    </a:p>
                    <a:p>
                      <a:pPr algn="ctr" fontAlgn="b"/>
                      <a:r>
                        <a:rPr lang="en-US" sz="1800" b="0" i="0" u="none" strike="noStrike" dirty="0">
                          <a:solidFill>
                            <a:srgbClr val="000000"/>
                          </a:solidFill>
                          <a:effectLst/>
                          <a:latin typeface="Calibri" panose="020F0502020204030204" pitchFamily="34" charset="0"/>
                        </a:rPr>
                        <a:t>400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39434072"/>
                  </a:ext>
                </a:extLst>
              </a:tr>
              <a:tr h="584579">
                <a:tc>
                  <a:txBody>
                    <a:bodyPr/>
                    <a:lstStyle/>
                    <a:p>
                      <a:pPr algn="l" fontAlgn="b"/>
                      <a:r>
                        <a:rPr lang="en-US" sz="1800" b="1" i="0" u="none" strike="noStrike" dirty="0">
                          <a:solidFill>
                            <a:srgbClr val="000000"/>
                          </a:solidFill>
                          <a:effectLst/>
                          <a:latin typeface="Calibri" panose="020F0502020204030204" pitchFamily="34" charset="0"/>
                        </a:rPr>
                        <a:t> One-day program</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460 </a:t>
                      </a:r>
                    </a:p>
                    <a:p>
                      <a:pPr algn="ctr" fontAlgn="b"/>
                      <a:r>
                        <a:rPr lang="en-US" sz="1800" b="0" i="0" u="none" strike="noStrike" dirty="0">
                          <a:solidFill>
                            <a:srgbClr val="000000"/>
                          </a:solidFill>
                          <a:effectLst/>
                          <a:latin typeface="Calibri" panose="020F0502020204030204" pitchFamily="34" charset="0"/>
                        </a:rPr>
                        <a:t>540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560 </a:t>
                      </a:r>
                    </a:p>
                    <a:p>
                      <a:pPr algn="ctr" fontAlgn="b"/>
                      <a:r>
                        <a:rPr lang="en-US" sz="1800" b="0" i="0" u="none" strike="noStrike" dirty="0">
                          <a:solidFill>
                            <a:srgbClr val="000000"/>
                          </a:solidFill>
                          <a:effectLst/>
                          <a:latin typeface="Calibri" panose="020F0502020204030204" pitchFamily="34" charset="0"/>
                        </a:rPr>
                        <a:t>620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420 </a:t>
                      </a:r>
                    </a:p>
                    <a:p>
                      <a:pPr algn="ctr" fontAlgn="b"/>
                      <a:r>
                        <a:rPr lang="en-US" sz="1800" b="0" i="0" u="none" strike="noStrike" dirty="0">
                          <a:solidFill>
                            <a:srgbClr val="000000"/>
                          </a:solidFill>
                          <a:effectLst/>
                          <a:latin typeface="Calibri" panose="020F0502020204030204" pitchFamily="34" charset="0"/>
                        </a:rPr>
                        <a:t>480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12199162"/>
                  </a:ext>
                </a:extLst>
              </a:tr>
              <a:tr h="584579">
                <a:tc>
                  <a:txBody>
                    <a:bodyPr/>
                    <a:lstStyle/>
                    <a:p>
                      <a:pPr algn="l" fontAlgn="b"/>
                      <a:r>
                        <a:rPr lang="en-US" sz="1800" b="1" i="0" u="none" strike="noStrike" dirty="0">
                          <a:solidFill>
                            <a:srgbClr val="000000"/>
                          </a:solidFill>
                          <a:effectLst/>
                          <a:latin typeface="Calibri" panose="020F0502020204030204" pitchFamily="34" charset="0"/>
                        </a:rPr>
                        <a:t> 10-week course</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560 </a:t>
                      </a:r>
                    </a:p>
                    <a:p>
                      <a:pPr algn="ctr" fontAlgn="b"/>
                      <a:r>
                        <a:rPr lang="en-US" sz="1800" b="0" i="0" u="none" strike="noStrike" dirty="0">
                          <a:solidFill>
                            <a:srgbClr val="000000"/>
                          </a:solidFill>
                          <a:effectLst/>
                          <a:latin typeface="Calibri" panose="020F0502020204030204" pitchFamily="34" charset="0"/>
                        </a:rPr>
                        <a:t>600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600 </a:t>
                      </a:r>
                    </a:p>
                    <a:p>
                      <a:pPr algn="ctr" fontAlgn="b"/>
                      <a:r>
                        <a:rPr lang="en-US" sz="1800" b="0" i="0" u="none" strike="noStrike" dirty="0">
                          <a:solidFill>
                            <a:srgbClr val="000000"/>
                          </a:solidFill>
                          <a:effectLst/>
                          <a:latin typeface="Calibri" panose="020F0502020204030204" pitchFamily="34" charset="0"/>
                        </a:rPr>
                        <a:t>580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800" b="0" i="0" u="none" strike="noStrike" dirty="0">
                          <a:solidFill>
                            <a:srgbClr val="000000"/>
                          </a:solidFill>
                          <a:effectLst/>
                          <a:latin typeface="Calibri" panose="020F0502020204030204" pitchFamily="34" charset="0"/>
                        </a:rPr>
                        <a:t>480 </a:t>
                      </a:r>
                    </a:p>
                    <a:p>
                      <a:pPr algn="ctr" fontAlgn="b"/>
                      <a:r>
                        <a:rPr lang="en-US" sz="1800" b="0" i="0" u="none" strike="noStrike" dirty="0">
                          <a:solidFill>
                            <a:srgbClr val="000000"/>
                          </a:solidFill>
                          <a:effectLst/>
                          <a:latin typeface="Calibri" panose="020F0502020204030204" pitchFamily="34" charset="0"/>
                        </a:rPr>
                        <a:t>410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257282560"/>
                  </a:ext>
                </a:extLst>
              </a:tr>
            </a:tbl>
          </a:graphicData>
        </a:graphic>
      </p:graphicFrame>
    </p:spTree>
    <p:extLst>
      <p:ext uri="{BB962C8B-B14F-4D97-AF65-F5344CB8AC3E}">
        <p14:creationId xmlns:p14="http://schemas.microsoft.com/office/powerpoint/2010/main" val="4108336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sz="3200" dirty="0"/>
              <a:t>13.5 The Interaction Effect in a Two-Factor Experiment</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64627" y="1434662"/>
            <a:ext cx="10594432" cy="4193627"/>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The analysis of variance computations with the data will provide answers to the following questions.</a:t>
            </a:r>
          </a:p>
          <a:p>
            <a:pPr marL="630238" indent="-342900">
              <a:spcBef>
                <a:spcPts val="600"/>
              </a:spcBef>
              <a:spcAft>
                <a:spcPts val="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Main effect (factor A)</a:t>
            </a:r>
            <a:r>
              <a:rPr lang="en-US" sz="2000" dirty="0">
                <a:latin typeface="Arial" panose="020B0604020202020204" pitchFamily="34" charset="0"/>
                <a:cs typeface="Arial" panose="020B0604020202020204" pitchFamily="34" charset="0"/>
              </a:rPr>
              <a:t>: do the preparation programs differ in terms of effect on GMAT scores?</a:t>
            </a:r>
          </a:p>
          <a:p>
            <a:pPr marL="630238" indent="-342900">
              <a:spcBef>
                <a:spcPts val="600"/>
              </a:spcBef>
              <a:spcAft>
                <a:spcPts val="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Main effect (factor B)</a:t>
            </a:r>
            <a:r>
              <a:rPr lang="en-US" sz="2000" dirty="0">
                <a:latin typeface="Arial" panose="020B0604020202020204" pitchFamily="34" charset="0"/>
                <a:cs typeface="Arial" panose="020B0604020202020204" pitchFamily="34" charset="0"/>
              </a:rPr>
              <a:t>: do the undergraduate colleges differ in terms of effect on GMAT scores?</a:t>
            </a:r>
          </a:p>
          <a:p>
            <a:pPr marL="630238" indent="-342900">
              <a:spcBef>
                <a:spcPts val="600"/>
              </a:spcBef>
              <a:spcAft>
                <a:spcPts val="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Interaction effect (factors A and B)</a:t>
            </a:r>
            <a:r>
              <a:rPr lang="en-US" sz="2000" dirty="0">
                <a:latin typeface="Arial" panose="020B0604020202020204" pitchFamily="34" charset="0"/>
                <a:cs typeface="Arial" panose="020B0604020202020204" pitchFamily="34" charset="0"/>
              </a:rPr>
              <a:t>: does a student’s under­graduate college affects the impact of the different types of preparation program?</a:t>
            </a:r>
          </a:p>
          <a:p>
            <a:pPr>
              <a:spcBef>
                <a:spcPts val="600"/>
              </a:spcBef>
              <a:spcAft>
                <a:spcPts val="0"/>
              </a:spcAft>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interaction</a:t>
            </a:r>
            <a:r>
              <a:rPr lang="en-US" sz="2000" dirty="0">
                <a:latin typeface="Arial" panose="020B0604020202020204" pitchFamily="34" charset="0"/>
                <a:cs typeface="Arial" panose="020B0604020202020204" pitchFamily="34" charset="0"/>
              </a:rPr>
              <a:t> refers to a new effect that we can study because we use a factorial experiment that considers all the treatment combinations.</a:t>
            </a:r>
          </a:p>
          <a:p>
            <a:pPr>
              <a:spcBef>
                <a:spcPts val="600"/>
              </a:spcBef>
              <a:spcAft>
                <a:spcPts val="0"/>
              </a:spcAft>
            </a:pPr>
            <a:r>
              <a:rPr lang="en-US" sz="2000" dirty="0">
                <a:latin typeface="Arial" panose="020B0604020202020204" pitchFamily="34" charset="0"/>
                <a:cs typeface="Arial" panose="020B0604020202020204" pitchFamily="34" charset="0"/>
              </a:rPr>
              <a:t>If the interaction effect has a significant impact on the GMAT scores, we can conclude that the effect of the type of preparation program depends on the student’s under­graduate college.</a:t>
            </a:r>
          </a:p>
        </p:txBody>
      </p:sp>
    </p:spTree>
    <p:extLst>
      <p:ext uri="{BB962C8B-B14F-4D97-AF65-F5344CB8AC3E}">
        <p14:creationId xmlns:p14="http://schemas.microsoft.com/office/powerpoint/2010/main" val="1930008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2446-B766-8353-1453-CEFAB37DD64F}"/>
              </a:ext>
            </a:extLst>
          </p:cNvPr>
          <p:cNvSpPr>
            <a:spLocks noGrp="1"/>
          </p:cNvSpPr>
          <p:nvPr>
            <p:ph type="title"/>
          </p:nvPr>
        </p:nvSpPr>
        <p:spPr/>
        <p:txBody>
          <a:bodyPr/>
          <a:lstStyle/>
          <a:p>
            <a:r>
              <a:rPr lang="en-US" dirty="0"/>
              <a:t>13.5 Summary of the Two-Factor GMAT Experiment</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3E268C3D-133E-DEA8-B8F1-9310B8CEE4A8}"/>
                  </a:ext>
                </a:extLst>
              </p:cNvPr>
              <p:cNvGraphicFramePr>
                <a:graphicFrameLocks noGrp="1"/>
              </p:cNvGraphicFramePr>
              <p:nvPr>
                <p:ph type="tbl" sz="quarter" idx="10"/>
              </p:nvPr>
            </p:nvGraphicFramePr>
            <p:xfrm>
              <a:off x="883920" y="964544"/>
              <a:ext cx="10424160" cy="5234496"/>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743186666"/>
                        </a:ext>
                      </a:extLst>
                    </a:gridCol>
                    <a:gridCol w="1554480">
                      <a:extLst>
                        <a:ext uri="{9D8B030D-6E8A-4147-A177-3AD203B41FA5}">
                          <a16:colId xmlns:a16="http://schemas.microsoft.com/office/drawing/2014/main" val="475213045"/>
                        </a:ext>
                      </a:extLst>
                    </a:gridCol>
                    <a:gridCol w="1737360">
                      <a:extLst>
                        <a:ext uri="{9D8B030D-6E8A-4147-A177-3AD203B41FA5}">
                          <a16:colId xmlns:a16="http://schemas.microsoft.com/office/drawing/2014/main" val="1268225786"/>
                        </a:ext>
                      </a:extLst>
                    </a:gridCol>
                    <a:gridCol w="1737360">
                      <a:extLst>
                        <a:ext uri="{9D8B030D-6E8A-4147-A177-3AD203B41FA5}">
                          <a16:colId xmlns:a16="http://schemas.microsoft.com/office/drawing/2014/main" val="3271339509"/>
                        </a:ext>
                      </a:extLst>
                    </a:gridCol>
                    <a:gridCol w="1737360">
                      <a:extLst>
                        <a:ext uri="{9D8B030D-6E8A-4147-A177-3AD203B41FA5}">
                          <a16:colId xmlns:a16="http://schemas.microsoft.com/office/drawing/2014/main" val="3671519278"/>
                        </a:ext>
                      </a:extLst>
                    </a:gridCol>
                    <a:gridCol w="1097280">
                      <a:extLst>
                        <a:ext uri="{9D8B030D-6E8A-4147-A177-3AD203B41FA5}">
                          <a16:colId xmlns:a16="http://schemas.microsoft.com/office/drawing/2014/main" val="3077898615"/>
                        </a:ext>
                      </a:extLst>
                    </a:gridCol>
                    <a:gridCol w="1463040">
                      <a:extLst>
                        <a:ext uri="{9D8B030D-6E8A-4147-A177-3AD203B41FA5}">
                          <a16:colId xmlns:a16="http://schemas.microsoft.com/office/drawing/2014/main" val="3938708174"/>
                        </a:ext>
                      </a:extLst>
                    </a:gridCol>
                  </a:tblGrid>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0070C0"/>
                            </a:solidFill>
                          </a:endParaRPr>
                        </a:p>
                      </a:txBody>
                      <a:tcPr marL="0" marR="0" marT="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0070C0"/>
                              </a:solidFill>
                            </a:rPr>
                            <a:t>Factor B: College</a:t>
                          </a:r>
                        </a:p>
                      </a:txBody>
                      <a:tcPr marL="0" marR="0" marT="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b="1" dirty="0">
                              <a:solidFill>
                                <a:srgbClr val="000000"/>
                              </a:solidFill>
                            </a:rPr>
                            <a:t>Business</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0000"/>
                              </a:solidFill>
                            </a:rPr>
                            <a:t>Engineering</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0000"/>
                              </a:solidFill>
                            </a:rPr>
                            <a:t>Arts and Science</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70C0"/>
                              </a:solidFill>
                            </a:rPr>
                            <a:t>Row Totals</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70C0"/>
                              </a:solidFill>
                            </a:rPr>
                            <a:t>Factor A means</a:t>
                          </a:r>
                        </a:p>
                      </a:txBody>
                      <a:tcPr marL="0" marR="0" marT="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extLst>
                      <a:ext uri="{0D108BD9-81ED-4DB2-BD59-A6C34878D82A}">
                        <a16:rowId xmlns:a16="http://schemas.microsoft.com/office/drawing/2014/main" val="3039014029"/>
                      </a:ext>
                    </a:extLst>
                  </a:tr>
                  <a:tr h="153455">
                    <a:tc rowSpan="9">
                      <a:txBody>
                        <a:bodyPr/>
                        <a:lstStyle/>
                        <a:p>
                          <a:r>
                            <a:rPr lang="en-US" sz="1600" b="1" dirty="0">
                              <a:solidFill>
                                <a:srgbClr val="0070C0"/>
                              </a:solidFill>
                            </a:rPr>
                            <a:t> Factor A:  </a:t>
                          </a:r>
                        </a:p>
                        <a:p>
                          <a:r>
                            <a:rPr lang="en-US" sz="1600" b="1" dirty="0">
                              <a:solidFill>
                                <a:srgbClr val="0070C0"/>
                              </a:solidFill>
                            </a:rPr>
                            <a:t> Preparation </a:t>
                          </a:r>
                        </a:p>
                        <a:p>
                          <a:r>
                            <a:rPr lang="en-US" sz="1600" b="1" dirty="0">
                              <a:solidFill>
                                <a:srgbClr val="0070C0"/>
                              </a:solidFill>
                            </a:rPr>
                            <a:t> Program</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rowSpan="3">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Three-hour </a:t>
                          </a:r>
                        </a:p>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review</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500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540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480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rowSpan="3">
                      <a:txBody>
                        <a:bodyPr/>
                        <a:lstStyle/>
                        <a:p>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2960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oMath>
                            </m:oMathPara>
                          </a14:m>
                          <a:endParaRPr lang="en-US" sz="1600" b="0" i="1" u="none" strike="noStrike" dirty="0">
                            <a:solidFill>
                              <a:srgbClr val="000000"/>
                            </a:solidFill>
                            <a:effectLst/>
                            <a:latin typeface="Cambria Math" panose="02040503050406030204" pitchFamily="18" charset="0"/>
                            <a:ea typeface="Cambria Math" panose="02040503050406030204" pitchFamily="18" charset="0"/>
                          </a:endParaRPr>
                        </a:p>
                        <a:p>
                          <a:r>
                            <a:rPr lang="en-US" sz="1600" b="0" u="none" strike="noStrike" dirty="0">
                              <a:solidFill>
                                <a:srgbClr val="000000"/>
                              </a:solidFill>
                              <a:effectLst/>
                              <a:ea typeface="Cambria Math" panose="02040503050406030204" pitchFamily="18"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=493.33</m:t>
                              </m:r>
                            </m:oMath>
                          </a14:m>
                          <a:endParaRPr lang="en-US" sz="1600" dirty="0">
                            <a:solidFill>
                              <a:srgbClr val="000000"/>
                            </a:solidFill>
                          </a:endParaRPr>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063948182"/>
                      </a:ext>
                    </a:extLst>
                  </a:tr>
                  <a:tr h="37084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panose="020F0502020204030204" pitchFamily="34" charset="0"/>
                            </a:rPr>
                            <a:t>Three-hour review</a:t>
                          </a:r>
                        </a:p>
                      </a:txBody>
                      <a:tcPr marL="6350" marR="6350" marT="635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580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1080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460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1000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400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880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2960</a:t>
                          </a: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2960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=493.33</m:t>
                                </m:r>
                              </m:oMath>
                            </m:oMathPara>
                          </a14:m>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3759539"/>
                      </a:ext>
                    </a:extLst>
                  </a:tr>
                  <a:tr h="37084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pPr algn="l" fontAlgn="b"/>
                          <a:endParaRPr lang="en-US" sz="1800" b="1" i="0" u="none" strike="noStrike" dirty="0">
                            <a:solidFill>
                              <a:srgbClr val="000000"/>
                            </a:solidFill>
                            <a:effectLst/>
                            <a:latin typeface="Calibri" panose="020F0502020204030204" pitchFamily="34" charset="0"/>
                          </a:endParaRPr>
                        </a:p>
                      </a:txBody>
                      <a:tcPr marL="6350" marR="6350" marT="635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1080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=540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12</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1000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=500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13</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  880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=440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68824941"/>
                      </a:ext>
                    </a:extLst>
                  </a:tr>
                  <a:tr h="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rowSpan="3">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One-day program</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460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560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420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3080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oMath>
                            </m:oMathPara>
                          </a14:m>
                          <a:endParaRPr lang="en-US" sz="1600" b="0" i="1" u="none" strike="noStrike" dirty="0">
                            <a:solidFill>
                              <a:srgbClr val="000000"/>
                            </a:solidFill>
                            <a:effectLst/>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u="none" strike="noStrike" dirty="0">
                              <a:solidFill>
                                <a:srgbClr val="000000"/>
                              </a:solidFill>
                              <a:effectLst/>
                              <a:ea typeface="Cambria Math" panose="02040503050406030204" pitchFamily="18" charset="0"/>
                            </a:rPr>
                            <a:t> </a:t>
                          </a:r>
                          <a:r>
                            <a:rPr lang="en-US" sz="1600" b="0" u="none" strike="noStrike" baseline="0" dirty="0">
                              <a:solidFill>
                                <a:srgbClr val="000000"/>
                              </a:solidFill>
                              <a:effectLst/>
                              <a:ea typeface="Cambria Math" panose="02040503050406030204" pitchFamily="18"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=513.33</m:t>
                              </m:r>
                            </m:oMath>
                          </a14:m>
                          <a:endParaRPr lang="en-US" sz="1600" dirty="0">
                            <a:solidFill>
                              <a:srgbClr val="000000"/>
                            </a:solidFill>
                          </a:endParaRPr>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519832429"/>
                      </a:ext>
                    </a:extLst>
                  </a:tr>
                  <a:tr h="37084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panose="020F0502020204030204" pitchFamily="34" charset="0"/>
                            </a:rPr>
                            <a:t>One-day program</a:t>
                          </a:r>
                        </a:p>
                      </a:txBody>
                      <a:tcPr marL="6350" marR="6350" marT="635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540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1000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620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1180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480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900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3080</a:t>
                          </a: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34768476"/>
                      </a:ext>
                    </a:extLst>
                  </a:tr>
                  <a:tr h="37084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21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1000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=500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22</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1180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=590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23</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  900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=450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472841626"/>
                      </a:ext>
                    </a:extLst>
                  </a:tr>
                  <a:tr h="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rowSpan="3">
                      <a:txBody>
                        <a:bodyPr/>
                        <a:lstStyle/>
                        <a:p>
                          <a:r>
                            <a:rPr lang="en-US" sz="1600" b="1" i="0" u="none" strike="noStrike" dirty="0">
                              <a:solidFill>
                                <a:srgbClr val="000000"/>
                              </a:solidFill>
                              <a:effectLst/>
                              <a:latin typeface="Calibri" panose="020F0502020204030204" pitchFamily="34" charset="0"/>
                            </a:rPr>
                            <a:t>10-week course</a:t>
                          </a:r>
                          <a:endParaRPr lang="en-US" sz="1600" dirty="0">
                            <a:solidFill>
                              <a:srgbClr val="000000"/>
                            </a:solidFill>
                          </a:endParaRPr>
                        </a:p>
                      </a:txBody>
                      <a:tcPr marL="0" marR="0" marT="0" marB="0">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560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600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480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3∙</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3230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oMath>
                            </m:oMathPara>
                          </a14:m>
                          <a:endParaRPr lang="en-US" sz="1600" b="0" i="1" u="none" strike="noStrike" dirty="0">
                            <a:solidFill>
                              <a:srgbClr val="000000"/>
                            </a:solidFill>
                            <a:effectLst/>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u="none" strike="noStrike" dirty="0">
                              <a:solidFill>
                                <a:srgbClr val="000000"/>
                              </a:solidFill>
                              <a:effectLst/>
                              <a:ea typeface="Cambria Math" panose="02040503050406030204" pitchFamily="18" charset="0"/>
                            </a:rPr>
                            <a:t>           </a:t>
                          </a:r>
                          <a14:m>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=528.33</m:t>
                              </m:r>
                            </m:oMath>
                          </a14:m>
                          <a:endParaRPr lang="en-US" sz="1600" dirty="0">
                            <a:solidFill>
                              <a:srgbClr val="000000"/>
                            </a:solidFill>
                          </a:endParaRPr>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34926824"/>
                      </a:ext>
                    </a:extLst>
                  </a:tr>
                  <a:tr h="37084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r>
                            <a:rPr lang="en-US" sz="1800" b="1" i="0" u="none" strike="noStrike" dirty="0">
                              <a:solidFill>
                                <a:srgbClr val="000000"/>
                              </a:solidFill>
                              <a:effectLst/>
                              <a:latin typeface="Calibri" panose="020F0502020204030204" pitchFamily="34" charset="0"/>
                            </a:rPr>
                            <a:t>10-week course</a:t>
                          </a:r>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600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1160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580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1180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410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890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3230</a:t>
                          </a: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33230412"/>
                      </a:ext>
                    </a:extLst>
                  </a:tr>
                  <a:tr h="0">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31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1160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=580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32</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1180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=590</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33</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  890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=445</m:t>
                                </m:r>
                              </m:oMath>
                            </m:oMathPara>
                          </a14:m>
                          <a:endParaRPr lang="en-US" sz="1600" b="0" i="0" u="none" strike="noStrike" dirty="0">
                            <a:solidFill>
                              <a:srgbClr val="000000"/>
                            </a:solidFill>
                            <a:effectLst/>
                            <a:latin typeface="Cambria Math" panose="02040503050406030204" pitchFamily="18" charset="0"/>
                            <a:ea typeface="Cambria Math" panose="02040503050406030204" pitchFamily="18" charset="0"/>
                          </a:endParaRPr>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25293220"/>
                      </a:ext>
                    </a:extLst>
                  </a:tr>
                  <a:tr h="370840">
                    <a:tc>
                      <a:txBody>
                        <a:bodyPr/>
                        <a:lstStyle/>
                        <a:p>
                          <a:endParaRPr lang="en-US" sz="1600" dirty="0">
                            <a:solidFill>
                              <a:srgbClr val="000000"/>
                            </a:solidFill>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r>
                            <a:rPr lang="en-US" sz="1600" b="1" dirty="0">
                              <a:solidFill>
                                <a:srgbClr val="0070C0"/>
                              </a:solidFill>
                            </a:rPr>
                            <a:t>Column Totals</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3240</a:t>
                          </a: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3360</a:t>
                          </a: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2670</a:t>
                          </a: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9270</a:t>
                          </a:r>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594134376"/>
                      </a:ext>
                    </a:extLst>
                  </a:tr>
                  <a:tr h="548640">
                    <a:tc>
                      <a:txBody>
                        <a:bodyPr/>
                        <a:lstStyle/>
                        <a:p>
                          <a:endParaRPr lang="en-US" sz="1600" dirty="0">
                            <a:solidFill>
                              <a:srgbClr val="000000"/>
                            </a:solidFill>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r>
                            <a:rPr lang="en-US" sz="1600" b="1" dirty="0">
                              <a:solidFill>
                                <a:srgbClr val="0070C0"/>
                              </a:solidFill>
                            </a:rPr>
                            <a:t>Factor B Means</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r"/>
                          <a14:m>
                            <m:oMathPara xmlns:m="http://schemas.openxmlformats.org/officeDocument/2006/math">
                              <m:oMathParaPr>
                                <m:jc m:val="right"/>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3240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=540</m:t>
                                </m:r>
                              </m:oMath>
                            </m:oMathPara>
                          </a14:m>
                          <a:endParaRPr lang="en-US" sz="1600" dirty="0">
                            <a:solidFill>
                              <a:srgbClr val="000000"/>
                            </a:solidFill>
                            <a:latin typeface="Cambria Math" panose="02040503050406030204" pitchFamily="18" charset="0"/>
                            <a:ea typeface="Cambria Math" panose="02040503050406030204" pitchFamily="18" charset="0"/>
                          </a:endParaRP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solidFill>
                          <a:srgbClr val="FFF4DC"/>
                        </a:solidFill>
                      </a:tcPr>
                    </a:tc>
                    <a:tc>
                      <a:txBody>
                        <a:bodyPr/>
                        <a:lstStyle/>
                        <a:p>
                          <a:pPr algn="r"/>
                          <a14:m>
                            <m:oMathPara xmlns:m="http://schemas.openxmlformats.org/officeDocument/2006/math">
                              <m:oMathParaPr>
                                <m:jc m:val="right"/>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∙2</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3360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=560</m:t>
                                </m:r>
                              </m:oMath>
                            </m:oMathPara>
                          </a14:m>
                          <a:endParaRPr lang="en-US" sz="1600" dirty="0">
                            <a:solidFill>
                              <a:srgbClr val="000000"/>
                            </a:solidFill>
                            <a:latin typeface="Cambria Math" panose="02040503050406030204" pitchFamily="18" charset="0"/>
                            <a:ea typeface="Cambria Math" panose="02040503050406030204" pitchFamily="18" charset="0"/>
                          </a:endParaRP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solidFill>
                          <a:srgbClr val="FFF4DC"/>
                        </a:solidFill>
                      </a:tcPr>
                    </a:tc>
                    <a:tc>
                      <a:txBody>
                        <a:bodyPr/>
                        <a:lstStyle/>
                        <a:p>
                          <a:pPr algn="r"/>
                          <a14:m>
                            <m:oMathPara xmlns:m="http://schemas.openxmlformats.org/officeDocument/2006/math">
                              <m:oMathParaPr>
                                <m:jc m:val="right"/>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2670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=445</m:t>
                                </m:r>
                              </m:oMath>
                            </m:oMathPara>
                          </a14:m>
                          <a:endParaRPr lang="en-US" sz="1600" dirty="0">
                            <a:solidFill>
                              <a:srgbClr val="000000"/>
                            </a:solidFill>
                            <a:latin typeface="Cambria Math" panose="02040503050406030204" pitchFamily="18" charset="0"/>
                            <a:ea typeface="Cambria Math" panose="02040503050406030204" pitchFamily="18" charset="0"/>
                          </a:endParaRP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solidFill>
                          <a:srgbClr val="FFF4DC"/>
                        </a:solidFill>
                      </a:tcPr>
                    </a:tc>
                    <a:tc gridSpan="2">
                      <a:txBody>
                        <a:bodyPr/>
                        <a:lstStyle/>
                        <a:p>
                          <a:pPr marL="60325"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acc>
                                  <m:accPr>
                                    <m:chr m:val="̿"/>
                                    <m:ctrlPr>
                                      <a:rPr lang="en-US" sz="1600" b="0" i="1" u="none" strike="noStrike" smtClean="0">
                                        <a:solidFill>
                                          <a:srgbClr val="000000"/>
                                        </a:solidFill>
                                        <a:effectLst/>
                                        <a:latin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rPr>
                                      <m:t>𝑥</m:t>
                                    </m:r>
                                  </m:e>
                                </m:acc>
                                <m:r>
                                  <a:rPr lang="en-US" sz="1600" b="0" i="1" u="none" strike="noStrike" smtClean="0">
                                    <a:solidFill>
                                      <a:srgbClr val="000000"/>
                                    </a:solidFill>
                                    <a:effectLst/>
                                    <a:latin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9270</m:t>
                                    </m:r>
                                  </m:num>
                                  <m:den>
                                    <m:r>
                                      <a:rPr lang="en-US" sz="1600" b="0" i="1" u="none" strike="noStrike" smtClean="0">
                                        <a:solidFill>
                                          <a:srgbClr val="000000"/>
                                        </a:solidFill>
                                        <a:effectLst/>
                                        <a:latin typeface="Cambria Math" panose="02040503050406030204" pitchFamily="18" charset="0"/>
                                      </a:rPr>
                                      <m:t>18</m:t>
                                    </m:r>
                                  </m:den>
                                </m:f>
                                <m:r>
                                  <a:rPr lang="en-US" sz="1600" b="0" i="1" u="none" strike="noStrike" smtClean="0">
                                    <a:solidFill>
                                      <a:srgbClr val="000000"/>
                                    </a:solidFill>
                                    <a:effectLst/>
                                    <a:latin typeface="Cambria Math" panose="02040503050406030204" pitchFamily="18" charset="0"/>
                                  </a:rPr>
                                  <m:t>=515</m:t>
                                </m:r>
                              </m:oMath>
                            </m:oMathPara>
                          </a14:m>
                          <a:endParaRPr lang="en-US" sz="1600" b="0" i="0" u="none" strike="noStrike" dirty="0">
                            <a:solidFill>
                              <a:srgbClr val="000000"/>
                            </a:solidFill>
                            <a:effectLst/>
                            <a:latin typeface="Calibri" panose="020F0502020204030204" pitchFamily="34" charset="0"/>
                          </a:endParaRPr>
                        </a:p>
                      </a:txBody>
                      <a:tcPr marL="0" marR="0" anchor="b">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hMerge="1">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498872246"/>
                      </a:ext>
                    </a:extLst>
                  </a:tr>
                </a:tbl>
              </a:graphicData>
            </a:graphic>
          </p:graphicFrame>
        </mc:Choice>
        <mc:Fallback xmlns="">
          <p:graphicFrame>
            <p:nvGraphicFramePr>
              <p:cNvPr id="4" name="Table 4">
                <a:extLst>
                  <a:ext uri="{FF2B5EF4-FFF2-40B4-BE49-F238E27FC236}">
                    <a16:creationId xmlns:a16="http://schemas.microsoft.com/office/drawing/2014/main" id="{3E268C3D-133E-DEA8-B8F1-9310B8CEE4A8}"/>
                  </a:ext>
                </a:extLst>
              </p:cNvPr>
              <p:cNvGraphicFramePr>
                <a:graphicFrameLocks noGrp="1"/>
              </p:cNvGraphicFramePr>
              <p:nvPr>
                <p:ph type="tbl" sz="quarter" idx="10"/>
                <p:extLst>
                  <p:ext uri="{D42A27DB-BD31-4B8C-83A1-F6EECF244321}">
                    <p14:modId xmlns:p14="http://schemas.microsoft.com/office/powerpoint/2010/main" val="1947099113"/>
                  </p:ext>
                </p:extLst>
              </p:nvPr>
            </p:nvGraphicFramePr>
            <p:xfrm>
              <a:off x="883920" y="964544"/>
              <a:ext cx="10424160" cy="5234496"/>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743186666"/>
                        </a:ext>
                      </a:extLst>
                    </a:gridCol>
                    <a:gridCol w="1554480">
                      <a:extLst>
                        <a:ext uri="{9D8B030D-6E8A-4147-A177-3AD203B41FA5}">
                          <a16:colId xmlns:a16="http://schemas.microsoft.com/office/drawing/2014/main" val="475213045"/>
                        </a:ext>
                      </a:extLst>
                    </a:gridCol>
                    <a:gridCol w="1737360">
                      <a:extLst>
                        <a:ext uri="{9D8B030D-6E8A-4147-A177-3AD203B41FA5}">
                          <a16:colId xmlns:a16="http://schemas.microsoft.com/office/drawing/2014/main" val="1268225786"/>
                        </a:ext>
                      </a:extLst>
                    </a:gridCol>
                    <a:gridCol w="1737360">
                      <a:extLst>
                        <a:ext uri="{9D8B030D-6E8A-4147-A177-3AD203B41FA5}">
                          <a16:colId xmlns:a16="http://schemas.microsoft.com/office/drawing/2014/main" val="3271339509"/>
                        </a:ext>
                      </a:extLst>
                    </a:gridCol>
                    <a:gridCol w="1737360">
                      <a:extLst>
                        <a:ext uri="{9D8B030D-6E8A-4147-A177-3AD203B41FA5}">
                          <a16:colId xmlns:a16="http://schemas.microsoft.com/office/drawing/2014/main" val="3671519278"/>
                        </a:ext>
                      </a:extLst>
                    </a:gridCol>
                    <a:gridCol w="1097280">
                      <a:extLst>
                        <a:ext uri="{9D8B030D-6E8A-4147-A177-3AD203B41FA5}">
                          <a16:colId xmlns:a16="http://schemas.microsoft.com/office/drawing/2014/main" val="3077898615"/>
                        </a:ext>
                      </a:extLst>
                    </a:gridCol>
                    <a:gridCol w="1463040">
                      <a:extLst>
                        <a:ext uri="{9D8B030D-6E8A-4147-A177-3AD203B41FA5}">
                          <a16:colId xmlns:a16="http://schemas.microsoft.com/office/drawing/2014/main" val="3938708174"/>
                        </a:ext>
                      </a:extLst>
                    </a:gridCol>
                  </a:tblGrid>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0070C0"/>
                            </a:solidFill>
                          </a:endParaRPr>
                        </a:p>
                      </a:txBody>
                      <a:tcPr marL="0" marR="0" marT="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0070C0"/>
                              </a:solidFill>
                            </a:rPr>
                            <a:t>Factor B: College</a:t>
                          </a:r>
                        </a:p>
                      </a:txBody>
                      <a:tcPr marL="0" marR="0" marT="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b="1" dirty="0">
                              <a:solidFill>
                                <a:srgbClr val="000000"/>
                              </a:solidFill>
                            </a:rPr>
                            <a:t>Business</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0000"/>
                              </a:solidFill>
                            </a:rPr>
                            <a:t>Engineering</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0000"/>
                              </a:solidFill>
                            </a:rPr>
                            <a:t>Arts and Science</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70C0"/>
                              </a:solidFill>
                            </a:rPr>
                            <a:t>Row Totals</a:t>
                          </a:r>
                        </a:p>
                      </a:txBody>
                      <a:tcPr marL="0" marR="0" marT="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b="1" dirty="0">
                              <a:solidFill>
                                <a:srgbClr val="0070C0"/>
                              </a:solidFill>
                            </a:rPr>
                            <a:t>Factor A means</a:t>
                          </a:r>
                        </a:p>
                      </a:txBody>
                      <a:tcPr marL="0" marR="0" marT="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extLst>
                      <a:ext uri="{0D108BD9-81ED-4DB2-BD59-A6C34878D82A}">
                        <a16:rowId xmlns:a16="http://schemas.microsoft.com/office/drawing/2014/main" val="3039014029"/>
                      </a:ext>
                    </a:extLst>
                  </a:tr>
                  <a:tr h="298704">
                    <a:tc rowSpan="9">
                      <a:txBody>
                        <a:bodyPr/>
                        <a:lstStyle/>
                        <a:p>
                          <a:r>
                            <a:rPr lang="en-US" sz="1600" b="1" dirty="0">
                              <a:solidFill>
                                <a:srgbClr val="0070C0"/>
                              </a:solidFill>
                            </a:rPr>
                            <a:t> Factor A:  </a:t>
                          </a:r>
                        </a:p>
                        <a:p>
                          <a:r>
                            <a:rPr lang="en-US" sz="1600" b="1" dirty="0">
                              <a:solidFill>
                                <a:srgbClr val="0070C0"/>
                              </a:solidFill>
                            </a:rPr>
                            <a:t> Preparation </a:t>
                          </a:r>
                        </a:p>
                        <a:p>
                          <a:r>
                            <a:rPr lang="en-US" sz="1600" b="1" dirty="0">
                              <a:solidFill>
                                <a:srgbClr val="0070C0"/>
                              </a:solidFill>
                            </a:rPr>
                            <a:t> Program</a:t>
                          </a: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rowSpan="3">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Three-hour </a:t>
                          </a:r>
                        </a:p>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review</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500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540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480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rowSpan="3">
                      <a:txBody>
                        <a:bodyPr/>
                        <a:lstStyle/>
                        <a:p>
                          <a:endParaRPr lang="en-US"/>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612500" t="-29630" r="-833" b="-270833"/>
                          </a:stretch>
                        </a:blipFill>
                      </a:tcPr>
                    </a:tc>
                    <a:extLst>
                      <a:ext uri="{0D108BD9-81ED-4DB2-BD59-A6C34878D82A}">
                        <a16:rowId xmlns:a16="http://schemas.microsoft.com/office/drawing/2014/main" val="2063948182"/>
                      </a:ext>
                    </a:extLst>
                  </a:tr>
                  <a:tr h="505968">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panose="020F0502020204030204" pitchFamily="34" charset="0"/>
                            </a:rPr>
                            <a:t>Three-hour review</a:t>
                          </a:r>
                        </a:p>
                      </a:txBody>
                      <a:tcPr marL="6350" marR="6350" marT="635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580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1080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460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1000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400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880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2960</a:t>
                          </a: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14:m xmlns:a14="http://schemas.microsoft.com/office/drawing/2010/main">
                            <m:oMathPara xmlns:m="http://schemas.openxmlformats.org/officeDocument/2006/math">
                              <m:oMathParaPr>
                                <m:jc m:val="centerGroup"/>
                              </m:oMathParaPr>
                              <m:oMath xmlns:m="http://schemas.openxmlformats.org/officeDocument/2006/math">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acc>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1</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f>
                                  <m:f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ea typeface="Cambria Math" panose="02040503050406030204" pitchFamily="18" charset="0"/>
                                      </a:rPr>
                                      <m:t>2960</m:t>
                                    </m:r>
                                  </m:num>
                                  <m:den>
                                    <m:r>
                                      <a:rPr lang="en-US" sz="1600" b="0" i="1" u="none" strike="noStrike" smtClean="0">
                                        <a:solidFill>
                                          <a:srgbClr val="000000"/>
                                        </a:solidFill>
                                        <a:effectLst/>
                                        <a:latin typeface="Cambria Math" panose="02040503050406030204" pitchFamily="18" charset="0"/>
                                        <a:ea typeface="Cambria Math" panose="02040503050406030204" pitchFamily="18" charset="0"/>
                                      </a:rPr>
                                      <m:t>6</m:t>
                                    </m:r>
                                  </m:den>
                                </m:f>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r>
                                  <a:rPr lang="en-US" sz="1600" b="0" i="1" u="none" strike="noStrike" smtClean="0">
                                    <a:solidFill>
                                      <a:srgbClr val="000000"/>
                                    </a:solidFill>
                                    <a:effectLst/>
                                    <a:latin typeface="Cambria Math" panose="02040503050406030204" pitchFamily="18" charset="0"/>
                                    <a:ea typeface="Cambria Math" panose="02040503050406030204" pitchFamily="18" charset="0"/>
                                  </a:rPr>
                                  <m:t>493.33</m:t>
                                </m:r>
                              </m:oMath>
                            </m:oMathPara>
                          </a14:m>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33759539"/>
                      </a:ext>
                    </a:extLst>
                  </a:tr>
                  <a:tr h="511429">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pPr algn="l" fontAlgn="b"/>
                          <a:endParaRPr lang="en-US" sz="1800" b="1" i="0" u="none" strike="noStrike" dirty="0">
                            <a:solidFill>
                              <a:srgbClr val="000000"/>
                            </a:solidFill>
                            <a:effectLst/>
                            <a:latin typeface="Calibri" panose="020F0502020204030204" pitchFamily="34" charset="0"/>
                          </a:endParaRPr>
                        </a:p>
                      </a:txBody>
                      <a:tcPr marL="6350" marR="6350" marT="635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152632" t="-233333" r="-348070" b="-696429"/>
                          </a:stretch>
                        </a:blip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252632" t="-233333" r="-248070" b="-696429"/>
                          </a:stretch>
                        </a:blip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352632" t="-233333" r="-148070" b="-696429"/>
                          </a:stretch>
                        </a:blipFill>
                      </a:tcPr>
                    </a:tc>
                    <a:tc>
                      <a:txBody>
                        <a:bodyPr/>
                        <a:lstStyle/>
                        <a:p>
                          <a:pPr algn="ctr"/>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68824941"/>
                      </a:ext>
                    </a:extLst>
                  </a:tr>
                  <a:tr h="298704">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rowSpan="3">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One-day program</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460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560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420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rowSpan="3">
                      <a:txBody>
                        <a:bodyPr/>
                        <a:lstStyle/>
                        <a:p>
                          <a:endParaRPr lang="en-US"/>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612500" t="-129630" r="-833" b="-170833"/>
                          </a:stretch>
                        </a:blipFill>
                      </a:tcPr>
                    </a:tc>
                    <a:extLst>
                      <a:ext uri="{0D108BD9-81ED-4DB2-BD59-A6C34878D82A}">
                        <a16:rowId xmlns:a16="http://schemas.microsoft.com/office/drawing/2014/main" val="2519832429"/>
                      </a:ext>
                    </a:extLst>
                  </a:tr>
                  <a:tr h="505968">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Calibri" panose="020F0502020204030204" pitchFamily="34" charset="0"/>
                            </a:rPr>
                            <a:t>One-day program</a:t>
                          </a:r>
                        </a:p>
                      </a:txBody>
                      <a:tcPr marL="6350" marR="6350" marT="635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540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1000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620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1180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480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900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3080</a:t>
                          </a: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34768476"/>
                      </a:ext>
                    </a:extLst>
                  </a:tr>
                  <a:tr h="511429">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152632" t="-490476" r="-348070" b="-439286"/>
                          </a:stretch>
                        </a:blip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252632" t="-490476" r="-248070" b="-439286"/>
                          </a:stretch>
                        </a:blip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352632" t="-490476" r="-148070" b="-439286"/>
                          </a:stretch>
                        </a:blip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472841626"/>
                      </a:ext>
                    </a:extLst>
                  </a:tr>
                  <a:tr h="298704">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rowSpan="3">
                      <a:txBody>
                        <a:bodyPr/>
                        <a:lstStyle/>
                        <a:p>
                          <a:pPr/>
                          <a:r>
                            <a:rPr lang="en-US" sz="1600" b="1" i="0" u="none" strike="noStrike" dirty="0">
                              <a:solidFill>
                                <a:srgbClr val="000000"/>
                              </a:solidFill>
                              <a:effectLst/>
                              <a:latin typeface="Calibri" panose="020F0502020204030204" pitchFamily="34" charset="0"/>
                            </a:rPr>
                            <a:t>10-week course</a:t>
                          </a:r>
                          <a:endParaRPr lang="en-US" sz="1600" dirty="0">
                            <a:solidFill>
                              <a:srgbClr val="000000"/>
                            </a:solidFill>
                          </a:endParaRPr>
                        </a:p>
                      </a:txBody>
                      <a:tcPr marL="0" marR="0" marT="0" marB="0">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560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600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480 </a:t>
                          </a:r>
                        </a:p>
                      </a:txBody>
                      <a:tcPr marL="45720" marR="45720" marB="9144" anchor="b">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rowSpan="3">
                      <a:txBody>
                        <a:bodyPr/>
                        <a:lstStyle/>
                        <a:p>
                          <a:endParaRPr lang="en-US"/>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612500" t="-229630" r="-833" b="-70833"/>
                          </a:stretch>
                        </a:blipFill>
                      </a:tcPr>
                    </a:tc>
                    <a:extLst>
                      <a:ext uri="{0D108BD9-81ED-4DB2-BD59-A6C34878D82A}">
                        <a16:rowId xmlns:a16="http://schemas.microsoft.com/office/drawing/2014/main" val="234926824"/>
                      </a:ext>
                    </a:extLst>
                  </a:tr>
                  <a:tr h="505968">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r>
                            <a:rPr lang="en-US" sz="1800" b="1" i="0" u="none" strike="noStrike" dirty="0">
                              <a:solidFill>
                                <a:srgbClr val="000000"/>
                              </a:solidFill>
                              <a:effectLst/>
                              <a:latin typeface="Calibri" panose="020F0502020204030204" pitchFamily="34" charset="0"/>
                            </a:rPr>
                            <a:t>10-week course</a:t>
                          </a:r>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600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1160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580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1180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l">
                            <a:tabLst>
                              <a:tab pos="974725" algn="r"/>
                            </a:tabLst>
                          </a:pPr>
                          <a:r>
                            <a:rPr lang="en-US" sz="1600" u="none" dirty="0">
                              <a:solidFill>
                                <a:srgbClr val="000000"/>
                              </a:solidFill>
                              <a:latin typeface="Cambria Math" panose="02040503050406030204" pitchFamily="18" charset="0"/>
                              <a:ea typeface="Cambria Math" panose="02040503050406030204" pitchFamily="18" charset="0"/>
                            </a:rPr>
                            <a:t>	</a:t>
                          </a:r>
                          <a:r>
                            <a:rPr lang="en-US" sz="1600" u="sng" dirty="0">
                              <a:solidFill>
                                <a:srgbClr val="000000"/>
                              </a:solidFill>
                              <a:latin typeface="Cambria Math" panose="02040503050406030204" pitchFamily="18" charset="0"/>
                              <a:ea typeface="Cambria Math" panose="02040503050406030204" pitchFamily="18" charset="0"/>
                            </a:rPr>
                            <a:t>  410</a:t>
                          </a:r>
                        </a:p>
                        <a:p>
                          <a:pPr algn="l">
                            <a:tabLst>
                              <a:tab pos="974725" algn="r"/>
                            </a:tabLst>
                          </a:pPr>
                          <a:r>
                            <a:rPr lang="en-US" sz="1600" dirty="0">
                              <a:solidFill>
                                <a:srgbClr val="000000"/>
                              </a:solidFill>
                              <a:latin typeface="Cambria Math" panose="02040503050406030204" pitchFamily="18" charset="0"/>
                              <a:ea typeface="Cambria Math" panose="02040503050406030204" pitchFamily="18" charset="0"/>
                            </a:rPr>
                            <a:t>	890</a:t>
                          </a:r>
                        </a:p>
                      </a:txBody>
                      <a:tcPr marL="45720" marR="45720" marT="9144" marB="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3230</a:t>
                          </a: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33230412"/>
                      </a:ext>
                    </a:extLst>
                  </a:tr>
                  <a:tr h="511429">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vMerge="1">
                      <a:txBody>
                        <a:bodyPr/>
                        <a:lstStyle/>
                        <a:p>
                          <a:endParaRPr lang="en-US" dirty="0">
                            <a:solidFill>
                              <a:srgbClr val="000000"/>
                            </a:solidFill>
                          </a:endParaRPr>
                        </a:p>
                      </a:txBody>
                      <a:tcP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152632" t="-747619" r="-348070" b="-182143"/>
                          </a:stretch>
                        </a:blip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252632" t="-747619" r="-248070" b="-182143"/>
                          </a:stretch>
                        </a:blipFill>
                      </a:tcPr>
                    </a:tc>
                    <a:tc>
                      <a:txBody>
                        <a:bodyPr/>
                        <a:lstStyle/>
                        <a:p>
                          <a:endParaRPr lang="en-US"/>
                        </a:p>
                      </a:txBody>
                      <a:tcPr marL="45720" marR="45720" marT="9144">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blipFill>
                          <a:blip r:embed="rId2"/>
                          <a:stretch>
                            <a:fillRect l="-352632" t="-747619" r="-148070" b="-182143"/>
                          </a:stretch>
                        </a:blip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vMerge="1">
                      <a:txBody>
                        <a:bodyPr/>
                        <a:lstStyle/>
                        <a:p>
                          <a:endParaRPr lang="en-US" sz="1600" dirty="0">
                            <a:solidFill>
                              <a:srgbClr val="000000"/>
                            </a:solidFill>
                          </a:endParaRPr>
                        </a:p>
                      </a:txBody>
                      <a:tcPr marL="0" marR="0" marT="0" marB="0">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25293220"/>
                      </a:ext>
                    </a:extLst>
                  </a:tr>
                  <a:tr h="370840">
                    <a:tc>
                      <a:txBody>
                        <a:bodyPr/>
                        <a:lstStyle/>
                        <a:p>
                          <a:endParaRPr lang="en-US" sz="1600" dirty="0">
                            <a:solidFill>
                              <a:srgbClr val="000000"/>
                            </a:solidFill>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r>
                            <a:rPr lang="en-US" sz="1600" b="1" dirty="0">
                              <a:solidFill>
                                <a:srgbClr val="0070C0"/>
                              </a:solidFill>
                            </a:rPr>
                            <a:t>Column Totals</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3240</a:t>
                          </a: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3360</a:t>
                          </a: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2670</a:t>
                          </a:r>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solidFill>
                            <a:srgbClr val="0070C0"/>
                          </a:solidFill>
                          <a:prstDash val="solid"/>
                          <a:round/>
                          <a:headEnd type="none" w="med" len="med"/>
                          <a:tailEnd type="none" w="med" len="med"/>
                        </a:lnB>
                        <a:solidFill>
                          <a:srgbClr val="FFF4DC"/>
                        </a:solidFill>
                      </a:tcPr>
                    </a:tc>
                    <a:tc>
                      <a:txBody>
                        <a:bodyPr/>
                        <a:lstStyle/>
                        <a:p>
                          <a:pPr algn="ctr"/>
                          <a:r>
                            <a:rPr lang="en-US" sz="1600" dirty="0">
                              <a:solidFill>
                                <a:srgbClr val="000000"/>
                              </a:solidFill>
                              <a:latin typeface="Cambria Math" panose="02040503050406030204" pitchFamily="18" charset="0"/>
                              <a:ea typeface="Cambria Math" panose="02040503050406030204" pitchFamily="18" charset="0"/>
                            </a:rPr>
                            <a:t>     9270</a:t>
                          </a:r>
                        </a:p>
                      </a:txBody>
                      <a:tcPr marL="0" marR="0" marT="0" marB="0" anchor="ctr">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594134376"/>
                      </a:ext>
                    </a:extLst>
                  </a:tr>
                  <a:tr h="549593">
                    <a:tc>
                      <a:txBody>
                        <a:bodyPr/>
                        <a:lstStyle/>
                        <a:p>
                          <a:endParaRPr lang="en-US" sz="1600" dirty="0">
                            <a:solidFill>
                              <a:srgbClr val="000000"/>
                            </a:solidFill>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r>
                            <a:rPr lang="en-US" sz="1600" b="1" dirty="0">
                              <a:solidFill>
                                <a:srgbClr val="0070C0"/>
                              </a:solidFill>
                            </a:rPr>
                            <a:t>Factor B Means</a:t>
                          </a:r>
                        </a:p>
                      </a:txBody>
                      <a:tcPr marL="0" marR="0" marT="0" marB="0" anchor="ctr">
                        <a:lnL w="19050" cap="flat" cmpd="sng" algn="ctr">
                          <a:no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endParaRPr lang="en-US"/>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blipFill>
                          <a:blip r:embed="rId2"/>
                          <a:stretch>
                            <a:fillRect l="-152632" t="-858889" r="-348070" b="-2222"/>
                          </a:stretch>
                        </a:blipFill>
                      </a:tcPr>
                    </a:tc>
                    <a:tc>
                      <a:txBody>
                        <a:bodyPr/>
                        <a:lstStyle/>
                        <a:p>
                          <a:endParaRPr lang="en-US"/>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blipFill>
                          <a:blip r:embed="rId2"/>
                          <a:stretch>
                            <a:fillRect l="-252632" t="-858889" r="-248070" b="-2222"/>
                          </a:stretch>
                        </a:blipFill>
                      </a:tcPr>
                    </a:tc>
                    <a:tc>
                      <a:txBody>
                        <a:bodyPr/>
                        <a:lstStyle/>
                        <a:p>
                          <a:endParaRPr lang="en-US"/>
                        </a:p>
                      </a:txBody>
                      <a:tcPr marL="45720" marR="45720" marT="0" marB="0" anchor="ctr">
                        <a:lnL w="19050" cap="flat" cmpd="sng" algn="ctr">
                          <a:solidFill>
                            <a:srgbClr val="0070C0"/>
                          </a:solidFill>
                          <a:prstDash val="solid"/>
                          <a:round/>
                          <a:headEnd type="none" w="med" len="med"/>
                          <a:tailEnd type="none" w="med" len="med"/>
                        </a:lnL>
                        <a:lnR w="19050" cap="flat" cmpd="sng" algn="ctr">
                          <a:solidFill>
                            <a:srgbClr val="0070C0"/>
                          </a:solidFill>
                          <a:prstDash val="solid"/>
                          <a:round/>
                          <a:headEnd type="none" w="med" len="med"/>
                          <a:tailEnd type="none" w="med" len="med"/>
                        </a:lnR>
                        <a:lnT w="19050" cap="flat" cmpd="sng" algn="ctr">
                          <a:solidFill>
                            <a:srgbClr val="0070C0"/>
                          </a:solidFill>
                          <a:prstDash val="solid"/>
                          <a:round/>
                          <a:headEnd type="none" w="med" len="med"/>
                          <a:tailEnd type="none" w="med" len="med"/>
                        </a:lnT>
                        <a:lnB w="19050" cap="flat" cmpd="sng" algn="ctr">
                          <a:noFill/>
                          <a:prstDash val="solid"/>
                          <a:round/>
                          <a:headEnd type="none" w="med" len="med"/>
                          <a:tailEnd type="none" w="med" len="med"/>
                        </a:lnB>
                        <a:blipFill>
                          <a:blip r:embed="rId2"/>
                          <a:stretch>
                            <a:fillRect l="-352632" t="-858889" r="-148070" b="-2222"/>
                          </a:stretch>
                        </a:blipFill>
                      </a:tcPr>
                    </a:tc>
                    <a:tc gridSpan="2">
                      <a:txBody>
                        <a:bodyPr/>
                        <a:lstStyle/>
                        <a:p>
                          <a:endParaRPr lang="en-US"/>
                        </a:p>
                      </a:txBody>
                      <a:tcPr marL="0" marR="0" anchor="b">
                        <a:lnL w="19050" cap="flat" cmpd="sng" algn="ctr">
                          <a:solidFill>
                            <a:srgbClr val="0070C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07143" t="-858889" r="-476" b="-2222"/>
                          </a:stretch>
                        </a:blipFill>
                      </a:tcPr>
                    </a:tc>
                    <a:tc hMerge="1">
                      <a:txBody>
                        <a:bodyPr/>
                        <a:lstStyle/>
                        <a:p>
                          <a:endParaRPr lang="en-US" sz="1600" dirty="0">
                            <a:solidFill>
                              <a:srgbClr val="000000"/>
                            </a:solidFill>
                            <a:latin typeface="Cambria Math" panose="02040503050406030204" pitchFamily="18" charset="0"/>
                            <a:ea typeface="Cambria Math" panose="02040503050406030204" pitchFamily="18" charset="0"/>
                          </a:endParaRPr>
                        </a:p>
                      </a:txBody>
                      <a:tcPr marL="0" marR="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498872246"/>
                      </a:ext>
                    </a:extLst>
                  </a:tr>
                </a:tbl>
              </a:graphicData>
            </a:graphic>
          </p:graphicFrame>
        </mc:Fallback>
      </mc:AlternateContent>
    </p:spTree>
    <p:extLst>
      <p:ext uri="{BB962C8B-B14F-4D97-AF65-F5344CB8AC3E}">
        <p14:creationId xmlns:p14="http://schemas.microsoft.com/office/powerpoint/2010/main" val="36370800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417789" y="365125"/>
            <a:ext cx="11335411" cy="672105"/>
          </a:xfrm>
        </p:spPr>
        <p:txBody>
          <a:bodyPr/>
          <a:lstStyle/>
          <a:p>
            <a:r>
              <a:rPr lang="en-US" sz="3200" dirty="0"/>
              <a:t>13.5 Computations for the Two-Factor GMAT Experiment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72510" y="1217732"/>
                <a:ext cx="10594432" cy="4730949"/>
              </a:xfrm>
            </p:spPr>
            <p:txBody>
              <a:bodyPr/>
              <a:lstStyle/>
              <a:p>
                <a:pPr>
                  <a:spcBef>
                    <a:spcPts val="600"/>
                  </a:spcBef>
                  <a:spcAft>
                    <a:spcPts val="0"/>
                  </a:spcAft>
                </a:pPr>
                <a:r>
                  <a:rPr lang="en-US" sz="2000" b="1" dirty="0">
                    <a:latin typeface="Arial" panose="020B0604020202020204" pitchFamily="34" charset="0"/>
                    <a:cs typeface="Arial" panose="020B0604020202020204" pitchFamily="34" charset="0"/>
                  </a:rPr>
                  <a:t>Step 1.</a:t>
                </a:r>
                <a:r>
                  <a:rPr lang="en-US" sz="2000" dirty="0">
                    <a:latin typeface="Arial" panose="020B0604020202020204" pitchFamily="34" charset="0"/>
                    <a:cs typeface="Arial" panose="020B0604020202020204" pitchFamily="34" charset="0"/>
                  </a:rPr>
                  <a:t>	Compute the total sum of squares (SST)</a:t>
                </a:r>
              </a:p>
              <a:p>
                <a:pPr>
                  <a:spcBef>
                    <a:spcPts val="600"/>
                  </a:spcBef>
                  <a:spcAft>
                    <a:spcPts val="0"/>
                  </a:spcAft>
                </a:pPr>
                <a14:m>
                  <m:oMathPara xmlns:m="http://schemas.openxmlformats.org/officeDocument/2006/math">
                    <m:oMathParaPr>
                      <m:jc m:val="left"/>
                    </m:oMathParaPr>
                    <m:oMath xmlns:m="http://schemas.openxmlformats.org/officeDocument/2006/math">
                      <m:r>
                        <a:rPr lang="en-US" sz="1800" b="0" i="1" smtClean="0">
                          <a:solidFill>
                            <a:srgbClr val="000000"/>
                          </a:solidFill>
                          <a:latin typeface="Cambria Math" panose="02040503050406030204" pitchFamily="18" charset="0"/>
                          <a:cs typeface="Arial" panose="020B0604020202020204" pitchFamily="34" charset="0"/>
                        </a:rPr>
                        <m:t>𝑆𝑆𝑇</m:t>
                      </m:r>
                      <m:r>
                        <a:rPr lang="en-US" sz="1800" b="0" i="1" smtClean="0">
                          <a:solidFill>
                            <a:srgbClr val="000000"/>
                          </a:solidFill>
                          <a:latin typeface="Cambria Math" panose="02040503050406030204" pitchFamily="18" charset="0"/>
                          <a:cs typeface="Arial" panose="020B0604020202020204" pitchFamily="34" charset="0"/>
                        </a:rPr>
                        <m:t>=</m:t>
                      </m:r>
                      <m:nary>
                        <m:naryPr>
                          <m:chr m:val="∑"/>
                          <m:ctrlPr>
                            <a:rPr lang="en-US" sz="1800" b="0" i="1" dirty="0" smtClean="0">
                              <a:solidFill>
                                <a:srgbClr val="000000"/>
                              </a:solidFill>
                              <a:latin typeface="Cambria Math" panose="02040503050406030204" pitchFamily="18" charset="0"/>
                              <a:cs typeface="Arial" panose="020B0604020202020204" pitchFamily="34" charset="0"/>
                            </a:rPr>
                          </m:ctrlPr>
                        </m:naryPr>
                        <m:sub>
                          <m:r>
                            <m:rPr>
                              <m:brk m:alnAt="23"/>
                            </m:rPr>
                            <a:rPr lang="en-US" sz="1800" b="0" i="1" dirty="0" smtClean="0">
                              <a:solidFill>
                                <a:srgbClr val="000000"/>
                              </a:solidFill>
                              <a:latin typeface="Cambria Math" panose="02040503050406030204" pitchFamily="18" charset="0"/>
                              <a:cs typeface="Arial" panose="020B0604020202020204" pitchFamily="34" charset="0"/>
                            </a:rPr>
                            <m:t>𝑖</m:t>
                          </m:r>
                          <m:r>
                            <a:rPr lang="en-US" sz="1800" b="0" i="1" dirty="0" smtClean="0">
                              <a:solidFill>
                                <a:srgbClr val="000000"/>
                              </a:solidFill>
                              <a:latin typeface="Cambria Math" panose="02040503050406030204" pitchFamily="18" charset="0"/>
                              <a:cs typeface="Arial" panose="020B0604020202020204" pitchFamily="34" charset="0"/>
                            </a:rPr>
                            <m:t>=1</m:t>
                          </m:r>
                        </m:sub>
                        <m:sup>
                          <m:r>
                            <a:rPr lang="en-US" sz="1800" b="0" i="1" smtClean="0">
                              <a:solidFill>
                                <a:srgbClr val="000000"/>
                              </a:solidFill>
                              <a:latin typeface="Cambria Math" panose="02040503050406030204" pitchFamily="18" charset="0"/>
                              <a:cs typeface="Arial" panose="020B0604020202020204" pitchFamily="34" charset="0"/>
                            </a:rPr>
                            <m:t>𝑎</m:t>
                          </m:r>
                        </m:sup>
                        <m:e>
                          <m:nary>
                            <m:naryPr>
                              <m:chr m:val="∑"/>
                              <m:ctrlPr>
                                <a:rPr lang="en-US" sz="1800" i="1">
                                  <a:latin typeface="Cambria Math" panose="02040503050406030204" pitchFamily="18" charset="0"/>
                                  <a:cs typeface="Arial" panose="020B0604020202020204" pitchFamily="34" charset="0"/>
                                </a:rPr>
                              </m:ctrlPr>
                            </m:naryPr>
                            <m:sub>
                              <m:r>
                                <a:rPr lang="en-US" sz="1800" b="0" i="1" smtClean="0">
                                  <a:latin typeface="Cambria Math" panose="02040503050406030204" pitchFamily="18" charset="0"/>
                                  <a:cs typeface="Arial" panose="020B0604020202020204" pitchFamily="34" charset="0"/>
                                </a:rPr>
                                <m:t>𝑗</m:t>
                              </m:r>
                              <m:r>
                                <a:rPr lang="en-US" sz="1800" i="1">
                                  <a:latin typeface="Cambria Math" panose="02040503050406030204" pitchFamily="18" charset="0"/>
                                  <a:cs typeface="Arial" panose="020B0604020202020204" pitchFamily="34" charset="0"/>
                                </a:rPr>
                                <m:t>=1</m:t>
                              </m:r>
                            </m:sub>
                            <m:sup>
                              <m:r>
                                <a:rPr lang="en-US" sz="1800" i="1">
                                  <a:latin typeface="Cambria Math" panose="02040503050406030204" pitchFamily="18" charset="0"/>
                                  <a:cs typeface="Arial" panose="020B0604020202020204" pitchFamily="34" charset="0"/>
                                </a:rPr>
                                <m:t>𝑏</m:t>
                              </m:r>
                            </m:sup>
                            <m:e>
                              <m:nary>
                                <m:naryPr>
                                  <m:chr m:val="∑"/>
                                  <m:ctrlPr>
                                    <a:rPr lang="en-US" sz="1800" i="1">
                                      <a:latin typeface="Cambria Math" panose="02040503050406030204" pitchFamily="18" charset="0"/>
                                      <a:cs typeface="Arial" panose="020B0604020202020204" pitchFamily="34" charset="0"/>
                                    </a:rPr>
                                  </m:ctrlPr>
                                </m:naryPr>
                                <m:sub>
                                  <m:r>
                                    <a:rPr lang="en-US" sz="1800" b="0" i="1" smtClean="0">
                                      <a:latin typeface="Cambria Math" panose="02040503050406030204" pitchFamily="18" charset="0"/>
                                      <a:cs typeface="Arial" panose="020B0604020202020204" pitchFamily="34" charset="0"/>
                                    </a:rPr>
                                    <m:t>𝑘</m:t>
                                  </m:r>
                                  <m:r>
                                    <a:rPr lang="en-US" sz="1800" i="1">
                                      <a:latin typeface="Cambria Math" panose="02040503050406030204" pitchFamily="18" charset="0"/>
                                      <a:cs typeface="Arial" panose="020B0604020202020204" pitchFamily="34" charset="0"/>
                                    </a:rPr>
                                    <m:t>=1</m:t>
                                  </m:r>
                                </m:sub>
                                <m:sup>
                                  <m:r>
                                    <a:rPr lang="en-US" sz="1800" b="0" i="1" smtClean="0">
                                      <a:latin typeface="Cambria Math" panose="02040503050406030204" pitchFamily="18" charset="0"/>
                                      <a:cs typeface="Arial" panose="020B0604020202020204" pitchFamily="34" charset="0"/>
                                    </a:rPr>
                                    <m:t>𝑟</m:t>
                                  </m:r>
                                </m:sup>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𝑥</m:t>
                                              </m:r>
                                            </m:e>
                                            <m:sub>
                                              <m:r>
                                                <a:rPr lang="en-US" sz="1800" i="1">
                                                  <a:latin typeface="Cambria Math" panose="02040503050406030204" pitchFamily="18" charset="0"/>
                                                  <a:cs typeface="Arial" panose="020B0604020202020204" pitchFamily="34" charset="0"/>
                                                </a:rPr>
                                                <m:t>𝑖𝑗</m:t>
                                              </m:r>
                                              <m:r>
                                                <a:rPr lang="en-US" sz="1800" b="0" i="1" smtClean="0">
                                                  <a:latin typeface="Cambria Math" panose="02040503050406030204" pitchFamily="18" charset="0"/>
                                                  <a:cs typeface="Arial" panose="020B0604020202020204" pitchFamily="34" charset="0"/>
                                                </a:rPr>
                                                <m:t>𝑘</m:t>
                                              </m:r>
                                            </m:sub>
                                          </m:sSub>
                                          <m:r>
                                            <a:rPr lang="en-US" sz="1800" i="1">
                                              <a:latin typeface="Cambria Math" panose="02040503050406030204" pitchFamily="18" charset="0"/>
                                              <a:cs typeface="Arial" panose="020B0604020202020204" pitchFamily="34" charset="0"/>
                                            </a:rPr>
                                            <m:t>−</m:t>
                                          </m:r>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d>
                                    </m:e>
                                    <m:sup>
                                      <m:r>
                                        <a:rPr lang="en-US" sz="1800" i="1">
                                          <a:latin typeface="Cambria Math" panose="02040503050406030204" pitchFamily="18" charset="0"/>
                                          <a:cs typeface="Arial" panose="020B0604020202020204" pitchFamily="34" charset="0"/>
                                        </a:rPr>
                                        <m:t>2</m:t>
                                      </m:r>
                                    </m:sup>
                                  </m:sSup>
                                </m:e>
                              </m:nary>
                            </m:e>
                          </m:nary>
                        </m:e>
                      </m:nary>
                      <m:r>
                        <a:rPr lang="en-US" sz="1800" i="1">
                          <a:latin typeface="Cambria Math" panose="02040503050406030204" pitchFamily="18" charset="0"/>
                          <a:cs typeface="Arial" panose="020B0604020202020204" pitchFamily="34" charset="0"/>
                        </a:rPr>
                        <m:t>=</m:t>
                      </m:r>
                      <m:sSup>
                        <m:sSupPr>
                          <m:ctrlPr>
                            <a:rPr lang="en-US" sz="1800" i="1" smtClean="0">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500</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515</m:t>
                          </m:r>
                          <m:r>
                            <a:rPr lang="en-US" sz="1800" i="1">
                              <a:latin typeface="Cambria Math" panose="02040503050406030204" pitchFamily="18" charset="0"/>
                              <a:cs typeface="Arial" panose="020B0604020202020204" pitchFamily="34" charset="0"/>
                            </a:rPr>
                            <m:t>)</m:t>
                          </m:r>
                        </m:e>
                        <m:sup>
                          <m:r>
                            <a:rPr lang="en-US" sz="1800" b="0" i="1" smtClean="0">
                              <a:latin typeface="Cambria Math" panose="02040503050406030204" pitchFamily="18" charset="0"/>
                              <a:cs typeface="Arial" panose="020B0604020202020204" pitchFamily="34" charset="0"/>
                            </a:rPr>
                            <m:t>2</m:t>
                          </m:r>
                        </m:sup>
                      </m:sSup>
                      <m:r>
                        <a:rPr lang="en-US" sz="1800" b="0" i="1" smtClean="0">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580</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515</m:t>
                          </m:r>
                          <m:r>
                            <a:rPr lang="en-US" sz="1800" i="1">
                              <a:latin typeface="Cambria Math" panose="02040503050406030204" pitchFamily="18" charset="0"/>
                              <a:cs typeface="Arial" panose="020B0604020202020204" pitchFamily="34" charset="0"/>
                            </a:rPr>
                            <m:t>)</m:t>
                          </m:r>
                        </m:e>
                        <m:sup>
                          <m:r>
                            <a:rPr lang="en-US" sz="1800" i="1">
                              <a:latin typeface="Cambria Math" panose="02040503050406030204" pitchFamily="18" charset="0"/>
                              <a:cs typeface="Arial" panose="020B0604020202020204" pitchFamily="34" charset="0"/>
                            </a:rPr>
                            <m:t>2</m:t>
                          </m:r>
                        </m:sup>
                      </m:sSup>
                      <m:r>
                        <a:rPr lang="en-US" sz="1800" b="0" i="1" smtClean="0">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540</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515</m:t>
                          </m:r>
                          <m:r>
                            <a:rPr lang="en-US" sz="1800" i="1">
                              <a:latin typeface="Cambria Math" panose="02040503050406030204" pitchFamily="18" charset="0"/>
                              <a:cs typeface="Arial" panose="020B0604020202020204" pitchFamily="34" charset="0"/>
                            </a:rPr>
                            <m:t>)</m:t>
                          </m:r>
                        </m:e>
                        <m:sup>
                          <m:r>
                            <a:rPr lang="en-US" sz="1800" i="1">
                              <a:latin typeface="Cambria Math" panose="02040503050406030204" pitchFamily="18" charset="0"/>
                              <a:cs typeface="Arial" panose="020B0604020202020204" pitchFamily="34" charset="0"/>
                            </a:rPr>
                            <m:t>2</m:t>
                          </m:r>
                        </m:sup>
                      </m:sSup>
                      <m:r>
                        <a:rPr lang="en-US" sz="1800" b="0" i="1" smtClean="0">
                          <a:latin typeface="Cambria Math" panose="02040503050406030204" pitchFamily="18" charset="0"/>
                          <a:cs typeface="Arial" panose="020B0604020202020204" pitchFamily="34" charset="0"/>
                        </a:rPr>
                        <m:t>+ </m:t>
                      </m:r>
                      <m:r>
                        <m:rPr>
                          <m:nor/>
                        </m:rPr>
                        <a:rPr lang="en-US" sz="1800" b="0" i="0" smtClean="0">
                          <a:latin typeface="Cambria Math" panose="02040503050406030204" pitchFamily="18" charset="0"/>
                          <a:cs typeface="Arial" panose="020B0604020202020204" pitchFamily="34" charset="0"/>
                        </a:rPr>
                        <m:t>…</m:t>
                      </m:r>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410</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515</m:t>
                          </m:r>
                          <m:r>
                            <a:rPr lang="en-US" sz="1800" i="1">
                              <a:latin typeface="Cambria Math" panose="02040503050406030204" pitchFamily="18" charset="0"/>
                              <a:cs typeface="Arial" panose="020B0604020202020204" pitchFamily="34" charset="0"/>
                            </a:rPr>
                            <m:t>)</m:t>
                          </m:r>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82,450</m:t>
                      </m:r>
                    </m:oMath>
                  </m:oMathPara>
                </a14:m>
                <a:endParaRPr lang="en-US" sz="1800" dirty="0">
                  <a:latin typeface="Arial" panose="020B0604020202020204" pitchFamily="34" charset="0"/>
                  <a:cs typeface="Arial" panose="020B0604020202020204" pitchFamily="34" charset="0"/>
                </a:endParaRPr>
              </a:p>
              <a:p>
                <a:pPr>
                  <a:spcBef>
                    <a:spcPts val="600"/>
                  </a:spcBef>
                  <a:spcAft>
                    <a:spcPts val="0"/>
                  </a:spcAft>
                </a:pPr>
                <a:r>
                  <a:rPr lang="en-US" sz="2000" b="1" dirty="0">
                    <a:latin typeface="Arial" panose="020B0604020202020204" pitchFamily="34" charset="0"/>
                    <a:cs typeface="Arial" panose="020B0604020202020204" pitchFamily="34" charset="0"/>
                  </a:rPr>
                  <a:t>Step 2.</a:t>
                </a:r>
                <a:r>
                  <a:rPr lang="en-US" sz="2000" dirty="0">
                    <a:latin typeface="Arial" panose="020B0604020202020204" pitchFamily="34" charset="0"/>
                    <a:cs typeface="Arial" panose="020B0604020202020204" pitchFamily="34" charset="0"/>
                  </a:rPr>
                  <a:t>	Compute the sum of squares due to factor A (SSA)</a:t>
                </a:r>
              </a:p>
              <a:p>
                <a:pPr>
                  <a:spcBef>
                    <a:spcPts val="600"/>
                  </a:spcBef>
                  <a:spcAft>
                    <a:spcPts val="0"/>
                  </a:spcAft>
                </a:pPr>
                <a14:m>
                  <m:oMathPara xmlns:m="http://schemas.openxmlformats.org/officeDocument/2006/math">
                    <m:oMathParaPr>
                      <m:jc m:val="left"/>
                    </m:oMathParaPr>
                    <m:oMath xmlns:m="http://schemas.openxmlformats.org/officeDocument/2006/math">
                      <m:r>
                        <a:rPr lang="en-US" sz="1800" b="0" i="1" smtClean="0">
                          <a:solidFill>
                            <a:srgbClr val="000000"/>
                          </a:solidFill>
                          <a:latin typeface="Cambria Math" panose="02040503050406030204" pitchFamily="18" charset="0"/>
                          <a:cs typeface="Arial" panose="020B0604020202020204" pitchFamily="34" charset="0"/>
                        </a:rPr>
                        <m:t>𝑆𝑆𝐴</m:t>
                      </m:r>
                      <m:r>
                        <a:rPr lang="en-US" sz="1800" b="0" i="1" smtClean="0">
                          <a:solidFill>
                            <a:srgbClr val="000000"/>
                          </a:solidFill>
                          <a:latin typeface="Cambria Math" panose="02040503050406030204" pitchFamily="18" charset="0"/>
                          <a:cs typeface="Arial" panose="020B0604020202020204" pitchFamily="34" charset="0"/>
                        </a:rPr>
                        <m:t>=</m:t>
                      </m:r>
                      <m:r>
                        <a:rPr lang="en-US" sz="1800" b="0" i="1" smtClean="0">
                          <a:solidFill>
                            <a:srgbClr val="000000"/>
                          </a:solidFill>
                          <a:latin typeface="Cambria Math" panose="02040503050406030204" pitchFamily="18" charset="0"/>
                          <a:cs typeface="Arial" panose="020B0604020202020204" pitchFamily="34" charset="0"/>
                        </a:rPr>
                        <m:t>𝑏𝑟</m:t>
                      </m:r>
                      <m:nary>
                        <m:naryPr>
                          <m:chr m:val="∑"/>
                          <m:ctrlPr>
                            <a:rPr lang="en-US" sz="1800" i="1">
                              <a:latin typeface="Cambria Math" panose="02040503050406030204" pitchFamily="18" charset="0"/>
                              <a:cs typeface="Arial" panose="020B0604020202020204" pitchFamily="34" charset="0"/>
                            </a:rPr>
                          </m:ctrlPr>
                        </m:naryPr>
                        <m:sub>
                          <m:r>
                            <a:rPr lang="en-US" sz="1800" b="0" i="1" smtClean="0">
                              <a:latin typeface="Cambria Math" panose="02040503050406030204" pitchFamily="18" charset="0"/>
                              <a:cs typeface="Arial" panose="020B0604020202020204" pitchFamily="34" charset="0"/>
                            </a:rPr>
                            <m:t>𝑖</m:t>
                          </m:r>
                          <m:r>
                            <a:rPr lang="en-US" sz="1800" i="1">
                              <a:latin typeface="Cambria Math" panose="02040503050406030204" pitchFamily="18" charset="0"/>
                              <a:cs typeface="Arial" panose="020B0604020202020204" pitchFamily="34" charset="0"/>
                            </a:rPr>
                            <m:t>=1</m:t>
                          </m:r>
                        </m:sub>
                        <m:sup>
                          <m:r>
                            <a:rPr lang="en-US" sz="1800" b="0" i="1" smtClean="0">
                              <a:latin typeface="Cambria Math" panose="02040503050406030204" pitchFamily="18" charset="0"/>
                              <a:cs typeface="Arial" panose="020B0604020202020204" pitchFamily="34" charset="0"/>
                            </a:rPr>
                            <m:t>𝑎</m:t>
                          </m:r>
                        </m:sup>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sSub>
                                    <m:sSubPr>
                                      <m:ctrlPr>
                                        <a:rPr lang="en-US" sz="1800" i="1" smtClean="0">
                                          <a:latin typeface="Cambria Math" panose="02040503050406030204" pitchFamily="18" charset="0"/>
                                          <a:cs typeface="Arial" panose="020B0604020202020204" pitchFamily="34" charset="0"/>
                                        </a:rPr>
                                      </m:ctrlPr>
                                    </m:sSubPr>
                                    <m:e>
                                      <m:acc>
                                        <m:accPr>
                                          <m:chr m:val="̅"/>
                                          <m:ctrlPr>
                                            <a:rPr lang="en-US" sz="1800" b="0" i="1" smtClean="0">
                                              <a:solidFill>
                                                <a:srgbClr val="000000"/>
                                              </a:solidFill>
                                              <a:latin typeface="Cambria Math" panose="02040503050406030204" pitchFamily="18" charset="0"/>
                                              <a:cs typeface="Arial" panose="020B0604020202020204" pitchFamily="34" charset="0"/>
                                            </a:rPr>
                                          </m:ctrlPr>
                                        </m:accPr>
                                        <m:e>
                                          <m:r>
                                            <a:rPr lang="en-US" sz="1800" b="0" i="1" smtClean="0">
                                              <a:solidFill>
                                                <a:srgbClr val="000000"/>
                                              </a:solidFill>
                                              <a:latin typeface="Cambria Math" panose="02040503050406030204" pitchFamily="18" charset="0"/>
                                              <a:cs typeface="Arial" panose="020B0604020202020204" pitchFamily="34" charset="0"/>
                                            </a:rPr>
                                            <m:t>𝑥</m:t>
                                          </m:r>
                                        </m:e>
                                      </m:acc>
                                    </m:e>
                                    <m:sub>
                                      <m:r>
                                        <a:rPr lang="en-US" sz="1800" b="0" i="1" smtClean="0">
                                          <a:latin typeface="Cambria Math" panose="02040503050406030204" pitchFamily="18" charset="0"/>
                                          <a:cs typeface="Arial" panose="020B0604020202020204" pitchFamily="34" charset="0"/>
                                        </a:rPr>
                                        <m:t>𝑖</m:t>
                                      </m:r>
                                      <m:r>
                                        <a:rPr lang="en-US" sz="1800" i="1" smtClean="0">
                                          <a:latin typeface="Cambria Math" panose="02040503050406030204" pitchFamily="18" charset="0"/>
                                          <a:ea typeface="Cambria Math" panose="02040503050406030204" pitchFamily="18" charset="0"/>
                                          <a:cs typeface="Arial" panose="020B0604020202020204" pitchFamily="34" charset="0"/>
                                        </a:rPr>
                                        <m:t>∙</m:t>
                                      </m:r>
                                    </m:sub>
                                  </m:sSub>
                                  <m:r>
                                    <a:rPr lang="en-US" sz="1800" i="1">
                                      <a:latin typeface="Cambria Math" panose="02040503050406030204" pitchFamily="18" charset="0"/>
                                      <a:cs typeface="Arial" panose="020B0604020202020204" pitchFamily="34" charset="0"/>
                                    </a:rPr>
                                    <m:t>−</m:t>
                                  </m:r>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d>
                            </m:e>
                            <m:sup>
                              <m:r>
                                <a:rPr lang="en-US" sz="1800" i="1">
                                  <a:latin typeface="Cambria Math" panose="02040503050406030204" pitchFamily="18" charset="0"/>
                                  <a:cs typeface="Arial" panose="020B0604020202020204" pitchFamily="34" charset="0"/>
                                </a:rPr>
                                <m:t>2</m:t>
                              </m:r>
                            </m:sup>
                          </m:sSup>
                        </m:e>
                      </m:nary>
                      <m:r>
                        <a:rPr lang="en-US" sz="1800" b="0" i="1" smtClean="0">
                          <a:latin typeface="Cambria Math" panose="02040503050406030204" pitchFamily="18" charset="0"/>
                          <a:cs typeface="Arial" panose="020B0604020202020204" pitchFamily="34" charset="0"/>
                        </a:rPr>
                        <m:t>=(3)(2)</m:t>
                      </m:r>
                      <m:d>
                        <m:dPr>
                          <m:begChr m:val="["/>
                          <m:endChr m:val="]"/>
                          <m:ctrlPr>
                            <a:rPr lang="en-US" sz="1800" b="0" i="1" smtClean="0">
                              <a:latin typeface="Cambria Math" panose="02040503050406030204" pitchFamily="18" charset="0"/>
                              <a:cs typeface="Arial" panose="020B0604020202020204" pitchFamily="34" charset="0"/>
                            </a:rPr>
                          </m:ctrlPr>
                        </m:dPr>
                        <m:e>
                          <m:sSup>
                            <m:sSupPr>
                              <m:ctrlPr>
                                <a:rPr lang="en-US" sz="1800" i="1">
                                  <a:latin typeface="Cambria Math" panose="02040503050406030204" pitchFamily="18" charset="0"/>
                                  <a:cs typeface="Arial" panose="020B0604020202020204" pitchFamily="34" charset="0"/>
                                </a:rPr>
                              </m:ctrlPr>
                            </m:sSupPr>
                            <m:e>
                              <m:d>
                                <m:dPr>
                                  <m:ctrlPr>
                                    <a:rPr lang="en-US" sz="1800" b="0" i="1">
                                      <a:latin typeface="Cambria Math" panose="02040503050406030204" pitchFamily="18" charset="0"/>
                                      <a:cs typeface="Arial" panose="020B0604020202020204" pitchFamily="34" charset="0"/>
                                    </a:rPr>
                                  </m:ctrlPr>
                                </m:dPr>
                                <m:e>
                                  <m:r>
                                    <a:rPr lang="en-US" sz="1800" b="0" i="1" smtClean="0">
                                      <a:latin typeface="Cambria Math" panose="02040503050406030204" pitchFamily="18" charset="0"/>
                                      <a:cs typeface="Arial" panose="020B0604020202020204" pitchFamily="34" charset="0"/>
                                    </a:rPr>
                                    <m:t>493.33</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515</m:t>
                                  </m:r>
                                </m:e>
                              </m:d>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d>
                                <m:dPr>
                                  <m:ctrlPr>
                                    <a:rPr lang="en-US" sz="1800" b="0" i="1">
                                      <a:latin typeface="Cambria Math" panose="02040503050406030204" pitchFamily="18" charset="0"/>
                                      <a:cs typeface="Arial" panose="020B0604020202020204" pitchFamily="34" charset="0"/>
                                    </a:rPr>
                                  </m:ctrlPr>
                                </m:dPr>
                                <m:e>
                                  <m:r>
                                    <a:rPr lang="en-US" sz="1800" b="0" i="1" smtClean="0">
                                      <a:latin typeface="Cambria Math" panose="02040503050406030204" pitchFamily="18" charset="0"/>
                                      <a:cs typeface="Arial" panose="020B0604020202020204" pitchFamily="34" charset="0"/>
                                    </a:rPr>
                                    <m:t>513</m:t>
                                  </m:r>
                                  <m:r>
                                    <a:rPr lang="en-US" sz="1800" i="1">
                                      <a:latin typeface="Cambria Math" panose="02040503050406030204" pitchFamily="18" charset="0"/>
                                      <a:cs typeface="Arial" panose="020B0604020202020204" pitchFamily="34" charset="0"/>
                                    </a:rPr>
                                    <m:t>.33−515</m:t>
                                  </m:r>
                                </m:e>
                              </m:d>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r>
                                    <a:rPr lang="en-US" sz="1800" i="1">
                                      <a:latin typeface="Cambria Math" panose="02040503050406030204" pitchFamily="18" charset="0"/>
                                      <a:cs typeface="Arial" panose="020B0604020202020204" pitchFamily="34" charset="0"/>
                                    </a:rPr>
                                    <m:t>5</m:t>
                                  </m:r>
                                  <m:r>
                                    <a:rPr lang="en-US" sz="1800" b="0" i="1" smtClean="0">
                                      <a:latin typeface="Cambria Math" panose="02040503050406030204" pitchFamily="18" charset="0"/>
                                      <a:cs typeface="Arial" panose="020B0604020202020204" pitchFamily="34" charset="0"/>
                                    </a:rPr>
                                    <m:t>38</m:t>
                                  </m:r>
                                  <m:r>
                                    <a:rPr lang="en-US" sz="1800" i="1">
                                      <a:latin typeface="Cambria Math" panose="02040503050406030204" pitchFamily="18" charset="0"/>
                                      <a:cs typeface="Arial" panose="020B0604020202020204" pitchFamily="34" charset="0"/>
                                    </a:rPr>
                                    <m:t>.33−515</m:t>
                                  </m:r>
                                </m:e>
                              </m:d>
                            </m:e>
                            <m:sup>
                              <m:r>
                                <a:rPr lang="en-US" sz="1800" i="1">
                                  <a:latin typeface="Cambria Math" panose="02040503050406030204" pitchFamily="18" charset="0"/>
                                  <a:cs typeface="Arial" panose="020B0604020202020204" pitchFamily="34" charset="0"/>
                                </a:rPr>
                                <m:t>2</m:t>
                              </m:r>
                            </m:sup>
                          </m:sSup>
                        </m:e>
                      </m:d>
                      <m:r>
                        <a:rPr lang="en-US" sz="1800" b="0" i="1" smtClean="0">
                          <a:latin typeface="Cambria Math" panose="02040503050406030204" pitchFamily="18" charset="0"/>
                          <a:cs typeface="Arial" panose="020B0604020202020204" pitchFamily="34" charset="0"/>
                        </a:rPr>
                        <m:t>=6,100</m:t>
                      </m:r>
                    </m:oMath>
                  </m:oMathPara>
                </a14:m>
                <a:endParaRPr lang="en-US" sz="1800" dirty="0">
                  <a:latin typeface="Arial" panose="020B0604020202020204" pitchFamily="34" charset="0"/>
                  <a:cs typeface="Arial" panose="020B0604020202020204" pitchFamily="34" charset="0"/>
                </a:endParaRPr>
              </a:p>
              <a:p>
                <a:pPr>
                  <a:spcBef>
                    <a:spcPts val="600"/>
                  </a:spcBef>
                  <a:spcAft>
                    <a:spcPts val="0"/>
                  </a:spcAft>
                </a:pPr>
                <a:r>
                  <a:rPr lang="en-US" sz="2000" b="1" dirty="0">
                    <a:latin typeface="Arial" panose="020B0604020202020204" pitchFamily="34" charset="0"/>
                    <a:cs typeface="Arial" panose="020B0604020202020204" pitchFamily="34" charset="0"/>
                  </a:rPr>
                  <a:t>Step 3.</a:t>
                </a:r>
                <a:r>
                  <a:rPr lang="en-US" sz="2000" dirty="0">
                    <a:latin typeface="Arial" panose="020B0604020202020204" pitchFamily="34" charset="0"/>
                    <a:cs typeface="Arial" panose="020B0604020202020204" pitchFamily="34" charset="0"/>
                  </a:rPr>
                  <a:t>	Compute the sum of squares due to factor B (SSB)</a:t>
                </a:r>
              </a:p>
              <a:p>
                <a:pPr>
                  <a:spcBef>
                    <a:spcPts val="600"/>
                  </a:spcBef>
                  <a:spcAft>
                    <a:spcPts val="0"/>
                  </a:spcAft>
                </a:pPr>
                <a14:m>
                  <m:oMathPara xmlns:m="http://schemas.openxmlformats.org/officeDocument/2006/math">
                    <m:oMathParaPr>
                      <m:jc m:val="left"/>
                    </m:oMathParaPr>
                    <m:oMath xmlns:m="http://schemas.openxmlformats.org/officeDocument/2006/math">
                      <m:r>
                        <a:rPr lang="en-US" sz="1800" i="1">
                          <a:latin typeface="Cambria Math" panose="02040503050406030204" pitchFamily="18" charset="0"/>
                          <a:cs typeface="Arial" panose="020B0604020202020204" pitchFamily="34" charset="0"/>
                        </a:rPr>
                        <m:t>𝑆𝑆</m:t>
                      </m:r>
                      <m:r>
                        <a:rPr lang="en-US" sz="1800" b="0" i="1" smtClean="0">
                          <a:latin typeface="Cambria Math" panose="02040503050406030204" pitchFamily="18" charset="0"/>
                          <a:cs typeface="Arial" panose="020B0604020202020204" pitchFamily="34" charset="0"/>
                        </a:rPr>
                        <m:t>𝐵</m:t>
                      </m:r>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𝑎</m:t>
                      </m:r>
                      <m:r>
                        <a:rPr lang="en-US" sz="1800" i="1">
                          <a:latin typeface="Cambria Math" panose="02040503050406030204" pitchFamily="18" charset="0"/>
                          <a:cs typeface="Arial" panose="020B0604020202020204" pitchFamily="34" charset="0"/>
                        </a:rPr>
                        <m:t>𝑟</m:t>
                      </m:r>
                      <m:nary>
                        <m:naryPr>
                          <m:chr m:val="∑"/>
                          <m:ctrlPr>
                            <a:rPr lang="en-US" sz="1800" i="1">
                              <a:latin typeface="Cambria Math" panose="02040503050406030204" pitchFamily="18" charset="0"/>
                              <a:cs typeface="Arial" panose="020B0604020202020204" pitchFamily="34" charset="0"/>
                            </a:rPr>
                          </m:ctrlPr>
                        </m:naryPr>
                        <m:sub>
                          <m:r>
                            <a:rPr lang="en-US" sz="1800" b="0" i="1" smtClean="0">
                              <a:latin typeface="Cambria Math" panose="02040503050406030204" pitchFamily="18" charset="0"/>
                              <a:cs typeface="Arial" panose="020B0604020202020204" pitchFamily="34" charset="0"/>
                            </a:rPr>
                            <m:t>𝑗</m:t>
                          </m:r>
                          <m:r>
                            <a:rPr lang="en-US" sz="1800" i="1">
                              <a:latin typeface="Cambria Math" panose="02040503050406030204" pitchFamily="18" charset="0"/>
                              <a:cs typeface="Arial" panose="020B0604020202020204" pitchFamily="34" charset="0"/>
                            </a:rPr>
                            <m:t>=1</m:t>
                          </m:r>
                        </m:sub>
                        <m:sup>
                          <m:r>
                            <a:rPr lang="en-US" sz="1800" b="0" i="1" smtClean="0">
                              <a:latin typeface="Cambria Math" panose="02040503050406030204" pitchFamily="18" charset="0"/>
                              <a:cs typeface="Arial" panose="020B0604020202020204" pitchFamily="34" charset="0"/>
                            </a:rPr>
                            <m:t>𝑏</m:t>
                          </m:r>
                        </m:sup>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cs typeface="Arial" panose="020B0604020202020204" pitchFamily="34" charset="0"/>
                                        </a:rPr>
                                      </m:ctrlPr>
                                    </m:sSubPr>
                                    <m:e>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sub>
                                      <m:r>
                                        <a:rPr lang="en-US" sz="1800" i="1">
                                          <a:latin typeface="Cambria Math" panose="02040503050406030204" pitchFamily="18" charset="0"/>
                                          <a:ea typeface="Cambria Math" panose="02040503050406030204" pitchFamily="18" charset="0"/>
                                          <a:cs typeface="Arial" panose="020B0604020202020204" pitchFamily="34" charset="0"/>
                                        </a:rPr>
                                        <m:t>∙</m:t>
                                      </m:r>
                                      <m:r>
                                        <a:rPr lang="en-US" sz="1800" b="0" i="1" smtClean="0">
                                          <a:latin typeface="Cambria Math" panose="02040503050406030204" pitchFamily="18" charset="0"/>
                                          <a:ea typeface="Cambria Math" panose="02040503050406030204" pitchFamily="18" charset="0"/>
                                          <a:cs typeface="Arial" panose="020B0604020202020204" pitchFamily="34" charset="0"/>
                                        </a:rPr>
                                        <m:t>𝑗</m:t>
                                      </m:r>
                                    </m:sub>
                                  </m:sSub>
                                  <m:r>
                                    <a:rPr lang="en-US" sz="1800" i="1">
                                      <a:latin typeface="Cambria Math" panose="02040503050406030204" pitchFamily="18" charset="0"/>
                                      <a:cs typeface="Arial" panose="020B0604020202020204" pitchFamily="34" charset="0"/>
                                    </a:rPr>
                                    <m:t>−</m:t>
                                  </m:r>
                                  <m:acc>
                                    <m:accPr>
                                      <m:chr m:val="̿"/>
                                      <m:ctrlPr>
                                        <a:rPr lang="en-US" sz="1800" i="1">
                                          <a:latin typeface="Cambria Math" panose="02040503050406030204" pitchFamily="18" charset="0"/>
                                          <a:cs typeface="Arial" panose="020B0604020202020204" pitchFamily="34" charset="0"/>
                                        </a:rPr>
                                      </m:ctrlPr>
                                    </m:accPr>
                                    <m:e>
                                      <m:r>
                                        <a:rPr lang="en-US" sz="1800" i="1">
                                          <a:latin typeface="Cambria Math" panose="02040503050406030204" pitchFamily="18" charset="0"/>
                                          <a:cs typeface="Arial" panose="020B0604020202020204" pitchFamily="34" charset="0"/>
                                        </a:rPr>
                                        <m:t>𝑥</m:t>
                                      </m:r>
                                    </m:e>
                                  </m:acc>
                                </m:e>
                              </m:d>
                            </m:e>
                            <m:sup>
                              <m:r>
                                <a:rPr lang="en-US" sz="1800" i="1">
                                  <a:latin typeface="Cambria Math" panose="02040503050406030204" pitchFamily="18" charset="0"/>
                                  <a:cs typeface="Arial" panose="020B0604020202020204" pitchFamily="34" charset="0"/>
                                </a:rPr>
                                <m:t>2</m:t>
                              </m:r>
                            </m:sup>
                          </m:sSup>
                        </m:e>
                      </m:nary>
                      <m:r>
                        <a:rPr lang="en-US" sz="1800" b="0" i="1" smtClean="0">
                          <a:latin typeface="Cambria Math" panose="02040503050406030204" pitchFamily="18" charset="0"/>
                          <a:cs typeface="Arial" panose="020B0604020202020204" pitchFamily="34" charset="0"/>
                        </a:rPr>
                        <m:t>=</m:t>
                      </m:r>
                      <m:r>
                        <a:rPr lang="en-US" sz="1800" i="1">
                          <a:latin typeface="Cambria Math" panose="02040503050406030204" pitchFamily="18" charset="0"/>
                          <a:cs typeface="Arial" panose="020B0604020202020204" pitchFamily="34" charset="0"/>
                        </a:rPr>
                        <m:t>(3)(2)</m:t>
                      </m:r>
                      <m:d>
                        <m:dPr>
                          <m:begChr m:val="["/>
                          <m:endChr m:val="]"/>
                          <m:ctrlPr>
                            <a:rPr lang="en-US" sz="1800" i="1">
                              <a:latin typeface="Cambria Math" panose="02040503050406030204" pitchFamily="18" charset="0"/>
                              <a:cs typeface="Arial" panose="020B0604020202020204" pitchFamily="34" charset="0"/>
                            </a:rPr>
                          </m:ctrlPr>
                        </m:dPr>
                        <m:e>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r>
                                    <a:rPr lang="en-US" sz="1800" b="0" i="1" smtClean="0">
                                      <a:latin typeface="Cambria Math" panose="02040503050406030204" pitchFamily="18" charset="0"/>
                                      <a:cs typeface="Arial" panose="020B0604020202020204" pitchFamily="34" charset="0"/>
                                    </a:rPr>
                                    <m:t>540</m:t>
                                  </m:r>
                                  <m:r>
                                    <a:rPr lang="en-US" sz="1800" i="1">
                                      <a:latin typeface="Cambria Math" panose="02040503050406030204" pitchFamily="18" charset="0"/>
                                      <a:cs typeface="Arial" panose="020B0604020202020204" pitchFamily="34" charset="0"/>
                                    </a:rPr>
                                    <m:t>−515</m:t>
                                  </m:r>
                                </m:e>
                              </m:d>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r>
                                    <a:rPr lang="en-US" sz="1800" i="1">
                                      <a:latin typeface="Cambria Math" panose="02040503050406030204" pitchFamily="18" charset="0"/>
                                      <a:cs typeface="Arial" panose="020B0604020202020204" pitchFamily="34" charset="0"/>
                                    </a:rPr>
                                    <m:t>5</m:t>
                                  </m:r>
                                  <m:r>
                                    <a:rPr lang="en-US" sz="1800" b="0" i="1" smtClean="0">
                                      <a:latin typeface="Cambria Math" panose="02040503050406030204" pitchFamily="18" charset="0"/>
                                      <a:cs typeface="Arial" panose="020B0604020202020204" pitchFamily="34" charset="0"/>
                                    </a:rPr>
                                    <m:t>60</m:t>
                                  </m:r>
                                  <m:r>
                                    <a:rPr lang="en-US" sz="1800" i="1">
                                      <a:latin typeface="Cambria Math" panose="02040503050406030204" pitchFamily="18" charset="0"/>
                                      <a:cs typeface="Arial" panose="020B0604020202020204" pitchFamily="34" charset="0"/>
                                    </a:rPr>
                                    <m:t>−515</m:t>
                                  </m:r>
                                </m:e>
                              </m:d>
                            </m:e>
                            <m:sup>
                              <m:r>
                                <a:rPr lang="en-US" sz="1800" i="1">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m:t>
                          </m:r>
                          <m:sSup>
                            <m:sSupPr>
                              <m:ctrlPr>
                                <a:rPr lang="en-US" sz="1800" i="1">
                                  <a:latin typeface="Cambria Math" panose="02040503050406030204" pitchFamily="18" charset="0"/>
                                  <a:cs typeface="Arial" panose="020B0604020202020204" pitchFamily="34" charset="0"/>
                                </a:rPr>
                              </m:ctrlPr>
                            </m:sSupPr>
                            <m:e>
                              <m:d>
                                <m:dPr>
                                  <m:ctrlPr>
                                    <a:rPr lang="en-US" sz="1800" i="1">
                                      <a:latin typeface="Cambria Math" panose="02040503050406030204" pitchFamily="18" charset="0"/>
                                      <a:cs typeface="Arial" panose="020B0604020202020204" pitchFamily="34" charset="0"/>
                                    </a:rPr>
                                  </m:ctrlPr>
                                </m:dPr>
                                <m:e>
                                  <m:r>
                                    <a:rPr lang="en-US" sz="1800" b="0" i="1" smtClean="0">
                                      <a:latin typeface="Cambria Math" panose="02040503050406030204" pitchFamily="18" charset="0"/>
                                      <a:cs typeface="Arial" panose="020B0604020202020204" pitchFamily="34" charset="0"/>
                                    </a:rPr>
                                    <m:t>445</m:t>
                                  </m:r>
                                  <m:r>
                                    <a:rPr lang="en-US" sz="1800" i="1">
                                      <a:latin typeface="Cambria Math" panose="02040503050406030204" pitchFamily="18" charset="0"/>
                                      <a:cs typeface="Arial" panose="020B0604020202020204" pitchFamily="34" charset="0"/>
                                    </a:rPr>
                                    <m:t>−515</m:t>
                                  </m:r>
                                </m:e>
                              </m:d>
                            </m:e>
                            <m:sup>
                              <m:r>
                                <a:rPr lang="en-US" sz="1800" i="1">
                                  <a:latin typeface="Cambria Math" panose="02040503050406030204" pitchFamily="18" charset="0"/>
                                  <a:cs typeface="Arial" panose="020B0604020202020204" pitchFamily="34" charset="0"/>
                                </a:rPr>
                                <m:t>2</m:t>
                              </m:r>
                            </m:sup>
                          </m:sSup>
                        </m:e>
                      </m:d>
                      <m:r>
                        <a:rPr lang="en-US" sz="1800" i="1">
                          <a:latin typeface="Cambria Math" panose="02040503050406030204" pitchFamily="18" charset="0"/>
                          <a:cs typeface="Arial" panose="020B0604020202020204" pitchFamily="34" charset="0"/>
                        </a:rPr>
                        <m:t>=</m:t>
                      </m:r>
                      <m:r>
                        <a:rPr lang="en-US" sz="1800" b="0" i="1" smtClean="0">
                          <a:latin typeface="Cambria Math" panose="02040503050406030204" pitchFamily="18" charset="0"/>
                          <a:cs typeface="Arial" panose="020B0604020202020204" pitchFamily="34" charset="0"/>
                        </a:rPr>
                        <m:t>45,3</m:t>
                      </m:r>
                      <m:r>
                        <a:rPr lang="en-US" sz="1800" i="1">
                          <a:latin typeface="Cambria Math" panose="02040503050406030204" pitchFamily="18" charset="0"/>
                          <a:cs typeface="Arial" panose="020B0604020202020204" pitchFamily="34" charset="0"/>
                        </a:rPr>
                        <m:t>00</m:t>
                      </m:r>
                    </m:oMath>
                  </m:oMathPara>
                </a14:m>
                <a:endParaRPr lang="en-US" sz="1800" dirty="0">
                  <a:latin typeface="Arial" panose="020B0604020202020204" pitchFamily="34" charset="0"/>
                  <a:cs typeface="Arial" panose="020B0604020202020204" pitchFamily="34" charset="0"/>
                </a:endParaRPr>
              </a:p>
              <a:p>
                <a:pPr>
                  <a:spcBef>
                    <a:spcPts val="600"/>
                  </a:spcBef>
                  <a:spcAft>
                    <a:spcPts val="0"/>
                  </a:spcAft>
                </a:pPr>
                <a:r>
                  <a:rPr lang="en-US" sz="2000" b="1" dirty="0">
                    <a:latin typeface="Arial" panose="020B0604020202020204" pitchFamily="34" charset="0"/>
                    <a:cs typeface="Arial" panose="020B0604020202020204" pitchFamily="34" charset="0"/>
                  </a:rPr>
                  <a:t>Step 4.</a:t>
                </a:r>
                <a:r>
                  <a:rPr lang="en-US" sz="2000" dirty="0">
                    <a:latin typeface="Arial" panose="020B0604020202020204" pitchFamily="34" charset="0"/>
                    <a:cs typeface="Arial" panose="020B0604020202020204" pitchFamily="34" charset="0"/>
                  </a:rPr>
                  <a:t>	Compute the sum of squares for interaction (SSAB)</a:t>
                </a:r>
              </a:p>
              <a:p>
                <a:pPr>
                  <a:spcBef>
                    <a:spcPts val="600"/>
                  </a:spcBef>
                  <a:spcAft>
                    <a:spcPts val="0"/>
                  </a:spcAft>
                </a:pPr>
                <a14:m>
                  <m:oMathPara xmlns:m="http://schemas.openxmlformats.org/officeDocument/2006/math">
                    <m:oMathParaPr>
                      <m:jc m:val="left"/>
                    </m:oMathParaPr>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𝑆𝑆𝐴𝐵</m:t>
                      </m:r>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𝑟</m:t>
                      </m:r>
                      <m:nary>
                        <m:naryPr>
                          <m:chr m:val="∑"/>
                          <m:ctrlPr>
                            <a:rPr lang="en-US" sz="2000" b="0" i="1" dirty="0" smtClean="0">
                              <a:solidFill>
                                <a:srgbClr val="000000"/>
                              </a:solidFill>
                              <a:latin typeface="Cambria Math" panose="02040503050406030204" pitchFamily="18" charset="0"/>
                              <a:cs typeface="Arial" panose="020B0604020202020204" pitchFamily="34" charset="0"/>
                            </a:rPr>
                          </m:ctrlPr>
                        </m:naryPr>
                        <m:sub>
                          <m:r>
                            <m:rPr>
                              <m:brk m:alnAt="23"/>
                            </m:rPr>
                            <a:rPr lang="en-US" sz="2000" b="0" i="1" dirty="0" smtClean="0">
                              <a:solidFill>
                                <a:srgbClr val="000000"/>
                              </a:solidFill>
                              <a:latin typeface="Cambria Math" panose="02040503050406030204" pitchFamily="18" charset="0"/>
                              <a:cs typeface="Arial" panose="020B0604020202020204" pitchFamily="34" charset="0"/>
                            </a:rPr>
                            <m:t>𝑖</m:t>
                          </m:r>
                          <m:r>
                            <a:rPr lang="en-US" sz="2000" b="0" i="1" dirty="0" smtClean="0">
                              <a:solidFill>
                                <a:srgbClr val="000000"/>
                              </a:solidFill>
                              <a:latin typeface="Cambria Math" panose="02040503050406030204" pitchFamily="18" charset="0"/>
                              <a:cs typeface="Arial" panose="020B0604020202020204" pitchFamily="34" charset="0"/>
                            </a:rPr>
                            <m:t>=1</m:t>
                          </m:r>
                        </m:sub>
                        <m:sup>
                          <m:r>
                            <a:rPr lang="en-US" sz="2000" b="0" i="1" smtClean="0">
                              <a:solidFill>
                                <a:srgbClr val="000000"/>
                              </a:solidFill>
                              <a:latin typeface="Cambria Math" panose="02040503050406030204" pitchFamily="18" charset="0"/>
                              <a:cs typeface="Arial" panose="020B0604020202020204" pitchFamily="34" charset="0"/>
                            </a:rPr>
                            <m:t>𝑎</m:t>
                          </m:r>
                        </m:sup>
                        <m:e>
                          <m:nary>
                            <m:naryPr>
                              <m:chr m:val="∑"/>
                              <m:ctrlPr>
                                <a:rPr lang="en-US" sz="2000" i="1">
                                  <a:latin typeface="Cambria Math" panose="02040503050406030204" pitchFamily="18" charset="0"/>
                                  <a:cs typeface="Arial" panose="020B0604020202020204" pitchFamily="34" charset="0"/>
                                </a:rPr>
                              </m:ctrlPr>
                            </m:naryPr>
                            <m:sub>
                              <m:r>
                                <a:rPr lang="en-US" sz="2000" b="0" i="1" smtClean="0">
                                  <a:latin typeface="Cambria Math" panose="02040503050406030204" pitchFamily="18" charset="0"/>
                                  <a:cs typeface="Arial" panose="020B0604020202020204" pitchFamily="34" charset="0"/>
                                </a:rPr>
                                <m:t>𝑗</m:t>
                              </m:r>
                              <m:r>
                                <a:rPr lang="en-US" sz="2000" i="1">
                                  <a:latin typeface="Cambria Math" panose="02040503050406030204" pitchFamily="18" charset="0"/>
                                  <a:cs typeface="Arial" panose="020B0604020202020204" pitchFamily="34" charset="0"/>
                                </a:rPr>
                                <m:t>=1</m:t>
                              </m:r>
                            </m:sub>
                            <m:sup>
                              <m:r>
                                <a:rPr lang="en-US" sz="2000" i="1">
                                  <a:latin typeface="Cambria Math" panose="02040503050406030204" pitchFamily="18" charset="0"/>
                                  <a:cs typeface="Arial" panose="020B0604020202020204" pitchFamily="34" charset="0"/>
                                </a:rPr>
                                <m:t>𝑏</m:t>
                              </m:r>
                            </m:sup>
                            <m:e>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𝑖</m:t>
                                          </m:r>
                                          <m:r>
                                            <a:rPr lang="en-US" sz="2000" i="1">
                                              <a:latin typeface="Cambria Math" panose="02040503050406030204" pitchFamily="18" charset="0"/>
                                              <a:ea typeface="Cambria Math" panose="02040503050406030204" pitchFamily="18" charset="0"/>
                                              <a:cs typeface="Arial" panose="020B0604020202020204" pitchFamily="34" charset="0"/>
                                            </a:rPr>
                                            <m:t>𝑗</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cs typeface="Arial" panose="020B0604020202020204" pitchFamily="34" charset="0"/>
                                            </a:rPr>
                                            <m:t>𝑖</m:t>
                                          </m:r>
                                          <m:r>
                                            <a:rPr lang="en-US" sz="2000" i="1">
                                              <a:latin typeface="Cambria Math" panose="02040503050406030204" pitchFamily="18" charset="0"/>
                                              <a:ea typeface="Cambria Math" panose="02040503050406030204" pitchFamily="18" charset="0"/>
                                              <a:cs typeface="Arial" panose="020B0604020202020204" pitchFamily="34" charset="0"/>
                                            </a:rPr>
                                            <m:t>∙</m:t>
                                          </m:r>
                                        </m:sub>
                                      </m:sSub>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𝑗</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e>
                                  </m:d>
                                </m:e>
                                <m:sup>
                                  <m:r>
                                    <a:rPr lang="en-US" sz="2000" i="1">
                                      <a:latin typeface="Cambria Math" panose="02040503050406030204" pitchFamily="18" charset="0"/>
                                      <a:cs typeface="Arial" panose="020B0604020202020204" pitchFamily="34" charset="0"/>
                                    </a:rPr>
                                    <m:t>2</m:t>
                                  </m:r>
                                </m:sup>
                              </m:sSup>
                            </m:e>
                          </m:nary>
                        </m:e>
                      </m:nary>
                      <m:r>
                        <a:rPr lang="en-US" sz="2000" b="0" i="1" smtClean="0">
                          <a:latin typeface="Cambria Math" panose="02040503050406030204" pitchFamily="18" charset="0"/>
                          <a:cs typeface="Arial" panose="020B0604020202020204" pitchFamily="34" charset="0"/>
                        </a:rPr>
                        <m:t>=2[</m:t>
                      </m:r>
                      <m:sSup>
                        <m:sSupPr>
                          <m:ctrlPr>
                            <a:rPr lang="en-US" sz="2000" i="1">
                              <a:latin typeface="Cambria Math" panose="02040503050406030204" pitchFamily="18" charset="0"/>
                              <a:cs typeface="Arial" panose="020B0604020202020204" pitchFamily="34" charset="0"/>
                            </a:rPr>
                          </m:ctrlPr>
                        </m:sSupPr>
                        <m:e>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540−</m:t>
                              </m:r>
                              <m:r>
                                <a:rPr lang="en-US" sz="2000" b="0" i="1" smtClean="0">
                                  <a:latin typeface="Cambria Math" panose="02040503050406030204" pitchFamily="18" charset="0"/>
                                  <a:cs typeface="Arial" panose="020B0604020202020204" pitchFamily="34" charset="0"/>
                                </a:rPr>
                                <m:t>493.33−540+</m:t>
                              </m:r>
                              <m:r>
                                <a:rPr lang="en-US" sz="2000" i="1">
                                  <a:latin typeface="Cambria Math" panose="02040503050406030204" pitchFamily="18" charset="0"/>
                                  <a:cs typeface="Arial" panose="020B0604020202020204" pitchFamily="34" charset="0"/>
                                </a:rPr>
                                <m:t>515</m:t>
                              </m:r>
                            </m:e>
                          </m:d>
                        </m:e>
                        <m:sup>
                          <m:r>
                            <a:rPr lang="en-US" sz="2000" i="1">
                              <a:latin typeface="Cambria Math" panose="02040503050406030204" pitchFamily="18" charset="0"/>
                              <a:cs typeface="Arial" panose="020B0604020202020204" pitchFamily="34" charset="0"/>
                            </a:rPr>
                            <m:t>2</m:t>
                          </m:r>
                        </m:sup>
                      </m:sSup>
                      <m:r>
                        <a:rPr lang="en-US" sz="2000" b="0" i="1" smtClean="0">
                          <a:latin typeface="Cambria Math" panose="02040503050406030204" pitchFamily="18" charset="0"/>
                          <a:cs typeface="Arial" panose="020B0604020202020204" pitchFamily="34" charset="0"/>
                        </a:rPr>
                        <m:t>+</m:t>
                      </m:r>
                      <m:r>
                        <m:rPr>
                          <m:nor/>
                        </m:rPr>
                        <a:rPr lang="en-US" sz="200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=11,200</m:t>
                      </m:r>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72510" y="1217732"/>
                <a:ext cx="10594432" cy="4730949"/>
              </a:xfrm>
              <a:blipFill>
                <a:blip r:embed="rId3"/>
                <a:stretch>
                  <a:fillRect l="-1496" t="-1546"/>
                </a:stretch>
              </a:blipFill>
            </p:spPr>
            <p:txBody>
              <a:bodyPr/>
              <a:lstStyle/>
              <a:p>
                <a:r>
                  <a:rPr lang="en-US">
                    <a:noFill/>
                  </a:rPr>
                  <a:t> </a:t>
                </a:r>
              </a:p>
            </p:txBody>
          </p:sp>
        </mc:Fallback>
      </mc:AlternateContent>
    </p:spTree>
    <p:extLst>
      <p:ext uri="{BB962C8B-B14F-4D97-AF65-F5344CB8AC3E}">
        <p14:creationId xmlns:p14="http://schemas.microsoft.com/office/powerpoint/2010/main" val="5530460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9D15-B197-09B5-C16B-34F52C2D78BC}"/>
              </a:ext>
            </a:extLst>
          </p:cNvPr>
          <p:cNvSpPr>
            <a:spLocks noGrp="1"/>
          </p:cNvSpPr>
          <p:nvPr>
            <p:ph type="title"/>
          </p:nvPr>
        </p:nvSpPr>
        <p:spPr>
          <a:xfrm>
            <a:off x="731519" y="365125"/>
            <a:ext cx="10709744" cy="672105"/>
          </a:xfrm>
        </p:spPr>
        <p:txBody>
          <a:bodyPr/>
          <a:lstStyle/>
          <a:p>
            <a:r>
              <a:rPr lang="en-US" sz="3200" dirty="0"/>
              <a:t>13.5 ANOVA Table for the Two-Factor GMAT Experiment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5DFAD8A-F14F-71F1-C97E-801BF3F52F6E}"/>
                  </a:ext>
                </a:extLst>
              </p:cNvPr>
              <p:cNvSpPr>
                <a:spLocks noGrp="1"/>
              </p:cNvSpPr>
              <p:nvPr>
                <p:ph type="body" sz="quarter" idx="15"/>
              </p:nvPr>
            </p:nvSpPr>
            <p:spPr>
              <a:xfrm>
                <a:off x="743576" y="1141843"/>
                <a:ext cx="10610223" cy="2798377"/>
              </a:xfrm>
            </p:spPr>
            <p:txBody>
              <a:bodyPr/>
              <a:lstStyle/>
              <a:p>
                <a:pPr>
                  <a:lnSpc>
                    <a:spcPct val="100000"/>
                  </a:lnSpc>
                  <a:spcBef>
                    <a:spcPts val="600"/>
                  </a:spcBef>
                </a:pPr>
                <a:r>
                  <a:rPr lang="en-US" sz="2000" b="1" dirty="0">
                    <a:latin typeface="Arial" panose="020B0604020202020204" pitchFamily="34" charset="0"/>
                    <a:cs typeface="Arial" panose="020B0604020202020204" pitchFamily="34" charset="0"/>
                  </a:rPr>
                  <a:t>Step 5.</a:t>
                </a:r>
                <a:r>
                  <a:rPr lang="en-US" sz="2000" dirty="0">
                    <a:latin typeface="Arial" panose="020B0604020202020204" pitchFamily="34" charset="0"/>
                    <a:cs typeface="Arial" panose="020B0604020202020204" pitchFamily="34" charset="0"/>
                  </a:rPr>
                  <a:t>	Compute the sum of squares due to error (SSE)</a:t>
                </a:r>
              </a:p>
              <a:p>
                <a:pPr marL="914400">
                  <a:lnSpc>
                    <a:spcPct val="100000"/>
                  </a:lnSpc>
                  <a:spcBef>
                    <a:spcPts val="600"/>
                  </a:spcBef>
                </a:pPr>
                <a14:m>
                  <m:oMath xmlns:m="http://schemas.openxmlformats.org/officeDocument/2006/math">
                    <m:r>
                      <a:rPr lang="en-US" sz="2000" i="1" smtClean="0">
                        <a:latin typeface="Cambria Math" panose="02040503050406030204" pitchFamily="18" charset="0"/>
                      </a:rPr>
                      <m:t>𝑆𝑆𝐸</m:t>
                    </m:r>
                    <m:r>
                      <a:rPr lang="en-US" sz="2000" b="0" i="1" smtClean="0">
                        <a:latin typeface="Cambria Math" panose="02040503050406030204" pitchFamily="18" charset="0"/>
                      </a:rPr>
                      <m:t>=</m:t>
                    </m:r>
                    <m:r>
                      <a:rPr lang="en-US" sz="2000" i="1">
                        <a:latin typeface="Cambria Math" panose="02040503050406030204" pitchFamily="18" charset="0"/>
                      </a:rPr>
                      <m:t>𝑆𝑆𝑇</m:t>
                    </m:r>
                    <m:r>
                      <a:rPr lang="en-US" sz="2000" i="1">
                        <a:latin typeface="Cambria Math" panose="02040503050406030204" pitchFamily="18" charset="0"/>
                      </a:rPr>
                      <m:t>−</m:t>
                    </m:r>
                    <m:r>
                      <a:rPr lang="en-US" sz="2000" i="1">
                        <a:latin typeface="Cambria Math" panose="02040503050406030204" pitchFamily="18" charset="0"/>
                      </a:rPr>
                      <m:t>𝑆𝑆𝐴</m:t>
                    </m:r>
                    <m:r>
                      <a:rPr lang="en-US" sz="2000" b="0" i="1" smtClean="0">
                        <a:latin typeface="Cambria Math" panose="02040503050406030204" pitchFamily="18" charset="0"/>
                      </a:rPr>
                      <m:t>−</m:t>
                    </m:r>
                    <m:r>
                      <a:rPr lang="en-US" sz="2000" b="0" i="1" smtClean="0">
                        <a:latin typeface="Cambria Math" panose="02040503050406030204" pitchFamily="18" charset="0"/>
                      </a:rPr>
                      <m:t>𝑆𝑆𝐵</m:t>
                    </m:r>
                    <m:r>
                      <a:rPr lang="en-US" sz="2000" b="0" i="1" smtClean="0">
                        <a:latin typeface="Cambria Math" panose="02040503050406030204" pitchFamily="18" charset="0"/>
                      </a:rPr>
                      <m:t>−</m:t>
                    </m:r>
                    <m:r>
                      <a:rPr lang="en-US" sz="2000" b="0" i="1" smtClean="0">
                        <a:latin typeface="Cambria Math" panose="02040503050406030204" pitchFamily="18" charset="0"/>
                      </a:rPr>
                      <m:t>𝑆𝑆𝐴𝐵</m:t>
                    </m:r>
                    <m:r>
                      <a:rPr lang="en-US" sz="2000" b="0" i="1" smtClean="0">
                        <a:latin typeface="Cambria Math" panose="02040503050406030204" pitchFamily="18" charset="0"/>
                      </a:rPr>
                      <m:t>=82,450−6,100−45,300−11,200=19,850</m:t>
                    </m:r>
                  </m:oMath>
                </a14:m>
                <a:r>
                  <a:rPr lang="en-US" sz="2000" dirty="0">
                    <a:latin typeface="Arial" panose="020B0604020202020204" pitchFamily="34" charset="0"/>
                    <a:cs typeface="Arial" panose="020B0604020202020204" pitchFamily="34" charset="0"/>
                  </a:rPr>
                  <a:t> </a:t>
                </a:r>
                <a:endParaRPr lang="en-US" sz="2000" dirty="0"/>
              </a:p>
              <a:p>
                <a:pPr>
                  <a:lnSpc>
                    <a:spcPct val="100000"/>
                  </a:lnSpc>
                  <a:spcBef>
                    <a:spcPts val="600"/>
                  </a:spcBef>
                </a:pPr>
                <a:r>
                  <a:rPr lang="en-US" sz="2000" dirty="0"/>
                  <a:t>The sums of squares computed in the previous five steps and divided by their degrees of freedom, provide the corresponding mean square values shown in the ANOVA table below.</a:t>
                </a:r>
              </a:p>
              <a:p>
                <a:pPr>
                  <a:lnSpc>
                    <a:spcPct val="100000"/>
                  </a:lnSpc>
                  <a:spcBef>
                    <a:spcPts val="600"/>
                  </a:spcBef>
                </a:pPr>
                <a:r>
                  <a:rPr lang="en-US" sz="2000" dirty="0"/>
                  <a:t>The ratios of MSA / MSE, MSB / MSE, and MSAB / MSE produce the test statistics for Factor A, Factor B, and the interaction term.</a:t>
                </a:r>
              </a:p>
              <a:p>
                <a:pPr>
                  <a:lnSpc>
                    <a:spcPct val="100000"/>
                  </a:lnSpc>
                  <a:spcBef>
                    <a:spcPts val="600"/>
                  </a:spcBef>
                </a:pPr>
                <a:r>
                  <a:rPr lang="en-US" sz="2000" dirty="0"/>
                  <a:t>We can estimate </a:t>
                </a:r>
                <a:r>
                  <a:rPr lang="en-US" sz="2000" i="1" dirty="0"/>
                  <a:t>p</a:t>
                </a:r>
                <a:r>
                  <a:rPr lang="en-US" sz="2000" dirty="0"/>
                  <a:t>-value ranges using the F values from Table 4 of Appendix B or use statistical software to obtain the exact </a:t>
                </a:r>
                <a:r>
                  <a:rPr lang="en-US" sz="2000" i="1" dirty="0"/>
                  <a:t>p</a:t>
                </a:r>
                <a:r>
                  <a:rPr lang="en-US" sz="2000" dirty="0"/>
                  <a:t>-values listed below.</a:t>
                </a:r>
              </a:p>
            </p:txBody>
          </p:sp>
        </mc:Choice>
        <mc:Fallback xmlns="">
          <p:sp>
            <p:nvSpPr>
              <p:cNvPr id="3" name="Text Placeholder 2">
                <a:extLst>
                  <a:ext uri="{FF2B5EF4-FFF2-40B4-BE49-F238E27FC236}">
                    <a16:creationId xmlns:a16="http://schemas.microsoft.com/office/drawing/2014/main" id="{85DFAD8A-F14F-71F1-C97E-801BF3F52F6E}"/>
                  </a:ext>
                </a:extLst>
              </p:cNvPr>
              <p:cNvSpPr>
                <a:spLocks noGrp="1" noRot="1" noChangeAspect="1" noMove="1" noResize="1" noEditPoints="1" noAdjustHandles="1" noChangeArrowheads="1" noChangeShapeType="1" noTextEdit="1"/>
              </p:cNvSpPr>
              <p:nvPr>
                <p:ph type="body" sz="quarter" idx="15"/>
              </p:nvPr>
            </p:nvSpPr>
            <p:spPr>
              <a:xfrm>
                <a:off x="743576" y="1141843"/>
                <a:ext cx="10610223" cy="2798377"/>
              </a:xfrm>
              <a:blipFill>
                <a:blip r:embed="rId4"/>
                <a:stretch>
                  <a:fillRect l="-1494" t="-2614" r="-402" b="-3922"/>
                </a:stretch>
              </a:blipFill>
            </p:spPr>
            <p:txBody>
              <a:bodyPr/>
              <a:lstStyle/>
              <a:p>
                <a:r>
                  <a:rPr lang="en-US">
                    <a:noFill/>
                  </a:rPr>
                  <a:t> </a:t>
                </a:r>
              </a:p>
            </p:txBody>
          </p:sp>
        </mc:Fallback>
      </mc:AlternateContent>
      <p:graphicFrame>
        <p:nvGraphicFramePr>
          <p:cNvPr id="5" name="Table 13">
            <a:extLst>
              <a:ext uri="{FF2B5EF4-FFF2-40B4-BE49-F238E27FC236}">
                <a16:creationId xmlns:a16="http://schemas.microsoft.com/office/drawing/2014/main" id="{ACEAD64B-4766-F70F-AE34-9F2E3D6EFF38}"/>
              </a:ext>
            </a:extLst>
          </p:cNvPr>
          <p:cNvGraphicFramePr>
            <a:graphicFrameLocks noGrp="1"/>
          </p:cNvGraphicFramePr>
          <p:nvPr>
            <p:ph type="tbl" sz="quarter" idx="16"/>
            <p:extLst>
              <p:ext uri="{D42A27DB-BD31-4B8C-83A1-F6EECF244321}">
                <p14:modId xmlns:p14="http://schemas.microsoft.com/office/powerpoint/2010/main" val="1040639809"/>
              </p:ext>
            </p:extLst>
          </p:nvPr>
        </p:nvGraphicFramePr>
        <p:xfrm>
          <a:off x="1496378" y="3980796"/>
          <a:ext cx="9104618" cy="1910778"/>
        </p:xfrm>
        <a:graphic>
          <a:graphicData uri="http://schemas.openxmlformats.org/drawingml/2006/table">
            <a:tbl>
              <a:tblPr firstRow="1" bandRow="1">
                <a:tableStyleId>{5C22544A-7EE6-4342-B048-85BDC9FD1C3A}</a:tableStyleId>
              </a:tblPr>
              <a:tblGrid>
                <a:gridCol w="1987801">
                  <a:extLst>
                    <a:ext uri="{9D8B030D-6E8A-4147-A177-3AD203B41FA5}">
                      <a16:colId xmlns:a16="http://schemas.microsoft.com/office/drawing/2014/main" val="4281494615"/>
                    </a:ext>
                  </a:extLst>
                </a:gridCol>
                <a:gridCol w="1560787">
                  <a:extLst>
                    <a:ext uri="{9D8B030D-6E8A-4147-A177-3AD203B41FA5}">
                      <a16:colId xmlns:a16="http://schemas.microsoft.com/office/drawing/2014/main" val="1658350638"/>
                    </a:ext>
                  </a:extLst>
                </a:gridCol>
                <a:gridCol w="1915510">
                  <a:extLst>
                    <a:ext uri="{9D8B030D-6E8A-4147-A177-3AD203B41FA5}">
                      <a16:colId xmlns:a16="http://schemas.microsoft.com/office/drawing/2014/main" val="665697469"/>
                    </a:ext>
                  </a:extLst>
                </a:gridCol>
                <a:gridCol w="1552903">
                  <a:extLst>
                    <a:ext uri="{9D8B030D-6E8A-4147-A177-3AD203B41FA5}">
                      <a16:colId xmlns:a16="http://schemas.microsoft.com/office/drawing/2014/main" val="230204798"/>
                    </a:ext>
                  </a:extLst>
                </a:gridCol>
                <a:gridCol w="977462">
                  <a:extLst>
                    <a:ext uri="{9D8B030D-6E8A-4147-A177-3AD203B41FA5}">
                      <a16:colId xmlns:a16="http://schemas.microsoft.com/office/drawing/2014/main" val="4176669424"/>
                    </a:ext>
                  </a:extLst>
                </a:gridCol>
                <a:gridCol w="1110155">
                  <a:extLst>
                    <a:ext uri="{9D8B030D-6E8A-4147-A177-3AD203B41FA5}">
                      <a16:colId xmlns:a16="http://schemas.microsoft.com/office/drawing/2014/main" val="1389891288"/>
                    </a:ext>
                  </a:extLst>
                </a:gridCol>
              </a:tblGrid>
              <a:tr h="318463">
                <a:tc>
                  <a:txBody>
                    <a:bodyPr/>
                    <a:lstStyle/>
                    <a:p>
                      <a:r>
                        <a:rPr lang="en-US" sz="16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Degrees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228600" indent="-228600"/>
                      <a:r>
                        <a:rPr lang="en-US" sz="1600" i="1" dirty="0">
                          <a:solidFill>
                            <a:srgbClr val="000000"/>
                          </a:solidFill>
                        </a:rPr>
                        <a:t>	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i="1" dirty="0">
                          <a:solidFill>
                            <a:srgbClr val="000000"/>
                          </a:solidFill>
                        </a:rPr>
                        <a:t>p</a:t>
                      </a:r>
                      <a:r>
                        <a:rPr lang="en-US" sz="16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18463">
                <a:tc>
                  <a:txBody>
                    <a:bodyPr/>
                    <a:lstStyle/>
                    <a:p>
                      <a:r>
                        <a:rPr lang="en-US" sz="1600" dirty="0">
                          <a:solidFill>
                            <a:srgbClr val="000000"/>
                          </a:solidFill>
                        </a:rPr>
                        <a:t>  Factor A</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600" dirty="0">
                          <a:solidFill>
                            <a:srgbClr val="000000"/>
                          </a:solidFill>
                        </a:rPr>
                        <a:t>	6,100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dirty="0">
                          <a:solidFill>
                            <a:srgbClr val="000000"/>
                          </a:solidFill>
                        </a:rPr>
                        <a:t>	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03275" algn="r"/>
                        </a:tabLst>
                      </a:pPr>
                      <a:r>
                        <a:rPr lang="en-US" sz="1600" dirty="0">
                          <a:solidFill>
                            <a:srgbClr val="000000"/>
                          </a:solidFill>
                        </a:rPr>
                        <a:t>	3</a:t>
                      </a:r>
                      <a:r>
                        <a:rPr lang="en-US" sz="1600" dirty="0">
                          <a:solidFill>
                            <a:srgbClr val="FF0000"/>
                          </a:solidFill>
                        </a:rPr>
                        <a:t>,</a:t>
                      </a:r>
                      <a:r>
                        <a:rPr lang="en-US" sz="1600" dirty="0">
                          <a:solidFill>
                            <a:srgbClr val="000000"/>
                          </a:solidFill>
                        </a:rPr>
                        <a:t>050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457200" algn="r"/>
                        </a:tabLst>
                      </a:pPr>
                      <a:r>
                        <a:rPr lang="en-US" sz="1600" dirty="0">
                          <a:solidFill>
                            <a:srgbClr val="000000"/>
                          </a:solidFill>
                        </a:rPr>
                        <a:t>	1.38</a:t>
                      </a:r>
                      <a:r>
                        <a:rPr lang="en-US" sz="1600" dirty="0">
                          <a:solidFill>
                            <a:srgbClr val="FF0000"/>
                          </a:solidFill>
                        </a:rPr>
                        <a:t>29</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  0.299</a:t>
                      </a:r>
                      <a:r>
                        <a:rPr lang="en-US" sz="1600" dirty="0">
                          <a:solidFill>
                            <a:srgbClr val="FF0000"/>
                          </a:solidFill>
                        </a:rPr>
                        <a:t>4</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18463">
                <a:tc>
                  <a:txBody>
                    <a:bodyPr/>
                    <a:lstStyle/>
                    <a:p>
                      <a:r>
                        <a:rPr lang="en-US" sz="1600" dirty="0">
                          <a:solidFill>
                            <a:srgbClr val="000000"/>
                          </a:solidFill>
                        </a:rPr>
                        <a:t>  Factor B</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600" dirty="0">
                          <a:solidFill>
                            <a:srgbClr val="000000"/>
                          </a:solidFill>
                        </a:rPr>
                        <a:t>	45,300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58838" algn="r"/>
                        </a:tabLst>
                        <a:defRPr/>
                      </a:pPr>
                      <a:r>
                        <a:rPr lang="en-US" sz="1600" dirty="0">
                          <a:solidFill>
                            <a:srgbClr val="000000"/>
                          </a:solidFill>
                        </a:rPr>
                        <a:t>	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803275" algn="r"/>
                        </a:tabLst>
                        <a:defRPr/>
                      </a:pPr>
                      <a:r>
                        <a:rPr lang="en-US" sz="1600" dirty="0">
                          <a:solidFill>
                            <a:srgbClr val="000000"/>
                          </a:solidFill>
                        </a:rPr>
                        <a:t>	22,650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457200" algn="r"/>
                        </a:tabLst>
                      </a:pPr>
                      <a:r>
                        <a:rPr lang="en-US" sz="1600" dirty="0">
                          <a:solidFill>
                            <a:srgbClr val="000000"/>
                          </a:solidFill>
                        </a:rPr>
                        <a:t>	10.2</a:t>
                      </a:r>
                      <a:r>
                        <a:rPr lang="en-US" sz="1600" dirty="0">
                          <a:solidFill>
                            <a:srgbClr val="FF0000"/>
                          </a:solidFill>
                        </a:rPr>
                        <a:t>695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  0.00</a:t>
                      </a:r>
                      <a:r>
                        <a:rPr lang="en-US" sz="1600" dirty="0">
                          <a:solidFill>
                            <a:srgbClr val="FF0000"/>
                          </a:solidFill>
                        </a:rPr>
                        <a:t>48</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301589553"/>
                  </a:ext>
                </a:extLst>
              </a:tr>
              <a:tr h="318463">
                <a:tc>
                  <a:txBody>
                    <a:bodyPr/>
                    <a:lstStyle/>
                    <a:p>
                      <a:r>
                        <a:rPr lang="en-US" sz="1600" dirty="0">
                          <a:solidFill>
                            <a:srgbClr val="000000"/>
                          </a:solidFill>
                        </a:rPr>
                        <a:t>  Interaction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600" dirty="0">
                          <a:solidFill>
                            <a:srgbClr val="000000"/>
                          </a:solidFill>
                        </a:rPr>
                        <a:t>	11,200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i="0" dirty="0">
                          <a:solidFill>
                            <a:srgbClr val="000000"/>
                          </a:solidFill>
                        </a:rPr>
                        <a:t>	4</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03275" algn="r"/>
                        </a:tabLst>
                      </a:pPr>
                      <a:r>
                        <a:rPr lang="en-US" sz="1600" dirty="0">
                          <a:solidFill>
                            <a:srgbClr val="000000"/>
                          </a:solidFill>
                        </a:rPr>
                        <a:t>	2,800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457200" algn="r"/>
                        </a:tabLst>
                      </a:pPr>
                      <a:r>
                        <a:rPr lang="en-US" sz="1600" dirty="0">
                          <a:solidFill>
                            <a:srgbClr val="000000"/>
                          </a:solidFill>
                        </a:rPr>
                        <a:t>	1.2</a:t>
                      </a:r>
                      <a:r>
                        <a:rPr lang="en-US" sz="1600" dirty="0">
                          <a:solidFill>
                            <a:srgbClr val="FF0000"/>
                          </a:solidFill>
                        </a:rPr>
                        <a:t>695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600" dirty="0">
                          <a:solidFill>
                            <a:srgbClr val="000000"/>
                          </a:solidFill>
                        </a:rPr>
                        <a:t>  0.350</a:t>
                      </a:r>
                      <a:r>
                        <a:rPr lang="en-US" sz="1600" dirty="0">
                          <a:solidFill>
                            <a:srgbClr val="FF0000"/>
                          </a:solidFill>
                        </a:rPr>
                        <a:t>3</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18463">
                <a:tc>
                  <a:txBody>
                    <a:bodyPr/>
                    <a:lstStyle/>
                    <a:p>
                      <a:r>
                        <a:rPr lang="en-US" sz="16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600" dirty="0">
                          <a:solidFill>
                            <a:srgbClr val="000000"/>
                          </a:solidFill>
                        </a:rPr>
                        <a:t>	19,850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i="0" dirty="0">
                          <a:solidFill>
                            <a:srgbClr val="000000"/>
                          </a:solidFill>
                        </a:rPr>
                        <a:t>	9</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03275" algn="r"/>
                        </a:tabLst>
                      </a:pPr>
                      <a:r>
                        <a:rPr lang="en-US" sz="1600" dirty="0">
                          <a:solidFill>
                            <a:srgbClr val="000000"/>
                          </a:solidFill>
                        </a:rPr>
                        <a:t>	2,206</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578921453"/>
                  </a:ext>
                </a:extLst>
              </a:tr>
              <a:tr h="318463">
                <a:tc>
                  <a:txBody>
                    <a:bodyPr/>
                    <a:lstStyle/>
                    <a:p>
                      <a:r>
                        <a:rPr lang="en-US" sz="16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600" dirty="0">
                          <a:solidFill>
                            <a:srgbClr val="000000"/>
                          </a:solidFill>
                        </a:rPr>
                        <a:t>	82,450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858838" algn="r"/>
                        </a:tabLst>
                      </a:pPr>
                      <a:r>
                        <a:rPr lang="en-US" sz="1600" dirty="0">
                          <a:solidFill>
                            <a:srgbClr val="000000"/>
                          </a:solidFill>
                        </a:rPr>
                        <a:t>	17</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6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Tree>
    <p:extLst>
      <p:ext uri="{BB962C8B-B14F-4D97-AF65-F5344CB8AC3E}">
        <p14:creationId xmlns:p14="http://schemas.microsoft.com/office/powerpoint/2010/main" val="28598848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a:xfrm>
            <a:off x="564358" y="365125"/>
            <a:ext cx="11046619" cy="672105"/>
          </a:xfrm>
        </p:spPr>
        <p:txBody>
          <a:bodyPr/>
          <a:lstStyle/>
          <a:p>
            <a:r>
              <a:rPr lang="en-US" sz="3200" dirty="0">
                <a:solidFill>
                  <a:srgbClr val="25894E"/>
                </a:solidFill>
              </a:rPr>
              <a:t>13.5 Excel: Dialog Box for the</a:t>
            </a:r>
            <a:r>
              <a:rPr lang="en-US" sz="3200" i="1" dirty="0">
                <a:solidFill>
                  <a:srgbClr val="25894E"/>
                </a:solidFill>
              </a:rPr>
              <a:t> </a:t>
            </a:r>
            <a:r>
              <a:rPr lang="en-US" sz="3200" dirty="0">
                <a:solidFill>
                  <a:srgbClr val="25894E"/>
                </a:solidFill>
              </a:rPr>
              <a:t>ANOVA: Two-Factor With Replication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471612"/>
            <a:ext cx="10704846" cy="1107281"/>
          </a:xfrm>
        </p:spPr>
        <p:txBody>
          <a:bodyPr/>
          <a:lstStyle/>
          <a:p>
            <a:r>
              <a:rPr lang="en-US" sz="2000" dirty="0"/>
              <a:t>Excel’s </a:t>
            </a:r>
            <a:r>
              <a:rPr lang="en-US" sz="2000" dirty="0" err="1"/>
              <a:t>Anova</a:t>
            </a:r>
            <a:r>
              <a:rPr lang="en-US" sz="2000" dirty="0"/>
              <a:t>: Two-Factor With Replication tool is used for a two-factor design.</a:t>
            </a:r>
          </a:p>
          <a:p>
            <a:r>
              <a:rPr lang="en-US" sz="2000" b="1" dirty="0"/>
              <a:t>Enter/Access Data</a:t>
            </a:r>
            <a:r>
              <a:rPr lang="en-US" sz="2000" dirty="0"/>
              <a:t>: Open the file </a:t>
            </a:r>
            <a:r>
              <a:rPr lang="en-US" sz="2000" i="1" dirty="0" err="1"/>
              <a:t>gmatstudy</a:t>
            </a:r>
            <a:r>
              <a:rPr lang="en-US" sz="2000" dirty="0"/>
              <a:t>. The data and labels are in cells A1:D7.</a:t>
            </a:r>
          </a:p>
          <a:p>
            <a:r>
              <a:rPr lang="en-US" sz="2000" b="1" dirty="0"/>
              <a:t>Apply Tools</a:t>
            </a:r>
            <a:r>
              <a:rPr lang="en-US" sz="2000" dirty="0"/>
              <a:t>: Follow these steps in the ANOVA: Two-Factor With Replication dialog box.</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6" y="2636047"/>
            <a:ext cx="5750093" cy="3321841"/>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914400" indent="-800100">
              <a:spcBef>
                <a:spcPts val="300"/>
              </a:spcBef>
            </a:pPr>
            <a:r>
              <a:rPr lang="en-US" sz="1800" b="1" dirty="0"/>
              <a:t>Step 3</a:t>
            </a:r>
            <a:r>
              <a:rPr lang="en-US" sz="1800" dirty="0"/>
              <a:t>. Choose </a:t>
            </a:r>
            <a:r>
              <a:rPr lang="en-US" sz="1800" b="1" dirty="0"/>
              <a:t>ANOVA: Two-Factor With Replication </a:t>
            </a:r>
            <a:r>
              <a:rPr lang="en-US" sz="1800" dirty="0"/>
              <a:t>from the list of Analysis Tools</a:t>
            </a:r>
          </a:p>
          <a:p>
            <a:pPr marL="914400" indent="-800100">
              <a:spcBef>
                <a:spcPts val="300"/>
              </a:spcBef>
            </a:pPr>
            <a:r>
              <a:rPr lang="en-US" sz="1800" b="1" dirty="0"/>
              <a:t>Step 4</a:t>
            </a:r>
            <a:r>
              <a:rPr lang="en-US" sz="1800" dirty="0"/>
              <a:t>.	In the dialog box:</a:t>
            </a:r>
          </a:p>
          <a:p>
            <a:pPr marL="1143000">
              <a:spcBef>
                <a:spcPts val="300"/>
              </a:spcBef>
            </a:pPr>
            <a:r>
              <a:rPr lang="en-US" sz="1800" dirty="0"/>
              <a:t>Enter </a:t>
            </a:r>
            <a:r>
              <a:rPr lang="en-US" sz="1800" i="1" dirty="0"/>
              <a:t>A1:D7 </a:t>
            </a:r>
            <a:r>
              <a:rPr lang="en-US" sz="1800" dirty="0"/>
              <a:t>in the </a:t>
            </a:r>
            <a:r>
              <a:rPr lang="en-US" sz="1800" b="1" dirty="0"/>
              <a:t>Input Range: </a:t>
            </a:r>
            <a:r>
              <a:rPr lang="en-US" sz="1800" dirty="0"/>
              <a:t>box</a:t>
            </a:r>
          </a:p>
          <a:p>
            <a:pPr marL="1143000">
              <a:spcBef>
                <a:spcPts val="300"/>
              </a:spcBef>
            </a:pPr>
            <a:r>
              <a:rPr lang="en-US" sz="1800" dirty="0"/>
              <a:t>Enter </a:t>
            </a:r>
            <a:r>
              <a:rPr lang="en-US" sz="1800" i="1" dirty="0"/>
              <a:t>2</a:t>
            </a:r>
            <a:r>
              <a:rPr lang="en-US" sz="1800" dirty="0"/>
              <a:t> in the </a:t>
            </a:r>
            <a:r>
              <a:rPr lang="en-US" sz="1800" b="1" dirty="0"/>
              <a:t>Rows per sample: </a:t>
            </a:r>
            <a:r>
              <a:rPr lang="en-US" sz="1800" dirty="0"/>
              <a:t>box</a:t>
            </a:r>
          </a:p>
          <a:p>
            <a:pPr marL="1143000">
              <a:spcBef>
                <a:spcPts val="300"/>
              </a:spcBef>
            </a:pPr>
            <a:r>
              <a:rPr lang="en-US" sz="1800" dirty="0"/>
              <a:t>Select the check box for </a:t>
            </a:r>
            <a:r>
              <a:rPr lang="en-US" sz="1800" b="1" dirty="0"/>
              <a:t>Labels in First Row</a:t>
            </a:r>
            <a:endParaRPr lang="en-US" sz="1800" dirty="0"/>
          </a:p>
          <a:p>
            <a:pPr marL="1371600" indent="-228600">
              <a:spcBef>
                <a:spcPts val="300"/>
              </a:spcBef>
            </a:pPr>
            <a:r>
              <a:rPr lang="en-US" sz="1800" dirty="0"/>
              <a:t>In the </a:t>
            </a:r>
            <a:r>
              <a:rPr lang="en-US" sz="1800" b="1" dirty="0"/>
              <a:t>Output options </a:t>
            </a:r>
            <a:r>
              <a:rPr lang="en-US" sz="1800" dirty="0"/>
              <a:t>area, select </a:t>
            </a:r>
            <a:r>
              <a:rPr lang="en-US" sz="1800" b="1" dirty="0"/>
              <a:t>Output Range:</a:t>
            </a:r>
            <a:r>
              <a:rPr lang="en-US" sz="1800" dirty="0"/>
              <a:t> and enter </a:t>
            </a:r>
            <a:r>
              <a:rPr lang="en-US" sz="1800" i="1" dirty="0"/>
              <a:t>A9</a:t>
            </a:r>
            <a:r>
              <a:rPr lang="en-US" sz="1800" dirty="0"/>
              <a:t>.</a:t>
            </a:r>
          </a:p>
          <a:p>
            <a:pPr marL="1371600" indent="-228600">
              <a:spcBef>
                <a:spcPts val="300"/>
              </a:spcBef>
            </a:pPr>
            <a:r>
              <a:rPr lang="en-US" sz="1800" dirty="0"/>
              <a:t>Click </a:t>
            </a:r>
            <a:r>
              <a:rPr lang="en-US" sz="1800" b="1" dirty="0"/>
              <a:t>OK</a:t>
            </a:r>
          </a:p>
        </p:txBody>
      </p:sp>
      <p:pic>
        <p:nvPicPr>
          <p:cNvPr id="8" name="Picture Placeholder 7" descr="A screenshot shows an Excel spreadsheet and the Anova: Two-factor with replication. In the spreadsheet, column A is labeled preparation, column B is labeled business, column C is labeled engineering, and column D is labeled arts and sciences. The entries in rows 2 through 7 are as follows. Row 2. Preparation: 3-hour review. Business: 500. Engineering: 540. Arts and sciences: 480. Row 3. Preparation: 3-hour review. Business: 580. Engineering: 460. Arts and sciences: 400. Row 4. Preparation: 1-day program. Business: 460. Engineering: 560. Arts and sciences: 420. Row 5. Preparation: 1-day program. Business: 540. Engineering: 620. Arts and sciences: 480. Row 6. Preparation: 10-week course. Business: 560. Engineering: 600. Arts and sciences: 480. Row 7. Preparation: 10-week course. Business: 600. Engineering: 580. Arts and sciences: 410. The Anova: Two-factor with replication dialog box has two sections. The first section is titled Input and consists of the following elements. Entry field labeled input range with the entry dollar sign A dollar sign 1: dollar sign D dollar sign 7. Entry field labeled rows per sample with entry 2. Entry field alpha with the entry 0.05. The second section is titled Output Options and consists of the following elements. Radio button labeled output range (selected) with entry dollar sign A dollar sign 9. Radio button labeled new worksheet ply with a grayed-out field. Radio button labeled new workbook. There are three buttons on the right side: O K, Cancel, and Help. The O K button is selected.">
            <a:extLst>
              <a:ext uri="{FF2B5EF4-FFF2-40B4-BE49-F238E27FC236}">
                <a16:creationId xmlns:a16="http://schemas.microsoft.com/office/drawing/2014/main" id="{21952DF1-B907-A3A6-2830-0DC2784D24EC}"/>
              </a:ext>
            </a:extLst>
          </p:cNvPr>
          <p:cNvPicPr>
            <a:picLocks noGrp="1" noChangeAspect="1"/>
          </p:cNvPicPr>
          <p:nvPr>
            <p:ph type="pic" sz="quarter" idx="16"/>
          </p:nvPr>
        </p:nvPicPr>
        <p:blipFill>
          <a:blip r:embed="rId2"/>
          <a:srcRect t="89" b="89"/>
          <a:stretch/>
        </p:blipFill>
        <p:spPr>
          <a:xfrm>
            <a:off x="6586538" y="2920406"/>
            <a:ext cx="4862512" cy="2925763"/>
          </a:xfrm>
        </p:spPr>
      </p:pic>
    </p:spTree>
    <p:extLst>
      <p:ext uri="{BB962C8B-B14F-4D97-AF65-F5344CB8AC3E}">
        <p14:creationId xmlns:p14="http://schemas.microsoft.com/office/powerpoint/2010/main" val="15107901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13.5 Excel: Conduct ANOVA for a Two-Factor Design</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50720" y="1193798"/>
            <a:ext cx="6350168" cy="4778375"/>
          </a:xfrm>
        </p:spPr>
        <p:txBody>
          <a:bodyPr/>
          <a:lstStyle/>
          <a:p>
            <a:r>
              <a:rPr lang="en-US" sz="2000" dirty="0"/>
              <a:t>The output, titled </a:t>
            </a:r>
            <a:r>
              <a:rPr lang="en-US" sz="2000" i="1" dirty="0" err="1"/>
              <a:t>Anova</a:t>
            </a:r>
            <a:r>
              <a:rPr lang="en-US" sz="2000" i="1" dirty="0"/>
              <a:t>: Two-Factor With Replication</a:t>
            </a:r>
            <a:r>
              <a:rPr lang="en-US" sz="2000" dirty="0"/>
              <a:t>, appears in cells A9:G44. </a:t>
            </a:r>
          </a:p>
          <a:p>
            <a:pPr marL="457200" indent="-342900">
              <a:buFont typeface="Arial" panose="020B0604020202020204" pitchFamily="34" charset="0"/>
              <a:buChar char="•"/>
            </a:pPr>
            <a:r>
              <a:rPr lang="en-US" sz="2000" dirty="0"/>
              <a:t>Excel identifies sources of variation as:</a:t>
            </a:r>
          </a:p>
          <a:p>
            <a:pPr marL="914400" indent="-342900">
              <a:spcBef>
                <a:spcPts val="400"/>
              </a:spcBef>
              <a:buClr>
                <a:srgbClr val="FF0000"/>
              </a:buClr>
              <a:buFont typeface="Arial" panose="020B0604020202020204" pitchFamily="34" charset="0"/>
              <a:buChar char="•"/>
            </a:pPr>
            <a:r>
              <a:rPr lang="en-US" sz="2000" dirty="0"/>
              <a:t>Factor A as </a:t>
            </a:r>
            <a:r>
              <a:rPr lang="en-US" sz="2000" i="1" dirty="0"/>
              <a:t>Sample</a:t>
            </a:r>
          </a:p>
          <a:p>
            <a:pPr marL="914400" indent="-342900">
              <a:spcBef>
                <a:spcPts val="400"/>
              </a:spcBef>
              <a:buClr>
                <a:srgbClr val="FF0000"/>
              </a:buClr>
              <a:buFont typeface="Arial" panose="020B0604020202020204" pitchFamily="34" charset="0"/>
              <a:buChar char="•"/>
            </a:pPr>
            <a:r>
              <a:rPr lang="en-US" sz="2000" dirty="0"/>
              <a:t>Factor B as </a:t>
            </a:r>
            <a:r>
              <a:rPr lang="en-US" sz="2000" i="1" dirty="0"/>
              <a:t>Columns</a:t>
            </a:r>
          </a:p>
          <a:p>
            <a:pPr marL="914400" indent="-342900">
              <a:spcBef>
                <a:spcPts val="400"/>
              </a:spcBef>
              <a:buClr>
                <a:srgbClr val="FF0000"/>
              </a:buClr>
              <a:buFont typeface="Arial" panose="020B0604020202020204" pitchFamily="34" charset="0"/>
              <a:buChar char="•"/>
            </a:pPr>
            <a:r>
              <a:rPr lang="en-US" sz="2000" dirty="0"/>
              <a:t>Interaction is the same</a:t>
            </a:r>
          </a:p>
          <a:p>
            <a:pPr marL="914400" indent="-342900">
              <a:spcBef>
                <a:spcPts val="400"/>
              </a:spcBef>
              <a:buClr>
                <a:srgbClr val="FF0000"/>
              </a:buClr>
              <a:buFont typeface="Arial" panose="020B0604020202020204" pitchFamily="34" charset="0"/>
              <a:buChar char="•"/>
            </a:pPr>
            <a:r>
              <a:rPr lang="en-US" sz="2000" dirty="0"/>
              <a:t>Error as </a:t>
            </a:r>
            <a:r>
              <a:rPr lang="en-US" sz="2000" i="1" dirty="0"/>
              <a:t>Within.</a:t>
            </a:r>
          </a:p>
          <a:p>
            <a:r>
              <a:rPr lang="en-US" sz="2000" dirty="0"/>
              <a:t>Cells E13:E28 provide a column summary of Factor A (</a:t>
            </a:r>
            <a:r>
              <a:rPr lang="en-US" sz="2000" i="1" dirty="0"/>
              <a:t>Sample</a:t>
            </a:r>
            <a:r>
              <a:rPr lang="en-US" sz="2000" dirty="0"/>
              <a:t>). Cells B31:D34 provide a row summary of Factor B (</a:t>
            </a:r>
            <a:r>
              <a:rPr lang="en-US" sz="2000" i="1" dirty="0"/>
              <a:t>Columns</a:t>
            </a:r>
            <a:r>
              <a:rPr lang="en-US" sz="2000" dirty="0"/>
              <a:t>). Cells B13:D28 provide a table summary of the interaction term.</a:t>
            </a:r>
          </a:p>
          <a:p>
            <a:r>
              <a:rPr lang="en-US" sz="2000" dirty="0"/>
              <a:t>The ANOVA table, shown in cells A38:G44, is the same as the ANOVA table we saw earlier.</a:t>
            </a:r>
          </a:p>
          <a:p>
            <a:r>
              <a:rPr lang="en-US" sz="2000" dirty="0"/>
              <a:t>The conclusions are summarized next.</a:t>
            </a:r>
          </a:p>
          <a:p>
            <a:endParaRPr lang="en-US" sz="2000" dirty="0"/>
          </a:p>
        </p:txBody>
      </p:sp>
      <p:pic>
        <p:nvPicPr>
          <p:cNvPr id="6" name="Picture Placeholder 5" descr="A screenshot of an Excel spreadsheet shows three tables. In the first table, column A is labeled preparation, column B is labeled business, column C is labeled engineering, and column D is labeled arts and sciences. The entries in rows 2 through 7 are as follows. Row 2. Preparation: 3-hour review. Business: 500. Engineering: 540. Arts and sciences: 480. Row 3. Preparation: 3-hour review. Business: 580. Engineering: 460. Arts and sciences: 400. Row 4. Preparation: 1-day program. Business: 460. Engineering: 560. Arts and sciences: 420. Row 5. Preparation: 1-day program. Business: 540. Engineering: 620. Arts and sciences: 480. Row 6. Preparation: 10-week course. Business: 560. Engineering: 600. Arts and sciences: 480. Row 7. Preparation: 10-week course. Business: 600. Engineering: 580. Arts and sciences: 410. The second table is titled Anova: Two-factor with replication. Column A is labeled summary, column B is labeled business, column C is labeled engineering, column D is labeled arts and sciences, and column E is labeled total. The table is divided into four more tables. The entries in rows 13 through 16 under 3-hour review are as follows. Row 13. Summary: Count. Business: 2. Engineering: 2. Arts and sciences: 2. Total: 6. Row 14. Summary: Sum. Business: 1080. Engineering: 1000. Arts and sciences: 880. Total: 2960. Row 15. Summary: Average. Business: 540. Engineering: 500. Arts and sciences: 440. Total: 493.3333. Row 16. Summary: Variance. Business: 3200. Engineering: 3200. Arts and sciences: 3200. Total: 3946.6667. The entries in rows 19 through 22 under 1-day program are as follows. Row 19. Summary: Count. Business: 2. Engineering: 2. Arts and sciences: 2. Total: 6. Row 20. Summary: Sum. Business: 1000. Engineering: 1180. Arts and sciences: 900. Total: 3080. Row 15. Summary: Average. Business: 500. Engineering: 590. Arts and sciences: 450. Total: 513.3333. Row 16. Summary: Variance. Business: 3200. Engineering: 1800. Arts and sciences: 1800. Total: 5386.6667. The entries in rows 25 through 28 under 10-week course are as follows. Row 25. Summary: Count. Business: 2. Engineering: 2. Arts and sciences: 2. Total: 6. Row 26. Summary: Sum. Business: 1160. Engineering: 1180. Arts and sciences: 890. Total: 3230. Row 27. Summary: Average. Business: 580. Engineering: 590. Arts and sciences: 445. Total: 538.3333. Row 28. Summary: Variance. Business: 800. Engineering: 200. Arts and sciences: 2450. Total: 5936.6667. The entries in rows 31 through 34 under Total are as follows. Row 31. Summary: Count. Business: 6. Engineering: 6. Arts and sciences: 6. Row 32. Summary: Sum. Business: 3240. Engineering: 3360. Arts and sciences: 2670. Row 33. Summary: Average. Business: 540. Engineering: 560. Arts and sciences: 445. Row 34. Summary: Variance. Business: 2720. Engineering: 3200. Arts and sciences: 1510. The third table is titled ANOVA. Column A is labeled source of variation, column B is labeled S S, column C is labeled d f, column D is labeled M S, column E is labeled F, column F is labeled P-value, and column G is labeled F crit. The entries in rows 39 through 44 are as follows. Row 39. Source of variation: Sample. S S: 6100. d f: 2. M S: 3050. F: 1.3829. P value: 0.2994. F crit: 4.2565. Row 40: Source of variation: Columns. S S: 45300. d f: 2. M S: 22650. F: 10.2695. P-value: 0.0048. F crit: 4.2565. Row 41: Source of variation: Interaction. S S: 11200. d f: 4. M S: 2800. F: 1.2695. P-value: 0.3503. F crit: 3.6331. Row 42. Source of variation: Within. S S: 19850. d f: 9. M S: 2205.555556. Row 44. Source of variation: Total. S S: 82450. d f: 17.">
            <a:extLst>
              <a:ext uri="{FF2B5EF4-FFF2-40B4-BE49-F238E27FC236}">
                <a16:creationId xmlns:a16="http://schemas.microsoft.com/office/drawing/2014/main" id="{A50C63F8-3122-8E36-76D8-339EDFD5F278}"/>
              </a:ext>
            </a:extLst>
          </p:cNvPr>
          <p:cNvPicPr>
            <a:picLocks noGrp="1" noChangeAspect="1"/>
          </p:cNvPicPr>
          <p:nvPr>
            <p:ph type="pic" sz="quarter" idx="16"/>
          </p:nvPr>
        </p:nvPicPr>
        <p:blipFill>
          <a:blip r:embed="rId2"/>
          <a:srcRect l="13" r="13"/>
          <a:stretch/>
        </p:blipFill>
        <p:spPr>
          <a:xfrm>
            <a:off x="7190580" y="1193798"/>
            <a:ext cx="4141788" cy="4778375"/>
          </a:xfrm>
          <a:ln>
            <a:solidFill>
              <a:srgbClr val="000000"/>
            </a:solidFill>
          </a:ln>
        </p:spPr>
      </p:pic>
    </p:spTree>
    <p:extLst>
      <p:ext uri="{BB962C8B-B14F-4D97-AF65-F5344CB8AC3E}">
        <p14:creationId xmlns:p14="http://schemas.microsoft.com/office/powerpoint/2010/main" val="40746320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850590" y="365125"/>
            <a:ext cx="10508469" cy="672105"/>
          </a:xfrm>
        </p:spPr>
        <p:txBody>
          <a:bodyPr/>
          <a:lstStyle/>
          <a:p>
            <a:r>
              <a:rPr lang="en-US" sz="3200" dirty="0"/>
              <a:t>13.5 Conclusions of the GMAT Two-Factor Experiment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64627" y="1206064"/>
                <a:ext cx="10594432" cy="4698124"/>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Let us use the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-values in the ANOVA table and a level of significance, </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latin typeface="Cambria Math" panose="02040503050406030204" pitchFamily="18" charset="0"/>
                        <a:cs typeface="Arial" panose="020B0604020202020204" pitchFamily="34" charset="0"/>
                      </a:rPr>
                      <m:t>=0.05</m:t>
                    </m:r>
                  </m:oMath>
                </a14:m>
                <a:r>
                  <a:rPr lang="en-US" sz="2000" dirty="0">
                    <a:latin typeface="Arial" panose="020B0604020202020204" pitchFamily="34" charset="0"/>
                    <a:cs typeface="Arial" panose="020B0604020202020204" pitchFamily="34" charset="0"/>
                  </a:rPr>
                  <a:t>, to conduct the hypothesis tests for the two­-factor GMAT study.</a:t>
                </a:r>
              </a:p>
              <a:p>
                <a:pPr marL="685800" indent="-342900">
                  <a:spcBef>
                    <a:spcPts val="600"/>
                  </a:spcBef>
                  <a:spcAft>
                    <a:spcPts val="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Main effect (factor A)</a:t>
                </a:r>
                <a:r>
                  <a:rPr lang="en-US" sz="2000" dirty="0">
                    <a:latin typeface="Arial" panose="020B0604020202020204" pitchFamily="34" charset="0"/>
                    <a:cs typeface="Arial" panose="020B0604020202020204" pitchFamily="34" charset="0"/>
                  </a:rPr>
                  <a:t>: because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 </a:t>
                </a:r>
                <a14:m>
                  <m:oMath xmlns:m="http://schemas.openxmlformats.org/officeDocument/2006/math">
                    <m:r>
                      <a:rPr lang="en-US" sz="2000" b="0" i="0" dirty="0" smtClean="0">
                        <a:latin typeface="Cambria Math" panose="02040503050406030204" pitchFamily="18" charset="0"/>
                        <a:cs typeface="Arial" panose="020B0604020202020204" pitchFamily="34" charset="0"/>
                      </a:rPr>
                      <m:t>0.299&gt;</m:t>
                    </m:r>
                    <m:r>
                      <a:rPr lang="en-US" sz="2000" i="1" dirty="0" smtClean="0">
                        <a:latin typeface="Cambria Math" panose="02040503050406030204" pitchFamily="18" charset="0"/>
                        <a:cs typeface="Arial" panose="020B0604020202020204" pitchFamily="34" charset="0"/>
                      </a:rPr>
                      <m:t>0.05</m:t>
                    </m:r>
                  </m:oMath>
                </a14:m>
                <a:r>
                  <a:rPr lang="en-US" sz="2000" dirty="0">
                    <a:latin typeface="Arial" panose="020B0604020202020204" pitchFamily="34" charset="0"/>
                    <a:cs typeface="Arial" panose="020B0604020202020204" pitchFamily="34" charset="0"/>
                  </a:rPr>
                  <a:t>, there is no significant difference in the mean GMAT test scores for the three preparation programs.</a:t>
                </a:r>
              </a:p>
              <a:p>
                <a:pPr marL="685800" indent="-342900">
                  <a:spcBef>
                    <a:spcPts val="600"/>
                  </a:spcBef>
                  <a:spcAft>
                    <a:spcPts val="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Main effect (factor B)</a:t>
                </a:r>
                <a:r>
                  <a:rPr lang="en-US" sz="2000" dirty="0">
                    <a:latin typeface="Arial" panose="020B0604020202020204" pitchFamily="34" charset="0"/>
                    <a:cs typeface="Arial" panose="020B0604020202020204" pitchFamily="34" charset="0"/>
                  </a:rPr>
                  <a:t>: because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 </a:t>
                </a:r>
                <a14:m>
                  <m:oMath xmlns:m="http://schemas.openxmlformats.org/officeDocument/2006/math">
                    <m:r>
                      <a:rPr lang="en-US" sz="2000" b="0" i="0" dirty="0" smtClean="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00</m:t>
                    </m:r>
                    <m:r>
                      <a:rPr lang="en-US" sz="2000" b="0" i="1" dirty="0" smtClean="0">
                        <a:solidFill>
                          <a:srgbClr val="FF0000"/>
                        </a:solidFill>
                        <a:latin typeface="Cambria Math" panose="02040503050406030204" pitchFamily="18" charset="0"/>
                        <a:cs typeface="Arial" panose="020B0604020202020204" pitchFamily="34" charset="0"/>
                      </a:rPr>
                      <m:t>48</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0.05</m:t>
                    </m:r>
                  </m:oMath>
                </a14:m>
                <a:r>
                  <a:rPr lang="en-US" sz="2000" dirty="0">
                    <a:latin typeface="Arial" panose="020B0604020202020204" pitchFamily="34" charset="0"/>
                    <a:cs typeface="Arial" panose="020B0604020202020204" pitchFamily="34" charset="0"/>
                  </a:rPr>
                  <a:t>, there is a significant difference in the mean GMAT test scores among the three undergraduate colleges.</a:t>
                </a:r>
              </a:p>
              <a:p>
                <a:pPr marL="685800" indent="-342900">
                  <a:spcBef>
                    <a:spcPts val="600"/>
                  </a:spcBef>
                  <a:spcAft>
                    <a:spcPts val="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Interaction effect (factors A and B)</a:t>
                </a:r>
                <a:r>
                  <a:rPr lang="en-US" sz="2000" dirty="0">
                    <a:latin typeface="Arial" panose="020B0604020202020204" pitchFamily="34" charset="0"/>
                    <a:cs typeface="Arial" panose="020B0604020202020204" pitchFamily="34" charset="0"/>
                  </a:rPr>
                  <a:t>: because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 </a:t>
                </a:r>
                <a14:m>
                  <m:oMath xmlns:m="http://schemas.openxmlformats.org/officeDocument/2006/math">
                    <m:r>
                      <a:rPr lang="en-US" sz="2000" b="0" i="0" dirty="0" smtClean="0">
                        <a:latin typeface="Cambria Math" panose="02040503050406030204" pitchFamily="18" charset="0"/>
                        <a:cs typeface="Arial" panose="020B0604020202020204" pitchFamily="34" charset="0"/>
                      </a:rPr>
                      <m:t>0.350&gt;</m:t>
                    </m:r>
                    <m:r>
                      <a:rPr lang="en-US" sz="2000" i="1" dirty="0" smtClean="0">
                        <a:latin typeface="Cambria Math" panose="02040503050406030204" pitchFamily="18" charset="0"/>
                        <a:cs typeface="Arial" panose="020B0604020202020204" pitchFamily="34" charset="0"/>
                      </a:rPr>
                      <m:t>0.05 </m:t>
                    </m:r>
                  </m:oMath>
                </a14:m>
                <a:r>
                  <a:rPr lang="en-US" sz="2000" dirty="0">
                    <a:latin typeface="Arial" panose="020B0604020202020204" pitchFamily="34" charset="0"/>
                    <a:cs typeface="Arial" panose="020B0604020202020204" pitchFamily="34" charset="0"/>
                  </a:rPr>
                  <a:t>there is no significant interaction effect. </a:t>
                </a:r>
              </a:p>
              <a:p>
                <a:pPr>
                  <a:spcBef>
                    <a:spcPts val="600"/>
                  </a:spcBef>
                  <a:spcAft>
                    <a:spcPts val="0"/>
                  </a:spcAft>
                </a:pPr>
                <a:r>
                  <a:rPr lang="en-US" sz="2000" dirty="0">
                    <a:latin typeface="Arial" panose="020B0604020202020204" pitchFamily="34" charset="0"/>
                    <a:cs typeface="Arial" panose="020B0604020202020204" pitchFamily="34" charset="0"/>
                  </a:rPr>
                  <a:t>Therefore, because no significant interaction effect is reported, the study provides no reason to believe that the three preparation programs differ in their ability to prepare students from the different colleges for the GMAT.</a:t>
                </a:r>
              </a:p>
              <a:p>
                <a:pPr>
                  <a:spcBef>
                    <a:spcPts val="600"/>
                  </a:spcBef>
                  <a:spcAft>
                    <a:spcPts val="0"/>
                  </a:spcAft>
                </a:pPr>
                <a:r>
                  <a:rPr lang="en-US" sz="2000" dirty="0">
                    <a:latin typeface="Arial" panose="020B0604020202020204" pitchFamily="34" charset="0"/>
                    <a:cs typeface="Arial" panose="020B0604020202020204" pitchFamily="34" charset="0"/>
                  </a:rPr>
                  <a:t>The only significant effect is due to a student’s undergraduate college. Analysis of the treatment means for factor B reveal that students in the Arts and Sciences college appear to be significantly less prepared for the GMAT than students in the other colleges.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64627" y="1206064"/>
                <a:ext cx="10594432" cy="4698124"/>
              </a:xfrm>
              <a:blipFill>
                <a:blip r:embed="rId3"/>
                <a:stretch>
                  <a:fillRect l="-1438" t="-1556" r="-2014" b="-2205"/>
                </a:stretch>
              </a:blipFill>
            </p:spPr>
            <p:txBody>
              <a:bodyPr/>
              <a:lstStyle/>
              <a:p>
                <a:r>
                  <a:rPr lang="en-US">
                    <a:noFill/>
                  </a:rPr>
                  <a:t> </a:t>
                </a:r>
              </a:p>
            </p:txBody>
          </p:sp>
        </mc:Fallback>
      </mc:AlternateContent>
    </p:spTree>
    <p:extLst>
      <p:ext uri="{BB962C8B-B14F-4D97-AF65-F5344CB8AC3E}">
        <p14:creationId xmlns:p14="http://schemas.microsoft.com/office/powerpoint/2010/main" val="14215436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355836"/>
            <a:ext cx="10657500" cy="4374931"/>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showed how analysis of variance can be used to test for differences among means of several populations or treatments. </a:t>
            </a:r>
          </a:p>
          <a:p>
            <a:pPr>
              <a:lnSpc>
                <a:spcPct val="100000"/>
              </a:lnSpc>
              <a:spcBef>
                <a:spcPts val="600"/>
              </a:spcBef>
            </a:pPr>
            <a:r>
              <a:rPr lang="en-US" dirty="0">
                <a:latin typeface="Arial" panose="020B0604020202020204" pitchFamily="34" charset="0"/>
                <a:cs typeface="Arial" panose="020B0604020202020204" pitchFamily="34" charset="0"/>
              </a:rPr>
              <a:t>We introduced the completely randomized design, the randomized block design, and the two­-factor factorial experiment. </a:t>
            </a:r>
          </a:p>
          <a:p>
            <a:pPr>
              <a:lnSpc>
                <a:spcPct val="100000"/>
              </a:lnSpc>
              <a:spcBef>
                <a:spcPts val="600"/>
              </a:spcBef>
            </a:pPr>
            <a:r>
              <a:rPr lang="en-US" dirty="0">
                <a:latin typeface="Arial" panose="020B0604020202020204" pitchFamily="34" charset="0"/>
                <a:cs typeface="Arial" panose="020B0604020202020204" pitchFamily="34" charset="0"/>
              </a:rPr>
              <a:t>The completely randomized design and the randomized block design are used to draw conclusions about dif­ferences in the means of a single factor. </a:t>
            </a:r>
          </a:p>
          <a:p>
            <a:pPr>
              <a:lnSpc>
                <a:spcPct val="100000"/>
              </a:lnSpc>
              <a:spcBef>
                <a:spcPts val="600"/>
              </a:spcBef>
            </a:pPr>
            <a:r>
              <a:rPr lang="en-US" dirty="0">
                <a:latin typeface="Arial" panose="020B0604020202020204" pitchFamily="34" charset="0"/>
                <a:cs typeface="Arial" panose="020B0604020202020204" pitchFamily="34" charset="0"/>
              </a:rPr>
              <a:t>The primary purpose of blocking in the randomized block design is to remove extraneous sources of variation from the error term, providing a better estimate of the true error variance and a better test to determine whether the treatment means differ significantly.</a:t>
            </a:r>
          </a:p>
          <a:p>
            <a:pPr>
              <a:lnSpc>
                <a:spcPct val="100000"/>
              </a:lnSpc>
              <a:spcBef>
                <a:spcPts val="600"/>
              </a:spcBef>
            </a:pPr>
            <a:r>
              <a:rPr lang="en-US" dirty="0">
                <a:latin typeface="Arial" panose="020B0604020202020204" pitchFamily="34" charset="0"/>
                <a:cs typeface="Arial" panose="020B0604020202020204" pitchFamily="34" charset="0"/>
              </a:rPr>
              <a:t>In all the experimental designs considered, the analysis of variance is performed by first partitioning the sum of squares and degrees of freedom into their various sources.</a:t>
            </a:r>
          </a:p>
          <a:p>
            <a:pPr>
              <a:lnSpc>
                <a:spcPct val="100000"/>
              </a:lnSpc>
              <a:spcBef>
                <a:spcPts val="600"/>
              </a:spcBef>
            </a:pPr>
            <a:r>
              <a:rPr lang="en-US" dirty="0">
                <a:latin typeface="Arial" panose="020B0604020202020204" pitchFamily="34" charset="0"/>
                <a:cs typeface="Arial" panose="020B0604020202020204" pitchFamily="34" charset="0"/>
              </a:rPr>
              <a:t>We also showed how Fisher’s LSD procedure and the Bonferroni ad­justment can be used to perform pairwise comparisons to determine which means are different.</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100597</TotalTime>
  <Words>7243</Words>
  <Application>Microsoft Office PowerPoint</Application>
  <PresentationFormat>Widescreen</PresentationFormat>
  <Paragraphs>794</Paragraphs>
  <Slides>51</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Arial</vt:lpstr>
      <vt:lpstr>Calibri</vt:lpstr>
      <vt:lpstr>Cambria Math</vt:lpstr>
      <vt:lpstr>Helvetica</vt:lpstr>
      <vt:lpstr>Open Sans</vt:lpstr>
      <vt:lpstr>Summer Font</vt:lpstr>
      <vt:lpstr>Office Theme</vt:lpstr>
      <vt:lpstr>PowerPoint Presentation</vt:lpstr>
      <vt:lpstr>Chapter Contents</vt:lpstr>
      <vt:lpstr>Chapter Objectives (1 of 2)</vt:lpstr>
      <vt:lpstr>Chapter Objectives (2 of 2)</vt:lpstr>
      <vt:lpstr>Introduction</vt:lpstr>
      <vt:lpstr>13.1 An Introduction to Experimental Design and Analysis of Variance</vt:lpstr>
      <vt:lpstr>13.1 Data Collection</vt:lpstr>
      <vt:lpstr>13.1 Hypothesis Test for a Completely Randomized Design</vt:lpstr>
      <vt:lpstr>13.1 Assumptions for Analysis of Variance</vt:lpstr>
      <vt:lpstr>13.1 Analysis of Variance: a Conceptual Overview of the Sampling Distribution of x ̅ when H0 Is True</vt:lpstr>
      <vt:lpstr>13.1 Analysis of Variance: a Conceptual Overview of the Sampling Distribution of x ̅ when H0 Is False</vt:lpstr>
      <vt:lpstr>13.2 Analysis of Variance and the Completely Randomized Design</vt:lpstr>
      <vt:lpstr>13.2 Between-Treatments Estimate of Population Variance</vt:lpstr>
      <vt:lpstr>13.2 Within-Treatments Estimate of Population Variance</vt:lpstr>
      <vt:lpstr>13.2 Comparing the Variance Estimates: The F Test</vt:lpstr>
      <vt:lpstr>13.2 Test Statistic for the Chemitech Completely Randomized Design </vt:lpstr>
      <vt:lpstr>13.2 p-Value Approach to an F Test</vt:lpstr>
      <vt:lpstr>13.2 Critical Value Approach to an F Test</vt:lpstr>
      <vt:lpstr>13.2 ANOVA Table for a Completely Randomized Design</vt:lpstr>
      <vt:lpstr>13.2 ANOVA Table for the Chemitech Experiment</vt:lpstr>
      <vt:lpstr>13.2 Interval Estimate of the Population Means</vt:lpstr>
      <vt:lpstr>13.2 Excel: Dialog Box for the ANOVA: Single Factor Tool</vt:lpstr>
      <vt:lpstr>13.2 Excel: Conduct ANOVA for a Completely Randomized Design</vt:lpstr>
      <vt:lpstr>13.3 Multiple Comparison Procedures</vt:lpstr>
      <vt:lpstr>13.3 Fisher’s LSD Procedure</vt:lpstr>
      <vt:lpstr>13.3 Fisher’s LSD Procedure Based on the Test Statistic x ̅_i-x ̅_j</vt:lpstr>
      <vt:lpstr>13.3 Application of the Fisher’s LSD Procedure</vt:lpstr>
      <vt:lpstr>13.3 Fisher’s LSD Procedure for the Complete Chemitech Example</vt:lpstr>
      <vt:lpstr>13.3 Confidence Interval Estimate of μ_1-μ_2 Using Fisher’s LSD Procedure</vt:lpstr>
      <vt:lpstr>13.3 Type I Error Rates</vt:lpstr>
      <vt:lpstr>13.3 Type I Error Rates for the Chemitech Experiment</vt:lpstr>
      <vt:lpstr>13.3 Bonferroni Adjustment</vt:lpstr>
      <vt:lpstr>13.4 Randomized Block Design</vt:lpstr>
      <vt:lpstr>13.4 ANOVA Table for a Randomized Block Design</vt:lpstr>
      <vt:lpstr>13.4 Air Traffic Controller Stress Test</vt:lpstr>
      <vt:lpstr>13.4 Summary of Stress Data for the Air Traffic Controller Stress Test</vt:lpstr>
      <vt:lpstr>13.4 Computations for the Air Traffic Controller Stress Test</vt:lpstr>
      <vt:lpstr>13.4 ANOVA Table for the Air Traffic Controller Stress Test</vt:lpstr>
      <vt:lpstr>13.4 Excel: Dialog Box for the ANOVA: Two-Factor Without Replication Tool</vt:lpstr>
      <vt:lpstr>13.4 Excel: Conduct ANOVA for a Randomized Block Design</vt:lpstr>
      <vt:lpstr>13.5 Factorial Experiment</vt:lpstr>
      <vt:lpstr>13.5 ANOVA Table for a Two-Factor Experiment</vt:lpstr>
      <vt:lpstr>13.5 The Two-Factor GMAT Experiment</vt:lpstr>
      <vt:lpstr>13.5 The Interaction Effect in a Two-Factor Experiment</vt:lpstr>
      <vt:lpstr>13.5 Summary of the Two-Factor GMAT Experiment</vt:lpstr>
      <vt:lpstr>13.5 Computations for the Two-Factor GMAT Experiment</vt:lpstr>
      <vt:lpstr>13.5 ANOVA Table for the Two-Factor GMAT Experiment</vt:lpstr>
      <vt:lpstr>13.5 Excel: Dialog Box for the ANOVA: Two-Factor With Replication Tool</vt:lpstr>
      <vt:lpstr>13.5 Excel: Conduct ANOVA for a Two-Factor Design</vt:lpstr>
      <vt:lpstr>13.5 Conclusions of the GMAT Two-Factor Experiment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2529</cp:revision>
  <cp:lastPrinted>2016-10-03T15:29:39Z</cp:lastPrinted>
  <dcterms:created xsi:type="dcterms:W3CDTF">2019-11-14T21:20:16Z</dcterms:created>
  <dcterms:modified xsi:type="dcterms:W3CDTF">2025-12-18T16:20:23Z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