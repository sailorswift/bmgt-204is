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8"/>
  </p:notesMasterIdLst>
  <p:handoutMasterIdLst>
    <p:handoutMasterId r:id="rId69"/>
  </p:handoutMasterIdLst>
  <p:sldIdLst>
    <p:sldId id="752" r:id="rId5"/>
    <p:sldId id="524" r:id="rId6"/>
    <p:sldId id="548" r:id="rId7"/>
    <p:sldId id="683" r:id="rId8"/>
    <p:sldId id="596" r:id="rId9"/>
    <p:sldId id="685" r:id="rId10"/>
    <p:sldId id="684" r:id="rId11"/>
    <p:sldId id="688" r:id="rId12"/>
    <p:sldId id="689" r:id="rId13"/>
    <p:sldId id="690" r:id="rId14"/>
    <p:sldId id="691" r:id="rId15"/>
    <p:sldId id="693" r:id="rId16"/>
    <p:sldId id="741" r:id="rId17"/>
    <p:sldId id="742" r:id="rId18"/>
    <p:sldId id="740" r:id="rId19"/>
    <p:sldId id="694" r:id="rId20"/>
    <p:sldId id="737" r:id="rId21"/>
    <p:sldId id="696" r:id="rId22"/>
    <p:sldId id="697" r:id="rId23"/>
    <p:sldId id="743" r:id="rId24"/>
    <p:sldId id="698" r:id="rId25"/>
    <p:sldId id="699" r:id="rId26"/>
    <p:sldId id="700" r:id="rId27"/>
    <p:sldId id="701" r:id="rId28"/>
    <p:sldId id="702" r:id="rId29"/>
    <p:sldId id="703" r:id="rId30"/>
    <p:sldId id="704" r:id="rId31"/>
    <p:sldId id="624" r:id="rId32"/>
    <p:sldId id="705" r:id="rId33"/>
    <p:sldId id="706" r:id="rId34"/>
    <p:sldId id="708" r:id="rId35"/>
    <p:sldId id="709" r:id="rId36"/>
    <p:sldId id="710" r:id="rId37"/>
    <p:sldId id="711" r:id="rId38"/>
    <p:sldId id="712" r:id="rId39"/>
    <p:sldId id="713" r:id="rId40"/>
    <p:sldId id="714" r:id="rId41"/>
    <p:sldId id="715" r:id="rId42"/>
    <p:sldId id="716" r:id="rId43"/>
    <p:sldId id="717" r:id="rId44"/>
    <p:sldId id="744" r:id="rId45"/>
    <p:sldId id="745" r:id="rId46"/>
    <p:sldId id="746" r:id="rId47"/>
    <p:sldId id="719" r:id="rId48"/>
    <p:sldId id="747" r:id="rId49"/>
    <p:sldId id="720" r:id="rId50"/>
    <p:sldId id="721" r:id="rId51"/>
    <p:sldId id="722" r:id="rId52"/>
    <p:sldId id="748" r:id="rId53"/>
    <p:sldId id="749" r:id="rId54"/>
    <p:sldId id="723" r:id="rId55"/>
    <p:sldId id="724" r:id="rId56"/>
    <p:sldId id="726" r:id="rId57"/>
    <p:sldId id="750" r:id="rId58"/>
    <p:sldId id="739" r:id="rId59"/>
    <p:sldId id="728" r:id="rId60"/>
    <p:sldId id="729" r:id="rId61"/>
    <p:sldId id="751" r:id="rId62"/>
    <p:sldId id="731" r:id="rId63"/>
    <p:sldId id="733" r:id="rId64"/>
    <p:sldId id="734" r:id="rId65"/>
    <p:sldId id="736" r:id="rId66"/>
    <p:sldId id="523" r:id="rId6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76B0C9-7F17-146C-A919-1E9004EE7E10}" name="Lumina SME" initials="SME" userId="Lumina SM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5894E"/>
    <a:srgbClr val="D7E7DC"/>
    <a:srgbClr val="D14B1E"/>
    <a:srgbClr val="FF6300"/>
    <a:srgbClr val="FFF4DE"/>
    <a:srgbClr val="CDC800"/>
    <a:srgbClr val="006699"/>
    <a:srgbClr val="2A601F"/>
    <a:srgbClr val="01FF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7" autoAdjust="0"/>
    <p:restoredTop sz="94004" autoAdjust="0"/>
  </p:normalViewPr>
  <p:slideViewPr>
    <p:cSldViewPr snapToGrid="0" snapToObjects="1">
      <p:cViewPr varScale="1">
        <p:scale>
          <a:sx n="59" d="100"/>
          <a:sy n="59" d="100"/>
        </p:scale>
        <p:origin x="908" y="52"/>
      </p:cViewPr>
      <p:guideLst>
        <p:guide orient="horz" pos="2160"/>
        <p:guide pos="3840"/>
      </p:guideLst>
    </p:cSldViewPr>
  </p:slideViewPr>
  <p:outlineViewPr>
    <p:cViewPr>
      <p:scale>
        <a:sx n="33" d="100"/>
        <a:sy n="33" d="100"/>
      </p:scale>
      <p:origin x="0" y="-79712"/>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commentAuthors" Target="commentAuthors.xml"/><Relationship Id="rId75"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2578678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2428474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a:t>
            </a:fld>
            <a:endParaRPr lang="en-US" dirty="0"/>
          </a:p>
        </p:txBody>
      </p:sp>
    </p:spTree>
    <p:extLst>
      <p:ext uri="{BB962C8B-B14F-4D97-AF65-F5344CB8AC3E}">
        <p14:creationId xmlns:p14="http://schemas.microsoft.com/office/powerpoint/2010/main" val="3036830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3243129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606499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2964622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8</a:t>
            </a:fld>
            <a:endParaRPr lang="en-US" dirty="0"/>
          </a:p>
        </p:txBody>
      </p:sp>
    </p:spTree>
    <p:extLst>
      <p:ext uri="{BB962C8B-B14F-4D97-AF65-F5344CB8AC3E}">
        <p14:creationId xmlns:p14="http://schemas.microsoft.com/office/powerpoint/2010/main" val="208572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3038972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Arial" panose="020B0604020202020204" pitchFamily="34" charset="0"/>
              </a:rPr>
              <a:t>One should be cautious about making predictions based on regression for values of the independent variable outside the range of values in the data used to estimate the regression equation. We cannot be sure that the relationship is valid outside the experimental region of the data.</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2431594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13</a:t>
            </a:fld>
            <a:endParaRPr lang="en-US" dirty="0"/>
          </a:p>
        </p:txBody>
      </p:sp>
    </p:spTree>
    <p:extLst>
      <p:ext uri="{BB962C8B-B14F-4D97-AF65-F5344CB8AC3E}">
        <p14:creationId xmlns:p14="http://schemas.microsoft.com/office/powerpoint/2010/main" val="3276588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2927579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solidFill>
                      <a:srgbClr val="000000"/>
                    </a:solidFill>
                    <a:cs typeface="Arial" panose="020B0604020202020204" pitchFamily="34" charset="0"/>
                  </a:rPr>
                  <a:t>poorer fits result in larger values for SSE, with the poorest fit at </a:t>
                </a:r>
                <a14:m>
                  <m:oMath xmlns:m="http://schemas.openxmlformats.org/officeDocument/2006/math">
                    <m:r>
                      <a:rPr lang="en-US" sz="1200" i="1" dirty="0">
                        <a:latin typeface="Cambria Math" panose="02040503050406030204" pitchFamily="18" charset="0"/>
                      </a:rPr>
                      <m:t>𝑆𝑆𝑅</m:t>
                    </m:r>
                    <m:r>
                      <a:rPr lang="en-US" sz="1200" b="0" i="1" dirty="0" smtClean="0">
                        <a:latin typeface="Cambria Math" panose="02040503050406030204" pitchFamily="18" charset="0"/>
                      </a:rPr>
                      <m:t>=0</m:t>
                    </m:r>
                  </m:oMath>
                </a14:m>
                <a:r>
                  <a:rPr lang="en-US" sz="1200" dirty="0">
                    <a:solidFill>
                      <a:srgbClr val="000000"/>
                    </a:solidFill>
                    <a:cs typeface="Arial" panose="020B0604020202020204" pitchFamily="34" charset="0"/>
                  </a:rPr>
                  <a:t> and </a:t>
                </a:r>
                <a14:m>
                  <m:oMath xmlns:m="http://schemas.openxmlformats.org/officeDocument/2006/math">
                    <m:r>
                      <a:rPr lang="en-US" sz="1200" i="1" dirty="0" smtClean="0">
                        <a:solidFill>
                          <a:srgbClr val="000000"/>
                        </a:solidFill>
                        <a:latin typeface="Cambria Math" panose="02040503050406030204" pitchFamily="18" charset="0"/>
                        <a:cs typeface="Arial" panose="020B0604020202020204" pitchFamily="34" charset="0"/>
                      </a:rPr>
                      <m:t>𝑆𝑆𝐸</m:t>
                    </m:r>
                    <m:r>
                      <a:rPr lang="en-US" sz="1200" i="1" dirty="0" smtClean="0">
                        <a:solidFill>
                          <a:srgbClr val="000000"/>
                        </a:solidFill>
                        <a:latin typeface="Cambria Math" panose="02040503050406030204" pitchFamily="18" charset="0"/>
                        <a:cs typeface="Arial" panose="020B0604020202020204" pitchFamily="34" charset="0"/>
                      </a:rPr>
                      <m:t>=</m:t>
                    </m:r>
                    <m:r>
                      <a:rPr lang="en-US" sz="1200" i="1" dirty="0" smtClean="0">
                        <a:solidFill>
                          <a:srgbClr val="000000"/>
                        </a:solidFill>
                        <a:latin typeface="Cambria Math" panose="02040503050406030204" pitchFamily="18" charset="0"/>
                        <a:cs typeface="Arial" panose="020B0604020202020204" pitchFamily="34" charset="0"/>
                      </a:rPr>
                      <m:t>𝑆𝑆𝑇</m:t>
                    </m:r>
                  </m:oMath>
                </a14:m>
                <a:r>
                  <a:rPr lang="en-US" sz="1200" dirty="0">
                    <a:solidFill>
                      <a:srgbClr val="000000"/>
                    </a:solidFill>
                    <a:cs typeface="Arial" panose="020B0604020202020204" pitchFamily="34" charset="0"/>
                  </a:rPr>
                  <a:t>.</a:t>
                </a:r>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solidFill>
                      <a:srgbClr val="000000"/>
                    </a:solidFill>
                    <a:cs typeface="Arial" panose="020B0604020202020204" pitchFamily="34" charset="0"/>
                  </a:rPr>
                  <a:t>poorer fits result in larger values for SSE, with the poorest fit at </a:t>
                </a:r>
                <a:r>
                  <a:rPr lang="en-US" sz="1200" i="0" dirty="0">
                    <a:latin typeface="Cambria Math" panose="02040503050406030204" pitchFamily="18" charset="0"/>
                  </a:rPr>
                  <a:t>𝑆𝑆𝑅</a:t>
                </a:r>
                <a:r>
                  <a:rPr lang="en-US" sz="1200" b="0" i="0" dirty="0">
                    <a:latin typeface="Cambria Math" panose="02040503050406030204" pitchFamily="18" charset="0"/>
                  </a:rPr>
                  <a:t>=0</a:t>
                </a:r>
                <a:r>
                  <a:rPr lang="en-US" sz="1200" dirty="0">
                    <a:solidFill>
                      <a:srgbClr val="000000"/>
                    </a:solidFill>
                    <a:cs typeface="Arial" panose="020B0604020202020204" pitchFamily="34" charset="0"/>
                  </a:rPr>
                  <a:t> and </a:t>
                </a:r>
                <a:r>
                  <a:rPr lang="en-US" sz="1200" i="0" dirty="0">
                    <a:solidFill>
                      <a:srgbClr val="000000"/>
                    </a:solidFill>
                    <a:latin typeface="Cambria Math" panose="02040503050406030204" pitchFamily="18" charset="0"/>
                    <a:cs typeface="Arial" panose="020B0604020202020204" pitchFamily="34" charset="0"/>
                  </a:rPr>
                  <a:t>𝑆𝑆𝐸=𝑆𝑆𝑇</a:t>
                </a:r>
                <a:r>
                  <a:rPr lang="en-US" sz="1200" dirty="0">
                    <a:solidFill>
                      <a:srgbClr val="000000"/>
                    </a:solidFill>
                    <a:cs typeface="Arial" panose="020B0604020202020204" pitchFamily="34" charset="0"/>
                  </a:rPr>
                  <a:t>.</a:t>
                </a: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19</a:t>
            </a:fld>
            <a:endParaRPr lang="en-US" dirty="0"/>
          </a:p>
        </p:txBody>
      </p:sp>
    </p:spTree>
    <p:extLst>
      <p:ext uri="{BB962C8B-B14F-4D97-AF65-F5344CB8AC3E}">
        <p14:creationId xmlns:p14="http://schemas.microsoft.com/office/powerpoint/2010/main" val="47879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21</a:t>
            </a:fld>
            <a:endParaRPr lang="en-US" dirty="0"/>
          </a:p>
        </p:txBody>
      </p:sp>
    </p:spTree>
    <p:extLst>
      <p:ext uri="{BB962C8B-B14F-4D97-AF65-F5344CB8AC3E}">
        <p14:creationId xmlns:p14="http://schemas.microsoft.com/office/powerpoint/2010/main" val="2494154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22</a:t>
            </a:fld>
            <a:endParaRPr lang="en-US" dirty="0"/>
          </a:p>
        </p:txBody>
      </p:sp>
    </p:spTree>
    <p:extLst>
      <p:ext uri="{BB962C8B-B14F-4D97-AF65-F5344CB8AC3E}">
        <p14:creationId xmlns:p14="http://schemas.microsoft.com/office/powerpoint/2010/main" val="16321261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23</a:t>
            </a:fld>
            <a:endParaRPr lang="en-US" dirty="0"/>
          </a:p>
        </p:txBody>
      </p:sp>
    </p:spTree>
    <p:extLst>
      <p:ext uri="{BB962C8B-B14F-4D97-AF65-F5344CB8AC3E}">
        <p14:creationId xmlns:p14="http://schemas.microsoft.com/office/powerpoint/2010/main" val="21988594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24</a:t>
            </a:fld>
            <a:endParaRPr lang="en-US" dirty="0"/>
          </a:p>
        </p:txBody>
      </p:sp>
    </p:spTree>
    <p:extLst>
      <p:ext uri="{BB962C8B-B14F-4D97-AF65-F5344CB8AC3E}">
        <p14:creationId xmlns:p14="http://schemas.microsoft.com/office/powerpoint/2010/main" val="2194886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*Note: </a:t>
                </a:r>
                <a:r>
                  <a:rPr lang="en-US" b="0" i="0" dirty="0">
                    <a:effectLst/>
                    <a:latin typeface="Times New Roman" panose="02020603050405020304" pitchFamily="18" charset="0"/>
                  </a:rPr>
                  <a:t>every sum of squares has associated with it a number called its degrees of freedom. Statisticians have shown that SSE has </a:t>
                </a:r>
                <a14:m>
                  <m:oMath xmlns:m="http://schemas.openxmlformats.org/officeDocument/2006/math">
                    <m:r>
                      <a:rPr lang="en-US" b="0" i="1" dirty="0" smtClean="0">
                        <a:effectLst/>
                        <a:latin typeface="Cambria Math" panose="02040503050406030204" pitchFamily="18" charset="0"/>
                      </a:rPr>
                      <m:t>𝑛</m:t>
                    </m:r>
                    <m:r>
                      <a:rPr lang="en-US" b="0" i="1" dirty="0" smtClean="0">
                        <a:effectLst/>
                        <a:latin typeface="Cambria Math" panose="02040503050406030204" pitchFamily="18" charset="0"/>
                      </a:rPr>
                      <m:t>−2</m:t>
                    </m:r>
                  </m:oMath>
                </a14:m>
                <a:r>
                  <a:rPr lang="en-US" b="0" i="0" dirty="0">
                    <a:effectLst/>
                    <a:latin typeface="Times New Roman" panose="02020603050405020304" pitchFamily="18" charset="0"/>
                  </a:rPr>
                  <a:t> degrees of freedom because two parameters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i="1">
                            <a:latin typeface="Cambria Math" panose="02040503050406030204" pitchFamily="18" charset="0"/>
                          </a:rPr>
                          <m:t>0</m:t>
                        </m:r>
                      </m:sub>
                    </m:sSub>
                  </m:oMath>
                </a14:m>
                <a:r>
                  <a:rPr lang="en-US" b="0" i="0" dirty="0">
                    <a:effectLst/>
                    <a:latin typeface="Times New Roman" panose="02020603050405020304" pitchFamily="18" charset="0"/>
                  </a:rPr>
                  <a:t> and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b="0" i="1" smtClean="0">
                            <a:latin typeface="Cambria Math" panose="02040503050406030204" pitchFamily="18" charset="0"/>
                          </a:rPr>
                          <m:t>1</m:t>
                        </m:r>
                      </m:sub>
                    </m:sSub>
                  </m:oMath>
                </a14:m>
                <a:r>
                  <a:rPr lang="en-US" b="0" i="0" dirty="0">
                    <a:effectLst/>
                    <a:latin typeface="Times New Roman" panose="02020603050405020304" pitchFamily="18" charset="0"/>
                  </a:rPr>
                  <a:t>) must be estimated to compute SSE. Thus, the mean square error is computed by dividing SSE by </a:t>
                </a:r>
                <a14:m>
                  <m:oMath xmlns:m="http://schemas.openxmlformats.org/officeDocument/2006/math">
                    <m:r>
                      <a:rPr lang="en-US" b="0" i="1" dirty="0" smtClean="0">
                        <a:effectLst/>
                        <a:latin typeface="Cambria Math" panose="02040503050406030204" pitchFamily="18" charset="0"/>
                      </a:rPr>
                      <m:t>𝑛</m:t>
                    </m:r>
                    <m:r>
                      <a:rPr lang="en-US" b="0" i="1" dirty="0" smtClean="0">
                        <a:effectLst/>
                        <a:latin typeface="Cambria Math" panose="02040503050406030204" pitchFamily="18" charset="0"/>
                      </a:rPr>
                      <m:t>−2</m:t>
                    </m:r>
                  </m:oMath>
                </a14:m>
                <a:r>
                  <a:rPr lang="en-US" b="0" i="0" dirty="0">
                    <a:effectLst/>
                    <a:latin typeface="Times New Roman" panose="02020603050405020304" pitchFamily="18" charset="0"/>
                  </a:rPr>
                  <a:t>.</a:t>
                </a:r>
                <a:endParaRPr lang="en-US" dirty="0"/>
              </a:p>
            </p:txBody>
          </p:sp>
        </mc:Choice>
        <mc:Fallback xmlns="">
          <p:sp>
            <p:nvSpPr>
              <p:cNvPr id="3" name="Notes Placeholder 2"/>
              <p:cNvSpPr>
                <a:spLocks noGrp="1"/>
              </p:cNvSpPr>
              <p:nvPr>
                <p:ph type="body" idx="1"/>
              </p:nvPr>
            </p:nvSpPr>
            <p:spPr/>
            <p:txBody>
              <a:bodyPr/>
              <a:lstStyle/>
              <a:p>
                <a:r>
                  <a:rPr lang="en-US" dirty="0"/>
                  <a:t>*Note: </a:t>
                </a:r>
                <a:r>
                  <a:rPr lang="en-US" b="0" i="0" dirty="0">
                    <a:effectLst/>
                    <a:latin typeface="Times New Roman" panose="02020603050405020304" pitchFamily="18" charset="0"/>
                  </a:rPr>
                  <a:t>every sum of squares has associated with it a number called its degrees of freedom. Statisticians have shown that SSE has </a:t>
                </a:r>
                <a:r>
                  <a:rPr lang="en-US" b="0" i="0" dirty="0">
                    <a:effectLst/>
                    <a:latin typeface="Cambria Math" panose="02040503050406030204" pitchFamily="18" charset="0"/>
                  </a:rPr>
                  <a:t>𝑛−2</a:t>
                </a:r>
                <a:r>
                  <a:rPr lang="en-US" b="0" i="0" dirty="0">
                    <a:effectLst/>
                    <a:latin typeface="Times New Roman" panose="02020603050405020304" pitchFamily="18" charset="0"/>
                  </a:rPr>
                  <a:t> degrees of freedom because two parameters (</a:t>
                </a:r>
                <a:r>
                  <a:rPr lang="en-US" sz="1200" i="0">
                    <a:latin typeface="Cambria Math" panose="02040503050406030204" pitchFamily="18" charset="0"/>
                    <a:ea typeface="Cambria Math" panose="02040503050406030204" pitchFamily="18" charset="0"/>
                  </a:rPr>
                  <a:t>𝛽_</a:t>
                </a:r>
                <a:r>
                  <a:rPr lang="en-US" sz="1200" i="0">
                    <a:latin typeface="Cambria Math" panose="02040503050406030204" pitchFamily="18" charset="0"/>
                  </a:rPr>
                  <a:t>0</a:t>
                </a:r>
                <a:r>
                  <a:rPr lang="en-US" b="0" i="0" dirty="0">
                    <a:effectLst/>
                    <a:latin typeface="Times New Roman" panose="02020603050405020304" pitchFamily="18" charset="0"/>
                  </a:rPr>
                  <a:t> and </a:t>
                </a:r>
                <a:r>
                  <a:rPr lang="en-US" sz="1200" i="0">
                    <a:latin typeface="Cambria Math" panose="02040503050406030204" pitchFamily="18" charset="0"/>
                    <a:ea typeface="Cambria Math" panose="02040503050406030204" pitchFamily="18" charset="0"/>
                  </a:rPr>
                  <a:t>𝛽_</a:t>
                </a:r>
                <a:r>
                  <a:rPr lang="en-US" sz="1200" b="0" i="0">
                    <a:latin typeface="Cambria Math" panose="02040503050406030204" pitchFamily="18" charset="0"/>
                  </a:rPr>
                  <a:t>1</a:t>
                </a:r>
                <a:r>
                  <a:rPr lang="en-US" b="0" i="0" dirty="0">
                    <a:effectLst/>
                    <a:latin typeface="Times New Roman" panose="02020603050405020304" pitchFamily="18" charset="0"/>
                  </a:rPr>
                  <a:t>) must be estimated to compute SSE. Thus, the mean square error is computed by dividing SSE by </a:t>
                </a:r>
                <a:r>
                  <a:rPr lang="en-US" b="0" i="0" dirty="0">
                    <a:effectLst/>
                    <a:latin typeface="Cambria Math" panose="02040503050406030204" pitchFamily="18" charset="0"/>
                  </a:rPr>
                  <a:t>𝑛−2</a:t>
                </a:r>
                <a:r>
                  <a:rPr lang="en-US" b="0" i="0" dirty="0">
                    <a:effectLst/>
                    <a:latin typeface="Times New Roman" panose="02020603050405020304" pitchFamily="18" charset="0"/>
                  </a:rPr>
                  <a:t>.</a:t>
                </a:r>
                <a:endParaRPr lang="en-US" dirty="0"/>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30492698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*Note:</a:t>
                </a:r>
                <a:r>
                  <a:rPr lang="en-US" baseline="0" dirty="0"/>
                  <a:t> </a:t>
                </a:r>
                <a:r>
                  <a:rPr lang="en-US" sz="1200" b="0" i="0">
                    <a:latin typeface="Cambria Math" panose="02040503050406030204" pitchFamily="18" charset="0"/>
                    <a:ea typeface="Cambria Math" panose="02040503050406030204" pitchFamily="18" charset="0"/>
                    <a:cs typeface="Arial" panose="020B0604020202020204" pitchFamily="34" charset="0"/>
                  </a:rPr>
                  <a:t>𝑏_</a:t>
                </a:r>
                <a:r>
                  <a:rPr lang="en-US" sz="1200" b="0" i="0">
                    <a:latin typeface="Cambria Math" panose="02040503050406030204" pitchFamily="18" charset="0"/>
                    <a:cs typeface="Arial" panose="020B0604020202020204" pitchFamily="34" charset="0"/>
                  </a:rPr>
                  <a:t>1</a:t>
                </a:r>
                <a:r>
                  <a:rPr lang="en-US" baseline="0" dirty="0"/>
                  <a:t> is an unbiased estimator of </a:t>
                </a:r>
                <a:r>
                  <a:rPr lang="en-US" sz="1200" b="0" i="0">
                    <a:latin typeface="Cambria Math" panose="02040503050406030204" pitchFamily="18" charset="0"/>
                    <a:ea typeface="Cambria Math" panose="02040503050406030204" pitchFamily="18" charset="0"/>
                    <a:cs typeface="Arial" panose="020B0604020202020204" pitchFamily="34" charset="0"/>
                  </a:rPr>
                  <a:t>𝛽_</a:t>
                </a:r>
                <a:r>
                  <a:rPr lang="en-US" sz="1200" b="0" i="0">
                    <a:latin typeface="Cambria Math" panose="02040503050406030204" pitchFamily="18" charset="0"/>
                    <a:cs typeface="Arial" panose="020B0604020202020204" pitchFamily="34" charset="0"/>
                  </a:rPr>
                  <a:t>1</a:t>
                </a:r>
                <a:r>
                  <a:rPr lang="en-US" dirty="0"/>
                  <a:t>.</a:t>
                </a: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26</a:t>
            </a:fld>
            <a:endParaRPr lang="en-US" dirty="0"/>
          </a:p>
        </p:txBody>
      </p:sp>
    </p:spTree>
    <p:extLst>
      <p:ext uri="{BB962C8B-B14F-4D97-AF65-F5344CB8AC3E}">
        <p14:creationId xmlns:p14="http://schemas.microsoft.com/office/powerpoint/2010/main" val="250263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27</a:t>
            </a:fld>
            <a:endParaRPr lang="en-US" dirty="0"/>
          </a:p>
        </p:txBody>
      </p:sp>
    </p:spTree>
    <p:extLst>
      <p:ext uri="{BB962C8B-B14F-4D97-AF65-F5344CB8AC3E}">
        <p14:creationId xmlns:p14="http://schemas.microsoft.com/office/powerpoint/2010/main" val="37996703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cs typeface="Arial" panose="020B0604020202020204" pitchFamily="34" charset="0"/>
                  </a:rPr>
                  <a:t>*Note:</a:t>
                </a:r>
                <a:r>
                  <a:rPr lang="en-US" sz="1200" baseline="0" dirty="0">
                    <a:cs typeface="Arial" panose="020B0604020202020204" pitchFamily="34" charset="0"/>
                  </a:rPr>
                  <a:t> u</a:t>
                </a:r>
                <a:r>
                  <a:rPr lang="en-US" sz="1200" dirty="0">
                    <a:cs typeface="Arial" panose="020B0604020202020204" pitchFamily="34" charset="0"/>
                  </a:rPr>
                  <a:t>sing Excel, the </a:t>
                </a:r>
                <a:r>
                  <a:rPr lang="en-US" sz="1200">
                    <a:cs typeface="Arial" panose="020B0604020202020204" pitchFamily="34" charset="0"/>
                  </a:rPr>
                  <a:t>exact </a:t>
                </a:r>
                <a:r>
                  <a:rPr lang="en-US" sz="1200" i="1">
                    <a:cs typeface="Arial" panose="020B0604020202020204" pitchFamily="34" charset="0"/>
                  </a:rPr>
                  <a:t>p</a:t>
                </a:r>
                <a:r>
                  <a:rPr lang="en-US" sz="1200">
                    <a:cs typeface="Arial" panose="020B0604020202020204" pitchFamily="34" charset="0"/>
                  </a:rPr>
                  <a:t>-value </a:t>
                </a:r>
                <a:r>
                  <a:rPr lang="en-US" sz="1200" dirty="0">
                    <a:cs typeface="Arial" panose="020B0604020202020204" pitchFamily="34" charset="0"/>
                  </a:rPr>
                  <a:t>is</a:t>
                </a:r>
                <a:r>
                  <a:rPr lang="en-US" sz="1200" dirty="0"/>
                  <a:t> </a:t>
                </a:r>
                <a14:m>
                  <m:oMath xmlns:m="http://schemas.openxmlformats.org/officeDocument/2006/math">
                    <m:r>
                      <a:rPr lang="en-US" sz="1200" b="0" i="1" dirty="0" smtClean="0">
                        <a:latin typeface="Cambria Math" panose="02040503050406030204" pitchFamily="18" charset="0"/>
                      </a:rPr>
                      <m:t>2</m:t>
                    </m:r>
                    <m:r>
                      <a:rPr lang="en-US" sz="1200" i="1" dirty="0" smtClean="0">
                        <a:latin typeface="Cambria Math" panose="02040503050406030204" pitchFamily="18" charset="0"/>
                      </a:rPr>
                      <m:t>𝑃</m:t>
                    </m:r>
                    <m:d>
                      <m:dPr>
                        <m:ctrlPr>
                          <a:rPr lang="en-US" sz="1200" i="1" dirty="0" smtClean="0">
                            <a:latin typeface="Cambria Math" panose="02040503050406030204" pitchFamily="18" charset="0"/>
                          </a:rPr>
                        </m:ctrlPr>
                      </m:dPr>
                      <m:e>
                        <m:r>
                          <a:rPr lang="en-US" sz="1200" i="1" dirty="0">
                            <a:latin typeface="Cambria Math" panose="02040503050406030204" pitchFamily="18" charset="0"/>
                          </a:rPr>
                          <m:t>𝑡</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8.62</m:t>
                        </m:r>
                      </m:e>
                    </m:d>
                    <m:r>
                      <a:rPr lang="en-US" sz="1200" b="0" i="1" dirty="0" smtClean="0">
                        <a:latin typeface="Cambria Math" panose="02040503050406030204" pitchFamily="18" charset="0"/>
                      </a:rPr>
                      <m:t>=</m:t>
                    </m:r>
                    <m:r>
                      <m:rPr>
                        <m:nor/>
                      </m:rPr>
                      <a:rPr lang="en-US" sz="1200" b="0" i="0" dirty="0" smtClean="0">
                        <a:latin typeface="Cambria Math" panose="02040503050406030204" pitchFamily="18" charset="0"/>
                      </a:rPr>
                      <m:t>2∗</m:t>
                    </m:r>
                    <m:r>
                      <m:rPr>
                        <m:nor/>
                      </m:rPr>
                      <a:rPr lang="en-US" sz="1200" dirty="0">
                        <a:latin typeface="Cambria Math" panose="02040503050406030204" pitchFamily="18" charset="0"/>
                        <a:cs typeface="Arial" panose="020B0604020202020204" pitchFamily="34" charset="0"/>
                      </a:rPr>
                      <m:t>T</m:t>
                    </m:r>
                    <m:r>
                      <m:rPr>
                        <m:nor/>
                      </m:rPr>
                      <a:rPr lang="en-US" sz="1200" dirty="0">
                        <a:latin typeface="Cambria Math" panose="02040503050406030204" pitchFamily="18" charset="0"/>
                        <a:cs typeface="Arial" panose="020B0604020202020204" pitchFamily="34" charset="0"/>
                      </a:rPr>
                      <m:t>.</m:t>
                    </m:r>
                    <m:r>
                      <m:rPr>
                        <m:nor/>
                      </m:rPr>
                      <a:rPr lang="en-US" sz="1200" dirty="0">
                        <a:latin typeface="Cambria Math" panose="02040503050406030204" pitchFamily="18" charset="0"/>
                        <a:cs typeface="Arial" panose="020B0604020202020204" pitchFamily="34" charset="0"/>
                      </a:rPr>
                      <m:t>DIST</m:t>
                    </m:r>
                    <m:r>
                      <m:rPr>
                        <m:nor/>
                      </m:rPr>
                      <a:rPr lang="en-US" sz="1200" dirty="0">
                        <a:latin typeface="Cambria Math" panose="02040503050406030204" pitchFamily="18" charset="0"/>
                        <a:cs typeface="Arial" panose="020B0604020202020204" pitchFamily="34" charset="0"/>
                      </a:rPr>
                      <m:t>.</m:t>
                    </m:r>
                    <m:r>
                      <m:rPr>
                        <m:nor/>
                      </m:rPr>
                      <a:rPr lang="en-US" sz="1200" dirty="0">
                        <a:latin typeface="Cambria Math" panose="02040503050406030204" pitchFamily="18" charset="0"/>
                        <a:cs typeface="Arial" panose="020B0604020202020204" pitchFamily="34" charset="0"/>
                      </a:rPr>
                      <m:t>RT</m:t>
                    </m:r>
                    <m:r>
                      <m:rPr>
                        <m:nor/>
                      </m:rPr>
                      <a:rPr lang="en-US" sz="1200" dirty="0">
                        <a:latin typeface="Cambria Math" panose="02040503050406030204" pitchFamily="18" charset="0"/>
                        <a:cs typeface="Arial" panose="020B0604020202020204" pitchFamily="34" charset="0"/>
                      </a:rPr>
                      <m:t>(</m:t>
                    </m:r>
                    <m:r>
                      <a:rPr lang="en-US" sz="1200" i="1" dirty="0" smtClean="0">
                        <a:latin typeface="Cambria Math" panose="02040503050406030204" pitchFamily="18" charset="0"/>
                        <a:cs typeface="Arial" panose="020B0604020202020204" pitchFamily="34" charset="0"/>
                      </a:rPr>
                      <m:t>8</m:t>
                    </m:r>
                    <m:r>
                      <a:rPr lang="en-US" sz="1200" b="0" i="1" dirty="0" smtClean="0">
                        <a:latin typeface="Cambria Math" panose="02040503050406030204" pitchFamily="18" charset="0"/>
                        <a:cs typeface="Arial" panose="020B0604020202020204" pitchFamily="34" charset="0"/>
                      </a:rPr>
                      <m:t>.62</m:t>
                    </m:r>
                    <m:r>
                      <m:rPr>
                        <m:nor/>
                      </m:rPr>
                      <a:rPr lang="en-US" sz="1200" dirty="0" smtClean="0">
                        <a:latin typeface="Cambria Math" panose="02040503050406030204" pitchFamily="18" charset="0"/>
                        <a:cs typeface="Arial" panose="020B0604020202020204" pitchFamily="34" charset="0"/>
                      </a:rPr>
                      <m:t>,</m:t>
                    </m:r>
                    <m:r>
                      <m:rPr>
                        <m:nor/>
                      </m:rPr>
                      <a:rPr lang="en-US" sz="1200" b="0" i="0" dirty="0" smtClean="0">
                        <a:latin typeface="Cambria Math" panose="02040503050406030204" pitchFamily="18" charset="0"/>
                        <a:cs typeface="Arial" panose="020B0604020202020204" pitchFamily="34" charset="0"/>
                      </a:rPr>
                      <m:t>8</m:t>
                    </m:r>
                    <m:r>
                      <m:rPr>
                        <m:nor/>
                      </m:rPr>
                      <a:rPr lang="en-US" sz="1200" dirty="0">
                        <a:latin typeface="Cambria Math" panose="02040503050406030204" pitchFamily="18" charset="0"/>
                        <a:cs typeface="Arial" panose="020B0604020202020204" pitchFamily="34" charset="0"/>
                      </a:rPr>
                      <m:t>)</m:t>
                    </m:r>
                    <m:r>
                      <a:rPr lang="en-US" sz="1200" i="1" dirty="0">
                        <a:latin typeface="Cambria Math" panose="02040503050406030204" pitchFamily="18" charset="0"/>
                        <a:cs typeface="Arial" panose="020B0604020202020204" pitchFamily="34" charset="0"/>
                      </a:rPr>
                      <m:t>=0.</m:t>
                    </m:r>
                    <m:r>
                      <a:rPr lang="en-US" sz="1200" b="0" i="1" dirty="0" smtClean="0">
                        <a:latin typeface="Cambria Math" panose="02040503050406030204" pitchFamily="18" charset="0"/>
                        <a:cs typeface="Arial" panose="020B0604020202020204" pitchFamily="34" charset="0"/>
                      </a:rPr>
                      <m:t>00003</m:t>
                    </m:r>
                  </m:oMath>
                </a14:m>
                <a:endParaRPr lang="en-US" sz="1200"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cs typeface="Arial" panose="020B0604020202020204" pitchFamily="34" charset="0"/>
                  </a:rPr>
                  <a:t>*Note:</a:t>
                </a:r>
                <a:r>
                  <a:rPr lang="en-US" sz="1200" baseline="0" dirty="0">
                    <a:cs typeface="Arial" panose="020B0604020202020204" pitchFamily="34" charset="0"/>
                  </a:rPr>
                  <a:t> u</a:t>
                </a:r>
                <a:r>
                  <a:rPr lang="en-US" sz="1200" dirty="0">
                    <a:cs typeface="Arial" panose="020B0604020202020204" pitchFamily="34" charset="0"/>
                  </a:rPr>
                  <a:t>sing Excel, the exact </a:t>
                </a:r>
                <a:r>
                  <a:rPr lang="en-US" sz="1200" i="1" dirty="0">
                    <a:cs typeface="Arial" panose="020B0604020202020204" pitchFamily="34" charset="0"/>
                  </a:rPr>
                  <a:t>p</a:t>
                </a:r>
                <a:r>
                  <a:rPr lang="en-US" sz="1200" dirty="0">
                    <a:cs typeface="Arial" panose="020B0604020202020204" pitchFamily="34" charset="0"/>
                  </a:rPr>
                  <a:t>-value is</a:t>
                </a:r>
                <a:r>
                  <a:rPr lang="en-US" sz="1200" dirty="0"/>
                  <a:t> </a:t>
                </a:r>
                <a:r>
                  <a:rPr lang="en-US" sz="1200" b="0" i="0" dirty="0">
                    <a:latin typeface="Cambria Math" panose="02040503050406030204" pitchFamily="18" charset="0"/>
                  </a:rPr>
                  <a:t>2</a:t>
                </a:r>
                <a:r>
                  <a:rPr lang="en-US" sz="1200" i="0" dirty="0">
                    <a:latin typeface="Cambria Math" panose="02040503050406030204" pitchFamily="18" charset="0"/>
                  </a:rPr>
                  <a:t>𝑃(𝑡</a:t>
                </a:r>
                <a:r>
                  <a:rPr lang="en-US" sz="1200" i="0" dirty="0">
                    <a:latin typeface="Cambria Math" panose="02040503050406030204" pitchFamily="18" charset="0"/>
                    <a:ea typeface="Cambria Math" panose="02040503050406030204" pitchFamily="18" charset="0"/>
                  </a:rPr>
                  <a:t>≥</a:t>
                </a:r>
                <a:r>
                  <a:rPr lang="en-US" sz="1200" b="0" i="0" dirty="0">
                    <a:latin typeface="Cambria Math" panose="02040503050406030204" pitchFamily="18" charset="0"/>
                    <a:ea typeface="Cambria Math" panose="02040503050406030204" pitchFamily="18" charset="0"/>
                  </a:rPr>
                  <a:t>8.62)</a:t>
                </a:r>
                <a:r>
                  <a:rPr lang="en-US" sz="1200" b="0" i="0" dirty="0">
                    <a:latin typeface="Cambria Math" panose="02040503050406030204" pitchFamily="18" charset="0"/>
                  </a:rPr>
                  <a:t>="2∗</a:t>
                </a:r>
                <a:r>
                  <a:rPr lang="en-US" sz="1200" i="0" dirty="0">
                    <a:latin typeface="Cambria Math" panose="02040503050406030204" pitchFamily="18" charset="0"/>
                    <a:cs typeface="Arial" panose="020B0604020202020204" pitchFamily="34" charset="0"/>
                  </a:rPr>
                  <a:t>T.DIST.RT(" 8</a:t>
                </a:r>
                <a:r>
                  <a:rPr lang="en-US" sz="1200" b="0" i="0" dirty="0">
                    <a:latin typeface="Cambria Math" panose="02040503050406030204" pitchFamily="18" charset="0"/>
                    <a:cs typeface="Arial" panose="020B0604020202020204" pitchFamily="34" charset="0"/>
                  </a:rPr>
                  <a:t>.62"</a:t>
                </a:r>
                <a:r>
                  <a:rPr lang="en-US" sz="1200" i="0" dirty="0">
                    <a:latin typeface="Cambria Math" panose="02040503050406030204" pitchFamily="18" charset="0"/>
                    <a:cs typeface="Arial" panose="020B0604020202020204" pitchFamily="34" charset="0"/>
                  </a:rPr>
                  <a:t>,</a:t>
                </a:r>
                <a:r>
                  <a:rPr lang="en-US" sz="1200" b="0" i="0" dirty="0">
                    <a:latin typeface="Cambria Math" panose="02040503050406030204" pitchFamily="18" charset="0"/>
                    <a:cs typeface="Arial" panose="020B0604020202020204" pitchFamily="34" charset="0"/>
                  </a:rPr>
                  <a:t>8</a:t>
                </a:r>
                <a:r>
                  <a:rPr lang="en-US" sz="1200" i="0" dirty="0">
                    <a:latin typeface="Cambria Math" panose="02040503050406030204" pitchFamily="18" charset="0"/>
                    <a:cs typeface="Arial" panose="020B0604020202020204" pitchFamily="34" charset="0"/>
                  </a:rPr>
                  <a:t>)"=0.</a:t>
                </a:r>
                <a:r>
                  <a:rPr lang="en-US" sz="1200" b="0" i="0" dirty="0">
                    <a:latin typeface="Cambria Math" panose="02040503050406030204" pitchFamily="18" charset="0"/>
                    <a:cs typeface="Arial" panose="020B0604020202020204" pitchFamily="34" charset="0"/>
                  </a:rPr>
                  <a:t>00003</a:t>
                </a:r>
                <a:endParaRPr lang="en-US" sz="1200" dirty="0"/>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28</a:t>
            </a:fld>
            <a:endParaRPr lang="en-US" dirty="0"/>
          </a:p>
        </p:txBody>
      </p:sp>
    </p:spTree>
    <p:extLst>
      <p:ext uri="{BB962C8B-B14F-4D97-AF65-F5344CB8AC3E}">
        <p14:creationId xmlns:p14="http://schemas.microsoft.com/office/powerpoint/2010/main" val="29825301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29</a:t>
            </a:fld>
            <a:endParaRPr lang="en-US" dirty="0"/>
          </a:p>
        </p:txBody>
      </p:sp>
    </p:spTree>
    <p:extLst>
      <p:ext uri="{BB962C8B-B14F-4D97-AF65-F5344CB8AC3E}">
        <p14:creationId xmlns:p14="http://schemas.microsoft.com/office/powerpoint/2010/main" val="17130956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dirty="0"/>
          </a:p>
        </p:txBody>
      </p:sp>
    </p:spTree>
    <p:extLst>
      <p:ext uri="{BB962C8B-B14F-4D97-AF65-F5344CB8AC3E}">
        <p14:creationId xmlns:p14="http://schemas.microsoft.com/office/powerpoint/2010/main" val="18322952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14479446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33</a:t>
            </a:fld>
            <a:endParaRPr lang="en-US" dirty="0"/>
          </a:p>
        </p:txBody>
      </p:sp>
    </p:spTree>
    <p:extLst>
      <p:ext uri="{BB962C8B-B14F-4D97-AF65-F5344CB8AC3E}">
        <p14:creationId xmlns:p14="http://schemas.microsoft.com/office/powerpoint/2010/main" val="40794167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34</a:t>
            </a:fld>
            <a:endParaRPr lang="en-US" dirty="0"/>
          </a:p>
        </p:txBody>
      </p:sp>
    </p:spTree>
    <p:extLst>
      <p:ext uri="{BB962C8B-B14F-4D97-AF65-F5344CB8AC3E}">
        <p14:creationId xmlns:p14="http://schemas.microsoft.com/office/powerpoint/2010/main" val="13724510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35</a:t>
            </a:fld>
            <a:endParaRPr lang="en-US" dirty="0"/>
          </a:p>
        </p:txBody>
      </p:sp>
    </p:spTree>
    <p:extLst>
      <p:ext uri="{BB962C8B-B14F-4D97-AF65-F5344CB8AC3E}">
        <p14:creationId xmlns:p14="http://schemas.microsoft.com/office/powerpoint/2010/main" val="6450456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38</a:t>
            </a:fld>
            <a:endParaRPr lang="en-US" dirty="0"/>
          </a:p>
        </p:txBody>
      </p:sp>
    </p:spTree>
    <p:extLst>
      <p:ext uri="{BB962C8B-B14F-4D97-AF65-F5344CB8AC3E}">
        <p14:creationId xmlns:p14="http://schemas.microsoft.com/office/powerpoint/2010/main" val="10379454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48</a:t>
            </a:fld>
            <a:endParaRPr lang="en-US" dirty="0"/>
          </a:p>
        </p:txBody>
      </p:sp>
    </p:spTree>
    <p:extLst>
      <p:ext uri="{BB962C8B-B14F-4D97-AF65-F5344CB8AC3E}">
        <p14:creationId xmlns:p14="http://schemas.microsoft.com/office/powerpoint/2010/main" val="9606561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Arial" panose="020B0604020202020204" pitchFamily="34" charset="0"/>
              </a:rPr>
              <a:t>Leverage will be discussed further when we consider influential observations in Section 14.9.</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51</a:t>
            </a:fld>
            <a:endParaRPr lang="en-US" dirty="0"/>
          </a:p>
        </p:txBody>
      </p:sp>
    </p:spTree>
    <p:extLst>
      <p:ext uri="{BB962C8B-B14F-4D97-AF65-F5344CB8AC3E}">
        <p14:creationId xmlns:p14="http://schemas.microsoft.com/office/powerpoint/2010/main" val="3698754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a:t>
                </a:r>
                <a:r>
                  <a:rPr lang="en-US" baseline="0" dirty="0"/>
                  <a:t> the first normal score is</a:t>
                </a:r>
                <a:r>
                  <a:rPr lang="en-US" dirty="0"/>
                  <a:t> the expected value of </a:t>
                </a:r>
                <a:r>
                  <a:rPr lang="en-US"/>
                  <a:t>the </a:t>
                </a:r>
                <a:r>
                  <a:rPr lang="en-US" i="1"/>
                  <a:t>first-order </a:t>
                </a:r>
                <a:r>
                  <a:rPr lang="en-US" i="1" dirty="0"/>
                  <a:t>statistic </a:t>
                </a:r>
                <a:r>
                  <a:rPr lang="en-US" dirty="0"/>
                  <a:t>for a standard normal probability distribution.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t>The first-order </a:t>
                </a:r>
                <a:r>
                  <a:rPr lang="en-US" dirty="0"/>
                  <a:t>statistic is a </a:t>
                </a:r>
                <a:r>
                  <a:rPr lang="en-US" b="0" i="0" dirty="0">
                    <a:effectLst/>
                    <a:latin typeface="Times New Roman" panose="02020603050405020304" pitchFamily="18" charset="0"/>
                  </a:rPr>
                  <a:t>random variable representing the smallest value obtained in the repeated sampling of a given size from a normal probability distribution.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Statisticians</a:t>
                </a:r>
                <a:r>
                  <a:rPr lang="en-US" baseline="0" dirty="0"/>
                  <a:t> proved </a:t>
                </a:r>
                <a:r>
                  <a:rPr lang="en-US" dirty="0"/>
                  <a:t>that for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=10</m:t>
                    </m:r>
                  </m:oMath>
                </a14:m>
                <a:r>
                  <a:rPr lang="en-US" dirty="0"/>
                  <a:t>, as it is in</a:t>
                </a:r>
                <a:r>
                  <a:rPr lang="en-US" baseline="0" dirty="0"/>
                  <a:t> the Armand’s Pizza Parlors case, </a:t>
                </a:r>
                <a:r>
                  <a:rPr lang="en-US"/>
                  <a:t>the first-order </a:t>
                </a:r>
                <a:r>
                  <a:rPr lang="en-US" dirty="0"/>
                  <a:t>statistic,</a:t>
                </a:r>
                <a:r>
                  <a:rPr lang="en-US" baseline="0" dirty="0"/>
                  <a:t> and </a:t>
                </a:r>
                <a:r>
                  <a:rPr lang="en-US" dirty="0"/>
                  <a:t>first normal score, </a:t>
                </a:r>
                <a:r>
                  <a:rPr lang="en-US"/>
                  <a:t>is -1.55</a:t>
                </a:r>
                <a:r>
                  <a:rPr lang="en-US" dirty="0"/>
                  <a:t>.</a:t>
                </a:r>
                <a:r>
                  <a:rPr lang="en-US" baseline="0" dirty="0"/>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aseline="0" dirty="0"/>
                  <a:t>Once the first and last normal scores </a:t>
                </a:r>
                <a:r>
                  <a:rPr lang="en-US" baseline="0"/>
                  <a:t>of -1.55 </a:t>
                </a:r>
                <a:r>
                  <a:rPr lang="en-US" baseline="0" dirty="0"/>
                  <a:t>and +1.55 are identified, then the other </a:t>
                </a:r>
                <a14:m>
                  <m:oMath xmlns:m="http://schemas.openxmlformats.org/officeDocument/2006/math">
                    <m:r>
                      <a:rPr lang="en-US" i="1" baseline="0" dirty="0" smtClean="0">
                        <a:latin typeface="Cambria Math" panose="02040503050406030204" pitchFamily="18" charset="0"/>
                      </a:rPr>
                      <m:t>𝑛</m:t>
                    </m:r>
                    <m:r>
                      <a:rPr lang="en-US" i="1" baseline="0" dirty="0" smtClean="0">
                        <a:latin typeface="Cambria Math" panose="02040503050406030204" pitchFamily="18" charset="0"/>
                      </a:rPr>
                      <m:t>−2=8</m:t>
                    </m:r>
                  </m:oMath>
                </a14:m>
                <a:r>
                  <a:rPr lang="en-US" baseline="0" dirty="0"/>
                  <a:t> normal scores are computed by dividing the range </a:t>
                </a:r>
                <a:r>
                  <a:rPr lang="en-US" baseline="0"/>
                  <a:t>between -1.55 </a:t>
                </a:r>
                <a:r>
                  <a:rPr lang="en-US" baseline="0" dirty="0"/>
                  <a:t>and +1.55 into </a:t>
                </a:r>
                <a14:m>
                  <m:oMath xmlns:m="http://schemas.openxmlformats.org/officeDocument/2006/math">
                    <m:r>
                      <a:rPr lang="en-US" i="1" baseline="0" dirty="0" smtClean="0">
                        <a:latin typeface="Cambria Math" panose="02040503050406030204" pitchFamily="18" charset="0"/>
                      </a:rPr>
                      <m:t>8+1=9</m:t>
                    </m:r>
                  </m:oMath>
                </a14:m>
                <a:r>
                  <a:rPr lang="en-US" baseline="0" dirty="0"/>
                  <a:t> intervals of equal probability.</a:t>
                </a:r>
                <a:endParaRPr lang="en-US" dirty="0"/>
              </a:p>
              <a:p>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a:t>
                </a:r>
                <a:r>
                  <a:rPr lang="en-US" baseline="0" dirty="0"/>
                  <a:t> the first normal score is</a:t>
                </a:r>
                <a:r>
                  <a:rPr lang="en-US" dirty="0"/>
                  <a:t> the expected value of the </a:t>
                </a:r>
                <a:r>
                  <a:rPr lang="en-US" i="1" dirty="0"/>
                  <a:t>first-order statistic </a:t>
                </a:r>
                <a:r>
                  <a:rPr lang="en-US" dirty="0"/>
                  <a:t>for a standard normal probability distribution.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first-order statistic is a </a:t>
                </a:r>
                <a:r>
                  <a:rPr lang="en-US" b="0" i="0" dirty="0">
                    <a:effectLst/>
                    <a:latin typeface="Times New Roman" panose="02020603050405020304" pitchFamily="18" charset="0"/>
                  </a:rPr>
                  <a:t>random variable representing the smallest value obtained in the repeated sampling of a given size from a normal probability distribution.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Statisticians</a:t>
                </a:r>
                <a:r>
                  <a:rPr lang="en-US" baseline="0" dirty="0"/>
                  <a:t> proved </a:t>
                </a:r>
                <a:r>
                  <a:rPr lang="en-US" dirty="0"/>
                  <a:t>that for </a:t>
                </a:r>
                <a:r>
                  <a:rPr lang="en-US" i="0" dirty="0">
                    <a:latin typeface="Cambria Math" panose="02040503050406030204" pitchFamily="18" charset="0"/>
                  </a:rPr>
                  <a:t>𝑛=10</a:t>
                </a:r>
                <a:r>
                  <a:rPr lang="en-US" dirty="0"/>
                  <a:t>, as it is in</a:t>
                </a:r>
                <a:r>
                  <a:rPr lang="en-US" baseline="0" dirty="0"/>
                  <a:t> the Armand’s Pizza Parlors case, </a:t>
                </a:r>
                <a:r>
                  <a:rPr lang="en-US" dirty="0"/>
                  <a:t>the first-order statistic,</a:t>
                </a:r>
                <a:r>
                  <a:rPr lang="en-US" baseline="0" dirty="0"/>
                  <a:t> and </a:t>
                </a:r>
                <a:r>
                  <a:rPr lang="en-US" dirty="0"/>
                  <a:t>first normal score, is -1.55.</a:t>
                </a:r>
                <a:r>
                  <a:rPr lang="en-US" baseline="0" dirty="0"/>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aseline="0" dirty="0"/>
                  <a:t>Once the first and last normal scores of -1.55 and +1.55 are identified, then the other </a:t>
                </a:r>
                <a:r>
                  <a:rPr lang="en-US" i="0" baseline="0" dirty="0">
                    <a:latin typeface="Cambria Math" panose="02040503050406030204" pitchFamily="18" charset="0"/>
                  </a:rPr>
                  <a:t>𝑛−2=8</a:t>
                </a:r>
                <a:r>
                  <a:rPr lang="en-US" baseline="0" dirty="0"/>
                  <a:t> normal scores are computed by dividing the range between -1.55 and +1.55 into </a:t>
                </a:r>
                <a:r>
                  <a:rPr lang="en-US" i="0" baseline="0" dirty="0">
                    <a:latin typeface="Cambria Math" panose="02040503050406030204" pitchFamily="18" charset="0"/>
                  </a:rPr>
                  <a:t>8+1=9</a:t>
                </a:r>
                <a:r>
                  <a:rPr lang="en-US" baseline="0" dirty="0"/>
                  <a:t> intervals of equal probability.</a:t>
                </a:r>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55</a:t>
            </a:fld>
            <a:endParaRPr lang="en-US" dirty="0"/>
          </a:p>
        </p:txBody>
      </p:sp>
    </p:spTree>
    <p:extLst>
      <p:ext uri="{BB962C8B-B14F-4D97-AF65-F5344CB8AC3E}">
        <p14:creationId xmlns:p14="http://schemas.microsoft.com/office/powerpoint/2010/main" val="1220836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56</a:t>
            </a:fld>
            <a:endParaRPr lang="en-US" dirty="0"/>
          </a:p>
        </p:txBody>
      </p:sp>
    </p:spTree>
    <p:extLst>
      <p:ext uri="{BB962C8B-B14F-4D97-AF65-F5344CB8AC3E}">
        <p14:creationId xmlns:p14="http://schemas.microsoft.com/office/powerpoint/2010/main" val="13284522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59</a:t>
            </a:fld>
            <a:endParaRPr lang="en-US" dirty="0"/>
          </a:p>
        </p:txBody>
      </p:sp>
    </p:spTree>
    <p:extLst>
      <p:ext uri="{BB962C8B-B14F-4D97-AF65-F5344CB8AC3E}">
        <p14:creationId xmlns:p14="http://schemas.microsoft.com/office/powerpoint/2010/main" val="40289992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60</a:t>
            </a:fld>
            <a:endParaRPr lang="en-US" dirty="0"/>
          </a:p>
        </p:txBody>
      </p:sp>
    </p:spTree>
    <p:extLst>
      <p:ext uri="{BB962C8B-B14F-4D97-AF65-F5344CB8AC3E}">
        <p14:creationId xmlns:p14="http://schemas.microsoft.com/office/powerpoint/2010/main" val="26169233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61</a:t>
            </a:fld>
            <a:endParaRPr lang="en-US" dirty="0"/>
          </a:p>
        </p:txBody>
      </p:sp>
    </p:spTree>
    <p:extLst>
      <p:ext uri="{BB962C8B-B14F-4D97-AF65-F5344CB8AC3E}">
        <p14:creationId xmlns:p14="http://schemas.microsoft.com/office/powerpoint/2010/main" val="30685717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62</a:t>
            </a:fld>
            <a:endParaRPr lang="en-US" dirty="0"/>
          </a:p>
        </p:txBody>
      </p:sp>
    </p:spTree>
    <p:extLst>
      <p:ext uri="{BB962C8B-B14F-4D97-AF65-F5344CB8AC3E}">
        <p14:creationId xmlns:p14="http://schemas.microsoft.com/office/powerpoint/2010/main" val="33314689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63</a:t>
            </a:fld>
            <a:endParaRPr lang="en-US" dirty="0"/>
          </a:p>
        </p:txBody>
      </p:sp>
    </p:spTree>
    <p:extLst>
      <p:ext uri="{BB962C8B-B14F-4D97-AF65-F5344CB8AC3E}">
        <p14:creationId xmlns:p14="http://schemas.microsoft.com/office/powerpoint/2010/main" val="22341494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dirty="0">
                <a:solidFill>
                  <a:srgbClr val="000000"/>
                </a:solidFill>
                <a:effectLst/>
                <a:latin typeface="+mj-lt"/>
                <a:cs typeface="Arial" panose="020B0604020202020204" pitchFamily="34" charset="0"/>
              </a:rPr>
              <a:t>© 2020  Cengage.  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t>
            </a:r>
            <a:r>
              <a:rPr lang="en-US" sz="798">
                <a:solidFill>
                  <a:srgbClr val="000000"/>
                </a:solidFill>
                <a:effectLst/>
                <a:latin typeface="+mj-lt"/>
                <a:cs typeface="Arial" panose="020B0604020202020204" pitchFamily="34" charset="0"/>
              </a:rPr>
              <a:t>a password-protected </a:t>
            </a:r>
            <a:r>
              <a:rPr lang="en-US" sz="798" dirty="0">
                <a:solidFill>
                  <a:srgbClr val="000000"/>
                </a:solidFill>
                <a:effectLst/>
                <a:latin typeface="+mj-lt"/>
                <a:cs typeface="Arial" panose="020B0604020202020204" pitchFamily="34" charset="0"/>
              </a:rPr>
              <a:t>website </a:t>
            </a:r>
            <a:r>
              <a:rPr lang="en-US" sz="798">
                <a:solidFill>
                  <a:srgbClr val="000000"/>
                </a:solidFill>
                <a:effectLst/>
                <a:latin typeface="+mj-lt"/>
                <a:cs typeface="Arial" panose="020B0604020202020204" pitchFamily="34" charset="0"/>
              </a:rPr>
              <a:t>or</a:t>
            </a:r>
            <a:r>
              <a:rPr lang="en-US" sz="798" baseline="0">
                <a:solidFill>
                  <a:srgbClr val="000000"/>
                </a:solidFill>
                <a:effectLst/>
                <a:latin typeface="+mj-lt"/>
                <a:cs typeface="Arial" panose="020B0604020202020204" pitchFamily="34" charset="0"/>
              </a:rPr>
              <a:t> school-approved </a:t>
            </a:r>
            <a:r>
              <a:rPr lang="en-US" sz="798" baseline="0" dirty="0">
                <a:solidFill>
                  <a:srgbClr val="000000"/>
                </a:solidFill>
                <a:effectLst/>
                <a:latin typeface="+mj-lt"/>
                <a:cs typeface="Arial" panose="020B0604020202020204" pitchFamily="34" charset="0"/>
              </a:rPr>
              <a:t>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a:t>
            </a:r>
            <a:r>
              <a:rPr lang="en-US">
                <a:latin typeface="Arial" panose="020B0604020202020204" pitchFamily="34" charset="0"/>
                <a:cs typeface="Arial" panose="020B0604020202020204" pitchFamily="34" charset="0"/>
              </a:rPr>
              <a:t>Science - </a:t>
            </a:r>
            <a:r>
              <a:rPr lang="en-US" dirty="0">
                <a:latin typeface="Arial" panose="020B0604020202020204" pitchFamily="34" charset="0"/>
                <a:cs typeface="Arial" panose="020B0604020202020204" pitchFamily="34" charset="0"/>
              </a:rPr>
              <a:t>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1.xml"/><Relationship Id="rId4" Type="http://schemas.openxmlformats.org/officeDocument/2006/relationships/image" Target="NULL"/></Relationships>
</file>

<file path=ppt/slides/_rels/slide1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NUL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1.xml"/><Relationship Id="rId4" Type="http://schemas.openxmlformats.org/officeDocument/2006/relationships/image" Target="../media/image100.png"/></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NULL"/></Relationships>
</file>

<file path=ppt/slides/_rels/slide2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NULL"/></Relationships>
</file>

<file path=ppt/slides/_rels/slide2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0.xml"/><Relationship Id="rId1" Type="http://schemas.openxmlformats.org/officeDocument/2006/relationships/slideLayout" Target="../slideLayouts/slideLayout21.xml"/><Relationship Id="rId5" Type="http://schemas.openxmlformats.org/officeDocument/2006/relationships/image" Target="NULL"/><Relationship Id="rId4" Type="http://schemas.openxmlformats.org/officeDocument/2006/relationships/image" Target="NULL"/></Relationships>
</file>

<file path=ppt/slides/_rels/slide2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NULL"/></Relationships>
</file>

<file path=ppt/slides/_rels/slide3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3.xml"/><Relationship Id="rId1" Type="http://schemas.openxmlformats.org/officeDocument/2006/relationships/slideLayout" Target="../slideLayouts/slideLayout21.xml"/><Relationship Id="rId5" Type="http://schemas.openxmlformats.org/officeDocument/2006/relationships/image" Target="NULL"/><Relationship Id="rId4" Type="http://schemas.openxmlformats.org/officeDocument/2006/relationships/image" Target="NUL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0.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NULL"/></Relationships>
</file>

<file path=ppt/slides/_rels/slide4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image" Target="../media/image65.png"/></Relationships>
</file>

<file path=ppt/slides/_rels/slide5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2.xml.rels><?xml version="1.0" encoding="UTF-8" standalone="yes"?>
<Relationships xmlns="http://schemas.openxmlformats.org/package/2006/relationships"><Relationship Id="rId3" Type="http://schemas.openxmlformats.org/officeDocument/2006/relationships/image" Target="../media/image230.png"/><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70.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290.png"/><Relationship Id="rId1" Type="http://schemas.openxmlformats.org/officeDocument/2006/relationships/slideLayout" Target="../slideLayouts/slideLayout21.xml"/><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0.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36.png"/><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5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image" Target="../media/image40.png"/><Relationship Id="rId4" Type="http://schemas.openxmlformats.org/officeDocument/2006/relationships/image" Target="NULL"/></Relationships>
</file>

<file path=ppt/slides/_rels/slide6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6.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ue and white cover with a picture of a boat&#10;&#10;AI-generated content may be incorrect.">
            <a:extLst>
              <a:ext uri="{FF2B5EF4-FFF2-40B4-BE49-F238E27FC236}">
                <a16:creationId xmlns:a16="http://schemas.microsoft.com/office/drawing/2014/main" id="{326A1462-3E4A-57ED-6536-B85BA4D56F33}"/>
              </a:ext>
            </a:extLst>
          </p:cNvPr>
          <p:cNvPicPr>
            <a:picLocks noChangeAspect="1"/>
          </p:cNvPicPr>
          <p:nvPr/>
        </p:nvPicPr>
        <p:blipFill>
          <a:blip r:embed="rId2"/>
          <a:srcRect/>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407573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3576" y="1310622"/>
            <a:ext cx="10711543" cy="4530195"/>
          </a:xfrm>
        </p:spPr>
        <p:txBody>
          <a:bodyPr/>
          <a:lstStyle/>
          <a:p>
            <a:pPr marL="1371600" indent="-914400">
              <a:spcBef>
                <a:spcPts val="600"/>
              </a:spcBef>
              <a:spcAft>
                <a:spcPts val="300"/>
              </a:spcAft>
              <a:buNone/>
            </a:pPr>
            <a:r>
              <a:rPr lang="en-US" sz="2000" dirty="0"/>
              <a:t>14.1	Simple Linear Regression Model</a:t>
            </a:r>
          </a:p>
          <a:p>
            <a:pPr marL="1371600" indent="-914400">
              <a:spcBef>
                <a:spcPts val="600"/>
              </a:spcBef>
              <a:spcAft>
                <a:spcPts val="300"/>
              </a:spcAft>
              <a:buNone/>
            </a:pPr>
            <a:r>
              <a:rPr lang="en-US" sz="2000" dirty="0"/>
              <a:t>14.2	Least Squares Method</a:t>
            </a:r>
          </a:p>
          <a:p>
            <a:pPr marL="1371600" indent="-914400">
              <a:spcBef>
                <a:spcPts val="600"/>
              </a:spcBef>
              <a:spcAft>
                <a:spcPts val="300"/>
              </a:spcAft>
              <a:buNone/>
            </a:pPr>
            <a:r>
              <a:rPr lang="en-US" sz="2000" dirty="0"/>
              <a:t>14.3	Coefficient of Determination</a:t>
            </a:r>
          </a:p>
          <a:p>
            <a:pPr marL="1371600" indent="-914400">
              <a:spcBef>
                <a:spcPts val="600"/>
              </a:spcBef>
              <a:spcAft>
                <a:spcPts val="300"/>
              </a:spcAft>
              <a:buNone/>
            </a:pPr>
            <a:r>
              <a:rPr lang="en-US" sz="2000" dirty="0"/>
              <a:t>14.4	Model Assumptions</a:t>
            </a:r>
          </a:p>
          <a:p>
            <a:pPr marL="1371600" indent="-914400">
              <a:spcBef>
                <a:spcPts val="600"/>
              </a:spcBef>
              <a:spcAft>
                <a:spcPts val="300"/>
              </a:spcAft>
              <a:buNone/>
            </a:pPr>
            <a:r>
              <a:rPr lang="en-US" sz="2000" dirty="0"/>
              <a:t>14.5	Testing for Significance</a:t>
            </a:r>
          </a:p>
          <a:p>
            <a:pPr marL="1371600" indent="-914400">
              <a:spcBef>
                <a:spcPts val="600"/>
              </a:spcBef>
              <a:spcAft>
                <a:spcPts val="300"/>
              </a:spcAft>
              <a:buNone/>
            </a:pPr>
            <a:r>
              <a:rPr lang="en-US" sz="2000" dirty="0"/>
              <a:t>14.6	Using the Estimated Regression Equation for Estimation and Prediction</a:t>
            </a:r>
          </a:p>
          <a:p>
            <a:pPr marL="1371600" indent="-914400">
              <a:spcBef>
                <a:spcPts val="600"/>
              </a:spcBef>
              <a:spcAft>
                <a:spcPts val="300"/>
              </a:spcAft>
              <a:buNone/>
            </a:pPr>
            <a:r>
              <a:rPr lang="en-US" sz="2000" dirty="0"/>
              <a:t>14.7	Excel’s Regression Tool</a:t>
            </a:r>
          </a:p>
          <a:p>
            <a:pPr marL="1371600" indent="-914400">
              <a:spcBef>
                <a:spcPts val="600"/>
              </a:spcBef>
              <a:spcAft>
                <a:spcPts val="300"/>
              </a:spcAft>
              <a:buNone/>
            </a:pPr>
            <a:r>
              <a:rPr lang="en-US" sz="2000" dirty="0"/>
              <a:t>14.8	Residual Analysis: Validating Model Assumptions</a:t>
            </a:r>
          </a:p>
          <a:p>
            <a:pPr marL="1371600" indent="-914400">
              <a:spcBef>
                <a:spcPts val="600"/>
              </a:spcBef>
              <a:spcAft>
                <a:spcPts val="300"/>
              </a:spcAft>
              <a:buNone/>
            </a:pPr>
            <a:r>
              <a:rPr lang="en-US" sz="2000" dirty="0"/>
              <a:t>14.9	Outliers and Influential Observations</a:t>
            </a:r>
          </a:p>
          <a:p>
            <a:pPr marL="1371600" indent="-914400">
              <a:spcBef>
                <a:spcPts val="600"/>
              </a:spcBef>
              <a:spcAft>
                <a:spcPts val="300"/>
              </a:spcAft>
              <a:buNone/>
            </a:pPr>
            <a:r>
              <a:rPr lang="en-US" sz="2000" dirty="0"/>
              <a:t>14.10	Practical Advice: Big Data and Hypothesis Testing in Simple Linear Regression</a:t>
            </a:r>
          </a:p>
          <a:p>
            <a:pPr marL="1371600" indent="-914400">
              <a:spcBef>
                <a:spcPts val="600"/>
              </a:spcBef>
              <a:spcAft>
                <a:spcPts val="300"/>
              </a:spcAft>
              <a:buNone/>
            </a:pPr>
            <a:r>
              <a:rPr lang="en-US" sz="2000" dirty="0"/>
              <a:t>	Summary</a:t>
            </a:r>
          </a:p>
        </p:txBody>
      </p:sp>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(1 of 2)</a:t>
            </a:r>
          </a:p>
        </p:txBody>
      </p:sp>
      <p:sp>
        <p:nvSpPr>
          <p:cNvPr id="2" name="Text Placeholder 1"/>
          <p:cNvSpPr>
            <a:spLocks noGrp="1"/>
          </p:cNvSpPr>
          <p:nvPr>
            <p:ph type="body" sz="quarter" idx="15"/>
          </p:nvPr>
        </p:nvSpPr>
        <p:spPr>
          <a:xfrm>
            <a:off x="743577" y="1505603"/>
            <a:ext cx="10610224" cy="4106918"/>
          </a:xfrm>
        </p:spPr>
        <p:txBody>
          <a:bodyPr/>
          <a:lstStyle/>
          <a:p>
            <a:pPr>
              <a:spcBef>
                <a:spcPts val="1200"/>
              </a:spcBef>
            </a:pPr>
            <a:r>
              <a:rPr lang="en-US" sz="2000" dirty="0">
                <a:latin typeface="Arial" panose="020B0604020202020204" pitchFamily="34" charset="0"/>
                <a:cs typeface="Arial" panose="020B0604020202020204" pitchFamily="34" charset="0"/>
              </a:rPr>
              <a:t>After completing this chapter, you will be able to:</a:t>
            </a:r>
          </a:p>
          <a:p>
            <a:pPr marL="1828800" indent="-1371600">
              <a:spcBef>
                <a:spcPts val="1200"/>
              </a:spcBef>
            </a:pPr>
            <a:r>
              <a:rPr lang="en-US" sz="2000">
                <a:latin typeface="Arial" panose="020B0604020202020204" pitchFamily="34" charset="0"/>
                <a:cs typeface="Arial" panose="020B0604020202020204" pitchFamily="34" charset="0"/>
              </a:rPr>
              <a:t>LO 14-1 </a:t>
            </a:r>
            <a:r>
              <a:rPr lang="en-US" sz="2000" dirty="0">
                <a:latin typeface="Arial" panose="020B0604020202020204" pitchFamily="34" charset="0"/>
                <a:cs typeface="Arial" panose="020B0604020202020204" pitchFamily="34" charset="0"/>
              </a:rPr>
              <a:t>	Develop an equation that estimates how two variables are related based on sample data.</a:t>
            </a:r>
          </a:p>
          <a:p>
            <a:pPr marL="1828800" indent="-1371600">
              <a:spcBef>
                <a:spcPts val="1200"/>
              </a:spcBef>
            </a:pPr>
            <a:r>
              <a:rPr lang="en-US" sz="2000">
                <a:latin typeface="Arial" panose="020B0604020202020204" pitchFamily="34" charset="0"/>
                <a:cs typeface="Arial" panose="020B0604020202020204" pitchFamily="34" charset="0"/>
              </a:rPr>
              <a:t>LO 14-2 </a:t>
            </a:r>
            <a:r>
              <a:rPr lang="en-US" sz="2000" dirty="0">
                <a:latin typeface="Arial" panose="020B0604020202020204" pitchFamily="34" charset="0"/>
                <a:cs typeface="Arial" panose="020B0604020202020204" pitchFamily="34" charset="0"/>
              </a:rPr>
              <a:t>	Use a simple linear regression equation to predict the value of the dependent variable for a given value of the independent variable. </a:t>
            </a:r>
          </a:p>
          <a:p>
            <a:pPr marL="1828800" indent="-1371600">
              <a:spcBef>
                <a:spcPts val="1200"/>
              </a:spcBef>
            </a:pPr>
            <a:r>
              <a:rPr lang="en-US" sz="2000">
                <a:latin typeface="Arial" panose="020B0604020202020204" pitchFamily="34" charset="0"/>
                <a:cs typeface="Arial" panose="020B0604020202020204" pitchFamily="34" charset="0"/>
              </a:rPr>
              <a:t>LO 14-3 </a:t>
            </a:r>
            <a:r>
              <a:rPr lang="en-US" sz="2000" dirty="0">
                <a:latin typeface="Arial" panose="020B0604020202020204" pitchFamily="34" charset="0"/>
                <a:cs typeface="Arial" panose="020B0604020202020204" pitchFamily="34" charset="0"/>
              </a:rPr>
              <a:t>	Provide an interpretation of the intercept and slope of an estimated simple linear regression equation.</a:t>
            </a:r>
          </a:p>
          <a:p>
            <a:pPr marL="1828800" indent="-1371600">
              <a:spcBef>
                <a:spcPts val="1200"/>
              </a:spcBef>
            </a:pPr>
            <a:r>
              <a:rPr lang="en-US" sz="2000">
                <a:latin typeface="Arial" panose="020B0604020202020204" pitchFamily="34" charset="0"/>
                <a:cs typeface="Arial" panose="020B0604020202020204" pitchFamily="34" charset="0"/>
              </a:rPr>
              <a:t>LO 14-4 </a:t>
            </a:r>
            <a:r>
              <a:rPr lang="en-US" sz="2000" dirty="0">
                <a:latin typeface="Arial" panose="020B0604020202020204" pitchFamily="34" charset="0"/>
                <a:cs typeface="Arial" panose="020B0604020202020204" pitchFamily="34" charset="0"/>
              </a:rPr>
              <a:t>	Compute and interpret the coefficient of determination.</a:t>
            </a:r>
          </a:p>
          <a:p>
            <a:pPr marL="1828800" indent="-1371600">
              <a:spcBef>
                <a:spcPts val="1200"/>
              </a:spcBef>
            </a:pPr>
            <a:r>
              <a:rPr lang="en-US" sz="2000">
                <a:latin typeface="Arial" panose="020B0604020202020204" pitchFamily="34" charset="0"/>
                <a:cs typeface="Arial" panose="020B0604020202020204" pitchFamily="34" charset="0"/>
              </a:rPr>
              <a:t>LO 14-5 </a:t>
            </a:r>
            <a:r>
              <a:rPr lang="en-US" sz="2000" dirty="0">
                <a:latin typeface="Arial" panose="020B0604020202020204" pitchFamily="34" charset="0"/>
                <a:cs typeface="Arial" panose="020B0604020202020204" pitchFamily="34" charset="0"/>
              </a:rPr>
              <a:t>	Compute and interpret the sample correlation coefficient.</a:t>
            </a:r>
          </a:p>
          <a:p>
            <a:pPr marL="1828800" indent="-1371600">
              <a:spcBef>
                <a:spcPts val="1200"/>
              </a:spcBef>
            </a:pPr>
            <a:r>
              <a:rPr lang="en-US" sz="2000">
                <a:latin typeface="Arial" panose="020B0604020202020204" pitchFamily="34" charset="0"/>
                <a:cs typeface="Arial" panose="020B0604020202020204" pitchFamily="34" charset="0"/>
              </a:rPr>
              <a:t>LO 14-6 </a:t>
            </a:r>
            <a:r>
              <a:rPr lang="en-US" sz="2000" dirty="0">
                <a:latin typeface="Arial" panose="020B0604020202020204" pitchFamily="34" charset="0"/>
                <a:cs typeface="Arial" panose="020B0604020202020204" pitchFamily="34" charset="0"/>
              </a:rPr>
              <a:t>	Use the </a:t>
            </a:r>
            <a:r>
              <a:rPr lang="en-US" sz="2000" i="1" dirty="0">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 test to assess the significance in a simple linear regression.</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(2 of 2)</a:t>
            </a:r>
          </a:p>
        </p:txBody>
      </p:sp>
      <p:sp>
        <p:nvSpPr>
          <p:cNvPr id="2" name="Text Placeholder 1"/>
          <p:cNvSpPr>
            <a:spLocks noGrp="1"/>
          </p:cNvSpPr>
          <p:nvPr>
            <p:ph type="body" sz="quarter" idx="15"/>
          </p:nvPr>
        </p:nvSpPr>
        <p:spPr>
          <a:xfrm>
            <a:off x="743577" y="1505602"/>
            <a:ext cx="10610224" cy="3925615"/>
          </a:xfrm>
        </p:spPr>
        <p:txBody>
          <a:bodyPr/>
          <a:lstStyle/>
          <a:p>
            <a:pPr>
              <a:spcBef>
                <a:spcPts val="1200"/>
              </a:spcBef>
            </a:pPr>
            <a:endParaRPr lang="en-US" sz="2000" dirty="0">
              <a:latin typeface="Arial" panose="020B0604020202020204" pitchFamily="34" charset="0"/>
              <a:cs typeface="Arial" panose="020B0604020202020204" pitchFamily="34" charset="0"/>
            </a:endParaRPr>
          </a:p>
          <a:p>
            <a:pPr marL="1828800" indent="-1371600">
              <a:spcBef>
                <a:spcPts val="1200"/>
              </a:spcBef>
            </a:pPr>
            <a:r>
              <a:rPr lang="en-US" sz="2000">
                <a:latin typeface="Arial" panose="020B0604020202020204" pitchFamily="34" charset="0"/>
                <a:cs typeface="Arial" panose="020B0604020202020204" pitchFamily="34" charset="0"/>
              </a:rPr>
              <a:t>LO 14-7 </a:t>
            </a:r>
            <a:r>
              <a:rPr lang="en-US" sz="2000" dirty="0">
                <a:latin typeface="Arial" panose="020B0604020202020204" pitchFamily="34" charset="0"/>
                <a:cs typeface="Arial" panose="020B0604020202020204" pitchFamily="34" charset="0"/>
              </a:rPr>
              <a:t>	Calculate the ANOVA table and use the </a:t>
            </a:r>
            <a:r>
              <a:rPr lang="en-US" sz="2000" i="1" dirty="0">
                <a:latin typeface="Arial" panose="020B0604020202020204" pitchFamily="34" charset="0"/>
                <a:cs typeface="Arial" panose="020B0604020202020204" pitchFamily="34" charset="0"/>
              </a:rPr>
              <a:t>F</a:t>
            </a:r>
            <a:r>
              <a:rPr lang="en-US" sz="2000" dirty="0">
                <a:latin typeface="Arial" panose="020B0604020202020204" pitchFamily="34" charset="0"/>
                <a:cs typeface="Arial" panose="020B0604020202020204" pitchFamily="34" charset="0"/>
              </a:rPr>
              <a:t> test to assess the significance in a simple linear regression.</a:t>
            </a:r>
          </a:p>
          <a:p>
            <a:pPr marL="1828800" indent="-1371600">
              <a:spcBef>
                <a:spcPts val="1200"/>
              </a:spcBef>
            </a:pPr>
            <a:r>
              <a:rPr lang="en-US" sz="2000">
                <a:latin typeface="Arial" panose="020B0604020202020204" pitchFamily="34" charset="0"/>
                <a:cs typeface="Arial" panose="020B0604020202020204" pitchFamily="34" charset="0"/>
              </a:rPr>
              <a:t>LO 14-8 </a:t>
            </a:r>
            <a:r>
              <a:rPr lang="en-US" sz="2000" dirty="0">
                <a:latin typeface="Arial" panose="020B0604020202020204" pitchFamily="34" charset="0"/>
                <a:cs typeface="Arial" panose="020B0604020202020204" pitchFamily="34" charset="0"/>
              </a:rPr>
              <a:t>	Develop a confidence interval for the mean value of the dependent variable 𝑦 given a specific value of 𝑥.</a:t>
            </a:r>
          </a:p>
          <a:p>
            <a:pPr marL="1828800" indent="-1371600">
              <a:spcBef>
                <a:spcPts val="1200"/>
              </a:spcBef>
            </a:pPr>
            <a:r>
              <a:rPr lang="en-US" sz="2000">
                <a:latin typeface="Arial" panose="020B0604020202020204" pitchFamily="34" charset="0"/>
                <a:cs typeface="Arial" panose="020B0604020202020204" pitchFamily="34" charset="0"/>
              </a:rPr>
              <a:t>LO 14-9 </a:t>
            </a:r>
            <a:r>
              <a:rPr lang="en-US" sz="2000" dirty="0">
                <a:latin typeface="Arial" panose="020B0604020202020204" pitchFamily="34" charset="0"/>
                <a:cs typeface="Arial" panose="020B0604020202020204" pitchFamily="34" charset="0"/>
              </a:rPr>
              <a:t>	Develop a prediction interval for an individual value of the dependent variable 𝑦 given a specific value of 𝑥.</a:t>
            </a:r>
          </a:p>
          <a:p>
            <a:pPr marL="1828800" indent="-1371600">
              <a:spcBef>
                <a:spcPts val="1200"/>
              </a:spcBef>
            </a:pPr>
            <a:r>
              <a:rPr lang="en-US" sz="2000">
                <a:latin typeface="Arial" panose="020B0604020202020204" pitchFamily="34" charset="0"/>
                <a:cs typeface="Arial" panose="020B0604020202020204" pitchFamily="34" charset="0"/>
              </a:rPr>
              <a:t>LO 14-10</a:t>
            </a:r>
            <a:r>
              <a:rPr lang="en-US" sz="2000" dirty="0">
                <a:latin typeface="Arial" panose="020B0604020202020204" pitchFamily="34" charset="0"/>
                <a:cs typeface="Arial" panose="020B0604020202020204" pitchFamily="34" charset="0"/>
              </a:rPr>
              <a:t>	Use a residual plot to assess whether the assumptions of simple linear regression are valid. </a:t>
            </a:r>
          </a:p>
          <a:p>
            <a:pPr marL="1828800" indent="-1371600">
              <a:spcBef>
                <a:spcPts val="1200"/>
              </a:spcBef>
            </a:pPr>
            <a:r>
              <a:rPr lang="en-US" sz="2000">
                <a:latin typeface="Arial" panose="020B0604020202020204" pitchFamily="34" charset="0"/>
                <a:cs typeface="Arial" panose="020B0604020202020204" pitchFamily="34" charset="0"/>
              </a:rPr>
              <a:t>LO 14-11</a:t>
            </a:r>
            <a:r>
              <a:rPr lang="en-US" sz="2000" dirty="0">
                <a:latin typeface="Arial" panose="020B0604020202020204" pitchFamily="34" charset="0"/>
                <a:cs typeface="Arial" panose="020B0604020202020204" pitchFamily="34" charset="0"/>
              </a:rPr>
              <a:t>	Use residual analysis to identify outliers and influential observations.</a:t>
            </a:r>
          </a:p>
        </p:txBody>
      </p:sp>
    </p:spTree>
    <p:extLst>
      <p:ext uri="{BB962C8B-B14F-4D97-AF65-F5344CB8AC3E}">
        <p14:creationId xmlns:p14="http://schemas.microsoft.com/office/powerpoint/2010/main" val="3628634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455801"/>
            <a:ext cx="10711543" cy="4037686"/>
          </a:xfrm>
        </p:spPr>
        <p:txBody>
          <a:bodyPr/>
          <a:lstStyle/>
          <a:p>
            <a:pPr>
              <a:lnSpc>
                <a:spcPct val="100000"/>
              </a:lnSpc>
              <a:spcBef>
                <a:spcPts val="600"/>
              </a:spcBef>
            </a:pPr>
            <a:r>
              <a:rPr lang="en-US" sz="2000" dirty="0">
                <a:solidFill>
                  <a:srgbClr val="000000"/>
                </a:solidFill>
                <a:cs typeface="Arial" panose="020B0604020202020204" pitchFamily="34" charset="0"/>
              </a:rPr>
              <a:t>Managerial decisions often are based on the relationship between two or more variables.</a:t>
            </a:r>
          </a:p>
          <a:p>
            <a:pPr>
              <a:lnSpc>
                <a:spcPct val="100000"/>
              </a:lnSpc>
              <a:spcBef>
                <a:spcPts val="600"/>
              </a:spcBef>
            </a:pPr>
            <a:r>
              <a:rPr lang="en-US" sz="2000" dirty="0">
                <a:cs typeface="Arial" panose="020B0604020202020204" pitchFamily="34" charset="0"/>
              </a:rPr>
              <a:t>A statistical procedure called </a:t>
            </a:r>
            <a:r>
              <a:rPr lang="en-US" sz="2000" i="1" dirty="0">
                <a:cs typeface="Arial" panose="020B0604020202020204" pitchFamily="34" charset="0"/>
              </a:rPr>
              <a:t>r</a:t>
            </a:r>
            <a:r>
              <a:rPr lang="en-US" sz="2000" i="1" dirty="0">
                <a:solidFill>
                  <a:srgbClr val="000000"/>
                </a:solidFill>
                <a:cs typeface="Arial" panose="020B0604020202020204" pitchFamily="34" charset="0"/>
              </a:rPr>
              <a:t>egression analysis </a:t>
            </a:r>
            <a:r>
              <a:rPr lang="en-US" sz="2000" dirty="0">
                <a:solidFill>
                  <a:srgbClr val="000000"/>
                </a:solidFill>
                <a:cs typeface="Arial" panose="020B0604020202020204" pitchFamily="34" charset="0"/>
              </a:rPr>
              <a:t>can be used to develop an equation showing how the variables are related.</a:t>
            </a:r>
          </a:p>
          <a:p>
            <a:pPr marL="685800" indent="-342900">
              <a:lnSpc>
                <a:spcPct val="100000"/>
              </a:lnSpc>
              <a:spcBef>
                <a:spcPts val="600"/>
              </a:spcBef>
              <a:buFont typeface="Arial" panose="020B0604020202020204" pitchFamily="34" charset="0"/>
              <a:buChar char="•"/>
            </a:pPr>
            <a:r>
              <a:rPr lang="en-US" sz="2000" dirty="0">
                <a:solidFill>
                  <a:srgbClr val="000000"/>
                </a:solidFill>
                <a:cs typeface="Arial" panose="020B0604020202020204" pitchFamily="34" charset="0"/>
              </a:rPr>
              <a:t>The variable being predicted is called the </a:t>
            </a:r>
            <a:r>
              <a:rPr lang="en-US" sz="2000" b="1" dirty="0">
                <a:solidFill>
                  <a:srgbClr val="000000"/>
                </a:solidFill>
                <a:cs typeface="Arial" panose="020B0604020202020204" pitchFamily="34" charset="0"/>
              </a:rPr>
              <a:t>dependent variable </a:t>
            </a:r>
            <a:r>
              <a:rPr lang="en-US" sz="2000" dirty="0">
                <a:solidFill>
                  <a:srgbClr val="000000"/>
                </a:solidFill>
                <a:cs typeface="Arial" panose="020B0604020202020204" pitchFamily="34" charset="0"/>
              </a:rPr>
              <a:t>and is denoted by </a:t>
            </a:r>
            <a:r>
              <a:rPr lang="en-US" sz="2000" dirty="0">
                <a:latin typeface="Arial" panose="020B0604020202020204" pitchFamily="34" charset="0"/>
                <a:cs typeface="Arial" panose="020B0604020202020204" pitchFamily="34" charset="0"/>
              </a:rPr>
              <a:t>𝑦</a:t>
            </a:r>
            <a:r>
              <a:rPr lang="en-US" sz="2000" dirty="0">
                <a:solidFill>
                  <a:srgbClr val="000000"/>
                </a:solidFill>
                <a:cs typeface="Arial" panose="020B0604020202020204" pitchFamily="34" charset="0"/>
              </a:rPr>
              <a:t>.</a:t>
            </a:r>
          </a:p>
          <a:p>
            <a:pPr marL="685800" indent="-342900">
              <a:lnSpc>
                <a:spcPct val="100000"/>
              </a:lnSpc>
              <a:spcBef>
                <a:spcPts val="600"/>
              </a:spcBef>
              <a:buFont typeface="Arial" panose="020B0604020202020204" pitchFamily="34" charset="0"/>
              <a:buChar char="•"/>
            </a:pPr>
            <a:r>
              <a:rPr lang="en-US" sz="2000" dirty="0">
                <a:solidFill>
                  <a:srgbClr val="000000"/>
                </a:solidFill>
                <a:cs typeface="Arial" panose="020B0604020202020204" pitchFamily="34" charset="0"/>
              </a:rPr>
              <a:t>The variables being used to predict the value of the dependent variable are called the </a:t>
            </a:r>
            <a:r>
              <a:rPr lang="en-US" sz="2000" b="1" dirty="0">
                <a:solidFill>
                  <a:srgbClr val="000000"/>
                </a:solidFill>
                <a:cs typeface="Arial" panose="020B0604020202020204" pitchFamily="34" charset="0"/>
              </a:rPr>
              <a:t>independent variables </a:t>
            </a:r>
            <a:r>
              <a:rPr lang="en-US" sz="2000" dirty="0">
                <a:solidFill>
                  <a:srgbClr val="000000"/>
                </a:solidFill>
                <a:cs typeface="Arial" panose="020B0604020202020204" pitchFamily="34" charset="0"/>
              </a:rPr>
              <a:t>and are denoted by </a:t>
            </a:r>
            <a:r>
              <a:rPr lang="en-US" sz="2000" dirty="0">
                <a:latin typeface="Arial" panose="020B0604020202020204" pitchFamily="34" charset="0"/>
                <a:cs typeface="Arial" panose="020B0604020202020204" pitchFamily="34" charset="0"/>
              </a:rPr>
              <a:t>𝑥</a:t>
            </a:r>
            <a:r>
              <a:rPr lang="en-US" sz="2000" dirty="0">
                <a:solidFill>
                  <a:srgbClr val="000000"/>
                </a:solidFill>
                <a:cs typeface="Arial" panose="020B0604020202020204" pitchFamily="34" charset="0"/>
              </a:rPr>
              <a:t>.</a:t>
            </a:r>
          </a:p>
          <a:p>
            <a:pPr marL="457200" indent="-457200">
              <a:spcBef>
                <a:spcPts val="600"/>
              </a:spcBef>
              <a:spcAft>
                <a:spcPts val="500"/>
              </a:spcAft>
            </a:pPr>
            <a:r>
              <a:rPr lang="en-US" sz="2000" dirty="0">
                <a:solidFill>
                  <a:srgbClr val="000000"/>
                </a:solidFill>
                <a:cs typeface="Arial" panose="020B0604020202020204" pitchFamily="34" charset="0"/>
              </a:rPr>
              <a:t>In this chapter we consider </a:t>
            </a:r>
            <a:r>
              <a:rPr lang="en-US" sz="2000" b="1" dirty="0">
                <a:cs typeface="Arial" panose="020B0604020202020204" pitchFamily="34" charset="0"/>
              </a:rPr>
              <a:t>s</a:t>
            </a:r>
            <a:r>
              <a:rPr lang="en-US" sz="2000" b="1" dirty="0">
                <a:solidFill>
                  <a:srgbClr val="000000"/>
                </a:solidFill>
                <a:cs typeface="Arial" panose="020B0604020202020204" pitchFamily="34" charset="0"/>
              </a:rPr>
              <a:t>imple linear regression</a:t>
            </a:r>
            <a:r>
              <a:rPr lang="en-US" sz="2000" dirty="0">
                <a:solidFill>
                  <a:srgbClr val="000000"/>
                </a:solidFill>
                <a:cs typeface="Arial" panose="020B0604020202020204" pitchFamily="34" charset="0"/>
              </a:rPr>
              <a:t>, the simplest type of regression:</a:t>
            </a:r>
          </a:p>
          <a:p>
            <a:pPr marL="685800" indent="-342900">
              <a:spcBef>
                <a:spcPts val="600"/>
              </a:spcBef>
              <a:spcAft>
                <a:spcPts val="500"/>
              </a:spcAft>
              <a:buFont typeface="Arial" panose="020B0604020202020204" pitchFamily="34" charset="0"/>
              <a:buChar char="•"/>
            </a:pPr>
            <a:r>
              <a:rPr lang="en-US" sz="2000" dirty="0">
                <a:cs typeface="Arial" panose="020B0604020202020204" pitchFamily="34" charset="0"/>
              </a:rPr>
              <a:t>it </a:t>
            </a:r>
            <a:r>
              <a:rPr lang="en-US" sz="2000" dirty="0">
                <a:solidFill>
                  <a:srgbClr val="000000"/>
                </a:solidFill>
                <a:cs typeface="Arial" panose="020B0604020202020204" pitchFamily="34" charset="0"/>
              </a:rPr>
              <a:t>involves one independent variable and one dependent variable.</a:t>
            </a:r>
          </a:p>
          <a:p>
            <a:pPr marL="685800" indent="-342900">
              <a:spcBef>
                <a:spcPts val="600"/>
              </a:spcBef>
              <a:buFont typeface="Arial" panose="020B0604020202020204" pitchFamily="34" charset="0"/>
              <a:buChar char="•"/>
            </a:pPr>
            <a:r>
              <a:rPr lang="en-US" sz="2000" dirty="0">
                <a:cs typeface="Arial" panose="020B0604020202020204" pitchFamily="34" charset="0"/>
              </a:rPr>
              <a:t>t</a:t>
            </a:r>
            <a:r>
              <a:rPr lang="en-US" sz="2000" dirty="0">
                <a:solidFill>
                  <a:srgbClr val="000000"/>
                </a:solidFill>
                <a:cs typeface="Arial" panose="020B0604020202020204" pitchFamily="34" charset="0"/>
              </a:rPr>
              <a:t>he relationship between the two variables is approximated by a straight line.</a:t>
            </a:r>
          </a:p>
          <a:p>
            <a:pPr>
              <a:spcBef>
                <a:spcPts val="600"/>
              </a:spcBef>
            </a:pPr>
            <a:r>
              <a:rPr lang="en-US" sz="2000" dirty="0">
                <a:solidFill>
                  <a:srgbClr val="000000"/>
                </a:solidFill>
                <a:cs typeface="Arial" panose="020B0604020202020204" pitchFamily="34" charset="0"/>
              </a:rPr>
              <a:t>Regression analysis involving two or more independent variables is called multiple regression, and it will be the subject of the next two chapters.</a:t>
            </a:r>
          </a:p>
        </p:txBody>
      </p:sp>
    </p:spTree>
    <p:extLst>
      <p:ext uri="{BB962C8B-B14F-4D97-AF65-F5344CB8AC3E}">
        <p14:creationId xmlns:p14="http://schemas.microsoft.com/office/powerpoint/2010/main" val="2575815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D14B1E"/>
                </a:solidFill>
              </a:rPr>
              <a:t>14.1 Simple Linear Regression Model</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447373"/>
                <a:ext cx="10711543" cy="4106916"/>
              </a:xfrm>
            </p:spPr>
            <p:txBody>
              <a:bodyPr/>
              <a:lstStyle/>
              <a:p>
                <a:pPr>
                  <a:lnSpc>
                    <a:spcPct val="100000"/>
                  </a:lnSpc>
                  <a:spcBef>
                    <a:spcPts val="600"/>
                  </a:spcBef>
                  <a:spcAft>
                    <a:spcPts val="600"/>
                  </a:spcAft>
                </a:pPr>
                <a:r>
                  <a:rPr lang="en-US" sz="2000" dirty="0">
                    <a:solidFill>
                      <a:srgbClr val="000000"/>
                    </a:solidFill>
                    <a:cs typeface="Arial" panose="020B0604020202020204" pitchFamily="34" charset="0"/>
                  </a:rPr>
                  <a:t>The </a:t>
                </a:r>
                <a:r>
                  <a:rPr lang="en-US" sz="2000" b="1" dirty="0">
                    <a:solidFill>
                      <a:srgbClr val="000000"/>
                    </a:solidFill>
                    <a:cs typeface="Arial" panose="020B0604020202020204" pitchFamily="34" charset="0"/>
                  </a:rPr>
                  <a:t>regression model </a:t>
                </a:r>
                <a:r>
                  <a:rPr lang="en-US" sz="2000" dirty="0">
                    <a:solidFill>
                      <a:srgbClr val="000000"/>
                    </a:solidFill>
                    <a:cs typeface="Arial" panose="020B0604020202020204" pitchFamily="34" charset="0"/>
                  </a:rPr>
                  <a:t>is the equation that describes how the dependent variable </a:t>
                </a:r>
                <a:r>
                  <a:rPr lang="en-US" sz="2000" dirty="0">
                    <a:latin typeface="Arial" panose="020B0604020202020204" pitchFamily="34" charset="0"/>
                    <a:cs typeface="Arial" panose="020B0604020202020204" pitchFamily="34" charset="0"/>
                  </a:rPr>
                  <a:t>𝑦</a:t>
                </a:r>
                <a:r>
                  <a:rPr lang="en-US" sz="2000" dirty="0">
                    <a:solidFill>
                      <a:srgbClr val="000000"/>
                    </a:solidFill>
                    <a:cs typeface="Arial" panose="020B0604020202020204" pitchFamily="34" charset="0"/>
                  </a:rPr>
                  <a:t> is related to the independent variables </a:t>
                </a:r>
                <a:r>
                  <a:rPr lang="en-US" sz="2000" dirty="0">
                    <a:latin typeface="Arial" panose="020B0604020202020204" pitchFamily="34" charset="0"/>
                    <a:cs typeface="Arial" panose="020B0604020202020204" pitchFamily="34" charset="0"/>
                  </a:rPr>
                  <a:t>𝑥</a:t>
                </a:r>
                <a:r>
                  <a:rPr lang="en-US" sz="2000" dirty="0">
                    <a:solidFill>
                      <a:srgbClr val="000000"/>
                    </a:solidFill>
                    <a:cs typeface="Arial" panose="020B0604020202020204" pitchFamily="34" charset="0"/>
                  </a:rPr>
                  <a:t> and an error term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solidFill>
                      <a:srgbClr val="000000"/>
                    </a:solidFill>
                    <a:cs typeface="Arial" panose="020B0604020202020204" pitchFamily="34" charset="0"/>
                  </a:rPr>
                  <a:t>.</a:t>
                </a:r>
              </a:p>
              <a:p>
                <a:pPr>
                  <a:lnSpc>
                    <a:spcPct val="100000"/>
                  </a:lnSpc>
                  <a:spcBef>
                    <a:spcPts val="600"/>
                  </a:spcBef>
                  <a:spcAft>
                    <a:spcPts val="1200"/>
                  </a:spcAft>
                </a:pPr>
                <a:r>
                  <a:rPr lang="en-US" sz="2000" dirty="0">
                    <a:solidFill>
                      <a:srgbClr val="000000"/>
                    </a:solidFill>
                    <a:cs typeface="Arial" panose="020B0604020202020204" pitchFamily="34" charset="0"/>
                  </a:rPr>
                  <a:t>The </a:t>
                </a:r>
                <a:r>
                  <a:rPr lang="en-US" sz="2000" i="1" dirty="0">
                    <a:solidFill>
                      <a:srgbClr val="000000"/>
                    </a:solidFill>
                    <a:cs typeface="Arial" panose="020B0604020202020204" pitchFamily="34" charset="0"/>
                  </a:rPr>
                  <a:t>simple linear regression model </a:t>
                </a:r>
                <a:r>
                  <a:rPr lang="en-US" sz="2000" dirty="0">
                    <a:solidFill>
                      <a:srgbClr val="000000"/>
                    </a:solidFill>
                    <a:cs typeface="Arial" panose="020B0604020202020204" pitchFamily="34" charset="0"/>
                  </a:rPr>
                  <a:t>is described by the following equation.</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𝟎</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𝟏</m:t>
                          </m:r>
                        </m:sub>
                      </m:sSub>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a:latin typeface="Cambria Math" panose="02040503050406030204" pitchFamily="18" charset="0"/>
                          <a:ea typeface="Cambria Math" panose="02040503050406030204" pitchFamily="18" charset="0"/>
                          <a:cs typeface="Arial" panose="020B0604020202020204" pitchFamily="34" charset="0"/>
                        </a:rPr>
                        <m:t>𝝐</m:t>
                      </m:r>
                    </m:oMath>
                  </m:oMathPara>
                </a14:m>
                <a:endParaRPr lang="en-US" sz="2000" b="1" dirty="0"/>
              </a:p>
              <a:p>
                <a:pPr>
                  <a:spcBef>
                    <a:spcPts val="600"/>
                  </a:spcBef>
                  <a:spcAft>
                    <a:spcPts val="600"/>
                  </a:spcAft>
                </a:pPr>
                <a:r>
                  <a:rPr lang="en-US" sz="2000" dirty="0"/>
                  <a:t>Where</a:t>
                </a:r>
              </a:p>
              <a:p>
                <a:pPr marL="914400">
                  <a:spcBef>
                    <a:spcPts val="0"/>
                  </a:spcBef>
                  <a:spcAft>
                    <a:spcPts val="600"/>
                  </a:spcAft>
                </a:pPr>
                <a:r>
                  <a:rPr lang="en-US" sz="2000" dirty="0">
                    <a:latin typeface="Arial" panose="020B0604020202020204" pitchFamily="34" charset="0"/>
                    <a:cs typeface="Arial" panose="020B0604020202020204" pitchFamily="34" charset="0"/>
                  </a:rPr>
                  <a:t>𝑦</a:t>
                </a:r>
                <a:r>
                  <a:rPr lang="en-US" sz="2000" i="1" dirty="0"/>
                  <a:t> </a:t>
                </a:r>
                <a:r>
                  <a:rPr lang="en-US" sz="2000" dirty="0"/>
                  <a:t>is the dependent variable.</a:t>
                </a:r>
              </a:p>
              <a:p>
                <a:pPr marL="914400">
                  <a:spcBef>
                    <a:spcPts val="600"/>
                  </a:spcBef>
                  <a:spcAft>
                    <a:spcPts val="600"/>
                  </a:spcAft>
                </a:pPr>
                <a:r>
                  <a:rPr lang="en-US" sz="2000" dirty="0">
                    <a:latin typeface="Arial" panose="020B0604020202020204" pitchFamily="34" charset="0"/>
                    <a:cs typeface="Arial" panose="020B0604020202020204" pitchFamily="34" charset="0"/>
                  </a:rPr>
                  <a:t>𝑥</a:t>
                </a:r>
                <a:r>
                  <a:rPr lang="en-US" sz="2000" i="1" dirty="0"/>
                  <a:t> </a:t>
                </a:r>
                <a:r>
                  <a:rPr lang="en-US" sz="2000" dirty="0"/>
                  <a:t>is the independent variable.</a:t>
                </a:r>
              </a:p>
              <a:p>
                <a:pPr marL="914400">
                  <a:spcBef>
                    <a:spcPts val="600"/>
                  </a:spcBef>
                  <a:spcAft>
                    <a:spcPts val="60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0</m:t>
                        </m:r>
                      </m:sub>
                    </m:sSub>
                  </m:oMath>
                </a14:m>
                <a:r>
                  <a:rPr lang="en-US" sz="2000" dirty="0"/>
                  <a:t> and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1</m:t>
                        </m:r>
                      </m:sub>
                    </m:sSub>
                  </m:oMath>
                </a14:m>
                <a:r>
                  <a:rPr lang="en-US" sz="2000" dirty="0"/>
                  <a:t> are referred to as the parameters of the model.</a:t>
                </a:r>
              </a:p>
              <a:p>
                <a:pPr marL="914400">
                  <a:spcBef>
                    <a:spcPts val="600"/>
                  </a:spcBef>
                  <a:spcAft>
                    <a:spcPts val="600"/>
                  </a:spcAft>
                </a:pP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t> is the error term. It accounts for the variability in </a:t>
                </a:r>
                <a:r>
                  <a:rPr lang="en-US" sz="2000" dirty="0">
                    <a:latin typeface="Arial" panose="020B0604020202020204" pitchFamily="34" charset="0"/>
                    <a:cs typeface="Arial" panose="020B0604020202020204" pitchFamily="34" charset="0"/>
                  </a:rPr>
                  <a:t>𝑦</a:t>
                </a:r>
                <a:r>
                  <a:rPr lang="en-US" sz="2000" dirty="0"/>
                  <a:t> that cannot be explained by the linear relationship between </a:t>
                </a:r>
                <a:r>
                  <a:rPr lang="en-US" sz="2000" dirty="0">
                    <a:latin typeface="Arial" panose="020B0604020202020204" pitchFamily="34" charset="0"/>
                    <a:cs typeface="Arial" panose="020B0604020202020204" pitchFamily="34" charset="0"/>
                  </a:rPr>
                  <a:t>𝑥</a:t>
                </a:r>
                <a:r>
                  <a:rPr lang="en-US" sz="2000" dirty="0"/>
                  <a:t> and </a:t>
                </a:r>
                <a:r>
                  <a:rPr lang="en-US" sz="2000" dirty="0">
                    <a:latin typeface="Arial" panose="020B0604020202020204" pitchFamily="34" charset="0"/>
                    <a:cs typeface="Arial" panose="020B0604020202020204" pitchFamily="34" charset="0"/>
                  </a:rPr>
                  <a:t>𝑦</a:t>
                </a:r>
                <a:r>
                  <a:rPr lang="en-US" sz="2000" dirty="0"/>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447373"/>
                <a:ext cx="10711543" cy="4106916"/>
              </a:xfrm>
              <a:blipFill>
                <a:blip r:embed="rId3"/>
                <a:stretch>
                  <a:fillRect l="-1422" t="-1929" r="-57" b="-2226"/>
                </a:stretch>
              </a:blipFill>
            </p:spPr>
            <p:txBody>
              <a:bodyPr/>
              <a:lstStyle/>
              <a:p>
                <a:r>
                  <a:rPr lang="en-US">
                    <a:noFill/>
                  </a:rPr>
                  <a:t> </a:t>
                </a:r>
              </a:p>
            </p:txBody>
          </p:sp>
        </mc:Fallback>
      </mc:AlternateContent>
    </p:spTree>
    <p:extLst>
      <p:ext uri="{BB962C8B-B14F-4D97-AF65-F5344CB8AC3E}">
        <p14:creationId xmlns:p14="http://schemas.microsoft.com/office/powerpoint/2010/main" val="2535361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dirty="0"/>
              <a:t>14.1 Simple Linear Regression Equation</a:t>
            </a:r>
          </a:p>
        </p:txBody>
      </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A4E578D9-7F5F-F0FF-3AB6-732EC93AC62F}"/>
                  </a:ext>
                </a:extLst>
              </p:cNvPr>
              <p:cNvSpPr>
                <a:spLocks noGrp="1"/>
              </p:cNvSpPr>
              <p:nvPr>
                <p:ph type="body" sz="quarter" idx="15"/>
              </p:nvPr>
            </p:nvSpPr>
            <p:spPr>
              <a:xfrm>
                <a:off x="743576" y="1263534"/>
                <a:ext cx="10610223" cy="1936867"/>
              </a:xfrm>
            </p:spPr>
            <p:txBody>
              <a:bodyPr/>
              <a:lstStyle/>
              <a:p>
                <a:pPr>
                  <a:spcAft>
                    <a:spcPts val="600"/>
                  </a:spcAft>
                </a:pPr>
                <a:r>
                  <a:rPr lang="en-US" sz="2000" dirty="0">
                    <a:solidFill>
                      <a:srgbClr val="000000"/>
                    </a:solidFill>
                    <a:cs typeface="Arial" panose="020B0604020202020204" pitchFamily="34" charset="0"/>
                  </a:rPr>
                  <a:t>The </a:t>
                </a:r>
                <a:r>
                  <a:rPr lang="en-US" sz="2000" b="1" dirty="0">
                    <a:solidFill>
                      <a:srgbClr val="000000"/>
                    </a:solidFill>
                    <a:cs typeface="Arial" panose="020B0604020202020204" pitchFamily="34" charset="0"/>
                  </a:rPr>
                  <a:t>simple linear regression equation </a:t>
                </a:r>
                <a:r>
                  <a:rPr lang="en-US" sz="2000" dirty="0">
                    <a:solidFill>
                      <a:srgbClr val="000000"/>
                    </a:solidFill>
                    <a:cs typeface="Arial" panose="020B0604020202020204" pitchFamily="34" charset="0"/>
                  </a:rPr>
                  <a:t>is described as follows.</a:t>
                </a:r>
                <a:endParaRPr lang="en-US" sz="2000" b="1" i="1" dirty="0">
                  <a:latin typeface="Cambria Math" panose="02040503050406030204" pitchFamily="18" charset="0"/>
                </a:endParaRPr>
              </a:p>
              <a:p>
                <a:pPr marL="914400">
                  <a:spcAft>
                    <a:spcPts val="0"/>
                  </a:spcAft>
                </a:pPr>
                <a14:m>
                  <m:oMath xmlns:m="http://schemas.openxmlformats.org/officeDocument/2006/math">
                    <m:r>
                      <a:rPr lang="en-US" sz="2000" b="1" i="1" smtClean="0">
                        <a:latin typeface="Cambria Math" panose="02040503050406030204" pitchFamily="18" charset="0"/>
                      </a:rPr>
                      <m:t>𝑬</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𝒚</m:t>
                        </m:r>
                      </m:e>
                    </m:d>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𝟎</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𝟏</m:t>
                        </m:r>
                      </m:sub>
                    </m:sSub>
                    <m:r>
                      <a:rPr lang="en-US" sz="2000" b="1" i="1" smtClean="0">
                        <a:latin typeface="Cambria Math" panose="02040503050406030204" pitchFamily="18" charset="0"/>
                      </a:rPr>
                      <m:t>𝒙</m:t>
                    </m:r>
                  </m:oMath>
                </a14:m>
                <a:r>
                  <a:rPr lang="en-US" sz="2000" b="1" dirty="0"/>
                  <a:t> </a:t>
                </a:r>
              </a:p>
              <a:p>
                <a:pPr>
                  <a:spcBef>
                    <a:spcPts val="0"/>
                  </a:spcBef>
                </a:pPr>
                <a:r>
                  <a:rPr lang="en-US" sz="2000" dirty="0"/>
                  <a:t>Where</a:t>
                </a:r>
              </a:p>
              <a:p>
                <a:pPr marL="914400">
                  <a:spcBef>
                    <a:spcPts val="0"/>
                  </a:spcBef>
                  <a:spcAft>
                    <a:spcPts val="0"/>
                  </a:spcAft>
                </a:pPr>
                <a14:m>
                  <m:oMath xmlns:m="http://schemas.openxmlformats.org/officeDocument/2006/math">
                    <m:r>
                      <a:rPr lang="en-US" sz="2000" b="0" i="1" smtClean="0">
                        <a:latin typeface="Cambria Math" panose="02040503050406030204" pitchFamily="18" charset="0"/>
                      </a:rPr>
                      <m:t>𝐸</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𝑦</m:t>
                        </m:r>
                      </m:e>
                    </m:d>
                  </m:oMath>
                </a14:m>
                <a:r>
                  <a:rPr lang="en-US" sz="2000" dirty="0"/>
                  <a:t> is the expected value of a distribution of </a:t>
                </a:r>
                <a:r>
                  <a:rPr lang="en-US" sz="2000" dirty="0">
                    <a:latin typeface="Arial" panose="020B0604020202020204" pitchFamily="34" charset="0"/>
                    <a:cs typeface="Arial" panose="020B0604020202020204" pitchFamily="34" charset="0"/>
                  </a:rPr>
                  <a:t>𝑦</a:t>
                </a:r>
                <a:r>
                  <a:rPr lang="en-US" sz="2000" dirty="0"/>
                  <a:t> values for a given </a:t>
                </a:r>
                <a:r>
                  <a:rPr lang="en-US" sz="2000" dirty="0">
                    <a:latin typeface="Arial" panose="020B0604020202020204" pitchFamily="34" charset="0"/>
                    <a:cs typeface="Arial" panose="020B0604020202020204" pitchFamily="34" charset="0"/>
                  </a:rPr>
                  <a:t>𝑥</a:t>
                </a:r>
                <a:r>
                  <a:rPr lang="en-US" sz="2000" dirty="0"/>
                  <a:t> value.</a:t>
                </a:r>
              </a:p>
              <a:p>
                <a:pPr marL="914400">
                  <a:spcAft>
                    <a:spcPts val="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0</m:t>
                        </m:r>
                      </m:sub>
                    </m:sSub>
                  </m:oMath>
                </a14:m>
                <a:r>
                  <a:rPr lang="en-US" sz="2000" dirty="0"/>
                  <a:t> is </a:t>
                </a:r>
                <a:r>
                  <a:rPr lang="en-US" sz="2000"/>
                  <a:t>the </a:t>
                </a:r>
                <a:r>
                  <a:rPr lang="en-US">
                    <a:latin typeface="Arial" panose="020B0604020202020204" pitchFamily="34" charset="0"/>
                    <a:cs typeface="Arial" panose="020B0604020202020204" pitchFamily="34" charset="0"/>
                  </a:rPr>
                  <a:t>𝑦</a:t>
                </a:r>
                <a:r>
                  <a:rPr lang="en-US" sz="2000"/>
                  <a:t>-intercept </a:t>
                </a:r>
                <a:r>
                  <a:rPr lang="en-US" sz="2000" dirty="0"/>
                  <a:t>of the regression line.</a:t>
                </a:r>
              </a:p>
              <a:p>
                <a:pPr marL="914400">
                  <a:spcAft>
                    <a:spcPts val="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1</m:t>
                        </m:r>
                      </m:sub>
                    </m:sSub>
                  </m:oMath>
                </a14:m>
                <a:r>
                  <a:rPr lang="en-US" sz="2000" dirty="0"/>
                  <a:t> is the slope of the regression line. Its sign dictates the type of linear relationship.</a:t>
                </a:r>
              </a:p>
            </p:txBody>
          </p:sp>
        </mc:Choice>
        <mc:Fallback xmlns="">
          <p:sp>
            <p:nvSpPr>
              <p:cNvPr id="12" name="Text Placeholder 11">
                <a:extLst>
                  <a:ext uri="{FF2B5EF4-FFF2-40B4-BE49-F238E27FC236}">
                    <a16:creationId xmlns:a16="http://schemas.microsoft.com/office/drawing/2014/main" id="{A4E578D9-7F5F-F0FF-3AB6-732EC93AC62F}"/>
                  </a:ext>
                </a:extLst>
              </p:cNvPr>
              <p:cNvSpPr>
                <a:spLocks noGrp="1" noRot="1" noChangeAspect="1" noMove="1" noResize="1" noEditPoints="1" noAdjustHandles="1" noChangeArrowheads="1" noChangeShapeType="1" noTextEdit="1"/>
              </p:cNvSpPr>
              <p:nvPr>
                <p:ph type="body" sz="quarter" idx="15"/>
              </p:nvPr>
            </p:nvSpPr>
            <p:spPr>
              <a:xfrm>
                <a:off x="743576" y="1263534"/>
                <a:ext cx="10610223" cy="1936867"/>
              </a:xfrm>
              <a:blipFill>
                <a:blip r:embed="rId3"/>
                <a:stretch>
                  <a:fillRect l="-1494" t="-3774" b="-18553"/>
                </a:stretch>
              </a:blipFill>
            </p:spPr>
            <p:txBody>
              <a:bodyPr/>
              <a:lstStyle/>
              <a:p>
                <a:r>
                  <a:rPr lang="en-US">
                    <a:noFill/>
                  </a:rPr>
                  <a:t> </a:t>
                </a:r>
              </a:p>
            </p:txBody>
          </p:sp>
        </mc:Fallback>
      </mc:AlternateContent>
      <p:pic>
        <p:nvPicPr>
          <p:cNvPr id="6" name="Picture Placeholder 5" descr="Three panels of graph show regression lines depicting different relationships. In all graphs, the horizontal axis is labeled “x” and the vertical axis is labeled “E(y)” listing intercept beta_0. Panel A: Positive linear relationship. The regression line starts from (0, intercept beta_0) and slopes upward. The line is labeled “Slope beta_1 is positive.” Panel B: Negative linear relationship. The regression line starts from (0, intercept beta_0) and slopes downward. The line is labeled “Slope beta_1 is negative.” Panel C: No relationship. Panel A: Positive linear relationship. The regression line starts from (0, intercept beta_0) and is horizontal. The line is labeled “Slope beta_1 is 0.”&#10;">
            <a:extLst>
              <a:ext uri="{FF2B5EF4-FFF2-40B4-BE49-F238E27FC236}">
                <a16:creationId xmlns:a16="http://schemas.microsoft.com/office/drawing/2014/main" id="{DB885EE6-F082-E39C-A788-7D5A459C7BBB}"/>
              </a:ext>
            </a:extLst>
          </p:cNvPr>
          <p:cNvPicPr>
            <a:picLocks noGrp="1" noChangeAspect="1"/>
          </p:cNvPicPr>
          <p:nvPr>
            <p:ph type="pic" sz="quarter" idx="16"/>
          </p:nvPr>
        </p:nvPicPr>
        <p:blipFill rotWithShape="1">
          <a:blip r:embed="rId4"/>
          <a:srcRect t="19" b="19"/>
          <a:stretch/>
        </p:blipFill>
        <p:spPr>
          <a:xfrm>
            <a:off x="2008188" y="3523594"/>
            <a:ext cx="8175625" cy="2295525"/>
          </a:xfrm>
        </p:spPr>
      </p:pic>
    </p:spTree>
    <p:extLst>
      <p:ext uri="{BB962C8B-B14F-4D97-AF65-F5344CB8AC3E}">
        <p14:creationId xmlns:p14="http://schemas.microsoft.com/office/powerpoint/2010/main" val="3181099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4563C-542A-D08C-1A11-F2F943F613B0}"/>
              </a:ext>
            </a:extLst>
          </p:cNvPr>
          <p:cNvSpPr>
            <a:spLocks noGrp="1"/>
          </p:cNvSpPr>
          <p:nvPr>
            <p:ph type="title"/>
          </p:nvPr>
        </p:nvSpPr>
        <p:spPr>
          <a:xfrm>
            <a:off x="554387" y="365125"/>
            <a:ext cx="11088444" cy="672105"/>
          </a:xfrm>
        </p:spPr>
        <p:txBody>
          <a:bodyPr/>
          <a:lstStyle/>
          <a:p>
            <a:r>
              <a:rPr lang="en-US" sz="3200" dirty="0"/>
              <a:t>14.1 The Estimation Process in Simple Linear Regression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31EB207-E6CC-3AF0-A9DB-03F1D10D990F}"/>
                  </a:ext>
                </a:extLst>
              </p:cNvPr>
              <p:cNvSpPr>
                <a:spLocks noGrp="1"/>
              </p:cNvSpPr>
              <p:nvPr>
                <p:ph type="body" sz="quarter" idx="15"/>
              </p:nvPr>
            </p:nvSpPr>
            <p:spPr>
              <a:xfrm>
                <a:off x="827469" y="1407155"/>
                <a:ext cx="5715000" cy="4443984"/>
              </a:xfrm>
            </p:spPr>
            <p:txBody>
              <a:bodyPr/>
              <a:lstStyle/>
              <a:p>
                <a:pPr>
                  <a:lnSpc>
                    <a:spcPct val="100000"/>
                  </a:lnSpc>
                  <a:spcBef>
                    <a:spcPts val="600"/>
                  </a:spcBef>
                  <a:spcAft>
                    <a:spcPts val="1200"/>
                  </a:spcAft>
                </a:pPr>
                <a:r>
                  <a:rPr lang="en-US" sz="2000" dirty="0">
                    <a:solidFill>
                      <a:srgbClr val="000000"/>
                    </a:solidFill>
                    <a:cs typeface="Arial" panose="020B0604020202020204" pitchFamily="34" charset="0"/>
                  </a:rPr>
                  <a:t>The </a:t>
                </a:r>
                <a:r>
                  <a:rPr lang="en-US" sz="2000" i="1" dirty="0">
                    <a:cs typeface="Arial" panose="020B0604020202020204" pitchFamily="34" charset="0"/>
                  </a:rPr>
                  <a:t>estimated s</a:t>
                </a:r>
                <a:r>
                  <a:rPr lang="en-US" sz="2000" i="1" dirty="0">
                    <a:solidFill>
                      <a:srgbClr val="000000"/>
                    </a:solidFill>
                    <a:cs typeface="Arial" panose="020B0604020202020204" pitchFamily="34" charset="0"/>
                  </a:rPr>
                  <a:t>imple linear regression equation </a:t>
                </a:r>
                <a:r>
                  <a:rPr lang="en-US" sz="2000" dirty="0">
                    <a:solidFill>
                      <a:srgbClr val="000000"/>
                    </a:solidFill>
                    <a:cs typeface="Arial" panose="020B0604020202020204" pitchFamily="34" charset="0"/>
                  </a:rPr>
                  <a:t>is</a:t>
                </a:r>
              </a:p>
              <a:p>
                <a:pPr marL="914400">
                  <a:spcAft>
                    <a:spcPts val="600"/>
                  </a:spcAft>
                </a:pPr>
                <a14:m>
                  <m:oMathPara xmlns:m="http://schemas.openxmlformats.org/officeDocument/2006/math">
                    <m:oMathParaPr>
                      <m:jc m:val="left"/>
                    </m:oMathParaPr>
                    <m:oMath xmlns:m="http://schemas.openxmlformats.org/officeDocument/2006/math">
                      <m:acc>
                        <m:accPr>
                          <m:chr m:val="̂"/>
                          <m:ctrlPr>
                            <a:rPr lang="en-US" sz="2000" b="1" i="1" smtClean="0">
                              <a:latin typeface="Cambria Math" panose="02040503050406030204" pitchFamily="18" charset="0"/>
                            </a:rPr>
                          </m:ctrlPr>
                        </m:accPr>
                        <m:e>
                          <m:r>
                            <a:rPr lang="en-US" sz="2000" b="1" i="1">
                              <a:latin typeface="Cambria Math" panose="02040503050406030204" pitchFamily="18" charset="0"/>
                            </a:rPr>
                            <m:t>𝒚</m:t>
                          </m:r>
                        </m:e>
                      </m:acc>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𝒃</m:t>
                          </m:r>
                        </m:e>
                        <m:sub>
                          <m:r>
                            <a:rPr lang="en-US" sz="2000" b="1" i="1" smtClean="0">
                              <a:latin typeface="Cambria Math" panose="02040503050406030204" pitchFamily="18" charset="0"/>
                            </a:rPr>
                            <m:t>𝟎</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𝒃</m:t>
                          </m:r>
                        </m:e>
                        <m:sub>
                          <m:r>
                            <a:rPr lang="en-US" sz="2000" b="1" i="1" smtClean="0">
                              <a:latin typeface="Cambria Math" panose="02040503050406030204" pitchFamily="18" charset="0"/>
                            </a:rPr>
                            <m:t>𝟏</m:t>
                          </m:r>
                        </m:sub>
                      </m:sSub>
                      <m:r>
                        <a:rPr lang="en-US" sz="2000" b="1" i="1" smtClean="0">
                          <a:latin typeface="Cambria Math" panose="02040503050406030204" pitchFamily="18" charset="0"/>
                        </a:rPr>
                        <m:t>𝒙</m:t>
                      </m:r>
                    </m:oMath>
                  </m:oMathPara>
                </a14:m>
                <a:endParaRPr lang="en-US" sz="2000" b="1" dirty="0"/>
              </a:p>
              <a:p>
                <a:pPr>
                  <a:spcBef>
                    <a:spcPts val="600"/>
                  </a:spcBef>
                  <a:spcAft>
                    <a:spcPts val="600"/>
                  </a:spcAft>
                </a:pPr>
                <a:r>
                  <a:rPr lang="en-US" sz="2000" dirty="0"/>
                  <a:t>The graph of the estimated simple linear regression equation is called the </a:t>
                </a:r>
                <a:r>
                  <a:rPr lang="en-US" sz="2000" i="1" dirty="0"/>
                  <a:t>estimated regression line</a:t>
                </a:r>
                <a:r>
                  <a:rPr lang="en-US" sz="2000" dirty="0"/>
                  <a:t>, where:</a:t>
                </a:r>
              </a:p>
              <a:p>
                <a:pPr marL="457200">
                  <a:spcAft>
                    <a:spcPts val="600"/>
                  </a:spcAft>
                </a:pPr>
                <a14:m>
                  <m:oMath xmlns:m="http://schemas.openxmlformats.org/officeDocument/2006/math">
                    <m:acc>
                      <m:accPr>
                        <m:chr m:val="̂"/>
                        <m:ctrlPr>
                          <a:rPr lang="en-US" sz="2000" i="1" smtClean="0">
                            <a:latin typeface="Cambria Math" panose="02040503050406030204" pitchFamily="18" charset="0"/>
                          </a:rPr>
                        </m:ctrlPr>
                      </m:accPr>
                      <m:e>
                        <m:r>
                          <a:rPr lang="en-US" sz="2000" b="0" i="1">
                            <a:latin typeface="Cambria Math" panose="02040503050406030204" pitchFamily="18" charset="0"/>
                          </a:rPr>
                          <m:t>𝑦</m:t>
                        </m:r>
                      </m:e>
                    </m:acc>
                  </m:oMath>
                </a14:m>
                <a:r>
                  <a:rPr lang="en-US" sz="2000" i="1" dirty="0"/>
                  <a:t> </a:t>
                </a:r>
                <a:r>
                  <a:rPr lang="en-US" sz="2000" dirty="0"/>
                  <a:t>is a point estimate of </a:t>
                </a:r>
                <a14:m>
                  <m:oMath xmlns:m="http://schemas.openxmlformats.org/officeDocument/2006/math">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𝑦</m:t>
                        </m:r>
                      </m:e>
                    </m:d>
                  </m:oMath>
                </a14:m>
                <a:r>
                  <a:rPr lang="en-US" sz="2000" dirty="0"/>
                  <a:t> for a given </a:t>
                </a:r>
                <a:r>
                  <a:rPr lang="en-US" sz="2000" dirty="0">
                    <a:latin typeface="Arial" panose="020B0604020202020204" pitchFamily="34" charset="0"/>
                    <a:cs typeface="Arial" panose="020B0604020202020204" pitchFamily="34" charset="0"/>
                  </a:rPr>
                  <a:t>𝑥</a:t>
                </a:r>
                <a:r>
                  <a:rPr lang="en-US" sz="2000" dirty="0"/>
                  <a:t>.</a:t>
                </a:r>
              </a:p>
              <a:p>
                <a:pPr marL="457200">
                  <a:spcAft>
                    <a:spcPts val="60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𝑏</m:t>
                        </m:r>
                      </m:e>
                      <m:sub>
                        <m:r>
                          <a:rPr lang="en-US" sz="2000" b="0" i="1" smtClean="0">
                            <a:latin typeface="Cambria Math" panose="02040503050406030204" pitchFamily="18" charset="0"/>
                          </a:rPr>
                          <m:t>0</m:t>
                        </m:r>
                      </m:sub>
                    </m:sSub>
                  </m:oMath>
                </a14:m>
                <a:r>
                  <a:rPr lang="en-US" sz="2000" dirty="0"/>
                  <a:t> is </a:t>
                </a:r>
                <a:r>
                  <a:rPr lang="en-US" sz="2000"/>
                  <a:t>the </a:t>
                </a:r>
                <a:r>
                  <a:rPr lang="en-US">
                    <a:latin typeface="Arial" panose="020B0604020202020204" pitchFamily="34" charset="0"/>
                    <a:cs typeface="Arial" panose="020B0604020202020204" pitchFamily="34" charset="0"/>
                  </a:rPr>
                  <a:t>𝑦</a:t>
                </a:r>
                <a:r>
                  <a:rPr lang="en-US" sz="2000"/>
                  <a:t>-intercept </a:t>
                </a:r>
                <a:r>
                  <a:rPr lang="en-US" sz="2000" dirty="0"/>
                  <a:t>of the regression.</a:t>
                </a:r>
              </a:p>
              <a:p>
                <a:pPr marL="457200">
                  <a:spcAft>
                    <a:spcPts val="60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𝑏</m:t>
                        </m:r>
                      </m:e>
                      <m:sub>
                        <m:r>
                          <a:rPr lang="en-US" sz="2000" b="0" i="1" smtClean="0">
                            <a:latin typeface="Cambria Math" panose="02040503050406030204" pitchFamily="18" charset="0"/>
                          </a:rPr>
                          <m:t>1</m:t>
                        </m:r>
                      </m:sub>
                    </m:sSub>
                  </m:oMath>
                </a14:m>
                <a:r>
                  <a:rPr lang="en-US" sz="2000" dirty="0"/>
                  <a:t> is the slope of the regression.</a:t>
                </a:r>
              </a:p>
              <a:p>
                <a:r>
                  <a:rPr lang="en-US" sz="2000" dirty="0"/>
                  <a:t>The flow chart to the right provides a summary of the estimation process for simple linear regression.</a:t>
                </a:r>
              </a:p>
            </p:txBody>
          </p:sp>
        </mc:Choice>
        <mc:Fallback xmlns="">
          <p:sp>
            <p:nvSpPr>
              <p:cNvPr id="3" name="Text Placeholder 2">
                <a:extLst>
                  <a:ext uri="{FF2B5EF4-FFF2-40B4-BE49-F238E27FC236}">
                    <a16:creationId xmlns:a16="http://schemas.microsoft.com/office/drawing/2014/main" id="{431EB207-E6CC-3AF0-A9DB-03F1D10D990F}"/>
                  </a:ext>
                </a:extLst>
              </p:cNvPr>
              <p:cNvSpPr>
                <a:spLocks noGrp="1" noRot="1" noChangeAspect="1" noMove="1" noResize="1" noEditPoints="1" noAdjustHandles="1" noChangeArrowheads="1" noChangeShapeType="1" noTextEdit="1"/>
              </p:cNvSpPr>
              <p:nvPr>
                <p:ph type="body" sz="quarter" idx="15"/>
              </p:nvPr>
            </p:nvSpPr>
            <p:spPr>
              <a:xfrm>
                <a:off x="827469" y="1407155"/>
                <a:ext cx="5715000" cy="4443984"/>
              </a:xfrm>
              <a:blipFill>
                <a:blip r:embed="rId3"/>
                <a:stretch>
                  <a:fillRect l="-2775" t="-1646" r="-1708"/>
                </a:stretch>
              </a:blipFill>
            </p:spPr>
            <p:txBody>
              <a:bodyPr/>
              <a:lstStyle/>
              <a:p>
                <a:r>
                  <a:rPr lang="en-US">
                    <a:noFill/>
                  </a:rPr>
                  <a:t> </a:t>
                </a:r>
              </a:p>
            </p:txBody>
          </p:sp>
        </mc:Fallback>
      </mc:AlternateContent>
      <p:pic>
        <p:nvPicPr>
          <p:cNvPr id="6" name="Picture Placeholder 6" descr="A cyclic diagram shows four steps in the estimation process in simple linear regression. Step 1: Sample data. A table consists of two columns: x and y. Variables are listed under each column. Step 2: Estimated regression equation. y-hat = b_0 + b_1 x. Sample statistics, b_0, b_1. Step 3: b_0 and b_1 provide estimates of beta_0 and beta_1. Step 4: Regression model, y = beta_0 + beta_1 x + epsilon. Regression equation, E(y) = beta_0 + beta_1 x. Unknown parameters, beta_0, beta_1.&#10;">
            <a:extLst>
              <a:ext uri="{FF2B5EF4-FFF2-40B4-BE49-F238E27FC236}">
                <a16:creationId xmlns:a16="http://schemas.microsoft.com/office/drawing/2014/main" id="{E83D7B7B-33F6-385B-2EDC-2ACF36740057}"/>
              </a:ext>
            </a:extLst>
          </p:cNvPr>
          <p:cNvPicPr>
            <a:picLocks noGrp="1" noChangeAspect="1"/>
          </p:cNvPicPr>
          <p:nvPr>
            <p:ph type="pic" sz="quarter" idx="16"/>
          </p:nvPr>
        </p:nvPicPr>
        <p:blipFill rotWithShape="1">
          <a:blip r:embed="rId4"/>
          <a:srcRect l="25" r="25"/>
          <a:stretch/>
        </p:blipFill>
        <p:spPr>
          <a:xfrm>
            <a:off x="6542469" y="1407726"/>
            <a:ext cx="4791075" cy="4443413"/>
          </a:xfrm>
        </p:spPr>
      </p:pic>
    </p:spTree>
    <p:extLst>
      <p:ext uri="{BB962C8B-B14F-4D97-AF65-F5344CB8AC3E}">
        <p14:creationId xmlns:p14="http://schemas.microsoft.com/office/powerpoint/2010/main" val="653465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D14B1E"/>
                </a:solidFill>
              </a:rPr>
              <a:t>14.2 Least Squares Method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685800" y="1284889"/>
                <a:ext cx="10781737" cy="4548352"/>
              </a:xfrm>
            </p:spPr>
            <p:txBody>
              <a:bodyPr/>
              <a:lstStyle/>
              <a:p>
                <a:pPr>
                  <a:spcBef>
                    <a:spcPts val="600"/>
                  </a:spcBef>
                  <a:spcAft>
                    <a:spcPts val="600"/>
                  </a:spcAft>
                </a:pPr>
                <a:r>
                  <a:rPr lang="en-US" sz="2000" dirty="0">
                    <a:solidFill>
                      <a:srgbClr val="000000"/>
                    </a:solidFill>
                    <a:cs typeface="Arial" panose="020B0604020202020204" pitchFamily="34" charset="0"/>
                  </a:rPr>
                  <a:t>The </a:t>
                </a:r>
                <a:r>
                  <a:rPr lang="en-US" sz="2000" b="1" dirty="0">
                    <a:solidFill>
                      <a:srgbClr val="000000"/>
                    </a:solidFill>
                    <a:cs typeface="Arial" panose="020B0604020202020204" pitchFamily="34" charset="0"/>
                  </a:rPr>
                  <a:t>least squares method </a:t>
                </a:r>
                <a:r>
                  <a:rPr lang="en-US" sz="2000" dirty="0">
                    <a:solidFill>
                      <a:srgbClr val="000000"/>
                    </a:solidFill>
                    <a:cs typeface="Arial" panose="020B0604020202020204" pitchFamily="34" charset="0"/>
                  </a:rPr>
                  <a:t>uses the sample data to provide the values of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𝑏</m:t>
                        </m:r>
                      </m:e>
                      <m:sub>
                        <m:r>
                          <a:rPr lang="en-US" sz="2000" b="0" i="1" smtClean="0">
                            <a:latin typeface="Cambria Math" panose="02040503050406030204" pitchFamily="18" charset="0"/>
                          </a:rPr>
                          <m:t>0</m:t>
                        </m:r>
                      </m:sub>
                    </m:sSub>
                  </m:oMath>
                </a14:m>
                <a:r>
                  <a:rPr lang="en-US" sz="2000" dirty="0">
                    <a:solidFill>
                      <a:srgbClr val="000000"/>
                    </a:solidFill>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b="0" i="1" smtClean="0">
                            <a:latin typeface="Cambria Math" panose="02040503050406030204" pitchFamily="18" charset="0"/>
                          </a:rPr>
                          <m:t>1</m:t>
                        </m:r>
                      </m:sub>
                    </m:sSub>
                  </m:oMath>
                </a14:m>
                <a:r>
                  <a:rPr lang="en-US" sz="2000" dirty="0">
                    <a:solidFill>
                      <a:srgbClr val="000000"/>
                    </a:solidFill>
                    <a:cs typeface="Arial" panose="020B0604020202020204" pitchFamily="34" charset="0"/>
                  </a:rPr>
                  <a:t> that minimize the sum of the squares of the deviations between the observed values of the dependent variable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rPr>
                          <m:t>𝑖</m:t>
                        </m:r>
                      </m:sub>
                    </m:sSub>
                  </m:oMath>
                </a14:m>
                <a:r>
                  <a:rPr lang="en-US" sz="2000" dirty="0">
                    <a:solidFill>
                      <a:srgbClr val="000000"/>
                    </a:solidFill>
                    <a:cs typeface="Arial" panose="020B0604020202020204" pitchFamily="34" charset="0"/>
                  </a:rPr>
                  <a:t> and the predicted values of the dependent variable </a:t>
                </a:r>
                <a14:m>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b="0" i="1">
                                <a:latin typeface="Cambria Math" panose="02040503050406030204" pitchFamily="18" charset="0"/>
                              </a:rPr>
                              <m:t>𝑦</m:t>
                            </m:r>
                          </m:e>
                        </m:acc>
                      </m:e>
                      <m:sub>
                        <m:r>
                          <a:rPr lang="en-US" sz="2000" b="0" i="1">
                            <a:latin typeface="Cambria Math" panose="02040503050406030204" pitchFamily="18" charset="0"/>
                          </a:rPr>
                          <m:t>𝑖</m:t>
                        </m:r>
                      </m:sub>
                    </m:sSub>
                  </m:oMath>
                </a14:m>
                <a:r>
                  <a:rPr lang="en-US" sz="2000" dirty="0">
                    <a:solidFill>
                      <a:srgbClr val="000000"/>
                    </a:solidFill>
                    <a:cs typeface="Arial" panose="020B0604020202020204" pitchFamily="34" charset="0"/>
                  </a:rPr>
                  <a:t>.</a:t>
                </a:r>
              </a:p>
              <a:p>
                <a:pPr>
                  <a:spcBef>
                    <a:spcPts val="600"/>
                  </a:spcBef>
                  <a:spcAft>
                    <a:spcPts val="600"/>
                  </a:spcAft>
                </a:pPr>
                <a:r>
                  <a:rPr lang="en-US" sz="2000" b="1" dirty="0">
                    <a:cs typeface="Arial" panose="020B0604020202020204" pitchFamily="34" charset="0"/>
                  </a:rPr>
                  <a:t>Least Squares Criterion</a:t>
                </a:r>
              </a:p>
              <a:p>
                <a:pPr marL="914400">
                  <a:spcBef>
                    <a:spcPts val="0"/>
                  </a:spcBef>
                  <a:spcAft>
                    <a:spcPts val="0"/>
                  </a:spcAft>
                </a:pPr>
                <a14:m>
                  <m:oMathPara xmlns:m="http://schemas.openxmlformats.org/officeDocument/2006/math">
                    <m:oMathParaPr>
                      <m:jc m:val="left"/>
                    </m:oMathParaPr>
                    <m:oMath xmlns:m="http://schemas.openxmlformats.org/officeDocument/2006/math">
                      <m:func>
                        <m:funcPr>
                          <m:ctrlPr>
                            <a:rPr lang="en-US" sz="2000" b="1" i="1" smtClean="0">
                              <a:latin typeface="Cambria Math" panose="02040503050406030204" pitchFamily="18" charset="0"/>
                              <a:cs typeface="Arial" panose="020B0604020202020204" pitchFamily="34" charset="0"/>
                            </a:rPr>
                          </m:ctrlPr>
                        </m:funcPr>
                        <m:fName>
                          <m:r>
                            <a:rPr lang="en-US" sz="2000" b="1" i="0" smtClean="0">
                              <a:latin typeface="Cambria Math" panose="02040503050406030204" pitchFamily="18" charset="0"/>
                              <a:cs typeface="Arial" panose="020B0604020202020204" pitchFamily="34" charset="0"/>
                            </a:rPr>
                            <m:t>𝐦𝐢𝐧</m:t>
                          </m:r>
                        </m:fName>
                        <m:e>
                          <m:nary>
                            <m:naryPr>
                              <m:chr m:val="∑"/>
                              <m:subHide m:val="on"/>
                              <m:supHide m:val="on"/>
                              <m:ctrlPr>
                                <a:rPr lang="en-US" sz="2000" b="1" i="1" smtClean="0">
                                  <a:latin typeface="Cambria Math" panose="02040503050406030204" pitchFamily="18" charset="0"/>
                                  <a:cs typeface="Arial" panose="020B0604020202020204" pitchFamily="34" charset="0"/>
                                </a:rPr>
                              </m:ctrlPr>
                            </m:naryPr>
                            <m:sub/>
                            <m:sup/>
                            <m:e>
                              <m:sSup>
                                <m:sSupPr>
                                  <m:ctrlPr>
                                    <a:rPr lang="en-US" sz="2000" b="1" i="1" smtClean="0">
                                      <a:latin typeface="Cambria Math" panose="02040503050406030204" pitchFamily="18" charset="0"/>
                                      <a:cs typeface="Arial" panose="020B0604020202020204" pitchFamily="34" charset="0"/>
                                    </a:rPr>
                                  </m:ctrlPr>
                                </m:sSupPr>
                                <m:e>
                                  <m:d>
                                    <m:dPr>
                                      <m:ctrlPr>
                                        <a:rPr lang="en-US" sz="2000" b="1" i="1" smtClean="0">
                                          <a:latin typeface="Cambria Math" panose="02040503050406030204" pitchFamily="18" charset="0"/>
                                          <a:cs typeface="Arial" panose="020B0604020202020204" pitchFamily="34" charset="0"/>
                                        </a:rPr>
                                      </m:ctrlPr>
                                    </m:dPr>
                                    <m:e>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𝒚</m:t>
                                          </m:r>
                                        </m:e>
                                        <m:sub>
                                          <m:r>
                                            <a:rPr lang="en-US" sz="2000" b="1" i="1" smtClean="0">
                                              <a:latin typeface="Cambria Math" panose="02040503050406030204" pitchFamily="18" charset="0"/>
                                              <a:cs typeface="Arial" panose="020B0604020202020204" pitchFamily="34" charset="0"/>
                                            </a:rPr>
                                            <m:t>𝒊</m:t>
                                          </m:r>
                                        </m:sub>
                                      </m:sSub>
                                      <m:r>
                                        <a:rPr lang="en-US" sz="2000" b="1" i="1" smtClean="0">
                                          <a:latin typeface="Cambria Math" panose="02040503050406030204" pitchFamily="18" charset="0"/>
                                          <a:cs typeface="Arial" panose="020B0604020202020204" pitchFamily="34" charset="0"/>
                                        </a:rPr>
                                        <m:t>−</m:t>
                                      </m:r>
                                      <m:acc>
                                        <m:accPr>
                                          <m:chr m:val="̂"/>
                                          <m:ctrlPr>
                                            <a:rPr lang="en-US" sz="2000" b="1" i="1" smtClean="0">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𝒚</m:t>
                                          </m:r>
                                        </m:e>
                                      </m:acc>
                                    </m:e>
                                  </m:d>
                                </m:e>
                                <m:sup>
                                  <m:r>
                                    <a:rPr lang="en-US" sz="2000" b="1" i="1" smtClean="0">
                                      <a:latin typeface="Cambria Math" panose="02040503050406030204" pitchFamily="18" charset="0"/>
                                      <a:cs typeface="Arial" panose="020B0604020202020204" pitchFamily="34" charset="0"/>
                                    </a:rPr>
                                    <m:t>𝟐</m:t>
                                  </m:r>
                                </m:sup>
                              </m:sSup>
                            </m:e>
                          </m:nary>
                        </m:e>
                      </m:func>
                    </m:oMath>
                  </m:oMathPara>
                </a14:m>
                <a:endParaRPr lang="en-US" sz="2000" b="1" dirty="0">
                  <a:cs typeface="Arial" panose="020B0604020202020204" pitchFamily="34" charset="0"/>
                </a:endParaRPr>
              </a:p>
              <a:p>
                <a:pPr>
                  <a:spcBef>
                    <a:spcPts val="0"/>
                  </a:spcBef>
                  <a:spcAft>
                    <a:spcPts val="1200"/>
                  </a:spcAft>
                </a:pPr>
                <a:r>
                  <a:rPr lang="en-US" sz="2000" b="1" dirty="0">
                    <a:solidFill>
                      <a:srgbClr val="000000"/>
                    </a:solidFill>
                    <a:cs typeface="Arial" panose="020B0604020202020204" pitchFamily="34" charset="0"/>
                  </a:rPr>
                  <a:t>Slope </a:t>
                </a:r>
                <a:r>
                  <a:rPr lang="en-US" sz="2000" b="1">
                    <a:solidFill>
                      <a:srgbClr val="000000"/>
                    </a:solidFill>
                    <a:cs typeface="Arial" panose="020B0604020202020204" pitchFamily="34" charset="0"/>
                  </a:rPr>
                  <a:t>and </a:t>
                </a:r>
                <a:r>
                  <a:rPr lang="en-US" sz="2000" b="1">
                    <a:latin typeface="Arial" panose="020B0604020202020204" pitchFamily="34" charset="0"/>
                    <a:cs typeface="Arial" panose="020B0604020202020204" pitchFamily="34" charset="0"/>
                  </a:rPr>
                  <a:t>𝑦</a:t>
                </a:r>
                <a:r>
                  <a:rPr lang="en-US" sz="2000" b="1">
                    <a:solidFill>
                      <a:srgbClr val="000000"/>
                    </a:solidFill>
                    <a:cs typeface="Arial" panose="020B0604020202020204" pitchFamily="34" charset="0"/>
                  </a:rPr>
                  <a:t>-Intercept </a:t>
                </a:r>
                <a:r>
                  <a:rPr lang="en-US" sz="2000" b="1" dirty="0">
                    <a:solidFill>
                      <a:srgbClr val="000000"/>
                    </a:solidFill>
                    <a:cs typeface="Arial" panose="020B0604020202020204" pitchFamily="34" charset="0"/>
                  </a:rPr>
                  <a:t>for the Estimated Regression Equation</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𝒃</m:t>
                          </m:r>
                        </m:e>
                        <m:sub>
                          <m:r>
                            <a:rPr lang="en-US" sz="2000" b="1" i="1" smtClean="0">
                              <a:latin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cs typeface="Arial" panose="020B0604020202020204" pitchFamily="34" charset="0"/>
                        </a:rPr>
                        <m:t>=</m:t>
                      </m:r>
                      <m:f>
                        <m:fPr>
                          <m:ctrlPr>
                            <a:rPr lang="en-US" sz="2000" b="1" i="1" smtClean="0">
                              <a:latin typeface="Cambria Math" panose="02040503050406030204" pitchFamily="18" charset="0"/>
                              <a:cs typeface="Arial" panose="020B0604020202020204" pitchFamily="34" charset="0"/>
                            </a:rPr>
                          </m:ctrlPr>
                        </m:fPr>
                        <m:num>
                          <m:nary>
                            <m:naryPr>
                              <m:chr m:val="∑"/>
                              <m:subHide m:val="on"/>
                              <m:supHide m:val="on"/>
                              <m:ctrlPr>
                                <a:rPr lang="en-US" sz="2000" b="1" i="1" smtClean="0">
                                  <a:latin typeface="Cambria Math" panose="02040503050406030204" pitchFamily="18" charset="0"/>
                                  <a:cs typeface="Arial" panose="020B0604020202020204" pitchFamily="34" charset="0"/>
                                </a:rPr>
                              </m:ctrlPr>
                            </m:naryPr>
                            <m:sub/>
                            <m:sup/>
                            <m:e>
                              <m:d>
                                <m:dPr>
                                  <m:ctrlPr>
                                    <a:rPr lang="en-US" sz="2000" b="1" i="1" smtClean="0">
                                      <a:latin typeface="Cambria Math" panose="02040503050406030204" pitchFamily="18" charset="0"/>
                                      <a:cs typeface="Arial" panose="020B0604020202020204" pitchFamily="34" charset="0"/>
                                    </a:rPr>
                                  </m:ctrlPr>
                                </m:dPr>
                                <m:e>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𝒙</m:t>
                                      </m:r>
                                    </m:e>
                                    <m:sub>
                                      <m:r>
                                        <a:rPr lang="en-US" sz="2000" b="1" i="1" smtClean="0">
                                          <a:latin typeface="Cambria Math" panose="02040503050406030204" pitchFamily="18" charset="0"/>
                                          <a:cs typeface="Arial" panose="020B0604020202020204" pitchFamily="34" charset="0"/>
                                        </a:rPr>
                                        <m:t>𝒊</m:t>
                                      </m:r>
                                    </m:sub>
                                  </m:sSub>
                                  <m:r>
                                    <a:rPr lang="en-US" sz="2000" b="1" i="1" smtClean="0">
                                      <a:latin typeface="Cambria Math" panose="02040503050406030204" pitchFamily="18" charset="0"/>
                                      <a:cs typeface="Arial" panose="020B0604020202020204" pitchFamily="34" charset="0"/>
                                    </a:rPr>
                                    <m:t>−</m:t>
                                  </m:r>
                                  <m:acc>
                                    <m:accPr>
                                      <m:chr m:val="̅"/>
                                      <m:ctrlPr>
                                        <a:rPr lang="en-US" sz="2000" b="1" i="1" smtClean="0">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𝒙</m:t>
                                      </m:r>
                                    </m:e>
                                  </m:acc>
                                </m:e>
                              </m:d>
                              <m:d>
                                <m:dPr>
                                  <m:ctrlPr>
                                    <a:rPr lang="en-US" sz="2000" b="1" i="1">
                                      <a:latin typeface="Cambria Math" panose="02040503050406030204" pitchFamily="18" charset="0"/>
                                      <a:cs typeface="Arial" panose="020B0604020202020204" pitchFamily="34" charset="0"/>
                                    </a:rPr>
                                  </m:ctrlPr>
                                </m:dPr>
                                <m:e>
                                  <m:sSub>
                                    <m:sSubPr>
                                      <m:ctrlPr>
                                        <a:rPr lang="en-US" sz="2000" b="1" i="1">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𝒚</m:t>
                                      </m:r>
                                    </m:e>
                                    <m:sub>
                                      <m:r>
                                        <a:rPr lang="en-US" sz="2000" b="1" i="1">
                                          <a:latin typeface="Cambria Math" panose="02040503050406030204" pitchFamily="18" charset="0"/>
                                          <a:cs typeface="Arial" panose="020B0604020202020204" pitchFamily="34" charset="0"/>
                                        </a:rPr>
                                        <m:t>𝒊</m:t>
                                      </m:r>
                                    </m:sub>
                                  </m:sSub>
                                  <m:r>
                                    <a:rPr lang="en-US" sz="2000" b="1" i="1">
                                      <a:latin typeface="Cambria Math" panose="02040503050406030204" pitchFamily="18" charset="0"/>
                                      <a:cs typeface="Arial" panose="020B0604020202020204" pitchFamily="34" charset="0"/>
                                    </a:rPr>
                                    <m:t>−</m:t>
                                  </m:r>
                                  <m:acc>
                                    <m:accPr>
                                      <m:chr m:val="̅"/>
                                      <m:ctrlPr>
                                        <a:rPr lang="en-US" sz="2000" b="1" i="1">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𝒚</m:t>
                                      </m:r>
                                    </m:e>
                                  </m:acc>
                                </m:e>
                              </m:d>
                            </m:e>
                          </m:nary>
                        </m:num>
                        <m:den>
                          <m:nary>
                            <m:naryPr>
                              <m:chr m:val="∑"/>
                              <m:subHide m:val="on"/>
                              <m:supHide m:val="on"/>
                              <m:ctrlPr>
                                <a:rPr lang="en-US" sz="2000" b="1" i="1" smtClean="0">
                                  <a:latin typeface="Cambria Math" panose="02040503050406030204" pitchFamily="18" charset="0"/>
                                  <a:cs typeface="Arial" panose="020B0604020202020204" pitchFamily="34" charset="0"/>
                                </a:rPr>
                              </m:ctrlPr>
                            </m:naryPr>
                            <m:sub/>
                            <m:sup/>
                            <m:e>
                              <m:sSup>
                                <m:sSupPr>
                                  <m:ctrlPr>
                                    <a:rPr lang="en-US" sz="2000" b="1" i="1">
                                      <a:latin typeface="Cambria Math" panose="02040503050406030204" pitchFamily="18" charset="0"/>
                                      <a:cs typeface="Arial" panose="020B0604020202020204" pitchFamily="34" charset="0"/>
                                    </a:rPr>
                                  </m:ctrlPr>
                                </m:sSupPr>
                                <m:e>
                                  <m:d>
                                    <m:dPr>
                                      <m:ctrlPr>
                                        <a:rPr lang="en-US" sz="2000" b="1" i="1">
                                          <a:latin typeface="Cambria Math" panose="02040503050406030204" pitchFamily="18" charset="0"/>
                                          <a:cs typeface="Arial" panose="020B0604020202020204" pitchFamily="34" charset="0"/>
                                        </a:rPr>
                                      </m:ctrlPr>
                                    </m:dPr>
                                    <m:e>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𝒙</m:t>
                                          </m:r>
                                        </m:e>
                                        <m:sub>
                                          <m:r>
                                            <a:rPr lang="en-US" sz="2000" b="1" i="1">
                                              <a:latin typeface="Cambria Math" panose="02040503050406030204" pitchFamily="18" charset="0"/>
                                              <a:cs typeface="Arial" panose="020B0604020202020204" pitchFamily="34" charset="0"/>
                                            </a:rPr>
                                            <m:t>𝒊</m:t>
                                          </m:r>
                                        </m:sub>
                                      </m:sSub>
                                      <m:r>
                                        <a:rPr lang="en-US" sz="2000" b="1" i="1">
                                          <a:latin typeface="Cambria Math" panose="02040503050406030204" pitchFamily="18" charset="0"/>
                                          <a:cs typeface="Arial" panose="020B0604020202020204" pitchFamily="34" charset="0"/>
                                        </a:rPr>
                                        <m:t>−</m:t>
                                      </m:r>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𝒙</m:t>
                                          </m:r>
                                        </m:e>
                                      </m:acc>
                                    </m:e>
                                  </m:d>
                                </m:e>
                                <m:sup>
                                  <m:r>
                                    <a:rPr lang="en-US" sz="2000" b="1" i="1">
                                      <a:latin typeface="Cambria Math" panose="02040503050406030204" pitchFamily="18" charset="0"/>
                                      <a:cs typeface="Arial" panose="020B0604020202020204" pitchFamily="34" charset="0"/>
                                    </a:rPr>
                                    <m:t>𝟐</m:t>
                                  </m:r>
                                </m:sup>
                              </m:sSup>
                            </m:e>
                          </m:nary>
                        </m:den>
                      </m:f>
                      <m:r>
                        <a:rPr lang="en-US" sz="2000" b="1" i="1" smtClean="0">
                          <a:latin typeface="Cambria Math" panose="02040503050406030204" pitchFamily="18" charset="0"/>
                          <a:cs typeface="Arial" panose="020B0604020202020204" pitchFamily="34" charset="0"/>
                        </a:rPr>
                        <m:t>                  </m:t>
                      </m:r>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𝒃</m:t>
                          </m:r>
                        </m:e>
                        <m:sub>
                          <m:r>
                            <a:rPr lang="en-US" sz="2000" b="1" i="1">
                              <a:latin typeface="Cambria Math" panose="02040503050406030204" pitchFamily="18" charset="0"/>
                              <a:cs typeface="Arial" panose="020B0604020202020204" pitchFamily="34" charset="0"/>
                            </a:rPr>
                            <m:t>𝟎</m:t>
                          </m:r>
                        </m:sub>
                      </m:sSub>
                      <m:r>
                        <a:rPr lang="en-US" sz="2000" b="1" i="1">
                          <a:latin typeface="Cambria Math" panose="02040503050406030204" pitchFamily="18" charset="0"/>
                          <a:cs typeface="Arial" panose="020B0604020202020204" pitchFamily="34" charset="0"/>
                        </a:rPr>
                        <m:t>=</m:t>
                      </m:r>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𝒚</m:t>
                          </m:r>
                        </m:e>
                      </m:acc>
                      <m:r>
                        <a:rPr lang="en-US" sz="2000" b="1" i="1">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𝒃</m:t>
                          </m:r>
                        </m:e>
                        <m:sub>
                          <m:r>
                            <a:rPr lang="en-US" sz="2000" b="1" i="1">
                              <a:latin typeface="Cambria Math" panose="02040503050406030204" pitchFamily="18" charset="0"/>
                              <a:cs typeface="Arial" panose="020B0604020202020204" pitchFamily="34" charset="0"/>
                            </a:rPr>
                            <m:t>𝟏</m:t>
                          </m:r>
                        </m:sub>
                      </m:sSub>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𝒙</m:t>
                          </m:r>
                        </m:e>
                      </m:acc>
                    </m:oMath>
                  </m:oMathPara>
                </a14:m>
                <a:endParaRPr lang="en-US" sz="2000" b="1" dirty="0">
                  <a:cs typeface="Arial" panose="020B0604020202020204" pitchFamily="34" charset="0"/>
                </a:endParaRPr>
              </a:p>
              <a:p>
                <a:pPr>
                  <a:spcBef>
                    <a:spcPts val="600"/>
                  </a:spcBef>
                  <a:spcAft>
                    <a:spcPts val="0"/>
                  </a:spcAft>
                </a:pPr>
                <a:r>
                  <a:rPr lang="en-US" sz="2000" dirty="0">
                    <a:solidFill>
                      <a:srgbClr val="000000"/>
                    </a:solidFill>
                    <a:cs typeface="Arial" panose="020B0604020202020204" pitchFamily="34" charset="0"/>
                  </a:rPr>
                  <a:t>Where: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rPr>
                          <m:t>𝑖</m:t>
                        </m:r>
                      </m:sub>
                    </m:sSub>
                    <m:r>
                      <a:rPr lang="en-US" sz="2000" i="1">
                        <a:latin typeface="Cambria Math" panose="02040503050406030204" pitchFamily="18" charset="0"/>
                      </a:rPr>
                      <m:t> </m:t>
                    </m:r>
                  </m:oMath>
                </a14:m>
                <a:r>
                  <a:rPr lang="en-US" sz="2000" dirty="0">
                    <a:solidFill>
                      <a:srgbClr val="000000"/>
                    </a:solidFill>
                    <a:cs typeface="Arial" panose="020B0604020202020204" pitchFamily="34" charset="0"/>
                  </a:rPr>
                  <a:t>and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rPr>
                          <m:t>𝑖</m:t>
                        </m:r>
                      </m:sub>
                    </m:sSub>
                  </m:oMath>
                </a14:m>
                <a:r>
                  <a:rPr lang="en-US" sz="2000" dirty="0">
                    <a:solidFill>
                      <a:srgbClr val="000000"/>
                    </a:solidFill>
                    <a:cs typeface="Arial" panose="020B0604020202020204" pitchFamily="34" charset="0"/>
                  </a:rPr>
                  <a:t> are the values of independent and dependent variables for the </a:t>
                </a:r>
                <a:r>
                  <a:rPr lang="en-US" sz="2000" dirty="0"/>
                  <a:t>𝑖</a:t>
                </a:r>
                <a:r>
                  <a:rPr lang="en-US" sz="2000" dirty="0" err="1">
                    <a:solidFill>
                      <a:srgbClr val="000000"/>
                    </a:solidFill>
                    <a:cs typeface="Arial" panose="020B0604020202020204" pitchFamily="34" charset="0"/>
                  </a:rPr>
                  <a:t>th</a:t>
                </a:r>
                <a:r>
                  <a:rPr lang="en-US" sz="2000" dirty="0">
                    <a:cs typeface="Arial" panose="020B0604020202020204" pitchFamily="34" charset="0"/>
                  </a:rPr>
                  <a:t> </a:t>
                </a:r>
                <a:r>
                  <a:rPr lang="en-US" sz="2000" dirty="0">
                    <a:solidFill>
                      <a:srgbClr val="000000"/>
                    </a:solidFill>
                    <a:cs typeface="Arial" panose="020B0604020202020204" pitchFamily="34" charset="0"/>
                  </a:rPr>
                  <a:t>observation.</a:t>
                </a:r>
              </a:p>
              <a:p>
                <a:pPr>
                  <a:spcBef>
                    <a:spcPts val="600"/>
                  </a:spcBef>
                  <a:spcAft>
                    <a:spcPts val="0"/>
                  </a:spcAft>
                </a:pPr>
                <a:r>
                  <a:rPr lang="en-US" sz="2000" dirty="0">
                    <a:cs typeface="Arial" panose="020B0604020202020204" pitchFamily="34" charset="0"/>
                  </a:rPr>
                  <a:t>	</a:t>
                </a:r>
                <a14:m>
                  <m:oMath xmlns:m="http://schemas.openxmlformats.org/officeDocument/2006/math">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oMath>
                </a14:m>
                <a:r>
                  <a:rPr lang="en-US" sz="2000" dirty="0">
                    <a:solidFill>
                      <a:srgbClr val="000000"/>
                    </a:solidFill>
                    <a:cs typeface="Arial" panose="020B0604020202020204" pitchFamily="34" charset="0"/>
                  </a:rPr>
                  <a:t> and </a:t>
                </a:r>
                <a14:m>
                  <m:oMath xmlns:m="http://schemas.openxmlformats.org/officeDocument/2006/math">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𝑦</m:t>
                        </m:r>
                      </m:e>
                    </m:acc>
                  </m:oMath>
                </a14:m>
                <a:r>
                  <a:rPr lang="en-US" sz="2000" dirty="0">
                    <a:solidFill>
                      <a:srgbClr val="000000"/>
                    </a:solidFill>
                    <a:cs typeface="Arial" panose="020B0604020202020204" pitchFamily="34" charset="0"/>
                  </a:rPr>
                  <a:t> are the mean values for the independent and dependent variables.</a:t>
                </a:r>
              </a:p>
              <a:p>
                <a:pPr>
                  <a:spcBef>
                    <a:spcPts val="600"/>
                  </a:spcBef>
                  <a:spcAft>
                    <a:spcPts val="0"/>
                  </a:spcAft>
                </a:pPr>
                <a:r>
                  <a:rPr lang="en-US" sz="2000" dirty="0">
                    <a:cs typeface="Arial" panose="020B0604020202020204" pitchFamily="34" charset="0"/>
                  </a:rPr>
                  <a:t>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oMath>
                </a14:m>
                <a:r>
                  <a:rPr lang="en-US" sz="2000" dirty="0">
                    <a:cs typeface="Arial" panose="020B0604020202020204" pitchFamily="34" charset="0"/>
                  </a:rPr>
                  <a:t> is the total number of observations.</a:t>
                </a:r>
                <a:endParaRPr lang="en-US" sz="2000" dirty="0">
                  <a:solidFill>
                    <a:srgbClr val="000000"/>
                  </a:solidFill>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685800" y="1284889"/>
                <a:ext cx="10781737" cy="4548352"/>
              </a:xfrm>
              <a:blipFill>
                <a:blip r:embed="rId3"/>
                <a:stretch>
                  <a:fillRect l="-1471" t="-1609" r="-1414" b="-2547"/>
                </a:stretch>
              </a:blipFill>
            </p:spPr>
            <p:txBody>
              <a:bodyPr/>
              <a:lstStyle/>
              <a:p>
                <a:r>
                  <a:rPr lang="en-US">
                    <a:noFill/>
                  </a:rPr>
                  <a:t> </a:t>
                </a:r>
              </a:p>
            </p:txBody>
          </p:sp>
        </mc:Fallback>
      </mc:AlternateContent>
    </p:spTree>
    <p:extLst>
      <p:ext uri="{BB962C8B-B14F-4D97-AF65-F5344CB8AC3E}">
        <p14:creationId xmlns:p14="http://schemas.microsoft.com/office/powerpoint/2010/main" val="534607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BD4B4-EE30-4C50-A2C3-1CBC00F5C273}"/>
              </a:ext>
            </a:extLst>
          </p:cNvPr>
          <p:cNvSpPr>
            <a:spLocks noGrp="1"/>
          </p:cNvSpPr>
          <p:nvPr>
            <p:ph type="title"/>
          </p:nvPr>
        </p:nvSpPr>
        <p:spPr/>
        <p:txBody>
          <a:bodyPr/>
          <a:lstStyle/>
          <a:p>
            <a:r>
              <a:rPr lang="en-US" dirty="0"/>
              <a:t>14.2 The Armand’s Pizza Parlors Example</a:t>
            </a:r>
          </a:p>
        </p:txBody>
      </p:sp>
      <p:sp>
        <p:nvSpPr>
          <p:cNvPr id="3" name="Text Placeholder 2">
            <a:extLst>
              <a:ext uri="{FF2B5EF4-FFF2-40B4-BE49-F238E27FC236}">
                <a16:creationId xmlns:a16="http://schemas.microsoft.com/office/drawing/2014/main" id="{0A924D5B-5F9E-D5AA-6985-4E8C08F1DD03}"/>
              </a:ext>
            </a:extLst>
          </p:cNvPr>
          <p:cNvSpPr>
            <a:spLocks noGrp="1"/>
          </p:cNvSpPr>
          <p:nvPr>
            <p:ph type="body" sz="quarter" idx="15"/>
          </p:nvPr>
        </p:nvSpPr>
        <p:spPr>
          <a:xfrm>
            <a:off x="743576" y="1364387"/>
            <a:ext cx="10610223" cy="1008992"/>
          </a:xfrm>
        </p:spPr>
        <p:txBody>
          <a:bodyPr/>
          <a:lstStyle/>
          <a:p>
            <a:r>
              <a:rPr lang="en-US" sz="2000" dirty="0"/>
              <a:t>The managers at Armand's Pizza Parlors, a chain </a:t>
            </a:r>
            <a:r>
              <a:rPr lang="en-US" sz="2000"/>
              <a:t>of Italian-food </a:t>
            </a:r>
            <a:r>
              <a:rPr lang="en-US" sz="2000" dirty="0"/>
              <a:t>restaurants located near college campuses, believe that restaurants’ quarterly sales (denoted by </a:t>
            </a:r>
            <a:r>
              <a:rPr lang="en-US" sz="2000" dirty="0">
                <a:latin typeface="Arial" panose="020B0604020202020204" pitchFamily="34" charset="0"/>
                <a:cs typeface="Arial" panose="020B0604020202020204" pitchFamily="34" charset="0"/>
              </a:rPr>
              <a:t>𝑦</a:t>
            </a:r>
            <a:r>
              <a:rPr lang="en-US" sz="2000" i="0" dirty="0"/>
              <a:t>) are positively related to the size of the student population (denoted by </a:t>
            </a:r>
            <a:r>
              <a:rPr lang="en-US" sz="2000" dirty="0">
                <a:latin typeface="Arial" panose="020B0604020202020204" pitchFamily="34" charset="0"/>
                <a:cs typeface="Arial" panose="020B0604020202020204" pitchFamily="34" charset="0"/>
              </a:rPr>
              <a:t>𝑥</a:t>
            </a:r>
            <a:r>
              <a:rPr lang="en-US" sz="2000" i="0" dirty="0"/>
              <a:t>.)</a:t>
            </a:r>
          </a:p>
        </p:txBody>
      </p:sp>
      <p:sp>
        <p:nvSpPr>
          <p:cNvPr id="5" name="Text Placeholder 4">
            <a:extLst>
              <a:ext uri="{FF2B5EF4-FFF2-40B4-BE49-F238E27FC236}">
                <a16:creationId xmlns:a16="http://schemas.microsoft.com/office/drawing/2014/main" id="{073527B5-1A1D-CB8E-D485-92FB4F8BBFB1}"/>
              </a:ext>
            </a:extLst>
          </p:cNvPr>
          <p:cNvSpPr>
            <a:spLocks noGrp="1"/>
          </p:cNvSpPr>
          <p:nvPr>
            <p:ph type="body" sz="quarter" idx="17"/>
          </p:nvPr>
        </p:nvSpPr>
        <p:spPr>
          <a:xfrm>
            <a:off x="743576" y="2373379"/>
            <a:ext cx="6082525" cy="3389592"/>
          </a:xfrm>
        </p:spPr>
        <p:txBody>
          <a:bodyPr/>
          <a:lstStyle/>
          <a:p>
            <a:r>
              <a:rPr lang="en-US" sz="2000" dirty="0"/>
              <a:t>In this example, the chain of the Armand’s restaurants constitutes the population of interest.</a:t>
            </a:r>
          </a:p>
          <a:p>
            <a:r>
              <a:rPr lang="en-US" sz="2000" dirty="0" err="1"/>
              <a:t>DATAfile</a:t>
            </a:r>
            <a:r>
              <a:rPr lang="en-US" sz="2000" dirty="0"/>
              <a:t>: </a:t>
            </a:r>
            <a:r>
              <a:rPr lang="en-US" sz="2000" i="1" dirty="0" err="1"/>
              <a:t>armands</a:t>
            </a:r>
            <a:endParaRPr lang="en-US" sz="2000" i="1" dirty="0"/>
          </a:p>
          <a:p>
            <a:r>
              <a:rPr lang="en-US" sz="2000" dirty="0"/>
              <a:t>We use a sample of 10 randomly selected restaurants to build a scatter diagram depicting the relationship between quarterly sales and the student population.</a:t>
            </a:r>
          </a:p>
          <a:p>
            <a:r>
              <a:rPr lang="en-US" sz="2000" dirty="0"/>
              <a:t>Because the scatter diagram shows a positive linear relationship, we choose the simple linear regression model to represent the relationship between Armand’s quarterly sales (</a:t>
            </a:r>
            <a:r>
              <a:rPr lang="en-US" sz="2000" dirty="0">
                <a:latin typeface="Arial" panose="020B0604020202020204" pitchFamily="34" charset="0"/>
                <a:cs typeface="Arial" panose="020B0604020202020204" pitchFamily="34" charset="0"/>
              </a:rPr>
              <a:t>𝑦</a:t>
            </a:r>
            <a:r>
              <a:rPr lang="en-US" sz="2000" dirty="0"/>
              <a:t>) and student population (</a:t>
            </a:r>
            <a:r>
              <a:rPr lang="en-US" sz="2000" dirty="0">
                <a:latin typeface="Arial" panose="020B0604020202020204" pitchFamily="34" charset="0"/>
                <a:cs typeface="Arial" panose="020B0604020202020204" pitchFamily="34" charset="0"/>
              </a:rPr>
              <a:t>𝑥</a:t>
            </a:r>
            <a:r>
              <a:rPr lang="en-US" sz="2000" i="1" dirty="0"/>
              <a:t>.</a:t>
            </a:r>
            <a:r>
              <a:rPr lang="en-US" sz="2000" dirty="0"/>
              <a:t>)</a:t>
            </a:r>
          </a:p>
        </p:txBody>
      </p:sp>
      <p:pic>
        <p:nvPicPr>
          <p:cNvPr id="7" name="Picture Placeholder 6" descr="A scatter diagram with 10 data points plots quarterly sales versus student population. The horizontal axis is labeled “Student Population (1000s)” and ranges from 0 to 26 with tickmarks in increments of 2. The vertical axis is labeled “Quarterly Sales ($1000s)” and ranges from 0 to 220 with tickmarks in increments of 20. The coordinates of the points are (2, 58), (6, 105), (8, 88), (8, 118), (12, 117), (16, 137), (20, 157), (20, 169), (22, 149), and (26, 202).&#10;">
            <a:extLst>
              <a:ext uri="{FF2B5EF4-FFF2-40B4-BE49-F238E27FC236}">
                <a16:creationId xmlns:a16="http://schemas.microsoft.com/office/drawing/2014/main" id="{72D203CA-D8C1-3A39-9808-357FC89CC988}"/>
              </a:ext>
            </a:extLst>
          </p:cNvPr>
          <p:cNvPicPr>
            <a:picLocks noGrp="1" noChangeAspect="1"/>
          </p:cNvPicPr>
          <p:nvPr>
            <p:ph type="pic" sz="quarter" idx="16"/>
          </p:nvPr>
        </p:nvPicPr>
        <p:blipFill rotWithShape="1">
          <a:blip r:embed="rId2"/>
          <a:srcRect t="3652" b="3652"/>
          <a:stretch/>
        </p:blipFill>
        <p:spPr>
          <a:xfrm>
            <a:off x="6900816" y="2373379"/>
            <a:ext cx="4484976" cy="3580521"/>
          </a:xfrm>
        </p:spPr>
      </p:pic>
    </p:spTree>
    <p:extLst>
      <p:ext uri="{BB962C8B-B14F-4D97-AF65-F5344CB8AC3E}">
        <p14:creationId xmlns:p14="http://schemas.microsoft.com/office/powerpoint/2010/main" val="792599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BD4B4-EE30-4C50-A2C3-1CBC00F5C273}"/>
              </a:ext>
            </a:extLst>
          </p:cNvPr>
          <p:cNvSpPr>
            <a:spLocks noGrp="1"/>
          </p:cNvSpPr>
          <p:nvPr>
            <p:ph type="title"/>
          </p:nvPr>
        </p:nvSpPr>
        <p:spPr>
          <a:xfrm>
            <a:off x="664584" y="365125"/>
            <a:ext cx="10786730" cy="672105"/>
          </a:xfrm>
        </p:spPr>
        <p:txBody>
          <a:bodyPr/>
          <a:lstStyle/>
          <a:p>
            <a:r>
              <a:rPr lang="en-US" sz="3200" dirty="0"/>
              <a:t>14.2 Estimated Regression Equation for Armand’s Pizza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A924D5B-5F9E-D5AA-6985-4E8C08F1DD03}"/>
                  </a:ext>
                </a:extLst>
              </p:cNvPr>
              <p:cNvSpPr>
                <a:spLocks noGrp="1"/>
              </p:cNvSpPr>
              <p:nvPr>
                <p:ph type="body" sz="quarter" idx="15"/>
              </p:nvPr>
            </p:nvSpPr>
            <p:spPr>
              <a:xfrm>
                <a:off x="793194" y="1331339"/>
                <a:ext cx="10529510" cy="1362246"/>
              </a:xfrm>
            </p:spPr>
            <p:txBody>
              <a:bodyPr>
                <a:normAutofit/>
              </a:bodyPr>
              <a:lstStyle/>
              <a:p>
                <a:pPr>
                  <a:lnSpc>
                    <a:spcPct val="100000"/>
                  </a:lnSpc>
                  <a:spcBef>
                    <a:spcPts val="600"/>
                  </a:spcBef>
                </a:pPr>
                <a:r>
                  <a:rPr lang="en-US" sz="2000" dirty="0"/>
                  <a:t>The calculations necessary to develop the least squares estimated regression equation for the sample of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=10</m:t>
                    </m:r>
                  </m:oMath>
                </a14:m>
                <a:r>
                  <a:rPr lang="en-US" sz="2000" dirty="0"/>
                  <a:t> Armand’s Pizza Parlors restaurants are shown in the table below.</a:t>
                </a:r>
              </a:p>
              <a:p>
                <a:pPr>
                  <a:lnSpc>
                    <a:spcPct val="100000"/>
                  </a:lnSpc>
                  <a:spcBef>
                    <a:spcPts val="600"/>
                  </a:spcBef>
                </a:pPr>
                <a:r>
                  <a:rPr lang="en-US" sz="2000" dirty="0"/>
                  <a:t>We first calculate </a:t>
                </a:r>
                <a14:m>
                  <m:oMath xmlns:m="http://schemas.openxmlformats.org/officeDocument/2006/math">
                    <m:nary>
                      <m:naryPr>
                        <m:chr m:val="∑"/>
                        <m:subHide m:val="on"/>
                        <m:supHide m:val="on"/>
                        <m:ctrlPr>
                          <a:rPr lang="en-US" sz="2000" i="1" smtClean="0">
                            <a:latin typeface="Cambria Math" panose="02040503050406030204" pitchFamily="18" charset="0"/>
                          </a:rPr>
                        </m:ctrlPr>
                      </m:naryPr>
                      <m:sub/>
                      <m:sup/>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e>
                    </m:nary>
                    <m:r>
                      <a:rPr lang="en-US" sz="2000" b="0" i="1" smtClean="0">
                        <a:latin typeface="Cambria Math" panose="02040503050406030204" pitchFamily="18" charset="0"/>
                      </a:rPr>
                      <m:t>=140</m:t>
                    </m:r>
                  </m:oMath>
                </a14:m>
                <a:r>
                  <a:rPr lang="en-US" sz="2000" dirty="0"/>
                  <a:t> and </a:t>
                </a:r>
                <a14:m>
                  <m:oMath xmlns:m="http://schemas.openxmlformats.org/officeDocument/2006/math">
                    <m:nary>
                      <m:naryPr>
                        <m:chr m:val="∑"/>
                        <m:subHide m:val="on"/>
                        <m:supHide m:val="on"/>
                        <m:ctrlPr>
                          <a:rPr lang="en-US" sz="2000" i="1">
                            <a:latin typeface="Cambria Math" panose="02040503050406030204" pitchFamily="18" charset="0"/>
                          </a:rPr>
                        </m:ctrlPr>
                      </m:naryPr>
                      <m:sub/>
                      <m:sup/>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𝑦</m:t>
                            </m:r>
                          </m:e>
                          <m:sub>
                            <m:r>
                              <a:rPr lang="en-US" sz="2000" b="0" i="1">
                                <a:latin typeface="Cambria Math" panose="02040503050406030204" pitchFamily="18" charset="0"/>
                              </a:rPr>
                              <m:t>𝑖</m:t>
                            </m:r>
                          </m:sub>
                        </m:sSub>
                      </m:e>
                    </m:nary>
                    <m:r>
                      <a:rPr lang="en-US" sz="2000" b="0" i="1" smtClean="0">
                        <a:latin typeface="Cambria Math" panose="02040503050406030204" pitchFamily="18" charset="0"/>
                      </a:rPr>
                      <m:t>=1,300</m:t>
                    </m:r>
                  </m:oMath>
                </a14:m>
                <a:r>
                  <a:rPr lang="en-US" sz="2000" dirty="0"/>
                  <a:t>. Dividing them by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=10</m:t>
                    </m:r>
                  </m:oMath>
                </a14:m>
                <a:r>
                  <a:rPr lang="en-US" sz="2000" dirty="0"/>
                  <a:t>, we obtain </a:t>
                </a:r>
                <a14:m>
                  <m:oMath xmlns:m="http://schemas.openxmlformats.org/officeDocument/2006/math">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𝑥</m:t>
                        </m:r>
                      </m:e>
                    </m:acc>
                    <m:r>
                      <a:rPr lang="en-US" sz="2000" b="0" i="1" smtClean="0">
                        <a:latin typeface="Cambria Math" panose="02040503050406030204" pitchFamily="18" charset="0"/>
                        <a:cs typeface="Arial" panose="020B0604020202020204" pitchFamily="34" charset="0"/>
                      </a:rPr>
                      <m:t>=14</m:t>
                    </m:r>
                  </m:oMath>
                </a14:m>
                <a:r>
                  <a:rPr lang="en-US" sz="2000" dirty="0"/>
                  <a:t> and </a:t>
                </a:r>
                <a14:m>
                  <m:oMath xmlns:m="http://schemas.openxmlformats.org/officeDocument/2006/math">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𝑦</m:t>
                        </m:r>
                      </m:e>
                    </m:acc>
                    <m:r>
                      <a:rPr lang="en-US" sz="2000" b="0" i="1" smtClean="0">
                        <a:latin typeface="Cambria Math" panose="02040503050406030204" pitchFamily="18" charset="0"/>
                        <a:cs typeface="Arial" panose="020B0604020202020204" pitchFamily="34" charset="0"/>
                      </a:rPr>
                      <m:t>=130</m:t>
                    </m:r>
                  </m:oMath>
                </a14:m>
                <a:r>
                  <a:rPr lang="en-US" sz="2000" dirty="0"/>
                  <a:t>, which we then use to compute </a:t>
                </a:r>
                <a14:m>
                  <m:oMath xmlns:m="http://schemas.openxmlformats.org/officeDocument/2006/math">
                    <m:nary>
                      <m:naryPr>
                        <m:chr m:val="∑"/>
                        <m:subHide m:val="on"/>
                        <m:supHide m:val="on"/>
                        <m:ctrlPr>
                          <a:rPr lang="en-US" sz="2000" i="1">
                            <a:latin typeface="Cambria Math" panose="02040503050406030204" pitchFamily="18" charset="0"/>
                            <a:cs typeface="Arial" panose="020B0604020202020204" pitchFamily="34" charset="0"/>
                          </a:rPr>
                        </m:ctrlPr>
                      </m:naryPr>
                      <m:sub/>
                      <m:sup/>
                      <m:e>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a:latin typeface="Cambria Math" panose="02040503050406030204" pitchFamily="18" charset="0"/>
                                    <a:cs typeface="Arial" panose="020B0604020202020204" pitchFamily="34" charset="0"/>
                                  </a:rPr>
                                  <m:t>𝑖</m:t>
                                </m:r>
                              </m:sub>
                            </m:sSub>
                            <m:r>
                              <a:rPr lang="en-US" sz="2000" b="0" i="1">
                                <a:latin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𝑥</m:t>
                                </m:r>
                              </m:e>
                            </m:acc>
                          </m:e>
                        </m:d>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𝑦</m:t>
                                </m:r>
                              </m:e>
                              <m:sub>
                                <m:r>
                                  <a:rPr lang="en-US" sz="2000" b="0" i="1">
                                    <a:latin typeface="Cambria Math" panose="02040503050406030204" pitchFamily="18" charset="0"/>
                                    <a:cs typeface="Arial" panose="020B0604020202020204" pitchFamily="34" charset="0"/>
                                  </a:rPr>
                                  <m:t>𝑖</m:t>
                                </m:r>
                              </m:sub>
                            </m:sSub>
                            <m:r>
                              <a:rPr lang="en-US" sz="2000" b="0" i="1">
                                <a:latin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𝑦</m:t>
                                </m:r>
                              </m:e>
                            </m:acc>
                          </m:e>
                        </m:d>
                        <m:r>
                          <a:rPr lang="en-US" sz="2000" b="0" i="1" smtClean="0">
                            <a:latin typeface="Cambria Math" panose="02040503050406030204" pitchFamily="18" charset="0"/>
                            <a:cs typeface="Arial" panose="020B0604020202020204" pitchFamily="34" charset="0"/>
                          </a:rPr>
                          <m:t>=2840</m:t>
                        </m:r>
                      </m:e>
                    </m:nary>
                  </m:oMath>
                </a14:m>
                <a:r>
                  <a:rPr lang="en-US" sz="2000" dirty="0"/>
                  <a:t> and </a:t>
                </a:r>
                <a14:m>
                  <m:oMath xmlns:m="http://schemas.openxmlformats.org/officeDocument/2006/math">
                    <m:nary>
                      <m:naryPr>
                        <m:chr m:val="∑"/>
                        <m:subHide m:val="on"/>
                        <m:supHide m:val="on"/>
                        <m:ctrlPr>
                          <a:rPr lang="en-US" sz="2000" i="1">
                            <a:latin typeface="Cambria Math" panose="02040503050406030204" pitchFamily="18" charset="0"/>
                            <a:cs typeface="Arial" panose="020B0604020202020204" pitchFamily="34" charset="0"/>
                          </a:rPr>
                        </m:ctrlPr>
                      </m:naryPr>
                      <m:sub/>
                      <m:sup/>
                      <m:e>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a:latin typeface="Cambria Math" panose="02040503050406030204" pitchFamily="18" charset="0"/>
                                        <a:cs typeface="Arial" panose="020B0604020202020204" pitchFamily="34" charset="0"/>
                                      </a:rPr>
                                      <m:t>𝑖</m:t>
                                    </m:r>
                                  </m:sub>
                                </m:sSub>
                                <m:r>
                                  <a:rPr lang="en-US" sz="2000" b="0" i="1">
                                    <a:latin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𝑥</m:t>
                                    </m:r>
                                  </m:e>
                                </m:acc>
                              </m:e>
                            </m:d>
                          </m:e>
                          <m:sup>
                            <m:r>
                              <a:rPr lang="en-US" sz="2000" b="0" i="1">
                                <a:latin typeface="Cambria Math" panose="02040503050406030204" pitchFamily="18" charset="0"/>
                                <a:cs typeface="Arial" panose="020B0604020202020204" pitchFamily="34" charset="0"/>
                              </a:rPr>
                              <m:t>2</m:t>
                            </m:r>
                          </m:sup>
                        </m:sSup>
                      </m:e>
                    </m:nary>
                    <m:r>
                      <a:rPr lang="en-US" sz="2000" b="0" i="1" smtClean="0">
                        <a:latin typeface="Cambria Math" panose="02040503050406030204" pitchFamily="18" charset="0"/>
                        <a:cs typeface="Arial" panose="020B0604020202020204" pitchFamily="34" charset="0"/>
                      </a:rPr>
                      <m:t>=568</m:t>
                    </m:r>
                  </m:oMath>
                </a14:m>
                <a:r>
                  <a:rPr lang="en-US" sz="2000" dirty="0"/>
                  <a:t>.</a:t>
                </a:r>
              </a:p>
            </p:txBody>
          </p:sp>
        </mc:Choice>
        <mc:Fallback xmlns="">
          <p:sp>
            <p:nvSpPr>
              <p:cNvPr id="3" name="Text Placeholder 2">
                <a:extLst>
                  <a:ext uri="{FF2B5EF4-FFF2-40B4-BE49-F238E27FC236}">
                    <a16:creationId xmlns:a16="http://schemas.microsoft.com/office/drawing/2014/main" id="{0A924D5B-5F9E-D5AA-6985-4E8C08F1DD03}"/>
                  </a:ext>
                </a:extLst>
              </p:cNvPr>
              <p:cNvSpPr>
                <a:spLocks noGrp="1" noRot="1" noChangeAspect="1" noMove="1" noResize="1" noEditPoints="1" noAdjustHandles="1" noChangeArrowheads="1" noChangeShapeType="1" noTextEdit="1"/>
              </p:cNvSpPr>
              <p:nvPr>
                <p:ph type="body" sz="quarter" idx="15"/>
              </p:nvPr>
            </p:nvSpPr>
            <p:spPr>
              <a:xfrm>
                <a:off x="793194" y="1331339"/>
                <a:ext cx="10529510" cy="1362246"/>
              </a:xfrm>
              <a:blipFill>
                <a:blip r:embed="rId2"/>
                <a:stretch>
                  <a:fillRect l="-1448" t="-5357" r="-405" b="-53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073527B5-1A1D-CB8E-D485-92FB4F8BBFB1}"/>
                  </a:ext>
                </a:extLst>
              </p:cNvPr>
              <p:cNvSpPr>
                <a:spLocks noGrp="1"/>
              </p:cNvSpPr>
              <p:nvPr>
                <p:ph type="body" sz="quarter" idx="18"/>
              </p:nvPr>
            </p:nvSpPr>
            <p:spPr>
              <a:xfrm>
                <a:off x="793194" y="2709406"/>
                <a:ext cx="4289169" cy="2812439"/>
              </a:xfrm>
            </p:spPr>
            <p:txBody>
              <a:bodyPr>
                <a:noAutofit/>
              </a:bodyPr>
              <a:lstStyle/>
              <a:p>
                <a:pPr>
                  <a:spcAft>
                    <a:spcPts val="600"/>
                  </a:spcAft>
                </a:pPr>
                <a:r>
                  <a:rPr lang="en-US" sz="2000" dirty="0"/>
                  <a:t>The calculations of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𝑏</m:t>
                        </m:r>
                      </m:e>
                      <m:sub>
                        <m:r>
                          <a:rPr lang="en-US" sz="2000" b="0" i="1" smtClean="0">
                            <a:latin typeface="Cambria Math" panose="02040503050406030204" pitchFamily="18" charset="0"/>
                            <a:cs typeface="Arial" panose="020B0604020202020204" pitchFamily="34"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𝑏</m:t>
                        </m:r>
                      </m:e>
                      <m:sub>
                        <m:r>
                          <a:rPr lang="en-US" sz="2000" b="0" i="1" smtClean="0">
                            <a:latin typeface="Cambria Math" panose="02040503050406030204" pitchFamily="18" charset="0"/>
                            <a:cs typeface="Arial" panose="020B0604020202020204" pitchFamily="34" charset="0"/>
                          </a:rPr>
                          <m:t>0</m:t>
                        </m:r>
                      </m:sub>
                    </m:sSub>
                  </m:oMath>
                </a14:m>
                <a:r>
                  <a:rPr lang="en-US" sz="2000" dirty="0"/>
                  <a:t> are :</a:t>
                </a:r>
              </a:p>
              <a:p>
                <a:pPr marL="228600" indent="-228600">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𝑏</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cs typeface="Arial" panose="020B0604020202020204" pitchFamily="34" charset="0"/>
                            </a:rPr>
                          </m:ctrlPr>
                        </m:fPr>
                        <m:num>
                          <m:nary>
                            <m:naryPr>
                              <m:chr m:val="∑"/>
                              <m:subHide m:val="on"/>
                              <m:supHide m:val="on"/>
                              <m:ctrlPr>
                                <a:rPr lang="en-US" sz="2000" i="1" smtClean="0">
                                  <a:latin typeface="Cambria Math" panose="02040503050406030204" pitchFamily="18" charset="0"/>
                                  <a:cs typeface="Arial" panose="020B0604020202020204" pitchFamily="34" charset="0"/>
                                </a:rPr>
                              </m:ctrlPr>
                            </m:naryPr>
                            <m:sub/>
                            <m:sup/>
                            <m:e>
                              <m:d>
                                <m:dPr>
                                  <m:ctrlPr>
                                    <a:rPr lang="en-US" sz="2000" i="1" smtClean="0">
                                      <a:latin typeface="Cambria Math" panose="02040503050406030204" pitchFamily="18" charset="0"/>
                                      <a:cs typeface="Arial" panose="020B0604020202020204" pitchFamily="34" charset="0"/>
                                    </a:rPr>
                                  </m:ctrlPr>
                                </m:dPr>
                                <m:e>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𝑥</m:t>
                                      </m:r>
                                    </m:e>
                                    <m:sub>
                                      <m:r>
                                        <a:rPr lang="en-US" sz="2000" b="0" i="1" smtClean="0">
                                          <a:latin typeface="Cambria Math" panose="02040503050406030204" pitchFamily="18" charset="0"/>
                                          <a:cs typeface="Arial" panose="020B0604020202020204" pitchFamily="34" charset="0"/>
                                        </a:rPr>
                                        <m:t>𝑖</m:t>
                                      </m:r>
                                    </m:sub>
                                  </m:sSub>
                                  <m:r>
                                    <a:rPr lang="en-US" sz="2000" b="0" i="1" smtClean="0">
                                      <a:latin typeface="Cambria Math" panose="02040503050406030204" pitchFamily="18" charset="0"/>
                                      <a:cs typeface="Arial" panose="020B0604020202020204" pitchFamily="34" charset="0"/>
                                    </a:rPr>
                                    <m:t>−</m:t>
                                  </m:r>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d>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𝑦</m:t>
                                      </m:r>
                                    </m:e>
                                    <m:sub>
                                      <m:r>
                                        <a:rPr lang="en-US" sz="2000" b="0" i="1">
                                          <a:latin typeface="Cambria Math" panose="02040503050406030204" pitchFamily="18" charset="0"/>
                                          <a:cs typeface="Arial" panose="020B0604020202020204" pitchFamily="34" charset="0"/>
                                        </a:rPr>
                                        <m:t>𝑖</m:t>
                                      </m:r>
                                    </m:sub>
                                  </m:sSub>
                                  <m:r>
                                    <a:rPr lang="en-US" sz="2000" b="0" i="1">
                                      <a:latin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𝑦</m:t>
                                      </m:r>
                                    </m:e>
                                  </m:acc>
                                </m:e>
                              </m:d>
                            </m:e>
                          </m:nary>
                        </m:num>
                        <m:den>
                          <m:nary>
                            <m:naryPr>
                              <m:chr m:val="∑"/>
                              <m:subHide m:val="on"/>
                              <m:supHide m:val="on"/>
                              <m:ctrlPr>
                                <a:rPr lang="en-US" sz="2000" i="1" smtClean="0">
                                  <a:latin typeface="Cambria Math" panose="02040503050406030204" pitchFamily="18" charset="0"/>
                                  <a:cs typeface="Arial" panose="020B0604020202020204" pitchFamily="34" charset="0"/>
                                </a:rPr>
                              </m:ctrlPr>
                            </m:naryPr>
                            <m:sub/>
                            <m:sup/>
                            <m:e>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a:latin typeface="Cambria Math" panose="02040503050406030204" pitchFamily="18" charset="0"/>
                                              <a:cs typeface="Arial" panose="020B0604020202020204" pitchFamily="34" charset="0"/>
                                            </a:rPr>
                                            <m:t>𝑖</m:t>
                                          </m:r>
                                        </m:sub>
                                      </m:sSub>
                                      <m:r>
                                        <a:rPr lang="en-US" sz="2000" b="0" i="1">
                                          <a:latin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𝑥</m:t>
                                          </m:r>
                                        </m:e>
                                      </m:acc>
                                    </m:e>
                                  </m:d>
                                </m:e>
                                <m:sup>
                                  <m:r>
                                    <a:rPr lang="en-US" sz="2000" b="0" i="1">
                                      <a:latin typeface="Cambria Math" panose="02040503050406030204" pitchFamily="18" charset="0"/>
                                      <a:cs typeface="Arial" panose="020B0604020202020204" pitchFamily="34" charset="0"/>
                                    </a:rPr>
                                    <m:t>2</m:t>
                                  </m:r>
                                </m:sup>
                              </m:sSup>
                            </m:e>
                          </m:nary>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2,840</m:t>
                          </m:r>
                        </m:num>
                        <m:den>
                          <m:r>
                            <a:rPr lang="en-US" sz="2000" b="0" i="1" smtClean="0">
                              <a:latin typeface="Cambria Math" panose="02040503050406030204" pitchFamily="18" charset="0"/>
                              <a:cs typeface="Arial" panose="020B0604020202020204" pitchFamily="34" charset="0"/>
                            </a:rPr>
                            <m:t>568</m:t>
                          </m:r>
                        </m:den>
                      </m:f>
                      <m:r>
                        <a:rPr lang="en-US" sz="2000" b="0" i="1" smtClean="0">
                          <a:latin typeface="Cambria Math" panose="02040503050406030204" pitchFamily="18" charset="0"/>
                          <a:cs typeface="Arial" panose="020B0604020202020204" pitchFamily="34" charset="0"/>
                        </a:rPr>
                        <m:t>=5</m:t>
                      </m:r>
                    </m:oMath>
                  </m:oMathPara>
                </a14:m>
                <a:endParaRPr lang="en-US" sz="2000" dirty="0"/>
              </a:p>
              <a:p>
                <a:pPr marL="228600">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𝑏</m:t>
                          </m:r>
                        </m:e>
                        <m:sub>
                          <m:r>
                            <a:rPr lang="en-US" sz="2000" b="0" i="1">
                              <a:latin typeface="Cambria Math" panose="02040503050406030204" pitchFamily="18" charset="0"/>
                              <a:cs typeface="Arial" panose="020B0604020202020204" pitchFamily="34" charset="0"/>
                            </a:rPr>
                            <m:t>0</m:t>
                          </m:r>
                        </m:sub>
                      </m:sSub>
                      <m:r>
                        <a:rPr lang="en-US" sz="2000" b="0" i="1">
                          <a:latin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𝑦</m:t>
                          </m:r>
                        </m:e>
                      </m:acc>
                      <m:r>
                        <a:rPr lang="en-US" sz="2000" b="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𝑏</m:t>
                          </m:r>
                        </m:e>
                        <m:sub>
                          <m:r>
                            <a:rPr lang="en-US" sz="2000" b="0" i="1">
                              <a:latin typeface="Cambria Math" panose="02040503050406030204" pitchFamily="18" charset="0"/>
                              <a:cs typeface="Arial" panose="020B0604020202020204" pitchFamily="34" charset="0"/>
                            </a:rPr>
                            <m:t>1</m:t>
                          </m:r>
                        </m:sub>
                      </m:sSub>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𝑥</m:t>
                          </m:r>
                        </m:e>
                      </m:acc>
                      <m:r>
                        <a:rPr lang="en-US" sz="2000" b="0" i="1" smtClean="0">
                          <a:latin typeface="Cambria Math" panose="02040503050406030204" pitchFamily="18" charset="0"/>
                          <a:cs typeface="Arial" panose="020B0604020202020204" pitchFamily="34" charset="0"/>
                        </a:rPr>
                        <m:t>=130−5</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14</m:t>
                          </m:r>
                        </m:e>
                      </m:d>
                      <m:r>
                        <a:rPr lang="en-US" sz="2000" b="0" i="1" smtClean="0">
                          <a:latin typeface="Cambria Math" panose="02040503050406030204" pitchFamily="18" charset="0"/>
                          <a:cs typeface="Arial" panose="020B0604020202020204" pitchFamily="34" charset="0"/>
                        </a:rPr>
                        <m:t>=60</m:t>
                      </m:r>
                    </m:oMath>
                  </m:oMathPara>
                </a14:m>
                <a:endParaRPr lang="en-US" sz="2000" dirty="0"/>
              </a:p>
              <a:p>
                <a:pPr>
                  <a:spcAft>
                    <a:spcPts val="600"/>
                  </a:spcAft>
                </a:pPr>
                <a:r>
                  <a:rPr lang="en-US" sz="2000" dirty="0"/>
                  <a:t>Thus, the estimated regression equation for the Armand’s Pizza Parlors sample of 10 restaurants is</a:t>
                </a:r>
              </a:p>
              <a:p>
                <a:pPr marL="284163"/>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rPr>
                          </m:ctrlPr>
                        </m:accPr>
                        <m:e>
                          <m:r>
                            <a:rPr lang="en-US" sz="2000" b="0" i="1">
                              <a:latin typeface="Cambria Math" panose="02040503050406030204" pitchFamily="18" charset="0"/>
                            </a:rPr>
                            <m:t>𝑦</m:t>
                          </m:r>
                        </m:e>
                      </m:acc>
                      <m:r>
                        <a:rPr lang="en-US" sz="2000" b="0" i="1" smtClean="0">
                          <a:latin typeface="Cambria Math" panose="02040503050406030204" pitchFamily="18" charset="0"/>
                        </a:rPr>
                        <m:t>=60+5</m:t>
                      </m:r>
                      <m:r>
                        <a:rPr lang="en-US" sz="2000" b="0" i="1" smtClean="0">
                          <a:latin typeface="Cambria Math" panose="02040503050406030204" pitchFamily="18" charset="0"/>
                        </a:rPr>
                        <m:t>𝑥</m:t>
                      </m:r>
                    </m:oMath>
                  </m:oMathPara>
                </a14:m>
                <a:endParaRPr lang="en-US" sz="2000" dirty="0"/>
              </a:p>
            </p:txBody>
          </p:sp>
        </mc:Choice>
        <mc:Fallback xmlns="">
          <p:sp>
            <p:nvSpPr>
              <p:cNvPr id="5" name="Text Placeholder 4">
                <a:extLst>
                  <a:ext uri="{FF2B5EF4-FFF2-40B4-BE49-F238E27FC236}">
                    <a16:creationId xmlns:a16="http://schemas.microsoft.com/office/drawing/2014/main" id="{073527B5-1A1D-CB8E-D485-92FB4F8BBFB1}"/>
                  </a:ext>
                </a:extLst>
              </p:cNvPr>
              <p:cNvSpPr>
                <a:spLocks noGrp="1" noRot="1" noChangeAspect="1" noMove="1" noResize="1" noEditPoints="1" noAdjustHandles="1" noChangeArrowheads="1" noChangeShapeType="1" noTextEdit="1"/>
              </p:cNvSpPr>
              <p:nvPr>
                <p:ph type="body" sz="quarter" idx="18"/>
              </p:nvPr>
            </p:nvSpPr>
            <p:spPr>
              <a:xfrm>
                <a:off x="793194" y="2709406"/>
                <a:ext cx="4289169" cy="2812439"/>
              </a:xfrm>
              <a:blipFill>
                <a:blip r:embed="rId3"/>
                <a:stretch>
                  <a:fillRect l="-3551" t="-36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8">
                <a:extLst>
                  <a:ext uri="{FF2B5EF4-FFF2-40B4-BE49-F238E27FC236}">
                    <a16:creationId xmlns:a16="http://schemas.microsoft.com/office/drawing/2014/main" id="{7EDD725C-EEA6-4E9B-2DC4-496145CED692}"/>
                  </a:ext>
                </a:extLst>
              </p:cNvPr>
              <p:cNvGraphicFramePr>
                <a:graphicFrameLocks noGrp="1"/>
              </p:cNvGraphicFramePr>
              <p:nvPr>
                <p:ph type="tbl" sz="quarter" idx="22"/>
              </p:nvPr>
            </p:nvGraphicFramePr>
            <p:xfrm>
              <a:off x="5153247" y="2779899"/>
              <a:ext cx="6211539" cy="3056890"/>
            </p:xfrm>
            <a:graphic>
              <a:graphicData uri="http://schemas.openxmlformats.org/drawingml/2006/table">
                <a:tbl>
                  <a:tblPr firstRow="1" bandRow="1">
                    <a:tableStyleId>{5C22544A-7EE6-4342-B048-85BDC9FD1C3A}</a:tableStyleId>
                  </a:tblPr>
                  <a:tblGrid>
                    <a:gridCol w="999459">
                      <a:extLst>
                        <a:ext uri="{9D8B030D-6E8A-4147-A177-3AD203B41FA5}">
                          <a16:colId xmlns:a16="http://schemas.microsoft.com/office/drawing/2014/main" val="2915852811"/>
                        </a:ext>
                      </a:extLst>
                    </a:gridCol>
                    <a:gridCol w="640080">
                      <a:extLst>
                        <a:ext uri="{9D8B030D-6E8A-4147-A177-3AD203B41FA5}">
                          <a16:colId xmlns:a16="http://schemas.microsoft.com/office/drawing/2014/main" val="2947037766"/>
                        </a:ext>
                      </a:extLst>
                    </a:gridCol>
                    <a:gridCol w="640080">
                      <a:extLst>
                        <a:ext uri="{9D8B030D-6E8A-4147-A177-3AD203B41FA5}">
                          <a16:colId xmlns:a16="http://schemas.microsoft.com/office/drawing/2014/main" val="1021229486"/>
                        </a:ext>
                      </a:extLst>
                    </a:gridCol>
                    <a:gridCol w="731520">
                      <a:extLst>
                        <a:ext uri="{9D8B030D-6E8A-4147-A177-3AD203B41FA5}">
                          <a16:colId xmlns:a16="http://schemas.microsoft.com/office/drawing/2014/main" val="3455862654"/>
                        </a:ext>
                      </a:extLst>
                    </a:gridCol>
                    <a:gridCol w="731520">
                      <a:extLst>
                        <a:ext uri="{9D8B030D-6E8A-4147-A177-3AD203B41FA5}">
                          <a16:colId xmlns:a16="http://schemas.microsoft.com/office/drawing/2014/main" val="951547925"/>
                        </a:ext>
                      </a:extLst>
                    </a:gridCol>
                    <a:gridCol w="1554480">
                      <a:extLst>
                        <a:ext uri="{9D8B030D-6E8A-4147-A177-3AD203B41FA5}">
                          <a16:colId xmlns:a16="http://schemas.microsoft.com/office/drawing/2014/main" val="1305038350"/>
                        </a:ext>
                      </a:extLst>
                    </a:gridCol>
                    <a:gridCol w="914400">
                      <a:extLst>
                        <a:ext uri="{9D8B030D-6E8A-4147-A177-3AD203B41FA5}">
                          <a16:colId xmlns:a16="http://schemas.microsoft.com/office/drawing/2014/main" val="3391491469"/>
                        </a:ext>
                      </a:extLst>
                    </a:gridCol>
                  </a:tblGrid>
                  <a:tr h="365760">
                    <a:tc>
                      <a:txBody>
                        <a:bodyPr/>
                        <a:lstStyle/>
                        <a:p>
                          <a:r>
                            <a:rPr lang="en-US" sz="1400" dirty="0">
                              <a:solidFill>
                                <a:srgbClr val="000000"/>
                              </a:solidFill>
                            </a:rPr>
                            <a:t> Restaurant </a:t>
                          </a:r>
                          <a:r>
                            <a:rPr lang="en-US" sz="1400" i="1" dirty="0">
                              <a:solidFill>
                                <a:srgbClr val="000000"/>
                              </a:solidFill>
                            </a:rPr>
                            <a:t>i</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a:r>
                            <a:rPr lang="en-US" sz="1400" dirty="0">
                              <a:solidFill>
                                <a:srgbClr val="000000"/>
                              </a:solidFill>
                            </a:rPr>
                            <a:t> </a:t>
                          </a:r>
                          <a:r>
                            <a:rPr lang="en-US" sz="1400" baseline="0" dirty="0">
                              <a:solidFill>
                                <a:srgbClr val="000000"/>
                              </a:solidFill>
                            </a:rPr>
                            <a:t>  </a:t>
                          </a:r>
                          <a14:m>
                            <m:oMath xmlns:m="http://schemas.openxmlformats.org/officeDocument/2006/math">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𝒙</m:t>
                                  </m:r>
                                </m:e>
                                <m:sub>
                                  <m:r>
                                    <a:rPr lang="en-US" sz="1400" b="1" i="1" smtClean="0">
                                      <a:solidFill>
                                        <a:srgbClr val="000000"/>
                                      </a:solidFill>
                                      <a:latin typeface="Cambria Math" panose="02040503050406030204" pitchFamily="18" charset="0"/>
                                    </a:rPr>
                                    <m:t>𝒊</m:t>
                                  </m:r>
                                </m:sub>
                              </m:sSub>
                            </m:oMath>
                          </a14:m>
                          <a:endParaRPr lang="en-US" sz="1400" dirty="0">
                            <a:solidFill>
                              <a:srgbClr val="000000"/>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a:r>
                            <a:rPr lang="en-US" sz="1400" dirty="0">
                              <a:solidFill>
                                <a:srgbClr val="000000"/>
                              </a:solidFill>
                            </a:rPr>
                            <a:t> </a:t>
                          </a:r>
                          <a:r>
                            <a:rPr lang="en-US" sz="1400" baseline="0" dirty="0">
                              <a:solidFill>
                                <a:srgbClr val="000000"/>
                              </a:solidFill>
                            </a:rPr>
                            <a:t>  </a:t>
                          </a:r>
                          <a14:m>
                            <m:oMath xmlns:m="http://schemas.openxmlformats.org/officeDocument/2006/math">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𝒚</m:t>
                                  </m:r>
                                </m:e>
                                <m:sub>
                                  <m:r>
                                    <a:rPr lang="en-US" sz="1400" b="1" i="1" smtClean="0">
                                      <a:solidFill>
                                        <a:srgbClr val="000000"/>
                                      </a:solidFill>
                                      <a:latin typeface="Cambria Math" panose="02040503050406030204" pitchFamily="18" charset="0"/>
                                    </a:rPr>
                                    <m:t>𝒊</m:t>
                                  </m:r>
                                </m:sub>
                              </m:sSub>
                            </m:oMath>
                          </a14:m>
                          <a:endParaRPr lang="en-US" sz="1400" dirty="0">
                            <a:solidFill>
                              <a:srgbClr val="000000"/>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𝒙</m:t>
                                    </m:r>
                                  </m:e>
                                  <m:sub>
                                    <m:r>
                                      <a:rPr lang="en-US" sz="1400" b="1" i="1" smtClean="0">
                                        <a:solidFill>
                                          <a:srgbClr val="000000"/>
                                        </a:solidFill>
                                        <a:latin typeface="Cambria Math" panose="02040503050406030204" pitchFamily="18" charset="0"/>
                                      </a:rPr>
                                      <m:t>𝒊</m:t>
                                    </m:r>
                                  </m:sub>
                                </m:sSub>
                                <m:r>
                                  <a:rPr lang="en-US" sz="1400" b="1" i="1" smtClean="0">
                                    <a:solidFill>
                                      <a:srgbClr val="000000"/>
                                    </a:solidFill>
                                    <a:latin typeface="Cambria Math" panose="02040503050406030204" pitchFamily="18" charset="0"/>
                                  </a:rPr>
                                  <m:t>−</m:t>
                                </m:r>
                                <m:acc>
                                  <m:accPr>
                                    <m:chr m:val="̅"/>
                                    <m:ctrlPr>
                                      <a:rPr lang="en-US" sz="1400" b="1" i="1" smtClean="0">
                                        <a:solidFill>
                                          <a:srgbClr val="000000"/>
                                        </a:solidFill>
                                        <a:latin typeface="Cambria Math" panose="02040503050406030204" pitchFamily="18" charset="0"/>
                                      </a:rPr>
                                    </m:ctrlPr>
                                  </m:accPr>
                                  <m:e>
                                    <m:r>
                                      <a:rPr lang="en-US" sz="1400" b="1" i="1" smtClean="0">
                                        <a:solidFill>
                                          <a:srgbClr val="000000"/>
                                        </a:solidFill>
                                        <a:latin typeface="Cambria Math" panose="02040503050406030204" pitchFamily="18" charset="0"/>
                                      </a:rPr>
                                      <m:t>𝒙</m:t>
                                    </m:r>
                                  </m:e>
                                </m:acc>
                              </m:oMath>
                            </m:oMathPara>
                          </a14:m>
                          <a:endParaRPr lang="en-US" sz="1400" dirty="0">
                            <a:solidFill>
                              <a:srgbClr val="000000"/>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𝒚</m:t>
                                    </m:r>
                                  </m:e>
                                  <m:sub>
                                    <m:r>
                                      <a:rPr lang="en-US" sz="1400" b="1" i="1" smtClean="0">
                                        <a:solidFill>
                                          <a:srgbClr val="000000"/>
                                        </a:solidFill>
                                        <a:latin typeface="Cambria Math" panose="02040503050406030204" pitchFamily="18" charset="0"/>
                                      </a:rPr>
                                      <m:t>𝒊</m:t>
                                    </m:r>
                                  </m:sub>
                                </m:sSub>
                                <m:r>
                                  <a:rPr lang="en-US" sz="1400" b="1" i="1" smtClean="0">
                                    <a:solidFill>
                                      <a:srgbClr val="000000"/>
                                    </a:solidFill>
                                    <a:latin typeface="Cambria Math" panose="02040503050406030204" pitchFamily="18" charset="0"/>
                                  </a:rPr>
                                  <m:t>−</m:t>
                                </m:r>
                                <m:acc>
                                  <m:accPr>
                                    <m:chr m:val="̅"/>
                                    <m:ctrlPr>
                                      <a:rPr lang="en-US" sz="1400" b="1" i="1" smtClean="0">
                                        <a:solidFill>
                                          <a:srgbClr val="000000"/>
                                        </a:solidFill>
                                        <a:latin typeface="Cambria Math" panose="02040503050406030204" pitchFamily="18" charset="0"/>
                                      </a:rPr>
                                    </m:ctrlPr>
                                  </m:accPr>
                                  <m:e>
                                    <m:r>
                                      <a:rPr lang="en-US" sz="1400" b="1" i="1" smtClean="0">
                                        <a:solidFill>
                                          <a:srgbClr val="000000"/>
                                        </a:solidFill>
                                        <a:latin typeface="Cambria Math" panose="02040503050406030204" pitchFamily="18" charset="0"/>
                                      </a:rPr>
                                      <m:t>𝒚</m:t>
                                    </m:r>
                                  </m:e>
                                </m:acc>
                              </m:oMath>
                            </m:oMathPara>
                          </a14:m>
                          <a:endParaRPr lang="en-US" sz="1400" dirty="0">
                            <a:solidFill>
                              <a:srgbClr val="000000"/>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14:m>
                            <m:oMathPara xmlns:m="http://schemas.openxmlformats.org/officeDocument/2006/math">
                              <m:oMathParaPr>
                                <m:jc m:val="centerGroup"/>
                              </m:oMathParaPr>
                              <m:oMath xmlns:m="http://schemas.openxmlformats.org/officeDocument/2006/math">
                                <m:d>
                                  <m:dPr>
                                    <m:ctrlPr>
                                      <a:rPr lang="en-US" sz="1400" i="1" smtClean="0">
                                        <a:solidFill>
                                          <a:srgbClr val="000000"/>
                                        </a:solidFill>
                                        <a:latin typeface="Cambria Math" panose="02040503050406030204" pitchFamily="18" charset="0"/>
                                      </a:rPr>
                                    </m:ctrlPr>
                                  </m:dPr>
                                  <m:e>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𝒙</m:t>
                                        </m:r>
                                      </m:e>
                                      <m:sub>
                                        <m:r>
                                          <a:rPr lang="en-US" sz="1400" b="1" i="1" smtClean="0">
                                            <a:solidFill>
                                              <a:srgbClr val="000000"/>
                                            </a:solidFill>
                                            <a:latin typeface="Cambria Math" panose="02040503050406030204" pitchFamily="18" charset="0"/>
                                          </a:rPr>
                                          <m:t>𝒊</m:t>
                                        </m:r>
                                      </m:sub>
                                    </m:sSub>
                                    <m:r>
                                      <a:rPr lang="en-US" sz="1400" b="1" i="1" smtClean="0">
                                        <a:solidFill>
                                          <a:srgbClr val="000000"/>
                                        </a:solidFill>
                                        <a:latin typeface="Cambria Math" panose="02040503050406030204" pitchFamily="18" charset="0"/>
                                      </a:rPr>
                                      <m:t>−</m:t>
                                    </m:r>
                                    <m:acc>
                                      <m:accPr>
                                        <m:chr m:val="̅"/>
                                        <m:ctrlPr>
                                          <a:rPr lang="en-US" sz="1400" b="1" i="1" smtClean="0">
                                            <a:solidFill>
                                              <a:srgbClr val="000000"/>
                                            </a:solidFill>
                                            <a:latin typeface="Cambria Math" panose="02040503050406030204" pitchFamily="18" charset="0"/>
                                          </a:rPr>
                                        </m:ctrlPr>
                                      </m:accPr>
                                      <m:e>
                                        <m:r>
                                          <a:rPr lang="en-US" sz="1400" b="1" i="1" smtClean="0">
                                            <a:solidFill>
                                              <a:srgbClr val="000000"/>
                                            </a:solidFill>
                                            <a:latin typeface="Cambria Math" panose="02040503050406030204" pitchFamily="18" charset="0"/>
                                          </a:rPr>
                                          <m:t>𝒙</m:t>
                                        </m:r>
                                      </m:e>
                                    </m:acc>
                                  </m:e>
                                </m:d>
                                <m:d>
                                  <m:dPr>
                                    <m:ctrlPr>
                                      <a:rPr lang="en-US" sz="1400" i="1" smtClean="0">
                                        <a:solidFill>
                                          <a:srgbClr val="000000"/>
                                        </a:solidFill>
                                        <a:latin typeface="Cambria Math" panose="02040503050406030204" pitchFamily="18" charset="0"/>
                                      </a:rPr>
                                    </m:ctrlPr>
                                  </m:dPr>
                                  <m:e>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𝒚</m:t>
                                        </m:r>
                                      </m:e>
                                      <m:sub>
                                        <m:r>
                                          <a:rPr lang="en-US" sz="1400" b="1" i="1" smtClean="0">
                                            <a:solidFill>
                                              <a:srgbClr val="000000"/>
                                            </a:solidFill>
                                            <a:latin typeface="Cambria Math" panose="02040503050406030204" pitchFamily="18" charset="0"/>
                                          </a:rPr>
                                          <m:t>𝒊</m:t>
                                        </m:r>
                                      </m:sub>
                                    </m:sSub>
                                    <m:r>
                                      <a:rPr lang="en-US" sz="1400" b="1" i="1" smtClean="0">
                                        <a:solidFill>
                                          <a:srgbClr val="000000"/>
                                        </a:solidFill>
                                        <a:latin typeface="Cambria Math" panose="02040503050406030204" pitchFamily="18" charset="0"/>
                                      </a:rPr>
                                      <m:t>−</m:t>
                                    </m:r>
                                    <m:acc>
                                      <m:accPr>
                                        <m:chr m:val="̅"/>
                                        <m:ctrlPr>
                                          <a:rPr lang="en-US" sz="1400" b="1" i="1" smtClean="0">
                                            <a:solidFill>
                                              <a:srgbClr val="000000"/>
                                            </a:solidFill>
                                            <a:latin typeface="Cambria Math" panose="02040503050406030204" pitchFamily="18" charset="0"/>
                                          </a:rPr>
                                        </m:ctrlPr>
                                      </m:accPr>
                                      <m:e>
                                        <m:r>
                                          <a:rPr lang="en-US" sz="1400" b="1" i="1" smtClean="0">
                                            <a:solidFill>
                                              <a:srgbClr val="000000"/>
                                            </a:solidFill>
                                            <a:latin typeface="Cambria Math" panose="02040503050406030204" pitchFamily="18" charset="0"/>
                                          </a:rPr>
                                          <m:t>𝒚</m:t>
                                        </m:r>
                                      </m:e>
                                    </m:acc>
                                    <m:r>
                                      <m:rPr>
                                        <m:nor/>
                                      </m:rPr>
                                      <a:rPr lang="en-US" sz="1400" dirty="0">
                                        <a:solidFill>
                                          <a:srgbClr val="000000"/>
                                        </a:solidFill>
                                      </a:rPr>
                                      <m:t> </m:t>
                                    </m:r>
                                  </m:e>
                                </m:d>
                              </m:oMath>
                            </m:oMathPara>
                          </a14:m>
                          <a:endParaRPr lang="en-US" sz="1400" dirty="0">
                            <a:solidFill>
                              <a:srgbClr val="000000"/>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400" i="1" smtClean="0">
                                        <a:solidFill>
                                          <a:srgbClr val="000000"/>
                                        </a:solidFill>
                                        <a:latin typeface="Cambria Math" panose="02040503050406030204" pitchFamily="18" charset="0"/>
                                      </a:rPr>
                                    </m:ctrlPr>
                                  </m:sSupPr>
                                  <m:e>
                                    <m:d>
                                      <m:dPr>
                                        <m:ctrlPr>
                                          <a:rPr lang="en-US" sz="1400" i="1" smtClean="0">
                                            <a:solidFill>
                                              <a:srgbClr val="000000"/>
                                            </a:solidFill>
                                            <a:latin typeface="Cambria Math" panose="02040503050406030204" pitchFamily="18" charset="0"/>
                                          </a:rPr>
                                        </m:ctrlPr>
                                      </m:dPr>
                                      <m:e>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𝒙</m:t>
                                            </m:r>
                                          </m:e>
                                          <m:sub>
                                            <m:r>
                                              <a:rPr lang="en-US" sz="1400" b="1" i="1" smtClean="0">
                                                <a:solidFill>
                                                  <a:srgbClr val="000000"/>
                                                </a:solidFill>
                                                <a:latin typeface="Cambria Math" panose="02040503050406030204" pitchFamily="18" charset="0"/>
                                              </a:rPr>
                                              <m:t>𝒊</m:t>
                                            </m:r>
                                          </m:sub>
                                        </m:sSub>
                                        <m:r>
                                          <a:rPr lang="en-US" sz="1400" b="1" i="1" smtClean="0">
                                            <a:solidFill>
                                              <a:srgbClr val="000000"/>
                                            </a:solidFill>
                                            <a:latin typeface="Cambria Math" panose="02040503050406030204" pitchFamily="18" charset="0"/>
                                          </a:rPr>
                                          <m:t>−</m:t>
                                        </m:r>
                                        <m:acc>
                                          <m:accPr>
                                            <m:chr m:val="̅"/>
                                            <m:ctrlPr>
                                              <a:rPr lang="en-US" sz="1400" b="1" i="1" smtClean="0">
                                                <a:solidFill>
                                                  <a:srgbClr val="000000"/>
                                                </a:solidFill>
                                                <a:latin typeface="Cambria Math" panose="02040503050406030204" pitchFamily="18" charset="0"/>
                                              </a:rPr>
                                            </m:ctrlPr>
                                          </m:accPr>
                                          <m:e>
                                            <m:r>
                                              <a:rPr lang="en-US" sz="1400" b="1" i="1" smtClean="0">
                                                <a:solidFill>
                                                  <a:srgbClr val="000000"/>
                                                </a:solidFill>
                                                <a:latin typeface="Cambria Math" panose="02040503050406030204" pitchFamily="18" charset="0"/>
                                              </a:rPr>
                                              <m:t>𝒙</m:t>
                                            </m:r>
                                          </m:e>
                                        </m:acc>
                                      </m:e>
                                    </m:d>
                                  </m:e>
                                  <m:sup>
                                    <m:r>
                                      <a:rPr lang="en-US" sz="1400" b="1" i="1" smtClean="0">
                                        <a:solidFill>
                                          <a:srgbClr val="000000"/>
                                        </a:solidFill>
                                        <a:latin typeface="Cambria Math" panose="02040503050406030204" pitchFamily="18" charset="0"/>
                                      </a:rPr>
                                      <m:t>𝟐</m:t>
                                    </m:r>
                                  </m:sup>
                                </m:sSup>
                              </m:oMath>
                            </m:oMathPara>
                          </a14:m>
                          <a:endParaRPr lang="en-US" sz="1400" dirty="0">
                            <a:solidFill>
                              <a:srgbClr val="000000"/>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631184426"/>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58</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a:solidFill>
                                <a:srgbClr val="000000"/>
                              </a:solidFill>
                              <a:effectLst/>
                              <a:latin typeface="Cambria Math" panose="02040503050406030204" pitchFamily="18" charset="0"/>
                              <a:ea typeface="Cambria Math" panose="02040503050406030204" pitchFamily="18" charset="0"/>
                              <a:cs typeface="+mn-cs"/>
                            </a:rPr>
                            <a:t>	-12</a:t>
                          </a: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a:solidFill>
                                <a:srgbClr val="000000"/>
                              </a:solidFill>
                              <a:effectLst/>
                              <a:latin typeface="Cambria Math" panose="02040503050406030204" pitchFamily="18" charset="0"/>
                              <a:ea typeface="Cambria Math" panose="02040503050406030204" pitchFamily="18" charset="0"/>
                              <a:cs typeface="+mn-cs"/>
                            </a:rPr>
                            <a:t>	-72</a:t>
                          </a: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864</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144</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561273509"/>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105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a:solidFill>
                                <a:srgbClr val="000000"/>
                              </a:solidFill>
                              <a:effectLst/>
                              <a:latin typeface="Cambria Math" panose="02040503050406030204" pitchFamily="18" charset="0"/>
                              <a:ea typeface="Cambria Math" panose="02040503050406030204" pitchFamily="18" charset="0"/>
                              <a:cs typeface="+mn-cs"/>
                            </a:rPr>
                            <a:t>	-8</a:t>
                          </a: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a:solidFill>
                                <a:srgbClr val="000000"/>
                              </a:solidFill>
                              <a:effectLst/>
                              <a:latin typeface="Cambria Math" panose="02040503050406030204" pitchFamily="18" charset="0"/>
                              <a:ea typeface="Cambria Math" panose="02040503050406030204" pitchFamily="18" charset="0"/>
                              <a:cs typeface="+mn-cs"/>
                            </a:rPr>
                            <a:t>	-25</a:t>
                          </a: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403820975"/>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a:solidFill>
                                <a:srgbClr val="000000"/>
                              </a:solidFill>
                              <a:effectLst/>
                              <a:latin typeface="Cambria Math" panose="02040503050406030204" pitchFamily="18" charset="0"/>
                              <a:ea typeface="Cambria Math" panose="02040503050406030204" pitchFamily="18" charset="0"/>
                              <a:cs typeface="+mn-cs"/>
                            </a:rPr>
                            <a:t>	-6</a:t>
                          </a: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a:solidFill>
                                <a:srgbClr val="000000"/>
                              </a:solidFill>
                              <a:effectLst/>
                              <a:latin typeface="Cambria Math" panose="02040503050406030204" pitchFamily="18" charset="0"/>
                              <a:ea typeface="Cambria Math" panose="02040503050406030204" pitchFamily="18" charset="0"/>
                              <a:cs typeface="+mn-cs"/>
                            </a:rPr>
                            <a:t>	-42</a:t>
                          </a: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252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36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766831002"/>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118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a:solidFill>
                                <a:srgbClr val="000000"/>
                              </a:solidFill>
                              <a:effectLst/>
                              <a:latin typeface="Cambria Math" panose="02040503050406030204" pitchFamily="18" charset="0"/>
                              <a:ea typeface="Cambria Math" panose="02040503050406030204" pitchFamily="18" charset="0"/>
                              <a:cs typeface="+mn-cs"/>
                            </a:rPr>
                            <a:t>	-6</a:t>
                          </a: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a:solidFill>
                                <a:srgbClr val="000000"/>
                              </a:solidFill>
                              <a:effectLst/>
                              <a:latin typeface="Cambria Math" panose="02040503050406030204" pitchFamily="18" charset="0"/>
                              <a:ea typeface="Cambria Math" panose="02040503050406030204" pitchFamily="18" charset="0"/>
                              <a:cs typeface="+mn-cs"/>
                            </a:rPr>
                            <a:t>	-12</a:t>
                          </a: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72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36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213302503"/>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117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a:solidFill>
                                <a:srgbClr val="000000"/>
                              </a:solidFill>
                              <a:effectLst/>
                              <a:latin typeface="Cambria Math" panose="02040503050406030204" pitchFamily="18" charset="0"/>
                              <a:ea typeface="Cambria Math" panose="02040503050406030204" pitchFamily="18" charset="0"/>
                              <a:cs typeface="+mn-cs"/>
                            </a:rPr>
                            <a:t>	-2</a:t>
                          </a: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a:solidFill>
                                <a:srgbClr val="000000"/>
                              </a:solidFill>
                              <a:effectLst/>
                              <a:latin typeface="Cambria Math" panose="02040503050406030204" pitchFamily="18" charset="0"/>
                              <a:ea typeface="Cambria Math" panose="02040503050406030204" pitchFamily="18" charset="0"/>
                              <a:cs typeface="+mn-cs"/>
                            </a:rPr>
                            <a:t>	-13</a:t>
                          </a: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30692175"/>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137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76735034"/>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157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162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36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742985813"/>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169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39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234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36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289561230"/>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149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152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822458864"/>
                      </a:ext>
                    </a:extLst>
                  </a:tr>
                  <a:tr h="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a:t>
                          </a:r>
                          <a:r>
                            <a:rPr lang="en-US" sz="1400" b="0" i="0" u="sng" strike="noStrike" kern="1200" dirty="0">
                              <a:solidFill>
                                <a:srgbClr val="000000"/>
                              </a:solidFill>
                              <a:effectLst/>
                              <a:latin typeface="Cambria Math" panose="02040503050406030204" pitchFamily="18" charset="0"/>
                              <a:ea typeface="Cambria Math" panose="02040503050406030204" pitchFamily="18" charset="0"/>
                              <a:cs typeface="+mn-cs"/>
                            </a:rPr>
                            <a:t>   26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a:t>
                          </a:r>
                          <a:r>
                            <a:rPr lang="en-US" sz="1400" b="0" i="0" u="sng" strike="noStrike" kern="1200" dirty="0">
                              <a:solidFill>
                                <a:srgbClr val="000000"/>
                              </a:solidFill>
                              <a:effectLst/>
                              <a:latin typeface="Cambria Math" panose="02040503050406030204" pitchFamily="18" charset="0"/>
                              <a:ea typeface="Cambria Math" panose="02040503050406030204" pitchFamily="18" charset="0"/>
                              <a:cs typeface="+mn-cs"/>
                            </a:rPr>
                            <a:t>   202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72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a:t>
                          </a:r>
                          <a:r>
                            <a:rPr lang="en-US" sz="1400" b="0" i="0" u="sng" strike="noStrike" kern="1200" dirty="0">
                              <a:solidFill>
                                <a:srgbClr val="000000"/>
                              </a:solidFill>
                              <a:effectLst/>
                              <a:latin typeface="Cambria Math" panose="02040503050406030204" pitchFamily="18" charset="0"/>
                              <a:ea typeface="Cambria Math" panose="02040503050406030204" pitchFamily="18" charset="0"/>
                              <a:cs typeface="+mn-cs"/>
                            </a:rPr>
                            <a:t>   864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a:t>
                          </a:r>
                          <a:r>
                            <a:rPr lang="en-US" sz="1400" b="0" i="0" u="sng" strike="noStrike" kern="1200" dirty="0">
                              <a:solidFill>
                                <a:srgbClr val="000000"/>
                              </a:solidFill>
                              <a:effectLst/>
                              <a:latin typeface="Cambria Math" panose="02040503050406030204" pitchFamily="18" charset="0"/>
                              <a:ea typeface="Cambria Math" panose="02040503050406030204" pitchFamily="18" charset="0"/>
                              <a:cs typeface="+mn-cs"/>
                            </a:rPr>
                            <a:t> 144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127456605"/>
                      </a:ext>
                    </a:extLst>
                  </a:tr>
                  <a:tr h="172205">
                    <a:tc>
                      <a:txBody>
                        <a:bodyPr/>
                        <a:lstStyle/>
                        <a:p>
                          <a:pPr algn="l" fontAlgn="b"/>
                          <a:endParaRPr lang="en-US" sz="1400" b="0" i="0" u="none" strike="noStrike">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140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1300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400" b="0" i="0" u="none" strike="noStrike">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2840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568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824077681"/>
                      </a:ext>
                    </a:extLst>
                  </a:tr>
                  <a:tr h="274320">
                    <a:tc>
                      <a:txBody>
                        <a:bodyPr/>
                        <a:lstStyle/>
                        <a:p>
                          <a:endParaRPr lang="en-US" sz="1400" dirty="0">
                            <a:solidFill>
                              <a:srgbClr val="000000"/>
                            </a:solidFill>
                            <a:latin typeface="Cambria Math" panose="02040503050406030204" pitchFamily="18" charset="0"/>
                            <a:ea typeface="Cambria Math" panose="02040503050406030204" pitchFamily="18"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a:r>
                            <a:rPr lang="en-US" sz="1400" i="0" baseline="0" dirty="0">
                              <a:solidFill>
                                <a:srgbClr val="000000"/>
                              </a:solidFill>
                              <a:latin typeface="+mn-lt"/>
                              <a:ea typeface="Cambria Math" panose="02040503050406030204" pitchFamily="18" charset="0"/>
                            </a:rPr>
                            <a:t> </a:t>
                          </a:r>
                          <a14:m>
                            <m:oMath xmlns:m="http://schemas.openxmlformats.org/officeDocument/2006/math">
                              <m:nary>
                                <m:naryPr>
                                  <m:chr m:val="∑"/>
                                  <m:subHide m:val="on"/>
                                  <m:supHide m:val="on"/>
                                  <m:ctrlPr>
                                    <a:rPr lang="en-US" sz="1400" i="1" smtClean="0">
                                      <a:solidFill>
                                        <a:srgbClr val="000000"/>
                                      </a:solidFill>
                                      <a:latin typeface="Cambria Math" panose="02040503050406030204" pitchFamily="18" charset="0"/>
                                      <a:ea typeface="Cambria Math" panose="02040503050406030204" pitchFamily="18" charset="0"/>
                                    </a:rPr>
                                  </m:ctrlPr>
                                </m:naryPr>
                                <m:sub/>
                                <m:sup/>
                                <m:e>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𝒙</m:t>
                                      </m:r>
                                    </m:e>
                                    <m:sub>
                                      <m:r>
                                        <a:rPr lang="en-US" sz="1400" b="1" i="1" smtClean="0">
                                          <a:solidFill>
                                            <a:srgbClr val="000000"/>
                                          </a:solidFill>
                                          <a:latin typeface="Cambria Math" panose="02040503050406030204" pitchFamily="18" charset="0"/>
                                        </a:rPr>
                                        <m:t>𝒊</m:t>
                                      </m:r>
                                    </m:sub>
                                  </m:sSub>
                                </m:e>
                              </m:nary>
                            </m:oMath>
                          </a14:m>
                          <a:r>
                            <a:rPr lang="en-US" sz="1400" dirty="0">
                              <a:solidFill>
                                <a:srgbClr val="000000"/>
                              </a:solidFill>
                              <a:latin typeface="Cambria Math" panose="02040503050406030204" pitchFamily="18" charset="0"/>
                              <a:ea typeface="Cambria Math" panose="02040503050406030204" pitchFamily="18"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a:r>
                            <a:rPr lang="en-US" sz="1400" dirty="0">
                              <a:solidFill>
                                <a:srgbClr val="000000"/>
                              </a:solidFill>
                              <a:ea typeface="Cambria Math" panose="02040503050406030204" pitchFamily="18" charset="0"/>
                            </a:rPr>
                            <a:t> </a:t>
                          </a:r>
                          <a14:m>
                            <m:oMath xmlns:m="http://schemas.openxmlformats.org/officeDocument/2006/math">
                              <m:nary>
                                <m:naryPr>
                                  <m:chr m:val="∑"/>
                                  <m:subHide m:val="on"/>
                                  <m:supHide m:val="on"/>
                                  <m:ctrlPr>
                                    <a:rPr lang="en-US" sz="1400" i="1" smtClean="0">
                                      <a:solidFill>
                                        <a:srgbClr val="000000"/>
                                      </a:solidFill>
                                      <a:latin typeface="Cambria Math" panose="02040503050406030204" pitchFamily="18" charset="0"/>
                                      <a:ea typeface="Cambria Math" panose="02040503050406030204" pitchFamily="18" charset="0"/>
                                    </a:rPr>
                                  </m:ctrlPr>
                                </m:naryPr>
                                <m:sub/>
                                <m:sup/>
                                <m:e>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𝒚</m:t>
                                      </m:r>
                                    </m:e>
                                    <m:sub>
                                      <m:r>
                                        <a:rPr lang="en-US" sz="1400" b="1" i="1" smtClean="0">
                                          <a:solidFill>
                                            <a:srgbClr val="000000"/>
                                          </a:solidFill>
                                          <a:latin typeface="Cambria Math" panose="02040503050406030204" pitchFamily="18" charset="0"/>
                                        </a:rPr>
                                        <m:t>𝒊</m:t>
                                      </m:r>
                                    </m:sub>
                                  </m:sSub>
                                </m:e>
                              </m:nary>
                            </m:oMath>
                          </a14:m>
                          <a:r>
                            <a:rPr lang="en-US" sz="1400" dirty="0">
                              <a:solidFill>
                                <a:srgbClr val="000000"/>
                              </a:solidFill>
                              <a:latin typeface="Cambria Math" panose="02040503050406030204" pitchFamily="18" charset="0"/>
                              <a:ea typeface="Cambria Math" panose="02040503050406030204" pitchFamily="18"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endParaRPr lang="en-US" sz="1400" dirty="0">
                            <a:solidFill>
                              <a:srgbClr val="000000"/>
                            </a:solidFill>
                            <a:latin typeface="Cambria Math" panose="02040503050406030204" pitchFamily="18" charset="0"/>
                            <a:ea typeface="Cambria Math" panose="02040503050406030204" pitchFamily="18"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endParaRPr lang="en-US" sz="1400" dirty="0">
                            <a:solidFill>
                              <a:srgbClr val="000000"/>
                            </a:solidFill>
                            <a:latin typeface="Cambria Math" panose="02040503050406030204" pitchFamily="18" charset="0"/>
                            <a:ea typeface="Cambria Math" panose="02040503050406030204" pitchFamily="18"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14:m>
                            <m:oMath xmlns:m="http://schemas.openxmlformats.org/officeDocument/2006/math">
                              <m:nary>
                                <m:naryPr>
                                  <m:chr m:val="∑"/>
                                  <m:subHide m:val="on"/>
                                  <m:supHide m:val="on"/>
                                  <m:ctrlPr>
                                    <a:rPr lang="en-US" sz="1400" i="1" smtClean="0">
                                      <a:solidFill>
                                        <a:srgbClr val="000000"/>
                                      </a:solidFill>
                                      <a:latin typeface="Cambria Math" panose="02040503050406030204" pitchFamily="18" charset="0"/>
                                      <a:ea typeface="Cambria Math" panose="02040503050406030204" pitchFamily="18" charset="0"/>
                                    </a:rPr>
                                  </m:ctrlPr>
                                </m:naryPr>
                                <m:sub/>
                                <m:sup/>
                                <m:e>
                                  <m:d>
                                    <m:dPr>
                                      <m:ctrlPr>
                                        <a:rPr lang="en-US" sz="1400" i="1" smtClean="0">
                                          <a:solidFill>
                                            <a:srgbClr val="000000"/>
                                          </a:solidFill>
                                          <a:latin typeface="Cambria Math" panose="02040503050406030204" pitchFamily="18" charset="0"/>
                                        </a:rPr>
                                      </m:ctrlPr>
                                    </m:dPr>
                                    <m:e>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𝒙</m:t>
                                          </m:r>
                                        </m:e>
                                        <m:sub>
                                          <m:r>
                                            <a:rPr lang="en-US" sz="1400" b="1" i="1" smtClean="0">
                                              <a:solidFill>
                                                <a:srgbClr val="000000"/>
                                              </a:solidFill>
                                              <a:latin typeface="Cambria Math" panose="02040503050406030204" pitchFamily="18" charset="0"/>
                                            </a:rPr>
                                            <m:t>𝒊</m:t>
                                          </m:r>
                                        </m:sub>
                                      </m:sSub>
                                      <m:r>
                                        <a:rPr lang="en-US" sz="1400" b="1" i="1" smtClean="0">
                                          <a:solidFill>
                                            <a:srgbClr val="000000"/>
                                          </a:solidFill>
                                          <a:latin typeface="Cambria Math" panose="02040503050406030204" pitchFamily="18" charset="0"/>
                                        </a:rPr>
                                        <m:t>−</m:t>
                                      </m:r>
                                      <m:acc>
                                        <m:accPr>
                                          <m:chr m:val="̅"/>
                                          <m:ctrlPr>
                                            <a:rPr lang="en-US" sz="1400" b="1" i="1" smtClean="0">
                                              <a:solidFill>
                                                <a:srgbClr val="000000"/>
                                              </a:solidFill>
                                              <a:latin typeface="Cambria Math" panose="02040503050406030204" pitchFamily="18" charset="0"/>
                                            </a:rPr>
                                          </m:ctrlPr>
                                        </m:accPr>
                                        <m:e>
                                          <m:r>
                                            <a:rPr lang="en-US" sz="1400" b="1" i="1" smtClean="0">
                                              <a:solidFill>
                                                <a:srgbClr val="000000"/>
                                              </a:solidFill>
                                              <a:latin typeface="Cambria Math" panose="02040503050406030204" pitchFamily="18" charset="0"/>
                                            </a:rPr>
                                            <m:t>𝒙</m:t>
                                          </m:r>
                                        </m:e>
                                      </m:acc>
                                    </m:e>
                                  </m:d>
                                  <m:d>
                                    <m:dPr>
                                      <m:ctrlPr>
                                        <a:rPr lang="en-US" sz="1400" i="1" smtClean="0">
                                          <a:solidFill>
                                            <a:srgbClr val="000000"/>
                                          </a:solidFill>
                                          <a:latin typeface="Cambria Math" panose="02040503050406030204" pitchFamily="18" charset="0"/>
                                        </a:rPr>
                                      </m:ctrlPr>
                                    </m:dPr>
                                    <m:e>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𝒚</m:t>
                                          </m:r>
                                        </m:e>
                                        <m:sub>
                                          <m:r>
                                            <a:rPr lang="en-US" sz="1400" b="1" i="1" smtClean="0">
                                              <a:solidFill>
                                                <a:srgbClr val="000000"/>
                                              </a:solidFill>
                                              <a:latin typeface="Cambria Math" panose="02040503050406030204" pitchFamily="18" charset="0"/>
                                            </a:rPr>
                                            <m:t>𝒊</m:t>
                                          </m:r>
                                        </m:sub>
                                      </m:sSub>
                                      <m:r>
                                        <a:rPr lang="en-US" sz="1400" b="1" i="1" smtClean="0">
                                          <a:solidFill>
                                            <a:srgbClr val="000000"/>
                                          </a:solidFill>
                                          <a:latin typeface="Cambria Math" panose="02040503050406030204" pitchFamily="18" charset="0"/>
                                        </a:rPr>
                                        <m:t>−</m:t>
                                      </m:r>
                                      <m:acc>
                                        <m:accPr>
                                          <m:chr m:val="̅"/>
                                          <m:ctrlPr>
                                            <a:rPr lang="en-US" sz="1400" b="1" i="1" smtClean="0">
                                              <a:solidFill>
                                                <a:srgbClr val="000000"/>
                                              </a:solidFill>
                                              <a:latin typeface="Cambria Math" panose="02040503050406030204" pitchFamily="18" charset="0"/>
                                            </a:rPr>
                                          </m:ctrlPr>
                                        </m:accPr>
                                        <m:e>
                                          <m:r>
                                            <a:rPr lang="en-US" sz="1400" b="1" i="1" smtClean="0">
                                              <a:solidFill>
                                                <a:srgbClr val="000000"/>
                                              </a:solidFill>
                                              <a:latin typeface="Cambria Math" panose="02040503050406030204" pitchFamily="18" charset="0"/>
                                            </a:rPr>
                                            <m:t>𝒚</m:t>
                                          </m:r>
                                        </m:e>
                                      </m:acc>
                                      <m:r>
                                        <m:rPr>
                                          <m:nor/>
                                        </m:rPr>
                                        <a:rPr lang="en-US" sz="1400" dirty="0">
                                          <a:solidFill>
                                            <a:srgbClr val="000000"/>
                                          </a:solidFill>
                                        </a:rPr>
                                        <m:t> </m:t>
                                      </m:r>
                                    </m:e>
                                  </m:d>
                                </m:e>
                              </m:nary>
                            </m:oMath>
                          </a14:m>
                          <a:r>
                            <a:rPr lang="en-US" sz="1400" dirty="0">
                              <a:solidFill>
                                <a:srgbClr val="000000"/>
                              </a:solidFill>
                              <a:latin typeface="Cambria Math" panose="02040503050406030204" pitchFamily="18" charset="0"/>
                              <a:ea typeface="Cambria Math" panose="02040503050406030204" pitchFamily="18"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14:m>
                            <m:oMath xmlns:m="http://schemas.openxmlformats.org/officeDocument/2006/math">
                              <m:nary>
                                <m:naryPr>
                                  <m:chr m:val="∑"/>
                                  <m:subHide m:val="on"/>
                                  <m:supHide m:val="on"/>
                                  <m:ctrlPr>
                                    <a:rPr lang="en-US" sz="1400" i="1" smtClean="0">
                                      <a:solidFill>
                                        <a:srgbClr val="000000"/>
                                      </a:solidFill>
                                      <a:latin typeface="Cambria Math" panose="02040503050406030204" pitchFamily="18" charset="0"/>
                                      <a:ea typeface="Cambria Math" panose="02040503050406030204" pitchFamily="18" charset="0"/>
                                    </a:rPr>
                                  </m:ctrlPr>
                                </m:naryPr>
                                <m:sub/>
                                <m:sup/>
                                <m:e>
                                  <m:sSup>
                                    <m:sSupPr>
                                      <m:ctrlPr>
                                        <a:rPr lang="en-US" sz="1400" i="1" smtClean="0">
                                          <a:solidFill>
                                            <a:srgbClr val="000000"/>
                                          </a:solidFill>
                                          <a:latin typeface="Cambria Math" panose="02040503050406030204" pitchFamily="18" charset="0"/>
                                        </a:rPr>
                                      </m:ctrlPr>
                                    </m:sSupPr>
                                    <m:e>
                                      <m:d>
                                        <m:dPr>
                                          <m:ctrlPr>
                                            <a:rPr lang="en-US" sz="1400" i="1" smtClean="0">
                                              <a:solidFill>
                                                <a:srgbClr val="000000"/>
                                              </a:solidFill>
                                              <a:latin typeface="Cambria Math" panose="02040503050406030204" pitchFamily="18" charset="0"/>
                                            </a:rPr>
                                          </m:ctrlPr>
                                        </m:dPr>
                                        <m:e>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𝒙</m:t>
                                              </m:r>
                                            </m:e>
                                            <m:sub>
                                              <m:r>
                                                <a:rPr lang="en-US" sz="1400" b="1" i="1" smtClean="0">
                                                  <a:solidFill>
                                                    <a:srgbClr val="000000"/>
                                                  </a:solidFill>
                                                  <a:latin typeface="Cambria Math" panose="02040503050406030204" pitchFamily="18" charset="0"/>
                                                </a:rPr>
                                                <m:t>𝒊</m:t>
                                              </m:r>
                                            </m:sub>
                                          </m:sSub>
                                          <m:r>
                                            <a:rPr lang="en-US" sz="1400" b="1" i="1" smtClean="0">
                                              <a:solidFill>
                                                <a:srgbClr val="000000"/>
                                              </a:solidFill>
                                              <a:latin typeface="Cambria Math" panose="02040503050406030204" pitchFamily="18" charset="0"/>
                                            </a:rPr>
                                            <m:t>−</m:t>
                                          </m:r>
                                          <m:acc>
                                            <m:accPr>
                                              <m:chr m:val="̅"/>
                                              <m:ctrlPr>
                                                <a:rPr lang="en-US" sz="1400" b="1" i="1" smtClean="0">
                                                  <a:solidFill>
                                                    <a:srgbClr val="000000"/>
                                                  </a:solidFill>
                                                  <a:latin typeface="Cambria Math" panose="02040503050406030204" pitchFamily="18" charset="0"/>
                                                </a:rPr>
                                              </m:ctrlPr>
                                            </m:accPr>
                                            <m:e>
                                              <m:r>
                                                <a:rPr lang="en-US" sz="1400" b="1" i="1" smtClean="0">
                                                  <a:solidFill>
                                                    <a:srgbClr val="000000"/>
                                                  </a:solidFill>
                                                  <a:latin typeface="Cambria Math" panose="02040503050406030204" pitchFamily="18" charset="0"/>
                                                </a:rPr>
                                                <m:t>𝒙</m:t>
                                              </m:r>
                                            </m:e>
                                          </m:acc>
                                        </m:e>
                                      </m:d>
                                    </m:e>
                                    <m:sup>
                                      <m:r>
                                        <a:rPr lang="en-US" sz="1400" b="1" i="1" smtClean="0">
                                          <a:solidFill>
                                            <a:srgbClr val="000000"/>
                                          </a:solidFill>
                                          <a:latin typeface="Cambria Math" panose="02040503050406030204" pitchFamily="18" charset="0"/>
                                        </a:rPr>
                                        <m:t>𝟐</m:t>
                                      </m:r>
                                    </m:sup>
                                  </m:sSup>
                                </m:e>
                              </m:nary>
                            </m:oMath>
                          </a14:m>
                          <a:r>
                            <a:rPr lang="en-US" sz="1400" dirty="0">
                              <a:solidFill>
                                <a:srgbClr val="000000"/>
                              </a:solidFill>
                              <a:latin typeface="Cambria Math" panose="02040503050406030204" pitchFamily="18" charset="0"/>
                              <a:ea typeface="Cambria Math" panose="02040503050406030204" pitchFamily="18" charset="0"/>
                            </a:rPr>
                            <a:t>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541339010"/>
                      </a:ext>
                    </a:extLst>
                  </a:tr>
                </a:tbl>
              </a:graphicData>
            </a:graphic>
          </p:graphicFrame>
        </mc:Choice>
        <mc:Fallback xmlns="">
          <p:graphicFrame>
            <p:nvGraphicFramePr>
              <p:cNvPr id="7" name="Table 8">
                <a:extLst>
                  <a:ext uri="{FF2B5EF4-FFF2-40B4-BE49-F238E27FC236}">
                    <a16:creationId xmlns:a16="http://schemas.microsoft.com/office/drawing/2014/main" id="{7EDD725C-EEA6-4E9B-2DC4-496145CED692}"/>
                  </a:ext>
                </a:extLst>
              </p:cNvPr>
              <p:cNvGraphicFramePr>
                <a:graphicFrameLocks noGrp="1"/>
              </p:cNvGraphicFramePr>
              <p:nvPr>
                <p:ph type="tbl" sz="quarter" idx="22"/>
                <p:extLst>
                  <p:ext uri="{D42A27DB-BD31-4B8C-83A1-F6EECF244321}">
                    <p14:modId xmlns:p14="http://schemas.microsoft.com/office/powerpoint/2010/main" val="4153718177"/>
                  </p:ext>
                </p:extLst>
              </p:nvPr>
            </p:nvGraphicFramePr>
            <p:xfrm>
              <a:off x="5153247" y="2779899"/>
              <a:ext cx="6211539" cy="3056890"/>
            </p:xfrm>
            <a:graphic>
              <a:graphicData uri="http://schemas.openxmlformats.org/drawingml/2006/table">
                <a:tbl>
                  <a:tblPr firstRow="1" bandRow="1">
                    <a:tableStyleId>{5C22544A-7EE6-4342-B048-85BDC9FD1C3A}</a:tableStyleId>
                  </a:tblPr>
                  <a:tblGrid>
                    <a:gridCol w="999459">
                      <a:extLst>
                        <a:ext uri="{9D8B030D-6E8A-4147-A177-3AD203B41FA5}">
                          <a16:colId xmlns:a16="http://schemas.microsoft.com/office/drawing/2014/main" val="2915852811"/>
                        </a:ext>
                      </a:extLst>
                    </a:gridCol>
                    <a:gridCol w="640080">
                      <a:extLst>
                        <a:ext uri="{9D8B030D-6E8A-4147-A177-3AD203B41FA5}">
                          <a16:colId xmlns:a16="http://schemas.microsoft.com/office/drawing/2014/main" val="2947037766"/>
                        </a:ext>
                      </a:extLst>
                    </a:gridCol>
                    <a:gridCol w="640080">
                      <a:extLst>
                        <a:ext uri="{9D8B030D-6E8A-4147-A177-3AD203B41FA5}">
                          <a16:colId xmlns:a16="http://schemas.microsoft.com/office/drawing/2014/main" val="1021229486"/>
                        </a:ext>
                      </a:extLst>
                    </a:gridCol>
                    <a:gridCol w="731520">
                      <a:extLst>
                        <a:ext uri="{9D8B030D-6E8A-4147-A177-3AD203B41FA5}">
                          <a16:colId xmlns:a16="http://schemas.microsoft.com/office/drawing/2014/main" val="3455862654"/>
                        </a:ext>
                      </a:extLst>
                    </a:gridCol>
                    <a:gridCol w="731520">
                      <a:extLst>
                        <a:ext uri="{9D8B030D-6E8A-4147-A177-3AD203B41FA5}">
                          <a16:colId xmlns:a16="http://schemas.microsoft.com/office/drawing/2014/main" val="951547925"/>
                        </a:ext>
                      </a:extLst>
                    </a:gridCol>
                    <a:gridCol w="1554480">
                      <a:extLst>
                        <a:ext uri="{9D8B030D-6E8A-4147-A177-3AD203B41FA5}">
                          <a16:colId xmlns:a16="http://schemas.microsoft.com/office/drawing/2014/main" val="1305038350"/>
                        </a:ext>
                      </a:extLst>
                    </a:gridCol>
                    <a:gridCol w="914400">
                      <a:extLst>
                        <a:ext uri="{9D8B030D-6E8A-4147-A177-3AD203B41FA5}">
                          <a16:colId xmlns:a16="http://schemas.microsoft.com/office/drawing/2014/main" val="3391491469"/>
                        </a:ext>
                      </a:extLst>
                    </a:gridCol>
                  </a:tblGrid>
                  <a:tr h="365760">
                    <a:tc>
                      <a:txBody>
                        <a:bodyPr/>
                        <a:lstStyle/>
                        <a:p>
                          <a:r>
                            <a:rPr lang="en-US" sz="1400" dirty="0">
                              <a:solidFill>
                                <a:srgbClr val="000000"/>
                              </a:solidFill>
                            </a:rPr>
                            <a:t> Restaurant </a:t>
                          </a:r>
                          <a:r>
                            <a:rPr lang="en-US" sz="1400" i="1" dirty="0">
                              <a:solidFill>
                                <a:srgbClr val="000000"/>
                              </a:solidFill>
                            </a:rPr>
                            <a:t>i</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endParaRPr lang="en-US"/>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156190" r="-715238" b="-878333"/>
                          </a:stretch>
                        </a:blipFill>
                      </a:tcPr>
                    </a:tc>
                    <a:tc>
                      <a:txBody>
                        <a:bodyPr/>
                        <a:lstStyle/>
                        <a:p>
                          <a:endParaRPr lang="en-US"/>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256190" r="-615238" b="-878333"/>
                          </a:stretch>
                        </a:blipFill>
                      </a:tcPr>
                    </a:tc>
                    <a:tc>
                      <a:txBody>
                        <a:bodyPr/>
                        <a:lstStyle/>
                        <a:p>
                          <a:endParaRPr lang="en-US"/>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311667" r="-438333" b="-878333"/>
                          </a:stretch>
                        </a:blipFill>
                      </a:tcPr>
                    </a:tc>
                    <a:tc>
                      <a:txBody>
                        <a:bodyPr/>
                        <a:lstStyle/>
                        <a:p>
                          <a:endParaRPr lang="en-US"/>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408264" r="-334711" b="-878333"/>
                          </a:stretch>
                        </a:blipFill>
                      </a:tcPr>
                    </a:tc>
                    <a:tc>
                      <a:txBody>
                        <a:bodyPr/>
                        <a:lstStyle/>
                        <a:p>
                          <a:endParaRPr lang="en-US"/>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241176" r="-58824" b="-878333"/>
                          </a:stretch>
                        </a:blipFill>
                      </a:tcPr>
                    </a:tc>
                    <a:tc>
                      <a:txBody>
                        <a:bodyPr/>
                        <a:lstStyle/>
                        <a:p>
                          <a:endParaRPr lang="en-US"/>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580000" b="-878333"/>
                          </a:stretch>
                        </a:blipFill>
                      </a:tcPr>
                    </a:tc>
                    <a:extLst>
                      <a:ext uri="{0D108BD9-81ED-4DB2-BD59-A6C34878D82A}">
                        <a16:rowId xmlns:a16="http://schemas.microsoft.com/office/drawing/2014/main" val="3631184426"/>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58</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-12</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-72</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864</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144</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561273509"/>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105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403820975"/>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-42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252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36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766831002"/>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118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72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36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213302503"/>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117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30692175"/>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137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76735034"/>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157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162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36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742985813"/>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169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39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234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36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289561230"/>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149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152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822458864"/>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a:t>
                          </a:r>
                          <a:r>
                            <a:rPr lang="en-US" sz="1400" b="0" i="0" u="sng" strike="noStrike" kern="1200" dirty="0">
                              <a:solidFill>
                                <a:srgbClr val="000000"/>
                              </a:solidFill>
                              <a:effectLst/>
                              <a:latin typeface="Cambria Math" panose="02040503050406030204" pitchFamily="18" charset="0"/>
                              <a:ea typeface="Cambria Math" panose="02040503050406030204" pitchFamily="18" charset="0"/>
                              <a:cs typeface="+mn-cs"/>
                            </a:rPr>
                            <a:t>   26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1752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a:t>
                          </a:r>
                          <a:r>
                            <a:rPr lang="en-US" sz="1400" b="0" i="0" u="sng" strike="noStrike" kern="1200" dirty="0">
                              <a:solidFill>
                                <a:srgbClr val="000000"/>
                              </a:solidFill>
                              <a:effectLst/>
                              <a:latin typeface="Cambria Math" panose="02040503050406030204" pitchFamily="18" charset="0"/>
                              <a:ea typeface="Cambria Math" panose="02040503050406030204" pitchFamily="18" charset="0"/>
                              <a:cs typeface="+mn-cs"/>
                            </a:rPr>
                            <a:t>   202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4603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72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a:t>
                          </a:r>
                          <a:r>
                            <a:rPr lang="en-US" sz="1400" b="0" i="0" u="sng" strike="noStrike" kern="1200" dirty="0">
                              <a:solidFill>
                                <a:srgbClr val="000000"/>
                              </a:solidFill>
                              <a:effectLst/>
                              <a:latin typeface="Cambria Math" panose="02040503050406030204" pitchFamily="18" charset="0"/>
                              <a:ea typeface="Cambria Math" panose="02040503050406030204" pitchFamily="18" charset="0"/>
                              <a:cs typeface="+mn-cs"/>
                            </a:rPr>
                            <a:t>   864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574675"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a:t>
                          </a:r>
                          <a:r>
                            <a:rPr lang="en-US" sz="1400" b="0" i="0" u="sng" strike="noStrike" kern="1200" dirty="0">
                              <a:solidFill>
                                <a:srgbClr val="000000"/>
                              </a:solidFill>
                              <a:effectLst/>
                              <a:latin typeface="Cambria Math" panose="02040503050406030204" pitchFamily="18" charset="0"/>
                              <a:ea typeface="Cambria Math" panose="02040503050406030204" pitchFamily="18" charset="0"/>
                              <a:cs typeface="+mn-cs"/>
                            </a:rPr>
                            <a:t> 144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127456605"/>
                      </a:ext>
                    </a:extLst>
                  </a:tr>
                  <a:tr h="219710">
                    <a:tc>
                      <a:txBody>
                        <a:bodyPr/>
                        <a:lstStyle/>
                        <a:p>
                          <a:pPr algn="l" fontAlgn="b"/>
                          <a:endParaRPr lang="en-US" sz="1400" b="0" i="0" u="none" strike="noStrike">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140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1300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400" b="0" i="0" u="none" strike="noStrike">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914400"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2840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568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824077681"/>
                      </a:ext>
                    </a:extLst>
                  </a:tr>
                  <a:tr h="274320">
                    <a:tc>
                      <a:txBody>
                        <a:bodyPr/>
                        <a:lstStyle/>
                        <a:p>
                          <a:endParaRPr lang="en-US" sz="1400" dirty="0">
                            <a:solidFill>
                              <a:srgbClr val="000000"/>
                            </a:solidFill>
                            <a:latin typeface="Cambria Math" panose="02040503050406030204" pitchFamily="18" charset="0"/>
                            <a:ea typeface="Cambria Math" panose="02040503050406030204" pitchFamily="18"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endParaRPr lang="en-US"/>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l="-156190" t="-1015556" r="-715238" b="-188889"/>
                          </a:stretch>
                        </a:blipFill>
                      </a:tcPr>
                    </a:tc>
                    <a:tc>
                      <a:txBody>
                        <a:bodyPr/>
                        <a:lstStyle/>
                        <a:p>
                          <a:endParaRPr lang="en-US"/>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l="-256190" t="-1015556" r="-615238" b="-188889"/>
                          </a:stretch>
                        </a:blipFill>
                      </a:tcPr>
                    </a:tc>
                    <a:tc>
                      <a:txBody>
                        <a:bodyPr/>
                        <a:lstStyle/>
                        <a:p>
                          <a:endParaRPr lang="en-US" sz="1400" dirty="0">
                            <a:solidFill>
                              <a:srgbClr val="000000"/>
                            </a:solidFill>
                            <a:latin typeface="Cambria Math" panose="02040503050406030204" pitchFamily="18" charset="0"/>
                            <a:ea typeface="Cambria Math" panose="02040503050406030204" pitchFamily="18"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endParaRPr lang="en-US" sz="1400" dirty="0">
                            <a:solidFill>
                              <a:srgbClr val="000000"/>
                            </a:solidFill>
                            <a:latin typeface="Cambria Math" panose="02040503050406030204" pitchFamily="18" charset="0"/>
                            <a:ea typeface="Cambria Math" panose="02040503050406030204" pitchFamily="18"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endParaRPr lang="en-US"/>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l="-241176" t="-1015556" r="-58824" b="-188889"/>
                          </a:stretch>
                        </a:blipFill>
                      </a:tcPr>
                    </a:tc>
                    <a:tc>
                      <a:txBody>
                        <a:bodyPr/>
                        <a:lstStyle/>
                        <a:p>
                          <a:endParaRPr lang="en-US"/>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l="-580000" t="-1015556" b="-188889"/>
                          </a:stretch>
                        </a:blipFill>
                      </a:tcPr>
                    </a:tc>
                    <a:extLst>
                      <a:ext uri="{0D108BD9-81ED-4DB2-BD59-A6C34878D82A}">
                        <a16:rowId xmlns:a16="http://schemas.microsoft.com/office/drawing/2014/main" val="2541339010"/>
                      </a:ext>
                    </a:extLst>
                  </a:tr>
                </a:tbl>
              </a:graphicData>
            </a:graphic>
          </p:graphicFrame>
        </mc:Fallback>
      </mc:AlternateContent>
    </p:spTree>
    <p:extLst>
      <p:ext uri="{BB962C8B-B14F-4D97-AF65-F5344CB8AC3E}">
        <p14:creationId xmlns:p14="http://schemas.microsoft.com/office/powerpoint/2010/main" val="2153689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BD4B4-EE30-4C50-A2C3-1CBC00F5C273}"/>
              </a:ext>
            </a:extLst>
          </p:cNvPr>
          <p:cNvSpPr>
            <a:spLocks noGrp="1"/>
          </p:cNvSpPr>
          <p:nvPr>
            <p:ph type="title"/>
          </p:nvPr>
        </p:nvSpPr>
        <p:spPr>
          <a:xfrm>
            <a:off x="612473" y="365125"/>
            <a:ext cx="10978852" cy="672105"/>
          </a:xfrm>
        </p:spPr>
        <p:txBody>
          <a:bodyPr/>
          <a:lstStyle/>
          <a:p>
            <a:r>
              <a:rPr lang="en-US" sz="3200" dirty="0"/>
              <a:t>14.2 Interpretation of the Estimated Regression Equation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A924D5B-5F9E-D5AA-6985-4E8C08F1DD03}"/>
                  </a:ext>
                </a:extLst>
              </p:cNvPr>
              <p:cNvSpPr>
                <a:spLocks noGrp="1"/>
              </p:cNvSpPr>
              <p:nvPr>
                <p:ph type="body" sz="quarter" idx="15"/>
              </p:nvPr>
            </p:nvSpPr>
            <p:spPr>
              <a:xfrm>
                <a:off x="709452" y="1461300"/>
                <a:ext cx="10644348" cy="672105"/>
              </a:xfrm>
            </p:spPr>
            <p:txBody>
              <a:bodyPr/>
              <a:lstStyle/>
              <a:p>
                <a:pPr>
                  <a:spcAft>
                    <a:spcPts val="0"/>
                  </a:spcAft>
                </a:pPr>
                <a:r>
                  <a:rPr lang="en-US" sz="2000" dirty="0"/>
                  <a:t>The slope of the estimated regression equation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𝑏</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=5</m:t>
                    </m:r>
                  </m:oMath>
                </a14:m>
                <a:r>
                  <a:rPr lang="en-US" sz="2000" dirty="0"/>
                  <a:t>) is positive, implying that as the student population increases, sales also increase. </a:t>
                </a:r>
              </a:p>
              <a:p>
                <a:endParaRPr lang="en-US" dirty="0"/>
              </a:p>
            </p:txBody>
          </p:sp>
        </mc:Choice>
        <mc:Fallback xmlns="">
          <p:sp>
            <p:nvSpPr>
              <p:cNvPr id="3" name="Text Placeholder 2">
                <a:extLst>
                  <a:ext uri="{FF2B5EF4-FFF2-40B4-BE49-F238E27FC236}">
                    <a16:creationId xmlns:a16="http://schemas.microsoft.com/office/drawing/2014/main" id="{0A924D5B-5F9E-D5AA-6985-4E8C08F1DD03}"/>
                  </a:ext>
                </a:extLst>
              </p:cNvPr>
              <p:cNvSpPr>
                <a:spLocks noGrp="1" noRot="1" noChangeAspect="1" noMove="1" noResize="1" noEditPoints="1" noAdjustHandles="1" noChangeArrowheads="1" noChangeShapeType="1" noTextEdit="1"/>
              </p:cNvSpPr>
              <p:nvPr>
                <p:ph type="body" sz="quarter" idx="15"/>
              </p:nvPr>
            </p:nvSpPr>
            <p:spPr>
              <a:xfrm>
                <a:off x="709452" y="1461300"/>
                <a:ext cx="10644348" cy="672105"/>
              </a:xfrm>
              <a:blipFill>
                <a:blip r:embed="rId3"/>
                <a:stretch>
                  <a:fillRect l="-1431" t="-10909" b="-1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073527B5-1A1D-CB8E-D485-92FB4F8BBFB1}"/>
                  </a:ext>
                </a:extLst>
              </p:cNvPr>
              <p:cNvSpPr>
                <a:spLocks noGrp="1"/>
              </p:cNvSpPr>
              <p:nvPr>
                <p:ph type="body" sz="quarter" idx="17"/>
              </p:nvPr>
            </p:nvSpPr>
            <p:spPr>
              <a:xfrm>
                <a:off x="717334" y="2125523"/>
                <a:ext cx="5809258" cy="3467201"/>
              </a:xfrm>
            </p:spPr>
            <p:txBody>
              <a:bodyPr/>
              <a:lstStyle/>
              <a:p>
                <a:pPr>
                  <a:spcAft>
                    <a:spcPts val="600"/>
                  </a:spcAft>
                </a:pPr>
                <a:r>
                  <a:rPr lang="en-US" sz="2000" dirty="0"/>
                  <a:t>We can conclude that quarterly sales are expected to increase by</a:t>
                </a:r>
                <a:endParaRPr lang="en-US" sz="2000" i="1" dirty="0">
                  <a:latin typeface="Cambria Math" panose="02040503050406030204" pitchFamily="18" charset="0"/>
                  <a:cs typeface="Arial" panose="020B0604020202020204" pitchFamily="34" charset="0"/>
                </a:endParaRPr>
              </a:p>
              <a:p>
                <a:pPr marL="457200">
                  <a:spcAft>
                    <a:spcPts val="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𝑏</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=5 </m:t>
                      </m:r>
                      <m:d>
                        <m:dPr>
                          <m:begChr m:val="["/>
                          <m:endChr m:val="]"/>
                          <m:ctrlPr>
                            <a:rPr lang="en-US" sz="2000" b="0" i="1" smtClean="0">
                              <a:latin typeface="Cambria Math" panose="02040503050406030204" pitchFamily="18" charset="0"/>
                              <a:cs typeface="Arial" panose="020B0604020202020204" pitchFamily="34" charset="0"/>
                            </a:rPr>
                          </m:ctrlPr>
                        </m:dPr>
                        <m:e>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$1,000</m:t>
                              </m:r>
                            </m:num>
                            <m:den>
                              <m:r>
                                <a:rPr lang="en-US" sz="2000" b="0" i="1" smtClean="0">
                                  <a:latin typeface="Cambria Math" panose="02040503050406030204" pitchFamily="18" charset="0"/>
                                  <a:cs typeface="Arial" panose="020B0604020202020204" pitchFamily="34" charset="0"/>
                                </a:rPr>
                                <m:t>1,000 </m:t>
                              </m:r>
                              <m:r>
                                <m:rPr>
                                  <m:nor/>
                                </m:rPr>
                                <a:rPr lang="en-US" sz="2000" b="0" i="0" smtClean="0">
                                  <a:latin typeface="Cambria Math" panose="02040503050406030204" pitchFamily="18" charset="0"/>
                                  <a:cs typeface="Arial" panose="020B0604020202020204" pitchFamily="34" charset="0"/>
                                </a:rPr>
                                <m:t>students</m:t>
                              </m:r>
                            </m:den>
                          </m:f>
                        </m:e>
                      </m:d>
                      <m:r>
                        <a:rPr lang="en-US" sz="2000" b="0" i="1" smtClean="0">
                          <a:latin typeface="Cambria Math" panose="02040503050406030204" pitchFamily="18" charset="0"/>
                          <a:cs typeface="Arial" panose="020B0604020202020204" pitchFamily="34" charset="0"/>
                        </a:rPr>
                        <m:t>=$5 </m:t>
                      </m:r>
                      <m:r>
                        <m:rPr>
                          <m:nor/>
                        </m:rPr>
                        <a:rPr lang="en-US" sz="2000" b="0" i="0" smtClean="0">
                          <a:latin typeface="Cambria Math" panose="02040503050406030204" pitchFamily="18" charset="0"/>
                          <a:cs typeface="Arial" panose="020B0604020202020204" pitchFamily="34" charset="0"/>
                        </a:rPr>
                        <m:t>per</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student</m:t>
                      </m:r>
                    </m:oMath>
                  </m:oMathPara>
                </a14:m>
                <a:endParaRPr lang="en-US" sz="2000" dirty="0"/>
              </a:p>
              <a:p>
                <a:pPr>
                  <a:spcAft>
                    <a:spcPts val="600"/>
                  </a:spcAft>
                </a:pPr>
                <a:r>
                  <a:rPr lang="en-US" sz="2000" dirty="0"/>
                  <a:t>We can also use the estimated regression equation to predict the value of </a:t>
                </a:r>
                <a:r>
                  <a:rPr lang="en-US" sz="2000" dirty="0">
                    <a:latin typeface="Arial" panose="020B0604020202020204" pitchFamily="34" charset="0"/>
                    <a:cs typeface="Arial" panose="020B0604020202020204" pitchFamily="34" charset="0"/>
                  </a:rPr>
                  <a:t>𝑦</a:t>
                </a:r>
                <a:r>
                  <a:rPr lang="en-US" sz="2000" dirty="0"/>
                  <a:t> for a given value of </a:t>
                </a:r>
                <a:r>
                  <a:rPr lang="en-US" sz="2000" dirty="0">
                    <a:latin typeface="Arial" panose="020B0604020202020204" pitchFamily="34" charset="0"/>
                    <a:cs typeface="Arial" panose="020B0604020202020204" pitchFamily="34" charset="0"/>
                  </a:rPr>
                  <a:t>𝑥</a:t>
                </a:r>
                <a:r>
                  <a:rPr lang="en-US" sz="2000" dirty="0"/>
                  <a:t>. For a restaurant located near a 16,000 students’ campus</a:t>
                </a:r>
              </a:p>
              <a:p>
                <a:pPr marL="457200">
                  <a:spcAft>
                    <a:spcPts val="0"/>
                  </a:spcAft>
                </a:pPr>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rPr>
                          </m:ctrlPr>
                        </m:accPr>
                        <m:e>
                          <m:r>
                            <a:rPr lang="en-US" sz="2000" b="0" i="1">
                              <a:latin typeface="Cambria Math" panose="02040503050406030204" pitchFamily="18" charset="0"/>
                            </a:rPr>
                            <m:t>𝑦</m:t>
                          </m:r>
                        </m:e>
                      </m:acc>
                      <m:r>
                        <a:rPr lang="en-US" sz="2000" b="0" i="1" smtClean="0">
                          <a:latin typeface="Cambria Math" panose="02040503050406030204" pitchFamily="18" charset="0"/>
                        </a:rPr>
                        <m:t>=60+5</m:t>
                      </m:r>
                      <m:r>
                        <a:rPr lang="en-US" sz="2000" b="0" i="1" smtClean="0">
                          <a:latin typeface="Cambria Math" panose="02040503050406030204" pitchFamily="18" charset="0"/>
                        </a:rPr>
                        <m:t>𝑥</m:t>
                      </m:r>
                      <m:r>
                        <a:rPr lang="en-US" sz="2000" b="0" i="1" smtClean="0">
                          <a:latin typeface="Cambria Math" panose="02040503050406030204" pitchFamily="18" charset="0"/>
                        </a:rPr>
                        <m:t>=60+5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16</m:t>
                          </m:r>
                        </m:e>
                      </m:d>
                      <m:r>
                        <a:rPr lang="en-US" sz="2000" b="0" i="1" smtClean="0">
                          <a:latin typeface="Cambria Math" panose="02040503050406030204" pitchFamily="18" charset="0"/>
                        </a:rPr>
                        <m:t>=140 [$1,000]</m:t>
                      </m:r>
                    </m:oMath>
                  </m:oMathPara>
                </a14:m>
                <a:endParaRPr lang="en-US" sz="2000" dirty="0"/>
              </a:p>
              <a:p>
                <a:pPr>
                  <a:spcAft>
                    <a:spcPts val="600"/>
                  </a:spcAft>
                </a:pPr>
                <a:r>
                  <a:rPr lang="en-US" sz="2000" dirty="0"/>
                  <a:t>Hence, we predict quarterly sales of $140,000 for this restaurant (* see notes.)</a:t>
                </a:r>
              </a:p>
              <a:p>
                <a:pPr>
                  <a:spcAft>
                    <a:spcPts val="600"/>
                  </a:spcAft>
                </a:pPr>
                <a:endParaRPr lang="en-US" dirty="0"/>
              </a:p>
            </p:txBody>
          </p:sp>
        </mc:Choice>
        <mc:Fallback xmlns="">
          <p:sp>
            <p:nvSpPr>
              <p:cNvPr id="5" name="Text Placeholder 4">
                <a:extLst>
                  <a:ext uri="{FF2B5EF4-FFF2-40B4-BE49-F238E27FC236}">
                    <a16:creationId xmlns:a16="http://schemas.microsoft.com/office/drawing/2014/main" id="{073527B5-1A1D-CB8E-D485-92FB4F8BBFB1}"/>
                  </a:ext>
                </a:extLst>
              </p:cNvPr>
              <p:cNvSpPr>
                <a:spLocks noGrp="1" noRot="1" noChangeAspect="1" noMove="1" noResize="1" noEditPoints="1" noAdjustHandles="1" noChangeArrowheads="1" noChangeShapeType="1" noTextEdit="1"/>
              </p:cNvSpPr>
              <p:nvPr>
                <p:ph type="body" sz="quarter" idx="17"/>
              </p:nvPr>
            </p:nvSpPr>
            <p:spPr>
              <a:xfrm>
                <a:off x="717334" y="2125523"/>
                <a:ext cx="5809258" cy="3467201"/>
              </a:xfrm>
              <a:blipFill>
                <a:blip r:embed="rId4"/>
                <a:stretch>
                  <a:fillRect l="-2728" t="-2113" r="-3463" b="-3345"/>
                </a:stretch>
              </a:blipFill>
            </p:spPr>
            <p:txBody>
              <a:bodyPr/>
              <a:lstStyle/>
              <a:p>
                <a:r>
                  <a:rPr lang="en-US">
                    <a:noFill/>
                  </a:rPr>
                  <a:t> </a:t>
                </a:r>
              </a:p>
            </p:txBody>
          </p:sp>
        </mc:Fallback>
      </mc:AlternateContent>
      <p:pic>
        <p:nvPicPr>
          <p:cNvPr id="7" name="Picture Placeholder 6" descr="A scatter diagram with 10 data points and a regression line plots quarterly sales versus student population. The horizontal axis is labeled “Student Population (1000s)” and ranges from 0 to 26 with tickmarks in increments of 2. The vertical axis is labeled “Quarterly Sales ($1000s)” and ranges from 0 to 220 with tickmarks in increments of 20. The coordinates of the points are (2, 58), (6, 105), (8, 88), (8, 118), (12, 117), (16, 137), (20, 157), (20, 169), (22, 149), and (26, 202). (0, 60) is labeled “y intercept b_0 = 60.” The regression line labeled “y-hat = 60 + 5x” starts from (0, 60) and slopes upward through (26, 185). Slope b_1 = 5. All data are approximate. &#10;">
            <a:extLst>
              <a:ext uri="{FF2B5EF4-FFF2-40B4-BE49-F238E27FC236}">
                <a16:creationId xmlns:a16="http://schemas.microsoft.com/office/drawing/2014/main" id="{BE891B19-F81C-0759-EE88-3EBD06FF014C}"/>
              </a:ext>
            </a:extLst>
          </p:cNvPr>
          <p:cNvPicPr>
            <a:picLocks noGrp="1" noChangeAspect="1"/>
          </p:cNvPicPr>
          <p:nvPr>
            <p:ph type="pic" sz="quarter" idx="16"/>
          </p:nvPr>
        </p:nvPicPr>
        <p:blipFill rotWithShape="1">
          <a:blip r:embed="rId5"/>
          <a:srcRect t="102" b="102"/>
          <a:stretch/>
        </p:blipFill>
        <p:spPr>
          <a:xfrm>
            <a:off x="6569779" y="2005212"/>
            <a:ext cx="4799567" cy="3854670"/>
          </a:xfrm>
        </p:spPr>
      </p:pic>
    </p:spTree>
    <p:extLst>
      <p:ext uri="{BB962C8B-B14F-4D97-AF65-F5344CB8AC3E}">
        <p14:creationId xmlns:p14="http://schemas.microsoft.com/office/powerpoint/2010/main" val="2401325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25894E"/>
                </a:solidFill>
              </a:rPr>
              <a:t>14.2 Excel: Construct and Edit a Scatter Diagram</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114425"/>
            <a:ext cx="10711543" cy="4900609"/>
          </a:xfrm>
        </p:spPr>
        <p:txBody>
          <a:bodyPr/>
          <a:lstStyle/>
          <a:p>
            <a:pPr>
              <a:lnSpc>
                <a:spcPct val="100000"/>
              </a:lnSpc>
              <a:spcBef>
                <a:spcPts val="600"/>
              </a:spcBef>
              <a:spcAft>
                <a:spcPts val="0"/>
              </a:spcAft>
            </a:pPr>
            <a:r>
              <a:rPr lang="en-US" sz="2000" dirty="0">
                <a:solidFill>
                  <a:srgbClr val="000000"/>
                </a:solidFill>
                <a:cs typeface="Arial" panose="020B0604020202020204" pitchFamily="34" charset="0"/>
              </a:rPr>
              <a:t>We can use Excel to construct a scatter diagram, display the estimated regression line, and display the estimated regression equation for the Armand's Pizza Parlors data. </a:t>
            </a:r>
          </a:p>
          <a:p>
            <a:pPr marL="914400" indent="-342900">
              <a:lnSpc>
                <a:spcPct val="100000"/>
              </a:lnSpc>
              <a:spcBef>
                <a:spcPts val="600"/>
              </a:spcBef>
              <a:spcAft>
                <a:spcPts val="0"/>
              </a:spcAft>
              <a:buFont typeface="Arial" panose="020B0604020202020204" pitchFamily="34" charset="0"/>
              <a:buChar char="•"/>
            </a:pPr>
            <a:r>
              <a:rPr lang="en-US" sz="2000" dirty="0">
                <a:solidFill>
                  <a:srgbClr val="000000"/>
                </a:solidFill>
                <a:cs typeface="Arial" panose="020B0604020202020204" pitchFamily="34" charset="0"/>
              </a:rPr>
              <a:t>Refer to the figure in the next slide as we describe the tasks involved.</a:t>
            </a:r>
          </a:p>
          <a:p>
            <a:pPr>
              <a:lnSpc>
                <a:spcPct val="100000"/>
              </a:lnSpc>
              <a:spcAft>
                <a:spcPts val="0"/>
              </a:spcAft>
            </a:pPr>
            <a:r>
              <a:rPr lang="en-US" sz="2000" b="1" dirty="0">
                <a:solidFill>
                  <a:srgbClr val="000000"/>
                </a:solidFill>
                <a:cs typeface="Arial" panose="020B0604020202020204" pitchFamily="34" charset="0"/>
              </a:rPr>
              <a:t>Enter/Access Data</a:t>
            </a:r>
            <a:r>
              <a:rPr lang="en-US" sz="2000" dirty="0">
                <a:solidFill>
                  <a:srgbClr val="000000"/>
                </a:solidFill>
                <a:cs typeface="Arial" panose="020B0604020202020204" pitchFamily="34" charset="0"/>
              </a:rPr>
              <a:t>: Open the file </a:t>
            </a:r>
            <a:r>
              <a:rPr lang="en-US" sz="2000" i="1" dirty="0" err="1">
                <a:solidFill>
                  <a:srgbClr val="000000"/>
                </a:solidFill>
                <a:cs typeface="Arial" panose="020B0604020202020204" pitchFamily="34" charset="0"/>
              </a:rPr>
              <a:t>armands</a:t>
            </a:r>
            <a:r>
              <a:rPr lang="en-US" sz="2000" dirty="0">
                <a:solidFill>
                  <a:srgbClr val="000000"/>
                </a:solidFill>
                <a:cs typeface="Arial" panose="020B0604020202020204" pitchFamily="34" charset="0"/>
              </a:rPr>
              <a:t>. Data and labels are in cells A1:C11.</a:t>
            </a:r>
          </a:p>
          <a:p>
            <a:pPr>
              <a:lnSpc>
                <a:spcPct val="100000"/>
              </a:lnSpc>
              <a:spcBef>
                <a:spcPts val="600"/>
              </a:spcBef>
              <a:spcAft>
                <a:spcPts val="0"/>
              </a:spcAft>
            </a:pPr>
            <a:r>
              <a:rPr lang="en-US" sz="2000" b="1" dirty="0">
                <a:solidFill>
                  <a:srgbClr val="000000"/>
                </a:solidFill>
                <a:cs typeface="Arial" panose="020B0604020202020204" pitchFamily="34" charset="0"/>
              </a:rPr>
              <a:t>Apply Tools</a:t>
            </a:r>
            <a:r>
              <a:rPr lang="en-US" sz="2000" dirty="0">
                <a:solidFill>
                  <a:srgbClr val="000000"/>
                </a:solidFill>
                <a:cs typeface="Arial" panose="020B0604020202020204" pitchFamily="34" charset="0"/>
              </a:rPr>
              <a:t>: The following steps describe how to construct a scatter diagram.</a:t>
            </a:r>
          </a:p>
          <a:p>
            <a:pPr marL="457200">
              <a:lnSpc>
                <a:spcPct val="100000"/>
              </a:lnSpc>
              <a:spcBef>
                <a:spcPts val="400"/>
              </a:spcBef>
              <a:spcAft>
                <a:spcPts val="0"/>
              </a:spcAft>
            </a:pPr>
            <a:r>
              <a:rPr lang="en-US" sz="1800" b="1" dirty="0">
                <a:solidFill>
                  <a:srgbClr val="000000"/>
                </a:solidFill>
                <a:cs typeface="Arial" panose="020B0604020202020204" pitchFamily="34" charset="0"/>
              </a:rPr>
              <a:t>Step 1</a:t>
            </a:r>
            <a:r>
              <a:rPr lang="en-US" sz="1800" dirty="0">
                <a:solidFill>
                  <a:srgbClr val="000000"/>
                </a:solidFill>
                <a:cs typeface="Arial" panose="020B0604020202020204" pitchFamily="34" charset="0"/>
              </a:rPr>
              <a:t>. Select cells B2:C11.</a:t>
            </a:r>
          </a:p>
          <a:p>
            <a:pPr marL="457200">
              <a:lnSpc>
                <a:spcPct val="100000"/>
              </a:lnSpc>
              <a:spcBef>
                <a:spcPts val="400"/>
              </a:spcBef>
              <a:spcAft>
                <a:spcPts val="0"/>
              </a:spcAft>
            </a:pPr>
            <a:r>
              <a:rPr lang="en-US" sz="1800" b="1" dirty="0">
                <a:solidFill>
                  <a:srgbClr val="000000"/>
                </a:solidFill>
                <a:cs typeface="Arial" panose="020B0604020202020204" pitchFamily="34" charset="0"/>
              </a:rPr>
              <a:t>Step 2</a:t>
            </a:r>
            <a:r>
              <a:rPr lang="en-US" sz="1800" dirty="0">
                <a:solidFill>
                  <a:srgbClr val="000000"/>
                </a:solidFill>
                <a:cs typeface="Arial" panose="020B0604020202020204" pitchFamily="34" charset="0"/>
              </a:rPr>
              <a:t>. Click the </a:t>
            </a:r>
            <a:r>
              <a:rPr lang="en-US" sz="1800" b="1" dirty="0">
                <a:solidFill>
                  <a:srgbClr val="000000"/>
                </a:solidFill>
                <a:cs typeface="Arial" panose="020B0604020202020204" pitchFamily="34" charset="0"/>
              </a:rPr>
              <a:t>Insert</a:t>
            </a:r>
            <a:r>
              <a:rPr lang="en-US" sz="1800" dirty="0">
                <a:solidFill>
                  <a:srgbClr val="000000"/>
                </a:solidFill>
                <a:cs typeface="Arial" panose="020B0604020202020204" pitchFamily="34" charset="0"/>
              </a:rPr>
              <a:t> tab on the Ribbon</a:t>
            </a:r>
          </a:p>
          <a:p>
            <a:pPr marL="457200">
              <a:lnSpc>
                <a:spcPct val="100000"/>
              </a:lnSpc>
              <a:spcBef>
                <a:spcPts val="400"/>
              </a:spcBef>
              <a:spcAft>
                <a:spcPts val="0"/>
              </a:spcAft>
            </a:pPr>
            <a:r>
              <a:rPr lang="en-US" sz="1800" b="1" dirty="0">
                <a:solidFill>
                  <a:srgbClr val="000000"/>
                </a:solidFill>
                <a:cs typeface="Arial" panose="020B0604020202020204" pitchFamily="34" charset="0"/>
              </a:rPr>
              <a:t>Step 3</a:t>
            </a:r>
            <a:r>
              <a:rPr lang="en-US" sz="1800" dirty="0">
                <a:solidFill>
                  <a:srgbClr val="000000"/>
                </a:solidFill>
                <a:cs typeface="Arial" panose="020B0604020202020204" pitchFamily="34" charset="0"/>
              </a:rPr>
              <a:t>. In the </a:t>
            </a:r>
            <a:r>
              <a:rPr lang="en-US" sz="1800" b="1" dirty="0">
                <a:solidFill>
                  <a:srgbClr val="000000"/>
                </a:solidFill>
                <a:cs typeface="Arial" panose="020B0604020202020204" pitchFamily="34" charset="0"/>
              </a:rPr>
              <a:t>Charts</a:t>
            </a:r>
            <a:r>
              <a:rPr lang="en-US" sz="1800" dirty="0">
                <a:solidFill>
                  <a:srgbClr val="000000"/>
                </a:solidFill>
                <a:cs typeface="Arial" panose="020B0604020202020204" pitchFamily="34" charset="0"/>
              </a:rPr>
              <a:t> group, click </a:t>
            </a:r>
            <a:r>
              <a:rPr lang="en-US" sz="1800" b="1" dirty="0">
                <a:solidFill>
                  <a:srgbClr val="000000"/>
                </a:solidFill>
                <a:cs typeface="Arial" panose="020B0604020202020204" pitchFamily="34" charset="0"/>
              </a:rPr>
              <a:t>Insert Scatter (X,Y) or Bubble Chart</a:t>
            </a:r>
            <a:endParaRPr lang="en-US" sz="1800" dirty="0">
              <a:solidFill>
                <a:srgbClr val="000000"/>
              </a:solidFill>
              <a:cs typeface="Arial" panose="020B0604020202020204" pitchFamily="34" charset="0"/>
            </a:endParaRPr>
          </a:p>
          <a:p>
            <a:pPr marL="457200">
              <a:lnSpc>
                <a:spcPct val="100000"/>
              </a:lnSpc>
              <a:spcBef>
                <a:spcPts val="400"/>
              </a:spcBef>
              <a:spcAft>
                <a:spcPts val="0"/>
              </a:spcAft>
            </a:pPr>
            <a:r>
              <a:rPr lang="en-US" sz="1800" b="1" dirty="0">
                <a:solidFill>
                  <a:srgbClr val="000000"/>
                </a:solidFill>
                <a:cs typeface="Arial" panose="020B0604020202020204" pitchFamily="34" charset="0"/>
              </a:rPr>
              <a:t>Step 4</a:t>
            </a:r>
            <a:r>
              <a:rPr lang="en-US" sz="1800" dirty="0">
                <a:solidFill>
                  <a:srgbClr val="000000"/>
                </a:solidFill>
                <a:cs typeface="Arial" panose="020B0604020202020204" pitchFamily="34" charset="0"/>
              </a:rPr>
              <a:t>. When the list of scatter diagram subtypes appears, click </a:t>
            </a:r>
            <a:r>
              <a:rPr lang="en-US" sz="1800" b="1" dirty="0">
                <a:solidFill>
                  <a:srgbClr val="000000"/>
                </a:solidFill>
                <a:cs typeface="Arial" panose="020B0604020202020204" pitchFamily="34" charset="0"/>
              </a:rPr>
              <a:t>Scatter</a:t>
            </a:r>
            <a:r>
              <a:rPr lang="en-US" sz="1800" dirty="0">
                <a:solidFill>
                  <a:srgbClr val="000000"/>
                </a:solidFill>
                <a:cs typeface="Arial" panose="020B0604020202020204" pitchFamily="34" charset="0"/>
              </a:rPr>
              <a:t>.</a:t>
            </a:r>
          </a:p>
          <a:p>
            <a:pPr>
              <a:lnSpc>
                <a:spcPct val="100000"/>
              </a:lnSpc>
              <a:spcAft>
                <a:spcPts val="0"/>
              </a:spcAft>
            </a:pPr>
            <a:r>
              <a:rPr lang="en-US" sz="2000" b="1" dirty="0">
                <a:solidFill>
                  <a:srgbClr val="000000"/>
                </a:solidFill>
                <a:cs typeface="Arial" panose="020B0604020202020204" pitchFamily="34" charset="0"/>
              </a:rPr>
              <a:t>Editing Options</a:t>
            </a:r>
            <a:r>
              <a:rPr lang="en-US" sz="2000" dirty="0">
                <a:solidFill>
                  <a:srgbClr val="000000"/>
                </a:solidFill>
                <a:cs typeface="Arial" panose="020B0604020202020204" pitchFamily="34" charset="0"/>
              </a:rPr>
              <a:t>: You can edit the scatter diagram to add a chart title and axis titles.</a:t>
            </a:r>
          </a:p>
          <a:p>
            <a:pPr marL="457200">
              <a:lnSpc>
                <a:spcPct val="100000"/>
              </a:lnSpc>
              <a:spcBef>
                <a:spcPts val="400"/>
              </a:spcBef>
              <a:spcAft>
                <a:spcPts val="0"/>
              </a:spcAft>
            </a:pPr>
            <a:r>
              <a:rPr lang="en-US" sz="1800" b="1" dirty="0">
                <a:solidFill>
                  <a:srgbClr val="000000"/>
                </a:solidFill>
                <a:cs typeface="Arial" panose="020B0604020202020204" pitchFamily="34" charset="0"/>
              </a:rPr>
              <a:t>Step 1</a:t>
            </a:r>
            <a:r>
              <a:rPr lang="en-US" sz="1800" dirty="0">
                <a:solidFill>
                  <a:srgbClr val="000000"/>
                </a:solidFill>
                <a:cs typeface="Arial" panose="020B0604020202020204" pitchFamily="34" charset="0"/>
              </a:rPr>
              <a:t>. Click the </a:t>
            </a:r>
            <a:r>
              <a:rPr lang="en-US" sz="1800" b="1" dirty="0">
                <a:solidFill>
                  <a:srgbClr val="000000"/>
                </a:solidFill>
                <a:cs typeface="Arial" panose="020B0604020202020204" pitchFamily="34" charset="0"/>
              </a:rPr>
              <a:t>Chart Title </a:t>
            </a:r>
            <a:r>
              <a:rPr lang="en-US" sz="1800" dirty="0">
                <a:solidFill>
                  <a:srgbClr val="000000"/>
                </a:solidFill>
                <a:cs typeface="Arial" panose="020B0604020202020204" pitchFamily="34" charset="0"/>
              </a:rPr>
              <a:t>and replace it with </a:t>
            </a:r>
            <a:r>
              <a:rPr lang="en-US" sz="1800" i="1" dirty="0">
                <a:solidFill>
                  <a:srgbClr val="000000"/>
                </a:solidFill>
                <a:cs typeface="Arial" panose="020B0604020202020204" pitchFamily="34" charset="0"/>
              </a:rPr>
              <a:t>Armand’s Pizza Parlors</a:t>
            </a:r>
          </a:p>
          <a:p>
            <a:pPr marL="457200">
              <a:lnSpc>
                <a:spcPct val="100000"/>
              </a:lnSpc>
              <a:spcBef>
                <a:spcPts val="400"/>
              </a:spcBef>
              <a:spcAft>
                <a:spcPts val="0"/>
              </a:spcAft>
            </a:pPr>
            <a:r>
              <a:rPr lang="en-US" sz="1800" b="1" dirty="0">
                <a:solidFill>
                  <a:srgbClr val="000000"/>
                </a:solidFill>
                <a:cs typeface="Arial" panose="020B0604020202020204" pitchFamily="34" charset="0"/>
              </a:rPr>
              <a:t>Step 2</a:t>
            </a:r>
            <a:r>
              <a:rPr lang="en-US" sz="1800" dirty="0">
                <a:solidFill>
                  <a:srgbClr val="000000"/>
                </a:solidFill>
                <a:cs typeface="Arial" panose="020B0604020202020204" pitchFamily="34" charset="0"/>
              </a:rPr>
              <a:t>. Click the </a:t>
            </a:r>
            <a:r>
              <a:rPr lang="en-US" sz="1800" b="1" dirty="0">
                <a:solidFill>
                  <a:srgbClr val="000000"/>
                </a:solidFill>
                <a:cs typeface="Arial" panose="020B0604020202020204" pitchFamily="34" charset="0"/>
              </a:rPr>
              <a:t>Chart Elements </a:t>
            </a:r>
            <a:r>
              <a:rPr lang="en-US" sz="1800" dirty="0">
                <a:solidFill>
                  <a:srgbClr val="000000"/>
                </a:solidFill>
                <a:cs typeface="Arial" panose="020B0604020202020204" pitchFamily="34" charset="0"/>
              </a:rPr>
              <a:t>button (located next to </a:t>
            </a:r>
            <a:r>
              <a:rPr lang="en-US" sz="1800">
                <a:solidFill>
                  <a:srgbClr val="000000"/>
                </a:solidFill>
                <a:cs typeface="Arial" panose="020B0604020202020204" pitchFamily="34" charset="0"/>
              </a:rPr>
              <a:t>the top-right </a:t>
            </a:r>
            <a:r>
              <a:rPr lang="en-US" sz="1800" dirty="0">
                <a:solidFill>
                  <a:srgbClr val="000000"/>
                </a:solidFill>
                <a:cs typeface="Arial" panose="020B0604020202020204" pitchFamily="34" charset="0"/>
              </a:rPr>
              <a:t>corner of the chart)</a:t>
            </a:r>
          </a:p>
          <a:p>
            <a:pPr marL="457200">
              <a:lnSpc>
                <a:spcPct val="100000"/>
              </a:lnSpc>
              <a:spcBef>
                <a:spcPts val="400"/>
              </a:spcBef>
              <a:spcAft>
                <a:spcPts val="0"/>
              </a:spcAft>
            </a:pPr>
            <a:r>
              <a:rPr lang="en-US" sz="1800" b="1" dirty="0">
                <a:solidFill>
                  <a:srgbClr val="000000"/>
                </a:solidFill>
                <a:cs typeface="Arial" panose="020B0604020202020204" pitchFamily="34" charset="0"/>
              </a:rPr>
              <a:t>Step 3</a:t>
            </a:r>
            <a:r>
              <a:rPr lang="en-US" sz="1800" dirty="0">
                <a:solidFill>
                  <a:srgbClr val="000000"/>
                </a:solidFill>
                <a:cs typeface="Arial" panose="020B0604020202020204" pitchFamily="34" charset="0"/>
              </a:rPr>
              <a:t>. Click the horizontal </a:t>
            </a:r>
            <a:r>
              <a:rPr lang="en-US" sz="1800" b="1" dirty="0">
                <a:solidFill>
                  <a:srgbClr val="000000"/>
                </a:solidFill>
                <a:cs typeface="Arial" panose="020B0604020202020204" pitchFamily="34" charset="0"/>
              </a:rPr>
              <a:t>Axis Title </a:t>
            </a:r>
            <a:r>
              <a:rPr lang="en-US" sz="1800" dirty="0">
                <a:solidFill>
                  <a:srgbClr val="000000"/>
                </a:solidFill>
                <a:cs typeface="Arial" panose="020B0604020202020204" pitchFamily="34" charset="0"/>
              </a:rPr>
              <a:t>and replace it with </a:t>
            </a:r>
            <a:r>
              <a:rPr lang="en-US" sz="1800" i="1" dirty="0">
                <a:solidFill>
                  <a:srgbClr val="000000"/>
                </a:solidFill>
                <a:cs typeface="Arial" panose="020B0604020202020204" pitchFamily="34" charset="0"/>
              </a:rPr>
              <a:t>Student Population (1,000s)</a:t>
            </a:r>
          </a:p>
          <a:p>
            <a:pPr marL="457200">
              <a:lnSpc>
                <a:spcPct val="100000"/>
              </a:lnSpc>
              <a:spcBef>
                <a:spcPts val="400"/>
              </a:spcBef>
              <a:spcAft>
                <a:spcPts val="0"/>
              </a:spcAft>
            </a:pPr>
            <a:r>
              <a:rPr lang="en-US" sz="1800" b="1" dirty="0">
                <a:solidFill>
                  <a:srgbClr val="000000"/>
                </a:solidFill>
                <a:cs typeface="Arial" panose="020B0604020202020204" pitchFamily="34" charset="0"/>
              </a:rPr>
              <a:t>Step </a:t>
            </a:r>
            <a:r>
              <a:rPr lang="en-US" sz="1800" b="1" dirty="0">
                <a:cs typeface="Arial" panose="020B0604020202020204" pitchFamily="34" charset="0"/>
              </a:rPr>
              <a:t>4</a:t>
            </a:r>
            <a:r>
              <a:rPr lang="en-US" sz="1800" dirty="0">
                <a:solidFill>
                  <a:srgbClr val="000000"/>
                </a:solidFill>
                <a:cs typeface="Arial" panose="020B0604020202020204" pitchFamily="34" charset="0"/>
              </a:rPr>
              <a:t>. Click the </a:t>
            </a:r>
            <a:r>
              <a:rPr lang="en-US" sz="1800" b="1" dirty="0">
                <a:solidFill>
                  <a:srgbClr val="000000"/>
                </a:solidFill>
                <a:cs typeface="Arial" panose="020B0604020202020204" pitchFamily="34" charset="0"/>
              </a:rPr>
              <a:t>Vertical (Value) Axis Title </a:t>
            </a:r>
            <a:r>
              <a:rPr lang="en-US" sz="1800" dirty="0">
                <a:solidFill>
                  <a:srgbClr val="000000"/>
                </a:solidFill>
                <a:cs typeface="Arial" panose="020B0604020202020204" pitchFamily="34" charset="0"/>
              </a:rPr>
              <a:t>and replace it with </a:t>
            </a:r>
            <a:r>
              <a:rPr lang="en-US" sz="1800" i="1" dirty="0">
                <a:solidFill>
                  <a:srgbClr val="000000"/>
                </a:solidFill>
                <a:cs typeface="Arial" panose="020B0604020202020204" pitchFamily="34" charset="0"/>
              </a:rPr>
              <a:t>Quarterly Sales ($1,000s</a:t>
            </a:r>
          </a:p>
          <a:p>
            <a:pPr>
              <a:lnSpc>
                <a:spcPct val="100000"/>
              </a:lnSpc>
              <a:spcBef>
                <a:spcPts val="400"/>
              </a:spcBef>
              <a:spcAft>
                <a:spcPts val="0"/>
              </a:spcAft>
            </a:pPr>
            <a:endParaRPr lang="en-US" sz="2000" dirty="0">
              <a:solidFill>
                <a:srgbClr val="000000"/>
              </a:solidFill>
              <a:cs typeface="Arial" panose="020B0604020202020204" pitchFamily="34" charset="0"/>
            </a:endParaRPr>
          </a:p>
        </p:txBody>
      </p:sp>
    </p:spTree>
    <p:extLst>
      <p:ext uri="{BB962C8B-B14F-4D97-AF65-F5344CB8AC3E}">
        <p14:creationId xmlns:p14="http://schemas.microsoft.com/office/powerpoint/2010/main" val="3576055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5F209-F9AE-C1AC-168F-4276F3BE329B}"/>
              </a:ext>
            </a:extLst>
          </p:cNvPr>
          <p:cNvSpPr>
            <a:spLocks noGrp="1"/>
          </p:cNvSpPr>
          <p:nvPr>
            <p:ph type="title"/>
          </p:nvPr>
        </p:nvSpPr>
        <p:spPr/>
        <p:txBody>
          <a:bodyPr/>
          <a:lstStyle/>
          <a:p>
            <a:r>
              <a:rPr lang="en-US" sz="3200" dirty="0">
                <a:solidFill>
                  <a:srgbClr val="25894E"/>
                </a:solidFill>
              </a:rPr>
              <a:t>14.2 Excel: Display the Estimated Regression Line and Equation on a Scatter Diagram</a:t>
            </a:r>
            <a:endParaRPr lang="en-US" sz="3200" dirty="0"/>
          </a:p>
        </p:txBody>
      </p:sp>
      <p:sp>
        <p:nvSpPr>
          <p:cNvPr id="3" name="Text Placeholder 2">
            <a:extLst>
              <a:ext uri="{FF2B5EF4-FFF2-40B4-BE49-F238E27FC236}">
                <a16:creationId xmlns:a16="http://schemas.microsoft.com/office/drawing/2014/main" id="{670A2838-05F6-245B-E3EF-E56F616697F0}"/>
              </a:ext>
            </a:extLst>
          </p:cNvPr>
          <p:cNvSpPr>
            <a:spLocks noGrp="1"/>
          </p:cNvSpPr>
          <p:nvPr>
            <p:ph type="body" sz="quarter" idx="15"/>
          </p:nvPr>
        </p:nvSpPr>
        <p:spPr>
          <a:xfrm>
            <a:off x="743577" y="1481138"/>
            <a:ext cx="6195940" cy="4572000"/>
          </a:xfrm>
        </p:spPr>
        <p:txBody>
          <a:bodyPr/>
          <a:lstStyle/>
          <a:p>
            <a:r>
              <a:rPr lang="en-US" sz="2000" b="1" dirty="0">
                <a:solidFill>
                  <a:srgbClr val="000000"/>
                </a:solidFill>
                <a:cs typeface="Arial" panose="020B0604020202020204" pitchFamily="34" charset="0"/>
              </a:rPr>
              <a:t>Editing Options </a:t>
            </a:r>
            <a:r>
              <a:rPr lang="en-US" sz="2000" dirty="0">
                <a:solidFill>
                  <a:srgbClr val="000000"/>
                </a:solidFill>
                <a:cs typeface="Arial" panose="020B0604020202020204" pitchFamily="34" charset="0"/>
              </a:rPr>
              <a:t>(cont.): We can use Excel to display the estimated regression line and equation.</a:t>
            </a:r>
          </a:p>
          <a:p>
            <a:pPr marL="460375">
              <a:spcBef>
                <a:spcPts val="400"/>
              </a:spcBef>
            </a:pPr>
            <a:r>
              <a:rPr lang="en-US" sz="1800" b="1" dirty="0">
                <a:solidFill>
                  <a:srgbClr val="000000"/>
                </a:solidFill>
                <a:cs typeface="Arial" panose="020B0604020202020204" pitchFamily="34" charset="0"/>
              </a:rPr>
              <a:t>Step 5</a:t>
            </a:r>
            <a:r>
              <a:rPr lang="en-US" sz="1800" dirty="0">
                <a:solidFill>
                  <a:srgbClr val="000000"/>
                </a:solidFill>
                <a:cs typeface="Arial" panose="020B0604020202020204" pitchFamily="34" charset="0"/>
              </a:rPr>
              <a:t>. Click the </a:t>
            </a:r>
            <a:r>
              <a:rPr lang="en-US" sz="1800" b="1" dirty="0">
                <a:solidFill>
                  <a:srgbClr val="000000"/>
                </a:solidFill>
                <a:cs typeface="Arial" panose="020B0604020202020204" pitchFamily="34" charset="0"/>
              </a:rPr>
              <a:t>Chart Elements </a:t>
            </a:r>
            <a:r>
              <a:rPr lang="en-US" sz="1800" dirty="0">
                <a:solidFill>
                  <a:srgbClr val="000000"/>
                </a:solidFill>
                <a:cs typeface="Arial" panose="020B0604020202020204" pitchFamily="34" charset="0"/>
              </a:rPr>
              <a:t>button again.</a:t>
            </a:r>
          </a:p>
          <a:p>
            <a:pPr marL="460375">
              <a:spcBef>
                <a:spcPts val="400"/>
              </a:spcBef>
            </a:pPr>
            <a:r>
              <a:rPr lang="en-US" sz="1800" b="1" dirty="0">
                <a:solidFill>
                  <a:srgbClr val="000000"/>
                </a:solidFill>
                <a:cs typeface="Arial" panose="020B0604020202020204" pitchFamily="34" charset="0"/>
              </a:rPr>
              <a:t>Step 6</a:t>
            </a:r>
            <a:r>
              <a:rPr lang="en-US" sz="1800" dirty="0">
                <a:solidFill>
                  <a:srgbClr val="000000"/>
                </a:solidFill>
                <a:cs typeface="Arial" panose="020B0604020202020204" pitchFamily="34" charset="0"/>
              </a:rPr>
              <a:t>. Click </a:t>
            </a:r>
            <a:r>
              <a:rPr lang="en-US" sz="1800" b="1" dirty="0">
                <a:solidFill>
                  <a:srgbClr val="000000"/>
                </a:solidFill>
                <a:cs typeface="Arial" panose="020B0604020202020204" pitchFamily="34" charset="0"/>
              </a:rPr>
              <a:t>Gridlines</a:t>
            </a:r>
            <a:r>
              <a:rPr lang="en-US" sz="1800" dirty="0">
                <a:solidFill>
                  <a:srgbClr val="000000"/>
                </a:solidFill>
                <a:cs typeface="Arial" panose="020B0604020202020204" pitchFamily="34" charset="0"/>
              </a:rPr>
              <a:t> (to deselect the Gridlines option)</a:t>
            </a:r>
          </a:p>
          <a:p>
            <a:pPr marL="460375">
              <a:spcBef>
                <a:spcPts val="400"/>
              </a:spcBef>
            </a:pPr>
            <a:r>
              <a:rPr lang="en-US" sz="1800" b="1" dirty="0">
                <a:cs typeface="Arial" panose="020B0604020202020204" pitchFamily="34" charset="0"/>
              </a:rPr>
              <a:t>Step 7</a:t>
            </a:r>
            <a:r>
              <a:rPr lang="en-US" sz="1800" dirty="0">
                <a:cs typeface="Arial" panose="020B0604020202020204" pitchFamily="34" charset="0"/>
              </a:rPr>
              <a:t>. </a:t>
            </a:r>
            <a:r>
              <a:rPr lang="en-US" sz="1800" dirty="0">
                <a:solidFill>
                  <a:srgbClr val="000000"/>
                </a:solidFill>
                <a:cs typeface="Arial" panose="020B0604020202020204" pitchFamily="34" charset="0"/>
              </a:rPr>
              <a:t>Click </a:t>
            </a:r>
            <a:r>
              <a:rPr lang="en-US" sz="1800" b="1" dirty="0">
                <a:solidFill>
                  <a:srgbClr val="000000"/>
                </a:solidFill>
                <a:cs typeface="Arial" panose="020B0604020202020204" pitchFamily="34" charset="0"/>
              </a:rPr>
              <a:t>Trendline</a:t>
            </a:r>
          </a:p>
          <a:p>
            <a:pPr marL="460375">
              <a:spcBef>
                <a:spcPts val="400"/>
              </a:spcBef>
            </a:pPr>
            <a:r>
              <a:rPr lang="en-US" sz="1800" b="1" dirty="0"/>
              <a:t>Step 8. </a:t>
            </a:r>
            <a:r>
              <a:rPr lang="en-US" sz="1800" dirty="0"/>
              <a:t>To change the trendline from a dashed line to a solid line</a:t>
            </a:r>
            <a:r>
              <a:rPr lang="en-US" sz="1800"/>
              <a:t>, right-click </a:t>
            </a:r>
            <a:r>
              <a:rPr lang="en-US" sz="1800" dirty="0"/>
              <a:t>on the trendline and select the</a:t>
            </a:r>
            <a:r>
              <a:rPr lang="en-US" sz="1800" b="1" dirty="0"/>
              <a:t> Format Trendline </a:t>
            </a:r>
            <a:r>
              <a:rPr lang="en-US" sz="1800" dirty="0"/>
              <a:t>option</a:t>
            </a:r>
          </a:p>
          <a:p>
            <a:pPr marL="460375">
              <a:spcBef>
                <a:spcPts val="400"/>
              </a:spcBef>
            </a:pPr>
            <a:r>
              <a:rPr lang="en-US" sz="1800" b="1" dirty="0"/>
              <a:t>Step 9. </a:t>
            </a:r>
            <a:r>
              <a:rPr lang="en-US" sz="1800" dirty="0"/>
              <a:t>When the </a:t>
            </a:r>
            <a:r>
              <a:rPr lang="en-US" sz="1800" b="1" dirty="0"/>
              <a:t>Format Trendline </a:t>
            </a:r>
            <a:r>
              <a:rPr lang="en-US" sz="1800" dirty="0"/>
              <a:t>dialog box appears:</a:t>
            </a:r>
          </a:p>
          <a:p>
            <a:pPr marL="914400">
              <a:spcBef>
                <a:spcPts val="400"/>
              </a:spcBef>
            </a:pPr>
            <a:r>
              <a:rPr lang="en-US" sz="1800" dirty="0"/>
              <a:t>Scroll down and select </a:t>
            </a:r>
            <a:r>
              <a:rPr lang="en-US" sz="1800" b="1" dirty="0"/>
              <a:t>Display Equation on chart</a:t>
            </a:r>
          </a:p>
          <a:p>
            <a:pPr marL="914400">
              <a:spcBef>
                <a:spcPts val="400"/>
              </a:spcBef>
            </a:pPr>
            <a:r>
              <a:rPr lang="en-US" sz="1800" dirty="0"/>
              <a:t>Click the </a:t>
            </a:r>
            <a:r>
              <a:rPr lang="en-US" sz="1800" b="1" dirty="0"/>
              <a:t>Fill &amp; Line </a:t>
            </a:r>
            <a:r>
              <a:rPr lang="en-US" sz="1800" dirty="0"/>
              <a:t>button</a:t>
            </a:r>
          </a:p>
          <a:p>
            <a:pPr marL="914400">
              <a:spcBef>
                <a:spcPts val="400"/>
              </a:spcBef>
            </a:pPr>
            <a:r>
              <a:rPr lang="en-US" sz="1800" b="1" dirty="0"/>
              <a:t>In the Dash type </a:t>
            </a:r>
            <a:r>
              <a:rPr lang="en-US" sz="1800" dirty="0"/>
              <a:t>box, select </a:t>
            </a:r>
            <a:r>
              <a:rPr lang="en-US" sz="1800" b="1" dirty="0"/>
              <a:t>Solid</a:t>
            </a:r>
          </a:p>
          <a:p>
            <a:pPr marL="914400">
              <a:spcBef>
                <a:spcPts val="400"/>
              </a:spcBef>
            </a:pPr>
            <a:r>
              <a:rPr lang="en-US" sz="1800" dirty="0"/>
              <a:t>Close the </a:t>
            </a:r>
            <a:r>
              <a:rPr lang="en-US" sz="1800" b="1" dirty="0"/>
              <a:t>Format Trendline </a:t>
            </a:r>
            <a:r>
              <a:rPr lang="en-US" sz="1800" dirty="0"/>
              <a:t>dialog box</a:t>
            </a:r>
          </a:p>
        </p:txBody>
      </p:sp>
      <p:pic>
        <p:nvPicPr>
          <p:cNvPr id="6" name="Picture Placeholder 5" descr="A screenshot of an Excel spreadsheet shows a table and a scatter diagram. Column A is labeled restaurant, column B is labeled population, and column C is labeled sales. The entries in rows 2 through 11 are as follows. Row 2. Restaurant: 1. Population: 2. Sales: 58. Row 3. Restaurant: 2. Population: 6. Sales: 105. Row 4. Restaurant: 3. Population: 8. Sales: 88. Row 5. Restaurant: 4. Population: 8. Sales: 118. Row 6. Restaurant: 5. Population: 12. Sales: 117. Row 7. Restaurant: 6. Population: 16. Sales: 137. Row 8. Restaurant: 7. Population: 20. Sales: 157. Row 9. Restaurant: 8. Population: 20. Sales: 169. Row 10. Restaurant: 9. Population: 22. Sales: 149. Row 11. Restaurant: 10. Population: 26. Sales: 202. A scatter diagram is titled Armand’s Pizza Parlors. The horizontal axis is labeled student population (1000s) and ranges from 0 to 30 in increments of 5. The vertical axis is labeled quarterly sales (thousands of dollars) and ranges from 0 to 250 in increments of 50. The coordinates of the plots are (2, 58), (6, 105), (8, 88), (8, 118), (12, 117), (16, 137), (20, 157), (20, 169), (22, 149), and (26, 202). A line slopes upward from (2, 60) to (26, 195). All data are approximate. An equation reads, y = 5 x + 60.">
            <a:extLst>
              <a:ext uri="{FF2B5EF4-FFF2-40B4-BE49-F238E27FC236}">
                <a16:creationId xmlns:a16="http://schemas.microsoft.com/office/drawing/2014/main" id="{3D9A99FF-D3F1-CEF4-3684-72FAC6FE8F0C}"/>
              </a:ext>
            </a:extLst>
          </p:cNvPr>
          <p:cNvPicPr>
            <a:picLocks noGrp="1" noChangeAspect="1"/>
          </p:cNvPicPr>
          <p:nvPr>
            <p:ph type="pic" sz="quarter" idx="16"/>
          </p:nvPr>
        </p:nvPicPr>
        <p:blipFill>
          <a:blip r:embed="rId2"/>
          <a:srcRect l="20" r="20"/>
          <a:stretch/>
        </p:blipFill>
        <p:spPr>
          <a:xfrm>
            <a:off x="7038975" y="1481138"/>
            <a:ext cx="4352925" cy="4572000"/>
          </a:xfrm>
          <a:ln>
            <a:solidFill>
              <a:srgbClr val="000000"/>
            </a:solidFill>
          </a:ln>
        </p:spPr>
      </p:pic>
    </p:spTree>
    <p:extLst>
      <p:ext uri="{BB962C8B-B14F-4D97-AF65-F5344CB8AC3E}">
        <p14:creationId xmlns:p14="http://schemas.microsoft.com/office/powerpoint/2010/main" val="2328841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D14B1E"/>
                </a:solidFill>
              </a:rPr>
              <a:t>14.3 Coefficient of Determination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621631"/>
                <a:ext cx="10711543" cy="3871856"/>
              </a:xfrm>
            </p:spPr>
            <p:txBody>
              <a:bodyPr/>
              <a:lstStyle/>
              <a:p>
                <a:pPr>
                  <a:lnSpc>
                    <a:spcPct val="100000"/>
                  </a:lnSpc>
                  <a:spcBef>
                    <a:spcPts val="600"/>
                  </a:spcBef>
                  <a:spcAft>
                    <a:spcPts val="600"/>
                  </a:spcAft>
                </a:pPr>
                <a:r>
                  <a:rPr lang="en-US" sz="2000" dirty="0">
                    <a:solidFill>
                      <a:srgbClr val="000000"/>
                    </a:solidFill>
                    <a:cs typeface="Arial" panose="020B0604020202020204" pitchFamily="34" charset="0"/>
                  </a:rPr>
                  <a:t>For the Armand’s Pizza Parlors example, we developed the estimated regression equation</a:t>
                </a:r>
              </a:p>
              <a:p>
                <a:pPr>
                  <a:lnSpc>
                    <a:spcPct val="100000"/>
                  </a:lnSpc>
                  <a:spcBef>
                    <a:spcPts val="600"/>
                  </a:spcBef>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b="0" i="1">
                              <a:latin typeface="Cambria Math" panose="02040503050406030204" pitchFamily="18" charset="0"/>
                            </a:rPr>
                            <m:t>𝑦</m:t>
                          </m:r>
                        </m:e>
                      </m:acc>
                      <m:r>
                        <a:rPr lang="en-US" sz="2000" b="0" i="1" smtClean="0">
                          <a:latin typeface="Cambria Math" panose="02040503050406030204" pitchFamily="18" charset="0"/>
                        </a:rPr>
                        <m:t>=60+5</m:t>
                      </m:r>
                      <m:r>
                        <a:rPr lang="en-US" sz="2000" b="0" i="1" smtClean="0">
                          <a:latin typeface="Cambria Math" panose="02040503050406030204" pitchFamily="18" charset="0"/>
                        </a:rPr>
                        <m:t>𝑥</m:t>
                      </m:r>
                      <m:r>
                        <a:rPr lang="en-US" sz="2000" b="0" i="1" smtClean="0">
                          <a:latin typeface="Cambria Math" panose="02040503050406030204" pitchFamily="18" charset="0"/>
                        </a:rPr>
                        <m:t> </m:t>
                      </m:r>
                    </m:oMath>
                  </m:oMathPara>
                </a14:m>
                <a:endParaRPr lang="en-US" sz="2000" dirty="0">
                  <a:solidFill>
                    <a:srgbClr val="000000"/>
                  </a:solidFill>
                  <a:cs typeface="Arial" panose="020B0604020202020204" pitchFamily="34" charset="0"/>
                </a:endParaRPr>
              </a:p>
              <a:p>
                <a:pPr>
                  <a:lnSpc>
                    <a:spcPct val="100000"/>
                  </a:lnSpc>
                  <a:spcBef>
                    <a:spcPts val="600"/>
                  </a:spcBef>
                </a:pPr>
                <a:r>
                  <a:rPr lang="en-US" sz="2000" dirty="0">
                    <a:solidFill>
                      <a:srgbClr val="000000"/>
                    </a:solidFill>
                    <a:cs typeface="Arial" panose="020B0604020202020204" pitchFamily="34" charset="0"/>
                  </a:rPr>
                  <a:t>to approximate the linear relationship between the size of the student population x and quarterly sales y. </a:t>
                </a:r>
              </a:p>
              <a:p>
                <a:pPr>
                  <a:lnSpc>
                    <a:spcPct val="100000"/>
                  </a:lnSpc>
                </a:pPr>
                <a:r>
                  <a:rPr lang="en-US" sz="2000" dirty="0">
                    <a:solidFill>
                      <a:srgbClr val="000000"/>
                    </a:solidFill>
                    <a:cs typeface="Arial" panose="020B0604020202020204" pitchFamily="34" charset="0"/>
                  </a:rPr>
                  <a:t>A question now is: How well does the estimated regression equation fit the data? </a:t>
                </a:r>
              </a:p>
              <a:p>
                <a:pPr>
                  <a:lnSpc>
                    <a:spcPct val="100000"/>
                  </a:lnSpc>
                </a:pPr>
                <a:r>
                  <a:rPr lang="en-US" sz="2000" dirty="0">
                    <a:solidFill>
                      <a:srgbClr val="000000"/>
                    </a:solidFill>
                    <a:cs typeface="Arial" panose="020B0604020202020204" pitchFamily="34" charset="0"/>
                  </a:rPr>
                  <a:t>In this section, we show that the </a:t>
                </a:r>
                <a:r>
                  <a:rPr lang="en-US" sz="2000" b="1" dirty="0">
                    <a:solidFill>
                      <a:srgbClr val="000000"/>
                    </a:solidFill>
                    <a:cs typeface="Arial" panose="020B0604020202020204" pitchFamily="34" charset="0"/>
                  </a:rPr>
                  <a:t>coefficient of determination </a:t>
                </a:r>
                <a:r>
                  <a:rPr lang="en-US" sz="2000" dirty="0">
                    <a:solidFill>
                      <a:srgbClr val="000000"/>
                    </a:solidFill>
                    <a:cs typeface="Arial" panose="020B0604020202020204" pitchFamily="34" charset="0"/>
                  </a:rPr>
                  <a:t>provides a measure of the goodness of fit for the estimated regression equation.</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621631"/>
                <a:ext cx="10711543" cy="3871856"/>
              </a:xfrm>
              <a:blipFill>
                <a:blip r:embed="rId3"/>
                <a:stretch>
                  <a:fillRect l="-1422" t="-1890"/>
                </a:stretch>
              </a:blipFill>
            </p:spPr>
            <p:txBody>
              <a:bodyPr/>
              <a:lstStyle/>
              <a:p>
                <a:r>
                  <a:rPr lang="en-US">
                    <a:noFill/>
                  </a:rPr>
                  <a:t> </a:t>
                </a:r>
              </a:p>
            </p:txBody>
          </p:sp>
        </mc:Fallback>
      </mc:AlternateContent>
    </p:spTree>
    <p:extLst>
      <p:ext uri="{BB962C8B-B14F-4D97-AF65-F5344CB8AC3E}">
        <p14:creationId xmlns:p14="http://schemas.microsoft.com/office/powerpoint/2010/main" val="116603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BD4B4-EE30-4C50-A2C3-1CBC00F5C273}"/>
              </a:ext>
            </a:extLst>
          </p:cNvPr>
          <p:cNvSpPr>
            <a:spLocks noGrp="1"/>
          </p:cNvSpPr>
          <p:nvPr>
            <p:ph type="title"/>
          </p:nvPr>
        </p:nvSpPr>
        <p:spPr/>
        <p:txBody>
          <a:bodyPr/>
          <a:lstStyle/>
          <a:p>
            <a:r>
              <a:rPr lang="en-US" dirty="0"/>
              <a:t>14.3 Sum of Squares Due to Error (SSE)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A924D5B-5F9E-D5AA-6985-4E8C08F1DD03}"/>
                  </a:ext>
                </a:extLst>
              </p:cNvPr>
              <p:cNvSpPr>
                <a:spLocks noGrp="1"/>
              </p:cNvSpPr>
              <p:nvPr>
                <p:ph type="body" sz="quarter" idx="15"/>
              </p:nvPr>
            </p:nvSpPr>
            <p:spPr>
              <a:xfrm>
                <a:off x="793193" y="1324248"/>
                <a:ext cx="10515599" cy="1284273"/>
              </a:xfrm>
            </p:spPr>
            <p:txBody>
              <a:bodyPr>
                <a:noAutofit/>
              </a:bodyPr>
              <a:lstStyle/>
              <a:p>
                <a14:m>
                  <m:oMath xmlns:m="http://schemas.openxmlformats.org/officeDocument/2006/math">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𝒚</m:t>
                        </m:r>
                      </m:e>
                      <m:sub>
                        <m:r>
                          <a:rPr lang="en-US" sz="2000" b="1" i="1">
                            <a:latin typeface="Cambria Math" panose="02040503050406030204" pitchFamily="18" charset="0"/>
                            <a:cs typeface="Arial" panose="020B0604020202020204" pitchFamily="34" charset="0"/>
                          </a:rPr>
                          <m:t>𝒊</m:t>
                        </m:r>
                      </m:sub>
                    </m:sSub>
                    <m:r>
                      <a:rPr lang="en-US" sz="2000" b="1" i="1">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𝒚</m:t>
                            </m:r>
                          </m:e>
                        </m:acc>
                      </m:e>
                      <m:sub>
                        <m:r>
                          <a:rPr lang="en-US" sz="2000" b="1" i="1">
                            <a:latin typeface="Cambria Math" panose="02040503050406030204" pitchFamily="18" charset="0"/>
                            <a:cs typeface="Arial" panose="020B0604020202020204" pitchFamily="34" charset="0"/>
                          </a:rPr>
                          <m:t>𝒊</m:t>
                        </m:r>
                      </m:sub>
                    </m:sSub>
                  </m:oMath>
                </a14:m>
                <a:r>
                  <a:rPr lang="en-US" sz="2000" dirty="0"/>
                  <a:t> is the </a:t>
                </a:r>
                <a:r>
                  <a:rPr lang="en-US" sz="2000" b="1" dirty="0"/>
                  <a:t>residual </a:t>
                </a:r>
                <a:r>
                  <a:rPr lang="en-US" sz="2000" dirty="0"/>
                  <a:t>for the 𝑖</a:t>
                </a:r>
                <a:r>
                  <a:rPr lang="en-US" sz="2000" dirty="0" err="1"/>
                  <a:t>th</a:t>
                </a:r>
                <a:r>
                  <a:rPr lang="en-US" sz="2000" dirty="0"/>
                  <a:t> observation; that is, the difference between the observed value of the dependent variable,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𝑦</m:t>
                        </m:r>
                      </m:e>
                      <m:sub>
                        <m:r>
                          <a:rPr lang="en-US" sz="2000" b="0" i="1">
                            <a:latin typeface="Cambria Math" panose="02040503050406030204" pitchFamily="18" charset="0"/>
                            <a:cs typeface="Arial" panose="020B0604020202020204" pitchFamily="34" charset="0"/>
                          </a:rPr>
                          <m:t>𝑖</m:t>
                        </m:r>
                      </m:sub>
                    </m:sSub>
                  </m:oMath>
                </a14:m>
                <a:r>
                  <a:rPr lang="en-US" sz="2000" dirty="0"/>
                  <a:t>, and the predicted value of the dependent variable,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𝑦</m:t>
                            </m:r>
                          </m:e>
                        </m:acc>
                      </m:e>
                      <m:sub>
                        <m:r>
                          <a:rPr lang="en-US" sz="2000" b="0" i="1">
                            <a:latin typeface="Cambria Math" panose="02040503050406030204" pitchFamily="18" charset="0"/>
                            <a:cs typeface="Arial" panose="020B0604020202020204" pitchFamily="34" charset="0"/>
                          </a:rPr>
                          <m:t>𝑖</m:t>
                        </m:r>
                      </m:sub>
                    </m:sSub>
                  </m:oMath>
                </a14:m>
                <a:r>
                  <a:rPr lang="en-US" sz="2000" dirty="0"/>
                  <a:t>.</a:t>
                </a:r>
              </a:p>
              <a:p>
                <a:r>
                  <a:rPr lang="en-US" sz="2000" dirty="0"/>
                  <a:t>The sum of squares of the residuals, also known as the </a:t>
                </a:r>
                <a:r>
                  <a:rPr lang="en-US" sz="2000" b="1" dirty="0"/>
                  <a:t>sum of squares due to error</a:t>
                </a:r>
                <a:r>
                  <a:rPr lang="en-US" sz="2000" dirty="0"/>
                  <a:t> (SSE), is the quantity minimized by the least squares method.</a:t>
                </a:r>
              </a:p>
            </p:txBody>
          </p:sp>
        </mc:Choice>
        <mc:Fallback xmlns="">
          <p:sp>
            <p:nvSpPr>
              <p:cNvPr id="3" name="Text Placeholder 2">
                <a:extLst>
                  <a:ext uri="{FF2B5EF4-FFF2-40B4-BE49-F238E27FC236}">
                    <a16:creationId xmlns:a16="http://schemas.microsoft.com/office/drawing/2014/main" id="{0A924D5B-5F9E-D5AA-6985-4E8C08F1DD03}"/>
                  </a:ext>
                </a:extLst>
              </p:cNvPr>
              <p:cNvSpPr>
                <a:spLocks noGrp="1" noRot="1" noChangeAspect="1" noMove="1" noResize="1" noEditPoints="1" noAdjustHandles="1" noChangeArrowheads="1" noChangeShapeType="1" noTextEdit="1"/>
              </p:cNvSpPr>
              <p:nvPr>
                <p:ph type="body" sz="quarter" idx="15"/>
              </p:nvPr>
            </p:nvSpPr>
            <p:spPr>
              <a:xfrm>
                <a:off x="793193" y="1324248"/>
                <a:ext cx="10515599" cy="1284273"/>
              </a:xfrm>
              <a:blipFill>
                <a:blip r:embed="rId2"/>
                <a:stretch>
                  <a:fillRect l="-1449" t="-8531" r="-1681" b="-75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073527B5-1A1D-CB8E-D485-92FB4F8BBFB1}"/>
                  </a:ext>
                </a:extLst>
              </p:cNvPr>
              <p:cNvSpPr>
                <a:spLocks noGrp="1"/>
              </p:cNvSpPr>
              <p:nvPr>
                <p:ph type="body" sz="quarter" idx="18"/>
              </p:nvPr>
            </p:nvSpPr>
            <p:spPr>
              <a:xfrm>
                <a:off x="793194" y="2608521"/>
                <a:ext cx="4523085" cy="2769826"/>
              </a:xfrm>
            </p:spPr>
            <p:txBody>
              <a:bodyPr>
                <a:noAutofit/>
              </a:bodyPr>
              <a:lstStyle/>
              <a:p>
                <a:pPr marL="457200">
                  <a:spcAft>
                    <a:spcPts val="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𝑺𝑺𝑬</m:t>
                      </m:r>
                      <m:r>
                        <a:rPr lang="en-US" sz="2000" b="1" i="1" smtClean="0">
                          <a:latin typeface="Cambria Math" panose="02040503050406030204" pitchFamily="18" charset="0"/>
                          <a:cs typeface="Arial" panose="020B0604020202020204" pitchFamily="34" charset="0"/>
                        </a:rPr>
                        <m:t>=</m:t>
                      </m:r>
                      <m:nary>
                        <m:naryPr>
                          <m:chr m:val="∑"/>
                          <m:subHide m:val="on"/>
                          <m:supHide m:val="on"/>
                          <m:ctrlPr>
                            <a:rPr lang="en-US" sz="2000" b="1" i="1" smtClean="0">
                              <a:latin typeface="Cambria Math" panose="02040503050406030204" pitchFamily="18" charset="0"/>
                              <a:cs typeface="Arial" panose="020B0604020202020204" pitchFamily="34" charset="0"/>
                            </a:rPr>
                          </m:ctrlPr>
                        </m:naryPr>
                        <m:sub/>
                        <m:sup/>
                        <m:e>
                          <m:sSup>
                            <m:sSupPr>
                              <m:ctrlPr>
                                <a:rPr lang="en-US" sz="2000" b="1" i="1" smtClean="0">
                                  <a:latin typeface="Cambria Math" panose="02040503050406030204" pitchFamily="18" charset="0"/>
                                  <a:cs typeface="Arial" panose="020B0604020202020204" pitchFamily="34" charset="0"/>
                                </a:rPr>
                              </m:ctrlPr>
                            </m:sSupPr>
                            <m:e>
                              <m:d>
                                <m:dPr>
                                  <m:ctrlPr>
                                    <a:rPr lang="en-US" sz="2000" b="1" i="1" smtClean="0">
                                      <a:latin typeface="Cambria Math" panose="02040503050406030204" pitchFamily="18" charset="0"/>
                                      <a:cs typeface="Arial" panose="020B0604020202020204" pitchFamily="34" charset="0"/>
                                    </a:rPr>
                                  </m:ctrlPr>
                                </m:dPr>
                                <m:e>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𝒚</m:t>
                                      </m:r>
                                    </m:e>
                                    <m:sub>
                                      <m:r>
                                        <a:rPr lang="en-US" sz="2000" b="1" i="1" smtClean="0">
                                          <a:latin typeface="Cambria Math" panose="02040503050406030204" pitchFamily="18" charset="0"/>
                                          <a:cs typeface="Arial" panose="020B0604020202020204" pitchFamily="34" charset="0"/>
                                        </a:rPr>
                                        <m:t>𝒊</m:t>
                                      </m:r>
                                    </m:sub>
                                  </m:sSub>
                                  <m:r>
                                    <a:rPr lang="en-US" sz="2000" b="1" i="1" smtClean="0">
                                      <a:latin typeface="Cambria Math" panose="02040503050406030204" pitchFamily="18" charset="0"/>
                                      <a:cs typeface="Arial" panose="020B0604020202020204" pitchFamily="34" charset="0"/>
                                    </a:rPr>
                                    <m:t>−</m:t>
                                  </m:r>
                                  <m:sSub>
                                    <m:sSubPr>
                                      <m:ctrlPr>
                                        <a:rPr lang="en-US" sz="2000" b="1" i="1" smtClean="0">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𝒚</m:t>
                                          </m:r>
                                        </m:e>
                                      </m:acc>
                                    </m:e>
                                    <m:sub>
                                      <m:r>
                                        <a:rPr lang="en-US" sz="2000" b="1" i="1" smtClean="0">
                                          <a:latin typeface="Cambria Math" panose="02040503050406030204" pitchFamily="18" charset="0"/>
                                          <a:cs typeface="Arial" panose="020B0604020202020204" pitchFamily="34" charset="0"/>
                                        </a:rPr>
                                        <m:t>𝒊</m:t>
                                      </m:r>
                                    </m:sub>
                                  </m:sSub>
                                </m:e>
                              </m:d>
                            </m:e>
                            <m:sup>
                              <m:r>
                                <a:rPr lang="en-US" sz="2000" b="1" i="1" smtClean="0">
                                  <a:latin typeface="Cambria Math" panose="02040503050406030204" pitchFamily="18" charset="0"/>
                                  <a:cs typeface="Arial" panose="020B0604020202020204" pitchFamily="34" charset="0"/>
                                </a:rPr>
                                <m:t>𝟐</m:t>
                              </m:r>
                            </m:sup>
                          </m:sSup>
                        </m:e>
                      </m:nary>
                    </m:oMath>
                  </m:oMathPara>
                </a14:m>
                <a:endParaRPr lang="en-US" sz="2000" dirty="0"/>
              </a:p>
              <a:p>
                <a:pPr>
                  <a:spcAft>
                    <a:spcPts val="0"/>
                  </a:spcAft>
                </a:pPr>
                <a:r>
                  <a:rPr lang="en-US" sz="2000" dirty="0"/>
                  <a:t>The table to the right shows the calculations required to compute SSE for the Armand’s Pizza Parlors example.</a:t>
                </a:r>
              </a:p>
              <a:p>
                <a:pPr>
                  <a:spcAft>
                    <a:spcPts val="0"/>
                  </a:spcAft>
                </a:pPr>
                <a:r>
                  <a:rPr lang="en-US" sz="2000" dirty="0"/>
                  <a:t>Thus, </a:t>
                </a:r>
                <a14:m>
                  <m:oMath xmlns:m="http://schemas.openxmlformats.org/officeDocument/2006/math">
                    <m:r>
                      <a:rPr lang="en-US" sz="2000" i="1" dirty="0" smtClean="0">
                        <a:latin typeface="Cambria Math" panose="02040503050406030204" pitchFamily="18" charset="0"/>
                      </a:rPr>
                      <m:t>𝑆𝑆𝐸</m:t>
                    </m:r>
                    <m:r>
                      <a:rPr lang="en-US" sz="2000" i="1" dirty="0" smtClean="0">
                        <a:latin typeface="Cambria Math" panose="02040503050406030204" pitchFamily="18" charset="0"/>
                      </a:rPr>
                      <m:t>=1,530</m:t>
                    </m:r>
                  </m:oMath>
                </a14:m>
                <a:r>
                  <a:rPr lang="en-US" sz="2000" dirty="0"/>
                  <a:t> measures the error in using the estimated regression equation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r>
                      <a:rPr lang="en-US" sz="2000" i="1">
                        <a:latin typeface="Cambria Math" panose="02040503050406030204" pitchFamily="18" charset="0"/>
                      </a:rPr>
                      <m:t>=60+5</m:t>
                    </m:r>
                    <m:r>
                      <a:rPr lang="en-US" sz="2000" i="1">
                        <a:latin typeface="Cambria Math" panose="02040503050406030204" pitchFamily="18" charset="0"/>
                      </a:rPr>
                      <m:t>𝑥</m:t>
                    </m:r>
                  </m:oMath>
                </a14:m>
                <a:r>
                  <a:rPr lang="en-US" sz="2000" dirty="0"/>
                  <a:t> to predict sales.</a:t>
                </a:r>
              </a:p>
            </p:txBody>
          </p:sp>
        </mc:Choice>
        <mc:Fallback xmlns="">
          <p:sp>
            <p:nvSpPr>
              <p:cNvPr id="5" name="Text Placeholder 4">
                <a:extLst>
                  <a:ext uri="{FF2B5EF4-FFF2-40B4-BE49-F238E27FC236}">
                    <a16:creationId xmlns:a16="http://schemas.microsoft.com/office/drawing/2014/main" id="{073527B5-1A1D-CB8E-D485-92FB4F8BBFB1}"/>
                  </a:ext>
                </a:extLst>
              </p:cNvPr>
              <p:cNvSpPr>
                <a:spLocks noGrp="1" noRot="1" noChangeAspect="1" noMove="1" noResize="1" noEditPoints="1" noAdjustHandles="1" noChangeArrowheads="1" noChangeShapeType="1" noTextEdit="1"/>
              </p:cNvSpPr>
              <p:nvPr>
                <p:ph type="body" sz="quarter" idx="18"/>
              </p:nvPr>
            </p:nvSpPr>
            <p:spPr>
              <a:xfrm>
                <a:off x="793194" y="2608521"/>
                <a:ext cx="4523085" cy="2769826"/>
              </a:xfrm>
              <a:blipFill>
                <a:blip r:embed="rId3"/>
                <a:stretch>
                  <a:fillRect l="-3369" r="-35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8">
                <a:extLst>
                  <a:ext uri="{FF2B5EF4-FFF2-40B4-BE49-F238E27FC236}">
                    <a16:creationId xmlns:a16="http://schemas.microsoft.com/office/drawing/2014/main" id="{589463E7-34F5-4035-3F6E-0051537E5E8D}"/>
                  </a:ext>
                </a:extLst>
              </p:cNvPr>
              <p:cNvGraphicFramePr>
                <a:graphicFrameLocks noGrp="1"/>
              </p:cNvGraphicFramePr>
              <p:nvPr>
                <p:ph type="tbl" sz="quarter" idx="22"/>
                <p:extLst>
                  <p:ext uri="{D42A27DB-BD31-4B8C-83A1-F6EECF244321}">
                    <p14:modId xmlns:p14="http://schemas.microsoft.com/office/powerpoint/2010/main" val="3165860205"/>
                  </p:ext>
                </p:extLst>
              </p:nvPr>
            </p:nvGraphicFramePr>
            <p:xfrm>
              <a:off x="5370147" y="2677670"/>
              <a:ext cx="6197013" cy="3102610"/>
            </p:xfrm>
            <a:graphic>
              <a:graphicData uri="http://schemas.openxmlformats.org/drawingml/2006/table">
                <a:tbl>
                  <a:tblPr firstRow="1" bandRow="1">
                    <a:tableStyleId>{5C22544A-7EE6-4342-B048-85BDC9FD1C3A}</a:tableStyleId>
                  </a:tblPr>
                  <a:tblGrid>
                    <a:gridCol w="999459">
                      <a:extLst>
                        <a:ext uri="{9D8B030D-6E8A-4147-A177-3AD203B41FA5}">
                          <a16:colId xmlns:a16="http://schemas.microsoft.com/office/drawing/2014/main" val="2915852811"/>
                        </a:ext>
                      </a:extLst>
                    </a:gridCol>
                    <a:gridCol w="1097280">
                      <a:extLst>
                        <a:ext uri="{9D8B030D-6E8A-4147-A177-3AD203B41FA5}">
                          <a16:colId xmlns:a16="http://schemas.microsoft.com/office/drawing/2014/main" val="2947037766"/>
                        </a:ext>
                      </a:extLst>
                    </a:gridCol>
                    <a:gridCol w="1188720">
                      <a:extLst>
                        <a:ext uri="{9D8B030D-6E8A-4147-A177-3AD203B41FA5}">
                          <a16:colId xmlns:a16="http://schemas.microsoft.com/office/drawing/2014/main" val="1021229486"/>
                        </a:ext>
                      </a:extLst>
                    </a:gridCol>
                    <a:gridCol w="1097280">
                      <a:extLst>
                        <a:ext uri="{9D8B030D-6E8A-4147-A177-3AD203B41FA5}">
                          <a16:colId xmlns:a16="http://schemas.microsoft.com/office/drawing/2014/main" val="951547925"/>
                        </a:ext>
                      </a:extLst>
                    </a:gridCol>
                    <a:gridCol w="731520">
                      <a:extLst>
                        <a:ext uri="{9D8B030D-6E8A-4147-A177-3AD203B41FA5}">
                          <a16:colId xmlns:a16="http://schemas.microsoft.com/office/drawing/2014/main" val="1305038350"/>
                        </a:ext>
                      </a:extLst>
                    </a:gridCol>
                    <a:gridCol w="1082754">
                      <a:extLst>
                        <a:ext uri="{9D8B030D-6E8A-4147-A177-3AD203B41FA5}">
                          <a16:colId xmlns:a16="http://schemas.microsoft.com/office/drawing/2014/main" val="3391491469"/>
                        </a:ext>
                      </a:extLst>
                    </a:gridCol>
                  </a:tblGrid>
                  <a:tr h="365760">
                    <a:tc>
                      <a:txBody>
                        <a:bodyPr/>
                        <a:lstStyle/>
                        <a:p>
                          <a:r>
                            <a:rPr lang="en-US" sz="1400" dirty="0">
                              <a:solidFill>
                                <a:srgbClr val="000000"/>
                              </a:solidFill>
                            </a:rPr>
                            <a:t> Restaurant </a:t>
                          </a:r>
                          <a:r>
                            <a:rPr lang="en-US" sz="1400" i="1" dirty="0">
                              <a:solidFill>
                                <a:srgbClr val="000000"/>
                              </a:solidFill>
                            </a:rPr>
                            <a:t>i</a:t>
                          </a: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a14:m>
                            <m:oMath xmlns:m="http://schemas.openxmlformats.org/officeDocument/2006/math">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𝒙</m:t>
                                  </m:r>
                                </m:e>
                                <m:sub>
                                  <m:r>
                                    <a:rPr lang="en-US" sz="1400" b="1" i="1" smtClean="0">
                                      <a:solidFill>
                                        <a:srgbClr val="000000"/>
                                      </a:solidFill>
                                      <a:latin typeface="Cambria Math" panose="02040503050406030204" pitchFamily="18" charset="0"/>
                                    </a:rPr>
                                    <m:t>𝒊</m:t>
                                  </m:r>
                                </m:sub>
                              </m:sSub>
                            </m:oMath>
                          </a14:m>
                          <a:r>
                            <a:rPr lang="en-US" sz="1400" dirty="0">
                              <a:solidFill>
                                <a:srgbClr val="000000"/>
                              </a:solidFill>
                            </a:rPr>
                            <a:t> =</a:t>
                          </a:r>
                          <a:r>
                            <a:rPr lang="en-US" sz="1400" baseline="0" dirty="0">
                              <a:solidFill>
                                <a:srgbClr val="000000"/>
                              </a:solidFill>
                            </a:rPr>
                            <a:t> Student Population (1000s)</a:t>
                          </a:r>
                          <a:endParaRPr lang="en-US" sz="1400" dirty="0">
                            <a:solidFill>
                              <a:srgbClr val="000000"/>
                            </a:solidFill>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a14:m>
                            <m:oMath xmlns:m="http://schemas.openxmlformats.org/officeDocument/2006/math">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𝒚</m:t>
                                  </m:r>
                                </m:e>
                                <m:sub>
                                  <m:r>
                                    <a:rPr lang="en-US" sz="1400" b="1" i="1" smtClean="0">
                                      <a:solidFill>
                                        <a:srgbClr val="000000"/>
                                      </a:solidFill>
                                      <a:latin typeface="Cambria Math" panose="02040503050406030204" pitchFamily="18" charset="0"/>
                                    </a:rPr>
                                    <m:t>𝒊</m:t>
                                  </m:r>
                                </m:sub>
                              </m:sSub>
                            </m:oMath>
                          </a14:m>
                          <a:r>
                            <a:rPr lang="en-US" sz="1400" dirty="0">
                              <a:solidFill>
                                <a:srgbClr val="000000"/>
                              </a:solidFill>
                            </a:rPr>
                            <a:t> = Quarterly Sales</a:t>
                          </a:r>
                        </a:p>
                        <a:p>
                          <a:pPr algn="ctr"/>
                          <a:r>
                            <a:rPr lang="en-US" sz="1400" dirty="0">
                              <a:solidFill>
                                <a:srgbClr val="000000"/>
                              </a:solidFill>
                            </a:rPr>
                            <a:t>($1000s)</a:t>
                          </a: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a:r>
                            <a:rPr lang="en-US" sz="1400" dirty="0">
                              <a:solidFill>
                                <a:srgbClr val="000000"/>
                              </a:solidFill>
                            </a:rPr>
                            <a:t>Predicted Sales</a:t>
                          </a:r>
                        </a:p>
                        <a:p>
                          <a:pPr algn="ctr"/>
                          <a14:m>
                            <m:oMathPara xmlns:m="http://schemas.openxmlformats.org/officeDocument/2006/math">
                              <m:oMathParaPr>
                                <m:jc m:val="centerGroup"/>
                              </m:oMathParaPr>
                              <m:oMath xmlns:m="http://schemas.openxmlformats.org/officeDocument/2006/math">
                                <m:sSub>
                                  <m:sSubPr>
                                    <m:ctrlPr>
                                      <a:rPr lang="en-US" sz="1400" i="1" smtClean="0">
                                        <a:solidFill>
                                          <a:srgbClr val="000000"/>
                                        </a:solidFill>
                                        <a:latin typeface="Cambria Math" panose="02040503050406030204" pitchFamily="18" charset="0"/>
                                      </a:rPr>
                                    </m:ctrlPr>
                                  </m:sSubPr>
                                  <m:e>
                                    <m:acc>
                                      <m:accPr>
                                        <m:chr m:val="̂"/>
                                        <m:ctrlPr>
                                          <a:rPr lang="en-US" sz="1400" i="1" smtClean="0">
                                            <a:solidFill>
                                              <a:srgbClr val="000000"/>
                                            </a:solidFill>
                                            <a:latin typeface="Cambria Math" panose="02040503050406030204" pitchFamily="18" charset="0"/>
                                          </a:rPr>
                                        </m:ctrlPr>
                                      </m:accPr>
                                      <m:e>
                                        <m:r>
                                          <a:rPr lang="en-US" sz="1400" b="1" i="1" smtClean="0">
                                            <a:solidFill>
                                              <a:srgbClr val="000000"/>
                                            </a:solidFill>
                                            <a:latin typeface="Cambria Math" panose="02040503050406030204" pitchFamily="18" charset="0"/>
                                          </a:rPr>
                                          <m:t>𝒚</m:t>
                                        </m:r>
                                      </m:e>
                                    </m:acc>
                                  </m:e>
                                  <m:sub>
                                    <m:r>
                                      <a:rPr lang="en-US" sz="1400" b="1" i="1" smtClean="0">
                                        <a:solidFill>
                                          <a:srgbClr val="000000"/>
                                        </a:solidFill>
                                        <a:latin typeface="Cambria Math" panose="02040503050406030204" pitchFamily="18" charset="0"/>
                                      </a:rPr>
                                      <m:t>𝒊</m:t>
                                    </m:r>
                                  </m:sub>
                                </m:sSub>
                                <m:r>
                                  <a:rPr lang="en-US" sz="1400" b="1" i="1" smtClean="0">
                                    <a:solidFill>
                                      <a:srgbClr val="000000"/>
                                    </a:solidFill>
                                    <a:latin typeface="Cambria Math" panose="02040503050406030204" pitchFamily="18" charset="0"/>
                                  </a:rPr>
                                  <m:t>=</m:t>
                                </m:r>
                                <m:r>
                                  <a:rPr lang="en-US" sz="1400" b="1" i="1" smtClean="0">
                                    <a:solidFill>
                                      <a:srgbClr val="000000"/>
                                    </a:solidFill>
                                    <a:latin typeface="Cambria Math" panose="02040503050406030204" pitchFamily="18" charset="0"/>
                                  </a:rPr>
                                  <m:t>𝟔𝟎</m:t>
                                </m:r>
                                <m:r>
                                  <a:rPr lang="en-US" sz="1400" b="1" i="1" smtClean="0">
                                    <a:solidFill>
                                      <a:srgbClr val="000000"/>
                                    </a:solidFill>
                                    <a:latin typeface="Cambria Math" panose="02040503050406030204" pitchFamily="18" charset="0"/>
                                  </a:rPr>
                                  <m:t>+</m:t>
                                </m:r>
                                <m:r>
                                  <a:rPr lang="en-US" sz="1400" b="1" i="1" smtClean="0">
                                    <a:solidFill>
                                      <a:srgbClr val="000000"/>
                                    </a:solidFill>
                                    <a:latin typeface="Cambria Math" panose="02040503050406030204" pitchFamily="18" charset="0"/>
                                  </a:rPr>
                                  <m:t>𝟓</m:t>
                                </m:r>
                                <m:sSub>
                                  <m:sSubPr>
                                    <m:ctrlPr>
                                      <a:rPr lang="en-US" sz="1400" b="1"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𝒙</m:t>
                                    </m:r>
                                  </m:e>
                                  <m:sub>
                                    <m:r>
                                      <a:rPr lang="en-US" sz="1400" b="1" i="1" smtClean="0">
                                        <a:solidFill>
                                          <a:srgbClr val="000000"/>
                                        </a:solidFill>
                                        <a:latin typeface="Cambria Math" panose="02040503050406030204" pitchFamily="18" charset="0"/>
                                      </a:rPr>
                                      <m:t>𝒊</m:t>
                                    </m:r>
                                  </m:sub>
                                </m:sSub>
                              </m:oMath>
                            </m:oMathPara>
                          </a14:m>
                          <a:endParaRPr lang="en-US" sz="1400" dirty="0">
                            <a:solidFill>
                              <a:srgbClr val="000000"/>
                            </a:solidFill>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a:r>
                            <a:rPr lang="en-US" sz="1400" dirty="0">
                              <a:solidFill>
                                <a:srgbClr val="000000"/>
                              </a:solidFill>
                            </a:rPr>
                            <a:t>Error </a:t>
                          </a:r>
                          <a14:m>
                            <m:oMath xmlns:m="http://schemas.openxmlformats.org/officeDocument/2006/math">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𝒚</m:t>
                                  </m:r>
                                </m:e>
                                <m:sub>
                                  <m:r>
                                    <a:rPr lang="en-US" sz="1400" b="1" i="1" smtClean="0">
                                      <a:solidFill>
                                        <a:srgbClr val="000000"/>
                                      </a:solidFill>
                                      <a:latin typeface="Cambria Math" panose="02040503050406030204" pitchFamily="18" charset="0"/>
                                    </a:rPr>
                                    <m:t>𝒊</m:t>
                                  </m:r>
                                </m:sub>
                              </m:sSub>
                              <m:r>
                                <a:rPr lang="en-US" sz="1400" b="1" i="1" smtClean="0">
                                  <a:solidFill>
                                    <a:srgbClr val="000000"/>
                                  </a:solidFill>
                                  <a:latin typeface="Cambria Math" panose="02040503050406030204" pitchFamily="18" charset="0"/>
                                </a:rPr>
                                <m:t>−</m:t>
                              </m:r>
                              <m:sSub>
                                <m:sSubPr>
                                  <m:ctrlPr>
                                    <a:rPr lang="en-US" sz="1400" i="1" smtClean="0">
                                      <a:solidFill>
                                        <a:srgbClr val="000000"/>
                                      </a:solidFill>
                                      <a:latin typeface="Cambria Math" panose="02040503050406030204" pitchFamily="18" charset="0"/>
                                    </a:rPr>
                                  </m:ctrlPr>
                                </m:sSubPr>
                                <m:e>
                                  <m:acc>
                                    <m:accPr>
                                      <m:chr m:val="̂"/>
                                      <m:ctrlPr>
                                        <a:rPr lang="en-US" sz="1400" i="1" smtClean="0">
                                          <a:solidFill>
                                            <a:srgbClr val="000000"/>
                                          </a:solidFill>
                                          <a:latin typeface="Cambria Math" panose="02040503050406030204" pitchFamily="18" charset="0"/>
                                        </a:rPr>
                                      </m:ctrlPr>
                                    </m:accPr>
                                    <m:e>
                                      <m:r>
                                        <a:rPr lang="en-US" sz="1400" b="1" i="1" smtClean="0">
                                          <a:solidFill>
                                            <a:srgbClr val="000000"/>
                                          </a:solidFill>
                                          <a:latin typeface="Cambria Math" panose="02040503050406030204" pitchFamily="18" charset="0"/>
                                        </a:rPr>
                                        <m:t>𝒚</m:t>
                                      </m:r>
                                    </m:e>
                                  </m:acc>
                                </m:e>
                                <m:sub>
                                  <m:r>
                                    <a:rPr lang="en-US" sz="1400" b="1" i="1" smtClean="0">
                                      <a:solidFill>
                                        <a:srgbClr val="000000"/>
                                      </a:solidFill>
                                      <a:latin typeface="Cambria Math" panose="02040503050406030204" pitchFamily="18" charset="0"/>
                                    </a:rPr>
                                    <m:t>𝒊</m:t>
                                  </m:r>
                                </m:sub>
                              </m:sSub>
                            </m:oMath>
                          </a14:m>
                          <a:endParaRPr lang="en-US" sz="1400" dirty="0">
                            <a:solidFill>
                              <a:srgbClr val="000000"/>
                            </a:solidFill>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a:r>
                            <a:rPr lang="en-US" sz="1400" dirty="0">
                              <a:solidFill>
                                <a:srgbClr val="000000"/>
                              </a:solidFill>
                            </a:rPr>
                            <a:t>Squared Error </a:t>
                          </a:r>
                          <a14:m>
                            <m:oMath xmlns:m="http://schemas.openxmlformats.org/officeDocument/2006/math">
                              <m:sSup>
                                <m:sSupPr>
                                  <m:ctrlPr>
                                    <a:rPr lang="en-US" sz="1400" i="1" smtClean="0">
                                      <a:solidFill>
                                        <a:srgbClr val="000000"/>
                                      </a:solidFill>
                                      <a:latin typeface="Cambria Math" panose="02040503050406030204" pitchFamily="18" charset="0"/>
                                    </a:rPr>
                                  </m:ctrlPr>
                                </m:sSupPr>
                                <m:e>
                                  <m:d>
                                    <m:dPr>
                                      <m:ctrlPr>
                                        <a:rPr lang="en-US" sz="1400" i="1" smtClean="0">
                                          <a:solidFill>
                                            <a:srgbClr val="000000"/>
                                          </a:solidFill>
                                          <a:latin typeface="Cambria Math" panose="02040503050406030204" pitchFamily="18" charset="0"/>
                                        </a:rPr>
                                      </m:ctrlPr>
                                    </m:dPr>
                                    <m:e>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𝒚</m:t>
                                          </m:r>
                                        </m:e>
                                        <m:sub>
                                          <m:r>
                                            <a:rPr lang="en-US" sz="1400" b="1" i="1" smtClean="0">
                                              <a:solidFill>
                                                <a:srgbClr val="000000"/>
                                              </a:solidFill>
                                              <a:latin typeface="Cambria Math" panose="02040503050406030204" pitchFamily="18" charset="0"/>
                                            </a:rPr>
                                            <m:t>𝒊</m:t>
                                          </m:r>
                                        </m:sub>
                                      </m:sSub>
                                      <m:r>
                                        <a:rPr lang="en-US" sz="1400" b="1" i="1" smtClean="0">
                                          <a:solidFill>
                                            <a:srgbClr val="000000"/>
                                          </a:solidFill>
                                          <a:latin typeface="Cambria Math" panose="02040503050406030204" pitchFamily="18" charset="0"/>
                                        </a:rPr>
                                        <m:t>−</m:t>
                                      </m:r>
                                      <m:sSub>
                                        <m:sSubPr>
                                          <m:ctrlPr>
                                            <a:rPr lang="en-US" sz="1400" i="1" smtClean="0">
                                              <a:solidFill>
                                                <a:srgbClr val="000000"/>
                                              </a:solidFill>
                                              <a:latin typeface="Cambria Math" panose="02040503050406030204" pitchFamily="18" charset="0"/>
                                            </a:rPr>
                                          </m:ctrlPr>
                                        </m:sSubPr>
                                        <m:e>
                                          <m:acc>
                                            <m:accPr>
                                              <m:chr m:val="̂"/>
                                              <m:ctrlPr>
                                                <a:rPr lang="en-US" sz="1400" i="1" smtClean="0">
                                                  <a:solidFill>
                                                    <a:srgbClr val="000000"/>
                                                  </a:solidFill>
                                                  <a:latin typeface="Cambria Math" panose="02040503050406030204" pitchFamily="18" charset="0"/>
                                                </a:rPr>
                                              </m:ctrlPr>
                                            </m:accPr>
                                            <m:e>
                                              <m:r>
                                                <a:rPr lang="en-US" sz="1400" b="1" i="1" smtClean="0">
                                                  <a:solidFill>
                                                    <a:srgbClr val="000000"/>
                                                  </a:solidFill>
                                                  <a:latin typeface="Cambria Math" panose="02040503050406030204" pitchFamily="18" charset="0"/>
                                                </a:rPr>
                                                <m:t>𝒚</m:t>
                                              </m:r>
                                            </m:e>
                                          </m:acc>
                                        </m:e>
                                        <m:sub>
                                          <m:r>
                                            <a:rPr lang="en-US" sz="1400" b="1" i="1" smtClean="0">
                                              <a:solidFill>
                                                <a:srgbClr val="000000"/>
                                              </a:solidFill>
                                              <a:latin typeface="Cambria Math" panose="02040503050406030204" pitchFamily="18" charset="0"/>
                                            </a:rPr>
                                            <m:t>𝒊</m:t>
                                          </m:r>
                                        </m:sub>
                                      </m:sSub>
                                    </m:e>
                                  </m:d>
                                </m:e>
                                <m:sup>
                                  <m:r>
                                    <a:rPr lang="en-US" sz="1400" b="1" i="1" smtClean="0">
                                      <a:solidFill>
                                        <a:srgbClr val="000000"/>
                                      </a:solidFill>
                                      <a:latin typeface="Cambria Math" panose="02040503050406030204" pitchFamily="18" charset="0"/>
                                    </a:rPr>
                                    <m:t>𝟐</m:t>
                                  </m:r>
                                </m:sup>
                              </m:sSup>
                            </m:oMath>
                          </a14:m>
                          <a:endParaRPr lang="en-US" sz="1400" dirty="0">
                            <a:solidFill>
                              <a:srgbClr val="000000"/>
                            </a:solidFill>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631184426"/>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58</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70</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-12</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144</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561273509"/>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105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225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403820975"/>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-12</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144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766831002"/>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118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324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213302503"/>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117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-3</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30692175"/>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137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140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-3</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76735034"/>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157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160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-3</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742985813"/>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169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160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81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289561230"/>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149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170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-21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441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822458864"/>
                      </a:ext>
                    </a:extLst>
                  </a:tr>
                  <a:tr h="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190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a:t>
                          </a:r>
                          <a:r>
                            <a:rPr lang="en-US" sz="1400" b="0" i="0" u="sng" strike="noStrike" dirty="0">
                              <a:solidFill>
                                <a:srgbClr val="000000"/>
                              </a:solidFill>
                              <a:effectLst/>
                              <a:latin typeface="Cambria Math" panose="02040503050406030204" pitchFamily="18" charset="0"/>
                              <a:ea typeface="Cambria Math" panose="02040503050406030204" pitchFamily="18" charset="0"/>
                            </a:rPr>
                            <a:t>   144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127456605"/>
                      </a:ext>
                    </a:extLst>
                  </a:tr>
                  <a:tr h="0">
                    <a:tc>
                      <a:txBody>
                        <a:bodyPr/>
                        <a:lstStyle/>
                        <a:p>
                          <a:pPr algn="l" fontAlgn="b">
                            <a:tabLst>
                              <a:tab pos="517525" algn="r"/>
                            </a:tabLst>
                          </a:pP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SSE = 1,530</a:t>
                          </a:r>
                          <a:endParaRPr lang="en-US" sz="1400" b="0" i="0" u="sng"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852844030"/>
                      </a:ext>
                    </a:extLst>
                  </a:tr>
                </a:tbl>
              </a:graphicData>
            </a:graphic>
          </p:graphicFrame>
        </mc:Choice>
        <mc:Fallback xmlns="">
          <p:graphicFrame>
            <p:nvGraphicFramePr>
              <p:cNvPr id="7" name="Table 8">
                <a:extLst>
                  <a:ext uri="{FF2B5EF4-FFF2-40B4-BE49-F238E27FC236}">
                    <a16:creationId xmlns:a16="http://schemas.microsoft.com/office/drawing/2014/main" id="{589463E7-34F5-4035-3F6E-0051537E5E8D}"/>
                  </a:ext>
                </a:extLst>
              </p:cNvPr>
              <p:cNvGraphicFramePr>
                <a:graphicFrameLocks noGrp="1"/>
              </p:cNvGraphicFramePr>
              <p:nvPr>
                <p:ph type="tbl" sz="quarter" idx="22"/>
                <p:extLst>
                  <p:ext uri="{D42A27DB-BD31-4B8C-83A1-F6EECF244321}">
                    <p14:modId xmlns:p14="http://schemas.microsoft.com/office/powerpoint/2010/main" val="3165860205"/>
                  </p:ext>
                </p:extLst>
              </p:nvPr>
            </p:nvGraphicFramePr>
            <p:xfrm>
              <a:off x="5370147" y="2677670"/>
              <a:ext cx="6197013" cy="3102610"/>
            </p:xfrm>
            <a:graphic>
              <a:graphicData uri="http://schemas.openxmlformats.org/drawingml/2006/table">
                <a:tbl>
                  <a:tblPr firstRow="1" bandRow="1">
                    <a:tableStyleId>{5C22544A-7EE6-4342-B048-85BDC9FD1C3A}</a:tableStyleId>
                  </a:tblPr>
                  <a:tblGrid>
                    <a:gridCol w="999459">
                      <a:extLst>
                        <a:ext uri="{9D8B030D-6E8A-4147-A177-3AD203B41FA5}">
                          <a16:colId xmlns:a16="http://schemas.microsoft.com/office/drawing/2014/main" val="2915852811"/>
                        </a:ext>
                      </a:extLst>
                    </a:gridCol>
                    <a:gridCol w="1097280">
                      <a:extLst>
                        <a:ext uri="{9D8B030D-6E8A-4147-A177-3AD203B41FA5}">
                          <a16:colId xmlns:a16="http://schemas.microsoft.com/office/drawing/2014/main" val="2947037766"/>
                        </a:ext>
                      </a:extLst>
                    </a:gridCol>
                    <a:gridCol w="1188720">
                      <a:extLst>
                        <a:ext uri="{9D8B030D-6E8A-4147-A177-3AD203B41FA5}">
                          <a16:colId xmlns:a16="http://schemas.microsoft.com/office/drawing/2014/main" val="1021229486"/>
                        </a:ext>
                      </a:extLst>
                    </a:gridCol>
                    <a:gridCol w="1097280">
                      <a:extLst>
                        <a:ext uri="{9D8B030D-6E8A-4147-A177-3AD203B41FA5}">
                          <a16:colId xmlns:a16="http://schemas.microsoft.com/office/drawing/2014/main" val="951547925"/>
                        </a:ext>
                      </a:extLst>
                    </a:gridCol>
                    <a:gridCol w="731520">
                      <a:extLst>
                        <a:ext uri="{9D8B030D-6E8A-4147-A177-3AD203B41FA5}">
                          <a16:colId xmlns:a16="http://schemas.microsoft.com/office/drawing/2014/main" val="1305038350"/>
                        </a:ext>
                      </a:extLst>
                    </a:gridCol>
                    <a:gridCol w="1082754">
                      <a:extLst>
                        <a:ext uri="{9D8B030D-6E8A-4147-A177-3AD203B41FA5}">
                          <a16:colId xmlns:a16="http://schemas.microsoft.com/office/drawing/2014/main" val="3391491469"/>
                        </a:ext>
                      </a:extLst>
                    </a:gridCol>
                  </a:tblGrid>
                  <a:tr h="685800">
                    <a:tc>
                      <a:txBody>
                        <a:bodyPr/>
                        <a:lstStyle/>
                        <a:p>
                          <a:r>
                            <a:rPr lang="en-US" sz="1400" dirty="0">
                              <a:solidFill>
                                <a:srgbClr val="000000"/>
                              </a:solidFill>
                            </a:rPr>
                            <a:t> Restaurant </a:t>
                          </a:r>
                          <a:r>
                            <a:rPr lang="en-US" sz="1400" i="1" dirty="0">
                              <a:solidFill>
                                <a:srgbClr val="000000"/>
                              </a:solidFill>
                            </a:rPr>
                            <a:t>i</a:t>
                          </a: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endParaRPr lang="en-US"/>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91111" t="-7965" r="-374444" b="-366372"/>
                          </a:stretch>
                        </a:blipFill>
                      </a:tcPr>
                    </a:tc>
                    <a:tc>
                      <a:txBody>
                        <a:bodyPr/>
                        <a:lstStyle/>
                        <a:p>
                          <a:endParaRPr lang="en-US"/>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175510" t="-7965" r="-243878" b="-366372"/>
                          </a:stretch>
                        </a:blipFill>
                      </a:tcPr>
                    </a:tc>
                    <a:tc>
                      <a:txBody>
                        <a:bodyPr/>
                        <a:lstStyle/>
                        <a:p>
                          <a:endParaRPr lang="en-US"/>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300000" t="-7965" r="-165556" b="-366372"/>
                          </a:stretch>
                        </a:blipFill>
                      </a:tcPr>
                    </a:tc>
                    <a:tc>
                      <a:txBody>
                        <a:bodyPr/>
                        <a:lstStyle/>
                        <a:p>
                          <a:endParaRPr lang="en-US"/>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600000" t="-7965" r="-148333" b="-366372"/>
                          </a:stretch>
                        </a:blipFill>
                      </a:tcPr>
                    </a:tc>
                    <a:tc>
                      <a:txBody>
                        <a:bodyPr/>
                        <a:lstStyle/>
                        <a:p>
                          <a:endParaRPr lang="en-US"/>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471910" t="-7965" b="-366372"/>
                          </a:stretch>
                        </a:blipFill>
                      </a:tcPr>
                    </a:tc>
                    <a:extLst>
                      <a:ext uri="{0D108BD9-81ED-4DB2-BD59-A6C34878D82A}">
                        <a16:rowId xmlns:a16="http://schemas.microsoft.com/office/drawing/2014/main" val="3631184426"/>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58</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70</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-12</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144</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561273509"/>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105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225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403820975"/>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-12</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144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766831002"/>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118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324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213302503"/>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117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-3</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30692175"/>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137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140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-3</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76735034"/>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157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160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-3</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742985813"/>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169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160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81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289561230"/>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149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170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-21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441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822458864"/>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190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a:t>
                          </a:r>
                          <a:r>
                            <a:rPr lang="en-US" sz="1400" b="0" i="0" u="sng" strike="noStrike" dirty="0">
                              <a:solidFill>
                                <a:srgbClr val="000000"/>
                              </a:solidFill>
                              <a:effectLst/>
                              <a:latin typeface="Cambria Math" panose="02040503050406030204" pitchFamily="18" charset="0"/>
                              <a:ea typeface="Cambria Math" panose="02040503050406030204" pitchFamily="18" charset="0"/>
                            </a:rPr>
                            <a:t>   144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127456605"/>
                      </a:ext>
                    </a:extLst>
                  </a:tr>
                  <a:tr h="219710">
                    <a:tc>
                      <a:txBody>
                        <a:bodyPr/>
                        <a:lstStyle/>
                        <a:p>
                          <a:pPr algn="l" fontAlgn="b">
                            <a:tabLst>
                              <a:tab pos="517525" algn="r"/>
                            </a:tabLst>
                          </a:pP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746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SSE = 1,530</a:t>
                          </a:r>
                          <a:endParaRPr lang="en-US" sz="1400" b="0" i="0" u="sng"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852844030"/>
                      </a:ext>
                    </a:extLst>
                  </a:tr>
                </a:tbl>
              </a:graphicData>
            </a:graphic>
          </p:graphicFrame>
        </mc:Fallback>
      </mc:AlternateContent>
    </p:spTree>
    <p:extLst>
      <p:ext uri="{BB962C8B-B14F-4D97-AF65-F5344CB8AC3E}">
        <p14:creationId xmlns:p14="http://schemas.microsoft.com/office/powerpoint/2010/main" val="4017947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BD4B4-EE30-4C50-A2C3-1CBC00F5C273}"/>
              </a:ext>
            </a:extLst>
          </p:cNvPr>
          <p:cNvSpPr>
            <a:spLocks noGrp="1"/>
          </p:cNvSpPr>
          <p:nvPr>
            <p:ph type="title"/>
          </p:nvPr>
        </p:nvSpPr>
        <p:spPr/>
        <p:txBody>
          <a:bodyPr/>
          <a:lstStyle/>
          <a:p>
            <a:r>
              <a:rPr lang="en-US" dirty="0"/>
              <a:t>14.3 Total Sum of Squares (SST)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A924D5B-5F9E-D5AA-6985-4E8C08F1DD03}"/>
                  </a:ext>
                </a:extLst>
              </p:cNvPr>
              <p:cNvSpPr>
                <a:spLocks noGrp="1"/>
              </p:cNvSpPr>
              <p:nvPr>
                <p:ph type="body" sz="quarter" idx="15"/>
              </p:nvPr>
            </p:nvSpPr>
            <p:spPr>
              <a:xfrm>
                <a:off x="793193" y="1494369"/>
                <a:ext cx="10515599" cy="1659957"/>
              </a:xfrm>
            </p:spPr>
            <p:txBody>
              <a:bodyPr>
                <a:noAutofit/>
              </a:bodyPr>
              <a:lstStyle/>
              <a:p>
                <a:pPr>
                  <a:lnSpc>
                    <a:spcPct val="100000"/>
                  </a:lnSpc>
                  <a:spcBef>
                    <a:spcPts val="600"/>
                  </a:spcBef>
                </a:pPr>
                <a:r>
                  <a:rPr lang="en-US" sz="2000" dirty="0"/>
                  <a:t>For the 𝑖</a:t>
                </a:r>
                <a:r>
                  <a:rPr lang="en-US" sz="2000" dirty="0" err="1"/>
                  <a:t>th</a:t>
                </a:r>
                <a:r>
                  <a:rPr lang="en-US" sz="2000" dirty="0"/>
                  <a:t> restaurant in the sample, the difference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𝑦</m:t>
                        </m:r>
                      </m:e>
                      <m:sub>
                        <m:r>
                          <a:rPr lang="en-US" sz="2000" b="0" i="1" smtClean="0">
                            <a:latin typeface="Cambria Math" panose="02040503050406030204" pitchFamily="18" charset="0"/>
                            <a:cs typeface="Arial" panose="020B0604020202020204" pitchFamily="34" charset="0"/>
                          </a:rPr>
                          <m:t>𝑖</m:t>
                        </m:r>
                      </m:sub>
                    </m:sSub>
                    <m:r>
                      <a:rPr lang="en-US" sz="2000" b="0" i="1" smtClean="0">
                        <a:latin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𝑦</m:t>
                        </m:r>
                      </m:e>
                    </m:acc>
                  </m:oMath>
                </a14:m>
                <a:r>
                  <a:rPr lang="en-US" sz="2000" dirty="0"/>
                  <a:t> provides a measure of the error when using </a:t>
                </a:r>
                <a14:m>
                  <m:oMath xmlns:m="http://schemas.openxmlformats.org/officeDocument/2006/math">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𝑦</m:t>
                        </m:r>
                      </m:e>
                    </m:acc>
                  </m:oMath>
                </a14:m>
                <a:r>
                  <a:rPr lang="en-US" sz="2000" dirty="0"/>
                  <a:t> to predict sales. The corresponding sum of squares, called the </a:t>
                </a:r>
                <a:r>
                  <a:rPr lang="en-US" sz="2000" b="1" dirty="0"/>
                  <a:t>total sum of squares</a:t>
                </a:r>
                <a:r>
                  <a:rPr lang="en-US" sz="2000" dirty="0"/>
                  <a:t>, is denoted by SST.</a:t>
                </a:r>
              </a:p>
              <a:p>
                <a:pPr marL="914400">
                  <a:lnSpc>
                    <a:spcPct val="100000"/>
                  </a:lnSpc>
                  <a:spcBef>
                    <a:spcPts val="600"/>
                  </a:spcBef>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𝑺𝑺𝑻</m:t>
                      </m:r>
                      <m:r>
                        <a:rPr lang="en-US" sz="2000" b="1" i="1" smtClean="0">
                          <a:latin typeface="Cambria Math" panose="02040503050406030204" pitchFamily="18" charset="0"/>
                          <a:cs typeface="Arial" panose="020B0604020202020204" pitchFamily="34" charset="0"/>
                        </a:rPr>
                        <m:t>=</m:t>
                      </m:r>
                      <m:nary>
                        <m:naryPr>
                          <m:chr m:val="∑"/>
                          <m:subHide m:val="on"/>
                          <m:supHide m:val="on"/>
                          <m:ctrlPr>
                            <a:rPr lang="en-US" sz="2000" b="1" i="1" smtClean="0">
                              <a:latin typeface="Cambria Math" panose="02040503050406030204" pitchFamily="18" charset="0"/>
                              <a:cs typeface="Arial" panose="020B0604020202020204" pitchFamily="34" charset="0"/>
                            </a:rPr>
                          </m:ctrlPr>
                        </m:naryPr>
                        <m:sub/>
                        <m:sup/>
                        <m:e>
                          <m:sSup>
                            <m:sSupPr>
                              <m:ctrlPr>
                                <a:rPr lang="en-US" sz="2000" b="1" i="1" smtClean="0">
                                  <a:latin typeface="Cambria Math" panose="02040503050406030204" pitchFamily="18" charset="0"/>
                                  <a:cs typeface="Arial" panose="020B0604020202020204" pitchFamily="34" charset="0"/>
                                </a:rPr>
                              </m:ctrlPr>
                            </m:sSupPr>
                            <m:e>
                              <m:d>
                                <m:dPr>
                                  <m:ctrlPr>
                                    <a:rPr lang="en-US" sz="2000" b="1" i="1" smtClean="0">
                                      <a:latin typeface="Cambria Math" panose="02040503050406030204" pitchFamily="18" charset="0"/>
                                      <a:cs typeface="Arial" panose="020B0604020202020204" pitchFamily="34" charset="0"/>
                                    </a:rPr>
                                  </m:ctrlPr>
                                </m:dPr>
                                <m:e>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𝒚</m:t>
                                      </m:r>
                                    </m:e>
                                    <m:sub>
                                      <m:r>
                                        <a:rPr lang="en-US" sz="2000" b="1" i="1" smtClean="0">
                                          <a:latin typeface="Cambria Math" panose="02040503050406030204" pitchFamily="18" charset="0"/>
                                          <a:cs typeface="Arial" panose="020B0604020202020204" pitchFamily="34" charset="0"/>
                                        </a:rPr>
                                        <m:t>𝒊</m:t>
                                      </m:r>
                                    </m:sub>
                                  </m:sSub>
                                  <m:r>
                                    <a:rPr lang="en-US" sz="2000" b="1" i="1" smtClean="0">
                                      <a:latin typeface="Cambria Math" panose="02040503050406030204" pitchFamily="18" charset="0"/>
                                      <a:cs typeface="Arial" panose="020B0604020202020204" pitchFamily="34" charset="0"/>
                                    </a:rPr>
                                    <m:t>−</m:t>
                                  </m:r>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𝒚</m:t>
                                      </m:r>
                                    </m:e>
                                  </m:acc>
                                </m:e>
                              </m:d>
                            </m:e>
                            <m:sup>
                              <m:r>
                                <a:rPr lang="en-US" sz="2000" b="1" i="1" smtClean="0">
                                  <a:latin typeface="Cambria Math" panose="02040503050406030204" pitchFamily="18" charset="0"/>
                                  <a:cs typeface="Arial" panose="020B0604020202020204" pitchFamily="34" charset="0"/>
                                </a:rPr>
                                <m:t>𝟐</m:t>
                              </m:r>
                            </m:sup>
                          </m:sSup>
                        </m:e>
                      </m:nary>
                    </m:oMath>
                  </m:oMathPara>
                </a14:m>
                <a:endParaRPr lang="en-US" sz="2000" dirty="0"/>
              </a:p>
              <a:p>
                <a:endParaRPr lang="en-US" sz="2000" dirty="0"/>
              </a:p>
            </p:txBody>
          </p:sp>
        </mc:Choice>
        <mc:Fallback xmlns="">
          <p:sp>
            <p:nvSpPr>
              <p:cNvPr id="3" name="Text Placeholder 2">
                <a:extLst>
                  <a:ext uri="{FF2B5EF4-FFF2-40B4-BE49-F238E27FC236}">
                    <a16:creationId xmlns:a16="http://schemas.microsoft.com/office/drawing/2014/main" id="{0A924D5B-5F9E-D5AA-6985-4E8C08F1DD03}"/>
                  </a:ext>
                </a:extLst>
              </p:cNvPr>
              <p:cNvSpPr>
                <a:spLocks noGrp="1" noRot="1" noChangeAspect="1" noMove="1" noResize="1" noEditPoints="1" noAdjustHandles="1" noChangeArrowheads="1" noChangeShapeType="1" noTextEdit="1"/>
              </p:cNvSpPr>
              <p:nvPr>
                <p:ph type="body" sz="quarter" idx="15"/>
              </p:nvPr>
            </p:nvSpPr>
            <p:spPr>
              <a:xfrm>
                <a:off x="793193" y="1494369"/>
                <a:ext cx="10515599" cy="1659957"/>
              </a:xfrm>
              <a:blipFill>
                <a:blip r:embed="rId2"/>
                <a:stretch>
                  <a:fillRect l="-1449" t="-47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073527B5-1A1D-CB8E-D485-92FB4F8BBFB1}"/>
                  </a:ext>
                </a:extLst>
              </p:cNvPr>
              <p:cNvSpPr>
                <a:spLocks noGrp="1"/>
              </p:cNvSpPr>
              <p:nvPr>
                <p:ph type="body" sz="quarter" idx="18"/>
              </p:nvPr>
            </p:nvSpPr>
            <p:spPr>
              <a:xfrm>
                <a:off x="793194" y="3154326"/>
                <a:ext cx="4576953" cy="2549547"/>
              </a:xfrm>
            </p:spPr>
            <p:txBody>
              <a:bodyPr>
                <a:noAutofit/>
              </a:bodyPr>
              <a:lstStyle/>
              <a:p>
                <a:pPr>
                  <a:spcAft>
                    <a:spcPts val="0"/>
                  </a:spcAft>
                </a:pPr>
                <a:r>
                  <a:rPr lang="en-US" sz="2000" dirty="0"/>
                  <a:t>The table to the right shows the calculations required to compute SST for the Armand’s Pizza Parlors example.</a:t>
                </a:r>
              </a:p>
              <a:p>
                <a:pPr>
                  <a:spcAft>
                    <a:spcPts val="0"/>
                  </a:spcAft>
                </a:pPr>
                <a:r>
                  <a:rPr lang="en-US" sz="2000" dirty="0"/>
                  <a:t>Thus, </a:t>
                </a:r>
                <a14:m>
                  <m:oMath xmlns:m="http://schemas.openxmlformats.org/officeDocument/2006/math">
                    <m:r>
                      <a:rPr lang="en-US" sz="2000" i="1" dirty="0" smtClean="0">
                        <a:latin typeface="Cambria Math" panose="02040503050406030204" pitchFamily="18" charset="0"/>
                      </a:rPr>
                      <m:t>𝑆𝑆</m:t>
                    </m:r>
                    <m:r>
                      <a:rPr lang="en-US" sz="2000" b="0" i="1" dirty="0" smtClean="0">
                        <a:latin typeface="Cambria Math" panose="02040503050406030204" pitchFamily="18" charset="0"/>
                      </a:rPr>
                      <m:t>𝑇</m:t>
                    </m:r>
                    <m:r>
                      <a:rPr lang="en-US" sz="2000" i="1" dirty="0" smtClean="0">
                        <a:latin typeface="Cambria Math" panose="02040503050406030204" pitchFamily="18" charset="0"/>
                      </a:rPr>
                      <m:t>=15</m:t>
                    </m:r>
                    <m:r>
                      <a:rPr lang="en-US" sz="2000" b="0" i="1" dirty="0" smtClean="0">
                        <a:latin typeface="Cambria Math" panose="02040503050406030204" pitchFamily="18" charset="0"/>
                      </a:rPr>
                      <m:t>,7</m:t>
                    </m:r>
                    <m:r>
                      <a:rPr lang="en-US" sz="2000" i="1" dirty="0" smtClean="0">
                        <a:latin typeface="Cambria Math" panose="02040503050406030204" pitchFamily="18" charset="0"/>
                      </a:rPr>
                      <m:t>30</m:t>
                    </m:r>
                  </m:oMath>
                </a14:m>
                <a:r>
                  <a:rPr lang="en-US" sz="2000" dirty="0"/>
                  <a:t> measures the error in using </a:t>
                </a:r>
                <a14:m>
                  <m:oMath xmlns:m="http://schemas.openxmlformats.org/officeDocument/2006/math">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𝑦</m:t>
                        </m:r>
                      </m:e>
                    </m:acc>
                    <m:r>
                      <a:rPr lang="en-US" sz="2000" b="0" i="1" smtClean="0">
                        <a:latin typeface="Cambria Math" panose="02040503050406030204" pitchFamily="18" charset="0"/>
                        <a:cs typeface="Arial" panose="020B0604020202020204" pitchFamily="34" charset="0"/>
                      </a:rPr>
                      <m:t>=130</m:t>
                    </m:r>
                  </m:oMath>
                </a14:m>
                <a:r>
                  <a:rPr lang="en-US" sz="2000" dirty="0"/>
                  <a:t> to predict sales.</a:t>
                </a:r>
              </a:p>
              <a:p>
                <a:pPr>
                  <a:spcAft>
                    <a:spcPts val="0"/>
                  </a:spcAft>
                </a:pPr>
                <a:r>
                  <a:rPr lang="en-US" sz="2000" dirty="0"/>
                  <a:t>Note how much larger the squared deviations for SST are when compared to the squared error values for SSE.</a:t>
                </a:r>
              </a:p>
            </p:txBody>
          </p:sp>
        </mc:Choice>
        <mc:Fallback xmlns="">
          <p:sp>
            <p:nvSpPr>
              <p:cNvPr id="5" name="Text Placeholder 4">
                <a:extLst>
                  <a:ext uri="{FF2B5EF4-FFF2-40B4-BE49-F238E27FC236}">
                    <a16:creationId xmlns:a16="http://schemas.microsoft.com/office/drawing/2014/main" id="{073527B5-1A1D-CB8E-D485-92FB4F8BBFB1}"/>
                  </a:ext>
                </a:extLst>
              </p:cNvPr>
              <p:cNvSpPr>
                <a:spLocks noGrp="1" noRot="1" noChangeAspect="1" noMove="1" noResize="1" noEditPoints="1" noAdjustHandles="1" noChangeArrowheads="1" noChangeShapeType="1" noTextEdit="1"/>
              </p:cNvSpPr>
              <p:nvPr>
                <p:ph type="body" sz="quarter" idx="18"/>
              </p:nvPr>
            </p:nvSpPr>
            <p:spPr>
              <a:xfrm>
                <a:off x="793194" y="3154326"/>
                <a:ext cx="4576953" cy="2549547"/>
              </a:xfrm>
              <a:blipFill>
                <a:blip r:embed="rId3"/>
                <a:stretch>
                  <a:fillRect l="-3329" t="-4057" r="-2397" b="-21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8">
                <a:extLst>
                  <a:ext uri="{FF2B5EF4-FFF2-40B4-BE49-F238E27FC236}">
                    <a16:creationId xmlns:a16="http://schemas.microsoft.com/office/drawing/2014/main" id="{589463E7-34F5-4035-3F6E-0051537E5E8D}"/>
                  </a:ext>
                </a:extLst>
              </p:cNvPr>
              <p:cNvGraphicFramePr>
                <a:graphicFrameLocks noGrp="1"/>
              </p:cNvGraphicFramePr>
              <p:nvPr>
                <p:ph type="tbl" sz="quarter" idx="22"/>
                <p:extLst>
                  <p:ext uri="{D42A27DB-BD31-4B8C-83A1-F6EECF244321}">
                    <p14:modId xmlns:p14="http://schemas.microsoft.com/office/powerpoint/2010/main" val="2777579997"/>
                  </p:ext>
                </p:extLst>
              </p:nvPr>
            </p:nvGraphicFramePr>
            <p:xfrm>
              <a:off x="5951393" y="2450450"/>
              <a:ext cx="5181427" cy="3107373"/>
            </p:xfrm>
            <a:graphic>
              <a:graphicData uri="http://schemas.openxmlformats.org/drawingml/2006/table">
                <a:tbl>
                  <a:tblPr firstRow="1" bandRow="1">
                    <a:tableStyleId>{5C22544A-7EE6-4342-B048-85BDC9FD1C3A}</a:tableStyleId>
                  </a:tblPr>
                  <a:tblGrid>
                    <a:gridCol w="999459">
                      <a:extLst>
                        <a:ext uri="{9D8B030D-6E8A-4147-A177-3AD203B41FA5}">
                          <a16:colId xmlns:a16="http://schemas.microsoft.com/office/drawing/2014/main" val="2915852811"/>
                        </a:ext>
                      </a:extLst>
                    </a:gridCol>
                    <a:gridCol w="1097280">
                      <a:extLst>
                        <a:ext uri="{9D8B030D-6E8A-4147-A177-3AD203B41FA5}">
                          <a16:colId xmlns:a16="http://schemas.microsoft.com/office/drawing/2014/main" val="2947037766"/>
                        </a:ext>
                      </a:extLst>
                    </a:gridCol>
                    <a:gridCol w="1188720">
                      <a:extLst>
                        <a:ext uri="{9D8B030D-6E8A-4147-A177-3AD203B41FA5}">
                          <a16:colId xmlns:a16="http://schemas.microsoft.com/office/drawing/2014/main" val="1021229486"/>
                        </a:ext>
                      </a:extLst>
                    </a:gridCol>
                    <a:gridCol w="731520">
                      <a:extLst>
                        <a:ext uri="{9D8B030D-6E8A-4147-A177-3AD203B41FA5}">
                          <a16:colId xmlns:a16="http://schemas.microsoft.com/office/drawing/2014/main" val="1305038350"/>
                        </a:ext>
                      </a:extLst>
                    </a:gridCol>
                    <a:gridCol w="1164448">
                      <a:extLst>
                        <a:ext uri="{9D8B030D-6E8A-4147-A177-3AD203B41FA5}">
                          <a16:colId xmlns:a16="http://schemas.microsoft.com/office/drawing/2014/main" val="3391491469"/>
                        </a:ext>
                      </a:extLst>
                    </a:gridCol>
                  </a:tblGrid>
                  <a:tr h="365760">
                    <a:tc>
                      <a:txBody>
                        <a:bodyPr/>
                        <a:lstStyle/>
                        <a:p>
                          <a:r>
                            <a:rPr lang="en-US" sz="1400" dirty="0">
                              <a:solidFill>
                                <a:srgbClr val="000000"/>
                              </a:solidFill>
                            </a:rPr>
                            <a:t> Restaurant </a:t>
                          </a:r>
                          <a:r>
                            <a:rPr lang="en-US" sz="1400" i="1" dirty="0">
                              <a:solidFill>
                                <a:srgbClr val="000000"/>
                              </a:solidFill>
                            </a:rPr>
                            <a:t>i</a:t>
                          </a: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a14:m>
                            <m:oMath xmlns:m="http://schemas.openxmlformats.org/officeDocument/2006/math">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𝒙</m:t>
                                  </m:r>
                                </m:e>
                                <m:sub>
                                  <m:r>
                                    <a:rPr lang="en-US" sz="1400" b="1" i="1" smtClean="0">
                                      <a:solidFill>
                                        <a:srgbClr val="000000"/>
                                      </a:solidFill>
                                      <a:latin typeface="Cambria Math" panose="02040503050406030204" pitchFamily="18" charset="0"/>
                                    </a:rPr>
                                    <m:t>𝒊</m:t>
                                  </m:r>
                                </m:sub>
                              </m:sSub>
                            </m:oMath>
                          </a14:m>
                          <a:r>
                            <a:rPr lang="en-US" sz="1400" dirty="0">
                              <a:solidFill>
                                <a:srgbClr val="000000"/>
                              </a:solidFill>
                            </a:rPr>
                            <a:t> =</a:t>
                          </a:r>
                          <a:r>
                            <a:rPr lang="en-US" sz="1400" baseline="0" dirty="0">
                              <a:solidFill>
                                <a:srgbClr val="000000"/>
                              </a:solidFill>
                            </a:rPr>
                            <a:t> Student Population (1000s)</a:t>
                          </a:r>
                          <a:endParaRPr lang="en-US" sz="1400" dirty="0">
                            <a:solidFill>
                              <a:srgbClr val="000000"/>
                            </a:solidFill>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a14:m>
                            <m:oMath xmlns:m="http://schemas.openxmlformats.org/officeDocument/2006/math">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𝒚</m:t>
                                  </m:r>
                                </m:e>
                                <m:sub>
                                  <m:r>
                                    <a:rPr lang="en-US" sz="1400" b="1" i="1" smtClean="0">
                                      <a:solidFill>
                                        <a:srgbClr val="000000"/>
                                      </a:solidFill>
                                      <a:latin typeface="Cambria Math" panose="02040503050406030204" pitchFamily="18" charset="0"/>
                                    </a:rPr>
                                    <m:t>𝒊</m:t>
                                  </m:r>
                                </m:sub>
                              </m:sSub>
                            </m:oMath>
                          </a14:m>
                          <a:r>
                            <a:rPr lang="en-US" sz="1400" dirty="0">
                              <a:solidFill>
                                <a:srgbClr val="000000"/>
                              </a:solidFill>
                            </a:rPr>
                            <a:t> = Quarterly Sales</a:t>
                          </a:r>
                        </a:p>
                        <a:p>
                          <a:pPr algn="ctr"/>
                          <a:r>
                            <a:rPr lang="en-US" sz="1400" dirty="0">
                              <a:solidFill>
                                <a:srgbClr val="000000"/>
                              </a:solidFill>
                            </a:rPr>
                            <a:t>($1000s)</a:t>
                          </a: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a:r>
                            <a:rPr lang="en-US" sz="1400" dirty="0">
                              <a:solidFill>
                                <a:srgbClr val="000000"/>
                              </a:solidFill>
                            </a:rPr>
                            <a:t>Deviation </a:t>
                          </a:r>
                          <a14:m>
                            <m:oMath xmlns:m="http://schemas.openxmlformats.org/officeDocument/2006/math">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𝒚</m:t>
                                  </m:r>
                                </m:e>
                                <m:sub>
                                  <m:r>
                                    <a:rPr lang="en-US" sz="1400" b="1" i="1" smtClean="0">
                                      <a:solidFill>
                                        <a:srgbClr val="000000"/>
                                      </a:solidFill>
                                      <a:latin typeface="Cambria Math" panose="02040503050406030204" pitchFamily="18" charset="0"/>
                                    </a:rPr>
                                    <m:t>𝒊</m:t>
                                  </m:r>
                                </m:sub>
                              </m:sSub>
                              <m:r>
                                <a:rPr lang="en-US" sz="1400" b="1" i="1" smtClean="0">
                                  <a:solidFill>
                                    <a:srgbClr val="000000"/>
                                  </a:solidFill>
                                  <a:latin typeface="Cambria Math" panose="02040503050406030204" pitchFamily="18" charset="0"/>
                                </a:rPr>
                                <m:t>−</m:t>
                              </m:r>
                              <m:acc>
                                <m:accPr>
                                  <m:chr m:val="̅"/>
                                  <m:ctrlPr>
                                    <a:rPr lang="en-US" sz="1400" b="1" i="1" smtClean="0">
                                      <a:solidFill>
                                        <a:srgbClr val="000000"/>
                                      </a:solidFill>
                                      <a:latin typeface="Cambria Math" panose="02040503050406030204" pitchFamily="18" charset="0"/>
                                    </a:rPr>
                                  </m:ctrlPr>
                                </m:accPr>
                                <m:e>
                                  <m:r>
                                    <a:rPr lang="en-US" sz="1400" b="1" i="1" smtClean="0">
                                      <a:solidFill>
                                        <a:srgbClr val="000000"/>
                                      </a:solidFill>
                                      <a:latin typeface="Cambria Math" panose="02040503050406030204" pitchFamily="18" charset="0"/>
                                    </a:rPr>
                                    <m:t>𝒚</m:t>
                                  </m:r>
                                </m:e>
                              </m:acc>
                              <m:r>
                                <m:rPr>
                                  <m:nor/>
                                </m:rPr>
                                <a:rPr lang="en-US" sz="1400" dirty="0">
                                  <a:solidFill>
                                    <a:srgbClr val="000000"/>
                                  </a:solidFill>
                                </a:rPr>
                                <m:t> </m:t>
                              </m:r>
                            </m:oMath>
                          </a14:m>
                          <a:endParaRPr lang="en-US" sz="1400" dirty="0">
                            <a:solidFill>
                              <a:srgbClr val="000000"/>
                            </a:solidFill>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a:r>
                            <a:rPr lang="en-US" sz="1400" dirty="0">
                              <a:solidFill>
                                <a:srgbClr val="000000"/>
                              </a:solidFill>
                            </a:rPr>
                            <a:t>Squared Deviation </a:t>
                          </a:r>
                          <a14:m>
                            <m:oMath xmlns:m="http://schemas.openxmlformats.org/officeDocument/2006/math">
                              <m:sSup>
                                <m:sSupPr>
                                  <m:ctrlPr>
                                    <a:rPr lang="en-US" sz="1400" i="1" smtClean="0">
                                      <a:solidFill>
                                        <a:srgbClr val="000000"/>
                                      </a:solidFill>
                                      <a:latin typeface="Cambria Math" panose="02040503050406030204" pitchFamily="18" charset="0"/>
                                    </a:rPr>
                                  </m:ctrlPr>
                                </m:sSupPr>
                                <m:e>
                                  <m:d>
                                    <m:dPr>
                                      <m:ctrlPr>
                                        <a:rPr lang="en-US" sz="1400" i="1" smtClean="0">
                                          <a:solidFill>
                                            <a:srgbClr val="000000"/>
                                          </a:solidFill>
                                          <a:latin typeface="Cambria Math" panose="02040503050406030204" pitchFamily="18" charset="0"/>
                                        </a:rPr>
                                      </m:ctrlPr>
                                    </m:dPr>
                                    <m:e>
                                      <m:sSub>
                                        <m:sSubPr>
                                          <m:ctrlPr>
                                            <a:rPr lang="en-US" sz="1400" i="1" smtClean="0">
                                              <a:solidFill>
                                                <a:srgbClr val="000000"/>
                                              </a:solidFill>
                                              <a:latin typeface="Cambria Math" panose="02040503050406030204" pitchFamily="18" charset="0"/>
                                            </a:rPr>
                                          </m:ctrlPr>
                                        </m:sSubPr>
                                        <m:e>
                                          <m:r>
                                            <a:rPr lang="en-US" sz="1400" b="1" i="1" smtClean="0">
                                              <a:solidFill>
                                                <a:srgbClr val="000000"/>
                                              </a:solidFill>
                                              <a:latin typeface="Cambria Math" panose="02040503050406030204" pitchFamily="18" charset="0"/>
                                            </a:rPr>
                                            <m:t>𝒚</m:t>
                                          </m:r>
                                        </m:e>
                                        <m:sub>
                                          <m:r>
                                            <a:rPr lang="en-US" sz="1400" b="1" i="1" smtClean="0">
                                              <a:solidFill>
                                                <a:srgbClr val="000000"/>
                                              </a:solidFill>
                                              <a:latin typeface="Cambria Math" panose="02040503050406030204" pitchFamily="18" charset="0"/>
                                            </a:rPr>
                                            <m:t>𝒊</m:t>
                                          </m:r>
                                        </m:sub>
                                      </m:sSub>
                                      <m:r>
                                        <a:rPr lang="en-US" sz="1400" b="1" i="1" smtClean="0">
                                          <a:solidFill>
                                            <a:srgbClr val="000000"/>
                                          </a:solidFill>
                                          <a:latin typeface="Cambria Math" panose="02040503050406030204" pitchFamily="18" charset="0"/>
                                        </a:rPr>
                                        <m:t>−</m:t>
                                      </m:r>
                                      <m:acc>
                                        <m:accPr>
                                          <m:chr m:val="̅"/>
                                          <m:ctrlPr>
                                            <a:rPr lang="en-US" sz="1400" b="1" i="1" smtClean="0">
                                              <a:solidFill>
                                                <a:srgbClr val="000000"/>
                                              </a:solidFill>
                                              <a:latin typeface="Cambria Math" panose="02040503050406030204" pitchFamily="18" charset="0"/>
                                            </a:rPr>
                                          </m:ctrlPr>
                                        </m:accPr>
                                        <m:e>
                                          <m:r>
                                            <a:rPr lang="en-US" sz="1400" b="1" i="1" smtClean="0">
                                              <a:solidFill>
                                                <a:srgbClr val="000000"/>
                                              </a:solidFill>
                                              <a:latin typeface="Cambria Math" panose="02040503050406030204" pitchFamily="18" charset="0"/>
                                            </a:rPr>
                                            <m:t>𝒚</m:t>
                                          </m:r>
                                        </m:e>
                                      </m:acc>
                                    </m:e>
                                  </m:d>
                                </m:e>
                                <m:sup>
                                  <m:r>
                                    <a:rPr lang="en-US" sz="1400" b="1" i="1" smtClean="0">
                                      <a:solidFill>
                                        <a:srgbClr val="000000"/>
                                      </a:solidFill>
                                      <a:latin typeface="Cambria Math" panose="02040503050406030204" pitchFamily="18" charset="0"/>
                                    </a:rPr>
                                    <m:t>𝟐</m:t>
                                  </m:r>
                                </m:sup>
                              </m:sSup>
                            </m:oMath>
                          </a14:m>
                          <a:endParaRPr lang="en-US" sz="1400" dirty="0">
                            <a:solidFill>
                              <a:srgbClr val="000000"/>
                            </a:solidFill>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631184426"/>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58</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-72</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5,184</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561273509"/>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105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-25</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625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403820975"/>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-42</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1,764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766831002"/>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118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-12</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144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213302503"/>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117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-13</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169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30692175"/>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137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49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76735034"/>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157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27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729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742985813"/>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169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39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1,521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289561230"/>
                      </a:ext>
                    </a:extLst>
                  </a:tr>
                  <a:tr h="172205">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149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361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822458864"/>
                      </a:ext>
                    </a:extLst>
                  </a:tr>
                  <a:tr h="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72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a:t>
                          </a:r>
                          <a:r>
                            <a:rPr lang="en-US" sz="1400" b="0" i="0" u="sng" strike="noStrike" dirty="0">
                              <a:solidFill>
                                <a:srgbClr val="000000"/>
                              </a:solidFill>
                              <a:effectLst/>
                              <a:latin typeface="Cambria Math" panose="02040503050406030204" pitchFamily="18" charset="0"/>
                              <a:ea typeface="Cambria Math" panose="02040503050406030204" pitchFamily="18" charset="0"/>
                            </a:rPr>
                            <a:t>   5,184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127456605"/>
                      </a:ext>
                    </a:extLst>
                  </a:tr>
                  <a:tr h="0">
                    <a:tc>
                      <a:txBody>
                        <a:bodyPr/>
                        <a:lstStyle/>
                        <a:p>
                          <a:pPr algn="l" fontAlgn="b">
                            <a:tabLst>
                              <a:tab pos="517525" algn="r"/>
                            </a:tabLst>
                          </a:pP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SST = 15,730</a:t>
                          </a:r>
                          <a:endParaRPr lang="en-US" sz="1400" b="0" i="0" u="sng"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695065142"/>
                      </a:ext>
                    </a:extLst>
                  </a:tr>
                </a:tbl>
              </a:graphicData>
            </a:graphic>
          </p:graphicFrame>
        </mc:Choice>
        <mc:Fallback xmlns="">
          <p:graphicFrame>
            <p:nvGraphicFramePr>
              <p:cNvPr id="7" name="Table 8">
                <a:extLst>
                  <a:ext uri="{FF2B5EF4-FFF2-40B4-BE49-F238E27FC236}">
                    <a16:creationId xmlns:a16="http://schemas.microsoft.com/office/drawing/2014/main" id="{589463E7-34F5-4035-3F6E-0051537E5E8D}"/>
                  </a:ext>
                </a:extLst>
              </p:cNvPr>
              <p:cNvGraphicFramePr>
                <a:graphicFrameLocks noGrp="1"/>
              </p:cNvGraphicFramePr>
              <p:nvPr>
                <p:ph type="tbl" sz="quarter" idx="22"/>
                <p:extLst>
                  <p:ext uri="{D42A27DB-BD31-4B8C-83A1-F6EECF244321}">
                    <p14:modId xmlns:p14="http://schemas.microsoft.com/office/powerpoint/2010/main" val="2777579997"/>
                  </p:ext>
                </p:extLst>
              </p:nvPr>
            </p:nvGraphicFramePr>
            <p:xfrm>
              <a:off x="5951393" y="2450450"/>
              <a:ext cx="5181427" cy="3107373"/>
            </p:xfrm>
            <a:graphic>
              <a:graphicData uri="http://schemas.openxmlformats.org/drawingml/2006/table">
                <a:tbl>
                  <a:tblPr firstRow="1" bandRow="1">
                    <a:tableStyleId>{5C22544A-7EE6-4342-B048-85BDC9FD1C3A}</a:tableStyleId>
                  </a:tblPr>
                  <a:tblGrid>
                    <a:gridCol w="999459">
                      <a:extLst>
                        <a:ext uri="{9D8B030D-6E8A-4147-A177-3AD203B41FA5}">
                          <a16:colId xmlns:a16="http://schemas.microsoft.com/office/drawing/2014/main" val="2915852811"/>
                        </a:ext>
                      </a:extLst>
                    </a:gridCol>
                    <a:gridCol w="1097280">
                      <a:extLst>
                        <a:ext uri="{9D8B030D-6E8A-4147-A177-3AD203B41FA5}">
                          <a16:colId xmlns:a16="http://schemas.microsoft.com/office/drawing/2014/main" val="2947037766"/>
                        </a:ext>
                      </a:extLst>
                    </a:gridCol>
                    <a:gridCol w="1188720">
                      <a:extLst>
                        <a:ext uri="{9D8B030D-6E8A-4147-A177-3AD203B41FA5}">
                          <a16:colId xmlns:a16="http://schemas.microsoft.com/office/drawing/2014/main" val="1021229486"/>
                        </a:ext>
                      </a:extLst>
                    </a:gridCol>
                    <a:gridCol w="731520">
                      <a:extLst>
                        <a:ext uri="{9D8B030D-6E8A-4147-A177-3AD203B41FA5}">
                          <a16:colId xmlns:a16="http://schemas.microsoft.com/office/drawing/2014/main" val="1305038350"/>
                        </a:ext>
                      </a:extLst>
                    </a:gridCol>
                    <a:gridCol w="1164448">
                      <a:extLst>
                        <a:ext uri="{9D8B030D-6E8A-4147-A177-3AD203B41FA5}">
                          <a16:colId xmlns:a16="http://schemas.microsoft.com/office/drawing/2014/main" val="3391491469"/>
                        </a:ext>
                      </a:extLst>
                    </a:gridCol>
                  </a:tblGrid>
                  <a:tr h="690563">
                    <a:tc>
                      <a:txBody>
                        <a:bodyPr/>
                        <a:lstStyle/>
                        <a:p>
                          <a:r>
                            <a:rPr lang="en-US" sz="1400" dirty="0">
                              <a:solidFill>
                                <a:srgbClr val="000000"/>
                              </a:solidFill>
                            </a:rPr>
                            <a:t> Restaurant </a:t>
                          </a:r>
                          <a:r>
                            <a:rPr lang="en-US" sz="1400" i="1" dirty="0">
                              <a:solidFill>
                                <a:srgbClr val="000000"/>
                              </a:solidFill>
                            </a:rPr>
                            <a:t>i</a:t>
                          </a: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endParaRPr lang="en-US"/>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91111" t="-7018" r="-281667" b="-364035"/>
                          </a:stretch>
                        </a:blipFill>
                      </a:tcPr>
                    </a:tc>
                    <a:tc>
                      <a:txBody>
                        <a:bodyPr/>
                        <a:lstStyle/>
                        <a:p>
                          <a:endParaRPr lang="en-US"/>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175510" t="-7018" r="-158673" b="-364035"/>
                          </a:stretch>
                        </a:blipFill>
                      </a:tcPr>
                    </a:tc>
                    <a:tc>
                      <a:txBody>
                        <a:bodyPr/>
                        <a:lstStyle/>
                        <a:p>
                          <a:endParaRPr lang="en-US"/>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450000" t="-7018" r="-159167" b="-364035"/>
                          </a:stretch>
                        </a:blipFill>
                      </a:tcPr>
                    </a:tc>
                    <a:tc>
                      <a:txBody>
                        <a:bodyPr/>
                        <a:lstStyle/>
                        <a:p>
                          <a:endParaRPr lang="en-US"/>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345550" t="-7018" b="-364035"/>
                          </a:stretch>
                        </a:blipFill>
                      </a:tcPr>
                    </a:tc>
                    <a:extLst>
                      <a:ext uri="{0D108BD9-81ED-4DB2-BD59-A6C34878D82A}">
                        <a16:rowId xmlns:a16="http://schemas.microsoft.com/office/drawing/2014/main" val="3631184426"/>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58</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-72</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5,184</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561273509"/>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105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-25</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625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403820975"/>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-42</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1,764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766831002"/>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118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-12</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144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213302503"/>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117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a:solidFill>
                                <a:srgbClr val="000000"/>
                              </a:solidFill>
                              <a:effectLst/>
                              <a:latin typeface="Cambria Math" panose="02040503050406030204" pitchFamily="18" charset="0"/>
                              <a:ea typeface="Cambria Math" panose="02040503050406030204" pitchFamily="18" charset="0"/>
                            </a:rPr>
                            <a:t>	-13</a:t>
                          </a: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169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30692175"/>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137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49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76735034"/>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157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27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729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742985813"/>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169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39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1,521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289561230"/>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149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361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822458864"/>
                      </a:ext>
                    </a:extLst>
                  </a:tr>
                  <a:tr h="219710">
                    <a:tc>
                      <a:txBody>
                        <a:bodyPr/>
                        <a:lstStyle/>
                        <a:p>
                          <a:pPr algn="l" fontAlgn="b">
                            <a:tabLst>
                              <a:tab pos="51752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10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r>
                            <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rPr>
                            <a:t>	202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72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	</a:t>
                          </a:r>
                          <a:r>
                            <a:rPr lang="en-US" sz="1400" b="0" i="0" u="sng" strike="noStrike" dirty="0">
                              <a:solidFill>
                                <a:srgbClr val="000000"/>
                              </a:solidFill>
                              <a:effectLst/>
                              <a:latin typeface="Cambria Math" panose="02040503050406030204" pitchFamily="18" charset="0"/>
                              <a:ea typeface="Cambria Math" panose="02040503050406030204" pitchFamily="18" charset="0"/>
                            </a:rPr>
                            <a:t>   5,184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127456605"/>
                      </a:ext>
                    </a:extLst>
                  </a:tr>
                  <a:tr h="219710">
                    <a:tc>
                      <a:txBody>
                        <a:bodyPr/>
                        <a:lstStyle/>
                        <a:p>
                          <a:pPr algn="l" fontAlgn="b">
                            <a:tabLst>
                              <a:tab pos="517525" algn="r"/>
                            </a:tabLst>
                          </a:pP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87388" algn="r"/>
                            </a:tabLst>
                          </a:pPr>
                          <a:endParaRPr lang="en-US" sz="14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460375" algn="r"/>
                            </a:tabLst>
                          </a:pPr>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7388" algn="r"/>
                            </a:tabLst>
                          </a:pPr>
                          <a:r>
                            <a:rPr lang="en-US" sz="1400" b="0" i="0" u="none" strike="noStrike" dirty="0">
                              <a:solidFill>
                                <a:srgbClr val="000000"/>
                              </a:solidFill>
                              <a:effectLst/>
                              <a:latin typeface="Cambria Math" panose="02040503050406030204" pitchFamily="18" charset="0"/>
                              <a:ea typeface="Cambria Math" panose="02040503050406030204" pitchFamily="18" charset="0"/>
                            </a:rPr>
                            <a:t>SST = 15,730</a:t>
                          </a:r>
                          <a:endParaRPr lang="en-US" sz="1400" b="0" i="0" u="sng"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695065142"/>
                      </a:ext>
                    </a:extLst>
                  </a:tr>
                </a:tbl>
              </a:graphicData>
            </a:graphic>
          </p:graphicFrame>
        </mc:Fallback>
      </mc:AlternateContent>
    </p:spTree>
    <p:extLst>
      <p:ext uri="{BB962C8B-B14F-4D97-AF65-F5344CB8AC3E}">
        <p14:creationId xmlns:p14="http://schemas.microsoft.com/office/powerpoint/2010/main" val="2696666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BD4B4-EE30-4C50-A2C3-1CBC00F5C273}"/>
              </a:ext>
            </a:extLst>
          </p:cNvPr>
          <p:cNvSpPr>
            <a:spLocks noGrp="1"/>
          </p:cNvSpPr>
          <p:nvPr>
            <p:ph type="title"/>
          </p:nvPr>
        </p:nvSpPr>
        <p:spPr>
          <a:xfrm>
            <a:off x="709451" y="365125"/>
            <a:ext cx="10778359" cy="672105"/>
          </a:xfrm>
        </p:spPr>
        <p:txBody>
          <a:bodyPr/>
          <a:lstStyle/>
          <a:p>
            <a:r>
              <a:rPr lang="en-US" dirty="0"/>
              <a:t>14.3 Sum of Squares Due to Regression (SSR)</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A924D5B-5F9E-D5AA-6985-4E8C08F1DD03}"/>
                  </a:ext>
                </a:extLst>
              </p:cNvPr>
              <p:cNvSpPr>
                <a:spLocks noGrp="1"/>
              </p:cNvSpPr>
              <p:nvPr>
                <p:ph type="body" sz="quarter" idx="15"/>
              </p:nvPr>
            </p:nvSpPr>
            <p:spPr>
              <a:xfrm>
                <a:off x="743576" y="1283364"/>
                <a:ext cx="10610223" cy="1778813"/>
              </a:xfrm>
            </p:spPr>
            <p:txBody>
              <a:bodyPr/>
              <a:lstStyle/>
              <a:p>
                <a:r>
                  <a:rPr lang="en-US" sz="2000" dirty="0"/>
                  <a:t>The difference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𝑦</m:t>
                            </m:r>
                          </m:e>
                        </m:acc>
                      </m:e>
                      <m:sub>
                        <m:r>
                          <a:rPr lang="en-US" sz="2000" b="0" i="1">
                            <a:latin typeface="Cambria Math" panose="02040503050406030204" pitchFamily="18" charset="0"/>
                            <a:cs typeface="Arial" panose="020B0604020202020204" pitchFamily="34" charset="0"/>
                          </a:rPr>
                          <m:t>𝑖</m:t>
                        </m:r>
                      </m:sub>
                    </m:sSub>
                    <m:r>
                      <a:rPr lang="en-US" sz="2000" b="0" i="1" smtClean="0">
                        <a:latin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𝑦</m:t>
                        </m:r>
                      </m:e>
                    </m:acc>
                  </m:oMath>
                </a14:m>
                <a:r>
                  <a:rPr lang="en-US" sz="2000" dirty="0"/>
                  <a:t> provides a measure of how much the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𝑦</m:t>
                            </m:r>
                          </m:e>
                        </m:acc>
                      </m:e>
                      <m:sub>
                        <m:r>
                          <a:rPr lang="en-US" sz="2000" i="1">
                            <a:latin typeface="Cambria Math" panose="02040503050406030204" pitchFamily="18" charset="0"/>
                            <a:cs typeface="Arial" panose="020B0604020202020204" pitchFamily="34" charset="0"/>
                          </a:rPr>
                          <m:t>𝑖</m:t>
                        </m:r>
                      </m:sub>
                    </m:sSub>
                  </m:oMath>
                </a14:m>
                <a:r>
                  <a:rPr lang="en-US" sz="2000" dirty="0"/>
                  <a:t> values on the estimated regression line (depicted in </a:t>
                </a:r>
                <a:r>
                  <a:rPr lang="en-US" sz="2000" dirty="0">
                    <a:solidFill>
                      <a:srgbClr val="00B050"/>
                    </a:solidFill>
                  </a:rPr>
                  <a:t>green</a:t>
                </a:r>
                <a:r>
                  <a:rPr lang="en-US" sz="2000" dirty="0"/>
                  <a:t> in the scatter diagram) deviate from </a:t>
                </a:r>
                <a14:m>
                  <m:oMath xmlns:m="http://schemas.openxmlformats.org/officeDocument/2006/math">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𝑦</m:t>
                        </m:r>
                      </m:e>
                    </m:acc>
                  </m:oMath>
                </a14:m>
                <a:r>
                  <a:rPr lang="en-US" sz="2000" dirty="0"/>
                  <a:t> (depicted in </a:t>
                </a:r>
                <a:r>
                  <a:rPr lang="en-US" sz="2000" dirty="0">
                    <a:solidFill>
                      <a:srgbClr val="0070C0"/>
                    </a:solidFill>
                  </a:rPr>
                  <a:t>blue</a:t>
                </a:r>
                <a:r>
                  <a:rPr lang="en-US" sz="2000" dirty="0"/>
                  <a:t>.)</a:t>
                </a:r>
              </a:p>
              <a:p>
                <a:pPr>
                  <a:spcAft>
                    <a:spcPts val="600"/>
                  </a:spcAft>
                </a:pPr>
                <a:r>
                  <a:rPr lang="en-US" sz="2000" dirty="0"/>
                  <a:t>The corresponding sum of squares is the </a:t>
                </a:r>
                <a:r>
                  <a:rPr lang="en-US" sz="2000" b="1" dirty="0"/>
                  <a:t>sum of squares</a:t>
                </a:r>
                <a:r>
                  <a:rPr lang="en-US" sz="2000" dirty="0"/>
                  <a:t> </a:t>
                </a:r>
                <a:r>
                  <a:rPr lang="en-US" sz="2000" b="1" dirty="0"/>
                  <a:t>due to regression</a:t>
                </a:r>
                <a:r>
                  <a:rPr lang="en-US" sz="2000" dirty="0"/>
                  <a:t>, SSR.</a:t>
                </a:r>
              </a:p>
              <a:p>
                <a:pPr marL="914400">
                  <a:spcBef>
                    <a:spcPts val="0"/>
                  </a:spcBef>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𝑺𝑺𝑹</m:t>
                      </m:r>
                      <m:r>
                        <a:rPr lang="en-US" sz="2000" b="1" i="1" smtClean="0">
                          <a:latin typeface="Cambria Math" panose="02040503050406030204" pitchFamily="18" charset="0"/>
                          <a:cs typeface="Arial" panose="020B0604020202020204" pitchFamily="34" charset="0"/>
                        </a:rPr>
                        <m:t>=</m:t>
                      </m:r>
                      <m:nary>
                        <m:naryPr>
                          <m:chr m:val="∑"/>
                          <m:subHide m:val="on"/>
                          <m:supHide m:val="on"/>
                          <m:ctrlPr>
                            <a:rPr lang="en-US" sz="2000" b="1" i="1" smtClean="0">
                              <a:latin typeface="Cambria Math" panose="02040503050406030204" pitchFamily="18" charset="0"/>
                              <a:cs typeface="Arial" panose="020B0604020202020204" pitchFamily="34" charset="0"/>
                            </a:rPr>
                          </m:ctrlPr>
                        </m:naryPr>
                        <m:sub/>
                        <m:sup/>
                        <m:e>
                          <m:sSup>
                            <m:sSupPr>
                              <m:ctrlPr>
                                <a:rPr lang="en-US" sz="2000" b="1" i="1" smtClean="0">
                                  <a:latin typeface="Cambria Math" panose="02040503050406030204" pitchFamily="18" charset="0"/>
                                  <a:cs typeface="Arial" panose="020B0604020202020204" pitchFamily="34" charset="0"/>
                                </a:rPr>
                              </m:ctrlPr>
                            </m:sSupPr>
                            <m:e>
                              <m:d>
                                <m:dPr>
                                  <m:ctrlPr>
                                    <a:rPr lang="en-US" sz="2000" b="1" i="1" smtClean="0">
                                      <a:latin typeface="Cambria Math" panose="02040503050406030204" pitchFamily="18" charset="0"/>
                                      <a:cs typeface="Arial" panose="020B0604020202020204" pitchFamily="34" charset="0"/>
                                    </a:rPr>
                                  </m:ctrlPr>
                                </m:dPr>
                                <m:e>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𝒚</m:t>
                                          </m:r>
                                        </m:e>
                                      </m:acc>
                                    </m:e>
                                    <m:sub>
                                      <m:r>
                                        <a:rPr lang="en-US" sz="2000" b="1" i="1">
                                          <a:latin typeface="Cambria Math" panose="02040503050406030204" pitchFamily="18" charset="0"/>
                                          <a:cs typeface="Arial" panose="020B0604020202020204" pitchFamily="34" charset="0"/>
                                        </a:rPr>
                                        <m:t>𝒊</m:t>
                                      </m:r>
                                    </m:sub>
                                  </m:sSub>
                                  <m:r>
                                    <a:rPr lang="en-US" sz="2000" b="1" i="1" smtClean="0">
                                      <a:latin typeface="Cambria Math" panose="02040503050406030204" pitchFamily="18" charset="0"/>
                                      <a:cs typeface="Arial" panose="020B0604020202020204" pitchFamily="34" charset="0"/>
                                    </a:rPr>
                                    <m:t>−</m:t>
                                  </m:r>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𝒚</m:t>
                                      </m:r>
                                    </m:e>
                                  </m:acc>
                                </m:e>
                              </m:d>
                            </m:e>
                            <m:sup>
                              <m:r>
                                <a:rPr lang="en-US" sz="2000" b="1" i="1" smtClean="0">
                                  <a:latin typeface="Cambria Math" panose="02040503050406030204" pitchFamily="18" charset="0"/>
                                  <a:cs typeface="Arial" panose="020B0604020202020204" pitchFamily="34" charset="0"/>
                                </a:rPr>
                                <m:t>𝟐</m:t>
                              </m:r>
                            </m:sup>
                          </m:sSup>
                        </m:e>
                      </m:nary>
                    </m:oMath>
                  </m:oMathPara>
                </a14:m>
                <a:endParaRPr lang="en-US" sz="2000" dirty="0"/>
              </a:p>
            </p:txBody>
          </p:sp>
        </mc:Choice>
        <mc:Fallback xmlns="">
          <p:sp>
            <p:nvSpPr>
              <p:cNvPr id="3" name="Text Placeholder 2">
                <a:extLst>
                  <a:ext uri="{FF2B5EF4-FFF2-40B4-BE49-F238E27FC236}">
                    <a16:creationId xmlns:a16="http://schemas.microsoft.com/office/drawing/2014/main" id="{0A924D5B-5F9E-D5AA-6985-4E8C08F1DD03}"/>
                  </a:ext>
                </a:extLst>
              </p:cNvPr>
              <p:cNvSpPr>
                <a:spLocks noGrp="1" noRot="1" noChangeAspect="1" noMove="1" noResize="1" noEditPoints="1" noAdjustHandles="1" noChangeArrowheads="1" noChangeShapeType="1" noTextEdit="1"/>
              </p:cNvSpPr>
              <p:nvPr>
                <p:ph type="body" sz="quarter" idx="15"/>
              </p:nvPr>
            </p:nvSpPr>
            <p:spPr>
              <a:xfrm>
                <a:off x="743576" y="1283364"/>
                <a:ext cx="10610223" cy="1778813"/>
              </a:xfrm>
              <a:blipFill>
                <a:blip r:embed="rId2"/>
                <a:stretch>
                  <a:fillRect l="-1494" t="-41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073527B5-1A1D-CB8E-D485-92FB4F8BBFB1}"/>
                  </a:ext>
                </a:extLst>
              </p:cNvPr>
              <p:cNvSpPr>
                <a:spLocks noGrp="1"/>
              </p:cNvSpPr>
              <p:nvPr>
                <p:ph type="body" sz="quarter" idx="17"/>
              </p:nvPr>
            </p:nvSpPr>
            <p:spPr>
              <a:xfrm>
                <a:off x="743576" y="3090530"/>
                <a:ext cx="6248431" cy="2622698"/>
              </a:xfrm>
            </p:spPr>
            <p:txBody>
              <a:bodyPr/>
              <a:lstStyle/>
              <a:p>
                <a:pPr>
                  <a:spcAft>
                    <a:spcPts val="600"/>
                  </a:spcAft>
                </a:pPr>
                <a:r>
                  <a:rPr lang="en-US" sz="2000" dirty="0"/>
                  <a:t>The total sum of squares, SST, can be partitioned into two components: the sum of squares due to regression, SSR, and the sum of squares due to error, SSE.</a:t>
                </a:r>
              </a:p>
              <a:p>
                <a:pPr marL="914400">
                  <a:spcAft>
                    <a:spcPts val="600"/>
                  </a:spcAft>
                </a:pPr>
                <a14:m>
                  <m:oMathPara xmlns:m="http://schemas.openxmlformats.org/officeDocument/2006/math">
                    <m:oMathParaPr>
                      <m:jc m:val="left"/>
                    </m:oMathParaPr>
                    <m:oMath xmlns:m="http://schemas.openxmlformats.org/officeDocument/2006/math">
                      <m:r>
                        <a:rPr lang="en-US" sz="2000" i="1" dirty="0" smtClean="0">
                          <a:latin typeface="Cambria Math" panose="02040503050406030204" pitchFamily="18" charset="0"/>
                        </a:rPr>
                        <m:t>𝑆𝑆𝑇</m:t>
                      </m:r>
                      <m:r>
                        <a:rPr lang="en-US" sz="2000" i="1" dirty="0" smtClean="0">
                          <a:latin typeface="Cambria Math" panose="02040503050406030204" pitchFamily="18" charset="0"/>
                        </a:rPr>
                        <m:t>=</m:t>
                      </m:r>
                      <m:r>
                        <a:rPr lang="en-US" sz="2000" i="1" dirty="0" smtClean="0">
                          <a:latin typeface="Cambria Math" panose="02040503050406030204" pitchFamily="18" charset="0"/>
                        </a:rPr>
                        <m:t>𝑆𝑆𝑅</m:t>
                      </m:r>
                      <m:r>
                        <a:rPr lang="en-US" sz="2000" i="1" dirty="0" smtClean="0">
                          <a:latin typeface="Cambria Math" panose="02040503050406030204" pitchFamily="18" charset="0"/>
                        </a:rPr>
                        <m:t>+</m:t>
                      </m:r>
                      <m:r>
                        <a:rPr lang="en-US" sz="2000" i="1" dirty="0" smtClean="0">
                          <a:latin typeface="Cambria Math" panose="02040503050406030204" pitchFamily="18" charset="0"/>
                        </a:rPr>
                        <m:t>𝑆𝑆𝐸</m:t>
                      </m:r>
                    </m:oMath>
                  </m:oMathPara>
                </a14:m>
                <a:endParaRPr lang="en-US" sz="2000" dirty="0"/>
              </a:p>
              <a:p>
                <a:pPr>
                  <a:spcAft>
                    <a:spcPts val="600"/>
                  </a:spcAft>
                </a:pPr>
                <a:r>
                  <a:rPr lang="en-US" sz="2000" dirty="0"/>
                  <a:t>For instance, in the Armand’s Pizza Parlors example, we can solve for SSR and obtain</a:t>
                </a:r>
              </a:p>
              <a:p>
                <a:pPr marL="914400">
                  <a:spcAft>
                    <a:spcPts val="0"/>
                  </a:spcAft>
                </a:pPr>
                <a14:m>
                  <m:oMath xmlns:m="http://schemas.openxmlformats.org/officeDocument/2006/math">
                    <m:r>
                      <a:rPr lang="en-US" sz="2000" i="1" dirty="0" smtClean="0">
                        <a:latin typeface="Cambria Math" panose="02040503050406030204" pitchFamily="18" charset="0"/>
                      </a:rPr>
                      <m:t>𝑆𝑆𝑅</m:t>
                    </m:r>
                    <m:r>
                      <a:rPr lang="en-US" sz="2000" b="0" i="1" dirty="0" smtClean="0">
                        <a:latin typeface="Cambria Math" panose="02040503050406030204" pitchFamily="18" charset="0"/>
                      </a:rPr>
                      <m:t>=15,730−1530=14,200</m:t>
                    </m:r>
                  </m:oMath>
                </a14:m>
                <a:r>
                  <a:rPr lang="en-US" sz="2000" dirty="0"/>
                  <a:t> </a:t>
                </a:r>
              </a:p>
            </p:txBody>
          </p:sp>
        </mc:Choice>
        <mc:Fallback xmlns="">
          <p:sp>
            <p:nvSpPr>
              <p:cNvPr id="5" name="Text Placeholder 4">
                <a:extLst>
                  <a:ext uri="{FF2B5EF4-FFF2-40B4-BE49-F238E27FC236}">
                    <a16:creationId xmlns:a16="http://schemas.microsoft.com/office/drawing/2014/main" id="{073527B5-1A1D-CB8E-D485-92FB4F8BBFB1}"/>
                  </a:ext>
                </a:extLst>
              </p:cNvPr>
              <p:cNvSpPr>
                <a:spLocks noGrp="1" noRot="1" noChangeAspect="1" noMove="1" noResize="1" noEditPoints="1" noAdjustHandles="1" noChangeArrowheads="1" noChangeShapeType="1" noTextEdit="1"/>
              </p:cNvSpPr>
              <p:nvPr>
                <p:ph type="body" sz="quarter" idx="17"/>
              </p:nvPr>
            </p:nvSpPr>
            <p:spPr>
              <a:xfrm>
                <a:off x="743576" y="3090530"/>
                <a:ext cx="6248431" cy="2622698"/>
              </a:xfrm>
              <a:blipFill>
                <a:blip r:embed="rId3"/>
                <a:stretch>
                  <a:fillRect l="-2537" t="-2791" r="-3512"/>
                </a:stretch>
              </a:blipFill>
            </p:spPr>
            <p:txBody>
              <a:bodyPr/>
              <a:lstStyle/>
              <a:p>
                <a:r>
                  <a:rPr lang="en-US">
                    <a:noFill/>
                  </a:rPr>
                  <a:t> </a:t>
                </a:r>
              </a:p>
            </p:txBody>
          </p:sp>
        </mc:Fallback>
      </mc:AlternateContent>
      <p:pic>
        <p:nvPicPr>
          <p:cNvPr id="8" name="Picture Placeholder 7" descr="A scatter diagram with 10 data points, a regression line, and a line for y plots quarterly sales versus student population. The horizontal axis is labeled “Student Population (1000s)” and ranges from 0 to 26 with tickmarks in increments of 2. The vertical axis is labeled “Quarterly Sales ($1000s)” and ranges from 0 to 220 with tickmarks in increments of 20. The coordinates of the points are (2, 58), (6, 105), (8, 88), (8, 118), (12, 117), (16, 137), (20, 157), (20, 169), (22, 149), and (26, 202). The regression line labeled “y-hat = 60 + 5x” starts from (0, 60) and slopes upward through (26, 185). The line labeled “y = y-bar = 130” starts from (0, 130) and passes through (26, 130). The vertical distance between (26, 202) and (26, 185) is labeled “y_10 minus y_10-hat.” The vertical distance between (26, 185) and (26, 130) is labeled “y_10-hat minus y-bar.” The vertical distance between (26, 202) and (26, 130) is labeled “y_10 minus y-bar.” All data are approximate. &#10;">
            <a:extLst>
              <a:ext uri="{FF2B5EF4-FFF2-40B4-BE49-F238E27FC236}">
                <a16:creationId xmlns:a16="http://schemas.microsoft.com/office/drawing/2014/main" id="{B08200B1-C045-9282-2F58-EEE4DFEFDA1B}"/>
              </a:ext>
            </a:extLst>
          </p:cNvPr>
          <p:cNvPicPr>
            <a:picLocks noGrp="1" noChangeAspect="1"/>
          </p:cNvPicPr>
          <p:nvPr>
            <p:ph type="pic" sz="quarter" idx="16"/>
          </p:nvPr>
        </p:nvPicPr>
        <p:blipFill rotWithShape="1">
          <a:blip r:embed="rId4"/>
          <a:srcRect l="72" r="72"/>
          <a:stretch/>
        </p:blipFill>
        <p:spPr>
          <a:xfrm>
            <a:off x="7165975" y="2348899"/>
            <a:ext cx="4151313" cy="3586162"/>
          </a:xfrm>
        </p:spPr>
      </p:pic>
    </p:spTree>
    <p:extLst>
      <p:ext uri="{BB962C8B-B14F-4D97-AF65-F5344CB8AC3E}">
        <p14:creationId xmlns:p14="http://schemas.microsoft.com/office/powerpoint/2010/main" val="19149147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14.3 Compute the Coefficient of Determination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685800" y="1408449"/>
                <a:ext cx="10781737" cy="4262246"/>
              </a:xfrm>
            </p:spPr>
            <p:txBody>
              <a:bodyPr/>
              <a:lstStyle/>
              <a:p>
                <a:pPr>
                  <a:spcBef>
                    <a:spcPts val="600"/>
                  </a:spcBef>
                  <a:spcAft>
                    <a:spcPts val="0"/>
                  </a:spcAft>
                </a:pPr>
                <a:r>
                  <a:rPr lang="en-US" sz="2000" dirty="0">
                    <a:solidFill>
                      <a:srgbClr val="000000"/>
                    </a:solidFill>
                    <a:cs typeface="Arial" panose="020B0604020202020204" pitchFamily="34" charset="0"/>
                  </a:rPr>
                  <a:t>The estimated regression equation provides a perfect fit when every value of the dependent variable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𝑦</m:t>
                        </m:r>
                      </m:e>
                      <m:sub>
                        <m:r>
                          <a:rPr lang="en-US" sz="2000" b="0" i="1" smtClean="0">
                            <a:latin typeface="Cambria Math" panose="02040503050406030204" pitchFamily="18" charset="0"/>
                            <a:cs typeface="Arial" panose="020B0604020202020204" pitchFamily="34" charset="0"/>
                          </a:rPr>
                          <m:t>𝑖</m:t>
                        </m:r>
                      </m:sub>
                    </m:sSub>
                  </m:oMath>
                </a14:m>
                <a:r>
                  <a:rPr lang="en-US" sz="2000" dirty="0">
                    <a:solidFill>
                      <a:srgbClr val="000000"/>
                    </a:solidFill>
                    <a:cs typeface="Arial" panose="020B0604020202020204" pitchFamily="34" charset="0"/>
                  </a:rPr>
                  <a:t> lies on the estimated regression line,</a:t>
                </a:r>
                <a:r>
                  <a:rPr lang="en-US" sz="2000" dirty="0">
                    <a:cs typeface="Arial" panose="020B0604020202020204" pitchFamily="34" charset="0"/>
                  </a:rPr>
                  <a:t> so that </a:t>
                </a:r>
                <a:r>
                  <a:rPr lang="en-US" sz="2000" dirty="0">
                    <a:solidFill>
                      <a:srgbClr val="000000"/>
                    </a:solidFill>
                    <a:cs typeface="Arial" panose="020B0604020202020204" pitchFamily="34" charset="0"/>
                  </a:rPr>
                  <a:t>all residuals </a:t>
                </a:r>
                <a14:m>
                  <m:oMath xmlns:m="http://schemas.openxmlformats.org/officeDocument/2006/math">
                    <m:sSub>
                      <m:sSubPr>
                        <m:ctrlPr>
                          <a:rPr lang="en-US" sz="1800" i="1" smtClean="0">
                            <a:latin typeface="Cambria Math" panose="02040503050406030204" pitchFamily="18" charset="0"/>
                            <a:cs typeface="Arial" panose="020B0604020202020204" pitchFamily="34" charset="0"/>
                          </a:rPr>
                        </m:ctrlPr>
                      </m:sSubPr>
                      <m:e>
                        <m:r>
                          <a:rPr lang="en-US" sz="1800" i="1">
                            <a:latin typeface="Cambria Math" panose="02040503050406030204" pitchFamily="18" charset="0"/>
                            <a:cs typeface="Arial" panose="020B0604020202020204" pitchFamily="34" charset="0"/>
                          </a:rPr>
                          <m:t>𝑦</m:t>
                        </m:r>
                      </m:e>
                      <m:sub>
                        <m:r>
                          <a:rPr lang="en-US" sz="1800" i="1">
                            <a:latin typeface="Cambria Math" panose="02040503050406030204" pitchFamily="18" charset="0"/>
                            <a:cs typeface="Arial" panose="020B0604020202020204" pitchFamily="34" charset="0"/>
                          </a:rPr>
                          <m:t>𝑖</m:t>
                        </m:r>
                      </m:sub>
                    </m:sSub>
                    <m:r>
                      <a:rPr lang="en-US" sz="1800" i="1">
                        <a:latin typeface="Cambria Math" panose="02040503050406030204" pitchFamily="18" charset="0"/>
                        <a:cs typeface="Arial" panose="020B0604020202020204" pitchFamily="34" charset="0"/>
                      </a:rPr>
                      <m:t>−</m:t>
                    </m:r>
                    <m:sSub>
                      <m:sSubPr>
                        <m:ctrlPr>
                          <a:rPr lang="en-US" sz="1800" i="1">
                            <a:latin typeface="Cambria Math" panose="02040503050406030204" pitchFamily="18" charset="0"/>
                            <a:cs typeface="Arial" panose="020B0604020202020204" pitchFamily="34" charset="0"/>
                          </a:rPr>
                        </m:ctrlPr>
                      </m:sSubPr>
                      <m:e>
                        <m:acc>
                          <m:accPr>
                            <m:chr m:val="̂"/>
                            <m:ctrlPr>
                              <a:rPr lang="en-US" sz="1800" i="1">
                                <a:latin typeface="Cambria Math" panose="02040503050406030204" pitchFamily="18" charset="0"/>
                                <a:cs typeface="Arial" panose="020B0604020202020204" pitchFamily="34" charset="0"/>
                              </a:rPr>
                            </m:ctrlPr>
                          </m:accPr>
                          <m:e>
                            <m:r>
                              <a:rPr lang="en-US" sz="1800" i="1">
                                <a:latin typeface="Cambria Math" panose="02040503050406030204" pitchFamily="18" charset="0"/>
                                <a:cs typeface="Arial" panose="020B0604020202020204" pitchFamily="34" charset="0"/>
                              </a:rPr>
                              <m:t>𝑦</m:t>
                            </m:r>
                          </m:e>
                        </m:acc>
                      </m:e>
                      <m:sub>
                        <m:r>
                          <a:rPr lang="en-US" sz="1800" i="1">
                            <a:latin typeface="Cambria Math" panose="02040503050406030204" pitchFamily="18" charset="0"/>
                            <a:cs typeface="Arial" panose="020B0604020202020204" pitchFamily="34" charset="0"/>
                          </a:rPr>
                          <m:t>𝑖</m:t>
                        </m:r>
                      </m:sub>
                    </m:sSub>
                    <m:r>
                      <a:rPr lang="en-US" sz="1800" b="0" i="1" smtClean="0">
                        <a:latin typeface="Cambria Math" panose="02040503050406030204" pitchFamily="18" charset="0"/>
                        <a:cs typeface="Arial" panose="020B0604020202020204" pitchFamily="34" charset="0"/>
                      </a:rPr>
                      <m:t>=0</m:t>
                    </m:r>
                  </m:oMath>
                </a14:m>
                <a:r>
                  <a:rPr lang="en-US" sz="2000" dirty="0">
                    <a:solidFill>
                      <a:srgbClr val="000000"/>
                    </a:solidFill>
                    <a:cs typeface="Arial" panose="020B0604020202020204" pitchFamily="34" charset="0"/>
                  </a:rPr>
                  <a:t> and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𝑆𝑆𝐸</m:t>
                    </m:r>
                    <m:r>
                      <a:rPr lang="en-US" sz="2000" i="1" dirty="0" smtClean="0">
                        <a:solidFill>
                          <a:srgbClr val="000000"/>
                        </a:solidFill>
                        <a:latin typeface="Cambria Math" panose="02040503050406030204" pitchFamily="18" charset="0"/>
                        <a:cs typeface="Arial" panose="020B0604020202020204" pitchFamily="34" charset="0"/>
                      </a:rPr>
                      <m:t>=0</m:t>
                    </m:r>
                  </m:oMath>
                </a14:m>
                <a:r>
                  <a:rPr lang="en-US" sz="2000" dirty="0">
                    <a:solidFill>
                      <a:srgbClr val="000000"/>
                    </a:solidFill>
                    <a:cs typeface="Arial" panose="020B0604020202020204" pitchFamily="34" charset="0"/>
                  </a:rPr>
                  <a:t>.</a:t>
                </a:r>
              </a:p>
              <a:p>
                <a:pPr>
                  <a:spcBef>
                    <a:spcPts val="600"/>
                  </a:spcBef>
                  <a:spcAft>
                    <a:spcPts val="0"/>
                  </a:spcAft>
                  <a:tabLst>
                    <a:tab pos="9032875" algn="l"/>
                  </a:tabLst>
                </a:pPr>
                <a:r>
                  <a:rPr lang="en-US" sz="2000" dirty="0">
                    <a:solidFill>
                      <a:srgbClr val="000000"/>
                    </a:solidFill>
                    <a:cs typeface="Arial" panose="020B0604020202020204" pitchFamily="34" charset="0"/>
                  </a:rPr>
                  <a:t>Because </a:t>
                </a:r>
                <a14:m>
                  <m:oMath xmlns:m="http://schemas.openxmlformats.org/officeDocument/2006/math">
                    <m:r>
                      <a:rPr lang="en-US" sz="1800" i="1" dirty="0" smtClean="0">
                        <a:latin typeface="Cambria Math" panose="02040503050406030204" pitchFamily="18" charset="0"/>
                      </a:rPr>
                      <m:t>𝑆𝑆𝑇</m:t>
                    </m:r>
                    <m:r>
                      <a:rPr lang="en-US" sz="1800" i="1" dirty="0" smtClean="0">
                        <a:latin typeface="Cambria Math" panose="02040503050406030204" pitchFamily="18" charset="0"/>
                      </a:rPr>
                      <m:t>=</m:t>
                    </m:r>
                    <m:r>
                      <a:rPr lang="en-US" sz="1800" i="1" dirty="0" smtClean="0">
                        <a:latin typeface="Cambria Math" panose="02040503050406030204" pitchFamily="18" charset="0"/>
                      </a:rPr>
                      <m:t>𝑆𝑆𝑅</m:t>
                    </m:r>
                    <m:r>
                      <a:rPr lang="en-US" sz="1800" i="1" dirty="0" smtClean="0">
                        <a:latin typeface="Cambria Math" panose="02040503050406030204" pitchFamily="18" charset="0"/>
                      </a:rPr>
                      <m:t>+</m:t>
                    </m:r>
                    <m:r>
                      <a:rPr lang="en-US" sz="1800" i="1" dirty="0" smtClean="0">
                        <a:latin typeface="Cambria Math" panose="02040503050406030204" pitchFamily="18" charset="0"/>
                      </a:rPr>
                      <m:t>𝑆𝑆𝐸</m:t>
                    </m:r>
                  </m:oMath>
                </a14:m>
                <a:r>
                  <a:rPr lang="en-US" sz="2000" dirty="0">
                    <a:solidFill>
                      <a:srgbClr val="000000"/>
                    </a:solidFill>
                    <a:cs typeface="Arial" panose="020B0604020202020204" pitchFamily="34" charset="0"/>
                  </a:rPr>
                  <a:t>, for a perfect fit, </a:t>
                </a:r>
                <a14:m>
                  <m:oMath xmlns:m="http://schemas.openxmlformats.org/officeDocument/2006/math">
                    <m:r>
                      <a:rPr lang="en-US" sz="2000" i="1" dirty="0">
                        <a:latin typeface="Cambria Math" panose="02040503050406030204" pitchFamily="18" charset="0"/>
                      </a:rPr>
                      <m:t>𝑆𝑆</m:t>
                    </m:r>
                    <m:r>
                      <a:rPr lang="en-US" sz="2000" b="0" i="1" dirty="0" smtClean="0">
                        <a:latin typeface="Cambria Math" panose="02040503050406030204" pitchFamily="18" charset="0"/>
                      </a:rPr>
                      <m:t>𝑅</m:t>
                    </m:r>
                    <m:r>
                      <a:rPr lang="en-US" sz="2000" i="1" dirty="0">
                        <a:latin typeface="Cambria Math" panose="02040503050406030204" pitchFamily="18" charset="0"/>
                      </a:rPr>
                      <m:t>=</m:t>
                    </m:r>
                    <m:r>
                      <a:rPr lang="en-US" sz="2000" i="1" dirty="0">
                        <a:latin typeface="Cambria Math" panose="02040503050406030204" pitchFamily="18" charset="0"/>
                      </a:rPr>
                      <m:t>𝑆𝑆𝑇</m:t>
                    </m:r>
                  </m:oMath>
                </a14:m>
                <a:r>
                  <a:rPr lang="en-US" sz="2000" dirty="0">
                    <a:solidFill>
                      <a:srgbClr val="000000"/>
                    </a:solidFill>
                    <a:cs typeface="Arial" panose="020B0604020202020204" pitchFamily="34" charset="0"/>
                  </a:rPr>
                  <a:t> and the ratio </a:t>
                </a:r>
                <a14:m>
                  <m:oMath xmlns:m="http://schemas.openxmlformats.org/officeDocument/2006/math">
                    <m:f>
                      <m:fPr>
                        <m:type m:val="lin"/>
                        <m:ctrlPr>
                          <a:rPr lang="en-US" sz="2000" i="1" dirty="0" smtClean="0">
                            <a:solidFill>
                              <a:srgbClr val="000000"/>
                            </a:solidFill>
                            <a:latin typeface="Cambria Math" panose="02040503050406030204" pitchFamily="18" charset="0"/>
                            <a:cs typeface="Arial" panose="020B0604020202020204" pitchFamily="34" charset="0"/>
                          </a:rPr>
                        </m:ctrlPr>
                      </m:fPr>
                      <m:num>
                        <m:r>
                          <a:rPr lang="en-US" sz="2000" b="0" i="1" dirty="0" smtClean="0">
                            <a:solidFill>
                              <a:srgbClr val="000000"/>
                            </a:solidFill>
                            <a:latin typeface="Cambria Math" panose="02040503050406030204" pitchFamily="18" charset="0"/>
                            <a:cs typeface="Arial" panose="020B0604020202020204" pitchFamily="34" charset="0"/>
                          </a:rPr>
                          <m:t>𝑆𝑆𝑅</m:t>
                        </m:r>
                      </m:num>
                      <m:den>
                        <m:r>
                          <a:rPr lang="en-US" sz="2000" b="0" i="1" dirty="0" smtClean="0">
                            <a:solidFill>
                              <a:srgbClr val="000000"/>
                            </a:solidFill>
                            <a:latin typeface="Cambria Math" panose="02040503050406030204" pitchFamily="18" charset="0"/>
                            <a:cs typeface="Arial" panose="020B0604020202020204" pitchFamily="34" charset="0"/>
                          </a:rPr>
                          <m:t>𝑆𝑆𝑇</m:t>
                        </m:r>
                      </m:den>
                    </m:f>
                    <m:r>
                      <a:rPr lang="en-US" sz="2000" b="0" i="1" dirty="0" smtClean="0">
                        <a:solidFill>
                          <a:srgbClr val="000000"/>
                        </a:solidFill>
                        <a:latin typeface="Cambria Math" panose="02040503050406030204" pitchFamily="18" charset="0"/>
                        <a:cs typeface="Arial" panose="020B0604020202020204" pitchFamily="34" charset="0"/>
                      </a:rPr>
                      <m:t>=1</m:t>
                    </m:r>
                  </m:oMath>
                </a14:m>
                <a:r>
                  <a:rPr lang="en-US" sz="2000" dirty="0">
                    <a:solidFill>
                      <a:srgbClr val="000000"/>
                    </a:solidFill>
                    <a:cs typeface="Arial" panose="020B0604020202020204" pitchFamily="34" charset="0"/>
                  </a:rPr>
                  <a:t> (*see notes.)</a:t>
                </a:r>
              </a:p>
              <a:p>
                <a:pPr>
                  <a:spcBef>
                    <a:spcPts val="600"/>
                  </a:spcBef>
                  <a:spcAft>
                    <a:spcPts val="600"/>
                  </a:spcAft>
                  <a:tabLst>
                    <a:tab pos="9032875" algn="l"/>
                  </a:tabLst>
                </a:pPr>
                <a:r>
                  <a:rPr lang="en-US" sz="2000" dirty="0">
                    <a:solidFill>
                      <a:srgbClr val="000000"/>
                    </a:solidFill>
                    <a:cs typeface="Arial" panose="020B0604020202020204" pitchFamily="34" charset="0"/>
                  </a:rPr>
                  <a:t>The ratio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𝑆𝑆𝑅</m:t>
                    </m:r>
                    <m:r>
                      <a:rPr lang="en-US" sz="2000" i="1" dirty="0" smtClean="0">
                        <a:solidFill>
                          <a:srgbClr val="000000"/>
                        </a:solidFill>
                        <a:latin typeface="Cambria Math" panose="02040503050406030204" pitchFamily="18" charset="0"/>
                        <a:cs typeface="Arial" panose="020B0604020202020204" pitchFamily="34" charset="0"/>
                      </a:rPr>
                      <m:t> /</m:t>
                    </m:r>
                    <m:r>
                      <a:rPr lang="en-US" sz="2000" i="1" dirty="0" smtClean="0">
                        <a:solidFill>
                          <a:srgbClr val="000000"/>
                        </a:solidFill>
                        <a:latin typeface="Cambria Math" panose="02040503050406030204" pitchFamily="18" charset="0"/>
                        <a:cs typeface="Arial" panose="020B0604020202020204" pitchFamily="34" charset="0"/>
                      </a:rPr>
                      <m:t>𝑆𝑆𝑇</m:t>
                    </m:r>
                  </m:oMath>
                </a14:m>
                <a:r>
                  <a:rPr lang="en-US" sz="2000" dirty="0">
                    <a:cs typeface="Arial" panose="020B0604020202020204" pitchFamily="34" charset="0"/>
                  </a:rPr>
                  <a:t> is called the </a:t>
                </a:r>
                <a:r>
                  <a:rPr lang="en-US" sz="2000" b="1" dirty="0">
                    <a:cs typeface="Arial" panose="020B0604020202020204" pitchFamily="34" charset="0"/>
                  </a:rPr>
                  <a:t>coefficient of determination</a:t>
                </a:r>
                <a:r>
                  <a:rPr lang="en-US" sz="2000" dirty="0">
                    <a:cs typeface="Arial" panose="020B0604020202020204" pitchFamily="34" charset="0"/>
                  </a:rPr>
                  <a:t>, denoted by </a:t>
                </a:r>
                <a14:m>
                  <m:oMath xmlns:m="http://schemas.openxmlformats.org/officeDocument/2006/math">
                    <m:sSup>
                      <m:sSupPr>
                        <m:ctrlPr>
                          <a:rPr lang="en-US" sz="2000" i="1" dirty="0">
                            <a:latin typeface="Cambria Math" panose="02040503050406030204" pitchFamily="18" charset="0"/>
                            <a:cs typeface="Arial" panose="020B0604020202020204" pitchFamily="34" charset="0"/>
                          </a:rPr>
                        </m:ctrlPr>
                      </m:sSupPr>
                      <m:e>
                        <m:r>
                          <a:rPr lang="en-US" sz="2000" b="0" i="1" dirty="0">
                            <a:latin typeface="Cambria Math" panose="02040503050406030204" pitchFamily="18" charset="0"/>
                            <a:cs typeface="Arial" panose="020B0604020202020204" pitchFamily="34" charset="0"/>
                          </a:rPr>
                          <m:t>𝑟</m:t>
                        </m:r>
                      </m:e>
                      <m:sup>
                        <m:r>
                          <a:rPr lang="en-US" sz="2000" b="0" i="1" dirty="0">
                            <a:latin typeface="Cambria Math" panose="02040503050406030204" pitchFamily="18" charset="0"/>
                            <a:cs typeface="Arial" panose="020B0604020202020204" pitchFamily="34" charset="0"/>
                          </a:rPr>
                          <m:t>2</m:t>
                        </m:r>
                      </m:sup>
                    </m:sSup>
                  </m:oMath>
                </a14:m>
                <a:r>
                  <a:rPr lang="en-US" sz="2000" dirty="0">
                    <a:cs typeface="Arial" panose="020B0604020202020204" pitchFamily="34" charset="0"/>
                  </a:rPr>
                  <a:t>.</a:t>
                </a:r>
              </a:p>
              <a:p>
                <a:pPr marL="914400">
                  <a:spcBef>
                    <a:spcPts val="600"/>
                  </a:spcBef>
                  <a:spcAft>
                    <a:spcPts val="600"/>
                  </a:spcAft>
                  <a:tabLst>
                    <a:tab pos="9032875" algn="l"/>
                  </a:tabLst>
                </a:pPr>
                <a14:m>
                  <m:oMathPara xmlns:m="http://schemas.openxmlformats.org/officeDocument/2006/math">
                    <m:oMathParaPr>
                      <m:jc m:val="left"/>
                    </m:oMathParaPr>
                    <m:oMath xmlns:m="http://schemas.openxmlformats.org/officeDocument/2006/math">
                      <m:sSup>
                        <m:sSupPr>
                          <m:ctrlPr>
                            <a:rPr lang="en-US" sz="2000" b="1" i="1" dirty="0" smtClean="0">
                              <a:solidFill>
                                <a:srgbClr val="000000"/>
                              </a:solidFill>
                              <a:latin typeface="Cambria Math" panose="02040503050406030204" pitchFamily="18" charset="0"/>
                              <a:cs typeface="Arial" panose="020B0604020202020204" pitchFamily="34" charset="0"/>
                            </a:rPr>
                          </m:ctrlPr>
                        </m:sSupPr>
                        <m:e>
                          <m:r>
                            <a:rPr lang="en-US" sz="2000" b="1" i="1" dirty="0" smtClean="0">
                              <a:solidFill>
                                <a:srgbClr val="000000"/>
                              </a:solidFill>
                              <a:latin typeface="Cambria Math" panose="02040503050406030204" pitchFamily="18" charset="0"/>
                              <a:cs typeface="Arial" panose="020B0604020202020204" pitchFamily="34" charset="0"/>
                            </a:rPr>
                            <m:t>𝒓</m:t>
                          </m:r>
                        </m:e>
                        <m:sup>
                          <m:r>
                            <a:rPr lang="en-US" sz="2000" b="1" i="1" dirty="0" smtClean="0">
                              <a:solidFill>
                                <a:srgbClr val="000000"/>
                              </a:solidFill>
                              <a:latin typeface="Cambria Math" panose="02040503050406030204" pitchFamily="18" charset="0"/>
                              <a:cs typeface="Arial" panose="020B0604020202020204" pitchFamily="34" charset="0"/>
                            </a:rPr>
                            <m:t>𝟐</m:t>
                          </m:r>
                        </m:sup>
                      </m:sSup>
                      <m:r>
                        <a:rPr lang="en-US" sz="2000" b="1" i="1" dirty="0" smtClean="0">
                          <a:solidFill>
                            <a:srgbClr val="000000"/>
                          </a:solidFill>
                          <a:latin typeface="Cambria Math" panose="02040503050406030204" pitchFamily="18" charset="0"/>
                          <a:cs typeface="Arial" panose="020B0604020202020204" pitchFamily="34" charset="0"/>
                        </a:rPr>
                        <m:t>=</m:t>
                      </m:r>
                      <m:f>
                        <m:fPr>
                          <m:ctrlPr>
                            <a:rPr lang="en-US" sz="2000" b="1" i="1" dirty="0" smtClean="0">
                              <a:solidFill>
                                <a:srgbClr val="000000"/>
                              </a:solidFill>
                              <a:latin typeface="Cambria Math" panose="02040503050406030204" pitchFamily="18" charset="0"/>
                              <a:cs typeface="Arial" panose="020B0604020202020204" pitchFamily="34" charset="0"/>
                            </a:rPr>
                          </m:ctrlPr>
                        </m:fPr>
                        <m:num>
                          <m:r>
                            <a:rPr lang="en-US" sz="2000" b="1" i="1" dirty="0">
                              <a:latin typeface="Cambria Math" panose="02040503050406030204" pitchFamily="18" charset="0"/>
                              <a:cs typeface="Arial" panose="020B0604020202020204" pitchFamily="34" charset="0"/>
                            </a:rPr>
                            <m:t>𝑺𝑺𝑹</m:t>
                          </m:r>
                        </m:num>
                        <m:den>
                          <m:r>
                            <a:rPr lang="en-US" sz="2000" b="1" i="1" dirty="0" smtClean="0">
                              <a:solidFill>
                                <a:srgbClr val="000000"/>
                              </a:solidFill>
                              <a:latin typeface="Cambria Math" panose="02040503050406030204" pitchFamily="18" charset="0"/>
                              <a:cs typeface="Arial" panose="020B0604020202020204" pitchFamily="34" charset="0"/>
                            </a:rPr>
                            <m:t>𝑺𝑺𝑻</m:t>
                          </m:r>
                        </m:den>
                      </m:f>
                    </m:oMath>
                  </m:oMathPara>
                </a14:m>
                <a:endParaRPr lang="en-US" sz="2000" b="1" dirty="0">
                  <a:cs typeface="Arial" panose="020B0604020202020204" pitchFamily="34" charset="0"/>
                </a:endParaRPr>
              </a:p>
              <a:p>
                <a:pPr>
                  <a:spcBef>
                    <a:spcPts val="600"/>
                  </a:spcBef>
                  <a:spcAft>
                    <a:spcPts val="600"/>
                  </a:spcAft>
                  <a:tabLst>
                    <a:tab pos="9032875" algn="l"/>
                  </a:tabLst>
                </a:pPr>
                <a:r>
                  <a:rPr lang="en-US" sz="2000" dirty="0">
                    <a:cs typeface="Arial" panose="020B0604020202020204" pitchFamily="34" charset="0"/>
                  </a:rPr>
                  <a:t>The coefficient of determination can only assume values between zero and one, and it is used to evaluate the goodness of fit for the estimated regression equation.</a:t>
                </a:r>
              </a:p>
              <a:p>
                <a:pPr>
                  <a:spcBef>
                    <a:spcPts val="600"/>
                  </a:spcBef>
                  <a:spcAft>
                    <a:spcPts val="600"/>
                  </a:spcAft>
                  <a:tabLst>
                    <a:tab pos="9032875" algn="l"/>
                  </a:tabLst>
                </a:pPr>
                <a14:m>
                  <m:oMathPara xmlns:m="http://schemas.openxmlformats.org/officeDocument/2006/math">
                    <m:oMathParaPr>
                      <m:jc m:val="left"/>
                    </m:oMathParaPr>
                    <m:oMath xmlns:m="http://schemas.openxmlformats.org/officeDocument/2006/math">
                      <m:sSup>
                        <m:sSupPr>
                          <m:ctrlPr>
                            <a:rPr lang="en-US" sz="2000" i="1" dirty="0" smtClean="0">
                              <a:solidFill>
                                <a:srgbClr val="000000"/>
                              </a:solidFill>
                              <a:latin typeface="Cambria Math" panose="02040503050406030204" pitchFamily="18" charset="0"/>
                              <a:cs typeface="Arial" panose="020B0604020202020204" pitchFamily="34" charset="0"/>
                            </a:rPr>
                          </m:ctrlPr>
                        </m:sSupPr>
                        <m:e>
                          <m:r>
                            <m:rPr>
                              <m:nor/>
                            </m:rPr>
                            <a:rPr lang="en-US" sz="2000" dirty="0">
                              <a:cs typeface="Arial" panose="020B0604020202020204" pitchFamily="34" charset="0"/>
                            </a:rPr>
                            <m:t>For</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Armand</m:t>
                          </m:r>
                          <m:r>
                            <m:rPr>
                              <m:nor/>
                            </m:rPr>
                            <a:rPr lang="en-US" sz="2000" dirty="0">
                              <a:cs typeface="Arial" panose="020B0604020202020204" pitchFamily="34" charset="0"/>
                            </a:rPr>
                            <m:t>’</m:t>
                          </m:r>
                          <m:r>
                            <m:rPr>
                              <m:nor/>
                            </m:rPr>
                            <a:rPr lang="en-US" sz="2000" dirty="0">
                              <a:cs typeface="Arial" panose="020B0604020202020204" pitchFamily="34" charset="0"/>
                            </a:rPr>
                            <m:t>s</m:t>
                          </m:r>
                          <m:r>
                            <m:rPr>
                              <m:nor/>
                            </m:rPr>
                            <a:rPr lang="en-US" sz="2000" dirty="0">
                              <a:cs typeface="Arial" panose="020B0604020202020204" pitchFamily="34" charset="0"/>
                            </a:rPr>
                            <m:t> </m:t>
                          </m:r>
                          <m:r>
                            <m:rPr>
                              <m:nor/>
                            </m:rPr>
                            <a:rPr lang="en-US" sz="2000" dirty="0">
                              <a:cs typeface="Arial" panose="020B0604020202020204" pitchFamily="34" charset="0"/>
                            </a:rPr>
                            <m:t>Pizza</m:t>
                          </m:r>
                          <m:r>
                            <m:rPr>
                              <m:nor/>
                            </m:rPr>
                            <a:rPr lang="en-US" sz="2000" dirty="0">
                              <a:cs typeface="Arial" panose="020B0604020202020204" pitchFamily="34" charset="0"/>
                            </a:rPr>
                            <m:t> </m:t>
                          </m:r>
                          <m:r>
                            <m:rPr>
                              <m:nor/>
                            </m:rPr>
                            <a:rPr lang="en-US" sz="2000" dirty="0">
                              <a:cs typeface="Arial" panose="020B0604020202020204" pitchFamily="34" charset="0"/>
                            </a:rPr>
                            <m:t>Parlor</m:t>
                          </m:r>
                          <m:r>
                            <m:rPr>
                              <m:nor/>
                            </m:rPr>
                            <a:rPr lang="en-US" sz="2000" dirty="0">
                              <a:cs typeface="Arial" panose="020B0604020202020204" pitchFamily="34" charset="0"/>
                            </a:rPr>
                            <m:t> </m:t>
                          </m:r>
                          <m:r>
                            <m:rPr>
                              <m:nor/>
                            </m:rPr>
                            <a:rPr lang="en-US" sz="2000" dirty="0">
                              <a:cs typeface="Arial" panose="020B0604020202020204" pitchFamily="34" charset="0"/>
                            </a:rPr>
                            <m:t>example</m:t>
                          </m:r>
                          <m:r>
                            <m:rPr>
                              <m:nor/>
                            </m:rPr>
                            <a:rPr lang="en-US" sz="2000" dirty="0">
                              <a:cs typeface="Arial" panose="020B0604020202020204" pitchFamily="34" charset="0"/>
                            </a:rPr>
                            <m:t>, </m:t>
                          </m:r>
                          <m:r>
                            <m:rPr>
                              <m:nor/>
                            </m:rPr>
                            <a:rPr lang="en-US" sz="2000" dirty="0">
                              <a:cs typeface="Arial" panose="020B0604020202020204" pitchFamily="34" charset="0"/>
                            </a:rPr>
                            <m:t>we</m:t>
                          </m:r>
                          <m:r>
                            <m:rPr>
                              <m:nor/>
                            </m:rPr>
                            <a:rPr lang="en-US" sz="2000" dirty="0">
                              <a:cs typeface="Arial" panose="020B0604020202020204" pitchFamily="34" charset="0"/>
                            </a:rPr>
                            <m:t> </m:t>
                          </m:r>
                          <m:r>
                            <m:rPr>
                              <m:nor/>
                            </m:rPr>
                            <a:rPr lang="en-US" sz="2000" dirty="0">
                              <a:cs typeface="Arial" panose="020B0604020202020204" pitchFamily="34" charset="0"/>
                            </a:rPr>
                            <m:t>have</m:t>
                          </m:r>
                          <m:r>
                            <m:rPr>
                              <m:nor/>
                            </m:rPr>
                            <a:rPr lang="en-US" sz="2000" b="0" i="0" dirty="0" smtClean="0">
                              <a:cs typeface="Arial" panose="020B0604020202020204" pitchFamily="34" charset="0"/>
                            </a:rPr>
                            <m:t>:  </m:t>
                          </m:r>
                          <m:r>
                            <a:rPr lang="en-US" sz="2000" b="0" i="1" dirty="0" smtClean="0">
                              <a:solidFill>
                                <a:srgbClr val="000000"/>
                              </a:solidFill>
                              <a:latin typeface="Cambria Math" panose="02040503050406030204" pitchFamily="18" charset="0"/>
                              <a:cs typeface="Arial" panose="020B0604020202020204" pitchFamily="34" charset="0"/>
                            </a:rPr>
                            <m:t>𝑟</m:t>
                          </m:r>
                        </m:e>
                        <m:sup>
                          <m:r>
                            <a:rPr lang="en-US" sz="2000" b="0" i="1" dirty="0" smtClean="0">
                              <a:solidFill>
                                <a:srgbClr val="000000"/>
                              </a:solidFill>
                              <a:latin typeface="Cambria Math" panose="02040503050406030204" pitchFamily="18" charset="0"/>
                              <a:cs typeface="Arial" panose="020B0604020202020204" pitchFamily="34" charset="0"/>
                            </a:rPr>
                            <m:t>2</m:t>
                          </m:r>
                        </m:sup>
                      </m:sSup>
                      <m:r>
                        <a:rPr lang="en-US" sz="2000" b="0" i="1" dirty="0" smtClean="0">
                          <a:solidFill>
                            <a:srgbClr val="000000"/>
                          </a:solidFill>
                          <a:latin typeface="Cambria Math" panose="02040503050406030204" pitchFamily="18" charset="0"/>
                          <a:cs typeface="Arial" panose="020B0604020202020204" pitchFamily="34" charset="0"/>
                        </a:rPr>
                        <m:t>=</m:t>
                      </m:r>
                      <m:f>
                        <m:fPr>
                          <m:ctrlPr>
                            <a:rPr lang="en-US" sz="2000" i="1" dirty="0">
                              <a:latin typeface="Cambria Math" panose="02040503050406030204" pitchFamily="18" charset="0"/>
                              <a:cs typeface="Arial" panose="020B0604020202020204" pitchFamily="34" charset="0"/>
                            </a:rPr>
                          </m:ctrlPr>
                        </m:fPr>
                        <m:num>
                          <m:r>
                            <a:rPr lang="en-US" sz="2000" b="0" i="1" dirty="0">
                              <a:latin typeface="Cambria Math" panose="02040503050406030204" pitchFamily="18" charset="0"/>
                              <a:cs typeface="Arial" panose="020B0604020202020204" pitchFamily="34" charset="0"/>
                            </a:rPr>
                            <m:t>𝑆𝑆𝑅</m:t>
                          </m:r>
                        </m:num>
                        <m:den>
                          <m:r>
                            <a:rPr lang="en-US" sz="2000" b="0" i="1" dirty="0">
                              <a:latin typeface="Cambria Math" panose="02040503050406030204" pitchFamily="18" charset="0"/>
                              <a:cs typeface="Arial" panose="020B0604020202020204" pitchFamily="34" charset="0"/>
                            </a:rPr>
                            <m:t>𝑆𝑆𝑇</m:t>
                          </m:r>
                        </m:den>
                      </m:f>
                      <m:r>
                        <a:rPr lang="en-US" sz="2000" b="0" i="1" dirty="0" smtClean="0">
                          <a:solidFill>
                            <a:srgbClr val="000000"/>
                          </a:solidFill>
                          <a:latin typeface="Cambria Math" panose="02040503050406030204" pitchFamily="18" charset="0"/>
                          <a:cs typeface="Arial" panose="020B0604020202020204" pitchFamily="34" charset="0"/>
                        </a:rPr>
                        <m:t>=</m:t>
                      </m:r>
                      <m:f>
                        <m:fPr>
                          <m:ctrlPr>
                            <a:rPr lang="en-US" sz="2000" i="1" dirty="0">
                              <a:latin typeface="Cambria Math" panose="02040503050406030204" pitchFamily="18" charset="0"/>
                              <a:cs typeface="Arial" panose="020B0604020202020204" pitchFamily="34" charset="0"/>
                            </a:rPr>
                          </m:ctrlPr>
                        </m:fPr>
                        <m:num>
                          <m:r>
                            <a:rPr lang="en-US" sz="2000" b="0" i="1" dirty="0" smtClean="0">
                              <a:latin typeface="Cambria Math" panose="02040503050406030204" pitchFamily="18" charset="0"/>
                              <a:cs typeface="Arial" panose="020B0604020202020204" pitchFamily="34" charset="0"/>
                            </a:rPr>
                            <m:t>14,200</m:t>
                          </m:r>
                        </m:num>
                        <m:den>
                          <m:r>
                            <a:rPr lang="en-US" sz="2000" b="0" i="1" dirty="0" smtClean="0">
                              <a:latin typeface="Cambria Math" panose="02040503050406030204" pitchFamily="18" charset="0"/>
                              <a:cs typeface="Arial" panose="020B0604020202020204" pitchFamily="34" charset="0"/>
                            </a:rPr>
                            <m:t>15,730</m:t>
                          </m:r>
                        </m:den>
                      </m:f>
                      <m:r>
                        <a:rPr lang="en-US" sz="2000" b="0" i="1" dirty="0" smtClean="0">
                          <a:latin typeface="Cambria Math" panose="02040503050406030204" pitchFamily="18" charset="0"/>
                          <a:cs typeface="Arial" panose="020B0604020202020204" pitchFamily="34" charset="0"/>
                        </a:rPr>
                        <m:t>=0.9027</m:t>
                      </m:r>
                    </m:oMath>
                  </m:oMathPara>
                </a14:m>
                <a:endParaRPr lang="en-US" sz="2000" dirty="0">
                  <a:cs typeface="Arial" panose="020B0604020202020204" pitchFamily="34" charset="0"/>
                </a:endParaRPr>
              </a:p>
              <a:p>
                <a:pPr>
                  <a:spcBef>
                    <a:spcPts val="600"/>
                  </a:spcBef>
                  <a:spcAft>
                    <a:spcPts val="600"/>
                  </a:spcAft>
                  <a:tabLst>
                    <a:tab pos="9032875" algn="l"/>
                  </a:tabLst>
                </a:pPr>
                <a:r>
                  <a:rPr lang="en-US" sz="2000" dirty="0">
                    <a:cs typeface="Arial" panose="020B0604020202020204" pitchFamily="34" charset="0"/>
                  </a:rPr>
                  <a:t>Thus, about 90.3% of the variability in the quarterly sales at Armand’s Pizza Parlor can be explained by the linear relationship between the population of students and quarterly sales.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685800" y="1408449"/>
                <a:ext cx="10781737" cy="4262246"/>
              </a:xfrm>
              <a:blipFill>
                <a:blip r:embed="rId3"/>
                <a:stretch>
                  <a:fillRect l="-1471" t="-1717" b="-3004"/>
                </a:stretch>
              </a:blipFill>
            </p:spPr>
            <p:txBody>
              <a:bodyPr/>
              <a:lstStyle/>
              <a:p>
                <a:r>
                  <a:rPr lang="en-US">
                    <a:noFill/>
                  </a:rPr>
                  <a:t> </a:t>
                </a:r>
              </a:p>
            </p:txBody>
          </p:sp>
        </mc:Fallback>
      </mc:AlternateContent>
    </p:spTree>
    <p:extLst>
      <p:ext uri="{BB962C8B-B14F-4D97-AF65-F5344CB8AC3E}">
        <p14:creationId xmlns:p14="http://schemas.microsoft.com/office/powerpoint/2010/main" val="3636422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5F209-F9AE-C1AC-168F-4276F3BE329B}"/>
              </a:ext>
            </a:extLst>
          </p:cNvPr>
          <p:cNvSpPr>
            <a:spLocks noGrp="1"/>
          </p:cNvSpPr>
          <p:nvPr>
            <p:ph type="title"/>
          </p:nvPr>
        </p:nvSpPr>
        <p:spPr>
          <a:xfrm>
            <a:off x="621509" y="365125"/>
            <a:ext cx="10925175" cy="672105"/>
          </a:xfrm>
        </p:spPr>
        <p:txBody>
          <a:bodyPr/>
          <a:lstStyle/>
          <a:p>
            <a:r>
              <a:rPr lang="en-US" sz="3200" dirty="0">
                <a:solidFill>
                  <a:srgbClr val="25894E"/>
                </a:solidFill>
              </a:rPr>
              <a:t>14.3 Excel: Compute the Coefficient of Determination</a:t>
            </a:r>
            <a:endParaRPr lang="en-US" sz="3200" dirty="0"/>
          </a:p>
        </p:txBody>
      </p:sp>
      <p:sp>
        <p:nvSpPr>
          <p:cNvPr id="3" name="Text Placeholder 2">
            <a:extLst>
              <a:ext uri="{FF2B5EF4-FFF2-40B4-BE49-F238E27FC236}">
                <a16:creationId xmlns:a16="http://schemas.microsoft.com/office/drawing/2014/main" id="{670A2838-05F6-245B-E3EF-E56F616697F0}"/>
              </a:ext>
            </a:extLst>
          </p:cNvPr>
          <p:cNvSpPr>
            <a:spLocks noGrp="1"/>
          </p:cNvSpPr>
          <p:nvPr>
            <p:ph type="body" sz="quarter" idx="15"/>
          </p:nvPr>
        </p:nvSpPr>
        <p:spPr>
          <a:xfrm>
            <a:off x="743576" y="1188236"/>
            <a:ext cx="5550068" cy="4676780"/>
          </a:xfrm>
        </p:spPr>
        <p:txBody>
          <a:bodyPr/>
          <a:lstStyle/>
          <a:p>
            <a:r>
              <a:rPr lang="en-US" sz="2000" dirty="0">
                <a:solidFill>
                  <a:srgbClr val="000000"/>
                </a:solidFill>
                <a:cs typeface="Arial" panose="020B0604020202020204" pitchFamily="34" charset="0"/>
              </a:rPr>
              <a:t>In Section 14.2, we showed how Excel can be used to construct a scatter diagram, display the estimated regression line, and compute the estimated regression equation for the Armand’s Pizza Parlors data. </a:t>
            </a:r>
          </a:p>
          <a:p>
            <a:r>
              <a:rPr lang="en-US" sz="2000" b="1" dirty="0">
                <a:solidFill>
                  <a:srgbClr val="000000"/>
                </a:solidFill>
                <a:cs typeface="Arial" panose="020B0604020202020204" pitchFamily="34" charset="0"/>
              </a:rPr>
              <a:t>Editing Options</a:t>
            </a:r>
            <a:r>
              <a:rPr lang="en-US" sz="2000" dirty="0">
                <a:solidFill>
                  <a:srgbClr val="000000"/>
                </a:solidFill>
                <a:cs typeface="Arial" panose="020B0604020202020204" pitchFamily="34" charset="0"/>
              </a:rPr>
              <a:t>: We will now describe how to compute the coefficient of determination using the scatter diagram.</a:t>
            </a:r>
          </a:p>
          <a:p>
            <a:pPr marL="460375">
              <a:spcBef>
                <a:spcPts val="400"/>
              </a:spcBef>
            </a:pPr>
            <a:r>
              <a:rPr lang="en-US" sz="1800" b="1" dirty="0">
                <a:solidFill>
                  <a:srgbClr val="000000"/>
                </a:solidFill>
                <a:cs typeface="Arial" panose="020B0604020202020204" pitchFamily="34" charset="0"/>
              </a:rPr>
              <a:t>Step 1</a:t>
            </a:r>
            <a:r>
              <a:rPr lang="en-US" sz="1800" b="1">
                <a:solidFill>
                  <a:srgbClr val="000000"/>
                </a:solidFill>
                <a:cs typeface="Arial" panose="020B0604020202020204" pitchFamily="34" charset="0"/>
              </a:rPr>
              <a:t>. </a:t>
            </a:r>
            <a:r>
              <a:rPr lang="en-US" sz="1800">
                <a:solidFill>
                  <a:srgbClr val="000000"/>
                </a:solidFill>
                <a:cs typeface="Arial" panose="020B0604020202020204" pitchFamily="34" charset="0"/>
              </a:rPr>
              <a:t>Right-click </a:t>
            </a:r>
            <a:r>
              <a:rPr lang="en-US" sz="1800" dirty="0">
                <a:solidFill>
                  <a:srgbClr val="000000"/>
                </a:solidFill>
                <a:cs typeface="Arial" panose="020B0604020202020204" pitchFamily="34" charset="0"/>
              </a:rPr>
              <a:t>on the trendline and select the </a:t>
            </a:r>
            <a:r>
              <a:rPr lang="en-US" sz="1800" b="1" dirty="0">
                <a:solidFill>
                  <a:srgbClr val="000000"/>
                </a:solidFill>
                <a:cs typeface="Arial" panose="020B0604020202020204" pitchFamily="34" charset="0"/>
              </a:rPr>
              <a:t>Format Trendline </a:t>
            </a:r>
            <a:r>
              <a:rPr lang="en-US" sz="1800" dirty="0">
                <a:solidFill>
                  <a:srgbClr val="000000"/>
                </a:solidFill>
                <a:cs typeface="Arial" panose="020B0604020202020204" pitchFamily="34" charset="0"/>
              </a:rPr>
              <a:t>option</a:t>
            </a:r>
          </a:p>
          <a:p>
            <a:pPr marL="460375">
              <a:spcBef>
                <a:spcPts val="400"/>
              </a:spcBef>
            </a:pPr>
            <a:r>
              <a:rPr lang="en-US" sz="1800" b="1" dirty="0">
                <a:solidFill>
                  <a:srgbClr val="000000"/>
                </a:solidFill>
                <a:cs typeface="Arial" panose="020B0604020202020204" pitchFamily="34" charset="0"/>
              </a:rPr>
              <a:t>Step 2. </a:t>
            </a:r>
            <a:r>
              <a:rPr lang="en-US" sz="1800" dirty="0">
                <a:solidFill>
                  <a:srgbClr val="000000"/>
                </a:solidFill>
                <a:cs typeface="Arial" panose="020B0604020202020204" pitchFamily="34" charset="0"/>
              </a:rPr>
              <a:t>When the </a:t>
            </a:r>
            <a:r>
              <a:rPr lang="en-US" sz="1800" b="1" dirty="0">
                <a:solidFill>
                  <a:srgbClr val="000000"/>
                </a:solidFill>
                <a:cs typeface="Arial" panose="020B0604020202020204" pitchFamily="34" charset="0"/>
              </a:rPr>
              <a:t>Format Trendline </a:t>
            </a:r>
            <a:r>
              <a:rPr lang="en-US" sz="1800" dirty="0">
                <a:solidFill>
                  <a:srgbClr val="000000"/>
                </a:solidFill>
                <a:cs typeface="Arial" panose="020B0604020202020204" pitchFamily="34" charset="0"/>
              </a:rPr>
              <a:t>dialog box appears:</a:t>
            </a:r>
          </a:p>
          <a:p>
            <a:pPr marL="914400">
              <a:spcBef>
                <a:spcPts val="400"/>
              </a:spcBef>
            </a:pPr>
            <a:r>
              <a:rPr lang="en-US" sz="1800" dirty="0">
                <a:solidFill>
                  <a:srgbClr val="000000"/>
                </a:solidFill>
                <a:cs typeface="Arial" panose="020B0604020202020204" pitchFamily="34" charset="0"/>
              </a:rPr>
              <a:t>Scroll down and select </a:t>
            </a:r>
            <a:r>
              <a:rPr lang="en-US" sz="1800" b="1">
                <a:solidFill>
                  <a:srgbClr val="000000"/>
                </a:solidFill>
                <a:cs typeface="Arial" panose="020B0604020202020204" pitchFamily="34" charset="0"/>
              </a:rPr>
              <a:t>Display R-squared </a:t>
            </a:r>
            <a:r>
              <a:rPr lang="en-US" sz="1800" b="1" dirty="0">
                <a:solidFill>
                  <a:srgbClr val="000000"/>
                </a:solidFill>
                <a:cs typeface="Arial" panose="020B0604020202020204" pitchFamily="34" charset="0"/>
              </a:rPr>
              <a:t>value on chart</a:t>
            </a:r>
          </a:p>
          <a:p>
            <a:pPr marL="914400">
              <a:spcBef>
                <a:spcPts val="400"/>
              </a:spcBef>
            </a:pPr>
            <a:r>
              <a:rPr lang="en-US" sz="1800" dirty="0">
                <a:solidFill>
                  <a:srgbClr val="000000"/>
                </a:solidFill>
                <a:cs typeface="Arial" panose="020B0604020202020204" pitchFamily="34" charset="0"/>
              </a:rPr>
              <a:t>Close the </a:t>
            </a:r>
            <a:r>
              <a:rPr lang="en-US" sz="1800" b="1" dirty="0">
                <a:solidFill>
                  <a:srgbClr val="000000"/>
                </a:solidFill>
                <a:cs typeface="Arial" panose="020B0604020202020204" pitchFamily="34" charset="0"/>
              </a:rPr>
              <a:t>Format Trendline </a:t>
            </a:r>
            <a:r>
              <a:rPr lang="en-US" sz="1800" dirty="0">
                <a:solidFill>
                  <a:srgbClr val="000000"/>
                </a:solidFill>
                <a:cs typeface="Arial" panose="020B0604020202020204" pitchFamily="34" charset="0"/>
              </a:rPr>
              <a:t>dialog box</a:t>
            </a:r>
            <a:endParaRPr lang="en-US" sz="1800" dirty="0"/>
          </a:p>
        </p:txBody>
      </p:sp>
      <p:pic>
        <p:nvPicPr>
          <p:cNvPr id="7" name="Picture Placeholder 6" descr="A screenshot of an Excel spreadsheet shows a table and a scatter diagram. Column A is labeled restaurant, column B is labeled population, and column C is labeled sales. The entries in rows 2 through 11 are as follows. Row 2. Restaurant: 1. Population: 2. Sales: 58. Row 3. Restaurant: 2. Population: 6. Sales: 105. Row 4. Restaurant: 3. Population: 8. Sales: 88. Row 5. Restaurant: 4. Population: 8. Sales: 118. Row 6. Restaurant: 5. Population: 12. Sales: 117. Row 7. Restaurant: 6. Population: 16. Sales: 137. Row 8. Restaurant: 7. Population: 20. Sales: 157. Row 9. Restaurant: 8. Population: 20. Sales: 169. Row 10. Restaurant: 9. Population: 22. Sales: 149. Row 11. Restaurant: 10. Population: 26. Sales: 202. A scatter diagram is titled Armand’s Pizza Parlors. The horizontal axis is labeled student population (1000s) and ranges from 0 to 30 in increments of 5. The vertical axis is labeled quarterly sales (thousands of dollars) and ranges from 0 to 250 in increments of 50. The coordinates of the plots are (2, 58), (6, 105), (8, 88), (8, 118), (12, 117), (16, 137), (20, 157), (20, 169), (22, 149), and (26, 202). A line slopes upward from (2, 60) to (26, 195). All data are approximate. Two equations read, y = 5 x + 60 and R squared = 0.9027.">
            <a:extLst>
              <a:ext uri="{FF2B5EF4-FFF2-40B4-BE49-F238E27FC236}">
                <a16:creationId xmlns:a16="http://schemas.microsoft.com/office/drawing/2014/main" id="{97B33359-9BA4-FA40-2321-1DE5BB337047}"/>
              </a:ext>
            </a:extLst>
          </p:cNvPr>
          <p:cNvPicPr>
            <a:picLocks noGrp="1" noChangeAspect="1"/>
          </p:cNvPicPr>
          <p:nvPr>
            <p:ph type="pic" sz="quarter" idx="16"/>
          </p:nvPr>
        </p:nvPicPr>
        <p:blipFill>
          <a:blip r:embed="rId2"/>
          <a:srcRect l="35" r="35"/>
          <a:stretch/>
        </p:blipFill>
        <p:spPr>
          <a:xfrm>
            <a:off x="6642728" y="1188236"/>
            <a:ext cx="4551527" cy="4791081"/>
          </a:xfrm>
          <a:ln>
            <a:solidFill>
              <a:srgbClr val="000000"/>
            </a:solidFill>
          </a:ln>
        </p:spPr>
      </p:pic>
    </p:spTree>
    <p:extLst>
      <p:ext uri="{BB962C8B-B14F-4D97-AF65-F5344CB8AC3E}">
        <p14:creationId xmlns:p14="http://schemas.microsoft.com/office/powerpoint/2010/main" val="4097500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14.3 Correlation Coefficient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284895"/>
                <a:ext cx="10781737" cy="4445871"/>
              </a:xfrm>
            </p:spPr>
            <p:txBody>
              <a:bodyPr/>
              <a:lstStyle/>
              <a:p>
                <a:pPr>
                  <a:spcBef>
                    <a:spcPts val="600"/>
                  </a:spcBef>
                  <a:spcAft>
                    <a:spcPts val="0"/>
                  </a:spcAft>
                </a:pPr>
                <a:r>
                  <a:rPr lang="en-US" sz="2000" dirty="0">
                    <a:cs typeface="Arial" panose="020B0604020202020204" pitchFamily="34" charset="0"/>
                  </a:rPr>
                  <a:t>We previously introduced the </a:t>
                </a:r>
                <a:r>
                  <a:rPr lang="en-US" sz="2000" b="1" dirty="0">
                    <a:cs typeface="Arial" panose="020B0604020202020204" pitchFamily="34" charset="0"/>
                  </a:rPr>
                  <a:t>correlation coefficient </a:t>
                </a:r>
                <a:r>
                  <a:rPr lang="en-US" sz="2000" dirty="0">
                    <a:cs typeface="Arial" panose="020B0604020202020204" pitchFamily="34" charset="0"/>
                  </a:rPr>
                  <a:t>as a descriptive measure of the strength of the linear association between two variables, </a:t>
                </a:r>
                <a:r>
                  <a:rPr lang="en-US" sz="2000" dirty="0">
                    <a:latin typeface="Arial" panose="020B0604020202020204" pitchFamily="34" charset="0"/>
                    <a:cs typeface="Arial" panose="020B0604020202020204" pitchFamily="34" charset="0"/>
                  </a:rPr>
                  <a:t>𝑥</a:t>
                </a:r>
                <a:r>
                  <a:rPr lang="en-US" sz="2000" dirty="0">
                    <a:cs typeface="Arial" panose="020B0604020202020204" pitchFamily="34" charset="0"/>
                  </a:rPr>
                  <a:t> and </a:t>
                </a:r>
                <a:r>
                  <a:rPr lang="en-US" sz="2000" i="1" dirty="0">
                    <a:cs typeface="Arial" panose="020B0604020202020204" pitchFamily="34" charset="0"/>
                  </a:rPr>
                  <a:t>y</a:t>
                </a:r>
                <a:r>
                  <a:rPr lang="en-US" sz="2000" dirty="0">
                    <a:cs typeface="Arial" panose="020B0604020202020204" pitchFamily="34" charset="0"/>
                  </a:rPr>
                  <a:t>, and having the following properties:</a:t>
                </a:r>
              </a:p>
              <a:p>
                <a:pPr marL="630238" indent="-346075">
                  <a:spcBef>
                    <a:spcPts val="600"/>
                  </a:spcBef>
                  <a:spcAft>
                    <a:spcPts val="0"/>
                  </a:spcAft>
                  <a:buFont typeface="Arial" panose="020B0604020202020204" pitchFamily="34" charset="0"/>
                  <a:buChar char="•"/>
                </a:pPr>
                <a:r>
                  <a:rPr lang="en-US" sz="2000" dirty="0">
                    <a:cs typeface="Arial" panose="020B0604020202020204" pitchFamily="34" charset="0"/>
                  </a:rPr>
                  <a:t>Values of the correlation coefficient are always between −1 and +1. </a:t>
                </a:r>
              </a:p>
              <a:p>
                <a:pPr marL="630238" indent="-346075">
                  <a:spcBef>
                    <a:spcPts val="600"/>
                  </a:spcBef>
                  <a:spcAft>
                    <a:spcPts val="0"/>
                  </a:spcAft>
                  <a:buFont typeface="Arial" panose="020B0604020202020204" pitchFamily="34" charset="0"/>
                  <a:buChar char="•"/>
                </a:pPr>
                <a:r>
                  <a:rPr lang="en-US" sz="2000" dirty="0">
                    <a:cs typeface="Arial" panose="020B0604020202020204" pitchFamily="34" charset="0"/>
                  </a:rPr>
                  <a:t>A value of +1 indicates that </a:t>
                </a:r>
                <a:r>
                  <a:rPr lang="en-US" sz="2000" i="1" dirty="0">
                    <a:cs typeface="Arial" panose="020B0604020202020204" pitchFamily="34" charset="0"/>
                  </a:rPr>
                  <a:t>x</a:t>
                </a:r>
                <a:r>
                  <a:rPr lang="en-US" sz="2000" dirty="0">
                    <a:cs typeface="Arial" panose="020B0604020202020204" pitchFamily="34" charset="0"/>
                  </a:rPr>
                  <a:t> and </a:t>
                </a:r>
                <a:r>
                  <a:rPr lang="en-US" sz="2000" i="1" dirty="0">
                    <a:cs typeface="Arial" panose="020B0604020202020204" pitchFamily="34" charset="0"/>
                  </a:rPr>
                  <a:t>y</a:t>
                </a:r>
                <a:r>
                  <a:rPr lang="en-US" sz="2000" dirty="0">
                    <a:cs typeface="Arial" panose="020B0604020202020204" pitchFamily="34" charset="0"/>
                  </a:rPr>
                  <a:t> are aligned on a straight line with a positive slope.</a:t>
                </a:r>
              </a:p>
              <a:p>
                <a:pPr marL="630238" indent="-346075">
                  <a:spcBef>
                    <a:spcPts val="600"/>
                  </a:spcBef>
                  <a:spcAft>
                    <a:spcPts val="0"/>
                  </a:spcAft>
                  <a:buFont typeface="Arial" panose="020B0604020202020204" pitchFamily="34" charset="0"/>
                  <a:buChar char="•"/>
                </a:pPr>
                <a:r>
                  <a:rPr lang="en-US" sz="2000" dirty="0">
                    <a:cs typeface="Arial" panose="020B0604020202020204" pitchFamily="34" charset="0"/>
                  </a:rPr>
                  <a:t>A value of −1 indicates that x and y are aligned on a straight line with a negative slope. </a:t>
                </a:r>
              </a:p>
              <a:p>
                <a:pPr marL="630238" indent="-346075">
                  <a:spcBef>
                    <a:spcPts val="600"/>
                  </a:spcBef>
                  <a:spcAft>
                    <a:spcPts val="0"/>
                  </a:spcAft>
                  <a:buFont typeface="Arial" panose="020B0604020202020204" pitchFamily="34" charset="0"/>
                  <a:buChar char="•"/>
                </a:pPr>
                <a:r>
                  <a:rPr lang="en-US" sz="2000" dirty="0">
                    <a:cs typeface="Arial" panose="020B0604020202020204" pitchFamily="34" charset="0"/>
                  </a:rPr>
                  <a:t>Values of the correlation coefficient near zero indicate that </a:t>
                </a:r>
                <a:r>
                  <a:rPr lang="en-US" sz="2000" dirty="0">
                    <a:latin typeface="Arial" panose="020B0604020202020204" pitchFamily="34" charset="0"/>
                    <a:cs typeface="Arial" panose="020B0604020202020204" pitchFamily="34" charset="0"/>
                  </a:rPr>
                  <a:t>𝑥</a:t>
                </a:r>
                <a:r>
                  <a:rPr lang="en-US" sz="2000" dirty="0">
                    <a:cs typeface="Arial" panose="020B0604020202020204" pitchFamily="34" charset="0"/>
                  </a:rPr>
                  <a:t> and </a:t>
                </a:r>
                <a:r>
                  <a:rPr lang="en-US" sz="2000" i="1" dirty="0">
                    <a:cs typeface="Arial" panose="020B0604020202020204" pitchFamily="34" charset="0"/>
                  </a:rPr>
                  <a:t>y</a:t>
                </a:r>
                <a:r>
                  <a:rPr lang="en-US" sz="2000" dirty="0">
                    <a:cs typeface="Arial" panose="020B0604020202020204" pitchFamily="34" charset="0"/>
                  </a:rPr>
                  <a:t> are not linearly related.</a:t>
                </a:r>
              </a:p>
              <a:p>
                <a:pPr>
                  <a:spcBef>
                    <a:spcPts val="600"/>
                  </a:spcBef>
                  <a:spcAft>
                    <a:spcPts val="600"/>
                  </a:spcAft>
                </a:pPr>
                <a:r>
                  <a:rPr lang="en-US" sz="2000" dirty="0">
                    <a:cs typeface="Arial" panose="020B0604020202020204" pitchFamily="34" charset="0"/>
                  </a:rPr>
                  <a:t>The sample correlation coefficient for regression equation </a:t>
                </a:r>
                <a14:m>
                  <m:oMath xmlns:m="http://schemas.openxmlformats.org/officeDocument/2006/math">
                    <m:acc>
                      <m:accPr>
                        <m:chr m:val="̂"/>
                        <m:ctrlPr>
                          <a:rPr lang="en-US" sz="2000" i="1" smtClean="0">
                            <a:latin typeface="Cambria Math" panose="02040503050406030204" pitchFamily="18" charset="0"/>
                          </a:rPr>
                        </m:ctrlPr>
                      </m:accPr>
                      <m:e>
                        <m:r>
                          <a:rPr lang="en-US" sz="2000" b="0" i="1">
                            <a:latin typeface="Cambria Math" panose="02040503050406030204" pitchFamily="18" charset="0"/>
                          </a:rPr>
                          <m:t>𝑦</m:t>
                        </m:r>
                      </m:e>
                    </m:acc>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𝑏</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𝑏</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𝑥</m:t>
                    </m:r>
                  </m:oMath>
                </a14:m>
                <a:r>
                  <a:rPr lang="en-US" sz="2000" dirty="0">
                    <a:cs typeface="Arial" panose="020B0604020202020204" pitchFamily="34" charset="0"/>
                  </a:rPr>
                  <a:t> is computed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𝒓</m:t>
                          </m:r>
                        </m:e>
                        <m:sub>
                          <m:r>
                            <a:rPr lang="en-US" sz="2000" b="1" i="1" smtClean="0">
                              <a:latin typeface="Cambria Math" panose="02040503050406030204" pitchFamily="18" charset="0"/>
                              <a:cs typeface="Arial" panose="020B0604020202020204" pitchFamily="34" charset="0"/>
                            </a:rPr>
                            <m:t>𝒙𝒚</m:t>
                          </m:r>
                        </m:sub>
                      </m:sSub>
                      <m:r>
                        <a:rPr lang="en-US" sz="2000" b="1" i="1" smtClean="0">
                          <a:latin typeface="Cambria Math" panose="02040503050406030204" pitchFamily="18" charset="0"/>
                          <a:cs typeface="Arial" panose="020B0604020202020204" pitchFamily="34" charset="0"/>
                        </a:rPr>
                        <m:t>=</m:t>
                      </m:r>
                      <m:d>
                        <m:dPr>
                          <m:ctrlPr>
                            <a:rPr lang="en-US" sz="2000" b="1" i="1" smtClean="0">
                              <a:latin typeface="Cambria Math" panose="02040503050406030204" pitchFamily="18" charset="0"/>
                              <a:cs typeface="Arial" panose="020B0604020202020204" pitchFamily="34" charset="0"/>
                            </a:rPr>
                          </m:ctrlPr>
                        </m:dPr>
                        <m:e>
                          <m:r>
                            <m:rPr>
                              <m:nor/>
                            </m:rPr>
                            <a:rPr lang="en-US" sz="2000" b="1" i="0" smtClean="0">
                              <a:latin typeface="Cambria Math" panose="02040503050406030204" pitchFamily="18" charset="0"/>
                              <a:cs typeface="Arial" panose="020B0604020202020204" pitchFamily="34" charset="0"/>
                            </a:rPr>
                            <m:t>sign</m:t>
                          </m:r>
                          <m:r>
                            <m:rPr>
                              <m:nor/>
                            </m:rPr>
                            <a:rPr lang="en-US" sz="2000" b="1" i="0" smtClean="0">
                              <a:latin typeface="Cambria Math" panose="02040503050406030204" pitchFamily="18" charset="0"/>
                              <a:cs typeface="Arial" panose="020B0604020202020204" pitchFamily="34" charset="0"/>
                            </a:rPr>
                            <m:t> </m:t>
                          </m:r>
                          <m:r>
                            <m:rPr>
                              <m:nor/>
                            </m:rPr>
                            <a:rPr lang="en-US" sz="2000" b="1" i="0" smtClean="0">
                              <a:latin typeface="Cambria Math" panose="02040503050406030204" pitchFamily="18" charset="0"/>
                              <a:cs typeface="Arial" panose="020B0604020202020204" pitchFamily="34" charset="0"/>
                            </a:rPr>
                            <m:t>of</m:t>
                          </m:r>
                          <m:r>
                            <m:rPr>
                              <m:nor/>
                            </m:rPr>
                            <a:rPr lang="en-US" sz="2000" b="1" i="0" smtClean="0">
                              <a:latin typeface="Cambria Math" panose="02040503050406030204" pitchFamily="18" charset="0"/>
                              <a:cs typeface="Arial" panose="020B0604020202020204" pitchFamily="34" charset="0"/>
                            </a:rPr>
                            <m:t> </m:t>
                          </m:r>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𝒃</m:t>
                              </m:r>
                            </m:e>
                            <m:sub>
                              <m:r>
                                <a:rPr lang="en-US" sz="2000" b="1" i="1" smtClean="0">
                                  <a:latin typeface="Cambria Math" panose="02040503050406030204" pitchFamily="18" charset="0"/>
                                  <a:cs typeface="Arial" panose="020B0604020202020204" pitchFamily="34" charset="0"/>
                                </a:rPr>
                                <m:t>𝟏</m:t>
                              </m:r>
                            </m:sub>
                          </m:sSub>
                        </m:e>
                      </m:d>
                      <m:rad>
                        <m:radPr>
                          <m:degHide m:val="on"/>
                          <m:ctrlPr>
                            <a:rPr lang="en-US" sz="2000" b="1" i="1" smtClean="0">
                              <a:latin typeface="Cambria Math" panose="02040503050406030204" pitchFamily="18" charset="0"/>
                              <a:cs typeface="Arial" panose="020B0604020202020204" pitchFamily="34" charset="0"/>
                            </a:rPr>
                          </m:ctrlPr>
                        </m:radPr>
                        <m:deg/>
                        <m:e>
                          <m:sSup>
                            <m:sSupPr>
                              <m:ctrlPr>
                                <a:rPr lang="en-US" sz="2000" b="1" i="1" smtClean="0">
                                  <a:latin typeface="Cambria Math" panose="02040503050406030204" pitchFamily="18" charset="0"/>
                                  <a:cs typeface="Arial" panose="020B0604020202020204" pitchFamily="34" charset="0"/>
                                </a:rPr>
                              </m:ctrlPr>
                            </m:sSupPr>
                            <m:e>
                              <m:r>
                                <a:rPr lang="en-US" sz="2000" b="1" i="1" smtClean="0">
                                  <a:latin typeface="Cambria Math" panose="02040503050406030204" pitchFamily="18" charset="0"/>
                                  <a:cs typeface="Arial" panose="020B0604020202020204" pitchFamily="34" charset="0"/>
                                </a:rPr>
                                <m:t>𝒓</m:t>
                              </m:r>
                            </m:e>
                            <m:sup>
                              <m:r>
                                <a:rPr lang="en-US" sz="2000" b="1" i="1" smtClean="0">
                                  <a:latin typeface="Cambria Math" panose="02040503050406030204" pitchFamily="18" charset="0"/>
                                  <a:cs typeface="Arial" panose="020B0604020202020204" pitchFamily="34" charset="0"/>
                                </a:rPr>
                                <m:t>𝟐</m:t>
                              </m:r>
                            </m:sup>
                          </m:sSup>
                        </m:e>
                      </m:rad>
                    </m:oMath>
                  </m:oMathPara>
                </a14:m>
                <a:endParaRPr lang="en-US" sz="2000" b="1" dirty="0">
                  <a:cs typeface="Arial" panose="020B0604020202020204" pitchFamily="34" charset="0"/>
                </a:endParaRPr>
              </a:p>
              <a:p>
                <a:pPr>
                  <a:spcBef>
                    <a:spcPts val="600"/>
                  </a:spcBef>
                  <a:spcAft>
                    <a:spcPts val="600"/>
                  </a:spcAft>
                </a:pPr>
                <a:r>
                  <a:rPr lang="en-US" sz="2000" dirty="0">
                    <a:cs typeface="Arial" panose="020B0604020202020204" pitchFamily="34" charset="0"/>
                  </a:rPr>
                  <a:t>For the Armand’s Pizza Parlor example, we had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r>
                      <a:rPr lang="en-US" sz="2000" i="1">
                        <a:latin typeface="Cambria Math" panose="02040503050406030204" pitchFamily="18" charset="0"/>
                      </a:rPr>
                      <m:t>=60+5</m:t>
                    </m:r>
                    <m:r>
                      <a:rPr lang="en-US" sz="2000" i="1">
                        <a:latin typeface="Cambria Math" panose="02040503050406030204" pitchFamily="18" charset="0"/>
                      </a:rPr>
                      <m:t>𝑥</m:t>
                    </m:r>
                  </m:oMath>
                </a14:m>
                <a:r>
                  <a:rPr lang="en-US" sz="2000" dirty="0">
                    <a:cs typeface="Arial" panose="020B0604020202020204" pitchFamily="34" charset="0"/>
                  </a:rPr>
                  <a:t> and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𝑟</m:t>
                        </m:r>
                      </m:e>
                      <m:sup>
                        <m:r>
                          <a:rPr lang="en-US" sz="2000" b="0" i="1" smtClean="0">
                            <a:latin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cs typeface="Arial" panose="020B0604020202020204" pitchFamily="34" charset="0"/>
                      </a:rPr>
                      <m:t>=0.9027</m:t>
                    </m:r>
                  </m:oMath>
                </a14:m>
                <a:r>
                  <a:rPr lang="en-US" sz="2000" dirty="0">
                    <a:cs typeface="Arial" panose="020B0604020202020204" pitchFamily="34" charset="0"/>
                  </a:rPr>
                  <a:t>. Thus, we have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𝑟</m:t>
                          </m:r>
                        </m:e>
                        <m:sub>
                          <m:r>
                            <a:rPr lang="en-US" sz="2000" b="0" i="1" smtClean="0">
                              <a:latin typeface="Cambria Math" panose="02040503050406030204" pitchFamily="18" charset="0"/>
                              <a:cs typeface="Arial" panose="020B0604020202020204" pitchFamily="34" charset="0"/>
                            </a:rPr>
                            <m:t>𝑥𝑦</m:t>
                          </m:r>
                        </m:sub>
                      </m:sSub>
                      <m:r>
                        <a:rPr lang="en-US" sz="2000" b="0" i="1" smtClean="0">
                          <a:latin typeface="Cambria Math" panose="02040503050406030204" pitchFamily="18" charset="0"/>
                          <a:cs typeface="Arial" panose="020B0604020202020204" pitchFamily="34" charset="0"/>
                        </a:rPr>
                        <m:t>=+</m:t>
                      </m:r>
                      <m:rad>
                        <m:radPr>
                          <m:degHide m:val="on"/>
                          <m:ctrlPr>
                            <a:rPr lang="en-US" sz="2000" i="1" smtClean="0">
                              <a:latin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cs typeface="Arial" panose="020B0604020202020204" pitchFamily="34" charset="0"/>
                            </a:rPr>
                            <m:t>0.9027</m:t>
                          </m:r>
                        </m:e>
                      </m:rad>
                      <m:r>
                        <a:rPr lang="en-US" sz="2000" b="0" i="1" smtClean="0">
                          <a:latin typeface="Cambria Math" panose="02040503050406030204" pitchFamily="18" charset="0"/>
                          <a:cs typeface="Arial" panose="020B0604020202020204" pitchFamily="34" charset="0"/>
                        </a:rPr>
                        <m:t>=+0.9501</m:t>
                      </m:r>
                    </m:oMath>
                  </m:oMathPara>
                </a14:m>
                <a:endParaRPr lang="en-US" sz="2000" b="0" dirty="0">
                  <a:cs typeface="Arial" panose="020B0604020202020204" pitchFamily="34" charset="0"/>
                </a:endParaRPr>
              </a:p>
              <a:p>
                <a:pPr>
                  <a:spcBef>
                    <a:spcPts val="600"/>
                  </a:spcBef>
                  <a:spcAft>
                    <a:spcPts val="0"/>
                  </a:spcAft>
                </a:pPr>
                <a:r>
                  <a:rPr lang="en-US" sz="2000" dirty="0">
                    <a:cs typeface="Arial" panose="020B0604020202020204" pitchFamily="34" charset="0"/>
                  </a:rPr>
                  <a:t>The positive value near +1 indicates a strong positive linear association between </a:t>
                </a:r>
                <a:r>
                  <a:rPr lang="en-US" sz="2000" dirty="0">
                    <a:latin typeface="Arial" panose="020B0604020202020204" pitchFamily="34" charset="0"/>
                    <a:cs typeface="Arial" panose="020B0604020202020204" pitchFamily="34" charset="0"/>
                  </a:rPr>
                  <a:t>𝑥</a:t>
                </a:r>
                <a:r>
                  <a:rPr lang="en-US" sz="2000" dirty="0">
                    <a:cs typeface="Arial" panose="020B0604020202020204" pitchFamily="34" charset="0"/>
                  </a:rPr>
                  <a:t> and </a:t>
                </a:r>
                <a:r>
                  <a:rPr lang="en-US" sz="2000" dirty="0">
                    <a:latin typeface="Arial" panose="020B0604020202020204" pitchFamily="34" charset="0"/>
                    <a:cs typeface="Arial" panose="020B0604020202020204" pitchFamily="34" charset="0"/>
                  </a:rPr>
                  <a:t>𝑦</a:t>
                </a:r>
                <a:r>
                  <a:rPr lang="en-US" sz="2000" dirty="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284895"/>
                <a:ext cx="10781737" cy="4445871"/>
              </a:xfrm>
              <a:blipFill>
                <a:blip r:embed="rId3"/>
                <a:stretch>
                  <a:fillRect l="-1471" t="-1646" r="-566" b="-1920"/>
                </a:stretch>
              </a:blipFill>
            </p:spPr>
            <p:txBody>
              <a:bodyPr/>
              <a:lstStyle/>
              <a:p>
                <a:r>
                  <a:rPr lang="en-US">
                    <a:noFill/>
                  </a:rPr>
                  <a:t> </a:t>
                </a:r>
              </a:p>
            </p:txBody>
          </p:sp>
        </mc:Fallback>
      </mc:AlternateContent>
    </p:spTree>
    <p:extLst>
      <p:ext uri="{BB962C8B-B14F-4D97-AF65-F5344CB8AC3E}">
        <p14:creationId xmlns:p14="http://schemas.microsoft.com/office/powerpoint/2010/main" val="13841300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D14B1E"/>
                </a:solidFill>
              </a:rPr>
              <a:t>14.4 Model Assumptions</a:t>
            </a:r>
            <a:endParaRPr lang="en-US" i="1" dirty="0">
              <a:solidFill>
                <a:srgbClr val="D14B1E"/>
              </a:solidFill>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375143"/>
                <a:ext cx="10781737" cy="4304475"/>
              </a:xfrm>
            </p:spPr>
            <p:txBody>
              <a:bodyPr/>
              <a:lstStyle/>
              <a:p>
                <a:pPr>
                  <a:spcBef>
                    <a:spcPts val="600"/>
                  </a:spcBef>
                  <a:spcAft>
                    <a:spcPts val="0"/>
                  </a:spcAft>
                </a:pPr>
                <a:r>
                  <a:rPr lang="en-US" sz="2000" dirty="0">
                    <a:cs typeface="Arial" panose="020B0604020202020204" pitchFamily="34" charset="0"/>
                  </a:rPr>
                  <a:t>The tests of significance in regression analysis are based on the following assumptions about the error term,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cs typeface="Arial" panose="020B0604020202020204" pitchFamily="34" charset="0"/>
                  </a:rPr>
                  <a:t>. In the regression model </a:t>
                </a:r>
                <a14:m>
                  <m:oMath xmlns:m="http://schemas.openxmlformats.org/officeDocument/2006/math">
                    <m:r>
                      <a:rPr lang="en-US" sz="2000" b="0" i="1">
                        <a:latin typeface="Cambria Math" panose="02040503050406030204" pitchFamily="18" charset="0"/>
                      </a:rPr>
                      <m:t>𝑦</m:t>
                    </m:r>
                    <m:r>
                      <a:rPr lang="en-US" sz="2000" b="0" i="1">
                        <a:latin typeface="Cambria Math" panose="02040503050406030204" pitchFamily="18" charset="0"/>
                      </a:rPr>
                      <m:t>=</m:t>
                    </m:r>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0</m:t>
                        </m:r>
                      </m:sub>
                    </m:sSub>
                    <m:r>
                      <a:rPr lang="en-US" sz="2000" b="0" i="1">
                        <a:latin typeface="Cambria Math" panose="02040503050406030204" pitchFamily="18" charset="0"/>
                      </a:rPr>
                      <m:t>+</m:t>
                    </m:r>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1</m:t>
                        </m:r>
                      </m:sub>
                    </m:sSub>
                    <m:r>
                      <a:rPr lang="en-US" sz="2000" b="0" i="1">
                        <a:latin typeface="Cambria Math" panose="02040503050406030204" pitchFamily="18" charset="0"/>
                      </a:rPr>
                      <m:t>𝑥</m:t>
                    </m:r>
                    <m:r>
                      <a:rPr lang="en-US" sz="2000" b="0" i="1">
                        <a:latin typeface="Cambria Math" panose="02040503050406030204" pitchFamily="18"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t>, we have:</a:t>
                </a:r>
                <a:endParaRPr lang="en-US" sz="2000" dirty="0">
                  <a:cs typeface="Arial" panose="020B0604020202020204" pitchFamily="34" charset="0"/>
                </a:endParaRPr>
              </a:p>
              <a:p>
                <a:pPr marL="630238" indent="-401638">
                  <a:spcBef>
                    <a:spcPts val="600"/>
                  </a:spcBef>
                  <a:spcAft>
                    <a:spcPts val="0"/>
                  </a:spcAft>
                  <a:buFont typeface="+mj-lt"/>
                  <a:buAutoNum type="arabicPeriod"/>
                </a:pPr>
                <a:r>
                  <a:rPr lang="en-US" sz="2000" dirty="0">
                    <a:cs typeface="Arial" panose="020B0604020202020204" pitchFamily="34" charset="0"/>
                  </a:rPr>
                  <a:t>The error term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cs typeface="Arial" panose="020B0604020202020204" pitchFamily="34" charset="0"/>
                  </a:rPr>
                  <a:t> is a random variable with an expected value of zero; that is, </a:t>
                </a:r>
                <a14:m>
                  <m:oMath xmlns:m="http://schemas.openxmlformats.org/officeDocument/2006/math">
                    <m:r>
                      <a:rPr lang="en-US" sz="2000" b="0" i="1" smtClean="0">
                        <a:latin typeface="Cambria Math" panose="02040503050406030204" pitchFamily="18" charset="0"/>
                        <a:cs typeface="Arial" panose="020B0604020202020204" pitchFamily="34" charset="0"/>
                      </a:rPr>
                      <m:t>𝐸</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e>
                    </m:d>
                    <m:r>
                      <a:rPr lang="en-US" sz="2000" b="0" i="1" smtClean="0">
                        <a:latin typeface="Cambria Math" panose="02040503050406030204" pitchFamily="18" charset="0"/>
                        <a:cs typeface="Arial" panose="020B0604020202020204" pitchFamily="34" charset="0"/>
                      </a:rPr>
                      <m:t>=0</m:t>
                    </m:r>
                  </m:oMath>
                </a14:m>
                <a:endParaRPr lang="en-US" sz="2000" dirty="0">
                  <a:cs typeface="Arial" panose="020B0604020202020204" pitchFamily="34" charset="0"/>
                </a:endParaRPr>
              </a:p>
              <a:p>
                <a:pPr marL="914400" lvl="1" indent="0">
                  <a:lnSpc>
                    <a:spcPct val="100000"/>
                  </a:lnSpc>
                  <a:spcBef>
                    <a:spcPts val="600"/>
                  </a:spcBef>
                  <a:spcAft>
                    <a:spcPts val="0"/>
                  </a:spcAft>
                  <a:buNone/>
                </a:pPr>
                <a:r>
                  <a:rPr lang="en-US" sz="1800" i="1" dirty="0">
                    <a:latin typeface="Arial" panose="020B0604020202020204" pitchFamily="34" charset="0"/>
                    <a:cs typeface="Arial" panose="020B0604020202020204" pitchFamily="34" charset="0"/>
                  </a:rPr>
                  <a:t>Implication</a:t>
                </a:r>
                <a:r>
                  <a:rPr lang="en-US" sz="1800" dirty="0">
                    <a:latin typeface="Arial" panose="020B0604020202020204" pitchFamily="34" charset="0"/>
                    <a:cs typeface="Arial" panose="020B0604020202020204" pitchFamily="34" charset="0"/>
                  </a:rPr>
                  <a:t>: because </a:t>
                </a:r>
                <a14:m>
                  <m:oMath xmlns:m="http://schemas.openxmlformats.org/officeDocument/2006/math">
                    <m:sSub>
                      <m:sSubPr>
                        <m:ctrlPr>
                          <a:rPr lang="en-US" sz="1800" i="1" smtClean="0">
                            <a:latin typeface="Cambria Math" panose="02040503050406030204" pitchFamily="18" charset="0"/>
                          </a:rPr>
                        </m:ctrlPr>
                      </m:sSubPr>
                      <m:e>
                        <m:r>
                          <a:rPr lang="en-US" sz="1800" b="0" i="1">
                            <a:latin typeface="Cambria Math" panose="02040503050406030204" pitchFamily="18" charset="0"/>
                            <a:ea typeface="Cambria Math" panose="02040503050406030204" pitchFamily="18" charset="0"/>
                          </a:rPr>
                          <m:t>𝛽</m:t>
                        </m:r>
                      </m:e>
                      <m:sub>
                        <m:r>
                          <a:rPr lang="en-US" sz="1800" b="0" i="1">
                            <a:latin typeface="Cambria Math" panose="02040503050406030204" pitchFamily="18" charset="0"/>
                          </a:rPr>
                          <m:t>0</m:t>
                        </m:r>
                      </m:sub>
                    </m:sSub>
                  </m:oMath>
                </a14:m>
                <a:r>
                  <a:rPr lang="en-US" sz="1800" dirty="0">
                    <a:latin typeface="Arial" panose="020B0604020202020204" pitchFamily="34" charset="0"/>
                    <a:cs typeface="Arial" panose="020B0604020202020204" pitchFamily="34" charset="0"/>
                  </a:rPr>
                  <a:t> and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rPr>
                          <m:t>1</m:t>
                        </m:r>
                      </m:sub>
                    </m:sSub>
                  </m:oMath>
                </a14:m>
                <a:r>
                  <a:rPr lang="en-US" sz="1800" dirty="0">
                    <a:latin typeface="Arial" panose="020B0604020202020204" pitchFamily="34" charset="0"/>
                    <a:cs typeface="Arial" panose="020B0604020202020204" pitchFamily="34" charset="0"/>
                  </a:rPr>
                  <a:t> are constant, </a:t>
                </a:r>
                <a14:m>
                  <m:oMath xmlns:m="http://schemas.openxmlformats.org/officeDocument/2006/math">
                    <m:r>
                      <a:rPr lang="en-US" sz="1800" i="1">
                        <a:latin typeface="Cambria Math" panose="02040503050406030204" pitchFamily="18" charset="0"/>
                        <a:cs typeface="Arial" panose="020B0604020202020204" pitchFamily="34" charset="0"/>
                      </a:rPr>
                      <m:t>𝐸</m:t>
                    </m:r>
                    <m:d>
                      <m:dPr>
                        <m:ctrlPr>
                          <a:rPr lang="en-US" sz="1800" i="1">
                            <a:latin typeface="Cambria Math" panose="02040503050406030204" pitchFamily="18" charset="0"/>
                            <a:cs typeface="Arial" panose="020B0604020202020204" pitchFamily="34"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rPr>
                              <m:t>0</m:t>
                            </m:r>
                          </m:sub>
                        </m:sSub>
                      </m:e>
                    </m:d>
                    <m:r>
                      <a:rPr lang="en-US" sz="18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rPr>
                          <m:t>0</m:t>
                        </m:r>
                      </m:sub>
                    </m:sSub>
                  </m:oMath>
                </a14:m>
                <a:r>
                  <a:rPr lang="en-US" sz="1800" dirty="0">
                    <a:latin typeface="Arial" panose="020B0604020202020204" pitchFamily="34" charset="0"/>
                    <a:cs typeface="Arial" panose="020B0604020202020204" pitchFamily="34" charset="0"/>
                  </a:rPr>
                  <a:t> and </a:t>
                </a:r>
                <a14:m>
                  <m:oMath xmlns:m="http://schemas.openxmlformats.org/officeDocument/2006/math">
                    <m:r>
                      <a:rPr lang="en-US" sz="1800" i="1">
                        <a:latin typeface="Cambria Math" panose="02040503050406030204" pitchFamily="18" charset="0"/>
                        <a:cs typeface="Arial" panose="020B0604020202020204" pitchFamily="34" charset="0"/>
                      </a:rPr>
                      <m:t>𝐸</m:t>
                    </m:r>
                    <m:d>
                      <m:dPr>
                        <m:ctrlPr>
                          <a:rPr lang="en-US" sz="1800" i="1">
                            <a:latin typeface="Cambria Math" panose="02040503050406030204" pitchFamily="18" charset="0"/>
                            <a:cs typeface="Arial" panose="020B0604020202020204" pitchFamily="34"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b="0" i="1" smtClean="0">
                                <a:latin typeface="Cambria Math" panose="02040503050406030204" pitchFamily="18" charset="0"/>
                              </a:rPr>
                              <m:t>1</m:t>
                            </m:r>
                          </m:sub>
                        </m:sSub>
                      </m:e>
                    </m:d>
                    <m:r>
                      <a:rPr lang="en-US" sz="1800" i="1">
                        <a:latin typeface="Cambria Math" panose="02040503050406030204" pitchFamily="18" charset="0"/>
                        <a:ea typeface="Cambria Math" panose="02040503050406030204" pitchFamily="18" charset="0"/>
                        <a:cs typeface="Arial" panose="020B0604020202020204" pitchFamily="34" charset="0"/>
                      </a:rPr>
                      <m:t>=</m:t>
                    </m:r>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b="0" i="1" smtClean="0">
                            <a:latin typeface="Cambria Math" panose="02040503050406030204" pitchFamily="18" charset="0"/>
                          </a:rPr>
                          <m:t>1</m:t>
                        </m:r>
                      </m:sub>
                    </m:sSub>
                  </m:oMath>
                </a14:m>
                <a:r>
                  <a:rPr lang="en-US" sz="1800" dirty="0">
                    <a:latin typeface="Arial" panose="020B0604020202020204" pitchFamily="34" charset="0"/>
                    <a:cs typeface="Arial" panose="020B0604020202020204" pitchFamily="34" charset="0"/>
                  </a:rPr>
                  <a:t>. Thus, for a given value of 𝑥, we obtain the simple linear regression equation, </a:t>
                </a:r>
                <a14:m>
                  <m:oMath xmlns:m="http://schemas.openxmlformats.org/officeDocument/2006/math">
                    <m:r>
                      <a:rPr lang="en-US" sz="1800" b="0" i="1">
                        <a:latin typeface="Cambria Math" panose="02040503050406030204" pitchFamily="18" charset="0"/>
                      </a:rPr>
                      <m:t>𝐸</m:t>
                    </m:r>
                    <m:d>
                      <m:dPr>
                        <m:ctrlPr>
                          <a:rPr lang="en-US" sz="1800" i="1">
                            <a:latin typeface="Cambria Math" panose="02040503050406030204" pitchFamily="18" charset="0"/>
                          </a:rPr>
                        </m:ctrlPr>
                      </m:dPr>
                      <m:e>
                        <m:r>
                          <a:rPr lang="en-US" sz="1800" b="0" i="1">
                            <a:latin typeface="Cambria Math" panose="02040503050406030204" pitchFamily="18" charset="0"/>
                          </a:rPr>
                          <m:t>𝑦</m:t>
                        </m:r>
                      </m:e>
                    </m:d>
                    <m:r>
                      <a:rPr lang="en-US" sz="1800" b="0" i="1">
                        <a:latin typeface="Cambria Math" panose="02040503050406030204" pitchFamily="18" charset="0"/>
                      </a:rPr>
                      <m:t>=</m:t>
                    </m:r>
                    <m:sSub>
                      <m:sSubPr>
                        <m:ctrlPr>
                          <a:rPr lang="en-US" sz="1800" i="1">
                            <a:latin typeface="Cambria Math" panose="02040503050406030204" pitchFamily="18" charset="0"/>
                          </a:rPr>
                        </m:ctrlPr>
                      </m:sSubPr>
                      <m:e>
                        <m:r>
                          <a:rPr lang="en-US" sz="1800" b="0" i="1">
                            <a:latin typeface="Cambria Math" panose="02040503050406030204" pitchFamily="18" charset="0"/>
                            <a:ea typeface="Cambria Math" panose="02040503050406030204" pitchFamily="18" charset="0"/>
                          </a:rPr>
                          <m:t>𝛽</m:t>
                        </m:r>
                      </m:e>
                      <m:sub>
                        <m:r>
                          <a:rPr lang="en-US" sz="1800" b="0" i="1">
                            <a:latin typeface="Cambria Math" panose="02040503050406030204" pitchFamily="18" charset="0"/>
                          </a:rPr>
                          <m:t>0</m:t>
                        </m:r>
                      </m:sub>
                    </m:sSub>
                    <m:r>
                      <a:rPr lang="en-US" sz="1800" b="0" i="1">
                        <a:latin typeface="Cambria Math" panose="02040503050406030204" pitchFamily="18" charset="0"/>
                      </a:rPr>
                      <m:t>+</m:t>
                    </m:r>
                    <m:sSub>
                      <m:sSubPr>
                        <m:ctrlPr>
                          <a:rPr lang="en-US" sz="1800" i="1">
                            <a:latin typeface="Cambria Math" panose="02040503050406030204" pitchFamily="18" charset="0"/>
                          </a:rPr>
                        </m:ctrlPr>
                      </m:sSubPr>
                      <m:e>
                        <m:r>
                          <a:rPr lang="en-US" sz="1800" b="0" i="1">
                            <a:latin typeface="Cambria Math" panose="02040503050406030204" pitchFamily="18" charset="0"/>
                            <a:ea typeface="Cambria Math" panose="02040503050406030204" pitchFamily="18" charset="0"/>
                          </a:rPr>
                          <m:t>𝛽</m:t>
                        </m:r>
                      </m:e>
                      <m:sub>
                        <m:r>
                          <a:rPr lang="en-US" sz="1800" b="0" i="1">
                            <a:latin typeface="Cambria Math" panose="02040503050406030204" pitchFamily="18" charset="0"/>
                          </a:rPr>
                          <m:t>1</m:t>
                        </m:r>
                      </m:sub>
                    </m:sSub>
                    <m:r>
                      <a:rPr lang="en-US" sz="1800" b="0" i="1">
                        <a:latin typeface="Cambria Math" panose="02040503050406030204" pitchFamily="18" charset="0"/>
                      </a:rPr>
                      <m:t>𝑥</m:t>
                    </m:r>
                  </m:oMath>
                </a14:m>
                <a:r>
                  <a:rPr lang="en-US" sz="1800" dirty="0">
                    <a:latin typeface="Arial" panose="020B0604020202020204" pitchFamily="34" charset="0"/>
                    <a:cs typeface="Arial" panose="020B0604020202020204" pitchFamily="34" charset="0"/>
                  </a:rPr>
                  <a:t>.</a:t>
                </a:r>
                <a:endParaRPr lang="en-US" sz="2000" dirty="0">
                  <a:cs typeface="Arial" panose="020B0604020202020204" pitchFamily="34" charset="0"/>
                </a:endParaRPr>
              </a:p>
              <a:p>
                <a:pPr marL="630238" indent="-401638">
                  <a:spcBef>
                    <a:spcPts val="600"/>
                  </a:spcBef>
                  <a:spcAft>
                    <a:spcPts val="0"/>
                  </a:spcAft>
                  <a:buFont typeface="+mj-lt"/>
                  <a:buAutoNum type="arabicPeriod"/>
                </a:pPr>
                <a:r>
                  <a:rPr lang="en-US" sz="2000" dirty="0">
                    <a:cs typeface="Arial" panose="020B0604020202020204" pitchFamily="34" charset="0"/>
                  </a:rPr>
                  <a:t>The variance of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cs typeface="Arial" panose="020B0604020202020204" pitchFamily="34" charset="0"/>
                  </a:rPr>
                  <a:t>, denoted by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n-US" sz="2000" i="1" smtClean="0">
                            <a:latin typeface="Cambria Math" panose="02040503050406030204" pitchFamily="18" charset="0"/>
                            <a:ea typeface="Cambria Math" panose="02040503050406030204" pitchFamily="18" charset="0"/>
                            <a:cs typeface="Arial" panose="020B0604020202020204" pitchFamily="34" charset="0"/>
                          </a:rPr>
                          <m:t>𝜎</m:t>
                        </m:r>
                      </m:e>
                      <m:sup>
                        <m:r>
                          <a:rPr lang="en-US" sz="2000" b="0" i="1" smtClean="0">
                            <a:latin typeface="Cambria Math" panose="02040503050406030204" pitchFamily="18" charset="0"/>
                            <a:cs typeface="Arial" panose="020B0604020202020204" pitchFamily="34" charset="0"/>
                          </a:rPr>
                          <m:t>2</m:t>
                        </m:r>
                      </m:sup>
                    </m:sSup>
                  </m:oMath>
                </a14:m>
                <a:r>
                  <a:rPr lang="en-US" sz="2000" dirty="0">
                    <a:cs typeface="Arial" panose="020B0604020202020204" pitchFamily="34" charset="0"/>
                  </a:rPr>
                  <a:t>, is the same for all values of </a:t>
                </a:r>
                <a:r>
                  <a:rPr lang="en-US" sz="2000" dirty="0">
                    <a:latin typeface="Arial" panose="020B0604020202020204" pitchFamily="34" charset="0"/>
                    <a:cs typeface="Arial" panose="020B0604020202020204" pitchFamily="34" charset="0"/>
                  </a:rPr>
                  <a:t>𝑥</a:t>
                </a:r>
                <a:r>
                  <a:rPr lang="en-US" sz="2000" dirty="0">
                    <a:cs typeface="Arial" panose="020B0604020202020204" pitchFamily="34" charset="0"/>
                  </a:rPr>
                  <a:t>.</a:t>
                </a:r>
              </a:p>
              <a:p>
                <a:pPr marL="914400" lvl="1" indent="0">
                  <a:spcBef>
                    <a:spcPts val="600"/>
                  </a:spcBef>
                  <a:spcAft>
                    <a:spcPts val="0"/>
                  </a:spcAft>
                  <a:buNone/>
                </a:pPr>
                <a:r>
                  <a:rPr lang="en-US" sz="1800" b="0" i="1" dirty="0">
                    <a:effectLst/>
                    <a:latin typeface="Arial" panose="020B0604020202020204" pitchFamily="34" charset="0"/>
                    <a:cs typeface="Arial" panose="020B0604020202020204" pitchFamily="34" charset="0"/>
                  </a:rPr>
                  <a:t>Implication</a:t>
                </a:r>
                <a:r>
                  <a:rPr lang="en-US" sz="1800" b="0" i="0" dirty="0">
                    <a:effectLst/>
                    <a:latin typeface="Arial" panose="020B0604020202020204" pitchFamily="34" charset="0"/>
                    <a:cs typeface="Arial" panose="020B0604020202020204" pitchFamily="34" charset="0"/>
                  </a:rPr>
                  <a:t>: The variance of </a:t>
                </a:r>
                <a:r>
                  <a:rPr lang="en-US" sz="1800" dirty="0">
                    <a:latin typeface="Arial" panose="020B0604020202020204" pitchFamily="34" charset="0"/>
                    <a:cs typeface="Arial" panose="020B0604020202020204" pitchFamily="34" charset="0"/>
                  </a:rPr>
                  <a:t>𝑦</a:t>
                </a:r>
                <a:r>
                  <a:rPr lang="en-US" sz="1800" b="0" i="0" dirty="0">
                    <a:effectLst/>
                    <a:latin typeface="Arial" panose="020B0604020202020204" pitchFamily="34" charset="0"/>
                    <a:cs typeface="Arial" panose="020B0604020202020204" pitchFamily="34" charset="0"/>
                  </a:rPr>
                  <a:t> about the regression line equals </a:t>
                </a:r>
                <a14:m>
                  <m:oMath xmlns:m="http://schemas.openxmlformats.org/officeDocument/2006/math">
                    <m:sSup>
                      <m:sSupPr>
                        <m:ctrlPr>
                          <a:rPr lang="en-US" sz="1800" i="1" smtClean="0">
                            <a:latin typeface="Cambria Math" panose="02040503050406030204" pitchFamily="18" charset="0"/>
                            <a:cs typeface="Arial" panose="020B0604020202020204" pitchFamily="34" charset="0"/>
                          </a:rPr>
                        </m:ctrlPr>
                      </m:sSupPr>
                      <m:e>
                        <m:r>
                          <a:rPr lang="en-US" sz="1800" i="1" smtClean="0">
                            <a:latin typeface="Cambria Math" panose="02040503050406030204" pitchFamily="18" charset="0"/>
                            <a:ea typeface="Cambria Math" panose="02040503050406030204" pitchFamily="18" charset="0"/>
                            <a:cs typeface="Arial" panose="020B0604020202020204" pitchFamily="34" charset="0"/>
                          </a:rPr>
                          <m:t>𝜎</m:t>
                        </m:r>
                      </m:e>
                      <m:sup>
                        <m:r>
                          <a:rPr lang="en-US" sz="1800" b="0" i="1" smtClean="0">
                            <a:latin typeface="Cambria Math" panose="02040503050406030204" pitchFamily="18" charset="0"/>
                            <a:cs typeface="Arial" panose="020B0604020202020204" pitchFamily="34" charset="0"/>
                          </a:rPr>
                          <m:t>2</m:t>
                        </m:r>
                      </m:sup>
                    </m:sSup>
                  </m:oMath>
                </a14:m>
                <a:r>
                  <a:rPr lang="en-US" sz="1800" b="0" i="0" dirty="0">
                    <a:effectLst/>
                    <a:latin typeface="Arial" panose="020B0604020202020204" pitchFamily="34" charset="0"/>
                    <a:cs typeface="Arial" panose="020B0604020202020204" pitchFamily="34" charset="0"/>
                  </a:rPr>
                  <a:t> for all </a:t>
                </a:r>
                <a:r>
                  <a:rPr lang="en-US" sz="1800" dirty="0">
                    <a:latin typeface="Arial" panose="020B0604020202020204" pitchFamily="34" charset="0"/>
                    <a:cs typeface="Arial" panose="020B0604020202020204" pitchFamily="34" charset="0"/>
                  </a:rPr>
                  <a:t>𝑥</a:t>
                </a:r>
                <a:r>
                  <a:rPr lang="en-US" sz="1800" b="0" i="0" dirty="0">
                    <a:effectLst/>
                    <a:latin typeface="Arial" panose="020B0604020202020204" pitchFamily="34" charset="0"/>
                    <a:cs typeface="Arial" panose="020B0604020202020204" pitchFamily="34" charset="0"/>
                  </a:rPr>
                  <a:t> values.</a:t>
                </a:r>
                <a:endParaRPr lang="en-US" sz="1800" dirty="0">
                  <a:latin typeface="Arial" panose="020B0604020202020204" pitchFamily="34" charset="0"/>
                  <a:cs typeface="Arial" panose="020B0604020202020204" pitchFamily="34" charset="0"/>
                </a:endParaRPr>
              </a:p>
              <a:p>
                <a:pPr marL="630238" indent="-401638">
                  <a:spcBef>
                    <a:spcPts val="600"/>
                  </a:spcBef>
                  <a:spcAft>
                    <a:spcPts val="0"/>
                  </a:spcAft>
                  <a:buFont typeface="+mj-lt"/>
                  <a:buAutoNum type="arabicPeriod"/>
                </a:pPr>
                <a:r>
                  <a:rPr lang="en-US" sz="2000" dirty="0">
                    <a:cs typeface="Arial" panose="020B0604020202020204" pitchFamily="34" charset="0"/>
                  </a:rPr>
                  <a:t>The values of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cs typeface="Arial" panose="020B0604020202020204" pitchFamily="34" charset="0"/>
                  </a:rPr>
                  <a:t> are independent.</a:t>
                </a:r>
              </a:p>
              <a:p>
                <a:pPr marL="914400" lvl="1" indent="0">
                  <a:spcBef>
                    <a:spcPts val="600"/>
                  </a:spcBef>
                  <a:spcAft>
                    <a:spcPts val="0"/>
                  </a:spcAft>
                  <a:buNone/>
                </a:pPr>
                <a:r>
                  <a:rPr lang="en-US" sz="1800" i="1" dirty="0">
                    <a:latin typeface="Arial" panose="020B0604020202020204" pitchFamily="34" charset="0"/>
                    <a:cs typeface="Arial" panose="020B0604020202020204" pitchFamily="34" charset="0"/>
                  </a:rPr>
                  <a:t>Implication</a:t>
                </a:r>
                <a:r>
                  <a:rPr lang="en-US" sz="1800" dirty="0">
                    <a:latin typeface="Arial" panose="020B0604020202020204" pitchFamily="34" charset="0"/>
                    <a:cs typeface="Arial" panose="020B0604020202020204" pitchFamily="34" charset="0"/>
                  </a:rPr>
                  <a:t>: Because the values of </a:t>
                </a:r>
                <a14:m>
                  <m:oMath xmlns:m="http://schemas.openxmlformats.org/officeDocument/2006/math">
                    <m:r>
                      <a:rPr lang="en-US" sz="180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1800" dirty="0">
                    <a:latin typeface="Arial" panose="020B0604020202020204" pitchFamily="34" charset="0"/>
                    <a:cs typeface="Arial" panose="020B0604020202020204" pitchFamily="34" charset="0"/>
                  </a:rPr>
                  <a:t> for any two values of 𝑥 are not related, it follows that the values of 𝑦 for any two values of 𝑥 are also not related.</a:t>
                </a:r>
              </a:p>
              <a:p>
                <a:pPr marL="630238" indent="-401638">
                  <a:spcBef>
                    <a:spcPts val="600"/>
                  </a:spcBef>
                  <a:spcAft>
                    <a:spcPts val="0"/>
                  </a:spcAft>
                  <a:buFont typeface="+mj-lt"/>
                  <a:buAutoNum type="arabicPeriod"/>
                </a:pPr>
                <a:r>
                  <a:rPr lang="en-US" sz="2000" dirty="0">
                    <a:cs typeface="Arial" panose="020B0604020202020204" pitchFamily="34" charset="0"/>
                  </a:rPr>
                  <a:t>The error term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cs typeface="Arial" panose="020B0604020202020204" pitchFamily="34" charset="0"/>
                  </a:rPr>
                  <a:t> is a normally distributed random variable for all values of </a:t>
                </a:r>
                <a:r>
                  <a:rPr lang="en-US" sz="2000" dirty="0">
                    <a:latin typeface="Arial" panose="020B0604020202020204" pitchFamily="34" charset="0"/>
                    <a:cs typeface="Arial" panose="020B0604020202020204" pitchFamily="34" charset="0"/>
                  </a:rPr>
                  <a:t>𝑥</a:t>
                </a:r>
                <a:r>
                  <a:rPr lang="en-US" sz="2000" dirty="0">
                    <a:cs typeface="Arial" panose="020B0604020202020204" pitchFamily="34" charset="0"/>
                  </a:rPr>
                  <a:t>.</a:t>
                </a:r>
              </a:p>
              <a:p>
                <a:pPr marL="914400" lvl="1" indent="0">
                  <a:spcBef>
                    <a:spcPts val="600"/>
                  </a:spcBef>
                  <a:spcAft>
                    <a:spcPts val="0"/>
                  </a:spcAft>
                  <a:buNone/>
                </a:pPr>
                <a:r>
                  <a:rPr lang="en-US" sz="1800" i="1" dirty="0">
                    <a:latin typeface="Arial" panose="020B0604020202020204" pitchFamily="34" charset="0"/>
                    <a:cs typeface="Arial" panose="020B0604020202020204" pitchFamily="34" charset="0"/>
                  </a:rPr>
                  <a:t>Implication</a:t>
                </a:r>
                <a:r>
                  <a:rPr lang="en-US" sz="1800" dirty="0">
                    <a:latin typeface="Arial" panose="020B0604020202020204" pitchFamily="34" charset="0"/>
                    <a:cs typeface="Arial" panose="020B0604020202020204" pitchFamily="34" charset="0"/>
                  </a:rPr>
                  <a:t>: Because 𝑦 is a linear function of </a:t>
                </a:r>
                <a14:m>
                  <m:oMath xmlns:m="http://schemas.openxmlformats.org/officeDocument/2006/math">
                    <m:r>
                      <a:rPr lang="en-US" sz="180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1800" dirty="0">
                    <a:latin typeface="Arial" panose="020B0604020202020204" pitchFamily="34" charset="0"/>
                    <a:cs typeface="Arial" panose="020B0604020202020204" pitchFamily="34" charset="0"/>
                  </a:rPr>
                  <a:t>, 𝑦 is also a normally distributed random variable for all values of 𝑥.</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375143"/>
                <a:ext cx="10781737" cy="4304475"/>
              </a:xfrm>
              <a:blipFill>
                <a:blip r:embed="rId4"/>
                <a:stretch>
                  <a:fillRect l="-1471" t="-1700" r="-283" b="-1416"/>
                </a:stretch>
              </a:blipFill>
            </p:spPr>
            <p:txBody>
              <a:bodyPr/>
              <a:lstStyle/>
              <a:p>
                <a:r>
                  <a:rPr lang="en-US">
                    <a:noFill/>
                  </a:rPr>
                  <a:t> </a:t>
                </a:r>
              </a:p>
            </p:txBody>
          </p:sp>
        </mc:Fallback>
      </mc:AlternateContent>
    </p:spTree>
    <p:extLst>
      <p:ext uri="{BB962C8B-B14F-4D97-AF65-F5344CB8AC3E}">
        <p14:creationId xmlns:p14="http://schemas.microsoft.com/office/powerpoint/2010/main" val="3003056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4563C-542A-D08C-1A11-F2F943F613B0}"/>
              </a:ext>
            </a:extLst>
          </p:cNvPr>
          <p:cNvSpPr>
            <a:spLocks noGrp="1"/>
          </p:cNvSpPr>
          <p:nvPr>
            <p:ph type="title"/>
          </p:nvPr>
        </p:nvSpPr>
        <p:spPr>
          <a:xfrm>
            <a:off x="861816" y="365125"/>
            <a:ext cx="10418414" cy="672105"/>
          </a:xfrm>
        </p:spPr>
        <p:txBody>
          <a:bodyPr/>
          <a:lstStyle/>
          <a:p>
            <a:r>
              <a:rPr lang="en-US" sz="3200" dirty="0"/>
              <a:t>14.4 Graphical Representation of the Assumptions for the Regression Model</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31EB207-E6CC-3AF0-A9DB-03F1D10D990F}"/>
                  </a:ext>
                </a:extLst>
              </p:cNvPr>
              <p:cNvSpPr>
                <a:spLocks noGrp="1"/>
              </p:cNvSpPr>
              <p:nvPr>
                <p:ph type="body" sz="quarter" idx="15"/>
              </p:nvPr>
            </p:nvSpPr>
            <p:spPr>
              <a:xfrm>
                <a:off x="732875" y="1631735"/>
                <a:ext cx="5525651" cy="4319748"/>
              </a:xfrm>
            </p:spPr>
            <p:txBody>
              <a:bodyPr/>
              <a:lstStyle/>
              <a:p>
                <a:pPr>
                  <a:spcAft>
                    <a:spcPts val="0"/>
                  </a:spcAft>
                </a:pPr>
                <a:r>
                  <a:rPr lang="en-US" sz="2000" dirty="0">
                    <a:cs typeface="Arial" panose="020B0604020202020204" pitchFamily="34" charset="0"/>
                  </a:rPr>
                  <a:t>Note that the value of </a:t>
                </a:r>
                <a14:m>
                  <m:oMath xmlns:m="http://schemas.openxmlformats.org/officeDocument/2006/math">
                    <m:r>
                      <a:rPr lang="en-US" sz="2000" b="0" i="1" smtClean="0">
                        <a:latin typeface="Cambria Math" panose="02040503050406030204" pitchFamily="18" charset="0"/>
                        <a:cs typeface="Arial" panose="020B0604020202020204" pitchFamily="34" charset="0"/>
                      </a:rPr>
                      <m:t>𝐸</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𝑦</m:t>
                        </m:r>
                      </m:e>
                    </m:d>
                  </m:oMath>
                </a14:m>
                <a:r>
                  <a:rPr lang="en-US" sz="2000" dirty="0">
                    <a:cs typeface="Arial" panose="020B0604020202020204" pitchFamily="34" charset="0"/>
                  </a:rPr>
                  <a:t> changes according  to the specific value of </a:t>
                </a:r>
                <a:r>
                  <a:rPr lang="en-US" sz="2000" dirty="0">
                    <a:latin typeface="Arial" panose="020B0604020202020204" pitchFamily="34" charset="0"/>
                    <a:cs typeface="Arial" panose="020B0604020202020204" pitchFamily="34" charset="0"/>
                  </a:rPr>
                  <a:t>𝑥</a:t>
                </a:r>
                <a:r>
                  <a:rPr lang="en-US" sz="2000" dirty="0">
                    <a:cs typeface="Arial" panose="020B0604020202020204" pitchFamily="34" charset="0"/>
                  </a:rPr>
                  <a:t>. </a:t>
                </a:r>
              </a:p>
              <a:p>
                <a:pPr>
                  <a:spcAft>
                    <a:spcPts val="0"/>
                  </a:spcAft>
                </a:pPr>
                <a:r>
                  <a:rPr lang="en-US" sz="2000" dirty="0">
                    <a:cs typeface="Arial" panose="020B0604020202020204" pitchFamily="34" charset="0"/>
                  </a:rPr>
                  <a:t>However, the probability distribution of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cs typeface="Arial" panose="020B0604020202020204" pitchFamily="34" charset="0"/>
                  </a:rPr>
                  <a:t> and the probability distribution of </a:t>
                </a:r>
                <a:r>
                  <a:rPr lang="en-US" sz="2000" dirty="0">
                    <a:latin typeface="Arial" panose="020B0604020202020204" pitchFamily="34" charset="0"/>
                    <a:cs typeface="Arial" panose="020B0604020202020204" pitchFamily="34" charset="0"/>
                  </a:rPr>
                  <a:t>𝑦</a:t>
                </a:r>
                <a:r>
                  <a:rPr lang="en-US" sz="2000" dirty="0">
                    <a:cs typeface="Arial" panose="020B0604020202020204" pitchFamily="34" charset="0"/>
                  </a:rPr>
                  <a:t> are normally distributed, each with the same variance.</a:t>
                </a:r>
              </a:p>
              <a:p>
                <a:pPr>
                  <a:spcAft>
                    <a:spcPts val="0"/>
                  </a:spcAft>
                </a:pPr>
                <a:r>
                  <a:rPr lang="en-US" sz="2000" dirty="0">
                    <a:cs typeface="Arial" panose="020B0604020202020204" pitchFamily="34" charset="0"/>
                  </a:rPr>
                  <a:t>The value of the error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cs typeface="Arial" panose="020B0604020202020204" pitchFamily="34" charset="0"/>
                  </a:rPr>
                  <a:t> at a particular value of </a:t>
                </a:r>
                <a:r>
                  <a:rPr lang="en-US" sz="2000" dirty="0">
                    <a:latin typeface="Arial" panose="020B0604020202020204" pitchFamily="34" charset="0"/>
                    <a:cs typeface="Arial" panose="020B0604020202020204" pitchFamily="34" charset="0"/>
                  </a:rPr>
                  <a:t>𝑥</a:t>
                </a:r>
                <a:r>
                  <a:rPr lang="en-US" sz="2000" dirty="0">
                    <a:cs typeface="Arial" panose="020B0604020202020204" pitchFamily="34" charset="0"/>
                  </a:rPr>
                  <a:t> depends on whether the actual value of </a:t>
                </a:r>
                <a:r>
                  <a:rPr lang="en-US" sz="2000" dirty="0">
                    <a:latin typeface="Arial" panose="020B0604020202020204" pitchFamily="34" charset="0"/>
                    <a:cs typeface="Arial" panose="020B0604020202020204" pitchFamily="34" charset="0"/>
                  </a:rPr>
                  <a:t>𝑦</a:t>
                </a:r>
                <a:r>
                  <a:rPr lang="en-US" sz="2000" dirty="0">
                    <a:cs typeface="Arial" panose="020B0604020202020204" pitchFamily="34" charset="0"/>
                  </a:rPr>
                  <a:t> is greater than or less than </a:t>
                </a:r>
                <a14:m>
                  <m:oMath xmlns:m="http://schemas.openxmlformats.org/officeDocument/2006/math">
                    <m:r>
                      <a:rPr lang="en-US" sz="2000" i="1">
                        <a:latin typeface="Cambria Math" panose="02040503050406030204" pitchFamily="18" charset="0"/>
                        <a:cs typeface="Arial" panose="020B0604020202020204" pitchFamily="34" charset="0"/>
                      </a:rPr>
                      <m:t>𝐸</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𝑦</m:t>
                        </m:r>
                      </m:e>
                    </m:d>
                  </m:oMath>
                </a14:m>
                <a:r>
                  <a:rPr lang="en-US" sz="2000" dirty="0">
                    <a:cs typeface="Arial" panose="020B0604020202020204" pitchFamily="34" charset="0"/>
                  </a:rPr>
                  <a:t>.</a:t>
                </a:r>
              </a:p>
              <a:p>
                <a:pPr>
                  <a:lnSpc>
                    <a:spcPct val="100000"/>
                  </a:lnSpc>
                  <a:spcBef>
                    <a:spcPts val="600"/>
                  </a:spcBef>
                  <a:spcAft>
                    <a:spcPts val="0"/>
                  </a:spcAft>
                </a:pPr>
                <a:r>
                  <a:rPr lang="en-US" sz="2000" dirty="0"/>
                  <a:t>Keep in mind that when we choose a linear model, we are just making an assumption about the form of the relationship between </a:t>
                </a:r>
                <a:r>
                  <a:rPr lang="en-US" sz="2000" dirty="0">
                    <a:latin typeface="Arial" panose="020B0604020202020204" pitchFamily="34" charset="0"/>
                    <a:cs typeface="Arial" panose="020B0604020202020204" pitchFamily="34" charset="0"/>
                  </a:rPr>
                  <a:t>𝑥</a:t>
                </a:r>
                <a:r>
                  <a:rPr lang="en-US" sz="2000" dirty="0"/>
                  <a:t> and </a:t>
                </a:r>
                <a:r>
                  <a:rPr lang="en-US" sz="2000" dirty="0">
                    <a:latin typeface="Arial" panose="020B0604020202020204" pitchFamily="34" charset="0"/>
                    <a:cs typeface="Arial" panose="020B0604020202020204" pitchFamily="34" charset="0"/>
                  </a:rPr>
                  <a:t>𝑦</a:t>
                </a:r>
                <a:r>
                  <a:rPr lang="en-US" sz="2000" i="1" dirty="0"/>
                  <a:t>.</a:t>
                </a:r>
              </a:p>
              <a:p>
                <a:pPr>
                  <a:lnSpc>
                    <a:spcPct val="100000"/>
                  </a:lnSpc>
                  <a:spcBef>
                    <a:spcPts val="600"/>
                  </a:spcBef>
                  <a:spcAft>
                    <a:spcPts val="1200"/>
                  </a:spcAft>
                </a:pPr>
                <a:r>
                  <a:rPr lang="en-US" sz="2000" dirty="0"/>
                  <a:t>However, </a:t>
                </a:r>
                <a:r>
                  <a:rPr lang="en-US" sz="2000"/>
                  <a:t>other non-linear </a:t>
                </a:r>
                <a:r>
                  <a:rPr lang="en-US" sz="2000" dirty="0"/>
                  <a:t>models may very well provide a better fit for the underlying relationship.</a:t>
                </a:r>
                <a:endParaRPr lang="en-US" dirty="0"/>
              </a:p>
            </p:txBody>
          </p:sp>
        </mc:Choice>
        <mc:Fallback xmlns="">
          <p:sp>
            <p:nvSpPr>
              <p:cNvPr id="3" name="Text Placeholder 2">
                <a:extLst>
                  <a:ext uri="{FF2B5EF4-FFF2-40B4-BE49-F238E27FC236}">
                    <a16:creationId xmlns:a16="http://schemas.microsoft.com/office/drawing/2014/main" id="{431EB207-E6CC-3AF0-A9DB-03F1D10D990F}"/>
                  </a:ext>
                </a:extLst>
              </p:cNvPr>
              <p:cNvSpPr>
                <a:spLocks noGrp="1" noRot="1" noChangeAspect="1" noMove="1" noResize="1" noEditPoints="1" noAdjustHandles="1" noChangeArrowheads="1" noChangeShapeType="1" noTextEdit="1"/>
              </p:cNvSpPr>
              <p:nvPr>
                <p:ph type="body" sz="quarter" idx="15"/>
              </p:nvPr>
            </p:nvSpPr>
            <p:spPr>
              <a:xfrm>
                <a:off x="732875" y="1631735"/>
                <a:ext cx="5525651" cy="4319748"/>
              </a:xfrm>
              <a:blipFill>
                <a:blip r:embed="rId3"/>
                <a:stretch>
                  <a:fillRect l="-2756" t="-1695" r="-2426" b="-2542"/>
                </a:stretch>
              </a:blipFill>
            </p:spPr>
            <p:txBody>
              <a:bodyPr/>
              <a:lstStyle/>
              <a:p>
                <a:r>
                  <a:rPr lang="en-US">
                    <a:noFill/>
                  </a:rPr>
                  <a:t> </a:t>
                </a:r>
              </a:p>
            </p:txBody>
          </p:sp>
        </mc:Fallback>
      </mc:AlternateContent>
      <p:pic>
        <p:nvPicPr>
          <p:cNvPr id="7" name="Picture Placeholder 6" descr="Three distributions show assumptions for the regression model. The x-axis lists x = 0, x = 10, x = 20, and x = 30. The y-axis lists beta_0. Beta_0 is labeled “E(y) when x = 0.” A line from beta_0 extends parallel to the x-axis and is labeled “E(y) = beta_0 + beta_1 x.” The distributions are bell-shaped curves. The first curve labeled “Distribution of y at x = 10” is over x = 10 and peaks at a point labeled “E(y) when x = 10” on the line labeled “E(y).” The second curve labeled “Distribution of y at x = 20” is over x = 20 and peaks at a point labeled “E(y) when x = 20” on the line labeled “E(y).” The third curve labeled “Distribution of y at x = 30” is over x = 30 and peaks at a point labeled “E(y) when x = 30” on the line labeled “E(y).”&#10;">
            <a:extLst>
              <a:ext uri="{FF2B5EF4-FFF2-40B4-BE49-F238E27FC236}">
                <a16:creationId xmlns:a16="http://schemas.microsoft.com/office/drawing/2014/main" id="{725BFFEF-331D-8B03-BB12-3DCD3DA44D52}"/>
              </a:ext>
            </a:extLst>
          </p:cNvPr>
          <p:cNvPicPr>
            <a:picLocks noGrp="1" noChangeAspect="1"/>
          </p:cNvPicPr>
          <p:nvPr>
            <p:ph type="pic" sz="quarter" idx="16"/>
          </p:nvPr>
        </p:nvPicPr>
        <p:blipFill rotWithShape="1">
          <a:blip r:embed="rId4"/>
          <a:srcRect l="26" r="26"/>
          <a:stretch/>
        </p:blipFill>
        <p:spPr>
          <a:xfrm>
            <a:off x="6353119" y="1631735"/>
            <a:ext cx="5011412" cy="4349869"/>
          </a:xfrm>
        </p:spPr>
      </p:pic>
    </p:spTree>
    <p:extLst>
      <p:ext uri="{BB962C8B-B14F-4D97-AF65-F5344CB8AC3E}">
        <p14:creationId xmlns:p14="http://schemas.microsoft.com/office/powerpoint/2010/main" val="527370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D14B1E"/>
                </a:solidFill>
              </a:rPr>
              <a:t>14.5 Testing for Significance</a:t>
            </a:r>
            <a:endParaRPr lang="en-US" i="1" dirty="0">
              <a:solidFill>
                <a:srgbClr val="D14B1E"/>
              </a:solidFill>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482087"/>
                <a:ext cx="10781737" cy="4160258"/>
              </a:xfrm>
            </p:spPr>
            <p:txBody>
              <a:bodyPr/>
              <a:lstStyle/>
              <a:p>
                <a:pPr>
                  <a:spcAft>
                    <a:spcPts val="0"/>
                  </a:spcAft>
                </a:pPr>
                <a:r>
                  <a:rPr lang="en-US" sz="2000" dirty="0">
                    <a:latin typeface="Arial" panose="020B0604020202020204" pitchFamily="34" charset="0"/>
                    <a:cs typeface="Arial" panose="020B0604020202020204" pitchFamily="34" charset="0"/>
                  </a:rPr>
                  <a:t>The simple linear regression equation, </a:t>
                </a:r>
                <a14:m>
                  <m:oMath xmlns:m="http://schemas.openxmlformats.org/officeDocument/2006/math">
                    <m:r>
                      <a:rPr lang="en-US" sz="2000" b="0" i="1" smtClean="0">
                        <a:latin typeface="Cambria Math" panose="02040503050406030204" pitchFamily="18" charset="0"/>
                      </a:rPr>
                      <m:t>𝐸</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𝑦</m:t>
                        </m:r>
                      </m:e>
                    </m:d>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𝑥</m:t>
                    </m:r>
                  </m:oMath>
                </a14:m>
                <a:r>
                  <a:rPr lang="en-US" sz="2000" dirty="0">
                    <a:latin typeface="Arial" panose="020B0604020202020204" pitchFamily="34" charset="0"/>
                    <a:cs typeface="Arial" panose="020B0604020202020204" pitchFamily="34" charset="0"/>
                  </a:rPr>
                  <a:t>, tell us that if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r>
                      <a:rPr lang="en-US" sz="2000" b="0" i="1" smtClean="0">
                        <a:latin typeface="Cambria Math" panose="02040503050406030204" pitchFamily="18" charset="0"/>
                      </a:rPr>
                      <m:t>=0</m:t>
                    </m:r>
                  </m:oMath>
                </a14:m>
                <a:r>
                  <a:rPr lang="en-US" sz="2000" b="0" i="1" dirty="0">
                    <a:latin typeface="Cambria Math" panose="02040503050406030204" pitchFamily="18" charset="0"/>
                  </a:rPr>
                  <a:t>,</a:t>
                </a:r>
              </a:p>
              <a:p>
                <a:pPr marL="914400">
                  <a:spcAft>
                    <a:spcPts val="600"/>
                  </a:spcAft>
                </a:pPr>
                <a14:m>
                  <m:oMath xmlns:m="http://schemas.openxmlformats.org/officeDocument/2006/math">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𝑦</m:t>
                        </m:r>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m:t>
                        </m:r>
                      </m:e>
                    </m:d>
                    <m:r>
                      <a:rPr lang="en-US" sz="2000" i="1">
                        <a:latin typeface="Cambria Math" panose="02040503050406030204" pitchFamily="18" charset="0"/>
                      </a:rPr>
                      <m:t>𝑥</m:t>
                    </m:r>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oMath>
                </a14:m>
                <a:r>
                  <a:rPr lang="en-US" sz="2000" dirty="0">
                    <a:latin typeface="Arial" panose="020B0604020202020204" pitchFamily="34" charset="0"/>
                    <a:cs typeface="Arial" panose="020B0604020202020204" pitchFamily="34" charset="0"/>
                  </a:rPr>
                  <a:t>.</a:t>
                </a:r>
              </a:p>
              <a:p>
                <a:pPr marL="684213" indent="-342900">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If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r>
                      <a:rPr lang="en-US" sz="2000" b="0" i="1" smtClean="0">
                        <a:latin typeface="Cambria Math" panose="02040503050406030204" pitchFamily="18" charset="0"/>
                      </a:rPr>
                      <m:t>=0</m:t>
                    </m:r>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𝑦</m:t>
                        </m:r>
                      </m:e>
                    </m:d>
                    <m:r>
                      <a:rPr lang="en-US" sz="2000" i="1">
                        <a:latin typeface="Cambria Math" panose="02040503050406030204" pitchFamily="18" charset="0"/>
                      </a:rPr>
                      <m:t> </m:t>
                    </m:r>
                  </m:oMath>
                </a14:m>
                <a:r>
                  <a:rPr lang="en-US" sz="2000" dirty="0">
                    <a:latin typeface="Arial" panose="020B0604020202020204" pitchFamily="34" charset="0"/>
                    <a:cs typeface="Arial" panose="020B0604020202020204" pitchFamily="34" charset="0"/>
                  </a:rPr>
                  <a:t>does not depend on the value of 𝑥, and 𝑥 and 𝑦 are not linearly related</a:t>
                </a:r>
              </a:p>
              <a:p>
                <a:pPr marL="684213" indent="-342900">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If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0</m:t>
                    </m:r>
                  </m:oMath>
                </a14:m>
                <a:r>
                  <a:rPr lang="en-US" sz="2000" dirty="0">
                    <a:latin typeface="Arial" panose="020B0604020202020204" pitchFamily="34" charset="0"/>
                    <a:cs typeface="Arial" panose="020B0604020202020204" pitchFamily="34" charset="0"/>
                  </a:rPr>
                  <a:t>, we conclude that the two variables are related</a:t>
                </a:r>
              </a:p>
              <a:p>
                <a:pPr>
                  <a:spcAft>
                    <a:spcPts val="0"/>
                  </a:spcAft>
                </a:pPr>
                <a:r>
                  <a:rPr lang="en-US" sz="2000" dirty="0">
                    <a:latin typeface="Arial" panose="020B0604020202020204" pitchFamily="34" charset="0"/>
                    <a:cs typeface="Arial" panose="020B0604020202020204" pitchFamily="34" charset="0"/>
                  </a:rPr>
                  <a:t>Thus, to test for a significant regression relationship, we must conduct a hypothesis test to determine whether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r>
                      <a:rPr lang="en-US" sz="2000" b="0" i="1" smtClean="0">
                        <a:latin typeface="Cambria Math" panose="02040503050406030204" pitchFamily="18" charset="0"/>
                      </a:rPr>
                      <m:t>=0</m:t>
                    </m:r>
                  </m:oMath>
                </a14:m>
                <a:r>
                  <a:rPr lang="en-US" sz="2000" dirty="0">
                    <a:latin typeface="Arial" panose="020B0604020202020204" pitchFamily="34" charset="0"/>
                    <a:cs typeface="Arial" panose="020B0604020202020204" pitchFamily="34" charset="0"/>
                  </a:rPr>
                  <a:t>. </a:t>
                </a:r>
              </a:p>
              <a:p>
                <a:pPr>
                  <a:spcAft>
                    <a:spcPts val="0"/>
                  </a:spcAft>
                </a:pPr>
                <a:r>
                  <a:rPr lang="en-US" sz="2000" dirty="0">
                    <a:latin typeface="Arial" panose="020B0604020202020204" pitchFamily="34" charset="0"/>
                    <a:cs typeface="Arial" panose="020B0604020202020204" pitchFamily="34" charset="0"/>
                  </a:rPr>
                  <a:t>Two tests are commonly used:</a:t>
                </a:r>
              </a:p>
              <a:p>
                <a:pPr marL="684213" indent="-342900">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the </a:t>
                </a:r>
                <a:r>
                  <a:rPr lang="en-US" sz="2000" i="1" dirty="0">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 test</a:t>
                </a:r>
              </a:p>
              <a:p>
                <a:pPr marL="684213" indent="-342900">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the </a:t>
                </a:r>
                <a:r>
                  <a:rPr lang="en-US" sz="2000" i="1" dirty="0">
                    <a:latin typeface="Arial" panose="020B0604020202020204" pitchFamily="34" charset="0"/>
                    <a:cs typeface="Arial" panose="020B0604020202020204" pitchFamily="34" charset="0"/>
                  </a:rPr>
                  <a:t>F</a:t>
                </a:r>
                <a:r>
                  <a:rPr lang="en-US" sz="2000" dirty="0">
                    <a:latin typeface="Arial" panose="020B0604020202020204" pitchFamily="34" charset="0"/>
                    <a:cs typeface="Arial" panose="020B0604020202020204" pitchFamily="34" charset="0"/>
                  </a:rPr>
                  <a:t> test.</a:t>
                </a:r>
              </a:p>
              <a:p>
                <a:pPr>
                  <a:spcAft>
                    <a:spcPts val="0"/>
                  </a:spcAft>
                </a:pPr>
                <a:r>
                  <a:rPr lang="en-US" sz="2000" dirty="0">
                    <a:latin typeface="Arial" panose="020B0604020202020204" pitchFamily="34" charset="0"/>
                    <a:cs typeface="Arial" panose="020B0604020202020204" pitchFamily="34" charset="0"/>
                  </a:rPr>
                  <a:t>Both </a:t>
                </a:r>
                <a:r>
                  <a:rPr lang="en-US" sz="2000" i="1" dirty="0">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 and </a:t>
                </a:r>
                <a:r>
                  <a:rPr lang="en-US" sz="2000" i="1" dirty="0">
                    <a:latin typeface="Arial" panose="020B0604020202020204" pitchFamily="34" charset="0"/>
                    <a:cs typeface="Arial" panose="020B0604020202020204" pitchFamily="34" charset="0"/>
                  </a:rPr>
                  <a:t>F</a:t>
                </a:r>
                <a:r>
                  <a:rPr lang="en-US" sz="2000" dirty="0">
                    <a:latin typeface="Arial" panose="020B0604020202020204" pitchFamily="34" charset="0"/>
                    <a:cs typeface="Arial" panose="020B0604020202020204" pitchFamily="34" charset="0"/>
                  </a:rPr>
                  <a:t> tests require an estimate of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n-US" sz="2000" i="1" smtClean="0">
                            <a:latin typeface="Cambria Math" panose="02040503050406030204" pitchFamily="18" charset="0"/>
                            <a:ea typeface="Cambria Math" panose="02040503050406030204" pitchFamily="18" charset="0"/>
                            <a:cs typeface="Arial" panose="020B0604020202020204" pitchFamily="34" charset="0"/>
                          </a:rPr>
                          <m:t>𝜎</m:t>
                        </m:r>
                      </m:e>
                      <m:sup>
                        <m:r>
                          <a:rPr lang="en-US" sz="2000" b="0" i="1" smtClean="0">
                            <a:latin typeface="Cambria Math" panose="02040503050406030204" pitchFamily="18" charset="0"/>
                            <a:cs typeface="Arial" panose="020B0604020202020204" pitchFamily="34" charset="0"/>
                          </a:rPr>
                          <m:t>2</m:t>
                        </m:r>
                      </m:sup>
                    </m:sSup>
                  </m:oMath>
                </a14:m>
                <a:r>
                  <a:rPr lang="en-US" sz="2000" dirty="0">
                    <a:latin typeface="Arial" panose="020B0604020202020204" pitchFamily="34" charset="0"/>
                    <a:cs typeface="Arial" panose="020B0604020202020204" pitchFamily="34" charset="0"/>
                  </a:rPr>
                  <a:t>, the variance of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latin typeface="Arial" panose="020B0604020202020204" pitchFamily="34" charset="0"/>
                    <a:cs typeface="Arial" panose="020B0604020202020204" pitchFamily="34" charset="0"/>
                  </a:rPr>
                  <a:t>, in the regression model.</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482087"/>
                <a:ext cx="10781737" cy="4160258"/>
              </a:xfrm>
              <a:blipFill>
                <a:blip r:embed="rId3"/>
                <a:stretch>
                  <a:fillRect l="-1471" t="-1903" b="-3367"/>
                </a:stretch>
              </a:blipFill>
            </p:spPr>
            <p:txBody>
              <a:bodyPr/>
              <a:lstStyle/>
              <a:p>
                <a:r>
                  <a:rPr lang="en-US">
                    <a:noFill/>
                  </a:rPr>
                  <a:t> </a:t>
                </a:r>
              </a:p>
            </p:txBody>
          </p:sp>
        </mc:Fallback>
      </mc:AlternateContent>
    </p:spTree>
    <p:extLst>
      <p:ext uri="{BB962C8B-B14F-4D97-AF65-F5344CB8AC3E}">
        <p14:creationId xmlns:p14="http://schemas.microsoft.com/office/powerpoint/2010/main" val="1538799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14.5 Estimate of </a:t>
                </a:r>
                <a14:m>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b="1" i="1" smtClean="0">
                            <a:latin typeface="Cambria Math" panose="02040503050406030204" pitchFamily="18" charset="0"/>
                            <a:ea typeface="Cambria Math" panose="02040503050406030204" pitchFamily="18" charset="0"/>
                            <a:cs typeface="Arial" panose="020B0604020202020204" pitchFamily="34" charset="0"/>
                          </a:rPr>
                          <m:t>𝝈</m:t>
                        </m:r>
                      </m:e>
                      <m:sup>
                        <m:r>
                          <a:rPr lang="en-US" b="1" i="1" smtClean="0">
                            <a:latin typeface="Cambria Math" panose="02040503050406030204" pitchFamily="18" charset="0"/>
                            <a:cs typeface="Arial" panose="020B0604020202020204" pitchFamily="34" charset="0"/>
                          </a:rPr>
                          <m:t>𝟐</m:t>
                        </m:r>
                      </m:sup>
                    </m:sSup>
                  </m:oMath>
                </a14:m>
                <a:endParaRPr lang="en-US" i="1" dirty="0"/>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blipFill>
                <a:blip r:embed="rId3"/>
                <a:stretch>
                  <a:fillRect t="-26364"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310211"/>
                <a:ext cx="10781737" cy="4452731"/>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From the assumptions on the error term, we concluded that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n-US" sz="2000" i="1" smtClean="0">
                            <a:latin typeface="Cambria Math" panose="02040503050406030204" pitchFamily="18" charset="0"/>
                            <a:ea typeface="Cambria Math" panose="02040503050406030204" pitchFamily="18" charset="0"/>
                            <a:cs typeface="Arial" panose="020B0604020202020204" pitchFamily="34" charset="0"/>
                          </a:rPr>
                          <m:t>𝜎</m:t>
                        </m:r>
                      </m:e>
                      <m:sup>
                        <m:r>
                          <a:rPr lang="en-US" sz="2000" b="0" i="1" smtClean="0">
                            <a:latin typeface="Cambria Math" panose="02040503050406030204" pitchFamily="18" charset="0"/>
                            <a:cs typeface="Arial" panose="020B0604020202020204" pitchFamily="34" charset="0"/>
                          </a:rPr>
                          <m:t>2</m:t>
                        </m:r>
                      </m:sup>
                    </m:sSup>
                  </m:oMath>
                </a14:m>
                <a:r>
                  <a:rPr lang="en-US" sz="2000" dirty="0">
                    <a:latin typeface="Arial" panose="020B0604020202020204" pitchFamily="34" charset="0"/>
                    <a:cs typeface="Arial" panose="020B0604020202020204" pitchFamily="34" charset="0"/>
                  </a:rPr>
                  <a:t>, the variance of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latin typeface="Arial" panose="020B0604020202020204" pitchFamily="34" charset="0"/>
                    <a:cs typeface="Arial" panose="020B0604020202020204" pitchFamily="34" charset="0"/>
                  </a:rPr>
                  <a:t>, also represents the variance of the residuals; that is, the deviations of the 𝑦 values about the regression line.</a:t>
                </a:r>
              </a:p>
              <a:p>
                <a:pPr>
                  <a:spcBef>
                    <a:spcPts val="600"/>
                  </a:spcBef>
                  <a:spcAft>
                    <a:spcPts val="600"/>
                  </a:spcAft>
                </a:pPr>
                <a:r>
                  <a:rPr lang="en-US" sz="2000" dirty="0">
                    <a:latin typeface="Arial" panose="020B0604020202020204" pitchFamily="34" charset="0"/>
                    <a:cs typeface="Arial" panose="020B0604020202020204" pitchFamily="34" charset="0"/>
                  </a:rPr>
                  <a:t>Because SSE, the sum of squared residuals, is a measure of the variability of the 𝑦 values about the estimated regression line, it follows that the </a:t>
                </a:r>
                <a:r>
                  <a:rPr lang="en-US" sz="2000" b="1" dirty="0">
                    <a:latin typeface="Arial" panose="020B0604020202020204" pitchFamily="34" charset="0"/>
                    <a:cs typeface="Arial" panose="020B0604020202020204" pitchFamily="34" charset="0"/>
                  </a:rPr>
                  <a:t>mean square error </a:t>
                </a:r>
                <a:r>
                  <a:rPr lang="en-US" sz="2000" dirty="0">
                    <a:latin typeface="Arial" panose="020B0604020202020204" pitchFamily="34" charset="0"/>
                    <a:cs typeface="Arial" panose="020B0604020202020204" pitchFamily="34" charset="0"/>
                  </a:rPr>
                  <a:t>(MSE), SSE divided by its degrees of freedom (*see notes), provides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n-US" sz="2000" b="0" i="1">
                            <a:latin typeface="Cambria Math" panose="02040503050406030204" pitchFamily="18" charset="0"/>
                            <a:cs typeface="Arial" panose="020B0604020202020204" pitchFamily="34" charset="0"/>
                          </a:rPr>
                          <m:t>𝑠</m:t>
                        </m:r>
                      </m:e>
                      <m:sup>
                        <m:r>
                          <a:rPr lang="en-US" sz="2000" b="0" i="1">
                            <a:latin typeface="Cambria Math" panose="02040503050406030204" pitchFamily="18" charset="0"/>
                            <a:cs typeface="Arial" panose="020B0604020202020204" pitchFamily="34" charset="0"/>
                          </a:rPr>
                          <m:t>2</m:t>
                        </m:r>
                      </m:sup>
                    </m:sSup>
                  </m:oMath>
                </a14:m>
                <a:r>
                  <a:rPr lang="en-US" sz="2000" dirty="0">
                    <a:latin typeface="Arial" panose="020B0604020202020204" pitchFamily="34" charset="0"/>
                    <a:cs typeface="Arial" panose="020B0604020202020204" pitchFamily="34" charset="0"/>
                  </a:rPr>
                  <a:t>, the estimate of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n-US" sz="2000" i="1" smtClean="0">
                            <a:latin typeface="Cambria Math" panose="02040503050406030204" pitchFamily="18" charset="0"/>
                            <a:ea typeface="Cambria Math" panose="02040503050406030204" pitchFamily="18" charset="0"/>
                            <a:cs typeface="Arial" panose="020B0604020202020204" pitchFamily="34" charset="0"/>
                          </a:rPr>
                          <m:t>𝜎</m:t>
                        </m:r>
                      </m:e>
                      <m:sup>
                        <m:r>
                          <a:rPr lang="en-US" sz="2000" b="0" i="1" smtClean="0">
                            <a:latin typeface="Cambria Math" panose="02040503050406030204" pitchFamily="18" charset="0"/>
                            <a:cs typeface="Arial" panose="020B0604020202020204" pitchFamily="34" charset="0"/>
                          </a:rPr>
                          <m:t>2</m:t>
                        </m:r>
                      </m:sup>
                    </m:sSup>
                  </m:oMath>
                </a14:m>
                <a:r>
                  <a:rPr lang="en-US" sz="2000" dirty="0">
                    <a:latin typeface="Arial" panose="020B0604020202020204" pitchFamily="34" charset="0"/>
                    <a:cs typeface="Arial" panose="020B0604020202020204" pitchFamily="34" charset="0"/>
                  </a:rPr>
                  <a:t>.</a:t>
                </a:r>
              </a:p>
              <a:p>
                <a:pPr marL="914400">
                  <a:spcBef>
                    <a:spcPts val="600"/>
                  </a:spcBef>
                  <a:spcAft>
                    <a:spcPts val="600"/>
                  </a:spcAft>
                </a:pPr>
                <a14:m>
                  <m:oMathPara xmlns:m="http://schemas.openxmlformats.org/officeDocument/2006/math">
                    <m:oMathParaPr>
                      <m:jc m:val="left"/>
                    </m:oMathParaPr>
                    <m:oMath xmlns:m="http://schemas.openxmlformats.org/officeDocument/2006/math">
                      <m:sSup>
                        <m:sSupPr>
                          <m:ctrlPr>
                            <a:rPr lang="en-US" sz="2000" b="1" i="1" smtClean="0">
                              <a:latin typeface="Cambria Math" panose="02040503050406030204" pitchFamily="18" charset="0"/>
                              <a:cs typeface="Arial" panose="020B0604020202020204" pitchFamily="34" charset="0"/>
                            </a:rPr>
                          </m:ctrlPr>
                        </m:sSupPr>
                        <m:e>
                          <m:r>
                            <a:rPr lang="en-US" sz="2000" b="1" i="1" smtClean="0">
                              <a:latin typeface="Cambria Math" panose="02040503050406030204" pitchFamily="18" charset="0"/>
                              <a:cs typeface="Arial" panose="020B0604020202020204" pitchFamily="34" charset="0"/>
                            </a:rPr>
                            <m:t>𝒔</m:t>
                          </m:r>
                        </m:e>
                        <m:sup>
                          <m:r>
                            <a:rPr lang="en-US" sz="2000" b="1" i="1" smtClean="0">
                              <a:latin typeface="Cambria Math" panose="02040503050406030204" pitchFamily="18" charset="0"/>
                              <a:cs typeface="Arial" panose="020B0604020202020204" pitchFamily="34" charset="0"/>
                            </a:rPr>
                            <m:t>𝟐</m:t>
                          </m:r>
                        </m:sup>
                      </m:sSup>
                      <m:r>
                        <a:rPr lang="en-US" sz="2000" b="1" i="1">
                          <a:latin typeface="Cambria Math" panose="02040503050406030204" pitchFamily="18" charset="0"/>
                          <a:cs typeface="Arial" panose="020B0604020202020204" pitchFamily="34" charset="0"/>
                        </a:rPr>
                        <m:t>=</m:t>
                      </m:r>
                      <m:r>
                        <a:rPr lang="en-US" sz="2000" b="1" i="1">
                          <a:latin typeface="Cambria Math" panose="02040503050406030204" pitchFamily="18" charset="0"/>
                          <a:cs typeface="Arial" panose="020B0604020202020204" pitchFamily="34" charset="0"/>
                        </a:rPr>
                        <m:t>𝑴𝑺𝑬</m:t>
                      </m:r>
                      <m:r>
                        <a:rPr lang="en-US" sz="2000" b="1" i="1">
                          <a:latin typeface="Cambria Math" panose="02040503050406030204" pitchFamily="18" charset="0"/>
                          <a:cs typeface="Arial" panose="020B0604020202020204" pitchFamily="34" charset="0"/>
                        </a:rPr>
                        <m:t>=</m:t>
                      </m:r>
                      <m:r>
                        <a:rPr lang="en-US" sz="2000" b="1" i="1">
                          <a:latin typeface="Cambria Math" panose="02040503050406030204" pitchFamily="18" charset="0"/>
                          <a:cs typeface="Arial" panose="020B0604020202020204" pitchFamily="34" charset="0"/>
                        </a:rPr>
                        <m:t>𝑺𝑺𝑬</m:t>
                      </m:r>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𝒏</m:t>
                      </m:r>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𝟐</m:t>
                      </m:r>
                      <m:r>
                        <a:rPr lang="en-US" sz="2000" b="1" i="1" smtClean="0">
                          <a:latin typeface="Cambria Math" panose="02040503050406030204" pitchFamily="18" charset="0"/>
                          <a:cs typeface="Arial" panose="020B0604020202020204" pitchFamily="34" charset="0"/>
                        </a:rPr>
                        <m:t>)</m:t>
                      </m:r>
                    </m:oMath>
                  </m:oMathPara>
                </a14:m>
                <a:endParaRPr lang="en-US" sz="2000" b="1"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cs typeface="Arial" panose="020B0604020202020204" pitchFamily="34" charset="0"/>
                  </a:rPr>
                  <a:t>To estimate the standard deviation of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latin typeface="Arial" panose="020B0604020202020204" pitchFamily="34" charset="0"/>
                    <a:cs typeface="Arial" panose="020B0604020202020204" pitchFamily="34" charset="0"/>
                  </a:rPr>
                  <a:t>, we take the square root of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𝑠</m:t>
                        </m:r>
                      </m:e>
                      <m:sup>
                        <m:r>
                          <a:rPr lang="en-US" sz="2000" b="0" i="1" smtClean="0">
                            <a:latin typeface="Cambria Math" panose="02040503050406030204" pitchFamily="18" charset="0"/>
                            <a:cs typeface="Arial" panose="020B0604020202020204" pitchFamily="34" charset="0"/>
                          </a:rPr>
                          <m:t>2</m:t>
                        </m:r>
                      </m:sup>
                    </m:sSup>
                  </m:oMath>
                </a14:m>
                <a:r>
                  <a:rPr lang="en-US" sz="2000" dirty="0">
                    <a:latin typeface="Arial" panose="020B0604020202020204" pitchFamily="34" charset="0"/>
                    <a:cs typeface="Arial" panose="020B0604020202020204" pitchFamily="34" charset="0"/>
                  </a:rPr>
                  <a:t>. The resulting value, </a:t>
                </a:r>
                <a:r>
                  <a:rPr lang="en-US" sz="2000" i="1" dirty="0">
                    <a:latin typeface="Arial" panose="020B0604020202020204" pitchFamily="34" charset="0"/>
                    <a:cs typeface="Arial" panose="020B0604020202020204" pitchFamily="34" charset="0"/>
                  </a:rPr>
                  <a:t>s</a:t>
                </a:r>
                <a:r>
                  <a:rPr lang="en-US" sz="2000" dirty="0">
                    <a:latin typeface="Arial" panose="020B0604020202020204" pitchFamily="34" charset="0"/>
                    <a:cs typeface="Arial" panose="020B0604020202020204" pitchFamily="34" charset="0"/>
                  </a:rPr>
                  <a:t>, is referred to as the </a:t>
                </a:r>
                <a:r>
                  <a:rPr lang="en-US" sz="2000" b="1" dirty="0">
                    <a:latin typeface="Arial" panose="020B0604020202020204" pitchFamily="34" charset="0"/>
                    <a:cs typeface="Arial" panose="020B0604020202020204" pitchFamily="34" charset="0"/>
                  </a:rPr>
                  <a:t>standard error of the estimate</a:t>
                </a:r>
                <a:r>
                  <a:rPr lang="en-US" sz="2000" dirty="0">
                    <a:latin typeface="Arial" panose="020B0604020202020204" pitchFamily="34" charset="0"/>
                    <a:cs typeface="Arial" panose="020B0604020202020204" pitchFamily="34" charset="0"/>
                  </a:rPr>
                  <a:t>.</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𝒔</m:t>
                      </m:r>
                      <m:r>
                        <a:rPr lang="en-US" sz="2000" b="1" i="1" smtClean="0">
                          <a:latin typeface="Cambria Math" panose="02040503050406030204" pitchFamily="18" charset="0"/>
                          <a:cs typeface="Arial" panose="020B0604020202020204" pitchFamily="34" charset="0"/>
                        </a:rPr>
                        <m:t>=</m:t>
                      </m:r>
                      <m:rad>
                        <m:radPr>
                          <m:degHide m:val="on"/>
                          <m:ctrlPr>
                            <a:rPr lang="en-US" sz="2000" b="1" i="1" smtClean="0">
                              <a:latin typeface="Cambria Math" panose="02040503050406030204" pitchFamily="18" charset="0"/>
                              <a:cs typeface="Arial" panose="020B0604020202020204" pitchFamily="34" charset="0"/>
                            </a:rPr>
                          </m:ctrlPr>
                        </m:radPr>
                        <m:deg/>
                        <m:e>
                          <m:r>
                            <a:rPr lang="en-US" sz="2000" b="1" i="1" smtClean="0">
                              <a:latin typeface="Cambria Math" panose="02040503050406030204" pitchFamily="18" charset="0"/>
                              <a:cs typeface="Arial" panose="020B0604020202020204" pitchFamily="34" charset="0"/>
                            </a:rPr>
                            <m:t>𝑴𝑺𝑬</m:t>
                          </m:r>
                        </m:e>
                      </m:rad>
                      <m:r>
                        <a:rPr lang="en-US" sz="2000" b="1" i="1" smtClean="0">
                          <a:latin typeface="Cambria Math" panose="02040503050406030204" pitchFamily="18" charset="0"/>
                          <a:cs typeface="Arial" panose="020B0604020202020204" pitchFamily="34" charset="0"/>
                        </a:rPr>
                        <m:t>=</m:t>
                      </m:r>
                      <m:rad>
                        <m:radPr>
                          <m:degHide m:val="on"/>
                          <m:ctrlPr>
                            <a:rPr lang="en-US" sz="2000" b="1" i="1" smtClean="0">
                              <a:latin typeface="Cambria Math" panose="02040503050406030204" pitchFamily="18" charset="0"/>
                              <a:cs typeface="Arial" panose="020B0604020202020204" pitchFamily="34" charset="0"/>
                            </a:rPr>
                          </m:ctrlPr>
                        </m:radPr>
                        <m:deg/>
                        <m:e>
                          <m:r>
                            <a:rPr lang="en-US" sz="2000" b="1" i="1">
                              <a:latin typeface="Cambria Math" panose="02040503050406030204" pitchFamily="18" charset="0"/>
                              <a:cs typeface="Arial" panose="020B0604020202020204" pitchFamily="34" charset="0"/>
                            </a:rPr>
                            <m:t>𝑺𝑺𝑬</m:t>
                          </m:r>
                          <m:r>
                            <a:rPr lang="en-US" sz="2000" b="1" i="1">
                              <a:latin typeface="Cambria Math" panose="02040503050406030204" pitchFamily="18" charset="0"/>
                              <a:cs typeface="Arial" panose="020B0604020202020204" pitchFamily="34" charset="0"/>
                            </a:rPr>
                            <m:t>/(</m:t>
                          </m:r>
                          <m:r>
                            <a:rPr lang="en-US" sz="2000" b="1" i="1">
                              <a:latin typeface="Cambria Math" panose="02040503050406030204" pitchFamily="18" charset="0"/>
                              <a:cs typeface="Arial" panose="020B0604020202020204" pitchFamily="34" charset="0"/>
                            </a:rPr>
                            <m:t>𝒏</m:t>
                          </m:r>
                          <m:r>
                            <a:rPr lang="en-US" sz="2000" b="1" i="1">
                              <a:latin typeface="Cambria Math" panose="02040503050406030204" pitchFamily="18" charset="0"/>
                              <a:cs typeface="Arial" panose="020B0604020202020204" pitchFamily="34" charset="0"/>
                            </a:rPr>
                            <m:t>−</m:t>
                          </m:r>
                          <m:r>
                            <a:rPr lang="en-US" sz="2000" b="1" i="1">
                              <a:latin typeface="Cambria Math" panose="02040503050406030204" pitchFamily="18" charset="0"/>
                              <a:cs typeface="Arial" panose="020B0604020202020204" pitchFamily="34" charset="0"/>
                            </a:rPr>
                            <m:t>𝟐</m:t>
                          </m:r>
                          <m:r>
                            <a:rPr lang="en-US" sz="2000" b="1" i="1">
                              <a:latin typeface="Cambria Math" panose="02040503050406030204" pitchFamily="18" charset="0"/>
                              <a:cs typeface="Arial" panose="020B0604020202020204" pitchFamily="34" charset="0"/>
                            </a:rPr>
                            <m:t>)</m:t>
                          </m:r>
                        </m:e>
                      </m:rad>
                    </m:oMath>
                  </m:oMathPara>
                </a14:m>
                <a:endParaRPr lang="en-US" sz="2000" b="1" dirty="0">
                  <a:latin typeface="Arial" panose="020B0604020202020204" pitchFamily="34" charset="0"/>
                  <a:cs typeface="Arial" panose="020B0604020202020204" pitchFamily="34" charset="0"/>
                </a:endParaRPr>
              </a:p>
              <a:p>
                <a:pPr>
                  <a:spcBef>
                    <a:spcPts val="600"/>
                  </a:spcBef>
                  <a:spcAft>
                    <a:spcPts val="0"/>
                  </a:spcAft>
                </a:pPr>
                <a:r>
                  <a:rPr lang="en-US" sz="2000" dirty="0">
                    <a:latin typeface="Arial" panose="020B0604020202020204" pitchFamily="34" charset="0"/>
                    <a:cs typeface="Arial" panose="020B0604020202020204" pitchFamily="34" charset="0"/>
                  </a:rPr>
                  <a:t>For the Armand’s Pizza Parlor example, we found </a:t>
                </a:r>
                <a14:m>
                  <m:oMath xmlns:m="http://schemas.openxmlformats.org/officeDocument/2006/math">
                    <m:r>
                      <a:rPr lang="en-US" sz="2000" i="1" dirty="0" smtClean="0">
                        <a:latin typeface="Cambria Math" panose="02040503050406030204" pitchFamily="18" charset="0"/>
                        <a:cs typeface="Arial" panose="020B0604020202020204" pitchFamily="34" charset="0"/>
                      </a:rPr>
                      <m:t>𝑆𝑆𝐸</m:t>
                    </m:r>
                    <m:r>
                      <a:rPr lang="en-US" sz="2000" i="1" dirty="0" smtClean="0">
                        <a:latin typeface="Cambria Math" panose="02040503050406030204" pitchFamily="18" charset="0"/>
                        <a:cs typeface="Arial" panose="020B0604020202020204" pitchFamily="34" charset="0"/>
                      </a:rPr>
                      <m:t>=1,530</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r>
                      <a:rPr lang="en-US" sz="2000" i="1" dirty="0" smtClean="0">
                        <a:latin typeface="Cambria Math" panose="02040503050406030204" pitchFamily="18" charset="0"/>
                        <a:cs typeface="Arial" panose="020B0604020202020204" pitchFamily="34" charset="0"/>
                      </a:rPr>
                      <m:t>=10</m:t>
                    </m:r>
                  </m:oMath>
                </a14:m>
                <a:r>
                  <a:rPr lang="en-US" sz="2000" dirty="0">
                    <a:latin typeface="Arial" panose="020B0604020202020204" pitchFamily="34" charset="0"/>
                    <a:cs typeface="Arial" panose="020B0604020202020204" pitchFamily="34" charset="0"/>
                  </a:rPr>
                  <a:t>. Thus, we have</a:t>
                </a:r>
              </a:p>
              <a:p>
                <a:pPr marL="914400">
                  <a:spcBef>
                    <a:spcPts val="600"/>
                  </a:spcBef>
                  <a:spcAft>
                    <a:spcPts val="600"/>
                  </a:spcAft>
                </a:pPr>
                <a14:m>
                  <m:oMath xmlns:m="http://schemas.openxmlformats.org/officeDocument/2006/math">
                    <m:r>
                      <a:rPr lang="en-US" sz="2000" i="1" dirty="0" smtClean="0">
                        <a:latin typeface="Cambria Math" panose="02040503050406030204" pitchFamily="18" charset="0"/>
                        <a:cs typeface="Arial" panose="020B0604020202020204" pitchFamily="34" charset="0"/>
                      </a:rPr>
                      <m:t>𝑀𝑆𝐸</m:t>
                    </m:r>
                    <m:r>
                      <a:rPr lang="en-US" sz="2000" i="1" dirty="0" smtClean="0">
                        <a:latin typeface="Cambria Math" panose="02040503050406030204" pitchFamily="18" charset="0"/>
                        <a:cs typeface="Arial" panose="020B0604020202020204" pitchFamily="34" charset="0"/>
                      </a:rPr>
                      <m:t>=</m:t>
                    </m:r>
                    <m:f>
                      <m:fPr>
                        <m:type m:val="lin"/>
                        <m:ctrlPr>
                          <a:rPr lang="en-US" sz="2000" i="1" dirty="0" smtClean="0">
                            <a:latin typeface="Cambria Math" panose="02040503050406030204" pitchFamily="18" charset="0"/>
                            <a:cs typeface="Arial" panose="020B0604020202020204" pitchFamily="34" charset="0"/>
                          </a:rPr>
                        </m:ctrlPr>
                      </m:fPr>
                      <m:num>
                        <m:r>
                          <a:rPr lang="en-US" sz="2000" b="0" i="1" dirty="0" smtClean="0">
                            <a:latin typeface="Cambria Math" panose="02040503050406030204" pitchFamily="18" charset="0"/>
                            <a:cs typeface="Arial" panose="020B0604020202020204" pitchFamily="34" charset="0"/>
                          </a:rPr>
                          <m:t>𝑆𝑆𝐸</m:t>
                        </m:r>
                      </m:num>
                      <m:den>
                        <m:d>
                          <m:dPr>
                            <m:ctrlPr>
                              <a:rPr lang="en-US" sz="2000" i="1" dirty="0" smtClean="0">
                                <a:latin typeface="Cambria Math" panose="02040503050406030204" pitchFamily="18" charset="0"/>
                                <a:cs typeface="Arial" panose="020B0604020202020204" pitchFamily="34" charset="0"/>
                              </a:rPr>
                            </m:ctrlPr>
                          </m:dPr>
                          <m:e>
                            <m:r>
                              <a:rPr lang="en-US" sz="2000" b="0" i="1" dirty="0" smtClean="0">
                                <a:latin typeface="Cambria Math" panose="02040503050406030204" pitchFamily="18" charset="0"/>
                                <a:cs typeface="Arial" panose="020B0604020202020204" pitchFamily="34" charset="0"/>
                              </a:rPr>
                              <m:t>𝑛</m:t>
                            </m:r>
                            <m:r>
                              <a:rPr lang="en-US" sz="2000" b="0" i="1" dirty="0" smtClean="0">
                                <a:latin typeface="Cambria Math" panose="02040503050406030204" pitchFamily="18" charset="0"/>
                                <a:cs typeface="Arial" panose="020B0604020202020204" pitchFamily="34" charset="0"/>
                              </a:rPr>
                              <m:t>−2</m:t>
                            </m:r>
                          </m:e>
                        </m:d>
                        <m:r>
                          <a:rPr lang="en-US" sz="2000" b="0" i="1" dirty="0" smtClean="0">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1,530/(10−2)</m:t>
                        </m:r>
                      </m:den>
                    </m:f>
                    <m:r>
                      <a:rPr lang="en-US" sz="2000" b="0" i="1" dirty="0" smtClean="0">
                        <a:latin typeface="Cambria Math" panose="02040503050406030204" pitchFamily="18" charset="0"/>
                        <a:cs typeface="Arial" panose="020B0604020202020204" pitchFamily="34" charset="0"/>
                      </a:rPr>
                      <m:t>=191.25</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b="0" i="1" smtClean="0">
                        <a:latin typeface="Cambria Math" panose="02040503050406030204" pitchFamily="18" charset="0"/>
                        <a:cs typeface="Arial" panose="020B0604020202020204" pitchFamily="34" charset="0"/>
                      </a:rPr>
                      <m:t>𝑠</m:t>
                    </m:r>
                    <m:r>
                      <a:rPr lang="en-US" sz="2000" b="0" i="1" smtClean="0">
                        <a:latin typeface="Cambria Math" panose="02040503050406030204" pitchFamily="18" charset="0"/>
                        <a:cs typeface="Arial" panose="020B0604020202020204" pitchFamily="34" charset="0"/>
                      </a:rPr>
                      <m:t>=</m:t>
                    </m:r>
                    <m:rad>
                      <m:radPr>
                        <m:degHide m:val="on"/>
                        <m:ctrlPr>
                          <a:rPr lang="en-US" sz="2000" i="1" smtClean="0">
                            <a:latin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cs typeface="Arial" panose="020B0604020202020204" pitchFamily="34" charset="0"/>
                          </a:rPr>
                          <m:t>𝑀𝑆𝐸</m:t>
                        </m:r>
                      </m:e>
                    </m:rad>
                    <m:r>
                      <a:rPr lang="en-US" sz="2000" b="0" i="1" smtClean="0">
                        <a:latin typeface="Cambria Math" panose="02040503050406030204" pitchFamily="18" charset="0"/>
                        <a:cs typeface="Arial" panose="020B0604020202020204" pitchFamily="34" charset="0"/>
                      </a:rPr>
                      <m:t>=</m:t>
                    </m:r>
                    <m:rad>
                      <m:radPr>
                        <m:degHide m:val="on"/>
                        <m:ctrlPr>
                          <a:rPr lang="en-US" sz="2000" b="0" i="1" smtClean="0">
                            <a:latin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cs typeface="Arial" panose="020B0604020202020204" pitchFamily="34" charset="0"/>
                          </a:rPr>
                          <m:t>191.25</m:t>
                        </m:r>
                      </m:e>
                    </m:rad>
                    <m:r>
                      <a:rPr lang="en-US" sz="2000" b="0" i="1" smtClean="0">
                        <a:latin typeface="Cambria Math" panose="02040503050406030204" pitchFamily="18" charset="0"/>
                        <a:cs typeface="Arial" panose="020B0604020202020204" pitchFamily="34" charset="0"/>
                      </a:rPr>
                      <m:t>=13.829</m:t>
                    </m:r>
                  </m:oMath>
                </a14:m>
                <a:r>
                  <a:rPr lang="en-US" sz="2000" dirty="0">
                    <a:latin typeface="Arial" panose="020B0604020202020204" pitchFamily="34" charset="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310211"/>
                <a:ext cx="10781737" cy="4452731"/>
              </a:xfrm>
              <a:blipFill>
                <a:blip r:embed="rId4"/>
                <a:stretch>
                  <a:fillRect l="-1471" t="-1644" r="-452" b="-15479"/>
                </a:stretch>
              </a:blipFill>
            </p:spPr>
            <p:txBody>
              <a:bodyPr/>
              <a:lstStyle/>
              <a:p>
                <a:r>
                  <a:rPr lang="en-US">
                    <a:noFill/>
                  </a:rPr>
                  <a:t> </a:t>
                </a:r>
              </a:p>
            </p:txBody>
          </p:sp>
        </mc:Fallback>
      </mc:AlternateContent>
    </p:spTree>
    <p:extLst>
      <p:ext uri="{BB962C8B-B14F-4D97-AF65-F5344CB8AC3E}">
        <p14:creationId xmlns:p14="http://schemas.microsoft.com/office/powerpoint/2010/main" val="2201341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739471" y="365125"/>
            <a:ext cx="10717696" cy="672105"/>
          </a:xfrm>
        </p:spPr>
        <p:txBody>
          <a:bodyPr/>
          <a:lstStyle/>
          <a:p>
            <a:r>
              <a:rPr lang="en-US" sz="3200" dirty="0"/>
              <a:t>14.5 </a:t>
            </a:r>
            <a:r>
              <a:rPr lang="en-US" sz="3200" i="1" dirty="0"/>
              <a:t>t</a:t>
            </a:r>
            <a:r>
              <a:rPr lang="en-US" sz="3200" dirty="0"/>
              <a:t> Test for Significance in Simple Linear Regression</a:t>
            </a:r>
            <a:endParaRPr lang="en-US" sz="3200"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298459"/>
                <a:ext cx="10781737" cy="4381229"/>
              </a:xfrm>
            </p:spPr>
            <p:txBody>
              <a:bodyPr/>
              <a:lstStyle/>
              <a:p>
                <a:pPr>
                  <a:spcBef>
                    <a:spcPts val="600"/>
                  </a:spcBef>
                  <a:spcAft>
                    <a:spcPts val="600"/>
                  </a:spcAft>
                </a:pPr>
                <a:r>
                  <a:rPr lang="en-US" sz="2000" dirty="0">
                    <a:latin typeface="Arial" panose="020B0604020202020204" pitchFamily="34" charset="0"/>
                    <a:cs typeface="Arial" panose="020B0604020202020204" pitchFamily="34" charset="0"/>
                  </a:rPr>
                  <a:t>The purpose of the </a:t>
                </a:r>
                <a:r>
                  <a:rPr lang="en-US" sz="2000" i="1" dirty="0">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 test is to see whether we can conclude that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0</m:t>
                    </m:r>
                  </m:oMath>
                </a14:m>
                <a:r>
                  <a:rPr lang="en-US" sz="2000" dirty="0">
                    <a:latin typeface="Arial" panose="020B0604020202020204" pitchFamily="34" charset="0"/>
                    <a:cs typeface="Arial" panose="020B0604020202020204" pitchFamily="34" charset="0"/>
                  </a:rPr>
                  <a:t>. The hypotheses are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𝑯</m:t>
                          </m:r>
                        </m:e>
                        <m:sub>
                          <m:r>
                            <a:rPr lang="en-US" sz="2000" b="1" i="1" smtClean="0">
                              <a:latin typeface="Cambria Math" panose="02040503050406030204" pitchFamily="18" charset="0"/>
                              <a:cs typeface="Arial" panose="020B0604020202020204" pitchFamily="34" charset="0"/>
                            </a:rPr>
                            <m:t>𝟎</m:t>
                          </m:r>
                        </m:sub>
                      </m:sSub>
                      <m:r>
                        <a:rPr lang="en-US" sz="2000" b="1" i="1" smtClean="0">
                          <a:latin typeface="Cambria Math" panose="02040503050406030204" pitchFamily="18" charset="0"/>
                          <a:cs typeface="Arial" panose="020B0604020202020204" pitchFamily="34" charset="0"/>
                        </a:rPr>
                        <m:t>: </m:t>
                      </m:r>
                      <m:sSub>
                        <m:sSubPr>
                          <m:ctrlPr>
                            <a:rPr lang="en-US" sz="2000" b="1" i="1" smtClean="0">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𝜷</m:t>
                          </m:r>
                        </m:e>
                        <m:sub>
                          <m:r>
                            <a:rPr lang="en-US" sz="2000" b="1" i="1" smtClean="0">
                              <a:latin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𝟎</m:t>
                      </m:r>
                    </m:oMath>
                  </m:oMathPara>
                </a14:m>
                <a:endParaRPr lang="en-US" sz="2000" b="1" dirty="0">
                  <a:latin typeface="Arial" panose="020B0604020202020204" pitchFamily="34" charset="0"/>
                  <a:cs typeface="Arial" panose="020B0604020202020204" pitchFamily="34" charset="0"/>
                </a:endParaRPr>
              </a:p>
              <a:p>
                <a:pPr marL="914400">
                  <a:spcBef>
                    <a:spcPts val="600"/>
                  </a:spcBef>
                  <a:spcAft>
                    <a:spcPts val="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𝑯</m:t>
                          </m:r>
                        </m:e>
                        <m:sub>
                          <m:r>
                            <a:rPr lang="en-US" sz="2000" b="1" i="1" smtClean="0">
                              <a:latin typeface="Cambria Math" panose="02040503050406030204" pitchFamily="18" charset="0"/>
                              <a:cs typeface="Arial" panose="020B0604020202020204" pitchFamily="34" charset="0"/>
                            </a:rPr>
                            <m:t>𝒂</m:t>
                          </m:r>
                        </m:sub>
                      </m:sSub>
                      <m:r>
                        <a:rPr lang="en-US" sz="2000" b="1" i="1" smtClean="0">
                          <a:latin typeface="Cambria Math" panose="02040503050406030204" pitchFamily="18" charset="0"/>
                          <a:cs typeface="Arial" panose="020B0604020202020204" pitchFamily="34" charset="0"/>
                        </a:rPr>
                        <m:t>: </m:t>
                      </m:r>
                      <m:sSub>
                        <m:sSubPr>
                          <m:ctrlPr>
                            <a:rPr lang="en-US" sz="2000" b="1" i="1" smtClean="0">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𝜷</m:t>
                          </m:r>
                        </m:e>
                        <m:sub>
                          <m:r>
                            <a:rPr lang="en-US" sz="2000" b="1" i="1" smtClean="0">
                              <a:latin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ea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𝟎</m:t>
                      </m:r>
                    </m:oMath>
                  </m:oMathPara>
                </a14:m>
                <a:endParaRPr lang="en-US" sz="2000" b="1" dirty="0">
                  <a:latin typeface="Arial" panose="020B0604020202020204" pitchFamily="34" charset="0"/>
                  <a:cs typeface="Arial" panose="020B0604020202020204" pitchFamily="34" charset="0"/>
                </a:endParaRPr>
              </a:p>
              <a:p>
                <a:pPr>
                  <a:spcBef>
                    <a:spcPts val="600"/>
                  </a:spcBef>
                  <a:spcAft>
                    <a:spcPts val="0"/>
                  </a:spcAft>
                </a:pP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𝑏</m:t>
                        </m:r>
                      </m:e>
                      <m:sub>
                        <m:r>
                          <a:rPr lang="en-US" sz="2000" i="1">
                            <a:latin typeface="Cambria Math" panose="02040503050406030204" pitchFamily="18" charset="0"/>
                            <a:cs typeface="Arial" panose="020B0604020202020204" pitchFamily="34" charset="0"/>
                          </a:rPr>
                          <m:t>1</m:t>
                        </m:r>
                      </m:sub>
                    </m:sSub>
                  </m:oMath>
                </a14:m>
                <a:r>
                  <a:rPr lang="en-US" sz="2000" dirty="0">
                    <a:latin typeface="Arial" panose="020B0604020202020204" pitchFamily="34" charset="0"/>
                    <a:cs typeface="Arial" panose="020B0604020202020204" pitchFamily="34" charset="0"/>
                  </a:rPr>
                  <a:t>, the least squares estimator of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𝛽</m:t>
                        </m:r>
                      </m:e>
                      <m:sub>
                        <m:r>
                          <a:rPr lang="en-US" sz="2000" b="0" i="1" smtClean="0">
                            <a:latin typeface="Cambria Math" panose="02040503050406030204" pitchFamily="18" charset="0"/>
                            <a:cs typeface="Arial" panose="020B0604020202020204" pitchFamily="34" charset="0"/>
                          </a:rPr>
                          <m:t>1</m:t>
                        </m:r>
                      </m:sub>
                    </m:sSub>
                  </m:oMath>
                </a14:m>
                <a:r>
                  <a:rPr lang="en-US" sz="2000" dirty="0">
                    <a:latin typeface="Arial" panose="020B0604020202020204" pitchFamily="34" charset="0"/>
                    <a:cs typeface="Arial" panose="020B0604020202020204" pitchFamily="34" charset="0"/>
                  </a:rPr>
                  <a:t>, follows a sampling distribution with these properties:</a:t>
                </a:r>
              </a:p>
              <a:p>
                <a:pPr marL="914400">
                  <a:spcBef>
                    <a:spcPts val="600"/>
                  </a:spcBef>
                  <a:spcAft>
                    <a:spcPts val="0"/>
                  </a:spcAft>
                  <a:tabLst>
                    <a:tab pos="3371850" algn="l"/>
                  </a:tabLst>
                </a:pPr>
                <a:r>
                  <a:rPr lang="en-US" sz="2000" b="0" dirty="0">
                    <a:cs typeface="Arial" panose="020B0604020202020204" pitchFamily="34" charset="0"/>
                  </a:rPr>
                  <a:t>Expected value: 	</a:t>
                </a:r>
                <a14:m>
                  <m:oMath xmlns:m="http://schemas.openxmlformats.org/officeDocument/2006/math">
                    <m:r>
                      <a:rPr lang="en-US" sz="2000" b="1" i="1" smtClean="0">
                        <a:latin typeface="Cambria Math" panose="02040503050406030204" pitchFamily="18" charset="0"/>
                        <a:cs typeface="Arial" panose="020B0604020202020204" pitchFamily="34" charset="0"/>
                      </a:rPr>
                      <m:t>𝑬</m:t>
                    </m:r>
                    <m:d>
                      <m:dPr>
                        <m:ctrlPr>
                          <a:rPr lang="en-US" sz="2000" b="1" i="1" smtClean="0">
                            <a:latin typeface="Cambria Math" panose="02040503050406030204" pitchFamily="18" charset="0"/>
                            <a:cs typeface="Arial" panose="020B0604020202020204" pitchFamily="34" charset="0"/>
                          </a:rPr>
                        </m:ctrlPr>
                      </m:dPr>
                      <m:e>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𝒃</m:t>
                            </m:r>
                          </m:e>
                          <m:sub>
                            <m:r>
                              <a:rPr lang="en-US" sz="2000" b="1" i="1" smtClean="0">
                                <a:latin typeface="Cambria Math" panose="02040503050406030204" pitchFamily="18" charset="0"/>
                                <a:cs typeface="Arial" panose="020B0604020202020204" pitchFamily="34" charset="0"/>
                              </a:rPr>
                              <m:t>𝟏</m:t>
                            </m:r>
                          </m:sub>
                        </m:sSub>
                      </m:e>
                    </m:d>
                    <m:r>
                      <a:rPr lang="en-US" sz="2000" b="1" i="1" smtClean="0">
                        <a:latin typeface="Cambria Math" panose="02040503050406030204" pitchFamily="18" charset="0"/>
                        <a:cs typeface="Arial" panose="020B0604020202020204" pitchFamily="34" charset="0"/>
                      </a:rPr>
                      <m:t>=</m:t>
                    </m:r>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ea typeface="Cambria Math" panose="02040503050406030204" pitchFamily="18" charset="0"/>
                            <a:cs typeface="Arial" panose="020B0604020202020204" pitchFamily="34" charset="0"/>
                          </a:rPr>
                          <m:t>𝜷</m:t>
                        </m:r>
                      </m:e>
                      <m:sub>
                        <m:r>
                          <a:rPr lang="en-US" sz="2000" b="1" i="1" smtClean="0">
                            <a:latin typeface="Cambria Math" panose="02040503050406030204" pitchFamily="18" charset="0"/>
                            <a:cs typeface="Arial" panose="020B0604020202020204" pitchFamily="34" charset="0"/>
                          </a:rPr>
                          <m:t>𝟏</m:t>
                        </m:r>
                      </m:sub>
                    </m:sSub>
                  </m:oMath>
                </a14:m>
                <a:endParaRPr lang="en-US" sz="2000" b="1" dirty="0">
                  <a:latin typeface="Arial" panose="020B0604020202020204" pitchFamily="34" charset="0"/>
                  <a:cs typeface="Arial" panose="020B0604020202020204" pitchFamily="34" charset="0"/>
                </a:endParaRPr>
              </a:p>
              <a:p>
                <a:pPr marL="914400">
                  <a:spcBef>
                    <a:spcPts val="600"/>
                  </a:spcBef>
                  <a:spcAft>
                    <a:spcPts val="0"/>
                  </a:spcAft>
                  <a:tabLst>
                    <a:tab pos="3371850" algn="l"/>
                  </a:tabLst>
                </a:pPr>
                <a:r>
                  <a:rPr lang="en-US" sz="2000" dirty="0">
                    <a:latin typeface="Arial" panose="020B0604020202020204" pitchFamily="34" charset="0"/>
                    <a:cs typeface="Arial" panose="020B0604020202020204" pitchFamily="34" charset="0"/>
                  </a:rPr>
                  <a:t>Standard deviation:	</a:t>
                </a:r>
                <a14:m>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ea typeface="Cambria Math" panose="02040503050406030204" pitchFamily="18" charset="0"/>
                            <a:cs typeface="Arial" panose="020B0604020202020204" pitchFamily="34" charset="0"/>
                          </a:rPr>
                          <m:t>𝝈</m:t>
                        </m:r>
                      </m:e>
                      <m:sub>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𝒃</m:t>
                            </m:r>
                          </m:e>
                          <m:sub>
                            <m:r>
                              <a:rPr lang="en-US" sz="2000" b="1" i="1" smtClean="0">
                                <a:latin typeface="Cambria Math" panose="02040503050406030204" pitchFamily="18" charset="0"/>
                                <a:cs typeface="Arial" panose="020B0604020202020204" pitchFamily="34" charset="0"/>
                              </a:rPr>
                              <m:t>𝟏</m:t>
                            </m:r>
                          </m:sub>
                        </m:sSub>
                      </m:sub>
                    </m:sSub>
                    <m:r>
                      <a:rPr lang="en-US" sz="2000" b="1" i="1" smtClean="0">
                        <a:latin typeface="Cambria Math" panose="02040503050406030204" pitchFamily="18" charset="0"/>
                        <a:cs typeface="Arial" panose="020B0604020202020204" pitchFamily="34" charset="0"/>
                      </a:rPr>
                      <m:t>=</m:t>
                    </m:r>
                    <m:f>
                      <m:fPr>
                        <m:type m:val="lin"/>
                        <m:ctrlPr>
                          <a:rPr lang="en-US" sz="2000" b="1" i="1" smtClean="0">
                            <a:latin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ea typeface="Cambria Math" panose="02040503050406030204" pitchFamily="18" charset="0"/>
                            <a:cs typeface="Arial" panose="020B0604020202020204" pitchFamily="34" charset="0"/>
                          </a:rPr>
                          <m:t>𝝈</m:t>
                        </m:r>
                      </m:num>
                      <m:den>
                        <m:rad>
                          <m:radPr>
                            <m:degHide m:val="on"/>
                            <m:ctrlPr>
                              <a:rPr lang="en-US" sz="2000" b="1" i="1" smtClean="0">
                                <a:latin typeface="Cambria Math" panose="02040503050406030204" pitchFamily="18" charset="0"/>
                                <a:cs typeface="Arial" panose="020B0604020202020204" pitchFamily="34" charset="0"/>
                              </a:rPr>
                            </m:ctrlPr>
                          </m:radPr>
                          <m:deg/>
                          <m:e>
                            <m:sSup>
                              <m:sSupPr>
                                <m:ctrlPr>
                                  <a:rPr lang="en-US" sz="2000" b="1" i="1" smtClean="0">
                                    <a:latin typeface="Cambria Math" panose="02040503050406030204" pitchFamily="18" charset="0"/>
                                    <a:cs typeface="Arial" panose="020B0604020202020204" pitchFamily="34" charset="0"/>
                                  </a:rPr>
                                </m:ctrlPr>
                              </m:sSupPr>
                              <m:e>
                                <m:d>
                                  <m:dPr>
                                    <m:ctrlPr>
                                      <a:rPr lang="en-US" sz="2000" b="1" i="1" smtClean="0">
                                        <a:latin typeface="Cambria Math" panose="02040503050406030204" pitchFamily="18" charset="0"/>
                                        <a:cs typeface="Arial" panose="020B0604020202020204" pitchFamily="34" charset="0"/>
                                      </a:rPr>
                                    </m:ctrlPr>
                                  </m:dPr>
                                  <m:e>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𝒙</m:t>
                                        </m:r>
                                      </m:e>
                                      <m:sub>
                                        <m:r>
                                          <a:rPr lang="en-US" sz="2000" b="1" i="1" smtClean="0">
                                            <a:latin typeface="Cambria Math" panose="02040503050406030204" pitchFamily="18" charset="0"/>
                                            <a:cs typeface="Arial" panose="020B0604020202020204" pitchFamily="34" charset="0"/>
                                          </a:rPr>
                                          <m:t>𝒊</m:t>
                                        </m:r>
                                      </m:sub>
                                    </m:sSub>
                                    <m:r>
                                      <a:rPr lang="en-US" sz="2000" b="1" i="1" smtClean="0">
                                        <a:latin typeface="Cambria Math" panose="02040503050406030204" pitchFamily="18" charset="0"/>
                                        <a:cs typeface="Arial" panose="020B0604020202020204" pitchFamily="34" charset="0"/>
                                      </a:rPr>
                                      <m:t>−</m:t>
                                    </m:r>
                                    <m:acc>
                                      <m:accPr>
                                        <m:chr m:val="̅"/>
                                        <m:ctrlPr>
                                          <a:rPr lang="en-US" sz="2000" b="1" i="1" smtClean="0">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𝒙</m:t>
                                        </m:r>
                                      </m:e>
                                    </m:acc>
                                  </m:e>
                                </m:d>
                              </m:e>
                              <m:sup>
                                <m:r>
                                  <a:rPr lang="en-US" sz="2000" b="1" i="1" smtClean="0">
                                    <a:latin typeface="Cambria Math" panose="02040503050406030204" pitchFamily="18" charset="0"/>
                                    <a:cs typeface="Arial" panose="020B0604020202020204" pitchFamily="34" charset="0"/>
                                  </a:rPr>
                                  <m:t>𝟐</m:t>
                                </m:r>
                              </m:sup>
                            </m:sSup>
                          </m:e>
                        </m:rad>
                      </m:den>
                    </m:f>
                  </m:oMath>
                </a14:m>
                <a:endParaRPr lang="en-US" sz="2000" b="1" dirty="0">
                  <a:latin typeface="Arial" panose="020B0604020202020204" pitchFamily="34" charset="0"/>
                  <a:cs typeface="Arial" panose="020B0604020202020204" pitchFamily="34" charset="0"/>
                </a:endParaRPr>
              </a:p>
              <a:p>
                <a:pPr marL="914400">
                  <a:spcBef>
                    <a:spcPts val="600"/>
                  </a:spcBef>
                  <a:spcAft>
                    <a:spcPts val="600"/>
                  </a:spcAft>
                  <a:tabLst>
                    <a:tab pos="3371850" algn="l"/>
                  </a:tabLst>
                </a:pPr>
                <a:r>
                  <a:rPr lang="en-US" sz="2000" dirty="0">
                    <a:latin typeface="Arial" panose="020B0604020202020204" pitchFamily="34" charset="0"/>
                    <a:cs typeface="Arial" panose="020B0604020202020204" pitchFamily="34" charset="0"/>
                  </a:rPr>
                  <a:t>Distribution form:	</a:t>
                </a:r>
                <a:r>
                  <a:rPr lang="en-US" sz="2000" b="1" dirty="0">
                    <a:latin typeface="Arial" panose="020B0604020202020204" pitchFamily="34" charset="0"/>
                    <a:cs typeface="Arial" panose="020B0604020202020204" pitchFamily="34" charset="0"/>
                  </a:rPr>
                  <a:t>Normal</a:t>
                </a:r>
              </a:p>
              <a:p>
                <a:pPr>
                  <a:spcBef>
                    <a:spcPts val="600"/>
                  </a:spcBef>
                  <a:spcAft>
                    <a:spcPts val="600"/>
                  </a:spcAft>
                </a:pPr>
                <a:r>
                  <a:rPr lang="en-US" sz="2000" dirty="0">
                    <a:latin typeface="Arial" panose="020B0604020202020204" pitchFamily="34" charset="0"/>
                    <a:cs typeface="Arial" panose="020B0604020202020204" pitchFamily="34" charset="0"/>
                  </a:rPr>
                  <a:t>The test statistic follows a </a:t>
                </a:r>
                <a:r>
                  <a:rPr lang="en-US" sz="2000" i="1" dirty="0">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 distribution with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r>
                      <a:rPr lang="en-US" sz="2000" i="1" dirty="0" smtClean="0">
                        <a:latin typeface="Cambria Math" panose="02040503050406030204" pitchFamily="18" charset="0"/>
                        <a:cs typeface="Arial" panose="020B0604020202020204" pitchFamily="34" charset="0"/>
                      </a:rPr>
                      <m:t>−2</m:t>
                    </m:r>
                  </m:oMath>
                </a14:m>
                <a:r>
                  <a:rPr lang="en-US" sz="2000" dirty="0">
                    <a:latin typeface="Arial" panose="020B0604020202020204" pitchFamily="34" charset="0"/>
                    <a:cs typeface="Arial" panose="020B0604020202020204" pitchFamily="34" charset="0"/>
                  </a:rPr>
                  <a:t> degrees of freedom.</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𝒕</m:t>
                      </m:r>
                      <m:r>
                        <a:rPr lang="en-US" sz="2000" b="1" i="1" smtClean="0">
                          <a:latin typeface="Cambria Math" panose="02040503050406030204" pitchFamily="18" charset="0"/>
                          <a:cs typeface="Arial" panose="020B0604020202020204" pitchFamily="34" charset="0"/>
                        </a:rPr>
                        <m:t>=</m:t>
                      </m:r>
                      <m:f>
                        <m:fPr>
                          <m:ctrlPr>
                            <a:rPr lang="en-US" sz="2000" b="1" i="1" smtClean="0">
                              <a:latin typeface="Cambria Math" panose="02040503050406030204" pitchFamily="18" charset="0"/>
                              <a:cs typeface="Arial" panose="020B0604020202020204" pitchFamily="34" charset="0"/>
                            </a:rPr>
                          </m:ctrlPr>
                        </m:fPr>
                        <m:num>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𝒃</m:t>
                              </m:r>
                            </m:e>
                            <m:sub>
                              <m:r>
                                <a:rPr lang="en-US" sz="2000" b="1" i="1" smtClean="0">
                                  <a:latin typeface="Cambria Math" panose="02040503050406030204" pitchFamily="18" charset="0"/>
                                  <a:cs typeface="Arial" panose="020B0604020202020204" pitchFamily="34" charset="0"/>
                                </a:rPr>
                                <m:t>𝟏</m:t>
                              </m:r>
                            </m:sub>
                          </m:sSub>
                        </m:num>
                        <m:den>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𝒔</m:t>
                              </m:r>
                            </m:e>
                            <m:sub>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𝒃</m:t>
                                  </m:r>
                                </m:e>
                                <m:sub>
                                  <m:r>
                                    <a:rPr lang="en-US" sz="2000" b="1" i="1" smtClean="0">
                                      <a:latin typeface="Cambria Math" panose="02040503050406030204" pitchFamily="18" charset="0"/>
                                      <a:cs typeface="Arial" panose="020B0604020202020204" pitchFamily="34" charset="0"/>
                                    </a:rPr>
                                    <m:t>𝟏</m:t>
                                  </m:r>
                                </m:sub>
                              </m:sSub>
                            </m:sub>
                          </m:sSub>
                        </m:den>
                      </m:f>
                    </m:oMath>
                  </m:oMathPara>
                </a14:m>
                <a:endParaRPr lang="en-US" sz="2000" b="1" dirty="0">
                  <a:latin typeface="Arial" panose="020B0604020202020204" pitchFamily="34" charset="0"/>
                  <a:cs typeface="Arial" panose="020B0604020202020204" pitchFamily="34" charset="0"/>
                </a:endParaRPr>
              </a:p>
              <a:p>
                <a:pPr>
                  <a:spcBef>
                    <a:spcPts val="600"/>
                  </a:spcBef>
                  <a:spcAft>
                    <a:spcPts val="0"/>
                  </a:spcAft>
                  <a:tabLst>
                    <a:tab pos="6059488" algn="l"/>
                  </a:tabLst>
                </a:pPr>
                <a:r>
                  <a:rPr lang="en-US" sz="2000" dirty="0">
                    <a:latin typeface="Arial" panose="020B0604020202020204" pitchFamily="34" charset="0"/>
                    <a:cs typeface="Arial" panose="020B0604020202020204" pitchFamily="34" charset="0"/>
                  </a:rPr>
                  <a:t>Where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𝑠</m:t>
                        </m:r>
                      </m:e>
                      <m:sub>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𝑏</m:t>
                            </m:r>
                          </m:e>
                          <m:sub>
                            <m:r>
                              <a:rPr lang="en-US" sz="2000" b="0" i="1" smtClean="0">
                                <a:latin typeface="Cambria Math" panose="02040503050406030204" pitchFamily="18" charset="0"/>
                                <a:cs typeface="Arial" panose="020B0604020202020204" pitchFamily="34" charset="0"/>
                              </a:rPr>
                              <m:t>1</m:t>
                            </m:r>
                          </m:sub>
                        </m:sSub>
                      </m:sub>
                    </m:sSub>
                  </m:oMath>
                </a14:m>
                <a:r>
                  <a:rPr lang="en-US" sz="2000" dirty="0">
                    <a:latin typeface="Arial" panose="020B0604020202020204" pitchFamily="34" charset="0"/>
                    <a:cs typeface="Arial" panose="020B0604020202020204" pitchFamily="34" charset="0"/>
                  </a:rPr>
                  <a:t> is the estimated standard deviation of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𝑏</m:t>
                        </m:r>
                      </m:e>
                      <m:sub>
                        <m:r>
                          <a:rPr lang="en-US" sz="2000" b="0" i="1">
                            <a:latin typeface="Cambria Math" panose="02040503050406030204" pitchFamily="18" charset="0"/>
                            <a:cs typeface="Arial" panose="020B0604020202020204" pitchFamily="34" charset="0"/>
                          </a:rPr>
                          <m:t>1</m:t>
                        </m:r>
                      </m:sub>
                    </m:sSub>
                  </m:oMath>
                </a14:m>
                <a:r>
                  <a:rPr lang="en-US" sz="2000" dirty="0">
                    <a:latin typeface="Arial" panose="020B0604020202020204" pitchFamily="34" charset="0"/>
                    <a:cs typeface="Arial" panose="020B0604020202020204" pitchFamily="34" charset="0"/>
                  </a:rPr>
                  <a:t>: 	</a:t>
                </a:r>
                <a14:m>
                  <m:oMath xmlns:m="http://schemas.openxmlformats.org/officeDocument/2006/math">
                    <m:sSub>
                      <m:sSubPr>
                        <m:ctrlPr>
                          <a:rPr lang="en-US" sz="2000" b="1" i="1">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ea typeface="Cambria Math" panose="02040503050406030204" pitchFamily="18" charset="0"/>
                            <a:cs typeface="Arial" panose="020B0604020202020204" pitchFamily="34" charset="0"/>
                          </a:rPr>
                          <m:t>𝒔</m:t>
                        </m:r>
                      </m:e>
                      <m:sub>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𝒃</m:t>
                            </m:r>
                          </m:e>
                          <m:sub>
                            <m:r>
                              <a:rPr lang="en-US" sz="2000" b="1" i="1">
                                <a:latin typeface="Cambria Math" panose="02040503050406030204" pitchFamily="18" charset="0"/>
                                <a:cs typeface="Arial" panose="020B0604020202020204" pitchFamily="34" charset="0"/>
                              </a:rPr>
                              <m:t>𝟏</m:t>
                            </m:r>
                          </m:sub>
                        </m:sSub>
                      </m:sub>
                    </m:sSub>
                    <m:r>
                      <a:rPr lang="en-US" sz="2000" b="1" i="1">
                        <a:latin typeface="Cambria Math" panose="02040503050406030204" pitchFamily="18" charset="0"/>
                        <a:cs typeface="Arial" panose="020B0604020202020204" pitchFamily="34" charset="0"/>
                      </a:rPr>
                      <m:t>=</m:t>
                    </m:r>
                    <m:f>
                      <m:fPr>
                        <m:type m:val="lin"/>
                        <m:ctrlPr>
                          <a:rPr lang="en-US" sz="2000" b="1" i="1">
                            <a:latin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ea typeface="Cambria Math" panose="02040503050406030204" pitchFamily="18" charset="0"/>
                            <a:cs typeface="Arial" panose="020B0604020202020204" pitchFamily="34" charset="0"/>
                          </a:rPr>
                          <m:t>𝒔</m:t>
                        </m:r>
                      </m:num>
                      <m:den>
                        <m:rad>
                          <m:radPr>
                            <m:degHide m:val="on"/>
                            <m:ctrlPr>
                              <a:rPr lang="en-US" sz="2000" b="1" i="1">
                                <a:latin typeface="Cambria Math" panose="02040503050406030204" pitchFamily="18" charset="0"/>
                                <a:cs typeface="Arial" panose="020B0604020202020204" pitchFamily="34" charset="0"/>
                              </a:rPr>
                            </m:ctrlPr>
                          </m:radPr>
                          <m:deg/>
                          <m:e>
                            <m:sSup>
                              <m:sSupPr>
                                <m:ctrlPr>
                                  <a:rPr lang="en-US" sz="2000" b="1" i="1">
                                    <a:latin typeface="Cambria Math" panose="02040503050406030204" pitchFamily="18" charset="0"/>
                                    <a:cs typeface="Arial" panose="020B0604020202020204" pitchFamily="34" charset="0"/>
                                  </a:rPr>
                                </m:ctrlPr>
                              </m:sSupPr>
                              <m:e>
                                <m:d>
                                  <m:dPr>
                                    <m:ctrlPr>
                                      <a:rPr lang="en-US" sz="2000" b="1" i="1">
                                        <a:latin typeface="Cambria Math" panose="02040503050406030204" pitchFamily="18" charset="0"/>
                                        <a:cs typeface="Arial" panose="020B0604020202020204" pitchFamily="34" charset="0"/>
                                      </a:rPr>
                                    </m:ctrlPr>
                                  </m:dPr>
                                  <m:e>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𝒙</m:t>
                                        </m:r>
                                      </m:e>
                                      <m:sub>
                                        <m:r>
                                          <a:rPr lang="en-US" sz="2000" b="1" i="1">
                                            <a:latin typeface="Cambria Math" panose="02040503050406030204" pitchFamily="18" charset="0"/>
                                            <a:cs typeface="Arial" panose="020B0604020202020204" pitchFamily="34" charset="0"/>
                                          </a:rPr>
                                          <m:t>𝒊</m:t>
                                        </m:r>
                                      </m:sub>
                                    </m:sSub>
                                    <m:r>
                                      <a:rPr lang="en-US" sz="2000" b="1" i="1">
                                        <a:latin typeface="Cambria Math" panose="02040503050406030204" pitchFamily="18" charset="0"/>
                                        <a:cs typeface="Arial" panose="020B0604020202020204" pitchFamily="34" charset="0"/>
                                      </a:rPr>
                                      <m:t>−</m:t>
                                    </m:r>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𝒙</m:t>
                                        </m:r>
                                      </m:e>
                                    </m:acc>
                                  </m:e>
                                </m:d>
                              </m:e>
                              <m:sup>
                                <m:r>
                                  <a:rPr lang="en-US" sz="2000" b="1" i="1">
                                    <a:latin typeface="Cambria Math" panose="02040503050406030204" pitchFamily="18" charset="0"/>
                                    <a:cs typeface="Arial" panose="020B0604020202020204" pitchFamily="34" charset="0"/>
                                  </a:rPr>
                                  <m:t>𝟐</m:t>
                                </m:r>
                              </m:sup>
                            </m:sSup>
                          </m:e>
                        </m:rad>
                      </m:den>
                    </m:f>
                  </m:oMath>
                </a14:m>
                <a:endParaRPr lang="en-US" sz="2000" b="1"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298459"/>
                <a:ext cx="10781737" cy="4381229"/>
              </a:xfrm>
              <a:blipFill>
                <a:blip r:embed="rId3"/>
                <a:stretch>
                  <a:fillRect l="-1471" t="-1669" b="-16134"/>
                </a:stretch>
              </a:blipFill>
            </p:spPr>
            <p:txBody>
              <a:bodyPr/>
              <a:lstStyle/>
              <a:p>
                <a:r>
                  <a:rPr lang="en-US">
                    <a:noFill/>
                  </a:rPr>
                  <a:t> </a:t>
                </a:r>
              </a:p>
            </p:txBody>
          </p:sp>
        </mc:Fallback>
      </mc:AlternateContent>
    </p:spTree>
    <p:extLst>
      <p:ext uri="{BB962C8B-B14F-4D97-AF65-F5344CB8AC3E}">
        <p14:creationId xmlns:p14="http://schemas.microsoft.com/office/powerpoint/2010/main" val="2728490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739471" y="365125"/>
            <a:ext cx="10717696" cy="672105"/>
          </a:xfrm>
        </p:spPr>
        <p:txBody>
          <a:bodyPr/>
          <a:lstStyle/>
          <a:p>
            <a:r>
              <a:rPr lang="en-US" sz="3200" dirty="0"/>
              <a:t>14.5 </a:t>
            </a:r>
            <a:r>
              <a:rPr lang="en-US" sz="3200" i="1" dirty="0"/>
              <a:t>t</a:t>
            </a:r>
            <a:r>
              <a:rPr lang="en-US" sz="3200" dirty="0"/>
              <a:t> Test for the Armand’s Pizza Parlor Example</a:t>
            </a:r>
            <a:endParaRPr lang="en-US" sz="3200"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296063"/>
                <a:ext cx="10781737" cy="4391059"/>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To test for a significant relationship between student population (𝑥) and Armand’s Pizza Parlor quarterly sales (𝑦), we use a significance level,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latin typeface="Cambria Math" panose="02040503050406030204" pitchFamily="18" charset="0"/>
                        <a:ea typeface="Cambria Math" panose="02040503050406030204" pitchFamily="18" charset="0"/>
                        <a:cs typeface="Arial" panose="020B0604020202020204" pitchFamily="34" charset="0"/>
                      </a:rPr>
                      <m:t>=0.01</m:t>
                    </m:r>
                  </m:oMath>
                </a14:m>
                <a:r>
                  <a:rPr lang="en-US" sz="2000" dirty="0">
                    <a:latin typeface="Arial" panose="020B0604020202020204" pitchFamily="34" charset="0"/>
                    <a:cs typeface="Arial" panose="020B0604020202020204" pitchFamily="34" charset="0"/>
                  </a:rPr>
                  <a:t>.</a:t>
                </a:r>
              </a:p>
              <a:p>
                <a:pPr>
                  <a:spcBef>
                    <a:spcPts val="600"/>
                  </a:spcBef>
                  <a:spcAft>
                    <a:spcPts val="0"/>
                  </a:spcAft>
                </a:pPr>
                <a:r>
                  <a:rPr lang="en-US" sz="2000" dirty="0">
                    <a:latin typeface="Arial" panose="020B0604020202020204" pitchFamily="34" charset="0"/>
                    <a:cs typeface="Arial" panose="020B0604020202020204" pitchFamily="34" charset="0"/>
                  </a:rPr>
                  <a:t>Recollect that, for the Armand’s Pizza Parlor case, we found:</a:t>
                </a:r>
              </a:p>
              <a:p>
                <a:pPr marL="914400">
                  <a:spcBef>
                    <a:spcPts val="600"/>
                  </a:spcBef>
                  <a:spcAft>
                    <a:spcPts val="0"/>
                  </a:spcAft>
                </a:pPr>
                <a14:m>
                  <m:oMath xmlns:m="http://schemas.openxmlformats.org/officeDocument/2006/math">
                    <m:acc>
                      <m:accPr>
                        <m:chr m:val="̂"/>
                        <m:ctrlPr>
                          <a:rPr lang="en-US" sz="1800" i="1" smtClean="0">
                            <a:latin typeface="Cambria Math" panose="02040503050406030204" pitchFamily="18" charset="0"/>
                          </a:rPr>
                        </m:ctrlPr>
                      </m:accPr>
                      <m:e>
                        <m:r>
                          <a:rPr lang="en-US" sz="1800" i="1">
                            <a:latin typeface="Cambria Math" panose="02040503050406030204" pitchFamily="18" charset="0"/>
                          </a:rPr>
                          <m:t>𝑦</m:t>
                        </m:r>
                      </m:e>
                    </m:acc>
                    <m:r>
                      <a:rPr lang="en-US" sz="1800" i="1">
                        <a:latin typeface="Cambria Math" panose="02040503050406030204" pitchFamily="18" charset="0"/>
                      </a:rPr>
                      <m:t>=60+5</m:t>
                    </m:r>
                    <m:r>
                      <a:rPr lang="en-US" sz="1800" i="1">
                        <a:latin typeface="Cambria Math" panose="02040503050406030204" pitchFamily="18" charset="0"/>
                      </a:rPr>
                      <m:t>𝑥</m:t>
                    </m:r>
                  </m:oMath>
                </a14:m>
                <a:r>
                  <a:rPr lang="en-US" sz="2000" dirty="0">
                    <a:latin typeface="Arial" panose="020B0604020202020204" pitchFamily="34" charset="0"/>
                    <a:cs typeface="Arial" panose="020B0604020202020204" pitchFamily="34" charset="0"/>
                  </a:rPr>
                  <a:t> </a:t>
                </a:r>
              </a:p>
              <a:p>
                <a:pPr marL="914400">
                  <a:spcBef>
                    <a:spcPts val="600"/>
                  </a:spcBef>
                  <a:spcAft>
                    <a:spcPts val="0"/>
                  </a:spcAft>
                </a:pPr>
                <a14:m>
                  <m:oMath xmlns:m="http://schemas.openxmlformats.org/officeDocument/2006/math">
                    <m:r>
                      <a:rPr lang="en-US" sz="2000" b="0" i="1" smtClean="0">
                        <a:latin typeface="Cambria Math" panose="02040503050406030204" pitchFamily="18" charset="0"/>
                        <a:cs typeface="Arial" panose="020B0604020202020204" pitchFamily="34" charset="0"/>
                      </a:rPr>
                      <m:t>𝑠</m:t>
                    </m:r>
                    <m:r>
                      <a:rPr lang="en-US" sz="2000" b="0" i="1" smtClean="0">
                        <a:latin typeface="Cambria Math" panose="02040503050406030204" pitchFamily="18" charset="0"/>
                        <a:cs typeface="Arial" panose="020B0604020202020204" pitchFamily="34" charset="0"/>
                      </a:rPr>
                      <m:t>=13.829</m:t>
                    </m:r>
                  </m:oMath>
                </a14:m>
                <a:r>
                  <a:rPr lang="en-US" sz="2000" dirty="0">
                    <a:latin typeface="Arial" panose="020B0604020202020204" pitchFamily="34" charset="0"/>
                    <a:cs typeface="Arial" panose="020B0604020202020204" pitchFamily="34" charset="0"/>
                  </a:rPr>
                  <a:t> </a:t>
                </a:r>
              </a:p>
              <a:p>
                <a:pPr marL="914400">
                  <a:spcBef>
                    <a:spcPts val="600"/>
                  </a:spcBef>
                  <a:spcAft>
                    <a:spcPts val="600"/>
                  </a:spcAft>
                </a:pPr>
                <a14:m>
                  <m:oMath xmlns:m="http://schemas.openxmlformats.org/officeDocument/2006/math">
                    <m:nary>
                      <m:naryPr>
                        <m:chr m:val="∑"/>
                        <m:subHide m:val="on"/>
                        <m:supHide m:val="on"/>
                        <m:ctrlPr>
                          <a:rPr lang="en-US" sz="2000" i="1" smtClean="0">
                            <a:latin typeface="Cambria Math" panose="02040503050406030204" pitchFamily="18" charset="0"/>
                            <a:cs typeface="Arial" panose="020B0604020202020204" pitchFamily="34" charset="0"/>
                          </a:rPr>
                        </m:ctrlPr>
                      </m:naryPr>
                      <m:sub/>
                      <m:sup/>
                      <m:e>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a:latin typeface="Cambria Math" panose="02040503050406030204" pitchFamily="18" charset="0"/>
                                        <a:cs typeface="Arial" panose="020B0604020202020204" pitchFamily="34" charset="0"/>
                                      </a:rPr>
                                      <m:t>𝑖</m:t>
                                    </m:r>
                                  </m:sub>
                                </m:sSub>
                                <m:r>
                                  <a:rPr lang="en-US" sz="2000" b="0" i="1">
                                    <a:latin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𝑥</m:t>
                                    </m:r>
                                  </m:e>
                                </m:acc>
                              </m:e>
                            </m:d>
                          </m:e>
                          <m:sup>
                            <m:r>
                              <a:rPr lang="en-US" sz="2000" b="0" i="1">
                                <a:latin typeface="Cambria Math" panose="02040503050406030204" pitchFamily="18" charset="0"/>
                                <a:cs typeface="Arial" panose="020B0604020202020204" pitchFamily="34" charset="0"/>
                              </a:rPr>
                              <m:t>2</m:t>
                            </m:r>
                          </m:sup>
                        </m:sSup>
                      </m:e>
                    </m:nary>
                    <m:r>
                      <a:rPr lang="en-US" sz="2000" b="0" i="1" smtClean="0">
                        <a:latin typeface="Cambria Math" panose="02040503050406030204" pitchFamily="18" charset="0"/>
                        <a:cs typeface="Arial" panose="020B0604020202020204" pitchFamily="34" charset="0"/>
                      </a:rPr>
                      <m:t>=568</m:t>
                    </m:r>
                  </m:oMath>
                </a14:m>
                <a:r>
                  <a:rPr lang="en-US" sz="2000" dirty="0">
                    <a:latin typeface="Arial" panose="020B0604020202020204" pitchFamily="34" charset="0"/>
                    <a:cs typeface="Arial" panose="020B0604020202020204" pitchFamily="34" charset="0"/>
                  </a:rPr>
                  <a:t> </a:t>
                </a:r>
              </a:p>
              <a:p>
                <a:pPr>
                  <a:spcBef>
                    <a:spcPts val="600"/>
                  </a:spcBef>
                  <a:spcAft>
                    <a:spcPts val="600"/>
                  </a:spcAft>
                </a:pPr>
                <a:r>
                  <a:rPr lang="en-US" sz="2000" dirty="0">
                    <a:latin typeface="Arial" panose="020B0604020202020204" pitchFamily="34" charset="0"/>
                    <a:cs typeface="Arial" panose="020B0604020202020204" pitchFamily="34" charset="0"/>
                  </a:rPr>
                  <a:t>Hence, the estimated standard error of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𝑏</m:t>
                        </m:r>
                      </m:e>
                      <m:sub>
                        <m:r>
                          <a:rPr lang="en-US" sz="2000" b="0" i="1">
                            <a:latin typeface="Cambria Math" panose="02040503050406030204" pitchFamily="18" charset="0"/>
                            <a:cs typeface="Arial" panose="020B0604020202020204" pitchFamily="34" charset="0"/>
                          </a:rPr>
                          <m:t>1</m:t>
                        </m:r>
                      </m:sub>
                    </m:sSub>
                  </m:oMath>
                </a14:m>
                <a:r>
                  <a:rPr lang="en-US" sz="2000" dirty="0">
                    <a:latin typeface="Arial" panose="020B0604020202020204" pitchFamily="34" charset="0"/>
                    <a:cs typeface="Arial" panose="020B0604020202020204" pitchFamily="34" charset="0"/>
                  </a:rPr>
                  <a:t> is</a:t>
                </a:r>
              </a:p>
              <a:p>
                <a:pPr marL="914400">
                  <a:spcBef>
                    <a:spcPts val="600"/>
                  </a:spcBef>
                  <a:spcAft>
                    <a:spcPts val="600"/>
                  </a:spcAft>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𝑠</m:t>
                        </m:r>
                      </m:e>
                      <m:sub>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𝑏</m:t>
                            </m:r>
                          </m:e>
                          <m:sub>
                            <m:r>
                              <a:rPr lang="en-US" sz="2000" b="0" i="1">
                                <a:latin typeface="Cambria Math" panose="02040503050406030204" pitchFamily="18" charset="0"/>
                                <a:cs typeface="Arial" panose="020B0604020202020204" pitchFamily="34" charset="0"/>
                              </a:rPr>
                              <m:t>1</m:t>
                            </m:r>
                          </m:sub>
                        </m:sSub>
                      </m:sub>
                    </m:sSub>
                    <m:r>
                      <a:rPr lang="en-US" sz="2000" b="0" i="1">
                        <a:latin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𝑠</m:t>
                        </m:r>
                      </m:num>
                      <m:den>
                        <m:rad>
                          <m:radPr>
                            <m:degHide m:val="on"/>
                            <m:ctrlPr>
                              <a:rPr lang="en-US" sz="2000" i="1">
                                <a:latin typeface="Cambria Math" panose="02040503050406030204" pitchFamily="18" charset="0"/>
                                <a:cs typeface="Arial" panose="020B0604020202020204" pitchFamily="34" charset="0"/>
                              </a:rPr>
                            </m:ctrlPr>
                          </m:radPr>
                          <m:deg/>
                          <m:e>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a:latin typeface="Cambria Math" panose="02040503050406030204" pitchFamily="18" charset="0"/>
                                            <a:cs typeface="Arial" panose="020B0604020202020204" pitchFamily="34" charset="0"/>
                                          </a:rPr>
                                          <m:t>𝑖</m:t>
                                        </m:r>
                                      </m:sub>
                                    </m:sSub>
                                    <m:r>
                                      <a:rPr lang="en-US" sz="2000" b="0" i="1">
                                        <a:latin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𝑥</m:t>
                                        </m:r>
                                      </m:e>
                                    </m:acc>
                                  </m:e>
                                </m:d>
                              </m:e>
                              <m:sup>
                                <m:r>
                                  <a:rPr lang="en-US" sz="2000" b="0" i="1">
                                    <a:latin typeface="Cambria Math" panose="02040503050406030204" pitchFamily="18" charset="0"/>
                                    <a:cs typeface="Arial" panose="020B0604020202020204" pitchFamily="34" charset="0"/>
                                  </a:rPr>
                                  <m:t>2</m:t>
                                </m:r>
                              </m:sup>
                            </m:sSup>
                          </m:e>
                        </m:rad>
                      </m:den>
                    </m:f>
                    <m:r>
                      <a:rPr lang="en-US" sz="2000" b="0" i="1" smtClean="0">
                        <a:latin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13.829</m:t>
                        </m:r>
                      </m:num>
                      <m:den>
                        <m:rad>
                          <m:radPr>
                            <m:degHide m:val="on"/>
                            <m:ctrlPr>
                              <a:rPr lang="en-US" sz="2000" b="0" i="1" smtClean="0">
                                <a:latin typeface="Cambria Math" panose="02040503050406030204" pitchFamily="18" charset="0"/>
                                <a:cs typeface="Arial" panose="020B0604020202020204" pitchFamily="34" charset="0"/>
                              </a:rPr>
                            </m:ctrlPr>
                          </m:radPr>
                          <m:deg/>
                          <m:e>
                            <m:r>
                              <a:rPr lang="en-US" sz="2000" i="1">
                                <a:latin typeface="Cambria Math" panose="02040503050406030204" pitchFamily="18" charset="0"/>
                                <a:cs typeface="Arial" panose="020B0604020202020204" pitchFamily="34" charset="0"/>
                              </a:rPr>
                              <m:t>568</m:t>
                            </m:r>
                          </m:e>
                        </m:rad>
                      </m:den>
                    </m:f>
                    <m:r>
                      <a:rPr lang="en-US" sz="2000" b="0" i="1" smtClean="0">
                        <a:latin typeface="Cambria Math" panose="02040503050406030204" pitchFamily="18" charset="0"/>
                        <a:cs typeface="Arial" panose="020B0604020202020204" pitchFamily="34" charset="0"/>
                      </a:rPr>
                      <m:t>=0.5803</m:t>
                    </m:r>
                  </m:oMath>
                </a14:m>
                <a:r>
                  <a:rPr lang="en-US" sz="2000" dirty="0">
                    <a:latin typeface="Arial" panose="020B0604020202020204" pitchFamily="34" charset="0"/>
                    <a:cs typeface="Arial" panose="020B0604020202020204" pitchFamily="34" charset="0"/>
                  </a:rPr>
                  <a:t>  </a:t>
                </a:r>
              </a:p>
              <a:p>
                <a:pPr>
                  <a:spcBef>
                    <a:spcPts val="600"/>
                  </a:spcBef>
                  <a:spcAft>
                    <a:spcPts val="600"/>
                  </a:spcAft>
                </a:pPr>
                <a:r>
                  <a:rPr lang="en-US" sz="2000" dirty="0">
                    <a:latin typeface="Arial" panose="020B0604020202020204" pitchFamily="34" charset="0"/>
                    <a:cs typeface="Arial" panose="020B0604020202020204" pitchFamily="34" charset="0"/>
                  </a:rPr>
                  <a:t>And the test statistic is</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𝑡</m:t>
                      </m:r>
                      <m:r>
                        <a:rPr lang="en-US" sz="2000" b="0" i="1" smtClean="0">
                          <a:latin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cs typeface="Arial" panose="020B0604020202020204" pitchFamily="34" charset="0"/>
                            </a:rPr>
                          </m:ctrlPr>
                        </m:fPr>
                        <m:num>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𝑏</m:t>
                              </m:r>
                            </m:e>
                            <m:sub>
                              <m:r>
                                <a:rPr lang="en-US" sz="2000" b="0" i="1" smtClean="0">
                                  <a:latin typeface="Cambria Math" panose="02040503050406030204" pitchFamily="18" charset="0"/>
                                  <a:cs typeface="Arial" panose="020B0604020202020204" pitchFamily="34" charset="0"/>
                                </a:rPr>
                                <m:t>1</m:t>
                              </m:r>
                            </m:sub>
                          </m:sSub>
                        </m:num>
                        <m:den>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𝑠</m:t>
                              </m:r>
                            </m:e>
                            <m:sub>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𝑏</m:t>
                                  </m:r>
                                </m:e>
                                <m:sub>
                                  <m:r>
                                    <a:rPr lang="en-US" sz="2000" b="0" i="1" smtClean="0">
                                      <a:latin typeface="Cambria Math" panose="02040503050406030204" pitchFamily="18" charset="0"/>
                                      <a:cs typeface="Arial" panose="020B0604020202020204" pitchFamily="34" charset="0"/>
                                    </a:rPr>
                                    <m:t>1</m:t>
                                  </m:r>
                                </m:sub>
                              </m:sSub>
                            </m:sub>
                          </m:sSub>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5</m:t>
                          </m:r>
                        </m:num>
                        <m:den>
                          <m:r>
                            <a:rPr lang="en-US" sz="2000" b="0" i="1" smtClean="0">
                              <a:latin typeface="Cambria Math" panose="02040503050406030204" pitchFamily="18" charset="0"/>
                              <a:cs typeface="Arial" panose="020B0604020202020204" pitchFamily="34" charset="0"/>
                            </a:rPr>
                            <m:t>0.5803</m:t>
                          </m:r>
                        </m:den>
                      </m:f>
                      <m:r>
                        <a:rPr lang="en-US" sz="2000" b="0" i="1" smtClean="0">
                          <a:latin typeface="Cambria Math" panose="02040503050406030204" pitchFamily="18" charset="0"/>
                          <a:cs typeface="Arial" panose="020B0604020202020204" pitchFamily="34" charset="0"/>
                        </a:rPr>
                        <m:t>=8.62</m:t>
                      </m:r>
                    </m:oMath>
                  </m:oMathPara>
                </a14:m>
                <a:endParaRPr lang="en-US" sz="20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296063"/>
                <a:ext cx="10781737" cy="4391059"/>
              </a:xfrm>
              <a:blipFill>
                <a:blip r:embed="rId3"/>
                <a:stretch>
                  <a:fillRect l="-1471" t="-1806"/>
                </a:stretch>
              </a:blipFill>
            </p:spPr>
            <p:txBody>
              <a:bodyPr/>
              <a:lstStyle/>
              <a:p>
                <a:r>
                  <a:rPr lang="en-US">
                    <a:noFill/>
                  </a:rPr>
                  <a:t> </a:t>
                </a:r>
              </a:p>
            </p:txBody>
          </p:sp>
        </mc:Fallback>
      </mc:AlternateContent>
    </p:spTree>
    <p:extLst>
      <p:ext uri="{BB962C8B-B14F-4D97-AF65-F5344CB8AC3E}">
        <p14:creationId xmlns:p14="http://schemas.microsoft.com/office/powerpoint/2010/main" val="4904757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dirty="0"/>
              <a:t>14.5 Rejection rule for the </a:t>
            </a:r>
            <a:r>
              <a:rPr lang="en-US" i="1" dirty="0"/>
              <a:t>t</a:t>
            </a:r>
            <a:r>
              <a:rPr lang="en-US" dirty="0"/>
              <a:t>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449072"/>
                <a:ext cx="10515599" cy="1036540"/>
              </a:xfrm>
            </p:spPr>
            <p:txBody>
              <a:bodyPr>
                <a:normAutofit/>
              </a:bodyPr>
              <a:lstStyle/>
              <a:p>
                <a:pPr>
                  <a:lnSpc>
                    <a:spcPct val="100000"/>
                  </a:lnSpc>
                  <a:spcBef>
                    <a:spcPts val="600"/>
                  </a:spcBef>
                  <a:spcAft>
                    <a:spcPts val="0"/>
                  </a:spcAft>
                </a:pPr>
                <a:r>
                  <a:rPr lang="en-US" sz="2000" dirty="0"/>
                  <a:t>Because we have </a:t>
                </a:r>
                <a:r>
                  <a:rPr lang="en-US" sz="2000"/>
                  <a:t>a two-tailed </a:t>
                </a:r>
                <a:r>
                  <a:rPr lang="en-US" sz="2000" dirty="0"/>
                  <a:t>test, </a:t>
                </a:r>
                <a:r>
                  <a:rPr lang="en-US" sz="2000"/>
                  <a:t>the </a:t>
                </a:r>
                <a:r>
                  <a:rPr lang="en-US" sz="2000" i="1"/>
                  <a:t>p</a:t>
                </a:r>
                <a:r>
                  <a:rPr lang="en-US" sz="2000"/>
                  <a:t>-value </a:t>
                </a:r>
                <a:r>
                  <a:rPr lang="en-US" sz="2000" dirty="0"/>
                  <a:t>is two times the area under the curve of the </a:t>
                </a:r>
                <a:r>
                  <a:rPr lang="en-US" sz="2000" i="1" dirty="0"/>
                  <a:t>t</a:t>
                </a:r>
                <a:r>
                  <a:rPr lang="en-US" sz="2000" dirty="0"/>
                  <a:t> distribution for </a:t>
                </a:r>
                <a14:m>
                  <m:oMath xmlns:m="http://schemas.openxmlformats.org/officeDocument/2006/math">
                    <m:r>
                      <a:rPr lang="en-US" sz="2000" i="1" dirty="0">
                        <a:latin typeface="Cambria Math" panose="02040503050406030204" pitchFamily="18" charset="0"/>
                      </a:rPr>
                      <m:t>𝑡</m:t>
                    </m:r>
                    <m:r>
                      <a:rPr lang="en-US" sz="2000" i="1" dirty="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8.62</m:t>
                    </m:r>
                  </m:oMath>
                </a14:m>
                <a:r>
                  <a:rPr lang="en-US" sz="2000" dirty="0"/>
                  <a:t>, and with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−2=8</m:t>
                    </m:r>
                  </m:oMath>
                </a14:m>
                <a:r>
                  <a:rPr lang="en-US" sz="2000" dirty="0"/>
                  <a:t> degrees of freedom.</a:t>
                </a:r>
              </a:p>
              <a:p>
                <a:pPr>
                  <a:lnSpc>
                    <a:spcPct val="100000"/>
                  </a:lnSpc>
                  <a:spcBef>
                    <a:spcPts val="600"/>
                  </a:spcBef>
                  <a:spcAft>
                    <a:spcPts val="0"/>
                  </a:spcAft>
                </a:pPr>
                <a:r>
                  <a:rPr lang="en-US" sz="2000" dirty="0"/>
                  <a:t>Using Table 2 in Appendix B, the </a:t>
                </a:r>
                <a:r>
                  <a:rPr lang="en-US" sz="2000" i="1" dirty="0"/>
                  <a:t>t</a:t>
                </a:r>
                <a:r>
                  <a:rPr lang="en-US" sz="2000" dirty="0"/>
                  <a:t> distribution table for 8 degrees of freedom provides</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449072"/>
                <a:ext cx="10515599" cy="1036540"/>
              </a:xfrm>
              <a:blipFill>
                <a:blip r:embed="rId3"/>
                <a:stretch>
                  <a:fillRect l="-1508" t="-7059" b="-105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nvPr>
            </p:nvGraphicFramePr>
            <p:xfrm>
              <a:off x="2418225" y="2554273"/>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r>
                            <a:rPr lang="en-US" sz="1600" b="1" i="1" dirty="0">
                              <a:solidFill>
                                <a:srgbClr val="000000"/>
                              </a:solidFill>
                              <a:latin typeface="Arial" panose="020B0604020202020204" pitchFamily="34" charset="0"/>
                              <a:cs typeface="Arial" panose="020B0604020202020204" pitchFamily="34" charset="0"/>
                            </a:rPr>
                            <a:t>t</a:t>
                          </a:r>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𝟖</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0.889</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1.397</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1.860</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2.306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2.896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3.355</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extLst>
                  <p:ext uri="{D42A27DB-BD31-4B8C-83A1-F6EECF244321}">
                    <p14:modId xmlns:p14="http://schemas.microsoft.com/office/powerpoint/2010/main" val="585386826"/>
                  </p:ext>
                </p:extLst>
              </p:nvPr>
            </p:nvGraphicFramePr>
            <p:xfrm>
              <a:off x="2418225" y="2554273"/>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4"/>
                          <a:stretch>
                            <a:fillRect t="-100000" r="-216864" b="-16393"/>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0.889</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1.397</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1.860</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2.306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2.896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3.355</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3409219"/>
                <a:ext cx="10484504" cy="2255600"/>
              </a:xfrm>
            </p:spPr>
            <p:txBody>
              <a:bodyPr>
                <a:noAutofit/>
              </a:bodyPr>
              <a:lstStyle/>
              <a:p>
                <a:pPr>
                  <a:lnSpc>
                    <a:spcPct val="100000"/>
                  </a:lnSpc>
                  <a:spcBef>
                    <a:spcPts val="600"/>
                  </a:spcBef>
                  <a:spcAft>
                    <a:spcPts val="0"/>
                  </a:spcAft>
                </a:pPr>
                <a:r>
                  <a:rPr lang="en-US" sz="2000" dirty="0">
                    <a:cs typeface="Arial" panose="020B0604020202020204" pitchFamily="34" charset="0"/>
                  </a:rPr>
                  <a:t>With a symmetric </a:t>
                </a:r>
                <a:r>
                  <a:rPr lang="en-US" sz="2000" i="1" dirty="0">
                    <a:cs typeface="Arial" panose="020B0604020202020204" pitchFamily="34" charset="0"/>
                  </a:rPr>
                  <a:t>t</a:t>
                </a:r>
                <a:r>
                  <a:rPr lang="en-US" sz="2000" dirty="0">
                    <a:cs typeface="Arial" panose="020B0604020202020204" pitchFamily="34" charset="0"/>
                  </a:rPr>
                  <a:t> distribution, the upper tail at </a:t>
                </a:r>
                <a14:m>
                  <m:oMath xmlns:m="http://schemas.openxmlformats.org/officeDocument/2006/math">
                    <m:r>
                      <a:rPr lang="en-US" sz="2000" i="1" dirty="0" smtClean="0">
                        <a:latin typeface="Cambria Math" panose="02040503050406030204" pitchFamily="18" charset="0"/>
                        <a:cs typeface="Arial" panose="020B0604020202020204" pitchFamily="34" charset="0"/>
                      </a:rPr>
                      <m:t>𝑡</m:t>
                    </m:r>
                    <m:r>
                      <a:rPr lang="en-US" sz="2000" i="1" dirty="0" smtClean="0">
                        <a:latin typeface="Cambria Math" panose="02040503050406030204" pitchFamily="18" charset="0"/>
                        <a:cs typeface="Arial" panose="020B0604020202020204" pitchFamily="34" charset="0"/>
                      </a:rPr>
                      <m:t>=8.62</m:t>
                    </m:r>
                  </m:oMath>
                </a14:m>
                <a:r>
                  <a:rPr lang="en-US" sz="2000" dirty="0">
                    <a:cs typeface="Arial" panose="020B0604020202020204" pitchFamily="34" charset="0"/>
                  </a:rPr>
                  <a:t> is the same as the lower tail at </a:t>
                </a:r>
                <a14:m>
                  <m:oMath xmlns:m="http://schemas.openxmlformats.org/officeDocument/2006/math">
                    <m:r>
                      <a:rPr lang="en-US" sz="2000" i="1" dirty="0" smtClean="0">
                        <a:latin typeface="Cambria Math" panose="02040503050406030204" pitchFamily="18" charset="0"/>
                        <a:cs typeface="Arial" panose="020B0604020202020204" pitchFamily="34" charset="0"/>
                      </a:rPr>
                      <m:t>𝑡</m:t>
                    </m:r>
                    <m:r>
                      <a:rPr lang="en-US" sz="2000" i="1" dirty="0" smtClean="0">
                        <a:latin typeface="Cambria Math" panose="02040503050406030204" pitchFamily="18" charset="0"/>
                        <a:cs typeface="Arial" panose="020B0604020202020204" pitchFamily="34" charset="0"/>
                      </a:rPr>
                      <m:t>=−8.62</m:t>
                    </m:r>
                  </m:oMath>
                </a14:m>
                <a:r>
                  <a:rPr lang="en-US" sz="2000" dirty="0">
                    <a:cs typeface="Arial" panose="020B0604020202020204" pitchFamily="34" charset="0"/>
                  </a:rPr>
                  <a:t>. Thus, </a:t>
                </a:r>
                <a:r>
                  <a:rPr lang="en-US" sz="2000">
                    <a:cs typeface="Arial" panose="020B0604020202020204" pitchFamily="34" charset="0"/>
                  </a:rPr>
                  <a:t>the </a:t>
                </a:r>
                <a:r>
                  <a:rPr lang="en-US" sz="2000" i="1">
                    <a:cs typeface="Arial" panose="020B0604020202020204" pitchFamily="34" charset="0"/>
                  </a:rPr>
                  <a:t>p</a:t>
                </a:r>
                <a:r>
                  <a:rPr lang="en-US" sz="2000">
                    <a:cs typeface="Arial" panose="020B0604020202020204" pitchFamily="34" charset="0"/>
                  </a:rPr>
                  <a:t>-value </a:t>
                </a:r>
                <a:r>
                  <a:rPr lang="en-US" sz="2000" dirty="0">
                    <a:cs typeface="Arial" panose="020B0604020202020204" pitchFamily="34" charset="0"/>
                  </a:rPr>
                  <a:t>range is twice </a:t>
                </a:r>
                <a14:m>
                  <m:oMath xmlns:m="http://schemas.openxmlformats.org/officeDocument/2006/math">
                    <m:r>
                      <a:rPr lang="en-US" sz="2000" i="1" dirty="0">
                        <a:latin typeface="Cambria Math" panose="02040503050406030204" pitchFamily="18" charset="0"/>
                        <a:cs typeface="Arial" panose="020B0604020202020204" pitchFamily="34" charset="0"/>
                      </a:rPr>
                      <m:t>𝑝</m:t>
                    </m:r>
                    <m:r>
                      <m:rPr>
                        <m:nor/>
                      </m:rPr>
                      <a:rPr lang="en-US" sz="2000" dirty="0">
                        <a:latin typeface="Cambria Math" panose="02040503050406030204" pitchFamily="18" charset="0"/>
                        <a:cs typeface="Arial" panose="020B0604020202020204" pitchFamily="34" charset="0"/>
                      </a:rPr>
                      <m:t>−</m:t>
                    </m:r>
                    <m:r>
                      <m:rPr>
                        <m:nor/>
                      </m:rPr>
                      <a:rPr lang="en-US" sz="2000" dirty="0">
                        <a:latin typeface="Cambria Math" panose="02040503050406030204" pitchFamily="18" charset="0"/>
                        <a:cs typeface="Arial" panose="020B0604020202020204" pitchFamily="34" charset="0"/>
                      </a:rPr>
                      <m:t>value</m:t>
                    </m:r>
                    <m:r>
                      <a:rPr lang="en-US" sz="2000" i="1" dirty="0">
                        <a:latin typeface="Cambria Math" panose="02040503050406030204" pitchFamily="18" charset="0"/>
                        <a:cs typeface="Arial" panose="020B0604020202020204" pitchFamily="34" charset="0"/>
                      </a:rPr>
                      <m:t>≤ 0.</m:t>
                    </m:r>
                    <m:r>
                      <a:rPr lang="en-US" sz="2000" b="0" i="1" dirty="0" smtClean="0">
                        <a:latin typeface="Cambria Math" panose="02040503050406030204" pitchFamily="18" charset="0"/>
                        <a:cs typeface="Arial" panose="020B0604020202020204" pitchFamily="34" charset="0"/>
                      </a:rPr>
                      <m:t>005</m:t>
                    </m:r>
                  </m:oMath>
                </a14:m>
                <a:r>
                  <a:rPr lang="en-US" sz="2000" dirty="0">
                    <a:cs typeface="Arial" panose="020B0604020202020204" pitchFamily="34" charset="0"/>
                  </a:rPr>
                  <a:t>, or </a:t>
                </a:r>
                <a14:m>
                  <m:oMath xmlns:m="http://schemas.openxmlformats.org/officeDocument/2006/math">
                    <m:r>
                      <a:rPr lang="en-US" sz="2000" i="1" dirty="0">
                        <a:latin typeface="Cambria Math" panose="02040503050406030204" pitchFamily="18" charset="0"/>
                        <a:cs typeface="Arial" panose="020B0604020202020204" pitchFamily="34" charset="0"/>
                      </a:rPr>
                      <m:t>𝑝</m:t>
                    </m:r>
                    <m:r>
                      <m:rPr>
                        <m:nor/>
                      </m:rPr>
                      <a:rPr lang="en-US" sz="2000" dirty="0">
                        <a:latin typeface="Cambria Math" panose="02040503050406030204" pitchFamily="18" charset="0"/>
                        <a:cs typeface="Arial" panose="020B0604020202020204" pitchFamily="34" charset="0"/>
                      </a:rPr>
                      <m:t>−</m:t>
                    </m:r>
                    <m:r>
                      <m:rPr>
                        <m:nor/>
                      </m:rPr>
                      <a:rPr lang="en-US" sz="2000" dirty="0">
                        <a:latin typeface="Cambria Math" panose="02040503050406030204" pitchFamily="18" charset="0"/>
                        <a:cs typeface="Arial" panose="020B0604020202020204" pitchFamily="34" charset="0"/>
                      </a:rPr>
                      <m:t>value</m:t>
                    </m:r>
                    <m:r>
                      <a:rPr lang="en-US" sz="2000" i="1" dirty="0">
                        <a:latin typeface="Cambria Math" panose="02040503050406030204" pitchFamily="18" charset="0"/>
                        <a:cs typeface="Arial" panose="020B0604020202020204" pitchFamily="34" charset="0"/>
                      </a:rPr>
                      <m:t>≤ 0.0</m:t>
                    </m:r>
                    <m:r>
                      <a:rPr lang="en-US" sz="2000" b="0" i="1" dirty="0" smtClean="0">
                        <a:latin typeface="Cambria Math" panose="02040503050406030204" pitchFamily="18" charset="0"/>
                        <a:cs typeface="Arial" panose="020B0604020202020204" pitchFamily="34" charset="0"/>
                      </a:rPr>
                      <m:t>1</m:t>
                    </m:r>
                  </m:oMath>
                </a14:m>
                <a:r>
                  <a:rPr lang="en-US" sz="2000" dirty="0">
                    <a:cs typeface="Arial" panose="020B0604020202020204" pitchFamily="34" charset="0"/>
                  </a:rPr>
                  <a:t> (*see notes.)</a:t>
                </a:r>
              </a:p>
              <a:p>
                <a:pPr>
                  <a:lnSpc>
                    <a:spcPct val="100000"/>
                  </a:lnSpc>
                  <a:spcBef>
                    <a:spcPts val="600"/>
                  </a:spcBef>
                </a:pPr>
                <a:r>
                  <a:rPr lang="en-US" sz="2000" dirty="0"/>
                  <a:t>Because </a:t>
                </a:r>
                <a14:m>
                  <m:oMath xmlns:m="http://schemas.openxmlformats.org/officeDocument/2006/math">
                    <m:r>
                      <a:rPr lang="en-US" sz="2000" i="1" dirty="0" smtClean="0">
                        <a:latin typeface="Cambria Math" panose="02040503050406030204" pitchFamily="18" charset="0"/>
                        <a:cs typeface="Arial" panose="020B0604020202020204" pitchFamily="34" charset="0"/>
                      </a:rPr>
                      <m:t>𝑝</m:t>
                    </m:r>
                    <m:r>
                      <m:rPr>
                        <m:nor/>
                      </m:rPr>
                      <a:rPr lang="en-US" sz="2000" i="0" dirty="0">
                        <a:latin typeface="Cambria Math" panose="02040503050406030204" pitchFamily="18" charset="0"/>
                        <a:cs typeface="Arial" panose="020B0604020202020204" pitchFamily="34" charset="0"/>
                      </a:rPr>
                      <m:t>−</m:t>
                    </m:r>
                    <m:r>
                      <m:rPr>
                        <m:nor/>
                      </m:rPr>
                      <a:rPr lang="en-US" sz="2000" dirty="0">
                        <a:latin typeface="Cambria Math" panose="02040503050406030204" pitchFamily="18" charset="0"/>
                        <a:cs typeface="Arial" panose="020B0604020202020204" pitchFamily="34" charset="0"/>
                      </a:rPr>
                      <m:t>value</m:t>
                    </m:r>
                    <m:r>
                      <a:rPr lang="en-US" sz="2000" i="1" dirty="0">
                        <a:latin typeface="Cambria Math" panose="02040503050406030204" pitchFamily="18" charset="0"/>
                        <a:cs typeface="Arial" panose="020B0604020202020204" pitchFamily="34" charset="0"/>
                      </a:rPr>
                      <m:t>≤ 0</m:t>
                    </m:r>
                    <m:r>
                      <a:rPr lang="en-US" sz="2000" b="0" i="1" dirty="0" smtClean="0">
                        <a:latin typeface="Cambria Math" panose="02040503050406030204" pitchFamily="18" charset="0"/>
                        <a:cs typeface="Arial" panose="020B0604020202020204" pitchFamily="34" charset="0"/>
                      </a:rPr>
                      <m:t>.01=</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𝛼</m:t>
                    </m:r>
                  </m:oMath>
                </a14:m>
                <a:r>
                  <a:rPr lang="en-US" sz="2000" dirty="0"/>
                  <a:t>, we reject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t> and conclude that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𝛽</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0</m:t>
                    </m:r>
                  </m:oMath>
                </a14:m>
                <a:r>
                  <a:rPr lang="en-US" sz="2000" dirty="0"/>
                  <a:t>.</a:t>
                </a:r>
              </a:p>
              <a:p>
                <a:pPr>
                  <a:lnSpc>
                    <a:spcPct val="100000"/>
                  </a:lnSpc>
                  <a:spcBef>
                    <a:spcPts val="600"/>
                  </a:spcBef>
                  <a:spcAft>
                    <a:spcPts val="0"/>
                  </a:spcAft>
                </a:pPr>
                <a:r>
                  <a:rPr lang="en-US" sz="2000" dirty="0"/>
                  <a:t>If we use a critical value approach instead, </a:t>
                </a:r>
                <a:r>
                  <a:rPr lang="en-US" sz="2000" dirty="0">
                    <a:cs typeface="Arial" panose="020B0604020202020204" pitchFamily="34" charset="0"/>
                  </a:rPr>
                  <a:t>the critical values </a:t>
                </a:r>
                <a14:m>
                  <m:oMath xmlns:m="http://schemas.openxmlformats.org/officeDocument/2006/math">
                    <m:r>
                      <a:rPr lang="en-US" sz="2000" i="1" dirty="0"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dirty="0" smtClean="0">
                            <a:latin typeface="Cambria Math" panose="02040503050406030204" pitchFamily="18" charset="0"/>
                            <a:cs typeface="Arial" panose="020B0604020202020204" pitchFamily="34" charset="0"/>
                          </a:rPr>
                        </m:ctrlPr>
                      </m:sSubPr>
                      <m:e>
                        <m:r>
                          <a:rPr lang="en-US" sz="2000" b="0" i="1" dirty="0" smtClean="0">
                            <a:latin typeface="Cambria Math" panose="02040503050406030204" pitchFamily="18" charset="0"/>
                            <a:cs typeface="Arial" panose="020B0604020202020204" pitchFamily="34" charset="0"/>
                          </a:rPr>
                          <m:t>𝑡</m:t>
                        </m:r>
                      </m:e>
                      <m:sub>
                        <m:f>
                          <m:fPr>
                            <m:type m:val="lin"/>
                            <m:ctrlPr>
                              <a:rPr lang="en-US" sz="2000" i="1" dirty="0" smtClean="0">
                                <a:latin typeface="Cambria Math" panose="02040503050406030204" pitchFamily="18" charset="0"/>
                                <a:cs typeface="Arial" panose="020B0604020202020204" pitchFamily="34" charset="0"/>
                              </a:rPr>
                            </m:ctrlPr>
                          </m:fPr>
                          <m:num>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dirty="0" smtClean="0">
                                <a:latin typeface="Cambria Math" panose="02040503050406030204" pitchFamily="18" charset="0"/>
                                <a:cs typeface="Arial" panose="020B0604020202020204" pitchFamily="34" charset="0"/>
                              </a:rPr>
                              <m:t>2</m:t>
                            </m:r>
                          </m:den>
                        </m:f>
                      </m:sub>
                    </m:sSub>
                    <m:r>
                      <a:rPr lang="en-US" sz="2000" b="0" i="1" dirty="0" smtClean="0">
                        <a:latin typeface="Cambria Math" panose="02040503050406030204" pitchFamily="18" charset="0"/>
                        <a:cs typeface="Arial" panose="020B0604020202020204" pitchFamily="34" charset="0"/>
                      </a:rPr>
                      <m:t> </m:t>
                    </m:r>
                  </m:oMath>
                </a14:m>
                <a:r>
                  <a:rPr lang="en-US" sz="2000" dirty="0">
                    <a:cs typeface="Arial" panose="020B0604020202020204" pitchFamily="34" charset="0"/>
                  </a:rPr>
                  <a:t>for </a:t>
                </a:r>
                <a:r>
                  <a:rPr lang="en-US" sz="2000">
                    <a:cs typeface="Arial" panose="020B0604020202020204" pitchFamily="34" charset="0"/>
                  </a:rPr>
                  <a:t>a two-tailed </a:t>
                </a:r>
                <a:r>
                  <a:rPr lang="en-US" sz="2000" dirty="0">
                    <a:cs typeface="Arial" panose="020B0604020202020204" pitchFamily="34" charset="0"/>
                  </a:rPr>
                  <a:t>test are</a:t>
                </a:r>
              </a:p>
              <a:p>
                <a:pPr marL="914400">
                  <a:lnSpc>
                    <a:spcPct val="100000"/>
                  </a:lnSpc>
                  <a:spcBef>
                    <a:spcPts val="600"/>
                  </a:spcBef>
                  <a:spcAft>
                    <a:spcPts val="0"/>
                  </a:spcAft>
                </a:pPr>
                <a14:m>
                  <m:oMath xmlns:m="http://schemas.openxmlformats.org/officeDocument/2006/math">
                    <m:sSub>
                      <m:sSubPr>
                        <m:ctrlPr>
                          <a:rPr lang="en-US" sz="2000" i="1" dirty="0" smtClean="0">
                            <a:latin typeface="Cambria Math" panose="02040503050406030204" pitchFamily="18" charset="0"/>
                            <a:cs typeface="Arial" panose="020B0604020202020204" pitchFamily="34" charset="0"/>
                          </a:rPr>
                        </m:ctrlPr>
                      </m:sSubPr>
                      <m:e>
                        <m:r>
                          <a:rPr lang="en-US" sz="2000" b="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𝑡</m:t>
                        </m:r>
                      </m:e>
                      <m:sub>
                        <m:r>
                          <a:rPr lang="en-US" sz="2000" b="0" i="1" dirty="0" smtClean="0">
                            <a:latin typeface="Cambria Math" panose="02040503050406030204" pitchFamily="18" charset="0"/>
                            <a:cs typeface="Arial" panose="020B0604020202020204" pitchFamily="34" charset="0"/>
                          </a:rPr>
                          <m:t>.005</m:t>
                        </m:r>
                      </m:sub>
                    </m:sSub>
                    <m:r>
                      <a:rPr lang="en-US" sz="2000" i="1" dirty="0" smtClean="0">
                        <a:latin typeface="Cambria Math" panose="02040503050406030204" pitchFamily="18" charset="0"/>
                        <a:cs typeface="Arial" panose="020B0604020202020204" pitchFamily="34" charset="0"/>
                      </a:rPr>
                      <m:t>=</m:t>
                    </m:r>
                    <m:r>
                      <a:rPr lang="en-US" sz="2000" b="0" i="0" dirty="0" smtClean="0">
                        <a:latin typeface="Cambria Math" panose="02040503050406030204" pitchFamily="18" charset="0"/>
                        <a:cs typeface="Arial" panose="020B0604020202020204" pitchFamily="34" charset="0"/>
                      </a:rPr>
                      <m:t>−3.355</m:t>
                    </m:r>
                  </m:oMath>
                </a14:m>
                <a:r>
                  <a:rPr lang="en-US" sz="2000" dirty="0">
                    <a:cs typeface="Arial" panose="020B0604020202020204" pitchFamily="34" charset="0"/>
                  </a:rPr>
                  <a:t>   and   </a:t>
                </a:r>
                <a14:m>
                  <m:oMath xmlns:m="http://schemas.openxmlformats.org/officeDocument/2006/math">
                    <m:sSub>
                      <m:sSubPr>
                        <m:ctrlPr>
                          <a:rPr lang="en-US" sz="2000" i="1" dirty="0">
                            <a:latin typeface="Cambria Math" panose="02040503050406030204" pitchFamily="18" charset="0"/>
                            <a:cs typeface="Arial" panose="020B0604020202020204" pitchFamily="34" charset="0"/>
                          </a:rPr>
                        </m:ctrlPr>
                      </m:sSubPr>
                      <m:e>
                        <m:r>
                          <a:rPr lang="en-US" sz="2000" i="1" dirty="0">
                            <a:latin typeface="Cambria Math" panose="02040503050406030204" pitchFamily="18" charset="0"/>
                            <a:cs typeface="Arial" panose="020B0604020202020204" pitchFamily="34" charset="0"/>
                          </a:rPr>
                          <m:t>𝑡</m:t>
                        </m:r>
                      </m:e>
                      <m:sub>
                        <m:r>
                          <a:rPr lang="en-US" sz="2000" i="1" dirty="0">
                            <a:latin typeface="Cambria Math" panose="02040503050406030204" pitchFamily="18" charset="0"/>
                            <a:cs typeface="Arial" panose="020B0604020202020204" pitchFamily="34" charset="0"/>
                          </a:rPr>
                          <m:t>.0</m:t>
                        </m:r>
                        <m:r>
                          <a:rPr lang="en-US" sz="2000" b="0" i="1" dirty="0" smtClean="0">
                            <a:latin typeface="Cambria Math" panose="02040503050406030204" pitchFamily="18" charset="0"/>
                            <a:cs typeface="Arial" panose="020B0604020202020204" pitchFamily="34" charset="0"/>
                          </a:rPr>
                          <m:t>0</m:t>
                        </m:r>
                        <m:r>
                          <a:rPr lang="en-US" sz="2000" i="1" dirty="0">
                            <a:latin typeface="Cambria Math" panose="02040503050406030204" pitchFamily="18" charset="0"/>
                            <a:cs typeface="Arial" panose="020B0604020202020204" pitchFamily="34" charset="0"/>
                          </a:rPr>
                          <m:t>5</m:t>
                        </m:r>
                      </m:sub>
                    </m:sSub>
                    <m:r>
                      <a:rPr lang="en-US" sz="2000" i="1" dirty="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3</m:t>
                    </m:r>
                    <m:r>
                      <a:rPr lang="en-US" sz="2000" b="0" i="1" dirty="0" smtClean="0">
                        <a:latin typeface="Cambria Math" panose="02040503050406030204" pitchFamily="18" charset="0"/>
                        <a:cs typeface="Arial" panose="020B0604020202020204" pitchFamily="34" charset="0"/>
                      </a:rPr>
                      <m:t>.355</m:t>
                    </m:r>
                  </m:oMath>
                </a14:m>
                <a:endParaRPr lang="en-US" sz="2000" dirty="0"/>
              </a:p>
              <a:p>
                <a:pPr>
                  <a:lnSpc>
                    <a:spcPct val="100000"/>
                  </a:lnSpc>
                  <a:spcBef>
                    <a:spcPts val="600"/>
                  </a:spcBef>
                </a:pPr>
                <a:r>
                  <a:rPr lang="en-US" sz="2000" dirty="0"/>
                  <a:t>Because </a:t>
                </a:r>
                <a14:m>
                  <m:oMath xmlns:m="http://schemas.openxmlformats.org/officeDocument/2006/math">
                    <m:r>
                      <m:rPr>
                        <m:sty m:val="p"/>
                      </m:rPr>
                      <a:rPr lang="en-US" sz="2000" b="0" i="0" dirty="0" smtClean="0">
                        <a:latin typeface="Cambria Math" panose="02040503050406030204" pitchFamily="18" charset="0"/>
                        <a:cs typeface="Arial" panose="020B0604020202020204" pitchFamily="34" charset="0"/>
                      </a:rPr>
                      <m:t>t</m:t>
                    </m:r>
                    <m:r>
                      <a:rPr lang="en-US" sz="2000" b="0" i="1" dirty="0" smtClean="0">
                        <a:latin typeface="Cambria Math" panose="02040503050406030204" pitchFamily="18" charset="0"/>
                        <a:cs typeface="Arial" panose="020B0604020202020204" pitchFamily="34" charset="0"/>
                      </a:rPr>
                      <m:t>=8.62</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3</m:t>
                    </m:r>
                    <m:r>
                      <a:rPr lang="en-US" sz="2000" b="0" i="1" dirty="0" smtClean="0">
                        <a:latin typeface="Cambria Math" panose="02040503050406030204" pitchFamily="18" charset="0"/>
                        <a:cs typeface="Arial" panose="020B0604020202020204" pitchFamily="34" charset="0"/>
                      </a:rPr>
                      <m:t>.355=</m:t>
                    </m:r>
                    <m:sSub>
                      <m:sSubPr>
                        <m:ctrlPr>
                          <a:rPr lang="en-US" sz="2000" i="1" dirty="0">
                            <a:latin typeface="Cambria Math" panose="02040503050406030204" pitchFamily="18" charset="0"/>
                            <a:cs typeface="Arial" panose="020B0604020202020204" pitchFamily="34" charset="0"/>
                          </a:rPr>
                        </m:ctrlPr>
                      </m:sSubPr>
                      <m:e>
                        <m:r>
                          <a:rPr lang="en-US" sz="2000" i="1" dirty="0">
                            <a:latin typeface="Cambria Math" panose="02040503050406030204" pitchFamily="18" charset="0"/>
                            <a:cs typeface="Arial" panose="020B0604020202020204" pitchFamily="34" charset="0"/>
                          </a:rPr>
                          <m:t>𝑡</m:t>
                        </m:r>
                      </m:e>
                      <m:sub>
                        <m:r>
                          <a:rPr lang="en-US" sz="2000" i="1" dirty="0">
                            <a:latin typeface="Cambria Math" panose="02040503050406030204" pitchFamily="18" charset="0"/>
                            <a:cs typeface="Arial" panose="020B0604020202020204" pitchFamily="34" charset="0"/>
                          </a:rPr>
                          <m:t>.005</m:t>
                        </m:r>
                      </m:sub>
                    </m:sSub>
                  </m:oMath>
                </a14:m>
                <a:r>
                  <a:rPr lang="en-US" sz="2000" dirty="0"/>
                  <a:t>, we also reject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t> and still conclude that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𝛽</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0</m:t>
                    </m:r>
                  </m:oMath>
                </a14:m>
                <a:r>
                  <a:rPr lang="en-US" sz="2000" dirty="0"/>
                  <a:t>.</a:t>
                </a: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3409219"/>
                <a:ext cx="10484504" cy="2255600"/>
              </a:xfrm>
              <a:blipFill>
                <a:blip r:embed="rId5"/>
                <a:stretch>
                  <a:fillRect l="-1513" t="-3243" b="-2703"/>
                </a:stretch>
              </a:blipFill>
            </p:spPr>
            <p:txBody>
              <a:bodyPr/>
              <a:lstStyle/>
              <a:p>
                <a:r>
                  <a:rPr lang="en-US">
                    <a:noFill/>
                  </a:rPr>
                  <a:t> </a:t>
                </a:r>
              </a:p>
            </p:txBody>
          </p:sp>
        </mc:Fallback>
      </mc:AlternateContent>
    </p:spTree>
    <p:extLst>
      <p:ext uri="{BB962C8B-B14F-4D97-AF65-F5344CB8AC3E}">
        <p14:creationId xmlns:p14="http://schemas.microsoft.com/office/powerpoint/2010/main" val="11564678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739471" y="365125"/>
                <a:ext cx="10717696" cy="672105"/>
              </a:xfrm>
            </p:spPr>
            <p:txBody>
              <a:bodyPr/>
              <a:lstStyle/>
              <a:p>
                <a:r>
                  <a:rPr lang="en-US" sz="3200" dirty="0"/>
                  <a:t>14.5 Interval Estimate of </a:t>
                </a:r>
                <a14:m>
                  <m:oMath xmlns:m="http://schemas.openxmlformats.org/officeDocument/2006/math">
                    <m:sSub>
                      <m:sSubPr>
                        <m:ctrlPr>
                          <a:rPr lang="en-US" sz="3200" b="1" i="1" smtClean="0">
                            <a:latin typeface="Cambria Math" panose="02040503050406030204" pitchFamily="18" charset="0"/>
                            <a:cs typeface="Arial" panose="020B0604020202020204" pitchFamily="34" charset="0"/>
                          </a:rPr>
                        </m:ctrlPr>
                      </m:sSubPr>
                      <m:e>
                        <m:r>
                          <a:rPr lang="en-US" sz="3200" b="1" i="1">
                            <a:latin typeface="Cambria Math" panose="02040503050406030204" pitchFamily="18" charset="0"/>
                            <a:ea typeface="Cambria Math" panose="02040503050406030204" pitchFamily="18" charset="0"/>
                            <a:cs typeface="Arial" panose="020B0604020202020204" pitchFamily="34" charset="0"/>
                          </a:rPr>
                          <m:t>𝜷</m:t>
                        </m:r>
                      </m:e>
                      <m:sub>
                        <m:r>
                          <a:rPr lang="en-US" sz="3200" b="1" i="1" smtClean="0">
                            <a:latin typeface="Cambria Math" panose="02040503050406030204" pitchFamily="18" charset="0"/>
                            <a:cs typeface="Arial" panose="020B0604020202020204" pitchFamily="34" charset="0"/>
                          </a:rPr>
                          <m:t>𝟏</m:t>
                        </m:r>
                      </m:sub>
                    </m:sSub>
                  </m:oMath>
                </a14:m>
                <a:endParaRPr lang="en-US" sz="3200" i="1" dirty="0"/>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xfrm>
                <a:off x="739471" y="365125"/>
                <a:ext cx="10717696" cy="672105"/>
              </a:xfrm>
              <a:blipFill>
                <a:blip r:embed="rId3"/>
                <a:stretch>
                  <a:fillRect t="-26364" b="-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675430" y="1351517"/>
                <a:ext cx="10781737" cy="4397071"/>
              </a:xfrm>
            </p:spPr>
            <p:txBody>
              <a:bodyPr/>
              <a:lstStyle/>
              <a:p>
                <a:pPr>
                  <a:spcBef>
                    <a:spcPts val="600"/>
                  </a:spcBef>
                  <a:spcAft>
                    <a:spcPts val="600"/>
                  </a:spcAft>
                </a:pPr>
                <a:r>
                  <a:rPr lang="en-US" sz="2000" dirty="0">
                    <a:latin typeface="Arial" panose="020B0604020202020204" pitchFamily="34" charset="0"/>
                    <a:cs typeface="Arial" panose="020B0604020202020204" pitchFamily="34" charset="0"/>
                  </a:rPr>
                  <a:t>The form of a confidence interval for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𝛽</m:t>
                        </m:r>
                      </m:e>
                      <m:sub>
                        <m:r>
                          <a:rPr lang="en-US" sz="2000" b="0" i="1" smtClean="0">
                            <a:latin typeface="Cambria Math" panose="02040503050406030204" pitchFamily="18" charset="0"/>
                            <a:ea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is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𝒃</m:t>
                          </m:r>
                        </m:e>
                        <m:sub>
                          <m:r>
                            <a:rPr lang="en-US" sz="2000" b="1" i="1" smtClean="0">
                              <a:latin typeface="Cambria Math" panose="02040503050406030204" pitchFamily="18" charset="0"/>
                            </a:rPr>
                            <m:t>𝟏</m:t>
                          </m:r>
                        </m:sub>
                      </m:sSub>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𝒕</m:t>
                          </m:r>
                        </m:e>
                        <m:sub>
                          <m:f>
                            <m:fPr>
                              <m:type m:val="lin"/>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𝜶</m:t>
                              </m:r>
                            </m:num>
                            <m:den>
                              <m:r>
                                <a:rPr lang="en-US" sz="2000" b="1" i="1" smtClean="0">
                                  <a:latin typeface="Cambria Math" panose="02040503050406030204" pitchFamily="18" charset="0"/>
                                  <a:ea typeface="Cambria Math" panose="02040503050406030204" pitchFamily="18" charset="0"/>
                                </a:rPr>
                                <m:t>𝟐</m:t>
                              </m:r>
                            </m:den>
                          </m:f>
                        </m:sub>
                      </m:sSub>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𝒔</m:t>
                          </m:r>
                        </m:e>
                        <m:sub>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𝒃</m:t>
                              </m:r>
                            </m:e>
                            <m:sub>
                              <m:r>
                                <a:rPr lang="en-US" sz="2000" b="1" i="1" smtClean="0">
                                  <a:latin typeface="Cambria Math" panose="02040503050406030204" pitchFamily="18" charset="0"/>
                                  <a:ea typeface="Cambria Math" panose="02040503050406030204" pitchFamily="18" charset="0"/>
                                </a:rPr>
                                <m:t>𝟏</m:t>
                              </m:r>
                            </m:sub>
                          </m:sSub>
                        </m:sub>
                      </m:sSub>
                    </m:oMath>
                  </m:oMathPara>
                </a14:m>
                <a:endParaRPr lang="en-US" sz="2000" b="1" dirty="0">
                  <a:latin typeface="Arial" panose="020B0604020202020204" pitchFamily="34" charset="0"/>
                  <a:cs typeface="Arial" panose="020B0604020202020204" pitchFamily="34" charset="0"/>
                </a:endParaRPr>
              </a:p>
              <a:p>
                <a:pPr>
                  <a:spcBef>
                    <a:spcPts val="600"/>
                  </a:spcBef>
                  <a:spcAft>
                    <a:spcPts val="0"/>
                  </a:spcAft>
                </a:pPr>
                <a:r>
                  <a:rPr lang="en-US" sz="2000" dirty="0">
                    <a:latin typeface="Arial" panose="020B0604020202020204" pitchFamily="34" charset="0"/>
                    <a:cs typeface="Arial" panose="020B0604020202020204" pitchFamily="34" charset="0"/>
                  </a:rPr>
                  <a:t>Where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is the point estimator of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𝛽</m:t>
                        </m:r>
                      </m:e>
                      <m:sub>
                        <m:r>
                          <a:rPr lang="en-US" sz="2000" i="1">
                            <a:latin typeface="Cambria Math" panose="02040503050406030204" pitchFamily="18" charset="0"/>
                            <a:ea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𝑡</m:t>
                        </m:r>
                      </m:e>
                      <m:sub>
                        <m:f>
                          <m:fPr>
                            <m:type m:val="lin"/>
                            <m:ctrlPr>
                              <a:rPr lang="en-US" sz="200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𝛼</m:t>
                            </m:r>
                          </m:num>
                          <m:den>
                            <m:r>
                              <a:rPr lang="en-US" sz="2000" b="0" i="1" smtClean="0">
                                <a:latin typeface="Cambria Math" panose="02040503050406030204" pitchFamily="18" charset="0"/>
                                <a:ea typeface="Cambria Math" panose="02040503050406030204" pitchFamily="18" charset="0"/>
                              </a:rPr>
                              <m:t>2</m:t>
                            </m:r>
                          </m:den>
                        </m:f>
                      </m:sub>
                    </m:sSub>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𝑠</m:t>
                        </m:r>
                      </m:e>
                      <m:sub>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𝑏</m:t>
                            </m:r>
                          </m:e>
                          <m:sub>
                            <m:r>
                              <a:rPr lang="en-US" sz="2000" b="0" i="1" smtClean="0">
                                <a:latin typeface="Cambria Math" panose="02040503050406030204" pitchFamily="18" charset="0"/>
                                <a:ea typeface="Cambria Math" panose="02040503050406030204" pitchFamily="18" charset="0"/>
                              </a:rPr>
                              <m:t>1</m:t>
                            </m:r>
                          </m:sub>
                        </m:sSub>
                      </m:sub>
                    </m:sSub>
                  </m:oMath>
                </a14:m>
                <a:r>
                  <a:rPr lang="en-US" sz="2000" dirty="0">
                    <a:latin typeface="Arial" panose="020B0604020202020204" pitchFamily="34" charset="0"/>
                    <a:cs typeface="Arial" panose="020B0604020202020204" pitchFamily="34" charset="0"/>
                  </a:rPr>
                  <a:t> is the margin of error, </a:t>
                </a:r>
                <a14:m>
                  <m:oMath xmlns:m="http://schemas.openxmlformats.org/officeDocument/2006/math">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𝛼</m:t>
                    </m:r>
                  </m:oMath>
                </a14:m>
                <a:r>
                  <a:rPr lang="en-US" sz="2000" dirty="0"/>
                  <a:t> is the confidence coefficient, and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𝑡</m:t>
                        </m:r>
                      </m:e>
                      <m:sub>
                        <m:f>
                          <m:fPr>
                            <m:type m:val="lin"/>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ea typeface="Cambria Math" panose="02040503050406030204" pitchFamily="18" charset="0"/>
                              </a:rPr>
                              <m:t>2</m:t>
                            </m:r>
                          </m:den>
                        </m:f>
                      </m:sub>
                    </m:sSub>
                  </m:oMath>
                </a14:m>
                <a:r>
                  <a:rPr lang="en-US" sz="2000" dirty="0"/>
                  <a:t> is the </a:t>
                </a:r>
                <a:r>
                  <a:rPr lang="en-US" sz="2000" i="1" dirty="0"/>
                  <a:t>t</a:t>
                </a:r>
                <a:r>
                  <a:rPr lang="en-US" sz="2000" dirty="0"/>
                  <a:t> value providing an area of </a:t>
                </a:r>
                <a14:m>
                  <m:oMath xmlns:m="http://schemas.openxmlformats.org/officeDocument/2006/math">
                    <m:f>
                      <m:fPr>
                        <m:type m:val="lin"/>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ea typeface="Cambria Math" panose="02040503050406030204" pitchFamily="18" charset="0"/>
                          </a:rPr>
                          <m:t>2</m:t>
                        </m:r>
                      </m:den>
                    </m:f>
                  </m:oMath>
                </a14:m>
                <a:r>
                  <a:rPr lang="en-US" sz="2000" dirty="0"/>
                  <a:t> in the upper tail of a </a:t>
                </a:r>
                <a:r>
                  <a:rPr lang="en-US" sz="2000" i="1" dirty="0"/>
                  <a:t>t</a:t>
                </a:r>
                <a:r>
                  <a:rPr lang="en-US" sz="2000" dirty="0"/>
                  <a:t> distribution with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rPr>
                      <m:t>−2</m:t>
                    </m:r>
                  </m:oMath>
                </a14:m>
                <a:r>
                  <a:rPr lang="en-US" sz="2000" dirty="0"/>
                  <a:t> degrees of freedom.</a:t>
                </a:r>
              </a:p>
              <a:p>
                <a:pPr>
                  <a:spcBef>
                    <a:spcPts val="600"/>
                  </a:spcBef>
                  <a:spcAft>
                    <a:spcPts val="0"/>
                  </a:spcAft>
                </a:pPr>
                <a:r>
                  <a:rPr lang="en-US" sz="2000" dirty="0">
                    <a:latin typeface="Arial" panose="020B0604020202020204" pitchFamily="34" charset="0"/>
                    <a:cs typeface="Arial" panose="020B0604020202020204" pitchFamily="34" charset="0"/>
                  </a:rPr>
                  <a:t>For the Armand’s Pizza Parlor example, we found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=5</m:t>
                    </m:r>
                  </m:oMath>
                </a14:m>
                <a:r>
                  <a:rPr lang="en-US" sz="2000" dirty="0">
                    <a:latin typeface="Arial" panose="020B0604020202020204" pitchFamily="34" charset="0"/>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𝑠</m:t>
                        </m:r>
                      </m:e>
                      <m:sub>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ea typeface="Cambria Math" panose="02040503050406030204" pitchFamily="18" charset="0"/>
                              </a:rPr>
                              <m:t>1</m:t>
                            </m:r>
                          </m:sub>
                        </m:sSub>
                      </m:sub>
                    </m:sSub>
                    <m:r>
                      <a:rPr lang="en-US" sz="2000" b="0" i="1" smtClean="0">
                        <a:latin typeface="Cambria Math" panose="02040503050406030204" pitchFamily="18" charset="0"/>
                        <a:ea typeface="Cambria Math" panose="02040503050406030204" pitchFamily="18" charset="0"/>
                      </a:rPr>
                      <m:t>=0.5803</m:t>
                    </m:r>
                  </m:oMath>
                </a14:m>
                <a:r>
                  <a:rPr lang="en-US" sz="2000" dirty="0">
                    <a:latin typeface="Arial" panose="020B0604020202020204" pitchFamily="34" charset="0"/>
                    <a:cs typeface="Arial" panose="020B0604020202020204" pitchFamily="34" charset="0"/>
                  </a:rPr>
                  <a:t>.</a:t>
                </a:r>
              </a:p>
              <a:p>
                <a:pPr>
                  <a:spcBef>
                    <a:spcPts val="600"/>
                  </a:spcBef>
                  <a:spcAft>
                    <a:spcPts val="0"/>
                  </a:spcAft>
                </a:pPr>
                <a:r>
                  <a:rPr lang="en-US" sz="2000" dirty="0">
                    <a:latin typeface="Arial" panose="020B0604020202020204" pitchFamily="34" charset="0"/>
                    <a:cs typeface="Arial" panose="020B0604020202020204" pitchFamily="34" charset="0"/>
                  </a:rPr>
                  <a:t>If we want to develop a 99% confidence interval estimate of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𝛽</m:t>
                        </m:r>
                      </m:e>
                      <m:sub>
                        <m:r>
                          <a:rPr lang="en-US" sz="2000" b="0" i="1" smtClean="0">
                            <a:latin typeface="Cambria Math" panose="02040503050406030204" pitchFamily="18" charset="0"/>
                            <a:ea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then from the previous slide we have </a:t>
                </a:r>
                <a14:m>
                  <m:oMath xmlns:m="http://schemas.openxmlformats.org/officeDocument/2006/math">
                    <m:sSub>
                      <m:sSubPr>
                        <m:ctrlPr>
                          <a:rPr lang="en-US" sz="2000" i="1" dirty="0">
                            <a:latin typeface="Cambria Math" panose="02040503050406030204" pitchFamily="18" charset="0"/>
                            <a:cs typeface="Arial" panose="020B0604020202020204" pitchFamily="34" charset="0"/>
                          </a:rPr>
                        </m:ctrlPr>
                      </m:sSubPr>
                      <m:e>
                        <m:r>
                          <a:rPr lang="en-US" sz="2000" i="1" dirty="0">
                            <a:latin typeface="Cambria Math" panose="02040503050406030204" pitchFamily="18" charset="0"/>
                            <a:cs typeface="Arial" panose="020B0604020202020204" pitchFamily="34" charset="0"/>
                          </a:rPr>
                          <m:t>𝑡</m:t>
                        </m:r>
                      </m:e>
                      <m:sub>
                        <m:f>
                          <m:fPr>
                            <m:type m:val="lin"/>
                            <m:ctrlPr>
                              <a:rPr lang="en-US" sz="2000" i="1" dirty="0" smtClean="0">
                                <a:latin typeface="Cambria Math" panose="02040503050406030204" pitchFamily="18" charset="0"/>
                                <a:cs typeface="Arial" panose="020B0604020202020204" pitchFamily="34" charset="0"/>
                              </a:rPr>
                            </m:ctrlPr>
                          </m:fPr>
                          <m:num>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dirty="0" smtClean="0">
                                <a:latin typeface="Cambria Math" panose="02040503050406030204" pitchFamily="18" charset="0"/>
                                <a:cs typeface="Arial" panose="020B0604020202020204" pitchFamily="34" charset="0"/>
                              </a:rPr>
                              <m:t>2</m:t>
                            </m:r>
                          </m:den>
                        </m:f>
                      </m:sub>
                    </m:sSub>
                    <m:r>
                      <a:rPr lang="en-US" sz="2000" b="0" i="1" dirty="0" smtClean="0">
                        <a:latin typeface="Cambria Math" panose="02040503050406030204" pitchFamily="18" charset="0"/>
                        <a:cs typeface="Arial" panose="020B0604020202020204" pitchFamily="34" charset="0"/>
                      </a:rPr>
                      <m:t>=</m:t>
                    </m:r>
                    <m:sSub>
                      <m:sSubPr>
                        <m:ctrlPr>
                          <a:rPr lang="en-US" sz="2000" i="1" dirty="0">
                            <a:latin typeface="Cambria Math" panose="02040503050406030204" pitchFamily="18" charset="0"/>
                            <a:cs typeface="Arial" panose="020B0604020202020204" pitchFamily="34" charset="0"/>
                          </a:rPr>
                        </m:ctrlPr>
                      </m:sSubPr>
                      <m:e>
                        <m:r>
                          <a:rPr lang="en-US" sz="2000" i="1" dirty="0">
                            <a:latin typeface="Cambria Math" panose="02040503050406030204" pitchFamily="18" charset="0"/>
                            <a:cs typeface="Arial" panose="020B0604020202020204" pitchFamily="34" charset="0"/>
                          </a:rPr>
                          <m:t>𝑡</m:t>
                        </m:r>
                      </m:e>
                      <m:sub>
                        <m:r>
                          <a:rPr lang="en-US" sz="2000" i="1" dirty="0">
                            <a:latin typeface="Cambria Math" panose="02040503050406030204" pitchFamily="18" charset="0"/>
                            <a:cs typeface="Arial" panose="020B0604020202020204" pitchFamily="34" charset="0"/>
                          </a:rPr>
                          <m:t>.005</m:t>
                        </m:r>
                      </m:sub>
                    </m:sSub>
                    <m:r>
                      <a:rPr lang="en-US" sz="2000" i="1" dirty="0">
                        <a:latin typeface="Cambria Math" panose="02040503050406030204" pitchFamily="18" charset="0"/>
                        <a:cs typeface="Arial" panose="020B0604020202020204" pitchFamily="34" charset="0"/>
                      </a:rPr>
                      <m:t>=3.355</m:t>
                    </m:r>
                  </m:oMath>
                </a14:m>
                <a:r>
                  <a:rPr lang="en-US" sz="2000" dirty="0">
                    <a:latin typeface="Arial" panose="020B0604020202020204" pitchFamily="34" charset="0"/>
                    <a:cs typeface="Arial" panose="020B0604020202020204" pitchFamily="34" charset="0"/>
                  </a:rPr>
                  <a:t>.</a:t>
                </a:r>
              </a:p>
              <a:p>
                <a:pPr>
                  <a:spcBef>
                    <a:spcPts val="600"/>
                  </a:spcBef>
                  <a:spcAft>
                    <a:spcPts val="600"/>
                  </a:spcAft>
                </a:pPr>
                <a:r>
                  <a:rPr lang="en-US" sz="2000" dirty="0">
                    <a:latin typeface="Arial" panose="020B0604020202020204" pitchFamily="34" charset="0"/>
                    <a:cs typeface="Arial" panose="020B0604020202020204" pitchFamily="34" charset="0"/>
                  </a:rPr>
                  <a:t>Thus, the confidence interval is</a:t>
                </a:r>
              </a:p>
              <a:p>
                <a:pPr marL="914400">
                  <a:spcBef>
                    <a:spcPts val="600"/>
                  </a:spcBef>
                  <a:spcAft>
                    <a:spcPts val="600"/>
                  </a:spcAft>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𝑡</m:t>
                        </m:r>
                      </m:e>
                      <m:sub>
                        <m:r>
                          <a:rPr lang="en-US" sz="2000" b="0" i="1" smtClean="0">
                            <a:latin typeface="Cambria Math" panose="02040503050406030204" pitchFamily="18" charset="0"/>
                            <a:ea typeface="Cambria Math" panose="02040503050406030204" pitchFamily="18" charset="0"/>
                          </a:rPr>
                          <m:t>.005</m:t>
                        </m:r>
                      </m:sub>
                    </m:sSub>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𝑠</m:t>
                        </m:r>
                      </m:e>
                      <m:sub>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𝑏</m:t>
                            </m:r>
                          </m:e>
                          <m:sub>
                            <m:r>
                              <a:rPr lang="en-US" sz="2000" b="0" i="1" smtClean="0">
                                <a:latin typeface="Cambria Math" panose="02040503050406030204" pitchFamily="18" charset="0"/>
                                <a:ea typeface="Cambria Math" panose="02040503050406030204" pitchFamily="18" charset="0"/>
                              </a:rPr>
                              <m:t>1</m:t>
                            </m:r>
                          </m:sub>
                        </m:sSub>
                      </m:sub>
                    </m:sSub>
                    <m:r>
                      <a:rPr lang="en-US" sz="2000" b="0" i="1" smtClean="0">
                        <a:latin typeface="Cambria Math" panose="02040503050406030204" pitchFamily="18" charset="0"/>
                        <a:ea typeface="Cambria Math" panose="02040503050406030204" pitchFamily="18" charset="0"/>
                      </a:rPr>
                      <m:t>=5</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3.355</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0.5803</m:t>
                        </m:r>
                      </m:e>
                    </m:d>
                    <m:r>
                      <a:rPr lang="en-US" sz="2000" i="1">
                        <a:latin typeface="Cambria Math" panose="02040503050406030204" pitchFamily="18" charset="0"/>
                        <a:ea typeface="Cambria Math" panose="02040503050406030204" pitchFamily="18" charset="0"/>
                      </a:rPr>
                      <m:t>=5±</m:t>
                    </m:r>
                    <m:r>
                      <a:rPr lang="en-US" sz="2000" b="0" i="1" smtClean="0">
                        <a:latin typeface="Cambria Math" panose="02040503050406030204" pitchFamily="18" charset="0"/>
                        <a:ea typeface="Cambria Math" panose="02040503050406030204" pitchFamily="18" charset="0"/>
                      </a:rPr>
                      <m:t>1.95</m:t>
                    </m:r>
                  </m:oMath>
                </a14:m>
                <a:r>
                  <a:rPr lang="en-US" sz="2000" dirty="0">
                    <a:latin typeface="Arial" panose="020B0604020202020204" pitchFamily="34" charset="0"/>
                    <a:cs typeface="Arial" panose="020B0604020202020204" pitchFamily="34" charset="0"/>
                  </a:rPr>
                  <a:t> </a:t>
                </a:r>
              </a:p>
              <a:p>
                <a:pPr>
                  <a:spcBef>
                    <a:spcPts val="600"/>
                  </a:spcBef>
                  <a:spcAft>
                    <a:spcPts val="600"/>
                  </a:spcAft>
                </a:pPr>
                <a:r>
                  <a:rPr lang="en-US" sz="2000" dirty="0">
                    <a:latin typeface="Arial" panose="020B0604020202020204" pitchFamily="34" charset="0"/>
                    <a:cs typeface="Arial" panose="020B0604020202020204" pitchFamily="34" charset="0"/>
                  </a:rPr>
                  <a:t>We are 99% confident that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𝛽</m:t>
                        </m:r>
                      </m:e>
                      <m:sub>
                        <m:r>
                          <a:rPr lang="en-US" sz="2000" b="0" i="1" smtClean="0">
                            <a:latin typeface="Cambria Math" panose="02040503050406030204" pitchFamily="18" charset="0"/>
                            <a:ea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is between </a:t>
                </a:r>
                <a14:m>
                  <m:oMath xmlns:m="http://schemas.openxmlformats.org/officeDocument/2006/math">
                    <m:r>
                      <a:rPr lang="en-US" sz="2000" i="1">
                        <a:latin typeface="Cambria Math" panose="02040503050406030204" pitchFamily="18" charset="0"/>
                        <a:ea typeface="Cambria Math" panose="02040503050406030204" pitchFamily="18" charset="0"/>
                      </a:rPr>
                      <m:t>5</m:t>
                    </m:r>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1.95</m:t>
                    </m:r>
                    <m:r>
                      <a:rPr lang="en-US" sz="2000" b="0" i="1" smtClean="0">
                        <a:latin typeface="Cambria Math" panose="02040503050406030204" pitchFamily="18" charset="0"/>
                        <a:ea typeface="Cambria Math" panose="02040503050406030204" pitchFamily="18" charset="0"/>
                      </a:rPr>
                      <m:t>=3.05</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5</m:t>
                    </m:r>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1.95</m:t>
                    </m:r>
                    <m:r>
                      <a:rPr lang="en-US" sz="2000" b="0" i="1" smtClean="0">
                        <a:latin typeface="Cambria Math" panose="02040503050406030204" pitchFamily="18" charset="0"/>
                        <a:ea typeface="Cambria Math" panose="02040503050406030204" pitchFamily="18" charset="0"/>
                      </a:rPr>
                      <m:t>=6.95</m:t>
                    </m:r>
                  </m:oMath>
                </a14:m>
                <a:r>
                  <a:rPr lang="en-US" sz="2000" dirty="0">
                    <a:latin typeface="Arial" panose="020B0604020202020204" pitchFamily="34" charset="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675430" y="1351517"/>
                <a:ext cx="10781737" cy="4397071"/>
              </a:xfrm>
              <a:blipFill>
                <a:blip r:embed="rId4"/>
                <a:stretch>
                  <a:fillRect l="-1471" t="-1664" r="-792" b="-416"/>
                </a:stretch>
              </a:blipFill>
            </p:spPr>
            <p:txBody>
              <a:bodyPr/>
              <a:lstStyle/>
              <a:p>
                <a:r>
                  <a:rPr lang="en-US">
                    <a:noFill/>
                  </a:rPr>
                  <a:t> </a:t>
                </a:r>
              </a:p>
            </p:txBody>
          </p:sp>
        </mc:Fallback>
      </mc:AlternateContent>
    </p:spTree>
    <p:extLst>
      <p:ext uri="{BB962C8B-B14F-4D97-AF65-F5344CB8AC3E}">
        <p14:creationId xmlns:p14="http://schemas.microsoft.com/office/powerpoint/2010/main" val="1743214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59956" y="365125"/>
            <a:ext cx="10860819" cy="672105"/>
          </a:xfrm>
        </p:spPr>
        <p:txBody>
          <a:bodyPr/>
          <a:lstStyle/>
          <a:p>
            <a:r>
              <a:rPr lang="en-US" sz="3200" dirty="0"/>
              <a:t>14.5 </a:t>
            </a:r>
            <a:r>
              <a:rPr lang="en-US" sz="3200" i="1" dirty="0"/>
              <a:t>F</a:t>
            </a:r>
            <a:r>
              <a:rPr lang="en-US" sz="3200" dirty="0"/>
              <a:t> Test for Significance in Simple Linear Regression</a:t>
            </a:r>
            <a:endParaRPr lang="en-US" sz="3200"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331550"/>
                <a:ext cx="10781737" cy="4397071"/>
              </a:xfrm>
            </p:spPr>
            <p:txBody>
              <a:bodyPr/>
              <a:lstStyle/>
              <a:p>
                <a:pPr>
                  <a:spcBef>
                    <a:spcPts val="600"/>
                  </a:spcBef>
                  <a:spcAft>
                    <a:spcPts val="600"/>
                  </a:spcAft>
                </a:pPr>
                <a:r>
                  <a:rPr lang="en-US" sz="2000" dirty="0">
                    <a:latin typeface="Arial" panose="020B0604020202020204" pitchFamily="34" charset="0"/>
                    <a:cs typeface="Arial" panose="020B0604020202020204" pitchFamily="34" charset="0"/>
                  </a:rPr>
                  <a:t>With only one independent variable, the </a:t>
                </a:r>
                <a:r>
                  <a:rPr lang="en-US" sz="2000" i="1" dirty="0">
                    <a:latin typeface="Arial" panose="020B0604020202020204" pitchFamily="34" charset="0"/>
                    <a:cs typeface="Arial" panose="020B0604020202020204" pitchFamily="34" charset="0"/>
                  </a:rPr>
                  <a:t>F</a:t>
                </a:r>
                <a:r>
                  <a:rPr lang="en-US" sz="2000" dirty="0">
                    <a:latin typeface="Arial" panose="020B0604020202020204" pitchFamily="34" charset="0"/>
                    <a:cs typeface="Arial" panose="020B0604020202020204" pitchFamily="34" charset="0"/>
                  </a:rPr>
                  <a:t> test is set up just like the </a:t>
                </a:r>
                <a:r>
                  <a:rPr lang="en-US" sz="2000" i="1" dirty="0">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 test and it will provide the same conclusion.</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𝑯</m:t>
                          </m:r>
                        </m:e>
                        <m:sub>
                          <m:r>
                            <a:rPr lang="en-US" sz="2000" b="1" i="1" smtClean="0">
                              <a:latin typeface="Cambria Math" panose="02040503050406030204" pitchFamily="18" charset="0"/>
                              <a:cs typeface="Arial" panose="020B0604020202020204" pitchFamily="34" charset="0"/>
                            </a:rPr>
                            <m:t>𝟎</m:t>
                          </m:r>
                        </m:sub>
                      </m:sSub>
                      <m:r>
                        <a:rPr lang="en-US" sz="2000" b="1" i="1" smtClean="0">
                          <a:latin typeface="Cambria Math" panose="02040503050406030204" pitchFamily="18" charset="0"/>
                          <a:cs typeface="Arial" panose="020B0604020202020204" pitchFamily="34" charset="0"/>
                        </a:rPr>
                        <m:t>: </m:t>
                      </m:r>
                      <m:sSub>
                        <m:sSubPr>
                          <m:ctrlPr>
                            <a:rPr lang="en-US" sz="2000" b="1" i="1" smtClean="0">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𝜷</m:t>
                          </m:r>
                        </m:e>
                        <m:sub>
                          <m:r>
                            <a:rPr lang="en-US" sz="2000" b="1" i="1" smtClean="0">
                              <a:latin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𝟎</m:t>
                      </m:r>
                    </m:oMath>
                  </m:oMathPara>
                </a14:m>
                <a:endParaRPr lang="en-US" sz="2000" b="1" dirty="0">
                  <a:latin typeface="Arial" panose="020B0604020202020204" pitchFamily="34" charset="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𝑯</m:t>
                          </m:r>
                        </m:e>
                        <m:sub>
                          <m:r>
                            <a:rPr lang="en-US" sz="2000" b="1" i="1" smtClean="0">
                              <a:latin typeface="Cambria Math" panose="02040503050406030204" pitchFamily="18" charset="0"/>
                              <a:cs typeface="Arial" panose="020B0604020202020204" pitchFamily="34" charset="0"/>
                            </a:rPr>
                            <m:t>𝒂</m:t>
                          </m:r>
                        </m:sub>
                      </m:sSub>
                      <m:r>
                        <a:rPr lang="en-US" sz="2000" b="1" i="1" smtClean="0">
                          <a:latin typeface="Cambria Math" panose="02040503050406030204" pitchFamily="18" charset="0"/>
                          <a:cs typeface="Arial" panose="020B0604020202020204" pitchFamily="34" charset="0"/>
                        </a:rPr>
                        <m:t>: </m:t>
                      </m:r>
                      <m:sSub>
                        <m:sSubPr>
                          <m:ctrlPr>
                            <a:rPr lang="en-US" sz="2000" b="1" i="1" smtClean="0">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𝜷</m:t>
                          </m:r>
                        </m:e>
                        <m:sub>
                          <m:r>
                            <a:rPr lang="en-US" sz="2000" b="1" i="1" smtClean="0">
                              <a:latin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ea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𝟎</m:t>
                      </m:r>
                    </m:oMath>
                  </m:oMathPara>
                </a14:m>
                <a:endParaRPr lang="en-US" sz="2000" dirty="0">
                  <a:latin typeface="Arial" panose="020B0604020202020204" pitchFamily="34" charset="0"/>
                  <a:cs typeface="Arial" panose="020B0604020202020204" pitchFamily="34" charset="0"/>
                </a:endParaRPr>
              </a:p>
              <a:p>
                <a:pPr>
                  <a:spcBef>
                    <a:spcPts val="600"/>
                  </a:spcBef>
                  <a:spcAft>
                    <a:spcPts val="0"/>
                  </a:spcAft>
                </a:pPr>
                <a:r>
                  <a:rPr lang="en-US" sz="2000" dirty="0">
                    <a:latin typeface="Arial" panose="020B0604020202020204" pitchFamily="34" charset="0"/>
                    <a:cs typeface="Arial" panose="020B0604020202020204" pitchFamily="34" charset="0"/>
                  </a:rPr>
                  <a:t>However, with more than one independent variable, only the </a:t>
                </a:r>
                <a:r>
                  <a:rPr lang="en-US" sz="2000" i="1" dirty="0">
                    <a:latin typeface="Arial" panose="020B0604020202020204" pitchFamily="34" charset="0"/>
                    <a:cs typeface="Arial" panose="020B0604020202020204" pitchFamily="34" charset="0"/>
                  </a:rPr>
                  <a:t>F</a:t>
                </a:r>
                <a:r>
                  <a:rPr lang="en-US" sz="2000" dirty="0">
                    <a:latin typeface="Arial" panose="020B0604020202020204" pitchFamily="34" charset="0"/>
                    <a:cs typeface="Arial" panose="020B0604020202020204" pitchFamily="34" charset="0"/>
                  </a:rPr>
                  <a:t> test can be used to test for an overall significant relationship of the regression.</a:t>
                </a:r>
              </a:p>
              <a:p>
                <a:pPr>
                  <a:spcBef>
                    <a:spcPts val="600"/>
                  </a:spcBef>
                  <a:spcAft>
                    <a:spcPts val="600"/>
                  </a:spcAft>
                </a:pPr>
                <a:r>
                  <a:rPr lang="en-US" sz="2000" dirty="0">
                    <a:latin typeface="Arial" panose="020B0604020202020204" pitchFamily="34" charset="0"/>
                    <a:cs typeface="Arial" panose="020B0604020202020204" pitchFamily="34" charset="0"/>
                  </a:rPr>
                  <a:t>The test statistic follows an </a:t>
                </a:r>
                <a:r>
                  <a:rPr lang="en-US" sz="2000" i="1" dirty="0">
                    <a:latin typeface="Arial" panose="020B0604020202020204" pitchFamily="34" charset="0"/>
                    <a:cs typeface="Arial" panose="020B0604020202020204" pitchFamily="34" charset="0"/>
                  </a:rPr>
                  <a:t>F</a:t>
                </a:r>
                <a:r>
                  <a:rPr lang="en-US" sz="2000" dirty="0">
                    <a:latin typeface="Arial" panose="020B0604020202020204" pitchFamily="34" charset="0"/>
                    <a:cs typeface="Arial" panose="020B0604020202020204" pitchFamily="34" charset="0"/>
                  </a:rPr>
                  <a:t> distribution with one degree of freedom at the numerator, and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r>
                      <a:rPr lang="en-US" sz="2000" i="1" dirty="0" smtClean="0">
                        <a:latin typeface="Cambria Math" panose="02040503050406030204" pitchFamily="18" charset="0"/>
                        <a:cs typeface="Arial" panose="020B0604020202020204" pitchFamily="34" charset="0"/>
                      </a:rPr>
                      <m:t>−2</m:t>
                    </m:r>
                  </m:oMath>
                </a14:m>
                <a:r>
                  <a:rPr lang="en-US" sz="2000" dirty="0">
                    <a:latin typeface="Arial" panose="020B0604020202020204" pitchFamily="34" charset="0"/>
                    <a:cs typeface="Arial" panose="020B0604020202020204" pitchFamily="34" charset="0"/>
                  </a:rPr>
                  <a:t> degrees of freedom at the denominator.</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𝑭</m:t>
                      </m:r>
                      <m:r>
                        <a:rPr lang="en-US" sz="2000" b="1" i="1" smtClean="0">
                          <a:latin typeface="Cambria Math" panose="02040503050406030204" pitchFamily="18" charset="0"/>
                          <a:cs typeface="Arial" panose="020B0604020202020204" pitchFamily="34" charset="0"/>
                        </a:rPr>
                        <m:t>=</m:t>
                      </m:r>
                      <m:f>
                        <m:fPr>
                          <m:ctrlPr>
                            <a:rPr lang="en-US" sz="2000" b="1" i="1" smtClean="0">
                              <a:latin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cs typeface="Arial" panose="020B0604020202020204" pitchFamily="34" charset="0"/>
                            </a:rPr>
                            <m:t>𝑴𝑺𝑹</m:t>
                          </m:r>
                        </m:num>
                        <m:den>
                          <m:r>
                            <a:rPr lang="en-US" sz="2000" b="1" i="1" smtClean="0">
                              <a:latin typeface="Cambria Math" panose="02040503050406030204" pitchFamily="18" charset="0"/>
                              <a:cs typeface="Arial" panose="020B0604020202020204" pitchFamily="34" charset="0"/>
                            </a:rPr>
                            <m:t>𝑴𝑺𝑬</m:t>
                          </m:r>
                        </m:den>
                      </m:f>
                    </m:oMath>
                  </m:oMathPara>
                </a14:m>
                <a:endParaRPr lang="en-US" sz="2000" dirty="0">
                  <a:latin typeface="Arial" panose="020B0604020202020204" pitchFamily="34" charset="0"/>
                  <a:cs typeface="Arial" panose="020B0604020202020204" pitchFamily="34" charset="0"/>
                </a:endParaRPr>
              </a:p>
              <a:p>
                <a:pPr>
                  <a:spcBef>
                    <a:spcPts val="600"/>
                  </a:spcBef>
                  <a:spcAft>
                    <a:spcPts val="0"/>
                  </a:spcAft>
                </a:pPr>
                <a:r>
                  <a:rPr lang="en-US" sz="2000" dirty="0">
                    <a:latin typeface="Arial" panose="020B0604020202020204" pitchFamily="34" charset="0"/>
                    <a:cs typeface="Arial" panose="020B0604020202020204" pitchFamily="34" charset="0"/>
                  </a:rPr>
                  <a:t>Where, </a:t>
                </a:r>
                <a14:m>
                  <m:oMath xmlns:m="http://schemas.openxmlformats.org/officeDocument/2006/math">
                    <m:r>
                      <a:rPr lang="en-US" sz="2000" i="1" dirty="0" smtClean="0">
                        <a:latin typeface="Cambria Math" panose="02040503050406030204" pitchFamily="18" charset="0"/>
                        <a:cs typeface="Arial" panose="020B0604020202020204" pitchFamily="34" charset="0"/>
                      </a:rPr>
                      <m:t>𝑀𝑆𝑅</m:t>
                    </m:r>
                    <m:r>
                      <a:rPr lang="en-US" sz="2000" i="1"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𝑆𝑆𝑅</m:t>
                    </m:r>
                    <m:r>
                      <a:rPr lang="en-US" sz="2000" i="1"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𝑛𝑢𝑚𝑏𝑒𝑟</m:t>
                    </m:r>
                    <m:r>
                      <a:rPr lang="en-US" sz="2000" i="1" dirty="0" smtClean="0">
                        <a:latin typeface="Cambria Math" panose="02040503050406030204" pitchFamily="18" charset="0"/>
                        <a:cs typeface="Arial" panose="020B0604020202020204" pitchFamily="34" charset="0"/>
                      </a:rPr>
                      <m:t> </m:t>
                    </m:r>
                    <m:r>
                      <a:rPr lang="en-US" sz="2000" i="1" dirty="0" smtClean="0">
                        <a:latin typeface="Cambria Math" panose="02040503050406030204" pitchFamily="18" charset="0"/>
                        <a:cs typeface="Arial" panose="020B0604020202020204" pitchFamily="34" charset="0"/>
                      </a:rPr>
                      <m:t>𝑜𝑓</m:t>
                    </m:r>
                    <m:r>
                      <a:rPr lang="en-US" sz="2000" i="1" dirty="0" smtClean="0">
                        <a:latin typeface="Cambria Math" panose="02040503050406030204" pitchFamily="18" charset="0"/>
                        <a:cs typeface="Arial" panose="020B0604020202020204" pitchFamily="34" charset="0"/>
                      </a:rPr>
                      <m:t> </m:t>
                    </m:r>
                    <m:r>
                      <a:rPr lang="en-US" sz="2000" i="1" dirty="0" smtClean="0">
                        <a:latin typeface="Cambria Math" panose="02040503050406030204" pitchFamily="18" charset="0"/>
                        <a:cs typeface="Arial" panose="020B0604020202020204" pitchFamily="34" charset="0"/>
                      </a:rPr>
                      <m:t>𝑖𝑛𝑑𝑒𝑝𝑒𝑛𝑑𝑒𝑛𝑡</m:t>
                    </m:r>
                    <m:r>
                      <a:rPr lang="en-US" sz="2000" i="1" dirty="0" smtClean="0">
                        <a:latin typeface="Cambria Math" panose="02040503050406030204" pitchFamily="18" charset="0"/>
                        <a:cs typeface="Arial" panose="020B0604020202020204" pitchFamily="34" charset="0"/>
                      </a:rPr>
                      <m:t> </m:t>
                    </m:r>
                    <m:r>
                      <a:rPr lang="en-US" sz="2000" i="1" dirty="0" smtClean="0">
                        <a:latin typeface="Cambria Math" panose="02040503050406030204" pitchFamily="18" charset="0"/>
                        <a:cs typeface="Arial" panose="020B0604020202020204" pitchFamily="34" charset="0"/>
                      </a:rPr>
                      <m:t>𝑣𝑎𝑟𝑖𝑎𝑏𝑙𝑒𝑠</m:t>
                    </m:r>
                    <m:r>
                      <a:rPr lang="en-US" sz="2000" i="1" dirty="0" smtClean="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Because in simple linear regression we have only one independent variable, it follows that, in this case, </a:t>
                </a:r>
                <a14:m>
                  <m:oMath xmlns:m="http://schemas.openxmlformats.org/officeDocument/2006/math">
                    <m:r>
                      <a:rPr lang="en-US" sz="2000" i="1" dirty="0" smtClean="0">
                        <a:latin typeface="Cambria Math" panose="02040503050406030204" pitchFamily="18" charset="0"/>
                        <a:cs typeface="Arial" panose="020B0604020202020204" pitchFamily="34" charset="0"/>
                      </a:rPr>
                      <m:t>𝑀𝑆𝑅</m:t>
                    </m:r>
                    <m:r>
                      <a:rPr lang="en-US" sz="2000" i="1"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𝑆𝑆𝑅</m:t>
                    </m:r>
                  </m:oMath>
                </a14:m>
                <a:r>
                  <a:rPr lang="en-US" sz="2000" dirty="0">
                    <a:latin typeface="Arial" panose="020B0604020202020204" pitchFamily="34" charset="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331550"/>
                <a:ext cx="10781737" cy="4397071"/>
              </a:xfrm>
              <a:blipFill>
                <a:blip r:embed="rId3"/>
                <a:stretch>
                  <a:fillRect l="-1471" t="-1662" r="-170"/>
                </a:stretch>
              </a:blipFill>
            </p:spPr>
            <p:txBody>
              <a:bodyPr/>
              <a:lstStyle/>
              <a:p>
                <a:r>
                  <a:rPr lang="en-US">
                    <a:noFill/>
                  </a:rPr>
                  <a:t> </a:t>
                </a:r>
              </a:p>
            </p:txBody>
          </p:sp>
        </mc:Fallback>
      </mc:AlternateContent>
    </p:spTree>
    <p:extLst>
      <p:ext uri="{BB962C8B-B14F-4D97-AF65-F5344CB8AC3E}">
        <p14:creationId xmlns:p14="http://schemas.microsoft.com/office/powerpoint/2010/main" val="28507835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sz="3200" dirty="0"/>
              <a:t>14.5 </a:t>
            </a:r>
            <a:r>
              <a:rPr lang="en-US" sz="3200" i="1" dirty="0"/>
              <a:t>F</a:t>
            </a:r>
            <a:r>
              <a:rPr lang="en-US" sz="3200" dirty="0"/>
              <a:t> Test for the Armand’s Pizza Parlor Example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1" y="1362793"/>
                <a:ext cx="10515599" cy="2402396"/>
              </a:xfrm>
            </p:spPr>
            <p:txBody>
              <a:bodyPr>
                <a:normAutofit fontScale="92500"/>
              </a:bodyPr>
              <a:lstStyle/>
              <a:p>
                <a:pPr>
                  <a:lnSpc>
                    <a:spcPct val="100000"/>
                  </a:lnSpc>
                  <a:spcBef>
                    <a:spcPts val="600"/>
                  </a:spcBef>
                  <a:spcAft>
                    <a:spcPts val="0"/>
                  </a:spcAft>
                </a:pPr>
                <a:r>
                  <a:rPr lang="en-US" sz="2000" dirty="0">
                    <a:latin typeface="Arial" panose="020B0604020202020204" pitchFamily="34" charset="0"/>
                    <a:cs typeface="Arial" panose="020B0604020202020204" pitchFamily="34" charset="0"/>
                  </a:rPr>
                  <a:t>Recollect that, for the Armand’s Pizza Parlor case, we found </a:t>
                </a:r>
                <a14:m>
                  <m:oMath xmlns:m="http://schemas.openxmlformats.org/officeDocument/2006/math">
                    <m:r>
                      <a:rPr lang="en-US" sz="2000" i="1" dirty="0" smtClean="0">
                        <a:latin typeface="Cambria Math" panose="02040503050406030204" pitchFamily="18" charset="0"/>
                        <a:cs typeface="Arial" panose="020B0604020202020204" pitchFamily="34" charset="0"/>
                      </a:rPr>
                      <m:t>𝑆𝑆𝑅</m:t>
                    </m:r>
                    <m:r>
                      <a:rPr lang="en-US" sz="2000" i="1" dirty="0" smtClean="0">
                        <a:latin typeface="Cambria Math" panose="02040503050406030204" pitchFamily="18" charset="0"/>
                        <a:cs typeface="Arial" panose="020B0604020202020204" pitchFamily="34" charset="0"/>
                      </a:rPr>
                      <m:t>=14,200</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dirty="0" smtClean="0">
                        <a:latin typeface="Cambria Math" panose="02040503050406030204" pitchFamily="18" charset="0"/>
                        <a:cs typeface="Arial" panose="020B0604020202020204" pitchFamily="34" charset="0"/>
                      </a:rPr>
                      <m:t>𝑀𝑆𝐸</m:t>
                    </m:r>
                    <m:r>
                      <a:rPr lang="en-US" sz="2000" i="1" dirty="0" smtClean="0">
                        <a:latin typeface="Cambria Math" panose="02040503050406030204" pitchFamily="18" charset="0"/>
                        <a:cs typeface="Arial" panose="020B0604020202020204" pitchFamily="34" charset="0"/>
                      </a:rPr>
                      <m:t>=191.25</m:t>
                    </m:r>
                  </m:oMath>
                </a14:m>
                <a:r>
                  <a:rPr lang="en-US" sz="2000" dirty="0">
                    <a:latin typeface="Arial" panose="020B0604020202020204" pitchFamily="34" charset="0"/>
                    <a:cs typeface="Arial" panose="020B0604020202020204" pitchFamily="34" charset="0"/>
                  </a:rPr>
                  <a:t>.</a:t>
                </a:r>
              </a:p>
              <a:p>
                <a:pPr>
                  <a:lnSpc>
                    <a:spcPct val="100000"/>
                  </a:lnSpc>
                  <a:spcBef>
                    <a:spcPts val="600"/>
                  </a:spcBef>
                  <a:spcAft>
                    <a:spcPts val="0"/>
                  </a:spcAft>
                </a:pPr>
                <a:r>
                  <a:rPr lang="en-US" sz="2000" dirty="0">
                    <a:latin typeface="Arial" panose="020B0604020202020204" pitchFamily="34" charset="0"/>
                    <a:cs typeface="Arial" panose="020B0604020202020204" pitchFamily="34" charset="0"/>
                  </a:rPr>
                  <a:t>To test for a significant relationship in the linear regression example, we use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𝛼</m:t>
                    </m:r>
                    <m:r>
                      <a:rPr lang="en-US" sz="2000" i="1">
                        <a:latin typeface="Cambria Math" panose="02040503050406030204" pitchFamily="18" charset="0"/>
                        <a:ea typeface="Cambria Math" panose="02040503050406030204" pitchFamily="18" charset="0"/>
                        <a:cs typeface="Arial" panose="020B0604020202020204" pitchFamily="34" charset="0"/>
                      </a:rPr>
                      <m:t>=0.01</m:t>
                    </m:r>
                  </m:oMath>
                </a14:m>
                <a:r>
                  <a:rPr lang="en-US" sz="2000" dirty="0">
                    <a:latin typeface="Arial" panose="020B0604020202020204" pitchFamily="34" charset="0"/>
                    <a:cs typeface="Arial" panose="020B0604020202020204" pitchFamily="34" charset="0"/>
                  </a:rPr>
                  <a:t>.</a:t>
                </a:r>
              </a:p>
              <a:p>
                <a:pPr>
                  <a:lnSpc>
                    <a:spcPct val="100000"/>
                  </a:lnSpc>
                  <a:spcBef>
                    <a:spcPts val="600"/>
                  </a:spcBef>
                  <a:spcAft>
                    <a:spcPts val="600"/>
                  </a:spcAft>
                </a:pPr>
                <a:r>
                  <a:rPr lang="en-US" sz="2000" dirty="0">
                    <a:latin typeface="Arial" panose="020B0604020202020204" pitchFamily="34" charset="0"/>
                    <a:cs typeface="Arial" panose="020B0604020202020204" pitchFamily="34" charset="0"/>
                  </a:rPr>
                  <a:t>Hence, </a:t>
                </a:r>
                <a14:m>
                  <m:oMath xmlns:m="http://schemas.openxmlformats.org/officeDocument/2006/math">
                    <m:r>
                      <a:rPr lang="en-US" sz="2000" i="1" dirty="0" smtClean="0">
                        <a:latin typeface="Cambria Math" panose="02040503050406030204" pitchFamily="18" charset="0"/>
                        <a:cs typeface="Arial" panose="020B0604020202020204" pitchFamily="34" charset="0"/>
                      </a:rPr>
                      <m:t>𝑀𝑆𝑅</m:t>
                    </m:r>
                    <m:r>
                      <a:rPr lang="en-US" sz="2000" i="1"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𝑆𝑆𝑅</m:t>
                    </m:r>
                    <m:r>
                      <a:rPr lang="en-US" sz="2000" i="1" dirty="0" smtClean="0">
                        <a:latin typeface="Cambria Math" panose="02040503050406030204" pitchFamily="18" charset="0"/>
                        <a:cs typeface="Arial" panose="020B0604020202020204" pitchFamily="34" charset="0"/>
                      </a:rPr>
                      <m:t>=14,200</m:t>
                    </m:r>
                  </m:oMath>
                </a14:m>
                <a:r>
                  <a:rPr lang="en-US" sz="2000" dirty="0">
                    <a:latin typeface="Arial" panose="020B0604020202020204" pitchFamily="34" charset="0"/>
                    <a:cs typeface="Arial" panose="020B0604020202020204" pitchFamily="34" charset="0"/>
                  </a:rPr>
                  <a:t>, and the test statistic is</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b="0" i="1">
                          <a:latin typeface="Cambria Math" panose="02040503050406030204" pitchFamily="18" charset="0"/>
                          <a:cs typeface="Arial" panose="020B0604020202020204" pitchFamily="34" charset="0"/>
                        </a:rPr>
                        <m:t>𝐹</m:t>
                      </m:r>
                      <m:r>
                        <a:rPr lang="en-US" sz="2000" b="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b="0" i="1">
                              <a:latin typeface="Cambria Math" panose="02040503050406030204" pitchFamily="18" charset="0"/>
                              <a:cs typeface="Arial" panose="020B0604020202020204" pitchFamily="34" charset="0"/>
                            </a:rPr>
                            <m:t>𝑀𝑆𝑅</m:t>
                          </m:r>
                        </m:num>
                        <m:den>
                          <m:r>
                            <a:rPr lang="en-US" sz="2000" b="0" i="1">
                              <a:latin typeface="Cambria Math" panose="02040503050406030204" pitchFamily="18" charset="0"/>
                              <a:cs typeface="Arial" panose="020B0604020202020204" pitchFamily="34" charset="0"/>
                            </a:rPr>
                            <m:t>𝑀𝑆𝐸</m:t>
                          </m:r>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14,200</m:t>
                          </m:r>
                        </m:num>
                        <m:den>
                          <m:r>
                            <a:rPr lang="en-US" sz="2000" b="0" i="1" smtClean="0">
                              <a:latin typeface="Cambria Math" panose="02040503050406030204" pitchFamily="18" charset="0"/>
                              <a:cs typeface="Arial" panose="020B0604020202020204" pitchFamily="34" charset="0"/>
                            </a:rPr>
                            <m:t>191.25</m:t>
                          </m:r>
                        </m:den>
                      </m:f>
                      <m:r>
                        <a:rPr lang="en-US" sz="2000" b="0" i="1" smtClean="0">
                          <a:latin typeface="Cambria Math" panose="02040503050406030204" pitchFamily="18" charset="0"/>
                          <a:cs typeface="Arial" panose="020B0604020202020204" pitchFamily="34" charset="0"/>
                        </a:rPr>
                        <m:t>=74.25</m:t>
                      </m:r>
                    </m:oMath>
                  </m:oMathPara>
                </a14:m>
                <a:endParaRPr lang="en-US" sz="2000" b="0" dirty="0">
                  <a:latin typeface="Arial" panose="020B0604020202020204" pitchFamily="34" charset="0"/>
                  <a:cs typeface="Arial" panose="020B0604020202020204" pitchFamily="34" charset="0"/>
                </a:endParaRPr>
              </a:p>
              <a:p>
                <a:pPr>
                  <a:lnSpc>
                    <a:spcPct val="100000"/>
                  </a:lnSpc>
                  <a:spcBef>
                    <a:spcPts val="600"/>
                  </a:spcBef>
                  <a:spcAft>
                    <a:spcPts val="600"/>
                  </a:spcAft>
                </a:pPr>
                <a:r>
                  <a:rPr lang="en-US" sz="2000" dirty="0">
                    <a:latin typeface="Arial" panose="020B0604020202020204" pitchFamily="34" charset="0"/>
                    <a:cs typeface="Arial" panose="020B0604020202020204" pitchFamily="34" charset="0"/>
                  </a:rPr>
                  <a:t>In simple linear regression, </a:t>
                </a:r>
                <a:r>
                  <a:rPr lang="en-US" sz="2000">
                    <a:latin typeface="Arial" panose="020B0604020202020204" pitchFamily="34" charset="0"/>
                    <a:cs typeface="Arial" panose="020B0604020202020204" pitchFamily="34" charset="0"/>
                  </a:rPr>
                  <a:t>the </a:t>
                </a:r>
                <a:r>
                  <a:rPr lang="en-US" sz="2000" i="1">
                    <a:latin typeface="Arial" panose="020B0604020202020204" pitchFamily="34" charset="0"/>
                    <a:cs typeface="Arial" panose="020B0604020202020204" pitchFamily="34" charset="0"/>
                  </a:rPr>
                  <a:t>p</a:t>
                </a:r>
                <a:r>
                  <a:rPr lang="en-US" sz="2000">
                    <a:latin typeface="Arial" panose="020B0604020202020204" pitchFamily="34" charset="0"/>
                    <a:cs typeface="Arial" panose="020B0604020202020204" pitchFamily="34" charset="0"/>
                  </a:rPr>
                  <a:t>-value </a:t>
                </a:r>
                <a:r>
                  <a:rPr lang="en-US" sz="2000" dirty="0">
                    <a:latin typeface="Arial" panose="020B0604020202020204" pitchFamily="34" charset="0"/>
                    <a:cs typeface="Arial" panose="020B0604020202020204" pitchFamily="34" charset="0"/>
                  </a:rPr>
                  <a:t>is the upper tail of an 𝐹 distribution with one degree of freedom at the numerator and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r>
                      <a:rPr lang="en-US" sz="2000" i="1" dirty="0" smtClean="0">
                        <a:latin typeface="Cambria Math" panose="02040503050406030204" pitchFamily="18" charset="0"/>
                        <a:cs typeface="Arial" panose="020B0604020202020204" pitchFamily="34" charset="0"/>
                      </a:rPr>
                      <m:t>−2=8</m:t>
                    </m:r>
                  </m:oMath>
                </a14:m>
                <a:r>
                  <a:rPr lang="en-US" sz="2000" dirty="0">
                    <a:latin typeface="Arial" panose="020B0604020202020204" pitchFamily="34" charset="0"/>
                    <a:cs typeface="Arial" panose="020B0604020202020204" pitchFamily="34" charset="0"/>
                  </a:rPr>
                  <a:t> degrees of freedom at the denominator.</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1" y="1362793"/>
                <a:ext cx="10515599" cy="2402396"/>
              </a:xfrm>
              <a:blipFill>
                <a:blip r:embed="rId3"/>
                <a:stretch>
                  <a:fillRect l="-1449" t="-3553" b="-48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Placeholder 8">
                <a:extLst>
                  <a:ext uri="{FF2B5EF4-FFF2-40B4-BE49-F238E27FC236}">
                    <a16:creationId xmlns:a16="http://schemas.microsoft.com/office/drawing/2014/main" id="{DF1F6EE4-C540-871D-9555-7A65681E1827}"/>
                  </a:ext>
                </a:extLst>
              </p:cNvPr>
              <p:cNvGraphicFramePr>
                <a:graphicFrameLocks noGrp="1"/>
              </p:cNvGraphicFramePr>
              <p:nvPr>
                <p:ph type="tbl" sz="quarter" idx="22"/>
              </p:nvPr>
            </p:nvGraphicFramePr>
            <p:xfrm>
              <a:off x="1650627" y="3857228"/>
              <a:ext cx="5512370" cy="741680"/>
            </p:xfrm>
            <a:graphic>
              <a:graphicData uri="http://schemas.openxmlformats.org/drawingml/2006/table">
                <a:tbl>
                  <a:tblPr firstRow="1" bandRow="1">
                    <a:tableStyleId>{5C22544A-7EE6-4342-B048-85BDC9FD1C3A}</a:tableStyleId>
                  </a:tblPr>
                  <a:tblGrid>
                    <a:gridCol w="2757314">
                      <a:extLst>
                        <a:ext uri="{9D8B030D-6E8A-4147-A177-3AD203B41FA5}">
                          <a16:colId xmlns:a16="http://schemas.microsoft.com/office/drawing/2014/main" val="4171103348"/>
                        </a:ext>
                      </a:extLst>
                    </a:gridCol>
                    <a:gridCol w="688764">
                      <a:extLst>
                        <a:ext uri="{9D8B030D-6E8A-4147-A177-3AD203B41FA5}">
                          <a16:colId xmlns:a16="http://schemas.microsoft.com/office/drawing/2014/main" val="3310322248"/>
                        </a:ext>
                      </a:extLst>
                    </a:gridCol>
                    <a:gridCol w="688764">
                      <a:extLst>
                        <a:ext uri="{9D8B030D-6E8A-4147-A177-3AD203B41FA5}">
                          <a16:colId xmlns:a16="http://schemas.microsoft.com/office/drawing/2014/main" val="1345786011"/>
                        </a:ext>
                      </a:extLst>
                    </a:gridCol>
                    <a:gridCol w="688764">
                      <a:extLst>
                        <a:ext uri="{9D8B030D-6E8A-4147-A177-3AD203B41FA5}">
                          <a16:colId xmlns:a16="http://schemas.microsoft.com/office/drawing/2014/main" val="3942544080"/>
                        </a:ext>
                      </a:extLst>
                    </a:gridCol>
                    <a:gridCol w="688764">
                      <a:extLst>
                        <a:ext uri="{9D8B030D-6E8A-4147-A177-3AD203B41FA5}">
                          <a16:colId xmlns:a16="http://schemas.microsoft.com/office/drawing/2014/main" val="2859257073"/>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14:m>
                            <m:oMath xmlns:m="http://schemas.openxmlformats.org/officeDocument/2006/math">
                              <m:r>
                                <a:rPr lang="en-US" sz="1600" b="1" i="1" smtClean="0">
                                  <a:latin typeface="Cambria Math" panose="02040503050406030204" pitchFamily="18" charset="0"/>
                                  <a:cs typeface="Arial" panose="020B0604020202020204" pitchFamily="34" charset="0"/>
                                </a:rPr>
                                <m:t>𝑭</m:t>
                              </m:r>
                            </m:oMath>
                          </a14:m>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sSub>
                                <m:sSubPr>
                                  <m:ctrlPr>
                                    <a:rPr lang="en-US" sz="1600" b="1" i="1" dirty="0" smtClean="0">
                                      <a:solidFill>
                                        <a:srgbClr val="000000"/>
                                      </a:solidFill>
                                      <a:latin typeface="Cambria Math" panose="02040503050406030204" pitchFamily="18" charset="0"/>
                                    </a:rPr>
                                  </m:ctrlPr>
                                </m:sSubPr>
                                <m:e>
                                  <m:r>
                                    <a:rPr lang="en-US" sz="1600" b="1" i="1" dirty="0" smtClean="0">
                                      <a:solidFill>
                                        <a:srgbClr val="000000"/>
                                      </a:solidFill>
                                      <a:latin typeface="Cambria Math" panose="02040503050406030204" pitchFamily="18" charset="0"/>
                                    </a:rPr>
                                    <m:t>𝒅𝒇</m:t>
                                  </m:r>
                                </m:e>
                                <m:sub>
                                  <m:r>
                                    <a:rPr lang="en-US" sz="1600" b="1" i="1" dirty="0" smtClean="0">
                                      <a:solidFill>
                                        <a:srgbClr val="000000"/>
                                      </a:solidFill>
                                      <a:latin typeface="Cambria Math" panose="02040503050406030204" pitchFamily="18" charset="0"/>
                                    </a:rPr>
                                    <m:t>𝟏</m:t>
                                  </m:r>
                                </m:sub>
                              </m:sSub>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𝟏</m:t>
                              </m:r>
                              <m:r>
                                <a:rPr lang="en-US" sz="1600" b="1" i="1" dirty="0" smtClean="0">
                                  <a:solidFill>
                                    <a:srgbClr val="000000"/>
                                  </a:solidFill>
                                  <a:latin typeface="Cambria Math" panose="02040503050406030204" pitchFamily="18" charset="0"/>
                                </a:rPr>
                                <m:t>,</m:t>
                              </m:r>
                              <m:sSub>
                                <m:sSubPr>
                                  <m:ctrlPr>
                                    <a:rPr lang="en-US" sz="1600" b="1" i="1" dirty="0" smtClean="0">
                                      <a:solidFill>
                                        <a:srgbClr val="000000"/>
                                      </a:solidFill>
                                      <a:latin typeface="Cambria Math" panose="02040503050406030204" pitchFamily="18" charset="0"/>
                                    </a:rPr>
                                  </m:ctrlPr>
                                </m:sSubPr>
                                <m:e>
                                  <m:r>
                                    <a:rPr lang="en-US" sz="1600" b="1" i="1" dirty="0" smtClean="0">
                                      <a:solidFill>
                                        <a:srgbClr val="000000"/>
                                      </a:solidFill>
                                      <a:latin typeface="Cambria Math" panose="02040503050406030204" pitchFamily="18" charset="0"/>
                                    </a:rPr>
                                    <m:t>𝒅𝒇</m:t>
                                  </m:r>
                                </m:e>
                                <m:sub>
                                  <m:r>
                                    <a:rPr lang="en-US" sz="1600" b="1" i="1" dirty="0" smtClean="0">
                                      <a:solidFill>
                                        <a:srgbClr val="000000"/>
                                      </a:solidFill>
                                      <a:latin typeface="Cambria Math" panose="02040503050406030204" pitchFamily="18" charset="0"/>
                                    </a:rPr>
                                    <m:t>𝟐</m:t>
                                  </m:r>
                                </m:sub>
                              </m:sSub>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𝟖</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800" b="0" i="0" u="none" strike="noStrike" dirty="0">
                              <a:solidFill>
                                <a:srgbClr val="000000"/>
                              </a:solidFill>
                              <a:effectLst/>
                              <a:latin typeface="Calibri" panose="020F0502020204030204" pitchFamily="34" charset="0"/>
                            </a:rPr>
                            <a:t>3.46</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800" b="0" i="0" u="none" strike="noStrike" dirty="0">
                              <a:solidFill>
                                <a:srgbClr val="000000"/>
                              </a:solidFill>
                              <a:effectLst/>
                              <a:latin typeface="Calibri" panose="020F0502020204030204" pitchFamily="34" charset="0"/>
                            </a:rPr>
                            <a:t>5.32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800" b="0" i="0" u="none" strike="noStrike" dirty="0">
                              <a:solidFill>
                                <a:srgbClr val="000000"/>
                              </a:solidFill>
                              <a:effectLst/>
                              <a:latin typeface="Calibri" panose="020F0502020204030204" pitchFamily="34" charset="0"/>
                            </a:rPr>
                            <a:t>7.57</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11.26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9" name="Table Placeholder 8">
                <a:extLst>
                  <a:ext uri="{FF2B5EF4-FFF2-40B4-BE49-F238E27FC236}">
                    <a16:creationId xmlns:a16="http://schemas.microsoft.com/office/drawing/2014/main" id="{DF1F6EE4-C540-871D-9555-7A65681E1827}"/>
                  </a:ext>
                </a:extLst>
              </p:cNvPr>
              <p:cNvGraphicFramePr>
                <a:graphicFrameLocks noGrp="1"/>
              </p:cNvGraphicFramePr>
              <p:nvPr>
                <p:ph type="tbl" sz="quarter" idx="22"/>
                <p:extLst>
                  <p:ext uri="{D42A27DB-BD31-4B8C-83A1-F6EECF244321}">
                    <p14:modId xmlns:p14="http://schemas.microsoft.com/office/powerpoint/2010/main" val="4001934072"/>
                  </p:ext>
                </p:extLst>
              </p:nvPr>
            </p:nvGraphicFramePr>
            <p:xfrm>
              <a:off x="1650627" y="3857228"/>
              <a:ext cx="5512370" cy="741680"/>
            </p:xfrm>
            <a:graphic>
              <a:graphicData uri="http://schemas.openxmlformats.org/drawingml/2006/table">
                <a:tbl>
                  <a:tblPr firstRow="1" bandRow="1">
                    <a:tableStyleId>{5C22544A-7EE6-4342-B048-85BDC9FD1C3A}</a:tableStyleId>
                  </a:tblPr>
                  <a:tblGrid>
                    <a:gridCol w="2757314">
                      <a:extLst>
                        <a:ext uri="{9D8B030D-6E8A-4147-A177-3AD203B41FA5}">
                          <a16:colId xmlns:a16="http://schemas.microsoft.com/office/drawing/2014/main" val="4171103348"/>
                        </a:ext>
                      </a:extLst>
                    </a:gridCol>
                    <a:gridCol w="688764">
                      <a:extLst>
                        <a:ext uri="{9D8B030D-6E8A-4147-A177-3AD203B41FA5}">
                          <a16:colId xmlns:a16="http://schemas.microsoft.com/office/drawing/2014/main" val="3310322248"/>
                        </a:ext>
                      </a:extLst>
                    </a:gridCol>
                    <a:gridCol w="688764">
                      <a:extLst>
                        <a:ext uri="{9D8B030D-6E8A-4147-A177-3AD203B41FA5}">
                          <a16:colId xmlns:a16="http://schemas.microsoft.com/office/drawing/2014/main" val="1345786011"/>
                        </a:ext>
                      </a:extLst>
                    </a:gridCol>
                    <a:gridCol w="688764">
                      <a:extLst>
                        <a:ext uri="{9D8B030D-6E8A-4147-A177-3AD203B41FA5}">
                          <a16:colId xmlns:a16="http://schemas.microsoft.com/office/drawing/2014/main" val="3942544080"/>
                        </a:ext>
                      </a:extLst>
                    </a:gridCol>
                    <a:gridCol w="688764">
                      <a:extLst>
                        <a:ext uri="{9D8B030D-6E8A-4147-A177-3AD203B41FA5}">
                          <a16:colId xmlns:a16="http://schemas.microsoft.com/office/drawing/2014/main" val="2859257073"/>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4"/>
                          <a:stretch>
                            <a:fillRect t="-101639" r="-100221" b="-26230"/>
                          </a:stretch>
                        </a:blipFill>
                      </a:tcPr>
                    </a:tc>
                    <a:tc>
                      <a:txBody>
                        <a:bodyPr/>
                        <a:lstStyle/>
                        <a:p>
                          <a:pPr algn="ctr" fontAlgn="b"/>
                          <a:r>
                            <a:rPr lang="en-US" sz="1800" b="0" i="0" u="none" strike="noStrike" dirty="0">
                              <a:solidFill>
                                <a:srgbClr val="000000"/>
                              </a:solidFill>
                              <a:effectLst/>
                              <a:latin typeface="Calibri" panose="020F0502020204030204" pitchFamily="34" charset="0"/>
                            </a:rPr>
                            <a:t>3.46</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800" b="0" i="0" u="none" strike="noStrike" dirty="0">
                              <a:solidFill>
                                <a:srgbClr val="000000"/>
                              </a:solidFill>
                              <a:effectLst/>
                              <a:latin typeface="Calibri" panose="020F0502020204030204" pitchFamily="34" charset="0"/>
                            </a:rPr>
                            <a:t>5.32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800" b="0" i="0" u="none" strike="noStrike" dirty="0">
                              <a:solidFill>
                                <a:srgbClr val="000000"/>
                              </a:solidFill>
                              <a:effectLst/>
                              <a:latin typeface="Calibri" panose="020F0502020204030204" pitchFamily="34" charset="0"/>
                            </a:rPr>
                            <a:t>7.57</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11.26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4690947"/>
                <a:ext cx="10484504" cy="1035424"/>
              </a:xfrm>
            </p:spPr>
            <p:txBody>
              <a:bodyPr>
                <a:noAutofit/>
              </a:bodyPr>
              <a:lstStyle/>
              <a:p>
                <a:pPr>
                  <a:lnSpc>
                    <a:spcPct val="100000"/>
                  </a:lnSpc>
                  <a:spcBef>
                    <a:spcPts val="600"/>
                  </a:spcBef>
                </a:pPr>
                <a:r>
                  <a:rPr lang="en-US" sz="2000" dirty="0"/>
                  <a:t>Because </a:t>
                </a:r>
                <a14:m>
                  <m:oMath xmlns:m="http://schemas.openxmlformats.org/officeDocument/2006/math">
                    <m:r>
                      <a:rPr lang="en-US" sz="2000" i="1" dirty="0" smtClean="0">
                        <a:latin typeface="Cambria Math" panose="02040503050406030204" pitchFamily="18" charset="0"/>
                      </a:rPr>
                      <m:t>𝐹</m:t>
                    </m:r>
                    <m:r>
                      <a:rPr lang="en-US" sz="2000" i="1" dirty="0" smtClean="0">
                        <a:latin typeface="Cambria Math" panose="02040503050406030204" pitchFamily="18" charset="0"/>
                      </a:rPr>
                      <m:t>=74.25</m:t>
                    </m:r>
                  </m:oMath>
                </a14:m>
                <a:r>
                  <a:rPr lang="en-US" sz="2000" dirty="0"/>
                  <a:t> is greater than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𝐹</m:t>
                        </m:r>
                      </m:e>
                      <m:sub>
                        <m:r>
                          <a:rPr lang="en-US" sz="2000" b="0" i="1" dirty="0" smtClean="0">
                            <a:latin typeface="Cambria Math" panose="02040503050406030204" pitchFamily="18" charset="0"/>
                          </a:rPr>
                          <m:t>.01</m:t>
                        </m:r>
                      </m:sub>
                    </m:sSub>
                    <m:r>
                      <a:rPr lang="en-US" sz="2000" b="0" i="1" dirty="0" smtClean="0">
                        <a:latin typeface="Cambria Math" panose="02040503050406030204" pitchFamily="18" charset="0"/>
                      </a:rPr>
                      <m:t>=</m:t>
                    </m:r>
                    <m:r>
                      <a:rPr lang="en-US" sz="2000" i="1" dirty="0" smtClean="0">
                        <a:latin typeface="Cambria Math" panose="02040503050406030204" pitchFamily="18" charset="0"/>
                      </a:rPr>
                      <m:t>11.26</m:t>
                    </m:r>
                  </m:oMath>
                </a14:m>
                <a:r>
                  <a:rPr lang="en-US" sz="2000" dirty="0"/>
                  <a:t>, the values in the “Area in Upper Tail” row show that </a:t>
                </a:r>
                <a14:m>
                  <m:oMath xmlns:m="http://schemas.openxmlformats.org/officeDocument/2006/math">
                    <m:r>
                      <a:rPr lang="en-US" sz="2000" i="1" dirty="0">
                        <a:latin typeface="Cambria Math" panose="02040503050406030204" pitchFamily="18" charset="0"/>
                        <a:cs typeface="Arial" panose="020B0604020202020204" pitchFamily="34" charset="0"/>
                      </a:rPr>
                      <m:t>𝑝</m:t>
                    </m:r>
                    <m:r>
                      <m:rPr>
                        <m:nor/>
                      </m:rPr>
                      <a:rPr lang="en-US" sz="2000" i="0" dirty="0">
                        <a:latin typeface="Cambria Math" panose="02040503050406030204" pitchFamily="18" charset="0"/>
                        <a:cs typeface="Arial" panose="020B0604020202020204" pitchFamily="34" charset="0"/>
                      </a:rPr>
                      <m:t>−</m:t>
                    </m:r>
                    <m:r>
                      <m:rPr>
                        <m:nor/>
                      </m:rPr>
                      <a:rPr lang="en-US" sz="2000" dirty="0">
                        <a:latin typeface="Cambria Math" panose="02040503050406030204" pitchFamily="18" charset="0"/>
                        <a:cs typeface="Arial" panose="020B0604020202020204" pitchFamily="34" charset="0"/>
                      </a:rPr>
                      <m:t>value</m:t>
                    </m:r>
                    <m:r>
                      <a:rPr lang="en-US" sz="2000" i="1" dirty="0">
                        <a:latin typeface="Cambria Math" panose="02040503050406030204" pitchFamily="18" charset="0"/>
                        <a:cs typeface="Arial" panose="020B0604020202020204" pitchFamily="34" charset="0"/>
                      </a:rPr>
                      <m:t>≤ 0.01</m:t>
                    </m:r>
                  </m:oMath>
                </a14:m>
                <a:r>
                  <a:rPr lang="en-US" sz="2000" dirty="0"/>
                  <a:t>. Thus, we reject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t> and conclude that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𝛽</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0</m:t>
                    </m:r>
                  </m:oMath>
                </a14:m>
                <a:r>
                  <a:rPr lang="en-US" sz="2000" dirty="0"/>
                  <a:t>.</a:t>
                </a:r>
              </a:p>
              <a:p>
                <a:pPr>
                  <a:lnSpc>
                    <a:spcPct val="100000"/>
                  </a:lnSpc>
                  <a:spcBef>
                    <a:spcPts val="600"/>
                  </a:spcBef>
                </a:pPr>
                <a:r>
                  <a:rPr lang="en-US" sz="2000" dirty="0"/>
                  <a:t>The same conclusion is reached using the critical value because </a:t>
                </a:r>
                <a14:m>
                  <m:oMath xmlns:m="http://schemas.openxmlformats.org/officeDocument/2006/math">
                    <m:r>
                      <a:rPr lang="en-US" sz="2000" b="0" i="1" smtClean="0">
                        <a:latin typeface="Cambria Math" panose="02040503050406030204" pitchFamily="18" charset="0"/>
                        <a:cs typeface="Arial" panose="020B0604020202020204" pitchFamily="34" charset="0"/>
                      </a:rPr>
                      <m:t>𝐹</m:t>
                    </m:r>
                    <m:r>
                      <a:rPr lang="en-US" sz="2000" b="0" i="1" smtClean="0">
                        <a:latin typeface="Cambria Math" panose="02040503050406030204" pitchFamily="18" charset="0"/>
                        <a:cs typeface="Arial" panose="020B0604020202020204" pitchFamily="34" charset="0"/>
                      </a:rPr>
                      <m:t>=74.25≥</m:t>
                    </m:r>
                    <m:sSub>
                      <m:sSubPr>
                        <m:ctrlPr>
                          <a:rPr lang="en-US" sz="2000" i="1">
                            <a:latin typeface="Cambria Math" panose="02040503050406030204" pitchFamily="18" charset="0"/>
                          </a:rPr>
                        </m:ctrlPr>
                      </m:sSubPr>
                      <m:e>
                        <m:r>
                          <a:rPr lang="en-US" sz="2000" b="0" i="1" smtClean="0">
                            <a:latin typeface="Cambria Math" panose="02040503050406030204" pitchFamily="18" charset="0"/>
                          </a:rPr>
                          <m:t>11.26=</m:t>
                        </m:r>
                        <m:r>
                          <a:rPr lang="en-US" sz="2000" i="1">
                            <a:latin typeface="Cambria Math" panose="02040503050406030204" pitchFamily="18" charset="0"/>
                          </a:rPr>
                          <m:t>𝐹</m:t>
                        </m:r>
                      </m:e>
                      <m:sub>
                        <m:r>
                          <a:rPr lang="en-US" sz="2000" i="1">
                            <a:latin typeface="Cambria Math" panose="02040503050406030204" pitchFamily="18" charset="0"/>
                            <a:ea typeface="Cambria Math" panose="02040503050406030204" pitchFamily="18" charset="0"/>
                          </a:rPr>
                          <m:t>0.0</m:t>
                        </m:r>
                        <m:r>
                          <a:rPr lang="en-US" sz="2000" b="0" i="1" smtClean="0">
                            <a:latin typeface="Cambria Math" panose="02040503050406030204" pitchFamily="18" charset="0"/>
                            <a:ea typeface="Cambria Math" panose="02040503050406030204" pitchFamily="18" charset="0"/>
                          </a:rPr>
                          <m:t>1</m:t>
                        </m:r>
                      </m:sub>
                    </m:sSub>
                  </m:oMath>
                </a14:m>
                <a:r>
                  <a:rPr lang="en-US" sz="2000" dirty="0"/>
                  <a:t>.</a:t>
                </a:r>
              </a:p>
              <a:p>
                <a:pPr>
                  <a:lnSpc>
                    <a:spcPct val="100000"/>
                  </a:lnSpc>
                  <a:spcBef>
                    <a:spcPts val="600"/>
                  </a:spcBef>
                </a:pPr>
                <a:endParaRPr lang="en-US" sz="2000" dirty="0"/>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4690947"/>
                <a:ext cx="10484504" cy="1035424"/>
              </a:xfrm>
              <a:blipFill>
                <a:blip r:embed="rId5"/>
                <a:stretch>
                  <a:fillRect l="-1513" t="-7101" b="-11243"/>
                </a:stretch>
              </a:blipFill>
            </p:spPr>
            <p:txBody>
              <a:bodyPr/>
              <a:lstStyle/>
              <a:p>
                <a:r>
                  <a:rPr lang="en-US">
                    <a:noFill/>
                  </a:rPr>
                  <a:t> </a:t>
                </a:r>
              </a:p>
            </p:txBody>
          </p:sp>
        </mc:Fallback>
      </mc:AlternateContent>
    </p:spTree>
    <p:extLst>
      <p:ext uri="{BB962C8B-B14F-4D97-AF65-F5344CB8AC3E}">
        <p14:creationId xmlns:p14="http://schemas.microsoft.com/office/powerpoint/2010/main" val="12009834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CA8A8-69C6-C618-DB9F-6DA57A0C239B}"/>
              </a:ext>
            </a:extLst>
          </p:cNvPr>
          <p:cNvSpPr>
            <a:spLocks noGrp="1"/>
          </p:cNvSpPr>
          <p:nvPr>
            <p:ph type="title"/>
          </p:nvPr>
        </p:nvSpPr>
        <p:spPr>
          <a:xfrm>
            <a:off x="670037" y="365125"/>
            <a:ext cx="10857186" cy="672105"/>
          </a:xfrm>
        </p:spPr>
        <p:txBody>
          <a:bodyPr/>
          <a:lstStyle/>
          <a:p>
            <a:r>
              <a:rPr lang="en-US" sz="3200" dirty="0"/>
              <a:t>14.5 ANOVA Table for Simple Linear Regression</a:t>
            </a:r>
          </a:p>
        </p:txBody>
      </p:sp>
      <p:sp>
        <p:nvSpPr>
          <p:cNvPr id="3" name="Text Placeholder 2">
            <a:extLst>
              <a:ext uri="{FF2B5EF4-FFF2-40B4-BE49-F238E27FC236}">
                <a16:creationId xmlns:a16="http://schemas.microsoft.com/office/drawing/2014/main" id="{19DDD177-F2EB-46E4-4E1B-F62383358B7A}"/>
              </a:ext>
            </a:extLst>
          </p:cNvPr>
          <p:cNvSpPr>
            <a:spLocks noGrp="1"/>
          </p:cNvSpPr>
          <p:nvPr>
            <p:ph type="body" sz="quarter" idx="15"/>
          </p:nvPr>
        </p:nvSpPr>
        <p:spPr>
          <a:xfrm>
            <a:off x="750300" y="1361644"/>
            <a:ext cx="10515600" cy="416860"/>
          </a:xfrm>
        </p:spPr>
        <p:txBody>
          <a:bodyPr>
            <a:normAutofit/>
          </a:bodyPr>
          <a:lstStyle/>
          <a:p>
            <a:pPr>
              <a:lnSpc>
                <a:spcPct val="100000"/>
              </a:lnSpc>
              <a:spcBef>
                <a:spcPts val="600"/>
              </a:spcBef>
            </a:pPr>
            <a:r>
              <a:rPr lang="en-US" sz="2000" dirty="0"/>
              <a:t>The ANOVA table for simple linear regression conveniently displays the following results.</a:t>
            </a:r>
          </a:p>
        </p:txBody>
      </p:sp>
      <p:graphicFrame>
        <p:nvGraphicFramePr>
          <p:cNvPr id="11" name="Table 13">
            <a:extLst>
              <a:ext uri="{FF2B5EF4-FFF2-40B4-BE49-F238E27FC236}">
                <a16:creationId xmlns:a16="http://schemas.microsoft.com/office/drawing/2014/main" id="{22A7FABB-3524-B9BA-14F1-CA47ACBEB975}"/>
              </a:ext>
            </a:extLst>
          </p:cNvPr>
          <p:cNvGraphicFramePr>
            <a:graphicFrameLocks noGrp="1"/>
          </p:cNvGraphicFramePr>
          <p:nvPr>
            <p:ph type="tbl" sz="quarter" idx="23"/>
            <p:extLst>
              <p:ext uri="{D42A27DB-BD31-4B8C-83A1-F6EECF244321}">
                <p14:modId xmlns:p14="http://schemas.microsoft.com/office/powerpoint/2010/main" val="559274629"/>
              </p:ext>
            </p:extLst>
          </p:nvPr>
        </p:nvGraphicFramePr>
        <p:xfrm>
          <a:off x="741156" y="1772814"/>
          <a:ext cx="10469880" cy="1344168"/>
        </p:xfrm>
        <a:graphic>
          <a:graphicData uri="http://schemas.openxmlformats.org/drawingml/2006/table">
            <a:tbl>
              <a:tblPr firstRow="1" bandRow="1">
                <a:tableStyleId>{5C22544A-7EE6-4342-B048-85BDC9FD1C3A}</a:tableStyleId>
              </a:tblPr>
              <a:tblGrid>
                <a:gridCol w="2026518">
                  <a:extLst>
                    <a:ext uri="{9D8B030D-6E8A-4147-A177-3AD203B41FA5}">
                      <a16:colId xmlns:a16="http://schemas.microsoft.com/office/drawing/2014/main" val="4281494615"/>
                    </a:ext>
                  </a:extLst>
                </a:gridCol>
                <a:gridCol w="1613647">
                  <a:extLst>
                    <a:ext uri="{9D8B030D-6E8A-4147-A177-3AD203B41FA5}">
                      <a16:colId xmlns:a16="http://schemas.microsoft.com/office/drawing/2014/main" val="1658350638"/>
                    </a:ext>
                  </a:extLst>
                </a:gridCol>
                <a:gridCol w="2084294">
                  <a:extLst>
                    <a:ext uri="{9D8B030D-6E8A-4147-A177-3AD203B41FA5}">
                      <a16:colId xmlns:a16="http://schemas.microsoft.com/office/drawing/2014/main" val="665697469"/>
                    </a:ext>
                  </a:extLst>
                </a:gridCol>
                <a:gridCol w="1842247">
                  <a:extLst>
                    <a:ext uri="{9D8B030D-6E8A-4147-A177-3AD203B41FA5}">
                      <a16:colId xmlns:a16="http://schemas.microsoft.com/office/drawing/2014/main" val="230204798"/>
                    </a:ext>
                  </a:extLst>
                </a:gridCol>
                <a:gridCol w="1149724">
                  <a:extLst>
                    <a:ext uri="{9D8B030D-6E8A-4147-A177-3AD203B41FA5}">
                      <a16:colId xmlns:a16="http://schemas.microsoft.com/office/drawing/2014/main" val="4176669424"/>
                    </a:ext>
                  </a:extLst>
                </a:gridCol>
                <a:gridCol w="1753450">
                  <a:extLst>
                    <a:ext uri="{9D8B030D-6E8A-4147-A177-3AD203B41FA5}">
                      <a16:colId xmlns:a16="http://schemas.microsoft.com/office/drawing/2014/main" val="1389891288"/>
                    </a:ext>
                  </a:extLst>
                </a:gridCol>
              </a:tblGrid>
              <a:tr h="336042">
                <a:tc>
                  <a:txBody>
                    <a:bodyPr/>
                    <a:lstStyle/>
                    <a:p>
                      <a:r>
                        <a:rPr lang="en-US" sz="1800" dirty="0">
                          <a:solidFill>
                            <a:srgbClr val="000000"/>
                          </a:solidFill>
                        </a:rPr>
                        <a:t>  Source of Variation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Sum of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Degrees of Freedom</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Mean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l"/>
                      <a:r>
                        <a:rPr lang="en-US" sz="1800" i="1" dirty="0">
                          <a:solidFill>
                            <a:srgbClr val="000000"/>
                          </a:solidFill>
                        </a:rPr>
                        <a:t>        F</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i="1">
                          <a:solidFill>
                            <a:srgbClr val="000000"/>
                          </a:solidFill>
                        </a:rPr>
                        <a:t>p</a:t>
                      </a:r>
                      <a:r>
                        <a:rPr lang="en-US" sz="1800">
                          <a:solidFill>
                            <a:srgbClr val="000000"/>
                          </a:solidFill>
                        </a:rPr>
                        <a:t>-value</a:t>
                      </a:r>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2499142490"/>
                  </a:ext>
                </a:extLst>
              </a:tr>
              <a:tr h="336042">
                <a:tc>
                  <a:txBody>
                    <a:bodyPr/>
                    <a:lstStyle/>
                    <a:p>
                      <a:r>
                        <a:rPr lang="en-US" sz="1800" dirty="0">
                          <a:solidFill>
                            <a:srgbClr val="000000"/>
                          </a:solidFill>
                        </a:rPr>
                        <a:t>  Regression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SSR</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tabLst>
                          <a:tab pos="1316038" algn="l"/>
                        </a:tabLst>
                      </a:pPr>
                      <a:r>
                        <a:rPr lang="en-US" sz="1800" dirty="0">
                          <a:solidFill>
                            <a:srgbClr val="000000"/>
                          </a:solidFill>
                        </a:rPr>
                        <a:t>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MSR = SSR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MSR / MSE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i="1" dirty="0">
                          <a:solidFill>
                            <a:srgbClr val="000000"/>
                          </a:solidFill>
                        </a:rPr>
                        <a:t>P</a:t>
                      </a:r>
                      <a:r>
                        <a:rPr lang="en-US" sz="1800" dirty="0">
                          <a:solidFill>
                            <a:srgbClr val="000000"/>
                          </a:solidFill>
                        </a:rPr>
                        <a:t>(</a:t>
                      </a:r>
                      <a:r>
                        <a:rPr lang="en-US" sz="1800" i="1" dirty="0">
                          <a:solidFill>
                            <a:srgbClr val="000000"/>
                          </a:solidFill>
                        </a:rPr>
                        <a:t>F </a:t>
                      </a:r>
                      <a:r>
                        <a:rPr lang="en-US" sz="1800" dirty="0">
                          <a:solidFill>
                            <a:srgbClr val="000000"/>
                          </a:solidFill>
                        </a:rPr>
                        <a:t>≥ MSR / MSE)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56767253"/>
                  </a:ext>
                </a:extLst>
              </a:tr>
              <a:tr h="336042">
                <a:tc>
                  <a:txBody>
                    <a:bodyPr/>
                    <a:lstStyle/>
                    <a:p>
                      <a:r>
                        <a:rPr lang="en-US" sz="1800" dirty="0">
                          <a:solidFill>
                            <a:srgbClr val="000000"/>
                          </a:solidFill>
                        </a:rPr>
                        <a:t>  Error</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SSE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i="1" dirty="0">
                          <a:solidFill>
                            <a:srgbClr val="000000"/>
                          </a:solidFill>
                        </a:rPr>
                        <a:t>n</a:t>
                      </a:r>
                      <a:r>
                        <a:rPr lang="en-US" sz="1800" i="0" dirty="0">
                          <a:solidFill>
                            <a:srgbClr val="000000"/>
                          </a:solidFill>
                        </a:rPr>
                        <a:t> – 2</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MSE = SSE / (</a:t>
                      </a:r>
                      <a:r>
                        <a:rPr lang="en-US" sz="1800" i="1" dirty="0">
                          <a:solidFill>
                            <a:srgbClr val="000000"/>
                          </a:solidFill>
                        </a:rPr>
                        <a:t>n</a:t>
                      </a:r>
                      <a:r>
                        <a:rPr lang="en-US" sz="1800" i="0" dirty="0">
                          <a:solidFill>
                            <a:srgbClr val="000000"/>
                          </a:solidFill>
                        </a:rPr>
                        <a:t> – 2</a:t>
                      </a:r>
                      <a:r>
                        <a:rPr lang="en-US" sz="1800" dirty="0">
                          <a:solidFill>
                            <a:srgbClr val="000000"/>
                          </a:solidFill>
                        </a:rPr>
                        <a:t>)</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501507554"/>
                  </a:ext>
                </a:extLst>
              </a:tr>
              <a:tr h="336042">
                <a:tc>
                  <a:txBody>
                    <a:bodyPr/>
                    <a:lstStyle/>
                    <a:p>
                      <a:r>
                        <a:rPr lang="en-US" sz="1800" dirty="0">
                          <a:solidFill>
                            <a:srgbClr val="000000"/>
                          </a:solidFill>
                        </a:rPr>
                        <a:t>  Total</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SST</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i="1" dirty="0">
                          <a:solidFill>
                            <a:srgbClr val="000000"/>
                          </a:solidFill>
                        </a:rPr>
                        <a:t>n</a:t>
                      </a:r>
                      <a:r>
                        <a:rPr lang="en-US" sz="18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139500409"/>
                  </a:ext>
                </a:extLst>
              </a:tr>
            </a:tbl>
          </a:graphicData>
        </a:graphic>
      </p:graphicFrame>
      <p:sp>
        <p:nvSpPr>
          <p:cNvPr id="5" name="Text Placeholder 4">
            <a:extLst>
              <a:ext uri="{FF2B5EF4-FFF2-40B4-BE49-F238E27FC236}">
                <a16:creationId xmlns:a16="http://schemas.microsoft.com/office/drawing/2014/main" id="{42A090CF-86F9-C143-E94D-4A1E6EE887F9}"/>
              </a:ext>
            </a:extLst>
          </p:cNvPr>
          <p:cNvSpPr>
            <a:spLocks noGrp="1"/>
          </p:cNvSpPr>
          <p:nvPr>
            <p:ph type="body" sz="quarter" idx="18"/>
          </p:nvPr>
        </p:nvSpPr>
        <p:spPr>
          <a:xfrm>
            <a:off x="750300" y="3165642"/>
            <a:ext cx="10515600" cy="1116425"/>
          </a:xfrm>
        </p:spPr>
        <p:txBody>
          <a:bodyPr>
            <a:noAutofit/>
          </a:bodyPr>
          <a:lstStyle/>
          <a:p>
            <a:pPr>
              <a:lnSpc>
                <a:spcPct val="100000"/>
              </a:lnSpc>
              <a:spcBef>
                <a:spcPts val="600"/>
              </a:spcBef>
            </a:pPr>
            <a:r>
              <a:rPr lang="en-US" sz="2000" dirty="0"/>
              <a:t>Regression, Error, and Total are the labels for the three sources of variation, with SSR, SSE, and SST appearing as the corresponding sum of squares in the second column.</a:t>
            </a:r>
          </a:p>
          <a:p>
            <a:pPr>
              <a:lnSpc>
                <a:spcPct val="100000"/>
              </a:lnSpc>
              <a:spcBef>
                <a:spcPts val="1200"/>
              </a:spcBef>
            </a:pPr>
            <a:r>
              <a:rPr lang="en-US" sz="2000" dirty="0"/>
              <a:t>The ANOVA table with the </a:t>
            </a:r>
            <a:r>
              <a:rPr lang="en-US" sz="2000" i="1" dirty="0"/>
              <a:t>F</a:t>
            </a:r>
            <a:r>
              <a:rPr lang="en-US" sz="2000" dirty="0"/>
              <a:t> test computations performed for Armand’s Pizza Parlors follow.</a:t>
            </a:r>
          </a:p>
          <a:p>
            <a:pPr>
              <a:lnSpc>
                <a:spcPct val="100000"/>
              </a:lnSpc>
              <a:spcBef>
                <a:spcPts val="600"/>
              </a:spcBef>
            </a:pPr>
            <a:endParaRPr lang="en-US" sz="2000" dirty="0"/>
          </a:p>
          <a:p>
            <a:pPr>
              <a:lnSpc>
                <a:spcPct val="100000"/>
              </a:lnSpc>
              <a:spcBef>
                <a:spcPts val="600"/>
              </a:spcBef>
            </a:pPr>
            <a:endParaRPr lang="en-US" sz="2000" dirty="0"/>
          </a:p>
        </p:txBody>
      </p:sp>
      <p:graphicFrame>
        <p:nvGraphicFramePr>
          <p:cNvPr id="15" name="Table Placeholder 13">
            <a:extLst>
              <a:ext uri="{FF2B5EF4-FFF2-40B4-BE49-F238E27FC236}">
                <a16:creationId xmlns:a16="http://schemas.microsoft.com/office/drawing/2014/main" id="{2BC54805-7BAF-DC8B-B4B4-6640D9AF08B5}"/>
              </a:ext>
            </a:extLst>
          </p:cNvPr>
          <p:cNvGraphicFramePr>
            <a:graphicFrameLocks noGrp="1"/>
          </p:cNvGraphicFramePr>
          <p:nvPr>
            <p:ph type="tbl" sz="quarter" idx="22"/>
            <p:extLst>
              <p:ext uri="{D42A27DB-BD31-4B8C-83A1-F6EECF244321}">
                <p14:modId xmlns:p14="http://schemas.microsoft.com/office/powerpoint/2010/main" val="1443812527"/>
              </p:ext>
            </p:extLst>
          </p:nvPr>
        </p:nvGraphicFramePr>
        <p:xfrm>
          <a:off x="741156" y="4338398"/>
          <a:ext cx="10488168" cy="1344704"/>
        </p:xfrm>
        <a:graphic>
          <a:graphicData uri="http://schemas.openxmlformats.org/drawingml/2006/table">
            <a:tbl>
              <a:tblPr firstRow="1" bandRow="1">
                <a:tableStyleId>{5C22544A-7EE6-4342-B048-85BDC9FD1C3A}</a:tableStyleId>
              </a:tblPr>
              <a:tblGrid>
                <a:gridCol w="2029968">
                  <a:extLst>
                    <a:ext uri="{9D8B030D-6E8A-4147-A177-3AD203B41FA5}">
                      <a16:colId xmlns:a16="http://schemas.microsoft.com/office/drawing/2014/main" val="4281494615"/>
                    </a:ext>
                  </a:extLst>
                </a:gridCol>
                <a:gridCol w="1618488">
                  <a:extLst>
                    <a:ext uri="{9D8B030D-6E8A-4147-A177-3AD203B41FA5}">
                      <a16:colId xmlns:a16="http://schemas.microsoft.com/office/drawing/2014/main" val="1658350638"/>
                    </a:ext>
                  </a:extLst>
                </a:gridCol>
                <a:gridCol w="2084832">
                  <a:extLst>
                    <a:ext uri="{9D8B030D-6E8A-4147-A177-3AD203B41FA5}">
                      <a16:colId xmlns:a16="http://schemas.microsoft.com/office/drawing/2014/main" val="665697469"/>
                    </a:ext>
                  </a:extLst>
                </a:gridCol>
                <a:gridCol w="1847088">
                  <a:extLst>
                    <a:ext uri="{9D8B030D-6E8A-4147-A177-3AD203B41FA5}">
                      <a16:colId xmlns:a16="http://schemas.microsoft.com/office/drawing/2014/main" val="230204798"/>
                    </a:ext>
                  </a:extLst>
                </a:gridCol>
                <a:gridCol w="1152144">
                  <a:extLst>
                    <a:ext uri="{9D8B030D-6E8A-4147-A177-3AD203B41FA5}">
                      <a16:colId xmlns:a16="http://schemas.microsoft.com/office/drawing/2014/main" val="4176669424"/>
                    </a:ext>
                  </a:extLst>
                </a:gridCol>
                <a:gridCol w="1755648">
                  <a:extLst>
                    <a:ext uri="{9D8B030D-6E8A-4147-A177-3AD203B41FA5}">
                      <a16:colId xmlns:a16="http://schemas.microsoft.com/office/drawing/2014/main" val="1389891288"/>
                    </a:ext>
                  </a:extLst>
                </a:gridCol>
              </a:tblGrid>
              <a:tr h="336176">
                <a:tc>
                  <a:txBody>
                    <a:bodyPr/>
                    <a:lstStyle/>
                    <a:p>
                      <a:r>
                        <a:rPr lang="en-US" sz="1800" dirty="0">
                          <a:solidFill>
                            <a:srgbClr val="000000"/>
                          </a:solidFill>
                        </a:rPr>
                        <a:t>  Source of Variation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Sum of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Degrees of Freedom</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Mean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i="1" dirty="0">
                          <a:solidFill>
                            <a:srgbClr val="000000"/>
                          </a:solidFill>
                        </a:rPr>
                        <a:t>    F</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i="1">
                          <a:solidFill>
                            <a:srgbClr val="000000"/>
                          </a:solidFill>
                        </a:rPr>
                        <a:t>p</a:t>
                      </a:r>
                      <a:r>
                        <a:rPr lang="en-US" sz="1800">
                          <a:solidFill>
                            <a:srgbClr val="000000"/>
                          </a:solidFill>
                        </a:rPr>
                        <a:t>-value</a:t>
                      </a:r>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2499142490"/>
                  </a:ext>
                </a:extLst>
              </a:tr>
              <a:tr h="336176">
                <a:tc>
                  <a:txBody>
                    <a:bodyPr/>
                    <a:lstStyle/>
                    <a:p>
                      <a:r>
                        <a:rPr lang="en-US" sz="1800" dirty="0">
                          <a:solidFill>
                            <a:srgbClr val="000000"/>
                          </a:solidFill>
                        </a:rPr>
                        <a:t>  Regression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914400" algn="r"/>
                        </a:tabLst>
                      </a:pPr>
                      <a:r>
                        <a:rPr lang="en-US" sz="1800" dirty="0">
                          <a:solidFill>
                            <a:srgbClr val="000000"/>
                          </a:solidFill>
                        </a:rPr>
                        <a:t>	14,200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914400" algn="r"/>
                        </a:tabLst>
                      </a:pPr>
                      <a:r>
                        <a:rPr lang="en-US" sz="1800" i="0" dirty="0">
                          <a:solidFill>
                            <a:srgbClr val="000000"/>
                          </a:solidFill>
                        </a:rPr>
                        <a:t>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860425" algn="r"/>
                        </a:tabLst>
                      </a:pPr>
                      <a:r>
                        <a:rPr lang="en-US" sz="1800" dirty="0">
                          <a:solidFill>
                            <a:srgbClr val="000000"/>
                          </a:solidFill>
                        </a:rPr>
                        <a:t>	</a:t>
                      </a:r>
                      <a:r>
                        <a:rPr lang="en-US" sz="1800" dirty="0">
                          <a:solidFill>
                            <a:srgbClr val="FF0000"/>
                          </a:solidFill>
                        </a:rPr>
                        <a:t>14,200/1 = </a:t>
                      </a:r>
                      <a:r>
                        <a:rPr lang="en-US" sz="1800" dirty="0">
                          <a:solidFill>
                            <a:srgbClr val="000000"/>
                          </a:solidFill>
                        </a:rPr>
                        <a:t>14,200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74.25</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 0.0000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56767253"/>
                  </a:ext>
                </a:extLst>
              </a:tr>
              <a:tr h="336176">
                <a:tc>
                  <a:txBody>
                    <a:bodyPr/>
                    <a:lstStyle/>
                    <a:p>
                      <a:r>
                        <a:rPr lang="en-US" sz="1800" dirty="0">
                          <a:solidFill>
                            <a:srgbClr val="000000"/>
                          </a:solidFill>
                        </a:rPr>
                        <a:t>  Error</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914400" algn="r"/>
                        </a:tabLst>
                      </a:pPr>
                      <a:r>
                        <a:rPr lang="en-US" sz="1800" dirty="0">
                          <a:solidFill>
                            <a:srgbClr val="000000"/>
                          </a:solidFill>
                        </a:rPr>
                        <a:t>	1,530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914400" algn="r"/>
                        </a:tabLst>
                      </a:pPr>
                      <a:r>
                        <a:rPr lang="en-US" sz="1800" i="0" dirty="0">
                          <a:solidFill>
                            <a:srgbClr val="000000"/>
                          </a:solidFill>
                        </a:rPr>
                        <a:t>	8</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860425" algn="r"/>
                        </a:tabLst>
                      </a:pPr>
                      <a:r>
                        <a:rPr lang="en-US" sz="1800" dirty="0">
                          <a:solidFill>
                            <a:srgbClr val="000000"/>
                          </a:solidFill>
                        </a:rPr>
                        <a:t>	</a:t>
                      </a:r>
                      <a:r>
                        <a:rPr lang="en-US" sz="1800" dirty="0">
                          <a:solidFill>
                            <a:srgbClr val="FF0000"/>
                          </a:solidFill>
                        </a:rPr>
                        <a:t>1,530/8 = </a:t>
                      </a:r>
                      <a:r>
                        <a:rPr lang="en-US" sz="1800" dirty="0">
                          <a:solidFill>
                            <a:srgbClr val="000000"/>
                          </a:solidFill>
                        </a:rPr>
                        <a:t>191.25</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501507554"/>
                  </a:ext>
                </a:extLst>
              </a:tr>
              <a:tr h="336176">
                <a:tc>
                  <a:txBody>
                    <a:bodyPr/>
                    <a:lstStyle/>
                    <a:p>
                      <a:r>
                        <a:rPr lang="en-US" sz="1800" dirty="0">
                          <a:solidFill>
                            <a:srgbClr val="000000"/>
                          </a:solidFill>
                        </a:rPr>
                        <a:t>  Total</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914400" algn="r"/>
                        </a:tabLst>
                      </a:pPr>
                      <a:r>
                        <a:rPr lang="en-US" sz="1800" dirty="0">
                          <a:solidFill>
                            <a:srgbClr val="000000"/>
                          </a:solidFill>
                        </a:rPr>
                        <a:t>	17,530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914400" algn="r"/>
                        </a:tabLst>
                      </a:pPr>
                      <a:r>
                        <a:rPr lang="en-US" sz="1800" dirty="0">
                          <a:solidFill>
                            <a:srgbClr val="000000"/>
                          </a:solidFill>
                        </a:rPr>
                        <a:t>	9</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139500409"/>
                  </a:ext>
                </a:extLst>
              </a:tr>
            </a:tbl>
          </a:graphicData>
        </a:graphic>
      </p:graphicFrame>
    </p:spTree>
    <p:extLst>
      <p:ext uri="{BB962C8B-B14F-4D97-AF65-F5344CB8AC3E}">
        <p14:creationId xmlns:p14="http://schemas.microsoft.com/office/powerpoint/2010/main" val="2160881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59956" y="365125"/>
            <a:ext cx="10860819" cy="672105"/>
          </a:xfrm>
        </p:spPr>
        <p:txBody>
          <a:bodyPr/>
          <a:lstStyle/>
          <a:p>
            <a:r>
              <a:rPr lang="en-US" sz="3200" dirty="0"/>
              <a:t>14.5 Some Cautions About the Interpretation of Significance Tests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702675"/>
                <a:ext cx="10781737" cy="4059621"/>
              </a:xfrm>
            </p:spPr>
            <p:txBody>
              <a:bodyPr/>
              <a:lstStyle/>
              <a:p>
                <a:pPr marL="346075" indent="-346075">
                  <a:spcBef>
                    <a:spcPts val="600"/>
                  </a:spcBef>
                  <a:spcAft>
                    <a:spcPts val="0"/>
                  </a:spcAft>
                  <a:buFont typeface="+mj-lt"/>
                  <a:buAutoNum type="arabicPeriod"/>
                </a:pPr>
                <a:r>
                  <a:rPr lang="en-US" sz="2000" dirty="0">
                    <a:latin typeface="Arial" panose="020B0604020202020204" pitchFamily="34" charset="0"/>
                    <a:cs typeface="Arial" panose="020B0604020202020204" pitchFamily="34" charset="0"/>
                  </a:rPr>
                  <a:t>Rejecting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0</m:t>
                        </m:r>
                      </m:sub>
                    </m:sSub>
                    <m:r>
                      <a:rPr lang="en-US" sz="2000" b="0" i="1" smtClean="0">
                        <a:latin typeface="Cambria Math" panose="02040503050406030204" pitchFamily="18" charset="0"/>
                        <a:cs typeface="Arial" panose="020B0604020202020204" pitchFamily="34" charset="0"/>
                      </a:rPr>
                      <m:t>: </m:t>
                    </m:r>
                    <m:sSub>
                      <m:sSubPr>
                        <m:ctrlPr>
                          <a:rPr lang="en-US" sz="2000" i="1" smtClean="0">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𝛽</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=0</m:t>
                    </m:r>
                  </m:oMath>
                </a14:m>
                <a:r>
                  <a:rPr lang="en-US" sz="2000" dirty="0">
                    <a:latin typeface="Arial" panose="020B0604020202020204" pitchFamily="34" charset="0"/>
                    <a:cs typeface="Arial" panose="020B0604020202020204" pitchFamily="34" charset="0"/>
                  </a:rPr>
                  <a:t> and concluding that the relationship between 𝑥 and 𝑦 is significant does not enable us to conclude that </a:t>
                </a:r>
                <a:r>
                  <a:rPr lang="en-US" sz="2000">
                    <a:latin typeface="Arial" panose="020B0604020202020204" pitchFamily="34" charset="0"/>
                    <a:cs typeface="Arial" panose="020B0604020202020204" pitchFamily="34" charset="0"/>
                  </a:rPr>
                  <a:t>a cause-and-effect </a:t>
                </a:r>
                <a:r>
                  <a:rPr lang="en-US" sz="2000" dirty="0">
                    <a:latin typeface="Arial" panose="020B0604020202020204" pitchFamily="34" charset="0"/>
                    <a:cs typeface="Arial" panose="020B0604020202020204" pitchFamily="34" charset="0"/>
                  </a:rPr>
                  <a:t>relationship is present between 𝑥 and 𝑦.</a:t>
                </a:r>
              </a:p>
              <a:p>
                <a:pPr marL="630238" indent="-284163">
                  <a:spcBef>
                    <a:spcPts val="600"/>
                  </a:spcBef>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Concluding </a:t>
                </a:r>
                <a:r>
                  <a:rPr lang="en-US" sz="2000">
                    <a:latin typeface="Arial" panose="020B0604020202020204" pitchFamily="34" charset="0"/>
                    <a:cs typeface="Arial" panose="020B0604020202020204" pitchFamily="34" charset="0"/>
                  </a:rPr>
                  <a:t>a cause-and-effect </a:t>
                </a:r>
                <a:r>
                  <a:rPr lang="en-US" sz="2000" dirty="0">
                    <a:latin typeface="Arial" panose="020B0604020202020204" pitchFamily="34" charset="0"/>
                    <a:cs typeface="Arial" panose="020B0604020202020204" pitchFamily="34" charset="0"/>
                  </a:rPr>
                  <a:t>relationship is warranted only if the analyst can provide some type of theoretical justification that the relationship is, in fact, causal.</a:t>
                </a:r>
              </a:p>
              <a:p>
                <a:pPr marL="630238" indent="-284163">
                  <a:spcBef>
                    <a:spcPts val="600"/>
                  </a:spcBef>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For Armand’s Pizza Parlors, we cannot necessarily conclude that changes in student population </a:t>
                </a:r>
                <a:r>
                  <a:rPr lang="en-US" sz="2000" i="1" dirty="0">
                    <a:latin typeface="Arial" panose="020B0604020202020204" pitchFamily="34" charset="0"/>
                    <a:cs typeface="Arial" panose="020B0604020202020204" pitchFamily="34" charset="0"/>
                  </a:rPr>
                  <a:t>cause</a:t>
                </a:r>
                <a:r>
                  <a:rPr lang="en-US" sz="2000" dirty="0">
                    <a:latin typeface="Arial" panose="020B0604020202020204" pitchFamily="34" charset="0"/>
                    <a:cs typeface="Arial" panose="020B0604020202020204" pitchFamily="34" charset="0"/>
                  </a:rPr>
                  <a:t> changes in quarterly sales.</a:t>
                </a:r>
              </a:p>
              <a:p>
                <a:pPr marL="346075" indent="-346075">
                  <a:spcBef>
                    <a:spcPts val="600"/>
                  </a:spcBef>
                  <a:spcAft>
                    <a:spcPts val="0"/>
                  </a:spcAft>
                  <a:buFont typeface="+mj-lt"/>
                  <a:buAutoNum type="arabicPeriod" startAt="2"/>
                </a:pPr>
                <a:r>
                  <a:rPr lang="en-US" sz="2000" dirty="0">
                    <a:latin typeface="Arial" panose="020B0604020202020204" pitchFamily="34" charset="0"/>
                    <a:cs typeface="Arial" panose="020B0604020202020204" pitchFamily="34" charset="0"/>
                  </a:rPr>
                  <a:t>Just because we are able to reject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0</m:t>
                        </m:r>
                      </m:sub>
                    </m:sSub>
                    <m:r>
                      <a:rPr lang="en-US" sz="2000" b="0" i="1" smtClean="0">
                        <a:latin typeface="Cambria Math" panose="02040503050406030204" pitchFamily="18" charset="0"/>
                        <a:cs typeface="Arial" panose="020B0604020202020204" pitchFamily="34" charset="0"/>
                      </a:rPr>
                      <m:t>: </m:t>
                    </m:r>
                    <m:sSub>
                      <m:sSubPr>
                        <m:ctrlPr>
                          <a:rPr lang="en-US" sz="2000" i="1" smtClean="0">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𝛽</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=0</m:t>
                    </m:r>
                  </m:oMath>
                </a14:m>
                <a:r>
                  <a:rPr lang="en-US" sz="2000" dirty="0">
                    <a:latin typeface="Arial" panose="020B0604020202020204" pitchFamily="34" charset="0"/>
                    <a:cs typeface="Arial" panose="020B0604020202020204" pitchFamily="34" charset="0"/>
                  </a:rPr>
                  <a:t> and demonstrate statistical significance does not enable us to conclude that there is a linear relationship between 𝑥 and 𝑦.</a:t>
                </a:r>
              </a:p>
              <a:p>
                <a:pPr marL="630238" indent="-284163">
                  <a:spcBef>
                    <a:spcPts val="600"/>
                  </a:spcBef>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Given a significant relationship, we can use with confidence the estimated regression equation only for predictions within the range of the 𝑥 values observed in the sample.</a:t>
                </a:r>
              </a:p>
              <a:p>
                <a:pPr marL="630238" indent="-284163">
                  <a:spcBef>
                    <a:spcPts val="600"/>
                  </a:spcBef>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For Armand’s Pizza Parlors, we should use the regression equation only to predict sales for restaurants where the associated student population is between 2,000 and 26,000.</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702675"/>
                <a:ext cx="10781737" cy="4059621"/>
              </a:xfrm>
              <a:blipFill>
                <a:blip r:embed="rId3"/>
                <a:stretch>
                  <a:fillRect l="-1357" t="-1952" r="-1640" b="-3453"/>
                </a:stretch>
              </a:blipFill>
            </p:spPr>
            <p:txBody>
              <a:bodyPr/>
              <a:lstStyle/>
              <a:p>
                <a:r>
                  <a:rPr lang="en-US">
                    <a:noFill/>
                  </a:rPr>
                  <a:t> </a:t>
                </a:r>
              </a:p>
            </p:txBody>
          </p:sp>
        </mc:Fallback>
      </mc:AlternateContent>
    </p:spTree>
    <p:extLst>
      <p:ext uri="{BB962C8B-B14F-4D97-AF65-F5344CB8AC3E}">
        <p14:creationId xmlns:p14="http://schemas.microsoft.com/office/powerpoint/2010/main" val="32589981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705131" y="365125"/>
            <a:ext cx="10781737" cy="672105"/>
          </a:xfrm>
        </p:spPr>
        <p:txBody>
          <a:bodyPr/>
          <a:lstStyle/>
          <a:p>
            <a:r>
              <a:rPr lang="en-US" sz="3200" dirty="0">
                <a:solidFill>
                  <a:srgbClr val="D14B1E"/>
                </a:solidFill>
              </a:rPr>
              <a:t>14.6 Using the Estimated Regression Equation for Estimation and Prediction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728826"/>
                <a:ext cx="10781737" cy="3921126"/>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We use the estimated regression equation to predict an individual value of 𝑦 for a given value of 𝑥. However, to provide information about the precision associated with a </a:t>
                </a:r>
                <a:r>
                  <a:rPr lang="en-US" sz="2000" i="1" dirty="0">
                    <a:latin typeface="Arial" panose="020B0604020202020204" pitchFamily="34" charset="0"/>
                    <a:cs typeface="Arial" panose="020B0604020202020204" pitchFamily="34" charset="0"/>
                  </a:rPr>
                  <a:t>point estimator of </a:t>
                </a:r>
                <a14:m>
                  <m:oMath xmlns:m="http://schemas.openxmlformats.org/officeDocument/2006/math">
                    <m:r>
                      <a:rPr lang="en-US" sz="2000" i="1" dirty="0" smtClean="0">
                        <a:latin typeface="Cambria Math" panose="02040503050406030204" pitchFamily="18" charset="0"/>
                        <a:cs typeface="Arial" panose="020B0604020202020204" pitchFamily="34" charset="0"/>
                      </a:rPr>
                      <m:t>𝐸</m:t>
                    </m:r>
                    <m:r>
                      <a:rPr lang="en-US" sz="2000" i="1" dirty="0" smtClean="0">
                        <a:latin typeface="Cambria Math" panose="02040503050406030204" pitchFamily="18" charset="0"/>
                        <a:cs typeface="Arial" panose="020B0604020202020204" pitchFamily="34" charset="0"/>
                      </a:rPr>
                      <m:t>(</m:t>
                    </m:r>
                    <m:sSup>
                      <m:sSupPr>
                        <m:ctrlPr>
                          <a:rPr lang="en-US" sz="2000" i="1" dirty="0" smtClean="0">
                            <a:latin typeface="Cambria Math" panose="02040503050406030204" pitchFamily="18" charset="0"/>
                            <a:cs typeface="Arial" panose="020B0604020202020204" pitchFamily="34" charset="0"/>
                          </a:rPr>
                        </m:ctrlPr>
                      </m:sSupPr>
                      <m:e>
                        <m:r>
                          <a:rPr lang="en-US" sz="2000" b="0" i="1" dirty="0" smtClean="0">
                            <a:latin typeface="Cambria Math" panose="02040503050406030204" pitchFamily="18" charset="0"/>
                            <a:cs typeface="Arial" panose="020B0604020202020204" pitchFamily="34" charset="0"/>
                          </a:rPr>
                          <m:t>𝑦</m:t>
                        </m:r>
                      </m:e>
                      <m:sup>
                        <m:r>
                          <a:rPr lang="en-US" sz="2000" b="0" i="1" dirty="0" smtClean="0">
                            <a:latin typeface="Cambria Math" panose="02040503050406030204" pitchFamily="18" charset="0"/>
                            <a:cs typeface="Arial" panose="020B0604020202020204" pitchFamily="34" charset="0"/>
                          </a:rPr>
                          <m:t>∗</m:t>
                        </m:r>
                      </m:sup>
                    </m:sSup>
                    <m:r>
                      <a:rPr lang="en-US" sz="2000" i="1" dirty="0" smtClean="0">
                        <a:latin typeface="Cambria Math" panose="02040503050406030204" pitchFamily="18" charset="0"/>
                        <a:cs typeface="Arial" panose="020B0604020202020204" pitchFamily="34" charset="0"/>
                      </a:rPr>
                      <m:t>) </m:t>
                    </m:r>
                  </m:oMath>
                </a14:m>
                <a:r>
                  <a:rPr lang="en-US" sz="2000" dirty="0">
                    <a:latin typeface="Arial" panose="020B0604020202020204" pitchFamily="34" charset="0"/>
                    <a:cs typeface="Arial" panose="020B0604020202020204" pitchFamily="34" charset="0"/>
                  </a:rPr>
                  <a:t>and </a:t>
                </a:r>
                <a:r>
                  <a:rPr lang="en-US" sz="2000" i="1" dirty="0">
                    <a:latin typeface="Arial" panose="020B0604020202020204" pitchFamily="34" charset="0"/>
                    <a:cs typeface="Arial" panose="020B0604020202020204" pitchFamily="34" charset="0"/>
                  </a:rPr>
                  <a:t>predictor</a:t>
                </a:r>
                <a:r>
                  <a:rPr lang="en-US" sz="2000" dirty="0">
                    <a:latin typeface="Arial" panose="020B0604020202020204" pitchFamily="34" charset="0"/>
                    <a:cs typeface="Arial" panose="020B0604020202020204" pitchFamily="34" charset="0"/>
                  </a:rPr>
                  <a:t> </a:t>
                </a:r>
                <a14:m>
                  <m:oMath xmlns:m="http://schemas.openxmlformats.org/officeDocument/2006/math">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𝑦</m:t>
                        </m:r>
                      </m:e>
                    </m:acc>
                  </m:oMath>
                </a14:m>
                <a:r>
                  <a:rPr lang="en-US" sz="2000" dirty="0">
                    <a:latin typeface="Arial" panose="020B0604020202020204" pitchFamily="34" charset="0"/>
                    <a:cs typeface="Arial" panose="020B0604020202020204" pitchFamily="34" charset="0"/>
                  </a:rPr>
                  <a:t>, we must develop confidence intervals and prediction intervals.</a:t>
                </a:r>
              </a:p>
              <a:p>
                <a:pPr marL="457200">
                  <a:spcBef>
                    <a:spcPts val="600"/>
                  </a:spcBef>
                  <a:spcAft>
                    <a:spcPts val="0"/>
                  </a:spcAft>
                </a:pPr>
                <a:r>
                  <a:rPr lang="en-US" sz="2000" dirty="0">
                    <a:latin typeface="Arial" panose="020B0604020202020204" pitchFamily="34" charset="0"/>
                    <a:cs typeface="Arial" panose="020B0604020202020204" pitchFamily="34" charset="0"/>
                  </a:rPr>
                  <a:t>A </a:t>
                </a:r>
                <a:r>
                  <a:rPr lang="en-US" sz="2000" b="1" dirty="0">
                    <a:latin typeface="Arial" panose="020B0604020202020204" pitchFamily="34" charset="0"/>
                    <a:cs typeface="Arial" panose="020B0604020202020204" pitchFamily="34" charset="0"/>
                  </a:rPr>
                  <a:t>confidence interval </a:t>
                </a:r>
                <a:r>
                  <a:rPr lang="en-US" sz="2000" dirty="0">
                    <a:latin typeface="Arial" panose="020B0604020202020204" pitchFamily="34" charset="0"/>
                    <a:cs typeface="Arial" panose="020B0604020202020204" pitchFamily="34" charset="0"/>
                  </a:rPr>
                  <a:t>is an interval estimate of the </a:t>
                </a:r>
                <a:r>
                  <a:rPr lang="en-US" sz="2000" i="1" dirty="0">
                    <a:latin typeface="Arial" panose="020B0604020202020204" pitchFamily="34" charset="0"/>
                    <a:cs typeface="Arial" panose="020B0604020202020204" pitchFamily="34" charset="0"/>
                  </a:rPr>
                  <a:t>mean value of </a:t>
                </a:r>
                <a:r>
                  <a:rPr lang="en-US" sz="2000" dirty="0">
                    <a:latin typeface="Arial" panose="020B0604020202020204" pitchFamily="34" charset="0"/>
                    <a:cs typeface="Arial" panose="020B0604020202020204" pitchFamily="34" charset="0"/>
                  </a:rPr>
                  <a:t>𝑦 for a given value of 𝑥.</a:t>
                </a:r>
              </a:p>
              <a:p>
                <a:pPr marL="457200">
                  <a:spcBef>
                    <a:spcPts val="600"/>
                  </a:spcBef>
                  <a:spcAft>
                    <a:spcPts val="0"/>
                  </a:spcAft>
                </a:pPr>
                <a:r>
                  <a:rPr lang="en-US" sz="2000" dirty="0">
                    <a:latin typeface="Arial" panose="020B0604020202020204" pitchFamily="34" charset="0"/>
                    <a:cs typeface="Arial" panose="020B0604020202020204" pitchFamily="34" charset="0"/>
                  </a:rPr>
                  <a:t>A </a:t>
                </a:r>
                <a:r>
                  <a:rPr lang="en-US" sz="2000" b="1" dirty="0">
                    <a:latin typeface="Arial" panose="020B0604020202020204" pitchFamily="34" charset="0"/>
                    <a:cs typeface="Arial" panose="020B0604020202020204" pitchFamily="34" charset="0"/>
                  </a:rPr>
                  <a:t>prediction interval </a:t>
                </a:r>
                <a:r>
                  <a:rPr lang="en-US" sz="2000" dirty="0">
                    <a:latin typeface="Arial" panose="020B0604020202020204" pitchFamily="34" charset="0"/>
                    <a:cs typeface="Arial" panose="020B0604020202020204" pitchFamily="34" charset="0"/>
                  </a:rPr>
                  <a:t>is used whenever we want to </a:t>
                </a:r>
                <a:r>
                  <a:rPr lang="en-US" sz="2000" i="1" dirty="0">
                    <a:latin typeface="Arial" panose="020B0604020202020204" pitchFamily="34" charset="0"/>
                    <a:cs typeface="Arial" panose="020B0604020202020204" pitchFamily="34" charset="0"/>
                  </a:rPr>
                  <a:t>predict an individual value of </a:t>
                </a:r>
                <a:r>
                  <a:rPr lang="en-US" sz="2000" dirty="0">
                    <a:latin typeface="Arial" panose="020B0604020202020204" pitchFamily="34" charset="0"/>
                    <a:cs typeface="Arial" panose="020B0604020202020204" pitchFamily="34" charset="0"/>
                  </a:rPr>
                  <a:t>𝑦 for a new observation corresponding to a given value of 𝑥.</a:t>
                </a:r>
              </a:p>
              <a:p>
                <a:pPr>
                  <a:spcBef>
                    <a:spcPts val="600"/>
                  </a:spcBef>
                  <a:spcAft>
                    <a:spcPts val="0"/>
                  </a:spcAft>
                </a:pPr>
                <a:r>
                  <a:rPr lang="en-US" sz="2000" dirty="0">
                    <a:latin typeface="Arial" panose="020B0604020202020204" pitchFamily="34" charset="0"/>
                    <a:cs typeface="Arial" panose="020B0604020202020204" pitchFamily="34" charset="0"/>
                  </a:rPr>
                  <a:t>The margin of error is larger for a prediction interval.</a:t>
                </a:r>
              </a:p>
              <a:p>
                <a:pPr>
                  <a:spcBef>
                    <a:spcPts val="600"/>
                  </a:spcBef>
                  <a:spcAft>
                    <a:spcPts val="0"/>
                  </a:spcAft>
                </a:pPr>
                <a:r>
                  <a:rPr lang="en-US" sz="2000" dirty="0">
                    <a:latin typeface="Arial" panose="020B0604020202020204" pitchFamily="34" charset="0"/>
                    <a:cs typeface="Arial" panose="020B0604020202020204" pitchFamily="34" charset="0"/>
                  </a:rPr>
                  <a:t>For this section we will be using the following notation to help clarify matters:</a:t>
                </a:r>
              </a:p>
              <a:p>
                <a:pPr marL="457200">
                  <a:spcBef>
                    <a:spcPts val="600"/>
                  </a:spcBef>
                  <a:spcAft>
                    <a:spcPts val="0"/>
                  </a:spcAft>
                </a:pPr>
                <a:r>
                  <a:rPr lang="en-US" sz="2000" dirty="0">
                    <a:latin typeface="Arial" panose="020B0604020202020204" pitchFamily="34" charset="0"/>
                    <a:cs typeface="Arial" panose="020B0604020202020204" pitchFamily="34" charset="0"/>
                  </a:rPr>
                  <a:t>𝑥* = the given value of the independent variable 𝑥.</a:t>
                </a:r>
              </a:p>
              <a:p>
                <a:pPr marL="457200">
                  <a:spcBef>
                    <a:spcPts val="600"/>
                  </a:spcBef>
                  <a:spcAft>
                    <a:spcPts val="0"/>
                  </a:spcAft>
                </a:pPr>
                <a:r>
                  <a:rPr lang="en-US" sz="2000" dirty="0">
                    <a:latin typeface="Arial" panose="020B0604020202020204" pitchFamily="34" charset="0"/>
                    <a:cs typeface="Arial" panose="020B0604020202020204" pitchFamily="34" charset="0"/>
                  </a:rPr>
                  <a:t>𝑦* = the random variable for the possible values of the dependent variable 𝑦 when 𝑥 = 𝑥*.</a:t>
                </a:r>
              </a:p>
              <a:p>
                <a:pPr marL="457200">
                  <a:spcBef>
                    <a:spcPts val="600"/>
                  </a:spcBef>
                  <a:spcAft>
                    <a:spcPts val="0"/>
                  </a:spcAft>
                </a:pPr>
                <a14:m>
                  <m:oMath xmlns:m="http://schemas.openxmlformats.org/officeDocument/2006/math">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𝑦</m:t>
                        </m:r>
                      </m:e>
                    </m:acc>
                  </m:oMath>
                </a14:m>
                <a:r>
                  <a:rPr lang="en-US" sz="2000" dirty="0">
                    <a:latin typeface="Arial" panose="020B0604020202020204" pitchFamily="34" charset="0"/>
                    <a:cs typeface="Arial" panose="020B0604020202020204" pitchFamily="34" charset="0"/>
                  </a:rPr>
                  <a:t>* = the point estimator of </a:t>
                </a:r>
                <a:r>
                  <a:rPr lang="en-US" sz="2000" i="1" dirty="0">
                    <a:latin typeface="Arial" panose="020B0604020202020204" pitchFamily="34" charset="0"/>
                    <a:cs typeface="Arial" panose="020B0604020202020204" pitchFamily="34" charset="0"/>
                  </a:rPr>
                  <a:t>E</a:t>
                </a:r>
                <a:r>
                  <a:rPr lang="en-US" sz="2000" dirty="0">
                    <a:latin typeface="Arial" panose="020B0604020202020204" pitchFamily="34" charset="0"/>
                    <a:cs typeface="Arial" panose="020B0604020202020204" pitchFamily="34" charset="0"/>
                  </a:rPr>
                  <a:t>(𝑦*) and the predictor of an individual value of 𝑦* when 𝑥 = 𝑥*.</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728826"/>
                <a:ext cx="10781737" cy="3921126"/>
              </a:xfrm>
              <a:blipFill>
                <a:blip r:embed="rId3"/>
                <a:stretch>
                  <a:fillRect l="-1471" t="-2022" r="-1640" b="-3110"/>
                </a:stretch>
              </a:blipFill>
            </p:spPr>
            <p:txBody>
              <a:bodyPr/>
              <a:lstStyle/>
              <a:p>
                <a:r>
                  <a:rPr lang="en-US">
                    <a:noFill/>
                  </a:rPr>
                  <a:t> </a:t>
                </a:r>
              </a:p>
            </p:txBody>
          </p:sp>
        </mc:Fallback>
      </mc:AlternateContent>
    </p:spTree>
    <p:extLst>
      <p:ext uri="{BB962C8B-B14F-4D97-AF65-F5344CB8AC3E}">
        <p14:creationId xmlns:p14="http://schemas.microsoft.com/office/powerpoint/2010/main" val="10950553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705131" y="365125"/>
            <a:ext cx="10781737" cy="672105"/>
          </a:xfrm>
        </p:spPr>
        <p:txBody>
          <a:bodyPr/>
          <a:lstStyle/>
          <a:p>
            <a:r>
              <a:rPr lang="en-US" sz="3200" dirty="0"/>
              <a:t>14.6 Confidence Interval for the Mean Value of </a:t>
            </a:r>
            <a:r>
              <a:rPr lang="en-US" sz="3200" i="1" dirty="0"/>
              <a: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324303"/>
                <a:ext cx="10781737" cy="4453759"/>
              </a:xfrm>
            </p:spPr>
            <p:txBody>
              <a:bodyPr/>
              <a:lstStyle/>
              <a:p>
                <a:pPr>
                  <a:spcBef>
                    <a:spcPts val="600"/>
                  </a:spcBef>
                  <a:spcAft>
                    <a:spcPts val="600"/>
                  </a:spcAft>
                </a:pPr>
                <a:r>
                  <a:rPr lang="en-US" sz="2000" dirty="0">
                    <a:latin typeface="Arial" panose="020B0604020202020204" pitchFamily="34" charset="0"/>
                    <a:cs typeface="Arial" panose="020B0604020202020204" pitchFamily="34" charset="0"/>
                  </a:rPr>
                  <a:t>The form of a confidence interval for </a:t>
                </a:r>
                <a14:m>
                  <m:oMath xmlns:m="http://schemas.openxmlformats.org/officeDocument/2006/math">
                    <m:r>
                      <a:rPr lang="en-US" sz="2000" b="0" i="1" smtClean="0">
                        <a:latin typeface="Cambria Math" panose="02040503050406030204" pitchFamily="18" charset="0"/>
                        <a:cs typeface="Arial" panose="020B0604020202020204" pitchFamily="34" charset="0"/>
                      </a:rPr>
                      <m:t>𝐸</m:t>
                    </m:r>
                    <m:r>
                      <a:rPr lang="en-US" sz="2000" b="0" i="1" smtClean="0">
                        <a:latin typeface="Cambria Math" panose="02040503050406030204" pitchFamily="18" charset="0"/>
                        <a:cs typeface="Arial" panose="020B0604020202020204" pitchFamily="34" charset="0"/>
                      </a:rPr>
                      <m:t>(</m:t>
                    </m:r>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𝑦</m:t>
                        </m:r>
                      </m:e>
                      <m:sup>
                        <m:r>
                          <a:rPr lang="en-US" sz="2000" b="0" i="1" smtClean="0">
                            <a:latin typeface="Cambria Math" panose="02040503050406030204" pitchFamily="18" charset="0"/>
                            <a:cs typeface="Arial" panose="020B0604020202020204" pitchFamily="34" charset="0"/>
                          </a:rPr>
                          <m:t>∗</m:t>
                        </m:r>
                      </m:sup>
                    </m:sSup>
                    <m:r>
                      <a:rPr lang="en-US" sz="2000" b="0" i="1" smtClean="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is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sSup>
                        <m:sSupPr>
                          <m:ctrlPr>
                            <a:rPr lang="en-US" sz="2000" b="1" i="1" smtClean="0">
                              <a:latin typeface="Cambria Math" panose="02040503050406030204" pitchFamily="18" charset="0"/>
                              <a:ea typeface="Cambria Math" panose="02040503050406030204" pitchFamily="18" charset="0"/>
                            </a:rPr>
                          </m:ctrlPr>
                        </m:sSupPr>
                        <m:e>
                          <m:acc>
                            <m:accPr>
                              <m:chr m:val="̂"/>
                              <m:ctrlPr>
                                <a:rPr lang="en-US" sz="2000" b="1" i="1" smtClean="0">
                                  <a:latin typeface="Cambria Math" panose="02040503050406030204" pitchFamily="18" charset="0"/>
                                  <a:ea typeface="Cambria Math" panose="02040503050406030204" pitchFamily="18" charset="0"/>
                                </a:rPr>
                              </m:ctrlPr>
                            </m:accPr>
                            <m:e>
                              <m:r>
                                <a:rPr lang="en-US" sz="2000" b="1" i="1" smtClean="0">
                                  <a:latin typeface="Cambria Math" panose="02040503050406030204" pitchFamily="18" charset="0"/>
                                  <a:ea typeface="Cambria Math" panose="02040503050406030204" pitchFamily="18" charset="0"/>
                                </a:rPr>
                                <m:t>𝒚</m:t>
                              </m:r>
                            </m:e>
                          </m:acc>
                        </m:e>
                        <m:sup>
                          <m:r>
                            <a:rPr lang="en-US" sz="2000" b="1" i="1" smtClean="0">
                              <a:latin typeface="Cambria Math" panose="02040503050406030204" pitchFamily="18" charset="0"/>
                              <a:ea typeface="Cambria Math" panose="02040503050406030204" pitchFamily="18" charset="0"/>
                            </a:rPr>
                            <m:t>∗</m:t>
                          </m:r>
                        </m:sup>
                      </m:sSup>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𝒕</m:t>
                          </m:r>
                        </m:e>
                        <m:sub>
                          <m:f>
                            <m:fPr>
                              <m:type m:val="lin"/>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𝜶</m:t>
                              </m:r>
                            </m:num>
                            <m:den>
                              <m:r>
                                <a:rPr lang="en-US" sz="2000" b="1" i="1" smtClean="0">
                                  <a:latin typeface="Cambria Math" panose="02040503050406030204" pitchFamily="18" charset="0"/>
                                  <a:ea typeface="Cambria Math" panose="02040503050406030204" pitchFamily="18" charset="0"/>
                                </a:rPr>
                                <m:t>𝟐</m:t>
                              </m:r>
                            </m:den>
                          </m:f>
                        </m:sub>
                      </m:sSub>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𝒔</m:t>
                          </m:r>
                        </m:e>
                        <m:sub>
                          <m:sSup>
                            <m:sSupPr>
                              <m:ctrlPr>
                                <a:rPr lang="en-US" sz="2000" b="1" i="1">
                                  <a:latin typeface="Cambria Math" panose="02040503050406030204" pitchFamily="18" charset="0"/>
                                  <a:ea typeface="Cambria Math" panose="02040503050406030204" pitchFamily="18" charset="0"/>
                                </a:rPr>
                              </m:ctrlPr>
                            </m:sSupPr>
                            <m:e>
                              <m:acc>
                                <m:accPr>
                                  <m:chr m:val="̂"/>
                                  <m:ctrlPr>
                                    <a:rPr lang="en-US" sz="2000" b="1" i="1">
                                      <a:latin typeface="Cambria Math" panose="02040503050406030204" pitchFamily="18" charset="0"/>
                                      <a:ea typeface="Cambria Math" panose="02040503050406030204" pitchFamily="18" charset="0"/>
                                    </a:rPr>
                                  </m:ctrlPr>
                                </m:accPr>
                                <m:e>
                                  <m:r>
                                    <a:rPr lang="en-US" sz="2000" b="1" i="1">
                                      <a:latin typeface="Cambria Math" panose="02040503050406030204" pitchFamily="18" charset="0"/>
                                      <a:ea typeface="Cambria Math" panose="02040503050406030204" pitchFamily="18" charset="0"/>
                                    </a:rPr>
                                    <m:t>𝒚</m:t>
                                  </m:r>
                                </m:e>
                              </m:acc>
                            </m:e>
                            <m:sup>
                              <m:r>
                                <a:rPr lang="en-US" sz="2000" b="1" i="1">
                                  <a:latin typeface="Cambria Math" panose="02040503050406030204" pitchFamily="18" charset="0"/>
                                  <a:ea typeface="Cambria Math" panose="02040503050406030204" pitchFamily="18" charset="0"/>
                                </a:rPr>
                                <m:t>∗</m:t>
                              </m:r>
                            </m:sup>
                          </m:sSup>
                        </m:sub>
                      </m:sSub>
                    </m:oMath>
                  </m:oMathPara>
                </a14:m>
                <a:endParaRPr lang="en-US" sz="2000" b="1" dirty="0">
                  <a:latin typeface="Arial" panose="020B0604020202020204" pitchFamily="34" charset="0"/>
                  <a:cs typeface="Arial" panose="020B0604020202020204" pitchFamily="34" charset="0"/>
                </a:endParaRPr>
              </a:p>
              <a:p>
                <a:pPr>
                  <a:spcBef>
                    <a:spcPts val="600"/>
                  </a:spcBef>
                  <a:spcAft>
                    <a:spcPts val="0"/>
                  </a:spcAft>
                </a:pPr>
                <a:r>
                  <a:rPr lang="en-US" sz="2000" dirty="0">
                    <a:latin typeface="Arial" panose="020B0604020202020204" pitchFamily="34" charset="0"/>
                    <a:cs typeface="Arial" panose="020B0604020202020204" pitchFamily="34" charset="0"/>
                  </a:rPr>
                  <a:t>Where </a:t>
                </a:r>
                <a14:m>
                  <m:oMath xmlns:m="http://schemas.openxmlformats.org/officeDocument/2006/math">
                    <m:r>
                      <a:rPr lang="en-US" sz="2000" i="1" dirty="0" smtClean="0">
                        <a:latin typeface="Cambria Math" panose="02040503050406030204" pitchFamily="18" charset="0"/>
                        <a:cs typeface="Arial" panose="020B0604020202020204" pitchFamily="34" charset="0"/>
                      </a:rPr>
                      <m:t>1−</m:t>
                    </m:r>
                    <m:r>
                      <a:rPr lang="en-US" sz="2000" i="1" dirty="0" smtClean="0">
                        <a:latin typeface="Cambria Math" panose="02040503050406030204" pitchFamily="18" charset="0"/>
                        <a:cs typeface="Arial" panose="020B0604020202020204" pitchFamily="34" charset="0"/>
                      </a:rPr>
                      <m:t>𝛼</m:t>
                    </m:r>
                  </m:oMath>
                </a14:m>
                <a:r>
                  <a:rPr lang="en-US" sz="2000" dirty="0">
                    <a:latin typeface="Arial" panose="020B0604020202020204" pitchFamily="34" charset="0"/>
                    <a:cs typeface="Arial" panose="020B0604020202020204" pitchFamily="34" charset="0"/>
                  </a:rPr>
                  <a:t> is the confidence coefficient, and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𝑡</m:t>
                        </m:r>
                      </m:e>
                      <m:sub>
                        <m:f>
                          <m:fPr>
                            <m:type m:val="lin"/>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ea typeface="Cambria Math" panose="02040503050406030204" pitchFamily="18" charset="0"/>
                              </a:rPr>
                              <m:t>2</m:t>
                            </m:r>
                          </m:den>
                        </m:f>
                      </m:sub>
                    </m:sSub>
                  </m:oMath>
                </a14:m>
                <a:r>
                  <a:rPr lang="en-US" sz="2000" dirty="0">
                    <a:latin typeface="Arial" panose="020B0604020202020204" pitchFamily="34" charset="0"/>
                    <a:cs typeface="Arial" panose="020B0604020202020204" pitchFamily="34" charset="0"/>
                  </a:rPr>
                  <a:t> is based on a t distribution with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r>
                      <a:rPr lang="en-US" sz="2000" i="1" dirty="0" smtClean="0">
                        <a:latin typeface="Cambria Math" panose="02040503050406030204" pitchFamily="18" charset="0"/>
                        <a:cs typeface="Arial" panose="020B0604020202020204" pitchFamily="34" charset="0"/>
                      </a:rPr>
                      <m:t>−2</m:t>
                    </m:r>
                  </m:oMath>
                </a14:m>
                <a:r>
                  <a:rPr lang="en-US" sz="2000" dirty="0">
                    <a:latin typeface="Arial" panose="020B0604020202020204" pitchFamily="34" charset="0"/>
                    <a:cs typeface="Arial" panose="020B0604020202020204" pitchFamily="34" charset="0"/>
                  </a:rPr>
                  <a:t> degrees of freedom.</a:t>
                </a:r>
              </a:p>
              <a:p>
                <a:pPr>
                  <a:spcBef>
                    <a:spcPts val="600"/>
                  </a:spcBef>
                  <a:spcAft>
                    <a:spcPts val="600"/>
                  </a:spcAft>
                </a:pP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𝑠</m:t>
                        </m:r>
                      </m:e>
                      <m:sub>
                        <m:sSup>
                          <m:sSupPr>
                            <m:ctrlPr>
                              <a:rPr lang="en-US" sz="2000" i="1">
                                <a:latin typeface="Cambria Math" panose="02040503050406030204" pitchFamily="18" charset="0"/>
                                <a:ea typeface="Cambria Math" panose="02040503050406030204" pitchFamily="18" charset="0"/>
                              </a:rPr>
                            </m:ctrlPr>
                          </m:sSupPr>
                          <m:e>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𝑦</m:t>
                                </m:r>
                              </m:e>
                            </m:acc>
                          </m:e>
                          <m:sup>
                            <m:r>
                              <a:rPr lang="en-US" sz="2000" i="1">
                                <a:latin typeface="Cambria Math" panose="02040503050406030204" pitchFamily="18" charset="0"/>
                                <a:ea typeface="Cambria Math" panose="02040503050406030204" pitchFamily="18" charset="0"/>
                              </a:rPr>
                              <m:t>∗</m:t>
                            </m:r>
                          </m:sup>
                        </m:sSup>
                      </m:sub>
                    </m:sSub>
                  </m:oMath>
                </a14:m>
                <a:r>
                  <a:rPr lang="en-US" sz="2000" dirty="0">
                    <a:latin typeface="Arial" panose="020B0604020202020204" pitchFamily="34" charset="0"/>
                    <a:cs typeface="Arial" panose="020B0604020202020204" pitchFamily="34" charset="0"/>
                  </a:rPr>
                  <a:t> is the estimate of the standard deviation of </a:t>
                </a:r>
                <a14:m>
                  <m:oMath xmlns:m="http://schemas.openxmlformats.org/officeDocument/2006/math">
                    <m:sSup>
                      <m:sSupPr>
                        <m:ctrlPr>
                          <a:rPr lang="en-US" sz="2000" i="1">
                            <a:latin typeface="Cambria Math" panose="02040503050406030204" pitchFamily="18" charset="0"/>
                            <a:ea typeface="Cambria Math" panose="02040503050406030204" pitchFamily="18" charset="0"/>
                          </a:rPr>
                        </m:ctrlPr>
                      </m:sSupPr>
                      <m:e>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𝑦</m:t>
                            </m:r>
                          </m:e>
                        </m:acc>
                      </m:e>
                      <m:sup>
                        <m:r>
                          <a:rPr lang="en-US" sz="2000" i="1">
                            <a:latin typeface="Cambria Math" panose="02040503050406030204" pitchFamily="18" charset="0"/>
                            <a:ea typeface="Cambria Math" panose="02040503050406030204" pitchFamily="18" charset="0"/>
                          </a:rPr>
                          <m:t>∗</m:t>
                        </m:r>
                      </m:sup>
                    </m:sSup>
                  </m:oMath>
                </a14:m>
                <a:r>
                  <a:rPr lang="en-US" sz="2000" dirty="0">
                    <a:latin typeface="Arial" panose="020B0604020202020204" pitchFamily="34" charset="0"/>
                    <a:cs typeface="Arial" panose="020B0604020202020204" pitchFamily="34" charset="0"/>
                  </a:rPr>
                  <a:t> and it is calculated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𝒔</m:t>
                          </m:r>
                        </m:e>
                        <m:sub>
                          <m:sSup>
                            <m:sSupPr>
                              <m:ctrlPr>
                                <a:rPr lang="en-US" sz="2000" b="1" i="1">
                                  <a:latin typeface="Cambria Math" panose="02040503050406030204" pitchFamily="18" charset="0"/>
                                  <a:ea typeface="Cambria Math" panose="02040503050406030204" pitchFamily="18" charset="0"/>
                                </a:rPr>
                              </m:ctrlPr>
                            </m:sSupPr>
                            <m:e>
                              <m:acc>
                                <m:accPr>
                                  <m:chr m:val="̂"/>
                                  <m:ctrlPr>
                                    <a:rPr lang="en-US" sz="2000" b="1" i="1">
                                      <a:latin typeface="Cambria Math" panose="02040503050406030204" pitchFamily="18" charset="0"/>
                                      <a:ea typeface="Cambria Math" panose="02040503050406030204" pitchFamily="18" charset="0"/>
                                    </a:rPr>
                                  </m:ctrlPr>
                                </m:accPr>
                                <m:e>
                                  <m:r>
                                    <a:rPr lang="en-US" sz="2000" b="1" i="1">
                                      <a:latin typeface="Cambria Math" panose="02040503050406030204" pitchFamily="18" charset="0"/>
                                      <a:ea typeface="Cambria Math" panose="02040503050406030204" pitchFamily="18" charset="0"/>
                                    </a:rPr>
                                    <m:t>𝒚</m:t>
                                  </m:r>
                                </m:e>
                              </m:acc>
                            </m:e>
                            <m:sup>
                              <m:r>
                                <a:rPr lang="en-US" sz="2000" b="1" i="1">
                                  <a:latin typeface="Cambria Math" panose="02040503050406030204" pitchFamily="18" charset="0"/>
                                  <a:ea typeface="Cambria Math" panose="02040503050406030204" pitchFamily="18" charset="0"/>
                                </a:rPr>
                                <m:t>∗</m:t>
                              </m:r>
                            </m:sup>
                          </m:sSup>
                        </m:sub>
                      </m:sSub>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𝒔</m:t>
                      </m:r>
                      <m:rad>
                        <m:radPr>
                          <m:degHide m:val="on"/>
                          <m:ctrlPr>
                            <a:rPr lang="en-US" sz="2000" b="1" i="1" smtClean="0">
                              <a:latin typeface="Cambria Math" panose="02040503050406030204" pitchFamily="18" charset="0"/>
                              <a:ea typeface="Cambria Math" panose="02040503050406030204" pitchFamily="18" charset="0"/>
                            </a:rPr>
                          </m:ctrlPr>
                        </m:radPr>
                        <m:deg/>
                        <m:e>
                          <m:f>
                            <m:fPr>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𝟏</m:t>
                              </m:r>
                            </m:num>
                            <m:den>
                              <m:r>
                                <a:rPr lang="en-US" sz="2000" b="1" i="1" smtClean="0">
                                  <a:latin typeface="Cambria Math" panose="02040503050406030204" pitchFamily="18" charset="0"/>
                                  <a:ea typeface="Cambria Math" panose="02040503050406030204" pitchFamily="18" charset="0"/>
                                </a:rPr>
                                <m:t>𝒏</m:t>
                              </m:r>
                            </m:den>
                          </m:f>
                          <m:r>
                            <a:rPr lang="en-US" sz="2000" b="1" i="1" smtClean="0">
                              <a:latin typeface="Cambria Math" panose="02040503050406030204" pitchFamily="18" charset="0"/>
                              <a:ea typeface="Cambria Math" panose="02040503050406030204" pitchFamily="18" charset="0"/>
                            </a:rPr>
                            <m:t>+</m:t>
                          </m:r>
                          <m:f>
                            <m:fPr>
                              <m:ctrlPr>
                                <a:rPr lang="en-US" sz="2000" b="1" i="1" smtClean="0">
                                  <a:latin typeface="Cambria Math" panose="02040503050406030204" pitchFamily="18" charset="0"/>
                                  <a:ea typeface="Cambria Math" panose="02040503050406030204" pitchFamily="18" charset="0"/>
                                </a:rPr>
                              </m:ctrlPr>
                            </m:fPr>
                            <m:num>
                              <m:sSup>
                                <m:sSupPr>
                                  <m:ctrlPr>
                                    <a:rPr lang="en-US" sz="2000" b="1" i="1" smtClean="0">
                                      <a:latin typeface="Cambria Math" panose="02040503050406030204" pitchFamily="18" charset="0"/>
                                      <a:ea typeface="Cambria Math" panose="02040503050406030204" pitchFamily="18" charset="0"/>
                                    </a:rPr>
                                  </m:ctrlPr>
                                </m:sSupPr>
                                <m:e>
                                  <m:d>
                                    <m:dPr>
                                      <m:ctrlPr>
                                        <a:rPr lang="en-US" sz="2000" b="1" i="1" smtClean="0">
                                          <a:latin typeface="Cambria Math" panose="02040503050406030204" pitchFamily="18" charset="0"/>
                                          <a:ea typeface="Cambria Math" panose="02040503050406030204" pitchFamily="18" charset="0"/>
                                        </a:rPr>
                                      </m:ctrlPr>
                                    </m:dPr>
                                    <m:e>
                                      <m:sSup>
                                        <m:sSupPr>
                                          <m:ctrlPr>
                                            <a:rPr lang="en-US" sz="2000" b="1" i="1" smtClean="0">
                                              <a:latin typeface="Cambria Math" panose="02040503050406030204" pitchFamily="18" charset="0"/>
                                              <a:ea typeface="Cambria Math" panose="02040503050406030204" pitchFamily="18" charset="0"/>
                                            </a:rPr>
                                          </m:ctrlPr>
                                        </m:sSupPr>
                                        <m:e>
                                          <m:r>
                                            <a:rPr lang="en-US" sz="2000" b="1" i="1" smtClean="0">
                                              <a:latin typeface="Cambria Math" panose="02040503050406030204" pitchFamily="18" charset="0"/>
                                              <a:ea typeface="Cambria Math" panose="02040503050406030204" pitchFamily="18" charset="0"/>
                                            </a:rPr>
                                            <m:t>𝒙</m:t>
                                          </m:r>
                                        </m:e>
                                        <m:sup>
                                          <m:r>
                                            <a:rPr lang="en-US" sz="2000" b="1" i="1" smtClean="0">
                                              <a:latin typeface="Cambria Math" panose="02040503050406030204" pitchFamily="18" charset="0"/>
                                              <a:ea typeface="Cambria Math" panose="02040503050406030204" pitchFamily="18" charset="0"/>
                                            </a:rPr>
                                            <m:t>∗</m:t>
                                          </m:r>
                                        </m:sup>
                                      </m:sSup>
                                      <m:r>
                                        <a:rPr lang="en-US" sz="2000" b="1" i="1" smtClean="0">
                                          <a:latin typeface="Cambria Math" panose="02040503050406030204" pitchFamily="18" charset="0"/>
                                          <a:ea typeface="Cambria Math" panose="02040503050406030204" pitchFamily="18" charset="0"/>
                                        </a:rPr>
                                        <m:t>−</m:t>
                                      </m:r>
                                      <m:acc>
                                        <m:accPr>
                                          <m:chr m:val="̅"/>
                                          <m:ctrlPr>
                                            <a:rPr lang="en-US" sz="2000" b="1" i="1" smtClean="0">
                                              <a:latin typeface="Cambria Math" panose="02040503050406030204" pitchFamily="18" charset="0"/>
                                              <a:ea typeface="Cambria Math" panose="02040503050406030204" pitchFamily="18" charset="0"/>
                                            </a:rPr>
                                          </m:ctrlPr>
                                        </m:accPr>
                                        <m:e>
                                          <m:r>
                                            <a:rPr lang="en-US" sz="2000" b="1" i="1" smtClean="0">
                                              <a:latin typeface="Cambria Math" panose="02040503050406030204" pitchFamily="18" charset="0"/>
                                              <a:ea typeface="Cambria Math" panose="02040503050406030204" pitchFamily="18" charset="0"/>
                                            </a:rPr>
                                            <m:t>𝒙</m:t>
                                          </m:r>
                                        </m:e>
                                      </m:acc>
                                    </m:e>
                                  </m:d>
                                </m:e>
                                <m:sup>
                                  <m:r>
                                    <a:rPr lang="en-US" sz="2000" b="1" i="1" smtClean="0">
                                      <a:latin typeface="Cambria Math" panose="02040503050406030204" pitchFamily="18" charset="0"/>
                                      <a:ea typeface="Cambria Math" panose="02040503050406030204" pitchFamily="18" charset="0"/>
                                    </a:rPr>
                                    <m:t>𝟐</m:t>
                                  </m:r>
                                </m:sup>
                              </m:sSup>
                            </m:num>
                            <m:den>
                              <m:nary>
                                <m:naryPr>
                                  <m:chr m:val="∑"/>
                                  <m:subHide m:val="on"/>
                                  <m:supHide m:val="on"/>
                                  <m:ctrlPr>
                                    <a:rPr lang="en-US" sz="2000" b="1" i="1" smtClean="0">
                                      <a:latin typeface="Cambria Math" panose="02040503050406030204" pitchFamily="18" charset="0"/>
                                      <a:ea typeface="Cambria Math" panose="02040503050406030204" pitchFamily="18" charset="0"/>
                                    </a:rPr>
                                  </m:ctrlPr>
                                </m:naryPr>
                                <m:sub/>
                                <m:sup/>
                                <m:e>
                                  <m:sSup>
                                    <m:sSupPr>
                                      <m:ctrlPr>
                                        <a:rPr lang="en-US" sz="2000" b="1" i="1" smtClean="0">
                                          <a:latin typeface="Cambria Math" panose="02040503050406030204" pitchFamily="18" charset="0"/>
                                          <a:ea typeface="Cambria Math" panose="02040503050406030204" pitchFamily="18" charset="0"/>
                                        </a:rPr>
                                      </m:ctrlPr>
                                    </m:sSupPr>
                                    <m:e>
                                      <m:d>
                                        <m:dPr>
                                          <m:ctrlPr>
                                            <a:rPr lang="en-US" sz="2000" b="1" i="1" smtClean="0">
                                              <a:latin typeface="Cambria Math" panose="02040503050406030204" pitchFamily="18" charset="0"/>
                                              <a:ea typeface="Cambria Math" panose="02040503050406030204" pitchFamily="18" charset="0"/>
                                            </a:rPr>
                                          </m:ctrlPr>
                                        </m:dPr>
                                        <m:e>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𝒙</m:t>
                                              </m:r>
                                            </m:e>
                                            <m:sub>
                                              <m:r>
                                                <a:rPr lang="en-US" sz="2000" b="1" i="1" smtClean="0">
                                                  <a:latin typeface="Cambria Math" panose="02040503050406030204" pitchFamily="18" charset="0"/>
                                                  <a:ea typeface="Cambria Math" panose="02040503050406030204" pitchFamily="18" charset="0"/>
                                                </a:rPr>
                                                <m:t>𝒊</m:t>
                                              </m:r>
                                            </m:sub>
                                          </m:sSub>
                                          <m:r>
                                            <a:rPr lang="en-US" sz="2000" b="1" i="1" smtClean="0">
                                              <a:latin typeface="Cambria Math" panose="02040503050406030204" pitchFamily="18" charset="0"/>
                                              <a:ea typeface="Cambria Math" panose="02040503050406030204" pitchFamily="18" charset="0"/>
                                            </a:rPr>
                                            <m:t>−</m:t>
                                          </m:r>
                                          <m:acc>
                                            <m:accPr>
                                              <m:chr m:val="̅"/>
                                              <m:ctrlPr>
                                                <a:rPr lang="en-US" sz="2000" b="1" i="1">
                                                  <a:latin typeface="Cambria Math" panose="02040503050406030204" pitchFamily="18" charset="0"/>
                                                  <a:ea typeface="Cambria Math" panose="02040503050406030204" pitchFamily="18" charset="0"/>
                                                </a:rPr>
                                              </m:ctrlPr>
                                            </m:accPr>
                                            <m:e>
                                              <m:r>
                                                <a:rPr lang="en-US" sz="2000" b="1" i="1">
                                                  <a:latin typeface="Cambria Math" panose="02040503050406030204" pitchFamily="18" charset="0"/>
                                                  <a:ea typeface="Cambria Math" panose="02040503050406030204" pitchFamily="18" charset="0"/>
                                                </a:rPr>
                                                <m:t>𝒙</m:t>
                                              </m:r>
                                            </m:e>
                                          </m:acc>
                                        </m:e>
                                      </m:d>
                                    </m:e>
                                    <m:sup>
                                      <m:r>
                                        <a:rPr lang="en-US" sz="2000" b="1" i="1" smtClean="0">
                                          <a:latin typeface="Cambria Math" panose="02040503050406030204" pitchFamily="18" charset="0"/>
                                          <a:ea typeface="Cambria Math" panose="02040503050406030204" pitchFamily="18" charset="0"/>
                                        </a:rPr>
                                        <m:t>𝟐</m:t>
                                      </m:r>
                                    </m:sup>
                                  </m:sSup>
                                </m:e>
                              </m:nary>
                            </m:den>
                          </m:f>
                        </m:e>
                      </m:rad>
                    </m:oMath>
                  </m:oMathPara>
                </a14:m>
                <a:endParaRPr lang="en-US" sz="2000" b="1"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cs typeface="Arial" panose="020B0604020202020204" pitchFamily="34" charset="0"/>
                  </a:rPr>
                  <a:t>Note that the estimated standard deviation of </a:t>
                </a:r>
                <a14:m>
                  <m:oMath xmlns:m="http://schemas.openxmlformats.org/officeDocument/2006/math">
                    <m:sSup>
                      <m:sSupPr>
                        <m:ctrlPr>
                          <a:rPr lang="en-US" sz="2000" i="1" smtClean="0">
                            <a:latin typeface="Cambria Math" panose="02040503050406030204" pitchFamily="18" charset="0"/>
                            <a:ea typeface="Cambria Math" panose="02040503050406030204" pitchFamily="18" charset="0"/>
                          </a:rPr>
                        </m:ctrlPr>
                      </m:sSupPr>
                      <m:e>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𝑦</m:t>
                            </m:r>
                          </m:e>
                        </m:acc>
                      </m:e>
                      <m:sup>
                        <m:r>
                          <a:rPr lang="en-US" sz="2000" i="1">
                            <a:latin typeface="Cambria Math" panose="02040503050406030204" pitchFamily="18" charset="0"/>
                            <a:ea typeface="Cambria Math" panose="02040503050406030204" pitchFamily="18" charset="0"/>
                          </a:rPr>
                          <m:t>∗</m:t>
                        </m:r>
                      </m:sup>
                    </m:sSup>
                  </m:oMath>
                </a14:m>
                <a:r>
                  <a:rPr lang="en-US" sz="2000" dirty="0">
                    <a:latin typeface="Arial" panose="020B0604020202020204" pitchFamily="34" charset="0"/>
                    <a:cs typeface="Arial" panose="020B0604020202020204" pitchFamily="34" charset="0"/>
                  </a:rPr>
                  <a:t> is smallest when </a:t>
                </a:r>
                <a14:m>
                  <m:oMath xmlns:m="http://schemas.openxmlformats.org/officeDocument/2006/math">
                    <m:sSup>
                      <m:sSupPr>
                        <m:ctrlPr>
                          <a:rPr lang="en-US" sz="2000" b="1"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𝒙</m:t>
                        </m:r>
                      </m:e>
                      <m:sup>
                        <m:r>
                          <a:rPr lang="en-US" sz="2000" b="1" i="1">
                            <a:latin typeface="Cambria Math" panose="02040503050406030204" pitchFamily="18" charset="0"/>
                            <a:ea typeface="Cambria Math" panose="02040503050406030204" pitchFamily="18" charset="0"/>
                          </a:rPr>
                          <m:t>∗</m:t>
                        </m:r>
                      </m:sup>
                    </m:sSup>
                    <m:r>
                      <a:rPr lang="en-US" sz="2000" b="1" i="1" smtClean="0">
                        <a:latin typeface="Cambria Math" panose="02040503050406030204" pitchFamily="18" charset="0"/>
                        <a:ea typeface="Cambria Math" panose="02040503050406030204" pitchFamily="18" charset="0"/>
                      </a:rPr>
                      <m:t>=</m:t>
                    </m:r>
                    <m:acc>
                      <m:accPr>
                        <m:chr m:val="̅"/>
                        <m:ctrlPr>
                          <a:rPr lang="en-US" sz="2000" b="1" i="1">
                            <a:latin typeface="Cambria Math" panose="02040503050406030204" pitchFamily="18" charset="0"/>
                            <a:ea typeface="Cambria Math" panose="02040503050406030204" pitchFamily="18" charset="0"/>
                          </a:rPr>
                        </m:ctrlPr>
                      </m:accPr>
                      <m:e>
                        <m:r>
                          <a:rPr lang="en-US" sz="2000" b="1" i="1">
                            <a:latin typeface="Cambria Math" panose="02040503050406030204" pitchFamily="18" charset="0"/>
                            <a:ea typeface="Cambria Math" panose="02040503050406030204" pitchFamily="18" charset="0"/>
                          </a:rPr>
                          <m:t>𝒙</m:t>
                        </m:r>
                      </m:e>
                    </m:acc>
                  </m:oMath>
                </a14:m>
                <a:r>
                  <a:rPr lang="en-US" sz="2000" dirty="0">
                    <a:latin typeface="Arial" panose="020B0604020202020204" pitchFamily="34" charset="0"/>
                    <a:cs typeface="Arial" panose="020B0604020202020204" pitchFamily="34" charset="0"/>
                  </a:rPr>
                  <a:t>. In such case, we have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𝑠</m:t>
                          </m:r>
                        </m:e>
                        <m:sub>
                          <m:sSup>
                            <m:sSupPr>
                              <m:ctrlPr>
                                <a:rPr lang="en-US" sz="2000" i="1">
                                  <a:latin typeface="Cambria Math" panose="02040503050406030204" pitchFamily="18" charset="0"/>
                                  <a:ea typeface="Cambria Math" panose="02040503050406030204" pitchFamily="18" charset="0"/>
                                </a:rPr>
                              </m:ctrlPr>
                            </m:sSupPr>
                            <m:e>
                              <m:acc>
                                <m:accPr>
                                  <m:chr m:val="̂"/>
                                  <m:ctrlPr>
                                    <a:rPr lang="en-US" sz="200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𝑦</m:t>
                                  </m:r>
                                </m:e>
                              </m:acc>
                            </m:e>
                            <m:sup>
                              <m:r>
                                <a:rPr lang="en-US" sz="2000" b="0" i="1">
                                  <a:latin typeface="Cambria Math" panose="02040503050406030204" pitchFamily="18" charset="0"/>
                                  <a:ea typeface="Cambria Math" panose="02040503050406030204" pitchFamily="18" charset="0"/>
                                </a:rPr>
                                <m:t>∗</m:t>
                              </m:r>
                            </m:sup>
                          </m:sSup>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𝑠</m:t>
                      </m:r>
                      <m:rad>
                        <m:radPr>
                          <m:degHide m:val="on"/>
                          <m:ctrlPr>
                            <a:rPr lang="en-US" sz="2000" i="1" smtClean="0">
                              <a:latin typeface="Cambria Math" panose="02040503050406030204" pitchFamily="18" charset="0"/>
                              <a:ea typeface="Cambria Math" panose="02040503050406030204" pitchFamily="18" charset="0"/>
                            </a:rPr>
                          </m:ctrlPr>
                        </m:radPr>
                        <m:deg/>
                        <m:e>
                          <m:f>
                            <m:fPr>
                              <m:ctrlPr>
                                <a:rPr lang="en-US" sz="200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𝑛</m:t>
                              </m:r>
                            </m:den>
                          </m:f>
                          <m:r>
                            <a:rPr lang="en-US" sz="2000" b="0" i="1" smtClean="0">
                              <a:latin typeface="Cambria Math" panose="02040503050406030204" pitchFamily="18" charset="0"/>
                              <a:ea typeface="Cambria Math" panose="02040503050406030204" pitchFamily="18" charset="0"/>
                            </a:rPr>
                            <m:t>+</m:t>
                          </m:r>
                          <m:f>
                            <m:fPr>
                              <m:ctrlPr>
                                <a:rPr lang="en-US" sz="2000" i="1" smtClean="0">
                                  <a:latin typeface="Cambria Math" panose="02040503050406030204" pitchFamily="18" charset="0"/>
                                  <a:ea typeface="Cambria Math" panose="02040503050406030204" pitchFamily="18" charset="0"/>
                                </a:rPr>
                              </m:ctrlPr>
                            </m:fPr>
                            <m:num>
                              <m:sSup>
                                <m:sSupPr>
                                  <m:ctrlPr>
                                    <a:rPr lang="en-US" sz="2000" i="1" smtClean="0">
                                      <a:latin typeface="Cambria Math" panose="02040503050406030204" pitchFamily="18" charset="0"/>
                                      <a:ea typeface="Cambria Math" panose="02040503050406030204" pitchFamily="18" charset="0"/>
                                    </a:rPr>
                                  </m:ctrlPr>
                                </m:sSupPr>
                                <m:e>
                                  <m:d>
                                    <m:dPr>
                                      <m:ctrlPr>
                                        <a:rPr lang="en-US" sz="2000" i="1" smtClean="0">
                                          <a:latin typeface="Cambria Math" panose="02040503050406030204" pitchFamily="18" charset="0"/>
                                          <a:ea typeface="Cambria Math" panose="02040503050406030204" pitchFamily="18" charset="0"/>
                                        </a:rPr>
                                      </m:ctrlPr>
                                    </m:dPr>
                                    <m:e>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𝑥</m:t>
                                          </m:r>
                                        </m:e>
                                      </m:acc>
                                      <m:r>
                                        <a:rPr lang="en-US" sz="2000" b="0" i="1" smtClean="0">
                                          <a:latin typeface="Cambria Math" panose="02040503050406030204" pitchFamily="18" charset="0"/>
                                          <a:ea typeface="Cambria Math" panose="02040503050406030204" pitchFamily="18" charset="0"/>
                                        </a:rPr>
                                        <m:t>−</m:t>
                                      </m:r>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𝑥</m:t>
                                          </m:r>
                                        </m:e>
                                      </m:acc>
                                    </m:e>
                                  </m:d>
                                </m:e>
                                <m:sup>
                                  <m:r>
                                    <a:rPr lang="en-US" sz="2000" b="0" i="1" smtClean="0">
                                      <a:latin typeface="Cambria Math" panose="02040503050406030204" pitchFamily="18" charset="0"/>
                                      <a:ea typeface="Cambria Math" panose="02040503050406030204" pitchFamily="18" charset="0"/>
                                    </a:rPr>
                                    <m:t>2</m:t>
                                  </m:r>
                                </m:sup>
                              </m:sSup>
                            </m:num>
                            <m:den>
                              <m:nary>
                                <m:naryPr>
                                  <m:chr m:val="∑"/>
                                  <m:subHide m:val="on"/>
                                  <m:supHide m:val="on"/>
                                  <m:ctrlPr>
                                    <a:rPr lang="en-US" sz="2000" i="1" smtClean="0">
                                      <a:latin typeface="Cambria Math" panose="02040503050406030204" pitchFamily="18" charset="0"/>
                                      <a:ea typeface="Cambria Math" panose="02040503050406030204" pitchFamily="18" charset="0"/>
                                    </a:rPr>
                                  </m:ctrlPr>
                                </m:naryPr>
                                <m:sub/>
                                <m:sup/>
                                <m:e>
                                  <m:sSup>
                                    <m:sSupPr>
                                      <m:ctrlPr>
                                        <a:rPr lang="en-US" sz="2000" i="1" smtClean="0">
                                          <a:latin typeface="Cambria Math" panose="02040503050406030204" pitchFamily="18" charset="0"/>
                                          <a:ea typeface="Cambria Math" panose="02040503050406030204" pitchFamily="18" charset="0"/>
                                        </a:rPr>
                                      </m:ctrlPr>
                                    </m:sSupPr>
                                    <m:e>
                                      <m:d>
                                        <m:dPr>
                                          <m:ctrlPr>
                                            <a:rPr lang="en-US" sz="2000" i="1" smtClean="0">
                                              <a:latin typeface="Cambria Math" panose="02040503050406030204" pitchFamily="18" charset="0"/>
                                              <a:ea typeface="Cambria Math" panose="02040503050406030204" pitchFamily="18" charset="0"/>
                                            </a:rPr>
                                          </m:ctrlPr>
                                        </m:dPr>
                                        <m:e>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acc>
                                            <m:accPr>
                                              <m:chr m:val="̅"/>
                                              <m:ctrlPr>
                                                <a:rPr lang="en-US" sz="200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𝑥</m:t>
                                              </m:r>
                                            </m:e>
                                          </m:acc>
                                        </m:e>
                                      </m:d>
                                    </m:e>
                                    <m:sup>
                                      <m:r>
                                        <a:rPr lang="en-US" sz="2000" b="0" i="1" smtClean="0">
                                          <a:latin typeface="Cambria Math" panose="02040503050406030204" pitchFamily="18" charset="0"/>
                                          <a:ea typeface="Cambria Math" panose="02040503050406030204" pitchFamily="18" charset="0"/>
                                        </a:rPr>
                                        <m:t>2</m:t>
                                      </m:r>
                                    </m:sup>
                                  </m:sSup>
                                </m:e>
                              </m:nary>
                            </m:den>
                          </m:f>
                        </m:e>
                      </m:rad>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rad>
                        <m:radPr>
                          <m:degHide m:val="on"/>
                          <m:ctrlPr>
                            <a:rPr lang="en-US" sz="2000" i="1" smtClean="0">
                              <a:latin typeface="Cambria Math" panose="02040503050406030204" pitchFamily="18" charset="0"/>
                              <a:ea typeface="Cambria Math" panose="02040503050406030204" pitchFamily="18" charset="0"/>
                            </a:rPr>
                          </m:ctrlPr>
                        </m:radPr>
                        <m:deg/>
                        <m:e>
                          <m:f>
                            <m:fPr>
                              <m:ctrlPr>
                                <a:rPr lang="en-US" sz="200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𝑛</m:t>
                              </m:r>
                            </m:den>
                          </m:f>
                        </m:e>
                      </m:rad>
                    </m:oMath>
                  </m:oMathPara>
                </a14:m>
                <a:endParaRPr lang="en-US" sz="20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324303"/>
                <a:ext cx="10781737" cy="4453759"/>
              </a:xfrm>
              <a:blipFill>
                <a:blip r:embed="rId3"/>
                <a:stretch>
                  <a:fillRect l="-1471" t="-1642" r="-1244"/>
                </a:stretch>
              </a:blipFill>
            </p:spPr>
            <p:txBody>
              <a:bodyPr/>
              <a:lstStyle/>
              <a:p>
                <a:r>
                  <a:rPr lang="en-US">
                    <a:noFill/>
                  </a:rPr>
                  <a:t> </a:t>
                </a:r>
              </a:p>
            </p:txBody>
          </p:sp>
        </mc:Fallback>
      </mc:AlternateContent>
    </p:spTree>
    <p:extLst>
      <p:ext uri="{BB962C8B-B14F-4D97-AF65-F5344CB8AC3E}">
        <p14:creationId xmlns:p14="http://schemas.microsoft.com/office/powerpoint/2010/main" val="42894374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2E9DA-8EC1-BDCC-225E-5AF0A5DDA749}"/>
              </a:ext>
            </a:extLst>
          </p:cNvPr>
          <p:cNvSpPr>
            <a:spLocks noGrp="1"/>
          </p:cNvSpPr>
          <p:nvPr>
            <p:ph type="title"/>
          </p:nvPr>
        </p:nvSpPr>
        <p:spPr/>
        <p:txBody>
          <a:bodyPr/>
          <a:lstStyle/>
          <a:p>
            <a:r>
              <a:rPr lang="en-US" sz="3200" dirty="0"/>
              <a:t>14.6 Confidence Interval for the Mean Quarterly Sales at a Given Value of Student Population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827DCC9-48E9-39AA-09BA-FE2089FB98DA}"/>
                  </a:ext>
                </a:extLst>
              </p:cNvPr>
              <p:cNvSpPr>
                <a:spLocks noGrp="1"/>
              </p:cNvSpPr>
              <p:nvPr>
                <p:ph type="body" sz="quarter" idx="15"/>
              </p:nvPr>
            </p:nvSpPr>
            <p:spPr>
              <a:xfrm>
                <a:off x="743576" y="1724720"/>
                <a:ext cx="10711543" cy="4103648"/>
              </a:xfrm>
            </p:spPr>
            <p:txBody>
              <a:bodyPr/>
              <a:lstStyle/>
              <a:p>
                <a:pPr>
                  <a:spcBef>
                    <a:spcPts val="600"/>
                  </a:spcBef>
                </a:pPr>
                <a:r>
                  <a:rPr lang="en-US" sz="2000" dirty="0"/>
                  <a:t>Let us develop a 95% confidence interval of the mean quarterly sales for all Armand’s restaurants located near campuses with 10,000 students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=10</m:t>
                    </m:r>
                  </m:oMath>
                </a14:m>
                <a:r>
                  <a:rPr lang="en-US" sz="2000" dirty="0"/>
                  <a:t>.)</a:t>
                </a:r>
              </a:p>
              <a:p>
                <a:pPr>
                  <a:spcBef>
                    <a:spcPts val="600"/>
                  </a:spcBef>
                </a:pPr>
                <a:r>
                  <a:rPr lang="en-US" sz="2000" dirty="0"/>
                  <a:t>From previous calculations, we found that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=10</m:t>
                    </m:r>
                  </m:oMath>
                </a14:m>
                <a:r>
                  <a:rPr lang="en-US" sz="2000" dirty="0"/>
                  <a:t>, </a:t>
                </a:r>
                <a14:m>
                  <m:oMath xmlns:m="http://schemas.openxmlformats.org/officeDocument/2006/math">
                    <m:r>
                      <a:rPr lang="en-US" sz="2000" i="1" dirty="0" smtClean="0">
                        <a:latin typeface="Cambria Math" panose="02040503050406030204" pitchFamily="18" charset="0"/>
                      </a:rPr>
                      <m:t>𝑠</m:t>
                    </m:r>
                    <m:r>
                      <a:rPr lang="en-US" sz="2000" i="1" dirty="0" smtClean="0">
                        <a:latin typeface="Cambria Math" panose="02040503050406030204" pitchFamily="18" charset="0"/>
                      </a:rPr>
                      <m:t>=13.829</m:t>
                    </m:r>
                  </m:oMath>
                </a14:m>
                <a:r>
                  <a:rPr lang="en-US" sz="2000" dirty="0"/>
                  <a:t>, and </a:t>
                </a:r>
                <a14:m>
                  <m:oMath xmlns:m="http://schemas.openxmlformats.org/officeDocument/2006/math">
                    <m:nary>
                      <m:naryPr>
                        <m:chr m:val="∑"/>
                        <m:subHide m:val="on"/>
                        <m:supHide m:val="on"/>
                        <m:ctrlPr>
                          <a:rPr lang="en-US" sz="2000" i="1" smtClean="0">
                            <a:latin typeface="Cambria Math" panose="02040503050406030204" pitchFamily="18" charset="0"/>
                            <a:cs typeface="Arial" panose="020B0604020202020204" pitchFamily="34" charset="0"/>
                          </a:rPr>
                        </m:ctrlPr>
                      </m:naryPr>
                      <m:sub/>
                      <m:sup/>
                      <m:e>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a:latin typeface="Cambria Math" panose="02040503050406030204" pitchFamily="18" charset="0"/>
                                        <a:cs typeface="Arial" panose="020B0604020202020204" pitchFamily="34" charset="0"/>
                                      </a:rPr>
                                      <m:t>𝑖</m:t>
                                    </m:r>
                                  </m:sub>
                                </m:sSub>
                                <m:r>
                                  <a:rPr lang="en-US" sz="2000" b="0" i="1">
                                    <a:latin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𝑥</m:t>
                                    </m:r>
                                  </m:e>
                                </m:acc>
                              </m:e>
                            </m:d>
                          </m:e>
                          <m:sup>
                            <m:r>
                              <a:rPr lang="en-US" sz="2000" b="0" i="1">
                                <a:latin typeface="Cambria Math" panose="02040503050406030204" pitchFamily="18" charset="0"/>
                                <a:cs typeface="Arial" panose="020B0604020202020204" pitchFamily="34" charset="0"/>
                              </a:rPr>
                              <m:t>2</m:t>
                            </m:r>
                          </m:sup>
                        </m:sSup>
                      </m:e>
                    </m:nary>
                    <m:r>
                      <a:rPr lang="en-US" sz="2000" b="0" i="1" smtClean="0">
                        <a:latin typeface="Cambria Math" panose="02040503050406030204" pitchFamily="18" charset="0"/>
                        <a:cs typeface="Arial" panose="020B0604020202020204" pitchFamily="34" charset="0"/>
                      </a:rPr>
                      <m:t>=568</m:t>
                    </m:r>
                  </m:oMath>
                </a14:m>
                <a:r>
                  <a:rPr lang="en-US" sz="2000" dirty="0"/>
                  <a:t>.</a:t>
                </a:r>
              </a:p>
              <a:p>
                <a:pPr>
                  <a:spcBef>
                    <a:spcPts val="600"/>
                  </a:spcBef>
                  <a:spcAft>
                    <a:spcPts val="600"/>
                  </a:spcAft>
                </a:pPr>
                <a:r>
                  <a:rPr lang="en-US" sz="2000" dirty="0"/>
                  <a:t>At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=10</m:t>
                    </m:r>
                  </m:oMath>
                </a14:m>
                <a:r>
                  <a:rPr lang="en-US" sz="2000" dirty="0"/>
                  <a:t>, we have: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𝑠</m:t>
                          </m:r>
                        </m:e>
                        <m:sub>
                          <m:sSup>
                            <m:sSupPr>
                              <m:ctrlPr>
                                <a:rPr lang="en-US" sz="2000" i="1">
                                  <a:latin typeface="Cambria Math" panose="02040503050406030204" pitchFamily="18" charset="0"/>
                                  <a:ea typeface="Cambria Math" panose="02040503050406030204" pitchFamily="18" charset="0"/>
                                </a:rPr>
                              </m:ctrlPr>
                            </m:sSupPr>
                            <m:e>
                              <m:acc>
                                <m:accPr>
                                  <m:chr m:val="̂"/>
                                  <m:ctrlPr>
                                    <a:rPr lang="en-US" sz="200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𝑦</m:t>
                                  </m:r>
                                </m:e>
                              </m:acc>
                            </m:e>
                            <m:sup>
                              <m:r>
                                <a:rPr lang="en-US" sz="2000" b="0" i="1">
                                  <a:latin typeface="Cambria Math" panose="02040503050406030204" pitchFamily="18" charset="0"/>
                                  <a:ea typeface="Cambria Math" panose="02040503050406030204" pitchFamily="18" charset="0"/>
                                </a:rPr>
                                <m:t>∗</m:t>
                              </m:r>
                            </m:sup>
                          </m:sSup>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𝑠</m:t>
                      </m:r>
                      <m:rad>
                        <m:radPr>
                          <m:degHide m:val="on"/>
                          <m:ctrlPr>
                            <a:rPr lang="en-US" sz="2000" i="1" smtClean="0">
                              <a:latin typeface="Cambria Math" panose="02040503050406030204" pitchFamily="18" charset="0"/>
                              <a:ea typeface="Cambria Math" panose="02040503050406030204" pitchFamily="18" charset="0"/>
                            </a:rPr>
                          </m:ctrlPr>
                        </m:radPr>
                        <m:deg/>
                        <m:e>
                          <m:f>
                            <m:fPr>
                              <m:ctrlPr>
                                <a:rPr lang="en-US" sz="200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𝑛</m:t>
                              </m:r>
                            </m:den>
                          </m:f>
                          <m:r>
                            <a:rPr lang="en-US" sz="2000" b="0" i="1" smtClean="0">
                              <a:latin typeface="Cambria Math" panose="02040503050406030204" pitchFamily="18" charset="0"/>
                              <a:ea typeface="Cambria Math" panose="02040503050406030204" pitchFamily="18" charset="0"/>
                            </a:rPr>
                            <m:t>+</m:t>
                          </m:r>
                          <m:f>
                            <m:fPr>
                              <m:ctrlPr>
                                <a:rPr lang="en-US" sz="2000" i="1" smtClean="0">
                                  <a:latin typeface="Cambria Math" panose="02040503050406030204" pitchFamily="18" charset="0"/>
                                  <a:ea typeface="Cambria Math" panose="02040503050406030204" pitchFamily="18" charset="0"/>
                                </a:rPr>
                              </m:ctrlPr>
                            </m:fPr>
                            <m:num>
                              <m:sSup>
                                <m:sSupPr>
                                  <m:ctrlPr>
                                    <a:rPr lang="en-US" sz="2000" i="1" smtClean="0">
                                      <a:latin typeface="Cambria Math" panose="02040503050406030204" pitchFamily="18" charset="0"/>
                                      <a:ea typeface="Cambria Math" panose="02040503050406030204" pitchFamily="18" charset="0"/>
                                    </a:rPr>
                                  </m:ctrlPr>
                                </m:sSupPr>
                                <m:e>
                                  <m:d>
                                    <m:dPr>
                                      <m:ctrlPr>
                                        <a:rPr lang="en-US" sz="2000" i="1" smtClean="0">
                                          <a:latin typeface="Cambria Math" panose="02040503050406030204" pitchFamily="18" charset="0"/>
                                          <a:ea typeface="Cambria Math" panose="02040503050406030204" pitchFamily="18" charset="0"/>
                                        </a:rPr>
                                      </m:ctrlPr>
                                    </m:dPr>
                                    <m:e>
                                      <m:sSup>
                                        <m:sSupPr>
                                          <m:ctrlPr>
                                            <a:rPr lang="en-US" sz="200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𝑥</m:t>
                                          </m:r>
                                        </m:e>
                                        <m:sup>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ea typeface="Cambria Math" panose="02040503050406030204" pitchFamily="18" charset="0"/>
                                        </a:rPr>
                                        <m:t>−</m:t>
                                      </m:r>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𝑥</m:t>
                                          </m:r>
                                        </m:e>
                                      </m:acc>
                                    </m:e>
                                  </m:d>
                                </m:e>
                                <m:sup>
                                  <m:r>
                                    <a:rPr lang="en-US" sz="2000" b="0" i="1" smtClean="0">
                                      <a:latin typeface="Cambria Math" panose="02040503050406030204" pitchFamily="18" charset="0"/>
                                      <a:ea typeface="Cambria Math" panose="02040503050406030204" pitchFamily="18" charset="0"/>
                                    </a:rPr>
                                    <m:t>2</m:t>
                                  </m:r>
                                </m:sup>
                              </m:sSup>
                            </m:num>
                            <m:den>
                              <m:nary>
                                <m:naryPr>
                                  <m:chr m:val="∑"/>
                                  <m:subHide m:val="on"/>
                                  <m:supHide m:val="on"/>
                                  <m:ctrlPr>
                                    <a:rPr lang="en-US" sz="2000" i="1" smtClean="0">
                                      <a:latin typeface="Cambria Math" panose="02040503050406030204" pitchFamily="18" charset="0"/>
                                      <a:ea typeface="Cambria Math" panose="02040503050406030204" pitchFamily="18" charset="0"/>
                                    </a:rPr>
                                  </m:ctrlPr>
                                </m:naryPr>
                                <m:sub/>
                                <m:sup/>
                                <m:e>
                                  <m:sSup>
                                    <m:sSupPr>
                                      <m:ctrlPr>
                                        <a:rPr lang="en-US" sz="2000" i="1" smtClean="0">
                                          <a:latin typeface="Cambria Math" panose="02040503050406030204" pitchFamily="18" charset="0"/>
                                          <a:ea typeface="Cambria Math" panose="02040503050406030204" pitchFamily="18" charset="0"/>
                                        </a:rPr>
                                      </m:ctrlPr>
                                    </m:sSupPr>
                                    <m:e>
                                      <m:d>
                                        <m:dPr>
                                          <m:ctrlPr>
                                            <a:rPr lang="en-US" sz="2000" i="1" smtClean="0">
                                              <a:latin typeface="Cambria Math" panose="02040503050406030204" pitchFamily="18" charset="0"/>
                                              <a:ea typeface="Cambria Math" panose="02040503050406030204" pitchFamily="18" charset="0"/>
                                            </a:rPr>
                                          </m:ctrlPr>
                                        </m:dPr>
                                        <m:e>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acc>
                                            <m:accPr>
                                              <m:chr m:val="̅"/>
                                              <m:ctrlPr>
                                                <a:rPr lang="en-US" sz="200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𝑥</m:t>
                                              </m:r>
                                            </m:e>
                                          </m:acc>
                                        </m:e>
                                      </m:d>
                                    </m:e>
                                    <m:sup>
                                      <m:r>
                                        <a:rPr lang="en-US" sz="2000" b="0" i="1" smtClean="0">
                                          <a:latin typeface="Cambria Math" panose="02040503050406030204" pitchFamily="18" charset="0"/>
                                          <a:ea typeface="Cambria Math" panose="02040503050406030204" pitchFamily="18" charset="0"/>
                                        </a:rPr>
                                        <m:t>2</m:t>
                                      </m:r>
                                    </m:sup>
                                  </m:sSup>
                                </m:e>
                              </m:nary>
                            </m:den>
                          </m:f>
                        </m:e>
                      </m:rad>
                      <m:r>
                        <a:rPr lang="en-US" sz="2000" b="0" i="1" smtClean="0">
                          <a:latin typeface="Cambria Math" panose="02040503050406030204" pitchFamily="18" charset="0"/>
                          <a:ea typeface="Cambria Math" panose="02040503050406030204" pitchFamily="18" charset="0"/>
                        </a:rPr>
                        <m:t>=13.829</m:t>
                      </m:r>
                      <m:rad>
                        <m:radPr>
                          <m:degHide m:val="on"/>
                          <m:ctrlPr>
                            <a:rPr lang="en-US" sz="2000" b="0" i="1" smtClean="0">
                              <a:latin typeface="Cambria Math" panose="02040503050406030204" pitchFamily="18" charset="0"/>
                              <a:ea typeface="Cambria Math" panose="02040503050406030204" pitchFamily="18" charset="0"/>
                            </a:rPr>
                          </m:ctrlPr>
                        </m:radPr>
                        <m:deg/>
                        <m:e>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10</m:t>
                              </m:r>
                            </m:den>
                          </m:f>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sSup>
                                <m:sSupPr>
                                  <m:ctrlPr>
                                    <a:rPr lang="en-US" sz="2000" b="0" i="1" smtClean="0">
                                      <a:latin typeface="Cambria Math" panose="02040503050406030204" pitchFamily="18" charset="0"/>
                                      <a:ea typeface="Cambria Math" panose="02040503050406030204" pitchFamily="18" charset="0"/>
                                    </a:rPr>
                                  </m:ctrlPr>
                                </m:sSupPr>
                                <m:e>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10−14</m:t>
                                      </m:r>
                                    </m:e>
                                  </m:d>
                                </m:e>
                                <m:sup>
                                  <m:r>
                                    <a:rPr lang="en-US" sz="2000" b="0" i="1" smtClean="0">
                                      <a:latin typeface="Cambria Math" panose="02040503050406030204" pitchFamily="18" charset="0"/>
                                      <a:ea typeface="Cambria Math" panose="02040503050406030204" pitchFamily="18" charset="0"/>
                                    </a:rPr>
                                    <m:t>2</m:t>
                                  </m:r>
                                </m:sup>
                              </m:sSup>
                            </m:num>
                            <m:den>
                              <m:r>
                                <a:rPr lang="en-US" sz="2000" b="0" i="1" smtClean="0">
                                  <a:latin typeface="Cambria Math" panose="02040503050406030204" pitchFamily="18" charset="0"/>
                                  <a:ea typeface="Cambria Math" panose="02040503050406030204" pitchFamily="18" charset="0"/>
                                </a:rPr>
                                <m:t>568</m:t>
                              </m:r>
                            </m:den>
                          </m:f>
                        </m:e>
                      </m:rad>
                      <m:r>
                        <a:rPr lang="en-US" sz="2000" b="0" i="1" smtClean="0">
                          <a:latin typeface="Cambria Math" panose="02040503050406030204" pitchFamily="18" charset="0"/>
                          <a:ea typeface="Cambria Math" panose="02040503050406030204" pitchFamily="18" charset="0"/>
                        </a:rPr>
                        <m:t>=13.829</m:t>
                      </m:r>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0.1282</m:t>
                          </m:r>
                        </m:e>
                      </m:rad>
                      <m:r>
                        <a:rPr lang="en-US" sz="2000" b="0" i="1" smtClean="0">
                          <a:latin typeface="Cambria Math" panose="02040503050406030204" pitchFamily="18" charset="0"/>
                          <a:ea typeface="Cambria Math" panose="02040503050406030204" pitchFamily="18" charset="0"/>
                        </a:rPr>
                        <m:t>=4.95</m:t>
                      </m:r>
                    </m:oMath>
                  </m:oMathPara>
                </a14:m>
                <a:endParaRPr lang="en-US" sz="2000" dirty="0"/>
              </a:p>
              <a:p>
                <a:pPr>
                  <a:spcBef>
                    <a:spcPts val="600"/>
                  </a:spcBef>
                  <a:spcAft>
                    <a:spcPts val="600"/>
                  </a:spcAft>
                </a:pPr>
                <a:r>
                  <a:rPr lang="en-US" sz="2000" dirty="0"/>
                  <a:t>Using Table 2 of Appendix B, we have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𝑡</m:t>
                        </m:r>
                      </m:e>
                      <m:sub>
                        <m:r>
                          <a:rPr lang="en-US" sz="2000" b="0" i="1" dirty="0" smtClean="0">
                            <a:latin typeface="Cambria Math" panose="02040503050406030204" pitchFamily="18" charset="0"/>
                          </a:rPr>
                          <m:t>.025</m:t>
                        </m:r>
                      </m:sub>
                    </m:sSub>
                    <m:r>
                      <a:rPr lang="en-US" sz="2000" i="1" dirty="0" smtClean="0">
                        <a:latin typeface="Cambria Math" panose="02040503050406030204" pitchFamily="18" charset="0"/>
                      </a:rPr>
                      <m:t>=2.306</m:t>
                    </m:r>
                  </m:oMath>
                </a14:m>
                <a:r>
                  <a:rPr lang="en-US" sz="2000" dirty="0"/>
                  <a:t>, and at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m:t>
                        </m:r>
                      </m:sup>
                    </m:sSup>
                    <m:r>
                      <a:rPr lang="en-US" sz="2000" i="1">
                        <a:latin typeface="Cambria Math" panose="02040503050406030204" pitchFamily="18" charset="0"/>
                      </a:rPr>
                      <m:t>=10</m:t>
                    </m:r>
                  </m:oMath>
                </a14:m>
                <a:r>
                  <a:rPr lang="en-US" sz="2000" dirty="0"/>
                  <a:t>, the predictor is</a:t>
                </a:r>
              </a:p>
              <a:p>
                <a:pPr marL="914400">
                  <a:spcBef>
                    <a:spcPts val="600"/>
                  </a:spcBef>
                  <a:spcAft>
                    <a:spcPts val="600"/>
                  </a:spcAft>
                </a:pPr>
                <a14:m>
                  <m:oMath xmlns:m="http://schemas.openxmlformats.org/officeDocument/2006/math">
                    <m:sSup>
                      <m:sSupPr>
                        <m:ctrlPr>
                          <a:rPr lang="en-US" sz="2000" i="1" smtClean="0">
                            <a:latin typeface="Cambria Math" panose="02040503050406030204" pitchFamily="18" charset="0"/>
                          </a:rPr>
                        </m:ctrlPr>
                      </m:sSup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p>
                        <m:r>
                          <a:rPr lang="en-US" sz="2000" b="0" i="1" smtClean="0">
                            <a:latin typeface="Cambria Math" panose="02040503050406030204" pitchFamily="18" charset="0"/>
                          </a:rPr>
                          <m:t>∗</m:t>
                        </m:r>
                      </m:sup>
                    </m:sSup>
                    <m:r>
                      <a:rPr lang="en-US" sz="2000" i="1">
                        <a:latin typeface="Cambria Math" panose="02040503050406030204" pitchFamily="18" charset="0"/>
                      </a:rPr>
                      <m:t>=60+5</m:t>
                    </m:r>
                    <m:sSup>
                      <m:sSupPr>
                        <m:ctrlPr>
                          <a:rPr lang="en-US" sz="2000" i="1" smtClean="0">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=60+5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m:t>
                        </m:r>
                      </m:e>
                    </m:d>
                    <m:r>
                      <a:rPr lang="en-US" sz="2000" b="0" i="1" smtClean="0">
                        <a:latin typeface="Cambria Math" panose="02040503050406030204" pitchFamily="18" charset="0"/>
                      </a:rPr>
                      <m:t>=110</m:t>
                    </m:r>
                  </m:oMath>
                </a14:m>
                <a:r>
                  <a:rPr lang="en-US" sz="2000" dirty="0"/>
                  <a:t>.</a:t>
                </a:r>
              </a:p>
              <a:p>
                <a:pPr>
                  <a:spcBef>
                    <a:spcPts val="600"/>
                  </a:spcBef>
                  <a:spcAft>
                    <a:spcPts val="600"/>
                  </a:spcAft>
                </a:pPr>
                <a:r>
                  <a:rPr lang="en-US" sz="2000" dirty="0"/>
                  <a:t>Thus, with </a:t>
                </a:r>
                <a14:m>
                  <m:oMath xmlns:m="http://schemas.openxmlformats.org/officeDocument/2006/math">
                    <m:sSup>
                      <m:sSupPr>
                        <m:ctrlPr>
                          <a:rPr lang="en-US" sz="2000" i="1" smtClean="0">
                            <a:latin typeface="Cambria Math" panose="02040503050406030204" pitchFamily="18" charset="0"/>
                          </a:rPr>
                        </m:ctrlPr>
                      </m:sSup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p>
                        <m:r>
                          <a:rPr lang="en-US" sz="2000" b="0" i="1" smtClean="0">
                            <a:latin typeface="Cambria Math" panose="02040503050406030204" pitchFamily="18" charset="0"/>
                          </a:rPr>
                          <m:t>∗</m:t>
                        </m:r>
                      </m:sup>
                    </m:sSup>
                    <m:r>
                      <a:rPr lang="en-US" sz="2000" b="0" i="1" smtClean="0">
                        <a:latin typeface="Cambria Math" panose="02040503050406030204" pitchFamily="18" charset="0"/>
                      </a:rPr>
                      <m:t>=110</m:t>
                    </m:r>
                  </m:oMath>
                </a14:m>
                <a:r>
                  <a:rPr lang="en-US" sz="2000" dirty="0"/>
                  <a:t> and margin of error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𝑡</m:t>
                        </m:r>
                      </m:e>
                      <m:sub>
                        <m:f>
                          <m:fPr>
                            <m:type m:val="lin"/>
                            <m:ctrlPr>
                              <a:rPr lang="en-US" sz="2000" i="1">
                                <a:latin typeface="Cambria Math" panose="02040503050406030204" pitchFamily="18" charset="0"/>
                                <a:ea typeface="Cambria Math" panose="02040503050406030204" pitchFamily="18" charset="0"/>
                              </a:rPr>
                            </m:ctrlPr>
                          </m:fPr>
                          <m:num>
                            <m:r>
                              <a:rPr lang="en-US" sz="2000" b="0" i="1">
                                <a:latin typeface="Cambria Math" panose="02040503050406030204" pitchFamily="18" charset="0"/>
                                <a:ea typeface="Cambria Math" panose="02040503050406030204" pitchFamily="18" charset="0"/>
                              </a:rPr>
                              <m:t>𝛼</m:t>
                            </m:r>
                          </m:num>
                          <m:den>
                            <m:r>
                              <a:rPr lang="en-US" sz="2000" b="0" i="1">
                                <a:latin typeface="Cambria Math" panose="02040503050406030204" pitchFamily="18" charset="0"/>
                                <a:ea typeface="Cambria Math" panose="02040503050406030204" pitchFamily="18" charset="0"/>
                              </a:rPr>
                              <m:t>2</m:t>
                            </m:r>
                          </m:den>
                        </m:f>
                      </m:sub>
                    </m:sSub>
                    <m:sSub>
                      <m:sSubPr>
                        <m:ctrlPr>
                          <a:rPr lang="en-US" sz="200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𝑠</m:t>
                        </m:r>
                      </m:e>
                      <m:sub>
                        <m:sSup>
                          <m:sSupPr>
                            <m:ctrlPr>
                              <a:rPr lang="en-US" sz="2000" i="1">
                                <a:latin typeface="Cambria Math" panose="02040503050406030204" pitchFamily="18" charset="0"/>
                                <a:ea typeface="Cambria Math" panose="02040503050406030204" pitchFamily="18" charset="0"/>
                              </a:rPr>
                            </m:ctrlPr>
                          </m:sSupPr>
                          <m:e>
                            <m:acc>
                              <m:accPr>
                                <m:chr m:val="̂"/>
                                <m:ctrlPr>
                                  <a:rPr lang="en-US" sz="200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𝑦</m:t>
                                </m:r>
                              </m:e>
                            </m:acc>
                          </m:e>
                          <m:sup>
                            <m:r>
                              <a:rPr lang="en-US" sz="2000" b="0" i="1">
                                <a:latin typeface="Cambria Math" panose="02040503050406030204" pitchFamily="18" charset="0"/>
                                <a:ea typeface="Cambria Math" panose="02040503050406030204" pitchFamily="18" charset="0"/>
                              </a:rPr>
                              <m:t>∗</m:t>
                            </m:r>
                          </m:sup>
                        </m:sSup>
                      </m:sub>
                    </m:sSub>
                    <m:r>
                      <a:rPr lang="en-US" sz="2000" b="0" i="1" smtClean="0">
                        <a:latin typeface="Cambria Math" panose="02040503050406030204" pitchFamily="18" charset="0"/>
                        <a:ea typeface="Cambria Math" panose="02040503050406030204" pitchFamily="18" charset="0"/>
                      </a:rPr>
                      <m:t>=2.306</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4.95</m:t>
                        </m:r>
                      </m:e>
                    </m:d>
                    <m:r>
                      <a:rPr lang="en-US" sz="2000" b="0" i="1" smtClean="0">
                        <a:latin typeface="Cambria Math" panose="02040503050406030204" pitchFamily="18" charset="0"/>
                        <a:ea typeface="Cambria Math" panose="02040503050406030204" pitchFamily="18" charset="0"/>
                      </a:rPr>
                      <m:t>=11.415</m:t>
                    </m:r>
                  </m:oMath>
                </a14:m>
                <a:r>
                  <a:rPr lang="en-US" sz="2000" dirty="0"/>
                  <a:t>, the 95% confidence interval for the mean quarterly sales is </a:t>
                </a:r>
                <a14:m>
                  <m:oMath xmlns:m="http://schemas.openxmlformats.org/officeDocument/2006/math">
                    <m:r>
                      <a:rPr lang="en-US" sz="2000" i="1">
                        <a:latin typeface="Cambria Math" panose="02040503050406030204" pitchFamily="18" charset="0"/>
                      </a:rPr>
                      <m:t>110</m:t>
                    </m:r>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11.415</m:t>
                    </m:r>
                  </m:oMath>
                </a14:m>
                <a:r>
                  <a:rPr lang="en-US" sz="2000" dirty="0"/>
                  <a:t>.</a:t>
                </a:r>
              </a:p>
            </p:txBody>
          </p:sp>
        </mc:Choice>
        <mc:Fallback xmlns="">
          <p:sp>
            <p:nvSpPr>
              <p:cNvPr id="3" name="Text Placeholder 2">
                <a:extLst>
                  <a:ext uri="{FF2B5EF4-FFF2-40B4-BE49-F238E27FC236}">
                    <a16:creationId xmlns:a16="http://schemas.microsoft.com/office/drawing/2014/main" id="{1827DCC9-48E9-39AA-09BA-FE2089FB98DA}"/>
                  </a:ext>
                </a:extLst>
              </p:cNvPr>
              <p:cNvSpPr>
                <a:spLocks noGrp="1" noRot="1" noChangeAspect="1" noMove="1" noResize="1" noEditPoints="1" noAdjustHandles="1" noChangeArrowheads="1" noChangeShapeType="1" noTextEdit="1"/>
              </p:cNvSpPr>
              <p:nvPr>
                <p:ph type="body" sz="quarter" idx="15"/>
              </p:nvPr>
            </p:nvSpPr>
            <p:spPr>
              <a:xfrm>
                <a:off x="743576" y="1724720"/>
                <a:ext cx="10711543" cy="4103648"/>
              </a:xfrm>
              <a:blipFill>
                <a:blip r:embed="rId2"/>
                <a:stretch>
                  <a:fillRect l="-1480" t="-1783" b="-5201"/>
                </a:stretch>
              </a:blipFill>
            </p:spPr>
            <p:txBody>
              <a:bodyPr/>
              <a:lstStyle/>
              <a:p>
                <a:r>
                  <a:rPr lang="en-US">
                    <a:noFill/>
                  </a:rPr>
                  <a:t> </a:t>
                </a:r>
              </a:p>
            </p:txBody>
          </p:sp>
        </mc:Fallback>
      </mc:AlternateContent>
    </p:spTree>
    <p:extLst>
      <p:ext uri="{BB962C8B-B14F-4D97-AF65-F5344CB8AC3E}">
        <p14:creationId xmlns:p14="http://schemas.microsoft.com/office/powerpoint/2010/main" val="731982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A3C92-DF08-CB58-3B79-CE46A3556B92}"/>
              </a:ext>
            </a:extLst>
          </p:cNvPr>
          <p:cNvSpPr>
            <a:spLocks noGrp="1"/>
          </p:cNvSpPr>
          <p:nvPr>
            <p:ph type="title"/>
          </p:nvPr>
        </p:nvSpPr>
        <p:spPr>
          <a:xfrm>
            <a:off x="786962" y="365125"/>
            <a:ext cx="10618076" cy="672105"/>
          </a:xfrm>
        </p:spPr>
        <p:txBody>
          <a:bodyPr/>
          <a:lstStyle/>
          <a:p>
            <a:r>
              <a:rPr lang="en-US" sz="3200" dirty="0"/>
              <a:t>14.6 Confidence Intervals for the Mean Value of </a:t>
            </a:r>
            <a:r>
              <a:rPr lang="en-US" sz="3200" i="1" dirty="0"/>
              <a:t>y </a:t>
            </a:r>
            <a:r>
              <a:rPr lang="en-US" sz="3200" dirty="0"/>
              <a:t>at Given Values of </a:t>
            </a:r>
            <a:r>
              <a:rPr lang="en-US" sz="3200" i="1" dirty="0"/>
              <a:t>x </a:t>
            </a:r>
            <a:r>
              <a:rPr lang="en-US" sz="3200" dirty="0"/>
              <a:t>(Armand’s Pizza Example)</a:t>
            </a:r>
          </a:p>
        </p:txBody>
      </p:sp>
      <p:pic>
        <p:nvPicPr>
          <p:cNvPr id="5" name="Picture Placeholder 4" descr="A line graph with three lines plots quarterly sales versus student population. The horizontal axis is labeled “Student Population (1000s)” and ranges from 0 to 26 with tickmarks in increments of 2. The vertical axis is labeled “Quarterly Sales ($1000s)” and ranges from 0 to 220 with tickmarks in increments of 20. The first line labeled “Lower limit” slopes upward from (2, 52) to (26, 170). The second line labeled “y-hat = 60 + 5x” slopes upward from (2, 70) to (26, 190). The third line labeled “Upper limit” slopes upward from (2, 88) to (26, 210). Student population = 14 is labeled “x-bar = 14.” At this value, the gap between the first and the third lines is labeled “Confidence interval width is smallest at x* = x-bar.” Text reads, Confidence interval limits depend on x*. All data are approximate.&#10;">
            <a:extLst>
              <a:ext uri="{FF2B5EF4-FFF2-40B4-BE49-F238E27FC236}">
                <a16:creationId xmlns:a16="http://schemas.microsoft.com/office/drawing/2014/main" id="{90AE93E8-FA77-23A1-82DB-21915CF091DD}"/>
              </a:ext>
            </a:extLst>
          </p:cNvPr>
          <p:cNvPicPr>
            <a:picLocks noGrp="1" noChangeAspect="1"/>
          </p:cNvPicPr>
          <p:nvPr>
            <p:ph type="pic" sz="quarter" idx="10"/>
          </p:nvPr>
        </p:nvPicPr>
        <p:blipFill rotWithShape="1">
          <a:blip r:embed="rId2"/>
          <a:srcRect t="54" b="54"/>
          <a:stretch/>
        </p:blipFill>
        <p:spPr>
          <a:xfrm>
            <a:off x="2761496" y="1512879"/>
            <a:ext cx="6669008" cy="4561170"/>
          </a:xfrm>
        </p:spPr>
      </p:pic>
    </p:spTree>
    <p:extLst>
      <p:ext uri="{BB962C8B-B14F-4D97-AF65-F5344CB8AC3E}">
        <p14:creationId xmlns:p14="http://schemas.microsoft.com/office/powerpoint/2010/main" val="19059362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705131" y="365125"/>
            <a:ext cx="10781737" cy="672105"/>
          </a:xfrm>
        </p:spPr>
        <p:txBody>
          <a:bodyPr/>
          <a:lstStyle/>
          <a:p>
            <a:r>
              <a:rPr lang="en-US" dirty="0"/>
              <a:t>14.6 Prediction Interval for an Individual Value of </a:t>
            </a:r>
            <a:r>
              <a:rPr lang="en-US" i="1" dirty="0"/>
              <a: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324303"/>
                <a:ext cx="10781737" cy="4453759"/>
              </a:xfrm>
            </p:spPr>
            <p:txBody>
              <a:bodyPr/>
              <a:lstStyle/>
              <a:p>
                <a:pPr>
                  <a:spcBef>
                    <a:spcPts val="600"/>
                  </a:spcBef>
                  <a:spcAft>
                    <a:spcPts val="600"/>
                  </a:spcAft>
                </a:pPr>
                <a:r>
                  <a:rPr lang="en-US" sz="2000" dirty="0">
                    <a:latin typeface="Arial" panose="020B0604020202020204" pitchFamily="34" charset="0"/>
                    <a:cs typeface="Arial" panose="020B0604020202020204" pitchFamily="34" charset="0"/>
                  </a:rPr>
                  <a:t>The form of a prediction interval for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𝑦</m:t>
                        </m:r>
                      </m:e>
                      <m:sup>
                        <m:r>
                          <a:rPr lang="en-US" sz="2000" i="1">
                            <a:latin typeface="Cambria Math" panose="02040503050406030204" pitchFamily="18" charset="0"/>
                            <a:cs typeface="Arial" panose="020B0604020202020204" pitchFamily="34" charset="0"/>
                          </a:rPr>
                          <m:t>∗</m:t>
                        </m:r>
                      </m:sup>
                    </m:sSup>
                  </m:oMath>
                </a14:m>
                <a:r>
                  <a:rPr lang="en-US" sz="2000" dirty="0">
                    <a:latin typeface="Arial" panose="020B0604020202020204" pitchFamily="34" charset="0"/>
                    <a:cs typeface="Arial" panose="020B0604020202020204" pitchFamily="34" charset="0"/>
                  </a:rPr>
                  <a:t> is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sSup>
                        <m:sSupPr>
                          <m:ctrlPr>
                            <a:rPr lang="en-US" sz="2000" b="1" i="1" smtClean="0">
                              <a:latin typeface="Cambria Math" panose="02040503050406030204" pitchFamily="18" charset="0"/>
                              <a:ea typeface="Cambria Math" panose="02040503050406030204" pitchFamily="18" charset="0"/>
                            </a:rPr>
                          </m:ctrlPr>
                        </m:sSupPr>
                        <m:e>
                          <m:acc>
                            <m:accPr>
                              <m:chr m:val="̂"/>
                              <m:ctrlPr>
                                <a:rPr lang="en-US" sz="2000" b="1" i="1" smtClean="0">
                                  <a:latin typeface="Cambria Math" panose="02040503050406030204" pitchFamily="18" charset="0"/>
                                  <a:ea typeface="Cambria Math" panose="02040503050406030204" pitchFamily="18" charset="0"/>
                                </a:rPr>
                              </m:ctrlPr>
                            </m:accPr>
                            <m:e>
                              <m:r>
                                <a:rPr lang="en-US" sz="2000" b="1" i="1" smtClean="0">
                                  <a:latin typeface="Cambria Math" panose="02040503050406030204" pitchFamily="18" charset="0"/>
                                  <a:ea typeface="Cambria Math" panose="02040503050406030204" pitchFamily="18" charset="0"/>
                                </a:rPr>
                                <m:t>𝒚</m:t>
                              </m:r>
                            </m:e>
                          </m:acc>
                        </m:e>
                        <m:sup>
                          <m:r>
                            <a:rPr lang="en-US" sz="2000" b="1" i="1" smtClean="0">
                              <a:latin typeface="Cambria Math" panose="02040503050406030204" pitchFamily="18" charset="0"/>
                              <a:ea typeface="Cambria Math" panose="02040503050406030204" pitchFamily="18" charset="0"/>
                            </a:rPr>
                            <m:t>∗</m:t>
                          </m:r>
                        </m:sup>
                      </m:sSup>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𝒕</m:t>
                          </m:r>
                        </m:e>
                        <m:sub>
                          <m:f>
                            <m:fPr>
                              <m:type m:val="lin"/>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𝜶</m:t>
                              </m:r>
                            </m:num>
                            <m:den>
                              <m:r>
                                <a:rPr lang="en-US" sz="2000" b="1" i="1" smtClean="0">
                                  <a:latin typeface="Cambria Math" panose="02040503050406030204" pitchFamily="18" charset="0"/>
                                  <a:ea typeface="Cambria Math" panose="02040503050406030204" pitchFamily="18" charset="0"/>
                                </a:rPr>
                                <m:t>𝟐</m:t>
                              </m:r>
                            </m:den>
                          </m:f>
                        </m:sub>
                      </m:sSub>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𝒔</m:t>
                          </m:r>
                        </m:e>
                        <m:sub>
                          <m:r>
                            <a:rPr lang="en-US" sz="2000" b="1" i="1" smtClean="0">
                              <a:latin typeface="Cambria Math" panose="02040503050406030204" pitchFamily="18" charset="0"/>
                              <a:ea typeface="Cambria Math" panose="02040503050406030204" pitchFamily="18" charset="0"/>
                            </a:rPr>
                            <m:t>𝒑𝒓𝒆𝒅</m:t>
                          </m:r>
                        </m:sub>
                      </m:sSub>
                    </m:oMath>
                  </m:oMathPara>
                </a14:m>
                <a:endParaRPr lang="en-US" sz="2000" b="1" dirty="0">
                  <a:latin typeface="Arial" panose="020B0604020202020204" pitchFamily="34" charset="0"/>
                  <a:cs typeface="Arial" panose="020B0604020202020204" pitchFamily="34" charset="0"/>
                </a:endParaRPr>
              </a:p>
              <a:p>
                <a:pPr>
                  <a:spcBef>
                    <a:spcPts val="600"/>
                  </a:spcBef>
                  <a:spcAft>
                    <a:spcPts val="0"/>
                  </a:spcAft>
                </a:pPr>
                <a:r>
                  <a:rPr lang="en-US" sz="2000" dirty="0">
                    <a:latin typeface="Arial" panose="020B0604020202020204" pitchFamily="34" charset="0"/>
                    <a:cs typeface="Arial" panose="020B0604020202020204" pitchFamily="34" charset="0"/>
                  </a:rPr>
                  <a:t>Where </a:t>
                </a:r>
                <a14:m>
                  <m:oMath xmlns:m="http://schemas.openxmlformats.org/officeDocument/2006/math">
                    <m:r>
                      <a:rPr lang="en-US" sz="2000" i="1" dirty="0" smtClean="0">
                        <a:latin typeface="Cambria Math" panose="02040503050406030204" pitchFamily="18" charset="0"/>
                        <a:cs typeface="Arial" panose="020B0604020202020204" pitchFamily="34" charset="0"/>
                      </a:rPr>
                      <m:t>1−</m:t>
                    </m:r>
                    <m:r>
                      <a:rPr lang="en-US" sz="2000" i="1" dirty="0" smtClean="0">
                        <a:latin typeface="Cambria Math" panose="02040503050406030204" pitchFamily="18" charset="0"/>
                        <a:cs typeface="Arial" panose="020B0604020202020204" pitchFamily="34" charset="0"/>
                      </a:rPr>
                      <m:t>𝛼</m:t>
                    </m:r>
                  </m:oMath>
                </a14:m>
                <a:r>
                  <a:rPr lang="en-US" sz="2000" dirty="0">
                    <a:latin typeface="Arial" panose="020B0604020202020204" pitchFamily="34" charset="0"/>
                    <a:cs typeface="Arial" panose="020B0604020202020204" pitchFamily="34" charset="0"/>
                  </a:rPr>
                  <a:t> is the confidence coefficient, and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𝑡</m:t>
                        </m:r>
                      </m:e>
                      <m:sub>
                        <m:f>
                          <m:fPr>
                            <m:type m:val="lin"/>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ea typeface="Cambria Math" panose="02040503050406030204" pitchFamily="18" charset="0"/>
                              </a:rPr>
                              <m:t>2</m:t>
                            </m:r>
                          </m:den>
                        </m:f>
                      </m:sub>
                    </m:sSub>
                  </m:oMath>
                </a14:m>
                <a:r>
                  <a:rPr lang="en-US" sz="2000" dirty="0">
                    <a:latin typeface="Arial" panose="020B0604020202020204" pitchFamily="34" charset="0"/>
                    <a:cs typeface="Arial" panose="020B0604020202020204" pitchFamily="34" charset="0"/>
                  </a:rPr>
                  <a:t> is based on a </a:t>
                </a:r>
                <a14:m>
                  <m:oMath xmlns:m="http://schemas.openxmlformats.org/officeDocument/2006/math">
                    <m:r>
                      <a:rPr lang="en-US" sz="2000" i="1" dirty="0" smtClean="0">
                        <a:latin typeface="Cambria Math" panose="02040503050406030204" pitchFamily="18" charset="0"/>
                        <a:cs typeface="Arial" panose="020B0604020202020204" pitchFamily="34" charset="0"/>
                      </a:rPr>
                      <m:t>𝑡</m:t>
                    </m:r>
                  </m:oMath>
                </a14:m>
                <a:r>
                  <a:rPr lang="en-US" sz="2000" dirty="0">
                    <a:latin typeface="Arial" panose="020B0604020202020204" pitchFamily="34" charset="0"/>
                    <a:cs typeface="Arial" panose="020B0604020202020204" pitchFamily="34" charset="0"/>
                  </a:rPr>
                  <a:t> distribution with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r>
                      <a:rPr lang="en-US" sz="2000" i="1" dirty="0" smtClean="0">
                        <a:latin typeface="Cambria Math" panose="02040503050406030204" pitchFamily="18" charset="0"/>
                        <a:cs typeface="Arial" panose="020B0604020202020204" pitchFamily="34" charset="0"/>
                      </a:rPr>
                      <m:t>−2</m:t>
                    </m:r>
                  </m:oMath>
                </a14:m>
                <a:r>
                  <a:rPr lang="en-US" sz="2000" dirty="0">
                    <a:latin typeface="Arial" panose="020B0604020202020204" pitchFamily="34" charset="0"/>
                    <a:cs typeface="Arial" panose="020B0604020202020204" pitchFamily="34" charset="0"/>
                  </a:rPr>
                  <a:t> degrees of freedom.</a:t>
                </a:r>
              </a:p>
              <a:p>
                <a:pPr>
                  <a:spcBef>
                    <a:spcPts val="600"/>
                  </a:spcBef>
                  <a:spcAft>
                    <a:spcPts val="600"/>
                  </a:spcAft>
                </a:pP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𝑠</m:t>
                        </m:r>
                      </m:e>
                      <m:sub>
                        <m:r>
                          <a:rPr lang="en-US" sz="2000" b="0" i="1" smtClean="0">
                            <a:latin typeface="Cambria Math" panose="02040503050406030204" pitchFamily="18" charset="0"/>
                            <a:ea typeface="Cambria Math" panose="02040503050406030204" pitchFamily="18" charset="0"/>
                          </a:rPr>
                          <m:t>𝑝𝑟𝑒𝑑</m:t>
                        </m:r>
                      </m:sub>
                    </m:sSub>
                  </m:oMath>
                </a14:m>
                <a:r>
                  <a:rPr lang="en-US" sz="2000" dirty="0">
                    <a:latin typeface="Arial" panose="020B0604020202020204" pitchFamily="34" charset="0"/>
                    <a:cs typeface="Arial" panose="020B0604020202020204" pitchFamily="34" charset="0"/>
                  </a:rPr>
                  <a:t> is the standard deviation corresponding to the prediction of the value of 𝑦 when 𝑥 = 𝑥*.</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𝒔</m:t>
                          </m:r>
                        </m:e>
                        <m:sub>
                          <m:r>
                            <a:rPr lang="en-US" sz="2000" b="1" i="1" smtClean="0">
                              <a:latin typeface="Cambria Math" panose="02040503050406030204" pitchFamily="18" charset="0"/>
                              <a:ea typeface="Cambria Math" panose="02040503050406030204" pitchFamily="18" charset="0"/>
                            </a:rPr>
                            <m:t>𝒑𝒓𝒆𝒅</m:t>
                          </m:r>
                        </m:sub>
                      </m:sSub>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𝒔</m:t>
                      </m:r>
                      <m:rad>
                        <m:radPr>
                          <m:degHide m:val="on"/>
                          <m:ctrlPr>
                            <a:rPr lang="en-US" sz="2000" b="1" i="1" smtClean="0">
                              <a:latin typeface="Cambria Math" panose="02040503050406030204" pitchFamily="18" charset="0"/>
                              <a:ea typeface="Cambria Math" panose="02040503050406030204" pitchFamily="18" charset="0"/>
                            </a:rPr>
                          </m:ctrlPr>
                        </m:radPr>
                        <m:deg/>
                        <m:e>
                          <m:r>
                            <a:rPr lang="en-US" sz="2000" b="1" i="1" smtClean="0">
                              <a:latin typeface="Cambria Math" panose="02040503050406030204" pitchFamily="18" charset="0"/>
                              <a:ea typeface="Cambria Math" panose="02040503050406030204" pitchFamily="18" charset="0"/>
                            </a:rPr>
                            <m:t>𝟏</m:t>
                          </m:r>
                          <m:r>
                            <a:rPr lang="en-US" sz="2000" b="1" i="1" smtClean="0">
                              <a:latin typeface="Cambria Math" panose="02040503050406030204" pitchFamily="18" charset="0"/>
                              <a:ea typeface="Cambria Math" panose="02040503050406030204" pitchFamily="18" charset="0"/>
                            </a:rPr>
                            <m:t>+</m:t>
                          </m:r>
                          <m:f>
                            <m:fPr>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𝟏</m:t>
                              </m:r>
                            </m:num>
                            <m:den>
                              <m:r>
                                <a:rPr lang="en-US" sz="2000" b="1" i="1" smtClean="0">
                                  <a:latin typeface="Cambria Math" panose="02040503050406030204" pitchFamily="18" charset="0"/>
                                  <a:ea typeface="Cambria Math" panose="02040503050406030204" pitchFamily="18" charset="0"/>
                                </a:rPr>
                                <m:t>𝒏</m:t>
                              </m:r>
                            </m:den>
                          </m:f>
                          <m:r>
                            <a:rPr lang="en-US" sz="2000" b="1" i="1" smtClean="0">
                              <a:latin typeface="Cambria Math" panose="02040503050406030204" pitchFamily="18" charset="0"/>
                              <a:ea typeface="Cambria Math" panose="02040503050406030204" pitchFamily="18" charset="0"/>
                            </a:rPr>
                            <m:t>+</m:t>
                          </m:r>
                          <m:f>
                            <m:fPr>
                              <m:ctrlPr>
                                <a:rPr lang="en-US" sz="2000" b="1" i="1" smtClean="0">
                                  <a:latin typeface="Cambria Math" panose="02040503050406030204" pitchFamily="18" charset="0"/>
                                  <a:ea typeface="Cambria Math" panose="02040503050406030204" pitchFamily="18" charset="0"/>
                                </a:rPr>
                              </m:ctrlPr>
                            </m:fPr>
                            <m:num>
                              <m:sSup>
                                <m:sSupPr>
                                  <m:ctrlPr>
                                    <a:rPr lang="en-US" sz="2000" b="1" i="1" smtClean="0">
                                      <a:latin typeface="Cambria Math" panose="02040503050406030204" pitchFamily="18" charset="0"/>
                                      <a:ea typeface="Cambria Math" panose="02040503050406030204" pitchFamily="18" charset="0"/>
                                    </a:rPr>
                                  </m:ctrlPr>
                                </m:sSupPr>
                                <m:e>
                                  <m:d>
                                    <m:dPr>
                                      <m:ctrlPr>
                                        <a:rPr lang="en-US" sz="2000" b="1" i="1" smtClean="0">
                                          <a:latin typeface="Cambria Math" panose="02040503050406030204" pitchFamily="18" charset="0"/>
                                          <a:ea typeface="Cambria Math" panose="02040503050406030204" pitchFamily="18" charset="0"/>
                                        </a:rPr>
                                      </m:ctrlPr>
                                    </m:dPr>
                                    <m:e>
                                      <m:sSup>
                                        <m:sSupPr>
                                          <m:ctrlPr>
                                            <a:rPr lang="en-US" sz="2000" b="1" i="1" smtClean="0">
                                              <a:latin typeface="Cambria Math" panose="02040503050406030204" pitchFamily="18" charset="0"/>
                                              <a:ea typeface="Cambria Math" panose="02040503050406030204" pitchFamily="18" charset="0"/>
                                            </a:rPr>
                                          </m:ctrlPr>
                                        </m:sSupPr>
                                        <m:e>
                                          <m:r>
                                            <a:rPr lang="en-US" sz="2000" b="1" i="1" smtClean="0">
                                              <a:latin typeface="Cambria Math" panose="02040503050406030204" pitchFamily="18" charset="0"/>
                                              <a:ea typeface="Cambria Math" panose="02040503050406030204" pitchFamily="18" charset="0"/>
                                            </a:rPr>
                                            <m:t>𝒙</m:t>
                                          </m:r>
                                        </m:e>
                                        <m:sup>
                                          <m:r>
                                            <a:rPr lang="en-US" sz="2000" b="1" i="1" smtClean="0">
                                              <a:latin typeface="Cambria Math" panose="02040503050406030204" pitchFamily="18" charset="0"/>
                                              <a:ea typeface="Cambria Math" panose="02040503050406030204" pitchFamily="18" charset="0"/>
                                            </a:rPr>
                                            <m:t>∗</m:t>
                                          </m:r>
                                        </m:sup>
                                      </m:sSup>
                                      <m:r>
                                        <a:rPr lang="en-US" sz="2000" b="1" i="1" smtClean="0">
                                          <a:latin typeface="Cambria Math" panose="02040503050406030204" pitchFamily="18" charset="0"/>
                                          <a:ea typeface="Cambria Math" panose="02040503050406030204" pitchFamily="18" charset="0"/>
                                        </a:rPr>
                                        <m:t>−</m:t>
                                      </m:r>
                                      <m:acc>
                                        <m:accPr>
                                          <m:chr m:val="̅"/>
                                          <m:ctrlPr>
                                            <a:rPr lang="en-US" sz="2000" b="1" i="1" smtClean="0">
                                              <a:latin typeface="Cambria Math" panose="02040503050406030204" pitchFamily="18" charset="0"/>
                                              <a:ea typeface="Cambria Math" panose="02040503050406030204" pitchFamily="18" charset="0"/>
                                            </a:rPr>
                                          </m:ctrlPr>
                                        </m:accPr>
                                        <m:e>
                                          <m:r>
                                            <a:rPr lang="en-US" sz="2000" b="1" i="1" smtClean="0">
                                              <a:latin typeface="Cambria Math" panose="02040503050406030204" pitchFamily="18" charset="0"/>
                                              <a:ea typeface="Cambria Math" panose="02040503050406030204" pitchFamily="18" charset="0"/>
                                            </a:rPr>
                                            <m:t>𝒙</m:t>
                                          </m:r>
                                        </m:e>
                                      </m:acc>
                                    </m:e>
                                  </m:d>
                                </m:e>
                                <m:sup>
                                  <m:r>
                                    <a:rPr lang="en-US" sz="2000" b="1" i="1" smtClean="0">
                                      <a:latin typeface="Cambria Math" panose="02040503050406030204" pitchFamily="18" charset="0"/>
                                      <a:ea typeface="Cambria Math" panose="02040503050406030204" pitchFamily="18" charset="0"/>
                                    </a:rPr>
                                    <m:t>𝟐</m:t>
                                  </m:r>
                                </m:sup>
                              </m:sSup>
                            </m:num>
                            <m:den>
                              <m:nary>
                                <m:naryPr>
                                  <m:chr m:val="∑"/>
                                  <m:subHide m:val="on"/>
                                  <m:supHide m:val="on"/>
                                  <m:ctrlPr>
                                    <a:rPr lang="en-US" sz="2000" b="1" i="1" smtClean="0">
                                      <a:latin typeface="Cambria Math" panose="02040503050406030204" pitchFamily="18" charset="0"/>
                                      <a:ea typeface="Cambria Math" panose="02040503050406030204" pitchFamily="18" charset="0"/>
                                    </a:rPr>
                                  </m:ctrlPr>
                                </m:naryPr>
                                <m:sub/>
                                <m:sup/>
                                <m:e>
                                  <m:sSup>
                                    <m:sSupPr>
                                      <m:ctrlPr>
                                        <a:rPr lang="en-US" sz="2000" b="1" i="1" smtClean="0">
                                          <a:latin typeface="Cambria Math" panose="02040503050406030204" pitchFamily="18" charset="0"/>
                                          <a:ea typeface="Cambria Math" panose="02040503050406030204" pitchFamily="18" charset="0"/>
                                        </a:rPr>
                                      </m:ctrlPr>
                                    </m:sSupPr>
                                    <m:e>
                                      <m:d>
                                        <m:dPr>
                                          <m:ctrlPr>
                                            <a:rPr lang="en-US" sz="2000" b="1" i="1" smtClean="0">
                                              <a:latin typeface="Cambria Math" panose="02040503050406030204" pitchFamily="18" charset="0"/>
                                              <a:ea typeface="Cambria Math" panose="02040503050406030204" pitchFamily="18" charset="0"/>
                                            </a:rPr>
                                          </m:ctrlPr>
                                        </m:dPr>
                                        <m:e>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𝒙</m:t>
                                              </m:r>
                                            </m:e>
                                            <m:sub>
                                              <m:r>
                                                <a:rPr lang="en-US" sz="2000" b="1" i="1" smtClean="0">
                                                  <a:latin typeface="Cambria Math" panose="02040503050406030204" pitchFamily="18" charset="0"/>
                                                  <a:ea typeface="Cambria Math" panose="02040503050406030204" pitchFamily="18" charset="0"/>
                                                </a:rPr>
                                                <m:t>𝒊</m:t>
                                              </m:r>
                                            </m:sub>
                                          </m:sSub>
                                          <m:r>
                                            <a:rPr lang="en-US" sz="2000" b="1" i="1" smtClean="0">
                                              <a:latin typeface="Cambria Math" panose="02040503050406030204" pitchFamily="18" charset="0"/>
                                              <a:ea typeface="Cambria Math" panose="02040503050406030204" pitchFamily="18" charset="0"/>
                                            </a:rPr>
                                            <m:t>−</m:t>
                                          </m:r>
                                          <m:acc>
                                            <m:accPr>
                                              <m:chr m:val="̅"/>
                                              <m:ctrlPr>
                                                <a:rPr lang="en-US" sz="2000" b="1" i="1">
                                                  <a:latin typeface="Cambria Math" panose="02040503050406030204" pitchFamily="18" charset="0"/>
                                                  <a:ea typeface="Cambria Math" panose="02040503050406030204" pitchFamily="18" charset="0"/>
                                                </a:rPr>
                                              </m:ctrlPr>
                                            </m:accPr>
                                            <m:e>
                                              <m:r>
                                                <a:rPr lang="en-US" sz="2000" b="1" i="1">
                                                  <a:latin typeface="Cambria Math" panose="02040503050406030204" pitchFamily="18" charset="0"/>
                                                  <a:ea typeface="Cambria Math" panose="02040503050406030204" pitchFamily="18" charset="0"/>
                                                </a:rPr>
                                                <m:t>𝒙</m:t>
                                              </m:r>
                                            </m:e>
                                          </m:acc>
                                        </m:e>
                                      </m:d>
                                    </m:e>
                                    <m:sup>
                                      <m:r>
                                        <a:rPr lang="en-US" sz="2000" b="1" i="1" smtClean="0">
                                          <a:latin typeface="Cambria Math" panose="02040503050406030204" pitchFamily="18" charset="0"/>
                                          <a:ea typeface="Cambria Math" panose="02040503050406030204" pitchFamily="18" charset="0"/>
                                        </a:rPr>
                                        <m:t>𝟐</m:t>
                                      </m:r>
                                    </m:sup>
                                  </m:sSup>
                                </m:e>
                              </m:nary>
                            </m:den>
                          </m:f>
                        </m:e>
                      </m:rad>
                    </m:oMath>
                  </m:oMathPara>
                </a14:m>
                <a:endParaRPr lang="en-US" sz="2000" b="1"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cs typeface="Arial" panose="020B0604020202020204" pitchFamily="34" charset="0"/>
                  </a:rPr>
                  <a:t>Note that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𝑠</m:t>
                        </m:r>
                      </m:e>
                      <m:sub>
                        <m:r>
                          <a:rPr lang="en-US" sz="2000" i="1">
                            <a:latin typeface="Cambria Math" panose="02040503050406030204" pitchFamily="18" charset="0"/>
                            <a:ea typeface="Cambria Math" panose="02040503050406030204" pitchFamily="18" charset="0"/>
                          </a:rPr>
                          <m:t>𝑝𝑟𝑒𝑑</m:t>
                        </m:r>
                      </m:sub>
                    </m:sSub>
                  </m:oMath>
                </a14:m>
                <a:r>
                  <a:rPr lang="en-US" sz="2000" dirty="0">
                    <a:latin typeface="Arial" panose="020B0604020202020204" pitchFamily="34" charset="0"/>
                    <a:cs typeface="Arial" panose="020B0604020202020204" pitchFamily="34" charset="0"/>
                  </a:rPr>
                  <a:t> is also smallest when </a:t>
                </a:r>
                <a14:m>
                  <m:oMath xmlns:m="http://schemas.openxmlformats.org/officeDocument/2006/math">
                    <m:sSup>
                      <m:sSupPr>
                        <m:ctrlPr>
                          <a:rPr lang="en-US" sz="2000" b="1"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𝒙</m:t>
                        </m:r>
                      </m:e>
                      <m:sup>
                        <m:r>
                          <a:rPr lang="en-US" sz="2000" b="1" i="1">
                            <a:latin typeface="Cambria Math" panose="02040503050406030204" pitchFamily="18" charset="0"/>
                            <a:ea typeface="Cambria Math" panose="02040503050406030204" pitchFamily="18" charset="0"/>
                          </a:rPr>
                          <m:t>∗</m:t>
                        </m:r>
                      </m:sup>
                    </m:sSup>
                    <m:r>
                      <a:rPr lang="en-US" sz="2000" b="1" i="1" smtClean="0">
                        <a:latin typeface="Cambria Math" panose="02040503050406030204" pitchFamily="18" charset="0"/>
                        <a:ea typeface="Cambria Math" panose="02040503050406030204" pitchFamily="18" charset="0"/>
                      </a:rPr>
                      <m:t>=</m:t>
                    </m:r>
                    <m:acc>
                      <m:accPr>
                        <m:chr m:val="̅"/>
                        <m:ctrlPr>
                          <a:rPr lang="en-US" sz="2000" b="1" i="1">
                            <a:latin typeface="Cambria Math" panose="02040503050406030204" pitchFamily="18" charset="0"/>
                            <a:ea typeface="Cambria Math" panose="02040503050406030204" pitchFamily="18" charset="0"/>
                          </a:rPr>
                        </m:ctrlPr>
                      </m:accPr>
                      <m:e>
                        <m:r>
                          <a:rPr lang="en-US" sz="2000" b="1" i="1">
                            <a:latin typeface="Cambria Math" panose="02040503050406030204" pitchFamily="18" charset="0"/>
                            <a:ea typeface="Cambria Math" panose="02040503050406030204" pitchFamily="18" charset="0"/>
                          </a:rPr>
                          <m:t>𝒙</m:t>
                        </m:r>
                      </m:e>
                    </m:acc>
                  </m:oMath>
                </a14:m>
                <a:r>
                  <a:rPr lang="en-US" sz="2000" dirty="0">
                    <a:latin typeface="Arial" panose="020B0604020202020204" pitchFamily="34" charset="0"/>
                    <a:cs typeface="Arial" panose="020B0604020202020204" pitchFamily="34" charset="0"/>
                  </a:rPr>
                  <a:t>. In such case, we have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𝑠</m:t>
                          </m:r>
                        </m:e>
                        <m:sub>
                          <m:sSup>
                            <m:sSupPr>
                              <m:ctrlPr>
                                <a:rPr lang="en-US" sz="2000" i="1">
                                  <a:latin typeface="Cambria Math" panose="02040503050406030204" pitchFamily="18" charset="0"/>
                                  <a:ea typeface="Cambria Math" panose="02040503050406030204" pitchFamily="18" charset="0"/>
                                </a:rPr>
                              </m:ctrlPr>
                            </m:sSupPr>
                            <m:e>
                              <m:acc>
                                <m:accPr>
                                  <m:chr m:val="̂"/>
                                  <m:ctrlPr>
                                    <a:rPr lang="en-US" sz="200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𝑦</m:t>
                                  </m:r>
                                </m:e>
                              </m:acc>
                            </m:e>
                            <m:sup>
                              <m:r>
                                <a:rPr lang="en-US" sz="2000" b="0" i="1">
                                  <a:latin typeface="Cambria Math" panose="02040503050406030204" pitchFamily="18" charset="0"/>
                                  <a:ea typeface="Cambria Math" panose="02040503050406030204" pitchFamily="18" charset="0"/>
                                </a:rPr>
                                <m:t>∗</m:t>
                              </m:r>
                            </m:sup>
                          </m:sSup>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𝑠</m:t>
                      </m:r>
                      <m:rad>
                        <m:radPr>
                          <m:degHide m:val="on"/>
                          <m:ctrlPr>
                            <a:rPr lang="en-US" sz="200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1+</m:t>
                          </m:r>
                          <m:f>
                            <m:fPr>
                              <m:ctrlPr>
                                <a:rPr lang="en-US" sz="200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𝑛</m:t>
                              </m:r>
                            </m:den>
                          </m:f>
                          <m:r>
                            <a:rPr lang="en-US" sz="2000" b="0" i="1" smtClean="0">
                              <a:latin typeface="Cambria Math" panose="02040503050406030204" pitchFamily="18" charset="0"/>
                              <a:ea typeface="Cambria Math" panose="02040503050406030204" pitchFamily="18" charset="0"/>
                            </a:rPr>
                            <m:t>+</m:t>
                          </m:r>
                          <m:f>
                            <m:fPr>
                              <m:ctrlPr>
                                <a:rPr lang="en-US" sz="2000" i="1" smtClean="0">
                                  <a:latin typeface="Cambria Math" panose="02040503050406030204" pitchFamily="18" charset="0"/>
                                  <a:ea typeface="Cambria Math" panose="02040503050406030204" pitchFamily="18" charset="0"/>
                                </a:rPr>
                              </m:ctrlPr>
                            </m:fPr>
                            <m:num>
                              <m:sSup>
                                <m:sSupPr>
                                  <m:ctrlPr>
                                    <a:rPr lang="en-US" sz="2000" i="1" smtClean="0">
                                      <a:latin typeface="Cambria Math" panose="02040503050406030204" pitchFamily="18" charset="0"/>
                                      <a:ea typeface="Cambria Math" panose="02040503050406030204" pitchFamily="18" charset="0"/>
                                    </a:rPr>
                                  </m:ctrlPr>
                                </m:sSupPr>
                                <m:e>
                                  <m:d>
                                    <m:dPr>
                                      <m:ctrlPr>
                                        <a:rPr lang="en-US" sz="2000" i="1" smtClean="0">
                                          <a:latin typeface="Cambria Math" panose="02040503050406030204" pitchFamily="18" charset="0"/>
                                          <a:ea typeface="Cambria Math" panose="02040503050406030204" pitchFamily="18" charset="0"/>
                                        </a:rPr>
                                      </m:ctrlPr>
                                    </m:dPr>
                                    <m:e>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𝑥</m:t>
                                          </m:r>
                                        </m:e>
                                      </m:acc>
                                      <m:r>
                                        <a:rPr lang="en-US" sz="2000" b="0" i="1" smtClean="0">
                                          <a:latin typeface="Cambria Math" panose="02040503050406030204" pitchFamily="18" charset="0"/>
                                          <a:ea typeface="Cambria Math" panose="02040503050406030204" pitchFamily="18" charset="0"/>
                                        </a:rPr>
                                        <m:t>−</m:t>
                                      </m:r>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𝑥</m:t>
                                          </m:r>
                                        </m:e>
                                      </m:acc>
                                    </m:e>
                                  </m:d>
                                </m:e>
                                <m:sup>
                                  <m:r>
                                    <a:rPr lang="en-US" sz="2000" b="0" i="1" smtClean="0">
                                      <a:latin typeface="Cambria Math" panose="02040503050406030204" pitchFamily="18" charset="0"/>
                                      <a:ea typeface="Cambria Math" panose="02040503050406030204" pitchFamily="18" charset="0"/>
                                    </a:rPr>
                                    <m:t>2</m:t>
                                  </m:r>
                                </m:sup>
                              </m:sSup>
                            </m:num>
                            <m:den>
                              <m:nary>
                                <m:naryPr>
                                  <m:chr m:val="∑"/>
                                  <m:subHide m:val="on"/>
                                  <m:supHide m:val="on"/>
                                  <m:ctrlPr>
                                    <a:rPr lang="en-US" sz="2000" i="1" smtClean="0">
                                      <a:latin typeface="Cambria Math" panose="02040503050406030204" pitchFamily="18" charset="0"/>
                                      <a:ea typeface="Cambria Math" panose="02040503050406030204" pitchFamily="18" charset="0"/>
                                    </a:rPr>
                                  </m:ctrlPr>
                                </m:naryPr>
                                <m:sub/>
                                <m:sup/>
                                <m:e>
                                  <m:sSup>
                                    <m:sSupPr>
                                      <m:ctrlPr>
                                        <a:rPr lang="en-US" sz="2000" i="1" smtClean="0">
                                          <a:latin typeface="Cambria Math" panose="02040503050406030204" pitchFamily="18" charset="0"/>
                                          <a:ea typeface="Cambria Math" panose="02040503050406030204" pitchFamily="18" charset="0"/>
                                        </a:rPr>
                                      </m:ctrlPr>
                                    </m:sSupPr>
                                    <m:e>
                                      <m:d>
                                        <m:dPr>
                                          <m:ctrlPr>
                                            <a:rPr lang="en-US" sz="2000" i="1" smtClean="0">
                                              <a:latin typeface="Cambria Math" panose="02040503050406030204" pitchFamily="18" charset="0"/>
                                              <a:ea typeface="Cambria Math" panose="02040503050406030204" pitchFamily="18" charset="0"/>
                                            </a:rPr>
                                          </m:ctrlPr>
                                        </m:dPr>
                                        <m:e>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acc>
                                            <m:accPr>
                                              <m:chr m:val="̅"/>
                                              <m:ctrlPr>
                                                <a:rPr lang="en-US" sz="200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𝑥</m:t>
                                              </m:r>
                                            </m:e>
                                          </m:acc>
                                        </m:e>
                                      </m:d>
                                    </m:e>
                                    <m:sup>
                                      <m:r>
                                        <a:rPr lang="en-US" sz="2000" b="0" i="1" smtClean="0">
                                          <a:latin typeface="Cambria Math" panose="02040503050406030204" pitchFamily="18" charset="0"/>
                                          <a:ea typeface="Cambria Math" panose="02040503050406030204" pitchFamily="18" charset="0"/>
                                        </a:rPr>
                                        <m:t>2</m:t>
                                      </m:r>
                                    </m:sup>
                                  </m:sSup>
                                </m:e>
                              </m:nary>
                            </m:den>
                          </m:f>
                        </m:e>
                      </m:rad>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rad>
                        <m:radPr>
                          <m:degHide m:val="on"/>
                          <m:ctrlPr>
                            <a:rPr lang="en-US" sz="200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1+</m:t>
                          </m:r>
                          <m:f>
                            <m:fPr>
                              <m:ctrlPr>
                                <a:rPr lang="en-US" sz="200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𝑛</m:t>
                              </m:r>
                            </m:den>
                          </m:f>
                        </m:e>
                      </m:rad>
                    </m:oMath>
                  </m:oMathPara>
                </a14:m>
                <a:endParaRPr lang="en-US" sz="20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324303"/>
                <a:ext cx="10781737" cy="4453759"/>
              </a:xfrm>
              <a:blipFill>
                <a:blip r:embed="rId3"/>
                <a:stretch>
                  <a:fillRect l="-1471" t="-1642"/>
                </a:stretch>
              </a:blipFill>
            </p:spPr>
            <p:txBody>
              <a:bodyPr/>
              <a:lstStyle/>
              <a:p>
                <a:r>
                  <a:rPr lang="en-US">
                    <a:noFill/>
                  </a:rPr>
                  <a:t> </a:t>
                </a:r>
              </a:p>
            </p:txBody>
          </p:sp>
        </mc:Fallback>
      </mc:AlternateContent>
    </p:spTree>
    <p:extLst>
      <p:ext uri="{BB962C8B-B14F-4D97-AF65-F5344CB8AC3E}">
        <p14:creationId xmlns:p14="http://schemas.microsoft.com/office/powerpoint/2010/main" val="42715436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2E9DA-8EC1-BDCC-225E-5AF0A5DDA749}"/>
              </a:ext>
            </a:extLst>
          </p:cNvPr>
          <p:cNvSpPr>
            <a:spLocks noGrp="1"/>
          </p:cNvSpPr>
          <p:nvPr>
            <p:ph type="title"/>
          </p:nvPr>
        </p:nvSpPr>
        <p:spPr/>
        <p:txBody>
          <a:bodyPr/>
          <a:lstStyle/>
          <a:p>
            <a:r>
              <a:rPr lang="en-US" sz="3200" dirty="0"/>
              <a:t>14.6 Prediction Interval for the Quarterly Sales at an Individual Restaurant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827DCC9-48E9-39AA-09BA-FE2089FB98DA}"/>
                  </a:ext>
                </a:extLst>
              </p:cNvPr>
              <p:cNvSpPr>
                <a:spLocks noGrp="1"/>
              </p:cNvSpPr>
              <p:nvPr>
                <p:ph type="body" sz="quarter" idx="15"/>
              </p:nvPr>
            </p:nvSpPr>
            <p:spPr>
              <a:xfrm>
                <a:off x="740228" y="1714620"/>
                <a:ext cx="10711543" cy="4064676"/>
              </a:xfrm>
            </p:spPr>
            <p:txBody>
              <a:bodyPr/>
              <a:lstStyle/>
              <a:p>
                <a:pPr>
                  <a:spcBef>
                    <a:spcPts val="600"/>
                  </a:spcBef>
                </a:pPr>
                <a:r>
                  <a:rPr lang="en-US" sz="2000" dirty="0"/>
                  <a:t>Let us develop a 95% prediction interval of the quarterly sales for a new restaurant that Armand’s is opening near a campus with 10,000 students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=10</m:t>
                    </m:r>
                  </m:oMath>
                </a14:m>
                <a:r>
                  <a:rPr lang="en-US" sz="2000" dirty="0"/>
                  <a:t>.)</a:t>
                </a:r>
              </a:p>
              <a:p>
                <a:pPr>
                  <a:spcBef>
                    <a:spcPts val="600"/>
                  </a:spcBef>
                </a:pPr>
                <a:r>
                  <a:rPr lang="en-US" sz="2000" dirty="0"/>
                  <a:t>From previous calculations, we found that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=10</m:t>
                    </m:r>
                  </m:oMath>
                </a14:m>
                <a:r>
                  <a:rPr lang="en-US" sz="2000" dirty="0"/>
                  <a:t>, </a:t>
                </a:r>
                <a14:m>
                  <m:oMath xmlns:m="http://schemas.openxmlformats.org/officeDocument/2006/math">
                    <m:r>
                      <a:rPr lang="en-US" sz="2000" i="1" dirty="0" smtClean="0">
                        <a:latin typeface="Cambria Math" panose="02040503050406030204" pitchFamily="18" charset="0"/>
                      </a:rPr>
                      <m:t>𝑠</m:t>
                    </m:r>
                    <m:r>
                      <a:rPr lang="en-US" sz="2000" i="1" dirty="0" smtClean="0">
                        <a:latin typeface="Cambria Math" panose="02040503050406030204" pitchFamily="18" charset="0"/>
                      </a:rPr>
                      <m:t>=13.829</m:t>
                    </m:r>
                  </m:oMath>
                </a14:m>
                <a:r>
                  <a:rPr lang="en-US" sz="2000" dirty="0"/>
                  <a:t>, and </a:t>
                </a:r>
                <a14:m>
                  <m:oMath xmlns:m="http://schemas.openxmlformats.org/officeDocument/2006/math">
                    <m:nary>
                      <m:naryPr>
                        <m:chr m:val="∑"/>
                        <m:subHide m:val="on"/>
                        <m:supHide m:val="on"/>
                        <m:ctrlPr>
                          <a:rPr lang="en-US" sz="2000" i="1" smtClean="0">
                            <a:latin typeface="Cambria Math" panose="02040503050406030204" pitchFamily="18" charset="0"/>
                            <a:cs typeface="Arial" panose="020B0604020202020204" pitchFamily="34" charset="0"/>
                          </a:rPr>
                        </m:ctrlPr>
                      </m:naryPr>
                      <m:sub/>
                      <m:sup/>
                      <m:e>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a:latin typeface="Cambria Math" panose="02040503050406030204" pitchFamily="18" charset="0"/>
                                        <a:cs typeface="Arial" panose="020B0604020202020204" pitchFamily="34" charset="0"/>
                                      </a:rPr>
                                      <m:t>𝑖</m:t>
                                    </m:r>
                                  </m:sub>
                                </m:sSub>
                                <m:r>
                                  <a:rPr lang="en-US" sz="2000" b="0" i="1">
                                    <a:latin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𝑥</m:t>
                                    </m:r>
                                  </m:e>
                                </m:acc>
                              </m:e>
                            </m:d>
                          </m:e>
                          <m:sup>
                            <m:r>
                              <a:rPr lang="en-US" sz="2000" b="0" i="1">
                                <a:latin typeface="Cambria Math" panose="02040503050406030204" pitchFamily="18" charset="0"/>
                                <a:cs typeface="Arial" panose="020B0604020202020204" pitchFamily="34" charset="0"/>
                              </a:rPr>
                              <m:t>2</m:t>
                            </m:r>
                          </m:sup>
                        </m:sSup>
                      </m:e>
                    </m:nary>
                    <m:r>
                      <a:rPr lang="en-US" sz="2000" b="0" i="1" smtClean="0">
                        <a:latin typeface="Cambria Math" panose="02040503050406030204" pitchFamily="18" charset="0"/>
                        <a:cs typeface="Arial" panose="020B0604020202020204" pitchFamily="34" charset="0"/>
                      </a:rPr>
                      <m:t>=568</m:t>
                    </m:r>
                  </m:oMath>
                </a14:m>
                <a:r>
                  <a:rPr lang="en-US" sz="2000" dirty="0"/>
                  <a:t>.</a:t>
                </a:r>
              </a:p>
              <a:p>
                <a:pPr>
                  <a:spcBef>
                    <a:spcPts val="600"/>
                  </a:spcBef>
                  <a:spcAft>
                    <a:spcPts val="600"/>
                  </a:spcAft>
                </a:pPr>
                <a:r>
                  <a:rPr lang="en-US" sz="2000" dirty="0"/>
                  <a:t>At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=10</m:t>
                    </m:r>
                  </m:oMath>
                </a14:m>
                <a:r>
                  <a:rPr lang="en-US" sz="2000" dirty="0"/>
                  <a:t>, we have: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𝑠</m:t>
                          </m:r>
                        </m:e>
                        <m:sub>
                          <m:sSup>
                            <m:sSupPr>
                              <m:ctrlPr>
                                <a:rPr lang="en-US" sz="2000" i="1">
                                  <a:latin typeface="Cambria Math" panose="02040503050406030204" pitchFamily="18" charset="0"/>
                                  <a:ea typeface="Cambria Math" panose="02040503050406030204" pitchFamily="18" charset="0"/>
                                </a:rPr>
                              </m:ctrlPr>
                            </m:sSupPr>
                            <m:e>
                              <m:acc>
                                <m:accPr>
                                  <m:chr m:val="̂"/>
                                  <m:ctrlPr>
                                    <a:rPr lang="en-US" sz="200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𝑦</m:t>
                                  </m:r>
                                </m:e>
                              </m:acc>
                            </m:e>
                            <m:sup>
                              <m:r>
                                <a:rPr lang="en-US" sz="2000" b="0" i="1">
                                  <a:latin typeface="Cambria Math" panose="02040503050406030204" pitchFamily="18" charset="0"/>
                                  <a:ea typeface="Cambria Math" panose="02040503050406030204" pitchFamily="18" charset="0"/>
                                </a:rPr>
                                <m:t>∗</m:t>
                              </m:r>
                            </m:sup>
                          </m:sSup>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𝑠</m:t>
                      </m:r>
                      <m:rad>
                        <m:radPr>
                          <m:degHide m:val="on"/>
                          <m:ctrlPr>
                            <a:rPr lang="en-US" sz="200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1+</m:t>
                          </m:r>
                          <m:f>
                            <m:fPr>
                              <m:ctrlPr>
                                <a:rPr lang="en-US" sz="200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𝑛</m:t>
                              </m:r>
                            </m:den>
                          </m:f>
                          <m:r>
                            <a:rPr lang="en-US" sz="2000" b="0" i="1" smtClean="0">
                              <a:latin typeface="Cambria Math" panose="02040503050406030204" pitchFamily="18" charset="0"/>
                              <a:ea typeface="Cambria Math" panose="02040503050406030204" pitchFamily="18" charset="0"/>
                            </a:rPr>
                            <m:t>+</m:t>
                          </m:r>
                          <m:f>
                            <m:fPr>
                              <m:ctrlPr>
                                <a:rPr lang="en-US" sz="2000" i="1" smtClean="0">
                                  <a:latin typeface="Cambria Math" panose="02040503050406030204" pitchFamily="18" charset="0"/>
                                  <a:ea typeface="Cambria Math" panose="02040503050406030204" pitchFamily="18" charset="0"/>
                                </a:rPr>
                              </m:ctrlPr>
                            </m:fPr>
                            <m:num>
                              <m:sSup>
                                <m:sSupPr>
                                  <m:ctrlPr>
                                    <a:rPr lang="en-US" sz="2000" i="1" smtClean="0">
                                      <a:latin typeface="Cambria Math" panose="02040503050406030204" pitchFamily="18" charset="0"/>
                                      <a:ea typeface="Cambria Math" panose="02040503050406030204" pitchFamily="18" charset="0"/>
                                    </a:rPr>
                                  </m:ctrlPr>
                                </m:sSupPr>
                                <m:e>
                                  <m:d>
                                    <m:dPr>
                                      <m:ctrlPr>
                                        <a:rPr lang="en-US" sz="2000" i="1" smtClean="0">
                                          <a:latin typeface="Cambria Math" panose="02040503050406030204" pitchFamily="18" charset="0"/>
                                          <a:ea typeface="Cambria Math" panose="02040503050406030204" pitchFamily="18" charset="0"/>
                                        </a:rPr>
                                      </m:ctrlPr>
                                    </m:dPr>
                                    <m:e>
                                      <m:sSup>
                                        <m:sSupPr>
                                          <m:ctrlPr>
                                            <a:rPr lang="en-US" sz="200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𝑥</m:t>
                                          </m:r>
                                        </m:e>
                                        <m:sup>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ea typeface="Cambria Math" panose="02040503050406030204" pitchFamily="18" charset="0"/>
                                        </a:rPr>
                                        <m:t>−</m:t>
                                      </m:r>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𝑥</m:t>
                                          </m:r>
                                        </m:e>
                                      </m:acc>
                                    </m:e>
                                  </m:d>
                                </m:e>
                                <m:sup>
                                  <m:r>
                                    <a:rPr lang="en-US" sz="2000" b="0" i="1" smtClean="0">
                                      <a:latin typeface="Cambria Math" panose="02040503050406030204" pitchFamily="18" charset="0"/>
                                      <a:ea typeface="Cambria Math" panose="02040503050406030204" pitchFamily="18" charset="0"/>
                                    </a:rPr>
                                    <m:t>2</m:t>
                                  </m:r>
                                </m:sup>
                              </m:sSup>
                            </m:num>
                            <m:den>
                              <m:nary>
                                <m:naryPr>
                                  <m:chr m:val="∑"/>
                                  <m:subHide m:val="on"/>
                                  <m:supHide m:val="on"/>
                                  <m:ctrlPr>
                                    <a:rPr lang="en-US" sz="2000" i="1" smtClean="0">
                                      <a:latin typeface="Cambria Math" panose="02040503050406030204" pitchFamily="18" charset="0"/>
                                      <a:ea typeface="Cambria Math" panose="02040503050406030204" pitchFamily="18" charset="0"/>
                                    </a:rPr>
                                  </m:ctrlPr>
                                </m:naryPr>
                                <m:sub/>
                                <m:sup/>
                                <m:e>
                                  <m:sSup>
                                    <m:sSupPr>
                                      <m:ctrlPr>
                                        <a:rPr lang="en-US" sz="2000" i="1" smtClean="0">
                                          <a:latin typeface="Cambria Math" panose="02040503050406030204" pitchFamily="18" charset="0"/>
                                          <a:ea typeface="Cambria Math" panose="02040503050406030204" pitchFamily="18" charset="0"/>
                                        </a:rPr>
                                      </m:ctrlPr>
                                    </m:sSupPr>
                                    <m:e>
                                      <m:d>
                                        <m:dPr>
                                          <m:ctrlPr>
                                            <a:rPr lang="en-US" sz="2000" i="1" smtClean="0">
                                              <a:latin typeface="Cambria Math" panose="02040503050406030204" pitchFamily="18" charset="0"/>
                                              <a:ea typeface="Cambria Math" panose="02040503050406030204" pitchFamily="18" charset="0"/>
                                            </a:rPr>
                                          </m:ctrlPr>
                                        </m:dPr>
                                        <m:e>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acc>
                                            <m:accPr>
                                              <m:chr m:val="̅"/>
                                              <m:ctrlPr>
                                                <a:rPr lang="en-US" sz="200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𝑥</m:t>
                                              </m:r>
                                            </m:e>
                                          </m:acc>
                                        </m:e>
                                      </m:d>
                                    </m:e>
                                    <m:sup>
                                      <m:r>
                                        <a:rPr lang="en-US" sz="2000" b="0" i="1" smtClean="0">
                                          <a:latin typeface="Cambria Math" panose="02040503050406030204" pitchFamily="18" charset="0"/>
                                          <a:ea typeface="Cambria Math" panose="02040503050406030204" pitchFamily="18" charset="0"/>
                                        </a:rPr>
                                        <m:t>2</m:t>
                                      </m:r>
                                    </m:sup>
                                  </m:sSup>
                                </m:e>
                              </m:nary>
                            </m:den>
                          </m:f>
                        </m:e>
                      </m:rad>
                      <m:r>
                        <a:rPr lang="en-US" sz="2000" b="0" i="1" smtClean="0">
                          <a:latin typeface="Cambria Math" panose="02040503050406030204" pitchFamily="18" charset="0"/>
                          <a:ea typeface="Cambria Math" panose="02040503050406030204" pitchFamily="18" charset="0"/>
                        </a:rPr>
                        <m:t>=13.829</m:t>
                      </m:r>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1+</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10</m:t>
                              </m:r>
                            </m:den>
                          </m:f>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sSup>
                                <m:sSupPr>
                                  <m:ctrlPr>
                                    <a:rPr lang="en-US" sz="2000" b="0" i="1" smtClean="0">
                                      <a:latin typeface="Cambria Math" panose="02040503050406030204" pitchFamily="18" charset="0"/>
                                      <a:ea typeface="Cambria Math" panose="02040503050406030204" pitchFamily="18" charset="0"/>
                                    </a:rPr>
                                  </m:ctrlPr>
                                </m:sSupPr>
                                <m:e>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10−14)</m:t>
                                      </m:r>
                                    </m:e>
                                  </m:d>
                                </m:e>
                                <m:sup>
                                  <m:r>
                                    <a:rPr lang="en-US" sz="2000" b="0" i="1" smtClean="0">
                                      <a:latin typeface="Cambria Math" panose="02040503050406030204" pitchFamily="18" charset="0"/>
                                      <a:ea typeface="Cambria Math" panose="02040503050406030204" pitchFamily="18" charset="0"/>
                                    </a:rPr>
                                    <m:t>2</m:t>
                                  </m:r>
                                </m:sup>
                              </m:sSup>
                            </m:num>
                            <m:den>
                              <m:r>
                                <a:rPr lang="en-US" sz="2000" b="0" i="1" smtClean="0">
                                  <a:latin typeface="Cambria Math" panose="02040503050406030204" pitchFamily="18" charset="0"/>
                                  <a:ea typeface="Cambria Math" panose="02040503050406030204" pitchFamily="18" charset="0"/>
                                </a:rPr>
                                <m:t>568</m:t>
                              </m:r>
                            </m:den>
                          </m:f>
                        </m:e>
                      </m:rad>
                      <m:r>
                        <a:rPr lang="en-US" sz="2000" b="0" i="1" smtClean="0">
                          <a:latin typeface="Cambria Math" panose="02040503050406030204" pitchFamily="18" charset="0"/>
                          <a:ea typeface="Cambria Math" panose="02040503050406030204" pitchFamily="18" charset="0"/>
                        </a:rPr>
                        <m:t>=13.829</m:t>
                      </m:r>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1.282</m:t>
                          </m:r>
                        </m:e>
                      </m:rad>
                      <m:r>
                        <a:rPr lang="en-US" sz="2000" b="0" i="1" smtClean="0">
                          <a:latin typeface="Cambria Math" panose="02040503050406030204" pitchFamily="18" charset="0"/>
                          <a:ea typeface="Cambria Math" panose="02040503050406030204" pitchFamily="18" charset="0"/>
                        </a:rPr>
                        <m:t>=14.69</m:t>
                      </m:r>
                    </m:oMath>
                  </m:oMathPara>
                </a14:m>
                <a:endParaRPr lang="en-US" sz="2000" dirty="0"/>
              </a:p>
              <a:p>
                <a:pPr>
                  <a:spcBef>
                    <a:spcPts val="600"/>
                  </a:spcBef>
                  <a:spcAft>
                    <a:spcPts val="600"/>
                  </a:spcAft>
                </a:pPr>
                <a:r>
                  <a:rPr lang="en-US" sz="2000" dirty="0"/>
                  <a:t>Using Table 2 of Appendix B, we have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𝑡</m:t>
                        </m:r>
                      </m:e>
                      <m:sub>
                        <m:r>
                          <a:rPr lang="en-US" sz="2000" b="0" i="1" dirty="0" smtClean="0">
                            <a:latin typeface="Cambria Math" panose="02040503050406030204" pitchFamily="18" charset="0"/>
                          </a:rPr>
                          <m:t>.025</m:t>
                        </m:r>
                      </m:sub>
                    </m:sSub>
                    <m:r>
                      <a:rPr lang="en-US" sz="2000" i="1" dirty="0" smtClean="0">
                        <a:latin typeface="Cambria Math" panose="02040503050406030204" pitchFamily="18" charset="0"/>
                      </a:rPr>
                      <m:t>=2.306</m:t>
                    </m:r>
                  </m:oMath>
                </a14:m>
                <a:r>
                  <a:rPr lang="en-US" sz="2000" dirty="0"/>
                  <a:t>, and at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m:t>
                        </m:r>
                      </m:sup>
                    </m:sSup>
                    <m:r>
                      <a:rPr lang="en-US" sz="2000" i="1">
                        <a:latin typeface="Cambria Math" panose="02040503050406030204" pitchFamily="18" charset="0"/>
                      </a:rPr>
                      <m:t>=10</m:t>
                    </m:r>
                  </m:oMath>
                </a14:m>
                <a:r>
                  <a:rPr lang="en-US" sz="2000" dirty="0"/>
                  <a:t>, the predictor is</a:t>
                </a:r>
              </a:p>
              <a:p>
                <a:pPr marL="914400">
                  <a:spcBef>
                    <a:spcPts val="600"/>
                  </a:spcBef>
                  <a:spcAft>
                    <a:spcPts val="600"/>
                  </a:spcAft>
                </a:pPr>
                <a14:m>
                  <m:oMath xmlns:m="http://schemas.openxmlformats.org/officeDocument/2006/math">
                    <m:sSup>
                      <m:sSupPr>
                        <m:ctrlPr>
                          <a:rPr lang="en-US" sz="2000" i="1" smtClean="0">
                            <a:latin typeface="Cambria Math" panose="02040503050406030204" pitchFamily="18" charset="0"/>
                          </a:rPr>
                        </m:ctrlPr>
                      </m:sSup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p>
                        <m:r>
                          <a:rPr lang="en-US" sz="2000" b="0" i="1" smtClean="0">
                            <a:latin typeface="Cambria Math" panose="02040503050406030204" pitchFamily="18" charset="0"/>
                          </a:rPr>
                          <m:t>∗</m:t>
                        </m:r>
                      </m:sup>
                    </m:sSup>
                    <m:r>
                      <a:rPr lang="en-US" sz="2000" i="1">
                        <a:latin typeface="Cambria Math" panose="02040503050406030204" pitchFamily="18" charset="0"/>
                      </a:rPr>
                      <m:t>=60+5</m:t>
                    </m:r>
                    <m:sSup>
                      <m:sSupPr>
                        <m:ctrlPr>
                          <a:rPr lang="en-US" sz="2000" i="1" smtClean="0">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=60+5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m:t>
                        </m:r>
                      </m:e>
                    </m:d>
                    <m:r>
                      <a:rPr lang="en-US" sz="2000" b="0" i="1" smtClean="0">
                        <a:latin typeface="Cambria Math" panose="02040503050406030204" pitchFamily="18" charset="0"/>
                      </a:rPr>
                      <m:t>=110</m:t>
                    </m:r>
                  </m:oMath>
                </a14:m>
                <a:r>
                  <a:rPr lang="en-US" sz="2000" dirty="0"/>
                  <a:t>.</a:t>
                </a:r>
              </a:p>
              <a:p>
                <a:pPr>
                  <a:spcBef>
                    <a:spcPts val="600"/>
                  </a:spcBef>
                  <a:spcAft>
                    <a:spcPts val="600"/>
                  </a:spcAft>
                </a:pPr>
                <a:r>
                  <a:rPr lang="en-US" sz="2000" dirty="0"/>
                  <a:t>Thus, with </a:t>
                </a:r>
                <a14:m>
                  <m:oMath xmlns:m="http://schemas.openxmlformats.org/officeDocument/2006/math">
                    <m:sSup>
                      <m:sSupPr>
                        <m:ctrlPr>
                          <a:rPr lang="en-US" sz="2000" i="1" smtClean="0">
                            <a:latin typeface="Cambria Math" panose="02040503050406030204" pitchFamily="18" charset="0"/>
                          </a:rPr>
                        </m:ctrlPr>
                      </m:sSup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p>
                        <m:r>
                          <a:rPr lang="en-US" sz="2000" b="0" i="1" smtClean="0">
                            <a:latin typeface="Cambria Math" panose="02040503050406030204" pitchFamily="18" charset="0"/>
                          </a:rPr>
                          <m:t>∗</m:t>
                        </m:r>
                      </m:sup>
                    </m:sSup>
                    <m:r>
                      <a:rPr lang="en-US" sz="2000" b="0" i="1" smtClean="0">
                        <a:latin typeface="Cambria Math" panose="02040503050406030204" pitchFamily="18" charset="0"/>
                      </a:rPr>
                      <m:t>=110</m:t>
                    </m:r>
                  </m:oMath>
                </a14:m>
                <a:r>
                  <a:rPr lang="en-US" sz="2000" dirty="0"/>
                  <a:t> and margin of error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𝑡</m:t>
                        </m:r>
                      </m:e>
                      <m:sub>
                        <m:f>
                          <m:fPr>
                            <m:type m:val="lin"/>
                            <m:ctrlPr>
                              <a:rPr lang="en-US" sz="2000" i="1">
                                <a:latin typeface="Cambria Math" panose="02040503050406030204" pitchFamily="18" charset="0"/>
                                <a:ea typeface="Cambria Math" panose="02040503050406030204" pitchFamily="18" charset="0"/>
                              </a:rPr>
                            </m:ctrlPr>
                          </m:fPr>
                          <m:num>
                            <m:r>
                              <a:rPr lang="en-US" sz="2000" b="0" i="1">
                                <a:latin typeface="Cambria Math" panose="02040503050406030204" pitchFamily="18" charset="0"/>
                                <a:ea typeface="Cambria Math" panose="02040503050406030204" pitchFamily="18" charset="0"/>
                              </a:rPr>
                              <m:t>𝛼</m:t>
                            </m:r>
                          </m:num>
                          <m:den>
                            <m:r>
                              <a:rPr lang="en-US" sz="2000" b="0" i="1">
                                <a:latin typeface="Cambria Math" panose="02040503050406030204" pitchFamily="18" charset="0"/>
                                <a:ea typeface="Cambria Math" panose="02040503050406030204" pitchFamily="18" charset="0"/>
                              </a:rPr>
                              <m:t>2</m:t>
                            </m:r>
                          </m:den>
                        </m:f>
                      </m:sub>
                    </m:sSub>
                    <m:sSub>
                      <m:sSubPr>
                        <m:ctrlPr>
                          <a:rPr lang="en-US" sz="200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𝑠</m:t>
                        </m:r>
                      </m:e>
                      <m:sub>
                        <m:r>
                          <a:rPr lang="en-US" sz="2000" b="0" i="1" smtClean="0">
                            <a:latin typeface="Cambria Math" panose="02040503050406030204" pitchFamily="18" charset="0"/>
                            <a:ea typeface="Cambria Math" panose="02040503050406030204" pitchFamily="18" charset="0"/>
                          </a:rPr>
                          <m:t>𝑝𝑟𝑒𝑑</m:t>
                        </m:r>
                      </m:sub>
                    </m:sSub>
                    <m:r>
                      <a:rPr lang="en-US" sz="2000" b="0" i="1" smtClean="0">
                        <a:latin typeface="Cambria Math" panose="02040503050406030204" pitchFamily="18" charset="0"/>
                        <a:ea typeface="Cambria Math" panose="02040503050406030204" pitchFamily="18" charset="0"/>
                      </a:rPr>
                      <m:t>=2.306</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14.69</m:t>
                        </m:r>
                      </m:e>
                    </m:d>
                    <m:r>
                      <a:rPr lang="en-US" sz="2000" b="0" i="1" smtClean="0">
                        <a:latin typeface="Cambria Math" panose="02040503050406030204" pitchFamily="18" charset="0"/>
                        <a:ea typeface="Cambria Math" panose="02040503050406030204" pitchFamily="18" charset="0"/>
                      </a:rPr>
                      <m:t>=33.875</m:t>
                    </m:r>
                  </m:oMath>
                </a14:m>
                <a:r>
                  <a:rPr lang="en-US" sz="2000" dirty="0"/>
                  <a:t>, the 95% prediction interval for the quarterly sales at the new restaurant is </a:t>
                </a:r>
                <a14:m>
                  <m:oMath xmlns:m="http://schemas.openxmlformats.org/officeDocument/2006/math">
                    <m:r>
                      <a:rPr lang="en-US" sz="2000" i="1">
                        <a:latin typeface="Cambria Math" panose="02040503050406030204" pitchFamily="18" charset="0"/>
                      </a:rPr>
                      <m:t>110</m:t>
                    </m:r>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33.875</m:t>
                    </m:r>
                  </m:oMath>
                </a14:m>
                <a:r>
                  <a:rPr lang="en-US" sz="2000" dirty="0"/>
                  <a:t>.</a:t>
                </a:r>
              </a:p>
            </p:txBody>
          </p:sp>
        </mc:Choice>
        <mc:Fallback xmlns="">
          <p:sp>
            <p:nvSpPr>
              <p:cNvPr id="3" name="Text Placeholder 2">
                <a:extLst>
                  <a:ext uri="{FF2B5EF4-FFF2-40B4-BE49-F238E27FC236}">
                    <a16:creationId xmlns:a16="http://schemas.microsoft.com/office/drawing/2014/main" id="{1827DCC9-48E9-39AA-09BA-FE2089FB98DA}"/>
                  </a:ext>
                </a:extLst>
              </p:cNvPr>
              <p:cNvSpPr>
                <a:spLocks noGrp="1" noRot="1" noChangeAspect="1" noMove="1" noResize="1" noEditPoints="1" noAdjustHandles="1" noChangeArrowheads="1" noChangeShapeType="1" noTextEdit="1"/>
              </p:cNvSpPr>
              <p:nvPr>
                <p:ph type="body" sz="quarter" idx="15"/>
              </p:nvPr>
            </p:nvSpPr>
            <p:spPr>
              <a:xfrm>
                <a:off x="740228" y="1714620"/>
                <a:ext cx="10711543" cy="4064676"/>
              </a:xfrm>
              <a:blipFill>
                <a:blip r:embed="rId2"/>
                <a:stretch>
                  <a:fillRect l="-1422" t="-1799" r="-1536" b="-7496"/>
                </a:stretch>
              </a:blipFill>
            </p:spPr>
            <p:txBody>
              <a:bodyPr/>
              <a:lstStyle/>
              <a:p>
                <a:r>
                  <a:rPr lang="en-US">
                    <a:noFill/>
                  </a:rPr>
                  <a:t> </a:t>
                </a:r>
              </a:p>
            </p:txBody>
          </p:sp>
        </mc:Fallback>
      </mc:AlternateContent>
    </p:spTree>
    <p:extLst>
      <p:ext uri="{BB962C8B-B14F-4D97-AF65-F5344CB8AC3E}">
        <p14:creationId xmlns:p14="http://schemas.microsoft.com/office/powerpoint/2010/main" val="179936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A3C92-DF08-CB58-3B79-CE46A3556B92}"/>
              </a:ext>
            </a:extLst>
          </p:cNvPr>
          <p:cNvSpPr>
            <a:spLocks noGrp="1"/>
          </p:cNvSpPr>
          <p:nvPr>
            <p:ph type="title"/>
          </p:nvPr>
        </p:nvSpPr>
        <p:spPr>
          <a:xfrm>
            <a:off x="767255" y="365125"/>
            <a:ext cx="10657489" cy="672105"/>
          </a:xfrm>
        </p:spPr>
        <p:txBody>
          <a:bodyPr/>
          <a:lstStyle/>
          <a:p>
            <a:r>
              <a:rPr lang="en-US" sz="3200" dirty="0"/>
              <a:t>14.6 Confidence and Prediction Intervals for </a:t>
            </a:r>
            <a:r>
              <a:rPr lang="en-US" sz="3200" i="1" dirty="0"/>
              <a:t>y</a:t>
            </a:r>
            <a:r>
              <a:rPr lang="en-US" sz="3200" dirty="0"/>
              <a:t> at Given Values of </a:t>
            </a:r>
            <a:r>
              <a:rPr lang="en-US" sz="3200" i="1" dirty="0"/>
              <a:t>x </a:t>
            </a:r>
            <a:r>
              <a:rPr lang="en-US" sz="3200" dirty="0"/>
              <a:t>(Armand’s Pizza Example)</a:t>
            </a:r>
          </a:p>
        </p:txBody>
      </p:sp>
      <p:pic>
        <p:nvPicPr>
          <p:cNvPr id="10" name="Picture Placeholder 9" descr="A line graph with five lines plots quarterly sales versus student population. The horizontal axis is labeled “Student Population (1000s)” and ranges from 0 to 26 with tickmarks in increments of 2. The vertical axis is labeled “Quarterly Sales ($1000s)” and ranges from 0 to 240 with tickmarks in increments of 20. The first line labeled “Prediction interval limits” slopes upward from (2, 35) to (26, 145). The second line labeled “Confidence interval limits” slopes upward from (2, 52) to (26, 170). The third line labeled “y-hat = 60 + 5x” slopes upward from (2, 70) to (26, 190). The fourth line labeled “Confidence interval limits” slopes upward from (2, 88) to (26, 210). The fifth line labeled “Prediction interval limits” slopes upward from (2, 105) to (26, 225). Student population = 14 is labeled “x-bar = 14.” Text reads, Prediction intervals are wider. Both intervals have the smallest width at x* = x-bar. All data are approximate. &#10;">
            <a:extLst>
              <a:ext uri="{FF2B5EF4-FFF2-40B4-BE49-F238E27FC236}">
                <a16:creationId xmlns:a16="http://schemas.microsoft.com/office/drawing/2014/main" id="{24B25896-2100-9B6F-C785-ABA7F30A457F}"/>
              </a:ext>
            </a:extLst>
          </p:cNvPr>
          <p:cNvPicPr>
            <a:picLocks noGrp="1" noChangeAspect="1"/>
          </p:cNvPicPr>
          <p:nvPr>
            <p:ph type="pic" sz="quarter" idx="10"/>
          </p:nvPr>
        </p:nvPicPr>
        <p:blipFill rotWithShape="1">
          <a:blip r:embed="rId2"/>
          <a:srcRect l="3" r="3"/>
          <a:stretch/>
        </p:blipFill>
        <p:spPr>
          <a:xfrm>
            <a:off x="2640013" y="1489075"/>
            <a:ext cx="6911975" cy="4562475"/>
          </a:xfrm>
        </p:spPr>
      </p:pic>
    </p:spTree>
    <p:extLst>
      <p:ext uri="{BB962C8B-B14F-4D97-AF65-F5344CB8AC3E}">
        <p14:creationId xmlns:p14="http://schemas.microsoft.com/office/powerpoint/2010/main" val="12837916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2E9DA-8EC1-BDCC-225E-5AF0A5DDA749}"/>
              </a:ext>
            </a:extLst>
          </p:cNvPr>
          <p:cNvSpPr>
            <a:spLocks noGrp="1"/>
          </p:cNvSpPr>
          <p:nvPr>
            <p:ph type="title"/>
          </p:nvPr>
        </p:nvSpPr>
        <p:spPr/>
        <p:txBody>
          <a:bodyPr/>
          <a:lstStyle/>
          <a:p>
            <a:r>
              <a:rPr lang="en-US" dirty="0">
                <a:solidFill>
                  <a:srgbClr val="D14B1E"/>
                </a:solidFill>
              </a:rPr>
              <a:t>14.7 Excel’s Regression Tool</a:t>
            </a:r>
          </a:p>
        </p:txBody>
      </p:sp>
      <p:sp>
        <p:nvSpPr>
          <p:cNvPr id="3" name="Text Placeholder 2">
            <a:extLst>
              <a:ext uri="{FF2B5EF4-FFF2-40B4-BE49-F238E27FC236}">
                <a16:creationId xmlns:a16="http://schemas.microsoft.com/office/drawing/2014/main" id="{1827DCC9-48E9-39AA-09BA-FE2089FB98DA}"/>
              </a:ext>
            </a:extLst>
          </p:cNvPr>
          <p:cNvSpPr>
            <a:spLocks noGrp="1"/>
          </p:cNvSpPr>
          <p:nvPr>
            <p:ph type="body" sz="quarter" idx="15"/>
          </p:nvPr>
        </p:nvSpPr>
        <p:spPr>
          <a:xfrm>
            <a:off x="743576" y="1621630"/>
            <a:ext cx="10711543" cy="4156431"/>
          </a:xfrm>
        </p:spPr>
        <p:txBody>
          <a:bodyPr/>
          <a:lstStyle/>
          <a:p>
            <a:pPr>
              <a:spcBef>
                <a:spcPts val="600"/>
              </a:spcBef>
            </a:pPr>
            <a:r>
              <a:rPr lang="en-US" sz="2000" dirty="0"/>
              <a:t>In previous sections of this chapter, we have shown how Excel’s chart tools can be used for various tasks in a regression analysis. </a:t>
            </a:r>
          </a:p>
          <a:p>
            <a:pPr marL="914400" indent="-342900">
              <a:spcBef>
                <a:spcPts val="600"/>
              </a:spcBef>
              <a:buFont typeface="Arial" panose="020B0604020202020204" pitchFamily="34" charset="0"/>
              <a:buChar char="•"/>
            </a:pPr>
            <a:r>
              <a:rPr lang="en-US" sz="2000" dirty="0"/>
              <a:t>Excel also has a more comprehensive Regression tool. </a:t>
            </a:r>
          </a:p>
          <a:p>
            <a:pPr>
              <a:spcBef>
                <a:spcPts val="1200"/>
              </a:spcBef>
            </a:pPr>
            <a:r>
              <a:rPr lang="en-US" sz="2000" dirty="0"/>
              <a:t>In this section, we will illustrate how Excel’s Regression tool can be used to perform a complete regression analysis, including statistical tests of significance for the Armand’s Pizza Parlors data.</a:t>
            </a:r>
          </a:p>
        </p:txBody>
      </p:sp>
    </p:spTree>
    <p:extLst>
      <p:ext uri="{BB962C8B-B14F-4D97-AF65-F5344CB8AC3E}">
        <p14:creationId xmlns:p14="http://schemas.microsoft.com/office/powerpoint/2010/main" val="22152236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37BF1-EDD6-894F-BC52-C9BE8A9EA266}"/>
              </a:ext>
            </a:extLst>
          </p:cNvPr>
          <p:cNvSpPr>
            <a:spLocks noGrp="1"/>
          </p:cNvSpPr>
          <p:nvPr>
            <p:ph type="title"/>
          </p:nvPr>
        </p:nvSpPr>
        <p:spPr/>
        <p:txBody>
          <a:bodyPr/>
          <a:lstStyle/>
          <a:p>
            <a:r>
              <a:rPr lang="en-US" dirty="0">
                <a:solidFill>
                  <a:srgbClr val="25894E"/>
                </a:solidFill>
              </a:rPr>
              <a:t>14.7 Excel: Regression Tool Dialog Box</a:t>
            </a:r>
          </a:p>
        </p:txBody>
      </p:sp>
      <p:sp>
        <p:nvSpPr>
          <p:cNvPr id="3" name="Text Placeholder 2">
            <a:extLst>
              <a:ext uri="{FF2B5EF4-FFF2-40B4-BE49-F238E27FC236}">
                <a16:creationId xmlns:a16="http://schemas.microsoft.com/office/drawing/2014/main" id="{0946CED9-69D7-EA27-D74C-73D59A74B3DF}"/>
              </a:ext>
            </a:extLst>
          </p:cNvPr>
          <p:cNvSpPr>
            <a:spLocks noGrp="1"/>
          </p:cNvSpPr>
          <p:nvPr>
            <p:ph type="body" sz="quarter" idx="15"/>
          </p:nvPr>
        </p:nvSpPr>
        <p:spPr>
          <a:xfrm>
            <a:off x="743577" y="1193008"/>
            <a:ext cx="10610223" cy="1800225"/>
          </a:xfrm>
        </p:spPr>
        <p:txBody>
          <a:bodyPr/>
          <a:lstStyle/>
          <a:p>
            <a:r>
              <a:rPr lang="en-US" sz="2000" b="1" dirty="0"/>
              <a:t>Enter/Access Data</a:t>
            </a:r>
            <a:r>
              <a:rPr lang="en-US" sz="2000" dirty="0"/>
              <a:t>: Open the file </a:t>
            </a:r>
            <a:r>
              <a:rPr lang="en-US" sz="2000" i="1" dirty="0" err="1"/>
              <a:t>armands</a:t>
            </a:r>
            <a:r>
              <a:rPr lang="en-US" sz="2000" dirty="0"/>
              <a:t>. The data and labels are in cells B1:C11.</a:t>
            </a:r>
          </a:p>
          <a:p>
            <a:r>
              <a:rPr lang="en-US" sz="2000" b="1" dirty="0"/>
              <a:t>Apply Tools</a:t>
            </a:r>
            <a:r>
              <a:rPr lang="en-US" sz="2000" dirty="0"/>
              <a:t>: The following steps describe how to use Excel’s Regression tool to perform the regression analysis computations performed in Sections 14.2–14.5.</a:t>
            </a:r>
          </a:p>
          <a:p>
            <a:pPr marL="457200">
              <a:spcBef>
                <a:spcPts val="400"/>
              </a:spcBef>
            </a:pPr>
            <a:r>
              <a:rPr lang="en-US" sz="1800" b="1" dirty="0"/>
              <a:t>Step 1</a:t>
            </a:r>
            <a:r>
              <a:rPr lang="en-US" sz="1800" dirty="0"/>
              <a:t>. Click the </a:t>
            </a:r>
            <a:r>
              <a:rPr lang="en-US" sz="1800" b="1" dirty="0"/>
              <a:t>Data</a:t>
            </a:r>
            <a:r>
              <a:rPr lang="en-US" sz="1800" dirty="0"/>
              <a:t> tab on the Ribbon</a:t>
            </a:r>
          </a:p>
          <a:p>
            <a:pPr marL="457200">
              <a:spcBef>
                <a:spcPts val="400"/>
              </a:spcBef>
            </a:pPr>
            <a:r>
              <a:rPr lang="en-US" sz="1800" b="1" dirty="0"/>
              <a:t>Step 2</a:t>
            </a:r>
            <a:r>
              <a:rPr lang="en-US" sz="1800" dirty="0"/>
              <a:t>. In the </a:t>
            </a:r>
            <a:r>
              <a:rPr lang="en-US" sz="1800" b="1" dirty="0"/>
              <a:t>Analyze</a:t>
            </a:r>
            <a:r>
              <a:rPr lang="en-US" sz="1800" dirty="0"/>
              <a:t> group, click </a:t>
            </a:r>
            <a:r>
              <a:rPr lang="en-US" sz="1800" b="1" dirty="0"/>
              <a:t>Data Analysis</a:t>
            </a:r>
          </a:p>
        </p:txBody>
      </p:sp>
      <p:sp>
        <p:nvSpPr>
          <p:cNvPr id="5" name="Text Placeholder 4">
            <a:extLst>
              <a:ext uri="{FF2B5EF4-FFF2-40B4-BE49-F238E27FC236}">
                <a16:creationId xmlns:a16="http://schemas.microsoft.com/office/drawing/2014/main" id="{0BC5C519-FE0A-8E10-4119-6D90670A6063}"/>
              </a:ext>
            </a:extLst>
          </p:cNvPr>
          <p:cNvSpPr>
            <a:spLocks noGrp="1"/>
          </p:cNvSpPr>
          <p:nvPr>
            <p:ph type="body" sz="quarter" idx="17"/>
          </p:nvPr>
        </p:nvSpPr>
        <p:spPr>
          <a:xfrm>
            <a:off x="743576" y="2878933"/>
            <a:ext cx="6514473" cy="2893217"/>
          </a:xfrm>
        </p:spPr>
        <p:txBody>
          <a:bodyPr/>
          <a:lstStyle/>
          <a:p>
            <a:pPr marL="457200">
              <a:spcBef>
                <a:spcPts val="400"/>
              </a:spcBef>
            </a:pPr>
            <a:r>
              <a:rPr lang="en-US" sz="1800" b="1" dirty="0"/>
              <a:t>Step 3</a:t>
            </a:r>
            <a:r>
              <a:rPr lang="en-US" sz="1800" dirty="0"/>
              <a:t>. Choose </a:t>
            </a:r>
            <a:r>
              <a:rPr lang="en-US" sz="1800" b="1" dirty="0"/>
              <a:t>Regression</a:t>
            </a:r>
            <a:r>
              <a:rPr lang="en-US" sz="1800" dirty="0"/>
              <a:t> from the list of tools</a:t>
            </a:r>
          </a:p>
          <a:p>
            <a:pPr marL="457200">
              <a:spcBef>
                <a:spcPts val="400"/>
              </a:spcBef>
            </a:pPr>
            <a:r>
              <a:rPr lang="en-US" sz="1800" b="1" dirty="0"/>
              <a:t>Step 4</a:t>
            </a:r>
            <a:r>
              <a:rPr lang="en-US" sz="1800" dirty="0"/>
              <a:t>. In the </a:t>
            </a:r>
            <a:r>
              <a:rPr lang="en-US" sz="1800" b="1" dirty="0"/>
              <a:t>Regression</a:t>
            </a:r>
            <a:r>
              <a:rPr lang="en-US" sz="1800" dirty="0"/>
              <a:t> dialog box:</a:t>
            </a:r>
          </a:p>
          <a:p>
            <a:pPr marL="685800">
              <a:spcBef>
                <a:spcPts val="400"/>
              </a:spcBef>
            </a:pPr>
            <a:r>
              <a:rPr lang="en-US" sz="1800" dirty="0"/>
              <a:t>Enter C1:C11 in the</a:t>
            </a:r>
            <a:r>
              <a:rPr lang="en-US" sz="1800" b="1" dirty="0"/>
              <a:t> Input Y Range: </a:t>
            </a:r>
            <a:r>
              <a:rPr lang="en-US" sz="1800" dirty="0"/>
              <a:t>box</a:t>
            </a:r>
          </a:p>
          <a:p>
            <a:pPr marL="685800">
              <a:spcBef>
                <a:spcPts val="400"/>
              </a:spcBef>
            </a:pPr>
            <a:r>
              <a:rPr lang="en-US" sz="1800" dirty="0"/>
              <a:t>Enter B1:B11 in the </a:t>
            </a:r>
            <a:r>
              <a:rPr lang="en-US" sz="1800" b="1" dirty="0"/>
              <a:t>Input X Range: </a:t>
            </a:r>
            <a:r>
              <a:rPr lang="en-US" sz="1800" dirty="0"/>
              <a:t>box</a:t>
            </a:r>
          </a:p>
          <a:p>
            <a:pPr marL="685800">
              <a:spcBef>
                <a:spcPts val="400"/>
              </a:spcBef>
            </a:pPr>
            <a:r>
              <a:rPr lang="en-US" sz="1800" dirty="0"/>
              <a:t>Select the check box for </a:t>
            </a:r>
            <a:r>
              <a:rPr lang="en-US" sz="1800" b="1" dirty="0"/>
              <a:t>Labels</a:t>
            </a:r>
          </a:p>
          <a:p>
            <a:pPr marL="685800">
              <a:spcBef>
                <a:spcPts val="400"/>
              </a:spcBef>
            </a:pPr>
            <a:r>
              <a:rPr lang="en-US" sz="1800" dirty="0"/>
              <a:t>Select the check box for </a:t>
            </a:r>
            <a:r>
              <a:rPr lang="en-US" sz="1800" b="1" dirty="0"/>
              <a:t>Confidence Level: </a:t>
            </a:r>
            <a:r>
              <a:rPr lang="en-US" sz="1800" dirty="0"/>
              <a:t>and enter </a:t>
            </a:r>
            <a:r>
              <a:rPr lang="en-US" sz="1800" i="1" dirty="0"/>
              <a:t>99</a:t>
            </a:r>
          </a:p>
          <a:p>
            <a:pPr marL="914400" indent="-228600">
              <a:spcBef>
                <a:spcPts val="400"/>
              </a:spcBef>
            </a:pPr>
            <a:r>
              <a:rPr lang="en-US" sz="1800" dirty="0"/>
              <a:t>Select </a:t>
            </a:r>
            <a:r>
              <a:rPr lang="en-US" sz="1800" b="1" dirty="0"/>
              <a:t>Output Range:</a:t>
            </a:r>
            <a:r>
              <a:rPr lang="en-US" sz="1800" dirty="0"/>
              <a:t> in the </a:t>
            </a:r>
            <a:r>
              <a:rPr lang="en-US" sz="1800" b="1" dirty="0"/>
              <a:t>Output</a:t>
            </a:r>
            <a:r>
              <a:rPr lang="en-US" sz="1800" dirty="0"/>
              <a:t> </a:t>
            </a:r>
            <a:r>
              <a:rPr lang="en-US" sz="1800" b="1" dirty="0"/>
              <a:t>options</a:t>
            </a:r>
            <a:r>
              <a:rPr lang="en-US" sz="1800" dirty="0"/>
              <a:t> area and enter </a:t>
            </a:r>
            <a:r>
              <a:rPr lang="en-US" sz="1800" i="1" dirty="0"/>
              <a:t>A13</a:t>
            </a:r>
          </a:p>
          <a:p>
            <a:pPr marL="685800">
              <a:spcBef>
                <a:spcPts val="400"/>
              </a:spcBef>
            </a:pPr>
            <a:r>
              <a:rPr lang="en-US" sz="1800" dirty="0"/>
              <a:t>Click </a:t>
            </a:r>
            <a:r>
              <a:rPr lang="en-US" sz="1800" b="1" dirty="0"/>
              <a:t>OK</a:t>
            </a:r>
            <a:r>
              <a:rPr lang="en-US" sz="1800" dirty="0"/>
              <a:t>.</a:t>
            </a:r>
          </a:p>
        </p:txBody>
      </p:sp>
      <p:pic>
        <p:nvPicPr>
          <p:cNvPr id="7" name="Picture Placeholder 6" descr="A screenshot shows an Excel spreadsheet and the Regression dialog box. In the spreadsheet, column A is labeled restaurant, column B is labeled population, and column C is labeled sales. The entries in rows 2 through 11 are as follows. Row 2. Restaurant: 1. Population: 2. Sales: 58. Row 3. Restaurant: 2. Population: 6. Sales: 105. Row 4. Restaurant: 3. Population: 8. Sales: 88. Row 5. Restaurant: 4. Population: 8. Sales: 118. Row 6. Restaurant: 5. Population: 12. Sales: 117. Row 7. Restaurant: 6. Population: 16. Sales: 137. Row 8. Restaurant: 7. Population: 20. Sales: 157. Row 9. Restaurant: 8. Population: 20. Sales: 169. Row 10. Restaurant: 9. Population: 22. Sales: 149. Row 11. Restaurant: 10. Population: 26. Sales: 202. A regression dialog box is to the right. There are four sections in the regression dialog box. The first section is titled Input and consists of the following elements. Entry field labeled input Y range with the entry dollar sign C dollar sign 1 colon dollar sign C dollar sign 11. Entry field labeled input X range with the entry dollar sign B dollar sign 1 colon dollar sign B dollar sign 11. Checked checkbox labeled labels. Checked checkbox labeled confidence level with the entry 99 percent. Checkbox labeled constant is zero. The second section is titled Output Options and consists of the following elements. Radio button labeled output range (selected) with entry dollar sign A dollar sign 13. Radio button labeled new worksheet ply with a grayed out field. Radio button labeled new workbook. The third section is titled Residual with four checkboxes: Residuals, residual plots, standardized residuals, and line fit plots. The fourth section is titled Normal Probability with the checkbox Normal probability plots. Three buttons labeled O K, cancel, and help are on the right side. O K button is selected.">
            <a:extLst>
              <a:ext uri="{FF2B5EF4-FFF2-40B4-BE49-F238E27FC236}">
                <a16:creationId xmlns:a16="http://schemas.microsoft.com/office/drawing/2014/main" id="{6ABCC552-A7C3-E33D-155C-46F1172704D9}"/>
              </a:ext>
            </a:extLst>
          </p:cNvPr>
          <p:cNvPicPr>
            <a:picLocks noGrp="1" noChangeAspect="1"/>
          </p:cNvPicPr>
          <p:nvPr>
            <p:ph type="pic" sz="quarter" idx="16"/>
          </p:nvPr>
        </p:nvPicPr>
        <p:blipFill>
          <a:blip r:embed="rId2"/>
          <a:srcRect l="46" r="46"/>
          <a:stretch/>
        </p:blipFill>
        <p:spPr>
          <a:xfrm>
            <a:off x="7352671" y="2256177"/>
            <a:ext cx="4038600" cy="3630272"/>
          </a:xfrm>
        </p:spPr>
      </p:pic>
    </p:spTree>
    <p:extLst>
      <p:ext uri="{BB962C8B-B14F-4D97-AF65-F5344CB8AC3E}">
        <p14:creationId xmlns:p14="http://schemas.microsoft.com/office/powerpoint/2010/main" val="6062374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600EA-AA1B-3497-CABF-B521F9EBFF0C}"/>
              </a:ext>
            </a:extLst>
          </p:cNvPr>
          <p:cNvSpPr>
            <a:spLocks noGrp="1"/>
          </p:cNvSpPr>
          <p:nvPr>
            <p:ph type="title"/>
          </p:nvPr>
        </p:nvSpPr>
        <p:spPr/>
        <p:txBody>
          <a:bodyPr/>
          <a:lstStyle/>
          <a:p>
            <a:r>
              <a:rPr lang="en-US" sz="3200" dirty="0">
                <a:solidFill>
                  <a:srgbClr val="25894E"/>
                </a:solidFill>
              </a:rPr>
              <a:t>14.7 Excel: Regression Tool Output for Armand’s Data</a:t>
            </a:r>
            <a:endParaRPr lang="en-US" sz="3200" dirty="0"/>
          </a:p>
        </p:txBody>
      </p:sp>
      <p:pic>
        <p:nvPicPr>
          <p:cNvPr id="5" name="Picture Placeholder 4" descr="A screenshot of an Excel spreadsheet shows an input table and three output tables. The first table is the input table. Column A is labeled restaurant, column B is labeled population, and column C is labeled sales. The entries in rows 2 through 11 are as follows. Row 2. Restaurant: 1. Population: 2. Sales: 58. Row 3. Restaurant: 2. Population: 6. Sales: 105. Row 4. Restaurant: 3. Population: 8. Sales: 88. Row 5. Restaurant: 4. Population: 8. Sales: 118. Row 6. Restaurant: 5. Population: 12. Sales: 117. Row 7. Restaurant: 6. Population: 16. Sales: 137. Row 8. Restaurant: 7. Population: 20. Sales: 157. Row 9. Restaurant: 8. Population: 20. Sales: 169. Row 10. Restaurant: 9. Population: 22. Sales: 149. Row 11. Restaurant: 10. Population: 26. Sales: 202. The first output table is titled Regression Statistics. The entries in rows 16 through 20 are as follows. Row 16: Multiple R, 0.9501. Row 17: R Square, 0.9027. Row 18: Adjusted R Square, 0.8906. Row 19: Standard error, 13.8293. Row 20: Observations, 10. The second output table is titled ANOVA. Column B is labeled d f, column C is labeled S S, column D is labeled M S, column E is labeled F, and column F is labeled significance F. The entries in rows 24 to 26 are as follows. Row 24: Regression. d f: 1. S S: 14200. M S: 14200. F: 74.2484. Significance F: 2.54887 E minus 05. Row 25: Residual. d f: 8. S S: 1530. M S: 191.25. Row 26: Total. d f: 9. S S: 15730. In the third output table, column B is labeled coefficients, column C is labeled standard error, column D is labeled t Stat, column E is labeled P value, column F is labeled lower 95 percent, column G is labeled upper 95 percent, column H is labeled lower 99.0 percent, column I is labeled upper 99.0 percent. The entries in rows 29 and 30 are as follows. Row 29: Intercept. Coefficients: 60. Standard error: 9.2260. t Stat: 6.5033. P-value: 0.0002. Lower 95 percent: 38.7247. Upper 95 percent: 81.2753. Lower 99.0 percent: 29.0431. Upper 99.0 percent: 90.9569. Row 30: Population. Coefficients: 5. Standard error: 0.5803. t Stat: 8.6167. P-value: 0.0000. Lower 95 percent: 3.6619. Upper 95 percent: 6.3381. Lower 99.0 percent: 3.0530. Upper 99.0 percent: 6.9470.">
            <a:extLst>
              <a:ext uri="{FF2B5EF4-FFF2-40B4-BE49-F238E27FC236}">
                <a16:creationId xmlns:a16="http://schemas.microsoft.com/office/drawing/2014/main" id="{994274EF-20B3-4FCD-E076-11F9372DB3BF}"/>
              </a:ext>
            </a:extLst>
          </p:cNvPr>
          <p:cNvPicPr>
            <a:picLocks noGrp="1" noChangeAspect="1"/>
          </p:cNvPicPr>
          <p:nvPr>
            <p:ph type="pic" sz="quarter" idx="10"/>
          </p:nvPr>
        </p:nvPicPr>
        <p:blipFill>
          <a:blip r:embed="rId2"/>
          <a:srcRect l="36" r="36"/>
          <a:stretch/>
        </p:blipFill>
        <p:spPr>
          <a:xfrm>
            <a:off x="1172368" y="1200150"/>
            <a:ext cx="9847263" cy="4572000"/>
          </a:xfrm>
          <a:ln>
            <a:solidFill>
              <a:srgbClr val="000000"/>
            </a:solidFill>
          </a:ln>
        </p:spPr>
      </p:pic>
    </p:spTree>
    <p:extLst>
      <p:ext uri="{BB962C8B-B14F-4D97-AF65-F5344CB8AC3E}">
        <p14:creationId xmlns:p14="http://schemas.microsoft.com/office/powerpoint/2010/main" val="31954200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2E9DA-8EC1-BDCC-225E-5AF0A5DDA749}"/>
              </a:ext>
            </a:extLst>
          </p:cNvPr>
          <p:cNvSpPr>
            <a:spLocks noGrp="1"/>
          </p:cNvSpPr>
          <p:nvPr>
            <p:ph type="title"/>
          </p:nvPr>
        </p:nvSpPr>
        <p:spPr/>
        <p:txBody>
          <a:bodyPr/>
          <a:lstStyle/>
          <a:p>
            <a:r>
              <a:rPr lang="en-US" dirty="0">
                <a:solidFill>
                  <a:srgbClr val="25894E"/>
                </a:solidFill>
              </a:rPr>
              <a:t>14.7 Excel: Interpretation of Regression Output</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827DCC9-48E9-39AA-09BA-FE2089FB98DA}"/>
                  </a:ext>
                </a:extLst>
              </p:cNvPr>
              <p:cNvSpPr>
                <a:spLocks noGrp="1"/>
              </p:cNvSpPr>
              <p:nvPr>
                <p:ph type="body" sz="quarter" idx="15"/>
              </p:nvPr>
            </p:nvSpPr>
            <p:spPr>
              <a:xfrm>
                <a:off x="743576" y="1185862"/>
                <a:ext cx="10711543" cy="4686300"/>
              </a:xfrm>
            </p:spPr>
            <p:txBody>
              <a:bodyPr/>
              <a:lstStyle/>
              <a:p>
                <a:pPr>
                  <a:spcBef>
                    <a:spcPts val="600"/>
                  </a:spcBef>
                </a:pPr>
                <a:r>
                  <a:rPr lang="en-US" sz="2000" dirty="0"/>
                  <a:t>The regression output from the previous slide, titled SUMMARY OUTPUT, begins with row 13.</a:t>
                </a:r>
              </a:p>
              <a:p>
                <a:pPr marL="457200">
                  <a:spcBef>
                    <a:spcPts val="1200"/>
                  </a:spcBef>
                </a:pPr>
                <a:r>
                  <a:rPr lang="en-US" sz="2000" i="1" dirty="0"/>
                  <a:t>Regression Statistics</a:t>
                </a:r>
                <a:r>
                  <a:rPr lang="en-US" sz="2000" dirty="0"/>
                  <a:t> – Rows </a:t>
                </a:r>
                <a:r>
                  <a:rPr lang="en-US" sz="2000" dirty="0">
                    <a:solidFill>
                      <a:srgbClr val="FF0000"/>
                    </a:solidFill>
                  </a:rPr>
                  <a:t>15-20</a:t>
                </a:r>
                <a:r>
                  <a:rPr lang="en-US" sz="2000" dirty="0"/>
                  <a:t> contain summary statistics, Included are </a:t>
                </a:r>
                <a:r>
                  <a:rPr lang="en-US" sz="2000" i="1" dirty="0"/>
                  <a:t>Multiple R</a:t>
                </a:r>
                <a:r>
                  <a:rPr lang="en-US" sz="2000" dirty="0"/>
                  <a:t> (the square root of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𝑅</m:t>
                        </m:r>
                      </m:e>
                      <m:sup>
                        <m:r>
                          <a:rPr lang="en-US" sz="2000" i="1">
                            <a:latin typeface="Cambria Math" panose="02040503050406030204" pitchFamily="18" charset="0"/>
                          </a:rPr>
                          <m:t>2</m:t>
                        </m:r>
                      </m:sup>
                    </m:sSup>
                  </m:oMath>
                </a14:m>
                <a:r>
                  <a:rPr lang="en-US" sz="2000" dirty="0"/>
                  <a:t>), the coefficient of determination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2</m:t>
                        </m:r>
                      </m:sup>
                    </m:sSup>
                  </m:oMath>
                </a14:m>
                <a:r>
                  <a:rPr lang="en-US" sz="2000" dirty="0"/>
                  <a:t>, the adjusted coefficient of determination </a:t>
                </a:r>
                <a14:m>
                  <m:oMath xmlns:m="http://schemas.openxmlformats.org/officeDocument/2006/math">
                    <m:sSubSup>
                      <m:sSubSupPr>
                        <m:ctrlPr>
                          <a:rPr lang="en-US" sz="2000" i="1" dirty="0">
                            <a:latin typeface="Cambria Math" panose="02040503050406030204" pitchFamily="18" charset="0"/>
                            <a:cs typeface="Arial" panose="020B0604020202020204" pitchFamily="34" charset="0"/>
                          </a:rPr>
                        </m:ctrlPr>
                      </m:sSubSupPr>
                      <m:e>
                        <m:r>
                          <a:rPr lang="en-US" sz="2000" i="1" dirty="0">
                            <a:latin typeface="Cambria Math" panose="02040503050406030204" pitchFamily="18" charset="0"/>
                            <a:cs typeface="Arial" panose="020B0604020202020204" pitchFamily="34" charset="0"/>
                          </a:rPr>
                          <m:t>𝑅</m:t>
                        </m:r>
                      </m:e>
                      <m:sub>
                        <m:r>
                          <a:rPr lang="en-US" sz="2000" i="1" dirty="0">
                            <a:latin typeface="Cambria Math" panose="02040503050406030204" pitchFamily="18" charset="0"/>
                            <a:cs typeface="Arial" panose="020B0604020202020204" pitchFamily="34" charset="0"/>
                          </a:rPr>
                          <m:t>𝑎</m:t>
                        </m:r>
                      </m:sub>
                      <m:sup>
                        <m:r>
                          <a:rPr lang="en-US" sz="2000" i="1" dirty="0">
                            <a:latin typeface="Cambria Math" panose="02040503050406030204" pitchFamily="18" charset="0"/>
                            <a:cs typeface="Arial" panose="020B0604020202020204" pitchFamily="34" charset="0"/>
                          </a:rPr>
                          <m:t>2</m:t>
                        </m:r>
                      </m:sup>
                    </m:sSubSup>
                  </m:oMath>
                </a14:m>
                <a:r>
                  <a:rPr lang="en-US" sz="2000" dirty="0"/>
                  <a:t>, the standard error of the estimate </a:t>
                </a:r>
                <a14:m>
                  <m:oMath xmlns:m="http://schemas.openxmlformats.org/officeDocument/2006/math">
                    <m:r>
                      <a:rPr lang="en-US" sz="2000" i="1" dirty="0" smtClean="0">
                        <a:latin typeface="Cambria Math" panose="02040503050406030204" pitchFamily="18" charset="0"/>
                      </a:rPr>
                      <m:t>𝑠</m:t>
                    </m:r>
                  </m:oMath>
                </a14:m>
                <a:r>
                  <a:rPr lang="en-US" sz="2000" dirty="0"/>
                  <a:t>, and the number of observations </a:t>
                </a:r>
                <a14:m>
                  <m:oMath xmlns:m="http://schemas.openxmlformats.org/officeDocument/2006/math">
                    <m:r>
                      <a:rPr lang="en-US" sz="2000" i="1" dirty="0" smtClean="0">
                        <a:latin typeface="Cambria Math" panose="02040503050406030204" pitchFamily="18" charset="0"/>
                      </a:rPr>
                      <m:t>𝑛</m:t>
                    </m:r>
                  </m:oMath>
                </a14:m>
                <a:r>
                  <a:rPr lang="en-US" sz="2000" dirty="0"/>
                  <a:t>.</a:t>
                </a:r>
              </a:p>
              <a:p>
                <a:pPr marL="457200">
                  <a:spcBef>
                    <a:spcPts val="1200"/>
                  </a:spcBef>
                </a:pPr>
                <a:r>
                  <a:rPr lang="en-US" sz="2000" i="1" dirty="0"/>
                  <a:t>ANOVA</a:t>
                </a:r>
                <a:r>
                  <a:rPr lang="en-US" sz="2000" dirty="0"/>
                  <a:t> – Rows 24-26 include the sources Regression, Residual, and Total. </a:t>
                </a:r>
              </a:p>
              <a:p>
                <a:pPr marL="914400" indent="-342900">
                  <a:spcBef>
                    <a:spcPts val="600"/>
                  </a:spcBef>
                  <a:buFont typeface="Arial" panose="020B0604020202020204" pitchFamily="34" charset="0"/>
                  <a:buChar char="•"/>
                </a:pPr>
                <a:r>
                  <a:rPr lang="en-US" sz="2000" dirty="0"/>
                  <a:t>Columns B-F include statistics on degrees of freedom </a:t>
                </a:r>
                <a14:m>
                  <m:oMath xmlns:m="http://schemas.openxmlformats.org/officeDocument/2006/math">
                    <m:r>
                      <a:rPr lang="en-US" sz="2000" i="1" dirty="0" smtClean="0">
                        <a:latin typeface="Cambria Math" panose="02040503050406030204" pitchFamily="18" charset="0"/>
                      </a:rPr>
                      <m:t>𝑑𝑓</m:t>
                    </m:r>
                  </m:oMath>
                </a14:m>
                <a:r>
                  <a:rPr lang="en-US" sz="2000" dirty="0"/>
                  <a:t>, sums of squares </a:t>
                </a:r>
                <a14:m>
                  <m:oMath xmlns:m="http://schemas.openxmlformats.org/officeDocument/2006/math">
                    <m:r>
                      <a:rPr lang="en-US" sz="2000" i="1" dirty="0" smtClean="0">
                        <a:latin typeface="Cambria Math" panose="02040503050406030204" pitchFamily="18" charset="0"/>
                      </a:rPr>
                      <m:t>𝑆𝑆</m:t>
                    </m:r>
                  </m:oMath>
                </a14:m>
                <a:r>
                  <a:rPr lang="en-US" sz="2000" dirty="0"/>
                  <a:t>, mean squares </a:t>
                </a:r>
                <a14:m>
                  <m:oMath xmlns:m="http://schemas.openxmlformats.org/officeDocument/2006/math">
                    <m:r>
                      <a:rPr lang="en-US" sz="2000" i="1" dirty="0" smtClean="0">
                        <a:latin typeface="Cambria Math" panose="02040503050406030204" pitchFamily="18" charset="0"/>
                      </a:rPr>
                      <m:t>𝑀𝑆</m:t>
                    </m:r>
                  </m:oMath>
                </a14:m>
                <a:r>
                  <a:rPr lang="en-US" sz="2000" dirty="0"/>
                  <a:t>, </a:t>
                </a:r>
                <a14:m>
                  <m:oMath xmlns:m="http://schemas.openxmlformats.org/officeDocument/2006/math">
                    <m:r>
                      <a:rPr lang="en-US" sz="2000" i="1" dirty="0" smtClean="0">
                        <a:latin typeface="Cambria Math" panose="02040503050406030204" pitchFamily="18" charset="0"/>
                      </a:rPr>
                      <m:t>𝐹</m:t>
                    </m:r>
                  </m:oMath>
                </a14:m>
                <a:r>
                  <a:rPr lang="en-US" sz="2000" dirty="0"/>
                  <a:t>-ratio, and the </a:t>
                </a:r>
                <a14:m>
                  <m:oMath xmlns:m="http://schemas.openxmlformats.org/officeDocument/2006/math">
                    <m:r>
                      <a:rPr lang="en-US" sz="2000" i="1" dirty="0" smtClean="0">
                        <a:latin typeface="Cambria Math" panose="02040503050406030204" pitchFamily="18" charset="0"/>
                      </a:rPr>
                      <m:t>𝑝</m:t>
                    </m:r>
                  </m:oMath>
                </a14:m>
                <a:r>
                  <a:rPr lang="en-US" sz="2000" dirty="0"/>
                  <a:t>-value of the </a:t>
                </a:r>
                <a14:m>
                  <m:oMath xmlns:m="http://schemas.openxmlformats.org/officeDocument/2006/math">
                    <m:r>
                      <a:rPr lang="en-US" sz="2000" i="1" dirty="0">
                        <a:latin typeface="Cambria Math" panose="02040503050406030204" pitchFamily="18" charset="0"/>
                      </a:rPr>
                      <m:t>𝐹</m:t>
                    </m:r>
                  </m:oMath>
                </a14:m>
                <a:r>
                  <a:rPr lang="en-US" sz="2000" dirty="0"/>
                  <a:t>-test.</a:t>
                </a:r>
              </a:p>
              <a:p>
                <a:pPr marL="457200">
                  <a:spcBef>
                    <a:spcPts val="1200"/>
                  </a:spcBef>
                </a:pPr>
                <a:r>
                  <a:rPr lang="en-US" sz="2000" i="1" dirty="0"/>
                  <a:t>Table of Coefficients</a:t>
                </a:r>
                <a:r>
                  <a:rPr lang="en-US" sz="2000" dirty="0"/>
                  <a:t> – Rows 29-30 include the statistics for intercept and slope, labeled with the name of independent variable, </a:t>
                </a:r>
                <a:r>
                  <a:rPr lang="en-US" sz="2000" i="1" dirty="0"/>
                  <a:t>Population</a:t>
                </a:r>
                <a:r>
                  <a:rPr lang="en-US" sz="2000" dirty="0"/>
                  <a:t>. </a:t>
                </a:r>
              </a:p>
              <a:p>
                <a:pPr marL="914400" indent="-342900">
                  <a:spcBef>
                    <a:spcPts val="1200"/>
                  </a:spcBef>
                  <a:buFont typeface="Arial" panose="020B0604020202020204" pitchFamily="34" charset="0"/>
                  <a:buChar char="•"/>
                </a:pPr>
                <a:r>
                  <a:rPr lang="en-US" sz="2000" dirty="0"/>
                  <a:t>Columns B-I includes statistics on the regression coefficients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0</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b="0" i="1" smtClean="0">
                            <a:latin typeface="Cambria Math" panose="02040503050406030204" pitchFamily="18" charset="0"/>
                          </a:rPr>
                          <m:t>1</m:t>
                        </m:r>
                      </m:sub>
                    </m:sSub>
                  </m:oMath>
                </a14:m>
                <a:r>
                  <a:rPr lang="en-US" sz="2000" dirty="0"/>
                  <a:t>, standard error of the coefficients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𝑠</m:t>
                        </m:r>
                      </m:e>
                      <m:sub>
                        <m:sSub>
                          <m:sSubPr>
                            <m:ctrlPr>
                              <a:rPr lang="en-US" sz="200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𝑏</m:t>
                            </m:r>
                          </m:e>
                          <m:sub>
                            <m:r>
                              <a:rPr lang="en-US" sz="2000" b="0" i="1" smtClean="0">
                                <a:latin typeface="Cambria Math" panose="02040503050406030204" pitchFamily="18" charset="0"/>
                                <a:ea typeface="Cambria Math" panose="02040503050406030204" pitchFamily="18" charset="0"/>
                              </a:rPr>
                              <m:t>0</m:t>
                            </m:r>
                          </m:sub>
                        </m:sSub>
                      </m:sub>
                    </m:sSub>
                  </m:oMath>
                </a14:m>
                <a:r>
                  <a:rPr lang="en-US" sz="2000" dirty="0"/>
                  <a:t> and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𝑠</m:t>
                        </m:r>
                      </m:e>
                      <m:sub>
                        <m:sSub>
                          <m:sSubPr>
                            <m:ctrlPr>
                              <a:rPr lang="en-US" sz="200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𝑏</m:t>
                            </m:r>
                          </m:e>
                          <m:sub>
                            <m:r>
                              <a:rPr lang="en-US" sz="2000" b="0" i="1">
                                <a:latin typeface="Cambria Math" panose="02040503050406030204" pitchFamily="18" charset="0"/>
                                <a:ea typeface="Cambria Math" panose="02040503050406030204" pitchFamily="18" charset="0"/>
                              </a:rPr>
                              <m:t>1</m:t>
                            </m:r>
                          </m:sub>
                        </m:sSub>
                      </m:sub>
                    </m:sSub>
                  </m:oMath>
                </a14:m>
                <a:r>
                  <a:rPr lang="en-US" sz="2000" dirty="0"/>
                  <a:t>, the test statistics </a:t>
                </a:r>
                <a14:m>
                  <m:oMath xmlns:m="http://schemas.openxmlformats.org/officeDocument/2006/math">
                    <m:r>
                      <a:rPr lang="en-US" sz="2000" i="1" dirty="0" smtClean="0">
                        <a:latin typeface="Cambria Math" panose="02040503050406030204" pitchFamily="18" charset="0"/>
                      </a:rPr>
                      <m:t>𝑡</m:t>
                    </m:r>
                  </m:oMath>
                </a14:m>
                <a:r>
                  <a:rPr lang="en-US" sz="2000" dirty="0"/>
                  <a:t>, the </a:t>
                </a:r>
                <a14:m>
                  <m:oMath xmlns:m="http://schemas.openxmlformats.org/officeDocument/2006/math">
                    <m:r>
                      <a:rPr lang="en-US" sz="2000" i="1" dirty="0" smtClean="0">
                        <a:latin typeface="Cambria Math" panose="02040503050406030204" pitchFamily="18" charset="0"/>
                      </a:rPr>
                      <m:t>𝑡</m:t>
                    </m:r>
                  </m:oMath>
                </a14:m>
                <a:r>
                  <a:rPr lang="en-US" sz="2000" dirty="0"/>
                  <a:t>-test </a:t>
                </a:r>
                <a14:m>
                  <m:oMath xmlns:m="http://schemas.openxmlformats.org/officeDocument/2006/math">
                    <m:r>
                      <a:rPr lang="en-US" sz="2000" i="1" dirty="0" smtClean="0">
                        <a:latin typeface="Cambria Math" panose="02040503050406030204" pitchFamily="18" charset="0"/>
                      </a:rPr>
                      <m:t>𝑝</m:t>
                    </m:r>
                  </m:oMath>
                </a14:m>
                <a:r>
                  <a:rPr lang="en-US" sz="2000" dirty="0"/>
                  <a:t>-values, the default 95% confidence intervals of the population coefficients, and the custom 99% confidence intervals of the population coefficients.</a:t>
                </a:r>
              </a:p>
            </p:txBody>
          </p:sp>
        </mc:Choice>
        <mc:Fallback xmlns="">
          <p:sp>
            <p:nvSpPr>
              <p:cNvPr id="3" name="Text Placeholder 2">
                <a:extLst>
                  <a:ext uri="{FF2B5EF4-FFF2-40B4-BE49-F238E27FC236}">
                    <a16:creationId xmlns:a16="http://schemas.microsoft.com/office/drawing/2014/main" id="{1827DCC9-48E9-39AA-09BA-FE2089FB98DA}"/>
                  </a:ext>
                </a:extLst>
              </p:cNvPr>
              <p:cNvSpPr>
                <a:spLocks noGrp="1" noRot="1" noChangeAspect="1" noMove="1" noResize="1" noEditPoints="1" noAdjustHandles="1" noChangeArrowheads="1" noChangeShapeType="1" noTextEdit="1"/>
              </p:cNvSpPr>
              <p:nvPr>
                <p:ph type="body" sz="quarter" idx="15"/>
              </p:nvPr>
            </p:nvSpPr>
            <p:spPr>
              <a:xfrm>
                <a:off x="743576" y="1185862"/>
                <a:ext cx="10711543" cy="4686300"/>
              </a:xfrm>
              <a:blipFill>
                <a:blip r:embed="rId3"/>
                <a:stretch>
                  <a:fillRect l="-1480" t="-1563" r="-854" b="-3255"/>
                </a:stretch>
              </a:blipFill>
            </p:spPr>
            <p:txBody>
              <a:bodyPr/>
              <a:lstStyle/>
              <a:p>
                <a:r>
                  <a:rPr lang="en-US">
                    <a:noFill/>
                  </a:rPr>
                  <a:t> </a:t>
                </a:r>
              </a:p>
            </p:txBody>
          </p:sp>
        </mc:Fallback>
      </mc:AlternateContent>
    </p:spTree>
    <p:extLst>
      <p:ext uri="{BB962C8B-B14F-4D97-AF65-F5344CB8AC3E}">
        <p14:creationId xmlns:p14="http://schemas.microsoft.com/office/powerpoint/2010/main" val="3669468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2E9DA-8EC1-BDCC-225E-5AF0A5DDA749}"/>
              </a:ext>
            </a:extLst>
          </p:cNvPr>
          <p:cNvSpPr>
            <a:spLocks noGrp="1"/>
          </p:cNvSpPr>
          <p:nvPr>
            <p:ph type="title"/>
          </p:nvPr>
        </p:nvSpPr>
        <p:spPr/>
        <p:txBody>
          <a:bodyPr/>
          <a:lstStyle/>
          <a:p>
            <a:r>
              <a:rPr lang="en-US" sz="3200" dirty="0">
                <a:solidFill>
                  <a:srgbClr val="D14B1E"/>
                </a:solidFill>
              </a:rPr>
              <a:t>14.8 Residual Analysis: Validating Model Assumptions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827DCC9-48E9-39AA-09BA-FE2089FB98DA}"/>
                  </a:ext>
                </a:extLst>
              </p:cNvPr>
              <p:cNvSpPr>
                <a:spLocks noGrp="1"/>
              </p:cNvSpPr>
              <p:nvPr>
                <p:ph type="body" sz="quarter" idx="15"/>
              </p:nvPr>
            </p:nvSpPr>
            <p:spPr>
              <a:xfrm>
                <a:off x="743576" y="1323278"/>
                <a:ext cx="10711543" cy="4454784"/>
              </a:xfrm>
            </p:spPr>
            <p:txBody>
              <a:bodyPr/>
              <a:lstStyle/>
              <a:p>
                <a:pPr>
                  <a:spcBef>
                    <a:spcPts val="600"/>
                  </a:spcBef>
                </a:pPr>
                <a:r>
                  <a:rPr lang="en-US" sz="2000" dirty="0"/>
                  <a:t>If the assumptions about the error term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t> appear questionable, the hypothesis tests about the significance of the regression relationship and the interval estimation results may not be valid.</a:t>
                </a:r>
              </a:p>
              <a:p>
                <a:pPr>
                  <a:spcBef>
                    <a:spcPts val="600"/>
                  </a:spcBef>
                </a:pPr>
                <a:r>
                  <a:rPr lang="en-US" sz="2000" dirty="0"/>
                  <a:t>The </a:t>
                </a:r>
                <a:r>
                  <a:rPr lang="en-US" sz="2000" b="1" dirty="0"/>
                  <a:t>residual</a:t>
                </a:r>
                <a:r>
                  <a:rPr lang="en-US" sz="2000" dirty="0"/>
                  <a:t> for observation 𝑖 is defined as:</a:t>
                </a:r>
              </a:p>
              <a:p>
                <a:pPr marL="914400">
                  <a:spcBef>
                    <a:spcPts val="600"/>
                  </a:spcBef>
                  <a:spcAft>
                    <a:spcPts val="600"/>
                  </a:spcAft>
                </a:pPr>
                <a14:m>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𝒚</m:t>
                        </m:r>
                      </m:e>
                      <m:sub>
                        <m:r>
                          <a:rPr lang="en-US" sz="2000" b="1" i="1" smtClean="0">
                            <a:latin typeface="Cambria Math" panose="02040503050406030204" pitchFamily="18" charset="0"/>
                          </a:rPr>
                          <m:t>𝒊</m:t>
                        </m:r>
                      </m:sub>
                    </m:sSub>
                    <m:r>
                      <a:rPr lang="en-US" sz="2000" b="1" i="0" smtClean="0">
                        <a:latin typeface="Cambria Math" panose="02040503050406030204" pitchFamily="18" charset="0"/>
                      </a:rPr>
                      <m:t>−</m:t>
                    </m:r>
                    <m:sSub>
                      <m:sSubPr>
                        <m:ctrlPr>
                          <a:rPr lang="en-US" sz="2000" b="1" i="1" smtClean="0">
                            <a:latin typeface="Cambria Math" panose="02040503050406030204" pitchFamily="18" charset="0"/>
                          </a:rPr>
                        </m:ctrlPr>
                      </m:sSubPr>
                      <m:e>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𝒚</m:t>
                            </m:r>
                          </m:e>
                        </m:acc>
                      </m:e>
                      <m:sub>
                        <m:r>
                          <a:rPr lang="en-US" sz="2000" b="1" i="1" smtClean="0">
                            <a:latin typeface="Cambria Math" panose="02040503050406030204" pitchFamily="18" charset="0"/>
                          </a:rPr>
                          <m:t>𝒊</m:t>
                        </m:r>
                      </m:sub>
                    </m:sSub>
                  </m:oMath>
                </a14:m>
                <a:r>
                  <a:rPr lang="en-US" sz="2000" b="1" dirty="0"/>
                  <a:t> </a:t>
                </a:r>
              </a:p>
              <a:p>
                <a:pPr>
                  <a:spcBef>
                    <a:spcPts val="600"/>
                  </a:spcBef>
                  <a:spcAft>
                    <a:spcPts val="0"/>
                  </a:spcAft>
                </a:pPr>
                <a:r>
                  <a:rPr lang="en-US" sz="2000" dirty="0"/>
                  <a:t>Where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𝑖</m:t>
                        </m:r>
                      </m:sub>
                    </m:sSub>
                  </m:oMath>
                </a14:m>
                <a:r>
                  <a:rPr lang="en-US" sz="2000" dirty="0"/>
                  <a:t> and </a:t>
                </a: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𝑦</m:t>
                            </m:r>
                          </m:e>
                        </m:acc>
                      </m:e>
                      <m:sub>
                        <m:r>
                          <a:rPr lang="en-US" sz="2000" b="0" i="1" smtClean="0">
                            <a:latin typeface="Cambria Math" panose="02040503050406030204" pitchFamily="18" charset="0"/>
                          </a:rPr>
                          <m:t>𝑖</m:t>
                        </m:r>
                      </m:sub>
                    </m:sSub>
                  </m:oMath>
                </a14:m>
                <a:r>
                  <a:rPr lang="en-US" sz="2000" dirty="0"/>
                  <a:t> are the observed and predicted values of the dependent variable.</a:t>
                </a:r>
              </a:p>
              <a:p>
                <a:pPr>
                  <a:spcBef>
                    <a:spcPts val="600"/>
                  </a:spcBef>
                </a:pPr>
                <a:r>
                  <a:rPr lang="en-US" sz="2000" dirty="0"/>
                  <a:t>The residuals provide the best information about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t>, and much of the residual analysis is based on an examination of graphical plots. </a:t>
                </a:r>
              </a:p>
              <a:p>
                <a:pPr>
                  <a:spcBef>
                    <a:spcPts val="600"/>
                  </a:spcBef>
                </a:pPr>
                <a:r>
                  <a:rPr lang="en-US" sz="2000" dirty="0"/>
                  <a:t>In this section, we discuss the following residual plots:</a:t>
                </a:r>
              </a:p>
              <a:p>
                <a:pPr marL="685800" indent="-401638">
                  <a:spcBef>
                    <a:spcPts val="600"/>
                  </a:spcBef>
                  <a:buFont typeface="+mj-lt"/>
                  <a:buAutoNum type="arabicPeriod"/>
                </a:pPr>
                <a:r>
                  <a:rPr lang="en-US" sz="2000" dirty="0"/>
                  <a:t>A plot of the residuals against values of the independent variable </a:t>
                </a:r>
                <a:r>
                  <a:rPr lang="en-US" sz="2000" dirty="0">
                    <a:latin typeface="Arial" panose="020B0604020202020204" pitchFamily="34" charset="0"/>
                    <a:cs typeface="Arial" panose="020B0604020202020204" pitchFamily="34" charset="0"/>
                  </a:rPr>
                  <a:t>𝑥</a:t>
                </a:r>
                <a:endParaRPr lang="en-US" sz="2000" dirty="0"/>
              </a:p>
              <a:p>
                <a:pPr marL="685800" indent="-401638">
                  <a:spcBef>
                    <a:spcPts val="600"/>
                  </a:spcBef>
                  <a:buFont typeface="+mj-lt"/>
                  <a:buAutoNum type="arabicPeriod"/>
                </a:pPr>
                <a:r>
                  <a:rPr lang="en-US" sz="2000" dirty="0"/>
                  <a:t>A plot of residuals against the predicted values of the dependent variable, </a:t>
                </a:r>
                <a14:m>
                  <m:oMath xmlns:m="http://schemas.openxmlformats.org/officeDocument/2006/math">
                    <m:acc>
                      <m:accPr>
                        <m:chr m:val="̂"/>
                        <m:ctrlPr>
                          <a:rPr lang="en-US" sz="2000" i="1" dirty="0" smtClean="0">
                            <a:latin typeface="Cambria Math" panose="02040503050406030204" pitchFamily="18" charset="0"/>
                          </a:rPr>
                        </m:ctrlPr>
                      </m:accPr>
                      <m:e>
                        <m:r>
                          <a:rPr lang="en-US" sz="2000" b="0" i="1" dirty="0" smtClean="0">
                            <a:latin typeface="Cambria Math" panose="02040503050406030204" pitchFamily="18" charset="0"/>
                          </a:rPr>
                          <m:t>𝑦</m:t>
                        </m:r>
                      </m:e>
                    </m:acc>
                  </m:oMath>
                </a14:m>
                <a:endParaRPr lang="en-US" sz="2000" dirty="0"/>
              </a:p>
              <a:p>
                <a:pPr marL="685800" indent="-401638">
                  <a:spcBef>
                    <a:spcPts val="600"/>
                  </a:spcBef>
                  <a:buFont typeface="+mj-lt"/>
                  <a:buAutoNum type="arabicPeriod"/>
                </a:pPr>
                <a:r>
                  <a:rPr lang="en-US" sz="2000" dirty="0"/>
                  <a:t>A standardized residual plot</a:t>
                </a:r>
              </a:p>
              <a:p>
                <a:pPr marL="685800" indent="-401638">
                  <a:spcBef>
                    <a:spcPts val="600"/>
                  </a:spcBef>
                  <a:buFont typeface="+mj-lt"/>
                  <a:buAutoNum type="arabicPeriod"/>
                </a:pPr>
                <a:r>
                  <a:rPr lang="en-US" sz="2000" dirty="0"/>
                  <a:t>A normal probability plot</a:t>
                </a:r>
              </a:p>
              <a:p>
                <a:pPr>
                  <a:spcBef>
                    <a:spcPts val="600"/>
                  </a:spcBef>
                </a:pPr>
                <a:endParaRPr lang="en-US" sz="2000" dirty="0"/>
              </a:p>
            </p:txBody>
          </p:sp>
        </mc:Choice>
        <mc:Fallback xmlns="">
          <p:sp>
            <p:nvSpPr>
              <p:cNvPr id="3" name="Text Placeholder 2">
                <a:extLst>
                  <a:ext uri="{FF2B5EF4-FFF2-40B4-BE49-F238E27FC236}">
                    <a16:creationId xmlns:a16="http://schemas.microsoft.com/office/drawing/2014/main" id="{1827DCC9-48E9-39AA-09BA-FE2089FB98DA}"/>
                  </a:ext>
                </a:extLst>
              </p:cNvPr>
              <p:cNvSpPr>
                <a:spLocks noGrp="1" noRot="1" noChangeAspect="1" noMove="1" noResize="1" noEditPoints="1" noAdjustHandles="1" noChangeArrowheads="1" noChangeShapeType="1" noTextEdit="1"/>
              </p:cNvSpPr>
              <p:nvPr>
                <p:ph type="body" sz="quarter" idx="15"/>
              </p:nvPr>
            </p:nvSpPr>
            <p:spPr>
              <a:xfrm>
                <a:off x="743576" y="1323278"/>
                <a:ext cx="10711543" cy="4454784"/>
              </a:xfrm>
              <a:blipFill>
                <a:blip r:embed="rId2"/>
                <a:stretch>
                  <a:fillRect l="-1480" t="-1642" r="-569" b="-2873"/>
                </a:stretch>
              </a:blipFill>
            </p:spPr>
            <p:txBody>
              <a:bodyPr/>
              <a:lstStyle/>
              <a:p>
                <a:r>
                  <a:rPr lang="en-US">
                    <a:noFill/>
                  </a:rPr>
                  <a:t> </a:t>
                </a:r>
              </a:p>
            </p:txBody>
          </p:sp>
        </mc:Fallback>
      </mc:AlternateContent>
    </p:spTree>
    <p:extLst>
      <p:ext uri="{BB962C8B-B14F-4D97-AF65-F5344CB8AC3E}">
        <p14:creationId xmlns:p14="http://schemas.microsoft.com/office/powerpoint/2010/main" val="37473413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C7FEF-3520-B3E7-6FDC-7A0A1182B53A}"/>
              </a:ext>
            </a:extLst>
          </p:cNvPr>
          <p:cNvSpPr>
            <a:spLocks noGrp="1"/>
          </p:cNvSpPr>
          <p:nvPr>
            <p:ph type="title"/>
          </p:nvPr>
        </p:nvSpPr>
        <p:spPr>
          <a:xfrm>
            <a:off x="1296714" y="375526"/>
            <a:ext cx="9598572" cy="672105"/>
          </a:xfrm>
        </p:spPr>
        <p:txBody>
          <a:bodyPr/>
          <a:lstStyle/>
          <a:p>
            <a:r>
              <a:rPr lang="en-US" dirty="0"/>
              <a:t>14.8 Residual Plot Against </a:t>
            </a:r>
            <a:r>
              <a:rPr lang="en-US" i="1" dirty="0"/>
              <a:t>x</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A5C53F2-96E4-1059-01BE-1A91F855CE5E}"/>
                  </a:ext>
                </a:extLst>
              </p:cNvPr>
              <p:cNvSpPr>
                <a:spLocks noGrp="1"/>
              </p:cNvSpPr>
              <p:nvPr>
                <p:ph type="body" sz="quarter" idx="15"/>
              </p:nvPr>
            </p:nvSpPr>
            <p:spPr>
              <a:xfrm>
                <a:off x="853939" y="1199568"/>
                <a:ext cx="10576061" cy="2372885"/>
              </a:xfrm>
            </p:spPr>
            <p:txBody>
              <a:bodyPr/>
              <a:lstStyle/>
              <a:p>
                <a:r>
                  <a:rPr lang="en-US" sz="2000" dirty="0"/>
                  <a:t>The </a:t>
                </a:r>
                <a:r>
                  <a:rPr lang="en-US" sz="2000" b="1" dirty="0"/>
                  <a:t>residual plot </a:t>
                </a:r>
                <a:r>
                  <a:rPr lang="en-US" sz="2000" dirty="0"/>
                  <a:t>against </a:t>
                </a:r>
                <a:r>
                  <a:rPr lang="en-US" sz="2000" dirty="0">
                    <a:latin typeface="Arial" panose="020B0604020202020204" pitchFamily="34" charset="0"/>
                    <a:cs typeface="Arial" panose="020B0604020202020204" pitchFamily="34" charset="0"/>
                  </a:rPr>
                  <a:t>𝑥</a:t>
                </a:r>
                <a:r>
                  <a:rPr lang="en-US" sz="2000" dirty="0"/>
                  <a:t> represents the values of the independent variable on the horizontal axis and the residual values on the vertical axis. The residual plot gives an overall impression of a horizontal band of points (Panel A) if the following assumptions are valid:</a:t>
                </a:r>
              </a:p>
              <a:p>
                <a:pPr marL="630238" indent="-346075">
                  <a:buFont typeface="+mj-lt"/>
                  <a:buAutoNum type="arabicPeriod"/>
                </a:pPr>
                <a:r>
                  <a:rPr lang="en-US" sz="2000" dirty="0"/>
                  <a:t>the variance of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t> is the same for all values of </a:t>
                </a:r>
                <a:r>
                  <a:rPr lang="en-US" sz="2000" dirty="0">
                    <a:latin typeface="Arial" panose="020B0604020202020204" pitchFamily="34" charset="0"/>
                    <a:cs typeface="Arial" panose="020B0604020202020204" pitchFamily="34" charset="0"/>
                  </a:rPr>
                  <a:t>𝑥</a:t>
                </a:r>
                <a:r>
                  <a:rPr lang="en-US" sz="2000" dirty="0"/>
                  <a:t>.</a:t>
                </a:r>
              </a:p>
              <a:p>
                <a:pPr marL="969963" lvl="1" indent="0">
                  <a:buNone/>
                </a:pPr>
                <a:r>
                  <a:rPr lang="en-US" sz="1800" dirty="0">
                    <a:latin typeface="Arial" panose="020B0604020202020204" pitchFamily="34" charset="0"/>
                    <a:cs typeface="Arial" panose="020B0604020202020204" pitchFamily="34" charset="0"/>
                  </a:rPr>
                  <a:t>Implication</a:t>
                </a:r>
                <a:r>
                  <a:rPr lang="en-US" sz="1800">
                    <a:latin typeface="Arial" panose="020B0604020202020204" pitchFamily="34" charset="0"/>
                    <a:cs typeface="Arial" panose="020B0604020202020204" pitchFamily="34" charset="0"/>
                  </a:rPr>
                  <a:t>: non-consistent </a:t>
                </a:r>
                <a:r>
                  <a:rPr lang="en-US" sz="1800" dirty="0">
                    <a:latin typeface="Arial" panose="020B0604020202020204" pitchFamily="34" charset="0"/>
                    <a:cs typeface="Arial" panose="020B0604020202020204" pitchFamily="34" charset="0"/>
                  </a:rPr>
                  <a:t>variance may generate the pattern displayed in Panel B.</a:t>
                </a:r>
              </a:p>
              <a:p>
                <a:pPr marL="630238" indent="-346075">
                  <a:buFont typeface="+mj-lt"/>
                  <a:buAutoNum type="arabicPeriod"/>
                </a:pPr>
                <a:r>
                  <a:rPr lang="en-US" sz="2000" dirty="0"/>
                  <a:t>the regression model adequately represents the relationship between the variables.</a:t>
                </a:r>
              </a:p>
              <a:p>
                <a:pPr marL="969963" lvl="1" indent="0">
                  <a:buNone/>
                </a:pPr>
                <a:r>
                  <a:rPr lang="en-US" sz="1800" dirty="0">
                    <a:latin typeface="Arial" panose="020B0604020202020204" pitchFamily="34" charset="0"/>
                    <a:cs typeface="Arial" panose="020B0604020202020204" pitchFamily="34" charset="0"/>
                  </a:rPr>
                  <a:t>Implication: an inadequate model form may create the pattern displayed in Panel C.</a:t>
                </a:r>
              </a:p>
              <a:p>
                <a:endParaRPr lang="en-US" sz="2000" dirty="0"/>
              </a:p>
            </p:txBody>
          </p:sp>
        </mc:Choice>
        <mc:Fallback xmlns="">
          <p:sp>
            <p:nvSpPr>
              <p:cNvPr id="3" name="Text Placeholder 2">
                <a:extLst>
                  <a:ext uri="{FF2B5EF4-FFF2-40B4-BE49-F238E27FC236}">
                    <a16:creationId xmlns:a16="http://schemas.microsoft.com/office/drawing/2014/main" id="{8A5C53F2-96E4-1059-01BE-1A91F855CE5E}"/>
                  </a:ext>
                </a:extLst>
              </p:cNvPr>
              <p:cNvSpPr>
                <a:spLocks noGrp="1" noRot="1" noChangeAspect="1" noMove="1" noResize="1" noEditPoints="1" noAdjustHandles="1" noChangeArrowheads="1" noChangeShapeType="1" noTextEdit="1"/>
              </p:cNvSpPr>
              <p:nvPr>
                <p:ph type="body" sz="quarter" idx="15"/>
              </p:nvPr>
            </p:nvSpPr>
            <p:spPr>
              <a:xfrm>
                <a:off x="853939" y="1199568"/>
                <a:ext cx="10576061" cy="2372885"/>
              </a:xfrm>
              <a:blipFill>
                <a:blip r:embed="rId2"/>
                <a:stretch>
                  <a:fillRect l="-1441" t="-3342" b="-2828"/>
                </a:stretch>
              </a:blipFill>
            </p:spPr>
            <p:txBody>
              <a:bodyPr/>
              <a:lstStyle/>
              <a:p>
                <a:r>
                  <a:rPr lang="en-US">
                    <a:noFill/>
                  </a:rPr>
                  <a:t> </a:t>
                </a:r>
              </a:p>
            </p:txBody>
          </p:sp>
        </mc:Fallback>
      </mc:AlternateContent>
      <p:pic>
        <p:nvPicPr>
          <p:cNvPr id="12" name="Picture Placeholder 11" descr="Three panels of scatter diagram show patterns of residual plots. In all panels, the horizontal axis is labeled “x” and the vertical axis is labeled “Residual,” listing 0. Panel A: Good pattern. The plots are scattered uniformly on either side of residual = 0. Panel B: Nonconstant variance. The distance between the line at residual = 0 and the plots on either side increase with increase in the value of x. Panel C: Model form not adequate. The plots show a U-shaped trend.&#10;">
            <a:extLst>
              <a:ext uri="{FF2B5EF4-FFF2-40B4-BE49-F238E27FC236}">
                <a16:creationId xmlns:a16="http://schemas.microsoft.com/office/drawing/2014/main" id="{8ABB3FB8-7539-4B7B-4309-F8EC88CF07DA}"/>
              </a:ext>
            </a:extLst>
          </p:cNvPr>
          <p:cNvPicPr>
            <a:picLocks noGrp="1" noChangeAspect="1"/>
          </p:cNvPicPr>
          <p:nvPr>
            <p:ph type="pic" sz="quarter" idx="16"/>
          </p:nvPr>
        </p:nvPicPr>
        <p:blipFill rotWithShape="1">
          <a:blip r:embed="rId3"/>
          <a:srcRect l="10" r="10"/>
          <a:stretch/>
        </p:blipFill>
        <p:spPr>
          <a:xfrm>
            <a:off x="806450" y="3505663"/>
            <a:ext cx="10579100" cy="2487613"/>
          </a:xfrm>
        </p:spPr>
      </p:pic>
    </p:spTree>
    <p:extLst>
      <p:ext uri="{BB962C8B-B14F-4D97-AF65-F5344CB8AC3E}">
        <p14:creationId xmlns:p14="http://schemas.microsoft.com/office/powerpoint/2010/main" val="462688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C7FEF-3520-B3E7-6FDC-7A0A1182B53A}"/>
              </a:ext>
            </a:extLst>
          </p:cNvPr>
          <p:cNvSpPr>
            <a:spLocks noGrp="1"/>
          </p:cNvSpPr>
          <p:nvPr>
            <p:ph type="title"/>
          </p:nvPr>
        </p:nvSpPr>
        <p:spPr>
          <a:xfrm>
            <a:off x="725217" y="375526"/>
            <a:ext cx="10739164" cy="672105"/>
          </a:xfrm>
        </p:spPr>
        <p:txBody>
          <a:bodyPr/>
          <a:lstStyle/>
          <a:p>
            <a:r>
              <a:rPr lang="en-US" sz="3200" dirty="0"/>
              <a:t>14.8 Residual Plot Against </a:t>
            </a:r>
            <a:r>
              <a:rPr lang="en-US" sz="3200" i="1" dirty="0"/>
              <a:t>x</a:t>
            </a:r>
            <a:r>
              <a:rPr lang="en-US" sz="3200" dirty="0"/>
              <a:t> for Armand’s Pizza Parlors</a:t>
            </a:r>
          </a:p>
        </p:txBody>
      </p:sp>
      <p:sp>
        <p:nvSpPr>
          <p:cNvPr id="3" name="Text Placeholder 2">
            <a:extLst>
              <a:ext uri="{FF2B5EF4-FFF2-40B4-BE49-F238E27FC236}">
                <a16:creationId xmlns:a16="http://schemas.microsoft.com/office/drawing/2014/main" id="{8A5C53F2-96E4-1059-01BE-1A91F855CE5E}"/>
              </a:ext>
            </a:extLst>
          </p:cNvPr>
          <p:cNvSpPr>
            <a:spLocks noGrp="1"/>
          </p:cNvSpPr>
          <p:nvPr>
            <p:ph type="body" sz="quarter" idx="15"/>
          </p:nvPr>
        </p:nvSpPr>
        <p:spPr>
          <a:xfrm>
            <a:off x="853940" y="1411014"/>
            <a:ext cx="4017605" cy="4251325"/>
          </a:xfrm>
        </p:spPr>
        <p:txBody>
          <a:bodyPr/>
          <a:lstStyle/>
          <a:p>
            <a:r>
              <a:rPr lang="en-US" sz="2000" dirty="0"/>
              <a:t>The residuals for the Armand’s Pizza Parlor sample data appear to approximate the horizontal pattern in Panel A from the previous slide.</a:t>
            </a:r>
          </a:p>
          <a:p>
            <a:r>
              <a:rPr lang="en-US" sz="2000" dirty="0"/>
              <a:t>Hence, we conclude that the residual plot does not provide evidence that the assumptions made for Armand’s regression model should be challenged. </a:t>
            </a:r>
          </a:p>
          <a:p>
            <a:r>
              <a:rPr lang="en-US" sz="2000" dirty="0"/>
              <a:t>At this point, we are confident in the conclusion that Armand’s simple linear regression model is valid.</a:t>
            </a:r>
          </a:p>
        </p:txBody>
      </p:sp>
      <p:pic>
        <p:nvPicPr>
          <p:cNvPr id="6" name="Picture Placeholder 5" descr="A scatter diagram with 10 data points plots residual versus x. The horizontal axis is labeled “x” and ranges from 0 to 26 with tickmarks in increments of 2. The vertical axis is labeled “Residual” and ranges from negative 20 to positive 20 with tickmarks in increments of 10. A dashed horizontal line is at residual = 0. The coordinates of the points are (2, negative 12), (6, 15), (8, negative 12), (8, 18), (12, negative 3), (16, negative 3), (20, negative 3), (20, 9), (22, negative 21), and (26, 12).&#10;">
            <a:extLst>
              <a:ext uri="{FF2B5EF4-FFF2-40B4-BE49-F238E27FC236}">
                <a16:creationId xmlns:a16="http://schemas.microsoft.com/office/drawing/2014/main" id="{8FA5C01B-4E27-148A-1C5E-BC32111A992F}"/>
              </a:ext>
            </a:extLst>
          </p:cNvPr>
          <p:cNvPicPr>
            <a:picLocks noGrp="1" noChangeAspect="1"/>
          </p:cNvPicPr>
          <p:nvPr>
            <p:ph type="pic" sz="quarter" idx="16"/>
          </p:nvPr>
        </p:nvPicPr>
        <p:blipFill rotWithShape="1">
          <a:blip r:embed="rId2"/>
          <a:srcRect l="22" r="22"/>
          <a:stretch/>
        </p:blipFill>
        <p:spPr>
          <a:xfrm>
            <a:off x="5033494" y="1445227"/>
            <a:ext cx="6162675" cy="4251325"/>
          </a:xfrm>
        </p:spPr>
      </p:pic>
    </p:spTree>
    <p:extLst>
      <p:ext uri="{BB962C8B-B14F-4D97-AF65-F5344CB8AC3E}">
        <p14:creationId xmlns:p14="http://schemas.microsoft.com/office/powerpoint/2010/main" val="36096069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35C7FEF-3520-B3E7-6FDC-7A0A1182B53A}"/>
                  </a:ext>
                </a:extLst>
              </p:cNvPr>
              <p:cNvSpPr>
                <a:spLocks noGrp="1"/>
              </p:cNvSpPr>
              <p:nvPr>
                <p:ph type="title"/>
              </p:nvPr>
            </p:nvSpPr>
            <p:spPr>
              <a:xfrm>
                <a:off x="725217" y="375526"/>
                <a:ext cx="10739164" cy="672105"/>
              </a:xfrm>
            </p:spPr>
            <p:txBody>
              <a:bodyPr/>
              <a:lstStyle/>
              <a:p>
                <a:r>
                  <a:rPr lang="en-US" sz="3200" dirty="0"/>
                  <a:t>14.8 Residual Plot Against </a:t>
                </a:r>
                <a14:m>
                  <m:oMath xmlns:m="http://schemas.openxmlformats.org/officeDocument/2006/math">
                    <m:acc>
                      <m:accPr>
                        <m:chr m:val="̂"/>
                        <m:ctrlPr>
                          <a:rPr lang="en-US" sz="3200" i="1" dirty="0" smtClean="0">
                            <a:latin typeface="Cambria Math" panose="02040503050406030204" pitchFamily="18" charset="0"/>
                          </a:rPr>
                        </m:ctrlPr>
                      </m:accPr>
                      <m:e>
                        <m:r>
                          <a:rPr lang="en-US" sz="3200" b="1" i="1" dirty="0" smtClean="0">
                            <a:latin typeface="Cambria Math" panose="02040503050406030204" pitchFamily="18" charset="0"/>
                          </a:rPr>
                          <m:t>𝒚</m:t>
                        </m:r>
                      </m:e>
                    </m:acc>
                  </m:oMath>
                </a14:m>
                <a:r>
                  <a:rPr lang="en-US" sz="3200" dirty="0"/>
                  <a:t> for Armand’s Pizza Parlors</a:t>
                </a:r>
              </a:p>
            </p:txBody>
          </p:sp>
        </mc:Choice>
        <mc:Fallback xmlns="">
          <p:sp>
            <p:nvSpPr>
              <p:cNvPr id="2" name="Title 1">
                <a:extLst>
                  <a:ext uri="{FF2B5EF4-FFF2-40B4-BE49-F238E27FC236}">
                    <a16:creationId xmlns:a16="http://schemas.microsoft.com/office/drawing/2014/main" id="{F35C7FEF-3520-B3E7-6FDC-7A0A1182B53A}"/>
                  </a:ext>
                </a:extLst>
              </p:cNvPr>
              <p:cNvSpPr>
                <a:spLocks noGrp="1" noRot="1" noChangeAspect="1" noMove="1" noResize="1" noEditPoints="1" noAdjustHandles="1" noChangeArrowheads="1" noChangeShapeType="1" noTextEdit="1"/>
              </p:cNvSpPr>
              <p:nvPr>
                <p:ph type="title"/>
              </p:nvPr>
            </p:nvSpPr>
            <p:spPr>
              <a:xfrm>
                <a:off x="725217" y="375526"/>
                <a:ext cx="10739164" cy="672105"/>
              </a:xfrm>
              <a:blipFill>
                <a:blip r:embed="rId3"/>
                <a:stretch>
                  <a:fillRect l="-1986" t="-26364" r="-1986" b="-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A5C53F2-96E4-1059-01BE-1A91F855CE5E}"/>
                  </a:ext>
                </a:extLst>
              </p:cNvPr>
              <p:cNvSpPr>
                <a:spLocks noGrp="1"/>
              </p:cNvSpPr>
              <p:nvPr>
                <p:ph type="body" sz="quarter" idx="15"/>
              </p:nvPr>
            </p:nvSpPr>
            <p:spPr>
              <a:xfrm>
                <a:off x="853940" y="1411014"/>
                <a:ext cx="4080667" cy="4276562"/>
              </a:xfrm>
            </p:spPr>
            <p:txBody>
              <a:bodyPr/>
              <a:lstStyle/>
              <a:p>
                <a:r>
                  <a:rPr lang="en-US" sz="2000" dirty="0"/>
                  <a:t>Another residual plot represents the predicted value of the dependent variable </a:t>
                </a:r>
                <a14:m>
                  <m:oMath xmlns:m="http://schemas.openxmlformats.org/officeDocument/2006/math">
                    <m:acc>
                      <m:accPr>
                        <m:chr m:val="̂"/>
                        <m:ctrlPr>
                          <a:rPr lang="en-US" sz="2000" i="1" dirty="0" smtClean="0">
                            <a:latin typeface="Cambria Math" panose="02040503050406030204" pitchFamily="18" charset="0"/>
                          </a:rPr>
                        </m:ctrlPr>
                      </m:accPr>
                      <m:e>
                        <m:r>
                          <a:rPr lang="en-US" sz="2000" b="0" i="1" dirty="0" smtClean="0">
                            <a:latin typeface="Cambria Math" panose="02040503050406030204" pitchFamily="18" charset="0"/>
                          </a:rPr>
                          <m:t>𝑦</m:t>
                        </m:r>
                      </m:e>
                    </m:acc>
                  </m:oMath>
                </a14:m>
                <a:r>
                  <a:rPr lang="en-US" sz="2000" dirty="0"/>
                  <a:t> on the horizontal axis in place of the independent variable </a:t>
                </a:r>
                <a:r>
                  <a:rPr lang="en-US" sz="2000" dirty="0">
                    <a:latin typeface="Arial" panose="020B0604020202020204" pitchFamily="34" charset="0"/>
                    <a:cs typeface="Arial" panose="020B0604020202020204" pitchFamily="34" charset="0"/>
                  </a:rPr>
                  <a:t>𝑥</a:t>
                </a:r>
                <a:r>
                  <a:rPr lang="en-US" sz="2000" dirty="0"/>
                  <a:t>.</a:t>
                </a:r>
              </a:p>
              <a:p>
                <a:r>
                  <a:rPr lang="en-US" sz="2000" dirty="0"/>
                  <a:t>The residual plot against </a:t>
                </a:r>
                <a14:m>
                  <m:oMath xmlns:m="http://schemas.openxmlformats.org/officeDocument/2006/math">
                    <m:acc>
                      <m:accPr>
                        <m:chr m:val="̂"/>
                        <m:ctrlPr>
                          <a:rPr lang="en-US" sz="2000" i="1" dirty="0" smtClean="0">
                            <a:latin typeface="Cambria Math" panose="02040503050406030204" pitchFamily="18" charset="0"/>
                          </a:rPr>
                        </m:ctrlPr>
                      </m:accPr>
                      <m:e>
                        <m:r>
                          <a:rPr lang="en-US" sz="2000" b="0" i="1" dirty="0" smtClean="0">
                            <a:latin typeface="Cambria Math" panose="02040503050406030204" pitchFamily="18" charset="0"/>
                          </a:rPr>
                          <m:t>𝑦</m:t>
                        </m:r>
                      </m:e>
                    </m:acc>
                  </m:oMath>
                </a14:m>
                <a:r>
                  <a:rPr lang="en-US" sz="2000" dirty="0"/>
                  <a:t> is used for multiple regression analysis in the presence of more than one independent variable.</a:t>
                </a:r>
              </a:p>
              <a:p>
                <a:r>
                  <a:rPr lang="en-US" sz="2000" dirty="0"/>
                  <a:t>The pattern of the residual plot against </a:t>
                </a:r>
                <a14:m>
                  <m:oMath xmlns:m="http://schemas.openxmlformats.org/officeDocument/2006/math">
                    <m:acc>
                      <m:accPr>
                        <m:chr m:val="̂"/>
                        <m:ctrlPr>
                          <a:rPr lang="en-US" sz="2000" i="1" dirty="0" smtClean="0">
                            <a:latin typeface="Cambria Math" panose="02040503050406030204" pitchFamily="18" charset="0"/>
                          </a:rPr>
                        </m:ctrlPr>
                      </m:accPr>
                      <m:e>
                        <m:r>
                          <a:rPr lang="en-US" sz="2000" b="0" i="1" dirty="0" smtClean="0">
                            <a:latin typeface="Cambria Math" panose="02040503050406030204" pitchFamily="18" charset="0"/>
                          </a:rPr>
                          <m:t>𝑦</m:t>
                        </m:r>
                      </m:e>
                    </m:acc>
                  </m:oMath>
                </a14:m>
                <a:r>
                  <a:rPr lang="en-US" sz="2000" dirty="0"/>
                  <a:t> is the same as the pattern of the residual plot against </a:t>
                </a:r>
                <a:r>
                  <a:rPr lang="en-US" sz="2000" dirty="0">
                    <a:latin typeface="Arial" panose="020B0604020202020204" pitchFamily="34" charset="0"/>
                    <a:cs typeface="Arial" panose="020B0604020202020204" pitchFamily="34" charset="0"/>
                  </a:rPr>
                  <a:t>𝑥</a:t>
                </a:r>
                <a:r>
                  <a:rPr lang="en-US" sz="2000" dirty="0"/>
                  <a:t>. Thus, it is not a pattern that would lead us to question the model assumptions. </a:t>
                </a:r>
              </a:p>
            </p:txBody>
          </p:sp>
        </mc:Choice>
        <mc:Fallback xmlns="">
          <p:sp>
            <p:nvSpPr>
              <p:cNvPr id="3" name="Text Placeholder 2">
                <a:extLst>
                  <a:ext uri="{FF2B5EF4-FFF2-40B4-BE49-F238E27FC236}">
                    <a16:creationId xmlns:a16="http://schemas.microsoft.com/office/drawing/2014/main" id="{8A5C53F2-96E4-1059-01BE-1A91F855CE5E}"/>
                  </a:ext>
                </a:extLst>
              </p:cNvPr>
              <p:cNvSpPr>
                <a:spLocks noGrp="1" noRot="1" noChangeAspect="1" noMove="1" noResize="1" noEditPoints="1" noAdjustHandles="1" noChangeArrowheads="1" noChangeShapeType="1" noTextEdit="1"/>
              </p:cNvSpPr>
              <p:nvPr>
                <p:ph type="body" sz="quarter" idx="15"/>
              </p:nvPr>
            </p:nvSpPr>
            <p:spPr>
              <a:xfrm>
                <a:off x="853940" y="1411014"/>
                <a:ext cx="4080667" cy="4276562"/>
              </a:xfrm>
              <a:blipFill>
                <a:blip r:embed="rId4"/>
                <a:stretch>
                  <a:fillRect l="-3737" t="-1709" r="-4185"/>
                </a:stretch>
              </a:blipFill>
            </p:spPr>
            <p:txBody>
              <a:bodyPr/>
              <a:lstStyle/>
              <a:p>
                <a:r>
                  <a:rPr lang="en-US">
                    <a:noFill/>
                  </a:rPr>
                  <a:t> </a:t>
                </a:r>
              </a:p>
            </p:txBody>
          </p:sp>
        </mc:Fallback>
      </mc:AlternateContent>
      <p:pic>
        <p:nvPicPr>
          <p:cNvPr id="10" name="Picture Placeholder 9" descr="A scatter diagram with 10 data points plots residual versus y-hat. The horizontal axis is labeled “y-hat” and ranges from 60 to 180 with tickmarks in increments of 20. The vertical axis is labeled “Residual” and ranges from negative 20 to positive 20 with tickmarks in increments of 10. A dashed horizontal line is at residual = 0. The coordinates of the points are (70, negative 12), (92, 15), (100, negative 12), (100, 18), (120, negative 3), (140, negative 3), (160, negative 3), (160, 9), (170, negative 21), and (190, 12). All data are approximate.&#10;">
            <a:extLst>
              <a:ext uri="{FF2B5EF4-FFF2-40B4-BE49-F238E27FC236}">
                <a16:creationId xmlns:a16="http://schemas.microsoft.com/office/drawing/2014/main" id="{A47843D7-3851-4876-62EF-6F210F6B106F}"/>
              </a:ext>
            </a:extLst>
          </p:cNvPr>
          <p:cNvPicPr>
            <a:picLocks noGrp="1" noChangeAspect="1"/>
          </p:cNvPicPr>
          <p:nvPr>
            <p:ph type="pic" sz="quarter" idx="16"/>
          </p:nvPr>
        </p:nvPicPr>
        <p:blipFill rotWithShape="1">
          <a:blip r:embed="rId5"/>
          <a:srcRect l="20" r="20"/>
          <a:stretch/>
        </p:blipFill>
        <p:spPr>
          <a:xfrm>
            <a:off x="5045072" y="1426499"/>
            <a:ext cx="6053138" cy="4252913"/>
          </a:xfrm>
        </p:spPr>
      </p:pic>
    </p:spTree>
    <p:extLst>
      <p:ext uri="{BB962C8B-B14F-4D97-AF65-F5344CB8AC3E}">
        <p14:creationId xmlns:p14="http://schemas.microsoft.com/office/powerpoint/2010/main" val="16999370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C7FEF-3520-B3E7-6FDC-7A0A1182B53A}"/>
              </a:ext>
            </a:extLst>
          </p:cNvPr>
          <p:cNvSpPr>
            <a:spLocks noGrp="1"/>
          </p:cNvSpPr>
          <p:nvPr>
            <p:ph type="title"/>
          </p:nvPr>
        </p:nvSpPr>
        <p:spPr/>
        <p:txBody>
          <a:bodyPr/>
          <a:lstStyle/>
          <a:p>
            <a:r>
              <a:rPr lang="en-US" sz="3200" dirty="0">
                <a:solidFill>
                  <a:srgbClr val="25894E"/>
                </a:solidFill>
              </a:rPr>
              <a:t>14.8 Excel: Residual Plot Against </a:t>
            </a:r>
            <a:r>
              <a:rPr lang="en-US" sz="3200" i="1" dirty="0">
                <a:solidFill>
                  <a:srgbClr val="25894E"/>
                </a:solidFill>
              </a:rPr>
              <a:t>x</a:t>
            </a:r>
            <a:endParaRPr lang="en-US" sz="3200" dirty="0">
              <a:solidFill>
                <a:srgbClr val="25894E"/>
              </a:solidFill>
            </a:endParaRP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D5622179-02A3-04E4-8C8B-B95E1C401B9C}"/>
                  </a:ext>
                </a:extLst>
              </p:cNvPr>
              <p:cNvSpPr>
                <a:spLocks noGrp="1"/>
              </p:cNvSpPr>
              <p:nvPr>
                <p:ph type="body" sz="quarter" idx="15"/>
              </p:nvPr>
            </p:nvSpPr>
            <p:spPr>
              <a:xfrm>
                <a:off x="743577" y="1235868"/>
                <a:ext cx="10610223" cy="1370213"/>
              </a:xfrm>
            </p:spPr>
            <p:txBody>
              <a:bodyPr/>
              <a:lstStyle/>
              <a:p>
                <a:r>
                  <a:rPr lang="en-US" sz="2000" dirty="0"/>
                  <a:t>To obtain a residual plot against </a:t>
                </a:r>
                <a14:m>
                  <m:oMath xmlns:m="http://schemas.openxmlformats.org/officeDocument/2006/math">
                    <m:r>
                      <a:rPr lang="en-US" sz="2000" i="1" dirty="0" smtClean="0">
                        <a:latin typeface="Cambria Math" panose="02040503050406030204" pitchFamily="18" charset="0"/>
                      </a:rPr>
                      <m:t>𝑥</m:t>
                    </m:r>
                  </m:oMath>
                </a14:m>
                <a:r>
                  <a:rPr lang="en-US" sz="2000" dirty="0"/>
                  <a:t>, the steps that we describe in Section to obtain the regression output are performed with one change. </a:t>
                </a:r>
              </a:p>
              <a:p>
                <a:r>
                  <a:rPr lang="en-US" sz="2000" dirty="0"/>
                  <a:t>When the Regression tool dialog box appears, we must also select the </a:t>
                </a:r>
                <a:r>
                  <a:rPr lang="en-US" sz="2000" b="1" dirty="0"/>
                  <a:t>Residual Plots </a:t>
                </a:r>
                <a:r>
                  <a:rPr lang="en-US" sz="2000" dirty="0"/>
                  <a:t>option in the </a:t>
                </a:r>
                <a:r>
                  <a:rPr lang="en-US" sz="2000" b="1" dirty="0"/>
                  <a:t>Residual</a:t>
                </a:r>
                <a:r>
                  <a:rPr lang="en-US" sz="2000" dirty="0"/>
                  <a:t> section. </a:t>
                </a:r>
              </a:p>
              <a:p>
                <a:endParaRPr lang="en-US" sz="2000" dirty="0"/>
              </a:p>
            </p:txBody>
          </p:sp>
        </mc:Choice>
        <mc:Fallback xmlns="">
          <p:sp>
            <p:nvSpPr>
              <p:cNvPr id="5" name="Text Placeholder 4">
                <a:extLst>
                  <a:ext uri="{FF2B5EF4-FFF2-40B4-BE49-F238E27FC236}">
                    <a16:creationId xmlns:a16="http://schemas.microsoft.com/office/drawing/2014/main" id="{D5622179-02A3-04E4-8C8B-B95E1C401B9C}"/>
                  </a:ext>
                </a:extLst>
              </p:cNvPr>
              <p:cNvSpPr>
                <a:spLocks noGrp="1" noRot="1" noChangeAspect="1" noMove="1" noResize="1" noEditPoints="1" noAdjustHandles="1" noChangeArrowheads="1" noChangeShapeType="1" noTextEdit="1"/>
              </p:cNvSpPr>
              <p:nvPr>
                <p:ph type="body" sz="quarter" idx="15"/>
              </p:nvPr>
            </p:nvSpPr>
            <p:spPr>
              <a:xfrm>
                <a:off x="743577" y="1235868"/>
                <a:ext cx="10610223" cy="1370213"/>
              </a:xfrm>
              <a:blipFill>
                <a:blip r:embed="rId2"/>
                <a:stretch>
                  <a:fillRect l="-1493" t="-5333" r="-976" b="-5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A92751B0-CDCA-0DC5-1245-E6CF3B556CCC}"/>
                  </a:ext>
                </a:extLst>
              </p:cNvPr>
              <p:cNvSpPr>
                <a:spLocks noGrp="1"/>
              </p:cNvSpPr>
              <p:nvPr>
                <p:ph type="body" sz="quarter" idx="17"/>
              </p:nvPr>
            </p:nvSpPr>
            <p:spPr>
              <a:xfrm>
                <a:off x="743576" y="2606082"/>
                <a:ext cx="4757112" cy="3206636"/>
              </a:xfrm>
            </p:spPr>
            <p:txBody>
              <a:bodyPr/>
              <a:lstStyle/>
              <a:p>
                <a:r>
                  <a:rPr lang="en-US" sz="2000" dirty="0"/>
                  <a:t>The regression output will appear as described previously, and the worksheet will also contain a chart showing a plot of the residuals against the independent variable Population, shown to the right.</a:t>
                </a:r>
              </a:p>
              <a:p>
                <a:r>
                  <a:rPr lang="en-US" sz="2000" dirty="0"/>
                  <a:t>In addition, as described in the next slide, a list of predicted values of </a:t>
                </a:r>
                <a14:m>
                  <m:oMath xmlns:m="http://schemas.openxmlformats.org/officeDocument/2006/math">
                    <m:r>
                      <a:rPr lang="en-US" sz="2000" i="1" dirty="0" smtClean="0">
                        <a:latin typeface="Cambria Math" panose="02040503050406030204" pitchFamily="18" charset="0"/>
                      </a:rPr>
                      <m:t>𝑦</m:t>
                    </m:r>
                  </m:oMath>
                </a14:m>
                <a:r>
                  <a:rPr lang="en-US" sz="2000" dirty="0"/>
                  <a:t> and the corresponding residual values are provided below the regression output.</a:t>
                </a:r>
              </a:p>
            </p:txBody>
          </p:sp>
        </mc:Choice>
        <mc:Fallback xmlns="">
          <p:sp>
            <p:nvSpPr>
              <p:cNvPr id="8" name="Text Placeholder 7">
                <a:extLst>
                  <a:ext uri="{FF2B5EF4-FFF2-40B4-BE49-F238E27FC236}">
                    <a16:creationId xmlns:a16="http://schemas.microsoft.com/office/drawing/2014/main" id="{A92751B0-CDCA-0DC5-1245-E6CF3B556CCC}"/>
                  </a:ext>
                </a:extLst>
              </p:cNvPr>
              <p:cNvSpPr>
                <a:spLocks noGrp="1" noRot="1" noChangeAspect="1" noMove="1" noResize="1" noEditPoints="1" noAdjustHandles="1" noChangeArrowheads="1" noChangeShapeType="1" noTextEdit="1"/>
              </p:cNvSpPr>
              <p:nvPr>
                <p:ph type="body" sz="quarter" idx="17"/>
              </p:nvPr>
            </p:nvSpPr>
            <p:spPr>
              <a:xfrm>
                <a:off x="743576" y="2606082"/>
                <a:ext cx="4757112" cy="3206636"/>
              </a:xfrm>
              <a:blipFill>
                <a:blip r:embed="rId4"/>
                <a:stretch>
                  <a:fillRect l="-3333" t="-2281" r="-2564"/>
                </a:stretch>
              </a:blipFill>
            </p:spPr>
            <p:txBody>
              <a:bodyPr/>
              <a:lstStyle/>
              <a:p>
                <a:r>
                  <a:rPr lang="en-US">
                    <a:noFill/>
                  </a:rPr>
                  <a:t> </a:t>
                </a:r>
              </a:p>
            </p:txBody>
          </p:sp>
        </mc:Fallback>
      </mc:AlternateContent>
      <p:pic>
        <p:nvPicPr>
          <p:cNvPr id="12" name="Picture Placeholder 11" descr="The residual plot is titled Population Residual Plot. The horizontal axis is labeled population and ranges from 0 to 30 in increments of 5. The vertical axis is labeled residuals and ranges from negative 25 to 20 in increments of 5. The plots are at (2, negative 12), (6, 15), (8, 18), (8, negative 12), (12, negative 3), (16, negative 3), (20, negative 3), (20, 9), (22, negative 21), and (26, 12).">
            <a:extLst>
              <a:ext uri="{FF2B5EF4-FFF2-40B4-BE49-F238E27FC236}">
                <a16:creationId xmlns:a16="http://schemas.microsoft.com/office/drawing/2014/main" id="{144248CA-DC52-2928-AD93-8DC241F1A299}"/>
              </a:ext>
            </a:extLst>
          </p:cNvPr>
          <p:cNvPicPr>
            <a:picLocks noGrp="1" noChangeAspect="1"/>
          </p:cNvPicPr>
          <p:nvPr>
            <p:ph type="pic" sz="quarter" idx="16"/>
          </p:nvPr>
        </p:nvPicPr>
        <p:blipFill>
          <a:blip r:embed="rId5"/>
          <a:srcRect t="65" b="65"/>
          <a:stretch/>
        </p:blipFill>
        <p:spPr>
          <a:xfrm>
            <a:off x="5643562" y="2327963"/>
            <a:ext cx="5710237" cy="3532294"/>
          </a:xfrm>
        </p:spPr>
      </p:pic>
    </p:spTree>
    <p:extLst>
      <p:ext uri="{BB962C8B-B14F-4D97-AF65-F5344CB8AC3E}">
        <p14:creationId xmlns:p14="http://schemas.microsoft.com/office/powerpoint/2010/main" val="25753060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35C7FEF-3520-B3E7-6FDC-7A0A1182B53A}"/>
                  </a:ext>
                </a:extLst>
              </p:cNvPr>
              <p:cNvSpPr>
                <a:spLocks noGrp="1"/>
              </p:cNvSpPr>
              <p:nvPr>
                <p:ph type="title"/>
              </p:nvPr>
            </p:nvSpPr>
            <p:spPr/>
            <p:txBody>
              <a:bodyPr/>
              <a:lstStyle/>
              <a:p>
                <a:r>
                  <a:rPr lang="en-US" sz="3200" dirty="0">
                    <a:solidFill>
                      <a:srgbClr val="25894E"/>
                    </a:solidFill>
                  </a:rPr>
                  <a:t>14.8 Excel: Residual Plot Against </a:t>
                </a:r>
                <a14:m>
                  <m:oMath xmlns:m="http://schemas.openxmlformats.org/officeDocument/2006/math">
                    <m:acc>
                      <m:accPr>
                        <m:chr m:val="̂"/>
                        <m:ctrlPr>
                          <a:rPr lang="en-US" sz="3200" i="1" dirty="0" smtClean="0">
                            <a:solidFill>
                              <a:srgbClr val="25894E"/>
                            </a:solidFill>
                            <a:latin typeface="Cambria Math" panose="02040503050406030204" pitchFamily="18" charset="0"/>
                          </a:rPr>
                        </m:ctrlPr>
                      </m:accPr>
                      <m:e>
                        <m:r>
                          <a:rPr lang="en-US" sz="3200" b="1" i="1" dirty="0" smtClean="0">
                            <a:solidFill>
                              <a:srgbClr val="25894E"/>
                            </a:solidFill>
                            <a:latin typeface="Cambria Math" panose="02040503050406030204" pitchFamily="18" charset="0"/>
                          </a:rPr>
                          <m:t>𝒚</m:t>
                        </m:r>
                      </m:e>
                    </m:acc>
                  </m:oMath>
                </a14:m>
                <a:endParaRPr lang="en-US" sz="3200" dirty="0">
                  <a:solidFill>
                    <a:srgbClr val="25894E"/>
                  </a:solidFill>
                </a:endParaRPr>
              </a:p>
            </p:txBody>
          </p:sp>
        </mc:Choice>
        <mc:Fallback xmlns="">
          <p:sp>
            <p:nvSpPr>
              <p:cNvPr id="2" name="Title 1">
                <a:extLst>
                  <a:ext uri="{FF2B5EF4-FFF2-40B4-BE49-F238E27FC236}">
                    <a16:creationId xmlns:a16="http://schemas.microsoft.com/office/drawing/2014/main" id="{F35C7FEF-3520-B3E7-6FDC-7A0A1182B53A}"/>
                  </a:ext>
                </a:extLst>
              </p:cNvPr>
              <p:cNvSpPr>
                <a:spLocks noGrp="1" noRot="1" noChangeAspect="1" noMove="1" noResize="1" noEditPoints="1" noAdjustHandles="1" noChangeArrowheads="1" noChangeShapeType="1" noTextEdit="1"/>
              </p:cNvSpPr>
              <p:nvPr>
                <p:ph type="title"/>
              </p:nvPr>
            </p:nvSpPr>
            <p:spPr>
              <a:blipFill>
                <a:blip r:embed="rId2"/>
                <a:stretch>
                  <a:fillRect t="-26364" b="-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F7D9AD15-C878-3A01-F58F-3E9F613C5D89}"/>
                  </a:ext>
                </a:extLst>
              </p:cNvPr>
              <p:cNvSpPr>
                <a:spLocks noGrp="1"/>
              </p:cNvSpPr>
              <p:nvPr>
                <p:ph type="body" sz="quarter" idx="15"/>
              </p:nvPr>
            </p:nvSpPr>
            <p:spPr>
              <a:xfrm>
                <a:off x="743577" y="1143792"/>
                <a:ext cx="6535904" cy="4844388"/>
              </a:xfrm>
            </p:spPr>
            <p:txBody>
              <a:bodyPr/>
              <a:lstStyle/>
              <a:p>
                <a:r>
                  <a:rPr lang="en-US" sz="2000" dirty="0"/>
                  <a:t>Using Excel’s chart tools and the residual output provided in the previous slide, we can easily construct a residual plot against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𝑦</m:t>
                        </m:r>
                      </m:e>
                    </m:acc>
                  </m:oMath>
                </a14:m>
                <a:r>
                  <a:rPr lang="en-US" sz="2000" dirty="0"/>
                  <a:t>.</a:t>
                </a:r>
              </a:p>
              <a:p>
                <a:r>
                  <a:rPr lang="en-US" sz="2000" b="1" dirty="0"/>
                  <a:t>Apply Tools</a:t>
                </a:r>
                <a:r>
                  <a:rPr lang="en-US" sz="2000" dirty="0"/>
                  <a:t>: The following steps describe how to use Excel’s chart tools to construct the residual plot using the regression tool output in the worksheet.</a:t>
                </a:r>
              </a:p>
              <a:p>
                <a:pPr marL="457200">
                  <a:spcBef>
                    <a:spcPts val="400"/>
                  </a:spcBef>
                </a:pPr>
                <a:r>
                  <a:rPr lang="en-US" sz="1800" b="1" dirty="0"/>
                  <a:t>Step 1</a:t>
                </a:r>
                <a:r>
                  <a:rPr lang="en-US" sz="1800" dirty="0"/>
                  <a:t>. Select cells B37:C46</a:t>
                </a:r>
              </a:p>
              <a:p>
                <a:pPr marL="457200">
                  <a:spcBef>
                    <a:spcPts val="400"/>
                  </a:spcBef>
                </a:pPr>
                <a:r>
                  <a:rPr lang="en-US" sz="1800" b="1" dirty="0"/>
                  <a:t>Step 2</a:t>
                </a:r>
                <a:r>
                  <a:rPr lang="en-US" sz="1800" dirty="0"/>
                  <a:t>. Click the </a:t>
                </a:r>
                <a:r>
                  <a:rPr lang="en-US" sz="1800" b="1" dirty="0"/>
                  <a:t>Insert</a:t>
                </a:r>
                <a:r>
                  <a:rPr lang="en-US" sz="1800" dirty="0"/>
                  <a:t> tab on the Ribbon</a:t>
                </a:r>
              </a:p>
              <a:p>
                <a:pPr marL="1257300" indent="-800100">
                  <a:spcBef>
                    <a:spcPts val="400"/>
                  </a:spcBef>
                </a:pPr>
                <a:r>
                  <a:rPr lang="en-US" sz="1800" b="1" dirty="0"/>
                  <a:t>Step 3</a:t>
                </a:r>
                <a:r>
                  <a:rPr lang="en-US" sz="1800" dirty="0"/>
                  <a:t>. In the </a:t>
                </a:r>
                <a:r>
                  <a:rPr lang="en-US" sz="1800" b="1" dirty="0"/>
                  <a:t>Charts</a:t>
                </a:r>
                <a:r>
                  <a:rPr lang="en-US" sz="1800" dirty="0"/>
                  <a:t> group, click </a:t>
                </a:r>
                <a:r>
                  <a:rPr lang="en-US" sz="1800" b="1" dirty="0"/>
                  <a:t>Insert Scatter (X, Y) or Bubble Chart</a:t>
                </a:r>
              </a:p>
              <a:p>
                <a:pPr marL="457200">
                  <a:spcBef>
                    <a:spcPts val="400"/>
                  </a:spcBef>
                </a:pPr>
                <a:r>
                  <a:rPr lang="en-US" sz="1800" b="1" dirty="0"/>
                  <a:t>Step 4</a:t>
                </a:r>
                <a:r>
                  <a:rPr lang="en-US" sz="1800" dirty="0"/>
                  <a:t>. When the list of scatter diagram subtypes appears:</a:t>
                </a:r>
              </a:p>
              <a:p>
                <a:pPr marL="1257300" indent="-800100">
                  <a:spcBef>
                    <a:spcPts val="400"/>
                  </a:spcBef>
                </a:pPr>
                <a:r>
                  <a:rPr lang="en-US" sz="1800" dirty="0"/>
                  <a:t>	Click </a:t>
                </a:r>
                <a:r>
                  <a:rPr lang="en-US" sz="1800" b="1" dirty="0"/>
                  <a:t>Scatter</a:t>
                </a:r>
                <a:r>
                  <a:rPr lang="en-US" sz="1800" dirty="0"/>
                  <a:t> (the chart in </a:t>
                </a:r>
                <a:r>
                  <a:rPr lang="en-US" sz="1800"/>
                  <a:t>the upper-left </a:t>
                </a:r>
                <a:r>
                  <a:rPr lang="en-US" sz="1800" dirty="0"/>
                  <a:t>corner)</a:t>
                </a:r>
              </a:p>
              <a:p>
                <a:pPr>
                  <a:spcBef>
                    <a:spcPts val="1000"/>
                  </a:spcBef>
                </a:pPr>
                <a:r>
                  <a:rPr lang="en-US" sz="2000" b="1" dirty="0"/>
                  <a:t>Editing Options</a:t>
                </a:r>
                <a:r>
                  <a:rPr lang="en-US" sz="2000" dirty="0"/>
                  <a:t>: Then, you can add the chart title, </a:t>
                </a:r>
                <a:r>
                  <a:rPr lang="en-US" sz="2000" i="1" dirty="0"/>
                  <a:t>Population Residual Plot, </a:t>
                </a:r>
                <a:r>
                  <a:rPr lang="en-US" sz="2000" dirty="0"/>
                  <a:t>and axis titles, </a:t>
                </a:r>
                <a:r>
                  <a:rPr lang="en-US" sz="2000" i="1" dirty="0"/>
                  <a:t>Predicted Sales </a:t>
                </a:r>
                <a:r>
                  <a:rPr lang="en-US" sz="2000" dirty="0"/>
                  <a:t>and </a:t>
                </a:r>
                <a:r>
                  <a:rPr lang="en-US" sz="2000" i="1" dirty="0"/>
                  <a:t>Residuals</a:t>
                </a:r>
                <a:r>
                  <a:rPr lang="en-US" sz="2000" dirty="0"/>
                  <a:t>, as previously shown.</a:t>
                </a:r>
              </a:p>
            </p:txBody>
          </p:sp>
        </mc:Choice>
        <mc:Fallback xmlns="">
          <p:sp>
            <p:nvSpPr>
              <p:cNvPr id="4" name="Text Placeholder 3">
                <a:extLst>
                  <a:ext uri="{FF2B5EF4-FFF2-40B4-BE49-F238E27FC236}">
                    <a16:creationId xmlns:a16="http://schemas.microsoft.com/office/drawing/2014/main" id="{F7D9AD15-C878-3A01-F58F-3E9F613C5D89}"/>
                  </a:ext>
                </a:extLst>
              </p:cNvPr>
              <p:cNvSpPr>
                <a:spLocks noGrp="1" noRot="1" noChangeAspect="1" noMove="1" noResize="1" noEditPoints="1" noAdjustHandles="1" noChangeArrowheads="1" noChangeShapeType="1" noTextEdit="1"/>
              </p:cNvSpPr>
              <p:nvPr>
                <p:ph type="body" sz="quarter" idx="15"/>
              </p:nvPr>
            </p:nvSpPr>
            <p:spPr>
              <a:xfrm>
                <a:off x="743577" y="1143792"/>
                <a:ext cx="6535904" cy="4844388"/>
              </a:xfrm>
              <a:blipFill>
                <a:blip r:embed="rId3"/>
                <a:stretch>
                  <a:fillRect l="-2425" t="-1511" r="-2239" b="-3401"/>
                </a:stretch>
              </a:blipFill>
            </p:spPr>
            <p:txBody>
              <a:bodyPr/>
              <a:lstStyle/>
              <a:p>
                <a:r>
                  <a:rPr lang="en-US">
                    <a:noFill/>
                  </a:rPr>
                  <a:t> </a:t>
                </a:r>
              </a:p>
            </p:txBody>
          </p:sp>
        </mc:Fallback>
      </mc:AlternateContent>
      <p:pic>
        <p:nvPicPr>
          <p:cNvPr id="15" name="Picture Placeholder 14" descr="A screenshot of an Excel spreadsheet shows a table and a residual plot. The table is titled Residual Output. Column A is labeled observation, column B is labeled predicted sales, and column C is labeled residuals. The entries in rows 37 through 46 are as follows. Row 37. Observation: 1. Predicted sales: 70. Residuals: Negative 12. Row 38. Observation: 2. Predicted sales: 90. Residuals: 15. Row 39. Observation: 3. Predicted sales: 100. Residuals: Negative 12. Row 40. Observation: 4. Predicted sales: 100. Residuals: 18. Row 41. Observation: 5. Predicted sales: 120. Residuals: Negative 3. Row 42. Observation: 6. Predicted sales: 140. Residuals: Negative 3. Row 43. Observation: 7. Predicted sales: 160. Residuals: Negative 3. Row 44. Observation: 8. Predicted sales: 160. Residuals: 9. Row 45. Observation: 9. Predicted sales: 170. Residuals: Negative 21. Row 46. Observation: 10. Predicted sales: 190. Residuals: 12. The residual plot is titled Population Residual Plot. The horizontal axis is labeled predicted sales and ranges from 0 to 200 in increments of 50. The vertical axis is labeled residuals and ranges from negative 25 to 20 in increments of 5. The plots are at (70, negative 12), (90, 15), (100, 18), (100, negative 12), (120, negative 3), (140, negative 3), (160, negative 3), (160, 9), (170, negative 21), and (190, 12).">
            <a:extLst>
              <a:ext uri="{FF2B5EF4-FFF2-40B4-BE49-F238E27FC236}">
                <a16:creationId xmlns:a16="http://schemas.microsoft.com/office/drawing/2014/main" id="{07F7851B-D582-8C55-4A4A-ED30FF47E07A}"/>
              </a:ext>
            </a:extLst>
          </p:cNvPr>
          <p:cNvPicPr>
            <a:picLocks noGrp="1" noChangeAspect="1"/>
          </p:cNvPicPr>
          <p:nvPr>
            <p:ph type="pic" sz="quarter" idx="16"/>
          </p:nvPr>
        </p:nvPicPr>
        <p:blipFill>
          <a:blip r:embed="rId4"/>
          <a:srcRect l="1159" r="1159"/>
          <a:stretch/>
        </p:blipFill>
        <p:spPr>
          <a:xfrm>
            <a:off x="7431087" y="1141542"/>
            <a:ext cx="3922713" cy="4846638"/>
          </a:xfrm>
          <a:ln>
            <a:solidFill>
              <a:srgbClr val="000000"/>
            </a:solidFill>
          </a:ln>
        </p:spPr>
      </p:pic>
    </p:spTree>
    <p:extLst>
      <p:ext uri="{BB962C8B-B14F-4D97-AF65-F5344CB8AC3E}">
        <p14:creationId xmlns:p14="http://schemas.microsoft.com/office/powerpoint/2010/main" val="22450563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2E9DA-8EC1-BDCC-225E-5AF0A5DDA749}"/>
              </a:ext>
            </a:extLst>
          </p:cNvPr>
          <p:cNvSpPr>
            <a:spLocks noGrp="1"/>
          </p:cNvSpPr>
          <p:nvPr>
            <p:ph type="title"/>
          </p:nvPr>
        </p:nvSpPr>
        <p:spPr/>
        <p:txBody>
          <a:bodyPr/>
          <a:lstStyle/>
          <a:p>
            <a:r>
              <a:rPr lang="en-US" dirty="0"/>
              <a:t>14.8 Standardized Residuals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827DCC9-48E9-39AA-09BA-FE2089FB98DA}"/>
                  </a:ext>
                </a:extLst>
              </p:cNvPr>
              <p:cNvSpPr>
                <a:spLocks noGrp="1"/>
              </p:cNvSpPr>
              <p:nvPr>
                <p:ph type="body" sz="quarter" idx="15"/>
              </p:nvPr>
            </p:nvSpPr>
            <p:spPr>
              <a:xfrm>
                <a:off x="743576" y="1347952"/>
                <a:ext cx="10711543" cy="4294565"/>
              </a:xfrm>
            </p:spPr>
            <p:txBody>
              <a:bodyPr/>
              <a:lstStyle/>
              <a:p>
                <a:pPr>
                  <a:spcBef>
                    <a:spcPts val="600"/>
                  </a:spcBef>
                </a:pPr>
                <a:r>
                  <a:rPr lang="en-US" sz="2000" dirty="0"/>
                  <a:t>Many of the residual plots provided by computer software packages use a standardized version of the residuals.</a:t>
                </a:r>
              </a:p>
              <a:p>
                <a:pPr>
                  <a:spcBef>
                    <a:spcPts val="600"/>
                  </a:spcBef>
                  <a:spcAft>
                    <a:spcPts val="600"/>
                  </a:spcAft>
                </a:pPr>
                <a:r>
                  <a:rPr lang="en-US" sz="2000" dirty="0"/>
                  <a:t>The </a:t>
                </a:r>
                <a:r>
                  <a:rPr lang="en-US" sz="2000" b="1" dirty="0"/>
                  <a:t>standardized residual</a:t>
                </a:r>
                <a:r>
                  <a:rPr lang="en-US" sz="2000" dirty="0"/>
                  <a:t> </a:t>
                </a:r>
                <a:r>
                  <a:rPr lang="en-US" sz="2000" b="1" dirty="0"/>
                  <a:t>for observation 𝑖 </a:t>
                </a:r>
                <a:r>
                  <a:rPr lang="en-US" sz="2000" dirty="0"/>
                  <a:t>is obtained by dividing residual 𝑖 by its standard deviation.</a:t>
                </a:r>
              </a:p>
              <a:p>
                <a:pPr marL="914400">
                  <a:spcBef>
                    <a:spcPts val="600"/>
                  </a:spcBef>
                  <a:spcAft>
                    <a:spcPts val="600"/>
                  </a:spcAft>
                </a:pPr>
                <a14:m>
                  <m:oMathPara xmlns:m="http://schemas.openxmlformats.org/officeDocument/2006/math">
                    <m:oMathParaPr>
                      <m:jc m:val="left"/>
                    </m:oMathParaPr>
                    <m:oMath xmlns:m="http://schemas.openxmlformats.org/officeDocument/2006/math">
                      <m:f>
                        <m:fPr>
                          <m:ctrlPr>
                            <a:rPr lang="en-US" sz="2000" b="1" i="1" smtClean="0">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1">
                                  <a:latin typeface="Cambria Math" panose="02040503050406030204" pitchFamily="18" charset="0"/>
                                </a:rPr>
                                <m:t>𝒚</m:t>
                              </m:r>
                            </m:e>
                            <m:sub>
                              <m:r>
                                <a:rPr lang="en-US" sz="2000" b="1" i="1">
                                  <a:latin typeface="Cambria Math" panose="02040503050406030204" pitchFamily="18" charset="0"/>
                                </a:rPr>
                                <m:t>𝒊</m:t>
                              </m:r>
                            </m:sub>
                          </m:sSub>
                          <m:r>
                            <a:rPr lang="en-US" sz="2000" b="1">
                              <a:latin typeface="Cambria Math" panose="02040503050406030204" pitchFamily="18" charset="0"/>
                            </a:rPr>
                            <m:t>−</m:t>
                          </m:r>
                          <m:sSub>
                            <m:sSubPr>
                              <m:ctrlPr>
                                <a:rPr lang="en-US" sz="2000" b="1" i="1">
                                  <a:latin typeface="Cambria Math" panose="02040503050406030204" pitchFamily="18" charset="0"/>
                                </a:rPr>
                              </m:ctrlPr>
                            </m:sSubPr>
                            <m:e>
                              <m:acc>
                                <m:accPr>
                                  <m:chr m:val="̂"/>
                                  <m:ctrlPr>
                                    <a:rPr lang="en-US" sz="2000" b="1" i="1">
                                      <a:latin typeface="Cambria Math" panose="02040503050406030204" pitchFamily="18" charset="0"/>
                                    </a:rPr>
                                  </m:ctrlPr>
                                </m:accPr>
                                <m:e>
                                  <m:r>
                                    <a:rPr lang="en-US" sz="2000" b="1" i="1">
                                      <a:latin typeface="Cambria Math" panose="02040503050406030204" pitchFamily="18" charset="0"/>
                                    </a:rPr>
                                    <m:t>𝒚</m:t>
                                  </m:r>
                                </m:e>
                              </m:acc>
                            </m:e>
                            <m:sub>
                              <m:r>
                                <a:rPr lang="en-US" sz="2000" b="1" i="1">
                                  <a:latin typeface="Cambria Math" panose="02040503050406030204" pitchFamily="18" charset="0"/>
                                </a:rPr>
                                <m:t>𝒊</m:t>
                              </m:r>
                            </m:sub>
                          </m:sSub>
                        </m:num>
                        <m:den>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𝒔</m:t>
                              </m:r>
                            </m:e>
                            <m:sub>
                              <m:sSub>
                                <m:sSubPr>
                                  <m:ctrlPr>
                                    <a:rPr lang="en-US" sz="2000" b="1" i="1">
                                      <a:latin typeface="Cambria Math" panose="02040503050406030204" pitchFamily="18" charset="0"/>
                                    </a:rPr>
                                  </m:ctrlPr>
                                </m:sSubPr>
                                <m:e>
                                  <m:r>
                                    <a:rPr lang="en-US" sz="2000" b="1" i="1">
                                      <a:latin typeface="Cambria Math" panose="02040503050406030204" pitchFamily="18" charset="0"/>
                                    </a:rPr>
                                    <m:t>𝒚</m:t>
                                  </m:r>
                                </m:e>
                                <m:sub>
                                  <m:r>
                                    <a:rPr lang="en-US" sz="2000" b="1" i="1">
                                      <a:latin typeface="Cambria Math" panose="02040503050406030204" pitchFamily="18" charset="0"/>
                                    </a:rPr>
                                    <m:t>𝒊</m:t>
                                  </m:r>
                                </m:sub>
                              </m:sSub>
                              <m:r>
                                <a:rPr lang="en-US" sz="2000" b="1">
                                  <a:latin typeface="Cambria Math" panose="02040503050406030204" pitchFamily="18" charset="0"/>
                                </a:rPr>
                                <m:t>−</m:t>
                              </m:r>
                              <m:sSub>
                                <m:sSubPr>
                                  <m:ctrlPr>
                                    <a:rPr lang="en-US" sz="2000" b="1" i="1">
                                      <a:latin typeface="Cambria Math" panose="02040503050406030204" pitchFamily="18" charset="0"/>
                                    </a:rPr>
                                  </m:ctrlPr>
                                </m:sSubPr>
                                <m:e>
                                  <m:acc>
                                    <m:accPr>
                                      <m:chr m:val="̂"/>
                                      <m:ctrlPr>
                                        <a:rPr lang="en-US" sz="2000" b="1" i="1">
                                          <a:latin typeface="Cambria Math" panose="02040503050406030204" pitchFamily="18" charset="0"/>
                                        </a:rPr>
                                      </m:ctrlPr>
                                    </m:accPr>
                                    <m:e>
                                      <m:r>
                                        <a:rPr lang="en-US" sz="2000" b="1" i="1">
                                          <a:latin typeface="Cambria Math" panose="02040503050406030204" pitchFamily="18" charset="0"/>
                                        </a:rPr>
                                        <m:t>𝒚</m:t>
                                      </m:r>
                                    </m:e>
                                  </m:acc>
                                </m:e>
                                <m:sub>
                                  <m:r>
                                    <a:rPr lang="en-US" sz="2000" b="1" i="1">
                                      <a:latin typeface="Cambria Math" panose="02040503050406030204" pitchFamily="18" charset="0"/>
                                    </a:rPr>
                                    <m:t>𝒊</m:t>
                                  </m:r>
                                </m:sub>
                              </m:sSub>
                            </m:sub>
                          </m:sSub>
                        </m:den>
                      </m:f>
                    </m:oMath>
                  </m:oMathPara>
                </a14:m>
                <a:endParaRPr lang="en-US" sz="2000" b="1" dirty="0"/>
              </a:p>
              <a:p>
                <a:pPr>
                  <a:spcBef>
                    <a:spcPts val="600"/>
                  </a:spcBef>
                  <a:spcAft>
                    <a:spcPts val="600"/>
                  </a:spcAft>
                </a:pPr>
                <a:r>
                  <a:rPr lang="en-US" sz="2000" dirty="0"/>
                  <a:t>Where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𝑠</m:t>
                        </m:r>
                      </m:e>
                      <m:sub>
                        <m:sSub>
                          <m:sSubPr>
                            <m:ctrlPr>
                              <a:rPr lang="en-US" sz="2000" i="1">
                                <a:latin typeface="Cambria Math" panose="02040503050406030204" pitchFamily="18" charset="0"/>
                              </a:rPr>
                            </m:ctrlPr>
                          </m:sSubPr>
                          <m:e>
                            <m:r>
                              <a:rPr lang="en-US" sz="2000" b="0" i="1">
                                <a:latin typeface="Cambria Math" panose="02040503050406030204" pitchFamily="18" charset="0"/>
                              </a:rPr>
                              <m:t>𝑦</m:t>
                            </m:r>
                          </m:e>
                          <m:sub>
                            <m:r>
                              <a:rPr lang="en-US" sz="2000" b="0" i="1">
                                <a:latin typeface="Cambria Math" panose="02040503050406030204" pitchFamily="18" charset="0"/>
                              </a:rPr>
                              <m:t>𝑖</m:t>
                            </m:r>
                          </m:sub>
                        </m:sSub>
                        <m:r>
                          <a:rPr lang="en-US" sz="2000" b="0">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b="0" i="1">
                                    <a:latin typeface="Cambria Math" panose="02040503050406030204" pitchFamily="18" charset="0"/>
                                  </a:rPr>
                                  <m:t>𝑦</m:t>
                                </m:r>
                              </m:e>
                            </m:acc>
                          </m:e>
                          <m:sub>
                            <m:r>
                              <a:rPr lang="en-US" sz="2000" b="0" i="1">
                                <a:latin typeface="Cambria Math" panose="02040503050406030204" pitchFamily="18" charset="0"/>
                              </a:rPr>
                              <m:t>𝑖</m:t>
                            </m:r>
                          </m:sub>
                        </m:sSub>
                      </m:sub>
                    </m:sSub>
                  </m:oMath>
                </a14:m>
                <a:r>
                  <a:rPr lang="en-US" sz="2000" dirty="0"/>
                  <a:t> is the </a:t>
                </a:r>
                <a:r>
                  <a:rPr lang="en-US" sz="2000" b="1" dirty="0"/>
                  <a:t>standard deviation of residual 𝑖</a:t>
                </a:r>
                <a:r>
                  <a:rPr lang="en-US" sz="2000" dirty="0"/>
                  <a:t>.</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𝒔</m:t>
                          </m:r>
                        </m:e>
                        <m:sub>
                          <m:sSub>
                            <m:sSubPr>
                              <m:ctrlPr>
                                <a:rPr lang="en-US" sz="2000" b="1" i="1">
                                  <a:latin typeface="Cambria Math" panose="02040503050406030204" pitchFamily="18" charset="0"/>
                                </a:rPr>
                              </m:ctrlPr>
                            </m:sSubPr>
                            <m:e>
                              <m:r>
                                <a:rPr lang="en-US" sz="2000" b="1" i="1">
                                  <a:latin typeface="Cambria Math" panose="02040503050406030204" pitchFamily="18" charset="0"/>
                                </a:rPr>
                                <m:t>𝒚</m:t>
                              </m:r>
                            </m:e>
                            <m:sub>
                              <m:r>
                                <a:rPr lang="en-US" sz="2000" b="1" i="1">
                                  <a:latin typeface="Cambria Math" panose="02040503050406030204" pitchFamily="18" charset="0"/>
                                </a:rPr>
                                <m:t>𝒊</m:t>
                              </m:r>
                            </m:sub>
                          </m:sSub>
                          <m:r>
                            <a:rPr lang="en-US" sz="2000" b="1">
                              <a:latin typeface="Cambria Math" panose="02040503050406030204" pitchFamily="18" charset="0"/>
                            </a:rPr>
                            <m:t>−</m:t>
                          </m:r>
                          <m:sSub>
                            <m:sSubPr>
                              <m:ctrlPr>
                                <a:rPr lang="en-US" sz="2000" b="1" i="1">
                                  <a:latin typeface="Cambria Math" panose="02040503050406030204" pitchFamily="18" charset="0"/>
                                </a:rPr>
                              </m:ctrlPr>
                            </m:sSubPr>
                            <m:e>
                              <m:acc>
                                <m:accPr>
                                  <m:chr m:val="̂"/>
                                  <m:ctrlPr>
                                    <a:rPr lang="en-US" sz="2000" b="1" i="1">
                                      <a:latin typeface="Cambria Math" panose="02040503050406030204" pitchFamily="18" charset="0"/>
                                    </a:rPr>
                                  </m:ctrlPr>
                                </m:accPr>
                                <m:e>
                                  <m:r>
                                    <a:rPr lang="en-US" sz="2000" b="1" i="1">
                                      <a:latin typeface="Cambria Math" panose="02040503050406030204" pitchFamily="18" charset="0"/>
                                    </a:rPr>
                                    <m:t>𝒚</m:t>
                                  </m:r>
                                </m:e>
                              </m:acc>
                            </m:e>
                            <m:sub>
                              <m:r>
                                <a:rPr lang="en-US" sz="2000" b="1" i="1">
                                  <a:latin typeface="Cambria Math" panose="02040503050406030204" pitchFamily="18" charset="0"/>
                                </a:rPr>
                                <m:t>𝒊</m:t>
                              </m:r>
                            </m:sub>
                          </m:sSub>
                        </m:sub>
                      </m:sSub>
                      <m:r>
                        <a:rPr lang="en-US" sz="2000" b="1" i="1" smtClean="0">
                          <a:latin typeface="Cambria Math" panose="02040503050406030204" pitchFamily="18" charset="0"/>
                        </a:rPr>
                        <m:t>=</m:t>
                      </m:r>
                      <m:r>
                        <a:rPr lang="en-US" sz="2000" b="1" i="1" smtClean="0">
                          <a:latin typeface="Cambria Math" panose="02040503050406030204" pitchFamily="18" charset="0"/>
                        </a:rPr>
                        <m:t>𝒔</m:t>
                      </m:r>
                      <m:rad>
                        <m:radPr>
                          <m:degHide m:val="on"/>
                          <m:ctrlPr>
                            <a:rPr lang="en-US" sz="2000" b="1" i="1" smtClean="0">
                              <a:latin typeface="Cambria Math" panose="02040503050406030204" pitchFamily="18" charset="0"/>
                            </a:rPr>
                          </m:ctrlPr>
                        </m:radPr>
                        <m:deg/>
                        <m:e>
                          <m:r>
                            <a:rPr lang="en-US" sz="2000" b="1" i="1" smtClean="0">
                              <a:latin typeface="Cambria Math" panose="02040503050406030204" pitchFamily="18" charset="0"/>
                            </a:rPr>
                            <m:t>𝟏</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𝒉</m:t>
                              </m:r>
                            </m:e>
                            <m:sub>
                              <m:r>
                                <a:rPr lang="en-US" sz="2000" b="1" i="1" smtClean="0">
                                  <a:latin typeface="Cambria Math" panose="02040503050406030204" pitchFamily="18" charset="0"/>
                                </a:rPr>
                                <m:t>𝒊</m:t>
                              </m:r>
                            </m:sub>
                          </m:sSub>
                        </m:e>
                      </m:rad>
                    </m:oMath>
                  </m:oMathPara>
                </a14:m>
                <a:endParaRPr lang="en-US" sz="2000" b="1" dirty="0"/>
              </a:p>
              <a:p>
                <a:pPr>
                  <a:spcBef>
                    <a:spcPts val="600"/>
                  </a:spcBef>
                  <a:spcAft>
                    <a:spcPts val="600"/>
                  </a:spcAft>
                </a:pPr>
                <a:r>
                  <a:rPr lang="en-US" sz="2000" dirty="0"/>
                  <a:t>Where </a:t>
                </a:r>
                <a14:m>
                  <m:oMath xmlns:m="http://schemas.openxmlformats.org/officeDocument/2006/math">
                    <m:r>
                      <a:rPr lang="en-US" sz="2000" b="1" i="1" dirty="0" smtClean="0">
                        <a:solidFill>
                          <a:srgbClr val="FF0000"/>
                        </a:solidFill>
                        <a:latin typeface="Cambria Math" panose="02040503050406030204" pitchFamily="18" charset="0"/>
                      </a:rPr>
                      <m:t>𝒔</m:t>
                    </m:r>
                  </m:oMath>
                </a14:m>
                <a:r>
                  <a:rPr lang="en-US" sz="2000" dirty="0"/>
                  <a:t> is the standard error of the estimate, and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h</m:t>
                        </m:r>
                      </m:e>
                      <m:sub>
                        <m:r>
                          <a:rPr lang="en-US" sz="2000" b="0" i="1" smtClean="0">
                            <a:latin typeface="Cambria Math" panose="02040503050406030204" pitchFamily="18" charset="0"/>
                          </a:rPr>
                          <m:t>𝑖</m:t>
                        </m:r>
                      </m:sub>
                    </m:sSub>
                  </m:oMath>
                </a14:m>
                <a:r>
                  <a:rPr lang="en-US" sz="2000" dirty="0"/>
                  <a:t> is the </a:t>
                </a:r>
                <a:r>
                  <a:rPr lang="en-US" sz="2000" b="1" dirty="0"/>
                  <a:t>leverage</a:t>
                </a:r>
                <a:r>
                  <a:rPr lang="en-US" sz="2000" dirty="0"/>
                  <a:t> </a:t>
                </a:r>
                <a:r>
                  <a:rPr lang="en-US" sz="2000" b="1" dirty="0"/>
                  <a:t>of residual 𝑖 </a:t>
                </a:r>
                <a:r>
                  <a:rPr lang="en-US" sz="2000" dirty="0"/>
                  <a:t>(*see notes.)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𝒉</m:t>
                          </m:r>
                        </m:e>
                        <m:sub>
                          <m:r>
                            <a:rPr lang="en-US" sz="2000" b="1" i="1">
                              <a:latin typeface="Cambria Math" panose="02040503050406030204" pitchFamily="18" charset="0"/>
                            </a:rPr>
                            <m:t>𝒊</m:t>
                          </m:r>
                        </m:sub>
                      </m:sSub>
                      <m:r>
                        <a:rPr lang="en-US" sz="2000" b="1" i="1" smtClean="0">
                          <a:latin typeface="Cambria Math" panose="02040503050406030204" pitchFamily="18" charset="0"/>
                        </a:rPr>
                        <m:t>=</m:t>
                      </m:r>
                      <m:f>
                        <m:fPr>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𝟏</m:t>
                          </m:r>
                        </m:num>
                        <m:den>
                          <m:r>
                            <a:rPr lang="en-US" sz="2000" b="1" i="1" smtClean="0">
                              <a:latin typeface="Cambria Math" panose="02040503050406030204" pitchFamily="18" charset="0"/>
                              <a:ea typeface="Cambria Math" panose="02040503050406030204" pitchFamily="18" charset="0"/>
                            </a:rPr>
                            <m:t>𝒏</m:t>
                          </m:r>
                        </m:den>
                      </m:f>
                      <m:r>
                        <a:rPr lang="en-US" sz="2000" b="1" i="1" smtClean="0">
                          <a:latin typeface="Cambria Math" panose="02040503050406030204" pitchFamily="18" charset="0"/>
                          <a:ea typeface="Cambria Math" panose="02040503050406030204" pitchFamily="18" charset="0"/>
                        </a:rPr>
                        <m:t>+</m:t>
                      </m:r>
                      <m:f>
                        <m:fPr>
                          <m:ctrlPr>
                            <a:rPr lang="en-US" sz="2000" b="1" i="1" smtClean="0">
                              <a:latin typeface="Cambria Math" panose="02040503050406030204" pitchFamily="18" charset="0"/>
                              <a:ea typeface="Cambria Math" panose="02040503050406030204" pitchFamily="18" charset="0"/>
                            </a:rPr>
                          </m:ctrlPr>
                        </m:fPr>
                        <m:num>
                          <m:sSup>
                            <m:sSupPr>
                              <m:ctrlPr>
                                <a:rPr lang="en-US" sz="2000" b="1" i="1" smtClean="0">
                                  <a:latin typeface="Cambria Math" panose="02040503050406030204" pitchFamily="18" charset="0"/>
                                  <a:ea typeface="Cambria Math" panose="02040503050406030204" pitchFamily="18" charset="0"/>
                                </a:rPr>
                              </m:ctrlPr>
                            </m:sSupPr>
                            <m:e>
                              <m:d>
                                <m:dPr>
                                  <m:ctrlPr>
                                    <a:rPr lang="en-US" sz="2000" b="1" i="1" smtClean="0">
                                      <a:latin typeface="Cambria Math" panose="02040503050406030204" pitchFamily="18" charset="0"/>
                                      <a:ea typeface="Cambria Math" panose="02040503050406030204" pitchFamily="18" charset="0"/>
                                    </a:rPr>
                                  </m:ctrlPr>
                                </m:dPr>
                                <m:e>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𝒙</m:t>
                                      </m:r>
                                    </m:e>
                                    <m:sub>
                                      <m:r>
                                        <a:rPr lang="en-US" sz="2000" b="1" i="1">
                                          <a:latin typeface="Cambria Math" panose="02040503050406030204" pitchFamily="18" charset="0"/>
                                          <a:ea typeface="Cambria Math" panose="02040503050406030204" pitchFamily="18" charset="0"/>
                                        </a:rPr>
                                        <m:t>𝒊</m:t>
                                      </m:r>
                                    </m:sub>
                                  </m:sSub>
                                  <m:r>
                                    <a:rPr lang="en-US" sz="2000" b="1" i="1" smtClean="0">
                                      <a:latin typeface="Cambria Math" panose="02040503050406030204" pitchFamily="18" charset="0"/>
                                      <a:ea typeface="Cambria Math" panose="02040503050406030204" pitchFamily="18" charset="0"/>
                                    </a:rPr>
                                    <m:t>−</m:t>
                                  </m:r>
                                  <m:acc>
                                    <m:accPr>
                                      <m:chr m:val="̅"/>
                                      <m:ctrlPr>
                                        <a:rPr lang="en-US" sz="2000" b="1" i="1" smtClean="0">
                                          <a:latin typeface="Cambria Math" panose="02040503050406030204" pitchFamily="18" charset="0"/>
                                          <a:ea typeface="Cambria Math" panose="02040503050406030204" pitchFamily="18" charset="0"/>
                                        </a:rPr>
                                      </m:ctrlPr>
                                    </m:accPr>
                                    <m:e>
                                      <m:r>
                                        <a:rPr lang="en-US" sz="2000" b="1" i="1" smtClean="0">
                                          <a:latin typeface="Cambria Math" panose="02040503050406030204" pitchFamily="18" charset="0"/>
                                          <a:ea typeface="Cambria Math" panose="02040503050406030204" pitchFamily="18" charset="0"/>
                                        </a:rPr>
                                        <m:t>𝒙</m:t>
                                      </m:r>
                                    </m:e>
                                  </m:acc>
                                </m:e>
                              </m:d>
                            </m:e>
                            <m:sup>
                              <m:r>
                                <a:rPr lang="en-US" sz="2000" b="1" i="1" smtClean="0">
                                  <a:latin typeface="Cambria Math" panose="02040503050406030204" pitchFamily="18" charset="0"/>
                                  <a:ea typeface="Cambria Math" panose="02040503050406030204" pitchFamily="18" charset="0"/>
                                </a:rPr>
                                <m:t>𝟐</m:t>
                              </m:r>
                            </m:sup>
                          </m:sSup>
                        </m:num>
                        <m:den>
                          <m:nary>
                            <m:naryPr>
                              <m:chr m:val="∑"/>
                              <m:subHide m:val="on"/>
                              <m:supHide m:val="on"/>
                              <m:ctrlPr>
                                <a:rPr lang="en-US" sz="2000" b="1" i="1" smtClean="0">
                                  <a:latin typeface="Cambria Math" panose="02040503050406030204" pitchFamily="18" charset="0"/>
                                  <a:ea typeface="Cambria Math" panose="02040503050406030204" pitchFamily="18" charset="0"/>
                                </a:rPr>
                              </m:ctrlPr>
                            </m:naryPr>
                            <m:sub/>
                            <m:sup/>
                            <m:e>
                              <m:sSup>
                                <m:sSupPr>
                                  <m:ctrlPr>
                                    <a:rPr lang="en-US" sz="2000" b="1" i="1" smtClean="0">
                                      <a:latin typeface="Cambria Math" panose="02040503050406030204" pitchFamily="18" charset="0"/>
                                      <a:ea typeface="Cambria Math" panose="02040503050406030204" pitchFamily="18" charset="0"/>
                                    </a:rPr>
                                  </m:ctrlPr>
                                </m:sSupPr>
                                <m:e>
                                  <m:d>
                                    <m:dPr>
                                      <m:ctrlPr>
                                        <a:rPr lang="en-US" sz="2000" b="1" i="1" smtClean="0">
                                          <a:latin typeface="Cambria Math" panose="02040503050406030204" pitchFamily="18" charset="0"/>
                                          <a:ea typeface="Cambria Math" panose="02040503050406030204" pitchFamily="18" charset="0"/>
                                        </a:rPr>
                                      </m:ctrlPr>
                                    </m:dPr>
                                    <m:e>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𝒙</m:t>
                                          </m:r>
                                        </m:e>
                                        <m:sub>
                                          <m:r>
                                            <a:rPr lang="en-US" sz="2000" b="1" i="1" smtClean="0">
                                              <a:latin typeface="Cambria Math" panose="02040503050406030204" pitchFamily="18" charset="0"/>
                                              <a:ea typeface="Cambria Math" panose="02040503050406030204" pitchFamily="18" charset="0"/>
                                            </a:rPr>
                                            <m:t>𝒊</m:t>
                                          </m:r>
                                        </m:sub>
                                      </m:sSub>
                                      <m:r>
                                        <a:rPr lang="en-US" sz="2000" b="1" i="1" smtClean="0">
                                          <a:latin typeface="Cambria Math" panose="02040503050406030204" pitchFamily="18" charset="0"/>
                                          <a:ea typeface="Cambria Math" panose="02040503050406030204" pitchFamily="18" charset="0"/>
                                        </a:rPr>
                                        <m:t>−</m:t>
                                      </m:r>
                                      <m:acc>
                                        <m:accPr>
                                          <m:chr m:val="̅"/>
                                          <m:ctrlPr>
                                            <a:rPr lang="en-US" sz="2000" b="1" i="1">
                                              <a:latin typeface="Cambria Math" panose="02040503050406030204" pitchFamily="18" charset="0"/>
                                              <a:ea typeface="Cambria Math" panose="02040503050406030204" pitchFamily="18" charset="0"/>
                                            </a:rPr>
                                          </m:ctrlPr>
                                        </m:accPr>
                                        <m:e>
                                          <m:r>
                                            <a:rPr lang="en-US" sz="2000" b="1" i="1">
                                              <a:latin typeface="Cambria Math" panose="02040503050406030204" pitchFamily="18" charset="0"/>
                                              <a:ea typeface="Cambria Math" panose="02040503050406030204" pitchFamily="18" charset="0"/>
                                            </a:rPr>
                                            <m:t>𝒙</m:t>
                                          </m:r>
                                        </m:e>
                                      </m:acc>
                                    </m:e>
                                  </m:d>
                                </m:e>
                                <m:sup>
                                  <m:r>
                                    <a:rPr lang="en-US" sz="2000" b="1" i="1" smtClean="0">
                                      <a:latin typeface="Cambria Math" panose="02040503050406030204" pitchFamily="18" charset="0"/>
                                      <a:ea typeface="Cambria Math" panose="02040503050406030204" pitchFamily="18" charset="0"/>
                                    </a:rPr>
                                    <m:t>𝟐</m:t>
                                  </m:r>
                                </m:sup>
                              </m:sSup>
                            </m:e>
                          </m:nary>
                        </m:den>
                      </m:f>
                    </m:oMath>
                  </m:oMathPara>
                </a14:m>
                <a:endParaRPr lang="en-US" sz="2000" b="1" dirty="0"/>
              </a:p>
            </p:txBody>
          </p:sp>
        </mc:Choice>
        <mc:Fallback xmlns="">
          <p:sp>
            <p:nvSpPr>
              <p:cNvPr id="3" name="Text Placeholder 2">
                <a:extLst>
                  <a:ext uri="{FF2B5EF4-FFF2-40B4-BE49-F238E27FC236}">
                    <a16:creationId xmlns:a16="http://schemas.microsoft.com/office/drawing/2014/main" id="{1827DCC9-48E9-39AA-09BA-FE2089FB98DA}"/>
                  </a:ext>
                </a:extLst>
              </p:cNvPr>
              <p:cNvSpPr>
                <a:spLocks noGrp="1" noRot="1" noChangeAspect="1" noMove="1" noResize="1" noEditPoints="1" noAdjustHandles="1" noChangeArrowheads="1" noChangeShapeType="1" noTextEdit="1"/>
              </p:cNvSpPr>
              <p:nvPr>
                <p:ph type="body" sz="quarter" idx="15"/>
              </p:nvPr>
            </p:nvSpPr>
            <p:spPr>
              <a:xfrm>
                <a:off x="743576" y="1347952"/>
                <a:ext cx="10711543" cy="4294565"/>
              </a:xfrm>
              <a:blipFill>
                <a:blip r:embed="rId4"/>
                <a:stretch>
                  <a:fillRect l="-1480" t="-1702" r="-1878"/>
                </a:stretch>
              </a:blipFill>
            </p:spPr>
            <p:txBody>
              <a:bodyPr/>
              <a:lstStyle/>
              <a:p>
                <a:r>
                  <a:rPr lang="en-US">
                    <a:noFill/>
                  </a:rPr>
                  <a:t> </a:t>
                </a:r>
              </a:p>
            </p:txBody>
          </p:sp>
        </mc:Fallback>
      </mc:AlternateContent>
    </p:spTree>
    <p:extLst>
      <p:ext uri="{BB962C8B-B14F-4D97-AF65-F5344CB8AC3E}">
        <p14:creationId xmlns:p14="http://schemas.microsoft.com/office/powerpoint/2010/main" val="23818758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C7FEF-3520-B3E7-6FDC-7A0A1182B53A}"/>
              </a:ext>
            </a:extLst>
          </p:cNvPr>
          <p:cNvSpPr>
            <a:spLocks noGrp="1"/>
          </p:cNvSpPr>
          <p:nvPr>
            <p:ph type="title"/>
          </p:nvPr>
        </p:nvSpPr>
        <p:spPr>
          <a:xfrm>
            <a:off x="615043" y="346529"/>
            <a:ext cx="10961914" cy="672105"/>
          </a:xfrm>
        </p:spPr>
        <p:txBody>
          <a:bodyPr/>
          <a:lstStyle/>
          <a:p>
            <a:r>
              <a:rPr lang="en-US" sz="3200" dirty="0"/>
              <a:t>14.8 Standardized Residuals for Armand’s Pizza Parlors</a:t>
            </a:r>
            <a:endParaRPr lang="en-US" sz="3200"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A5C53F2-96E4-1059-01BE-1A91F855CE5E}"/>
                  </a:ext>
                </a:extLst>
              </p:cNvPr>
              <p:cNvSpPr>
                <a:spLocks noGrp="1"/>
              </p:cNvSpPr>
              <p:nvPr>
                <p:ph type="body" sz="quarter" idx="15"/>
              </p:nvPr>
            </p:nvSpPr>
            <p:spPr>
              <a:xfrm>
                <a:off x="743576" y="1161265"/>
                <a:ext cx="10610223" cy="1244136"/>
              </a:xfrm>
            </p:spPr>
            <p:txBody>
              <a:bodyPr/>
              <a:lstStyle/>
              <a:p>
                <a:r>
                  <a:rPr lang="en-US" sz="2000" dirty="0"/>
                  <a:t>The table below shows the calculation of the standardized residuals for the Armand’s Pizza Parlors example. Recall that previous calculations showed </a:t>
                </a:r>
                <a14:m>
                  <m:oMath xmlns:m="http://schemas.openxmlformats.org/officeDocument/2006/math">
                    <m:r>
                      <a:rPr lang="en-US" sz="2000" i="1" dirty="0" smtClean="0">
                        <a:latin typeface="Cambria Math" panose="02040503050406030204" pitchFamily="18" charset="0"/>
                      </a:rPr>
                      <m:t>𝑠</m:t>
                    </m:r>
                    <m:r>
                      <a:rPr lang="en-US" sz="2000" i="1" dirty="0" smtClean="0">
                        <a:latin typeface="Cambria Math" panose="02040503050406030204" pitchFamily="18" charset="0"/>
                      </a:rPr>
                      <m:t>=13.829</m:t>
                    </m:r>
                  </m:oMath>
                </a14:m>
                <a:r>
                  <a:rPr lang="en-US" sz="2000" dirty="0"/>
                  <a:t>.</a:t>
                </a:r>
              </a:p>
              <a:p>
                <a:r>
                  <a:rPr lang="en-US" sz="2000" dirty="0"/>
                  <a:t>Due to their computational complexity, statistical packages provide estimated values of </a:t>
                </a:r>
                <a14:m>
                  <m:oMath xmlns:m="http://schemas.openxmlformats.org/officeDocument/2006/math">
                    <m:acc>
                      <m:accPr>
                        <m:chr m:val="̂"/>
                        <m:ctrlPr>
                          <a:rPr lang="en-US" sz="2000" i="1" dirty="0" smtClean="0">
                            <a:latin typeface="Cambria Math" panose="02040503050406030204" pitchFamily="18" charset="0"/>
                          </a:rPr>
                        </m:ctrlPr>
                      </m:accPr>
                      <m:e>
                        <m:r>
                          <a:rPr lang="en-US" sz="2000" b="0" i="1" dirty="0" smtClean="0">
                            <a:latin typeface="Cambria Math" panose="02040503050406030204" pitchFamily="18" charset="0"/>
                          </a:rPr>
                          <m:t>𝑦</m:t>
                        </m:r>
                      </m:e>
                    </m:acc>
                  </m:oMath>
                </a14:m>
                <a:r>
                  <a:rPr lang="en-US" sz="2000" dirty="0"/>
                  <a:t>, the residuals, and the standardized residuals as an optional regression output.</a:t>
                </a:r>
              </a:p>
            </p:txBody>
          </p:sp>
        </mc:Choice>
        <mc:Fallback xmlns="">
          <p:sp>
            <p:nvSpPr>
              <p:cNvPr id="3" name="Text Placeholder 2">
                <a:extLst>
                  <a:ext uri="{FF2B5EF4-FFF2-40B4-BE49-F238E27FC236}">
                    <a16:creationId xmlns:a16="http://schemas.microsoft.com/office/drawing/2014/main" id="{8A5C53F2-96E4-1059-01BE-1A91F855CE5E}"/>
                  </a:ext>
                </a:extLst>
              </p:cNvPr>
              <p:cNvSpPr>
                <a:spLocks noGrp="1" noRot="1" noChangeAspect="1" noMove="1" noResize="1" noEditPoints="1" noAdjustHandles="1" noChangeArrowheads="1" noChangeShapeType="1" noTextEdit="1"/>
              </p:cNvSpPr>
              <p:nvPr>
                <p:ph type="body" sz="quarter" idx="15"/>
              </p:nvPr>
            </p:nvSpPr>
            <p:spPr>
              <a:xfrm>
                <a:off x="743576" y="1161265"/>
                <a:ext cx="10610223" cy="1244136"/>
              </a:xfrm>
              <a:blipFill>
                <a:blip r:embed="rId3"/>
                <a:stretch>
                  <a:fillRect l="-1494" t="-8293" r="-345" b="-107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Placeholder 6">
                <a:extLst>
                  <a:ext uri="{FF2B5EF4-FFF2-40B4-BE49-F238E27FC236}">
                    <a16:creationId xmlns:a16="http://schemas.microsoft.com/office/drawing/2014/main" id="{FC2A30D4-ECB0-EBC1-DE0E-48B2E7A21697}"/>
                  </a:ext>
                </a:extLst>
              </p:cNvPr>
              <p:cNvGraphicFramePr>
                <a:graphicFrameLocks noGrp="1"/>
              </p:cNvGraphicFramePr>
              <p:nvPr>
                <p:ph type="tbl" sz="quarter" idx="16"/>
                <p:extLst>
                  <p:ext uri="{D42A27DB-BD31-4B8C-83A1-F6EECF244321}">
                    <p14:modId xmlns:p14="http://schemas.microsoft.com/office/powerpoint/2010/main" val="2887360293"/>
                  </p:ext>
                </p:extLst>
              </p:nvPr>
            </p:nvGraphicFramePr>
            <p:xfrm>
              <a:off x="863299" y="2480597"/>
              <a:ext cx="10370775" cy="3322320"/>
            </p:xfrm>
            <a:graphic>
              <a:graphicData uri="http://schemas.openxmlformats.org/drawingml/2006/table">
                <a:tbl>
                  <a:tblPr firstRow="1">
                    <a:tableStyleId>{5C22544A-7EE6-4342-B048-85BDC9FD1C3A}</a:tableStyleId>
                  </a:tblPr>
                  <a:tblGrid>
                    <a:gridCol w="1178043">
                      <a:extLst>
                        <a:ext uri="{9D8B030D-6E8A-4147-A177-3AD203B41FA5}">
                          <a16:colId xmlns:a16="http://schemas.microsoft.com/office/drawing/2014/main" val="3633209588"/>
                        </a:ext>
                      </a:extLst>
                    </a:gridCol>
                    <a:gridCol w="1005840">
                      <a:extLst>
                        <a:ext uri="{9D8B030D-6E8A-4147-A177-3AD203B41FA5}">
                          <a16:colId xmlns:a16="http://schemas.microsoft.com/office/drawing/2014/main" val="4000194129"/>
                        </a:ext>
                      </a:extLst>
                    </a:gridCol>
                    <a:gridCol w="1005840">
                      <a:extLst>
                        <a:ext uri="{9D8B030D-6E8A-4147-A177-3AD203B41FA5}">
                          <a16:colId xmlns:a16="http://schemas.microsoft.com/office/drawing/2014/main" val="2033911812"/>
                        </a:ext>
                      </a:extLst>
                    </a:gridCol>
                    <a:gridCol w="1178043">
                      <a:extLst>
                        <a:ext uri="{9D8B030D-6E8A-4147-A177-3AD203B41FA5}">
                          <a16:colId xmlns:a16="http://schemas.microsoft.com/office/drawing/2014/main" val="3943334574"/>
                        </a:ext>
                      </a:extLst>
                    </a:gridCol>
                    <a:gridCol w="1178043">
                      <a:extLst>
                        <a:ext uri="{9D8B030D-6E8A-4147-A177-3AD203B41FA5}">
                          <a16:colId xmlns:a16="http://schemas.microsoft.com/office/drawing/2014/main" val="3378480086"/>
                        </a:ext>
                      </a:extLst>
                    </a:gridCol>
                    <a:gridCol w="1178043">
                      <a:extLst>
                        <a:ext uri="{9D8B030D-6E8A-4147-A177-3AD203B41FA5}">
                          <a16:colId xmlns:a16="http://schemas.microsoft.com/office/drawing/2014/main" val="2091033382"/>
                        </a:ext>
                      </a:extLst>
                    </a:gridCol>
                    <a:gridCol w="1178043">
                      <a:extLst>
                        <a:ext uri="{9D8B030D-6E8A-4147-A177-3AD203B41FA5}">
                          <a16:colId xmlns:a16="http://schemas.microsoft.com/office/drawing/2014/main" val="2223147588"/>
                        </a:ext>
                      </a:extLst>
                    </a:gridCol>
                    <a:gridCol w="1097280">
                      <a:extLst>
                        <a:ext uri="{9D8B030D-6E8A-4147-A177-3AD203B41FA5}">
                          <a16:colId xmlns:a16="http://schemas.microsoft.com/office/drawing/2014/main" val="4004824655"/>
                        </a:ext>
                      </a:extLst>
                    </a:gridCol>
                    <a:gridCol w="1371600">
                      <a:extLst>
                        <a:ext uri="{9D8B030D-6E8A-4147-A177-3AD203B41FA5}">
                          <a16:colId xmlns:a16="http://schemas.microsoft.com/office/drawing/2014/main" val="2583344628"/>
                        </a:ext>
                      </a:extLst>
                    </a:gridCol>
                  </a:tblGrid>
                  <a:tr h="640080">
                    <a:tc>
                      <a:txBody>
                        <a:bodyPr/>
                        <a:lstStyle/>
                        <a:p>
                          <a:pPr algn="ctr" fontAlgn="b"/>
                          <a:r>
                            <a:rPr lang="en-US" sz="1600" b="1" u="none" strike="noStrike" dirty="0">
                              <a:solidFill>
                                <a:srgbClr val="000000"/>
                              </a:solidFill>
                              <a:effectLst/>
                              <a:latin typeface="Cambria Math" panose="02040503050406030204" pitchFamily="18" charset="0"/>
                              <a:ea typeface="Cambria Math" panose="02040503050406030204" pitchFamily="18" charset="0"/>
                            </a:rPr>
                            <a:t>Restaurant </a:t>
                          </a:r>
                          <a:r>
                            <a:rPr lang="en-US" sz="1600" b="1" i="1" u="none" strike="noStrike" dirty="0">
                              <a:solidFill>
                                <a:srgbClr val="000000"/>
                              </a:solidFill>
                              <a:effectLst/>
                              <a:latin typeface="Cambria Math" panose="02040503050406030204" pitchFamily="18" charset="0"/>
                              <a:ea typeface="Cambria Math" panose="02040503050406030204" pitchFamily="18" charset="0"/>
                            </a:rPr>
                            <a:t>i</a:t>
                          </a: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𝒙</m:t>
                                    </m:r>
                                  </m:e>
                                  <m:sub>
                                    <m:r>
                                      <a:rPr lang="en-US" sz="1600" b="1" i="1" u="none" strike="noStrike" smtClean="0">
                                        <a:solidFill>
                                          <a:srgbClr val="000000"/>
                                        </a:solidFill>
                                        <a:effectLst/>
                                        <a:latin typeface="Cambria Math" panose="02040503050406030204" pitchFamily="18" charset="0"/>
                                        <a:ea typeface="Cambria Math" panose="02040503050406030204" pitchFamily="18" charset="0"/>
                                      </a:rPr>
                                      <m:t>𝒊</m:t>
                                    </m:r>
                                  </m:sub>
                                </m:sSub>
                              </m:oMath>
                            </m:oMathPara>
                          </a14:m>
                          <a:endParaRPr lang="en-US" sz="1600" b="1"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𝒙</m:t>
                                    </m:r>
                                  </m:e>
                                  <m:sub>
                                    <m:r>
                                      <a:rPr lang="en-US" sz="1600" b="1" i="1" u="none" strike="noStrike" smtClean="0">
                                        <a:solidFill>
                                          <a:srgbClr val="000000"/>
                                        </a:solidFill>
                                        <a:effectLst/>
                                        <a:latin typeface="Cambria Math" panose="02040503050406030204" pitchFamily="18" charset="0"/>
                                        <a:ea typeface="Cambria Math" panose="02040503050406030204" pitchFamily="18" charset="0"/>
                                      </a:rPr>
                                      <m:t>𝒊</m:t>
                                    </m:r>
                                  </m:sub>
                                </m:sSub>
                                <m:r>
                                  <a:rPr lang="en-US" sz="1600" b="1" i="1" u="none" strike="noStrike" smtClean="0">
                                    <a:solidFill>
                                      <a:srgbClr val="000000"/>
                                    </a:solidFill>
                                    <a:effectLst/>
                                    <a:latin typeface="Cambria Math" panose="02040503050406030204" pitchFamily="18" charset="0"/>
                                    <a:ea typeface="Cambria Math" panose="02040503050406030204" pitchFamily="18" charset="0"/>
                                  </a:rPr>
                                  <m:t>−</m:t>
                                </m:r>
                                <m:acc>
                                  <m:accPr>
                                    <m:chr m:val="̅"/>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𝒙</m:t>
                                    </m:r>
                                  </m:e>
                                </m:acc>
                              </m:oMath>
                            </m:oMathPara>
                          </a14:m>
                          <a:endParaRPr lang="en-US" sz="1600" b="1"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p>
                                  <m:sSup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pPr>
                                  <m:e>
                                    <m:d>
                                      <m:d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dPr>
                                      <m:e>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𝒙</m:t>
                                            </m:r>
                                          </m:e>
                                          <m:sub>
                                            <m:r>
                                              <a:rPr lang="en-US" sz="1600" b="1" i="1" u="none" strike="noStrike" smtClean="0">
                                                <a:solidFill>
                                                  <a:srgbClr val="000000"/>
                                                </a:solidFill>
                                                <a:effectLst/>
                                                <a:latin typeface="Cambria Math" panose="02040503050406030204" pitchFamily="18" charset="0"/>
                                                <a:ea typeface="Cambria Math" panose="02040503050406030204" pitchFamily="18" charset="0"/>
                                              </a:rPr>
                                              <m:t>𝒊</m:t>
                                            </m:r>
                                          </m:sub>
                                        </m:sSub>
                                        <m:r>
                                          <a:rPr lang="en-US" sz="1600" b="1" i="1" u="none" strike="noStrike" smtClean="0">
                                            <a:solidFill>
                                              <a:srgbClr val="000000"/>
                                            </a:solidFill>
                                            <a:effectLst/>
                                            <a:latin typeface="Cambria Math" panose="02040503050406030204" pitchFamily="18" charset="0"/>
                                            <a:ea typeface="Cambria Math" panose="02040503050406030204" pitchFamily="18" charset="0"/>
                                          </a:rPr>
                                          <m:t>−</m:t>
                                        </m:r>
                                        <m:acc>
                                          <m:accPr>
                                            <m:chr m:val="̅"/>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𝒙</m:t>
                                            </m:r>
                                          </m:e>
                                        </m:acc>
                                        <m:r>
                                          <m:rPr>
                                            <m:nor/>
                                          </m:rPr>
                                          <a:rPr lang="en-US" sz="1600" b="1" i="0" u="none" strike="noStrike" dirty="0">
                                            <a:solidFill>
                                              <a:srgbClr val="000000"/>
                                            </a:solidFill>
                                            <a:effectLst/>
                                            <a:latin typeface="Cambria Math" panose="02040503050406030204" pitchFamily="18" charset="0"/>
                                            <a:ea typeface="Cambria Math" panose="02040503050406030204" pitchFamily="18" charset="0"/>
                                          </a:rPr>
                                          <m:t> </m:t>
                                        </m:r>
                                      </m:e>
                                    </m:d>
                                  </m:e>
                                  <m:sup>
                                    <m:r>
                                      <a:rPr lang="en-US" sz="1600" b="1" i="1" u="none" strike="noStrike" smtClean="0">
                                        <a:solidFill>
                                          <a:srgbClr val="000000"/>
                                        </a:solidFill>
                                        <a:effectLst/>
                                        <a:latin typeface="Cambria Math" panose="02040503050406030204" pitchFamily="18" charset="0"/>
                                        <a:ea typeface="Cambria Math" panose="02040503050406030204" pitchFamily="18" charset="0"/>
                                      </a:rPr>
                                      <m:t>𝟐</m:t>
                                    </m:r>
                                  </m:sup>
                                </m:sSup>
                              </m:oMath>
                            </m:oMathPara>
                          </a14:m>
                          <a:endParaRPr lang="en-US" sz="1600" b="1"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f>
                                  <m:f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fPr>
                                  <m:num>
                                    <m:sSup>
                                      <m:sSup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pPr>
                                      <m:e>
                                        <m:d>
                                          <m:d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dPr>
                                          <m:e>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𝒙</m:t>
                                                </m:r>
                                              </m:e>
                                              <m:sub>
                                                <m:r>
                                                  <a:rPr lang="en-US" sz="1600" b="1" i="1" u="none" strike="noStrike" smtClean="0">
                                                    <a:solidFill>
                                                      <a:srgbClr val="000000"/>
                                                    </a:solidFill>
                                                    <a:effectLst/>
                                                    <a:latin typeface="Cambria Math" panose="02040503050406030204" pitchFamily="18" charset="0"/>
                                                    <a:ea typeface="Cambria Math" panose="02040503050406030204" pitchFamily="18" charset="0"/>
                                                  </a:rPr>
                                                  <m:t>𝒊</m:t>
                                                </m:r>
                                              </m:sub>
                                            </m:sSub>
                                            <m:r>
                                              <a:rPr lang="en-US" sz="1600" b="1" i="1" u="none" strike="noStrike" smtClean="0">
                                                <a:solidFill>
                                                  <a:srgbClr val="000000"/>
                                                </a:solidFill>
                                                <a:effectLst/>
                                                <a:latin typeface="Cambria Math" panose="02040503050406030204" pitchFamily="18" charset="0"/>
                                                <a:ea typeface="Cambria Math" panose="02040503050406030204" pitchFamily="18" charset="0"/>
                                              </a:rPr>
                                              <m:t>−</m:t>
                                            </m:r>
                                            <m:acc>
                                              <m:accPr>
                                                <m:chr m:val="̅"/>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𝒙</m:t>
                                                </m:r>
                                              </m:e>
                                            </m:acc>
                                            <m:r>
                                              <m:rPr>
                                                <m:nor/>
                                              </m:rPr>
                                              <a:rPr lang="en-US" sz="1600" b="1" i="0" u="none" strike="noStrike" dirty="0">
                                                <a:solidFill>
                                                  <a:srgbClr val="000000"/>
                                                </a:solidFill>
                                                <a:effectLst/>
                                                <a:latin typeface="Cambria Math" panose="02040503050406030204" pitchFamily="18" charset="0"/>
                                                <a:ea typeface="Cambria Math" panose="02040503050406030204" pitchFamily="18" charset="0"/>
                                              </a:rPr>
                                              <m:t> </m:t>
                                            </m:r>
                                          </m:e>
                                        </m:d>
                                      </m:e>
                                      <m:sup>
                                        <m:r>
                                          <a:rPr lang="en-US" sz="1600" b="1" i="1" u="none" strike="noStrike" smtClean="0">
                                            <a:solidFill>
                                              <a:srgbClr val="000000"/>
                                            </a:solidFill>
                                            <a:effectLst/>
                                            <a:latin typeface="Cambria Math" panose="02040503050406030204" pitchFamily="18" charset="0"/>
                                            <a:ea typeface="Cambria Math" panose="02040503050406030204" pitchFamily="18" charset="0"/>
                                          </a:rPr>
                                          <m:t>𝟐</m:t>
                                        </m:r>
                                      </m:sup>
                                    </m:sSup>
                                  </m:num>
                                  <m:den>
                                    <m:nary>
                                      <m:naryPr>
                                        <m:chr m:val="∑"/>
                                        <m:subHide m:val="on"/>
                                        <m:supHide m:val="on"/>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naryPr>
                                      <m:sub/>
                                      <m:sup/>
                                      <m:e>
                                        <m:sSup>
                                          <m:sSup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pPr>
                                          <m:e>
                                            <m:d>
                                              <m:d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dPr>
                                              <m:e>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𝒙</m:t>
                                                    </m:r>
                                                  </m:e>
                                                  <m:sub>
                                                    <m:r>
                                                      <a:rPr lang="en-US" sz="1600" b="1" i="1" u="none" strike="noStrike" smtClean="0">
                                                        <a:solidFill>
                                                          <a:srgbClr val="000000"/>
                                                        </a:solidFill>
                                                        <a:effectLst/>
                                                        <a:latin typeface="Cambria Math" panose="02040503050406030204" pitchFamily="18" charset="0"/>
                                                        <a:ea typeface="Cambria Math" panose="02040503050406030204" pitchFamily="18" charset="0"/>
                                                      </a:rPr>
                                                      <m:t>𝒊</m:t>
                                                    </m:r>
                                                  </m:sub>
                                                </m:sSub>
                                                <m:r>
                                                  <a:rPr lang="en-US" sz="1600" b="1" i="1" u="none" strike="noStrike" smtClean="0">
                                                    <a:solidFill>
                                                      <a:srgbClr val="000000"/>
                                                    </a:solidFill>
                                                    <a:effectLst/>
                                                    <a:latin typeface="Cambria Math" panose="02040503050406030204" pitchFamily="18" charset="0"/>
                                                    <a:ea typeface="Cambria Math" panose="02040503050406030204" pitchFamily="18" charset="0"/>
                                                  </a:rPr>
                                                  <m:t>−</m:t>
                                                </m:r>
                                                <m:acc>
                                                  <m:accPr>
                                                    <m:chr m:val="̅"/>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𝒙</m:t>
                                                    </m:r>
                                                  </m:e>
                                                </m:acc>
                                                <m:r>
                                                  <m:rPr>
                                                    <m:nor/>
                                                  </m:rPr>
                                                  <a:rPr lang="en-US" sz="1600" b="1" i="0" u="none" strike="noStrike" dirty="0">
                                                    <a:solidFill>
                                                      <a:srgbClr val="000000"/>
                                                    </a:solidFill>
                                                    <a:effectLst/>
                                                    <a:latin typeface="Cambria Math" panose="02040503050406030204" pitchFamily="18" charset="0"/>
                                                    <a:ea typeface="Cambria Math" panose="02040503050406030204" pitchFamily="18" charset="0"/>
                                                  </a:rPr>
                                                  <m:t> </m:t>
                                                </m:r>
                                              </m:e>
                                            </m:d>
                                          </m:e>
                                          <m:sup>
                                            <m:r>
                                              <a:rPr lang="en-US" sz="1600" b="1" i="1" u="none" strike="noStrike" smtClean="0">
                                                <a:solidFill>
                                                  <a:srgbClr val="000000"/>
                                                </a:solidFill>
                                                <a:effectLst/>
                                                <a:latin typeface="Cambria Math" panose="02040503050406030204" pitchFamily="18" charset="0"/>
                                                <a:ea typeface="Cambria Math" panose="02040503050406030204" pitchFamily="18" charset="0"/>
                                              </a:rPr>
                                              <m:t>𝟐</m:t>
                                            </m:r>
                                          </m:sup>
                                        </m:sSup>
                                      </m:e>
                                    </m:nary>
                                  </m:den>
                                </m:f>
                              </m:oMath>
                            </m:oMathPara>
                          </a14:m>
                          <a:endParaRPr lang="en-US" sz="1600" b="1"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𝒉</m:t>
                                    </m:r>
                                  </m:e>
                                  <m:sub>
                                    <m:r>
                                      <a:rPr lang="en-US" sz="1600" b="1" i="1" u="none" strike="noStrike" smtClean="0">
                                        <a:solidFill>
                                          <a:srgbClr val="000000"/>
                                        </a:solidFill>
                                        <a:effectLst/>
                                        <a:latin typeface="Cambria Math" panose="02040503050406030204" pitchFamily="18" charset="0"/>
                                        <a:ea typeface="Cambria Math" panose="02040503050406030204" pitchFamily="18" charset="0"/>
                                      </a:rPr>
                                      <m:t>𝒊</m:t>
                                    </m:r>
                                  </m:sub>
                                </m:sSub>
                              </m:oMath>
                            </m:oMathPara>
                          </a14:m>
                          <a:endParaRPr lang="en-US" sz="1600" b="1"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𝒔</m:t>
                                    </m:r>
                                  </m:e>
                                  <m:sub>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𝒚</m:t>
                                        </m:r>
                                      </m:e>
                                      <m:sub>
                                        <m:r>
                                          <a:rPr lang="en-US" sz="1600" b="1" i="1" u="none" strike="noStrike" smtClean="0">
                                            <a:solidFill>
                                              <a:srgbClr val="000000"/>
                                            </a:solidFill>
                                            <a:effectLst/>
                                            <a:latin typeface="Cambria Math" panose="02040503050406030204" pitchFamily="18" charset="0"/>
                                            <a:ea typeface="Cambria Math" panose="02040503050406030204" pitchFamily="18" charset="0"/>
                                          </a:rPr>
                                          <m:t>𝒊</m:t>
                                        </m:r>
                                      </m:sub>
                                    </m:sSub>
                                    <m:r>
                                      <a:rPr lang="en-US" sz="1600" b="1"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𝒚</m:t>
                                            </m:r>
                                          </m:e>
                                        </m:acc>
                                      </m:e>
                                      <m:sub>
                                        <m:r>
                                          <a:rPr lang="en-US" sz="1600" b="1" i="1" u="none" strike="noStrike" smtClean="0">
                                            <a:solidFill>
                                              <a:srgbClr val="000000"/>
                                            </a:solidFill>
                                            <a:effectLst/>
                                            <a:latin typeface="Cambria Math" panose="02040503050406030204" pitchFamily="18" charset="0"/>
                                            <a:ea typeface="Cambria Math" panose="02040503050406030204" pitchFamily="18" charset="0"/>
                                          </a:rPr>
                                          <m:t>𝒊</m:t>
                                        </m:r>
                                      </m:sub>
                                    </m:sSub>
                                  </m:sub>
                                </m:sSub>
                              </m:oMath>
                            </m:oMathPara>
                          </a14:m>
                          <a:endParaRPr lang="en-US" sz="1600" b="1"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𝒚</m:t>
                                    </m:r>
                                  </m:e>
                                  <m:sub>
                                    <m:r>
                                      <a:rPr lang="en-US" sz="1600" b="1" i="1" u="none" strike="noStrike" smtClean="0">
                                        <a:solidFill>
                                          <a:srgbClr val="000000"/>
                                        </a:solidFill>
                                        <a:effectLst/>
                                        <a:latin typeface="Cambria Math" panose="02040503050406030204" pitchFamily="18" charset="0"/>
                                        <a:ea typeface="Cambria Math" panose="02040503050406030204" pitchFamily="18" charset="0"/>
                                      </a:rPr>
                                      <m:t>𝒊</m:t>
                                    </m:r>
                                  </m:sub>
                                </m:sSub>
                                <m:r>
                                  <a:rPr lang="en-US" sz="1600" b="1"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𝒚</m:t>
                                        </m:r>
                                      </m:e>
                                    </m:acc>
                                  </m:e>
                                  <m:sub>
                                    <m:r>
                                      <a:rPr lang="en-US" sz="1600" b="1" i="1" u="none" strike="noStrike" smtClean="0">
                                        <a:solidFill>
                                          <a:srgbClr val="000000"/>
                                        </a:solidFill>
                                        <a:effectLst/>
                                        <a:latin typeface="Cambria Math" panose="02040503050406030204" pitchFamily="18" charset="0"/>
                                        <a:ea typeface="Cambria Math" panose="02040503050406030204" pitchFamily="18" charset="0"/>
                                      </a:rPr>
                                      <m:t>𝒊</m:t>
                                    </m:r>
                                  </m:sub>
                                </m:sSub>
                              </m:oMath>
                            </m:oMathPara>
                          </a14:m>
                          <a:endParaRPr lang="en-US" sz="1600" b="1"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Cambria Math" panose="02040503050406030204" pitchFamily="18" charset="0"/>
                              <a:ea typeface="Cambria Math" panose="02040503050406030204" pitchFamily="18" charset="0"/>
                            </a:rPr>
                            <a:t>Standardized Residual</a:t>
                          </a: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29231424"/>
                      </a:ext>
                    </a:extLst>
                  </a:tr>
                  <a:tr h="19685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-12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144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0.2535</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0.3535</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11.1193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-12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-1.0792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53949189"/>
                      </a:ext>
                    </a:extLst>
                  </a:tr>
                  <a:tr h="19685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-8</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64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0.1127</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0.2127</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12.2709</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15</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1.2224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968586619"/>
                      </a:ext>
                    </a:extLst>
                  </a:tr>
                  <a:tr h="19685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36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0.0634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0.1634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-12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-0.9487</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215187578"/>
                      </a:ext>
                    </a:extLst>
                  </a:tr>
                  <a:tr h="19685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36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0.0634</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0.1634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18</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1.4230</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202861277"/>
                      </a:ext>
                    </a:extLst>
                  </a:tr>
                  <a:tr h="19685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5</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12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0.0070</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0.1070</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13.0682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-0.2296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274957116"/>
                      </a:ext>
                    </a:extLst>
                  </a:tr>
                  <a:tr h="19685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16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0.0070</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0.1070</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13.0682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-0.2296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997266481"/>
                      </a:ext>
                    </a:extLst>
                  </a:tr>
                  <a:tr h="19685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7</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36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0.0634</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0.1634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-0.2372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530619411"/>
                      </a:ext>
                    </a:extLst>
                  </a:tr>
                  <a:tr h="19685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8</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36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0.0634</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0.1634</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9</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0.7115</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211438722"/>
                      </a:ext>
                    </a:extLst>
                  </a:tr>
                  <a:tr h="199571">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9</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22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8</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64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0.1127</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0.2127</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12.2709</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-21</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-1.7114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36614049"/>
                      </a:ext>
                    </a:extLst>
                  </a:tr>
                  <a:tr h="19685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10</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26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600" u="none" strike="noStrike" dirty="0">
                              <a:solidFill>
                                <a:srgbClr val="000000"/>
                              </a:solidFill>
                              <a:effectLst/>
                              <a:latin typeface="Cambria Math" panose="02040503050406030204" pitchFamily="18" charset="0"/>
                              <a:ea typeface="Cambria Math" panose="02040503050406030204" pitchFamily="18" charset="0"/>
                            </a:rPr>
                            <a:t>           12	</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a:t>
                          </a:r>
                          <a:r>
                            <a:rPr lang="en-US" sz="1600" u="sng" strike="noStrike" dirty="0">
                              <a:solidFill>
                                <a:srgbClr val="000000"/>
                              </a:solidFill>
                              <a:effectLst/>
                              <a:latin typeface="Cambria Math" panose="02040503050406030204" pitchFamily="18" charset="0"/>
                              <a:ea typeface="Cambria Math" panose="02040503050406030204" pitchFamily="18" charset="0"/>
                            </a:rPr>
                            <a:t>  144</a:t>
                          </a:r>
                          <a:endParaRPr lang="en-US" sz="1600" b="0" i="0" u="sng"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0.2535</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0.3535</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11.1193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1.0792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906438878"/>
                      </a:ext>
                    </a:extLst>
                  </a:tr>
                  <a:tr h="196850">
                    <a:tc>
                      <a:txBody>
                        <a:bodyPr/>
                        <a:lstStyle/>
                        <a:p>
                          <a:pPr algn="l" fontAlgn="b"/>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568</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153827190"/>
                      </a:ext>
                    </a:extLst>
                  </a:tr>
                </a:tbl>
              </a:graphicData>
            </a:graphic>
          </p:graphicFrame>
        </mc:Choice>
        <mc:Fallback xmlns="">
          <p:graphicFrame>
            <p:nvGraphicFramePr>
              <p:cNvPr id="7" name="Table Placeholder 6">
                <a:extLst>
                  <a:ext uri="{FF2B5EF4-FFF2-40B4-BE49-F238E27FC236}">
                    <a16:creationId xmlns:a16="http://schemas.microsoft.com/office/drawing/2014/main" id="{FC2A30D4-ECB0-EBC1-DE0E-48B2E7A21697}"/>
                  </a:ext>
                </a:extLst>
              </p:cNvPr>
              <p:cNvGraphicFramePr>
                <a:graphicFrameLocks noGrp="1"/>
              </p:cNvGraphicFramePr>
              <p:nvPr>
                <p:ph type="tbl" sz="quarter" idx="16"/>
                <p:extLst>
                  <p:ext uri="{D42A27DB-BD31-4B8C-83A1-F6EECF244321}">
                    <p14:modId xmlns:p14="http://schemas.microsoft.com/office/powerpoint/2010/main" val="2887360293"/>
                  </p:ext>
                </p:extLst>
              </p:nvPr>
            </p:nvGraphicFramePr>
            <p:xfrm>
              <a:off x="863299" y="2480597"/>
              <a:ext cx="10370775" cy="3322320"/>
            </p:xfrm>
            <a:graphic>
              <a:graphicData uri="http://schemas.openxmlformats.org/drawingml/2006/table">
                <a:tbl>
                  <a:tblPr firstRow="1">
                    <a:tableStyleId>{5C22544A-7EE6-4342-B048-85BDC9FD1C3A}</a:tableStyleId>
                  </a:tblPr>
                  <a:tblGrid>
                    <a:gridCol w="1178043">
                      <a:extLst>
                        <a:ext uri="{9D8B030D-6E8A-4147-A177-3AD203B41FA5}">
                          <a16:colId xmlns:a16="http://schemas.microsoft.com/office/drawing/2014/main" val="3633209588"/>
                        </a:ext>
                      </a:extLst>
                    </a:gridCol>
                    <a:gridCol w="1005840">
                      <a:extLst>
                        <a:ext uri="{9D8B030D-6E8A-4147-A177-3AD203B41FA5}">
                          <a16:colId xmlns:a16="http://schemas.microsoft.com/office/drawing/2014/main" val="4000194129"/>
                        </a:ext>
                      </a:extLst>
                    </a:gridCol>
                    <a:gridCol w="1005840">
                      <a:extLst>
                        <a:ext uri="{9D8B030D-6E8A-4147-A177-3AD203B41FA5}">
                          <a16:colId xmlns:a16="http://schemas.microsoft.com/office/drawing/2014/main" val="2033911812"/>
                        </a:ext>
                      </a:extLst>
                    </a:gridCol>
                    <a:gridCol w="1178043">
                      <a:extLst>
                        <a:ext uri="{9D8B030D-6E8A-4147-A177-3AD203B41FA5}">
                          <a16:colId xmlns:a16="http://schemas.microsoft.com/office/drawing/2014/main" val="3943334574"/>
                        </a:ext>
                      </a:extLst>
                    </a:gridCol>
                    <a:gridCol w="1178043">
                      <a:extLst>
                        <a:ext uri="{9D8B030D-6E8A-4147-A177-3AD203B41FA5}">
                          <a16:colId xmlns:a16="http://schemas.microsoft.com/office/drawing/2014/main" val="3378480086"/>
                        </a:ext>
                      </a:extLst>
                    </a:gridCol>
                    <a:gridCol w="1178043">
                      <a:extLst>
                        <a:ext uri="{9D8B030D-6E8A-4147-A177-3AD203B41FA5}">
                          <a16:colId xmlns:a16="http://schemas.microsoft.com/office/drawing/2014/main" val="2091033382"/>
                        </a:ext>
                      </a:extLst>
                    </a:gridCol>
                    <a:gridCol w="1178043">
                      <a:extLst>
                        <a:ext uri="{9D8B030D-6E8A-4147-A177-3AD203B41FA5}">
                          <a16:colId xmlns:a16="http://schemas.microsoft.com/office/drawing/2014/main" val="2223147588"/>
                        </a:ext>
                      </a:extLst>
                    </a:gridCol>
                    <a:gridCol w="1097280">
                      <a:extLst>
                        <a:ext uri="{9D8B030D-6E8A-4147-A177-3AD203B41FA5}">
                          <a16:colId xmlns:a16="http://schemas.microsoft.com/office/drawing/2014/main" val="4004824655"/>
                        </a:ext>
                      </a:extLst>
                    </a:gridCol>
                    <a:gridCol w="1371600">
                      <a:extLst>
                        <a:ext uri="{9D8B030D-6E8A-4147-A177-3AD203B41FA5}">
                          <a16:colId xmlns:a16="http://schemas.microsoft.com/office/drawing/2014/main" val="2583344628"/>
                        </a:ext>
                      </a:extLst>
                    </a:gridCol>
                  </a:tblGrid>
                  <a:tr h="640080">
                    <a:tc>
                      <a:txBody>
                        <a:bodyPr/>
                        <a:lstStyle/>
                        <a:p>
                          <a:pPr algn="ctr" fontAlgn="b"/>
                          <a:r>
                            <a:rPr lang="en-US" sz="1600" b="1" u="none" strike="noStrike" dirty="0">
                              <a:solidFill>
                                <a:srgbClr val="000000"/>
                              </a:solidFill>
                              <a:effectLst/>
                              <a:latin typeface="Cambria Math" panose="02040503050406030204" pitchFamily="18" charset="0"/>
                              <a:ea typeface="Cambria Math" panose="02040503050406030204" pitchFamily="18" charset="0"/>
                            </a:rPr>
                            <a:t>Restaurant </a:t>
                          </a:r>
                          <a:r>
                            <a:rPr lang="en-US" sz="1600" b="1" i="1" u="none" strike="noStrike" dirty="0">
                              <a:solidFill>
                                <a:srgbClr val="000000"/>
                              </a:solidFill>
                              <a:effectLst/>
                              <a:latin typeface="Cambria Math" panose="02040503050406030204" pitchFamily="18" charset="0"/>
                              <a:ea typeface="Cambria Math" panose="02040503050406030204" pitchFamily="18" charset="0"/>
                            </a:rPr>
                            <a:t>i</a:t>
                          </a: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endParaRPr lang="en-US"/>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l="-116970" r="-814545" b="-439048"/>
                          </a:stretch>
                        </a:blipFill>
                      </a:tcPr>
                    </a:tc>
                    <a:tc>
                      <a:txBody>
                        <a:bodyPr/>
                        <a:lstStyle/>
                        <a:p>
                          <a:endParaRPr lang="en-US"/>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l="-216970" r="-714545" b="-439048"/>
                          </a:stretch>
                        </a:blipFill>
                      </a:tcPr>
                    </a:tc>
                    <a:tc>
                      <a:txBody>
                        <a:bodyPr/>
                        <a:lstStyle/>
                        <a:p>
                          <a:endParaRPr lang="en-US"/>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l="-269588" r="-507732" b="-439048"/>
                          </a:stretch>
                        </a:blipFill>
                      </a:tcPr>
                    </a:tc>
                    <a:tc>
                      <a:txBody>
                        <a:bodyPr/>
                        <a:lstStyle/>
                        <a:p>
                          <a:endParaRPr lang="en-US"/>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l="-371503" r="-410363" b="-439048"/>
                          </a:stretch>
                        </a:blipFill>
                      </a:tcPr>
                    </a:tc>
                    <a:tc>
                      <a:txBody>
                        <a:bodyPr/>
                        <a:lstStyle/>
                        <a:p>
                          <a:endParaRPr lang="en-US"/>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l="-471503" r="-310363" b="-439048"/>
                          </a:stretch>
                        </a:blipFill>
                      </a:tcPr>
                    </a:tc>
                    <a:tc>
                      <a:txBody>
                        <a:bodyPr/>
                        <a:lstStyle/>
                        <a:p>
                          <a:endParaRPr lang="en-US"/>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l="-568557" r="-208763" b="-439048"/>
                          </a:stretch>
                        </a:blipFill>
                      </a:tcPr>
                    </a:tc>
                    <a:tc>
                      <a:txBody>
                        <a:bodyPr/>
                        <a:lstStyle/>
                        <a:p>
                          <a:endParaRPr lang="en-US"/>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l="-720556" r="-125000" b="-439048"/>
                          </a:stretch>
                        </a:blipFill>
                      </a:tcPr>
                    </a:tc>
                    <a:tc>
                      <a:txBody>
                        <a:bodyPr/>
                        <a:lstStyle/>
                        <a:p>
                          <a:pPr algn="ctr" fontAlgn="b"/>
                          <a:r>
                            <a:rPr lang="en-US" sz="1600" b="1" i="0" u="none" strike="noStrike" dirty="0">
                              <a:solidFill>
                                <a:srgbClr val="000000"/>
                              </a:solidFill>
                              <a:effectLst/>
                              <a:latin typeface="Cambria Math" panose="02040503050406030204" pitchFamily="18" charset="0"/>
                              <a:ea typeface="Cambria Math" panose="02040503050406030204" pitchFamily="18" charset="0"/>
                            </a:rPr>
                            <a:t>Standardized Residual</a:t>
                          </a:r>
                        </a:p>
                      </a:txBody>
                      <a:tcPr marL="0" marR="0" marT="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29231424"/>
                      </a:ext>
                    </a:extLst>
                  </a:tr>
                  <a:tr h="24384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-12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144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0.2535</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0.3535</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11.1193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-12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-1.0792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53949189"/>
                      </a:ext>
                    </a:extLst>
                  </a:tr>
                  <a:tr h="24384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-8</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64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0.1127</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0.2127</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12.2709</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15</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1.2224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968586619"/>
                      </a:ext>
                    </a:extLst>
                  </a:tr>
                  <a:tr h="24384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36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0.0634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0.1634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-12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-0.9487</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215187578"/>
                      </a:ext>
                    </a:extLst>
                  </a:tr>
                  <a:tr h="24384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36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0.0634</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0.1634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18</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1.4230</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202861277"/>
                      </a:ext>
                    </a:extLst>
                  </a:tr>
                  <a:tr h="24384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5</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12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0.0070</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0.1070</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13.0682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-0.2296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274957116"/>
                      </a:ext>
                    </a:extLst>
                  </a:tr>
                  <a:tr h="24384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16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0.0070</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0.1070</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13.0682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-0.2296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997266481"/>
                      </a:ext>
                    </a:extLst>
                  </a:tr>
                  <a:tr h="24384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7</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36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0.0634</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0.1634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-0.2372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530619411"/>
                      </a:ext>
                    </a:extLst>
                  </a:tr>
                  <a:tr h="24384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8</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20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36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0.0634</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0.1634</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9</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0.7115</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211438722"/>
                      </a:ext>
                    </a:extLst>
                  </a:tr>
                  <a:tr h="24384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9</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22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8</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64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0.1127</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0.2127</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12.2709</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-21</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a:solidFill>
                                <a:srgbClr val="000000"/>
                              </a:solidFill>
                              <a:effectLst/>
                              <a:latin typeface="Cambria Math" panose="02040503050406030204" pitchFamily="18" charset="0"/>
                              <a:ea typeface="Cambria Math" panose="02040503050406030204" pitchFamily="18" charset="0"/>
                            </a:rPr>
                            <a:t>	-1.7114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36614049"/>
                      </a:ext>
                    </a:extLst>
                  </a:tr>
                  <a:tr h="243840">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10</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28650" algn="r"/>
                            </a:tabLst>
                          </a:pPr>
                          <a:r>
                            <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rPr>
                            <a:t>	26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600" u="none" strike="noStrike" dirty="0">
                              <a:solidFill>
                                <a:srgbClr val="000000"/>
                              </a:solidFill>
                              <a:effectLst/>
                              <a:latin typeface="Cambria Math" panose="02040503050406030204" pitchFamily="18" charset="0"/>
                              <a:ea typeface="Cambria Math" panose="02040503050406030204" pitchFamily="18" charset="0"/>
                            </a:rPr>
                            <a:t>           12	</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a:t>
                          </a:r>
                          <a:r>
                            <a:rPr lang="en-US" sz="1600" u="sng" strike="noStrike" dirty="0">
                              <a:solidFill>
                                <a:srgbClr val="000000"/>
                              </a:solidFill>
                              <a:effectLst/>
                              <a:latin typeface="Cambria Math" panose="02040503050406030204" pitchFamily="18" charset="0"/>
                              <a:ea typeface="Cambria Math" panose="02040503050406030204" pitchFamily="18" charset="0"/>
                            </a:rPr>
                            <a:t>  144</a:t>
                          </a:r>
                          <a:endParaRPr lang="en-US" sz="1600" b="0" i="0" u="sng"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0.2535</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latin typeface="Cambria Math" panose="02040503050406030204" pitchFamily="18" charset="0"/>
                              <a:ea typeface="Cambria Math" panose="02040503050406030204" pitchFamily="18" charset="0"/>
                            </a:rPr>
                            <a:t>0.3535</a:t>
                          </a:r>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11.1193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1.0792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906438878"/>
                      </a:ext>
                    </a:extLst>
                  </a:tr>
                  <a:tr h="243840">
                    <a:tc>
                      <a:txBody>
                        <a:bodyPr/>
                        <a:lstStyle/>
                        <a:p>
                          <a:pPr algn="l" fontAlgn="b"/>
                          <a:endParaRPr lang="en-US" sz="1600" b="0" i="0" u="none" strike="noStrike">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858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568</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153827190"/>
                      </a:ext>
                    </a:extLst>
                  </a:tr>
                </a:tbl>
              </a:graphicData>
            </a:graphic>
          </p:graphicFrame>
        </mc:Fallback>
      </mc:AlternateContent>
    </p:spTree>
    <p:extLst>
      <p:ext uri="{BB962C8B-B14F-4D97-AF65-F5344CB8AC3E}">
        <p14:creationId xmlns:p14="http://schemas.microsoft.com/office/powerpoint/2010/main" val="19801133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C7FEF-3520-B3E7-6FDC-7A0A1182B53A}"/>
              </a:ext>
            </a:extLst>
          </p:cNvPr>
          <p:cNvSpPr>
            <a:spLocks noGrp="1"/>
          </p:cNvSpPr>
          <p:nvPr>
            <p:ph type="title"/>
          </p:nvPr>
        </p:nvSpPr>
        <p:spPr>
          <a:xfrm>
            <a:off x="725217" y="375526"/>
            <a:ext cx="10739164" cy="672105"/>
          </a:xfrm>
        </p:spPr>
        <p:txBody>
          <a:bodyPr/>
          <a:lstStyle/>
          <a:p>
            <a:r>
              <a:rPr lang="en-US" sz="3200" dirty="0"/>
              <a:t>14.8 Standardized Residual Plot Against </a:t>
            </a:r>
            <a:r>
              <a:rPr lang="en-US" sz="3200" i="1" dirty="0"/>
              <a:t>x</a:t>
            </a:r>
            <a:r>
              <a:rPr lang="en-US" sz="3200" dirty="0"/>
              <a:t> for Armand’s Pizza Parlors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A5C53F2-96E4-1059-01BE-1A91F855CE5E}"/>
                  </a:ext>
                </a:extLst>
              </p:cNvPr>
              <p:cNvSpPr>
                <a:spLocks noGrp="1"/>
              </p:cNvSpPr>
              <p:nvPr>
                <p:ph type="body" sz="quarter" idx="15"/>
              </p:nvPr>
            </p:nvSpPr>
            <p:spPr>
              <a:xfrm>
                <a:off x="818117" y="1733568"/>
                <a:ext cx="3891480" cy="3790003"/>
              </a:xfrm>
            </p:spPr>
            <p:txBody>
              <a:bodyPr/>
              <a:lstStyle/>
              <a:p>
                <a:r>
                  <a:rPr lang="en-US" sz="2000" dirty="0"/>
                  <a:t>If the error term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t> follows a normal distribution, the distribution of the standardized residuals should appear as a standard normal probability distribution.</a:t>
                </a:r>
              </a:p>
              <a:p>
                <a:r>
                  <a:rPr lang="en-US" sz="2000" dirty="0"/>
                  <a:t>Thus, on a standardized residual plot, we should expect to see approximately 95% of the standardized residuals between −2 and +2, as it is the case for the standardized residual plot of the Armand’s Pizza Parlor example.</a:t>
                </a:r>
              </a:p>
              <a:p>
                <a:endParaRPr lang="en-US" sz="2000" dirty="0"/>
              </a:p>
            </p:txBody>
          </p:sp>
        </mc:Choice>
        <mc:Fallback xmlns="">
          <p:sp>
            <p:nvSpPr>
              <p:cNvPr id="3" name="Text Placeholder 2">
                <a:extLst>
                  <a:ext uri="{FF2B5EF4-FFF2-40B4-BE49-F238E27FC236}">
                    <a16:creationId xmlns:a16="http://schemas.microsoft.com/office/drawing/2014/main" id="{8A5C53F2-96E4-1059-01BE-1A91F855CE5E}"/>
                  </a:ext>
                </a:extLst>
              </p:cNvPr>
              <p:cNvSpPr>
                <a:spLocks noGrp="1" noRot="1" noChangeAspect="1" noMove="1" noResize="1" noEditPoints="1" noAdjustHandles="1" noChangeArrowheads="1" noChangeShapeType="1" noTextEdit="1"/>
              </p:cNvSpPr>
              <p:nvPr>
                <p:ph type="body" sz="quarter" idx="15"/>
              </p:nvPr>
            </p:nvSpPr>
            <p:spPr>
              <a:xfrm>
                <a:off x="818117" y="1733568"/>
                <a:ext cx="3891480" cy="3790003"/>
              </a:xfrm>
              <a:blipFill>
                <a:blip r:embed="rId2"/>
                <a:stretch>
                  <a:fillRect l="-3912" t="-1929" r="-4538" b="-2733"/>
                </a:stretch>
              </a:blipFill>
            </p:spPr>
            <p:txBody>
              <a:bodyPr/>
              <a:lstStyle/>
              <a:p>
                <a:r>
                  <a:rPr lang="en-US">
                    <a:noFill/>
                  </a:rPr>
                  <a:t> </a:t>
                </a:r>
              </a:p>
            </p:txBody>
          </p:sp>
        </mc:Fallback>
      </mc:AlternateContent>
      <p:pic>
        <p:nvPicPr>
          <p:cNvPr id="7" name="Picture Placeholder 6" descr="A scatter diagram with 10 data points plots standardized residuals versus x. The horizontal axis is labeled “x” and ranges from 0 to 26 with tickmarks in increments of 2. The vertical axis is labeled “Standardized Residuals” and ranges from negative 2 to positive 2 with tickmarks in increments of 1. A dashed horizontal line is at standardized residual = 0. The coordinates of the points are (2, negative 1.0792), (6, 1.2224), (8, negative 0.9487), (8, 1.4230), (12, negative 0.2296), (16, negative 0.2296), (20, negative 0.2372), (20, 0.7115), (22, negative 1.7114), and (26, 1.0792).&#10;">
            <a:extLst>
              <a:ext uri="{FF2B5EF4-FFF2-40B4-BE49-F238E27FC236}">
                <a16:creationId xmlns:a16="http://schemas.microsoft.com/office/drawing/2014/main" id="{115DC5F9-56B4-3025-6624-7842BAB5CDE9}"/>
              </a:ext>
            </a:extLst>
          </p:cNvPr>
          <p:cNvPicPr>
            <a:picLocks noGrp="1" noChangeAspect="1"/>
          </p:cNvPicPr>
          <p:nvPr>
            <p:ph type="pic" sz="quarter" idx="16"/>
          </p:nvPr>
        </p:nvPicPr>
        <p:blipFill rotWithShape="1">
          <a:blip r:embed="rId3"/>
          <a:srcRect l="30" r="30"/>
          <a:stretch/>
        </p:blipFill>
        <p:spPr>
          <a:xfrm>
            <a:off x="4945625" y="1733568"/>
            <a:ext cx="5937965" cy="3861552"/>
          </a:xfrm>
        </p:spPr>
      </p:pic>
    </p:spTree>
    <p:extLst>
      <p:ext uri="{BB962C8B-B14F-4D97-AF65-F5344CB8AC3E}">
        <p14:creationId xmlns:p14="http://schemas.microsoft.com/office/powerpoint/2010/main" val="33814397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BD4B4-EE30-4C50-A2C3-1CBC00F5C273}"/>
              </a:ext>
            </a:extLst>
          </p:cNvPr>
          <p:cNvSpPr>
            <a:spLocks noGrp="1"/>
          </p:cNvSpPr>
          <p:nvPr>
            <p:ph type="title"/>
          </p:nvPr>
        </p:nvSpPr>
        <p:spPr/>
        <p:txBody>
          <a:bodyPr/>
          <a:lstStyle/>
          <a:p>
            <a:r>
              <a:rPr lang="en-US" dirty="0">
                <a:solidFill>
                  <a:srgbClr val="25894E"/>
                </a:solidFill>
              </a:rPr>
              <a:t>14.8 Excel: Standardized vs. Standard Residuals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A924D5B-5F9E-D5AA-6985-4E8C08F1DD03}"/>
                  </a:ext>
                </a:extLst>
              </p:cNvPr>
              <p:cNvSpPr>
                <a:spLocks noGrp="1"/>
              </p:cNvSpPr>
              <p:nvPr>
                <p:ph type="body" sz="quarter" idx="15"/>
              </p:nvPr>
            </p:nvSpPr>
            <p:spPr>
              <a:xfrm>
                <a:off x="793193" y="1096975"/>
                <a:ext cx="10515599" cy="1296323"/>
              </a:xfrm>
            </p:spPr>
            <p:txBody>
              <a:bodyPr>
                <a:noAutofit/>
              </a:bodyPr>
              <a:lstStyle/>
              <a:p>
                <a:pPr>
                  <a:lnSpc>
                    <a:spcPct val="100000"/>
                  </a:lnSpc>
                  <a:spcBef>
                    <a:spcPts val="600"/>
                  </a:spcBef>
                </a:pPr>
                <a:r>
                  <a:rPr lang="en-US" sz="2000" dirty="0"/>
                  <a:t>The Excel’s Regression tool includes a </a:t>
                </a:r>
                <a:r>
                  <a:rPr lang="en-US" sz="2000" b="1" dirty="0"/>
                  <a:t>Standardized Residuals </a:t>
                </a:r>
                <a:r>
                  <a:rPr lang="en-US" sz="2000" dirty="0"/>
                  <a:t>options under </a:t>
                </a:r>
                <a:r>
                  <a:rPr lang="en-US" sz="2000" b="1" dirty="0"/>
                  <a:t>Residuals</a:t>
                </a:r>
                <a:r>
                  <a:rPr lang="en-US" sz="2000" dirty="0"/>
                  <a:t>.</a:t>
                </a:r>
              </a:p>
              <a:p>
                <a:pPr marL="514350" indent="-342900">
                  <a:lnSpc>
                    <a:spcPct val="100000"/>
                  </a:lnSpc>
                  <a:spcBef>
                    <a:spcPts val="600"/>
                  </a:spcBef>
                  <a:buFont typeface="Arial" panose="020B0604020202020204" pitchFamily="34" charset="0"/>
                  <a:buChar char="•"/>
                </a:pPr>
                <a:r>
                  <a:rPr lang="en-US" sz="2000" dirty="0"/>
                  <a:t>However, the standardized residuals produced by the Excel’s regression tool are just an approximation computed dividing the residual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𝑦</m:t>
                        </m:r>
                      </m:e>
                      <m:sub>
                        <m:r>
                          <a:rPr lang="en-US" sz="2000" b="0" i="1">
                            <a:latin typeface="Cambria Math" panose="02040503050406030204" pitchFamily="18" charset="0"/>
                          </a:rPr>
                          <m:t>𝑖</m:t>
                        </m:r>
                      </m:sub>
                    </m:sSub>
                    <m:r>
                      <a:rPr lang="en-US" sz="2000" b="0" i="1">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b="0" i="1">
                                <a:latin typeface="Cambria Math" panose="02040503050406030204" pitchFamily="18" charset="0"/>
                              </a:rPr>
                              <m:t>𝑦</m:t>
                            </m:r>
                          </m:e>
                        </m:acc>
                      </m:e>
                      <m:sub>
                        <m:r>
                          <a:rPr lang="en-US" sz="2000" b="0" i="1">
                            <a:latin typeface="Cambria Math" panose="02040503050406030204" pitchFamily="18" charset="0"/>
                          </a:rPr>
                          <m:t>𝑖</m:t>
                        </m:r>
                      </m:sub>
                    </m:sSub>
                  </m:oMath>
                </a14:m>
                <a:r>
                  <a:rPr lang="en-US" sz="2000" dirty="0"/>
                  <a:t> by an </a:t>
                </a:r>
                <a:r>
                  <a:rPr lang="en-US" sz="2000" i="1" dirty="0"/>
                  <a:t>estimate</a:t>
                </a:r>
                <a:r>
                  <a:rPr lang="en-US" sz="2000" dirty="0"/>
                  <a:t> of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𝑠</m:t>
                        </m:r>
                      </m:e>
                      <m:sub>
                        <m:sSub>
                          <m:sSubPr>
                            <m:ctrlPr>
                              <a:rPr lang="en-US" sz="2000" i="1">
                                <a:latin typeface="Cambria Math" panose="02040503050406030204" pitchFamily="18" charset="0"/>
                              </a:rPr>
                            </m:ctrlPr>
                          </m:sSubPr>
                          <m:e>
                            <m:r>
                              <a:rPr lang="en-US" sz="2000" b="0" i="1">
                                <a:latin typeface="Cambria Math" panose="02040503050406030204" pitchFamily="18" charset="0"/>
                              </a:rPr>
                              <m:t>𝑦</m:t>
                            </m:r>
                          </m:e>
                          <m:sub>
                            <m:r>
                              <a:rPr lang="en-US" sz="2000" b="0" i="1">
                                <a:latin typeface="Cambria Math" panose="02040503050406030204" pitchFamily="18" charset="0"/>
                              </a:rPr>
                              <m:t>𝑖</m:t>
                            </m:r>
                          </m:sub>
                        </m:sSub>
                        <m:r>
                          <a:rPr lang="en-US" sz="2000" b="0">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b="0" i="1">
                                    <a:latin typeface="Cambria Math" panose="02040503050406030204" pitchFamily="18" charset="0"/>
                                  </a:rPr>
                                  <m:t>𝑦</m:t>
                                </m:r>
                              </m:e>
                            </m:acc>
                          </m:e>
                          <m:sub>
                            <m:r>
                              <a:rPr lang="en-US" sz="2000" b="0" i="1">
                                <a:latin typeface="Cambria Math" panose="02040503050406030204" pitchFamily="18" charset="0"/>
                              </a:rPr>
                              <m:t>𝑖</m:t>
                            </m:r>
                          </m:sub>
                        </m:sSub>
                      </m:sub>
                    </m:sSub>
                  </m:oMath>
                </a14:m>
                <a:r>
                  <a:rPr lang="en-US" sz="2000" dirty="0"/>
                  <a:t> that is merely the standard deviation of the </a:t>
                </a:r>
                <a14:m>
                  <m:oMath xmlns:m="http://schemas.openxmlformats.org/officeDocument/2006/math">
                    <m:r>
                      <a:rPr lang="en-US" sz="2000" i="1" dirty="0" smtClean="0">
                        <a:latin typeface="Cambria Math" panose="02040503050406030204" pitchFamily="18" charset="0"/>
                      </a:rPr>
                      <m:t>𝑛</m:t>
                    </m:r>
                  </m:oMath>
                </a14:m>
                <a:r>
                  <a:rPr lang="en-US" sz="2000" dirty="0"/>
                  <a:t> residual values.</a:t>
                </a:r>
              </a:p>
            </p:txBody>
          </p:sp>
        </mc:Choice>
        <mc:Fallback xmlns="">
          <p:sp>
            <p:nvSpPr>
              <p:cNvPr id="3" name="Text Placeholder 2">
                <a:extLst>
                  <a:ext uri="{FF2B5EF4-FFF2-40B4-BE49-F238E27FC236}">
                    <a16:creationId xmlns:a16="http://schemas.microsoft.com/office/drawing/2014/main" id="{0A924D5B-5F9E-D5AA-6985-4E8C08F1DD03}"/>
                  </a:ext>
                </a:extLst>
              </p:cNvPr>
              <p:cNvSpPr>
                <a:spLocks noGrp="1" noRot="1" noChangeAspect="1" noMove="1" noResize="1" noEditPoints="1" noAdjustHandles="1" noChangeArrowheads="1" noChangeShapeType="1" noTextEdit="1"/>
              </p:cNvSpPr>
              <p:nvPr>
                <p:ph type="body" sz="quarter" idx="15"/>
              </p:nvPr>
            </p:nvSpPr>
            <p:spPr>
              <a:xfrm>
                <a:off x="793193" y="1096975"/>
                <a:ext cx="10515599" cy="1296323"/>
              </a:xfrm>
              <a:blipFill>
                <a:blip r:embed="rId2"/>
                <a:stretch>
                  <a:fillRect l="-1449" t="-5634" r="-638" b="-140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073527B5-1A1D-CB8E-D485-92FB4F8BBFB1}"/>
                  </a:ext>
                </a:extLst>
              </p:cNvPr>
              <p:cNvSpPr>
                <a:spLocks noGrp="1"/>
              </p:cNvSpPr>
              <p:nvPr>
                <p:ph type="body" sz="quarter" idx="18"/>
              </p:nvPr>
            </p:nvSpPr>
            <p:spPr>
              <a:xfrm>
                <a:off x="793195" y="2510194"/>
                <a:ext cx="4236006" cy="3423411"/>
              </a:xfrm>
            </p:spPr>
            <p:txBody>
              <a:bodyPr>
                <a:noAutofit/>
              </a:bodyPr>
              <a:lstStyle/>
              <a:p>
                <a:pPr marL="514350" indent="-342900">
                  <a:lnSpc>
                    <a:spcPct val="100000"/>
                  </a:lnSpc>
                  <a:spcBef>
                    <a:spcPts val="600"/>
                  </a:spcBef>
                  <a:spcAft>
                    <a:spcPts val="0"/>
                  </a:spcAft>
                  <a:buFont typeface="Arial" panose="020B0604020202020204" pitchFamily="34" charset="0"/>
                  <a:buChar char="•"/>
                </a:pPr>
                <a:r>
                  <a:rPr lang="en-US" sz="2000" dirty="0"/>
                  <a:t>Excel obtains what it refers to as a </a:t>
                </a:r>
                <a:r>
                  <a:rPr lang="en-US" sz="2000" b="1" dirty="0"/>
                  <a:t>standard residual</a:t>
                </a:r>
                <a:r>
                  <a:rPr lang="en-US" sz="2000" dirty="0"/>
                  <a:t>.</a:t>
                </a:r>
              </a:p>
              <a:p>
                <a:pPr>
                  <a:lnSpc>
                    <a:spcPct val="100000"/>
                  </a:lnSpc>
                  <a:spcBef>
                    <a:spcPts val="600"/>
                  </a:spcBef>
                  <a:spcAft>
                    <a:spcPts val="600"/>
                  </a:spcAft>
                </a:pPr>
                <a:r>
                  <a:rPr lang="en-US" sz="2000" dirty="0"/>
                  <a:t>The estimate of </a:t>
                </a:r>
                <a14:m>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𝒔</m:t>
                        </m:r>
                      </m:e>
                      <m:sub>
                        <m:sSub>
                          <m:sSubPr>
                            <m:ctrlPr>
                              <a:rPr lang="en-US" sz="2000" b="1" i="1">
                                <a:latin typeface="Cambria Math" panose="02040503050406030204" pitchFamily="18" charset="0"/>
                              </a:rPr>
                            </m:ctrlPr>
                          </m:sSubPr>
                          <m:e>
                            <m:r>
                              <a:rPr lang="en-US" sz="2000" b="1" i="1">
                                <a:latin typeface="Cambria Math" panose="02040503050406030204" pitchFamily="18" charset="0"/>
                              </a:rPr>
                              <m:t>𝒚</m:t>
                            </m:r>
                          </m:e>
                          <m:sub>
                            <m:r>
                              <a:rPr lang="en-US" sz="2000" b="1" i="1">
                                <a:latin typeface="Cambria Math" panose="02040503050406030204" pitchFamily="18" charset="0"/>
                              </a:rPr>
                              <m:t>𝒊</m:t>
                            </m:r>
                          </m:sub>
                        </m:sSub>
                        <m:r>
                          <a:rPr lang="en-US" sz="2000" b="1">
                            <a:latin typeface="Cambria Math" panose="02040503050406030204" pitchFamily="18" charset="0"/>
                          </a:rPr>
                          <m:t>−</m:t>
                        </m:r>
                        <m:sSub>
                          <m:sSubPr>
                            <m:ctrlPr>
                              <a:rPr lang="en-US" sz="2000" b="1" i="1">
                                <a:latin typeface="Cambria Math" panose="02040503050406030204" pitchFamily="18" charset="0"/>
                              </a:rPr>
                            </m:ctrlPr>
                          </m:sSubPr>
                          <m:e>
                            <m:acc>
                              <m:accPr>
                                <m:chr m:val="̂"/>
                                <m:ctrlPr>
                                  <a:rPr lang="en-US" sz="2000" b="1" i="1">
                                    <a:latin typeface="Cambria Math" panose="02040503050406030204" pitchFamily="18" charset="0"/>
                                  </a:rPr>
                                </m:ctrlPr>
                              </m:accPr>
                              <m:e>
                                <m:r>
                                  <a:rPr lang="en-US" sz="2000" b="1" i="1">
                                    <a:latin typeface="Cambria Math" panose="02040503050406030204" pitchFamily="18" charset="0"/>
                                  </a:rPr>
                                  <m:t>𝒚</m:t>
                                </m:r>
                              </m:e>
                            </m:acc>
                          </m:e>
                          <m:sub>
                            <m:r>
                              <a:rPr lang="en-US" sz="2000" b="1" i="1">
                                <a:latin typeface="Cambria Math" panose="02040503050406030204" pitchFamily="18" charset="0"/>
                              </a:rPr>
                              <m:t>𝒊</m:t>
                            </m:r>
                          </m:sub>
                        </m:sSub>
                      </m:sub>
                    </m:sSub>
                  </m:oMath>
                </a14:m>
                <a:r>
                  <a:rPr lang="en-US" sz="2000" dirty="0"/>
                  <a:t> for the Armand’s data is computed as:</a:t>
                </a:r>
              </a:p>
              <a:p>
                <a:pPr>
                  <a:lnSpc>
                    <a:spcPct val="100000"/>
                  </a:lnSpc>
                  <a:spcBef>
                    <a:spcPts val="600"/>
                  </a:spcBef>
                  <a:spcAft>
                    <a:spcPts val="0"/>
                  </a:spcAft>
                </a:pPr>
                <a14:m>
                  <m:oMathPara xmlns:m="http://schemas.openxmlformats.org/officeDocument/2006/math">
                    <m:oMathParaPr>
                      <m:jc m:val="center"/>
                    </m:oMathParaPr>
                    <m:oMath xmlns:m="http://schemas.openxmlformats.org/officeDocument/2006/math">
                      <m:r>
                        <m:rPr>
                          <m:nor/>
                        </m:rPr>
                        <a:rPr lang="en-US" sz="2000" i="0"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ea typeface="Cambria Math" panose="02040503050406030204" pitchFamily="18" charset="0"/>
                        </a:rPr>
                        <m:t>𝑆𝑇𝐷𝐸𝑉</m:t>
                      </m:r>
                      <m:r>
                        <a:rPr lang="en-US" sz="200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ea typeface="Cambria Math" panose="02040503050406030204" pitchFamily="18" charset="0"/>
                        </a:rPr>
                        <m:t>𝑆</m:t>
                      </m:r>
                      <m:r>
                        <a:rPr lang="en-US" sz="200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ea typeface="Cambria Math" panose="02040503050406030204" pitchFamily="18" charset="0"/>
                        </a:rPr>
                        <m:t>𝐶</m:t>
                      </m:r>
                      <m:r>
                        <a:rPr lang="en-US" sz="2000" i="1" dirty="0" smtClean="0">
                          <a:latin typeface="Cambria Math" panose="02040503050406030204" pitchFamily="18" charset="0"/>
                          <a:ea typeface="Cambria Math" panose="02040503050406030204" pitchFamily="18" charset="0"/>
                        </a:rPr>
                        <m:t>37:</m:t>
                      </m:r>
                      <m:r>
                        <a:rPr lang="en-US" sz="2000" i="1" dirty="0" smtClean="0">
                          <a:latin typeface="Cambria Math" panose="02040503050406030204" pitchFamily="18" charset="0"/>
                          <a:ea typeface="Cambria Math" panose="02040503050406030204" pitchFamily="18" charset="0"/>
                        </a:rPr>
                        <m:t>𝐶</m:t>
                      </m:r>
                      <m:r>
                        <a:rPr lang="en-US" sz="2000" i="1" dirty="0" smtClean="0">
                          <a:latin typeface="Cambria Math" panose="02040503050406030204" pitchFamily="18" charset="0"/>
                          <a:ea typeface="Cambria Math" panose="02040503050406030204" pitchFamily="18" charset="0"/>
                        </a:rPr>
                        <m:t>46)=13.0384</m:t>
                      </m:r>
                    </m:oMath>
                  </m:oMathPara>
                </a14:m>
                <a:endParaRPr lang="en-US" sz="2000" dirty="0">
                  <a:latin typeface="Cambria Math" panose="02040503050406030204" pitchFamily="18" charset="0"/>
                  <a:ea typeface="Cambria Math" panose="02040503050406030204" pitchFamily="18" charset="0"/>
                </a:endParaRPr>
              </a:p>
              <a:p>
                <a:pPr>
                  <a:lnSpc>
                    <a:spcPct val="100000"/>
                  </a:lnSpc>
                  <a:spcBef>
                    <a:spcPts val="600"/>
                  </a:spcBef>
                  <a:spcAft>
                    <a:spcPts val="0"/>
                  </a:spcAft>
                </a:pPr>
                <a:r>
                  <a:rPr lang="en-US" sz="2000" dirty="0"/>
                  <a:t>Excel computes standard residuals dividing each residual by 13.0384.</a:t>
                </a:r>
              </a:p>
              <a:p>
                <a:pPr>
                  <a:lnSpc>
                    <a:spcPct val="100000"/>
                  </a:lnSpc>
                  <a:spcBef>
                    <a:spcPts val="600"/>
                  </a:spcBef>
                  <a:spcAft>
                    <a:spcPts val="0"/>
                  </a:spcAft>
                </a:pPr>
                <a:r>
                  <a:rPr lang="en-US" sz="2000" dirty="0"/>
                  <a:t>The comparison with the standardized residuals we computed from equations is shown to the right.</a:t>
                </a:r>
              </a:p>
            </p:txBody>
          </p:sp>
        </mc:Choice>
        <mc:Fallback xmlns="">
          <p:sp>
            <p:nvSpPr>
              <p:cNvPr id="5" name="Text Placeholder 4">
                <a:extLst>
                  <a:ext uri="{FF2B5EF4-FFF2-40B4-BE49-F238E27FC236}">
                    <a16:creationId xmlns:a16="http://schemas.microsoft.com/office/drawing/2014/main" id="{073527B5-1A1D-CB8E-D485-92FB4F8BBFB1}"/>
                  </a:ext>
                </a:extLst>
              </p:cNvPr>
              <p:cNvSpPr>
                <a:spLocks noGrp="1" noRot="1" noChangeAspect="1" noMove="1" noResize="1" noEditPoints="1" noAdjustHandles="1" noChangeArrowheads="1" noChangeShapeType="1" noTextEdit="1"/>
              </p:cNvSpPr>
              <p:nvPr>
                <p:ph type="body" sz="quarter" idx="18"/>
              </p:nvPr>
            </p:nvSpPr>
            <p:spPr>
              <a:xfrm>
                <a:off x="793195" y="2510194"/>
                <a:ext cx="4236006" cy="3423411"/>
              </a:xfrm>
              <a:blipFill>
                <a:blip r:embed="rId3"/>
                <a:stretch>
                  <a:fillRect l="-3597" t="-2139" r="-3597" b="-3387"/>
                </a:stretch>
              </a:blipFill>
            </p:spPr>
            <p:txBody>
              <a:bodyPr/>
              <a:lstStyle/>
              <a:p>
                <a:r>
                  <a:rPr lang="en-US">
                    <a:noFill/>
                  </a:rPr>
                  <a:t> </a:t>
                </a:r>
              </a:p>
            </p:txBody>
          </p:sp>
        </mc:Fallback>
      </mc:AlternateContent>
      <p:graphicFrame>
        <p:nvGraphicFramePr>
          <p:cNvPr id="4" name="Table 8">
            <a:extLst>
              <a:ext uri="{FF2B5EF4-FFF2-40B4-BE49-F238E27FC236}">
                <a16:creationId xmlns:a16="http://schemas.microsoft.com/office/drawing/2014/main" id="{580A9D46-A838-B0E6-1AC0-271CF5E68399}"/>
              </a:ext>
            </a:extLst>
          </p:cNvPr>
          <p:cNvGraphicFramePr>
            <a:graphicFrameLocks/>
          </p:cNvGraphicFramePr>
          <p:nvPr>
            <p:extLst>
              <p:ext uri="{D42A27DB-BD31-4B8C-83A1-F6EECF244321}">
                <p14:modId xmlns:p14="http://schemas.microsoft.com/office/powerpoint/2010/main" val="2871679089"/>
              </p:ext>
            </p:extLst>
          </p:nvPr>
        </p:nvGraphicFramePr>
        <p:xfrm>
          <a:off x="5284137" y="2500842"/>
          <a:ext cx="6267022" cy="368088"/>
        </p:xfrm>
        <a:graphic>
          <a:graphicData uri="http://schemas.openxmlformats.org/drawingml/2006/table">
            <a:tbl>
              <a:tblPr firstRow="1" bandRow="1">
                <a:tableStyleId>{5C22544A-7EE6-4342-B048-85BDC9FD1C3A}</a:tableStyleId>
              </a:tblPr>
              <a:tblGrid>
                <a:gridCol w="1009222">
                  <a:extLst>
                    <a:ext uri="{9D8B030D-6E8A-4147-A177-3AD203B41FA5}">
                      <a16:colId xmlns:a16="http://schemas.microsoft.com/office/drawing/2014/main" val="2915852811"/>
                    </a:ext>
                  </a:extLst>
                </a:gridCol>
                <a:gridCol w="799130">
                  <a:extLst>
                    <a:ext uri="{9D8B030D-6E8A-4147-A177-3AD203B41FA5}">
                      <a16:colId xmlns:a16="http://schemas.microsoft.com/office/drawing/2014/main" val="1305038350"/>
                    </a:ext>
                  </a:extLst>
                </a:gridCol>
                <a:gridCol w="160990">
                  <a:extLst>
                    <a:ext uri="{9D8B030D-6E8A-4147-A177-3AD203B41FA5}">
                      <a16:colId xmlns:a16="http://schemas.microsoft.com/office/drawing/2014/main" val="950036300"/>
                    </a:ext>
                  </a:extLst>
                </a:gridCol>
                <a:gridCol w="2011680">
                  <a:extLst>
                    <a:ext uri="{9D8B030D-6E8A-4147-A177-3AD203B41FA5}">
                      <a16:colId xmlns:a16="http://schemas.microsoft.com/office/drawing/2014/main" val="2115247573"/>
                    </a:ext>
                  </a:extLst>
                </a:gridCol>
                <a:gridCol w="274320">
                  <a:extLst>
                    <a:ext uri="{9D8B030D-6E8A-4147-A177-3AD203B41FA5}">
                      <a16:colId xmlns:a16="http://schemas.microsoft.com/office/drawing/2014/main" val="2969842900"/>
                    </a:ext>
                  </a:extLst>
                </a:gridCol>
                <a:gridCol w="2011680">
                  <a:extLst>
                    <a:ext uri="{9D8B030D-6E8A-4147-A177-3AD203B41FA5}">
                      <a16:colId xmlns:a16="http://schemas.microsoft.com/office/drawing/2014/main" val="2433099460"/>
                    </a:ext>
                  </a:extLst>
                </a:gridCol>
              </a:tblGrid>
              <a:tr h="368088">
                <a:tc>
                  <a:txBody>
                    <a:bodyPr/>
                    <a:lstStyle/>
                    <a:p>
                      <a:pPr algn="ctr" fontAlgn="b"/>
                      <a:endParaRPr lang="en-US" sz="1600" b="1" i="1"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pPr algn="ctr"/>
                      <a:endParaRPr lang="en-US" sz="1600" dirty="0">
                        <a:solidFill>
                          <a:srgbClr val="000000"/>
                        </a:solidFill>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1"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pPr algn="ctr" fontAlgn="b"/>
                      <a:r>
                        <a:rPr lang="en-US" sz="1600" b="1" i="0" u="none" strike="noStrike" dirty="0">
                          <a:solidFill>
                            <a:srgbClr val="0070C0"/>
                          </a:solidFill>
                          <a:effectLst/>
                          <a:latin typeface="+mn-lt"/>
                          <a:ea typeface="Cambria Math" panose="02040503050406030204" pitchFamily="18" charset="0"/>
                        </a:rPr>
                        <a:t>Values from Equations</a:t>
                      </a: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pPr algn="ctr"/>
                      <a:endParaRPr lang="en-US" sz="1600" dirty="0">
                        <a:solidFill>
                          <a:srgbClr val="000000"/>
                        </a:solidFill>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pPr algn="ctr"/>
                      <a:r>
                        <a:rPr lang="en-US" sz="1600" dirty="0">
                          <a:solidFill>
                            <a:srgbClr val="0070C0"/>
                          </a:solidFill>
                        </a:rPr>
                        <a:t>Values from Excel</a:t>
                      </a: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3431938281"/>
                  </a:ext>
                </a:extLst>
              </a:tr>
            </a:tbl>
          </a:graphicData>
        </a:graphic>
      </p:graphicFrame>
      <mc:AlternateContent xmlns:mc="http://schemas.openxmlformats.org/markup-compatibility/2006" xmlns:a14="http://schemas.microsoft.com/office/drawing/2010/main">
        <mc:Choice Requires="a14">
          <p:graphicFrame>
            <p:nvGraphicFramePr>
              <p:cNvPr id="7" name="Table 8">
                <a:extLst>
                  <a:ext uri="{FF2B5EF4-FFF2-40B4-BE49-F238E27FC236}">
                    <a16:creationId xmlns:a16="http://schemas.microsoft.com/office/drawing/2014/main" id="{589463E7-34F5-4035-3F6E-0051537E5E8D}"/>
                  </a:ext>
                </a:extLst>
              </p:cNvPr>
              <p:cNvGraphicFramePr>
                <a:graphicFrameLocks noGrp="1"/>
              </p:cNvGraphicFramePr>
              <p:nvPr>
                <p:ph type="tbl" sz="quarter" idx="22"/>
                <p:extLst>
                  <p:ext uri="{D42A27DB-BD31-4B8C-83A1-F6EECF244321}">
                    <p14:modId xmlns:p14="http://schemas.microsoft.com/office/powerpoint/2010/main" val="662238927"/>
                  </p:ext>
                </p:extLst>
              </p:nvPr>
            </p:nvGraphicFramePr>
            <p:xfrm>
              <a:off x="5284137" y="2856496"/>
              <a:ext cx="6267022" cy="3077109"/>
            </p:xfrm>
            <a:graphic>
              <a:graphicData uri="http://schemas.openxmlformats.org/drawingml/2006/table">
                <a:tbl>
                  <a:tblPr firstRow="1" bandRow="1">
                    <a:tableStyleId>{5C22544A-7EE6-4342-B048-85BDC9FD1C3A}</a:tableStyleId>
                  </a:tblPr>
                  <a:tblGrid>
                    <a:gridCol w="1009222">
                      <a:extLst>
                        <a:ext uri="{9D8B030D-6E8A-4147-A177-3AD203B41FA5}">
                          <a16:colId xmlns:a16="http://schemas.microsoft.com/office/drawing/2014/main" val="2915852811"/>
                        </a:ext>
                      </a:extLst>
                    </a:gridCol>
                    <a:gridCol w="799130">
                      <a:extLst>
                        <a:ext uri="{9D8B030D-6E8A-4147-A177-3AD203B41FA5}">
                          <a16:colId xmlns:a16="http://schemas.microsoft.com/office/drawing/2014/main" val="1305038350"/>
                        </a:ext>
                      </a:extLst>
                    </a:gridCol>
                    <a:gridCol w="160990">
                      <a:extLst>
                        <a:ext uri="{9D8B030D-6E8A-4147-A177-3AD203B41FA5}">
                          <a16:colId xmlns:a16="http://schemas.microsoft.com/office/drawing/2014/main" val="950036300"/>
                        </a:ext>
                      </a:extLst>
                    </a:gridCol>
                    <a:gridCol w="822960">
                      <a:extLst>
                        <a:ext uri="{9D8B030D-6E8A-4147-A177-3AD203B41FA5}">
                          <a16:colId xmlns:a16="http://schemas.microsoft.com/office/drawing/2014/main" val="2115247573"/>
                        </a:ext>
                      </a:extLst>
                    </a:gridCol>
                    <a:gridCol w="1188720">
                      <a:extLst>
                        <a:ext uri="{9D8B030D-6E8A-4147-A177-3AD203B41FA5}">
                          <a16:colId xmlns:a16="http://schemas.microsoft.com/office/drawing/2014/main" val="1499730287"/>
                        </a:ext>
                      </a:extLst>
                    </a:gridCol>
                    <a:gridCol w="274320">
                      <a:extLst>
                        <a:ext uri="{9D8B030D-6E8A-4147-A177-3AD203B41FA5}">
                          <a16:colId xmlns:a16="http://schemas.microsoft.com/office/drawing/2014/main" val="2969842900"/>
                        </a:ext>
                      </a:extLst>
                    </a:gridCol>
                    <a:gridCol w="1005840">
                      <a:extLst>
                        <a:ext uri="{9D8B030D-6E8A-4147-A177-3AD203B41FA5}">
                          <a16:colId xmlns:a16="http://schemas.microsoft.com/office/drawing/2014/main" val="2433099460"/>
                        </a:ext>
                      </a:extLst>
                    </a:gridCol>
                    <a:gridCol w="1005840">
                      <a:extLst>
                        <a:ext uri="{9D8B030D-6E8A-4147-A177-3AD203B41FA5}">
                          <a16:colId xmlns:a16="http://schemas.microsoft.com/office/drawing/2014/main" val="3391491469"/>
                        </a:ext>
                      </a:extLst>
                    </a:gridCol>
                  </a:tblGrid>
                  <a:tr h="559289">
                    <a:tc>
                      <a:txBody>
                        <a:bodyPr/>
                        <a:lstStyle/>
                        <a:p>
                          <a:pPr algn="ctr" fontAlgn="b"/>
                          <a:r>
                            <a:rPr lang="en-US" sz="1600" b="1" u="none" strike="noStrike" dirty="0">
                              <a:solidFill>
                                <a:srgbClr val="000000"/>
                              </a:solidFill>
                              <a:effectLst/>
                              <a:latin typeface="Cambria Math" panose="02040503050406030204" pitchFamily="18" charset="0"/>
                              <a:ea typeface="Cambria Math" panose="02040503050406030204" pitchFamily="18" charset="0"/>
                            </a:rPr>
                            <a:t>Restaurant </a:t>
                          </a:r>
                          <a:r>
                            <a:rPr lang="en-US" sz="1600" b="1" i="1" u="none" strike="noStrike" dirty="0" err="1">
                              <a:solidFill>
                                <a:srgbClr val="000000"/>
                              </a:solidFill>
                              <a:effectLst/>
                              <a:latin typeface="Cambria Math" panose="02040503050406030204" pitchFamily="18" charset="0"/>
                              <a:ea typeface="Cambria Math" panose="02040503050406030204" pitchFamily="18" charset="0"/>
                            </a:rPr>
                            <a:t>i</a:t>
                          </a:r>
                          <a:endParaRPr lang="en-US" sz="1600" b="1" i="1"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1600" b="1" i="1" smtClean="0">
                                        <a:solidFill>
                                          <a:srgbClr val="000000"/>
                                        </a:solidFill>
                                        <a:latin typeface="Cambria Math" panose="02040503050406030204" pitchFamily="18" charset="0"/>
                                      </a:rPr>
                                    </m:ctrlPr>
                                  </m:sSubPr>
                                  <m:e>
                                    <m:r>
                                      <a:rPr lang="en-US" sz="1600" b="1" i="1" smtClean="0">
                                        <a:solidFill>
                                          <a:srgbClr val="000000"/>
                                        </a:solidFill>
                                        <a:latin typeface="Cambria Math" panose="02040503050406030204" pitchFamily="18" charset="0"/>
                                      </a:rPr>
                                      <m:t>𝒚</m:t>
                                    </m:r>
                                  </m:e>
                                  <m:sub>
                                    <m:r>
                                      <a:rPr lang="en-US" sz="1600" b="1" i="1" smtClean="0">
                                        <a:solidFill>
                                          <a:srgbClr val="000000"/>
                                        </a:solidFill>
                                        <a:latin typeface="Cambria Math" panose="02040503050406030204" pitchFamily="18" charset="0"/>
                                      </a:rPr>
                                      <m:t>𝒊</m:t>
                                    </m:r>
                                  </m:sub>
                                </m:sSub>
                                <m:r>
                                  <a:rPr lang="en-US" sz="1600" b="1" i="1" smtClean="0">
                                    <a:solidFill>
                                      <a:srgbClr val="000000"/>
                                    </a:solidFill>
                                    <a:latin typeface="Cambria Math" panose="02040503050406030204" pitchFamily="18" charset="0"/>
                                  </a:rPr>
                                  <m:t>−</m:t>
                                </m:r>
                                <m:sSub>
                                  <m:sSubPr>
                                    <m:ctrlPr>
                                      <a:rPr lang="en-US" sz="1600" b="1" i="1" smtClean="0">
                                        <a:solidFill>
                                          <a:srgbClr val="000000"/>
                                        </a:solidFill>
                                        <a:latin typeface="Cambria Math" panose="02040503050406030204" pitchFamily="18" charset="0"/>
                                      </a:rPr>
                                    </m:ctrlPr>
                                  </m:sSubPr>
                                  <m:e>
                                    <m:acc>
                                      <m:accPr>
                                        <m:chr m:val="̂"/>
                                        <m:ctrlPr>
                                          <a:rPr lang="en-US" sz="1600" b="1" i="1" smtClean="0">
                                            <a:solidFill>
                                              <a:srgbClr val="000000"/>
                                            </a:solidFill>
                                            <a:latin typeface="Cambria Math" panose="02040503050406030204" pitchFamily="18" charset="0"/>
                                          </a:rPr>
                                        </m:ctrlPr>
                                      </m:accPr>
                                      <m:e>
                                        <m:r>
                                          <a:rPr lang="en-US" sz="1600" b="1" i="1" smtClean="0">
                                            <a:solidFill>
                                              <a:srgbClr val="000000"/>
                                            </a:solidFill>
                                            <a:latin typeface="Cambria Math" panose="02040503050406030204" pitchFamily="18" charset="0"/>
                                          </a:rPr>
                                          <m:t>𝒚</m:t>
                                        </m:r>
                                      </m:e>
                                    </m:acc>
                                  </m:e>
                                  <m:sub>
                                    <m:r>
                                      <a:rPr lang="en-US" sz="1600" b="1" i="1" smtClean="0">
                                        <a:solidFill>
                                          <a:srgbClr val="000000"/>
                                        </a:solidFill>
                                        <a:latin typeface="Cambria Math" panose="02040503050406030204" pitchFamily="18" charset="0"/>
                                      </a:rPr>
                                      <m:t>𝒊</m:t>
                                    </m:r>
                                  </m:sub>
                                </m:sSub>
                              </m:oMath>
                            </m:oMathPara>
                          </a14:m>
                          <a:endParaRPr lang="en-US" sz="1600" b="1" dirty="0">
                            <a:solidFill>
                              <a:srgbClr val="000000"/>
                            </a:solidFill>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1"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𝒔</m:t>
                                    </m:r>
                                  </m:e>
                                  <m:sub>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𝒚</m:t>
                                        </m:r>
                                      </m:e>
                                      <m:sub>
                                        <m:r>
                                          <a:rPr lang="en-US" sz="1600" b="1" i="1" u="none" strike="noStrike" smtClean="0">
                                            <a:solidFill>
                                              <a:srgbClr val="000000"/>
                                            </a:solidFill>
                                            <a:effectLst/>
                                            <a:latin typeface="Cambria Math" panose="02040503050406030204" pitchFamily="18" charset="0"/>
                                            <a:ea typeface="Cambria Math" panose="02040503050406030204" pitchFamily="18" charset="0"/>
                                          </a:rPr>
                                          <m:t>𝒊</m:t>
                                        </m:r>
                                      </m:sub>
                                    </m:sSub>
                                    <m:r>
                                      <a:rPr lang="en-US" sz="1600" b="1"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𝒚</m:t>
                                            </m:r>
                                          </m:e>
                                        </m:acc>
                                      </m:e>
                                      <m:sub>
                                        <m:r>
                                          <a:rPr lang="en-US" sz="1600" b="1" i="1" u="none" strike="noStrike" smtClean="0">
                                            <a:solidFill>
                                              <a:srgbClr val="000000"/>
                                            </a:solidFill>
                                            <a:effectLst/>
                                            <a:latin typeface="Cambria Math" panose="02040503050406030204" pitchFamily="18" charset="0"/>
                                            <a:ea typeface="Cambria Math" panose="02040503050406030204" pitchFamily="18" charset="0"/>
                                          </a:rPr>
                                          <m:t>𝒊</m:t>
                                        </m:r>
                                      </m:sub>
                                    </m:sSub>
                                  </m:sub>
                                </m:sSub>
                              </m:oMath>
                            </m:oMathPara>
                          </a14:m>
                          <a:endParaRPr lang="en-US" sz="1600" b="1"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pPr algn="ctr"/>
                          <a:r>
                            <a:rPr lang="en-US" sz="1600" b="1" dirty="0">
                              <a:solidFill>
                                <a:srgbClr val="000000"/>
                              </a:solidFill>
                            </a:rPr>
                            <a:t>Standardized Residual</a:t>
                          </a: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pPr algn="ctr"/>
                          <a:endParaRPr lang="en-US" sz="1600" b="1" dirty="0">
                            <a:solidFill>
                              <a:srgbClr val="000000"/>
                            </a:solidFill>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pPr algn="ctr"/>
                          <a:r>
                            <a:rPr lang="en-US" sz="1600" b="1" u="none" strike="noStrike" dirty="0">
                              <a:solidFill>
                                <a:srgbClr val="000000"/>
                              </a:solidFill>
                              <a:effectLst/>
                              <a:ea typeface="Cambria Math" panose="02040503050406030204" pitchFamily="18" charset="0"/>
                            </a:rPr>
                            <a:t>Estimate of</a:t>
                          </a:r>
                          <a:r>
                            <a:rPr lang="en-US" sz="1600" b="1" u="none" strike="noStrike" baseline="0" dirty="0">
                              <a:solidFill>
                                <a:srgbClr val="000000"/>
                              </a:solidFill>
                              <a:effectLst/>
                              <a:ea typeface="Cambria Math" panose="02040503050406030204" pitchFamily="18" charset="0"/>
                            </a:rPr>
                            <a:t> </a:t>
                          </a:r>
                          <a14:m>
                            <m:oMath xmlns:m="http://schemas.openxmlformats.org/officeDocument/2006/math">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𝒔</m:t>
                                  </m:r>
                                </m:e>
                                <m:sub>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𝒚</m:t>
                                      </m:r>
                                    </m:e>
                                    <m:sub>
                                      <m:r>
                                        <a:rPr lang="en-US" sz="1600" b="1" i="1" u="none" strike="noStrike" smtClean="0">
                                          <a:solidFill>
                                            <a:srgbClr val="000000"/>
                                          </a:solidFill>
                                          <a:effectLst/>
                                          <a:latin typeface="Cambria Math" panose="02040503050406030204" pitchFamily="18" charset="0"/>
                                          <a:ea typeface="Cambria Math" panose="02040503050406030204" pitchFamily="18" charset="0"/>
                                        </a:rPr>
                                        <m:t>𝒊</m:t>
                                      </m:r>
                                    </m:sub>
                                  </m:sSub>
                                  <m:r>
                                    <a:rPr lang="en-US" sz="1600" b="1"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1"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1" i="1" u="none" strike="noStrike" smtClean="0">
                                              <a:solidFill>
                                                <a:srgbClr val="000000"/>
                                              </a:solidFill>
                                              <a:effectLst/>
                                              <a:latin typeface="Cambria Math" panose="02040503050406030204" pitchFamily="18" charset="0"/>
                                              <a:ea typeface="Cambria Math" panose="02040503050406030204" pitchFamily="18" charset="0"/>
                                            </a:rPr>
                                            <m:t>𝒚</m:t>
                                          </m:r>
                                        </m:e>
                                      </m:acc>
                                    </m:e>
                                    <m:sub>
                                      <m:r>
                                        <a:rPr lang="en-US" sz="1600" b="1" i="1" u="none" strike="noStrike" smtClean="0">
                                          <a:solidFill>
                                            <a:srgbClr val="000000"/>
                                          </a:solidFill>
                                          <a:effectLst/>
                                          <a:latin typeface="Cambria Math" panose="02040503050406030204" pitchFamily="18" charset="0"/>
                                          <a:ea typeface="Cambria Math" panose="02040503050406030204" pitchFamily="18" charset="0"/>
                                        </a:rPr>
                                        <m:t>𝒊</m:t>
                                      </m:r>
                                    </m:sub>
                                  </m:sSub>
                                </m:sub>
                              </m:sSub>
                            </m:oMath>
                          </a14:m>
                          <a:endParaRPr lang="en-US" sz="1600" b="1" dirty="0">
                            <a:solidFill>
                              <a:srgbClr val="000000"/>
                            </a:solidFill>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000000"/>
                              </a:solidFill>
                            </a:rPr>
                            <a:t>Standard Residual</a:t>
                          </a: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3631184426"/>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dirty="0">
                              <a:solidFill>
                                <a:srgbClr val="000000"/>
                              </a:solidFill>
                              <a:effectLst/>
                              <a:latin typeface="Cambria Math" panose="02040503050406030204" pitchFamily="18" charset="0"/>
                              <a:ea typeface="Cambria Math" panose="02040503050406030204" pitchFamily="18" charset="0"/>
                            </a:rPr>
                            <a:t>	-12</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11.1193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a:solidFill>
                                <a:srgbClr val="000000"/>
                              </a:solidFill>
                              <a:effectLst/>
                              <a:latin typeface="Cambria Math" panose="02040503050406030204" pitchFamily="18" charset="0"/>
                              <a:ea typeface="Cambria Math" panose="02040503050406030204" pitchFamily="18" charset="0"/>
                            </a:rPr>
                            <a:t>	-1.0792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tabLst>
                              <a:tab pos="460375" algn="r"/>
                            </a:tabLst>
                          </a:pP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tabLst>
                              <a:tab pos="460375" algn="r"/>
                            </a:tabLst>
                          </a:pPr>
                          <a:r>
                            <a:rPr lang="en-US" sz="1600" b="0" i="0" u="none" strike="noStrike" dirty="0">
                              <a:solidFill>
                                <a:srgbClr val="000000"/>
                              </a:solidFill>
                              <a:effectLst/>
                              <a:latin typeface="Cambria Math" panose="02040503050406030204" pitchFamily="18" charset="0"/>
                              <a:ea typeface="Cambria Math" panose="02040503050406030204" pitchFamily="18" charset="0"/>
                            </a:rPr>
                            <a:t>	13.0384</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u="none" strike="noStrike" kern="1200">
                              <a:solidFill>
                                <a:srgbClr val="000000"/>
                              </a:solidFill>
                              <a:effectLst/>
                              <a:latin typeface="Cambria Math" panose="02040503050406030204" pitchFamily="18" charset="0"/>
                              <a:ea typeface="Cambria Math" panose="02040503050406030204" pitchFamily="18" charset="0"/>
                              <a:cs typeface="+mn-cs"/>
                            </a:rPr>
                            <a:t>	-0.9204</a:t>
                          </a:r>
                          <a:endPar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561273509"/>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dirty="0">
                              <a:solidFill>
                                <a:srgbClr val="000000"/>
                              </a:solidFill>
                              <a:effectLst/>
                              <a:latin typeface="Cambria Math" panose="02040503050406030204" pitchFamily="18" charset="0"/>
                              <a:ea typeface="Cambria Math" panose="02040503050406030204" pitchFamily="18" charset="0"/>
                            </a:rPr>
                            <a:t>	15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12.2709</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1.2224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rPr>
                            <a:t>	1.1504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3403820975"/>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a:solidFill>
                                <a:srgbClr val="000000"/>
                              </a:solidFill>
                              <a:effectLst/>
                              <a:latin typeface="Cambria Math" panose="02040503050406030204" pitchFamily="18" charset="0"/>
                              <a:ea typeface="Cambria Math" panose="02040503050406030204" pitchFamily="18" charset="0"/>
                            </a:rPr>
                            <a:t>	-12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-0.9487</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13.0384</a:t>
                          </a: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a:solidFill>
                                <a:srgbClr val="000000"/>
                              </a:solidFill>
                              <a:effectLst/>
                              <a:latin typeface="Cambria Math" panose="02040503050406030204" pitchFamily="18" charset="0"/>
                              <a:ea typeface="Cambria Math" panose="02040503050406030204" pitchFamily="18" charset="0"/>
                              <a:cs typeface="+mn-cs"/>
                            </a:rPr>
                            <a:t>	-0.9204</a:t>
                          </a:r>
                          <a:endPar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1766831002"/>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dirty="0">
                              <a:solidFill>
                                <a:srgbClr val="000000"/>
                              </a:solidFill>
                              <a:effectLst/>
                              <a:latin typeface="Cambria Math" panose="02040503050406030204" pitchFamily="18" charset="0"/>
                              <a:ea typeface="Cambria Math" panose="02040503050406030204" pitchFamily="18" charset="0"/>
                            </a:rPr>
                            <a:t>	18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1.4230</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rPr>
                            <a:t>	1.3805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2213302503"/>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5</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13.0682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-0.2296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a:solidFill>
                                <a:srgbClr val="000000"/>
                              </a:solidFill>
                              <a:effectLst/>
                              <a:latin typeface="Cambria Math" panose="02040503050406030204" pitchFamily="18" charset="0"/>
                              <a:ea typeface="Cambria Math" panose="02040503050406030204" pitchFamily="18" charset="0"/>
                              <a:cs typeface="+mn-cs"/>
                            </a:rPr>
                            <a:t>	-0.2301</a:t>
                          </a:r>
                          <a:endPar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3030692175"/>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13.0682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-0.2296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a:solidFill>
                                <a:srgbClr val="000000"/>
                              </a:solidFill>
                              <a:effectLst/>
                              <a:latin typeface="Cambria Math" panose="02040503050406030204" pitchFamily="18" charset="0"/>
                              <a:ea typeface="Cambria Math" panose="02040503050406030204" pitchFamily="18" charset="0"/>
                              <a:cs typeface="+mn-cs"/>
                            </a:rPr>
                            <a:t>	-0.2301</a:t>
                          </a:r>
                          <a:endPar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3076735034"/>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7</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-0.2372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a:solidFill>
                                <a:srgbClr val="000000"/>
                              </a:solidFill>
                              <a:effectLst/>
                              <a:latin typeface="Cambria Math" panose="02040503050406030204" pitchFamily="18" charset="0"/>
                              <a:ea typeface="Cambria Math" panose="02040503050406030204" pitchFamily="18" charset="0"/>
                              <a:cs typeface="+mn-cs"/>
                            </a:rPr>
                            <a:t>	-0.2301</a:t>
                          </a:r>
                          <a:endPar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742985813"/>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8</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0.7115</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rPr>
                            <a:t>	0.6903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1289561230"/>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9</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a:solidFill>
                                <a:srgbClr val="000000"/>
                              </a:solidFill>
                              <a:effectLst/>
                              <a:latin typeface="Cambria Math" panose="02040503050406030204" pitchFamily="18" charset="0"/>
                              <a:ea typeface="Cambria Math" panose="02040503050406030204" pitchFamily="18" charset="0"/>
                            </a:rPr>
                            <a:t>	-21</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12.2709</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-1.7114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rPr>
                            <a:t>	-1.6106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822458864"/>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10</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dirty="0">
                              <a:solidFill>
                                <a:srgbClr val="000000"/>
                              </a:solidFill>
                              <a:effectLst/>
                              <a:latin typeface="Cambria Math" panose="02040503050406030204" pitchFamily="18" charset="0"/>
                              <a:ea typeface="Cambria Math" panose="02040503050406030204" pitchFamily="18" charset="0"/>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11.1193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1.0792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rPr>
                            <a:t>	0.9204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1127456605"/>
                      </a:ext>
                    </a:extLst>
                  </a:tr>
                </a:tbl>
              </a:graphicData>
            </a:graphic>
          </p:graphicFrame>
        </mc:Choice>
        <mc:Fallback xmlns="">
          <p:graphicFrame>
            <p:nvGraphicFramePr>
              <p:cNvPr id="7" name="Table 8">
                <a:extLst>
                  <a:ext uri="{FF2B5EF4-FFF2-40B4-BE49-F238E27FC236}">
                    <a16:creationId xmlns:a16="http://schemas.microsoft.com/office/drawing/2014/main" id="{589463E7-34F5-4035-3F6E-0051537E5E8D}"/>
                  </a:ext>
                </a:extLst>
              </p:cNvPr>
              <p:cNvGraphicFramePr>
                <a:graphicFrameLocks noGrp="1"/>
              </p:cNvGraphicFramePr>
              <p:nvPr>
                <p:ph type="tbl" sz="quarter" idx="22"/>
                <p:extLst>
                  <p:ext uri="{D42A27DB-BD31-4B8C-83A1-F6EECF244321}">
                    <p14:modId xmlns:p14="http://schemas.microsoft.com/office/powerpoint/2010/main" val="662238927"/>
                  </p:ext>
                </p:extLst>
              </p:nvPr>
            </p:nvGraphicFramePr>
            <p:xfrm>
              <a:off x="5284137" y="2856496"/>
              <a:ext cx="6267022" cy="3077109"/>
            </p:xfrm>
            <a:graphic>
              <a:graphicData uri="http://schemas.openxmlformats.org/drawingml/2006/table">
                <a:tbl>
                  <a:tblPr firstRow="1" bandRow="1">
                    <a:tableStyleId>{5C22544A-7EE6-4342-B048-85BDC9FD1C3A}</a:tableStyleId>
                  </a:tblPr>
                  <a:tblGrid>
                    <a:gridCol w="1009222">
                      <a:extLst>
                        <a:ext uri="{9D8B030D-6E8A-4147-A177-3AD203B41FA5}">
                          <a16:colId xmlns:a16="http://schemas.microsoft.com/office/drawing/2014/main" val="2915852811"/>
                        </a:ext>
                      </a:extLst>
                    </a:gridCol>
                    <a:gridCol w="799130">
                      <a:extLst>
                        <a:ext uri="{9D8B030D-6E8A-4147-A177-3AD203B41FA5}">
                          <a16:colId xmlns:a16="http://schemas.microsoft.com/office/drawing/2014/main" val="1305038350"/>
                        </a:ext>
                      </a:extLst>
                    </a:gridCol>
                    <a:gridCol w="160990">
                      <a:extLst>
                        <a:ext uri="{9D8B030D-6E8A-4147-A177-3AD203B41FA5}">
                          <a16:colId xmlns:a16="http://schemas.microsoft.com/office/drawing/2014/main" val="950036300"/>
                        </a:ext>
                      </a:extLst>
                    </a:gridCol>
                    <a:gridCol w="822960">
                      <a:extLst>
                        <a:ext uri="{9D8B030D-6E8A-4147-A177-3AD203B41FA5}">
                          <a16:colId xmlns:a16="http://schemas.microsoft.com/office/drawing/2014/main" val="2115247573"/>
                        </a:ext>
                      </a:extLst>
                    </a:gridCol>
                    <a:gridCol w="1188720">
                      <a:extLst>
                        <a:ext uri="{9D8B030D-6E8A-4147-A177-3AD203B41FA5}">
                          <a16:colId xmlns:a16="http://schemas.microsoft.com/office/drawing/2014/main" val="1499730287"/>
                        </a:ext>
                      </a:extLst>
                    </a:gridCol>
                    <a:gridCol w="274320">
                      <a:extLst>
                        <a:ext uri="{9D8B030D-6E8A-4147-A177-3AD203B41FA5}">
                          <a16:colId xmlns:a16="http://schemas.microsoft.com/office/drawing/2014/main" val="2969842900"/>
                        </a:ext>
                      </a:extLst>
                    </a:gridCol>
                    <a:gridCol w="1005840">
                      <a:extLst>
                        <a:ext uri="{9D8B030D-6E8A-4147-A177-3AD203B41FA5}">
                          <a16:colId xmlns:a16="http://schemas.microsoft.com/office/drawing/2014/main" val="2433099460"/>
                        </a:ext>
                      </a:extLst>
                    </a:gridCol>
                    <a:gridCol w="1005840">
                      <a:extLst>
                        <a:ext uri="{9D8B030D-6E8A-4147-A177-3AD203B41FA5}">
                          <a16:colId xmlns:a16="http://schemas.microsoft.com/office/drawing/2014/main" val="3391491469"/>
                        </a:ext>
                      </a:extLst>
                    </a:gridCol>
                  </a:tblGrid>
                  <a:tr h="559289">
                    <a:tc>
                      <a:txBody>
                        <a:bodyPr/>
                        <a:lstStyle/>
                        <a:p>
                          <a:pPr algn="ctr" fontAlgn="b"/>
                          <a:r>
                            <a:rPr lang="en-US" sz="1600" b="1" u="none" strike="noStrike" dirty="0">
                              <a:solidFill>
                                <a:srgbClr val="000000"/>
                              </a:solidFill>
                              <a:effectLst/>
                              <a:latin typeface="Cambria Math" panose="02040503050406030204" pitchFamily="18" charset="0"/>
                              <a:ea typeface="Cambria Math" panose="02040503050406030204" pitchFamily="18" charset="0"/>
                            </a:rPr>
                            <a:t>Restaurant </a:t>
                          </a:r>
                          <a:r>
                            <a:rPr lang="en-US" sz="1600" b="1" i="1" u="none" strike="noStrike" dirty="0" err="1">
                              <a:solidFill>
                                <a:srgbClr val="000000"/>
                              </a:solidFill>
                              <a:effectLst/>
                              <a:latin typeface="Cambria Math" panose="02040503050406030204" pitchFamily="18" charset="0"/>
                              <a:ea typeface="Cambria Math" panose="02040503050406030204" pitchFamily="18" charset="0"/>
                            </a:rPr>
                            <a:t>i</a:t>
                          </a:r>
                          <a:endParaRPr lang="en-US" sz="1600" b="1" i="1"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endParaRPr lang="en-US"/>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126718" t="-9783" r="-558779" b="-471739"/>
                          </a:stretch>
                        </a:blipFill>
                      </a:tcPr>
                    </a:tc>
                    <a:tc>
                      <a:txBody>
                        <a:bodyPr/>
                        <a:lstStyle/>
                        <a:p>
                          <a:pPr algn="ctr" fontAlgn="b"/>
                          <a:endParaRPr lang="en-US" sz="1600" b="1"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endParaRPr lang="en-US"/>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239259" t="-9783" r="-422963" b="-471739"/>
                          </a:stretch>
                        </a:blipFill>
                      </a:tcPr>
                    </a:tc>
                    <a:tc>
                      <a:txBody>
                        <a:bodyPr/>
                        <a:lstStyle/>
                        <a:p>
                          <a:pPr algn="ctr"/>
                          <a:r>
                            <a:rPr lang="en-US" sz="1600" b="1" dirty="0">
                              <a:solidFill>
                                <a:srgbClr val="000000"/>
                              </a:solidFill>
                            </a:rPr>
                            <a:t>Standardized Residual</a:t>
                          </a: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pPr algn="ctr"/>
                          <a:endParaRPr lang="en-US" sz="1600" b="1" dirty="0">
                            <a:solidFill>
                              <a:srgbClr val="000000"/>
                            </a:solidFill>
                          </a:endParaRP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tc>
                      <a:txBody>
                        <a:bodyPr/>
                        <a:lstStyle/>
                        <a:p>
                          <a:endParaRPr lang="en-US"/>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423636" t="-9783" r="-100000" b="-471739"/>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000000"/>
                              </a:solidFill>
                            </a:rPr>
                            <a:t>Standard Residual</a:t>
                          </a:r>
                        </a:p>
                      </a:txBody>
                      <a:tcPr marL="0" marR="0" marT="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3631184426"/>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dirty="0">
                              <a:solidFill>
                                <a:srgbClr val="000000"/>
                              </a:solidFill>
                              <a:effectLst/>
                              <a:latin typeface="Cambria Math" panose="02040503050406030204" pitchFamily="18" charset="0"/>
                              <a:ea typeface="Cambria Math" panose="02040503050406030204" pitchFamily="18" charset="0"/>
                            </a:rPr>
                            <a:t>	-12</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11.1193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a:solidFill>
                                <a:srgbClr val="000000"/>
                              </a:solidFill>
                              <a:effectLst/>
                              <a:latin typeface="Cambria Math" panose="02040503050406030204" pitchFamily="18" charset="0"/>
                              <a:ea typeface="Cambria Math" panose="02040503050406030204" pitchFamily="18" charset="0"/>
                            </a:rPr>
                            <a:t>	-1.0792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tabLst>
                              <a:tab pos="460375" algn="r"/>
                            </a:tabLst>
                          </a:pP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tabLst>
                              <a:tab pos="460375" algn="r"/>
                            </a:tabLst>
                          </a:pPr>
                          <a:r>
                            <a:rPr lang="en-US" sz="1600" b="0" i="0" u="none" strike="noStrike" dirty="0">
                              <a:solidFill>
                                <a:srgbClr val="000000"/>
                              </a:solidFill>
                              <a:effectLst/>
                              <a:latin typeface="Cambria Math" panose="02040503050406030204" pitchFamily="18" charset="0"/>
                              <a:ea typeface="Cambria Math" panose="02040503050406030204" pitchFamily="18" charset="0"/>
                            </a:rPr>
                            <a:t>	13.0384</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u="none" strike="noStrike" kern="1200">
                              <a:solidFill>
                                <a:srgbClr val="000000"/>
                              </a:solidFill>
                              <a:effectLst/>
                              <a:latin typeface="Cambria Math" panose="02040503050406030204" pitchFamily="18" charset="0"/>
                              <a:ea typeface="Cambria Math" panose="02040503050406030204" pitchFamily="18" charset="0"/>
                              <a:cs typeface="+mn-cs"/>
                            </a:rPr>
                            <a:t>	-0.9204</a:t>
                          </a:r>
                          <a:endParaRPr lang="en-US" sz="160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561273509"/>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dirty="0">
                              <a:solidFill>
                                <a:srgbClr val="000000"/>
                              </a:solidFill>
                              <a:effectLst/>
                              <a:latin typeface="Cambria Math" panose="02040503050406030204" pitchFamily="18" charset="0"/>
                              <a:ea typeface="Cambria Math" panose="02040503050406030204" pitchFamily="18" charset="0"/>
                            </a:rPr>
                            <a:t>	15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12.2709</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1.2224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rPr>
                            <a:t>	1.1504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3403820975"/>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a:solidFill>
                                <a:srgbClr val="000000"/>
                              </a:solidFill>
                              <a:effectLst/>
                              <a:latin typeface="Cambria Math" panose="02040503050406030204" pitchFamily="18" charset="0"/>
                              <a:ea typeface="Cambria Math" panose="02040503050406030204" pitchFamily="18" charset="0"/>
                            </a:rPr>
                            <a:t>	-12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-0.9487</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a:t>13.0384</a:t>
                          </a: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a:solidFill>
                                <a:srgbClr val="000000"/>
                              </a:solidFill>
                              <a:effectLst/>
                              <a:latin typeface="Cambria Math" panose="02040503050406030204" pitchFamily="18" charset="0"/>
                              <a:ea typeface="Cambria Math" panose="02040503050406030204" pitchFamily="18" charset="0"/>
                              <a:cs typeface="+mn-cs"/>
                            </a:rPr>
                            <a:t>	-0.9204</a:t>
                          </a:r>
                          <a:endPar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1766831002"/>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dirty="0">
                              <a:solidFill>
                                <a:srgbClr val="000000"/>
                              </a:solidFill>
                              <a:effectLst/>
                              <a:latin typeface="Cambria Math" panose="02040503050406030204" pitchFamily="18" charset="0"/>
                              <a:ea typeface="Cambria Math" panose="02040503050406030204" pitchFamily="18" charset="0"/>
                            </a:rPr>
                            <a:t>	18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1.4230</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rPr>
                            <a:t>	1.3805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2213302503"/>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5</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13.0682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-0.2296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a:solidFill>
                                <a:srgbClr val="000000"/>
                              </a:solidFill>
                              <a:effectLst/>
                              <a:latin typeface="Cambria Math" panose="02040503050406030204" pitchFamily="18" charset="0"/>
                              <a:ea typeface="Cambria Math" panose="02040503050406030204" pitchFamily="18" charset="0"/>
                              <a:cs typeface="+mn-cs"/>
                            </a:rPr>
                            <a:t>	-0.2301</a:t>
                          </a:r>
                          <a:endPar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3030692175"/>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13.0682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-0.2296</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a:solidFill>
                                <a:srgbClr val="000000"/>
                              </a:solidFill>
                              <a:effectLst/>
                              <a:latin typeface="Cambria Math" panose="02040503050406030204" pitchFamily="18" charset="0"/>
                              <a:ea typeface="Cambria Math" panose="02040503050406030204" pitchFamily="18" charset="0"/>
                              <a:cs typeface="+mn-cs"/>
                            </a:rPr>
                            <a:t>	-0.2301</a:t>
                          </a:r>
                          <a:endPar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3076735034"/>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7</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a:solidFill>
                                <a:srgbClr val="000000"/>
                              </a:solidFill>
                              <a:effectLst/>
                              <a:latin typeface="Cambria Math" panose="02040503050406030204" pitchFamily="18" charset="0"/>
                              <a:ea typeface="Cambria Math" panose="02040503050406030204" pitchFamily="18" charset="0"/>
                            </a:rPr>
                            <a:t>	-3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-0.2372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a:solidFill>
                                <a:srgbClr val="000000"/>
                              </a:solidFill>
                              <a:effectLst/>
                              <a:latin typeface="Cambria Math" panose="02040503050406030204" pitchFamily="18" charset="0"/>
                              <a:ea typeface="Cambria Math" panose="02040503050406030204" pitchFamily="18" charset="0"/>
                              <a:cs typeface="+mn-cs"/>
                            </a:rPr>
                            <a:t>	-0.2301</a:t>
                          </a:r>
                          <a:endPar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742985813"/>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8</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dirty="0">
                              <a:solidFill>
                                <a:srgbClr val="000000"/>
                              </a:solidFill>
                              <a:effectLst/>
                              <a:latin typeface="Cambria Math" panose="02040503050406030204" pitchFamily="18" charset="0"/>
                              <a:ea typeface="Cambria Math" panose="02040503050406030204" pitchFamily="18" charset="0"/>
                            </a:rPr>
                            <a:t>	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12.6492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0.7115</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rPr>
                            <a:t>	0.6903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1289561230"/>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9</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a:solidFill>
                                <a:srgbClr val="000000"/>
                              </a:solidFill>
                              <a:effectLst/>
                              <a:latin typeface="Cambria Math" panose="02040503050406030204" pitchFamily="18" charset="0"/>
                              <a:ea typeface="Cambria Math" panose="02040503050406030204" pitchFamily="18" charset="0"/>
                            </a:rPr>
                            <a:t>	-21</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12.2709</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-1.7114</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rPr>
                            <a:t>	-1.6106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822458864"/>
                      </a:ext>
                    </a:extLst>
                  </a:tr>
                  <a:tr h="251782">
                    <a:tc>
                      <a:txBody>
                        <a:bodyPr/>
                        <a:lstStyle/>
                        <a:p>
                          <a:pPr algn="l" fontAlgn="b">
                            <a:tabLst>
                              <a:tab pos="57150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10</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457200" algn="r"/>
                            </a:tabLst>
                          </a:pPr>
                          <a:r>
                            <a:rPr lang="en-US" sz="1600" b="0" i="0" u="none" strike="noStrike" dirty="0">
                              <a:solidFill>
                                <a:srgbClr val="000000"/>
                              </a:solidFill>
                              <a:effectLst/>
                              <a:latin typeface="Cambria Math" panose="02040503050406030204" pitchFamily="18" charset="0"/>
                              <a:ea typeface="Cambria Math" panose="02040503050406030204" pitchFamily="18" charset="0"/>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ctr" fontAlgn="b"/>
                          <a:r>
                            <a:rPr lang="en-US" sz="1600" u="none" strike="noStrike" dirty="0">
                              <a:solidFill>
                                <a:srgbClr val="000000"/>
                              </a:solidFill>
                              <a:effectLst/>
                              <a:latin typeface="Cambria Math" panose="02040503050406030204" pitchFamily="18" charset="0"/>
                              <a:ea typeface="Cambria Math" panose="02040503050406030204" pitchFamily="18" charset="0"/>
                            </a:rPr>
                            <a:t>11.1193</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algn="l" fontAlgn="b">
                            <a:tabLst>
                              <a:tab pos="971550" algn="r"/>
                            </a:tabLst>
                          </a:pPr>
                          <a:r>
                            <a:rPr lang="en-US" sz="1600" u="none" strike="noStrike" dirty="0">
                              <a:solidFill>
                                <a:srgbClr val="000000"/>
                              </a:solidFill>
                              <a:effectLst/>
                              <a:latin typeface="Cambria Math" panose="02040503050406030204" pitchFamily="18" charset="0"/>
                              <a:ea typeface="Cambria Math" panose="02040503050406030204" pitchFamily="18" charset="0"/>
                            </a:rPr>
                            <a:t>	1.0792</a:t>
                          </a:r>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endPar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tab pos="460375" algn="r"/>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13.0384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tc>
                      <a:txBody>
                        <a:bodyPr/>
                        <a:lstStyle/>
                        <a:p>
                          <a:pPr marL="0" algn="l" defTabSz="914400" rtl="0" eaLnBrk="1" fontAlgn="b" latinLnBrk="0" hangingPunct="1">
                            <a:tabLst>
                              <a:tab pos="857250" algn="r"/>
                            </a:tabLst>
                          </a:pPr>
                          <a:r>
                            <a:rPr lang="en-US" sz="1600" b="0" i="0" u="none" strike="noStrike" kern="1200" dirty="0">
                              <a:solidFill>
                                <a:srgbClr val="000000"/>
                              </a:solidFill>
                              <a:effectLst/>
                              <a:latin typeface="Cambria Math" panose="02040503050406030204" pitchFamily="18" charset="0"/>
                              <a:ea typeface="Cambria Math" panose="02040503050406030204" pitchFamily="18" charset="0"/>
                              <a:cs typeface="+mn-cs"/>
                            </a:rPr>
                            <a:t>	0.9204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7E7DC"/>
                        </a:solidFill>
                      </a:tcPr>
                    </a:tc>
                    <a:extLst>
                      <a:ext uri="{0D108BD9-81ED-4DB2-BD59-A6C34878D82A}">
                        <a16:rowId xmlns:a16="http://schemas.microsoft.com/office/drawing/2014/main" val="1127456605"/>
                      </a:ext>
                    </a:extLst>
                  </a:tr>
                </a:tbl>
              </a:graphicData>
            </a:graphic>
          </p:graphicFrame>
        </mc:Fallback>
      </mc:AlternateContent>
    </p:spTree>
    <p:extLst>
      <p:ext uri="{BB962C8B-B14F-4D97-AF65-F5344CB8AC3E}">
        <p14:creationId xmlns:p14="http://schemas.microsoft.com/office/powerpoint/2010/main" val="22310117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D1E21-AF5C-72CB-F3E4-DD94DF7A2BAF}"/>
              </a:ext>
            </a:extLst>
          </p:cNvPr>
          <p:cNvSpPr>
            <a:spLocks noGrp="1"/>
          </p:cNvSpPr>
          <p:nvPr>
            <p:ph type="title"/>
          </p:nvPr>
        </p:nvSpPr>
        <p:spPr/>
        <p:txBody>
          <a:bodyPr/>
          <a:lstStyle/>
          <a:p>
            <a:r>
              <a:rPr lang="en-US" dirty="0"/>
              <a:t>14.8 Normal Probability Plot</a:t>
            </a:r>
          </a:p>
        </p:txBody>
      </p:sp>
      <p:sp>
        <p:nvSpPr>
          <p:cNvPr id="3" name="Text Placeholder 2">
            <a:extLst>
              <a:ext uri="{FF2B5EF4-FFF2-40B4-BE49-F238E27FC236}">
                <a16:creationId xmlns:a16="http://schemas.microsoft.com/office/drawing/2014/main" id="{FCC29821-6826-79AC-F6C1-7820E8B2513D}"/>
              </a:ext>
            </a:extLst>
          </p:cNvPr>
          <p:cNvSpPr>
            <a:spLocks noGrp="1"/>
          </p:cNvSpPr>
          <p:nvPr>
            <p:ph type="body" sz="quarter" idx="15"/>
          </p:nvPr>
        </p:nvSpPr>
        <p:spPr>
          <a:xfrm>
            <a:off x="743575" y="1273463"/>
            <a:ext cx="10324115" cy="672105"/>
          </a:xfrm>
        </p:spPr>
        <p:txBody>
          <a:bodyPr>
            <a:normAutofit/>
          </a:bodyPr>
          <a:lstStyle/>
          <a:p>
            <a:pPr>
              <a:lnSpc>
                <a:spcPct val="100000"/>
              </a:lnSpc>
              <a:spcBef>
                <a:spcPts val="600"/>
              </a:spcBef>
            </a:pPr>
            <a:r>
              <a:rPr lang="en-US" sz="2000" dirty="0"/>
              <a:t>A </a:t>
            </a:r>
            <a:r>
              <a:rPr lang="en-US" sz="2000" b="1" dirty="0"/>
              <a:t>normal probability plot </a:t>
            </a:r>
            <a:r>
              <a:rPr lang="en-US" sz="2000" dirty="0"/>
              <a:t>displays the ordered standardized residuals against the values of the </a:t>
            </a:r>
            <a:r>
              <a:rPr lang="en-US" sz="2000" i="1" dirty="0"/>
              <a:t>normal scores</a:t>
            </a:r>
            <a:r>
              <a:rPr lang="en-US" sz="2000" dirty="0"/>
              <a:t> (*see notes for details about normal scores.) </a:t>
            </a:r>
          </a:p>
        </p:txBody>
      </p:sp>
      <p:sp>
        <p:nvSpPr>
          <p:cNvPr id="4" name="Text Placeholder 3">
            <a:extLst>
              <a:ext uri="{FF2B5EF4-FFF2-40B4-BE49-F238E27FC236}">
                <a16:creationId xmlns:a16="http://schemas.microsoft.com/office/drawing/2014/main" id="{32AF021F-04AD-EECA-BBF8-AC3511073EDD}"/>
              </a:ext>
            </a:extLst>
          </p:cNvPr>
          <p:cNvSpPr>
            <a:spLocks noGrp="1"/>
          </p:cNvSpPr>
          <p:nvPr>
            <p:ph type="body" sz="quarter" idx="18"/>
          </p:nvPr>
        </p:nvSpPr>
        <p:spPr>
          <a:xfrm>
            <a:off x="742613" y="1952268"/>
            <a:ext cx="6513320" cy="1487301"/>
          </a:xfrm>
        </p:spPr>
        <p:txBody>
          <a:bodyPr>
            <a:noAutofit/>
          </a:bodyPr>
          <a:lstStyle/>
          <a:p>
            <a:pPr>
              <a:lnSpc>
                <a:spcPct val="100000"/>
              </a:lnSpc>
              <a:spcBef>
                <a:spcPts val="600"/>
              </a:spcBef>
            </a:pPr>
            <a:r>
              <a:rPr lang="en-US" sz="2000" dirty="0"/>
              <a:t>With a linear pattern close to the 45º line, we can assume that the error term has a normal probability distribution.</a:t>
            </a:r>
          </a:p>
          <a:p>
            <a:pPr>
              <a:lnSpc>
                <a:spcPct val="100000"/>
              </a:lnSpc>
              <a:spcBef>
                <a:spcPts val="600"/>
              </a:spcBef>
            </a:pPr>
            <a:r>
              <a:rPr lang="en-US" sz="2000" dirty="0"/>
              <a:t>Below are the 10 observations for the Armand’s Pizza Parlor normal probability plot that is shown to the right.</a:t>
            </a:r>
          </a:p>
        </p:txBody>
      </p:sp>
      <p:graphicFrame>
        <p:nvGraphicFramePr>
          <p:cNvPr id="9" name="Table Placeholder 8">
            <a:extLst>
              <a:ext uri="{FF2B5EF4-FFF2-40B4-BE49-F238E27FC236}">
                <a16:creationId xmlns:a16="http://schemas.microsoft.com/office/drawing/2014/main" id="{ADA9DCF0-CC46-6DD3-6B77-7ECF075AE67E}"/>
              </a:ext>
            </a:extLst>
          </p:cNvPr>
          <p:cNvGraphicFramePr>
            <a:graphicFrameLocks noGrp="1"/>
          </p:cNvGraphicFramePr>
          <p:nvPr>
            <p:ph type="tbl" sz="quarter" idx="22"/>
            <p:extLst>
              <p:ext uri="{D42A27DB-BD31-4B8C-83A1-F6EECF244321}">
                <p14:modId xmlns:p14="http://schemas.microsoft.com/office/powerpoint/2010/main" val="1490241701"/>
              </p:ext>
            </p:extLst>
          </p:nvPr>
        </p:nvGraphicFramePr>
        <p:xfrm>
          <a:off x="1216747" y="3357133"/>
          <a:ext cx="5394960" cy="2469280"/>
        </p:xfrm>
        <a:graphic>
          <a:graphicData uri="http://schemas.openxmlformats.org/drawingml/2006/table">
            <a:tbl>
              <a:tblPr firstRow="1">
                <a:tableStyleId>{5C22544A-7EE6-4342-B048-85BDC9FD1C3A}</a:tableStyleId>
              </a:tblPr>
              <a:tblGrid>
                <a:gridCol w="1371600">
                  <a:extLst>
                    <a:ext uri="{9D8B030D-6E8A-4147-A177-3AD203B41FA5}">
                      <a16:colId xmlns:a16="http://schemas.microsoft.com/office/drawing/2014/main" val="2717421749"/>
                    </a:ext>
                  </a:extLst>
                </a:gridCol>
                <a:gridCol w="1371600">
                  <a:extLst>
                    <a:ext uri="{9D8B030D-6E8A-4147-A177-3AD203B41FA5}">
                      <a16:colId xmlns:a16="http://schemas.microsoft.com/office/drawing/2014/main" val="2263350308"/>
                    </a:ext>
                  </a:extLst>
                </a:gridCol>
                <a:gridCol w="2651760">
                  <a:extLst>
                    <a:ext uri="{9D8B030D-6E8A-4147-A177-3AD203B41FA5}">
                      <a16:colId xmlns:a16="http://schemas.microsoft.com/office/drawing/2014/main" val="3649609386"/>
                    </a:ext>
                  </a:extLst>
                </a:gridCol>
              </a:tblGrid>
              <a:tr h="274320">
                <a:tc>
                  <a:txBody>
                    <a:bodyPr/>
                    <a:lstStyle/>
                    <a:p>
                      <a:pPr algn="l" fontAlgn="b"/>
                      <a:r>
                        <a:rPr lang="en-US" sz="1400" b="1" u="none" strike="noStrike" dirty="0">
                          <a:solidFill>
                            <a:srgbClr val="000000"/>
                          </a:solidFill>
                          <a:effectLst/>
                        </a:rPr>
                        <a:t> Order Statistic </a:t>
                      </a:r>
                      <a:endParaRPr lang="en-US" sz="1400" b="1" i="0" u="none" strike="noStrike" dirty="0">
                        <a:solidFill>
                          <a:srgbClr val="000000"/>
                        </a:solidFill>
                        <a:effectLst/>
                        <a:latin typeface="Times New Roman" panose="02020603050405020304" pitchFamily="18" charset="0"/>
                      </a:endParaRPr>
                    </a:p>
                  </a:txBody>
                  <a:tcPr marL="6136" marR="6136" marT="6136" marB="0" anchor="ctr">
                    <a:lnB w="12700" cmpd="sng">
                      <a:noFill/>
                    </a:lnB>
                    <a:solidFill>
                      <a:srgbClr val="FFF4DC"/>
                    </a:solidFill>
                  </a:tcPr>
                </a:tc>
                <a:tc>
                  <a:txBody>
                    <a:bodyPr/>
                    <a:lstStyle/>
                    <a:p>
                      <a:pPr algn="l" fontAlgn="b"/>
                      <a:r>
                        <a:rPr lang="en-US" sz="1400" b="1" u="none" strike="noStrike" dirty="0">
                          <a:solidFill>
                            <a:srgbClr val="000000"/>
                          </a:solidFill>
                          <a:effectLst/>
                        </a:rPr>
                        <a:t>Normal Scores </a:t>
                      </a:r>
                      <a:endParaRPr lang="en-US" sz="1400" b="1" i="0" u="none" strike="noStrike" dirty="0">
                        <a:solidFill>
                          <a:srgbClr val="000000"/>
                        </a:solidFill>
                        <a:effectLst/>
                        <a:latin typeface="Times New Roman" panose="02020603050405020304" pitchFamily="18" charset="0"/>
                      </a:endParaRPr>
                    </a:p>
                  </a:txBody>
                  <a:tcPr marL="6136" marR="6136" marT="6136" marB="0" anchor="ctr">
                    <a:lnB w="12700" cmpd="sng">
                      <a:noFill/>
                    </a:lnB>
                    <a:solidFill>
                      <a:srgbClr val="FFF4DC"/>
                    </a:solidFill>
                  </a:tcPr>
                </a:tc>
                <a:tc>
                  <a:txBody>
                    <a:bodyPr/>
                    <a:lstStyle/>
                    <a:p>
                      <a:pPr algn="l" fontAlgn="b"/>
                      <a:r>
                        <a:rPr lang="en-US" sz="1400" b="1" u="none" strike="noStrike" dirty="0">
                          <a:solidFill>
                            <a:srgbClr val="000000"/>
                          </a:solidFill>
                          <a:effectLst/>
                        </a:rPr>
                        <a:t>Ordered Standardized Residuals </a:t>
                      </a:r>
                      <a:endParaRPr lang="en-US" sz="1400" b="1" i="0" u="none" strike="noStrike" dirty="0">
                        <a:solidFill>
                          <a:srgbClr val="000000"/>
                        </a:solidFill>
                        <a:effectLst/>
                        <a:latin typeface="Times New Roman" panose="02020603050405020304" pitchFamily="18" charset="0"/>
                      </a:endParaRPr>
                    </a:p>
                  </a:txBody>
                  <a:tcPr marL="6136" marR="6136" marT="6136" marB="0" anchor="ctr">
                    <a:lnB w="12700" cmpd="sng">
                      <a:noFill/>
                    </a:lnB>
                    <a:solidFill>
                      <a:srgbClr val="FFF4DC"/>
                    </a:solidFill>
                  </a:tcPr>
                </a:tc>
                <a:extLst>
                  <a:ext uri="{0D108BD9-81ED-4DB2-BD59-A6C34878D82A}">
                    <a16:rowId xmlns:a16="http://schemas.microsoft.com/office/drawing/2014/main" val="713163684"/>
                  </a:ext>
                </a:extLst>
              </a:tr>
              <a:tr h="190212">
                <a:tc>
                  <a:txBody>
                    <a:bodyPr/>
                    <a:lstStyle/>
                    <a:p>
                      <a:pPr algn="l" fontAlgn="b">
                        <a:tabLst>
                          <a:tab pos="628650" algn="r"/>
                        </a:tabLst>
                      </a:pPr>
                      <a:r>
                        <a:rPr lang="en-US" sz="1400" u="none" strike="noStrike" dirty="0">
                          <a:solidFill>
                            <a:srgbClr val="000000"/>
                          </a:solidFill>
                          <a:effectLst/>
                        </a:rPr>
                        <a:t>	1</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Lst>
                      </a:pPr>
                      <a:r>
                        <a:rPr lang="en-US" sz="1400" u="none" strike="noStrike">
                          <a:solidFill>
                            <a:srgbClr val="000000"/>
                          </a:solidFill>
                          <a:effectLst/>
                        </a:rPr>
                        <a:t>	-1.55</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428750" algn="r"/>
                        </a:tabLst>
                      </a:pPr>
                      <a:r>
                        <a:rPr lang="en-US" sz="1400" u="none" strike="noStrike">
                          <a:solidFill>
                            <a:srgbClr val="000000"/>
                          </a:solidFill>
                          <a:effectLst/>
                        </a:rPr>
                        <a:t>	-1.7114</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04452840"/>
                  </a:ext>
                </a:extLst>
              </a:tr>
              <a:tr h="190212">
                <a:tc>
                  <a:txBody>
                    <a:bodyPr/>
                    <a:lstStyle/>
                    <a:p>
                      <a:pPr algn="l" fontAlgn="b">
                        <a:tabLst>
                          <a:tab pos="628650" algn="r"/>
                        </a:tabLst>
                      </a:pPr>
                      <a:r>
                        <a:rPr lang="en-US" sz="1400" u="none" strike="noStrike" dirty="0">
                          <a:solidFill>
                            <a:srgbClr val="000000"/>
                          </a:solidFill>
                          <a:effectLst/>
                        </a:rPr>
                        <a:t>	2</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Lst>
                      </a:pPr>
                      <a:r>
                        <a:rPr lang="en-US" sz="1400" u="none" strike="noStrike">
                          <a:solidFill>
                            <a:srgbClr val="000000"/>
                          </a:solidFill>
                          <a:effectLst/>
                        </a:rPr>
                        <a:t>	-1.00</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428750" algn="r"/>
                        </a:tabLst>
                      </a:pPr>
                      <a:r>
                        <a:rPr lang="en-US" sz="1400" u="none" strike="noStrike">
                          <a:solidFill>
                            <a:srgbClr val="000000"/>
                          </a:solidFill>
                          <a:effectLst/>
                        </a:rPr>
                        <a:t>	-1.0792</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878827880"/>
                  </a:ext>
                </a:extLst>
              </a:tr>
              <a:tr h="190212">
                <a:tc>
                  <a:txBody>
                    <a:bodyPr/>
                    <a:lstStyle/>
                    <a:p>
                      <a:pPr algn="l" fontAlgn="b">
                        <a:tabLst>
                          <a:tab pos="628650" algn="r"/>
                        </a:tabLst>
                      </a:pPr>
                      <a:r>
                        <a:rPr lang="en-US" sz="1400" u="none" strike="noStrike" dirty="0">
                          <a:solidFill>
                            <a:srgbClr val="000000"/>
                          </a:solidFill>
                          <a:effectLst/>
                        </a:rPr>
                        <a:t>	3</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Lst>
                      </a:pPr>
                      <a:r>
                        <a:rPr lang="en-US" sz="1400" u="none" strike="noStrike">
                          <a:solidFill>
                            <a:srgbClr val="000000"/>
                          </a:solidFill>
                          <a:effectLst/>
                        </a:rPr>
                        <a:t>	-0.65</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428750" algn="r"/>
                        </a:tabLst>
                      </a:pPr>
                      <a:r>
                        <a:rPr lang="en-US" sz="1400" u="none" strike="noStrike">
                          <a:solidFill>
                            <a:srgbClr val="000000"/>
                          </a:solidFill>
                          <a:effectLst/>
                        </a:rPr>
                        <a:t>	-0.9487</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848255406"/>
                  </a:ext>
                </a:extLst>
              </a:tr>
              <a:tr h="190212">
                <a:tc>
                  <a:txBody>
                    <a:bodyPr/>
                    <a:lstStyle/>
                    <a:p>
                      <a:pPr algn="l" fontAlgn="b">
                        <a:tabLst>
                          <a:tab pos="628650" algn="r"/>
                        </a:tabLst>
                      </a:pPr>
                      <a:r>
                        <a:rPr lang="en-US" sz="1400" u="none" strike="noStrike" dirty="0">
                          <a:solidFill>
                            <a:srgbClr val="000000"/>
                          </a:solidFill>
                          <a:effectLst/>
                        </a:rPr>
                        <a:t>	4</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Lst>
                      </a:pPr>
                      <a:r>
                        <a:rPr lang="en-US" sz="1400" u="none" strike="noStrike">
                          <a:solidFill>
                            <a:srgbClr val="000000"/>
                          </a:solidFill>
                          <a:effectLst/>
                        </a:rPr>
                        <a:t>	-0.37</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428750" algn="r"/>
                        </a:tabLst>
                      </a:pPr>
                      <a:r>
                        <a:rPr lang="en-US" sz="1400" u="none" strike="noStrike">
                          <a:solidFill>
                            <a:srgbClr val="000000"/>
                          </a:solidFill>
                          <a:effectLst/>
                        </a:rPr>
                        <a:t>	-0.2372</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631101797"/>
                  </a:ext>
                </a:extLst>
              </a:tr>
              <a:tr h="190212">
                <a:tc>
                  <a:txBody>
                    <a:bodyPr/>
                    <a:lstStyle/>
                    <a:p>
                      <a:pPr algn="l" fontAlgn="b">
                        <a:tabLst>
                          <a:tab pos="628650" algn="r"/>
                        </a:tabLst>
                      </a:pPr>
                      <a:r>
                        <a:rPr lang="en-US" sz="1400" u="none" strike="noStrike" dirty="0">
                          <a:solidFill>
                            <a:srgbClr val="000000"/>
                          </a:solidFill>
                          <a:effectLst/>
                        </a:rPr>
                        <a:t>	5</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Lst>
                      </a:pPr>
                      <a:r>
                        <a:rPr lang="en-US" sz="1400" u="none" strike="noStrike">
                          <a:solidFill>
                            <a:srgbClr val="000000"/>
                          </a:solidFill>
                          <a:effectLst/>
                        </a:rPr>
                        <a:t>	-0.12</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428750" algn="r"/>
                        </a:tabLst>
                      </a:pPr>
                      <a:r>
                        <a:rPr lang="en-US" sz="1400" u="none" strike="noStrike">
                          <a:solidFill>
                            <a:srgbClr val="000000"/>
                          </a:solidFill>
                          <a:effectLst/>
                        </a:rPr>
                        <a:t>	-0.2296</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256614036"/>
                  </a:ext>
                </a:extLst>
              </a:tr>
              <a:tr h="190212">
                <a:tc>
                  <a:txBody>
                    <a:bodyPr/>
                    <a:lstStyle/>
                    <a:p>
                      <a:pPr algn="l" fontAlgn="b">
                        <a:tabLst>
                          <a:tab pos="628650" algn="r"/>
                        </a:tabLst>
                      </a:pPr>
                      <a:r>
                        <a:rPr lang="en-US" sz="1400" u="none" strike="noStrike" dirty="0">
                          <a:solidFill>
                            <a:srgbClr val="000000"/>
                          </a:solidFill>
                          <a:effectLst/>
                        </a:rPr>
                        <a:t>	6</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Lst>
                      </a:pPr>
                      <a:r>
                        <a:rPr lang="en-US" sz="1400" u="none" strike="noStrike" dirty="0">
                          <a:solidFill>
                            <a:srgbClr val="000000"/>
                          </a:solidFill>
                          <a:effectLst/>
                        </a:rPr>
                        <a:t>	0.12</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428750" algn="r"/>
                        </a:tabLst>
                      </a:pPr>
                      <a:r>
                        <a:rPr lang="en-US" sz="1400" u="none" strike="noStrike" dirty="0">
                          <a:solidFill>
                            <a:srgbClr val="000000"/>
                          </a:solidFill>
                          <a:effectLst/>
                        </a:rPr>
                        <a:t>	0.2296</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868767755"/>
                  </a:ext>
                </a:extLst>
              </a:tr>
              <a:tr h="190212">
                <a:tc>
                  <a:txBody>
                    <a:bodyPr/>
                    <a:lstStyle/>
                    <a:p>
                      <a:pPr algn="l" fontAlgn="b">
                        <a:tabLst>
                          <a:tab pos="628650" algn="r"/>
                        </a:tabLst>
                      </a:pPr>
                      <a:r>
                        <a:rPr lang="en-US" sz="1400" u="none" strike="noStrike" dirty="0">
                          <a:solidFill>
                            <a:srgbClr val="000000"/>
                          </a:solidFill>
                          <a:effectLst/>
                        </a:rPr>
                        <a:t>	7</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Lst>
                      </a:pPr>
                      <a:r>
                        <a:rPr lang="en-US" sz="1400" u="none" strike="noStrike" dirty="0">
                          <a:solidFill>
                            <a:srgbClr val="000000"/>
                          </a:solidFill>
                          <a:effectLst/>
                        </a:rPr>
                        <a:t>	0.37</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428750" algn="r"/>
                        </a:tabLst>
                      </a:pPr>
                      <a:r>
                        <a:rPr lang="en-US" sz="1400" u="none" strike="noStrike" dirty="0">
                          <a:solidFill>
                            <a:srgbClr val="000000"/>
                          </a:solidFill>
                          <a:effectLst/>
                        </a:rPr>
                        <a:t>	0.7115</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980168016"/>
                  </a:ext>
                </a:extLst>
              </a:tr>
              <a:tr h="190212">
                <a:tc>
                  <a:txBody>
                    <a:bodyPr/>
                    <a:lstStyle/>
                    <a:p>
                      <a:pPr algn="l" fontAlgn="b">
                        <a:tabLst>
                          <a:tab pos="628650" algn="r"/>
                        </a:tabLst>
                      </a:pPr>
                      <a:r>
                        <a:rPr lang="en-US" sz="1400" u="none" strike="noStrike" dirty="0">
                          <a:solidFill>
                            <a:srgbClr val="000000"/>
                          </a:solidFill>
                          <a:effectLst/>
                        </a:rPr>
                        <a:t>	8</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Lst>
                      </a:pPr>
                      <a:r>
                        <a:rPr lang="en-US" sz="1400" u="none" strike="noStrike" dirty="0">
                          <a:solidFill>
                            <a:srgbClr val="000000"/>
                          </a:solidFill>
                          <a:effectLst/>
                        </a:rPr>
                        <a:t>	0.65</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428750" algn="r"/>
                        </a:tabLst>
                      </a:pPr>
                      <a:r>
                        <a:rPr lang="en-US" sz="1400" u="none" strike="noStrike" dirty="0">
                          <a:solidFill>
                            <a:srgbClr val="000000"/>
                          </a:solidFill>
                          <a:effectLst/>
                        </a:rPr>
                        <a:t>	1.0792</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919583564"/>
                  </a:ext>
                </a:extLst>
              </a:tr>
              <a:tr h="190212">
                <a:tc>
                  <a:txBody>
                    <a:bodyPr/>
                    <a:lstStyle/>
                    <a:p>
                      <a:pPr algn="l" fontAlgn="b">
                        <a:tabLst>
                          <a:tab pos="628650" algn="r"/>
                        </a:tabLst>
                      </a:pPr>
                      <a:r>
                        <a:rPr lang="en-US" sz="1400" u="none" strike="noStrike" dirty="0">
                          <a:solidFill>
                            <a:srgbClr val="000000"/>
                          </a:solidFill>
                          <a:effectLst/>
                        </a:rPr>
                        <a:t>	9</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Lst>
                      </a:pPr>
                      <a:r>
                        <a:rPr lang="en-US" sz="1400" u="none" strike="noStrike" dirty="0">
                          <a:solidFill>
                            <a:srgbClr val="000000"/>
                          </a:solidFill>
                          <a:effectLst/>
                        </a:rPr>
                        <a:t>	1.00</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428750" algn="r"/>
                        </a:tabLst>
                      </a:pPr>
                      <a:r>
                        <a:rPr lang="en-US" sz="1400" u="none" strike="noStrike" dirty="0">
                          <a:solidFill>
                            <a:srgbClr val="000000"/>
                          </a:solidFill>
                          <a:effectLst/>
                        </a:rPr>
                        <a:t>	1.2224</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958035917"/>
                  </a:ext>
                </a:extLst>
              </a:tr>
              <a:tr h="190212">
                <a:tc>
                  <a:txBody>
                    <a:bodyPr/>
                    <a:lstStyle/>
                    <a:p>
                      <a:pPr algn="l" fontAlgn="b">
                        <a:tabLst>
                          <a:tab pos="628650" algn="r"/>
                        </a:tabLst>
                      </a:pPr>
                      <a:r>
                        <a:rPr lang="en-US" sz="1400" u="none" strike="noStrike" dirty="0">
                          <a:solidFill>
                            <a:srgbClr val="000000"/>
                          </a:solidFill>
                          <a:effectLst/>
                        </a:rPr>
                        <a:t>	10</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Lst>
                      </a:pPr>
                      <a:r>
                        <a:rPr lang="en-US" sz="1400" u="none" strike="noStrike" dirty="0">
                          <a:solidFill>
                            <a:srgbClr val="000000"/>
                          </a:solidFill>
                          <a:effectLst/>
                        </a:rPr>
                        <a:t>	1.55</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428750" algn="r"/>
                        </a:tabLst>
                      </a:pPr>
                      <a:r>
                        <a:rPr lang="en-US" sz="1400" u="none" strike="noStrike" dirty="0">
                          <a:solidFill>
                            <a:srgbClr val="000000"/>
                          </a:solidFill>
                          <a:effectLst/>
                        </a:rPr>
                        <a:t>	1.4230</a:t>
                      </a:r>
                      <a:endParaRPr lang="en-US" sz="1400" b="0" i="0" u="none" strike="noStrike" dirty="0">
                        <a:solidFill>
                          <a:srgbClr val="000000"/>
                        </a:solidFill>
                        <a:effectLst/>
                        <a:latin typeface="Times New Roman" panose="02020603050405020304" pitchFamily="18" charset="0"/>
                      </a:endParaRPr>
                    </a:p>
                  </a:txBody>
                  <a:tcPr marL="6136" marR="6136" marT="6136"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18923233"/>
                  </a:ext>
                </a:extLst>
              </a:tr>
            </a:tbl>
          </a:graphicData>
        </a:graphic>
      </p:graphicFrame>
      <p:pic>
        <p:nvPicPr>
          <p:cNvPr id="6" name="Picture Placeholder 6" descr="A scatter diagram with 10 data points and a line plots standardized residuals versus normal scores. The horizontal axis is labeled “Normal Scores” and ranges from negative 2 to 2 with tickmarks in increments of 1. The vertical axis is labeled “Standardized Residuals” ad ranges from negative 2 to 2 with tickmarks in increments of 1. The coordinates of the points are (negative 1.55, negative 1.7114), (negative 1.00, negative 1.0792), (negative 0.65, negative 0.9487), (negative 0.37, negative 0.2372), (negative 0.12, negative 0.2296), (0.12, 0.2296), (0.37, 0.7115), (0.65, 1.0792), (1.0, 1.2224), and (1.55, 1.4230). A line labeled “45-degree line” starts from the origin and slopes upward. The plots are scattered on either side of the points. &#10;">
            <a:extLst>
              <a:ext uri="{FF2B5EF4-FFF2-40B4-BE49-F238E27FC236}">
                <a16:creationId xmlns:a16="http://schemas.microsoft.com/office/drawing/2014/main" id="{AB87C9F0-DBD9-5DA7-DCF1-4D81BFF8BB30}"/>
              </a:ext>
            </a:extLst>
          </p:cNvPr>
          <p:cNvPicPr>
            <a:picLocks noGrp="1" noChangeAspect="1"/>
          </p:cNvPicPr>
          <p:nvPr>
            <p:ph type="pic" sz="quarter" idx="23"/>
          </p:nvPr>
        </p:nvPicPr>
        <p:blipFill rotWithShape="1">
          <a:blip r:embed="rId3"/>
          <a:srcRect t="67" b="67"/>
          <a:stretch/>
        </p:blipFill>
        <p:spPr>
          <a:xfrm>
            <a:off x="7221429" y="1945568"/>
            <a:ext cx="4014787" cy="3968750"/>
          </a:xfrm>
        </p:spPr>
      </p:pic>
    </p:spTree>
    <p:extLst>
      <p:ext uri="{BB962C8B-B14F-4D97-AF65-F5344CB8AC3E}">
        <p14:creationId xmlns:p14="http://schemas.microsoft.com/office/powerpoint/2010/main" val="30328108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B249C-4119-D51B-2F0A-8ADE7066663D}"/>
              </a:ext>
            </a:extLst>
          </p:cNvPr>
          <p:cNvSpPr>
            <a:spLocks noGrp="1"/>
          </p:cNvSpPr>
          <p:nvPr>
            <p:ph type="title"/>
          </p:nvPr>
        </p:nvSpPr>
        <p:spPr/>
        <p:txBody>
          <a:bodyPr/>
          <a:lstStyle/>
          <a:p>
            <a:r>
              <a:rPr lang="en-US" dirty="0">
                <a:solidFill>
                  <a:srgbClr val="D14B1E"/>
                </a:solidFill>
              </a:rPr>
              <a:t>14.9 Outliers and Influential Observations</a:t>
            </a:r>
          </a:p>
        </p:txBody>
      </p:sp>
      <p:sp>
        <p:nvSpPr>
          <p:cNvPr id="3" name="Text Placeholder 2">
            <a:extLst>
              <a:ext uri="{FF2B5EF4-FFF2-40B4-BE49-F238E27FC236}">
                <a16:creationId xmlns:a16="http://schemas.microsoft.com/office/drawing/2014/main" id="{3613D938-ACD9-9B17-D58A-9014D04F996F}"/>
              </a:ext>
            </a:extLst>
          </p:cNvPr>
          <p:cNvSpPr>
            <a:spLocks noGrp="1"/>
          </p:cNvSpPr>
          <p:nvPr>
            <p:ph type="body" sz="quarter" idx="15"/>
          </p:nvPr>
        </p:nvSpPr>
        <p:spPr>
          <a:xfrm>
            <a:off x="743575" y="1277007"/>
            <a:ext cx="10652760" cy="1087821"/>
          </a:xfrm>
        </p:spPr>
        <p:txBody>
          <a:bodyPr/>
          <a:lstStyle/>
          <a:p>
            <a:r>
              <a:rPr lang="en-US" sz="2000" dirty="0"/>
              <a:t>An </a:t>
            </a:r>
            <a:r>
              <a:rPr lang="en-US" sz="2000" b="1" dirty="0"/>
              <a:t>outlier</a:t>
            </a:r>
            <a:r>
              <a:rPr lang="en-US" sz="2000" dirty="0"/>
              <a:t> is a data point (observation) that does not fit the trend shown by the remaining data.</a:t>
            </a:r>
          </a:p>
          <a:p>
            <a:r>
              <a:rPr lang="en-US" sz="2000" dirty="0"/>
              <a:t>Outliers represent observations that are suspect and warrant careful examination.</a:t>
            </a:r>
          </a:p>
          <a:p>
            <a:r>
              <a:rPr lang="en-US" sz="2000" dirty="0"/>
              <a:t>The presence of an outlier may be due to one of the following reasons:</a:t>
            </a:r>
          </a:p>
        </p:txBody>
      </p:sp>
      <p:sp>
        <p:nvSpPr>
          <p:cNvPr id="5" name="Text Placeholder 4">
            <a:extLst>
              <a:ext uri="{FF2B5EF4-FFF2-40B4-BE49-F238E27FC236}">
                <a16:creationId xmlns:a16="http://schemas.microsoft.com/office/drawing/2014/main" id="{F9368C63-59D6-09CD-94DB-87B6A27D53F8}"/>
              </a:ext>
            </a:extLst>
          </p:cNvPr>
          <p:cNvSpPr>
            <a:spLocks noGrp="1"/>
          </p:cNvSpPr>
          <p:nvPr>
            <p:ph type="body" sz="quarter" idx="17"/>
          </p:nvPr>
        </p:nvSpPr>
        <p:spPr>
          <a:xfrm>
            <a:off x="743577" y="2380595"/>
            <a:ext cx="6161720" cy="3326524"/>
          </a:xfrm>
        </p:spPr>
        <p:txBody>
          <a:bodyPr/>
          <a:lstStyle/>
          <a:p>
            <a:pPr marL="630238" indent="-342900">
              <a:buFont typeface="Arial" panose="020B0604020202020204" pitchFamily="34" charset="0"/>
              <a:buChar char="•"/>
            </a:pPr>
            <a:r>
              <a:rPr lang="en-US" sz="2000" dirty="0"/>
              <a:t>Erroneous data.</a:t>
            </a:r>
          </a:p>
          <a:p>
            <a:pPr marL="973138" lvl="1" indent="0">
              <a:lnSpc>
                <a:spcPct val="100000"/>
              </a:lnSpc>
              <a:spcBef>
                <a:spcPts val="0"/>
              </a:spcBef>
              <a:buNone/>
            </a:pPr>
            <a:r>
              <a:rPr lang="en-US" sz="2000" dirty="0">
                <a:latin typeface="Arial" panose="020B0604020202020204" pitchFamily="34" charset="0"/>
                <a:cs typeface="Arial" panose="020B0604020202020204" pitchFamily="34" charset="0"/>
              </a:rPr>
              <a:t>Action: the data should be corrected.</a:t>
            </a:r>
          </a:p>
          <a:p>
            <a:pPr marL="630238" indent="-342900">
              <a:buFont typeface="Arial" panose="020B0604020202020204" pitchFamily="34" charset="0"/>
              <a:buChar char="•"/>
            </a:pPr>
            <a:r>
              <a:rPr lang="en-US" sz="2000" dirty="0"/>
              <a:t>Signal of a violation in the model assumptions</a:t>
            </a:r>
          </a:p>
          <a:p>
            <a:pPr marL="973138" lvl="1" indent="0">
              <a:lnSpc>
                <a:spcPct val="100000"/>
              </a:lnSpc>
              <a:spcBef>
                <a:spcPts val="0"/>
              </a:spcBef>
              <a:buNone/>
            </a:pPr>
            <a:r>
              <a:rPr lang="en-US" sz="2000" dirty="0">
                <a:latin typeface="Arial" panose="020B0604020202020204" pitchFamily="34" charset="0"/>
                <a:cs typeface="Arial" panose="020B0604020202020204" pitchFamily="34" charset="0"/>
              </a:rPr>
              <a:t>Action: another model should be considered.</a:t>
            </a:r>
          </a:p>
          <a:p>
            <a:pPr marL="630238" indent="-342900">
              <a:buFont typeface="Arial" panose="020B0604020202020204" pitchFamily="34" charset="0"/>
              <a:buChar char="•"/>
            </a:pPr>
            <a:r>
              <a:rPr lang="en-US" sz="2000" dirty="0"/>
              <a:t>Unusual values that occurred by chance</a:t>
            </a:r>
          </a:p>
          <a:p>
            <a:pPr marL="973138" lvl="1" indent="0">
              <a:lnSpc>
                <a:spcPct val="100000"/>
              </a:lnSpc>
              <a:spcBef>
                <a:spcPts val="0"/>
              </a:spcBef>
              <a:buNone/>
            </a:pPr>
            <a:r>
              <a:rPr lang="en-US" sz="2000" dirty="0">
                <a:latin typeface="Arial" panose="020B0604020202020204" pitchFamily="34" charset="0"/>
                <a:cs typeface="Arial" panose="020B0604020202020204" pitchFamily="34" charset="0"/>
              </a:rPr>
              <a:t>Action: the data should be retained.</a:t>
            </a:r>
          </a:p>
          <a:p>
            <a:pPr marL="0" lvl="1" indent="0">
              <a:lnSpc>
                <a:spcPct val="100000"/>
              </a:lnSpc>
              <a:spcBef>
                <a:spcPts val="600"/>
              </a:spcBef>
              <a:buNone/>
            </a:pPr>
            <a:r>
              <a:rPr lang="en-US" sz="2000" dirty="0">
                <a:latin typeface="Arial" panose="020B0604020202020204" pitchFamily="34" charset="0"/>
                <a:cs typeface="Arial" panose="020B0604020202020204" pitchFamily="34" charset="0"/>
              </a:rPr>
              <a:t>Standardized residuals can also be used to identify outliers. If an observation deviates greatly from the pattern of the remaining data, the corresponding standardized residual will be large in absolute value.</a:t>
            </a:r>
          </a:p>
        </p:txBody>
      </p:sp>
      <p:pic>
        <p:nvPicPr>
          <p:cNvPr id="9" name="Picture Placeholder 8" descr="A scatter diagram with multiple data points, a regression line, and an outlier plots y versus x. The horizontal axis is labeled “x.” The vertical axis is labeled “y.” Points are scattered around a line sloping upward. A lone data point labeled “Outlier” is below the line.&#10;">
            <a:extLst>
              <a:ext uri="{FF2B5EF4-FFF2-40B4-BE49-F238E27FC236}">
                <a16:creationId xmlns:a16="http://schemas.microsoft.com/office/drawing/2014/main" id="{AC70D770-160E-0703-E1AE-5C41166DF672}"/>
              </a:ext>
            </a:extLst>
          </p:cNvPr>
          <p:cNvPicPr>
            <a:picLocks noGrp="1" noChangeAspect="1"/>
          </p:cNvPicPr>
          <p:nvPr>
            <p:ph type="pic" sz="quarter" idx="16"/>
          </p:nvPr>
        </p:nvPicPr>
        <p:blipFill rotWithShape="1">
          <a:blip r:embed="rId3"/>
          <a:srcRect t="30" b="30"/>
          <a:stretch/>
        </p:blipFill>
        <p:spPr>
          <a:xfrm>
            <a:off x="7362494" y="2506719"/>
            <a:ext cx="3357327" cy="3105977"/>
          </a:xfrm>
        </p:spPr>
      </p:pic>
    </p:spTree>
    <p:extLst>
      <p:ext uri="{BB962C8B-B14F-4D97-AF65-F5344CB8AC3E}">
        <p14:creationId xmlns:p14="http://schemas.microsoft.com/office/powerpoint/2010/main" val="10124153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BBA0A-5CC5-3DE7-810B-28C2F2069D9C}"/>
              </a:ext>
            </a:extLst>
          </p:cNvPr>
          <p:cNvSpPr>
            <a:spLocks noGrp="1"/>
          </p:cNvSpPr>
          <p:nvPr>
            <p:ph type="title"/>
          </p:nvPr>
        </p:nvSpPr>
        <p:spPr>
          <a:xfrm>
            <a:off x="472972" y="365125"/>
            <a:ext cx="11243441" cy="672105"/>
          </a:xfrm>
        </p:spPr>
        <p:txBody>
          <a:bodyPr/>
          <a:lstStyle/>
          <a:p>
            <a:r>
              <a:rPr lang="en-US" dirty="0">
                <a:solidFill>
                  <a:srgbClr val="25894E"/>
                </a:solidFill>
              </a:rPr>
              <a:t>14.9 Excel: Data Set with an Outlier</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4C35B40-1D3F-6237-350E-0EF974CD9316}"/>
                  </a:ext>
                </a:extLst>
              </p:cNvPr>
              <p:cNvSpPr>
                <a:spLocks noGrp="1"/>
              </p:cNvSpPr>
              <p:nvPr>
                <p:ph type="body" sz="quarter" idx="15"/>
              </p:nvPr>
            </p:nvSpPr>
            <p:spPr>
              <a:xfrm>
                <a:off x="743577" y="1106884"/>
                <a:ext cx="4564229" cy="4781550"/>
              </a:xfrm>
            </p:spPr>
            <p:txBody>
              <a:bodyPr/>
              <a:lstStyle/>
              <a:p>
                <a:r>
                  <a:rPr lang="en-US" sz="2000" dirty="0"/>
                  <a:t>In simple linear regression, we can detect outliers by simply examining the scatter diagram.</a:t>
                </a:r>
              </a:p>
              <a:p>
                <a:r>
                  <a:rPr lang="en-US" sz="2000" dirty="0"/>
                  <a:t>Consider the regression output and scatter diagrams displayed to the right:</a:t>
                </a:r>
              </a:p>
              <a:p>
                <a:pPr marL="457200" indent="-342900">
                  <a:buFont typeface="Arial" panose="020B0604020202020204" pitchFamily="34" charset="0"/>
                  <a:buChar char="•"/>
                </a:pP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𝑦</m:t>
                        </m:r>
                      </m:e>
                    </m:acc>
                    <m:r>
                      <a:rPr lang="en-US" sz="2000" b="0" i="1" smtClean="0">
                        <a:latin typeface="Cambria Math" panose="02040503050406030204" pitchFamily="18" charset="0"/>
                      </a:rPr>
                      <m:t>=64.958−7.3305</m:t>
                    </m:r>
                    <m:r>
                      <a:rPr lang="en-US" sz="2000" b="0" i="1" smtClean="0">
                        <a:latin typeface="Cambria Math" panose="02040503050406030204" pitchFamily="18" charset="0"/>
                      </a:rPr>
                      <m:t>𝑥</m:t>
                    </m:r>
                  </m:oMath>
                </a14:m>
                <a:endParaRPr lang="en-US" sz="2000" dirty="0"/>
              </a:p>
              <a:p>
                <a:pPr marL="457200" indent="-342900">
                  <a:buFont typeface="Arial" panose="020B0604020202020204" pitchFamily="34" charset="0"/>
                  <a:buChar char="•"/>
                </a:pP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=0.4968</m:t>
                    </m:r>
                  </m:oMath>
                </a14:m>
                <a:endParaRPr lang="en-US" sz="2000" dirty="0"/>
              </a:p>
              <a:p>
                <a:pPr marL="457200" indent="-342900">
                  <a:buFont typeface="Arial" panose="020B0604020202020204" pitchFamily="34" charset="0"/>
                  <a:buChar char="•"/>
                </a:pPr>
                <a:r>
                  <a:rPr lang="en-US" sz="2000" dirty="0"/>
                  <a:t>Except for obs. 4 (</a:t>
                </a:r>
                <a14:m>
                  <m:oMath xmlns:m="http://schemas.openxmlformats.org/officeDocument/2006/math">
                    <m:r>
                      <a:rPr lang="en-US" sz="2000" i="1" dirty="0" smtClean="0">
                        <a:latin typeface="Cambria Math" panose="02040503050406030204" pitchFamily="18" charset="0"/>
                      </a:rPr>
                      <m:t>3</m:t>
                    </m:r>
                  </m:oMath>
                </a14:m>
                <a:r>
                  <a:rPr lang="en-US" sz="2000" dirty="0"/>
                  <a:t>, </a:t>
                </a:r>
                <a14:m>
                  <m:oMath xmlns:m="http://schemas.openxmlformats.org/officeDocument/2006/math">
                    <m:r>
                      <a:rPr lang="en-US" sz="2000" b="0" i="1" dirty="0" smtClean="0">
                        <a:latin typeface="Cambria Math" panose="02040503050406030204" pitchFamily="18" charset="0"/>
                      </a:rPr>
                      <m:t>75</m:t>
                    </m:r>
                  </m:oMath>
                </a14:m>
                <a:r>
                  <a:rPr lang="en-US" sz="2000" dirty="0"/>
                  <a:t>), the pattern has a negative &amp; linear relationship.</a:t>
                </a:r>
              </a:p>
              <a:p>
                <a:r>
                  <a:rPr lang="en-US" sz="2000" dirty="0"/>
                  <a:t>As stated before, Excel’s standard residuals from the Regression tool may also be used to identify outliers.</a:t>
                </a:r>
              </a:p>
              <a:p>
                <a:r>
                  <a:rPr lang="en-US" sz="2000" dirty="0"/>
                  <a:t>Obs. 4, with a standardized residual of 2.68, can be considered an outlier.</a:t>
                </a:r>
              </a:p>
            </p:txBody>
          </p:sp>
        </mc:Choice>
        <mc:Fallback xmlns="">
          <p:sp>
            <p:nvSpPr>
              <p:cNvPr id="3" name="Text Placeholder 2">
                <a:extLst>
                  <a:ext uri="{FF2B5EF4-FFF2-40B4-BE49-F238E27FC236}">
                    <a16:creationId xmlns:a16="http://schemas.microsoft.com/office/drawing/2014/main" id="{64C35B40-1D3F-6237-350E-0EF974CD9316}"/>
                  </a:ext>
                </a:extLst>
              </p:cNvPr>
              <p:cNvSpPr>
                <a:spLocks noGrp="1" noRot="1" noChangeAspect="1" noMove="1" noResize="1" noEditPoints="1" noAdjustHandles="1" noChangeArrowheads="1" noChangeShapeType="1" noTextEdit="1"/>
              </p:cNvSpPr>
              <p:nvPr>
                <p:ph type="body" sz="quarter" idx="15"/>
              </p:nvPr>
            </p:nvSpPr>
            <p:spPr>
              <a:xfrm>
                <a:off x="743577" y="1106884"/>
                <a:ext cx="4564229" cy="4781550"/>
              </a:xfrm>
              <a:blipFill>
                <a:blip r:embed="rId2"/>
                <a:stretch>
                  <a:fillRect l="-3471" t="-1531" r="-3605" b="-2168"/>
                </a:stretch>
              </a:blipFill>
            </p:spPr>
            <p:txBody>
              <a:bodyPr/>
              <a:lstStyle/>
              <a:p>
                <a:r>
                  <a:rPr lang="en-US">
                    <a:noFill/>
                  </a:rPr>
                  <a:t> </a:t>
                </a:r>
              </a:p>
            </p:txBody>
          </p:sp>
        </mc:Fallback>
      </mc:AlternateContent>
      <p:pic>
        <p:nvPicPr>
          <p:cNvPr id="10" name="Picture Placeholder 9" descr="A screenshot of an Excel spreadsheet shows three tables and a scatter diagram. In the first table, column A is labeled x, and column B is labeled y. The entries in rows 2 through 11 are as follows. Row 2. x: 1. y: 45. Row 3. x: 1. y: 55. Row 4. x: 2. y: 50. Row 5. x: 3. y: 75. Row 6. x: 3. y: 40. Row 7. x: 3. y: 45. Row 8. x: 4. y: 30. Row 9. x: 4. y: 35. Row 10. x: 5. y: 25. Row 11. x: 6. y: 15. The second table is titled regression statistics. The entries in rows 16 through 20 are as follows. Row 16: Multiple R, 0.7049. Row 17: R square, 0.4968. Row 18: Adjusted R square, 0.4339. Row 19: Standard error, 12.6704. Row 20: Observations, 10. The third table is titled Residual Output. Column A is labeled observation, column B is labeled predicted y, column C is labeled residuals, and column D is labeled standard residuals. The entries in rows 37 through 46 are as follows. Row 37. Observation: 1. Predicted y: 57.6271. Residuals: Negative 12.6271. Standard residuals: Negative 1.0570. Row 38. Observation: 2. Predicted y: 57.6271. Residuals: Negative 2.6271. Standard residuals: Negative 0.2199. Row 39. Observation: 3. Predicted y: 50.2966. Residuals: Negative 0.2966. Standard residuals: Negative 0.0248. Row 40. Observation: 4. Predicted y: 42.9661. Residuals: Negative 32.0339. Standard residuals: 2.6816. Row 41. Observation: 5. Predicted y: 42.9661. Residuals: Negative 2.9661. Standard residuals: Negative 0.2483. Row 42. Observation: 6. Predicted y: 42.9661. Residuals: 2.0339. Standard residuals: 0.1703. Row 43. Observation: 7. Predicted y: 35.6356. Residuals: Negative 5.6356. Standard residuals: Negative 0.4718. Row 44. Observation: 8. Predicted y: 35.6356. Residuals: Negative 0.6356. Standard residuals: Negative 0.0532. Row 45. Observation: 9. Predicted y: 28.3051. Residuals: Negative 3.3051. Standard residuals: Negative 0.2767. Row 46. Observation: 10. Predicted y: 20.9746. Residuals: Negative 5.9746. Standard residuals: Negative 0.5001. An arrow pointing to observation 4 reads The standardized residual for observation 4 is greater than positive 2. Hence, we consider observation 4 to be an outlier. In the scatter diagram, the horizontal axis is labeled x, ranging from 0 to 7 in increments of 1, and the vertical axis is labeled y, ranging from 0 to 80 in increments of 10. The plots are at (1, 45), (1, 55), (2, 50), (3, 75), (3, 40), (3, 45), (4, 30), (4, 35), (5, 25), and (6, 15). A line slopes down through (1, 57) and (6, 21). All data are approximate. An equation reads, y = negative 7.3305 x + 64.958.">
            <a:extLst>
              <a:ext uri="{FF2B5EF4-FFF2-40B4-BE49-F238E27FC236}">
                <a16:creationId xmlns:a16="http://schemas.microsoft.com/office/drawing/2014/main" id="{C024F03C-4C01-9A2E-C32A-7A3B0069100C}"/>
              </a:ext>
            </a:extLst>
          </p:cNvPr>
          <p:cNvPicPr>
            <a:picLocks noGrp="1" noChangeAspect="1"/>
          </p:cNvPicPr>
          <p:nvPr>
            <p:ph type="pic" sz="quarter" idx="16"/>
          </p:nvPr>
        </p:nvPicPr>
        <p:blipFill>
          <a:blip r:embed="rId3"/>
          <a:srcRect l="17" r="17"/>
          <a:stretch/>
        </p:blipFill>
        <p:spPr>
          <a:xfrm>
            <a:off x="5368298" y="1106884"/>
            <a:ext cx="6080125" cy="4781550"/>
          </a:xfrm>
          <a:ln>
            <a:solidFill>
              <a:srgbClr val="000000"/>
            </a:solidFill>
          </a:ln>
        </p:spPr>
      </p:pic>
    </p:spTree>
    <p:extLst>
      <p:ext uri="{BB962C8B-B14F-4D97-AF65-F5344CB8AC3E}">
        <p14:creationId xmlns:p14="http://schemas.microsoft.com/office/powerpoint/2010/main" val="15458651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BBA0A-5CC5-3DE7-810B-28C2F2069D9C}"/>
              </a:ext>
            </a:extLst>
          </p:cNvPr>
          <p:cNvSpPr>
            <a:spLocks noGrp="1"/>
          </p:cNvSpPr>
          <p:nvPr>
            <p:ph type="title"/>
          </p:nvPr>
        </p:nvSpPr>
        <p:spPr>
          <a:xfrm>
            <a:off x="743577" y="365125"/>
            <a:ext cx="10704846" cy="672105"/>
          </a:xfrm>
        </p:spPr>
        <p:txBody>
          <a:bodyPr/>
          <a:lstStyle/>
          <a:p>
            <a:r>
              <a:rPr lang="en-US" dirty="0">
                <a:solidFill>
                  <a:srgbClr val="25894E"/>
                </a:solidFill>
              </a:rPr>
              <a:t>14.9 Excel: Revised Data Set without the Outlier</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4C35B40-1D3F-6237-350E-0EF974CD9316}"/>
                  </a:ext>
                </a:extLst>
              </p:cNvPr>
              <p:cNvSpPr>
                <a:spLocks noGrp="1"/>
              </p:cNvSpPr>
              <p:nvPr>
                <p:ph type="body" sz="quarter" idx="15"/>
              </p:nvPr>
            </p:nvSpPr>
            <p:spPr>
              <a:xfrm>
                <a:off x="743577" y="1106884"/>
                <a:ext cx="4564229" cy="4781550"/>
              </a:xfrm>
            </p:spPr>
            <p:txBody>
              <a:bodyPr/>
              <a:lstStyle/>
              <a:p>
                <a:pPr>
                  <a:lnSpc>
                    <a:spcPct val="100000"/>
                  </a:lnSpc>
                  <a:spcBef>
                    <a:spcPts val="600"/>
                  </a:spcBef>
                </a:pPr>
                <a:r>
                  <a:rPr lang="en-US" sz="2000" dirty="0"/>
                  <a:t>In deciding how to handle an outlier, we should first check to see whether it is a valid observation.</a:t>
                </a:r>
              </a:p>
              <a:p>
                <a:pPr>
                  <a:lnSpc>
                    <a:spcPct val="100000"/>
                  </a:lnSpc>
                  <a:spcBef>
                    <a:spcPts val="600"/>
                  </a:spcBef>
                </a:pPr>
                <a:r>
                  <a:rPr lang="en-US" sz="2000" dirty="0"/>
                  <a:t>Suppose that in checking the data set, we find an error for obs. 4, with the correct value being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4</m:t>
                        </m:r>
                      </m:sub>
                    </m:sSub>
                    <m:r>
                      <a:rPr lang="en-US" sz="2000" i="1" dirty="0" smtClean="0">
                        <a:latin typeface="Cambria Math" panose="02040503050406030204" pitchFamily="18" charset="0"/>
                      </a:rPr>
                      <m:t>=3</m:t>
                    </m:r>
                  </m:oMath>
                </a14:m>
                <a:r>
                  <a:rPr lang="en-US" sz="2000" dirty="0"/>
                  <a:t>, </a:t>
                </a:r>
                <a14:m>
                  <m:oMath xmlns:m="http://schemas.openxmlformats.org/officeDocument/2006/math">
                    <m:sSub>
                      <m:sSubPr>
                        <m:ctrlPr>
                          <a:rPr lang="en-US" sz="2000" i="1" dirty="0">
                            <a:latin typeface="Cambria Math" panose="02040503050406030204" pitchFamily="18" charset="0"/>
                          </a:rPr>
                        </m:ctrlPr>
                      </m:sSubPr>
                      <m:e>
                        <m:r>
                          <a:rPr lang="en-US" sz="2000" b="0" i="1" dirty="0" smtClean="0">
                            <a:latin typeface="Cambria Math" panose="02040503050406030204" pitchFamily="18" charset="0"/>
                          </a:rPr>
                          <m:t>𝑦</m:t>
                        </m:r>
                      </m:e>
                      <m:sub>
                        <m:r>
                          <a:rPr lang="en-US" sz="2000" i="1" dirty="0">
                            <a:latin typeface="Cambria Math" panose="02040503050406030204" pitchFamily="18" charset="0"/>
                          </a:rPr>
                          <m:t>4</m:t>
                        </m:r>
                      </m:sub>
                    </m:sSub>
                    <m:r>
                      <a:rPr lang="en-US" sz="2000" i="1" dirty="0">
                        <a:latin typeface="Cambria Math" panose="02040503050406030204" pitchFamily="18" charset="0"/>
                      </a:rPr>
                      <m:t>=</m:t>
                    </m:r>
                    <m:r>
                      <a:rPr lang="en-US" sz="2000" b="0" i="1" dirty="0" smtClean="0">
                        <a:latin typeface="Cambria Math" panose="02040503050406030204" pitchFamily="18" charset="0"/>
                      </a:rPr>
                      <m:t>30</m:t>
                    </m:r>
                  </m:oMath>
                </a14:m>
                <a:r>
                  <a:rPr lang="en-US" sz="2000" dirty="0"/>
                  <a:t>).</a:t>
                </a:r>
              </a:p>
              <a:p>
                <a:pPr>
                  <a:lnSpc>
                    <a:spcPct val="100000"/>
                  </a:lnSpc>
                  <a:spcBef>
                    <a:spcPts val="600"/>
                  </a:spcBef>
                </a:pPr>
                <a:r>
                  <a:rPr lang="en-US" sz="2000" dirty="0"/>
                  <a:t>The regression output to the right, obtained after revising of the value of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4</m:t>
                        </m:r>
                      </m:sub>
                    </m:sSub>
                  </m:oMath>
                </a14:m>
                <a:r>
                  <a:rPr lang="en-US" sz="2000" dirty="0"/>
                  <a:t>, shows how using the correct data value substantially improved the regression fit.</a:t>
                </a:r>
              </a:p>
              <a:p>
                <a:pPr marL="290513">
                  <a:lnSpc>
                    <a:spcPct val="100000"/>
                  </a:lnSpc>
                  <a:spcBef>
                    <a:spcPts val="600"/>
                  </a:spcBef>
                </a:pPr>
                <a14:m>
                  <m:oMath xmlns:m="http://schemas.openxmlformats.org/officeDocument/2006/math">
                    <m:sSup>
                      <m:sSupPr>
                        <m:ctrlPr>
                          <a:rPr lang="en-US" sz="2000" i="1" smtClean="0">
                            <a:latin typeface="Cambria Math" panose="02040503050406030204" pitchFamily="18" charset="0"/>
                          </a:rPr>
                        </m:ctrlPr>
                      </m:sSupPr>
                      <m:e>
                        <m:r>
                          <a:rPr lang="en-US" sz="2000" b="0" i="1" smtClean="0">
                            <a:solidFill>
                              <a:srgbClr val="FF0000"/>
                            </a:solidFill>
                            <a:latin typeface="Cambria Math" panose="02040503050406030204" pitchFamily="18" charset="0"/>
                          </a:rPr>
                          <m:t>𝑅</m:t>
                        </m:r>
                      </m:e>
                      <m:sup>
                        <m:r>
                          <a:rPr lang="en-US" sz="2000" b="0" i="1" smtClean="0">
                            <a:latin typeface="Cambria Math" panose="02040503050406030204" pitchFamily="18" charset="0"/>
                          </a:rPr>
                          <m:t>2</m:t>
                        </m:r>
                      </m:sup>
                    </m:sSup>
                  </m:oMath>
                </a14:m>
                <a:r>
                  <a:rPr lang="en-US" sz="2000" dirty="0"/>
                  <a:t> increased from 49.68% to 83.80%</a:t>
                </a:r>
              </a:p>
              <a:p>
                <a:pPr marL="290513">
                  <a:lnSpc>
                    <a:spcPct val="100000"/>
                  </a:lnSpc>
                  <a:spcBef>
                    <a:spcPts val="600"/>
                  </a:spcBef>
                </a:pPr>
                <a14:m>
                  <m:oMath xmlns:m="http://schemas.openxmlformats.org/officeDocument/2006/math">
                    <m:r>
                      <a:rPr lang="en-US" sz="2000" i="1" dirty="0" smtClean="0">
                        <a:latin typeface="Cambria Math" panose="02040503050406030204" pitchFamily="18" charset="0"/>
                      </a:rPr>
                      <m:t>𝑠</m:t>
                    </m:r>
                  </m:oMath>
                </a14:m>
                <a:r>
                  <a:rPr lang="en-US" sz="2000" dirty="0"/>
                  <a:t> decreased from 12.6704 to 5.2481</a:t>
                </a:r>
              </a:p>
              <a:p>
                <a:pPr marL="290513">
                  <a:lnSpc>
                    <a:spcPct val="100000"/>
                  </a:lnSpc>
                  <a:spcBef>
                    <a:spcPts val="600"/>
                  </a:spcBef>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0</m:t>
                        </m:r>
                      </m:sub>
                    </m:sSub>
                  </m:oMath>
                </a14:m>
                <a:r>
                  <a:rPr lang="en-US" sz="2000" dirty="0"/>
                  <a:t> changed from 64.958 to 59.237</a:t>
                </a:r>
              </a:p>
              <a:p>
                <a:pPr marL="290513">
                  <a:lnSpc>
                    <a:spcPct val="100000"/>
                  </a:lnSpc>
                  <a:spcBef>
                    <a:spcPts val="600"/>
                  </a:spcBef>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 </m:t>
                    </m:r>
                  </m:oMath>
                </a14:m>
                <a:r>
                  <a:rPr lang="en-US" sz="2000" dirty="0"/>
                  <a:t>changed from -7.3305 to -6.9492</a:t>
                </a:r>
              </a:p>
            </p:txBody>
          </p:sp>
        </mc:Choice>
        <mc:Fallback xmlns="">
          <p:sp>
            <p:nvSpPr>
              <p:cNvPr id="3" name="Text Placeholder 2">
                <a:extLst>
                  <a:ext uri="{FF2B5EF4-FFF2-40B4-BE49-F238E27FC236}">
                    <a16:creationId xmlns:a16="http://schemas.microsoft.com/office/drawing/2014/main" id="{64C35B40-1D3F-6237-350E-0EF974CD9316}"/>
                  </a:ext>
                </a:extLst>
              </p:cNvPr>
              <p:cNvSpPr>
                <a:spLocks noGrp="1" noRot="1" noChangeAspect="1" noMove="1" noResize="1" noEditPoints="1" noAdjustHandles="1" noChangeArrowheads="1" noChangeShapeType="1" noTextEdit="1"/>
              </p:cNvSpPr>
              <p:nvPr>
                <p:ph type="body" sz="quarter" idx="15"/>
              </p:nvPr>
            </p:nvSpPr>
            <p:spPr>
              <a:xfrm>
                <a:off x="743577" y="1106884"/>
                <a:ext cx="4564229" cy="4781550"/>
              </a:xfrm>
              <a:blipFill>
                <a:blip r:embed="rId3"/>
                <a:stretch>
                  <a:fillRect l="-3471" t="-1531" r="-4406" b="-2168"/>
                </a:stretch>
              </a:blipFill>
            </p:spPr>
            <p:txBody>
              <a:bodyPr/>
              <a:lstStyle/>
              <a:p>
                <a:r>
                  <a:rPr lang="en-US">
                    <a:noFill/>
                  </a:rPr>
                  <a:t> </a:t>
                </a:r>
              </a:p>
            </p:txBody>
          </p:sp>
        </mc:Fallback>
      </mc:AlternateContent>
      <p:pic>
        <p:nvPicPr>
          <p:cNvPr id="6" name="Picture Placeholder 5" descr="A screenshot of an Excel spreadsheet shows three tables and a scatter diagram. In the first table, column A is labeled x, and column B is labeled y. The entries in rows 2 through 11 are as follows. Row 2. x: 1. y: 45. Row 3. x: 1. y: 55. Row 4. x: 2. y: 50. Row 5. x: 3. y: 30. Row 6. x: 3. y: 40. Row 7. x: 3. y: 45. Row 8. x: 4. y: 30. Row 9. x: 4. y: 35. Row 10. x: 5. y: 25. Row 11. x: 6. y: 15. The second table is titled regression statistics. The entries in rows 16 through 20 are as follows. Row 16: Multiple R, 0.9154. Row 17: R square, 0.8380. Row 18: Adjusted R square, 0.8177. Row 19: Standard error, 5.2481. Row 20: Observations, 10. The third table is titled Residual Output. Column A is labeled observation, column B is labeled predicted y, column C is labeled residuals, and column D is labeled standard residuals. The entries in rows 37 through 46 are as follows. Row 37. Observation: 1. Predicted y: 52.2881. Residuals: Negative 7.2881. Standard residuals: Negative 1.4730. Row 38. Observation: 2. Predicted y: 52.2881. Residuals: 2.7119. Standard residuals: 0.5481. Row 39. Observation: 3. Predicted y: 45.3390. Residuals: 4.6610. Standard residuals: 0.9420. Row 40. Observation: 4. Predicted y: 38.3898. Residuals: Negative 8.3898. Standard residuals: Negative 1.6956. Row 41. Observation: 5. Predicted y: 38.3898. Residuals: 1.6102. Standard residuals: 0.3254. Row 42. Observation: 6. Predicted y: 38.3898. Residuals: 6.6102. Standard residuals: 1.3359. Row 43. Observation: 7. Predicted y: 31.4407. Residuals: Negative 1.4407. Standard residuals: Negative 0.2912. Row 44. Observation: 8. Predicted y: 31.4407. Residuals: 3.5593. Standard residuals: 0.7194. Row 45. Observation: 9. Predicted y: 24.4915. Residuals: 0.5085. Standard residuals: 0.1028. Row 46. Observation: 10. Predicted y: 17.5424. Residuals: Negative 2.5424. Standard residuals: Negative 0.5138. In the scatter diagram, the horizontal axis is labeled x, ranging from 0 to 7 in increments of 1, and the vertical axis is labeled y, ranging from 0 to 60 in increments of 10. The plots are at (1, 45), (1, 55), (2, 50), (3, 75), (3, 40), (3, 45), (4, 30), (4, 35), (5, 25), and (6, 15). A line slopes down through (1, 52) and (6, 17). All data are approximate. An equation reads, y = negative 6.9492 x + 59.237.">
            <a:extLst>
              <a:ext uri="{FF2B5EF4-FFF2-40B4-BE49-F238E27FC236}">
                <a16:creationId xmlns:a16="http://schemas.microsoft.com/office/drawing/2014/main" id="{D581D19A-0D33-C70F-96AA-989ECF1B9923}"/>
              </a:ext>
            </a:extLst>
          </p:cNvPr>
          <p:cNvPicPr>
            <a:picLocks noGrp="1" noChangeAspect="1"/>
          </p:cNvPicPr>
          <p:nvPr>
            <p:ph type="pic" sz="quarter" idx="16"/>
          </p:nvPr>
        </p:nvPicPr>
        <p:blipFill>
          <a:blip r:embed="rId4"/>
          <a:srcRect l="59" r="59"/>
          <a:stretch/>
        </p:blipFill>
        <p:spPr>
          <a:xfrm>
            <a:off x="5368298" y="1106884"/>
            <a:ext cx="6080125" cy="4781550"/>
          </a:xfrm>
          <a:ln>
            <a:solidFill>
              <a:srgbClr val="000000"/>
            </a:solidFill>
          </a:ln>
        </p:spPr>
      </p:pic>
    </p:spTree>
    <p:extLst>
      <p:ext uri="{BB962C8B-B14F-4D97-AF65-F5344CB8AC3E}">
        <p14:creationId xmlns:p14="http://schemas.microsoft.com/office/powerpoint/2010/main" val="33362861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B249C-4119-D51B-2F0A-8ADE7066663D}"/>
              </a:ext>
            </a:extLst>
          </p:cNvPr>
          <p:cNvSpPr>
            <a:spLocks noGrp="1"/>
          </p:cNvSpPr>
          <p:nvPr>
            <p:ph type="title"/>
          </p:nvPr>
        </p:nvSpPr>
        <p:spPr/>
        <p:txBody>
          <a:bodyPr/>
          <a:lstStyle/>
          <a:p>
            <a:r>
              <a:rPr lang="en-US" dirty="0"/>
              <a:t>14.9 Detecting Influential Observations</a:t>
            </a:r>
          </a:p>
        </p:txBody>
      </p:sp>
      <p:sp>
        <p:nvSpPr>
          <p:cNvPr id="3" name="Text Placeholder 2">
            <a:extLst>
              <a:ext uri="{FF2B5EF4-FFF2-40B4-BE49-F238E27FC236}">
                <a16:creationId xmlns:a16="http://schemas.microsoft.com/office/drawing/2014/main" id="{3613D938-ACD9-9B17-D58A-9014D04F996F}"/>
              </a:ext>
            </a:extLst>
          </p:cNvPr>
          <p:cNvSpPr>
            <a:spLocks noGrp="1"/>
          </p:cNvSpPr>
          <p:nvPr>
            <p:ph type="body" sz="quarter" idx="15"/>
          </p:nvPr>
        </p:nvSpPr>
        <p:spPr>
          <a:xfrm>
            <a:off x="743575" y="1277007"/>
            <a:ext cx="10652760" cy="1387365"/>
          </a:xfrm>
        </p:spPr>
        <p:txBody>
          <a:bodyPr/>
          <a:lstStyle/>
          <a:p>
            <a:r>
              <a:rPr lang="en-US" sz="2000" dirty="0"/>
              <a:t>An </a:t>
            </a:r>
            <a:r>
              <a:rPr lang="en-US" sz="2000" b="1" dirty="0"/>
              <a:t>influential observation </a:t>
            </a:r>
            <a:r>
              <a:rPr lang="en-US" sz="2000" dirty="0"/>
              <a:t>exerts a strong influence on the results of linear regression.</a:t>
            </a:r>
          </a:p>
          <a:p>
            <a:r>
              <a:rPr lang="en-US" sz="2000" dirty="0"/>
              <a:t>The estimated regression line shown in the diagram has a negative slope. However, if the influential observation were dropped from the data set, the slope of the estimated regression line would change from negative to positive and </a:t>
            </a:r>
            <a:r>
              <a:rPr lang="en-US" sz="2000"/>
              <a:t>the </a:t>
            </a:r>
            <a:r>
              <a:rPr lang="en-US" sz="2000">
                <a:latin typeface="Arial" panose="020B0604020202020204" pitchFamily="34" charset="0"/>
                <a:cs typeface="Arial" panose="020B0604020202020204" pitchFamily="34" charset="0"/>
              </a:rPr>
              <a:t>𝑦</a:t>
            </a:r>
            <a:r>
              <a:rPr lang="en-US" sz="2000"/>
              <a:t>-intercept </a:t>
            </a:r>
            <a:r>
              <a:rPr lang="en-US" sz="2000" dirty="0"/>
              <a:t>would be smaller.</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F9368C63-59D6-09CD-94DB-87B6A27D53F8}"/>
                  </a:ext>
                </a:extLst>
              </p:cNvPr>
              <p:cNvSpPr>
                <a:spLocks noGrp="1"/>
              </p:cNvSpPr>
              <p:nvPr>
                <p:ph type="body" sz="quarter" idx="17"/>
              </p:nvPr>
            </p:nvSpPr>
            <p:spPr>
              <a:xfrm>
                <a:off x="743575" y="2672255"/>
                <a:ext cx="6095568" cy="3042747"/>
              </a:xfrm>
            </p:spPr>
            <p:txBody>
              <a:bodyPr/>
              <a:lstStyle/>
              <a:p>
                <a:pPr marL="0" lvl="1" indent="0">
                  <a:lnSpc>
                    <a:spcPct val="100000"/>
                  </a:lnSpc>
                  <a:spcBef>
                    <a:spcPts val="600"/>
                  </a:spcBef>
                  <a:buNone/>
                </a:pPr>
                <a:r>
                  <a:rPr lang="en-US" sz="2000" dirty="0">
                    <a:latin typeface="Arial" panose="020B0604020202020204" pitchFamily="34" charset="0"/>
                    <a:cs typeface="Arial" panose="020B0604020202020204" pitchFamily="34" charset="0"/>
                  </a:rPr>
                  <a:t>Influential observations may be identified from a scatter diagram when only one independent variable is present. </a:t>
                </a:r>
              </a:p>
              <a:p>
                <a:pPr marL="0" lvl="1" indent="0">
                  <a:lnSpc>
                    <a:spcPct val="100000"/>
                  </a:lnSpc>
                  <a:spcBef>
                    <a:spcPts val="600"/>
                  </a:spcBef>
                  <a:buNone/>
                </a:pPr>
                <a:r>
                  <a:rPr lang="en-US" sz="2000" dirty="0">
                    <a:latin typeface="Arial" panose="020B0604020202020204" pitchFamily="34" charset="0"/>
                    <a:cs typeface="Arial" panose="020B0604020202020204" pitchFamily="34" charset="0"/>
                  </a:rPr>
                  <a:t>An influential observation may be:</a:t>
                </a:r>
              </a:p>
              <a:p>
                <a:pPr marL="630238" lvl="1" indent="-346075">
                  <a:lnSpc>
                    <a:spcPct val="100000"/>
                  </a:lnSpc>
                  <a:spcBef>
                    <a:spcPts val="600"/>
                  </a:spcBef>
                </a:pPr>
                <a:r>
                  <a:rPr lang="en-US" sz="2000" dirty="0">
                    <a:latin typeface="Arial" panose="020B0604020202020204" pitchFamily="34" charset="0"/>
                    <a:cs typeface="Arial" panose="020B0604020202020204" pitchFamily="34" charset="0"/>
                  </a:rPr>
                  <a:t>an outlier (</a:t>
                </a:r>
                <a:r>
                  <a:rPr lang="en-US" sz="2000">
                    <a:latin typeface="Arial" panose="020B0604020202020204" pitchFamily="34" charset="0"/>
                    <a:cs typeface="Arial" panose="020B0604020202020204" pitchFamily="34" charset="0"/>
                  </a:rPr>
                  <a:t>an off-trend </a:t>
                </a:r>
                <a:r>
                  <a:rPr lang="en-US" sz="2000" dirty="0">
                    <a:latin typeface="Arial" panose="020B0604020202020204" pitchFamily="34" charset="0"/>
                    <a:cs typeface="Arial" panose="020B0604020202020204" pitchFamily="34" charset="0"/>
                  </a:rPr>
                  <a:t>𝑦 value)</a:t>
                </a:r>
              </a:p>
              <a:p>
                <a:pPr marL="630238" lvl="1" indent="-346075">
                  <a:lnSpc>
                    <a:spcPct val="100000"/>
                  </a:lnSpc>
                  <a:spcBef>
                    <a:spcPts val="600"/>
                  </a:spcBef>
                </a:pPr>
                <a:r>
                  <a:rPr lang="en-US" sz="2000" b="1" dirty="0">
                    <a:latin typeface="Arial" panose="020B0604020202020204" pitchFamily="34" charset="0"/>
                    <a:cs typeface="Arial" panose="020B0604020202020204" pitchFamily="34" charset="0"/>
                  </a:rPr>
                  <a:t>a high leverage point</a:t>
                </a:r>
                <a:r>
                  <a:rPr lang="en-US" sz="2000" dirty="0">
                    <a:latin typeface="Arial" panose="020B0604020202020204" pitchFamily="34" charset="0"/>
                    <a:cs typeface="Arial" panose="020B0604020202020204" pitchFamily="34" charset="0"/>
                  </a:rPr>
                  <a:t>: an observation with an extreme 𝑥 value that is far away from </a:t>
                </a:r>
                <a14:m>
                  <m:oMath xmlns:m="http://schemas.openxmlformats.org/officeDocument/2006/math">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oMath>
                </a14:m>
                <a:r>
                  <a:rPr lang="en-US" sz="2000" dirty="0">
                    <a:latin typeface="Arial" panose="020B0604020202020204" pitchFamily="34" charset="0"/>
                    <a:cs typeface="Arial" panose="020B0604020202020204" pitchFamily="34" charset="0"/>
                  </a:rPr>
                  <a:t>.</a:t>
                </a:r>
              </a:p>
              <a:p>
                <a:pPr marL="630238" lvl="1" indent="-346075">
                  <a:lnSpc>
                    <a:spcPct val="100000"/>
                  </a:lnSpc>
                  <a:spcBef>
                    <a:spcPts val="600"/>
                  </a:spcBef>
                </a:pPr>
                <a:r>
                  <a:rPr lang="en-US" sz="2000" dirty="0">
                    <a:latin typeface="Arial" panose="020B0604020202020204" pitchFamily="34" charset="0"/>
                    <a:cs typeface="Arial" panose="020B0604020202020204" pitchFamily="34" charset="0"/>
                  </a:rPr>
                  <a:t>a combination of the two (a </a:t>
                </a:r>
                <a:r>
                  <a:rPr lang="en-US" sz="2000">
                    <a:latin typeface="Arial" panose="020B0604020202020204" pitchFamily="34" charset="0"/>
                    <a:cs typeface="Arial" panose="020B0604020202020204" pitchFamily="34" charset="0"/>
                  </a:rPr>
                  <a:t>somewhat off-trend </a:t>
                </a:r>
                <a:r>
                  <a:rPr lang="en-US" sz="2000" dirty="0">
                    <a:latin typeface="Arial" panose="020B0604020202020204" pitchFamily="34" charset="0"/>
                    <a:cs typeface="Arial" panose="020B0604020202020204" pitchFamily="34" charset="0"/>
                  </a:rPr>
                  <a:t>𝑦 value and a somewhat extreme 𝑥 value)</a:t>
                </a:r>
              </a:p>
            </p:txBody>
          </p:sp>
        </mc:Choice>
        <mc:Fallback xmlns="">
          <p:sp>
            <p:nvSpPr>
              <p:cNvPr id="5" name="Text Placeholder 4">
                <a:extLst>
                  <a:ext uri="{FF2B5EF4-FFF2-40B4-BE49-F238E27FC236}">
                    <a16:creationId xmlns:a16="http://schemas.microsoft.com/office/drawing/2014/main" id="{F9368C63-59D6-09CD-94DB-87B6A27D53F8}"/>
                  </a:ext>
                </a:extLst>
              </p:cNvPr>
              <p:cNvSpPr>
                <a:spLocks noGrp="1" noRot="1" noChangeAspect="1" noMove="1" noResize="1" noEditPoints="1" noAdjustHandles="1" noChangeArrowheads="1" noChangeShapeType="1" noTextEdit="1"/>
              </p:cNvSpPr>
              <p:nvPr>
                <p:ph type="body" sz="quarter" idx="17"/>
              </p:nvPr>
            </p:nvSpPr>
            <p:spPr>
              <a:xfrm>
                <a:off x="743575" y="2672255"/>
                <a:ext cx="6095568" cy="3042747"/>
              </a:xfrm>
              <a:blipFill>
                <a:blip r:embed="rId3"/>
                <a:stretch>
                  <a:fillRect l="-2600" t="-2400" r="-600" b="-5400"/>
                </a:stretch>
              </a:blipFill>
            </p:spPr>
            <p:txBody>
              <a:bodyPr/>
              <a:lstStyle/>
              <a:p>
                <a:r>
                  <a:rPr lang="en-US">
                    <a:noFill/>
                  </a:rPr>
                  <a:t> </a:t>
                </a:r>
              </a:p>
            </p:txBody>
          </p:sp>
        </mc:Fallback>
      </mc:AlternateContent>
      <p:pic>
        <p:nvPicPr>
          <p:cNvPr id="7" name="Picture Placeholder 6" descr="A scatter diagram with multiple data points, a regression line, and an influential observation. The horizontal axis is labeled “x” and the vertical axis is labeled “y.” Most points are scattered at low value of x and moderate value of y. A regression line slopes downward. A point at high value of x and low value of y is labeled “Influential observation.”&#10;">
            <a:extLst>
              <a:ext uri="{FF2B5EF4-FFF2-40B4-BE49-F238E27FC236}">
                <a16:creationId xmlns:a16="http://schemas.microsoft.com/office/drawing/2014/main" id="{7E64E152-15E3-6A9D-56F3-198ACFDA3EAE}"/>
              </a:ext>
            </a:extLst>
          </p:cNvPr>
          <p:cNvPicPr>
            <a:picLocks noGrp="1" noChangeAspect="1"/>
          </p:cNvPicPr>
          <p:nvPr>
            <p:ph type="pic" sz="quarter" idx="16"/>
          </p:nvPr>
        </p:nvPicPr>
        <p:blipFill rotWithShape="1">
          <a:blip r:embed="rId4"/>
          <a:srcRect l="32" r="32"/>
          <a:stretch/>
        </p:blipFill>
        <p:spPr>
          <a:xfrm>
            <a:off x="7074967" y="2750097"/>
            <a:ext cx="3828341" cy="3042691"/>
          </a:xfrm>
        </p:spPr>
      </p:pic>
    </p:spTree>
    <p:extLst>
      <p:ext uri="{BB962C8B-B14F-4D97-AF65-F5344CB8AC3E}">
        <p14:creationId xmlns:p14="http://schemas.microsoft.com/office/powerpoint/2010/main" val="4835942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B249C-4119-D51B-2F0A-8ADE7066663D}"/>
              </a:ext>
            </a:extLst>
          </p:cNvPr>
          <p:cNvSpPr>
            <a:spLocks noGrp="1"/>
          </p:cNvSpPr>
          <p:nvPr>
            <p:ph type="title"/>
          </p:nvPr>
        </p:nvSpPr>
        <p:spPr/>
        <p:txBody>
          <a:bodyPr/>
          <a:lstStyle/>
          <a:p>
            <a:r>
              <a:rPr lang="en-US" dirty="0"/>
              <a:t>14.9 Data Set with a High Leverage Observation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613D938-ACD9-9B17-D58A-9014D04F996F}"/>
                  </a:ext>
                </a:extLst>
              </p:cNvPr>
              <p:cNvSpPr>
                <a:spLocks noGrp="1"/>
              </p:cNvSpPr>
              <p:nvPr>
                <p:ph type="body" sz="quarter" idx="15"/>
              </p:nvPr>
            </p:nvSpPr>
            <p:spPr>
              <a:xfrm>
                <a:off x="743575" y="1316420"/>
                <a:ext cx="10652760" cy="1466191"/>
              </a:xfrm>
            </p:spPr>
            <p:txBody>
              <a:bodyPr/>
              <a:lstStyle/>
              <a:p>
                <a:pPr>
                  <a:spcAft>
                    <a:spcPts val="600"/>
                  </a:spcAft>
                </a:pPr>
                <a:r>
                  <a:rPr lang="en-US" sz="2000" dirty="0"/>
                  <a:t>For the single independent variable case, the leverage of observation 𝑖, denoted </a:t>
                </a:r>
                <a14:m>
                  <m:oMath xmlns:m="http://schemas.openxmlformats.org/officeDocument/2006/math">
                    <m:sSub>
                      <m:sSubPr>
                        <m:ctrlPr>
                          <a:rPr lang="en-US" sz="2000" i="1" dirty="0" smtClean="0">
                            <a:latin typeface="Cambria Math" panose="02040503050406030204" pitchFamily="18" charset="0"/>
                          </a:rPr>
                        </m:ctrlPr>
                      </m:sSubPr>
                      <m:e>
                        <m:r>
                          <a:rPr lang="en-US" sz="2000" i="1" dirty="0">
                            <a:latin typeface="Cambria Math" panose="02040503050406030204" pitchFamily="18" charset="0"/>
                          </a:rPr>
                          <m:t>h</m:t>
                        </m:r>
                      </m:e>
                      <m:sub>
                        <m:r>
                          <a:rPr lang="en-US" sz="2000" b="0" i="1" dirty="0" smtClean="0">
                            <a:latin typeface="Cambria Math" panose="02040503050406030204" pitchFamily="18" charset="0"/>
                          </a:rPr>
                          <m:t>𝑖</m:t>
                        </m:r>
                      </m:sub>
                    </m:sSub>
                  </m:oMath>
                </a14:m>
                <a:r>
                  <a:rPr lang="en-US" sz="2000" dirty="0"/>
                  <a:t>, can be computed by using the following equation.</a:t>
                </a:r>
              </a:p>
              <a:p>
                <a:pPr marL="457200">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a:latin typeface="Cambria Math" panose="02040503050406030204" pitchFamily="18" charset="0"/>
                            </a:rPr>
                            <m:t>h</m:t>
                          </m:r>
                        </m:e>
                        <m:sub>
                          <m:r>
                            <a:rPr lang="en-US" sz="2000" b="0" i="1">
                              <a:latin typeface="Cambria Math" panose="02040503050406030204" pitchFamily="18" charset="0"/>
                            </a:rPr>
                            <m:t>𝑖</m:t>
                          </m:r>
                        </m:sub>
                      </m:sSub>
                      <m:r>
                        <a:rPr lang="en-US" sz="2000" b="0" i="1" smtClean="0">
                          <a:latin typeface="Cambria Math" panose="02040503050406030204" pitchFamily="18" charset="0"/>
                        </a:rPr>
                        <m:t>=</m:t>
                      </m:r>
                      <m:f>
                        <m:fPr>
                          <m:ctrlPr>
                            <a:rPr lang="en-US" sz="200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𝑛</m:t>
                          </m:r>
                        </m:den>
                      </m:f>
                      <m:r>
                        <a:rPr lang="en-US" sz="2000" b="0" i="1" smtClean="0">
                          <a:latin typeface="Cambria Math" panose="02040503050406030204" pitchFamily="18" charset="0"/>
                          <a:ea typeface="Cambria Math" panose="02040503050406030204" pitchFamily="18" charset="0"/>
                        </a:rPr>
                        <m:t>+</m:t>
                      </m:r>
                      <m:f>
                        <m:fPr>
                          <m:ctrlPr>
                            <a:rPr lang="en-US" sz="2000" i="1" smtClean="0">
                              <a:latin typeface="Cambria Math" panose="02040503050406030204" pitchFamily="18" charset="0"/>
                              <a:ea typeface="Cambria Math" panose="02040503050406030204" pitchFamily="18" charset="0"/>
                            </a:rPr>
                          </m:ctrlPr>
                        </m:fPr>
                        <m:num>
                          <m:sSup>
                            <m:sSupPr>
                              <m:ctrlPr>
                                <a:rPr lang="en-US" sz="2000" i="1" smtClean="0">
                                  <a:latin typeface="Cambria Math" panose="02040503050406030204" pitchFamily="18" charset="0"/>
                                  <a:ea typeface="Cambria Math" panose="02040503050406030204" pitchFamily="18" charset="0"/>
                                </a:rPr>
                              </m:ctrlPr>
                            </m:sSupPr>
                            <m:e>
                              <m:d>
                                <m:dPr>
                                  <m:ctrlPr>
                                    <a:rPr lang="en-US" sz="2000" i="1" smtClean="0">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𝑥</m:t>
                                      </m:r>
                                    </m:e>
                                    <m:sub>
                                      <m:r>
                                        <a:rPr lang="en-US" sz="2000" b="0" i="1">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𝑥</m:t>
                                      </m:r>
                                    </m:e>
                                  </m:acc>
                                </m:e>
                              </m:d>
                            </m:e>
                            <m:sup>
                              <m:r>
                                <a:rPr lang="en-US" sz="2000" b="0" i="1" smtClean="0">
                                  <a:latin typeface="Cambria Math" panose="02040503050406030204" pitchFamily="18" charset="0"/>
                                  <a:ea typeface="Cambria Math" panose="02040503050406030204" pitchFamily="18" charset="0"/>
                                </a:rPr>
                                <m:t>2</m:t>
                              </m:r>
                            </m:sup>
                          </m:sSup>
                        </m:num>
                        <m:den>
                          <m:nary>
                            <m:naryPr>
                              <m:chr m:val="∑"/>
                              <m:subHide m:val="on"/>
                              <m:supHide m:val="on"/>
                              <m:ctrlPr>
                                <a:rPr lang="en-US" sz="2000" i="1" smtClean="0">
                                  <a:latin typeface="Cambria Math" panose="02040503050406030204" pitchFamily="18" charset="0"/>
                                  <a:ea typeface="Cambria Math" panose="02040503050406030204" pitchFamily="18" charset="0"/>
                                </a:rPr>
                              </m:ctrlPr>
                            </m:naryPr>
                            <m:sub/>
                            <m:sup/>
                            <m:e>
                              <m:sSup>
                                <m:sSupPr>
                                  <m:ctrlPr>
                                    <a:rPr lang="en-US" sz="2000" i="1" smtClean="0">
                                      <a:latin typeface="Cambria Math" panose="02040503050406030204" pitchFamily="18" charset="0"/>
                                      <a:ea typeface="Cambria Math" panose="02040503050406030204" pitchFamily="18" charset="0"/>
                                    </a:rPr>
                                  </m:ctrlPr>
                                </m:sSupPr>
                                <m:e>
                                  <m:d>
                                    <m:dPr>
                                      <m:ctrlPr>
                                        <a:rPr lang="en-US" sz="2000" i="1" smtClean="0">
                                          <a:latin typeface="Cambria Math" panose="02040503050406030204" pitchFamily="18" charset="0"/>
                                          <a:ea typeface="Cambria Math" panose="02040503050406030204" pitchFamily="18" charset="0"/>
                                        </a:rPr>
                                      </m:ctrlPr>
                                    </m:dPr>
                                    <m:e>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acc>
                                        <m:accPr>
                                          <m:chr m:val="̅"/>
                                          <m:ctrlPr>
                                            <a:rPr lang="en-US" sz="200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𝑥</m:t>
                                          </m:r>
                                        </m:e>
                                      </m:acc>
                                    </m:e>
                                  </m:d>
                                </m:e>
                                <m:sup>
                                  <m:r>
                                    <a:rPr lang="en-US" sz="2000" b="0" i="1" smtClean="0">
                                      <a:latin typeface="Cambria Math" panose="02040503050406030204" pitchFamily="18" charset="0"/>
                                      <a:ea typeface="Cambria Math" panose="02040503050406030204" pitchFamily="18" charset="0"/>
                                    </a:rPr>
                                    <m:t>2</m:t>
                                  </m:r>
                                </m:sup>
                              </m:sSup>
                            </m:e>
                          </m:nary>
                        </m:den>
                      </m:f>
                    </m:oMath>
                  </m:oMathPara>
                </a14:m>
                <a:endParaRPr lang="en-US" sz="2000" dirty="0"/>
              </a:p>
            </p:txBody>
          </p:sp>
        </mc:Choice>
        <mc:Fallback xmlns="">
          <p:sp>
            <p:nvSpPr>
              <p:cNvPr id="3" name="Text Placeholder 2">
                <a:extLst>
                  <a:ext uri="{FF2B5EF4-FFF2-40B4-BE49-F238E27FC236}">
                    <a16:creationId xmlns:a16="http://schemas.microsoft.com/office/drawing/2014/main" id="{3613D938-ACD9-9B17-D58A-9014D04F996F}"/>
                  </a:ext>
                </a:extLst>
              </p:cNvPr>
              <p:cNvSpPr>
                <a:spLocks noGrp="1" noRot="1" noChangeAspect="1" noMove="1" noResize="1" noEditPoints="1" noAdjustHandles="1" noChangeArrowheads="1" noChangeShapeType="1" noTextEdit="1"/>
              </p:cNvSpPr>
              <p:nvPr>
                <p:ph type="body" sz="quarter" idx="15"/>
              </p:nvPr>
            </p:nvSpPr>
            <p:spPr>
              <a:xfrm>
                <a:off x="743575" y="1316420"/>
                <a:ext cx="10652760" cy="1466191"/>
              </a:xfrm>
              <a:blipFill>
                <a:blip r:embed="rId3"/>
                <a:stretch>
                  <a:fillRect l="-1488" t="-54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F9368C63-59D6-09CD-94DB-87B6A27D53F8}"/>
                  </a:ext>
                </a:extLst>
              </p:cNvPr>
              <p:cNvSpPr>
                <a:spLocks noGrp="1"/>
              </p:cNvSpPr>
              <p:nvPr>
                <p:ph type="body" sz="quarter" idx="17"/>
              </p:nvPr>
            </p:nvSpPr>
            <p:spPr>
              <a:xfrm>
                <a:off x="743577" y="2837791"/>
                <a:ext cx="4711292" cy="2987566"/>
              </a:xfrm>
            </p:spPr>
            <p:txBody>
              <a:bodyPr/>
              <a:lstStyle/>
              <a:p>
                <a:pPr marL="0" lvl="1" indent="0">
                  <a:lnSpc>
                    <a:spcPct val="100000"/>
                  </a:lnSpc>
                  <a:spcBef>
                    <a:spcPts val="600"/>
                  </a:spcBef>
                  <a:buNone/>
                </a:pPr>
                <a:r>
                  <a:rPr lang="en-US" sz="2000" dirty="0">
                    <a:latin typeface="Arial" panose="020B0604020202020204" pitchFamily="34" charset="0"/>
                    <a:cs typeface="Arial" panose="020B0604020202020204" pitchFamily="34" charset="0"/>
                  </a:rPr>
                  <a:t>From the formula, it is clear that the farther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𝑖</m:t>
                        </m:r>
                      </m:sub>
                    </m:sSub>
                  </m:oMath>
                </a14:m>
                <a:r>
                  <a:rPr lang="en-US" sz="2000" dirty="0">
                    <a:latin typeface="Arial" panose="020B0604020202020204" pitchFamily="34" charset="0"/>
                    <a:cs typeface="Arial" panose="020B0604020202020204" pitchFamily="34" charset="0"/>
                  </a:rPr>
                  <a:t> is from its mean </a:t>
                </a:r>
                <a14:m>
                  <m:oMath xmlns:m="http://schemas.openxmlformats.org/officeDocument/2006/math">
                    <m:acc>
                      <m:accPr>
                        <m:chr m:val="̅"/>
                        <m:ctrlPr>
                          <a:rPr lang="en-US" sz="200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𝑥</m:t>
                        </m:r>
                      </m:e>
                    </m:acc>
                  </m:oMath>
                </a14:m>
                <a:r>
                  <a:rPr lang="en-US" sz="2000" dirty="0">
                    <a:latin typeface="Arial" panose="020B0604020202020204" pitchFamily="34" charset="0"/>
                    <a:cs typeface="Arial" panose="020B0604020202020204" pitchFamily="34" charset="0"/>
                  </a:rPr>
                  <a:t>, the higher the leverage of observation </a:t>
                </a:r>
                <a:r>
                  <a:rPr lang="en-US" sz="2000" dirty="0"/>
                  <a:t>𝑖</a:t>
                </a:r>
                <a:r>
                  <a:rPr lang="en-US" sz="2000" dirty="0">
                    <a:latin typeface="Arial" panose="020B0604020202020204" pitchFamily="34" charset="0"/>
                    <a:cs typeface="Arial" panose="020B0604020202020204" pitchFamily="34" charset="0"/>
                  </a:rPr>
                  <a:t>.</a:t>
                </a:r>
              </a:p>
              <a:p>
                <a:pPr marL="0" lvl="1" indent="0">
                  <a:lnSpc>
                    <a:spcPct val="100000"/>
                  </a:lnSpc>
                  <a:spcBef>
                    <a:spcPts val="600"/>
                  </a:spcBef>
                  <a:buNone/>
                </a:pPr>
                <a:r>
                  <a:rPr lang="en-US" sz="2000" dirty="0">
                    <a:latin typeface="Arial" panose="020B0604020202020204" pitchFamily="34" charset="0"/>
                    <a:cs typeface="Arial" panose="020B0604020202020204" pitchFamily="34" charset="0"/>
                  </a:rPr>
                  <a:t>Many statistical packages automatically identify observations with high leverage as part of the standard regression output.</a:t>
                </a:r>
              </a:p>
              <a:p>
                <a:pPr marL="0" lvl="1" indent="0">
                  <a:lnSpc>
                    <a:spcPct val="100000"/>
                  </a:lnSpc>
                  <a:spcBef>
                    <a:spcPts val="600"/>
                  </a:spcBef>
                  <a:buNone/>
                </a:pPr>
                <a:r>
                  <a:rPr lang="en-US" sz="2000" dirty="0">
                    <a:latin typeface="Arial" panose="020B0604020202020204" pitchFamily="34" charset="0"/>
                    <a:cs typeface="Arial" panose="020B0604020202020204" pitchFamily="34" charset="0"/>
                  </a:rPr>
                  <a:t>As an illustration of points with high leverage, let us consider observation 7 at coordinates </a:t>
                </a:r>
                <a:r>
                  <a:rPr lang="en-US" sz="2000" dirty="0"/>
                  <a:t>(</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7</m:t>
                        </m:r>
                      </m:sub>
                    </m:sSub>
                    <m:r>
                      <a:rPr lang="en-US" sz="2000" i="1" dirty="0" smtClean="0">
                        <a:latin typeface="Cambria Math" panose="02040503050406030204" pitchFamily="18" charset="0"/>
                      </a:rPr>
                      <m:t>=</m:t>
                    </m:r>
                    <m:r>
                      <a:rPr lang="en-US" sz="2000" b="0" i="1" dirty="0" smtClean="0">
                        <a:latin typeface="Cambria Math" panose="02040503050406030204" pitchFamily="18" charset="0"/>
                      </a:rPr>
                      <m:t>70</m:t>
                    </m:r>
                  </m:oMath>
                </a14:m>
                <a:r>
                  <a:rPr lang="en-US" sz="2000" dirty="0"/>
                  <a:t>, </a:t>
                </a:r>
                <a14:m>
                  <m:oMath xmlns:m="http://schemas.openxmlformats.org/officeDocument/2006/math">
                    <m:sSub>
                      <m:sSubPr>
                        <m:ctrlPr>
                          <a:rPr lang="en-US" sz="1800" i="1" dirty="0">
                            <a:latin typeface="Cambria Math" panose="02040503050406030204" pitchFamily="18" charset="0"/>
                          </a:rPr>
                        </m:ctrlPr>
                      </m:sSubPr>
                      <m:e>
                        <m:r>
                          <a:rPr lang="en-US" sz="1800" b="0" i="1" dirty="0" smtClean="0">
                            <a:latin typeface="Cambria Math" panose="02040503050406030204" pitchFamily="18" charset="0"/>
                          </a:rPr>
                          <m:t>𝑦</m:t>
                        </m:r>
                      </m:e>
                      <m:sub>
                        <m:r>
                          <a:rPr lang="en-US" sz="1800" b="0" i="1" dirty="0" smtClean="0">
                            <a:latin typeface="Cambria Math" panose="02040503050406030204" pitchFamily="18" charset="0"/>
                          </a:rPr>
                          <m:t>7</m:t>
                        </m:r>
                      </m:sub>
                    </m:sSub>
                    <m:r>
                      <a:rPr lang="en-US" sz="1800" i="1" dirty="0">
                        <a:latin typeface="Cambria Math" panose="02040503050406030204" pitchFamily="18" charset="0"/>
                      </a:rPr>
                      <m:t>=</m:t>
                    </m:r>
                    <m:r>
                      <a:rPr lang="en-US" sz="1800" b="0" i="1" dirty="0" smtClean="0">
                        <a:latin typeface="Cambria Math" panose="02040503050406030204" pitchFamily="18" charset="0"/>
                      </a:rPr>
                      <m:t>100</m:t>
                    </m:r>
                  </m:oMath>
                </a14:m>
                <a:r>
                  <a:rPr lang="en-US" sz="2000" dirty="0"/>
                  <a:t>).</a:t>
                </a:r>
                <a:endParaRPr lang="en-US" sz="2000" dirty="0">
                  <a:latin typeface="Arial" panose="020B0604020202020204" pitchFamily="34" charset="0"/>
                  <a:cs typeface="Arial" panose="020B0604020202020204" pitchFamily="34" charset="0"/>
                </a:endParaRPr>
              </a:p>
            </p:txBody>
          </p:sp>
        </mc:Choice>
        <mc:Fallback xmlns="">
          <p:sp>
            <p:nvSpPr>
              <p:cNvPr id="5" name="Text Placeholder 4">
                <a:extLst>
                  <a:ext uri="{FF2B5EF4-FFF2-40B4-BE49-F238E27FC236}">
                    <a16:creationId xmlns:a16="http://schemas.microsoft.com/office/drawing/2014/main" id="{F9368C63-59D6-09CD-94DB-87B6A27D53F8}"/>
                  </a:ext>
                </a:extLst>
              </p:cNvPr>
              <p:cNvSpPr>
                <a:spLocks noGrp="1" noRot="1" noChangeAspect="1" noMove="1" noResize="1" noEditPoints="1" noAdjustHandles="1" noChangeArrowheads="1" noChangeShapeType="1" noTextEdit="1"/>
              </p:cNvSpPr>
              <p:nvPr>
                <p:ph type="body" sz="quarter" idx="17"/>
              </p:nvPr>
            </p:nvSpPr>
            <p:spPr>
              <a:xfrm>
                <a:off x="743577" y="2837791"/>
                <a:ext cx="4711292" cy="2987566"/>
              </a:xfrm>
              <a:blipFill>
                <a:blip r:embed="rId4"/>
                <a:stretch>
                  <a:fillRect l="-3364" t="-2449" r="-2846" b="-2041"/>
                </a:stretch>
              </a:blipFill>
            </p:spPr>
            <p:txBody>
              <a:bodyPr/>
              <a:lstStyle/>
              <a:p>
                <a:r>
                  <a:rPr lang="en-US">
                    <a:noFill/>
                  </a:rPr>
                  <a:t> </a:t>
                </a:r>
              </a:p>
            </p:txBody>
          </p:sp>
        </mc:Fallback>
      </mc:AlternateContent>
      <p:pic>
        <p:nvPicPr>
          <p:cNvPr id="13" name="Picture Placeholder 12" descr="A scatter diagram with seven points plots y versus x. The horizontal axis is labeled “x” and ranges from 0 to 80.0 with tickmarks in increments of 10.00. The vertical axis is labeled “y” and ranges from 100.00 to 130.00 with tickmarks in increments of 10.00. The coordinates of the points are (10.00, 130.00), (10.00, 125.00), (15.00, 120.00), (20,00, 120.00), (20.00, 115.00), (25.00, 110.00), and (70.00, 10.00). The point (70.00, 100.00) is labeled “Observation with high leverage.”&#10;">
            <a:extLst>
              <a:ext uri="{FF2B5EF4-FFF2-40B4-BE49-F238E27FC236}">
                <a16:creationId xmlns:a16="http://schemas.microsoft.com/office/drawing/2014/main" id="{5704DA81-9BE8-C1A8-0186-AC775CAFE164}"/>
              </a:ext>
            </a:extLst>
          </p:cNvPr>
          <p:cNvPicPr>
            <a:picLocks noGrp="1" noChangeAspect="1"/>
          </p:cNvPicPr>
          <p:nvPr>
            <p:ph type="pic" sz="quarter" idx="16"/>
          </p:nvPr>
        </p:nvPicPr>
        <p:blipFill rotWithShape="1">
          <a:blip r:embed="rId5"/>
          <a:srcRect l="5" r="5"/>
          <a:stretch/>
        </p:blipFill>
        <p:spPr>
          <a:xfrm>
            <a:off x="5580063" y="2254577"/>
            <a:ext cx="5816600" cy="3484563"/>
          </a:xfrm>
        </p:spPr>
      </p:pic>
    </p:spTree>
    <p:extLst>
      <p:ext uri="{BB962C8B-B14F-4D97-AF65-F5344CB8AC3E}">
        <p14:creationId xmlns:p14="http://schemas.microsoft.com/office/powerpoint/2010/main" val="34412851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E22E9DA-8EC1-BDCC-225E-5AF0A5DDA749}"/>
                  </a:ext>
                </a:extLst>
              </p:cNvPr>
              <p:cNvSpPr>
                <a:spLocks noGrp="1"/>
              </p:cNvSpPr>
              <p:nvPr>
                <p:ph type="title"/>
              </p:nvPr>
            </p:nvSpPr>
            <p:spPr>
              <a:xfrm>
                <a:off x="790874" y="365125"/>
                <a:ext cx="10610224" cy="672105"/>
              </a:xfrm>
            </p:spPr>
            <p:txBody>
              <a:bodyPr/>
              <a:lstStyle/>
              <a:p>
                <a:r>
                  <a:rPr lang="en-US" dirty="0"/>
                  <a:t>14.9 Calculation of </a:t>
                </a:r>
                <a14:m>
                  <m:oMath xmlns:m="http://schemas.openxmlformats.org/officeDocument/2006/math">
                    <m:sSub>
                      <m:sSubPr>
                        <m:ctrlPr>
                          <a:rPr lang="en-US" i="1" smtClean="0">
                            <a:latin typeface="Cambria Math" panose="02040503050406030204" pitchFamily="18" charset="0"/>
                          </a:rPr>
                        </m:ctrlPr>
                      </m:sSubPr>
                      <m:e>
                        <m:r>
                          <a:rPr lang="en-US" b="1" i="1" smtClean="0">
                            <a:latin typeface="Cambria Math" panose="02040503050406030204" pitchFamily="18" charset="0"/>
                          </a:rPr>
                          <m:t>𝒉</m:t>
                        </m:r>
                      </m:e>
                      <m:sub>
                        <m:r>
                          <a:rPr lang="en-US" b="1" i="1" smtClean="0">
                            <a:latin typeface="Cambria Math" panose="02040503050406030204" pitchFamily="18" charset="0"/>
                          </a:rPr>
                          <m:t>𝒊</m:t>
                        </m:r>
                      </m:sub>
                    </m:sSub>
                  </m:oMath>
                </a14:m>
                <a:r>
                  <a:rPr lang="en-US" dirty="0"/>
                  <a:t> in the High Leverage Data Set</a:t>
                </a:r>
              </a:p>
            </p:txBody>
          </p:sp>
        </mc:Choice>
        <mc:Fallback xmlns="">
          <p:sp>
            <p:nvSpPr>
              <p:cNvPr id="2" name="Title 1">
                <a:extLst>
                  <a:ext uri="{FF2B5EF4-FFF2-40B4-BE49-F238E27FC236}">
                    <a16:creationId xmlns:a16="http://schemas.microsoft.com/office/drawing/2014/main" id="{3E22E9DA-8EC1-BDCC-225E-5AF0A5DDA749}"/>
                  </a:ext>
                </a:extLst>
              </p:cNvPr>
              <p:cNvSpPr>
                <a:spLocks noGrp="1" noRot="1" noChangeAspect="1" noMove="1" noResize="1" noEditPoints="1" noAdjustHandles="1" noChangeArrowheads="1" noChangeShapeType="1" noTextEdit="1"/>
              </p:cNvSpPr>
              <p:nvPr>
                <p:ph type="title"/>
              </p:nvPr>
            </p:nvSpPr>
            <p:spPr>
              <a:xfrm>
                <a:off x="790874" y="365125"/>
                <a:ext cx="10610224" cy="672105"/>
              </a:xfrm>
              <a:blipFill>
                <a:blip r:embed="rId3"/>
                <a:stretch>
                  <a:fillRect l="-2241" t="-28182" r="-2241"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827DCC9-48E9-39AA-09BA-FE2089FB98DA}"/>
                  </a:ext>
                </a:extLst>
              </p:cNvPr>
              <p:cNvSpPr>
                <a:spLocks noGrp="1"/>
              </p:cNvSpPr>
              <p:nvPr>
                <p:ph type="body" sz="quarter" idx="15"/>
              </p:nvPr>
            </p:nvSpPr>
            <p:spPr>
              <a:xfrm>
                <a:off x="740228" y="1366593"/>
                <a:ext cx="10711543" cy="4220224"/>
              </a:xfrm>
            </p:spPr>
            <p:txBody>
              <a:bodyPr/>
              <a:lstStyle/>
              <a:p>
                <a:pPr>
                  <a:spcBef>
                    <a:spcPts val="600"/>
                  </a:spcBef>
                  <a:spcAft>
                    <a:spcPts val="600"/>
                  </a:spcAft>
                </a:pPr>
                <a:r>
                  <a:rPr lang="en-US" sz="2000" dirty="0"/>
                  <a:t>The leverage for observation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7</m:t>
                        </m:r>
                      </m:sub>
                    </m:sSub>
                    <m:r>
                      <a:rPr lang="en-US" sz="2000" i="1" dirty="0" smtClean="0">
                        <a:latin typeface="Cambria Math" panose="02040503050406030204" pitchFamily="18" charset="0"/>
                      </a:rPr>
                      <m:t>=</m:t>
                    </m:r>
                    <m:r>
                      <a:rPr lang="en-US" sz="2000" b="0" i="1" dirty="0" smtClean="0">
                        <a:latin typeface="Cambria Math" panose="02040503050406030204" pitchFamily="18" charset="0"/>
                      </a:rPr>
                      <m:t>70</m:t>
                    </m:r>
                  </m:oMath>
                </a14:m>
                <a:r>
                  <a:rPr lang="en-US" sz="2000" dirty="0"/>
                  <a:t>, </a:t>
                </a:r>
                <a14:m>
                  <m:oMath xmlns:m="http://schemas.openxmlformats.org/officeDocument/2006/math">
                    <m:sSub>
                      <m:sSubPr>
                        <m:ctrlPr>
                          <a:rPr lang="en-US" sz="1800" i="1" dirty="0">
                            <a:latin typeface="Cambria Math" panose="02040503050406030204" pitchFamily="18" charset="0"/>
                          </a:rPr>
                        </m:ctrlPr>
                      </m:sSubPr>
                      <m:e>
                        <m:r>
                          <a:rPr lang="en-US" sz="1800" b="0" i="1" dirty="0" smtClean="0">
                            <a:latin typeface="Cambria Math" panose="02040503050406030204" pitchFamily="18" charset="0"/>
                          </a:rPr>
                          <m:t>𝑦</m:t>
                        </m:r>
                      </m:e>
                      <m:sub>
                        <m:r>
                          <a:rPr lang="en-US" sz="1800" b="0" i="1" dirty="0" smtClean="0">
                            <a:latin typeface="Cambria Math" panose="02040503050406030204" pitchFamily="18" charset="0"/>
                          </a:rPr>
                          <m:t>7</m:t>
                        </m:r>
                      </m:sub>
                    </m:sSub>
                    <m:r>
                      <a:rPr lang="en-US" sz="1800" i="1" dirty="0">
                        <a:latin typeface="Cambria Math" panose="02040503050406030204" pitchFamily="18" charset="0"/>
                      </a:rPr>
                      <m:t>=</m:t>
                    </m:r>
                    <m:r>
                      <a:rPr lang="en-US" sz="1800" b="0" i="1" dirty="0" smtClean="0">
                        <a:latin typeface="Cambria Math" panose="02040503050406030204" pitchFamily="18" charset="0"/>
                      </a:rPr>
                      <m:t>100 </m:t>
                    </m:r>
                  </m:oMath>
                </a14:m>
                <a:r>
                  <a:rPr lang="en-US" sz="2000" dirty="0"/>
                  <a:t>) of the high leverage data set is computed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a:latin typeface="Cambria Math" panose="02040503050406030204" pitchFamily="18" charset="0"/>
                            </a:rPr>
                            <m:t>h</m:t>
                          </m:r>
                        </m:e>
                        <m:sub>
                          <m:r>
                            <a:rPr lang="en-US" sz="2000" b="0" i="1" smtClean="0">
                              <a:latin typeface="Cambria Math" panose="02040503050406030204" pitchFamily="18" charset="0"/>
                            </a:rPr>
                            <m:t>7</m:t>
                          </m:r>
                        </m:sub>
                      </m:sSub>
                      <m:r>
                        <a:rPr lang="en-US" sz="2000" b="0" i="1" smtClean="0">
                          <a:latin typeface="Cambria Math" panose="02040503050406030204" pitchFamily="18" charset="0"/>
                        </a:rPr>
                        <m:t>=</m:t>
                      </m:r>
                      <m:f>
                        <m:fPr>
                          <m:ctrlPr>
                            <a:rPr lang="en-US" sz="200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𝑛</m:t>
                          </m:r>
                        </m:den>
                      </m:f>
                      <m:r>
                        <a:rPr lang="en-US" sz="2000" b="0" i="1" smtClean="0">
                          <a:latin typeface="Cambria Math" panose="02040503050406030204" pitchFamily="18" charset="0"/>
                          <a:ea typeface="Cambria Math" panose="02040503050406030204" pitchFamily="18" charset="0"/>
                        </a:rPr>
                        <m:t>+</m:t>
                      </m:r>
                      <m:f>
                        <m:fPr>
                          <m:ctrlPr>
                            <a:rPr lang="en-US" sz="2000" i="1" smtClean="0">
                              <a:latin typeface="Cambria Math" panose="02040503050406030204" pitchFamily="18" charset="0"/>
                              <a:ea typeface="Cambria Math" panose="02040503050406030204" pitchFamily="18" charset="0"/>
                            </a:rPr>
                          </m:ctrlPr>
                        </m:fPr>
                        <m:num>
                          <m:sSup>
                            <m:sSupPr>
                              <m:ctrlPr>
                                <a:rPr lang="en-US" sz="2000" i="1" smtClean="0">
                                  <a:latin typeface="Cambria Math" panose="02040503050406030204" pitchFamily="18" charset="0"/>
                                  <a:ea typeface="Cambria Math" panose="02040503050406030204" pitchFamily="18" charset="0"/>
                                </a:rPr>
                              </m:ctrlPr>
                            </m:sSupPr>
                            <m:e>
                              <m:d>
                                <m:dPr>
                                  <m:ctrlPr>
                                    <a:rPr lang="en-US" sz="2000" i="1" smtClean="0">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7</m:t>
                                      </m:r>
                                    </m:sub>
                                  </m:sSub>
                                  <m:r>
                                    <a:rPr lang="en-US" sz="2000" b="0" i="1" smtClean="0">
                                      <a:latin typeface="Cambria Math" panose="02040503050406030204" pitchFamily="18" charset="0"/>
                                      <a:ea typeface="Cambria Math" panose="02040503050406030204" pitchFamily="18" charset="0"/>
                                    </a:rPr>
                                    <m:t>−</m:t>
                                  </m:r>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𝑥</m:t>
                                      </m:r>
                                    </m:e>
                                  </m:acc>
                                </m:e>
                              </m:d>
                            </m:e>
                            <m:sup>
                              <m:r>
                                <a:rPr lang="en-US" sz="2000" b="0" i="1" smtClean="0">
                                  <a:latin typeface="Cambria Math" panose="02040503050406030204" pitchFamily="18" charset="0"/>
                                  <a:ea typeface="Cambria Math" panose="02040503050406030204" pitchFamily="18" charset="0"/>
                                </a:rPr>
                                <m:t>2</m:t>
                              </m:r>
                            </m:sup>
                          </m:sSup>
                        </m:num>
                        <m:den>
                          <m:nary>
                            <m:naryPr>
                              <m:chr m:val="∑"/>
                              <m:subHide m:val="on"/>
                              <m:supHide m:val="on"/>
                              <m:ctrlPr>
                                <a:rPr lang="en-US" sz="2000" i="1" smtClean="0">
                                  <a:latin typeface="Cambria Math" panose="02040503050406030204" pitchFamily="18" charset="0"/>
                                  <a:ea typeface="Cambria Math" panose="02040503050406030204" pitchFamily="18" charset="0"/>
                                </a:rPr>
                              </m:ctrlPr>
                            </m:naryPr>
                            <m:sub/>
                            <m:sup/>
                            <m:e>
                              <m:sSup>
                                <m:sSupPr>
                                  <m:ctrlPr>
                                    <a:rPr lang="en-US" sz="2000" i="1" smtClean="0">
                                      <a:latin typeface="Cambria Math" panose="02040503050406030204" pitchFamily="18" charset="0"/>
                                      <a:ea typeface="Cambria Math" panose="02040503050406030204" pitchFamily="18" charset="0"/>
                                    </a:rPr>
                                  </m:ctrlPr>
                                </m:sSupPr>
                                <m:e>
                                  <m:d>
                                    <m:dPr>
                                      <m:ctrlPr>
                                        <a:rPr lang="en-US" sz="2000" i="1" smtClean="0">
                                          <a:latin typeface="Cambria Math" panose="02040503050406030204" pitchFamily="18" charset="0"/>
                                          <a:ea typeface="Cambria Math" panose="02040503050406030204" pitchFamily="18" charset="0"/>
                                        </a:rPr>
                                      </m:ctrlPr>
                                    </m:dPr>
                                    <m:e>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acc>
                                        <m:accPr>
                                          <m:chr m:val="̅"/>
                                          <m:ctrlPr>
                                            <a:rPr lang="en-US" sz="200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𝑥</m:t>
                                          </m:r>
                                        </m:e>
                                      </m:acc>
                                    </m:e>
                                  </m:d>
                                </m:e>
                                <m:sup>
                                  <m:r>
                                    <a:rPr lang="en-US" sz="2000" b="0" i="1" smtClean="0">
                                      <a:latin typeface="Cambria Math" panose="02040503050406030204" pitchFamily="18" charset="0"/>
                                      <a:ea typeface="Cambria Math" panose="02040503050406030204" pitchFamily="18" charset="0"/>
                                    </a:rPr>
                                    <m:t>2</m:t>
                                  </m:r>
                                </m:sup>
                              </m:sSup>
                            </m:e>
                          </m:nary>
                        </m:den>
                      </m:f>
                      <m:r>
                        <a:rPr lang="en-US" sz="2000" b="0" i="1" smtClean="0">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7</m:t>
                          </m:r>
                        </m:den>
                      </m:f>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p>
                            <m:sSupPr>
                              <m:ctrlPr>
                                <a:rPr lang="en-US" sz="2000" i="1">
                                  <a:latin typeface="Cambria Math" panose="02040503050406030204" pitchFamily="18" charset="0"/>
                                  <a:ea typeface="Cambria Math" panose="02040503050406030204" pitchFamily="18" charset="0"/>
                                </a:rPr>
                              </m:ctrlPr>
                            </m:sSupPr>
                            <m:e>
                              <m:d>
                                <m:dPr>
                                  <m:ctrlPr>
                                    <a:rPr lang="en-US" sz="2000" i="1">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70</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24.286</m:t>
                                  </m:r>
                                </m:e>
                              </m:d>
                            </m:e>
                            <m:sup>
                              <m:r>
                                <a:rPr lang="en-US" sz="2000" i="1">
                                  <a:latin typeface="Cambria Math" panose="02040503050406030204" pitchFamily="18" charset="0"/>
                                  <a:ea typeface="Cambria Math" panose="02040503050406030204" pitchFamily="18" charset="0"/>
                                </a:rPr>
                                <m:t>2</m:t>
                              </m:r>
                            </m:sup>
                          </m:sSup>
                        </m:num>
                        <m:den>
                          <m:r>
                            <a:rPr lang="en-US" sz="2000" b="0" i="1" smtClean="0">
                              <a:latin typeface="Cambria Math" panose="02040503050406030204" pitchFamily="18" charset="0"/>
                              <a:ea typeface="Cambria Math" panose="02040503050406030204" pitchFamily="18" charset="0"/>
                            </a:rPr>
                            <m:t>2,621.43</m:t>
                          </m:r>
                        </m:den>
                      </m:f>
                      <m:r>
                        <a:rPr lang="en-US" sz="2000" b="0" i="1" smtClean="0">
                          <a:latin typeface="Cambria Math" panose="02040503050406030204" pitchFamily="18" charset="0"/>
                          <a:ea typeface="Cambria Math" panose="02040503050406030204" pitchFamily="18" charset="0"/>
                        </a:rPr>
                        <m:t>=0.94</m:t>
                      </m:r>
                    </m:oMath>
                  </m:oMathPara>
                </a14:m>
                <a:endParaRPr lang="en-US" sz="2000" dirty="0"/>
              </a:p>
              <a:p>
                <a:pPr>
                  <a:spcBef>
                    <a:spcPts val="600"/>
                  </a:spcBef>
                </a:pPr>
                <a:r>
                  <a:rPr lang="en-US" sz="2000" dirty="0"/>
                  <a:t>For the case of simple linear regression, observation 𝑖 has high leverage if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h</m:t>
                        </m:r>
                      </m:e>
                      <m:sub>
                        <m:r>
                          <a:rPr lang="en-US" sz="2000" b="0" i="1">
                            <a:latin typeface="Cambria Math" panose="02040503050406030204" pitchFamily="18" charset="0"/>
                          </a:rPr>
                          <m:t>𝑖</m:t>
                        </m:r>
                      </m:sub>
                    </m:sSub>
                    <m:r>
                      <a:rPr lang="en-US" sz="2000" i="1" dirty="0" smtClean="0">
                        <a:latin typeface="Cambria Math" panose="02040503050406030204" pitchFamily="18" charset="0"/>
                      </a:rPr>
                      <m:t>&gt;6/</m:t>
                    </m:r>
                    <m:r>
                      <a:rPr lang="en-US" sz="2000" i="1" dirty="0" smtClean="0">
                        <a:latin typeface="Cambria Math" panose="02040503050406030204" pitchFamily="18" charset="0"/>
                      </a:rPr>
                      <m:t>𝑛</m:t>
                    </m:r>
                  </m:oMath>
                </a14:m>
                <a:r>
                  <a:rPr lang="en-US" sz="2000" dirty="0"/>
                  <a:t> or 0.99, whichever is smaller.</a:t>
                </a:r>
              </a:p>
              <a:p>
                <a:pPr>
                  <a:spcBef>
                    <a:spcPts val="600"/>
                  </a:spcBef>
                </a:pPr>
                <a:r>
                  <a:rPr lang="en-US" sz="2000" dirty="0"/>
                  <a:t>For the high leverage data set, </a:t>
                </a:r>
                <a14:m>
                  <m:oMath xmlns:m="http://schemas.openxmlformats.org/officeDocument/2006/math">
                    <m:r>
                      <a:rPr lang="en-US" sz="2000" i="1" dirty="0" smtClean="0">
                        <a:latin typeface="Cambria Math" panose="02040503050406030204" pitchFamily="18" charset="0"/>
                      </a:rPr>
                      <m:t>6/</m:t>
                    </m:r>
                    <m:r>
                      <a:rPr lang="en-US" sz="2000" i="1" dirty="0" smtClean="0">
                        <a:latin typeface="Cambria Math" panose="02040503050406030204" pitchFamily="18" charset="0"/>
                      </a:rPr>
                      <m:t>𝑛</m:t>
                    </m:r>
                    <m:r>
                      <a:rPr lang="en-US" sz="2000" i="1" dirty="0" smtClean="0">
                        <a:latin typeface="Cambria Math" panose="02040503050406030204" pitchFamily="18" charset="0"/>
                      </a:rPr>
                      <m:t>=6/7=0.86</m:t>
                    </m:r>
                  </m:oMath>
                </a14:m>
                <a:r>
                  <a:rPr lang="en-US" sz="2000" dirty="0"/>
                  <a:t>. Because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h</m:t>
                        </m:r>
                      </m:e>
                      <m:sub>
                        <m:r>
                          <a:rPr lang="en-US" sz="2000" b="0" i="1" dirty="0" smtClean="0">
                            <a:latin typeface="Cambria Math" panose="02040503050406030204" pitchFamily="18" charset="0"/>
                          </a:rPr>
                          <m:t>7</m:t>
                        </m:r>
                      </m:sub>
                    </m:sSub>
                    <m:r>
                      <a:rPr lang="en-US" sz="2000" b="0" i="1" dirty="0" smtClean="0">
                        <a:latin typeface="Cambria Math" panose="02040503050406030204" pitchFamily="18" charset="0"/>
                      </a:rPr>
                      <m:t>=</m:t>
                    </m:r>
                    <m:r>
                      <a:rPr lang="en-US" sz="2000" i="1" dirty="0" smtClean="0">
                        <a:latin typeface="Cambria Math" panose="02040503050406030204" pitchFamily="18" charset="0"/>
                      </a:rPr>
                      <m:t>0.94&gt;0.86</m:t>
                    </m:r>
                  </m:oMath>
                </a14:m>
                <a:r>
                  <a:rPr lang="en-US" sz="2000" dirty="0"/>
                  <a:t>, we will identify observation 7 as a highly influential observation due to an extreme value of </a:t>
                </a:r>
                <a:r>
                  <a:rPr lang="en-US" sz="2000" dirty="0">
                    <a:latin typeface="Arial" panose="020B0604020202020204" pitchFamily="34" charset="0"/>
                    <a:cs typeface="Arial" panose="020B0604020202020204" pitchFamily="34" charset="0"/>
                  </a:rPr>
                  <a:t>𝑥</a:t>
                </a:r>
                <a:r>
                  <a:rPr lang="en-US" sz="2000" dirty="0"/>
                  <a:t>.</a:t>
                </a:r>
              </a:p>
              <a:p>
                <a:pPr>
                  <a:spcBef>
                    <a:spcPts val="600"/>
                  </a:spcBef>
                </a:pPr>
                <a:r>
                  <a:rPr lang="en-US" sz="2000" dirty="0"/>
                  <a:t>Influential observations that are caused by an interaction of large residuals and high leverage can be difficult to detect. </a:t>
                </a:r>
              </a:p>
              <a:p>
                <a:pPr>
                  <a:spcBef>
                    <a:spcPts val="600"/>
                  </a:spcBef>
                </a:pPr>
                <a:r>
                  <a:rPr lang="en-US" sz="2000" dirty="0"/>
                  <a:t>Diagnostic procedures are available that take into account when an observation is influential. One such measure, called Cook’s </a:t>
                </a:r>
                <a:r>
                  <a:rPr lang="en-US" sz="2000" i="1" dirty="0"/>
                  <a:t>D</a:t>
                </a:r>
                <a:r>
                  <a:rPr lang="en-US" sz="2000" dirty="0"/>
                  <a:t> statistic, is discussed in more advanced statistics books.</a:t>
                </a:r>
              </a:p>
            </p:txBody>
          </p:sp>
        </mc:Choice>
        <mc:Fallback xmlns="">
          <p:sp>
            <p:nvSpPr>
              <p:cNvPr id="3" name="Text Placeholder 2">
                <a:extLst>
                  <a:ext uri="{FF2B5EF4-FFF2-40B4-BE49-F238E27FC236}">
                    <a16:creationId xmlns:a16="http://schemas.microsoft.com/office/drawing/2014/main" id="{1827DCC9-48E9-39AA-09BA-FE2089FB98DA}"/>
                  </a:ext>
                </a:extLst>
              </p:cNvPr>
              <p:cNvSpPr>
                <a:spLocks noGrp="1" noRot="1" noChangeAspect="1" noMove="1" noResize="1" noEditPoints="1" noAdjustHandles="1" noChangeArrowheads="1" noChangeShapeType="1" noTextEdit="1"/>
              </p:cNvSpPr>
              <p:nvPr>
                <p:ph type="body" sz="quarter" idx="15"/>
              </p:nvPr>
            </p:nvSpPr>
            <p:spPr>
              <a:xfrm>
                <a:off x="740228" y="1366593"/>
                <a:ext cx="10711543" cy="4220224"/>
              </a:xfrm>
              <a:blipFill>
                <a:blip r:embed="rId4"/>
                <a:stretch>
                  <a:fillRect l="-1422" t="-1734" b="-2601"/>
                </a:stretch>
              </a:blipFill>
            </p:spPr>
            <p:txBody>
              <a:bodyPr/>
              <a:lstStyle/>
              <a:p>
                <a:r>
                  <a:rPr lang="en-US">
                    <a:noFill/>
                  </a:rPr>
                  <a:t> </a:t>
                </a:r>
              </a:p>
            </p:txBody>
          </p:sp>
        </mc:Fallback>
      </mc:AlternateContent>
    </p:spTree>
    <p:extLst>
      <p:ext uri="{BB962C8B-B14F-4D97-AF65-F5344CB8AC3E}">
        <p14:creationId xmlns:p14="http://schemas.microsoft.com/office/powerpoint/2010/main" val="12100311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2E9DA-8EC1-BDCC-225E-5AF0A5DDA749}"/>
              </a:ext>
            </a:extLst>
          </p:cNvPr>
          <p:cNvSpPr>
            <a:spLocks noGrp="1"/>
          </p:cNvSpPr>
          <p:nvPr>
            <p:ph type="title"/>
          </p:nvPr>
        </p:nvSpPr>
        <p:spPr>
          <a:xfrm>
            <a:off x="790874" y="365125"/>
            <a:ext cx="10610224" cy="672105"/>
          </a:xfrm>
        </p:spPr>
        <p:txBody>
          <a:bodyPr/>
          <a:lstStyle/>
          <a:p>
            <a:r>
              <a:rPr lang="en-US" sz="3200" dirty="0">
                <a:solidFill>
                  <a:srgbClr val="D14B1E"/>
                </a:solidFill>
              </a:rPr>
              <a:t>14.10 Practical Advice: Big Data and Hypothesis Testing in Simple Linear Regression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827DCC9-48E9-39AA-09BA-FE2089FB98DA}"/>
                  </a:ext>
                </a:extLst>
              </p:cNvPr>
              <p:cNvSpPr>
                <a:spLocks noGrp="1"/>
              </p:cNvSpPr>
              <p:nvPr>
                <p:ph type="body" sz="quarter" idx="15"/>
              </p:nvPr>
            </p:nvSpPr>
            <p:spPr>
              <a:xfrm>
                <a:off x="743576" y="1639617"/>
                <a:ext cx="10711543" cy="4162097"/>
              </a:xfrm>
            </p:spPr>
            <p:txBody>
              <a:bodyPr/>
              <a:lstStyle/>
              <a:p>
                <a:pPr>
                  <a:spcBef>
                    <a:spcPts val="600"/>
                  </a:spcBef>
                  <a:spcAft>
                    <a:spcPts val="0"/>
                  </a:spcAft>
                </a:pPr>
                <a:r>
                  <a:rPr lang="en-US" sz="2000" dirty="0"/>
                  <a:t>In simple linear regression, as the sample size increases,</a:t>
                </a:r>
              </a:p>
              <a:p>
                <a:pPr marL="685800" indent="-342900">
                  <a:spcBef>
                    <a:spcPts val="600"/>
                  </a:spcBef>
                  <a:spcAft>
                    <a:spcPts val="0"/>
                  </a:spcAft>
                  <a:buFont typeface="Arial" panose="020B0604020202020204" pitchFamily="34" charset="0"/>
                  <a:buChar char="•"/>
                </a:pPr>
                <a:r>
                  <a:rPr lang="en-US" sz="2000" dirty="0"/>
                  <a:t>the </a:t>
                </a:r>
                <a:r>
                  <a:rPr lang="en-US" sz="2000" i="1" dirty="0"/>
                  <a:t>p</a:t>
                </a:r>
                <a:r>
                  <a:rPr lang="en-US" sz="2000" dirty="0"/>
                  <a:t>-value for the </a:t>
                </a:r>
                <a:r>
                  <a:rPr lang="en-US" sz="2000" i="1" dirty="0"/>
                  <a:t>t</a:t>
                </a:r>
                <a:r>
                  <a:rPr lang="en-US" sz="2000" dirty="0"/>
                  <a:t> test, used to determine whether a significant relationship exists between the dependent and the independent variables, decreases.</a:t>
                </a:r>
              </a:p>
              <a:p>
                <a:pPr marL="685800" indent="-342900">
                  <a:spcBef>
                    <a:spcPts val="600"/>
                  </a:spcBef>
                  <a:spcAft>
                    <a:spcPts val="0"/>
                  </a:spcAft>
                  <a:buFont typeface="Arial" panose="020B0604020202020204" pitchFamily="34" charset="0"/>
                  <a:buChar char="•"/>
                </a:pPr>
                <a:r>
                  <a:rPr lang="en-US" sz="2000" dirty="0"/>
                  <a:t>the confidence interval for the slope parameter associated with the independent variable narrows.</a:t>
                </a:r>
              </a:p>
              <a:p>
                <a:pPr marL="685800" indent="-342900">
                  <a:spcBef>
                    <a:spcPts val="600"/>
                  </a:spcBef>
                  <a:spcAft>
                    <a:spcPts val="0"/>
                  </a:spcAft>
                  <a:buFont typeface="Arial" panose="020B0604020202020204" pitchFamily="34" charset="0"/>
                  <a:buChar char="•"/>
                </a:pPr>
                <a:r>
                  <a:rPr lang="en-US" sz="2000" dirty="0"/>
                  <a:t>the confidence interval for the mean value of </a:t>
                </a:r>
                <a:r>
                  <a:rPr lang="en-US" sz="2000" dirty="0">
                    <a:latin typeface="Arial" panose="020B0604020202020204" pitchFamily="34" charset="0"/>
                    <a:cs typeface="Arial" panose="020B0604020202020204" pitchFamily="34" charset="0"/>
                  </a:rPr>
                  <a:t>𝑦</a:t>
                </a:r>
                <a:r>
                  <a:rPr lang="en-US" sz="2000" dirty="0"/>
                  <a:t> narrows.</a:t>
                </a:r>
              </a:p>
              <a:p>
                <a:pPr marL="685800" indent="-342900">
                  <a:spcBef>
                    <a:spcPts val="600"/>
                  </a:spcBef>
                  <a:spcAft>
                    <a:spcPts val="0"/>
                  </a:spcAft>
                  <a:buFont typeface="Arial" panose="020B0604020202020204" pitchFamily="34" charset="0"/>
                  <a:buChar char="•"/>
                </a:pPr>
                <a:r>
                  <a:rPr lang="en-US" sz="2000" dirty="0"/>
                  <a:t>the prediction interval for an individual value of </a:t>
                </a:r>
                <a:r>
                  <a:rPr lang="en-US" sz="2000" dirty="0">
                    <a:latin typeface="Arial" panose="020B0604020202020204" pitchFamily="34" charset="0"/>
                    <a:cs typeface="Arial" panose="020B0604020202020204" pitchFamily="34" charset="0"/>
                  </a:rPr>
                  <a:t>𝑦</a:t>
                </a:r>
                <a:r>
                  <a:rPr lang="en-US" sz="2000" dirty="0"/>
                  <a:t> narrows.</a:t>
                </a:r>
              </a:p>
              <a:p>
                <a:pPr>
                  <a:spcBef>
                    <a:spcPts val="600"/>
                  </a:spcBef>
                  <a:spcAft>
                    <a:spcPts val="0"/>
                  </a:spcAft>
                </a:pPr>
                <a:r>
                  <a:rPr lang="en-US" sz="2000" dirty="0"/>
                  <a:t>The fact that with larger sample sizes it becomes more likely to reject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0</m:t>
                        </m:r>
                      </m:sub>
                    </m:sSub>
                  </m:oMath>
                </a14:m>
                <a:r>
                  <a:rPr lang="en-US" sz="2000" dirty="0"/>
                  <a:t>, and the precision of estimates and prediction increases, does not necessarily make these results more reliable.</a:t>
                </a:r>
              </a:p>
              <a:p>
                <a:pPr>
                  <a:spcBef>
                    <a:spcPts val="600"/>
                  </a:spcBef>
                  <a:spcAft>
                    <a:spcPts val="0"/>
                  </a:spcAft>
                </a:pPr>
                <a:r>
                  <a:rPr lang="en-US" sz="2000" dirty="0"/>
                  <a:t>No matter how large is the sample used to estimate the simple linear regression equation, we must be concerned about the potential presence of </a:t>
                </a:r>
                <a:r>
                  <a:rPr lang="en-US" sz="2000" dirty="0" err="1"/>
                  <a:t>nonsampling</a:t>
                </a:r>
                <a:r>
                  <a:rPr lang="en-US" sz="2000" dirty="0"/>
                  <a:t> error in the data and carefully consider whether a random sample of the population of interest has been taken. </a:t>
                </a:r>
              </a:p>
            </p:txBody>
          </p:sp>
        </mc:Choice>
        <mc:Fallback xmlns="">
          <p:sp>
            <p:nvSpPr>
              <p:cNvPr id="3" name="Text Placeholder 2">
                <a:extLst>
                  <a:ext uri="{FF2B5EF4-FFF2-40B4-BE49-F238E27FC236}">
                    <a16:creationId xmlns:a16="http://schemas.microsoft.com/office/drawing/2014/main" id="{1827DCC9-48E9-39AA-09BA-FE2089FB98DA}"/>
                  </a:ext>
                </a:extLst>
              </p:cNvPr>
              <p:cNvSpPr>
                <a:spLocks noGrp="1" noRot="1" noChangeAspect="1" noMove="1" noResize="1" noEditPoints="1" noAdjustHandles="1" noChangeArrowheads="1" noChangeShapeType="1" noTextEdit="1"/>
              </p:cNvSpPr>
              <p:nvPr>
                <p:ph type="body" sz="quarter" idx="15"/>
              </p:nvPr>
            </p:nvSpPr>
            <p:spPr>
              <a:xfrm>
                <a:off x="743576" y="1639617"/>
                <a:ext cx="10711543" cy="4162097"/>
              </a:xfrm>
              <a:blipFill>
                <a:blip r:embed="rId3"/>
                <a:stretch>
                  <a:fillRect l="-1480" t="-1757" r="-968" b="-2635"/>
                </a:stretch>
              </a:blipFill>
            </p:spPr>
            <p:txBody>
              <a:bodyPr/>
              <a:lstStyle/>
              <a:p>
                <a:r>
                  <a:rPr lang="en-US">
                    <a:noFill/>
                  </a:rPr>
                  <a:t> </a:t>
                </a:r>
              </a:p>
            </p:txBody>
          </p:sp>
        </mc:Fallback>
      </mc:AlternateContent>
    </p:spTree>
    <p:extLst>
      <p:ext uri="{BB962C8B-B14F-4D97-AF65-F5344CB8AC3E}">
        <p14:creationId xmlns:p14="http://schemas.microsoft.com/office/powerpoint/2010/main" val="1757364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379484"/>
                <a:ext cx="10657500" cy="4343395"/>
              </a:xfrm>
            </p:spPr>
            <p:txBody>
              <a:bodyPr>
                <a:noAutofit/>
              </a:bodyPr>
              <a:lstStyle/>
              <a:p>
                <a:pPr>
                  <a:lnSpc>
                    <a:spcPct val="100000"/>
                  </a:lnSpc>
                  <a:spcBef>
                    <a:spcPts val="600"/>
                  </a:spcBef>
                </a:pPr>
                <a:r>
                  <a:rPr lang="en-US" dirty="0">
                    <a:latin typeface="Arial" panose="020B0604020202020204" pitchFamily="34" charset="0"/>
                    <a:cs typeface="Arial" panose="020B0604020202020204" pitchFamily="34" charset="0"/>
                  </a:rPr>
                  <a:t>In this chapter, we showed how regression analysis can be used to determine how a dependent variable </a:t>
                </a:r>
                <a:r>
                  <a:rPr lang="en-US" sz="2000" dirty="0">
                    <a:latin typeface="Arial" panose="020B0604020202020204" pitchFamily="34" charset="0"/>
                    <a:cs typeface="Arial" panose="020B0604020202020204" pitchFamily="34" charset="0"/>
                  </a:rPr>
                  <a:t>𝑦</a:t>
                </a:r>
                <a:r>
                  <a:rPr lang="en-US" dirty="0">
                    <a:latin typeface="Arial" panose="020B0604020202020204" pitchFamily="34" charset="0"/>
                    <a:cs typeface="Arial" panose="020B0604020202020204" pitchFamily="34" charset="0"/>
                  </a:rPr>
                  <a:t> is related to an independent variable </a:t>
                </a:r>
                <a:r>
                  <a:rPr lang="en-US" sz="2000" dirty="0">
                    <a:latin typeface="Arial" panose="020B0604020202020204" pitchFamily="34" charset="0"/>
                    <a:cs typeface="Arial" panose="020B0604020202020204" pitchFamily="34" charset="0"/>
                  </a:rPr>
                  <a:t>𝑥</a:t>
                </a:r>
                <a:r>
                  <a:rPr lang="en-US" dirty="0">
                    <a:latin typeface="Arial" panose="020B0604020202020204" pitchFamily="34" charset="0"/>
                    <a:cs typeface="Arial" panose="020B0604020202020204" pitchFamily="34" charset="0"/>
                  </a:rPr>
                  <a:t>. </a:t>
                </a:r>
              </a:p>
              <a:p>
                <a:pPr>
                  <a:lnSpc>
                    <a:spcPct val="100000"/>
                  </a:lnSpc>
                  <a:spcBef>
                    <a:spcPts val="600"/>
                  </a:spcBef>
                </a:pPr>
                <a:r>
                  <a:rPr lang="en-US" dirty="0">
                    <a:latin typeface="Arial" panose="020B0604020202020204" pitchFamily="34" charset="0"/>
                    <a:cs typeface="Arial" panose="020B0604020202020204" pitchFamily="34" charset="0"/>
                  </a:rPr>
                  <a:t>The simple linear regression equation describes how the expected value of </a:t>
                </a:r>
                <a:r>
                  <a:rPr lang="en-US" sz="2000" dirty="0">
                    <a:latin typeface="Arial" panose="020B0604020202020204" pitchFamily="34" charset="0"/>
                    <a:cs typeface="Arial" panose="020B0604020202020204" pitchFamily="34" charset="0"/>
                  </a:rPr>
                  <a:t>𝑦</a:t>
                </a:r>
                <a:r>
                  <a:rPr lang="en-US" dirty="0">
                    <a:latin typeface="Arial" panose="020B0604020202020204" pitchFamily="34" charset="0"/>
                    <a:cs typeface="Arial" panose="020B0604020202020204" pitchFamily="34" charset="0"/>
                  </a:rPr>
                  <a:t> is related to </a:t>
                </a:r>
                <a:r>
                  <a:rPr lang="en-US" sz="2000" dirty="0">
                    <a:latin typeface="Arial" panose="020B0604020202020204" pitchFamily="34" charset="0"/>
                    <a:cs typeface="Arial" panose="020B0604020202020204" pitchFamily="34" charset="0"/>
                  </a:rPr>
                  <a:t>𝑥</a:t>
                </a:r>
                <a:r>
                  <a:rPr lang="en-US" dirty="0">
                    <a:latin typeface="Arial" panose="020B0604020202020204" pitchFamily="34" charset="0"/>
                    <a:cs typeface="Arial" panose="020B0604020202020204" pitchFamily="34" charset="0"/>
                  </a:rPr>
                  <a:t>.  </a:t>
                </a:r>
              </a:p>
              <a:p>
                <a:pPr>
                  <a:lnSpc>
                    <a:spcPct val="100000"/>
                  </a:lnSpc>
                  <a:spcBef>
                    <a:spcPts val="600"/>
                  </a:spcBef>
                </a:pPr>
                <a:r>
                  <a:rPr lang="en-US" dirty="0">
                    <a:latin typeface="Arial" panose="020B0604020202020204" pitchFamily="34" charset="0"/>
                    <a:cs typeface="Arial" panose="020B0604020202020204" pitchFamily="34" charset="0"/>
                  </a:rPr>
                  <a:t>We used the least squares method to develop the estimated regression equation from sample data and estimate the unknown model parameters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0</m:t>
                        </m:r>
                      </m:sub>
                    </m:sSub>
                  </m:oMath>
                </a14:m>
                <a:r>
                  <a:rPr lang="en-US" dirty="0">
                    <a:latin typeface="Arial" panose="020B0604020202020204" pitchFamily="34" charset="0"/>
                    <a:cs typeface="Arial" panose="020B0604020202020204" pitchFamily="34" charset="0"/>
                  </a:rPr>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1</m:t>
                        </m:r>
                      </m:sub>
                    </m:sSub>
                  </m:oMath>
                </a14:m>
                <a:r>
                  <a:rPr lang="en-US" dirty="0">
                    <a:latin typeface="Arial" panose="020B0604020202020204" pitchFamily="34" charset="0"/>
                    <a:cs typeface="Arial" panose="020B0604020202020204" pitchFamily="34" charset="0"/>
                  </a:rPr>
                  <a:t> from the sample statistics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oMath>
                </a14:m>
                <a:r>
                  <a:rPr lang="en-US" dirty="0">
                    <a:latin typeface="Arial" panose="020B0604020202020204" pitchFamily="34" charset="0"/>
                    <a:cs typeface="Arial" panose="020B0604020202020204" pitchFamily="34" charset="0"/>
                  </a:rPr>
                  <a:t> and </a:t>
                </a:r>
                <a14:m>
                  <m:oMath xmlns:m="http://schemas.openxmlformats.org/officeDocument/2006/math">
                    <m:sSub>
                      <m:sSubPr>
                        <m:ctrlPr>
                          <a:rPr lang="en-US" i="1">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oMath>
                </a14:m>
                <a:r>
                  <a:rPr lang="en-US" dirty="0">
                    <a:latin typeface="Arial" panose="020B0604020202020204" pitchFamily="34" charset="0"/>
                    <a:cs typeface="Arial" panose="020B0604020202020204" pitchFamily="34" charset="0"/>
                  </a:rPr>
                  <a:t>.</a:t>
                </a:r>
              </a:p>
              <a:p>
                <a:pPr>
                  <a:lnSpc>
                    <a:spcPct val="100000"/>
                  </a:lnSpc>
                  <a:spcBef>
                    <a:spcPts val="600"/>
                  </a:spcBef>
                </a:pPr>
                <a:r>
                  <a:rPr lang="en-US" dirty="0">
                    <a:latin typeface="Arial" panose="020B0604020202020204" pitchFamily="34" charset="0"/>
                    <a:cs typeface="Arial" panose="020B0604020202020204" pitchFamily="34" charset="0"/>
                  </a:rPr>
                  <a:t>The coefficient of determination can be interpreted as the proportion of the variation in the dependent variable </a:t>
                </a:r>
                <a:r>
                  <a:rPr lang="en-US" sz="2000" dirty="0">
                    <a:latin typeface="Arial" panose="020B0604020202020204" pitchFamily="34" charset="0"/>
                    <a:cs typeface="Arial" panose="020B0604020202020204" pitchFamily="34" charset="0"/>
                  </a:rPr>
                  <a:t>𝑦</a:t>
                </a:r>
                <a:r>
                  <a:rPr lang="en-US" dirty="0">
                    <a:latin typeface="Arial" panose="020B0604020202020204" pitchFamily="34" charset="0"/>
                    <a:cs typeface="Arial" panose="020B0604020202020204" pitchFamily="34" charset="0"/>
                  </a:rPr>
                  <a:t> that is explained by the estimated regression equation.</a:t>
                </a:r>
              </a:p>
              <a:p>
                <a:pPr>
                  <a:lnSpc>
                    <a:spcPct val="100000"/>
                  </a:lnSpc>
                  <a:spcBef>
                    <a:spcPts val="600"/>
                  </a:spcBef>
                </a:pPr>
                <a:r>
                  <a:rPr lang="en-US" dirty="0">
                    <a:latin typeface="Arial" panose="020B0604020202020204" pitchFamily="34" charset="0"/>
                    <a:cs typeface="Arial" panose="020B0604020202020204" pitchFamily="34" charset="0"/>
                  </a:rPr>
                  <a:t>Based on a set of assumptions about the error term of the regression, we presented two tests to determine whether the relationship between two variables is statistically significant.</a:t>
                </a:r>
              </a:p>
              <a:p>
                <a:pPr>
                  <a:lnSpc>
                    <a:spcPct val="100000"/>
                  </a:lnSpc>
                  <a:spcBef>
                    <a:spcPts val="600"/>
                  </a:spcBef>
                </a:pPr>
                <a:r>
                  <a:rPr lang="en-US" dirty="0">
                    <a:latin typeface="Arial" panose="020B0604020202020204" pitchFamily="34" charset="0"/>
                    <a:cs typeface="Arial" panose="020B0604020202020204" pitchFamily="34" charset="0"/>
                  </a:rPr>
                  <a:t>The chapter concluded with considerations about computer output, and two sections on the use of residual analysis to validate the model assumptions and to identify outliers and influential observations.</a:t>
                </a:r>
              </a:p>
            </p:txBody>
          </p:sp>
        </mc:Choice>
        <mc:Fallback xmlns="">
          <p:sp>
            <p:nvSpPr>
              <p:cNvPr id="3" name="Text Placeholder 2">
                <a:extLst>
                  <a:ext uri="{FF2B5EF4-FFF2-40B4-BE49-F238E27FC236}">
                    <a16:creationId xmlns:a16="http://schemas.microsoft.com/office/drawing/2014/main" id="{87C197FC-1825-404A-BE9E-EA5BA19058B7}"/>
                  </a:ext>
                </a:extLst>
              </p:cNvPr>
              <p:cNvSpPr>
                <a:spLocks noGrp="1" noRot="1" noChangeAspect="1" noMove="1" noResize="1" noEditPoints="1" noAdjustHandles="1" noChangeArrowheads="1" noChangeShapeType="1" noTextEdit="1"/>
              </p:cNvSpPr>
              <p:nvPr>
                <p:ph type="body" sz="quarter" idx="17"/>
              </p:nvPr>
            </p:nvSpPr>
            <p:spPr>
              <a:xfrm>
                <a:off x="751069" y="1379484"/>
                <a:ext cx="10657500" cy="4343395"/>
              </a:xfrm>
              <a:blipFill>
                <a:blip r:embed="rId3"/>
                <a:stretch>
                  <a:fillRect l="-1373" t="-1683" r="-2517" b="-3647"/>
                </a:stretch>
              </a:blipFill>
            </p:spPr>
            <p:txBody>
              <a:bodyPr/>
              <a:lstStyle/>
              <a:p>
                <a:r>
                  <a:rPr lang="en-US">
                    <a:noFill/>
                  </a:rPr>
                  <a:t> </a:t>
                </a:r>
              </a:p>
            </p:txBody>
          </p:sp>
        </mc:Fallback>
      </mc:AlternateContent>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100915</TotalTime>
  <Words>8794</Words>
  <Application>Microsoft Office PowerPoint</Application>
  <PresentationFormat>Widescreen</PresentationFormat>
  <Paragraphs>981</Paragraphs>
  <Slides>63</Slides>
  <Notes>36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arial</vt:lpstr>
      <vt:lpstr>arial</vt:lpstr>
      <vt:lpstr>Calibri</vt:lpstr>
      <vt:lpstr>Cambria Math</vt:lpstr>
      <vt:lpstr>Helvetica</vt:lpstr>
      <vt:lpstr>Open Sans</vt:lpstr>
      <vt:lpstr>Summer Font</vt:lpstr>
      <vt:lpstr>Times New Roman</vt:lpstr>
      <vt:lpstr>Office Theme</vt:lpstr>
      <vt:lpstr>PowerPoint Presentation</vt:lpstr>
      <vt:lpstr>Chapter Contents</vt:lpstr>
      <vt:lpstr>Chapter Objectives (1 of 2)</vt:lpstr>
      <vt:lpstr>Chapter Objectives (2 of 2)</vt:lpstr>
      <vt:lpstr>Introduction</vt:lpstr>
      <vt:lpstr>14.1 Simple Linear Regression Model</vt:lpstr>
      <vt:lpstr>14.1 Simple Linear Regression Equation</vt:lpstr>
      <vt:lpstr>14.1 The Estimation Process in Simple Linear Regression</vt:lpstr>
      <vt:lpstr>14.2 Least Squares Method</vt:lpstr>
      <vt:lpstr>14.2 The Armand’s Pizza Parlors Example</vt:lpstr>
      <vt:lpstr>14.2 Estimated Regression Equation for Armand’s Pizza</vt:lpstr>
      <vt:lpstr>14.2 Interpretation of the Estimated Regression Equation</vt:lpstr>
      <vt:lpstr>14.2 Excel: Construct and Edit a Scatter Diagram</vt:lpstr>
      <vt:lpstr>14.2 Excel: Display the Estimated Regression Line and Equation on a Scatter Diagram</vt:lpstr>
      <vt:lpstr>14.3 Coefficient of Determination</vt:lpstr>
      <vt:lpstr>14.3 Sum of Squares Due to Error (SSE)</vt:lpstr>
      <vt:lpstr>14.3 Total Sum of Squares (SST)</vt:lpstr>
      <vt:lpstr>14.3 Sum of Squares Due to Regression (SSR)</vt:lpstr>
      <vt:lpstr>14.3 Compute the Coefficient of Determination</vt:lpstr>
      <vt:lpstr>14.3 Excel: Compute the Coefficient of Determination</vt:lpstr>
      <vt:lpstr>14.3 Correlation Coefficient</vt:lpstr>
      <vt:lpstr>14.4 Model Assumptions</vt:lpstr>
      <vt:lpstr>14.4 Graphical Representation of the Assumptions for the Regression Model</vt:lpstr>
      <vt:lpstr>14.5 Testing for Significance</vt:lpstr>
      <vt:lpstr>14.5 Estimate of σ^2</vt:lpstr>
      <vt:lpstr>14.5 t Test for Significance in Simple Linear Regression</vt:lpstr>
      <vt:lpstr>14.5 t Test for the Armand’s Pizza Parlor Example</vt:lpstr>
      <vt:lpstr>14.5 Rejection rule for the t Test</vt:lpstr>
      <vt:lpstr>14.5 Interval Estimate of β_1</vt:lpstr>
      <vt:lpstr>14.5 F Test for Significance in Simple Linear Regression</vt:lpstr>
      <vt:lpstr>14.5 F Test for the Armand’s Pizza Parlor Example</vt:lpstr>
      <vt:lpstr>14.5 ANOVA Table for Simple Linear Regression</vt:lpstr>
      <vt:lpstr>14.5 Some Cautions About the Interpretation of Significance Tests</vt:lpstr>
      <vt:lpstr>14.6 Using the Estimated Regression Equation for Estimation and Prediction</vt:lpstr>
      <vt:lpstr>14.6 Confidence Interval for the Mean Value of y</vt:lpstr>
      <vt:lpstr>14.6 Confidence Interval for the Mean Quarterly Sales at a Given Value of Student Population</vt:lpstr>
      <vt:lpstr>14.6 Confidence Intervals for the Mean Value of y at Given Values of x (Armand’s Pizza Example)</vt:lpstr>
      <vt:lpstr>14.6 Prediction Interval for an Individual Value of y</vt:lpstr>
      <vt:lpstr>14.6 Prediction Interval for the Quarterly Sales at an Individual Restaurant</vt:lpstr>
      <vt:lpstr>14.6 Confidence and Prediction Intervals for y at Given Values of x (Armand’s Pizza Example)</vt:lpstr>
      <vt:lpstr>14.7 Excel’s Regression Tool</vt:lpstr>
      <vt:lpstr>14.7 Excel: Regression Tool Dialog Box</vt:lpstr>
      <vt:lpstr>14.7 Excel: Regression Tool Output for Armand’s Data</vt:lpstr>
      <vt:lpstr>14.7 Excel: Interpretation of Regression Output</vt:lpstr>
      <vt:lpstr>14.8 Residual Analysis: Validating Model Assumptions</vt:lpstr>
      <vt:lpstr>14.8 Residual Plot Against x</vt:lpstr>
      <vt:lpstr>14.8 Residual Plot Against x for Armand’s Pizza Parlors</vt:lpstr>
      <vt:lpstr>14.8 Residual Plot Against y ̂ for Armand’s Pizza Parlors</vt:lpstr>
      <vt:lpstr>14.8 Excel: Residual Plot Against x</vt:lpstr>
      <vt:lpstr>14.8 Excel: Residual Plot Against y ̂</vt:lpstr>
      <vt:lpstr>14.8 Standardized Residuals</vt:lpstr>
      <vt:lpstr>14.8 Standardized Residuals for Armand’s Pizza Parlors</vt:lpstr>
      <vt:lpstr>14.8 Standardized Residual Plot Against x for Armand’s Pizza Parlors</vt:lpstr>
      <vt:lpstr>14.8 Excel: Standardized vs. Standard Residuals</vt:lpstr>
      <vt:lpstr>14.8 Normal Probability Plot</vt:lpstr>
      <vt:lpstr>14.9 Outliers and Influential Observations</vt:lpstr>
      <vt:lpstr>14.9 Excel: Data Set with an Outlier</vt:lpstr>
      <vt:lpstr>14.9 Excel: Revised Data Set without the Outlier</vt:lpstr>
      <vt:lpstr>14.9 Detecting Influential Observations</vt:lpstr>
      <vt:lpstr>14.9 Data Set with a High Leverage Observation</vt:lpstr>
      <vt:lpstr>14.9 Calculation of h_i in the High Leverage Data Set</vt:lpstr>
      <vt:lpstr>14.10 Practical Advice: Big Data and Hypothesis Testing in Simple Linear Regression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Cowan, Flannery</cp:lastModifiedBy>
  <cp:revision>2541</cp:revision>
  <cp:lastPrinted>2016-10-03T15:29:39Z</cp:lastPrinted>
  <dcterms:created xsi:type="dcterms:W3CDTF">2019-11-14T21:20:16Z</dcterms:created>
  <dcterms:modified xsi:type="dcterms:W3CDTF">2025-12-18T16:21:56Z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