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2"/>
  </p:notesMasterIdLst>
  <p:handoutMasterIdLst>
    <p:handoutMasterId r:id="rId43"/>
  </p:handoutMasterIdLst>
  <p:sldIdLst>
    <p:sldId id="695" r:id="rId5"/>
    <p:sldId id="524" r:id="rId6"/>
    <p:sldId id="548" r:id="rId7"/>
    <p:sldId id="596" r:id="rId8"/>
    <p:sldId id="686" r:id="rId9"/>
    <p:sldId id="669" r:id="rId10"/>
    <p:sldId id="671" r:id="rId11"/>
    <p:sldId id="672" r:id="rId12"/>
    <p:sldId id="673" r:id="rId13"/>
    <p:sldId id="674" r:id="rId14"/>
    <p:sldId id="675" r:id="rId15"/>
    <p:sldId id="660" r:id="rId16"/>
    <p:sldId id="688" r:id="rId17"/>
    <p:sldId id="689" r:id="rId18"/>
    <p:sldId id="687" r:id="rId19"/>
    <p:sldId id="662" r:id="rId20"/>
    <p:sldId id="684" r:id="rId21"/>
    <p:sldId id="685" r:id="rId22"/>
    <p:sldId id="666" r:id="rId23"/>
    <p:sldId id="667" r:id="rId24"/>
    <p:sldId id="668" r:id="rId25"/>
    <p:sldId id="690" r:id="rId26"/>
    <p:sldId id="691" r:id="rId27"/>
    <p:sldId id="692" r:id="rId28"/>
    <p:sldId id="597" r:id="rId29"/>
    <p:sldId id="598" r:id="rId30"/>
    <p:sldId id="599" r:id="rId31"/>
    <p:sldId id="683" r:id="rId32"/>
    <p:sldId id="601" r:id="rId33"/>
    <p:sldId id="657" r:id="rId34"/>
    <p:sldId id="655" r:id="rId35"/>
    <p:sldId id="693" r:id="rId36"/>
    <p:sldId id="694" r:id="rId37"/>
    <p:sldId id="656" r:id="rId38"/>
    <p:sldId id="659" r:id="rId39"/>
    <p:sldId id="658" r:id="rId40"/>
    <p:sldId id="523" r:id="rId4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76B0C9-7F17-146C-A919-1E9004EE7E10}" name="Lumina SME" initials="SME" userId="Lumina SM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5894E"/>
    <a:srgbClr val="D14B1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9" d="100"/>
          <a:sy n="59" d="100"/>
        </p:scale>
        <p:origin x="884" y="52"/>
      </p:cViewPr>
      <p:guideLst>
        <p:guide orient="horz" pos="2160"/>
        <p:guide pos="3840"/>
      </p:guideLst>
    </p:cSldViewPr>
  </p:slideViewPr>
  <p:outlineViewPr>
    <p:cViewPr>
      <p:scale>
        <a:sx n="33" d="100"/>
        <a:sy n="33" d="100"/>
      </p:scale>
      <p:origin x="0" y="-4175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57867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3243129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1170722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cs typeface="Arial" panose="020B0604020202020204" pitchFamily="34" charset="0"/>
                  </a:rPr>
                  <a:t>using Excel, we have the exact </a:t>
                </a:r>
                <a:r>
                  <a:rPr lang="en-US" sz="1200" i="1" dirty="0">
                    <a:cs typeface="Arial" panose="020B0604020202020204" pitchFamily="34" charset="0"/>
                  </a:rPr>
                  <a:t>p</a:t>
                </a:r>
                <a:r>
                  <a:rPr lang="en-US" sz="1200" dirty="0">
                    <a:cs typeface="Arial" panose="020B0604020202020204" pitchFamily="34" charset="0"/>
                  </a:rPr>
                  <a:t>-value: </a:t>
                </a:r>
                <a14:m>
                  <m:oMath xmlns:m="http://schemas.openxmlformats.org/officeDocument/2006/math">
                    <m:r>
                      <m:rPr>
                        <m:nor/>
                      </m:rPr>
                      <a:rPr lang="en-US" sz="1200" b="0" i="0" dirty="0" smtClean="0">
                        <a:cs typeface="Arial" panose="020B0604020202020204" pitchFamily="34" charset="0"/>
                      </a:rPr>
                      <m:t>=</m:t>
                    </m:r>
                    <m:r>
                      <m:rPr>
                        <m:nor/>
                      </m:rPr>
                      <a:rPr lang="en-US" sz="1200" b="0" i="0" dirty="0" smtClean="0">
                        <a:latin typeface="Cambria Math" panose="02040503050406030204" pitchFamily="18" charset="0"/>
                        <a:cs typeface="Arial" panose="020B0604020202020204" pitchFamily="34" charset="0"/>
                      </a:rPr>
                      <m:t>CHISQ</m:t>
                    </m:r>
                    <m:r>
                      <m:rPr>
                        <m:nor/>
                      </m:rPr>
                      <a:rPr lang="en-US" sz="1200" i="0" dirty="0" smtClean="0">
                        <a:latin typeface="Cambria Math" panose="02040503050406030204" pitchFamily="18" charset="0"/>
                        <a:cs typeface="Arial" panose="020B0604020202020204" pitchFamily="34" charset="0"/>
                      </a:rPr>
                      <m:t>.</m:t>
                    </m:r>
                    <m:r>
                      <m:rPr>
                        <m:nor/>
                      </m:rPr>
                      <a:rPr lang="en-US" sz="1200" i="0" dirty="0" smtClean="0">
                        <a:latin typeface="Cambria Math" panose="02040503050406030204" pitchFamily="18" charset="0"/>
                        <a:cs typeface="Arial" panose="020B0604020202020204" pitchFamily="34" charset="0"/>
                      </a:rPr>
                      <m:t>DIST</m:t>
                    </m:r>
                    <m:r>
                      <m:rPr>
                        <m:nor/>
                      </m:rPr>
                      <a:rPr lang="en-US" sz="1200" i="0" dirty="0" smtClean="0">
                        <a:latin typeface="Cambria Math" panose="02040503050406030204" pitchFamily="18" charset="0"/>
                        <a:cs typeface="Arial" panose="020B0604020202020204" pitchFamily="34" charset="0"/>
                      </a:rPr>
                      <m:t>.</m:t>
                    </m:r>
                    <m:r>
                      <m:rPr>
                        <m:nor/>
                      </m:rPr>
                      <a:rPr lang="en-US" sz="1200" i="0" dirty="0" smtClean="0">
                        <a:latin typeface="Cambria Math" panose="02040503050406030204" pitchFamily="18" charset="0"/>
                        <a:cs typeface="Arial" panose="020B0604020202020204" pitchFamily="34" charset="0"/>
                      </a:rPr>
                      <m:t>RT</m:t>
                    </m:r>
                    <m:r>
                      <m:rPr>
                        <m:nor/>
                      </m:rPr>
                      <a:rPr lang="en-US" sz="1200" i="0" dirty="0" smtClean="0">
                        <a:latin typeface="Cambria Math" panose="02040503050406030204" pitchFamily="18" charset="0"/>
                        <a:cs typeface="Arial" panose="020B0604020202020204" pitchFamily="34" charset="0"/>
                      </a:rPr>
                      <m:t>(7.34,2)</m:t>
                    </m:r>
                    <m:r>
                      <a:rPr lang="en-US" sz="1200" i="1" dirty="0" smtClean="0">
                        <a:latin typeface="Cambria Math" panose="02040503050406030204" pitchFamily="18" charset="0"/>
                        <a:cs typeface="Arial" panose="020B0604020202020204" pitchFamily="34" charset="0"/>
                      </a:rPr>
                      <m:t>=0.</m:t>
                    </m:r>
                    <m:r>
                      <a:rPr lang="en-US" sz="1200" b="0" i="1" dirty="0" smtClean="0">
                        <a:latin typeface="Cambria Math" panose="02040503050406030204" pitchFamily="18" charset="0"/>
                        <a:cs typeface="Arial" panose="020B0604020202020204" pitchFamily="34" charset="0"/>
                      </a:rPr>
                      <m:t>0255</m:t>
                    </m:r>
                  </m:oMath>
                </a14:m>
                <a:endParaRPr lang="en-US" sz="1200" dirty="0">
                  <a:cs typeface="Arial" panose="020B0604020202020204" pitchFamily="34"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cs typeface="Arial" panose="020B0604020202020204" pitchFamily="34" charset="0"/>
                  </a:rPr>
                  <a:t>using Excel, we have the exact </a:t>
                </a:r>
                <a:r>
                  <a:rPr lang="en-US" sz="1200" i="1" dirty="0">
                    <a:cs typeface="Arial" panose="020B0604020202020204" pitchFamily="34" charset="0"/>
                  </a:rPr>
                  <a:t>p</a:t>
                </a:r>
                <a:r>
                  <a:rPr lang="en-US" sz="1200" dirty="0">
                    <a:cs typeface="Arial" panose="020B0604020202020204" pitchFamily="34" charset="0"/>
                  </a:rPr>
                  <a:t>-value: </a:t>
                </a:r>
                <a:r>
                  <a:rPr lang="en-US" sz="1200" b="0" i="0" dirty="0">
                    <a:latin typeface="Cambria Math" panose="02040503050406030204" pitchFamily="18" charset="0"/>
                    <a:cs typeface="Arial" panose="020B0604020202020204" pitchFamily="34" charset="0"/>
                  </a:rPr>
                  <a:t>"=CHISQ</a:t>
                </a:r>
                <a:r>
                  <a:rPr lang="en-US" sz="1200" i="0" dirty="0">
                    <a:latin typeface="Cambria Math" panose="02040503050406030204" pitchFamily="18" charset="0"/>
                    <a:cs typeface="Arial" panose="020B0604020202020204" pitchFamily="34" charset="0"/>
                  </a:rPr>
                  <a:t>.DIST.RT(7.34,2)"=0.</a:t>
                </a:r>
                <a:r>
                  <a:rPr lang="en-US" sz="1200" b="0" i="0" dirty="0">
                    <a:latin typeface="Cambria Math" panose="02040503050406030204" pitchFamily="18" charset="0"/>
                    <a:cs typeface="Arial" panose="020B0604020202020204" pitchFamily="34" charset="0"/>
                  </a:rPr>
                  <a:t>0255</a:t>
                </a:r>
                <a:endParaRPr lang="en-US" sz="1200" dirty="0">
                  <a:cs typeface="Arial" panose="020B0604020202020204" pitchFamily="34" charset="0"/>
                </a:endParaRP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571385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2891535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1116995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2768524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cs typeface="Arial" panose="020B0604020202020204" pitchFamily="34" charset="0"/>
                  </a:rPr>
                  <a:t>using Excel, we have the exact </a:t>
                </a:r>
                <a:r>
                  <a:rPr lang="en-US" sz="1200" i="1" dirty="0">
                    <a:cs typeface="Arial" panose="020B0604020202020204" pitchFamily="34" charset="0"/>
                  </a:rPr>
                  <a:t>p</a:t>
                </a:r>
                <a:r>
                  <a:rPr lang="en-US" sz="1200" dirty="0">
                    <a:cs typeface="Arial" panose="020B0604020202020204" pitchFamily="34" charset="0"/>
                  </a:rPr>
                  <a:t>-value: </a:t>
                </a:r>
                <a14:m>
                  <m:oMath xmlns:m="http://schemas.openxmlformats.org/officeDocument/2006/math">
                    <m:r>
                      <m:rPr>
                        <m:nor/>
                      </m:rPr>
                      <a:rPr lang="en-US" sz="1200" b="0" i="0" dirty="0" smtClean="0">
                        <a:cs typeface="Arial" panose="020B0604020202020204" pitchFamily="34" charset="0"/>
                      </a:rPr>
                      <m:t>=</m:t>
                    </m:r>
                    <m:r>
                      <m:rPr>
                        <m:nor/>
                      </m:rPr>
                      <a:rPr lang="en-US" sz="1200" b="0" i="0" dirty="0" smtClean="0">
                        <a:latin typeface="Cambria Math" panose="02040503050406030204" pitchFamily="18" charset="0"/>
                        <a:cs typeface="Arial" panose="020B0604020202020204" pitchFamily="34" charset="0"/>
                      </a:rPr>
                      <m:t>CHISQ</m:t>
                    </m:r>
                    <m:r>
                      <m:rPr>
                        <m:nor/>
                      </m:rPr>
                      <a:rPr lang="en-US" sz="1200" i="0" dirty="0" smtClean="0">
                        <a:latin typeface="Cambria Math" panose="02040503050406030204" pitchFamily="18" charset="0"/>
                        <a:cs typeface="Arial" panose="020B0604020202020204" pitchFamily="34" charset="0"/>
                      </a:rPr>
                      <m:t>.</m:t>
                    </m:r>
                    <m:r>
                      <m:rPr>
                        <m:nor/>
                      </m:rPr>
                      <a:rPr lang="en-US" sz="1200" i="0" dirty="0" smtClean="0">
                        <a:latin typeface="Cambria Math" panose="02040503050406030204" pitchFamily="18" charset="0"/>
                        <a:cs typeface="Arial" panose="020B0604020202020204" pitchFamily="34" charset="0"/>
                      </a:rPr>
                      <m:t>DIST</m:t>
                    </m:r>
                    <m:r>
                      <m:rPr>
                        <m:nor/>
                      </m:rPr>
                      <a:rPr lang="en-US" sz="1200" i="0" dirty="0" smtClean="0">
                        <a:latin typeface="Cambria Math" panose="02040503050406030204" pitchFamily="18" charset="0"/>
                        <a:cs typeface="Arial" panose="020B0604020202020204" pitchFamily="34" charset="0"/>
                      </a:rPr>
                      <m:t>.</m:t>
                    </m:r>
                    <m:r>
                      <m:rPr>
                        <m:nor/>
                      </m:rPr>
                      <a:rPr lang="en-US" sz="1200" i="0" dirty="0" smtClean="0">
                        <a:latin typeface="Cambria Math" panose="02040503050406030204" pitchFamily="18" charset="0"/>
                        <a:cs typeface="Arial" panose="020B0604020202020204" pitchFamily="34" charset="0"/>
                      </a:rPr>
                      <m:t>RT</m:t>
                    </m:r>
                    <m:r>
                      <m:rPr>
                        <m:nor/>
                      </m:rPr>
                      <a:rPr lang="en-US" sz="1200" i="0" dirty="0" smtClean="0">
                        <a:latin typeface="Cambria Math" panose="02040503050406030204" pitchFamily="18" charset="0"/>
                        <a:cs typeface="Arial" panose="020B0604020202020204" pitchFamily="34" charset="0"/>
                      </a:rPr>
                      <m:t>(6.45,2)</m:t>
                    </m:r>
                    <m:r>
                      <a:rPr lang="en-US" sz="1200" i="1" dirty="0" smtClean="0">
                        <a:latin typeface="Cambria Math" panose="02040503050406030204" pitchFamily="18" charset="0"/>
                        <a:cs typeface="Arial" panose="020B0604020202020204" pitchFamily="34" charset="0"/>
                      </a:rPr>
                      <m:t>=0.</m:t>
                    </m:r>
                    <m:r>
                      <a:rPr lang="en-US" sz="1200" b="0" i="1" dirty="0" smtClean="0">
                        <a:latin typeface="Cambria Math" panose="02040503050406030204" pitchFamily="18" charset="0"/>
                        <a:cs typeface="Arial" panose="020B0604020202020204" pitchFamily="34" charset="0"/>
                      </a:rPr>
                      <m:t>0398</m:t>
                    </m:r>
                  </m:oMath>
                </a14:m>
                <a:endParaRPr lang="en-US" sz="1200" dirty="0">
                  <a:cs typeface="Arial" panose="020B0604020202020204" pitchFamily="34"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cs typeface="Arial" panose="020B0604020202020204" pitchFamily="34" charset="0"/>
                  </a:rPr>
                  <a:t>using Excel, we have the exact </a:t>
                </a:r>
                <a:r>
                  <a:rPr lang="en-US" sz="1200" i="1" dirty="0">
                    <a:cs typeface="Arial" panose="020B0604020202020204" pitchFamily="34" charset="0"/>
                  </a:rPr>
                  <a:t>p</a:t>
                </a:r>
                <a:r>
                  <a:rPr lang="en-US" sz="1200" dirty="0">
                    <a:cs typeface="Arial" panose="020B0604020202020204" pitchFamily="34" charset="0"/>
                  </a:rPr>
                  <a:t>-value: </a:t>
                </a:r>
                <a:r>
                  <a:rPr lang="en-US" sz="1200" b="0" i="0" dirty="0">
                    <a:latin typeface="Cambria Math" panose="02040503050406030204" pitchFamily="18" charset="0"/>
                    <a:cs typeface="Arial" panose="020B0604020202020204" pitchFamily="34" charset="0"/>
                  </a:rPr>
                  <a:t>"=CHISQ</a:t>
                </a:r>
                <a:r>
                  <a:rPr lang="en-US" sz="1200" i="0" dirty="0">
                    <a:latin typeface="Cambria Math" panose="02040503050406030204" pitchFamily="18" charset="0"/>
                    <a:cs typeface="Arial" panose="020B0604020202020204" pitchFamily="34" charset="0"/>
                  </a:rPr>
                  <a:t>.DIST.RT(6.45,2)"=0.</a:t>
                </a:r>
                <a:r>
                  <a:rPr lang="en-US" sz="1200" b="0" i="0" dirty="0">
                    <a:latin typeface="Cambria Math" panose="02040503050406030204" pitchFamily="18" charset="0"/>
                    <a:cs typeface="Arial" panose="020B0604020202020204" pitchFamily="34" charset="0"/>
                  </a:rPr>
                  <a:t>0398</a:t>
                </a:r>
                <a:endParaRPr lang="en-US" sz="1200" dirty="0">
                  <a:cs typeface="Arial" panose="020B0604020202020204" pitchFamily="34" charset="0"/>
                </a:endParaRP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2659738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430268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3042412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2843171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cs typeface="Arial" panose="020B0604020202020204" pitchFamily="34" charset="0"/>
                  </a:rPr>
                  <a:t>using Excel, we have the exact </a:t>
                </a:r>
                <a:r>
                  <a:rPr lang="en-US" sz="1200" i="1" dirty="0">
                    <a:cs typeface="Arial" panose="020B0604020202020204" pitchFamily="34" charset="0"/>
                  </a:rPr>
                  <a:t>p</a:t>
                </a:r>
                <a:r>
                  <a:rPr lang="en-US" sz="1200" dirty="0">
                    <a:cs typeface="Arial" panose="020B0604020202020204" pitchFamily="34" charset="0"/>
                  </a:rPr>
                  <a:t>-value: </a:t>
                </a:r>
                <a14:m>
                  <m:oMath xmlns:m="http://schemas.openxmlformats.org/officeDocument/2006/math">
                    <m:r>
                      <m:rPr>
                        <m:nor/>
                      </m:rPr>
                      <a:rPr lang="en-US" sz="1200" b="0" i="0" dirty="0" smtClean="0">
                        <a:cs typeface="Arial" panose="020B0604020202020204" pitchFamily="34" charset="0"/>
                      </a:rPr>
                      <m:t>=</m:t>
                    </m:r>
                    <m:r>
                      <m:rPr>
                        <m:nor/>
                      </m:rPr>
                      <a:rPr lang="en-US" sz="1200" b="0" i="0" dirty="0" smtClean="0">
                        <a:latin typeface="Cambria Math" panose="02040503050406030204" pitchFamily="18" charset="0"/>
                        <a:cs typeface="Arial" panose="020B0604020202020204" pitchFamily="34" charset="0"/>
                      </a:rPr>
                      <m:t>CHISQ</m:t>
                    </m:r>
                    <m:r>
                      <m:rPr>
                        <m:nor/>
                      </m:rPr>
                      <a:rPr lang="en-US" sz="1200" i="0" dirty="0" smtClean="0">
                        <a:latin typeface="Cambria Math" panose="02040503050406030204" pitchFamily="18" charset="0"/>
                        <a:cs typeface="Arial" panose="020B0604020202020204" pitchFamily="34" charset="0"/>
                      </a:rPr>
                      <m:t>.</m:t>
                    </m:r>
                    <m:r>
                      <m:rPr>
                        <m:nor/>
                      </m:rPr>
                      <a:rPr lang="en-US" sz="1200" i="0" dirty="0" smtClean="0">
                        <a:latin typeface="Cambria Math" panose="02040503050406030204" pitchFamily="18" charset="0"/>
                        <a:cs typeface="Arial" panose="020B0604020202020204" pitchFamily="34" charset="0"/>
                      </a:rPr>
                      <m:t>DIST</m:t>
                    </m:r>
                    <m:r>
                      <m:rPr>
                        <m:nor/>
                      </m:rPr>
                      <a:rPr lang="en-US" sz="1200" i="0" dirty="0" smtClean="0">
                        <a:latin typeface="Cambria Math" panose="02040503050406030204" pitchFamily="18" charset="0"/>
                        <a:cs typeface="Arial" panose="020B0604020202020204" pitchFamily="34" charset="0"/>
                      </a:rPr>
                      <m:t>.</m:t>
                    </m:r>
                    <m:r>
                      <m:rPr>
                        <m:nor/>
                      </m:rPr>
                      <a:rPr lang="en-US" sz="1200" i="0" dirty="0" smtClean="0">
                        <a:latin typeface="Cambria Math" panose="02040503050406030204" pitchFamily="18" charset="0"/>
                        <a:cs typeface="Arial" panose="020B0604020202020204" pitchFamily="34" charset="0"/>
                      </a:rPr>
                      <m:t>RT</m:t>
                    </m:r>
                    <m:r>
                      <m:rPr>
                        <m:nor/>
                      </m:rPr>
                      <a:rPr lang="en-US" sz="1200" i="0" dirty="0" smtClean="0">
                        <a:latin typeface="Cambria Math" panose="02040503050406030204" pitchFamily="18" charset="0"/>
                        <a:cs typeface="Arial" panose="020B0604020202020204" pitchFamily="34" charset="0"/>
                      </a:rPr>
                      <m:t>(7.89,2)</m:t>
                    </m:r>
                    <m:r>
                      <a:rPr lang="en-US" sz="1200" i="1" dirty="0" smtClean="0">
                        <a:latin typeface="Cambria Math" panose="02040503050406030204" pitchFamily="18" charset="0"/>
                        <a:cs typeface="Arial" panose="020B0604020202020204" pitchFamily="34" charset="0"/>
                      </a:rPr>
                      <m:t>=0.</m:t>
                    </m:r>
                    <m:r>
                      <a:rPr lang="en-US" sz="1200" b="0" i="1" dirty="0" smtClean="0">
                        <a:latin typeface="Cambria Math" panose="02040503050406030204" pitchFamily="18" charset="0"/>
                        <a:cs typeface="Arial" panose="020B0604020202020204" pitchFamily="34" charset="0"/>
                      </a:rPr>
                      <m:t>0194</m:t>
                    </m:r>
                  </m:oMath>
                </a14:m>
                <a:endParaRPr lang="en-US" sz="1200" dirty="0">
                  <a:cs typeface="Arial" panose="020B0604020202020204" pitchFamily="34"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cs typeface="Arial" panose="020B0604020202020204" pitchFamily="34" charset="0"/>
                  </a:rPr>
                  <a:t>using Excel, we have the exact </a:t>
                </a:r>
                <a:r>
                  <a:rPr lang="en-US" sz="1200" i="1" dirty="0">
                    <a:cs typeface="Arial" panose="020B0604020202020204" pitchFamily="34" charset="0"/>
                  </a:rPr>
                  <a:t>p</a:t>
                </a:r>
                <a:r>
                  <a:rPr lang="en-US" sz="1200" dirty="0">
                    <a:cs typeface="Arial" panose="020B0604020202020204" pitchFamily="34" charset="0"/>
                  </a:rPr>
                  <a:t>-value: </a:t>
                </a:r>
                <a:r>
                  <a:rPr lang="en-US" sz="1200" b="0" i="0" dirty="0">
                    <a:latin typeface="Cambria Math" panose="02040503050406030204" pitchFamily="18" charset="0"/>
                    <a:cs typeface="Arial" panose="020B0604020202020204" pitchFamily="34" charset="0"/>
                  </a:rPr>
                  <a:t>"=CHISQ</a:t>
                </a:r>
                <a:r>
                  <a:rPr lang="en-US" sz="1200" i="0" dirty="0">
                    <a:latin typeface="Cambria Math" panose="02040503050406030204" pitchFamily="18" charset="0"/>
                    <a:cs typeface="Arial" panose="020B0604020202020204" pitchFamily="34" charset="0"/>
                  </a:rPr>
                  <a:t>.DIST.RT(7.89,2)"=0.</a:t>
                </a:r>
                <a:r>
                  <a:rPr lang="en-US" sz="1200" b="0" i="0" dirty="0">
                    <a:latin typeface="Cambria Math" panose="02040503050406030204" pitchFamily="18" charset="0"/>
                    <a:cs typeface="Arial" panose="020B0604020202020204" pitchFamily="34" charset="0"/>
                  </a:rPr>
                  <a:t>0194</a:t>
                </a:r>
                <a:endParaRPr lang="en-US" sz="1200" dirty="0">
                  <a:cs typeface="Arial" panose="020B0604020202020204" pitchFamily="34" charset="0"/>
                </a:endParaRP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1347553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solidFill>
                      <a:srgbClr val="000000"/>
                    </a:solidFill>
                    <a:cs typeface="Arial" panose="020B0604020202020204" pitchFamily="34" charset="0"/>
                  </a:rPr>
                  <a:t>we can also use Excel to compute the critical value: </a:t>
                </a:r>
                <a14:m>
                  <m:oMath xmlns:m="http://schemas.openxmlformats.org/officeDocument/2006/math">
                    <m:r>
                      <m:rPr>
                        <m:nor/>
                      </m:rPr>
                      <a:rPr lang="en-US" sz="1200" i="0" dirty="0" smtClean="0">
                        <a:latin typeface="Cambria Math" panose="02040503050406030204" pitchFamily="18" charset="0"/>
                        <a:cs typeface="Arial" panose="020B0604020202020204" pitchFamily="34" charset="0"/>
                      </a:rPr>
                      <m:t>=</m:t>
                    </m:r>
                    <m:r>
                      <m:rPr>
                        <m:nor/>
                      </m:rPr>
                      <a:rPr lang="en-US" sz="1200" b="0" i="0" dirty="0" smtClean="0">
                        <a:latin typeface="Cambria Math" panose="02040503050406030204" pitchFamily="18" charset="0"/>
                        <a:cs typeface="Arial" panose="020B0604020202020204" pitchFamily="34" charset="0"/>
                      </a:rPr>
                      <m:t>CHISQ</m:t>
                    </m:r>
                    <m:r>
                      <m:rPr>
                        <m:nor/>
                      </m:rPr>
                      <a:rPr lang="en-US" sz="1200" i="0" dirty="0" smtClean="0">
                        <a:latin typeface="Cambria Math" panose="02040503050406030204" pitchFamily="18" charset="0"/>
                        <a:cs typeface="Arial" panose="020B0604020202020204" pitchFamily="34" charset="0"/>
                      </a:rPr>
                      <m:t>.</m:t>
                    </m:r>
                    <m:r>
                      <m:rPr>
                        <m:nor/>
                      </m:rPr>
                      <a:rPr lang="en-US" sz="1200" b="0" i="0" dirty="0" smtClean="0">
                        <a:latin typeface="Cambria Math" panose="02040503050406030204" pitchFamily="18" charset="0"/>
                        <a:cs typeface="Arial" panose="020B0604020202020204" pitchFamily="34" charset="0"/>
                      </a:rPr>
                      <m:t>INV</m:t>
                    </m:r>
                    <m:r>
                      <m:rPr>
                        <m:nor/>
                      </m:rPr>
                      <a:rPr lang="en-US" sz="1200" i="0" dirty="0" smtClean="0">
                        <a:latin typeface="Cambria Math" panose="02040503050406030204" pitchFamily="18" charset="0"/>
                        <a:cs typeface="Arial" panose="020B0604020202020204" pitchFamily="34" charset="0"/>
                      </a:rPr>
                      <m:t>.</m:t>
                    </m:r>
                    <m:r>
                      <m:rPr>
                        <m:nor/>
                      </m:rPr>
                      <a:rPr lang="en-US" sz="1200" i="0" dirty="0" smtClean="0">
                        <a:latin typeface="Cambria Math" panose="02040503050406030204" pitchFamily="18" charset="0"/>
                        <a:cs typeface="Arial" panose="020B0604020202020204" pitchFamily="34" charset="0"/>
                      </a:rPr>
                      <m:t>RT</m:t>
                    </m:r>
                    <m:r>
                      <m:rPr>
                        <m:nor/>
                      </m:rPr>
                      <a:rPr lang="en-US" sz="1200" i="0" dirty="0" smtClean="0">
                        <a:latin typeface="Cambria Math" panose="02040503050406030204" pitchFamily="18" charset="0"/>
                        <a:cs typeface="Arial" panose="020B0604020202020204" pitchFamily="34" charset="0"/>
                      </a:rPr>
                      <m:t>(0.05,2)</m:t>
                    </m:r>
                    <m:r>
                      <a:rPr lang="en-US" sz="1200" i="1" dirty="0" smtClean="0">
                        <a:latin typeface="Cambria Math" panose="02040503050406030204" pitchFamily="18" charset="0"/>
                        <a:cs typeface="Arial" panose="020B0604020202020204" pitchFamily="34" charset="0"/>
                      </a:rPr>
                      <m:t>=</m:t>
                    </m:r>
                    <m:r>
                      <a:rPr lang="en-US" sz="1200" b="0" i="1" dirty="0" smtClean="0">
                        <a:latin typeface="Cambria Math" panose="02040503050406030204" pitchFamily="18" charset="0"/>
                        <a:cs typeface="Arial" panose="020B0604020202020204" pitchFamily="34" charset="0"/>
                      </a:rPr>
                      <m:t>5.991</m:t>
                    </m:r>
                  </m:oMath>
                </a14:m>
                <a:endParaRPr lang="en-US" sz="1200" dirty="0">
                  <a:solidFill>
                    <a:srgbClr val="000000"/>
                  </a:solidFill>
                  <a:cs typeface="Arial" panose="020B0604020202020204" pitchFamily="34"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solidFill>
                      <a:srgbClr val="000000"/>
                    </a:solidFill>
                    <a:cs typeface="Arial" panose="020B0604020202020204" pitchFamily="34" charset="0"/>
                  </a:rPr>
                  <a:t>we can also use Excel to compute the critical value: </a:t>
                </a:r>
                <a:r>
                  <a:rPr lang="en-US" sz="1200" i="0" dirty="0">
                    <a:latin typeface="Cambria Math" panose="02040503050406030204" pitchFamily="18" charset="0"/>
                    <a:cs typeface="Arial" panose="020B0604020202020204" pitchFamily="34" charset="0"/>
                  </a:rPr>
                  <a:t>"=</a:t>
                </a:r>
                <a:r>
                  <a:rPr lang="en-US" sz="1200" b="0" i="0" dirty="0">
                    <a:latin typeface="Cambria Math" panose="02040503050406030204" pitchFamily="18" charset="0"/>
                    <a:cs typeface="Arial" panose="020B0604020202020204" pitchFamily="34" charset="0"/>
                  </a:rPr>
                  <a:t>CHISQ</a:t>
                </a:r>
                <a:r>
                  <a:rPr lang="en-US" sz="1200" i="0" dirty="0">
                    <a:latin typeface="Cambria Math" panose="02040503050406030204" pitchFamily="18" charset="0"/>
                    <a:cs typeface="Arial" panose="020B0604020202020204" pitchFamily="34" charset="0"/>
                  </a:rPr>
                  <a:t>.</a:t>
                </a:r>
                <a:r>
                  <a:rPr lang="en-US" sz="1200" b="0" i="0" dirty="0">
                    <a:latin typeface="Cambria Math" panose="02040503050406030204" pitchFamily="18" charset="0"/>
                    <a:cs typeface="Arial" panose="020B0604020202020204" pitchFamily="34" charset="0"/>
                  </a:rPr>
                  <a:t>INV</a:t>
                </a:r>
                <a:r>
                  <a:rPr lang="en-US" sz="1200" i="0" dirty="0">
                    <a:latin typeface="Cambria Math" panose="02040503050406030204" pitchFamily="18" charset="0"/>
                    <a:cs typeface="Arial" panose="020B0604020202020204" pitchFamily="34" charset="0"/>
                  </a:rPr>
                  <a:t>.RT(0.05,2)"=</a:t>
                </a:r>
                <a:r>
                  <a:rPr lang="en-US" sz="1200" b="0" i="0" dirty="0">
                    <a:latin typeface="Cambria Math" panose="02040503050406030204" pitchFamily="18" charset="0"/>
                    <a:cs typeface="Arial" panose="020B0604020202020204" pitchFamily="34" charset="0"/>
                  </a:rPr>
                  <a:t>5.991</a:t>
                </a:r>
                <a:endParaRPr lang="en-US" sz="1200" dirty="0">
                  <a:solidFill>
                    <a:srgbClr val="000000"/>
                  </a:solidFill>
                  <a:cs typeface="Arial" panose="020B0604020202020204" pitchFamily="34" charset="0"/>
                </a:endParaRP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2271960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4074003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dirty="0"/>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3.xml"/><Relationship Id="rId6" Type="http://schemas.openxmlformats.org/officeDocument/2006/relationships/image" Target="../media/image47.png"/><Relationship Id="rId5" Type="http://schemas.openxmlformats.org/officeDocument/2006/relationships/image" Target="../media/image7.png"/><Relationship Id="rId4" Type="http://schemas.openxmlformats.org/officeDocument/2006/relationships/image" Target="../media/image46.png"/></Relationships>
</file>

<file path=ppt/slides/_rels/slide10.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6.xml"/><Relationship Id="rId1" Type="http://schemas.openxmlformats.org/officeDocument/2006/relationships/slideLayout" Target="../slideLayouts/slideLayout21.xml"/><Relationship Id="rId5" Type="http://schemas.openxmlformats.org/officeDocument/2006/relationships/image" Target="../media/image8.png"/><Relationship Id="rId4" Type="http://schemas.openxmlformats.org/officeDocument/2006/relationships/image" Target="../media/image46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2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35.png"/><Relationship Id="rId5" Type="http://schemas.openxmlformats.org/officeDocument/2006/relationships/image" Target="../media/image7.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170.png"/><Relationship Id="rId5" Type="http://schemas.openxmlformats.org/officeDocument/2006/relationships/image" Target="../media/image7.png"/><Relationship Id="rId4" Type="http://schemas.openxmlformats.org/officeDocument/2006/relationships/image" Target="../media/image150.png"/></Relationships>
</file>

<file path=ppt/slides/_rels/slide3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image" Target="../media/image200.png"/><Relationship Id="rId4" Type="http://schemas.openxmlformats.org/officeDocument/2006/relationships/image" Target="../media/image190.png"/></Relationships>
</file>

<file path=ppt/slides/_rels/slide32.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59385D-26D1-D7A8-FCAA-493DAAF07183}"/>
              </a:ext>
            </a:extLst>
          </p:cNvPr>
          <p:cNvPicPr>
            <a:picLocks noChangeAspect="1"/>
          </p:cNvPicPr>
          <p:nvPr/>
        </p:nvPicPr>
        <p:blipFill>
          <a:blip r:embed="rId2"/>
          <a:stretch>
            <a:fillRect/>
          </a:stretch>
        </p:blipFill>
        <p:spPr>
          <a:xfrm>
            <a:off x="-1" y="-1"/>
            <a:ext cx="12192001" cy="6858001"/>
          </a:xfrm>
          <a:prstGeom prst="rect">
            <a:avLst/>
          </a:prstGeom>
        </p:spPr>
      </p:pic>
    </p:spTree>
    <p:extLst>
      <p:ext uri="{BB962C8B-B14F-4D97-AF65-F5344CB8AC3E}">
        <p14:creationId xmlns:p14="http://schemas.microsoft.com/office/powerpoint/2010/main" val="2408331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686910"/>
            <a:ext cx="10711543" cy="3767962"/>
          </a:xfrm>
        </p:spPr>
        <p:txBody>
          <a:bodyPr/>
          <a:lstStyle/>
          <a:p>
            <a:pPr marL="1371600" indent="-914400">
              <a:spcAft>
                <a:spcPts val="600"/>
              </a:spcAft>
            </a:pPr>
            <a:r>
              <a:rPr lang="en-US" sz="2000" dirty="0"/>
              <a:t>12.1	Goodness-of-Fit Test</a:t>
            </a:r>
          </a:p>
          <a:p>
            <a:pPr marL="1371600" indent="-914400">
              <a:spcAft>
                <a:spcPts val="600"/>
              </a:spcAft>
            </a:pPr>
            <a:r>
              <a:rPr lang="en-US" sz="2000" dirty="0"/>
              <a:t>12.2	Test of Independence</a:t>
            </a:r>
          </a:p>
          <a:p>
            <a:pPr marL="1371600" indent="-914400">
              <a:spcAft>
                <a:spcPts val="600"/>
              </a:spcAft>
              <a:buNone/>
            </a:pPr>
            <a:r>
              <a:rPr lang="en-US" sz="2000" dirty="0"/>
              <a:t>12.3	Testing For Equality of Three or More Population Proportions</a:t>
            </a:r>
          </a:p>
          <a:p>
            <a:pPr marL="1371600" indent="-914400">
              <a:spcAft>
                <a:spcPts val="600"/>
              </a:spcAft>
              <a:buNone/>
            </a:pPr>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a:xfrm>
            <a:off x="743577" y="1375541"/>
            <a:ext cx="10610224" cy="4106918"/>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indent="-1371600">
              <a:spcBef>
                <a:spcPts val="1200"/>
              </a:spcBef>
            </a:pPr>
            <a:r>
              <a:rPr lang="en-US" sz="2000" dirty="0">
                <a:latin typeface="Arial" panose="020B0604020202020204" pitchFamily="34" charset="0"/>
                <a:cs typeface="Arial" panose="020B0604020202020204" pitchFamily="34" charset="0"/>
              </a:rPr>
              <a:t>LO 12-1	Conduct a goodness-of-fit test in which the population is hypothesized to have a multinomial distribution.</a:t>
            </a:r>
          </a:p>
          <a:p>
            <a:pPr marL="1828800" indent="-1371600">
              <a:spcBef>
                <a:spcPts val="1200"/>
              </a:spcBef>
            </a:pPr>
            <a:r>
              <a:rPr lang="en-US" sz="2000" dirty="0">
                <a:latin typeface="Arial" panose="020B0604020202020204" pitchFamily="34" charset="0"/>
                <a:cs typeface="Arial" panose="020B0604020202020204" pitchFamily="34" charset="0"/>
              </a:rPr>
              <a:t>LO 12-2	Construct tables of observed and expected frequencies for a pair of categorical variables and conduct a chi-square test of independence.</a:t>
            </a:r>
          </a:p>
          <a:p>
            <a:pPr marL="1828800" indent="-1371600">
              <a:spcBef>
                <a:spcPts val="1200"/>
              </a:spcBef>
            </a:pPr>
            <a:r>
              <a:rPr lang="en-US" sz="2000" dirty="0">
                <a:latin typeface="Arial" panose="020B0604020202020204" pitchFamily="34" charset="0"/>
                <a:cs typeface="Arial" panose="020B0604020202020204" pitchFamily="34" charset="0"/>
              </a:rPr>
              <a:t>LO 12-3	Conduct a hypothesis test about the equality of three or more population proportions using either the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approach or the critical value approach.</a:t>
            </a:r>
          </a:p>
          <a:p>
            <a:pPr marL="1828800" indent="-1371600">
              <a:spcBef>
                <a:spcPts val="1200"/>
              </a:spcBef>
            </a:pPr>
            <a:r>
              <a:rPr lang="en-US" sz="2000" dirty="0">
                <a:latin typeface="Arial" panose="020B0604020202020204" pitchFamily="34" charset="0"/>
                <a:cs typeface="Arial" panose="020B0604020202020204" pitchFamily="34" charset="0"/>
              </a:rPr>
              <a:t>LO 12-4	Employ the </a:t>
            </a:r>
            <a:r>
              <a:rPr lang="en-US" sz="2000" dirty="0" err="1">
                <a:latin typeface="Arial" panose="020B0604020202020204" pitchFamily="34" charset="0"/>
                <a:cs typeface="Arial" panose="020B0604020202020204" pitchFamily="34" charset="0"/>
              </a:rPr>
              <a:t>Marascuilo</a:t>
            </a:r>
            <a:r>
              <a:rPr lang="en-US" sz="2000" dirty="0">
                <a:latin typeface="Arial" panose="020B0604020202020204" pitchFamily="34" charset="0"/>
                <a:cs typeface="Arial" panose="020B0604020202020204" pitchFamily="34" charset="0"/>
              </a:rPr>
              <a:t> procedure to execute a multiple pairwise comparisons test for three or more population proportions.</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57137"/>
                <a:ext cx="10711543" cy="4407872"/>
              </a:xfrm>
            </p:spPr>
            <p:txBody>
              <a:bodyPr/>
              <a:lstStyle/>
              <a:p>
                <a:pPr>
                  <a:lnSpc>
                    <a:spcPct val="100000"/>
                  </a:lnSpc>
                </a:pPr>
                <a:r>
                  <a:rPr lang="en-US" sz="2000" dirty="0">
                    <a:solidFill>
                      <a:srgbClr val="000000"/>
                    </a:solidFill>
                    <a:cs typeface="Arial" panose="020B0604020202020204" pitchFamily="34" charset="0"/>
                  </a:rPr>
                  <a:t>In this chapter, we introduce three hypothesis testing procedures that extend our ability to make statistical inferences about populations described by categorical data.</a:t>
                </a:r>
              </a:p>
              <a:p>
                <a:pPr marL="9144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In cases in which data are quantitative, we define categories and consider the observation count in each category. </a:t>
                </a:r>
              </a:p>
              <a:p>
                <a:pPr marL="9144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The test statistic and the distribution used are based on the chi-square (</a:t>
                </a:r>
                <a14:m>
                  <m:oMath xmlns:m="http://schemas.openxmlformats.org/officeDocument/2006/math">
                    <m:sSup>
                      <m:sSupPr>
                        <m:ctrlPr>
                          <a:rPr lang="en-US" sz="2000" b="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oMath>
                </a14:m>
                <a:r>
                  <a:rPr lang="en-US" sz="2000" dirty="0">
                    <a:solidFill>
                      <a:srgbClr val="000000"/>
                    </a:solidFill>
                    <a:cs typeface="Arial" panose="020B0604020202020204" pitchFamily="34" charset="0"/>
                  </a:rPr>
                  <a:t>) distribution</a:t>
                </a:r>
                <a:r>
                  <a:rPr lang="en-US" sz="2000" dirty="0">
                    <a:cs typeface="Arial" panose="020B0604020202020204" pitchFamily="34" charset="0"/>
                  </a:rPr>
                  <a:t>.</a:t>
                </a:r>
                <a:endParaRPr lang="en-US" sz="2000" dirty="0">
                  <a:solidFill>
                    <a:srgbClr val="000000"/>
                  </a:solidFill>
                  <a:cs typeface="Arial" panose="020B0604020202020204" pitchFamily="34" charset="0"/>
                </a:endParaRPr>
              </a:p>
              <a:p>
                <a:pPr>
                  <a:lnSpc>
                    <a:spcPct val="100000"/>
                  </a:lnSpc>
                </a:pPr>
                <a:r>
                  <a:rPr lang="en-US" sz="2000" dirty="0">
                    <a:cs typeface="Arial" panose="020B0604020202020204" pitchFamily="34" charset="0"/>
                  </a:rPr>
                  <a:t>C</a:t>
                </a:r>
                <a:r>
                  <a:rPr lang="en-US" sz="2000" dirty="0">
                    <a:solidFill>
                      <a:srgbClr val="000000"/>
                    </a:solidFill>
                    <a:cs typeface="Arial" panose="020B0604020202020204" pitchFamily="34" charset="0"/>
                  </a:rPr>
                  <a:t>hi-square tests are versatile and expand hypothesis testing with the following applications:</a:t>
                </a:r>
              </a:p>
              <a:p>
                <a:pPr marL="685800" indent="-342900">
                  <a:buFont typeface="Arial" panose="020B0604020202020204" pitchFamily="34" charset="0"/>
                  <a:buChar char="•"/>
                </a:pPr>
                <a:r>
                  <a:rPr lang="en-US" sz="2000" dirty="0">
                    <a:solidFill>
                      <a:srgbClr val="000000"/>
                    </a:solidFill>
                    <a:cs typeface="Arial" panose="020B0604020202020204" pitchFamily="34" charset="0"/>
                  </a:rPr>
                  <a:t>Section 12.1: testing whether the frequency distribution developed from categorical data is a good fit to a hypothesized probability distribution for the population.</a:t>
                </a:r>
              </a:p>
              <a:p>
                <a:pPr marL="685800" indent="-342900">
                  <a:buFont typeface="Arial" panose="020B0604020202020204" pitchFamily="34" charset="0"/>
                  <a:buChar char="•"/>
                </a:pPr>
                <a:r>
                  <a:rPr lang="en-US" sz="2000" dirty="0">
                    <a:solidFill>
                      <a:srgbClr val="000000"/>
                    </a:solidFill>
                    <a:cs typeface="Arial" panose="020B0604020202020204" pitchFamily="34" charset="0"/>
                  </a:rPr>
                  <a:t>Section 12:2: </a:t>
                </a:r>
                <a:r>
                  <a:rPr lang="en-US" sz="2000" dirty="0">
                    <a:cs typeface="Arial" panose="020B0604020202020204" pitchFamily="34" charset="0"/>
                  </a:rPr>
                  <a:t>t</a:t>
                </a:r>
                <a:r>
                  <a:rPr lang="en-US" sz="2000" dirty="0">
                    <a:solidFill>
                      <a:srgbClr val="000000"/>
                    </a:solidFill>
                    <a:cs typeface="Arial" panose="020B0604020202020204" pitchFamily="34" charset="0"/>
                  </a:rPr>
                  <a:t>esting whether two categorical variables sampled from one population are independent.</a:t>
                </a:r>
              </a:p>
              <a:p>
                <a:pPr marL="685800"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Section 12.3: </a:t>
                </a:r>
                <a:r>
                  <a:rPr lang="en-US" sz="2000" dirty="0">
                    <a:cs typeface="Arial" panose="020B0604020202020204" pitchFamily="34" charset="0"/>
                  </a:rPr>
                  <a:t>t</a:t>
                </a:r>
                <a:r>
                  <a:rPr lang="en-US" sz="2000" dirty="0">
                    <a:solidFill>
                      <a:srgbClr val="000000"/>
                    </a:solidFill>
                    <a:cs typeface="Arial" panose="020B0604020202020204" pitchFamily="34" charset="0"/>
                  </a:rPr>
                  <a:t>esting the equality of population proportions for three or more populations.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357137"/>
                <a:ext cx="10711543" cy="4407872"/>
              </a:xfrm>
              <a:blipFill>
                <a:blip r:embed="rId3"/>
                <a:stretch>
                  <a:fillRect l="-1422" t="-1660" r="-1991" b="-1521"/>
                </a:stretch>
              </a:blipFill>
            </p:spPr>
            <p:txBody>
              <a:bodyPr/>
              <a:lstStyle/>
              <a:p>
                <a:r>
                  <a:rPr lang="en-US">
                    <a:noFill/>
                  </a:rPr>
                  <a:t> </a:t>
                </a:r>
              </a:p>
            </p:txBody>
          </p:sp>
        </mc:Fallback>
      </mc:AlternateContent>
    </p:spTree>
    <p:extLst>
      <p:ext uri="{BB962C8B-B14F-4D97-AF65-F5344CB8AC3E}">
        <p14:creationId xmlns:p14="http://schemas.microsoft.com/office/powerpoint/2010/main" val="257581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12.1 Goodness-of-Fit Test </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535906"/>
            <a:ext cx="10711543" cy="3921920"/>
          </a:xfrm>
        </p:spPr>
        <p:txBody>
          <a:bodyPr/>
          <a:lstStyle/>
          <a:p>
            <a:pPr>
              <a:lnSpc>
                <a:spcPct val="100000"/>
              </a:lnSpc>
            </a:pPr>
            <a:r>
              <a:rPr lang="en-US" sz="2000" dirty="0">
                <a:solidFill>
                  <a:srgbClr val="000000"/>
                </a:solidFill>
                <a:cs typeface="Arial" panose="020B0604020202020204" pitchFamily="34" charset="0"/>
              </a:rPr>
              <a:t>The chi-square </a:t>
            </a:r>
            <a:r>
              <a:rPr lang="en-US" sz="2000" b="1" dirty="0">
                <a:solidFill>
                  <a:srgbClr val="000000"/>
                </a:solidFill>
                <a:cs typeface="Arial" panose="020B0604020202020204" pitchFamily="34" charset="0"/>
              </a:rPr>
              <a:t>goodness-of-fit</a:t>
            </a:r>
            <a:r>
              <a:rPr lang="en-US" sz="2000" dirty="0">
                <a:solidFill>
                  <a:srgbClr val="000000"/>
                </a:solidFill>
                <a:cs typeface="Arial" panose="020B0604020202020204" pitchFamily="34" charset="0"/>
              </a:rPr>
              <a:t> test can be used to determine whether a random variable has a specific probability distribution. </a:t>
            </a:r>
          </a:p>
          <a:p>
            <a:pPr>
              <a:lnSpc>
                <a:spcPct val="100000"/>
              </a:lnSpc>
            </a:pPr>
            <a:r>
              <a:rPr lang="en-US" sz="2000" dirty="0">
                <a:solidFill>
                  <a:srgbClr val="000000"/>
                </a:solidFill>
                <a:cs typeface="Arial" panose="020B0604020202020204" pitchFamily="34" charset="0"/>
              </a:rPr>
              <a:t>In this section, we show how to conduct a goodness-of-fit test for a random variable with a multinomial probability distribution.</a:t>
            </a:r>
          </a:p>
        </p:txBody>
      </p:sp>
    </p:spTree>
    <p:extLst>
      <p:ext uri="{BB962C8B-B14F-4D97-AF65-F5344CB8AC3E}">
        <p14:creationId xmlns:p14="http://schemas.microsoft.com/office/powerpoint/2010/main" val="1722936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1437294" y="365125"/>
            <a:ext cx="9275379" cy="672105"/>
          </a:xfrm>
        </p:spPr>
        <p:txBody>
          <a:bodyPr/>
          <a:lstStyle/>
          <a:p>
            <a:r>
              <a:rPr lang="en-US" sz="3200" dirty="0"/>
              <a:t>12.1 Multinomial Probability Distribution Goodness-of-Fit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26517"/>
                <a:ext cx="10711543" cy="4150074"/>
              </a:xfrm>
            </p:spPr>
            <p:txBody>
              <a:bodyPr/>
              <a:lstStyle/>
              <a:p>
                <a:pPr marL="346075" indent="-346075">
                  <a:lnSpc>
                    <a:spcPct val="100000"/>
                  </a:lnSpc>
                  <a:spcBef>
                    <a:spcPts val="600"/>
                  </a:spcBef>
                  <a:buFont typeface="+mj-lt"/>
                  <a:buAutoNum type="arabicPeriod"/>
                </a:pPr>
                <a:r>
                  <a:rPr lang="en-US" sz="2000" dirty="0">
                    <a:solidFill>
                      <a:srgbClr val="000000"/>
                    </a:solidFill>
                    <a:cs typeface="Arial" panose="020B0604020202020204" pitchFamily="34" charset="0"/>
                  </a:rPr>
                  <a:t>State null and alternative hypotheses</a:t>
                </a:r>
              </a:p>
              <a:p>
                <a:pPr marL="1143000" indent="-4572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The population follows a multinomial probability distribution with probabilities, </a:t>
                </a:r>
                <a:r>
                  <a:rPr lang="en-US" sz="2000" i="1" dirty="0">
                    <a:cs typeface="Arial" panose="020B0604020202020204" pitchFamily="34" charset="0"/>
                  </a:rPr>
                  <a:t>p</a:t>
                </a:r>
                <a:r>
                  <a:rPr lang="en-US" sz="2000" baseline="-25000" dirty="0">
                    <a:cs typeface="Arial" panose="020B0604020202020204" pitchFamily="34" charset="0"/>
                  </a:rPr>
                  <a:t>k</a:t>
                </a:r>
                <a:r>
                  <a:rPr lang="en-US" sz="2000" dirty="0">
                    <a:cs typeface="Arial" panose="020B0604020202020204" pitchFamily="34" charset="0"/>
                  </a:rPr>
                  <a:t>, for each of the </a:t>
                </a:r>
                <a:r>
                  <a:rPr lang="en-US" sz="2000" i="1" dirty="0">
                    <a:cs typeface="Arial" panose="020B0604020202020204" pitchFamily="34" charset="0"/>
                  </a:rPr>
                  <a:t>k</a:t>
                </a:r>
                <a:r>
                  <a:rPr lang="en-US" sz="2000" dirty="0">
                    <a:cs typeface="Arial" panose="020B0604020202020204" pitchFamily="34" charset="0"/>
                  </a:rPr>
                  <a:t> categories.</a:t>
                </a:r>
              </a:p>
              <a:p>
                <a:pPr marL="1143000" indent="-4572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𝑎</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The population does not follow a multinomial probability distribution with probabilities, </a:t>
                </a:r>
                <a:r>
                  <a:rPr lang="en-US" sz="2000" i="1" dirty="0">
                    <a:cs typeface="Arial" panose="020B0604020202020204" pitchFamily="34" charset="0"/>
                  </a:rPr>
                  <a:t>p</a:t>
                </a:r>
                <a:r>
                  <a:rPr lang="en-US" sz="2000" baseline="-25000" dirty="0">
                    <a:cs typeface="Arial" panose="020B0604020202020204" pitchFamily="34" charset="0"/>
                  </a:rPr>
                  <a:t>k</a:t>
                </a:r>
                <a:r>
                  <a:rPr lang="en-US" sz="2000" dirty="0">
                    <a:cs typeface="Arial" panose="020B0604020202020204" pitchFamily="34" charset="0"/>
                  </a:rPr>
                  <a:t>, for each of the </a:t>
                </a:r>
                <a:r>
                  <a:rPr lang="en-US" sz="2000" i="1" dirty="0">
                    <a:cs typeface="Arial" panose="020B0604020202020204" pitchFamily="34" charset="0"/>
                  </a:rPr>
                  <a:t>k</a:t>
                </a:r>
                <a:r>
                  <a:rPr lang="en-US" sz="2000" dirty="0">
                    <a:cs typeface="Arial" panose="020B0604020202020204" pitchFamily="34" charset="0"/>
                  </a:rPr>
                  <a:t> categories.</a:t>
                </a:r>
              </a:p>
              <a:p>
                <a:pPr marL="346075" indent="-346075">
                  <a:spcBef>
                    <a:spcPts val="600"/>
                  </a:spcBef>
                  <a:buFont typeface="+mj-lt"/>
                  <a:buAutoNum type="arabicPeriod" startAt="2"/>
                </a:pPr>
                <a:r>
                  <a:rPr lang="en-US" sz="2000" dirty="0">
                    <a:solidFill>
                      <a:srgbClr val="000000"/>
                    </a:solidFill>
                    <a:cs typeface="Arial" panose="020B0604020202020204" pitchFamily="34" charset="0"/>
                  </a:rPr>
                  <a:t>Select a random sample and </a:t>
                </a:r>
                <a:r>
                  <a:rPr lang="en-US" sz="2000" dirty="0">
                    <a:cs typeface="Arial" panose="020B0604020202020204" pitchFamily="34" charset="0"/>
                  </a:rPr>
                  <a:t>r</a:t>
                </a:r>
                <a:r>
                  <a:rPr lang="en-US" sz="2000" dirty="0">
                    <a:solidFill>
                      <a:srgbClr val="000000"/>
                    </a:solidFill>
                    <a:cs typeface="Arial" panose="020B0604020202020204" pitchFamily="34" charset="0"/>
                  </a:rPr>
                  <a:t>ecord the observed frequencies,</a:t>
                </a:r>
                <a:r>
                  <a:rPr lang="en-US" sz="2000" i="1" dirty="0">
                    <a:solidFill>
                      <a:srgbClr val="000000"/>
                    </a:solidFill>
                    <a:cs typeface="Arial" panose="020B0604020202020204" pitchFamily="34" charset="0"/>
                  </a:rPr>
                  <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𝑓</m:t>
                        </m:r>
                      </m:e>
                      <m:sub>
                        <m:r>
                          <a:rPr lang="en-US" sz="2000" b="0" i="1" smtClean="0">
                            <a:solidFill>
                              <a:srgbClr val="000000"/>
                            </a:solidFill>
                            <a:latin typeface="Cambria Math" panose="02040503050406030204" pitchFamily="18" charset="0"/>
                            <a:cs typeface="Arial" panose="020B0604020202020204" pitchFamily="34" charset="0"/>
                          </a:rPr>
                          <m:t>𝑖</m:t>
                        </m:r>
                      </m:sub>
                    </m:sSub>
                  </m:oMath>
                </a14:m>
                <a:r>
                  <a:rPr lang="en-US" sz="2000" i="1" dirty="0">
                    <a:solidFill>
                      <a:srgbClr val="000000"/>
                    </a:solidFill>
                    <a:cs typeface="Arial" panose="020B0604020202020204" pitchFamily="34" charset="0"/>
                  </a:rPr>
                  <a:t>, </a:t>
                </a:r>
                <a:r>
                  <a:rPr lang="en-US" sz="2000" dirty="0">
                    <a:solidFill>
                      <a:srgbClr val="000000"/>
                    </a:solidFill>
                    <a:cs typeface="Arial" panose="020B0604020202020204" pitchFamily="34" charset="0"/>
                  </a:rPr>
                  <a:t>for each category.</a:t>
                </a:r>
                <a:endParaRPr lang="en-US" sz="2000" i="1" dirty="0">
                  <a:solidFill>
                    <a:srgbClr val="000000"/>
                  </a:solidFill>
                  <a:cs typeface="Arial" panose="020B0604020202020204" pitchFamily="34" charset="0"/>
                </a:endParaRPr>
              </a:p>
              <a:p>
                <a:pPr marL="346075" indent="-346075">
                  <a:spcBef>
                    <a:spcPts val="600"/>
                  </a:spcBef>
                  <a:buFont typeface="+mj-lt"/>
                  <a:buAutoNum type="arabicPeriod" startAt="2"/>
                </a:pPr>
                <a:r>
                  <a:rPr lang="en-US" sz="2000" dirty="0">
                    <a:solidFill>
                      <a:srgbClr val="000000"/>
                    </a:solidFill>
                    <a:cs typeface="Arial" panose="020B0604020202020204" pitchFamily="34" charset="0"/>
                  </a:rPr>
                  <a:t>Assume the null hypothesis is true and compute the expected frequencies</a:t>
                </a:r>
                <a:r>
                  <a:rPr lang="en-US" sz="2000" dirty="0">
                    <a:cs typeface="Arial" panose="020B0604020202020204" pitchFamily="34" charset="0"/>
                  </a:rPr>
                  <a:t> as:</a:t>
                </a:r>
                <a:r>
                  <a:rPr lang="en-US" sz="2000" dirty="0">
                    <a:solidFill>
                      <a:srgbClr val="000000"/>
                    </a:solidFill>
                    <a:cs typeface="Arial" panose="020B0604020202020204" pitchFamily="34" charset="0"/>
                  </a:rPr>
                  <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cs typeface="Arial" panose="020B0604020202020204" pitchFamily="34" charset="0"/>
                      </a:rPr>
                      <m:t>𝑛</m:t>
                    </m:r>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𝑖</m:t>
                        </m:r>
                      </m:sub>
                    </m:sSub>
                  </m:oMath>
                </a14:m>
                <a:r>
                  <a:rPr lang="en-US" sz="2000" dirty="0">
                    <a:solidFill>
                      <a:srgbClr val="000000"/>
                    </a:solidFill>
                    <a:cs typeface="Arial" panose="020B0604020202020204" pitchFamily="34" charset="0"/>
                  </a:rPr>
                  <a:t>.</a:t>
                </a:r>
              </a:p>
              <a:p>
                <a:pPr marL="346075" indent="-346075">
                  <a:spcBef>
                    <a:spcPts val="600"/>
                  </a:spcBef>
                  <a:spcAft>
                    <a:spcPts val="600"/>
                  </a:spcAft>
                  <a:buFont typeface="+mj-lt"/>
                  <a:buAutoNum type="arabicPeriod" startAt="2"/>
                </a:pPr>
                <a:r>
                  <a:rPr lang="en-US" sz="2000" dirty="0">
                    <a:solidFill>
                      <a:srgbClr val="000000"/>
                    </a:solidFill>
                    <a:cs typeface="Arial" panose="020B0604020202020204" pitchFamily="34" charset="0"/>
                  </a:rPr>
                  <a:t>If the expected frequency,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m:t>
                        </m:r>
                      </m:sub>
                    </m:sSub>
                  </m:oMath>
                </a14:m>
                <a:r>
                  <a:rPr lang="en-US" sz="2000" dirty="0">
                    <a:solidFill>
                      <a:srgbClr val="000000"/>
                    </a:solidFill>
                    <a:cs typeface="Arial" panose="020B0604020202020204" pitchFamily="34" charset="0"/>
                  </a:rPr>
                  <a:t>, is 5 or more for </a:t>
                </a:r>
                <a:r>
                  <a:rPr lang="en-US" sz="2000" dirty="0">
                    <a:solidFill>
                      <a:srgbClr val="FF0000"/>
                    </a:solidFill>
                    <a:cs typeface="Arial" panose="020B0604020202020204" pitchFamily="34" charset="0"/>
                  </a:rPr>
                  <a:t>all categories</a:t>
                </a:r>
                <a:r>
                  <a:rPr lang="en-US" sz="2000" dirty="0">
                    <a:solidFill>
                      <a:srgbClr val="000000"/>
                    </a:solidFill>
                    <a:cs typeface="Arial" panose="020B0604020202020204" pitchFamily="34" charset="0"/>
                  </a:rPr>
                  <a:t>, compute the test statistic,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oMath>
                </a14:m>
                <a:r>
                  <a:rPr lang="en-US" sz="2000" dirty="0">
                    <a:solidFill>
                      <a:srgbClr val="000000"/>
                    </a:solidFill>
                    <a:cs typeface="Arial" panose="020B0604020202020204" pitchFamily="34" charset="0"/>
                  </a:rPr>
                  <a:t>, as</a:t>
                </a:r>
              </a:p>
              <a:p>
                <a:pPr marL="685800">
                  <a:spcBef>
                    <a:spcPts val="600"/>
                  </a:spcBef>
                </a:pPr>
                <a14:m>
                  <m:oMathPara xmlns:m="http://schemas.openxmlformats.org/officeDocument/2006/math">
                    <m:oMathParaPr>
                      <m:jc m:val="left"/>
                    </m:oMathParaPr>
                    <m:oMath xmlns:m="http://schemas.openxmlformats.org/officeDocument/2006/math">
                      <m:sSup>
                        <m:sSupPr>
                          <m:ctrlPr>
                            <a:rPr lang="en-US" sz="2000" b="1" i="1" smtClean="0">
                              <a:latin typeface="Cambria Math" panose="02040503050406030204" pitchFamily="18" charset="0"/>
                              <a:cs typeface="Arial" panose="020B0604020202020204" pitchFamily="34" charset="0"/>
                            </a:rPr>
                          </m:ctrlPr>
                        </m:sSupPr>
                        <m:e>
                          <m:r>
                            <a:rPr lang="el-GR" sz="20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2000" b="1" i="1" smtClean="0">
                              <a:latin typeface="Cambria Math" panose="02040503050406030204" pitchFamily="18" charset="0"/>
                              <a:cs typeface="Arial" panose="020B0604020202020204" pitchFamily="34" charset="0"/>
                            </a:rPr>
                            <m:t>𝟐</m:t>
                          </m:r>
                        </m:sup>
                      </m:sSup>
                      <m:r>
                        <a:rPr lang="en-US" sz="2000" b="1" i="1" smtClean="0">
                          <a:latin typeface="Cambria Math" panose="02040503050406030204" pitchFamily="18" charset="0"/>
                          <a:cs typeface="Arial" panose="020B0604020202020204" pitchFamily="34" charset="0"/>
                        </a:rPr>
                        <m:t>=</m:t>
                      </m:r>
                      <m:nary>
                        <m:naryPr>
                          <m:chr m:val="∑"/>
                          <m:supHide m:val="on"/>
                          <m:ctrlPr>
                            <a:rPr lang="en-US" sz="2000" b="1" i="1" smtClean="0">
                              <a:latin typeface="Cambria Math" panose="02040503050406030204" pitchFamily="18" charset="0"/>
                              <a:cs typeface="Arial" panose="020B0604020202020204" pitchFamily="34" charset="0"/>
                            </a:rPr>
                          </m:ctrlPr>
                        </m:naryPr>
                        <m:sub>
                          <m:r>
                            <m:rPr>
                              <m:brk m:alnAt="7"/>
                            </m:rPr>
                            <a:rPr lang="en-US" sz="2000" b="1" i="1" smtClean="0">
                              <a:latin typeface="Cambria Math" panose="02040503050406030204" pitchFamily="18" charset="0"/>
                              <a:cs typeface="Arial" panose="020B0604020202020204" pitchFamily="34" charset="0"/>
                            </a:rPr>
                            <m:t>𝒊</m:t>
                          </m:r>
                        </m:sub>
                        <m:sup/>
                        <m:e>
                          <m:f>
                            <m:fPr>
                              <m:ctrlPr>
                                <a:rPr lang="en-US" sz="2000" b="1" i="1">
                                  <a:latin typeface="Cambria Math" panose="02040503050406030204" pitchFamily="18" charset="0"/>
                                  <a:cs typeface="Arial" panose="020B0604020202020204" pitchFamily="34" charset="0"/>
                                </a:rPr>
                              </m:ctrlPr>
                            </m:fPr>
                            <m:num>
                              <m:sSup>
                                <m:sSupPr>
                                  <m:ctrlPr>
                                    <a:rPr lang="en-US" sz="2000" b="1" i="1">
                                      <a:latin typeface="Cambria Math" panose="02040503050406030204" pitchFamily="18" charset="0"/>
                                      <a:cs typeface="Arial" panose="020B0604020202020204" pitchFamily="34" charset="0"/>
                                    </a:rPr>
                                  </m:ctrlPr>
                                </m:sSupPr>
                                <m:e>
                                  <m:d>
                                    <m:dPr>
                                      <m:ctrlPr>
                                        <a:rPr lang="en-US" sz="2000" b="1" i="1">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𝒇</m:t>
                                          </m:r>
                                        </m:e>
                                        <m:sub>
                                          <m:r>
                                            <a:rPr lang="en-US" sz="2000" b="1" i="1">
                                              <a:latin typeface="Cambria Math" panose="02040503050406030204" pitchFamily="18" charset="0"/>
                                              <a:cs typeface="Arial" panose="020B0604020202020204" pitchFamily="34" charset="0"/>
                                            </a:rPr>
                                            <m:t>𝒊</m:t>
                                          </m:r>
                                        </m:sub>
                                      </m:sSub>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𝒆</m:t>
                                          </m:r>
                                        </m:e>
                                        <m:sub>
                                          <m:r>
                                            <a:rPr lang="en-US" sz="2000" b="1" i="1">
                                              <a:latin typeface="Cambria Math" panose="02040503050406030204" pitchFamily="18" charset="0"/>
                                              <a:cs typeface="Arial" panose="020B0604020202020204" pitchFamily="34" charset="0"/>
                                            </a:rPr>
                                            <m:t>𝒊</m:t>
                                          </m:r>
                                        </m:sub>
                                      </m:sSub>
                                    </m:e>
                                  </m:d>
                                </m:e>
                                <m:sup>
                                  <m:r>
                                    <a:rPr lang="en-US" sz="2000" b="1" i="1">
                                      <a:latin typeface="Cambria Math" panose="02040503050406030204" pitchFamily="18" charset="0"/>
                                      <a:cs typeface="Arial" panose="020B0604020202020204" pitchFamily="34" charset="0"/>
                                    </a:rPr>
                                    <m:t>𝟐</m:t>
                                  </m:r>
                                </m:sup>
                              </m:sSup>
                            </m:num>
                            <m:den>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𝒆</m:t>
                                  </m:r>
                                </m:e>
                                <m:sub>
                                  <m:r>
                                    <a:rPr lang="en-US" sz="2000" b="1" i="1">
                                      <a:latin typeface="Cambria Math" panose="02040503050406030204" pitchFamily="18" charset="0"/>
                                      <a:cs typeface="Arial" panose="020B0604020202020204" pitchFamily="34" charset="0"/>
                                    </a:rPr>
                                    <m:t>𝒊</m:t>
                                  </m:r>
                                </m:sub>
                              </m:sSub>
                            </m:den>
                          </m:f>
                        </m:e>
                      </m:nary>
                    </m:oMath>
                  </m:oMathPara>
                </a14:m>
                <a:endParaRPr lang="en-US" sz="2000" b="1" dirty="0">
                  <a:solidFill>
                    <a:srgbClr val="000000"/>
                  </a:solidFill>
                  <a:cs typeface="Arial" panose="020B0604020202020204" pitchFamily="34" charset="0"/>
                </a:endParaRPr>
              </a:p>
              <a:p>
                <a:pPr marL="346075" indent="-346075">
                  <a:spcBef>
                    <a:spcPts val="600"/>
                  </a:spcBef>
                  <a:buFont typeface="+mj-lt"/>
                  <a:buAutoNum type="arabicPeriod" startAt="5"/>
                </a:pPr>
                <a:r>
                  <a:rPr lang="en-US" sz="2000" dirty="0">
                    <a:solidFill>
                      <a:srgbClr val="000000"/>
                    </a:solidFill>
                    <a:cs typeface="Arial" panose="020B0604020202020204" pitchFamily="34" charset="0"/>
                  </a:rPr>
                  <a:t>Use a chi-square distribution with </a:t>
                </a:r>
                <a14:m>
                  <m:oMath xmlns:m="http://schemas.openxmlformats.org/officeDocument/2006/math">
                    <m:r>
                      <a:rPr lang="en-US" sz="2000" b="0" i="1" smtClean="0">
                        <a:solidFill>
                          <a:srgbClr val="000000"/>
                        </a:solidFill>
                        <a:latin typeface="Cambria Math" panose="02040503050406030204" pitchFamily="18" charset="0"/>
                        <a:cs typeface="Arial" panose="020B0604020202020204" pitchFamily="34" charset="0"/>
                      </a:rPr>
                      <m:t>𝑑𝑓</m:t>
                    </m:r>
                    <m:r>
                      <a:rPr lang="en-US" sz="2000" b="0" i="0"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cs typeface="Arial" panose="020B0604020202020204" pitchFamily="34" charset="0"/>
                      </a:rPr>
                      <m:t>𝑘</m:t>
                    </m:r>
                    <m:r>
                      <a:rPr lang="en-US" sz="2000" b="0" i="1" smtClean="0">
                        <a:solidFill>
                          <a:srgbClr val="000000"/>
                        </a:solidFill>
                        <a:latin typeface="Cambria Math" panose="02040503050406030204" pitchFamily="18" charset="0"/>
                        <a:cs typeface="Arial" panose="020B0604020202020204" pitchFamily="34" charset="0"/>
                      </a:rPr>
                      <m:t>−1</m:t>
                    </m:r>
                  </m:oMath>
                </a14:m>
                <a:r>
                  <a:rPr lang="en-US" sz="2000" dirty="0">
                    <a:solidFill>
                      <a:srgbClr val="000000"/>
                    </a:solidFill>
                    <a:cs typeface="Arial" panose="020B0604020202020204" pitchFamily="34" charset="0"/>
                  </a:rPr>
                  <a:t> to compute </a:t>
                </a:r>
                <a:r>
                  <a:rPr lang="en-US" sz="2000" i="1" dirty="0">
                    <a:solidFill>
                      <a:srgbClr val="000000"/>
                    </a:solidFill>
                    <a:cs typeface="Arial" panose="020B0604020202020204" pitchFamily="34" charset="0"/>
                  </a:rPr>
                  <a:t>p</a:t>
                </a:r>
                <a:r>
                  <a:rPr lang="en-US" sz="2000" dirty="0">
                    <a:solidFill>
                      <a:srgbClr val="000000"/>
                    </a:solidFill>
                    <a:cs typeface="Arial" panose="020B0604020202020204" pitchFamily="34" charset="0"/>
                  </a:rPr>
                  <a:t>-value and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oMath>
                </a14:m>
                <a:r>
                  <a:rPr lang="en-US" sz="2000" dirty="0">
                    <a:solidFill>
                      <a:srgbClr val="000000"/>
                    </a:solidFill>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626517"/>
                <a:ext cx="10711543" cy="4150074"/>
              </a:xfrm>
              <a:blipFill>
                <a:blip r:embed="rId3"/>
                <a:stretch>
                  <a:fillRect l="-1365" t="-1762" r="-1763" b="-1322"/>
                </a:stretch>
              </a:blipFill>
            </p:spPr>
            <p:txBody>
              <a:bodyPr/>
              <a:lstStyle/>
              <a:p>
                <a:r>
                  <a:rPr lang="en-US">
                    <a:noFill/>
                  </a:rPr>
                  <a:t> </a:t>
                </a:r>
              </a:p>
            </p:txBody>
          </p:sp>
        </mc:Fallback>
      </mc:AlternateContent>
    </p:spTree>
    <p:extLst>
      <p:ext uri="{BB962C8B-B14F-4D97-AF65-F5344CB8AC3E}">
        <p14:creationId xmlns:p14="http://schemas.microsoft.com/office/powerpoint/2010/main" val="2872986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1190297" y="365125"/>
            <a:ext cx="9814039" cy="672105"/>
          </a:xfrm>
        </p:spPr>
        <p:txBody>
          <a:bodyPr/>
          <a:lstStyle/>
          <a:p>
            <a:r>
              <a:rPr lang="en-US" sz="3200" dirty="0"/>
              <a:t>12.1 Testing a Multinomial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53694"/>
                <a:ext cx="10711543" cy="4263238"/>
              </a:xfrm>
            </p:spPr>
            <p:txBody>
              <a:bodyPr/>
              <a:lstStyle/>
              <a:p>
                <a:pPr>
                  <a:spcBef>
                    <a:spcPts val="600"/>
                  </a:spcBef>
                </a:pPr>
                <a:r>
                  <a:rPr lang="en-US" sz="2000" dirty="0">
                    <a:cs typeface="Arial" panose="020B0604020202020204" pitchFamily="34" charset="0"/>
                  </a:rPr>
                  <a:t>With a </a:t>
                </a:r>
                <a:r>
                  <a:rPr lang="en-US" sz="2000" b="1" dirty="0">
                    <a:cs typeface="Arial" panose="020B0604020202020204" pitchFamily="34" charset="0"/>
                  </a:rPr>
                  <a:t>multinomial probability distribution</a:t>
                </a:r>
                <a:r>
                  <a:rPr lang="en-US" sz="2000" dirty="0">
                    <a:cs typeface="Arial" panose="020B0604020202020204" pitchFamily="34" charset="0"/>
                  </a:rPr>
                  <a:t>, each element of a population is assigned to one and only one of three or more categories.</a:t>
                </a:r>
              </a:p>
              <a:p>
                <a:pPr>
                  <a:spcBef>
                    <a:spcPts val="600"/>
                  </a:spcBef>
                </a:pPr>
                <a:r>
                  <a:rPr lang="en-US" sz="2000" dirty="0">
                    <a:cs typeface="Arial" panose="020B0604020202020204" pitchFamily="34" charset="0"/>
                  </a:rPr>
                  <a:t>As an example, suppose that the historical market shares for a certain product are 30% for company A, 50% for company B, and 20% for company C. Thus, the multinomial probability distribution of the product market share is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𝐴</m:t>
                        </m:r>
                      </m:sub>
                    </m:sSub>
                    <m:r>
                      <a:rPr lang="en-US" sz="2000" b="0" i="1" smtClean="0">
                        <a:latin typeface="Cambria Math" panose="02040503050406030204" pitchFamily="18" charset="0"/>
                        <a:cs typeface="Arial" panose="020B0604020202020204" pitchFamily="34" charset="0"/>
                      </a:rPr>
                      <m:t>=0.30</m:t>
                    </m:r>
                  </m:oMath>
                </a14:m>
                <a:r>
                  <a:rPr lang="en-US" sz="2000" dirty="0">
                    <a:cs typeface="Arial" panose="020B0604020202020204" pitchFamily="34" charset="0"/>
                  </a:rPr>
                  <a:t>,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𝐵</m:t>
                        </m:r>
                      </m:sub>
                    </m:sSub>
                    <m:r>
                      <a:rPr lang="en-US" sz="2000" i="1">
                        <a:latin typeface="Cambria Math" panose="02040503050406030204" pitchFamily="18" charset="0"/>
                        <a:cs typeface="Arial" panose="020B0604020202020204" pitchFamily="34" charset="0"/>
                      </a:rPr>
                      <m:t>=0.</m:t>
                    </m:r>
                    <m:r>
                      <a:rPr lang="en-US" sz="2000" b="0" i="1" smtClean="0">
                        <a:latin typeface="Cambria Math" panose="02040503050406030204" pitchFamily="18" charset="0"/>
                        <a:cs typeface="Arial" panose="020B0604020202020204" pitchFamily="34" charset="0"/>
                      </a:rPr>
                      <m:t>50</m:t>
                    </m:r>
                  </m:oMath>
                </a14:m>
                <a:r>
                  <a:rPr lang="en-US" sz="2000" dirty="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𝐶</m:t>
                        </m:r>
                      </m:sub>
                    </m:sSub>
                    <m:r>
                      <a:rPr lang="en-US" sz="2000" i="1">
                        <a:latin typeface="Cambria Math" panose="02040503050406030204" pitchFamily="18" charset="0"/>
                        <a:cs typeface="Arial" panose="020B0604020202020204" pitchFamily="34" charset="0"/>
                      </a:rPr>
                      <m:t>=0.</m:t>
                    </m:r>
                    <m:r>
                      <a:rPr lang="en-US" sz="2000" b="0" i="1" smtClean="0">
                        <a:latin typeface="Cambria Math" panose="02040503050406030204" pitchFamily="18" charset="0"/>
                        <a:cs typeface="Arial" panose="020B0604020202020204" pitchFamily="34" charset="0"/>
                      </a:rPr>
                      <m:t>20</m:t>
                    </m:r>
                  </m:oMath>
                </a14:m>
                <a:r>
                  <a:rPr lang="en-US" sz="2000" dirty="0">
                    <a:cs typeface="Arial" panose="020B0604020202020204" pitchFamily="34" charset="0"/>
                  </a:rPr>
                  <a:t>.</a:t>
                </a:r>
              </a:p>
              <a:p>
                <a:pPr>
                  <a:spcBef>
                    <a:spcPts val="600"/>
                  </a:spcBef>
                </a:pPr>
                <a:r>
                  <a:rPr lang="en-US" sz="2000" dirty="0">
                    <a:cs typeface="Arial" panose="020B0604020202020204" pitchFamily="34" charset="0"/>
                  </a:rPr>
                  <a:t>A marketing research firm plans to survey 200 existing product customers to determine whether the introduction of a “new and improved” product by company C will change market shares.</a:t>
                </a:r>
              </a:p>
              <a:p>
                <a:pPr>
                  <a:spcBef>
                    <a:spcPts val="600"/>
                  </a:spcBef>
                </a:pPr>
                <a:r>
                  <a:rPr lang="en-US" sz="2000" dirty="0">
                    <a:solidFill>
                      <a:srgbClr val="000000"/>
                    </a:solidFill>
                    <a:cs typeface="Arial" panose="020B0604020202020204" pitchFamily="34" charset="0"/>
                  </a:rPr>
                  <a:t>Sample results indicated the following product preferences: 48 customers for company A, 98 customers for company B, and 54 customers for company C.</a:t>
                </a:r>
                <a:endParaRPr lang="en-US" sz="2000" dirty="0">
                  <a:cs typeface="Arial" panose="020B0604020202020204" pitchFamily="34" charset="0"/>
                </a:endParaRPr>
              </a:p>
              <a:p>
                <a:pPr>
                  <a:spcBef>
                    <a:spcPts val="600"/>
                  </a:spcBef>
                </a:pPr>
                <a:r>
                  <a:rPr lang="en-US" sz="2000" dirty="0">
                    <a:cs typeface="Arial" panose="020B0604020202020204" pitchFamily="34" charset="0"/>
                  </a:rPr>
                  <a:t>The following hypotheses are used to test the sample results at a significance level,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=0.05</m:t>
                    </m:r>
                  </m:oMath>
                </a14:m>
                <a:r>
                  <a:rPr lang="en-US" sz="2000" dirty="0">
                    <a:cs typeface="Arial" panose="020B0604020202020204" pitchFamily="34" charset="0"/>
                  </a:rPr>
                  <a:t>.</a:t>
                </a:r>
              </a:p>
              <a:p>
                <a:pPr marL="9144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𝐴</m:t>
                        </m:r>
                      </m:sub>
                    </m:sSub>
                    <m:r>
                      <a:rPr lang="en-US" sz="2000" i="1">
                        <a:latin typeface="Cambria Math" panose="02040503050406030204" pitchFamily="18" charset="0"/>
                        <a:cs typeface="Arial" panose="020B0604020202020204" pitchFamily="34" charset="0"/>
                      </a:rPr>
                      <m:t>=0.30</m:t>
                    </m:r>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𝐵</m:t>
                        </m:r>
                      </m:sub>
                    </m:sSub>
                    <m:r>
                      <a:rPr lang="en-US" sz="2000" i="1">
                        <a:latin typeface="Cambria Math" panose="02040503050406030204" pitchFamily="18" charset="0"/>
                        <a:cs typeface="Arial" panose="020B0604020202020204" pitchFamily="34" charset="0"/>
                      </a:rPr>
                      <m:t>=0.50</m:t>
                    </m:r>
                  </m:oMath>
                </a14:m>
                <a:r>
                  <a:rPr lang="en-US" sz="2000" dirty="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𝐶</m:t>
                        </m:r>
                      </m:sub>
                    </m:sSub>
                    <m:r>
                      <a:rPr lang="en-US" sz="2000" i="1">
                        <a:latin typeface="Cambria Math" panose="02040503050406030204" pitchFamily="18" charset="0"/>
                        <a:cs typeface="Arial" panose="020B0604020202020204" pitchFamily="34" charset="0"/>
                      </a:rPr>
                      <m:t>=0.20</m:t>
                    </m:r>
                  </m:oMath>
                </a14:m>
                <a:endParaRPr lang="en-US" sz="2000" dirty="0">
                  <a:cs typeface="Arial" panose="020B0604020202020204" pitchFamily="34" charset="0"/>
                </a:endParaRPr>
              </a:p>
              <a:p>
                <a:pPr marL="914400">
                  <a:spcBef>
                    <a:spcPts val="600"/>
                  </a:spcBef>
                  <a:spcAft>
                    <a:spcPts val="0"/>
                  </a:spcAft>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𝑎</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The </a:t>
                </a:r>
                <a:r>
                  <a:rPr lang="pt-BR" sz="2000" dirty="0">
                    <a:cs typeface="Arial" panose="020B0604020202020204" pitchFamily="34" charset="0"/>
                  </a:rPr>
                  <a:t>population proportions are not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𝐴</m:t>
                        </m:r>
                      </m:sub>
                    </m:sSub>
                    <m:r>
                      <a:rPr lang="en-US" sz="2000" i="1">
                        <a:latin typeface="Cambria Math" panose="02040503050406030204" pitchFamily="18" charset="0"/>
                        <a:cs typeface="Arial" panose="020B0604020202020204" pitchFamily="34" charset="0"/>
                      </a:rPr>
                      <m:t>=0.30</m:t>
                    </m:r>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𝐵</m:t>
                        </m:r>
                      </m:sub>
                    </m:sSub>
                    <m:r>
                      <a:rPr lang="en-US" sz="2000" i="1">
                        <a:latin typeface="Cambria Math" panose="02040503050406030204" pitchFamily="18" charset="0"/>
                        <a:cs typeface="Arial" panose="020B0604020202020204" pitchFamily="34" charset="0"/>
                      </a:rPr>
                      <m:t>=0.50</m:t>
                    </m:r>
                  </m:oMath>
                </a14:m>
                <a:r>
                  <a:rPr lang="en-US" sz="2000" dirty="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𝐶</m:t>
                        </m:r>
                      </m:sub>
                    </m:sSub>
                    <m:r>
                      <a:rPr lang="en-US" sz="2000" i="1">
                        <a:latin typeface="Cambria Math" panose="02040503050406030204" pitchFamily="18" charset="0"/>
                        <a:cs typeface="Arial" panose="020B0604020202020204" pitchFamily="34" charset="0"/>
                      </a:rPr>
                      <m:t>=0.20</m:t>
                    </m:r>
                  </m:oMath>
                </a14:m>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353694"/>
                <a:ext cx="10711543" cy="4263238"/>
              </a:xfrm>
              <a:blipFill>
                <a:blip r:embed="rId2"/>
                <a:stretch>
                  <a:fillRect l="-1422" t="-1717" r="-1991" b="-429"/>
                </a:stretch>
              </a:blipFill>
            </p:spPr>
            <p:txBody>
              <a:bodyPr/>
              <a:lstStyle/>
              <a:p>
                <a:r>
                  <a:rPr lang="en-US">
                    <a:noFill/>
                  </a:rPr>
                  <a:t> </a:t>
                </a:r>
              </a:p>
            </p:txBody>
          </p:sp>
        </mc:Fallback>
      </mc:AlternateContent>
    </p:spTree>
    <p:extLst>
      <p:ext uri="{BB962C8B-B14F-4D97-AF65-F5344CB8AC3E}">
        <p14:creationId xmlns:p14="http://schemas.microsoft.com/office/powerpoint/2010/main" val="4036970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235A2-7762-4D59-77C0-7ED187C353CA}"/>
              </a:ext>
            </a:extLst>
          </p:cNvPr>
          <p:cNvSpPr>
            <a:spLocks noGrp="1"/>
          </p:cNvSpPr>
          <p:nvPr>
            <p:ph type="title"/>
          </p:nvPr>
        </p:nvSpPr>
        <p:spPr/>
        <p:txBody>
          <a:bodyPr/>
          <a:lstStyle/>
          <a:p>
            <a:r>
              <a:rPr lang="en-US" sz="3200" dirty="0"/>
              <a:t>12.1 Calculation of the Chi-Square Statistic for Goodness-of-Fit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05EEECE-8682-61E7-01E1-C1EAE25467E9}"/>
                  </a:ext>
                </a:extLst>
              </p:cNvPr>
              <p:cNvSpPr>
                <a:spLocks noGrp="1"/>
              </p:cNvSpPr>
              <p:nvPr>
                <p:ph type="body" sz="quarter" idx="15"/>
              </p:nvPr>
            </p:nvSpPr>
            <p:spPr>
              <a:xfrm>
                <a:off x="743576" y="1580707"/>
                <a:ext cx="10610223" cy="2266674"/>
              </a:xfrm>
            </p:spPr>
            <p:txBody>
              <a:bodyPr/>
              <a:lstStyle/>
              <a:p>
                <a:pPr>
                  <a:spcAft>
                    <a:spcPts val="600"/>
                  </a:spcAft>
                </a:pPr>
                <a:r>
                  <a:rPr lang="en-US" sz="2000" dirty="0"/>
                  <a:t>Like other chi-square tests, the goodness-of-fit test is based on a comparison of observed frequencies with the expected frequencies under the assumption of a true null hypothesis.</a:t>
                </a:r>
              </a:p>
              <a:p>
                <a:pPr marL="914400">
                  <a:spcBef>
                    <a:spcPts val="0"/>
                  </a:spcBef>
                  <a:spcAft>
                    <a:spcPts val="0"/>
                  </a:spcAft>
                  <a:tabLst>
                    <a:tab pos="3541713" algn="ctr"/>
                    <a:tab pos="5370513" algn="ctr"/>
                    <a:tab pos="7261225" algn="ctr"/>
                    <a:tab pos="8802688" algn="ctr"/>
                  </a:tabLst>
                </a:pPr>
                <a:r>
                  <a:rPr lang="en-US" sz="1800" b="1" dirty="0">
                    <a:solidFill>
                      <a:srgbClr val="0070C0"/>
                    </a:solidFill>
                  </a:rPr>
                  <a:t>Frequencies</a:t>
                </a:r>
                <a:r>
                  <a:rPr lang="en-US" sz="1800" b="1" dirty="0"/>
                  <a:t>	Company A	Company B	Company C	Total</a:t>
                </a:r>
              </a:p>
              <a:p>
                <a:pPr marL="914400">
                  <a:spcBef>
                    <a:spcPts val="0"/>
                  </a:spcBef>
                  <a:spcAft>
                    <a:spcPts val="0"/>
                  </a:spcAft>
                  <a:tabLst>
                    <a:tab pos="3541713" algn="ctr"/>
                    <a:tab pos="5370513" algn="ctr"/>
                    <a:tab pos="7261225" algn="ctr"/>
                    <a:tab pos="8802688" algn="ctr"/>
                  </a:tabLst>
                </a:pPr>
                <a:r>
                  <a:rPr lang="en-US" sz="1800" b="1" dirty="0"/>
                  <a:t>Observed</a:t>
                </a:r>
                <a:r>
                  <a:rPr lang="en-US" sz="1800" dirty="0">
                    <a:solidFill>
                      <a:srgbClr val="0070C0"/>
                    </a:solidFill>
                  </a:rPr>
                  <a:t>	</a:t>
                </a:r>
                <a:r>
                  <a:rPr lang="en-US" sz="1800" dirty="0">
                    <a:latin typeface="Cambria Math" panose="02040503050406030204" pitchFamily="18" charset="0"/>
                    <a:ea typeface="Cambria Math" panose="02040503050406030204" pitchFamily="18" charset="0"/>
                  </a:rPr>
                  <a:t>48	98	54	200</a:t>
                </a:r>
              </a:p>
              <a:p>
                <a:pPr marL="914400">
                  <a:spcBef>
                    <a:spcPts val="0"/>
                  </a:spcBef>
                  <a:spcAft>
                    <a:spcPts val="600"/>
                  </a:spcAft>
                  <a:tabLst>
                    <a:tab pos="3541713" algn="ctr"/>
                    <a:tab pos="5370513" algn="ctr"/>
                    <a:tab pos="7261225" algn="ctr"/>
                    <a:tab pos="8802688" algn="ctr"/>
                  </a:tabLst>
                </a:pPr>
                <a:r>
                  <a:rPr lang="en-US" sz="1800" b="1" dirty="0"/>
                  <a:t>Expected</a:t>
                </a:r>
                <a:r>
                  <a:rPr lang="en-US" sz="1800" dirty="0"/>
                  <a:t>	</a:t>
                </a:r>
                <a14:m>
                  <m:oMath xmlns:m="http://schemas.openxmlformats.org/officeDocument/2006/math">
                    <m:r>
                      <a:rPr lang="en-US" sz="1800" i="1" dirty="0" smtClean="0">
                        <a:latin typeface="Cambria Math" panose="02040503050406030204" pitchFamily="18" charset="0"/>
                      </a:rPr>
                      <m:t>200(0.30)=60</m:t>
                    </m:r>
                  </m:oMath>
                </a14:m>
                <a:r>
                  <a:rPr lang="en-US" sz="1800" dirty="0"/>
                  <a:t>	</a:t>
                </a:r>
                <a14:m>
                  <m:oMath xmlns:m="http://schemas.openxmlformats.org/officeDocument/2006/math">
                    <m:r>
                      <a:rPr lang="en-US" sz="1800" i="1" dirty="0" smtClean="0">
                        <a:latin typeface="Cambria Math" panose="02040503050406030204" pitchFamily="18" charset="0"/>
                      </a:rPr>
                      <m:t>200(0.50)=100</m:t>
                    </m:r>
                  </m:oMath>
                </a14:m>
                <a:r>
                  <a:rPr lang="en-US" sz="1800" dirty="0"/>
                  <a:t>	</a:t>
                </a:r>
                <a14:m>
                  <m:oMath xmlns:m="http://schemas.openxmlformats.org/officeDocument/2006/math">
                    <m:r>
                      <a:rPr lang="en-US" sz="1800" i="1" dirty="0" smtClean="0">
                        <a:latin typeface="Cambria Math" panose="02040503050406030204" pitchFamily="18" charset="0"/>
                      </a:rPr>
                      <m:t>200(0.20)=40</m:t>
                    </m:r>
                  </m:oMath>
                </a14:m>
                <a:r>
                  <a:rPr lang="en-US" sz="1800" dirty="0"/>
                  <a:t>	</a:t>
                </a:r>
                <a:r>
                  <a:rPr lang="en-US" sz="1800" dirty="0">
                    <a:latin typeface="Cambria Math" panose="02040503050406030204" pitchFamily="18" charset="0"/>
                    <a:ea typeface="Cambria Math" panose="02040503050406030204" pitchFamily="18" charset="0"/>
                  </a:rPr>
                  <a:t>200</a:t>
                </a:r>
              </a:p>
              <a:p>
                <a:pPr>
                  <a:spcAft>
                    <a:spcPts val="600"/>
                  </a:spcAft>
                </a:pPr>
                <a:r>
                  <a:rPr lang="en-US" sz="2000" dirty="0"/>
                  <a:t>With the expected frequencies all 5 or more, the computation of the chi-square test statistic is shown in the following table, resulting in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=7.34</m:t>
                    </m:r>
                  </m:oMath>
                </a14:m>
                <a:r>
                  <a:rPr lang="en-US" sz="2000" dirty="0"/>
                  <a:t>.</a:t>
                </a:r>
              </a:p>
            </p:txBody>
          </p:sp>
        </mc:Choice>
        <mc:Fallback xmlns="">
          <p:sp>
            <p:nvSpPr>
              <p:cNvPr id="3" name="Text Placeholder 2">
                <a:extLst>
                  <a:ext uri="{FF2B5EF4-FFF2-40B4-BE49-F238E27FC236}">
                    <a16:creationId xmlns:a16="http://schemas.microsoft.com/office/drawing/2014/main" id="{605EEECE-8682-61E7-01E1-C1EAE25467E9}"/>
                  </a:ext>
                </a:extLst>
              </p:cNvPr>
              <p:cNvSpPr>
                <a:spLocks noGrp="1" noRot="1" noChangeAspect="1" noMove="1" noResize="1" noEditPoints="1" noAdjustHandles="1" noChangeArrowheads="1" noChangeShapeType="1" noTextEdit="1"/>
              </p:cNvSpPr>
              <p:nvPr>
                <p:ph type="body" sz="quarter" idx="15"/>
              </p:nvPr>
            </p:nvSpPr>
            <p:spPr>
              <a:xfrm>
                <a:off x="743576" y="1580707"/>
                <a:ext cx="10610223" cy="2266674"/>
              </a:xfrm>
              <a:blipFill>
                <a:blip r:embed="rId2"/>
                <a:stretch>
                  <a:fillRect l="-1494" t="-4570" r="-575" b="-538"/>
                </a:stretch>
              </a:blipFill>
            </p:spPr>
            <p:txBody>
              <a:bodyPr/>
              <a:lstStyle/>
              <a:p>
                <a:r>
                  <a:rPr lang="en-US">
                    <a:noFill/>
                  </a:rPr>
                  <a:t> </a:t>
                </a:r>
              </a:p>
            </p:txBody>
          </p:sp>
        </mc:Fallback>
      </mc:AlternateContent>
      <p:graphicFrame>
        <p:nvGraphicFramePr>
          <p:cNvPr id="7" name="Table Placeholder 6">
            <a:extLst>
              <a:ext uri="{FF2B5EF4-FFF2-40B4-BE49-F238E27FC236}">
                <a16:creationId xmlns:a16="http://schemas.microsoft.com/office/drawing/2014/main" id="{CDA3EE6C-892F-D65C-0D54-4649212A60CE}"/>
              </a:ext>
            </a:extLst>
          </p:cNvPr>
          <p:cNvGraphicFramePr>
            <a:graphicFrameLocks noGrp="1"/>
          </p:cNvGraphicFramePr>
          <p:nvPr>
            <p:ph type="tbl" sz="quarter" idx="16"/>
          </p:nvPr>
        </p:nvGraphicFramePr>
        <p:xfrm>
          <a:off x="1328468" y="3933825"/>
          <a:ext cx="9349886" cy="1817370"/>
        </p:xfrm>
        <a:graphic>
          <a:graphicData uri="http://schemas.openxmlformats.org/drawingml/2006/table">
            <a:tbl>
              <a:tblPr firstRow="1" bandRow="1">
                <a:tableStyleId>{5C22544A-7EE6-4342-B048-85BDC9FD1C3A}</a:tableStyleId>
              </a:tblPr>
              <a:tblGrid>
                <a:gridCol w="1199072">
                  <a:extLst>
                    <a:ext uri="{9D8B030D-6E8A-4147-A177-3AD203B41FA5}">
                      <a16:colId xmlns:a16="http://schemas.microsoft.com/office/drawing/2014/main" val="3331846321"/>
                    </a:ext>
                  </a:extLst>
                </a:gridCol>
                <a:gridCol w="1379074">
                  <a:extLst>
                    <a:ext uri="{9D8B030D-6E8A-4147-A177-3AD203B41FA5}">
                      <a16:colId xmlns:a16="http://schemas.microsoft.com/office/drawing/2014/main" val="2394714925"/>
                    </a:ext>
                  </a:extLst>
                </a:gridCol>
                <a:gridCol w="1078878">
                  <a:extLst>
                    <a:ext uri="{9D8B030D-6E8A-4147-A177-3AD203B41FA5}">
                      <a16:colId xmlns:a16="http://schemas.microsoft.com/office/drawing/2014/main" val="2549020119"/>
                    </a:ext>
                  </a:extLst>
                </a:gridCol>
                <a:gridCol w="1078878">
                  <a:extLst>
                    <a:ext uri="{9D8B030D-6E8A-4147-A177-3AD203B41FA5}">
                      <a16:colId xmlns:a16="http://schemas.microsoft.com/office/drawing/2014/main" val="86001883"/>
                    </a:ext>
                  </a:extLst>
                </a:gridCol>
                <a:gridCol w="1036326">
                  <a:extLst>
                    <a:ext uri="{9D8B030D-6E8A-4147-A177-3AD203B41FA5}">
                      <a16:colId xmlns:a16="http://schemas.microsoft.com/office/drawing/2014/main" val="2871899978"/>
                    </a:ext>
                  </a:extLst>
                </a:gridCol>
                <a:gridCol w="1137531">
                  <a:extLst>
                    <a:ext uri="{9D8B030D-6E8A-4147-A177-3AD203B41FA5}">
                      <a16:colId xmlns:a16="http://schemas.microsoft.com/office/drawing/2014/main" val="1588154519"/>
                    </a:ext>
                  </a:extLst>
                </a:gridCol>
                <a:gridCol w="2440127">
                  <a:extLst>
                    <a:ext uri="{9D8B030D-6E8A-4147-A177-3AD203B41FA5}">
                      <a16:colId xmlns:a16="http://schemas.microsoft.com/office/drawing/2014/main" val="3084839578"/>
                    </a:ext>
                  </a:extLst>
                </a:gridCol>
              </a:tblGrid>
              <a:tr h="725397">
                <a:tc>
                  <a:txBody>
                    <a:bodyPr/>
                    <a:lstStyle/>
                    <a:p>
                      <a:pPr algn="l" fontAlgn="b"/>
                      <a:r>
                        <a:rPr lang="en-US" sz="1600" b="0" i="0" u="none" strike="noStrike" dirty="0">
                          <a:solidFill>
                            <a:srgbClr val="000000"/>
                          </a:solidFill>
                          <a:effectLst/>
                          <a:latin typeface="Calibri" panose="020F0502020204030204" pitchFamily="34" charset="0"/>
                        </a:rPr>
                        <a:t>  </a:t>
                      </a:r>
                      <a:r>
                        <a:rPr lang="en-US" sz="1600" b="1" i="0" u="none" strike="noStrike" dirty="0">
                          <a:solidFill>
                            <a:srgbClr val="000000"/>
                          </a:solidFill>
                          <a:effectLst/>
                          <a:latin typeface="Calibri" panose="020F0502020204030204" pitchFamily="34" charset="0"/>
                        </a:rPr>
                        <a:t>Category</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Hypothesized Proportion</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1" i="0" u="none" strike="noStrike" dirty="0">
                          <a:solidFill>
                            <a:srgbClr val="000000"/>
                          </a:solidFill>
                          <a:effectLst/>
                          <a:latin typeface="+mn-lt"/>
                        </a:rPr>
                        <a:t>Observed Frequency</a:t>
                      </a:r>
                    </a:p>
                    <a:p>
                      <a:pPr algn="ctr" fontAlgn="ctr"/>
                      <a:r>
                        <a:rPr lang="en-US" sz="1600" b="1" i="1" u="none" strike="noStrike" dirty="0">
                          <a:solidFill>
                            <a:srgbClr val="000000"/>
                          </a:solidFill>
                          <a:effectLst/>
                          <a:latin typeface="+mn-lt"/>
                        </a:rPr>
                        <a:t>f</a:t>
                      </a:r>
                      <a:r>
                        <a:rPr lang="en-US" sz="1600" b="1" i="0" u="none" strike="noStrike" baseline="-25000" dirty="0">
                          <a:solidFill>
                            <a:srgbClr val="000000"/>
                          </a:solidFill>
                          <a:effectLst/>
                          <a:latin typeface="+mn-lt"/>
                        </a:rPr>
                        <a:t>i</a:t>
                      </a:r>
                    </a:p>
                  </a:txBody>
                  <a:tcPr marL="0" marR="0" marT="0" marB="9144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1" i="0" u="none" strike="noStrike" dirty="0">
                          <a:solidFill>
                            <a:srgbClr val="000000"/>
                          </a:solidFill>
                          <a:effectLst/>
                          <a:latin typeface="+mn-lt"/>
                        </a:rPr>
                        <a:t>Expected Frequency </a:t>
                      </a:r>
                    </a:p>
                    <a:p>
                      <a:pPr algn="ctr" fontAlgn="ct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a:t>
                      </a:r>
                      <a:endParaRPr lang="en-US" sz="1600" b="1" i="0" u="none" strike="noStrike" baseline="-25000" dirty="0">
                        <a:solidFill>
                          <a:srgbClr val="000000"/>
                        </a:solidFill>
                        <a:effectLst/>
                        <a:latin typeface="+mn-lt"/>
                      </a:endParaRPr>
                    </a:p>
                  </a:txBody>
                  <a:tcPr marL="0" marR="0" marT="0" marB="9144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Difference</a:t>
                      </a:r>
                    </a:p>
                    <a:p>
                      <a:pPr algn="ctr" fontAlgn="b"/>
                      <a:r>
                        <a:rPr lang="en-US" sz="1600" b="1" i="1" u="none" strike="noStrike" dirty="0">
                          <a:solidFill>
                            <a:srgbClr val="000000"/>
                          </a:solidFill>
                          <a:effectLst/>
                          <a:latin typeface="+mn-lt"/>
                        </a:rPr>
                        <a:t>f</a:t>
                      </a:r>
                      <a:r>
                        <a:rPr lang="en-US" sz="1600" b="1" i="0" u="none" strike="noStrike" baseline="-25000" dirty="0">
                          <a:solidFill>
                            <a:srgbClr val="000000"/>
                          </a:solidFill>
                          <a:effectLst/>
                          <a:latin typeface="+mn-lt"/>
                        </a:rPr>
                        <a:t>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a:t>
                      </a:r>
                      <a:endParaRPr lang="en-US" sz="1600" b="1" i="0" u="none" strike="noStrike" dirty="0">
                        <a:solidFill>
                          <a:srgbClr val="000000"/>
                        </a:solidFill>
                        <a:effectLst/>
                        <a:latin typeface="+mn-lt"/>
                      </a:endParaRP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Squared Difference</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mn-lt"/>
                        </a:rPr>
                        <a:t>(</a:t>
                      </a:r>
                      <a:r>
                        <a:rPr lang="en-US" sz="1600" b="1" i="1" u="none" strike="noStrike" dirty="0">
                          <a:solidFill>
                            <a:srgbClr val="000000"/>
                          </a:solidFill>
                          <a:effectLst/>
                          <a:latin typeface="+mn-lt"/>
                        </a:rPr>
                        <a:t>f</a:t>
                      </a:r>
                      <a:r>
                        <a:rPr lang="en-US" sz="1600" b="1" i="0" u="none" strike="noStrike" baseline="-25000" dirty="0">
                          <a:solidFill>
                            <a:srgbClr val="000000"/>
                          </a:solidFill>
                          <a:effectLst/>
                          <a:latin typeface="+mn-lt"/>
                        </a:rPr>
                        <a:t>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a:t>
                      </a:r>
                      <a:r>
                        <a:rPr lang="en-US" sz="1600" b="1" i="0" u="none" strike="noStrike" dirty="0">
                          <a:solidFill>
                            <a:srgbClr val="000000"/>
                          </a:solidFill>
                          <a:effectLst/>
                          <a:latin typeface="+mn-lt"/>
                        </a:rPr>
                        <a:t>)</a:t>
                      </a:r>
                      <a:r>
                        <a:rPr lang="en-US" sz="1600" b="1" i="0" u="none" strike="noStrike" baseline="30000" dirty="0">
                          <a:solidFill>
                            <a:srgbClr val="000000"/>
                          </a:solidFill>
                          <a:effectLst/>
                          <a:latin typeface="+mn-lt"/>
                        </a:rPr>
                        <a:t>2</a:t>
                      </a: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Squared Difference Divided by Expected Frequency</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mn-lt"/>
                        </a:rPr>
                        <a:t>(</a:t>
                      </a:r>
                      <a:r>
                        <a:rPr lang="en-US" sz="1600" b="1" i="1" u="none" strike="noStrike" dirty="0">
                          <a:solidFill>
                            <a:srgbClr val="000000"/>
                          </a:solidFill>
                          <a:effectLst/>
                          <a:latin typeface="+mn-lt"/>
                        </a:rPr>
                        <a:t>f</a:t>
                      </a:r>
                      <a:r>
                        <a:rPr lang="en-US" sz="1600" b="1" i="0" u="none" strike="noStrike" baseline="-25000" dirty="0">
                          <a:solidFill>
                            <a:srgbClr val="000000"/>
                          </a:solidFill>
                          <a:effectLst/>
                          <a:latin typeface="+mn-lt"/>
                        </a:rPr>
                        <a:t>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a:t>
                      </a:r>
                      <a:r>
                        <a:rPr lang="en-US" sz="1600" b="1" i="0" u="none" strike="noStrike" dirty="0">
                          <a:solidFill>
                            <a:srgbClr val="000000"/>
                          </a:solidFill>
                          <a:effectLst/>
                          <a:latin typeface="+mn-lt"/>
                        </a:rPr>
                        <a:t>)</a:t>
                      </a:r>
                      <a:r>
                        <a:rPr lang="en-US" sz="1600" b="1" i="0" u="none" strike="noStrike" baseline="30000" dirty="0">
                          <a:solidFill>
                            <a:srgbClr val="000000"/>
                          </a:solidFill>
                          <a:effectLst/>
                          <a:latin typeface="+mn-lt"/>
                        </a:rPr>
                        <a:t>2</a:t>
                      </a:r>
                      <a:r>
                        <a:rPr lang="en-US" sz="1600" b="1" i="0" u="none" strike="noStrike" baseline="0"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a:t>
                      </a:r>
                      <a:endParaRPr lang="en-US" sz="1600" b="1" i="0" u="none" strike="noStrike" baseline="0" dirty="0">
                        <a:solidFill>
                          <a:srgbClr val="000000"/>
                        </a:solidFill>
                        <a:effectLst/>
                        <a:latin typeface="+mn-lt"/>
                      </a:endParaRP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126492"/>
                  </a:ext>
                </a:extLst>
              </a:tr>
              <a:tr h="214933">
                <a:tc>
                  <a:txBody>
                    <a:bodyPr/>
                    <a:lstStyle/>
                    <a:p>
                      <a:pPr algn="l" fontAlgn="b"/>
                      <a:r>
                        <a:rPr lang="en-US" sz="1600" b="0" i="0" u="none" strike="noStrike" dirty="0">
                          <a:solidFill>
                            <a:srgbClr val="000000"/>
                          </a:solidFill>
                          <a:effectLst/>
                          <a:latin typeface="Calibri" panose="020F0502020204030204" pitchFamily="34" charset="0"/>
                        </a:rPr>
                        <a:t>  Company A</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0.30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Calibri" panose="020F0502020204030204" pitchFamily="34" charset="0"/>
                        </a:rPr>
                        <a:t>	48</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Calibri" panose="020F0502020204030204" pitchFamily="34" charset="0"/>
                        </a:rPr>
                        <a:t>	60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69913" algn="r"/>
                        </a:tabLst>
                      </a:pPr>
                      <a:r>
                        <a:rPr lang="en-US" sz="1600" b="0" i="0" u="none" strike="noStrike" dirty="0">
                          <a:solidFill>
                            <a:srgbClr val="000000"/>
                          </a:solidFill>
                          <a:effectLst/>
                          <a:latin typeface="Calibri" panose="020F0502020204030204" pitchFamily="34" charset="0"/>
                        </a:rPr>
                        <a:t>	-12</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Calibri" panose="020F0502020204030204" pitchFamily="34" charset="0"/>
                          <a:ea typeface="+mn-ea"/>
                          <a:cs typeface="+mn-cs"/>
                        </a:rPr>
                        <a:t>	144</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2.40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853710879"/>
                  </a:ext>
                </a:extLst>
              </a:tr>
              <a:tr h="214933">
                <a:tc>
                  <a:txBody>
                    <a:bodyPr/>
                    <a:lstStyle/>
                    <a:p>
                      <a:pPr algn="l" fontAlgn="b"/>
                      <a:r>
                        <a:rPr lang="en-US" sz="1600" b="0" i="0" u="none" strike="noStrike" dirty="0">
                          <a:solidFill>
                            <a:srgbClr val="000000"/>
                          </a:solidFill>
                          <a:effectLst/>
                          <a:latin typeface="Calibri" panose="020F0502020204030204" pitchFamily="34" charset="0"/>
                        </a:rPr>
                        <a:t>  Company B</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0.50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Calibri" panose="020F0502020204030204" pitchFamily="34" charset="0"/>
                        </a:rPr>
                        <a:t>	98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Calibri" panose="020F0502020204030204" pitchFamily="34" charset="0"/>
                        </a:rPr>
                        <a:t>	100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69913" algn="r"/>
                        </a:tabLst>
                      </a:pPr>
                      <a:r>
                        <a:rPr lang="en-US" sz="1600" b="0" i="0" u="none" strike="noStrike" dirty="0">
                          <a:solidFill>
                            <a:srgbClr val="000000"/>
                          </a:solidFill>
                          <a:effectLst/>
                          <a:latin typeface="Calibri" panose="020F0502020204030204" pitchFamily="34" charset="0"/>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Calibri" panose="020F0502020204030204" pitchFamily="34" charset="0"/>
                          <a:ea typeface="+mn-ea"/>
                          <a:cs typeface="+mn-cs"/>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0.04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15892803"/>
                  </a:ext>
                </a:extLst>
              </a:tr>
              <a:tr h="214933">
                <a:tc>
                  <a:txBody>
                    <a:bodyPr/>
                    <a:lstStyle/>
                    <a:p>
                      <a:pPr algn="l" fontAlgn="b"/>
                      <a:r>
                        <a:rPr lang="en-US" sz="1600" b="0" i="0" u="none" strike="noStrike" dirty="0">
                          <a:solidFill>
                            <a:srgbClr val="000000"/>
                          </a:solidFill>
                          <a:effectLst/>
                          <a:latin typeface="Calibri" panose="020F0502020204030204" pitchFamily="34" charset="0"/>
                        </a:rPr>
                        <a:t>  Company C</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0.20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Calibri" panose="020F0502020204030204" pitchFamily="34" charset="0"/>
                        </a:rPr>
                        <a:t>	</a:t>
                      </a:r>
                      <a:r>
                        <a:rPr lang="en-US" sz="1600" b="0" i="0" u="sng" strike="noStrike" dirty="0">
                          <a:solidFill>
                            <a:srgbClr val="000000"/>
                          </a:solidFill>
                          <a:effectLst/>
                          <a:latin typeface="Calibri" panose="020F0502020204030204" pitchFamily="34" charset="0"/>
                        </a:rPr>
                        <a:t>   54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Calibri" panose="020F0502020204030204" pitchFamily="34" charset="0"/>
                        </a:rPr>
                        <a:t>	</a:t>
                      </a:r>
                      <a:r>
                        <a:rPr lang="en-US" sz="1600" b="0" i="0" u="sng" strike="noStrike" dirty="0">
                          <a:solidFill>
                            <a:srgbClr val="000000"/>
                          </a:solidFill>
                          <a:effectLst/>
                          <a:latin typeface="Calibri" panose="020F0502020204030204" pitchFamily="34" charset="0"/>
                        </a:rPr>
                        <a:t>   40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569913" algn="r"/>
                        </a:tabLst>
                      </a:pPr>
                      <a:r>
                        <a:rPr lang="en-US" sz="1600" b="0" i="0" u="none" strike="noStrike" dirty="0">
                          <a:solidFill>
                            <a:srgbClr val="000000"/>
                          </a:solidFill>
                          <a:effectLst/>
                          <a:latin typeface="Calibri" panose="020F0502020204030204" pitchFamily="34" charset="0"/>
                        </a:rPr>
                        <a:t>	14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Calibri" panose="020F0502020204030204" pitchFamily="34" charset="0"/>
                          <a:ea typeface="+mn-ea"/>
                          <a:cs typeface="+mn-cs"/>
                        </a:rPr>
                        <a:t>	196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sng" strike="noStrike" dirty="0">
                          <a:solidFill>
                            <a:srgbClr val="000000"/>
                          </a:solidFill>
                          <a:effectLst/>
                          <a:latin typeface="Calibri" panose="020F0502020204030204" pitchFamily="34" charset="0"/>
                        </a:rPr>
                        <a:t>4.90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750617046"/>
                  </a:ext>
                </a:extLst>
              </a:tr>
              <a:tr h="214933">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Total</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200</a:t>
                      </a:r>
                    </a:p>
                  </a:txBody>
                  <a:tcPr marL="0" marR="0" marT="0" marB="0" anchor="ctr">
                    <a:lnL w="12700" cmpd="sng">
                      <a:noFill/>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30238" algn="r"/>
                        </a:tabLst>
                      </a:pPr>
                      <a:r>
                        <a:rPr lang="en-US" sz="1600" b="0" i="0" u="none" strike="noStrike" kern="1200" dirty="0">
                          <a:solidFill>
                            <a:srgbClr val="000000"/>
                          </a:solidFill>
                          <a:effectLst/>
                          <a:latin typeface="+mn-lt"/>
                          <a:ea typeface="+mn-ea"/>
                          <a:cs typeface="+mn-cs"/>
                        </a:rPr>
                        <a:t>	200</a:t>
                      </a:r>
                    </a:p>
                  </a:txBody>
                  <a:tcPr marL="0" marR="0" marT="0" marB="0" anchor="b">
                    <a:lnL w="12700" cmpd="sng">
                      <a:noFill/>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l"/>
                        </a:tabLst>
                      </a:pPr>
                      <a:r>
                        <a:rPr lang="en-US" sz="1600" b="0" i="1" u="none" strike="noStrike" dirty="0">
                          <a:solidFill>
                            <a:srgbClr val="000000"/>
                          </a:solidFill>
                          <a:effectLst/>
                          <a:latin typeface="+mn-lt"/>
                        </a:rPr>
                        <a:t>	 </a:t>
                      </a:r>
                      <a:r>
                        <a:rPr lang="el-GR" sz="1600" b="0" i="1" u="none" strike="noStrike" dirty="0">
                          <a:solidFill>
                            <a:srgbClr val="000000"/>
                          </a:solidFill>
                          <a:effectLst/>
                          <a:latin typeface="+mn-lt"/>
                        </a:rPr>
                        <a:t>Χ</a:t>
                      </a:r>
                      <a:r>
                        <a:rPr lang="en-US" sz="1600" b="0" i="0" u="none" strike="noStrike" baseline="30000" dirty="0">
                          <a:solidFill>
                            <a:srgbClr val="000000"/>
                          </a:solidFill>
                          <a:effectLst/>
                          <a:latin typeface="+mn-lt"/>
                        </a:rPr>
                        <a:t>2</a:t>
                      </a:r>
                      <a:r>
                        <a:rPr lang="en-US" sz="1600" b="0" i="0" u="none" strike="noStrike" dirty="0">
                          <a:solidFill>
                            <a:srgbClr val="000000"/>
                          </a:solidFill>
                          <a:effectLst/>
                          <a:latin typeface="+mn-lt"/>
                        </a:rPr>
                        <a:t> = 7.34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131383"/>
                  </a:ext>
                </a:extLst>
              </a:tr>
            </a:tbl>
          </a:graphicData>
        </a:graphic>
      </p:graphicFrame>
    </p:spTree>
    <p:extLst>
      <p:ext uri="{BB962C8B-B14F-4D97-AF65-F5344CB8AC3E}">
        <p14:creationId xmlns:p14="http://schemas.microsoft.com/office/powerpoint/2010/main" val="1861547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sz="3200" dirty="0"/>
              <a:t>12.1 </a:t>
            </a:r>
            <a:r>
              <a:rPr lang="en-US" sz="3200" i="1" dirty="0"/>
              <a:t>p</a:t>
            </a:r>
            <a:r>
              <a:rPr lang="en-US" sz="3200" dirty="0"/>
              <a:t>-Value Approach to a Goodness-of-Fit Test of a Multinomial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43576" y="1733770"/>
                <a:ext cx="5872884" cy="1629895"/>
              </a:xfrm>
            </p:spPr>
            <p:txBody>
              <a:bodyPr>
                <a:noAutofit/>
              </a:bodyPr>
              <a:lstStyle/>
              <a:p>
                <a:pPr>
                  <a:lnSpc>
                    <a:spcPct val="100000"/>
                  </a:lnSpc>
                  <a:spcBef>
                    <a:spcPts val="600"/>
                  </a:spcBef>
                  <a:spcAft>
                    <a:spcPts val="0"/>
                  </a:spcAft>
                  <a:tabLst>
                    <a:tab pos="8804275" algn="l"/>
                  </a:tabLst>
                </a:pPr>
                <a:r>
                  <a:rPr lang="en-US" sz="2000" dirty="0"/>
                  <a:t>In the product market share example, the </a:t>
                </a:r>
                <a:r>
                  <a:rPr lang="en-US" sz="2000" i="1" dirty="0"/>
                  <a:t>p</a:t>
                </a:r>
                <a:r>
                  <a:rPr lang="en-US" sz="2000" dirty="0"/>
                  <a:t>-value is the upper tail of a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oMath>
                </a14:m>
                <a:r>
                  <a:rPr lang="en-US" sz="2000" dirty="0"/>
                  <a:t> distribution with </a:t>
                </a:r>
                <a14:m>
                  <m:oMath xmlns:m="http://schemas.openxmlformats.org/officeDocument/2006/math">
                    <m:r>
                      <a:rPr lang="en-US" sz="2000" b="0" i="1" smtClean="0">
                        <a:latin typeface="Cambria Math" panose="02040503050406030204" pitchFamily="18" charset="0"/>
                      </a:rPr>
                      <m:t>𝑘</m:t>
                    </m:r>
                    <m:r>
                      <a:rPr lang="en-US" sz="2000" b="0" i="1" smtClean="0">
                        <a:latin typeface="Cambria Math" panose="02040503050406030204" pitchFamily="18" charset="0"/>
                      </a:rPr>
                      <m:t>=2</m:t>
                    </m:r>
                  </m:oMath>
                </a14:m>
                <a:r>
                  <a:rPr lang="en-US" sz="2000" dirty="0"/>
                  <a:t> degrees of freedom: </a:t>
                </a:r>
                <a14:m>
                  <m:oMath xmlns:m="http://schemas.openxmlformats.org/officeDocument/2006/math">
                    <m:r>
                      <a:rPr lang="en-US" sz="2000" i="1" dirty="0" smtClean="0">
                        <a:latin typeface="Cambria Math" panose="02040503050406030204" pitchFamily="18" charset="0"/>
                      </a:rPr>
                      <m:t>𝑝</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value</m:t>
                    </m:r>
                    <m:r>
                      <a:rPr lang="en-US" sz="2000" i="1" dirty="0" smtClean="0">
                        <a:latin typeface="Cambria Math" panose="02040503050406030204" pitchFamily="18" charset="0"/>
                      </a:rPr>
                      <m:t>=</m:t>
                    </m:r>
                    <m:r>
                      <a:rPr lang="en-US" sz="2000" i="1" dirty="0" smtClean="0">
                        <a:latin typeface="Cambria Math" panose="02040503050406030204" pitchFamily="18" charset="0"/>
                      </a:rPr>
                      <m:t>𝑃</m:t>
                    </m:r>
                    <m:r>
                      <a:rPr lang="en-US" sz="2000" i="1" dirty="0" smtClean="0">
                        <a:latin typeface="Cambria Math" panose="02040503050406030204" pitchFamily="18" charset="0"/>
                      </a:rPr>
                      <m:t>(</m:t>
                    </m:r>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smtClean="0">
                        <a:latin typeface="Cambria Math" panose="02040503050406030204" pitchFamily="18" charset="0"/>
                      </a:rPr>
                      <m:t>≥7</m:t>
                    </m:r>
                    <m:r>
                      <a:rPr lang="en-US" sz="2000" b="0" i="1" dirty="0" smtClean="0">
                        <a:latin typeface="Cambria Math" panose="02040503050406030204" pitchFamily="18" charset="0"/>
                      </a:rPr>
                      <m:t>.34</m:t>
                    </m:r>
                    <m:r>
                      <a:rPr lang="en-US" sz="2000" i="1" dirty="0" smtClean="0">
                        <a:latin typeface="Cambria Math" panose="02040503050406030204" pitchFamily="18" charset="0"/>
                      </a:rPr>
                      <m:t>)</m:t>
                    </m:r>
                  </m:oMath>
                </a14:m>
                <a:r>
                  <a:rPr lang="en-US" sz="2000" dirty="0"/>
                  <a:t>.</a:t>
                </a:r>
              </a:p>
              <a:p>
                <a:pPr>
                  <a:lnSpc>
                    <a:spcPct val="100000"/>
                  </a:lnSpc>
                  <a:spcBef>
                    <a:spcPts val="600"/>
                  </a:spcBef>
                  <a:spcAft>
                    <a:spcPts val="0"/>
                  </a:spcAft>
                </a:pPr>
                <a:r>
                  <a:rPr lang="en-US" sz="2000" dirty="0"/>
                  <a:t>Using Table 3 in Appendix B, the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oMath>
                </a14:m>
                <a:r>
                  <a:rPr lang="en-US" sz="2000" dirty="0"/>
                  <a:t> distribution with 2 degrees of freedom provides the following</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43576" y="1733770"/>
                <a:ext cx="5872884" cy="1629895"/>
              </a:xfrm>
              <a:blipFill>
                <a:blip r:embed="rId3"/>
                <a:stretch>
                  <a:fillRect l="-2700" t="-4478" r="-3219" b="-7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205082" y="3427287"/>
              <a:ext cx="5199058" cy="741680"/>
            </p:xfrm>
            <a:graphic>
              <a:graphicData uri="http://schemas.openxmlformats.org/drawingml/2006/table">
                <a:tbl>
                  <a:tblPr firstRow="1" bandRow="1">
                    <a:tableStyleId>{5C22544A-7EE6-4342-B048-85BDC9FD1C3A}</a:tableStyleId>
                  </a:tblPr>
                  <a:tblGrid>
                    <a:gridCol w="1852628">
                      <a:extLst>
                        <a:ext uri="{9D8B030D-6E8A-4147-A177-3AD203B41FA5}">
                          <a16:colId xmlns:a16="http://schemas.microsoft.com/office/drawing/2014/main" val="4171103348"/>
                        </a:ext>
                      </a:extLst>
                    </a:gridCol>
                    <a:gridCol w="669286">
                      <a:extLst>
                        <a:ext uri="{9D8B030D-6E8A-4147-A177-3AD203B41FA5}">
                          <a16:colId xmlns:a16="http://schemas.microsoft.com/office/drawing/2014/main" val="3310322248"/>
                        </a:ext>
                      </a:extLst>
                    </a:gridCol>
                    <a:gridCol w="669286">
                      <a:extLst>
                        <a:ext uri="{9D8B030D-6E8A-4147-A177-3AD203B41FA5}">
                          <a16:colId xmlns:a16="http://schemas.microsoft.com/office/drawing/2014/main" val="1345786011"/>
                        </a:ext>
                      </a:extLst>
                    </a:gridCol>
                    <a:gridCol w="669286">
                      <a:extLst>
                        <a:ext uri="{9D8B030D-6E8A-4147-A177-3AD203B41FA5}">
                          <a16:colId xmlns:a16="http://schemas.microsoft.com/office/drawing/2014/main" val="3942544080"/>
                        </a:ext>
                      </a:extLst>
                    </a:gridCol>
                    <a:gridCol w="669286">
                      <a:extLst>
                        <a:ext uri="{9D8B030D-6E8A-4147-A177-3AD203B41FA5}">
                          <a16:colId xmlns:a16="http://schemas.microsoft.com/office/drawing/2014/main" val="2859257073"/>
                        </a:ext>
                      </a:extLst>
                    </a:gridCol>
                    <a:gridCol w="669286">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sSup>
                                <m:sSupPr>
                                  <m:ctrlPr>
                                    <a:rPr lang="en-US" sz="1600" b="1" i="1" smtClean="0">
                                      <a:latin typeface="Cambria Math" panose="02040503050406030204" pitchFamily="18" charset="0"/>
                                      <a:cs typeface="Arial" panose="020B0604020202020204" pitchFamily="34" charset="0"/>
                                    </a:rPr>
                                  </m:ctrlPr>
                                </m:sSupPr>
                                <m:e>
                                  <m:r>
                                    <a:rPr lang="el-GR" sz="16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1600" b="1" i="1" smtClean="0">
                                      <a:latin typeface="Cambria Math" panose="02040503050406030204" pitchFamily="18" charset="0"/>
                                      <a:cs typeface="Arial" panose="020B0604020202020204" pitchFamily="34" charset="0"/>
                                    </a:rPr>
                                    <m:t>𝟐</m:t>
                                  </m:r>
                                </m:sup>
                              </m:sSup>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376005011"/>
                  </p:ext>
                </p:extLst>
              </p:nvPr>
            </p:nvGraphicFramePr>
            <p:xfrm>
              <a:off x="1205082" y="3427287"/>
              <a:ext cx="5199058" cy="741680"/>
            </p:xfrm>
            <a:graphic>
              <a:graphicData uri="http://schemas.openxmlformats.org/drawingml/2006/table">
                <a:tbl>
                  <a:tblPr firstRow="1" bandRow="1">
                    <a:tableStyleId>{5C22544A-7EE6-4342-B048-85BDC9FD1C3A}</a:tableStyleId>
                  </a:tblPr>
                  <a:tblGrid>
                    <a:gridCol w="1852628">
                      <a:extLst>
                        <a:ext uri="{9D8B030D-6E8A-4147-A177-3AD203B41FA5}">
                          <a16:colId xmlns:a16="http://schemas.microsoft.com/office/drawing/2014/main" val="4171103348"/>
                        </a:ext>
                      </a:extLst>
                    </a:gridCol>
                    <a:gridCol w="669286">
                      <a:extLst>
                        <a:ext uri="{9D8B030D-6E8A-4147-A177-3AD203B41FA5}">
                          <a16:colId xmlns:a16="http://schemas.microsoft.com/office/drawing/2014/main" val="3310322248"/>
                        </a:ext>
                      </a:extLst>
                    </a:gridCol>
                    <a:gridCol w="669286">
                      <a:extLst>
                        <a:ext uri="{9D8B030D-6E8A-4147-A177-3AD203B41FA5}">
                          <a16:colId xmlns:a16="http://schemas.microsoft.com/office/drawing/2014/main" val="1345786011"/>
                        </a:ext>
                      </a:extLst>
                    </a:gridCol>
                    <a:gridCol w="669286">
                      <a:extLst>
                        <a:ext uri="{9D8B030D-6E8A-4147-A177-3AD203B41FA5}">
                          <a16:colId xmlns:a16="http://schemas.microsoft.com/office/drawing/2014/main" val="3942544080"/>
                        </a:ext>
                      </a:extLst>
                    </a:gridCol>
                    <a:gridCol w="669286">
                      <a:extLst>
                        <a:ext uri="{9D8B030D-6E8A-4147-A177-3AD203B41FA5}">
                          <a16:colId xmlns:a16="http://schemas.microsoft.com/office/drawing/2014/main" val="2859257073"/>
                        </a:ext>
                      </a:extLst>
                    </a:gridCol>
                    <a:gridCol w="669286">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0000" r="-181250" b="-32787"/>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p:pic>
        <p:nvPicPr>
          <p:cNvPr id="6" name="Picture Placeholder 10" descr="A graph plots a chi-square distribution. The horizontal axis lists chi^2_alpha. A curve rises sharply from the origin, peaks at a small value of the horizontal axis, and falls gradually. The region under the curve to the right of chi^2_alpha is shaded and labeled “Area or probability.”&#10;">
            <a:extLst>
              <a:ext uri="{FF2B5EF4-FFF2-40B4-BE49-F238E27FC236}">
                <a16:creationId xmlns:a16="http://schemas.microsoft.com/office/drawing/2014/main" id="{E5B29862-56BF-C638-A10F-6E7789623744}"/>
              </a:ext>
            </a:extLst>
          </p:cNvPr>
          <p:cNvPicPr>
            <a:picLocks noGrp="1" noChangeAspect="1"/>
          </p:cNvPicPr>
          <p:nvPr>
            <p:ph type="pic" sz="quarter" idx="23"/>
          </p:nvPr>
        </p:nvPicPr>
        <p:blipFill rotWithShape="1">
          <a:blip r:embed="rId5"/>
          <a:srcRect l="47" r="47"/>
          <a:stretch/>
        </p:blipFill>
        <p:spPr>
          <a:xfrm>
            <a:off x="6795642" y="1986706"/>
            <a:ext cx="4398963" cy="2139950"/>
          </a:xfrm>
        </p:spPr>
      </p:pic>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706437" y="4313141"/>
                <a:ext cx="10488168" cy="1483224"/>
              </a:xfrm>
            </p:spPr>
            <p:txBody>
              <a:bodyPr>
                <a:noAutofit/>
              </a:bodyPr>
              <a:lstStyle/>
              <a:p>
                <a:pPr>
                  <a:lnSpc>
                    <a:spcPct val="110000"/>
                  </a:lnSpc>
                  <a:spcBef>
                    <a:spcPts val="600"/>
                  </a:spcBef>
                </a:pPr>
                <a:r>
                  <a:rPr lang="en-US" sz="2000" dirty="0">
                    <a:cs typeface="Arial" panose="020B0604020202020204" pitchFamily="34" charset="0"/>
                  </a:rPr>
                  <a:t>B</a:t>
                </a:r>
                <a:r>
                  <a:rPr lang="en-US" sz="2000" dirty="0">
                    <a:solidFill>
                      <a:srgbClr val="000000"/>
                    </a:solidFill>
                    <a:cs typeface="Arial" panose="020B0604020202020204" pitchFamily="34" charset="0"/>
                  </a:rPr>
                  <a:t>ecause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smtClean="0">
                        <a:solidFill>
                          <a:srgbClr val="000000"/>
                        </a:solidFill>
                        <a:latin typeface="Cambria Math" panose="02040503050406030204" pitchFamily="18" charset="0"/>
                        <a:cs typeface="Arial" panose="020B0604020202020204" pitchFamily="34" charset="0"/>
                      </a:rPr>
                      <m:t>=</m:t>
                    </m:r>
                    <m:r>
                      <a:rPr lang="en-US" sz="2000" b="0" i="1" dirty="0" smtClean="0">
                        <a:solidFill>
                          <a:srgbClr val="000000"/>
                        </a:solidFill>
                        <a:latin typeface="Cambria Math" panose="02040503050406030204" pitchFamily="18" charset="0"/>
                        <a:cs typeface="Arial" panose="020B0604020202020204" pitchFamily="34" charset="0"/>
                      </a:rPr>
                      <m:t>7.34</m:t>
                    </m:r>
                  </m:oMath>
                </a14:m>
                <a:r>
                  <a:rPr lang="en-US" sz="2000" dirty="0">
                    <a:solidFill>
                      <a:srgbClr val="000000"/>
                    </a:solidFill>
                    <a:cs typeface="Arial" panose="020B0604020202020204" pitchFamily="34" charset="0"/>
                  </a:rPr>
                  <a:t> is between </a:t>
                </a:r>
                <a:r>
                  <a:rPr lang="en-US" sz="2000" dirty="0">
                    <a:cs typeface="Arial" panose="020B0604020202020204" pitchFamily="34" charset="0"/>
                  </a:rPr>
                  <a:t>5.991</a:t>
                </a:r>
                <a:r>
                  <a:rPr lang="en-US" sz="2000" dirty="0">
                    <a:solidFill>
                      <a:srgbClr val="000000"/>
                    </a:solidFill>
                    <a:cs typeface="Arial" panose="020B0604020202020204" pitchFamily="34" charset="0"/>
                  </a:rPr>
                  <a:t> and 7.378, the values in the “Area in Upper Tail” row show that the </a:t>
                </a:r>
                <a:r>
                  <a:rPr lang="en-US" sz="2000" i="1" dirty="0">
                    <a:solidFill>
                      <a:srgbClr val="000000"/>
                    </a:solidFill>
                    <a:cs typeface="Arial" panose="020B0604020202020204" pitchFamily="34" charset="0"/>
                  </a:rPr>
                  <a:t>p</a:t>
                </a:r>
                <a:r>
                  <a:rPr lang="en-US" sz="2000" dirty="0">
                    <a:solidFill>
                      <a:srgbClr val="000000"/>
                    </a:solidFill>
                    <a:cs typeface="Arial" panose="020B0604020202020204" pitchFamily="34" charset="0"/>
                  </a:rPr>
                  <a:t>-value range must be: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0.0</m:t>
                    </m:r>
                    <m:r>
                      <a:rPr lang="en-US" sz="2000" b="0" i="1" dirty="0" smtClean="0">
                        <a:solidFill>
                          <a:srgbClr val="000000"/>
                        </a:solidFill>
                        <a:latin typeface="Cambria Math" panose="02040503050406030204" pitchFamily="18" charset="0"/>
                        <a:cs typeface="Arial" panose="020B0604020202020204" pitchFamily="34" charset="0"/>
                      </a:rPr>
                      <m:t>25</m:t>
                    </m:r>
                    <m:r>
                      <a:rPr lang="en-US" sz="2000" i="1" dirty="0" smtClean="0">
                        <a:solidFill>
                          <a:srgbClr val="000000"/>
                        </a:solidFill>
                        <a:latin typeface="Cambria Math" panose="02040503050406030204" pitchFamily="18" charset="0"/>
                        <a:cs typeface="Arial" panose="020B0604020202020204" pitchFamily="34" charset="0"/>
                      </a:rPr>
                      <m:t>≤</m:t>
                    </m:r>
                    <m:r>
                      <a:rPr lang="en-US" sz="2000" i="1" dirty="0" smtClean="0">
                        <a:solidFill>
                          <a:srgbClr val="000000"/>
                        </a:solidFill>
                        <a:latin typeface="Cambria Math" panose="02040503050406030204" pitchFamily="18" charset="0"/>
                        <a:cs typeface="Arial" panose="020B0604020202020204" pitchFamily="34" charset="0"/>
                      </a:rPr>
                      <m:t>𝑝</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(*see notes.)</a:t>
                </a:r>
              </a:p>
              <a:p>
                <a:pPr>
                  <a:lnSpc>
                    <a:spcPct val="110000"/>
                  </a:lnSpc>
                  <a:spcBef>
                    <a:spcPts val="600"/>
                  </a:spcBef>
                </a:pPr>
                <a:r>
                  <a:rPr lang="en-US" sz="2000" dirty="0">
                    <a:cs typeface="Arial" panose="020B0604020202020204" pitchFamily="34" charset="0"/>
                  </a:rPr>
                  <a:t>Because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r>
                      <m:rPr>
                        <m:nor/>
                      </m:rPr>
                      <a:rPr lang="en-US" sz="2000" i="0" dirty="0" smtClean="0">
                        <a:latin typeface="Arial" panose="020B0604020202020204" pitchFamily="34" charset="0"/>
                        <a:cs typeface="Arial" panose="020B0604020202020204" pitchFamily="34" charset="0"/>
                      </a:rPr>
                      <m:t>−</m:t>
                    </m:r>
                    <m:r>
                      <m:rPr>
                        <m:nor/>
                      </m:rPr>
                      <a:rPr lang="en-US" sz="2000" i="0" dirty="0" smtClean="0">
                        <a:latin typeface="Arial" panose="020B0604020202020204" pitchFamily="34" charset="0"/>
                        <a:cs typeface="Arial" panose="020B0604020202020204" pitchFamily="34" charset="0"/>
                      </a:rPr>
                      <m:t>value</m:t>
                    </m:r>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cs typeface="Arial" panose="020B0604020202020204" pitchFamily="34" charset="0"/>
                  </a:rPr>
                  <a:t>, we reject the null hypothesis and conclude that the introduction of the new product by company C will alter the historical market shares.</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706437" y="4313141"/>
                <a:ext cx="10488168" cy="1483224"/>
              </a:xfrm>
              <a:blipFill>
                <a:blip r:embed="rId6"/>
                <a:stretch>
                  <a:fillRect l="-1512" t="-4938" r="-930" b="-4527"/>
                </a:stretch>
              </a:blipFill>
            </p:spPr>
            <p:txBody>
              <a:bodyPr/>
              <a:lstStyle/>
              <a:p>
                <a:r>
                  <a:rPr lang="en-US">
                    <a:noFill/>
                  </a:rPr>
                  <a:t> </a:t>
                </a:r>
              </a:p>
            </p:txBody>
          </p:sp>
        </mc:Fallback>
      </mc:AlternateContent>
    </p:spTree>
    <p:extLst>
      <p:ext uri="{BB962C8B-B14F-4D97-AF65-F5344CB8AC3E}">
        <p14:creationId xmlns:p14="http://schemas.microsoft.com/office/powerpoint/2010/main" val="1505586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12.1 Critical Value Approach to a Goodness-of-Fitness Test of a Multinomial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810244"/>
                <a:ext cx="10515599" cy="672105"/>
              </a:xfrm>
            </p:spPr>
            <p:txBody>
              <a:bodyPr>
                <a:normAutofit/>
              </a:bodyPr>
              <a:lstStyle/>
              <a:p>
                <a:pPr>
                  <a:lnSpc>
                    <a:spcPct val="100000"/>
                  </a:lnSpc>
                  <a:spcBef>
                    <a:spcPts val="600"/>
                  </a:spcBef>
                </a:pPr>
                <a:r>
                  <a:rPr lang="en-US" sz="2000" dirty="0"/>
                  <a:t>With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.05</m:t>
                    </m:r>
                  </m:oMath>
                </a14:m>
                <a:r>
                  <a:rPr lang="en-US" sz="2000" dirty="0"/>
                  <a:t>,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r>
                      <a:rPr lang="en-US" sz="2000" b="0" i="1" smtClean="0">
                        <a:latin typeface="Cambria Math" panose="02040503050406030204" pitchFamily="18" charset="0"/>
                      </a:rPr>
                      <m:t>=</m:t>
                    </m:r>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b="0" i="1" smtClean="0">
                            <a:latin typeface="Cambria Math" panose="02040503050406030204" pitchFamily="18" charset="0"/>
                            <a:ea typeface="Cambria Math" panose="02040503050406030204" pitchFamily="18" charset="0"/>
                          </a:rPr>
                          <m:t>0.05</m:t>
                        </m:r>
                      </m:sub>
                      <m:sup>
                        <m:r>
                          <a:rPr lang="en-US" sz="2000" i="1">
                            <a:latin typeface="Cambria Math" panose="02040503050406030204" pitchFamily="18" charset="0"/>
                          </a:rPr>
                          <m:t>2</m:t>
                        </m:r>
                      </m:sup>
                    </m:sSubSup>
                  </m:oMath>
                </a14:m>
                <a:r>
                  <a:rPr lang="en-US" sz="2000" dirty="0"/>
                  <a:t> provides the critical value for the upper tail chi-square test. Using Table 3 in Appendix B, with 2 degrees of freedom, we have</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810244"/>
                <a:ext cx="10515599" cy="672105"/>
              </a:xfrm>
              <a:blipFill>
                <a:blip r:embed="rId3"/>
                <a:stretch>
                  <a:fillRect l="-1508" t="-10000" b="-1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Placeholder 8">
                <a:extLst>
                  <a:ext uri="{FF2B5EF4-FFF2-40B4-BE49-F238E27FC236}">
                    <a16:creationId xmlns:a16="http://schemas.microsoft.com/office/drawing/2014/main" id="{52BD0827-5D4D-0C48-4E11-B32B1072F9CE}"/>
                  </a:ext>
                </a:extLst>
              </p:cNvPr>
              <p:cNvGraphicFramePr>
                <a:graphicFrameLocks noGrp="1"/>
              </p:cNvGraphicFramePr>
              <p:nvPr>
                <p:ph type="tbl" sz="quarter" idx="22"/>
              </p:nvPr>
            </p:nvGraphicFramePr>
            <p:xfrm>
              <a:off x="1657350" y="2525175"/>
              <a:ext cx="5771275"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sSup>
                                <m:sSupPr>
                                  <m:ctrlPr>
                                    <a:rPr lang="en-US" sz="1600" b="1" i="1" smtClean="0">
                                      <a:latin typeface="Cambria Math" panose="02040503050406030204" pitchFamily="18" charset="0"/>
                                      <a:cs typeface="Arial" panose="020B0604020202020204" pitchFamily="34" charset="0"/>
                                    </a:rPr>
                                  </m:ctrlPr>
                                </m:sSupPr>
                                <m:e>
                                  <m:r>
                                    <a:rPr lang="el-GR" sz="16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1600" b="1" i="1" smtClean="0">
                                      <a:latin typeface="Cambria Math" panose="02040503050406030204" pitchFamily="18" charset="0"/>
                                      <a:cs typeface="Arial" panose="020B0604020202020204" pitchFamily="34" charset="0"/>
                                    </a:rPr>
                                    <m:t>𝟐</m:t>
                                  </m:r>
                                </m:sup>
                              </m:sSup>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9" name="Table Placeholder 8">
                <a:extLst>
                  <a:ext uri="{FF2B5EF4-FFF2-40B4-BE49-F238E27FC236}">
                    <a16:creationId xmlns:a16="http://schemas.microsoft.com/office/drawing/2014/main" id="{52BD0827-5D4D-0C48-4E11-B32B1072F9CE}"/>
                  </a:ext>
                </a:extLst>
              </p:cNvPr>
              <p:cNvGraphicFramePr>
                <a:graphicFrameLocks noGrp="1"/>
              </p:cNvGraphicFramePr>
              <p:nvPr>
                <p:ph type="tbl" sz="quarter" idx="22"/>
                <p:extLst>
                  <p:ext uri="{D42A27DB-BD31-4B8C-83A1-F6EECF244321}">
                    <p14:modId xmlns:p14="http://schemas.microsoft.com/office/powerpoint/2010/main" val="639684872"/>
                  </p:ext>
                </p:extLst>
              </p:nvPr>
            </p:nvGraphicFramePr>
            <p:xfrm>
              <a:off x="1657350" y="2525175"/>
              <a:ext cx="5771275"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0000" r="-180769" b="-32787"/>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395605"/>
                <a:ext cx="10484504" cy="2327280"/>
              </a:xfrm>
            </p:spPr>
            <p:txBody>
              <a:bodyPr>
                <a:noAutofit/>
              </a:bodyPr>
              <a:lstStyle/>
              <a:p>
                <a:pPr>
                  <a:lnSpc>
                    <a:spcPct val="100000"/>
                  </a:lnSpc>
                  <a:spcBef>
                    <a:spcPts val="600"/>
                  </a:spcBef>
                  <a:spcAft>
                    <a:spcPts val="0"/>
                  </a:spcAft>
                </a:pPr>
                <a:r>
                  <a:rPr lang="en-US" sz="2000" dirty="0"/>
                  <a:t>We obtain the critical value, </a:t>
                </a:r>
                <a14:m>
                  <m:oMath xmlns:m="http://schemas.openxmlformats.org/officeDocument/2006/math">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i="1">
                            <a:latin typeface="Cambria Math" panose="02040503050406030204" pitchFamily="18" charset="0"/>
                            <a:ea typeface="Cambria Math" panose="02040503050406030204" pitchFamily="18" charset="0"/>
                          </a:rPr>
                          <m:t>0.05</m:t>
                        </m:r>
                      </m:sub>
                      <m:sup>
                        <m:r>
                          <a:rPr lang="en-US" sz="2000" i="1">
                            <a:latin typeface="Cambria Math" panose="02040503050406030204" pitchFamily="18" charset="0"/>
                          </a:rPr>
                          <m:t>2</m:t>
                        </m:r>
                      </m:sup>
                    </m:sSubSup>
                    <m:r>
                      <a:rPr lang="en-US" sz="2000" i="1">
                        <a:latin typeface="Cambria Math" panose="02040503050406030204" pitchFamily="18" charset="0"/>
                      </a:rPr>
                      <m:t>=</m:t>
                    </m:r>
                    <m:r>
                      <a:rPr lang="en-US" sz="2000" b="0" i="1" smtClean="0">
                        <a:latin typeface="Cambria Math" panose="02040503050406030204" pitchFamily="18" charset="0"/>
                      </a:rPr>
                      <m:t>5.991</m:t>
                    </m:r>
                  </m:oMath>
                </a14:m>
                <a:r>
                  <a:rPr lang="en-US" sz="2000" dirty="0"/>
                  <a:t>.</a:t>
                </a:r>
              </a:p>
              <a:p>
                <a:pPr>
                  <a:lnSpc>
                    <a:spcPct val="100000"/>
                  </a:lnSpc>
                  <a:spcBef>
                    <a:spcPts val="600"/>
                  </a:spcBef>
                  <a:spcAft>
                    <a:spcPts val="0"/>
                  </a:spcAft>
                </a:pPr>
                <a:r>
                  <a:rPr lang="en-US" sz="2000" dirty="0">
                    <a:solidFill>
                      <a:srgbClr val="000000"/>
                    </a:solidFill>
                    <a:cs typeface="Arial" panose="020B0604020202020204" pitchFamily="34" charset="0"/>
                  </a:rPr>
                  <a:t>We can also use Excel to compute the critical value: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CHISQ</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(0.05,2)</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5.991</m:t>
                    </m:r>
                  </m:oMath>
                </a14:m>
                <a:endParaRPr lang="en-US" sz="2000" dirty="0">
                  <a:solidFill>
                    <a:srgbClr val="000000"/>
                  </a:solidFill>
                  <a:cs typeface="Arial" panose="020B0604020202020204" pitchFamily="34" charset="0"/>
                </a:endParaRPr>
              </a:p>
              <a:p>
                <a:pPr>
                  <a:lnSpc>
                    <a:spcPct val="100000"/>
                  </a:lnSpc>
                  <a:spcBef>
                    <a:spcPts val="600"/>
                  </a:spcBef>
                  <a:spcAft>
                    <a:spcPts val="600"/>
                  </a:spcAft>
                </a:pPr>
                <a:r>
                  <a:rPr lang="en-US" sz="2000" dirty="0">
                    <a:solidFill>
                      <a:srgbClr val="000000"/>
                    </a:solidFill>
                    <a:cs typeface="Arial" panose="020B0604020202020204" pitchFamily="34" charset="0"/>
                  </a:rPr>
                  <a:t>Thus, the rejection rule for the goodness-of-fit test of a multinomial probability distribution is:</a:t>
                </a:r>
              </a:p>
              <a:p>
                <a:pPr marL="914400">
                  <a:lnSpc>
                    <a:spcPct val="100000"/>
                  </a:lnSpc>
                  <a:spcBef>
                    <a:spcPts val="600"/>
                  </a:spcBef>
                  <a:spcAft>
                    <a:spcPts val="600"/>
                  </a:spcAft>
                </a:pPr>
                <a:r>
                  <a:rPr lang="en-US" sz="2000" dirty="0">
                    <a:solidFill>
                      <a:srgbClr val="000000"/>
                    </a:solidFill>
                    <a:cs typeface="Arial" panose="020B0604020202020204" pitchFamily="34" charset="0"/>
                  </a:rPr>
                  <a:t>Reject </a:t>
                </a:r>
                <a:r>
                  <a:rPr lang="en-US" sz="2000" i="1" dirty="0">
                    <a:solidFill>
                      <a:srgbClr val="000000"/>
                    </a:solidFill>
                    <a:cs typeface="Arial" panose="020B0604020202020204" pitchFamily="34" charset="0"/>
                  </a:rPr>
                  <a:t>H</a:t>
                </a:r>
                <a:r>
                  <a:rPr lang="en-US" sz="2000" baseline="-25000" dirty="0">
                    <a:solidFill>
                      <a:srgbClr val="000000"/>
                    </a:solidFill>
                    <a:cs typeface="Arial" panose="020B0604020202020204" pitchFamily="34" charset="0"/>
                  </a:rPr>
                  <a:t>0</a:t>
                </a:r>
                <a:r>
                  <a:rPr lang="en-US" sz="2000" dirty="0">
                    <a:solidFill>
                      <a:srgbClr val="000000"/>
                    </a:solidFill>
                    <a:cs typeface="Arial" panose="020B0604020202020204" pitchFamily="34" charset="0"/>
                  </a:rPr>
                  <a:t> if </a:t>
                </a:r>
                <a14:m>
                  <m:oMath xmlns:m="http://schemas.openxmlformats.org/officeDocument/2006/math">
                    <m:sSubSup>
                      <m:sSubSupPr>
                        <m:ctrlPr>
                          <a:rPr lang="en-US" sz="2000" i="1">
                            <a:latin typeface="Cambria Math" panose="02040503050406030204" pitchFamily="18" charset="0"/>
                          </a:rPr>
                        </m:ctrlPr>
                      </m:sSubSupPr>
                      <m:e>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0.05</m:t>
                        </m:r>
                      </m:sub>
                      <m:sup>
                        <m:r>
                          <a:rPr lang="en-US" sz="2000" i="1">
                            <a:latin typeface="Cambria Math" panose="02040503050406030204" pitchFamily="18" charset="0"/>
                          </a:rPr>
                          <m:t>2</m:t>
                        </m:r>
                      </m:sup>
                    </m:sSubSup>
                    <m:r>
                      <a:rPr lang="en-US" sz="2000" b="0" i="1" smtClean="0">
                        <a:latin typeface="Cambria Math" panose="02040503050406030204" pitchFamily="18" charset="0"/>
                        <a:ea typeface="Cambria Math" panose="02040503050406030204" pitchFamily="18" charset="0"/>
                      </a:rPr>
                      <m:t>=5.991</m:t>
                    </m:r>
                  </m:oMath>
                </a14:m>
                <a:endParaRPr lang="en-US" sz="2000" dirty="0">
                  <a:solidFill>
                    <a:srgbClr val="000000"/>
                  </a:solidFill>
                  <a:cs typeface="Arial" panose="020B0604020202020204" pitchFamily="34" charset="0"/>
                </a:endParaRPr>
              </a:p>
              <a:p>
                <a:pPr>
                  <a:lnSpc>
                    <a:spcPct val="100000"/>
                  </a:lnSpc>
                  <a:spcBef>
                    <a:spcPts val="600"/>
                  </a:spcBef>
                  <a:spcAft>
                    <a:spcPts val="0"/>
                  </a:spcAft>
                </a:pPr>
                <a:r>
                  <a:rPr lang="en-US" sz="2000" dirty="0">
                    <a:solidFill>
                      <a:srgbClr val="000000"/>
                    </a:solidFill>
                    <a:cs typeface="Arial" panose="020B0604020202020204" pitchFamily="34" charset="0"/>
                  </a:rPr>
                  <a:t>Because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7.34</m:t>
                    </m:r>
                  </m:oMath>
                </a14:m>
                <a:r>
                  <a:rPr lang="en-US" sz="2000" dirty="0">
                    <a:solidFill>
                      <a:srgbClr val="000000"/>
                    </a:solidFill>
                    <a:cs typeface="Arial" panose="020B0604020202020204" pitchFamily="34" charset="0"/>
                  </a:rPr>
                  <a:t>, we reject the null hypothesis and </a:t>
                </a:r>
                <a:r>
                  <a:rPr lang="en-US" sz="2000" dirty="0">
                    <a:cs typeface="Arial" panose="020B0604020202020204" pitchFamily="34" charset="0"/>
                  </a:rPr>
                  <a:t>conclude that the introduction of the new product by company C will alter the historical market shares.</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395605"/>
                <a:ext cx="10484504" cy="2327280"/>
              </a:xfrm>
              <a:blipFill>
                <a:blip r:embed="rId5"/>
                <a:stretch>
                  <a:fillRect l="-1513" t="-2880" b="-6021"/>
                </a:stretch>
              </a:blipFill>
            </p:spPr>
            <p:txBody>
              <a:bodyPr/>
              <a:lstStyle/>
              <a:p>
                <a:r>
                  <a:rPr lang="en-US">
                    <a:noFill/>
                  </a:rPr>
                  <a:t> </a:t>
                </a:r>
              </a:p>
            </p:txBody>
          </p:sp>
        </mc:Fallback>
      </mc:AlternateContent>
    </p:spTree>
    <p:extLst>
      <p:ext uri="{BB962C8B-B14F-4D97-AF65-F5344CB8AC3E}">
        <p14:creationId xmlns:p14="http://schemas.microsoft.com/office/powerpoint/2010/main" val="3651128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84EFB-5DF2-5435-6A62-0E3D8535812A}"/>
              </a:ext>
            </a:extLst>
          </p:cNvPr>
          <p:cNvSpPr>
            <a:spLocks noGrp="1"/>
          </p:cNvSpPr>
          <p:nvPr>
            <p:ph type="title"/>
          </p:nvPr>
        </p:nvSpPr>
        <p:spPr/>
        <p:txBody>
          <a:bodyPr/>
          <a:lstStyle/>
          <a:p>
            <a:r>
              <a:rPr lang="en-US" sz="3200" dirty="0"/>
              <a:t>12.1 Bar Chart Comparison of Product Market Shares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13F2A43-62BC-280D-784B-342E9B63C49F}"/>
                  </a:ext>
                </a:extLst>
              </p:cNvPr>
              <p:cNvSpPr>
                <a:spLocks noGrp="1"/>
              </p:cNvSpPr>
              <p:nvPr>
                <p:ph type="body" sz="quarter" idx="15"/>
              </p:nvPr>
            </p:nvSpPr>
            <p:spPr>
              <a:xfrm>
                <a:off x="743576" y="1324306"/>
                <a:ext cx="10610223" cy="2104689"/>
              </a:xfrm>
            </p:spPr>
            <p:txBody>
              <a:bodyPr/>
              <a:lstStyle/>
              <a:p>
                <a:pPr>
                  <a:spcAft>
                    <a:spcPts val="0"/>
                  </a:spcAft>
                </a:pPr>
                <a:r>
                  <a:rPr lang="en-US" sz="2000" dirty="0"/>
                  <a:t>Using the historical market shares and the sample data, we can summarize how the product market shares are likely to change due to the introduction of the new product by company C.</a:t>
                </a:r>
              </a:p>
              <a:p>
                <a:pPr>
                  <a:spcAft>
                    <a:spcPts val="0"/>
                  </a:spcAft>
                  <a:tabLst>
                    <a:tab pos="2459038" algn="ctr"/>
                    <a:tab pos="5313363" algn="ctr"/>
                  </a:tabLst>
                </a:pPr>
                <a:r>
                  <a:rPr lang="en-US" sz="1800" b="1" dirty="0"/>
                  <a:t>Company	Historical Market Share	Sample Data Market Share</a:t>
                </a:r>
              </a:p>
              <a:p>
                <a:pPr>
                  <a:spcAft>
                    <a:spcPts val="0"/>
                  </a:spcAft>
                  <a:tabLst>
                    <a:tab pos="512763" algn="ctr"/>
                    <a:tab pos="2459038" algn="ctr"/>
                    <a:tab pos="5313363" algn="ctr"/>
                  </a:tabLst>
                </a:pPr>
                <a:r>
                  <a:rPr lang="en-US" sz="1800" dirty="0"/>
                  <a:t>	A	</a:t>
                </a:r>
                <a14:m>
                  <m:oMath xmlns:m="http://schemas.openxmlformats.org/officeDocument/2006/math">
                    <m:r>
                      <a:rPr lang="en-US" sz="1800" b="0" i="1" smtClean="0">
                        <a:solidFill>
                          <a:srgbClr val="000000"/>
                        </a:solidFill>
                        <a:latin typeface="Cambria Math" panose="02040503050406030204" pitchFamily="18" charset="0"/>
                        <a:cs typeface="Arial" panose="020B0604020202020204" pitchFamily="34" charset="0"/>
                      </a:rPr>
                      <m:t>30%</m:t>
                    </m:r>
                  </m:oMath>
                </a14:m>
                <a:r>
                  <a:rPr lang="en-US" sz="1800" dirty="0">
                    <a:solidFill>
                      <a:srgbClr val="000000"/>
                    </a:solidFill>
                    <a:latin typeface="Arial" panose="020B0604020202020204" pitchFamily="34" charset="0"/>
                    <a:cs typeface="Arial" panose="020B0604020202020204" pitchFamily="34" charset="0"/>
                  </a:rPr>
                  <a:t> 	</a:t>
                </a:r>
                <a14:m>
                  <m:oMath xmlns:m="http://schemas.openxmlformats.org/officeDocument/2006/math">
                    <m:r>
                      <a:rPr lang="en-US" sz="1800" b="0" i="1" smtClean="0">
                        <a:latin typeface="Cambria Math" panose="02040503050406030204" pitchFamily="18" charset="0"/>
                        <a:cs typeface="Arial" panose="020B0604020202020204" pitchFamily="34" charset="0"/>
                      </a:rPr>
                      <m:t>48/200</m:t>
                    </m:r>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24</m:t>
                    </m:r>
                    <m:r>
                      <a:rPr lang="en-US" sz="1800" i="1">
                        <a:latin typeface="Cambria Math" panose="02040503050406030204" pitchFamily="18" charset="0"/>
                        <a:cs typeface="Arial" panose="020B0604020202020204" pitchFamily="34" charset="0"/>
                      </a:rPr>
                      <m:t>%</m:t>
                    </m:r>
                  </m:oMath>
                </a14:m>
                <a:r>
                  <a:rPr lang="en-US" sz="1800" dirty="0">
                    <a:latin typeface="Arial" panose="020B0604020202020204" pitchFamily="34" charset="0"/>
                    <a:cs typeface="Arial" panose="020B0604020202020204" pitchFamily="34" charset="0"/>
                  </a:rPr>
                  <a:t> </a:t>
                </a:r>
                <a:endParaRPr lang="en-US" sz="1800" dirty="0"/>
              </a:p>
              <a:p>
                <a:pPr>
                  <a:spcAft>
                    <a:spcPts val="0"/>
                  </a:spcAft>
                  <a:tabLst>
                    <a:tab pos="512763" algn="ctr"/>
                    <a:tab pos="2459038" algn="ctr"/>
                    <a:tab pos="5313363" algn="ctr"/>
                  </a:tabLst>
                </a:pPr>
                <a:r>
                  <a:rPr lang="en-US" sz="1800" dirty="0"/>
                  <a:t>	B	</a:t>
                </a:r>
                <a14:m>
                  <m:oMath xmlns:m="http://schemas.openxmlformats.org/officeDocument/2006/math">
                    <m:r>
                      <a:rPr lang="en-US" sz="1800" b="0" i="0" smtClean="0">
                        <a:solidFill>
                          <a:srgbClr val="000000"/>
                        </a:solidFill>
                        <a:latin typeface="Cambria Math" panose="02040503050406030204" pitchFamily="18" charset="0"/>
                        <a:cs typeface="Arial" panose="020B0604020202020204" pitchFamily="34" charset="0"/>
                      </a:rPr>
                      <m:t>5</m:t>
                    </m:r>
                    <m:r>
                      <a:rPr lang="en-US" sz="1800" b="0" i="1" smtClean="0">
                        <a:solidFill>
                          <a:srgbClr val="000000"/>
                        </a:solidFill>
                        <a:latin typeface="Cambria Math" panose="02040503050406030204" pitchFamily="18" charset="0"/>
                        <a:cs typeface="Arial" panose="020B0604020202020204" pitchFamily="34" charset="0"/>
                      </a:rPr>
                      <m:t>0%</m:t>
                    </m:r>
                  </m:oMath>
                </a14:m>
                <a:r>
                  <a:rPr lang="en-US" sz="1800" dirty="0"/>
                  <a:t>	</a:t>
                </a:r>
                <a14:m>
                  <m:oMath xmlns:m="http://schemas.openxmlformats.org/officeDocument/2006/math">
                    <m:r>
                      <a:rPr lang="en-US" sz="1800" i="1" dirty="0" smtClean="0">
                        <a:latin typeface="Cambria Math" panose="02040503050406030204" pitchFamily="18" charset="0"/>
                        <a:cs typeface="Arial" panose="020B0604020202020204" pitchFamily="34" charset="0"/>
                      </a:rPr>
                      <m:t>9</m:t>
                    </m:r>
                    <m:r>
                      <a:rPr lang="en-US" sz="1800" i="1">
                        <a:latin typeface="Cambria Math" panose="02040503050406030204" pitchFamily="18" charset="0"/>
                        <a:cs typeface="Arial" panose="020B0604020202020204" pitchFamily="34" charset="0"/>
                      </a:rPr>
                      <m:t>8/200=4</m:t>
                    </m:r>
                    <m:r>
                      <a:rPr lang="en-US" sz="1800" b="0" i="1" smtClean="0">
                        <a:latin typeface="Cambria Math" panose="02040503050406030204" pitchFamily="18" charset="0"/>
                        <a:cs typeface="Arial" panose="020B0604020202020204" pitchFamily="34" charset="0"/>
                      </a:rPr>
                      <m:t>9</m:t>
                    </m:r>
                    <m:r>
                      <a:rPr lang="en-US" sz="1800" i="1">
                        <a:latin typeface="Cambria Math" panose="02040503050406030204" pitchFamily="18" charset="0"/>
                        <a:cs typeface="Arial" panose="020B0604020202020204" pitchFamily="34" charset="0"/>
                      </a:rPr>
                      <m:t>%</m:t>
                    </m:r>
                  </m:oMath>
                </a14:m>
                <a:endParaRPr lang="en-US" sz="1800" dirty="0"/>
              </a:p>
              <a:p>
                <a:pPr>
                  <a:spcAft>
                    <a:spcPts val="0"/>
                  </a:spcAft>
                  <a:tabLst>
                    <a:tab pos="512763" algn="ctr"/>
                    <a:tab pos="2459038" algn="ctr"/>
                    <a:tab pos="5313363" algn="ctr"/>
                  </a:tabLst>
                </a:pPr>
                <a:r>
                  <a:rPr lang="en-US" sz="1800" dirty="0"/>
                  <a:t>	C	</a:t>
                </a:r>
                <a14:m>
                  <m:oMath xmlns:m="http://schemas.openxmlformats.org/officeDocument/2006/math">
                    <m:r>
                      <a:rPr lang="en-US" sz="1800" b="0" i="0" smtClean="0">
                        <a:solidFill>
                          <a:srgbClr val="000000"/>
                        </a:solidFill>
                        <a:latin typeface="Cambria Math" panose="02040503050406030204" pitchFamily="18" charset="0"/>
                        <a:cs typeface="Arial" panose="020B0604020202020204" pitchFamily="34" charset="0"/>
                      </a:rPr>
                      <m:t>2</m:t>
                    </m:r>
                    <m:r>
                      <a:rPr lang="en-US" sz="1800" b="0" i="1" smtClean="0">
                        <a:solidFill>
                          <a:srgbClr val="000000"/>
                        </a:solidFill>
                        <a:latin typeface="Cambria Math" panose="02040503050406030204" pitchFamily="18" charset="0"/>
                        <a:cs typeface="Arial" panose="020B0604020202020204" pitchFamily="34" charset="0"/>
                      </a:rPr>
                      <m:t>0%</m:t>
                    </m:r>
                  </m:oMath>
                </a14:m>
                <a:r>
                  <a:rPr lang="en-US" sz="1800" dirty="0"/>
                  <a:t>	</a:t>
                </a:r>
                <a14:m>
                  <m:oMath xmlns:m="http://schemas.openxmlformats.org/officeDocument/2006/math">
                    <m:r>
                      <a:rPr lang="en-US" sz="1800" i="1" dirty="0" smtClean="0">
                        <a:latin typeface="Cambria Math" panose="02040503050406030204" pitchFamily="18" charset="0"/>
                        <a:cs typeface="Arial" panose="020B0604020202020204" pitchFamily="34" charset="0"/>
                      </a:rPr>
                      <m:t>5</m:t>
                    </m:r>
                    <m:r>
                      <a:rPr lang="en-US" sz="1800" b="0" i="1" dirty="0" smtClean="0">
                        <a:latin typeface="Cambria Math" panose="02040503050406030204" pitchFamily="18" charset="0"/>
                        <a:cs typeface="Arial" panose="020B0604020202020204" pitchFamily="34" charset="0"/>
                      </a:rPr>
                      <m:t>4</m:t>
                    </m:r>
                    <m:r>
                      <a:rPr lang="en-US" sz="1800" i="1">
                        <a:latin typeface="Cambria Math" panose="02040503050406030204" pitchFamily="18" charset="0"/>
                        <a:cs typeface="Arial" panose="020B0604020202020204" pitchFamily="34" charset="0"/>
                      </a:rPr>
                      <m:t>/200=</m:t>
                    </m:r>
                    <m:r>
                      <a:rPr lang="en-US" sz="1800" b="0" i="1" smtClean="0">
                        <a:latin typeface="Cambria Math" panose="02040503050406030204" pitchFamily="18" charset="0"/>
                        <a:cs typeface="Arial" panose="020B0604020202020204" pitchFamily="34" charset="0"/>
                      </a:rPr>
                      <m:t>27</m:t>
                    </m:r>
                    <m:r>
                      <a:rPr lang="en-US" sz="1800" i="1">
                        <a:latin typeface="Cambria Math" panose="02040503050406030204" pitchFamily="18" charset="0"/>
                        <a:cs typeface="Arial" panose="020B0604020202020204" pitchFamily="34" charset="0"/>
                      </a:rPr>
                      <m:t>%</m:t>
                    </m:r>
                  </m:oMath>
                </a14:m>
                <a:endParaRPr lang="en-US" sz="1800" dirty="0"/>
              </a:p>
            </p:txBody>
          </p:sp>
        </mc:Choice>
        <mc:Fallback xmlns="">
          <p:sp>
            <p:nvSpPr>
              <p:cNvPr id="3" name="Text Placeholder 2">
                <a:extLst>
                  <a:ext uri="{FF2B5EF4-FFF2-40B4-BE49-F238E27FC236}">
                    <a16:creationId xmlns:a16="http://schemas.microsoft.com/office/drawing/2014/main" id="{E13F2A43-62BC-280D-784B-342E9B63C49F}"/>
                  </a:ext>
                </a:extLst>
              </p:cNvPr>
              <p:cNvSpPr>
                <a:spLocks noGrp="1" noRot="1" noChangeAspect="1" noMove="1" noResize="1" noEditPoints="1" noAdjustHandles="1" noChangeArrowheads="1" noChangeShapeType="1" noTextEdit="1"/>
              </p:cNvSpPr>
              <p:nvPr>
                <p:ph type="body" sz="quarter" idx="15"/>
              </p:nvPr>
            </p:nvSpPr>
            <p:spPr>
              <a:xfrm>
                <a:off x="743576" y="1324306"/>
                <a:ext cx="10610223" cy="2104689"/>
              </a:xfrm>
              <a:blipFill>
                <a:blip r:embed="rId3"/>
                <a:stretch>
                  <a:fillRect l="-1494" t="-3478" b="-2609"/>
                </a:stretch>
              </a:blipFill>
            </p:spPr>
            <p:txBody>
              <a:bodyPr/>
              <a:lstStyle/>
              <a:p>
                <a:r>
                  <a:rPr lang="en-US">
                    <a:noFill/>
                  </a:rPr>
                  <a:t> </a:t>
                </a:r>
              </a:p>
            </p:txBody>
          </p:sp>
        </mc:Fallback>
      </mc:AlternateContent>
      <p:sp>
        <p:nvSpPr>
          <p:cNvPr id="11" name="Text Placeholder 10">
            <a:extLst>
              <a:ext uri="{FF2B5EF4-FFF2-40B4-BE49-F238E27FC236}">
                <a16:creationId xmlns:a16="http://schemas.microsoft.com/office/drawing/2014/main" id="{7BD6E659-6B11-8F3F-E1FC-2DFFF0C895D1}"/>
              </a:ext>
            </a:extLst>
          </p:cNvPr>
          <p:cNvSpPr>
            <a:spLocks noGrp="1"/>
          </p:cNvSpPr>
          <p:nvPr>
            <p:ph type="body" sz="quarter" idx="17"/>
          </p:nvPr>
        </p:nvSpPr>
        <p:spPr>
          <a:xfrm>
            <a:off x="743576" y="3463982"/>
            <a:ext cx="5854294" cy="2104689"/>
          </a:xfrm>
        </p:spPr>
        <p:txBody>
          <a:bodyPr/>
          <a:lstStyle/>
          <a:p>
            <a:r>
              <a:rPr lang="en-US" sz="2000" dirty="0"/>
              <a:t>The historical market shares and the sample market shares are shown in the bar chart to the right.</a:t>
            </a:r>
          </a:p>
          <a:p>
            <a:pPr marL="685800" indent="-342900">
              <a:buFont typeface="Arial" panose="020B0604020202020204" pitchFamily="34" charset="0"/>
              <a:buChar char="•"/>
            </a:pPr>
            <a:r>
              <a:rPr lang="en-US" sz="2000" dirty="0"/>
              <a:t>Company C will gain market share at the expense of company A.</a:t>
            </a:r>
          </a:p>
          <a:p>
            <a:pPr marL="685800" indent="-342900">
              <a:buFont typeface="Arial" panose="020B0604020202020204" pitchFamily="34" charset="0"/>
              <a:buChar char="•"/>
            </a:pPr>
            <a:r>
              <a:rPr lang="en-US" sz="2000" dirty="0"/>
              <a:t>Market share of company B will remain relatively steady.</a:t>
            </a:r>
          </a:p>
          <a:p>
            <a:endParaRPr lang="en-US" sz="2000" dirty="0"/>
          </a:p>
        </p:txBody>
      </p:sp>
      <p:pic>
        <p:nvPicPr>
          <p:cNvPr id="6" name="Picture Placeholder 5" descr="A clustered bar chart with three clusters of bars plots probability versus company. Each cluster consists of two vertical bars. The horizontal axis is labeled “Company” and lists A, B, and C. The vertical axis is labeled “Probability” and ranges from 0 to 0.6 with tickmarks in increments of 0.1. The data from the graph, presented in the format, Company: Historical market share, after new product C, are as follows. A: 0.3, 0.23. B: 0.5, 0.49. C: 0.2, 0.26. All data are approximate.&#10;">
            <a:extLst>
              <a:ext uri="{FF2B5EF4-FFF2-40B4-BE49-F238E27FC236}">
                <a16:creationId xmlns:a16="http://schemas.microsoft.com/office/drawing/2014/main" id="{D3C45BFD-644B-F0B3-C6E2-B663EA83677C}"/>
              </a:ext>
            </a:extLst>
          </p:cNvPr>
          <p:cNvPicPr>
            <a:picLocks noGrp="1" noChangeAspect="1"/>
          </p:cNvPicPr>
          <p:nvPr>
            <p:ph type="pic" sz="quarter" idx="16"/>
          </p:nvPr>
        </p:nvPicPr>
        <p:blipFill rotWithShape="1">
          <a:blip r:embed="rId4"/>
          <a:srcRect t="12" b="12"/>
          <a:stretch/>
        </p:blipFill>
        <p:spPr>
          <a:xfrm>
            <a:off x="7115344" y="2490956"/>
            <a:ext cx="4135982" cy="3468414"/>
          </a:xfrm>
        </p:spPr>
      </p:pic>
    </p:spTree>
    <p:extLst>
      <p:ext uri="{BB962C8B-B14F-4D97-AF65-F5344CB8AC3E}">
        <p14:creationId xmlns:p14="http://schemas.microsoft.com/office/powerpoint/2010/main" val="3258699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25894E"/>
                </a:solidFill>
              </a:rPr>
              <a:t>12.1 Excel: Conduct a Goodness-of-Fit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43026"/>
                <a:ext cx="10711543" cy="4386262"/>
              </a:xfrm>
            </p:spPr>
            <p:txBody>
              <a:bodyPr/>
              <a:lstStyle/>
              <a:p>
                <a:pPr>
                  <a:lnSpc>
                    <a:spcPct val="100000"/>
                  </a:lnSpc>
                </a:pPr>
                <a:r>
                  <a:rPr lang="en-US" sz="2000" dirty="0">
                    <a:cs typeface="Arial" panose="020B0604020202020204" pitchFamily="34" charset="0"/>
                  </a:rPr>
                  <a:t>Excel can be used to conduct a goodness-of-fit test for the market share study conducted by Scott Marketing Research.</a:t>
                </a:r>
              </a:p>
              <a:p>
                <a:pPr marL="914400" indent="-342900">
                  <a:lnSpc>
                    <a:spcPct val="100000"/>
                  </a:lnSpc>
                  <a:spcBef>
                    <a:spcPts val="600"/>
                  </a:spcBef>
                  <a:buFont typeface="Arial" panose="020B0604020202020204" pitchFamily="34" charset="0"/>
                  <a:buChar char="•"/>
                </a:pPr>
                <a:r>
                  <a:rPr lang="en-US" sz="2000" dirty="0">
                    <a:cs typeface="Arial" panose="020B0604020202020204" pitchFamily="34" charset="0"/>
                  </a:rPr>
                  <a:t>The Excel worksheet for this test is shown in the next slide.</a:t>
                </a:r>
              </a:p>
              <a:p>
                <a:pPr>
                  <a:lnSpc>
                    <a:spcPct val="100000"/>
                  </a:lnSpc>
                </a:pPr>
                <a:r>
                  <a:rPr lang="en-US" sz="2000" b="1" dirty="0">
                    <a:cs typeface="Arial" panose="020B0604020202020204" pitchFamily="34" charset="0"/>
                  </a:rPr>
                  <a:t>Enter/Access Data</a:t>
                </a:r>
                <a:r>
                  <a:rPr lang="en-US" sz="2000" dirty="0">
                    <a:cs typeface="Arial" panose="020B0604020202020204" pitchFamily="34" charset="0"/>
                  </a:rPr>
                  <a:t>: Open the file </a:t>
                </a:r>
                <a:r>
                  <a:rPr lang="en-US" sz="2000" i="1" dirty="0">
                    <a:cs typeface="Arial" panose="020B0604020202020204" pitchFamily="34" charset="0"/>
                  </a:rPr>
                  <a:t>research</a:t>
                </a:r>
                <a:r>
                  <a:rPr lang="en-US" sz="2000" dirty="0">
                    <a:cs typeface="Arial" panose="020B0604020202020204" pitchFamily="34" charset="0"/>
                  </a:rPr>
                  <a:t>. The data are in cells B2:B201. Values for the hypothesized category probabilities were entered into cells D10:D12.</a:t>
                </a:r>
              </a:p>
              <a:p>
                <a:pPr>
                  <a:lnSpc>
                    <a:spcPct val="100000"/>
                  </a:lnSpc>
                </a:pPr>
                <a:r>
                  <a:rPr lang="en-US" sz="2000" b="1" dirty="0">
                    <a:cs typeface="Arial" panose="020B0604020202020204" pitchFamily="34" charset="0"/>
                  </a:rPr>
                  <a:t>Apply Tools</a:t>
                </a:r>
                <a:r>
                  <a:rPr lang="en-US" sz="2000" dirty="0">
                    <a:cs typeface="Arial" panose="020B0604020202020204" pitchFamily="34" charset="0"/>
                  </a:rPr>
                  <a:t>: Cells D3:E7 show the results of Excel’s Recommended PivotTable tool (see Section 2.1 for details) to construct a frequency distribution for the purchase preference data.</a:t>
                </a:r>
              </a:p>
              <a:p>
                <a:pPr>
                  <a:lnSpc>
                    <a:spcPct val="100000"/>
                  </a:lnSpc>
                </a:pPr>
                <a:r>
                  <a:rPr lang="en-US" sz="2000" b="1" dirty="0">
                    <a:cs typeface="Arial" panose="020B0604020202020204" pitchFamily="34" charset="0"/>
                  </a:rPr>
                  <a:t>Enter Functions and Formulas</a:t>
                </a:r>
                <a:r>
                  <a:rPr lang="en-US" sz="2000" dirty="0">
                    <a:cs typeface="Arial" panose="020B0604020202020204" pitchFamily="34" charset="0"/>
                  </a:rPr>
                  <a:t>: The Excel formulas in cells G4:G6 were used to compute the expected frequencies for each category.</a:t>
                </a:r>
              </a:p>
              <a:p>
                <a:r>
                  <a:rPr lang="en-US" sz="2000" dirty="0">
                    <a:cs typeface="Arial" panose="020B0604020202020204" pitchFamily="34" charset="0"/>
                  </a:rPr>
                  <a:t>Then, in cell E9, Excel’s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𝐶𝐻𝐼𝑆𝑄</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𝑇𝐸𝑆𝑇</m:t>
                    </m:r>
                    <m:r>
                      <a:rPr lang="en-US" sz="2000" i="1" dirty="0" smtClean="0">
                        <a:latin typeface="Cambria Math" panose="02040503050406030204" pitchFamily="18" charset="0"/>
                        <a:cs typeface="Arial" panose="020B0604020202020204" pitchFamily="34" charset="0"/>
                      </a:rPr>
                      <m:t>(</m:t>
                    </m:r>
                    <m:r>
                      <a:rPr lang="en-US" sz="2000" i="1" dirty="0" err="1" smtClean="0">
                        <a:latin typeface="Cambria Math" panose="02040503050406030204" pitchFamily="18" charset="0"/>
                        <a:cs typeface="Arial" panose="020B0604020202020204" pitchFamily="34" charset="0"/>
                      </a:rPr>
                      <m:t>𝑎𝑐𝑡𝑢𝑎𝑙</m:t>
                    </m:r>
                    <m:r>
                      <a:rPr lang="en-US" sz="2000" i="1" dirty="0" err="1" smtClean="0">
                        <a:latin typeface="Cambria Math" panose="02040503050406030204" pitchFamily="18" charset="0"/>
                        <a:cs typeface="Arial" panose="020B0604020202020204" pitchFamily="34" charset="0"/>
                      </a:rPr>
                      <m:t>_</m:t>
                    </m:r>
                    <m:r>
                      <a:rPr lang="en-US" sz="2000" i="1" dirty="0" err="1" smtClean="0">
                        <a:latin typeface="Cambria Math" panose="02040503050406030204" pitchFamily="18" charset="0"/>
                        <a:cs typeface="Arial" panose="020B0604020202020204" pitchFamily="34" charset="0"/>
                      </a:rPr>
                      <m:t>𝑟𝑎𝑛𝑔𝑒</m:t>
                    </m:r>
                    <m:r>
                      <a:rPr lang="en-US" sz="2000" i="1" dirty="0" err="1" smtClean="0">
                        <a:latin typeface="Cambria Math" panose="02040503050406030204" pitchFamily="18" charset="0"/>
                        <a:cs typeface="Arial" panose="020B0604020202020204" pitchFamily="34" charset="0"/>
                      </a:rPr>
                      <m:t>,</m:t>
                    </m:r>
                    <m:r>
                      <a:rPr lang="en-US" sz="2000" i="1" dirty="0" err="1" smtClean="0">
                        <a:latin typeface="Cambria Math" panose="02040503050406030204" pitchFamily="18" charset="0"/>
                        <a:cs typeface="Arial" panose="020B0604020202020204" pitchFamily="34" charset="0"/>
                      </a:rPr>
                      <m:t>𝑒𝑥𝑝𝑒𝑐𝑡𝑒𝑑</m:t>
                    </m:r>
                    <m:r>
                      <a:rPr lang="en-US" sz="2000" i="1" dirty="0" err="1" smtClean="0">
                        <a:latin typeface="Cambria Math" panose="02040503050406030204" pitchFamily="18" charset="0"/>
                        <a:cs typeface="Arial" panose="020B0604020202020204" pitchFamily="34" charset="0"/>
                      </a:rPr>
                      <m:t>_</m:t>
                    </m:r>
                    <m:r>
                      <a:rPr lang="en-US" sz="2000" i="1" dirty="0" err="1"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function can be used to compute the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oMath>
                </a14:m>
                <a:r>
                  <a:rPr lang="en-US" sz="2000" dirty="0">
                    <a:cs typeface="Arial" panose="020B0604020202020204" pitchFamily="34" charset="0"/>
                  </a:rPr>
                  <a:t>-value for a goodness-of-fit test.</a:t>
                </a:r>
              </a:p>
              <a:p>
                <a:pPr marL="914400" indent="-342900">
                  <a:lnSpc>
                    <a:spcPct val="100000"/>
                  </a:lnSpc>
                  <a:spcBef>
                    <a:spcPts val="600"/>
                  </a:spcBef>
                  <a:buFont typeface="Arial" panose="020B0604020202020204" pitchFamily="34" charset="0"/>
                  <a:buChar char="•"/>
                </a:pPr>
                <a:r>
                  <a:rPr lang="en-US" sz="2000" dirty="0">
                    <a:cs typeface="Arial" panose="020B0604020202020204" pitchFamily="34" charset="0"/>
                  </a:rPr>
                  <a:t>Where </a:t>
                </a:r>
                <a14:m>
                  <m:oMath xmlns:m="http://schemas.openxmlformats.org/officeDocument/2006/math">
                    <m:r>
                      <a:rPr lang="en-US" sz="2000" i="1" dirty="0" smtClean="0">
                        <a:latin typeface="Cambria Math" panose="02040503050406030204" pitchFamily="18" charset="0"/>
                        <a:cs typeface="Arial" panose="020B0604020202020204" pitchFamily="34" charset="0"/>
                      </a:rPr>
                      <m:t>𝑎𝑐𝑡𝑢𝑎𝑙</m:t>
                    </m:r>
                    <m:r>
                      <a:rPr lang="en-US" sz="2000" i="1" dirty="0" smtClean="0">
                        <a:latin typeface="Cambria Math" panose="02040503050406030204" pitchFamily="18" charset="0"/>
                        <a:cs typeface="Arial" panose="020B0604020202020204" pitchFamily="34" charset="0"/>
                      </a:rPr>
                      <m:t>_</m:t>
                    </m:r>
                    <m:r>
                      <a:rPr lang="en-US" sz="2000" i="1" dirty="0"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𝐸</m:t>
                    </m:r>
                    <m:r>
                      <a:rPr lang="en-US" sz="2000" i="1" dirty="0" smtClean="0">
                        <a:latin typeface="Cambria Math" panose="02040503050406030204" pitchFamily="18" charset="0"/>
                        <a:cs typeface="Arial" panose="020B0604020202020204" pitchFamily="34" charset="0"/>
                      </a:rPr>
                      <m:t>4:</m:t>
                    </m:r>
                    <m:r>
                      <a:rPr lang="en-US" sz="2000" i="1" dirty="0" smtClean="0">
                        <a:latin typeface="Cambria Math" panose="02040503050406030204" pitchFamily="18" charset="0"/>
                        <a:cs typeface="Arial" panose="020B0604020202020204" pitchFamily="34" charset="0"/>
                      </a:rPr>
                      <m:t>𝐸</m:t>
                    </m:r>
                    <m:r>
                      <a:rPr lang="en-US" sz="2000" i="1" dirty="0" smtClean="0">
                        <a:latin typeface="Cambria Math" panose="02040503050406030204" pitchFamily="18" charset="0"/>
                        <a:cs typeface="Arial" panose="020B0604020202020204" pitchFamily="34" charset="0"/>
                      </a:rPr>
                      <m:t>6</m:t>
                    </m:r>
                  </m:oMath>
                </a14:m>
                <a:r>
                  <a:rPr lang="en-US" sz="2000" dirty="0">
                    <a:cs typeface="Arial" panose="020B0604020202020204" pitchFamily="34" charset="0"/>
                  </a:rPr>
                  <a:t>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𝑒𝑥𝑝𝑒𝑐𝑡𝑒𝑑</m:t>
                    </m:r>
                    <m:r>
                      <a:rPr lang="en-US" sz="2000" i="1" dirty="0" smtClean="0">
                        <a:latin typeface="Cambria Math" panose="02040503050406030204" pitchFamily="18" charset="0"/>
                        <a:cs typeface="Arial" panose="020B0604020202020204" pitchFamily="34" charset="0"/>
                      </a:rPr>
                      <m:t>_</m:t>
                    </m:r>
                    <m:r>
                      <a:rPr lang="en-US" sz="2000" i="1" dirty="0"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𝐺</m:t>
                    </m:r>
                    <m:r>
                      <a:rPr lang="en-US" sz="2000" i="1" dirty="0" smtClean="0">
                        <a:latin typeface="Cambria Math" panose="02040503050406030204" pitchFamily="18" charset="0"/>
                        <a:cs typeface="Arial" panose="020B0604020202020204" pitchFamily="34" charset="0"/>
                      </a:rPr>
                      <m:t>4:</m:t>
                    </m:r>
                    <m:r>
                      <a:rPr lang="en-US" sz="2000" i="1" dirty="0" smtClean="0">
                        <a:latin typeface="Cambria Math" panose="02040503050406030204" pitchFamily="18" charset="0"/>
                        <a:cs typeface="Arial" panose="020B0604020202020204" pitchFamily="34" charset="0"/>
                      </a:rPr>
                      <m:t>𝐺</m:t>
                    </m:r>
                    <m:r>
                      <a:rPr lang="en-US" sz="2000" i="1" dirty="0" smtClean="0">
                        <a:latin typeface="Cambria Math" panose="02040503050406030204" pitchFamily="18" charset="0"/>
                        <a:cs typeface="Arial" panose="020B0604020202020204" pitchFamily="34" charset="0"/>
                      </a:rPr>
                      <m:t>6</m:t>
                    </m:r>
                  </m:oMath>
                </a14:m>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343026"/>
                <a:ext cx="10711543" cy="4386262"/>
              </a:xfrm>
              <a:blipFill>
                <a:blip r:embed="rId2"/>
                <a:stretch>
                  <a:fillRect l="-1422" t="-1667" r="-1308" b="-2083"/>
                </a:stretch>
              </a:blipFill>
            </p:spPr>
            <p:txBody>
              <a:bodyPr/>
              <a:lstStyle/>
              <a:p>
                <a:r>
                  <a:rPr lang="en-US">
                    <a:noFill/>
                  </a:rPr>
                  <a:t> </a:t>
                </a:r>
              </a:p>
            </p:txBody>
          </p:sp>
        </mc:Fallback>
      </mc:AlternateContent>
    </p:spTree>
    <p:extLst>
      <p:ext uri="{BB962C8B-B14F-4D97-AF65-F5344CB8AC3E}">
        <p14:creationId xmlns:p14="http://schemas.microsoft.com/office/powerpoint/2010/main" val="1514544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0C545-CB2C-73A2-9133-D7A4358941F2}"/>
              </a:ext>
            </a:extLst>
          </p:cNvPr>
          <p:cNvSpPr>
            <a:spLocks noGrp="1"/>
          </p:cNvSpPr>
          <p:nvPr>
            <p:ph type="title"/>
          </p:nvPr>
        </p:nvSpPr>
        <p:spPr/>
        <p:txBody>
          <a:bodyPr/>
          <a:lstStyle/>
          <a:p>
            <a:r>
              <a:rPr lang="en-US" dirty="0">
                <a:solidFill>
                  <a:srgbClr val="25894E"/>
                </a:solidFill>
              </a:rPr>
              <a:t>12.1 Excel Worksheet for the Goodness-of-Fit Test</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05CCCD2-BD55-AD0A-E415-55DA5CE454C8}"/>
                  </a:ext>
                </a:extLst>
              </p:cNvPr>
              <p:cNvSpPr>
                <a:spLocks noGrp="1"/>
              </p:cNvSpPr>
              <p:nvPr>
                <p:ph type="body" sz="quarter" idx="15"/>
              </p:nvPr>
            </p:nvSpPr>
            <p:spPr>
              <a:xfrm>
                <a:off x="743578" y="1292426"/>
                <a:ext cx="10610222" cy="672105"/>
              </a:xfrm>
            </p:spPr>
            <p:txBody>
              <a:bodyPr/>
              <a:lstStyle/>
              <a:p>
                <a:r>
                  <a:rPr lang="en-US" sz="2000" dirty="0"/>
                  <a:t>The worksheet shows </a:t>
                </a:r>
                <a14:m>
                  <m:oMath xmlns:m="http://schemas.openxmlformats.org/officeDocument/2006/math">
                    <m:r>
                      <a:rPr lang="en-US" sz="2000" i="1" dirty="0" smtClean="0">
                        <a:latin typeface="Cambria Math" panose="02040503050406030204" pitchFamily="18" charset="0"/>
                      </a:rPr>
                      <m:t>𝑝</m:t>
                    </m:r>
                  </m:oMath>
                </a14:m>
                <a:r>
                  <a:rPr lang="en-US" sz="2000" dirty="0"/>
                  <a:t>-value</a:t>
                </a:r>
                <a14:m>
                  <m:oMath xmlns:m="http://schemas.openxmlformats.org/officeDocument/2006/math">
                    <m:r>
                      <a:rPr lang="en-US" sz="2000" b="0" i="0" dirty="0" smtClean="0">
                        <a:latin typeface="Cambria Math" panose="02040503050406030204" pitchFamily="18" charset="0"/>
                      </a:rPr>
                      <m:t> </m:t>
                    </m:r>
                    <m:r>
                      <a:rPr lang="en-US" sz="2000" i="1" dirty="0" smtClean="0">
                        <a:latin typeface="Cambria Math" panose="02040503050406030204" pitchFamily="18" charset="0"/>
                      </a:rPr>
                      <m:t>=0.0255</m:t>
                    </m:r>
                  </m:oMath>
                </a14:m>
                <a:r>
                  <a:rPr lang="en-US" sz="2000" dirty="0"/>
                  <a:t>. With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𝛼</m:t>
                    </m:r>
                    <m:r>
                      <a:rPr lang="en-US" sz="2000" b="0" i="1" dirty="0" smtClean="0">
                        <a:latin typeface="Cambria Math" panose="02040503050406030204" pitchFamily="18" charset="0"/>
                        <a:ea typeface="Cambria Math" panose="02040503050406030204" pitchFamily="18" charset="0"/>
                      </a:rPr>
                      <m:t>=0.05</m:t>
                    </m:r>
                  </m:oMath>
                </a14:m>
                <a:r>
                  <a:rPr lang="en-US" sz="2000" dirty="0"/>
                  <a:t>, we reject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oMath>
                </a14:m>
                <a:r>
                  <a:rPr lang="en-US" sz="2000" dirty="0"/>
                  <a:t> and conclude that the introduction of the new product by company C will change the current market share structure.</a:t>
                </a:r>
              </a:p>
            </p:txBody>
          </p:sp>
        </mc:Choice>
        <mc:Fallback xmlns="">
          <p:sp>
            <p:nvSpPr>
              <p:cNvPr id="3" name="Text Placeholder 2">
                <a:extLst>
                  <a:ext uri="{FF2B5EF4-FFF2-40B4-BE49-F238E27FC236}">
                    <a16:creationId xmlns:a16="http://schemas.microsoft.com/office/drawing/2014/main" id="{305CCCD2-BD55-AD0A-E415-55DA5CE454C8}"/>
                  </a:ext>
                </a:extLst>
              </p:cNvPr>
              <p:cNvSpPr>
                <a:spLocks noGrp="1" noRot="1" noChangeAspect="1" noMove="1" noResize="1" noEditPoints="1" noAdjustHandles="1" noChangeArrowheads="1" noChangeShapeType="1" noTextEdit="1"/>
              </p:cNvSpPr>
              <p:nvPr>
                <p:ph type="body" sz="quarter" idx="15"/>
              </p:nvPr>
            </p:nvSpPr>
            <p:spPr>
              <a:xfrm>
                <a:off x="743578" y="1292426"/>
                <a:ext cx="10610222" cy="672105"/>
              </a:xfrm>
              <a:blipFill>
                <a:blip r:embed="rId2"/>
                <a:stretch>
                  <a:fillRect l="-1493" t="-10909" b="-15455"/>
                </a:stretch>
              </a:blipFill>
            </p:spPr>
            <p:txBody>
              <a:bodyPr/>
              <a:lstStyle/>
              <a:p>
                <a:r>
                  <a:rPr lang="en-US">
                    <a:noFill/>
                  </a:rPr>
                  <a:t> </a:t>
                </a:r>
              </a:p>
            </p:txBody>
          </p:sp>
        </mc:Fallback>
      </mc:AlternateContent>
      <p:pic>
        <p:nvPicPr>
          <p:cNvPr id="6" name="Picture Placeholder 5" descr="Two screenshots show Excel spreadsheets for calculating expected frequency and p-value. In both the spreadsheets, column A is labeled customer and column B is labeled preference. The entries in rows 2 through 201 are as follows. Row 2. Customer: 1. Preference: B. Row 3. Customer: 2. Preference: A. Row 4. Customer: 3. Preference: C. Row 5. Customer: 4. Preference: C. Row 6. Customer: 5. Preference: C. Row 7. Customer: 6. Preference: A. Row 8. Customer: 7. Preference: A. Row 9. Customer: 8. Preference: A. Row 10. Customer: 9. Preference: C. Row 200. Customer: 199. Preference: C. Row 201. Customer: 200. Preference: C. In the first spreadsheet, column D is labeled category, column E is labeled observed frequencies, column F is labeled hypothesized probability, and column G is labeled expected frequency. The entries in rows 4 through 7 are as follows. Row 4. Category: A. Observed frequencies: 48. Hypothesized probability: 0.3. Expected frequency: =F 4*dollar sign E dollar sign 7. Row 5. Category: B. Observed frequencies: 98. Hypothesized probability: 0.5. Expected frequency: =F 5*dollar sign E dollar sign 7. Row 6. Category: C. Observed frequencies: 54. Hypothesized probability: 0.2. Expected frequency: =F 6*dollar sign E dollar sign 7. Row 7. Category: Grand total. Observed frequencies: 200. The other cell entries are as follows. D 9: p-value. E 9: =CHISQ.TEST(E 4:E 6,G 4:G 6). In the second spreadsheet, column D is labeled category, column E is labeled observed frequencies, column F is labeled hypothesized probability, and column G is labeled expected frequency. The entries in rows 4 through 7 are as follows. Row 4. Category: A. Observed frequencies: 48. Hypothesized probability: 0.3. Expected frequency: 60. Row 5. Category: B. Observed frequencies: 98. Hypothesized probability: 0.5. Expected frequency: 100. Row 6. Category: C. Observed frequencies: 54. Hypothesized probability: 0.2. Expected frequency: 40. Row 7. Category: Grand total. Observed frequencies: 200. The other cell entries are as follows. D 9: p-value. E 9: 0.0255.">
            <a:extLst>
              <a:ext uri="{FF2B5EF4-FFF2-40B4-BE49-F238E27FC236}">
                <a16:creationId xmlns:a16="http://schemas.microsoft.com/office/drawing/2014/main" id="{0EDF11A1-6299-9849-241C-6D712C54B3B0}"/>
              </a:ext>
            </a:extLst>
          </p:cNvPr>
          <p:cNvPicPr>
            <a:picLocks noGrp="1" noChangeAspect="1"/>
          </p:cNvPicPr>
          <p:nvPr>
            <p:ph type="pic" sz="quarter" idx="16"/>
          </p:nvPr>
        </p:nvPicPr>
        <p:blipFill>
          <a:blip r:embed="rId3"/>
          <a:srcRect l="60" r="60"/>
          <a:stretch/>
        </p:blipFill>
        <p:spPr>
          <a:xfrm>
            <a:off x="1606153" y="2069709"/>
            <a:ext cx="8979693" cy="3650392"/>
          </a:xfrm>
          <a:ln>
            <a:solidFill>
              <a:srgbClr val="000000"/>
            </a:solidFill>
          </a:ln>
        </p:spPr>
      </p:pic>
    </p:spTree>
    <p:extLst>
      <p:ext uri="{BB962C8B-B14F-4D97-AF65-F5344CB8AC3E}">
        <p14:creationId xmlns:p14="http://schemas.microsoft.com/office/powerpoint/2010/main" val="1520888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12.2 Test of Independence</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64459"/>
            <a:ext cx="10711543" cy="4421981"/>
          </a:xfrm>
        </p:spPr>
        <p:txBody>
          <a:bodyPr/>
          <a:lstStyle/>
          <a:p>
            <a:pPr>
              <a:lnSpc>
                <a:spcPct val="100000"/>
              </a:lnSpc>
            </a:pPr>
            <a:r>
              <a:rPr lang="en-US" sz="2000" dirty="0">
                <a:solidFill>
                  <a:srgbClr val="000000"/>
                </a:solidFill>
                <a:cs typeface="Arial" panose="020B0604020202020204" pitchFamily="34" charset="0"/>
              </a:rPr>
              <a:t>In this section, we show how the chi-square </a:t>
            </a:r>
            <a:r>
              <a:rPr lang="en-US" sz="2000" b="1" dirty="0">
                <a:solidFill>
                  <a:srgbClr val="000000"/>
                </a:solidFill>
                <a:cs typeface="Arial" panose="020B0604020202020204" pitchFamily="34" charset="0"/>
              </a:rPr>
              <a:t>test of independence </a:t>
            </a:r>
            <a:r>
              <a:rPr lang="en-US" sz="2000" dirty="0">
                <a:solidFill>
                  <a:srgbClr val="000000"/>
                </a:solidFill>
                <a:cs typeface="Arial" panose="020B0604020202020204" pitchFamily="34" charset="0"/>
              </a:rPr>
              <a:t>can be used to determine whether two categorical variables sampled from one population are independent. </a:t>
            </a:r>
          </a:p>
          <a:p>
            <a:pPr marL="9144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Like the goodness-of-fit test, the test of independence is also based on comparing observed and expected frequencies. </a:t>
            </a:r>
          </a:p>
          <a:p>
            <a:pPr>
              <a:lnSpc>
                <a:spcPct val="100000"/>
              </a:lnSpc>
            </a:pPr>
            <a:r>
              <a:rPr lang="en-US" sz="2000" dirty="0">
                <a:solidFill>
                  <a:srgbClr val="000000"/>
                </a:solidFill>
                <a:cs typeface="Arial" panose="020B0604020202020204" pitchFamily="34" charset="0"/>
              </a:rPr>
              <a:t>For this test:</a:t>
            </a:r>
          </a:p>
          <a:p>
            <a:pPr marL="914400" indent="-457200">
              <a:lnSpc>
                <a:spcPct val="100000"/>
              </a:lnSpc>
              <a:spcBef>
                <a:spcPts val="600"/>
              </a:spcBef>
              <a:buFont typeface="Arial" panose="020B0604020202020204" pitchFamily="34" charset="0"/>
              <a:buChar char="•"/>
            </a:pPr>
            <a:r>
              <a:rPr lang="en-US" sz="2000" dirty="0">
                <a:cs typeface="Arial" panose="020B0604020202020204" pitchFamily="34" charset="0"/>
              </a:rPr>
              <a:t>W</a:t>
            </a:r>
            <a:r>
              <a:rPr lang="en-US" sz="2000" dirty="0">
                <a:solidFill>
                  <a:srgbClr val="000000"/>
                </a:solidFill>
                <a:cs typeface="Arial" panose="020B0604020202020204" pitchFamily="34" charset="0"/>
              </a:rPr>
              <a:t>e take one sample from a single population and record the values for two categorical variables. </a:t>
            </a:r>
          </a:p>
          <a:p>
            <a:pPr marL="914400" indent="-4572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We then summarize the data by counting the number of responses for each combination of a category for variable 1 and a category for variable 2. </a:t>
            </a:r>
          </a:p>
          <a:p>
            <a:pPr>
              <a:lnSpc>
                <a:spcPct val="100000"/>
              </a:lnSpc>
            </a:pPr>
            <a:r>
              <a:rPr lang="en-US" sz="2000" dirty="0">
                <a:solidFill>
                  <a:srgbClr val="000000"/>
                </a:solidFill>
                <a:cs typeface="Arial" panose="020B0604020202020204" pitchFamily="34" charset="0"/>
              </a:rPr>
              <a:t>The null hypothesis for this test is that the two categorical variables are independent. </a:t>
            </a:r>
          </a:p>
          <a:p>
            <a:pPr marL="9144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Thus, the test is referred to as a test of independence. </a:t>
            </a:r>
          </a:p>
          <a:p>
            <a:pPr>
              <a:lnSpc>
                <a:spcPct val="100000"/>
              </a:lnSpc>
            </a:pPr>
            <a:r>
              <a:rPr lang="en-US" sz="2000" dirty="0">
                <a:solidFill>
                  <a:srgbClr val="000000"/>
                </a:solidFill>
                <a:cs typeface="Arial" panose="020B0604020202020204" pitchFamily="34" charset="0"/>
              </a:rPr>
              <a:t>We will illustrate this test with the following example.</a:t>
            </a:r>
          </a:p>
        </p:txBody>
      </p:sp>
    </p:spTree>
    <p:extLst>
      <p:ext uri="{BB962C8B-B14F-4D97-AF65-F5344CB8AC3E}">
        <p14:creationId xmlns:p14="http://schemas.microsoft.com/office/powerpoint/2010/main" val="2679781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12.2 Chi-Square Test for Independence of Two Categorical Variables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786848"/>
                <a:ext cx="10711543" cy="4001769"/>
              </a:xfrm>
            </p:spPr>
            <p:txBody>
              <a:bodyPr/>
              <a:lstStyle/>
              <a:p>
                <a:pPr marL="346075" indent="-346075">
                  <a:lnSpc>
                    <a:spcPct val="100000"/>
                  </a:lnSpc>
                  <a:spcBef>
                    <a:spcPts val="600"/>
                  </a:spcBef>
                  <a:buFont typeface="+mj-lt"/>
                  <a:buAutoNum type="arabicPeriod"/>
                </a:pPr>
                <a:r>
                  <a:rPr lang="en-US" sz="2000" dirty="0">
                    <a:solidFill>
                      <a:srgbClr val="000000"/>
                    </a:solidFill>
                    <a:cs typeface="Arial" panose="020B0604020202020204" pitchFamily="34" charset="0"/>
                  </a:rPr>
                  <a:t>State null and alternative hypotheses</a:t>
                </a:r>
              </a:p>
              <a:p>
                <a:pPr marL="9144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The two categorical variables are independent</a:t>
                </a:r>
              </a:p>
              <a:p>
                <a:pPr marL="9144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𝑎</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The two categorical variables are not independent</a:t>
                </a:r>
              </a:p>
              <a:p>
                <a:pPr marL="346075" indent="-346075">
                  <a:spcBef>
                    <a:spcPts val="600"/>
                  </a:spcBef>
                  <a:buFont typeface="+mj-lt"/>
                  <a:buAutoNum type="arabicPeriod" startAt="2"/>
                </a:pPr>
                <a:r>
                  <a:rPr lang="en-US" sz="2000" dirty="0">
                    <a:solidFill>
                      <a:srgbClr val="000000"/>
                    </a:solidFill>
                    <a:cs typeface="Arial" panose="020B0604020202020204" pitchFamily="34" charset="0"/>
                  </a:rPr>
                  <a:t>Select a random sample from the population and, for every element, collect data for both variables</a:t>
                </a:r>
                <a:r>
                  <a:rPr lang="en-US" sz="2000" i="1" dirty="0">
                    <a:solidFill>
                      <a:srgbClr val="000000"/>
                    </a:solidFill>
                    <a:cs typeface="Arial" panose="020B0604020202020204" pitchFamily="34" charset="0"/>
                  </a:rPr>
                  <a:t>. </a:t>
                </a:r>
                <a:r>
                  <a:rPr lang="en-US" sz="2000" dirty="0">
                    <a:cs typeface="Arial" panose="020B0604020202020204" pitchFamily="34" charset="0"/>
                  </a:rPr>
                  <a:t>R</a:t>
                </a:r>
                <a:r>
                  <a:rPr lang="en-US" sz="2000" dirty="0">
                    <a:solidFill>
                      <a:srgbClr val="000000"/>
                    </a:solidFill>
                    <a:cs typeface="Arial" panose="020B0604020202020204" pitchFamily="34" charset="0"/>
                  </a:rPr>
                  <a:t>ecord the observed frequencies,</a:t>
                </a:r>
                <a:r>
                  <a:rPr lang="en-US" sz="2000" i="1" dirty="0">
                    <a:solidFill>
                      <a:srgbClr val="000000"/>
                    </a:solidFill>
                    <a:cs typeface="Arial" panose="020B0604020202020204" pitchFamily="34" charset="0"/>
                  </a:rPr>
                  <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𝑓</m:t>
                        </m:r>
                      </m:e>
                      <m:sub>
                        <m:r>
                          <a:rPr lang="en-US" sz="2000" b="0" i="1" smtClean="0">
                            <a:solidFill>
                              <a:srgbClr val="000000"/>
                            </a:solidFill>
                            <a:latin typeface="Cambria Math" panose="02040503050406030204" pitchFamily="18" charset="0"/>
                            <a:cs typeface="Arial" panose="020B0604020202020204" pitchFamily="34" charset="0"/>
                          </a:rPr>
                          <m:t>𝑖𝑗</m:t>
                        </m:r>
                      </m:sub>
                    </m:sSub>
                  </m:oMath>
                </a14:m>
                <a:r>
                  <a:rPr lang="en-US" sz="2000" dirty="0">
                    <a:solidFill>
                      <a:srgbClr val="000000"/>
                    </a:solidFill>
                    <a:cs typeface="Arial" panose="020B0604020202020204" pitchFamily="34" charset="0"/>
                  </a:rPr>
                  <a:t>, in a table with </a:t>
                </a:r>
                <a:r>
                  <a:rPr lang="en-US" sz="2000" i="1" dirty="0">
                    <a:solidFill>
                      <a:srgbClr val="000000"/>
                    </a:solidFill>
                    <a:cs typeface="Arial" panose="020B0604020202020204" pitchFamily="34" charset="0"/>
                  </a:rPr>
                  <a:t>r</a:t>
                </a:r>
                <a:r>
                  <a:rPr lang="en-US" sz="2000" dirty="0">
                    <a:solidFill>
                      <a:srgbClr val="000000"/>
                    </a:solidFill>
                    <a:cs typeface="Arial" panose="020B0604020202020204" pitchFamily="34" charset="0"/>
                  </a:rPr>
                  <a:t> rows and </a:t>
                </a:r>
                <a:r>
                  <a:rPr lang="en-US" sz="2000" i="1" dirty="0">
                    <a:solidFill>
                      <a:srgbClr val="000000"/>
                    </a:solidFill>
                    <a:cs typeface="Arial" panose="020B0604020202020204" pitchFamily="34" charset="0"/>
                  </a:rPr>
                  <a:t>c</a:t>
                </a:r>
                <a:r>
                  <a:rPr lang="en-US" sz="2000" dirty="0">
                    <a:solidFill>
                      <a:srgbClr val="000000"/>
                    </a:solidFill>
                    <a:cs typeface="Arial" panose="020B0604020202020204" pitchFamily="34" charset="0"/>
                  </a:rPr>
                  <a:t> columns</a:t>
                </a:r>
                <a:r>
                  <a:rPr lang="en-US" sz="2000" i="1" dirty="0">
                    <a:solidFill>
                      <a:srgbClr val="000000"/>
                    </a:solidFill>
                    <a:cs typeface="Arial" panose="020B0604020202020204" pitchFamily="34" charset="0"/>
                  </a:rPr>
                  <a:t>.</a:t>
                </a:r>
              </a:p>
              <a:p>
                <a:pPr marL="346075" indent="-346075">
                  <a:spcBef>
                    <a:spcPts val="600"/>
                  </a:spcBef>
                  <a:buFont typeface="+mj-lt"/>
                  <a:buAutoNum type="arabicPeriod" startAt="2"/>
                </a:pPr>
                <a:r>
                  <a:rPr lang="en-US" sz="2000" dirty="0">
                    <a:solidFill>
                      <a:srgbClr val="000000"/>
                    </a:solidFill>
                    <a:cs typeface="Arial" panose="020B0604020202020204" pitchFamily="34" charset="0"/>
                  </a:rPr>
                  <a:t>Assume the null hypothesis is true and compute the expected frequencies,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oMath>
                </a14:m>
                <a:r>
                  <a:rPr lang="en-US" sz="2000" dirty="0">
                    <a:solidFill>
                      <a:srgbClr val="000000"/>
                    </a:solidFill>
                    <a:cs typeface="Arial" panose="020B0604020202020204" pitchFamily="34" charset="0"/>
                  </a:rPr>
                  <a:t>.</a:t>
                </a:r>
              </a:p>
              <a:p>
                <a:pPr marL="346075" indent="-346075">
                  <a:spcBef>
                    <a:spcPts val="600"/>
                  </a:spcBef>
                  <a:spcAft>
                    <a:spcPts val="600"/>
                  </a:spcAft>
                  <a:buFont typeface="+mj-lt"/>
                  <a:buAutoNum type="arabicPeriod" startAt="2"/>
                </a:pPr>
                <a:r>
                  <a:rPr lang="en-US" sz="2000" dirty="0">
                    <a:solidFill>
                      <a:srgbClr val="000000"/>
                    </a:solidFill>
                    <a:cs typeface="Arial" panose="020B0604020202020204" pitchFamily="34" charset="0"/>
                  </a:rPr>
                  <a:t>If the expected frequency,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oMath>
                </a14:m>
                <a:r>
                  <a:rPr lang="en-US" sz="2000" dirty="0">
                    <a:solidFill>
                      <a:srgbClr val="000000"/>
                    </a:solidFill>
                    <a:cs typeface="Arial" panose="020B0604020202020204" pitchFamily="34" charset="0"/>
                  </a:rPr>
                  <a:t>, is 5 or more for each cell, compute the test statistic,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oMath>
                </a14:m>
                <a:r>
                  <a:rPr lang="en-US" sz="2000" dirty="0">
                    <a:solidFill>
                      <a:srgbClr val="000000"/>
                    </a:solidFill>
                    <a:cs typeface="Arial" panose="020B0604020202020204" pitchFamily="34" charset="0"/>
                  </a:rPr>
                  <a:t>, as</a:t>
                </a:r>
              </a:p>
              <a:p>
                <a:pPr marL="914400">
                  <a:spcBef>
                    <a:spcPts val="600"/>
                  </a:spcBef>
                </a:pPr>
                <a14:m>
                  <m:oMathPara xmlns:m="http://schemas.openxmlformats.org/officeDocument/2006/math">
                    <m:oMathParaPr>
                      <m:jc m:val="left"/>
                    </m:oMathParaPr>
                    <m:oMath xmlns:m="http://schemas.openxmlformats.org/officeDocument/2006/math">
                      <m:sSup>
                        <m:sSupPr>
                          <m:ctrlPr>
                            <a:rPr lang="en-US" sz="2000" b="1" i="1" smtClean="0">
                              <a:latin typeface="Cambria Math" panose="02040503050406030204" pitchFamily="18" charset="0"/>
                              <a:cs typeface="Arial" panose="020B0604020202020204" pitchFamily="34" charset="0"/>
                            </a:rPr>
                          </m:ctrlPr>
                        </m:sSupPr>
                        <m:e>
                          <m:r>
                            <a:rPr lang="el-GR" sz="20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2000" b="1" i="1" smtClean="0">
                              <a:latin typeface="Cambria Math" panose="02040503050406030204" pitchFamily="18" charset="0"/>
                              <a:cs typeface="Arial" panose="020B0604020202020204" pitchFamily="34" charset="0"/>
                            </a:rPr>
                            <m:t>𝟐</m:t>
                          </m:r>
                        </m:sup>
                      </m:sSup>
                      <m:r>
                        <a:rPr lang="en-US" sz="2000" b="1" i="1" smtClean="0">
                          <a:latin typeface="Cambria Math" panose="02040503050406030204" pitchFamily="18" charset="0"/>
                          <a:cs typeface="Arial" panose="020B0604020202020204" pitchFamily="34" charset="0"/>
                        </a:rPr>
                        <m:t>=</m:t>
                      </m:r>
                      <m:nary>
                        <m:naryPr>
                          <m:chr m:val="∑"/>
                          <m:supHide m:val="on"/>
                          <m:ctrlPr>
                            <a:rPr lang="en-US" sz="2000" b="1" i="1" smtClean="0">
                              <a:latin typeface="Cambria Math" panose="02040503050406030204" pitchFamily="18" charset="0"/>
                              <a:cs typeface="Arial" panose="020B0604020202020204" pitchFamily="34" charset="0"/>
                            </a:rPr>
                          </m:ctrlPr>
                        </m:naryPr>
                        <m:sub>
                          <m:r>
                            <m:rPr>
                              <m:brk m:alnAt="7"/>
                            </m:rPr>
                            <a:rPr lang="en-US" sz="2000" b="1" i="1" smtClean="0">
                              <a:latin typeface="Cambria Math" panose="02040503050406030204" pitchFamily="18" charset="0"/>
                              <a:cs typeface="Arial" panose="020B0604020202020204" pitchFamily="34" charset="0"/>
                            </a:rPr>
                            <m:t>𝒊</m:t>
                          </m:r>
                        </m:sub>
                        <m:sup/>
                        <m:e>
                          <m:nary>
                            <m:naryPr>
                              <m:chr m:val="∑"/>
                              <m:supHide m:val="on"/>
                              <m:ctrlPr>
                                <a:rPr lang="en-US" sz="2000" b="1" i="1" smtClean="0">
                                  <a:latin typeface="Cambria Math" panose="02040503050406030204" pitchFamily="18" charset="0"/>
                                  <a:cs typeface="Arial" panose="020B0604020202020204" pitchFamily="34" charset="0"/>
                                </a:rPr>
                              </m:ctrlPr>
                            </m:naryPr>
                            <m:sub>
                              <m:r>
                                <m:rPr>
                                  <m:brk m:alnAt="7"/>
                                </m:rPr>
                                <a:rPr lang="en-US" sz="2000" b="1" i="1" smtClean="0">
                                  <a:latin typeface="Cambria Math" panose="02040503050406030204" pitchFamily="18" charset="0"/>
                                  <a:cs typeface="Arial" panose="020B0604020202020204" pitchFamily="34" charset="0"/>
                                </a:rPr>
                                <m:t>𝒋</m:t>
                              </m:r>
                            </m:sub>
                            <m:sup/>
                            <m:e>
                              <m:f>
                                <m:fPr>
                                  <m:ctrlPr>
                                    <a:rPr lang="en-US" sz="2000" b="1" i="1" smtClean="0">
                                      <a:latin typeface="Cambria Math" panose="02040503050406030204" pitchFamily="18" charset="0"/>
                                      <a:cs typeface="Arial" panose="020B0604020202020204" pitchFamily="34" charset="0"/>
                                    </a:rPr>
                                  </m:ctrlPr>
                                </m:fPr>
                                <m:num>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𝒇</m:t>
                                              </m:r>
                                            </m:e>
                                            <m:sub>
                                              <m:r>
                                                <a:rPr lang="en-US" sz="2000" b="1" i="1">
                                                  <a:latin typeface="Cambria Math" panose="02040503050406030204" pitchFamily="18" charset="0"/>
                                                  <a:cs typeface="Arial" panose="020B0604020202020204" pitchFamily="34" charset="0"/>
                                                </a:rPr>
                                                <m:t>𝒊𝒋</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𝒆</m:t>
                                              </m:r>
                                            </m:e>
                                            <m:sub>
                                              <m:r>
                                                <a:rPr lang="en-US" sz="2000" b="1" i="1">
                                                  <a:latin typeface="Cambria Math" panose="02040503050406030204" pitchFamily="18" charset="0"/>
                                                  <a:cs typeface="Arial" panose="020B0604020202020204" pitchFamily="34" charset="0"/>
                                                </a:rPr>
                                                <m:t>𝒊𝒋</m:t>
                                              </m:r>
                                            </m:sub>
                                          </m:sSub>
                                        </m:e>
                                      </m:d>
                                    </m:e>
                                    <m:sup>
                                      <m:r>
                                        <a:rPr lang="en-US" sz="2000" b="1" i="1" smtClean="0">
                                          <a:latin typeface="Cambria Math" panose="02040503050406030204" pitchFamily="18" charset="0"/>
                                          <a:cs typeface="Arial" panose="020B0604020202020204" pitchFamily="34" charset="0"/>
                                        </a:rPr>
                                        <m:t>𝟐</m:t>
                                      </m:r>
                                    </m:sup>
                                  </m:sSup>
                                </m:num>
                                <m:den>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𝒆</m:t>
                                      </m:r>
                                    </m:e>
                                    <m:sub>
                                      <m:r>
                                        <a:rPr lang="en-US" sz="2000" b="1" i="1">
                                          <a:latin typeface="Cambria Math" panose="02040503050406030204" pitchFamily="18" charset="0"/>
                                          <a:cs typeface="Arial" panose="020B0604020202020204" pitchFamily="34" charset="0"/>
                                        </a:rPr>
                                        <m:t>𝒊𝒋</m:t>
                                      </m:r>
                                    </m:sub>
                                  </m:sSub>
                                </m:den>
                              </m:f>
                            </m:e>
                          </m:nary>
                        </m:e>
                      </m:nary>
                    </m:oMath>
                  </m:oMathPara>
                </a14:m>
                <a:endParaRPr lang="en-US" sz="2000" b="1" dirty="0">
                  <a:solidFill>
                    <a:srgbClr val="000000"/>
                  </a:solidFill>
                  <a:cs typeface="Arial" panose="020B0604020202020204" pitchFamily="34" charset="0"/>
                </a:endParaRPr>
              </a:p>
              <a:p>
                <a:pPr marL="346075" indent="-346075">
                  <a:spcBef>
                    <a:spcPts val="600"/>
                  </a:spcBef>
                  <a:buFont typeface="+mj-lt"/>
                  <a:buAutoNum type="arabicPeriod" startAt="5"/>
                </a:pPr>
                <a:r>
                  <a:rPr lang="en-US" sz="2000" dirty="0">
                    <a:solidFill>
                      <a:srgbClr val="000000"/>
                    </a:solidFill>
                    <a:cs typeface="Arial" panose="020B0604020202020204" pitchFamily="34" charset="0"/>
                  </a:rPr>
                  <a:t>Use a chi-square distribution with </a:t>
                </a:r>
                <a14:m>
                  <m:oMath xmlns:m="http://schemas.openxmlformats.org/officeDocument/2006/math">
                    <m:r>
                      <m:rPr>
                        <m:sty m:val="p"/>
                      </m:rPr>
                      <a:rPr lang="en-US" sz="2000" b="0" i="0" smtClean="0">
                        <a:solidFill>
                          <a:srgbClr val="000000"/>
                        </a:solidFill>
                        <a:latin typeface="Cambria Math" panose="02040503050406030204" pitchFamily="18" charset="0"/>
                        <a:cs typeface="Arial" panose="020B0604020202020204" pitchFamily="34" charset="0"/>
                      </a:rPr>
                      <m:t>df</m:t>
                    </m:r>
                    <m:r>
                      <a:rPr lang="en-US" sz="2000" b="0" i="0" smtClean="0">
                        <a:solidFill>
                          <a:srgbClr val="000000"/>
                        </a:solidFill>
                        <a:latin typeface="Cambria Math" panose="02040503050406030204" pitchFamily="18" charset="0"/>
                        <a:cs typeface="Arial" panose="020B0604020202020204" pitchFamily="34" charset="0"/>
                      </a:rPr>
                      <m:t>=</m:t>
                    </m:r>
                    <m:d>
                      <m:dPr>
                        <m:ctrlPr>
                          <a:rPr lang="en-US" sz="2000" i="1" smtClean="0">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𝑟</m:t>
                        </m:r>
                        <m:r>
                          <a:rPr lang="en-US" sz="2000" b="0" i="1" smtClean="0">
                            <a:solidFill>
                              <a:srgbClr val="000000"/>
                            </a:solidFill>
                            <a:latin typeface="Cambria Math" panose="02040503050406030204" pitchFamily="18" charset="0"/>
                            <a:cs typeface="Arial" panose="020B0604020202020204" pitchFamily="34" charset="0"/>
                          </a:rPr>
                          <m:t>−1</m:t>
                        </m:r>
                      </m:e>
                    </m:d>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𝑐</m:t>
                        </m:r>
                        <m:r>
                          <a:rPr lang="en-US" sz="2000" i="1">
                            <a:latin typeface="Cambria Math" panose="02040503050406030204" pitchFamily="18" charset="0"/>
                            <a:cs typeface="Arial" panose="020B0604020202020204" pitchFamily="34" charset="0"/>
                          </a:rPr>
                          <m:t>−1</m:t>
                        </m:r>
                      </m:e>
                    </m:d>
                  </m:oMath>
                </a14:m>
                <a:r>
                  <a:rPr lang="en-US" sz="2000" dirty="0">
                    <a:solidFill>
                      <a:srgbClr val="000000"/>
                    </a:solidFill>
                    <a:cs typeface="Arial" panose="020B0604020202020204" pitchFamily="34" charset="0"/>
                  </a:rPr>
                  <a:t> to compute the </a:t>
                </a:r>
                <a:r>
                  <a:rPr lang="en-US" sz="2000" i="1" dirty="0">
                    <a:cs typeface="Arial" panose="020B0604020202020204" pitchFamily="34" charset="0"/>
                  </a:rPr>
                  <a:t>p</a:t>
                </a:r>
                <a:r>
                  <a:rPr lang="en-US" sz="2000" dirty="0">
                    <a:cs typeface="Arial" panose="020B0604020202020204" pitchFamily="34" charset="0"/>
                  </a:rPr>
                  <a:t>-value or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oMath>
                </a14:m>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786848"/>
                <a:ext cx="10711543" cy="4001769"/>
              </a:xfrm>
              <a:blipFill>
                <a:blip r:embed="rId2"/>
                <a:stretch>
                  <a:fillRect l="-1365" t="-1826" b="-2588"/>
                </a:stretch>
              </a:blipFill>
            </p:spPr>
            <p:txBody>
              <a:bodyPr/>
              <a:lstStyle/>
              <a:p>
                <a:r>
                  <a:rPr lang="en-US">
                    <a:noFill/>
                  </a:rPr>
                  <a:t> </a:t>
                </a:r>
              </a:p>
            </p:txBody>
          </p:sp>
        </mc:Fallback>
      </mc:AlternateContent>
    </p:spTree>
    <p:extLst>
      <p:ext uri="{BB962C8B-B14F-4D97-AF65-F5344CB8AC3E}">
        <p14:creationId xmlns:p14="http://schemas.microsoft.com/office/powerpoint/2010/main" val="507388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84EFB-5DF2-5435-6A62-0E3D8535812A}"/>
              </a:ext>
            </a:extLst>
          </p:cNvPr>
          <p:cNvSpPr>
            <a:spLocks noGrp="1"/>
          </p:cNvSpPr>
          <p:nvPr>
            <p:ph type="title"/>
          </p:nvPr>
        </p:nvSpPr>
        <p:spPr/>
        <p:txBody>
          <a:bodyPr/>
          <a:lstStyle/>
          <a:p>
            <a:r>
              <a:rPr lang="en-US" sz="3200" dirty="0"/>
              <a:t>12.2 Testing for the Independence of Type of Beer and Beer Drinker’s Sex</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13F2A43-62BC-280D-784B-342E9B63C49F}"/>
                  </a:ext>
                </a:extLst>
              </p:cNvPr>
              <p:cNvSpPr>
                <a:spLocks noGrp="1"/>
              </p:cNvSpPr>
              <p:nvPr>
                <p:ph type="body" sz="quarter" idx="15"/>
              </p:nvPr>
            </p:nvSpPr>
            <p:spPr>
              <a:xfrm>
                <a:off x="793194" y="1507331"/>
                <a:ext cx="10529510" cy="2193401"/>
              </a:xfrm>
            </p:spPr>
            <p:txBody>
              <a:bodyPr>
                <a:normAutofit lnSpcReduction="10000"/>
              </a:bodyPr>
              <a:lstStyle/>
              <a:p>
                <a:pPr>
                  <a:lnSpc>
                    <a:spcPct val="110000"/>
                  </a:lnSpc>
                  <a:spcBef>
                    <a:spcPts val="600"/>
                  </a:spcBef>
                </a:pPr>
                <a:r>
                  <a:rPr lang="en-US" sz="2000" dirty="0">
                    <a:solidFill>
                      <a:srgbClr val="000000"/>
                    </a:solidFill>
                    <a:cs typeface="Arial" panose="020B0604020202020204" pitchFamily="34" charset="0"/>
                  </a:rPr>
                  <a:t>A beer industry association conducts a survey to determine whether preference for three types of beer (light, regular, and dark) is independent of the sex of the beer drinker.</a:t>
                </a:r>
              </a:p>
              <a:p>
                <a:pPr>
                  <a:lnSpc>
                    <a:spcPct val="110000"/>
                  </a:lnSpc>
                  <a:spcBef>
                    <a:spcPts val="600"/>
                  </a:spcBef>
                </a:pPr>
                <a:r>
                  <a:rPr lang="en-US" sz="2000" dirty="0">
                    <a:cs typeface="Arial" panose="020B0604020202020204" pitchFamily="34" charset="0"/>
                  </a:rPr>
                  <a:t>The hypotheses for this test of independence are</a:t>
                </a:r>
                <a:endParaRPr lang="en-US" sz="2000" i="1" dirty="0">
                  <a:latin typeface="Cambria Math" panose="02040503050406030204" pitchFamily="18" charset="0"/>
                  <a:cs typeface="Arial" panose="020B0604020202020204" pitchFamily="34" charset="0"/>
                </a:endParaRPr>
              </a:p>
              <a:p>
                <a:pPr marL="914400">
                  <a:lnSpc>
                    <a:spcPct val="110000"/>
                  </a:lnSpc>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t>
                </a:r>
                <a:r>
                  <a:rPr lang="pt-BR" sz="2000" dirty="0">
                    <a:cs typeface="Arial" panose="020B0604020202020204" pitchFamily="34" charset="0"/>
                  </a:rPr>
                  <a:t>Beer preference is independent of drinker’s sex</a:t>
                </a:r>
                <a:endParaRPr lang="en-US" sz="2000" dirty="0">
                  <a:cs typeface="Arial" panose="020B0604020202020204" pitchFamily="34" charset="0"/>
                </a:endParaRPr>
              </a:p>
              <a:p>
                <a:pPr marL="914400">
                  <a:lnSpc>
                    <a:spcPct val="110000"/>
                  </a:lnSpc>
                  <a:spcBef>
                    <a:spcPts val="600"/>
                  </a:spcBef>
                  <a:spcAft>
                    <a:spcPts val="0"/>
                  </a:spcAft>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𝑎</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t>
                </a:r>
                <a:r>
                  <a:rPr lang="pt-BR" sz="2000" dirty="0">
                    <a:cs typeface="Arial" panose="020B0604020202020204" pitchFamily="34" charset="0"/>
                  </a:rPr>
                  <a:t>Beer preference is not independent of drinker’s sex</a:t>
                </a:r>
                <a:endParaRPr lang="en-US" sz="2000" dirty="0">
                  <a:cs typeface="Arial" panose="020B0604020202020204" pitchFamily="34" charset="0"/>
                </a:endParaRPr>
              </a:p>
              <a:p>
                <a:pPr>
                  <a:lnSpc>
                    <a:spcPct val="110000"/>
                  </a:lnSpc>
                  <a:spcBef>
                    <a:spcPts val="600"/>
                  </a:spcBef>
                </a:pPr>
                <a:r>
                  <a:rPr lang="en-US" sz="2000" dirty="0">
                    <a:solidFill>
                      <a:srgbClr val="000000"/>
                    </a:solidFill>
                    <a:cs typeface="Arial" panose="020B0604020202020204" pitchFamily="34" charset="0"/>
                  </a:rPr>
                  <a:t>An </a:t>
                </a:r>
                <a14:m>
                  <m:oMath xmlns:m="http://schemas.openxmlformats.org/officeDocument/2006/math">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level of significance is specified for the study.</a:t>
                </a:r>
              </a:p>
            </p:txBody>
          </p:sp>
        </mc:Choice>
        <mc:Fallback xmlns="">
          <p:sp>
            <p:nvSpPr>
              <p:cNvPr id="3" name="Text Placeholder 2">
                <a:extLst>
                  <a:ext uri="{FF2B5EF4-FFF2-40B4-BE49-F238E27FC236}">
                    <a16:creationId xmlns:a16="http://schemas.microsoft.com/office/drawing/2014/main" id="{E13F2A43-62BC-280D-784B-342E9B63C49F}"/>
                  </a:ext>
                </a:extLst>
              </p:cNvPr>
              <p:cNvSpPr>
                <a:spLocks noGrp="1" noRot="1" noChangeAspect="1" noMove="1" noResize="1" noEditPoints="1" noAdjustHandles="1" noChangeArrowheads="1" noChangeShapeType="1" noTextEdit="1"/>
              </p:cNvSpPr>
              <p:nvPr>
                <p:ph type="body" sz="quarter" idx="15"/>
              </p:nvPr>
            </p:nvSpPr>
            <p:spPr>
              <a:xfrm>
                <a:off x="793194" y="1507331"/>
                <a:ext cx="10529510" cy="2193401"/>
              </a:xfrm>
              <a:blipFill>
                <a:blip r:embed="rId2"/>
                <a:stretch>
                  <a:fillRect l="-1448" t="-3333" b="-4722"/>
                </a:stretch>
              </a:blipFill>
            </p:spPr>
            <p:txBody>
              <a:bodyPr/>
              <a:lstStyle/>
              <a:p>
                <a:r>
                  <a:rPr lang="en-US">
                    <a:noFill/>
                  </a:rPr>
                  <a:t> </a:t>
                </a:r>
              </a:p>
            </p:txBody>
          </p:sp>
        </mc:Fallback>
      </mc:AlternateContent>
      <p:sp>
        <p:nvSpPr>
          <p:cNvPr id="11" name="Text Placeholder 10">
            <a:extLst>
              <a:ext uri="{FF2B5EF4-FFF2-40B4-BE49-F238E27FC236}">
                <a16:creationId xmlns:a16="http://schemas.microsoft.com/office/drawing/2014/main" id="{7BD6E659-6B11-8F3F-E1FC-2DFFF0C895D1}"/>
              </a:ext>
            </a:extLst>
          </p:cNvPr>
          <p:cNvSpPr>
            <a:spLocks noGrp="1"/>
          </p:cNvSpPr>
          <p:nvPr>
            <p:ph type="body" sz="quarter" idx="18"/>
          </p:nvPr>
        </p:nvSpPr>
        <p:spPr>
          <a:xfrm>
            <a:off x="790318" y="3729308"/>
            <a:ext cx="5619107" cy="1979840"/>
          </a:xfrm>
        </p:spPr>
        <p:txBody>
          <a:bodyPr/>
          <a:lstStyle/>
          <a:p>
            <a:pPr>
              <a:lnSpc>
                <a:spcPct val="100000"/>
              </a:lnSpc>
              <a:spcBef>
                <a:spcPts val="600"/>
              </a:spcBef>
            </a:pPr>
            <a:r>
              <a:rPr lang="en-US" sz="2000" dirty="0">
                <a:solidFill>
                  <a:srgbClr val="000000"/>
                </a:solidFill>
                <a:cs typeface="Arial" panose="020B0604020202020204" pitchFamily="34" charset="0"/>
              </a:rPr>
              <a:t>A sample of 200 beer drinkers is taken with each person in the sample asked to indicate their sex and preference for one of the three types of beers: light, regular, or dark.</a:t>
            </a:r>
          </a:p>
          <a:p>
            <a:pPr>
              <a:lnSpc>
                <a:spcPct val="100000"/>
              </a:lnSpc>
              <a:spcBef>
                <a:spcPts val="600"/>
              </a:spcBef>
            </a:pPr>
            <a:r>
              <a:rPr lang="en-US" sz="2000" dirty="0">
                <a:cs typeface="Arial" panose="020B0604020202020204" pitchFamily="34" charset="0"/>
              </a:rPr>
              <a:t>The results of the survey are summarized in the crosstabulation to the right.</a:t>
            </a:r>
          </a:p>
        </p:txBody>
      </p:sp>
      <p:graphicFrame>
        <p:nvGraphicFramePr>
          <p:cNvPr id="5" name="Table 5">
            <a:extLst>
              <a:ext uri="{FF2B5EF4-FFF2-40B4-BE49-F238E27FC236}">
                <a16:creationId xmlns:a16="http://schemas.microsoft.com/office/drawing/2014/main" id="{B9E3E62B-AFCA-846D-5E14-2AF93278EE7A}"/>
              </a:ext>
            </a:extLst>
          </p:cNvPr>
          <p:cNvGraphicFramePr>
            <a:graphicFrameLocks noGrp="1"/>
          </p:cNvGraphicFramePr>
          <p:nvPr>
            <p:ph type="tbl" sz="quarter" idx="22"/>
            <p:extLst>
              <p:ext uri="{D42A27DB-BD31-4B8C-83A1-F6EECF244321}">
                <p14:modId xmlns:p14="http://schemas.microsoft.com/office/powerpoint/2010/main" val="3905661450"/>
              </p:ext>
            </p:extLst>
          </p:nvPr>
        </p:nvGraphicFramePr>
        <p:xfrm>
          <a:off x="6535944" y="3713341"/>
          <a:ext cx="4572000" cy="2067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683758107"/>
                    </a:ext>
                  </a:extLst>
                </a:gridCol>
                <a:gridCol w="914400">
                  <a:extLst>
                    <a:ext uri="{9D8B030D-6E8A-4147-A177-3AD203B41FA5}">
                      <a16:colId xmlns:a16="http://schemas.microsoft.com/office/drawing/2014/main" val="1194125209"/>
                    </a:ext>
                  </a:extLst>
                </a:gridCol>
                <a:gridCol w="914400">
                  <a:extLst>
                    <a:ext uri="{9D8B030D-6E8A-4147-A177-3AD203B41FA5}">
                      <a16:colId xmlns:a16="http://schemas.microsoft.com/office/drawing/2014/main" val="2909646441"/>
                    </a:ext>
                  </a:extLst>
                </a:gridCol>
                <a:gridCol w="914400">
                  <a:extLst>
                    <a:ext uri="{9D8B030D-6E8A-4147-A177-3AD203B41FA5}">
                      <a16:colId xmlns:a16="http://schemas.microsoft.com/office/drawing/2014/main" val="2748889128"/>
                    </a:ext>
                  </a:extLst>
                </a:gridCol>
              </a:tblGrid>
              <a:tr h="411480">
                <a:tc>
                  <a:txBody>
                    <a:bodyPr/>
                    <a:lstStyle/>
                    <a:p>
                      <a:pPr algn="l" fontAlgn="ctr"/>
                      <a:endParaRPr lang="en-US" sz="2000" b="1" i="0" u="none" strike="noStrike" dirty="0">
                        <a:solidFill>
                          <a:srgbClr val="0070C0"/>
                        </a:solidFill>
                        <a:effectLst/>
                        <a:latin typeface="+mn-lt"/>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endParaRPr lang="en-US" sz="2000" b="1" i="0" u="none" strike="noStrike" dirty="0">
                        <a:solidFill>
                          <a:srgbClr val="000000"/>
                        </a:solidFill>
                        <a:effectLst/>
                        <a:latin typeface="+mn-lt"/>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0" u="none" strike="noStrike" dirty="0">
                          <a:solidFill>
                            <a:srgbClr val="0070C0"/>
                          </a:solidFill>
                          <a:effectLst/>
                          <a:latin typeface="+mn-lt"/>
                        </a:rPr>
                        <a:t>Sex</a:t>
                      </a:r>
                      <a:endParaRPr lang="en-US" sz="2000" b="1" i="0" u="none" strike="noStrike" dirty="0">
                        <a:solidFill>
                          <a:srgbClr val="000000"/>
                        </a:solidFill>
                        <a:effectLst/>
                        <a:latin typeface="+mn-lt"/>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endParaRPr lang="en-US" sz="2000" b="1" i="0" u="none" strike="noStrike" dirty="0">
                        <a:solidFill>
                          <a:srgbClr val="000000"/>
                        </a:solidFill>
                        <a:effectLst/>
                        <a:latin typeface="+mn-lt"/>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34578065"/>
                  </a:ext>
                </a:extLst>
              </a:tr>
              <a:tr h="411480">
                <a:tc>
                  <a:txBody>
                    <a:bodyPr/>
                    <a:lstStyle/>
                    <a:p>
                      <a:pPr algn="l" fontAlgn="ctr"/>
                      <a:r>
                        <a:rPr lang="en-US" sz="2000" b="1" i="0" u="none" strike="noStrike" dirty="0">
                          <a:solidFill>
                            <a:srgbClr val="0070C0"/>
                          </a:solidFill>
                          <a:effectLst/>
                          <a:latin typeface="+mn-lt"/>
                        </a:rPr>
                        <a:t> Beer Preference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0" u="none" strike="noStrike" dirty="0">
                          <a:solidFill>
                            <a:srgbClr val="000000"/>
                          </a:solidFill>
                          <a:effectLst/>
                          <a:latin typeface="+mn-lt"/>
                        </a:rPr>
                        <a:t>Male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0" u="none" strike="noStrike" dirty="0">
                          <a:solidFill>
                            <a:srgbClr val="000000"/>
                          </a:solidFill>
                          <a:effectLst/>
                          <a:latin typeface="+mn-lt"/>
                        </a:rPr>
                        <a:t>Female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0" u="none" strike="noStrike" dirty="0">
                          <a:solidFill>
                            <a:srgbClr val="000000"/>
                          </a:solidFill>
                          <a:effectLst/>
                          <a:latin typeface="+mn-lt"/>
                        </a:rPr>
                        <a:t>Total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66571555"/>
                  </a:ext>
                </a:extLst>
              </a:tr>
              <a:tr h="286110">
                <a:tc>
                  <a:txBody>
                    <a:bodyPr/>
                    <a:lstStyle/>
                    <a:p>
                      <a:pPr algn="l" fontAlgn="ctr"/>
                      <a:r>
                        <a:rPr lang="en-US" sz="2000" b="1" i="0" u="none" strike="noStrike" dirty="0">
                          <a:solidFill>
                            <a:srgbClr val="000000"/>
                          </a:solidFill>
                          <a:effectLst/>
                          <a:latin typeface="+mn-lt"/>
                        </a:rPr>
                        <a:t> Light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51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39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90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116651376"/>
                  </a:ext>
                </a:extLst>
              </a:tr>
              <a:tr h="286110">
                <a:tc>
                  <a:txBody>
                    <a:bodyPr/>
                    <a:lstStyle/>
                    <a:p>
                      <a:pPr algn="l" fontAlgn="ctr"/>
                      <a:r>
                        <a:rPr lang="en-US" sz="2000" b="1" i="0" u="none" strike="noStrike" dirty="0">
                          <a:solidFill>
                            <a:srgbClr val="000000"/>
                          </a:solidFill>
                          <a:effectLst/>
                          <a:latin typeface="+mn-lt"/>
                        </a:rPr>
                        <a:t> Regular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56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21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77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63132887"/>
                  </a:ext>
                </a:extLst>
              </a:tr>
              <a:tr h="286110">
                <a:tc>
                  <a:txBody>
                    <a:bodyPr/>
                    <a:lstStyle/>
                    <a:p>
                      <a:pPr algn="l" fontAlgn="ctr"/>
                      <a:r>
                        <a:rPr lang="en-US" sz="2000" b="1" i="0" u="none" strike="noStrike" dirty="0">
                          <a:solidFill>
                            <a:srgbClr val="000000"/>
                          </a:solidFill>
                          <a:effectLst/>
                          <a:latin typeface="+mn-lt"/>
                        </a:rPr>
                        <a:t> Dark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a:t>
                      </a:r>
                      <a:r>
                        <a:rPr lang="en-US" sz="2000" b="0" i="0" u="sng" strike="noStrike" dirty="0">
                          <a:solidFill>
                            <a:srgbClr val="000000"/>
                          </a:solidFill>
                          <a:effectLst/>
                          <a:latin typeface="+mn-lt"/>
                        </a:rPr>
                        <a:t>   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a:t>
                      </a:r>
                      <a:r>
                        <a:rPr lang="en-US" sz="2000" b="0" i="0" u="sng" strike="noStrike" dirty="0">
                          <a:solidFill>
                            <a:srgbClr val="000000"/>
                          </a:solidFill>
                          <a:effectLst/>
                          <a:latin typeface="+mn-lt"/>
                        </a:rPr>
                        <a:t>   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a:t>
                      </a:r>
                      <a:r>
                        <a:rPr lang="en-US" sz="2000" b="0" i="0" u="sng" strike="noStrike" dirty="0">
                          <a:solidFill>
                            <a:srgbClr val="000000"/>
                          </a:solidFill>
                          <a:effectLst/>
                          <a:latin typeface="+mn-lt"/>
                        </a:rPr>
                        <a:t>   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910675638"/>
                  </a:ext>
                </a:extLst>
              </a:tr>
              <a:tr h="286110">
                <a:tc>
                  <a:txBody>
                    <a:bodyPr/>
                    <a:lstStyle/>
                    <a:p>
                      <a:pPr algn="l" fontAlgn="ctr"/>
                      <a:r>
                        <a:rPr lang="en-US" sz="2000" b="1" i="0" u="none" strike="noStrike" dirty="0">
                          <a:solidFill>
                            <a:srgbClr val="000000"/>
                          </a:solidFill>
                          <a:effectLst/>
                          <a:latin typeface="+mn-lt"/>
                        </a:rPr>
                        <a:t> Total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132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68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200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81862880"/>
                  </a:ext>
                </a:extLst>
              </a:tr>
            </a:tbl>
          </a:graphicData>
        </a:graphic>
      </p:graphicFrame>
    </p:spTree>
    <p:extLst>
      <p:ext uri="{BB962C8B-B14F-4D97-AF65-F5344CB8AC3E}">
        <p14:creationId xmlns:p14="http://schemas.microsoft.com/office/powerpoint/2010/main" val="540857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84EFB-5DF2-5435-6A62-0E3D8535812A}"/>
              </a:ext>
            </a:extLst>
          </p:cNvPr>
          <p:cNvSpPr>
            <a:spLocks noGrp="1"/>
          </p:cNvSpPr>
          <p:nvPr>
            <p:ph type="title"/>
          </p:nvPr>
        </p:nvSpPr>
        <p:spPr/>
        <p:txBody>
          <a:bodyPr/>
          <a:lstStyle/>
          <a:p>
            <a:r>
              <a:rPr lang="en-US" sz="3200" dirty="0"/>
              <a:t>12.2 Calculation of the Expected Frequencies</a:t>
            </a:r>
            <a:br>
              <a:rPr lang="en-US" sz="3200" dirty="0"/>
            </a:br>
            <a:r>
              <a:rPr lang="en-US" sz="3200" dirty="0"/>
              <a:t>for the Test of Independence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13F2A43-62BC-280D-784B-342E9B63C49F}"/>
                  </a:ext>
                </a:extLst>
              </p:cNvPr>
              <p:cNvSpPr>
                <a:spLocks noGrp="1"/>
              </p:cNvSpPr>
              <p:nvPr>
                <p:ph type="body" sz="quarter" idx="15"/>
              </p:nvPr>
            </p:nvSpPr>
            <p:spPr>
              <a:xfrm>
                <a:off x="793194" y="1557341"/>
                <a:ext cx="10529510" cy="2586039"/>
              </a:xfrm>
            </p:spPr>
            <p:txBody>
              <a:bodyPr>
                <a:normAutofit/>
              </a:bodyPr>
              <a:lstStyle/>
              <a:p>
                <a:pPr>
                  <a:lnSpc>
                    <a:spcPct val="100000"/>
                  </a:lnSpc>
                  <a:spcAft>
                    <a:spcPts val="0"/>
                  </a:spcAft>
                </a:pPr>
                <a:r>
                  <a:rPr lang="en-US" sz="2000" dirty="0">
                    <a:solidFill>
                      <a:srgbClr val="000000"/>
                    </a:solidFill>
                    <a:latin typeface="Arial" panose="020B0604020202020204" pitchFamily="34" charset="0"/>
                    <a:cs typeface="Arial" panose="020B0604020202020204" pitchFamily="34" charset="0"/>
                  </a:rPr>
                  <a:t>Survey results indicate that </a:t>
                </a:r>
                <a14:m>
                  <m:oMath xmlns:m="http://schemas.openxmlformats.org/officeDocument/2006/math">
                    <m:f>
                      <m:fPr>
                        <m:type m:val="lin"/>
                        <m:ctrlPr>
                          <a:rPr lang="en-US" sz="2000" i="1" smtClean="0">
                            <a:solidFill>
                              <a:srgbClr val="000000"/>
                            </a:solidFill>
                            <a:latin typeface="Cambria Math" panose="02040503050406030204" pitchFamily="18" charset="0"/>
                            <a:cs typeface="Arial" panose="020B0604020202020204" pitchFamily="34" charset="0"/>
                          </a:rPr>
                        </m:ctrlPr>
                      </m:fPr>
                      <m:num>
                        <m:r>
                          <a:rPr lang="en-US" sz="2000" b="0" i="1" smtClean="0">
                            <a:solidFill>
                              <a:srgbClr val="000000"/>
                            </a:solidFill>
                            <a:latin typeface="Cambria Math" panose="02040503050406030204" pitchFamily="18" charset="0"/>
                            <a:cs typeface="Arial" panose="020B0604020202020204" pitchFamily="34" charset="0"/>
                          </a:rPr>
                          <m:t>132</m:t>
                        </m:r>
                      </m:num>
                      <m:den>
                        <m:r>
                          <a:rPr lang="en-US" sz="2000" b="0" i="1" smtClean="0">
                            <a:solidFill>
                              <a:srgbClr val="000000"/>
                            </a:solidFill>
                            <a:latin typeface="Cambria Math" panose="02040503050406030204" pitchFamily="18" charset="0"/>
                            <a:cs typeface="Arial" panose="020B0604020202020204" pitchFamily="34" charset="0"/>
                          </a:rPr>
                          <m:t>200</m:t>
                        </m:r>
                      </m:den>
                    </m:f>
                    <m:r>
                      <a:rPr lang="en-US" sz="2000" b="0" i="1" smtClean="0">
                        <a:solidFill>
                          <a:srgbClr val="000000"/>
                        </a:solidFill>
                        <a:latin typeface="Cambria Math" panose="02040503050406030204" pitchFamily="18" charset="0"/>
                        <a:cs typeface="Arial" panose="020B0604020202020204" pitchFamily="34" charset="0"/>
                      </a:rPr>
                      <m:t>=66%</m:t>
                    </m:r>
                  </m:oMath>
                </a14:m>
                <a:r>
                  <a:rPr lang="en-US" sz="2000" dirty="0">
                    <a:solidFill>
                      <a:srgbClr val="000000"/>
                    </a:solidFill>
                    <a:latin typeface="Arial" panose="020B0604020202020204" pitchFamily="34" charset="0"/>
                    <a:cs typeface="Arial" panose="020B0604020202020204" pitchFamily="34" charset="0"/>
                  </a:rPr>
                  <a:t> of the sample beer drinkers are males, and </a:t>
                </a:r>
                <a14:m>
                  <m:oMath xmlns:m="http://schemas.openxmlformats.org/officeDocument/2006/math">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68</m:t>
                        </m:r>
                      </m:num>
                      <m:den>
                        <m:r>
                          <a:rPr lang="en-US" sz="2000" i="1">
                            <a:latin typeface="Cambria Math" panose="02040503050406030204" pitchFamily="18" charset="0"/>
                            <a:cs typeface="Arial" panose="020B0604020202020204" pitchFamily="34" charset="0"/>
                          </a:rPr>
                          <m:t>200</m:t>
                        </m:r>
                      </m:den>
                    </m:f>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34</m:t>
                    </m:r>
                    <m:r>
                      <a:rPr lang="en-US" sz="2000" i="1">
                        <a:latin typeface="Cambria Math" panose="02040503050406030204" pitchFamily="18" charset="0"/>
                        <a:cs typeface="Arial" panose="020B0604020202020204" pitchFamily="34" charset="0"/>
                      </a:rPr>
                      <m:t>%</m:t>
                    </m:r>
                  </m:oMath>
                </a14:m>
                <a:r>
                  <a:rPr lang="en-US" sz="2000" dirty="0">
                    <a:solidFill>
                      <a:srgbClr val="000000"/>
                    </a:solidFill>
                    <a:latin typeface="Arial" panose="020B0604020202020204" pitchFamily="34" charset="0"/>
                    <a:cs typeface="Arial" panose="020B0604020202020204" pitchFamily="34" charset="0"/>
                  </a:rPr>
                  <a:t> females. </a:t>
                </a:r>
              </a:p>
              <a:p>
                <a:pPr>
                  <a:lnSpc>
                    <a:spcPct val="100000"/>
                  </a:lnSpc>
                  <a:spcAft>
                    <a:spcPts val="0"/>
                  </a:spcAft>
                </a:pPr>
                <a:r>
                  <a:rPr lang="en-US" sz="2000" dirty="0">
                    <a:solidFill>
                      <a:srgbClr val="000000"/>
                    </a:solidFill>
                    <a:latin typeface="Arial" panose="020B0604020202020204" pitchFamily="34" charset="0"/>
                    <a:cs typeface="Arial" panose="020B0604020202020204" pitchFamily="34" charset="0"/>
                  </a:rPr>
                  <a:t>Also, </a:t>
                </a:r>
                <a14:m>
                  <m:oMath xmlns:m="http://schemas.openxmlformats.org/officeDocument/2006/math">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90</m:t>
                        </m:r>
                      </m:num>
                      <m:den>
                        <m:r>
                          <a:rPr lang="en-US" sz="2000" i="1">
                            <a:latin typeface="Cambria Math" panose="02040503050406030204" pitchFamily="18" charset="0"/>
                            <a:cs typeface="Arial" panose="020B0604020202020204" pitchFamily="34" charset="0"/>
                          </a:rPr>
                          <m:t>200</m:t>
                        </m:r>
                      </m:den>
                    </m:f>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45</m:t>
                    </m:r>
                    <m:r>
                      <a:rPr lang="en-US" sz="2000" i="1">
                        <a:latin typeface="Cambria Math" panose="02040503050406030204" pitchFamily="18" charset="0"/>
                        <a:cs typeface="Arial" panose="020B0604020202020204" pitchFamily="34" charset="0"/>
                      </a:rPr>
                      <m:t>%</m:t>
                    </m:r>
                  </m:oMath>
                </a14:m>
                <a:r>
                  <a:rPr lang="en-US" sz="2000" dirty="0">
                    <a:solidFill>
                      <a:srgbClr val="000000"/>
                    </a:solidFill>
                    <a:latin typeface="Arial" panose="020B0604020202020204" pitchFamily="34" charset="0"/>
                    <a:cs typeface="Arial" panose="020B0604020202020204" pitchFamily="34" charset="0"/>
                  </a:rPr>
                  <a:t> of the beer drinkers prefer light beer, </a:t>
                </a:r>
                <a14:m>
                  <m:oMath xmlns:m="http://schemas.openxmlformats.org/officeDocument/2006/math">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77</m:t>
                        </m:r>
                      </m:num>
                      <m:den>
                        <m:r>
                          <a:rPr lang="en-US" sz="2000" i="1">
                            <a:latin typeface="Cambria Math" panose="02040503050406030204" pitchFamily="18" charset="0"/>
                            <a:cs typeface="Arial" panose="020B0604020202020204" pitchFamily="34" charset="0"/>
                          </a:rPr>
                          <m:t>200</m:t>
                        </m:r>
                      </m:den>
                    </m:f>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38.5</m:t>
                    </m:r>
                    <m:r>
                      <a:rPr lang="en-US" sz="2000" i="1">
                        <a:latin typeface="Cambria Math" panose="02040503050406030204" pitchFamily="18" charset="0"/>
                        <a:cs typeface="Arial" panose="020B0604020202020204" pitchFamily="34" charset="0"/>
                      </a:rPr>
                      <m:t>%</m:t>
                    </m:r>
                  </m:oMath>
                </a14:m>
                <a:r>
                  <a:rPr lang="en-US" sz="2000" dirty="0">
                    <a:solidFill>
                      <a:srgbClr val="000000"/>
                    </a:solidFill>
                    <a:latin typeface="Arial" panose="020B0604020202020204" pitchFamily="34" charset="0"/>
                    <a:cs typeface="Arial" panose="020B0604020202020204" pitchFamily="34" charset="0"/>
                  </a:rPr>
                  <a:t> regular beer, and </a:t>
                </a:r>
                <a14:m>
                  <m:oMath xmlns:m="http://schemas.openxmlformats.org/officeDocument/2006/math">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33</m:t>
                        </m:r>
                      </m:num>
                      <m:den>
                        <m:r>
                          <a:rPr lang="en-US" sz="2000" i="1">
                            <a:latin typeface="Cambria Math" panose="02040503050406030204" pitchFamily="18" charset="0"/>
                            <a:cs typeface="Arial" panose="020B0604020202020204" pitchFamily="34" charset="0"/>
                          </a:rPr>
                          <m:t>200</m:t>
                        </m:r>
                      </m:den>
                    </m:f>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16.5</m:t>
                    </m:r>
                    <m:r>
                      <a:rPr lang="en-US" sz="2000" i="1">
                        <a:latin typeface="Cambria Math" panose="02040503050406030204" pitchFamily="18" charset="0"/>
                        <a:cs typeface="Arial" panose="020B0604020202020204" pitchFamily="34" charset="0"/>
                      </a:rPr>
                      <m:t>%</m:t>
                    </m:r>
                  </m:oMath>
                </a14:m>
                <a:r>
                  <a:rPr lang="en-US" sz="2000" dirty="0">
                    <a:solidFill>
                      <a:srgbClr val="000000"/>
                    </a:solidFill>
                    <a:latin typeface="Arial" panose="020B0604020202020204" pitchFamily="34" charset="0"/>
                    <a:cs typeface="Arial" panose="020B0604020202020204" pitchFamily="34" charset="0"/>
                  </a:rPr>
                  <a:t> prefer dark beer.</a:t>
                </a:r>
              </a:p>
              <a:p>
                <a:pPr>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11</m:t>
                        </m:r>
                      </m:sub>
                    </m:sSub>
                  </m:oMath>
                </a14:m>
                <a:r>
                  <a:rPr lang="en-US" sz="2000" dirty="0"/>
                  <a:t>, the expected frequency of males who drink light beer, is calculated as follows</a:t>
                </a:r>
              </a:p>
              <a:p>
                <a:pPr marL="914400">
                  <a:lnSpc>
                    <a:spcPct val="100000"/>
                  </a:lnSpc>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11</m:t>
                          </m:r>
                        </m:sub>
                      </m:sSub>
                      <m:r>
                        <a:rPr lang="en-US" sz="2000" b="0" i="1" smtClean="0">
                          <a:solidFill>
                            <a:srgbClr val="000000"/>
                          </a:solidFill>
                          <a:latin typeface="Cambria Math" panose="02040503050406030204" pitchFamily="18" charset="0"/>
                          <a:cs typeface="Arial" panose="020B0604020202020204" pitchFamily="34" charset="0"/>
                        </a:rPr>
                        <m:t>=</m:t>
                      </m:r>
                      <m:f>
                        <m:fPr>
                          <m:ctrlPr>
                            <a:rPr lang="en-US" sz="2000" i="1" smtClean="0">
                              <a:solidFill>
                                <a:srgbClr val="000000"/>
                              </a:solidFill>
                              <a:latin typeface="Cambria Math" panose="02040503050406030204" pitchFamily="18" charset="0"/>
                              <a:cs typeface="Arial" panose="020B0604020202020204" pitchFamily="34" charset="0"/>
                            </a:rPr>
                          </m:ctrlPr>
                        </m:fPr>
                        <m:num>
                          <m:d>
                            <m:dPr>
                              <m:ctrlPr>
                                <a:rPr lang="en-US" sz="2000" i="1" smtClean="0">
                                  <a:solidFill>
                                    <a:srgbClr val="000000"/>
                                  </a:solidFill>
                                  <a:latin typeface="Cambria Math" panose="02040503050406030204" pitchFamily="18" charset="0"/>
                                  <a:cs typeface="Arial" panose="020B0604020202020204" pitchFamily="34" charset="0"/>
                                </a:rPr>
                              </m:ctrlPr>
                            </m:dPr>
                            <m:e>
                              <m:r>
                                <m:rPr>
                                  <m:nor/>
                                </m:rPr>
                                <a:rPr lang="en-US" sz="2000" i="0" smtClean="0">
                                  <a:solidFill>
                                    <a:srgbClr val="000000"/>
                                  </a:solidFill>
                                  <a:latin typeface="Arial" panose="020B0604020202020204" pitchFamily="34" charset="0"/>
                                  <a:cs typeface="Arial" panose="020B0604020202020204" pitchFamily="34" charset="0"/>
                                </a:rPr>
                                <m:t>Row</m:t>
                              </m:r>
                              <m:r>
                                <a:rPr lang="en-US" sz="2000" b="0" i="1" smtClean="0">
                                  <a:solidFill>
                                    <a:srgbClr val="000000"/>
                                  </a:solidFill>
                                  <a:latin typeface="Cambria Math" panose="02040503050406030204" pitchFamily="18" charset="0"/>
                                  <a:cs typeface="Arial" panose="020B0604020202020204" pitchFamily="34" charset="0"/>
                                </a:rPr>
                                <m:t> 1 </m:t>
                              </m:r>
                              <m:r>
                                <m:rPr>
                                  <m:nor/>
                                </m:rPr>
                                <a:rPr lang="en-US" sz="2000" i="0" smtClean="0">
                                  <a:solidFill>
                                    <a:srgbClr val="000000"/>
                                  </a:solidFill>
                                  <a:latin typeface="Arial" panose="020B0604020202020204" pitchFamily="34" charset="0"/>
                                  <a:cs typeface="Arial" panose="020B0604020202020204" pitchFamily="34" charset="0"/>
                                </a:rPr>
                                <m:t>Total</m:t>
                              </m:r>
                            </m:e>
                          </m:d>
                          <m:d>
                            <m:dPr>
                              <m:ctrlPr>
                                <a:rPr lang="en-US" sz="2000" i="1">
                                  <a:latin typeface="Cambria Math" panose="02040503050406030204" pitchFamily="18" charset="0"/>
                                  <a:cs typeface="Arial" panose="020B0604020202020204" pitchFamily="34" charset="0"/>
                                </a:rPr>
                              </m:ctrlPr>
                            </m:dPr>
                            <m:e>
                              <m:r>
                                <m:rPr>
                                  <m:nor/>
                                </m:rPr>
                                <a:rPr lang="en-US" sz="2000" i="0" smtClean="0">
                                  <a:latin typeface="Arial" panose="020B0604020202020204" pitchFamily="34" charset="0"/>
                                  <a:cs typeface="Arial" panose="020B0604020202020204" pitchFamily="34" charset="0"/>
                                </a:rPr>
                                <m:t>Column</m:t>
                              </m:r>
                              <m:r>
                                <a:rPr lang="en-US" sz="2000" b="0" i="1">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1</m:t>
                              </m:r>
                              <m:r>
                                <a:rPr lang="en-US" sz="2000" b="0" i="1">
                                  <a:latin typeface="Cambria Math" panose="02040503050406030204" pitchFamily="18" charset="0"/>
                                  <a:cs typeface="Arial" panose="020B0604020202020204" pitchFamily="34" charset="0"/>
                                </a:rPr>
                                <m:t> </m:t>
                              </m:r>
                              <m:r>
                                <m:rPr>
                                  <m:nor/>
                                </m:rPr>
                                <a:rPr lang="en-US" sz="2000">
                                  <a:latin typeface="Arial" panose="020B0604020202020204" pitchFamily="34" charset="0"/>
                                  <a:cs typeface="Arial" panose="020B0604020202020204" pitchFamily="34" charset="0"/>
                                </a:rPr>
                                <m:t>Total</m:t>
                              </m:r>
                            </m:e>
                          </m:d>
                        </m:num>
                        <m:den>
                          <m:r>
                            <m:rPr>
                              <m:nor/>
                            </m:rPr>
                            <a:rPr lang="en-US" sz="2000" i="0" smtClean="0">
                              <a:solidFill>
                                <a:srgbClr val="000000"/>
                              </a:solidFill>
                              <a:latin typeface="Arial" panose="020B0604020202020204" pitchFamily="34" charset="0"/>
                              <a:cs typeface="Arial" panose="020B0604020202020204" pitchFamily="34" charset="0"/>
                            </a:rPr>
                            <m:t>Total</m:t>
                          </m:r>
                          <m:r>
                            <m:rPr>
                              <m:nor/>
                            </m:rPr>
                            <a:rPr lang="en-US" sz="2000" i="0" smtClean="0">
                              <a:solidFill>
                                <a:srgbClr val="000000"/>
                              </a:solidFill>
                              <a:latin typeface="Arial" panose="020B0604020202020204" pitchFamily="34" charset="0"/>
                              <a:cs typeface="Arial" panose="020B0604020202020204" pitchFamily="34" charset="0"/>
                            </a:rPr>
                            <m:t> </m:t>
                          </m:r>
                          <m:r>
                            <m:rPr>
                              <m:nor/>
                            </m:rPr>
                            <a:rPr lang="en-US" sz="2000" i="0" smtClean="0">
                              <a:solidFill>
                                <a:srgbClr val="000000"/>
                              </a:solidFill>
                              <a:latin typeface="Arial" panose="020B0604020202020204" pitchFamily="34" charset="0"/>
                              <a:cs typeface="Arial" panose="020B0604020202020204" pitchFamily="34" charset="0"/>
                            </a:rPr>
                            <m:t>Sample</m:t>
                          </m:r>
                          <m:r>
                            <m:rPr>
                              <m:nor/>
                            </m:rPr>
                            <a:rPr lang="en-US" sz="2000" i="0" smtClean="0">
                              <a:solidFill>
                                <a:srgbClr val="000000"/>
                              </a:solidFill>
                              <a:latin typeface="Arial" panose="020B0604020202020204" pitchFamily="34" charset="0"/>
                              <a:cs typeface="Arial" panose="020B0604020202020204" pitchFamily="34" charset="0"/>
                            </a:rPr>
                            <m:t> </m:t>
                          </m:r>
                          <m:r>
                            <m:rPr>
                              <m:nor/>
                            </m:rPr>
                            <a:rPr lang="en-US" sz="2000" i="0" smtClean="0">
                              <a:solidFill>
                                <a:srgbClr val="000000"/>
                              </a:solidFill>
                              <a:latin typeface="Arial" panose="020B0604020202020204" pitchFamily="34" charset="0"/>
                              <a:cs typeface="Arial" panose="020B0604020202020204" pitchFamily="34" charset="0"/>
                            </a:rPr>
                            <m:t>Size</m:t>
                          </m:r>
                        </m:den>
                      </m:f>
                      <m:r>
                        <a:rPr lang="en-US" sz="2000" b="0" i="1" smtClean="0">
                          <a:solidFill>
                            <a:srgbClr val="000000"/>
                          </a:solidFill>
                          <a:latin typeface="Cambria Math" panose="02040503050406030204" pitchFamily="18" charset="0"/>
                          <a:cs typeface="Arial" panose="020B0604020202020204" pitchFamily="34" charset="0"/>
                        </a:rPr>
                        <m:t>=</m:t>
                      </m:r>
                      <m:f>
                        <m:fPr>
                          <m:ctrlPr>
                            <a:rPr lang="en-US" sz="2000" b="0" i="1" smtClean="0">
                              <a:solidFill>
                                <a:srgbClr val="000000"/>
                              </a:solidFill>
                              <a:latin typeface="Cambria Math" panose="02040503050406030204" pitchFamily="18" charset="0"/>
                              <a:cs typeface="Arial" panose="020B0604020202020204" pitchFamily="34" charset="0"/>
                            </a:rPr>
                          </m:ctrlPr>
                        </m:fPr>
                        <m:num>
                          <m:d>
                            <m:dPr>
                              <m:ctrlPr>
                                <a:rPr lang="en-US" sz="2000" b="0" i="1" smtClean="0">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90</m:t>
                              </m:r>
                            </m:e>
                          </m:d>
                          <m:d>
                            <m:dPr>
                              <m:ctrlPr>
                                <a:rPr lang="en-US" sz="2000" b="0" i="1" smtClean="0">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132</m:t>
                              </m:r>
                            </m:e>
                          </m:d>
                        </m:num>
                        <m:den>
                          <m:r>
                            <a:rPr lang="en-US" sz="2000" b="0" i="1" smtClean="0">
                              <a:solidFill>
                                <a:srgbClr val="000000"/>
                              </a:solidFill>
                              <a:latin typeface="Cambria Math" panose="02040503050406030204" pitchFamily="18" charset="0"/>
                              <a:cs typeface="Arial" panose="020B0604020202020204" pitchFamily="34" charset="0"/>
                            </a:rPr>
                            <m:t>200</m:t>
                          </m:r>
                        </m:den>
                      </m:f>
                      <m:r>
                        <a:rPr lang="en-US" sz="2000" b="0" i="1" smtClean="0">
                          <a:solidFill>
                            <a:srgbClr val="000000"/>
                          </a:solidFill>
                          <a:latin typeface="Cambria Math" panose="02040503050406030204" pitchFamily="18" charset="0"/>
                          <a:cs typeface="Arial" panose="020B0604020202020204" pitchFamily="34" charset="0"/>
                        </a:rPr>
                        <m:t>=</m:t>
                      </m:r>
                      <m:d>
                        <m:dPr>
                          <m:ctrlPr>
                            <a:rPr lang="en-US" sz="2000" b="0" i="1" smtClean="0">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0.45</m:t>
                          </m:r>
                        </m:e>
                      </m:d>
                      <m:r>
                        <a:rPr lang="en-US" sz="2000" b="0" i="1" smtClean="0">
                          <a:solidFill>
                            <a:srgbClr val="000000"/>
                          </a:solidFill>
                          <a:latin typeface="Cambria Math" panose="02040503050406030204" pitchFamily="18" charset="0"/>
                          <a:cs typeface="Arial" panose="020B0604020202020204" pitchFamily="34" charset="0"/>
                        </a:rPr>
                        <m:t>132=59.40</m:t>
                      </m:r>
                    </m:oMath>
                  </m:oMathPara>
                </a14:m>
                <a:endParaRPr lang="en-US" sz="2000" dirty="0"/>
              </a:p>
            </p:txBody>
          </p:sp>
        </mc:Choice>
        <mc:Fallback xmlns="">
          <p:sp>
            <p:nvSpPr>
              <p:cNvPr id="3" name="Text Placeholder 2">
                <a:extLst>
                  <a:ext uri="{FF2B5EF4-FFF2-40B4-BE49-F238E27FC236}">
                    <a16:creationId xmlns:a16="http://schemas.microsoft.com/office/drawing/2014/main" id="{E13F2A43-62BC-280D-784B-342E9B63C49F}"/>
                  </a:ext>
                </a:extLst>
              </p:cNvPr>
              <p:cNvSpPr>
                <a:spLocks noGrp="1" noRot="1" noChangeAspect="1" noMove="1" noResize="1" noEditPoints="1" noAdjustHandles="1" noChangeArrowheads="1" noChangeShapeType="1" noTextEdit="1"/>
              </p:cNvSpPr>
              <p:nvPr>
                <p:ph type="body" sz="quarter" idx="15"/>
              </p:nvPr>
            </p:nvSpPr>
            <p:spPr>
              <a:xfrm>
                <a:off x="793194" y="1557341"/>
                <a:ext cx="10529510" cy="2586039"/>
              </a:xfrm>
              <a:blipFill>
                <a:blip r:embed="rId3"/>
                <a:stretch>
                  <a:fillRect l="-1621" t="-19294" r="-11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Placeholder 10">
                <a:extLst>
                  <a:ext uri="{FF2B5EF4-FFF2-40B4-BE49-F238E27FC236}">
                    <a16:creationId xmlns:a16="http://schemas.microsoft.com/office/drawing/2014/main" id="{7BD6E659-6B11-8F3F-E1FC-2DFFF0C895D1}"/>
                  </a:ext>
                </a:extLst>
              </p:cNvPr>
              <p:cNvSpPr>
                <a:spLocks noGrp="1"/>
              </p:cNvSpPr>
              <p:nvPr>
                <p:ph type="body" sz="quarter" idx="18"/>
              </p:nvPr>
            </p:nvSpPr>
            <p:spPr>
              <a:xfrm>
                <a:off x="790319" y="4100516"/>
                <a:ext cx="5305682" cy="1616568"/>
              </a:xfrm>
            </p:spPr>
            <p:txBody>
              <a:bodyPr/>
              <a:lstStyle/>
              <a:p>
                <a:pPr>
                  <a:lnSpc>
                    <a:spcPct val="100000"/>
                  </a:lnSpc>
                </a:pPr>
                <a:r>
                  <a:rPr lang="en-US" sz="2000" dirty="0"/>
                  <a:t>Calculations of the remaining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r>
                      <a:rPr lang="en-US" sz="2000" b="0" i="1" smtClean="0">
                        <a:solidFill>
                          <a:srgbClr val="000000"/>
                        </a:solidFill>
                        <a:latin typeface="Cambria Math" panose="02040503050406030204" pitchFamily="18" charset="0"/>
                        <a:cs typeface="Arial" panose="020B0604020202020204" pitchFamily="34" charset="0"/>
                      </a:rPr>
                      <m:t> </m:t>
                    </m:r>
                  </m:oMath>
                </a14:m>
                <a:r>
                  <a:rPr lang="en-US" sz="2000" dirty="0"/>
                  <a:t>shown to the right provide the full table of expected frequencies for preference of type of beer and sex of beer drinker under the assumption that </a:t>
                </a:r>
                <a:r>
                  <a:rPr lang="en-US" sz="2000" i="1" dirty="0"/>
                  <a:t>H</a:t>
                </a:r>
                <a:r>
                  <a:rPr lang="en-US" sz="2000" baseline="-25000" dirty="0"/>
                  <a:t>0</a:t>
                </a:r>
                <a:r>
                  <a:rPr lang="en-US" sz="2000" dirty="0"/>
                  <a:t> is true.</a:t>
                </a:r>
              </a:p>
            </p:txBody>
          </p:sp>
        </mc:Choice>
        <mc:Fallback xmlns="">
          <p:sp>
            <p:nvSpPr>
              <p:cNvPr id="11" name="Text Placeholder 10">
                <a:extLst>
                  <a:ext uri="{FF2B5EF4-FFF2-40B4-BE49-F238E27FC236}">
                    <a16:creationId xmlns:a16="http://schemas.microsoft.com/office/drawing/2014/main" id="{7BD6E659-6B11-8F3F-E1FC-2DFFF0C895D1}"/>
                  </a:ext>
                </a:extLst>
              </p:cNvPr>
              <p:cNvSpPr>
                <a:spLocks noGrp="1" noRot="1" noChangeAspect="1" noMove="1" noResize="1" noEditPoints="1" noAdjustHandles="1" noChangeArrowheads="1" noChangeShapeType="1" noTextEdit="1"/>
              </p:cNvSpPr>
              <p:nvPr>
                <p:ph type="body" sz="quarter" idx="18"/>
              </p:nvPr>
            </p:nvSpPr>
            <p:spPr>
              <a:xfrm>
                <a:off x="790319" y="4100516"/>
                <a:ext cx="5305682" cy="1616568"/>
              </a:xfrm>
              <a:blipFill>
                <a:blip r:embed="rId4"/>
                <a:stretch>
                  <a:fillRect l="-2989" t="-4906" r="-1149" b="-5660"/>
                </a:stretch>
              </a:blipFill>
            </p:spPr>
            <p:txBody>
              <a:bodyPr/>
              <a:lstStyle/>
              <a:p>
                <a:r>
                  <a:rPr lang="en-US">
                    <a:noFill/>
                  </a:rPr>
                  <a:t> </a:t>
                </a:r>
              </a:p>
            </p:txBody>
          </p:sp>
        </mc:Fallback>
      </mc:AlternateContent>
      <p:graphicFrame>
        <p:nvGraphicFramePr>
          <p:cNvPr id="5" name="Table 5">
            <a:extLst>
              <a:ext uri="{FF2B5EF4-FFF2-40B4-BE49-F238E27FC236}">
                <a16:creationId xmlns:a16="http://schemas.microsoft.com/office/drawing/2014/main" id="{B9E3E62B-AFCA-846D-5E14-2AF93278EE7A}"/>
              </a:ext>
            </a:extLst>
          </p:cNvPr>
          <p:cNvGraphicFramePr>
            <a:graphicFrameLocks noGrp="1"/>
          </p:cNvGraphicFramePr>
          <p:nvPr>
            <p:ph type="tbl" sz="quarter" idx="22"/>
            <p:extLst>
              <p:ext uri="{D42A27DB-BD31-4B8C-83A1-F6EECF244321}">
                <p14:modId xmlns:p14="http://schemas.microsoft.com/office/powerpoint/2010/main" val="2615921461"/>
              </p:ext>
            </p:extLst>
          </p:nvPr>
        </p:nvGraphicFramePr>
        <p:xfrm>
          <a:off x="6331912" y="4034815"/>
          <a:ext cx="4754880" cy="2010238"/>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683758107"/>
                    </a:ext>
                  </a:extLst>
                </a:gridCol>
                <a:gridCol w="914400">
                  <a:extLst>
                    <a:ext uri="{9D8B030D-6E8A-4147-A177-3AD203B41FA5}">
                      <a16:colId xmlns:a16="http://schemas.microsoft.com/office/drawing/2014/main" val="1194125209"/>
                    </a:ext>
                  </a:extLst>
                </a:gridCol>
                <a:gridCol w="914400">
                  <a:extLst>
                    <a:ext uri="{9D8B030D-6E8A-4147-A177-3AD203B41FA5}">
                      <a16:colId xmlns:a16="http://schemas.microsoft.com/office/drawing/2014/main" val="2909646441"/>
                    </a:ext>
                  </a:extLst>
                </a:gridCol>
                <a:gridCol w="1097280">
                  <a:extLst>
                    <a:ext uri="{9D8B030D-6E8A-4147-A177-3AD203B41FA5}">
                      <a16:colId xmlns:a16="http://schemas.microsoft.com/office/drawing/2014/main" val="2748889128"/>
                    </a:ext>
                  </a:extLst>
                </a:gridCol>
              </a:tblGrid>
              <a:tr h="382819">
                <a:tc>
                  <a:txBody>
                    <a:bodyPr/>
                    <a:lstStyle/>
                    <a:p>
                      <a:pPr algn="l" fontAlgn="ctr"/>
                      <a:endParaRPr lang="en-US" sz="2000" b="1" i="0" u="none" strike="noStrike" dirty="0">
                        <a:solidFill>
                          <a:srgbClr val="0070C0"/>
                        </a:solidFill>
                        <a:effectLst/>
                        <a:latin typeface="+mn-lt"/>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endParaRPr lang="en-US" sz="2000" b="1" i="0" u="none" strike="noStrike" dirty="0">
                        <a:solidFill>
                          <a:srgbClr val="000000"/>
                        </a:solidFill>
                        <a:effectLst/>
                        <a:latin typeface="+mn-lt"/>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0" u="none" strike="noStrike" dirty="0">
                          <a:solidFill>
                            <a:srgbClr val="0070C0"/>
                          </a:solidFill>
                          <a:effectLst/>
                          <a:latin typeface="+mn-lt"/>
                        </a:rPr>
                        <a:t>Sex</a:t>
                      </a:r>
                      <a:endParaRPr lang="en-US" sz="2000" b="1" i="0" u="none" strike="noStrike" dirty="0">
                        <a:solidFill>
                          <a:srgbClr val="000000"/>
                        </a:solidFill>
                        <a:effectLst/>
                        <a:latin typeface="+mn-lt"/>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endParaRPr lang="en-US" sz="2000" b="1" i="0" u="none" strike="noStrike" dirty="0">
                        <a:solidFill>
                          <a:srgbClr val="000000"/>
                        </a:solidFill>
                        <a:effectLst/>
                        <a:latin typeface="+mn-lt"/>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05304402"/>
                  </a:ext>
                </a:extLst>
              </a:tr>
              <a:tr h="382819">
                <a:tc>
                  <a:txBody>
                    <a:bodyPr/>
                    <a:lstStyle/>
                    <a:p>
                      <a:pPr algn="l" fontAlgn="ctr"/>
                      <a:r>
                        <a:rPr lang="en-US" sz="2000" b="1" i="0" u="none" strike="noStrike" dirty="0">
                          <a:solidFill>
                            <a:srgbClr val="0070C0"/>
                          </a:solidFill>
                          <a:effectLst/>
                          <a:latin typeface="+mn-lt"/>
                        </a:rPr>
                        <a:t> Beer Preference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0" u="none" strike="noStrike" dirty="0">
                          <a:solidFill>
                            <a:srgbClr val="000000"/>
                          </a:solidFill>
                          <a:effectLst/>
                          <a:latin typeface="+mn-lt"/>
                        </a:rPr>
                        <a:t>Male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0" u="none" strike="noStrike" dirty="0">
                          <a:solidFill>
                            <a:srgbClr val="000000"/>
                          </a:solidFill>
                          <a:effectLst/>
                          <a:latin typeface="+mn-lt"/>
                        </a:rPr>
                        <a:t>Female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0" u="none" strike="noStrike" dirty="0">
                          <a:solidFill>
                            <a:srgbClr val="000000"/>
                          </a:solidFill>
                          <a:effectLst/>
                          <a:latin typeface="+mn-lt"/>
                        </a:rPr>
                        <a:t>Total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66571555"/>
                  </a:ext>
                </a:extLst>
              </a:tr>
              <a:tr h="289477">
                <a:tc>
                  <a:txBody>
                    <a:bodyPr/>
                    <a:lstStyle/>
                    <a:p>
                      <a:pPr algn="l" fontAlgn="ctr"/>
                      <a:r>
                        <a:rPr lang="en-US" sz="2000" b="1" i="0" u="none" strike="noStrike" dirty="0">
                          <a:solidFill>
                            <a:srgbClr val="000000"/>
                          </a:solidFill>
                          <a:effectLst/>
                          <a:latin typeface="+mn-lt"/>
                        </a:rPr>
                        <a:t> Light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741363" algn="r"/>
                        </a:tabLst>
                      </a:pPr>
                      <a:r>
                        <a:rPr lang="en-US" sz="2000" b="0" i="0" u="none" strike="noStrike" dirty="0">
                          <a:solidFill>
                            <a:srgbClr val="000000"/>
                          </a:solidFill>
                          <a:effectLst/>
                          <a:latin typeface="+mn-lt"/>
                        </a:rPr>
                        <a:t>	59.40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741363" algn="r"/>
                        </a:tabLst>
                      </a:pPr>
                      <a:r>
                        <a:rPr lang="en-US" sz="2000" b="0" i="0" u="none" strike="noStrike" dirty="0">
                          <a:solidFill>
                            <a:srgbClr val="000000"/>
                          </a:solidFill>
                          <a:effectLst/>
                          <a:latin typeface="+mn-lt"/>
                        </a:rPr>
                        <a:t>	30.60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2000" b="0" i="0" u="none" strike="noStrike" dirty="0">
                          <a:solidFill>
                            <a:srgbClr val="000000"/>
                          </a:solidFill>
                          <a:effectLst/>
                          <a:latin typeface="+mn-lt"/>
                        </a:rPr>
                        <a:t>	90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116651376"/>
                  </a:ext>
                </a:extLst>
              </a:tr>
              <a:tr h="289477">
                <a:tc>
                  <a:txBody>
                    <a:bodyPr/>
                    <a:lstStyle/>
                    <a:p>
                      <a:pPr algn="l" fontAlgn="ctr"/>
                      <a:r>
                        <a:rPr lang="en-US" sz="2000" b="1" i="0" u="none" strike="noStrike" dirty="0">
                          <a:solidFill>
                            <a:srgbClr val="000000"/>
                          </a:solidFill>
                          <a:effectLst/>
                          <a:latin typeface="+mn-lt"/>
                        </a:rPr>
                        <a:t> Regular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741363" algn="r"/>
                        </a:tabLst>
                      </a:pPr>
                      <a:r>
                        <a:rPr lang="en-US" sz="2000" b="0" i="0" u="none" strike="noStrike" dirty="0">
                          <a:solidFill>
                            <a:srgbClr val="000000"/>
                          </a:solidFill>
                          <a:effectLst/>
                          <a:latin typeface="+mn-lt"/>
                        </a:rPr>
                        <a:t>	50.82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741363" algn="r"/>
                        </a:tabLst>
                      </a:pPr>
                      <a:r>
                        <a:rPr lang="en-US" sz="2000" b="0" i="0" u="none" strike="noStrike" dirty="0">
                          <a:solidFill>
                            <a:srgbClr val="000000"/>
                          </a:solidFill>
                          <a:effectLst/>
                          <a:latin typeface="+mn-lt"/>
                        </a:rPr>
                        <a:t>	26.18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2000" b="0" i="0" u="none" strike="noStrike" dirty="0">
                          <a:solidFill>
                            <a:srgbClr val="000000"/>
                          </a:solidFill>
                          <a:effectLst/>
                          <a:latin typeface="+mn-lt"/>
                        </a:rPr>
                        <a:t>	77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63132887"/>
                  </a:ext>
                </a:extLst>
              </a:tr>
              <a:tr h="289477">
                <a:tc>
                  <a:txBody>
                    <a:bodyPr/>
                    <a:lstStyle/>
                    <a:p>
                      <a:pPr algn="l" fontAlgn="ctr"/>
                      <a:r>
                        <a:rPr lang="en-US" sz="2000" b="1" i="0" u="none" strike="noStrike" dirty="0">
                          <a:solidFill>
                            <a:srgbClr val="000000"/>
                          </a:solidFill>
                          <a:effectLst/>
                          <a:latin typeface="+mn-lt"/>
                        </a:rPr>
                        <a:t> Dark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a:t>
                      </a:r>
                      <a:r>
                        <a:rPr lang="en-US" sz="2000" b="0" i="0" u="sng" strike="noStrike" dirty="0">
                          <a:solidFill>
                            <a:srgbClr val="000000"/>
                          </a:solidFill>
                          <a:effectLst/>
                          <a:latin typeface="+mn-lt"/>
                        </a:rPr>
                        <a:t>   21.78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569913" algn="r"/>
                        </a:tabLst>
                      </a:pPr>
                      <a:r>
                        <a:rPr lang="en-US" sz="2000" b="0" i="0" u="none" strike="noStrike" dirty="0">
                          <a:solidFill>
                            <a:srgbClr val="000000"/>
                          </a:solidFill>
                          <a:effectLst/>
                          <a:latin typeface="+mn-lt"/>
                        </a:rPr>
                        <a:t>	</a:t>
                      </a:r>
                      <a:r>
                        <a:rPr lang="en-US" sz="2000" b="0" i="0" u="sng" strike="noStrike" dirty="0">
                          <a:solidFill>
                            <a:srgbClr val="000000"/>
                          </a:solidFill>
                          <a:effectLst/>
                          <a:latin typeface="+mn-lt"/>
                        </a:rPr>
                        <a:t>   11.22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2000" b="0" i="0" u="none" strike="noStrike" dirty="0">
                          <a:solidFill>
                            <a:srgbClr val="000000"/>
                          </a:solidFill>
                          <a:effectLst/>
                          <a:latin typeface="+mn-lt"/>
                        </a:rPr>
                        <a:t>	</a:t>
                      </a:r>
                      <a:r>
                        <a:rPr lang="en-US" sz="2000" b="0" i="0" u="sng" strike="noStrike" dirty="0">
                          <a:solidFill>
                            <a:srgbClr val="000000"/>
                          </a:solidFill>
                          <a:effectLst/>
                          <a:latin typeface="+mn-lt"/>
                        </a:rPr>
                        <a:t>   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910675638"/>
                  </a:ext>
                </a:extLst>
              </a:tr>
              <a:tr h="289477">
                <a:tc>
                  <a:txBody>
                    <a:bodyPr/>
                    <a:lstStyle/>
                    <a:p>
                      <a:pPr algn="l" fontAlgn="ctr"/>
                      <a:r>
                        <a:rPr lang="en-US" sz="2000" b="1" i="0" u="none" strike="noStrike" dirty="0">
                          <a:solidFill>
                            <a:srgbClr val="000000"/>
                          </a:solidFill>
                          <a:effectLst/>
                          <a:latin typeface="+mn-lt"/>
                        </a:rPr>
                        <a:t> Total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396875" algn="r"/>
                        </a:tabLst>
                      </a:pPr>
                      <a:r>
                        <a:rPr lang="en-US" sz="2000" b="0" i="0" u="none" strike="noStrike" dirty="0">
                          <a:solidFill>
                            <a:srgbClr val="000000"/>
                          </a:solidFill>
                          <a:effectLst/>
                          <a:latin typeface="+mn-lt"/>
                        </a:rPr>
                        <a:t>	 132.</a:t>
                      </a:r>
                      <a:r>
                        <a:rPr lang="en-US" sz="2000" b="0" i="0" u="none" strike="noStrike" dirty="0">
                          <a:solidFill>
                            <a:srgbClr val="FF0000"/>
                          </a:solidFill>
                          <a:effectLst/>
                          <a:latin typeface="+mn-lt"/>
                        </a:rPr>
                        <a:t>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396875" algn="r"/>
                        </a:tabLst>
                      </a:pPr>
                      <a:r>
                        <a:rPr lang="en-US" sz="2000" b="0" i="0" u="none" strike="noStrike" dirty="0">
                          <a:solidFill>
                            <a:srgbClr val="000000"/>
                          </a:solidFill>
                          <a:effectLst/>
                          <a:latin typeface="+mn-lt"/>
                        </a:rPr>
                        <a:t>	   68</a:t>
                      </a:r>
                      <a:r>
                        <a:rPr lang="en-US" sz="2000" b="0" i="0" u="none" strike="noStrike" dirty="0">
                          <a:solidFill>
                            <a:srgbClr val="FF0000"/>
                          </a:solidFill>
                          <a:effectLst/>
                          <a:latin typeface="+mn-lt"/>
                        </a:rPr>
                        <a:t>.00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2000" b="0" i="0" u="none" strike="noStrike" dirty="0">
                          <a:solidFill>
                            <a:srgbClr val="000000"/>
                          </a:solidFill>
                          <a:effectLst/>
                          <a:latin typeface="+mn-lt"/>
                        </a:rPr>
                        <a:t>	200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81862880"/>
                  </a:ext>
                </a:extLst>
              </a:tr>
            </a:tbl>
          </a:graphicData>
        </a:graphic>
      </p:graphicFrame>
    </p:spTree>
    <p:extLst>
      <p:ext uri="{BB962C8B-B14F-4D97-AF65-F5344CB8AC3E}">
        <p14:creationId xmlns:p14="http://schemas.microsoft.com/office/powerpoint/2010/main" val="4243875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235A2-7762-4D59-77C0-7ED187C353CA}"/>
              </a:ext>
            </a:extLst>
          </p:cNvPr>
          <p:cNvSpPr>
            <a:spLocks noGrp="1"/>
          </p:cNvSpPr>
          <p:nvPr>
            <p:ph type="title"/>
          </p:nvPr>
        </p:nvSpPr>
        <p:spPr/>
        <p:txBody>
          <a:bodyPr/>
          <a:lstStyle/>
          <a:p>
            <a:r>
              <a:rPr lang="en-US" sz="3200" dirty="0"/>
              <a:t>12.2 Calculation of the Chi-Square Statistic for the Test of Independence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05EEECE-8682-61E7-01E1-C1EAE25467E9}"/>
                  </a:ext>
                </a:extLst>
              </p:cNvPr>
              <p:cNvSpPr>
                <a:spLocks noGrp="1"/>
              </p:cNvSpPr>
              <p:nvPr>
                <p:ph type="body" sz="quarter" idx="15"/>
              </p:nvPr>
            </p:nvSpPr>
            <p:spPr>
              <a:xfrm>
                <a:off x="743577" y="1529174"/>
                <a:ext cx="10610223" cy="1685518"/>
              </a:xfrm>
            </p:spPr>
            <p:txBody>
              <a:bodyPr/>
              <a:lstStyle/>
              <a:p>
                <a:pPr>
                  <a:spcAft>
                    <a:spcPts val="600"/>
                  </a:spcAft>
                </a:pPr>
                <a:r>
                  <a:rPr lang="en-US" sz="2000" dirty="0"/>
                  <a:t>A review of the expected frequencies table reveals that each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≥5</m:t>
                    </m:r>
                  </m:oMath>
                </a14:m>
                <a:r>
                  <a:rPr lang="en-US" sz="2000" dirty="0"/>
                  <a:t>. The chi-square component of males who drink light beer,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rPr>
                          <m:t>11</m:t>
                        </m:r>
                      </m:sub>
                      <m:sup>
                        <m:r>
                          <a:rPr lang="en-US" sz="2000" i="1">
                            <a:latin typeface="Cambria Math" panose="02040503050406030204" pitchFamily="18" charset="0"/>
                          </a:rPr>
                          <m:t>2</m:t>
                        </m:r>
                      </m:sup>
                    </m:sSubSup>
                  </m:oMath>
                </a14:m>
                <a:r>
                  <a:rPr lang="en-US" sz="2000" dirty="0"/>
                  <a:t>, is calculated as follows</a:t>
                </a:r>
              </a:p>
              <a:p>
                <a:pPr marL="914400">
                  <a:spcAft>
                    <a:spcPts val="600"/>
                  </a:spcAft>
                </a:pPr>
                <a14:m>
                  <m:oMathPara xmlns:m="http://schemas.openxmlformats.org/officeDocument/2006/math">
                    <m:oMathParaPr>
                      <m:jc m:val="left"/>
                    </m:oMathParaPr>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rPr>
                            <m:t>11</m:t>
                          </m:r>
                        </m:sub>
                        <m:sup>
                          <m:r>
                            <a:rPr lang="en-US" sz="2000" i="1">
                              <a:latin typeface="Cambria Math" panose="02040503050406030204" pitchFamily="18" charset="0"/>
                            </a:rPr>
                            <m:t>2</m:t>
                          </m:r>
                        </m:sup>
                      </m:sSubSup>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𝑓</m:t>
                                      </m:r>
                                    </m:e>
                                    <m:sub>
                                      <m:r>
                                        <a:rPr lang="en-US" sz="2000" b="0" i="1" smtClean="0">
                                          <a:latin typeface="Cambria Math" panose="02040503050406030204" pitchFamily="18" charset="0"/>
                                          <a:cs typeface="Arial" panose="020B0604020202020204" pitchFamily="34" charset="0"/>
                                        </a:rPr>
                                        <m:t>11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𝑒</m:t>
                                      </m:r>
                                    </m:e>
                                    <m:sub>
                                      <m:r>
                                        <a:rPr lang="en-US" sz="2000" b="0" i="1" smtClean="0">
                                          <a:latin typeface="Cambria Math" panose="02040503050406030204" pitchFamily="18" charset="0"/>
                                          <a:cs typeface="Arial" panose="020B0604020202020204" pitchFamily="34" charset="0"/>
                                        </a:rPr>
                                        <m:t>11</m:t>
                                      </m:r>
                                    </m:sub>
                                  </m:sSub>
                                </m:e>
                              </m:d>
                            </m:e>
                            <m:sup>
                              <m:r>
                                <a:rPr lang="en-US" sz="2000" i="1">
                                  <a:latin typeface="Cambria Math" panose="02040503050406030204" pitchFamily="18" charset="0"/>
                                  <a:cs typeface="Arial" panose="020B0604020202020204" pitchFamily="34" charset="0"/>
                                </a:rPr>
                                <m:t>2</m:t>
                              </m:r>
                            </m:sup>
                          </m:sSup>
                        </m:num>
                        <m:den>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𝑒</m:t>
                              </m:r>
                            </m:e>
                            <m:sub>
                              <m:r>
                                <a:rPr lang="en-US" sz="2000" b="0" i="1" smtClean="0">
                                  <a:latin typeface="Cambria Math" panose="02040503050406030204" pitchFamily="18" charset="0"/>
                                  <a:cs typeface="Arial" panose="020B0604020202020204" pitchFamily="34" charset="0"/>
                                </a:rPr>
                                <m:t>11</m:t>
                              </m:r>
                            </m:sub>
                          </m:sSub>
                        </m:den>
                      </m:f>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51</m:t>
                                  </m:r>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59.40</m:t>
                                  </m:r>
                                </m:e>
                              </m:d>
                            </m:e>
                            <m:sup>
                              <m:r>
                                <a:rPr lang="en-US" sz="2000" i="1">
                                  <a:latin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cs typeface="Arial" panose="020B0604020202020204" pitchFamily="34" charset="0"/>
                            </a:rPr>
                            <m:t>59.40</m:t>
                          </m:r>
                        </m:den>
                      </m:f>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70.56</m:t>
                          </m:r>
                        </m:num>
                        <m:den>
                          <m:r>
                            <a:rPr lang="en-US" sz="2000" b="0" i="1" smtClean="0">
                              <a:latin typeface="Cambria Math" panose="02040503050406030204" pitchFamily="18" charset="0"/>
                              <a:cs typeface="Arial" panose="020B0604020202020204" pitchFamily="34" charset="0"/>
                            </a:rPr>
                            <m:t>59.40</m:t>
                          </m:r>
                        </m:den>
                      </m:f>
                      <m:r>
                        <a:rPr lang="en-US" sz="2000" b="0" i="1" smtClean="0">
                          <a:latin typeface="Cambria Math" panose="02040503050406030204" pitchFamily="18" charset="0"/>
                          <a:cs typeface="Arial" panose="020B0604020202020204" pitchFamily="34" charset="0"/>
                        </a:rPr>
                        <m:t>=1.19</m:t>
                      </m:r>
                    </m:oMath>
                  </m:oMathPara>
                </a14:m>
                <a:endParaRPr lang="en-US" sz="2000" dirty="0"/>
              </a:p>
              <a:p>
                <a:pPr>
                  <a:lnSpc>
                    <a:spcPct val="100000"/>
                  </a:lnSpc>
                  <a:spcBef>
                    <a:spcPts val="600"/>
                  </a:spcBef>
                  <a:spcAft>
                    <a:spcPts val="600"/>
                  </a:spcAft>
                </a:pPr>
                <a:r>
                  <a:rPr lang="en-US" sz="2000" dirty="0"/>
                  <a:t>The chi-square test statistic,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=6.45</m:t>
                    </m:r>
                  </m:oMath>
                </a14:m>
                <a:r>
                  <a:rPr lang="en-US" sz="2000" dirty="0"/>
                  <a:t>, is the sum of the six chi-square components.</a:t>
                </a:r>
              </a:p>
            </p:txBody>
          </p:sp>
        </mc:Choice>
        <mc:Fallback xmlns="">
          <p:sp>
            <p:nvSpPr>
              <p:cNvPr id="3" name="Text Placeholder 2">
                <a:extLst>
                  <a:ext uri="{FF2B5EF4-FFF2-40B4-BE49-F238E27FC236}">
                    <a16:creationId xmlns:a16="http://schemas.microsoft.com/office/drawing/2014/main" id="{605EEECE-8682-61E7-01E1-C1EAE25467E9}"/>
                  </a:ext>
                </a:extLst>
              </p:cNvPr>
              <p:cNvSpPr>
                <a:spLocks noGrp="1" noRot="1" noChangeAspect="1" noMove="1" noResize="1" noEditPoints="1" noAdjustHandles="1" noChangeArrowheads="1" noChangeShapeType="1" noTextEdit="1"/>
              </p:cNvSpPr>
              <p:nvPr>
                <p:ph type="body" sz="quarter" idx="15"/>
              </p:nvPr>
            </p:nvSpPr>
            <p:spPr>
              <a:xfrm>
                <a:off x="743577" y="1529174"/>
                <a:ext cx="10610223" cy="1685518"/>
              </a:xfrm>
              <a:blipFill>
                <a:blip r:embed="rId2"/>
                <a:stretch>
                  <a:fillRect l="-1493" t="-6159" b="-10507"/>
                </a:stretch>
              </a:blipFill>
            </p:spPr>
            <p:txBody>
              <a:bodyPr/>
              <a:lstStyle/>
              <a:p>
                <a:r>
                  <a:rPr lang="en-US">
                    <a:noFill/>
                  </a:rPr>
                  <a:t> </a:t>
                </a:r>
              </a:p>
            </p:txBody>
          </p:sp>
        </mc:Fallback>
      </mc:AlternateContent>
      <p:graphicFrame>
        <p:nvGraphicFramePr>
          <p:cNvPr id="5" name="Table 6">
            <a:extLst>
              <a:ext uri="{FF2B5EF4-FFF2-40B4-BE49-F238E27FC236}">
                <a16:creationId xmlns:a16="http://schemas.microsoft.com/office/drawing/2014/main" id="{A1F278D5-726E-AB06-4DB1-88A61D3C2217}"/>
              </a:ext>
            </a:extLst>
          </p:cNvPr>
          <p:cNvGraphicFramePr>
            <a:graphicFrameLocks noGrp="1"/>
          </p:cNvGraphicFramePr>
          <p:nvPr>
            <p:ph type="tbl" sz="quarter" idx="16"/>
            <p:extLst>
              <p:ext uri="{D42A27DB-BD31-4B8C-83A1-F6EECF244321}">
                <p14:modId xmlns:p14="http://schemas.microsoft.com/office/powerpoint/2010/main" val="721158251"/>
              </p:ext>
            </p:extLst>
          </p:nvPr>
        </p:nvGraphicFramePr>
        <p:xfrm>
          <a:off x="1513647" y="3461489"/>
          <a:ext cx="9164708" cy="2567940"/>
        </p:xfrm>
        <a:graphic>
          <a:graphicData uri="http://schemas.openxmlformats.org/drawingml/2006/table">
            <a:tbl>
              <a:tblPr firstRow="1" bandRow="1">
                <a:tableStyleId>{5C22544A-7EE6-4342-B048-85BDC9FD1C3A}</a:tableStyleId>
              </a:tblPr>
              <a:tblGrid>
                <a:gridCol w="1634995">
                  <a:extLst>
                    <a:ext uri="{9D8B030D-6E8A-4147-A177-3AD203B41FA5}">
                      <a16:colId xmlns:a16="http://schemas.microsoft.com/office/drawing/2014/main" val="3331846321"/>
                    </a:ext>
                  </a:extLst>
                </a:gridCol>
                <a:gridCol w="757973">
                  <a:extLst>
                    <a:ext uri="{9D8B030D-6E8A-4147-A177-3AD203B41FA5}">
                      <a16:colId xmlns:a16="http://schemas.microsoft.com/office/drawing/2014/main" val="2394714925"/>
                    </a:ext>
                  </a:extLst>
                </a:gridCol>
                <a:gridCol w="1078878">
                  <a:extLst>
                    <a:ext uri="{9D8B030D-6E8A-4147-A177-3AD203B41FA5}">
                      <a16:colId xmlns:a16="http://schemas.microsoft.com/office/drawing/2014/main" val="2549020119"/>
                    </a:ext>
                  </a:extLst>
                </a:gridCol>
                <a:gridCol w="1078878">
                  <a:extLst>
                    <a:ext uri="{9D8B030D-6E8A-4147-A177-3AD203B41FA5}">
                      <a16:colId xmlns:a16="http://schemas.microsoft.com/office/drawing/2014/main" val="86001883"/>
                    </a:ext>
                  </a:extLst>
                </a:gridCol>
                <a:gridCol w="1036326">
                  <a:extLst>
                    <a:ext uri="{9D8B030D-6E8A-4147-A177-3AD203B41FA5}">
                      <a16:colId xmlns:a16="http://schemas.microsoft.com/office/drawing/2014/main" val="2871899978"/>
                    </a:ext>
                  </a:extLst>
                </a:gridCol>
                <a:gridCol w="1137531">
                  <a:extLst>
                    <a:ext uri="{9D8B030D-6E8A-4147-A177-3AD203B41FA5}">
                      <a16:colId xmlns:a16="http://schemas.microsoft.com/office/drawing/2014/main" val="1588154519"/>
                    </a:ext>
                  </a:extLst>
                </a:gridCol>
                <a:gridCol w="2440127">
                  <a:extLst>
                    <a:ext uri="{9D8B030D-6E8A-4147-A177-3AD203B41FA5}">
                      <a16:colId xmlns:a16="http://schemas.microsoft.com/office/drawing/2014/main" val="3084839578"/>
                    </a:ext>
                  </a:extLst>
                </a:gridCol>
              </a:tblGrid>
              <a:tr h="725397">
                <a:tc>
                  <a:txBody>
                    <a:bodyPr/>
                    <a:lstStyle/>
                    <a:p>
                      <a:pPr marL="0" algn="l" defTabSz="914400" rtl="0" eaLnBrk="1" fontAlgn="ctr" latinLnBrk="0" hangingPunct="1"/>
                      <a:r>
                        <a:rPr lang="en-US" sz="1600" b="1" i="0" u="none" strike="noStrike" kern="1200" dirty="0">
                          <a:solidFill>
                            <a:srgbClr val="000000"/>
                          </a:solidFill>
                          <a:effectLst/>
                          <a:latin typeface="+mn-lt"/>
                          <a:ea typeface="+mn-ea"/>
                          <a:cs typeface="+mn-cs"/>
                        </a:rPr>
                        <a:t>  Beer Preference</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ctr" latinLnBrk="0" hangingPunct="1"/>
                      <a:r>
                        <a:rPr lang="en-US" sz="1600" b="1" i="0" u="none" strike="noStrike" kern="1200" dirty="0">
                          <a:solidFill>
                            <a:srgbClr val="000000"/>
                          </a:solidFill>
                          <a:effectLst/>
                          <a:latin typeface="+mn-lt"/>
                          <a:ea typeface="+mn-ea"/>
                          <a:cs typeface="+mn-cs"/>
                        </a:rPr>
                        <a:t>Sex</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1" i="0" u="none" strike="noStrike" dirty="0">
                          <a:solidFill>
                            <a:srgbClr val="000000"/>
                          </a:solidFill>
                          <a:effectLst/>
                          <a:latin typeface="+mn-lt"/>
                        </a:rPr>
                        <a:t>Observed Frequency</a:t>
                      </a:r>
                    </a:p>
                    <a:p>
                      <a:pPr algn="ctr" fontAlgn="ctr"/>
                      <a:r>
                        <a:rPr lang="en-US" sz="1600" b="1" i="1" u="none" strike="noStrike" dirty="0" err="1">
                          <a:solidFill>
                            <a:srgbClr val="000000"/>
                          </a:solidFill>
                          <a:effectLst/>
                          <a:latin typeface="+mn-lt"/>
                        </a:rPr>
                        <a:t>f</a:t>
                      </a:r>
                      <a:r>
                        <a:rPr lang="en-US" sz="1600" b="1" i="0" u="none" strike="noStrike" baseline="-25000" dirty="0" err="1">
                          <a:solidFill>
                            <a:srgbClr val="000000"/>
                          </a:solidFill>
                          <a:effectLst/>
                          <a:latin typeface="+mn-lt"/>
                        </a:rPr>
                        <a:t>ii</a:t>
                      </a:r>
                      <a:endParaRPr lang="en-US" sz="1600" b="1" i="0" u="none" strike="noStrike" baseline="-25000" dirty="0">
                        <a:solidFill>
                          <a:srgbClr val="000000"/>
                        </a:solidFill>
                        <a:effectLst/>
                        <a:latin typeface="+mn-lt"/>
                      </a:endParaRPr>
                    </a:p>
                  </a:txBody>
                  <a:tcPr marL="0" marR="0" marT="0" marB="9144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1" i="0" u="none" strike="noStrike" dirty="0">
                          <a:solidFill>
                            <a:srgbClr val="000000"/>
                          </a:solidFill>
                          <a:effectLst/>
                          <a:latin typeface="+mn-lt"/>
                        </a:rPr>
                        <a:t>Expected Frequency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endParaRPr lang="en-US" sz="1600" b="1" i="0" u="none" strike="noStrike" baseline="-25000" dirty="0">
                        <a:solidFill>
                          <a:srgbClr val="000000"/>
                        </a:solidFill>
                        <a:effectLst/>
                        <a:latin typeface="+mn-lt"/>
                      </a:endParaRPr>
                    </a:p>
                  </a:txBody>
                  <a:tcPr marL="0" marR="0" marT="0" marB="9144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Difference</a:t>
                      </a:r>
                    </a:p>
                    <a:p>
                      <a:pPr algn="ctr" fontAlgn="b"/>
                      <a:r>
                        <a:rPr lang="en-US" sz="1600" b="1" i="1" u="none" strike="noStrike" dirty="0" err="1">
                          <a:solidFill>
                            <a:srgbClr val="000000"/>
                          </a:solidFill>
                          <a:effectLst/>
                          <a:latin typeface="+mn-lt"/>
                        </a:rPr>
                        <a:t>f</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endParaRPr lang="en-US" sz="1600" b="1" i="0" u="none" strike="noStrike" dirty="0">
                        <a:solidFill>
                          <a:srgbClr val="000000"/>
                        </a:solidFill>
                        <a:effectLst/>
                        <a:latin typeface="+mn-lt"/>
                      </a:endParaRP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Squared Difference</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mn-lt"/>
                        </a:rPr>
                        <a:t>(</a:t>
                      </a:r>
                      <a:r>
                        <a:rPr lang="en-US" sz="1600" b="1" i="1" u="none" strike="noStrike" dirty="0" err="1">
                          <a:solidFill>
                            <a:srgbClr val="000000"/>
                          </a:solidFill>
                          <a:effectLst/>
                          <a:latin typeface="+mn-lt"/>
                        </a:rPr>
                        <a:t>f</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a:t>
                      </a:r>
                      <a:r>
                        <a:rPr lang="en-US" sz="1600" b="1" i="0" u="none" strike="noStrike" baseline="30000" dirty="0">
                          <a:solidFill>
                            <a:srgbClr val="000000"/>
                          </a:solidFill>
                          <a:effectLst/>
                          <a:latin typeface="+mn-lt"/>
                        </a:rPr>
                        <a:t>2</a:t>
                      </a: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Squared Difference Divided by Expected Frequency</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mn-lt"/>
                        </a:rPr>
                        <a:t>(</a:t>
                      </a:r>
                      <a:r>
                        <a:rPr lang="en-US" sz="1600" b="1" i="1" u="none" strike="noStrike" dirty="0" err="1">
                          <a:solidFill>
                            <a:srgbClr val="000000"/>
                          </a:solidFill>
                          <a:effectLst/>
                          <a:latin typeface="+mn-lt"/>
                        </a:rPr>
                        <a:t>f</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a:t>
                      </a:r>
                      <a:r>
                        <a:rPr lang="en-US" sz="1600" b="1" i="0" u="none" strike="noStrike" baseline="30000" dirty="0">
                          <a:solidFill>
                            <a:srgbClr val="000000"/>
                          </a:solidFill>
                          <a:effectLst/>
                          <a:latin typeface="+mn-lt"/>
                        </a:rPr>
                        <a:t>2</a:t>
                      </a:r>
                      <a:r>
                        <a:rPr lang="en-US" sz="1600" b="1" i="0" u="none" strike="noStrike" baseline="0"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endParaRPr lang="en-US" sz="1600" b="1" i="0" u="none" strike="noStrike" baseline="0" dirty="0">
                        <a:solidFill>
                          <a:srgbClr val="000000"/>
                        </a:solidFill>
                        <a:effectLst/>
                        <a:latin typeface="+mn-lt"/>
                      </a:endParaRP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126492"/>
                  </a:ext>
                </a:extLst>
              </a:tr>
              <a:tr h="214933">
                <a:tc>
                  <a:txBody>
                    <a:bodyPr/>
                    <a:lstStyle/>
                    <a:p>
                      <a:pPr algn="l" fontAlgn="b"/>
                      <a:r>
                        <a:rPr lang="en-US" sz="1600" b="0" i="0" u="none" strike="noStrike" dirty="0">
                          <a:solidFill>
                            <a:srgbClr val="000000"/>
                          </a:solidFill>
                          <a:effectLst/>
                          <a:latin typeface="+mn-lt"/>
                        </a:rPr>
                        <a:t>  Light</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Male</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mn-lt"/>
                        </a:rPr>
                        <a:t>	51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1363" algn="r"/>
                        </a:tabLst>
                      </a:pPr>
                      <a:r>
                        <a:rPr lang="en-US" sz="1600" b="0" i="0" u="none" strike="noStrike" dirty="0">
                          <a:solidFill>
                            <a:srgbClr val="000000"/>
                          </a:solidFill>
                          <a:effectLst/>
                          <a:latin typeface="+mn-lt"/>
                        </a:rPr>
                        <a:t>	59.40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mn-lt"/>
                        </a:rPr>
                        <a:t>	-8.40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70.56</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1.19</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853710879"/>
                  </a:ext>
                </a:extLst>
              </a:tr>
              <a:tr h="214933">
                <a:tc>
                  <a:txBody>
                    <a:bodyPr/>
                    <a:lstStyle/>
                    <a:p>
                      <a:pPr algn="l" fontAlgn="b"/>
                      <a:r>
                        <a:rPr lang="en-US" sz="1600" b="0" i="0" u="none" strike="noStrike" dirty="0">
                          <a:solidFill>
                            <a:srgbClr val="000000"/>
                          </a:solidFill>
                          <a:effectLst/>
                          <a:latin typeface="+mn-lt"/>
                        </a:rPr>
                        <a:t>  Light</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a:solidFill>
                            <a:srgbClr val="000000"/>
                          </a:solidFill>
                          <a:effectLst/>
                          <a:latin typeface="+mn-lt"/>
                        </a:rPr>
                        <a:t>Female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mn-lt"/>
                        </a:rPr>
                        <a:t>	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1363" algn="r"/>
                        </a:tabLst>
                      </a:pPr>
                      <a:r>
                        <a:rPr lang="en-US" sz="1600" b="0" i="0" u="none" strike="noStrike" dirty="0">
                          <a:solidFill>
                            <a:srgbClr val="000000"/>
                          </a:solidFill>
                          <a:effectLst/>
                          <a:latin typeface="+mn-lt"/>
                        </a:rPr>
                        <a:t>	30.60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mn-lt"/>
                        </a:rPr>
                        <a:t>	8.40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70.56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2.31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15892803"/>
                  </a:ext>
                </a:extLst>
              </a:tr>
              <a:tr h="214933">
                <a:tc>
                  <a:txBody>
                    <a:bodyPr/>
                    <a:lstStyle/>
                    <a:p>
                      <a:pPr algn="l" fontAlgn="b"/>
                      <a:r>
                        <a:rPr lang="en-US" sz="1600" b="0" i="0" u="none" strike="noStrike" dirty="0">
                          <a:solidFill>
                            <a:srgbClr val="000000"/>
                          </a:solidFill>
                          <a:effectLst/>
                          <a:latin typeface="+mn-lt"/>
                        </a:rPr>
                        <a:t>  Regular</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Male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mn-lt"/>
                        </a:rPr>
                        <a:t>	56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1363" algn="r"/>
                        </a:tabLst>
                      </a:pPr>
                      <a:r>
                        <a:rPr lang="en-US" sz="1600" b="0" i="0" u="none" strike="noStrike" dirty="0">
                          <a:solidFill>
                            <a:srgbClr val="000000"/>
                          </a:solidFill>
                          <a:effectLst/>
                          <a:latin typeface="+mn-lt"/>
                        </a:rPr>
                        <a:t>	50.82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30238" algn="r"/>
                        </a:tabLst>
                      </a:pPr>
                      <a:r>
                        <a:rPr lang="en-US" sz="1600" b="0" i="0" u="none" strike="noStrike" kern="1200" dirty="0">
                          <a:solidFill>
                            <a:srgbClr val="000000"/>
                          </a:solidFill>
                          <a:effectLst/>
                          <a:latin typeface="+mn-lt"/>
                          <a:ea typeface="+mn-ea"/>
                          <a:cs typeface="+mn-cs"/>
                        </a:rPr>
                        <a:t>	5.18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26.83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0.53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750617046"/>
                  </a:ext>
                </a:extLst>
              </a:tr>
              <a:tr h="214933">
                <a:tc>
                  <a:txBody>
                    <a:bodyPr/>
                    <a:lstStyle/>
                    <a:p>
                      <a:pPr algn="l" fontAlgn="b"/>
                      <a:r>
                        <a:rPr lang="en-US" sz="1600" b="0" i="0" u="none" strike="noStrike" dirty="0">
                          <a:solidFill>
                            <a:srgbClr val="000000"/>
                          </a:solidFill>
                          <a:effectLst/>
                          <a:latin typeface="+mn-lt"/>
                        </a:rPr>
                        <a:t>  Regular</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Female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mn-lt"/>
                        </a:rPr>
                        <a:t>	21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1363" algn="r"/>
                        </a:tabLst>
                      </a:pPr>
                      <a:r>
                        <a:rPr lang="en-US" sz="1600" b="0" i="0" u="none" strike="noStrike" dirty="0">
                          <a:solidFill>
                            <a:srgbClr val="000000"/>
                          </a:solidFill>
                          <a:effectLst/>
                          <a:latin typeface="+mn-lt"/>
                        </a:rPr>
                        <a:t>	26.18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30238" algn="r"/>
                        </a:tabLst>
                      </a:pPr>
                      <a:r>
                        <a:rPr lang="en-US" sz="1600" b="0" i="0" u="none" strike="noStrike" kern="1200" dirty="0">
                          <a:solidFill>
                            <a:srgbClr val="000000"/>
                          </a:solidFill>
                          <a:effectLst/>
                          <a:latin typeface="+mn-lt"/>
                          <a:ea typeface="+mn-ea"/>
                          <a:cs typeface="+mn-cs"/>
                        </a:rPr>
                        <a:t>	-5.18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26.83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1.02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559400752"/>
                  </a:ext>
                </a:extLst>
              </a:tr>
              <a:tr h="214933">
                <a:tc>
                  <a:txBody>
                    <a:bodyPr/>
                    <a:lstStyle/>
                    <a:p>
                      <a:pPr algn="l" fontAlgn="b"/>
                      <a:r>
                        <a:rPr lang="en-US" sz="1600" b="0" i="0" u="none" strike="noStrike" dirty="0">
                          <a:solidFill>
                            <a:srgbClr val="000000"/>
                          </a:solidFill>
                          <a:effectLst/>
                          <a:latin typeface="+mn-lt"/>
                        </a:rPr>
                        <a:t>  Dark</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Male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r"/>
                        </a:tabLst>
                      </a:pPr>
                      <a:r>
                        <a:rPr lang="en-US" sz="1600" b="0" i="0" u="none" strike="noStrike" dirty="0">
                          <a:solidFill>
                            <a:srgbClr val="000000"/>
                          </a:solidFill>
                          <a:effectLst/>
                          <a:latin typeface="+mn-lt"/>
                        </a:rPr>
                        <a:t>	25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1363" algn="r"/>
                        </a:tabLst>
                      </a:pPr>
                      <a:r>
                        <a:rPr lang="en-US" sz="1600" b="0" i="0" u="none" strike="noStrike" dirty="0">
                          <a:solidFill>
                            <a:srgbClr val="000000"/>
                          </a:solidFill>
                          <a:effectLst/>
                          <a:latin typeface="+mn-lt"/>
                        </a:rPr>
                        <a:t>	21.78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30238" algn="r"/>
                        </a:tabLst>
                      </a:pPr>
                      <a:r>
                        <a:rPr lang="en-US" sz="1600" b="0" i="0" u="none" strike="noStrike" kern="1200" dirty="0">
                          <a:solidFill>
                            <a:srgbClr val="000000"/>
                          </a:solidFill>
                          <a:effectLst/>
                          <a:latin typeface="+mn-lt"/>
                          <a:ea typeface="+mn-ea"/>
                          <a:cs typeface="+mn-cs"/>
                        </a:rPr>
                        <a:t>	3.22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10.37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0.48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719045319"/>
                  </a:ext>
                </a:extLst>
              </a:tr>
              <a:tr h="214933">
                <a:tc>
                  <a:txBody>
                    <a:bodyPr/>
                    <a:lstStyle/>
                    <a:p>
                      <a:pPr algn="l" fontAlgn="b"/>
                      <a:r>
                        <a:rPr lang="en-US" sz="1600" b="0" i="0" u="none" strike="noStrike" dirty="0">
                          <a:solidFill>
                            <a:srgbClr val="000000"/>
                          </a:solidFill>
                          <a:effectLst/>
                          <a:latin typeface="+mn-lt"/>
                        </a:rPr>
                        <a:t>  Dark</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Female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a:t>
                      </a:r>
                      <a:r>
                        <a:rPr lang="en-US" sz="1600" b="0" i="0" u="sng" strike="noStrike" dirty="0">
                          <a:solidFill>
                            <a:srgbClr val="000000"/>
                          </a:solidFill>
                          <a:effectLst/>
                          <a:latin typeface="+mn-lt"/>
                        </a:rPr>
                        <a:t>      8</a:t>
                      </a:r>
                    </a:p>
                  </a:txBody>
                  <a:tcPr marL="6350" marR="6350" marT="6350" marB="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tabLst>
                          <a:tab pos="741363" algn="r"/>
                        </a:tabLst>
                      </a:pPr>
                      <a:r>
                        <a:rPr lang="en-US" sz="1600" b="0" i="0" u="none" strike="noStrike" dirty="0">
                          <a:solidFill>
                            <a:srgbClr val="000000"/>
                          </a:solidFill>
                          <a:effectLst/>
                          <a:latin typeface="+mn-lt"/>
                        </a:rPr>
                        <a:t>	</a:t>
                      </a:r>
                      <a:r>
                        <a:rPr lang="en-US" sz="1600" b="0" i="0" u="sng" strike="noStrike" dirty="0">
                          <a:solidFill>
                            <a:srgbClr val="000000"/>
                          </a:solidFill>
                          <a:effectLst/>
                          <a:latin typeface="+mn-lt"/>
                        </a:rPr>
                        <a:t> 11.22</a:t>
                      </a:r>
                    </a:p>
                  </a:txBody>
                  <a:tcPr marL="6350" marR="6350" marT="6350" marB="0" anchor="b">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30238" algn="r"/>
                        </a:tabLst>
                      </a:pPr>
                      <a:r>
                        <a:rPr lang="en-US" sz="1600" b="0" i="0" u="none" strike="noStrike" kern="1200" dirty="0">
                          <a:solidFill>
                            <a:srgbClr val="000000"/>
                          </a:solidFill>
                          <a:effectLst/>
                          <a:latin typeface="+mn-lt"/>
                          <a:ea typeface="+mn-ea"/>
                          <a:cs typeface="+mn-cs"/>
                        </a:rPr>
                        <a:t>	-3.22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10.37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sng" strike="noStrike" dirty="0">
                          <a:solidFill>
                            <a:srgbClr val="000000"/>
                          </a:solidFill>
                          <a:effectLst/>
                          <a:latin typeface="+mn-lt"/>
                        </a:rPr>
                        <a:t>0.92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42940897"/>
                  </a:ext>
                </a:extLst>
              </a:tr>
              <a:tr h="214933">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Total</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200</a:t>
                      </a:r>
                    </a:p>
                  </a:txBody>
                  <a:tcPr marL="0" marR="0" marT="0" marB="0" anchor="ctr">
                    <a:lnL w="12700" cmpd="sng">
                      <a:noFill/>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741363" algn="r"/>
                        </a:tabLst>
                      </a:pPr>
                      <a:r>
                        <a:rPr lang="en-US" sz="1600" b="0" i="0" u="none" strike="noStrike" kern="1200" dirty="0">
                          <a:solidFill>
                            <a:srgbClr val="000000"/>
                          </a:solidFill>
                          <a:effectLst/>
                          <a:latin typeface="+mn-lt"/>
                          <a:ea typeface="+mn-ea"/>
                          <a:cs typeface="+mn-cs"/>
                        </a:rPr>
                        <a:t>	200</a:t>
                      </a:r>
                    </a:p>
                  </a:txBody>
                  <a:tcPr marL="0" marR="0" marT="0" marB="0" anchor="b">
                    <a:lnL w="12700" cmpd="sng">
                      <a:noFill/>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l"/>
                        </a:tabLst>
                      </a:pPr>
                      <a:r>
                        <a:rPr lang="en-US" sz="1600" b="0" i="1" u="none" strike="noStrike" dirty="0">
                          <a:solidFill>
                            <a:srgbClr val="000000"/>
                          </a:solidFill>
                          <a:effectLst/>
                          <a:latin typeface="+mn-lt"/>
                        </a:rPr>
                        <a:t>	 </a:t>
                      </a:r>
                      <a:r>
                        <a:rPr lang="el-GR" sz="1600" b="0" i="1" u="none" strike="noStrike" dirty="0">
                          <a:solidFill>
                            <a:srgbClr val="000000"/>
                          </a:solidFill>
                          <a:effectLst/>
                          <a:latin typeface="+mn-lt"/>
                        </a:rPr>
                        <a:t>Χ</a:t>
                      </a:r>
                      <a:r>
                        <a:rPr lang="en-US" sz="1600" b="0" i="0" u="none" strike="noStrike" baseline="30000" dirty="0">
                          <a:solidFill>
                            <a:srgbClr val="000000"/>
                          </a:solidFill>
                          <a:effectLst/>
                          <a:latin typeface="+mn-lt"/>
                        </a:rPr>
                        <a:t>2</a:t>
                      </a:r>
                      <a:r>
                        <a:rPr lang="en-US" sz="1600" b="0" i="0" u="none" strike="noStrike" dirty="0">
                          <a:solidFill>
                            <a:srgbClr val="000000"/>
                          </a:solidFill>
                          <a:effectLst/>
                          <a:latin typeface="+mn-lt"/>
                        </a:rPr>
                        <a:t> = 6.45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131383"/>
                  </a:ext>
                </a:extLst>
              </a:tr>
            </a:tbl>
          </a:graphicData>
        </a:graphic>
      </p:graphicFrame>
    </p:spTree>
    <p:extLst>
      <p:ext uri="{BB962C8B-B14F-4D97-AF65-F5344CB8AC3E}">
        <p14:creationId xmlns:p14="http://schemas.microsoft.com/office/powerpoint/2010/main" val="1546807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sz="3200" dirty="0"/>
              <a:t>12.2 </a:t>
            </a:r>
            <a:r>
              <a:rPr lang="en-US" sz="3200" i="1" dirty="0"/>
              <a:t>p</a:t>
            </a:r>
            <a:r>
              <a:rPr lang="en-US" sz="3200" dirty="0"/>
              <a:t>-Value Approach to a Chi-Square Test for Independence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43576" y="1602036"/>
                <a:ext cx="5827705" cy="1700784"/>
              </a:xfrm>
            </p:spPr>
            <p:txBody>
              <a:bodyPr>
                <a:normAutofit/>
              </a:bodyPr>
              <a:lstStyle/>
              <a:p>
                <a:pPr>
                  <a:lnSpc>
                    <a:spcPct val="100000"/>
                  </a:lnSpc>
                  <a:spcBef>
                    <a:spcPts val="600"/>
                  </a:spcBef>
                  <a:spcAft>
                    <a:spcPts val="0"/>
                  </a:spcAft>
                  <a:tabLst>
                    <a:tab pos="8804275" algn="l"/>
                  </a:tabLst>
                </a:pPr>
                <a:r>
                  <a:rPr lang="en-US" sz="2000" dirty="0"/>
                  <a:t>In the beer preference example, the </a:t>
                </a:r>
                <a:r>
                  <a:rPr lang="en-US" sz="2000" i="1" dirty="0"/>
                  <a:t>p</a:t>
                </a:r>
                <a:r>
                  <a:rPr lang="en-US" sz="2000" dirty="0"/>
                  <a:t>-value is the upper tail of a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oMath>
                </a14:m>
                <a:r>
                  <a:rPr lang="en-US" sz="2000" dirty="0"/>
                  <a:t> distribution with </a:t>
                </a:r>
                <a14:m>
                  <m:oMath xmlns:m="http://schemas.openxmlformats.org/officeDocument/2006/math">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𝑟</m:t>
                        </m:r>
                        <m:r>
                          <a:rPr lang="en-US" sz="2000" i="1">
                            <a:latin typeface="Cambria Math" panose="02040503050406030204" pitchFamily="18" charset="0"/>
                            <a:cs typeface="Arial" panose="020B0604020202020204" pitchFamily="34" charset="0"/>
                          </a:rPr>
                          <m:t>−1</m:t>
                        </m:r>
                      </m:e>
                    </m:d>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𝑐</m:t>
                        </m:r>
                        <m:r>
                          <a:rPr lang="en-US" sz="2000" i="1">
                            <a:latin typeface="Cambria Math" panose="02040503050406030204" pitchFamily="18" charset="0"/>
                            <a:cs typeface="Arial" panose="020B0604020202020204" pitchFamily="34" charset="0"/>
                          </a:rPr>
                          <m:t>−1</m:t>
                        </m:r>
                      </m:e>
                    </m:d>
                    <m:r>
                      <a:rPr lang="en-US" sz="2000" b="0" i="1" smtClean="0">
                        <a:latin typeface="Cambria Math" panose="02040503050406030204" pitchFamily="18" charset="0"/>
                        <a:cs typeface="Arial" panose="020B0604020202020204" pitchFamily="34" charset="0"/>
                      </a:rPr>
                      <m:t>=2</m:t>
                    </m:r>
                  </m:oMath>
                </a14:m>
                <a:r>
                  <a:rPr lang="en-US" sz="2000" dirty="0"/>
                  <a:t> degrees of freedom: </a:t>
                </a:r>
                <a14:m>
                  <m:oMath xmlns:m="http://schemas.openxmlformats.org/officeDocument/2006/math">
                    <m:r>
                      <a:rPr lang="en-US" sz="2000" i="1" dirty="0" smtClean="0">
                        <a:latin typeface="Cambria Math" panose="02040503050406030204" pitchFamily="18" charset="0"/>
                      </a:rPr>
                      <m:t>𝑝</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value</m:t>
                    </m:r>
                    <m:r>
                      <a:rPr lang="en-US" sz="2000" i="1" dirty="0" smtClean="0">
                        <a:latin typeface="Cambria Math" panose="02040503050406030204" pitchFamily="18" charset="0"/>
                      </a:rPr>
                      <m:t>=</m:t>
                    </m:r>
                    <m:r>
                      <a:rPr lang="en-US" sz="2000" i="1" dirty="0" smtClean="0">
                        <a:latin typeface="Cambria Math" panose="02040503050406030204" pitchFamily="18" charset="0"/>
                      </a:rPr>
                      <m:t>𝑃</m:t>
                    </m:r>
                    <m:r>
                      <a:rPr lang="en-US" sz="2000" i="1" dirty="0" smtClean="0">
                        <a:latin typeface="Cambria Math" panose="02040503050406030204" pitchFamily="18" charset="0"/>
                      </a:rPr>
                      <m:t>(</m:t>
                    </m:r>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smtClean="0">
                        <a:latin typeface="Cambria Math" panose="02040503050406030204" pitchFamily="18" charset="0"/>
                      </a:rPr>
                      <m:t>≥</m:t>
                    </m:r>
                    <m:r>
                      <a:rPr lang="en-US" sz="2000" b="0" i="1" dirty="0" smtClean="0">
                        <a:latin typeface="Cambria Math" panose="02040503050406030204" pitchFamily="18" charset="0"/>
                      </a:rPr>
                      <m:t>6.45</m:t>
                    </m:r>
                    <m:r>
                      <a:rPr lang="en-US" sz="2000" i="1" dirty="0" smtClean="0">
                        <a:latin typeface="Cambria Math" panose="02040503050406030204" pitchFamily="18" charset="0"/>
                      </a:rPr>
                      <m:t>)</m:t>
                    </m:r>
                  </m:oMath>
                </a14:m>
                <a:endParaRPr lang="en-US" sz="2000" dirty="0"/>
              </a:p>
              <a:p>
                <a:pPr>
                  <a:lnSpc>
                    <a:spcPct val="100000"/>
                  </a:lnSpc>
                  <a:spcBef>
                    <a:spcPts val="600"/>
                  </a:spcBef>
                  <a:spcAft>
                    <a:spcPts val="0"/>
                  </a:spcAft>
                </a:pPr>
                <a:r>
                  <a:rPr lang="en-US" sz="2000" dirty="0"/>
                  <a:t>Using Table 3 in Appendix B, the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oMath>
                </a14:m>
                <a:r>
                  <a:rPr lang="en-US" sz="2000" dirty="0"/>
                  <a:t> distribution with 2 degrees of freedom provides the following.</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43576" y="1602036"/>
                <a:ext cx="5827705" cy="1700784"/>
              </a:xfrm>
              <a:blipFill>
                <a:blip r:embed="rId3"/>
                <a:stretch>
                  <a:fillRect l="-2720" t="-4301"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205082" y="3334298"/>
              <a:ext cx="5199058" cy="741680"/>
            </p:xfrm>
            <a:graphic>
              <a:graphicData uri="http://schemas.openxmlformats.org/drawingml/2006/table">
                <a:tbl>
                  <a:tblPr firstRow="1" bandRow="1">
                    <a:tableStyleId>{5C22544A-7EE6-4342-B048-85BDC9FD1C3A}</a:tableStyleId>
                  </a:tblPr>
                  <a:tblGrid>
                    <a:gridCol w="1852628">
                      <a:extLst>
                        <a:ext uri="{9D8B030D-6E8A-4147-A177-3AD203B41FA5}">
                          <a16:colId xmlns:a16="http://schemas.microsoft.com/office/drawing/2014/main" val="4171103348"/>
                        </a:ext>
                      </a:extLst>
                    </a:gridCol>
                    <a:gridCol w="669286">
                      <a:extLst>
                        <a:ext uri="{9D8B030D-6E8A-4147-A177-3AD203B41FA5}">
                          <a16:colId xmlns:a16="http://schemas.microsoft.com/office/drawing/2014/main" val="3310322248"/>
                        </a:ext>
                      </a:extLst>
                    </a:gridCol>
                    <a:gridCol w="669286">
                      <a:extLst>
                        <a:ext uri="{9D8B030D-6E8A-4147-A177-3AD203B41FA5}">
                          <a16:colId xmlns:a16="http://schemas.microsoft.com/office/drawing/2014/main" val="1345786011"/>
                        </a:ext>
                      </a:extLst>
                    </a:gridCol>
                    <a:gridCol w="669286">
                      <a:extLst>
                        <a:ext uri="{9D8B030D-6E8A-4147-A177-3AD203B41FA5}">
                          <a16:colId xmlns:a16="http://schemas.microsoft.com/office/drawing/2014/main" val="3942544080"/>
                        </a:ext>
                      </a:extLst>
                    </a:gridCol>
                    <a:gridCol w="669286">
                      <a:extLst>
                        <a:ext uri="{9D8B030D-6E8A-4147-A177-3AD203B41FA5}">
                          <a16:colId xmlns:a16="http://schemas.microsoft.com/office/drawing/2014/main" val="2859257073"/>
                        </a:ext>
                      </a:extLst>
                    </a:gridCol>
                    <a:gridCol w="669286">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sSup>
                                <m:sSupPr>
                                  <m:ctrlPr>
                                    <a:rPr lang="en-US" sz="1600" b="1" i="1" smtClean="0">
                                      <a:latin typeface="Cambria Math" panose="02040503050406030204" pitchFamily="18" charset="0"/>
                                      <a:cs typeface="Arial" panose="020B0604020202020204" pitchFamily="34" charset="0"/>
                                    </a:rPr>
                                  </m:ctrlPr>
                                </m:sSupPr>
                                <m:e>
                                  <m:r>
                                    <a:rPr lang="el-GR" sz="16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1600" b="1" i="1" smtClean="0">
                                      <a:latin typeface="Cambria Math" panose="02040503050406030204" pitchFamily="18" charset="0"/>
                                      <a:cs typeface="Arial" panose="020B0604020202020204" pitchFamily="34" charset="0"/>
                                    </a:rPr>
                                    <m:t>𝟐</m:t>
                                  </m:r>
                                </m:sup>
                              </m:sSup>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882189090"/>
                  </p:ext>
                </p:extLst>
              </p:nvPr>
            </p:nvGraphicFramePr>
            <p:xfrm>
              <a:off x="1205082" y="3334298"/>
              <a:ext cx="5199058" cy="741680"/>
            </p:xfrm>
            <a:graphic>
              <a:graphicData uri="http://schemas.openxmlformats.org/drawingml/2006/table">
                <a:tbl>
                  <a:tblPr firstRow="1" bandRow="1">
                    <a:tableStyleId>{5C22544A-7EE6-4342-B048-85BDC9FD1C3A}</a:tableStyleId>
                  </a:tblPr>
                  <a:tblGrid>
                    <a:gridCol w="1852628">
                      <a:extLst>
                        <a:ext uri="{9D8B030D-6E8A-4147-A177-3AD203B41FA5}">
                          <a16:colId xmlns:a16="http://schemas.microsoft.com/office/drawing/2014/main" val="4171103348"/>
                        </a:ext>
                      </a:extLst>
                    </a:gridCol>
                    <a:gridCol w="669286">
                      <a:extLst>
                        <a:ext uri="{9D8B030D-6E8A-4147-A177-3AD203B41FA5}">
                          <a16:colId xmlns:a16="http://schemas.microsoft.com/office/drawing/2014/main" val="3310322248"/>
                        </a:ext>
                      </a:extLst>
                    </a:gridCol>
                    <a:gridCol w="669286">
                      <a:extLst>
                        <a:ext uri="{9D8B030D-6E8A-4147-A177-3AD203B41FA5}">
                          <a16:colId xmlns:a16="http://schemas.microsoft.com/office/drawing/2014/main" val="1345786011"/>
                        </a:ext>
                      </a:extLst>
                    </a:gridCol>
                    <a:gridCol w="669286">
                      <a:extLst>
                        <a:ext uri="{9D8B030D-6E8A-4147-A177-3AD203B41FA5}">
                          <a16:colId xmlns:a16="http://schemas.microsoft.com/office/drawing/2014/main" val="3942544080"/>
                        </a:ext>
                      </a:extLst>
                    </a:gridCol>
                    <a:gridCol w="669286">
                      <a:extLst>
                        <a:ext uri="{9D8B030D-6E8A-4147-A177-3AD203B41FA5}">
                          <a16:colId xmlns:a16="http://schemas.microsoft.com/office/drawing/2014/main" val="2859257073"/>
                        </a:ext>
                      </a:extLst>
                    </a:gridCol>
                    <a:gridCol w="669286">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1639" r="-181250" b="-32787"/>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p:pic>
        <p:nvPicPr>
          <p:cNvPr id="6" name="Picture Placeholder 10" descr="A graph plots a chi-square distribution. The horizontal axis lists chi^2_alpha. A curve rises sharply from the origin, peaks at a small value of the horizontal axis, and falls gradually. The region under the curve to the right of chi^2_alpha is shaded and labeled “Area or probability.”&#10;">
            <a:extLst>
              <a:ext uri="{FF2B5EF4-FFF2-40B4-BE49-F238E27FC236}">
                <a16:creationId xmlns:a16="http://schemas.microsoft.com/office/drawing/2014/main" id="{C1B81246-F494-662F-42EC-C4DA3F300AC0}"/>
              </a:ext>
            </a:extLst>
          </p:cNvPr>
          <p:cNvPicPr>
            <a:picLocks noGrp="1" noChangeAspect="1"/>
          </p:cNvPicPr>
          <p:nvPr>
            <p:ph type="pic" sz="quarter" idx="23"/>
          </p:nvPr>
        </p:nvPicPr>
        <p:blipFill rotWithShape="1">
          <a:blip r:embed="rId5"/>
          <a:srcRect l="47" r="47"/>
          <a:stretch/>
        </p:blipFill>
        <p:spPr>
          <a:xfrm>
            <a:off x="6795642" y="1846828"/>
            <a:ext cx="4398963" cy="2139950"/>
          </a:xfrm>
        </p:spPr>
      </p:pic>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706437" y="4243399"/>
                <a:ext cx="10488168" cy="1455188"/>
              </a:xfrm>
            </p:spPr>
            <p:txBody>
              <a:bodyPr>
                <a:noAutofit/>
              </a:bodyPr>
              <a:lstStyle/>
              <a:p>
                <a:pPr>
                  <a:lnSpc>
                    <a:spcPct val="110000"/>
                  </a:lnSpc>
                  <a:spcBef>
                    <a:spcPts val="600"/>
                  </a:spcBef>
                </a:pPr>
                <a:r>
                  <a:rPr lang="en-US" sz="2000" dirty="0">
                    <a:cs typeface="Arial" panose="020B0604020202020204" pitchFamily="34" charset="0"/>
                  </a:rPr>
                  <a:t>B</a:t>
                </a:r>
                <a:r>
                  <a:rPr lang="en-US" sz="2000" dirty="0">
                    <a:solidFill>
                      <a:srgbClr val="000000"/>
                    </a:solidFill>
                    <a:cs typeface="Arial" panose="020B0604020202020204" pitchFamily="34" charset="0"/>
                  </a:rPr>
                  <a:t>ecause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smtClean="0">
                        <a:solidFill>
                          <a:srgbClr val="000000"/>
                        </a:solidFill>
                        <a:latin typeface="Cambria Math" panose="02040503050406030204" pitchFamily="18" charset="0"/>
                        <a:cs typeface="Arial" panose="020B0604020202020204" pitchFamily="34" charset="0"/>
                      </a:rPr>
                      <m:t>=</m:t>
                    </m:r>
                    <m:r>
                      <a:rPr lang="en-US" sz="2000" b="0" i="1" dirty="0" smtClean="0">
                        <a:solidFill>
                          <a:srgbClr val="000000"/>
                        </a:solidFill>
                        <a:latin typeface="Cambria Math" panose="02040503050406030204" pitchFamily="18" charset="0"/>
                        <a:cs typeface="Arial" panose="020B0604020202020204" pitchFamily="34" charset="0"/>
                      </a:rPr>
                      <m:t>6.45</m:t>
                    </m:r>
                  </m:oMath>
                </a14:m>
                <a:r>
                  <a:rPr lang="en-US" sz="2000" dirty="0">
                    <a:solidFill>
                      <a:srgbClr val="000000"/>
                    </a:solidFill>
                    <a:cs typeface="Arial" panose="020B0604020202020204" pitchFamily="34" charset="0"/>
                  </a:rPr>
                  <a:t> is between </a:t>
                </a:r>
                <a:r>
                  <a:rPr lang="en-US" sz="2000" dirty="0">
                    <a:cs typeface="Arial" panose="020B0604020202020204" pitchFamily="34" charset="0"/>
                  </a:rPr>
                  <a:t>5.991</a:t>
                </a:r>
                <a:r>
                  <a:rPr lang="en-US" sz="2000" dirty="0">
                    <a:solidFill>
                      <a:srgbClr val="000000"/>
                    </a:solidFill>
                    <a:cs typeface="Arial" panose="020B0604020202020204" pitchFamily="34" charset="0"/>
                  </a:rPr>
                  <a:t> and </a:t>
                </a:r>
                <a:r>
                  <a:rPr lang="en-US" sz="2000" dirty="0">
                    <a:cs typeface="Arial" panose="020B0604020202020204" pitchFamily="34" charset="0"/>
                  </a:rPr>
                  <a:t>7.378</a:t>
                </a:r>
                <a:r>
                  <a:rPr lang="en-US" sz="2000" dirty="0">
                    <a:solidFill>
                      <a:srgbClr val="000000"/>
                    </a:solidFill>
                    <a:cs typeface="Arial" panose="020B0604020202020204" pitchFamily="34" charset="0"/>
                  </a:rPr>
                  <a:t>, the values in the “Area in Upper Tail” row show that the </a:t>
                </a:r>
                <a:r>
                  <a:rPr lang="en-US" sz="2000" i="1" dirty="0">
                    <a:solidFill>
                      <a:srgbClr val="000000"/>
                    </a:solidFill>
                    <a:cs typeface="Arial" panose="020B0604020202020204" pitchFamily="34" charset="0"/>
                  </a:rPr>
                  <a:t>p</a:t>
                </a:r>
                <a:r>
                  <a:rPr lang="en-US" sz="2000" dirty="0">
                    <a:solidFill>
                      <a:srgbClr val="000000"/>
                    </a:solidFill>
                    <a:cs typeface="Arial" panose="020B0604020202020204" pitchFamily="34" charset="0"/>
                  </a:rPr>
                  <a:t>-value range must be: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0.0</m:t>
                    </m:r>
                    <m:r>
                      <a:rPr lang="en-US" sz="2000" b="0" i="1" dirty="0" smtClean="0">
                        <a:solidFill>
                          <a:srgbClr val="000000"/>
                        </a:solidFill>
                        <a:latin typeface="Cambria Math" panose="02040503050406030204" pitchFamily="18" charset="0"/>
                        <a:cs typeface="Arial" panose="020B0604020202020204" pitchFamily="34" charset="0"/>
                      </a:rPr>
                      <m:t>25</m:t>
                    </m:r>
                    <m:r>
                      <a:rPr lang="en-US" sz="2000" i="1" dirty="0" smtClean="0">
                        <a:solidFill>
                          <a:srgbClr val="000000"/>
                        </a:solidFill>
                        <a:latin typeface="Cambria Math" panose="02040503050406030204" pitchFamily="18" charset="0"/>
                        <a:cs typeface="Arial" panose="020B0604020202020204" pitchFamily="34" charset="0"/>
                      </a:rPr>
                      <m:t>≤</m:t>
                    </m:r>
                    <m:r>
                      <a:rPr lang="en-US" sz="2000" i="1" dirty="0" smtClean="0">
                        <a:solidFill>
                          <a:srgbClr val="000000"/>
                        </a:solidFill>
                        <a:latin typeface="Cambria Math" panose="02040503050406030204" pitchFamily="18" charset="0"/>
                        <a:cs typeface="Arial" panose="020B0604020202020204" pitchFamily="34" charset="0"/>
                      </a:rPr>
                      <m:t>𝑝</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(*see notes.)</a:t>
                </a:r>
              </a:p>
              <a:p>
                <a:pPr>
                  <a:lnSpc>
                    <a:spcPct val="110000"/>
                  </a:lnSpc>
                  <a:spcBef>
                    <a:spcPts val="600"/>
                  </a:spcBef>
                </a:pPr>
                <a:r>
                  <a:rPr lang="en-US" sz="2000" dirty="0">
                    <a:cs typeface="Arial" panose="020B0604020202020204" pitchFamily="34" charset="0"/>
                  </a:rPr>
                  <a:t>Because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r>
                      <m:rPr>
                        <m:nor/>
                      </m:rPr>
                      <a:rPr lang="en-US" sz="2000" i="0" dirty="0" smtClean="0">
                        <a:latin typeface="Arial" panose="020B0604020202020204" pitchFamily="34" charset="0"/>
                        <a:cs typeface="Arial" panose="020B0604020202020204" pitchFamily="34" charset="0"/>
                      </a:rPr>
                      <m:t>−</m:t>
                    </m:r>
                    <m:r>
                      <m:rPr>
                        <m:nor/>
                      </m:rPr>
                      <a:rPr lang="en-US" sz="2000" i="0" dirty="0" smtClean="0">
                        <a:latin typeface="Arial" panose="020B0604020202020204" pitchFamily="34" charset="0"/>
                        <a:cs typeface="Arial" panose="020B0604020202020204" pitchFamily="34" charset="0"/>
                      </a:rPr>
                      <m:t>value</m:t>
                    </m:r>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cs typeface="Arial" panose="020B0604020202020204" pitchFamily="34" charset="0"/>
                  </a:rPr>
                  <a:t>, we reject the null hypothesis and conclude that the preference of type of beer is not independent of the sex of the beer drinker.</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706437" y="4243399"/>
                <a:ext cx="10488168" cy="1455188"/>
              </a:xfrm>
              <a:blipFill>
                <a:blip r:embed="rId6"/>
                <a:stretch>
                  <a:fillRect l="-1512" t="-5021" r="-1163" b="-6695"/>
                </a:stretch>
              </a:blipFill>
            </p:spPr>
            <p:txBody>
              <a:bodyPr/>
              <a:lstStyle/>
              <a:p>
                <a:r>
                  <a:rPr lang="en-US">
                    <a:noFill/>
                  </a:rPr>
                  <a:t> </a:t>
                </a:r>
              </a:p>
            </p:txBody>
          </p:sp>
        </mc:Fallback>
      </mc:AlternateContent>
    </p:spTree>
    <p:extLst>
      <p:ext uri="{BB962C8B-B14F-4D97-AF65-F5344CB8AC3E}">
        <p14:creationId xmlns:p14="http://schemas.microsoft.com/office/powerpoint/2010/main" val="1242713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12.2 Critical Value Approach to a Chi-Square Test for Independence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768688"/>
                <a:ext cx="10515599" cy="672105"/>
              </a:xfrm>
            </p:spPr>
            <p:txBody>
              <a:bodyPr>
                <a:normAutofit/>
              </a:bodyPr>
              <a:lstStyle/>
              <a:p>
                <a:pPr>
                  <a:lnSpc>
                    <a:spcPct val="100000"/>
                  </a:lnSpc>
                  <a:spcBef>
                    <a:spcPts val="600"/>
                  </a:spcBef>
                </a:pPr>
                <a:r>
                  <a:rPr lang="en-US" sz="2000" dirty="0"/>
                  <a:t>With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.05</m:t>
                    </m:r>
                  </m:oMath>
                </a14:m>
                <a:r>
                  <a:rPr lang="en-US" sz="2000" dirty="0"/>
                  <a:t>,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r>
                      <a:rPr lang="en-US" sz="2000" b="0" i="1" smtClean="0">
                        <a:latin typeface="Cambria Math" panose="02040503050406030204" pitchFamily="18" charset="0"/>
                      </a:rPr>
                      <m:t>=</m:t>
                    </m:r>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b="0" i="1" smtClean="0">
                            <a:latin typeface="Cambria Math" panose="02040503050406030204" pitchFamily="18" charset="0"/>
                            <a:ea typeface="Cambria Math" panose="02040503050406030204" pitchFamily="18" charset="0"/>
                          </a:rPr>
                          <m:t>0.05</m:t>
                        </m:r>
                      </m:sub>
                      <m:sup>
                        <m:r>
                          <a:rPr lang="en-US" sz="2000" i="1">
                            <a:latin typeface="Cambria Math" panose="02040503050406030204" pitchFamily="18" charset="0"/>
                          </a:rPr>
                          <m:t>2</m:t>
                        </m:r>
                      </m:sup>
                    </m:sSubSup>
                  </m:oMath>
                </a14:m>
                <a:r>
                  <a:rPr lang="en-US" sz="2000" dirty="0"/>
                  <a:t> provides the critical value for the upper tail chi-square test. Using Table 3 in Appendix B, with 2 degrees of freedom, we have</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768688"/>
                <a:ext cx="10515599" cy="672105"/>
              </a:xfrm>
              <a:blipFill>
                <a:blip r:embed="rId3"/>
                <a:stretch>
                  <a:fillRect l="-1508" t="-10000" b="-1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Placeholder 8">
                <a:extLst>
                  <a:ext uri="{FF2B5EF4-FFF2-40B4-BE49-F238E27FC236}">
                    <a16:creationId xmlns:a16="http://schemas.microsoft.com/office/drawing/2014/main" id="{52BD0827-5D4D-0C48-4E11-B32B1072F9CE}"/>
                  </a:ext>
                </a:extLst>
              </p:cNvPr>
              <p:cNvGraphicFramePr>
                <a:graphicFrameLocks noGrp="1"/>
              </p:cNvGraphicFramePr>
              <p:nvPr>
                <p:ph type="tbl" sz="quarter" idx="22"/>
              </p:nvPr>
            </p:nvGraphicFramePr>
            <p:xfrm>
              <a:off x="1657350" y="2499117"/>
              <a:ext cx="5771275"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sSup>
                                <m:sSupPr>
                                  <m:ctrlPr>
                                    <a:rPr lang="en-US" sz="1600" b="1" i="1" smtClean="0">
                                      <a:latin typeface="Cambria Math" panose="02040503050406030204" pitchFamily="18" charset="0"/>
                                      <a:cs typeface="Arial" panose="020B0604020202020204" pitchFamily="34" charset="0"/>
                                    </a:rPr>
                                  </m:ctrlPr>
                                </m:sSupPr>
                                <m:e>
                                  <m:r>
                                    <a:rPr lang="el-GR" sz="16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1600" b="1" i="1" smtClean="0">
                                      <a:latin typeface="Cambria Math" panose="02040503050406030204" pitchFamily="18" charset="0"/>
                                      <a:cs typeface="Arial" panose="020B0604020202020204" pitchFamily="34" charset="0"/>
                                    </a:rPr>
                                    <m:t>𝟐</m:t>
                                  </m:r>
                                </m:sup>
                              </m:sSup>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9" name="Table Placeholder 8">
                <a:extLst>
                  <a:ext uri="{FF2B5EF4-FFF2-40B4-BE49-F238E27FC236}">
                    <a16:creationId xmlns:a16="http://schemas.microsoft.com/office/drawing/2014/main" id="{52BD0827-5D4D-0C48-4E11-B32B1072F9CE}"/>
                  </a:ext>
                </a:extLst>
              </p:cNvPr>
              <p:cNvGraphicFramePr>
                <a:graphicFrameLocks noGrp="1"/>
              </p:cNvGraphicFramePr>
              <p:nvPr>
                <p:ph type="tbl" sz="quarter" idx="22"/>
                <p:extLst>
                  <p:ext uri="{D42A27DB-BD31-4B8C-83A1-F6EECF244321}">
                    <p14:modId xmlns:p14="http://schemas.microsoft.com/office/powerpoint/2010/main" val="343524727"/>
                  </p:ext>
                </p:extLst>
              </p:nvPr>
            </p:nvGraphicFramePr>
            <p:xfrm>
              <a:off x="1657350" y="2499117"/>
              <a:ext cx="5771275"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1639" r="-180769" b="-32787"/>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354049"/>
                <a:ext cx="10484504" cy="2341578"/>
              </a:xfrm>
            </p:spPr>
            <p:txBody>
              <a:bodyPr>
                <a:noAutofit/>
              </a:bodyPr>
              <a:lstStyle/>
              <a:p>
                <a:pPr>
                  <a:lnSpc>
                    <a:spcPct val="100000"/>
                  </a:lnSpc>
                  <a:spcBef>
                    <a:spcPts val="600"/>
                  </a:spcBef>
                  <a:spcAft>
                    <a:spcPts val="0"/>
                  </a:spcAft>
                </a:pPr>
                <a:r>
                  <a:rPr lang="en-US" sz="2000" dirty="0"/>
                  <a:t>We obtain the critical value, </a:t>
                </a:r>
                <a14:m>
                  <m:oMath xmlns:m="http://schemas.openxmlformats.org/officeDocument/2006/math">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i="1">
                            <a:latin typeface="Cambria Math" panose="02040503050406030204" pitchFamily="18" charset="0"/>
                            <a:ea typeface="Cambria Math" panose="02040503050406030204" pitchFamily="18" charset="0"/>
                          </a:rPr>
                          <m:t>0.05</m:t>
                        </m:r>
                      </m:sub>
                      <m:sup>
                        <m:r>
                          <a:rPr lang="en-US" sz="2000" i="1">
                            <a:latin typeface="Cambria Math" panose="02040503050406030204" pitchFamily="18" charset="0"/>
                          </a:rPr>
                          <m:t>2</m:t>
                        </m:r>
                      </m:sup>
                    </m:sSubSup>
                    <m:r>
                      <a:rPr lang="en-US" sz="2000" i="1">
                        <a:latin typeface="Cambria Math" panose="02040503050406030204" pitchFamily="18" charset="0"/>
                      </a:rPr>
                      <m:t>=</m:t>
                    </m:r>
                    <m:r>
                      <a:rPr lang="en-US" sz="2000" b="0" i="1" smtClean="0">
                        <a:latin typeface="Cambria Math" panose="02040503050406030204" pitchFamily="18" charset="0"/>
                      </a:rPr>
                      <m:t>5.991</m:t>
                    </m:r>
                  </m:oMath>
                </a14:m>
                <a:r>
                  <a:rPr lang="en-US" sz="2000" dirty="0"/>
                  <a:t>.</a:t>
                </a:r>
              </a:p>
              <a:p>
                <a:pPr>
                  <a:lnSpc>
                    <a:spcPct val="100000"/>
                  </a:lnSpc>
                  <a:spcBef>
                    <a:spcPts val="600"/>
                  </a:spcBef>
                  <a:spcAft>
                    <a:spcPts val="0"/>
                  </a:spcAft>
                </a:pPr>
                <a:r>
                  <a:rPr lang="en-US" sz="2000" dirty="0">
                    <a:solidFill>
                      <a:srgbClr val="000000"/>
                    </a:solidFill>
                    <a:cs typeface="Arial" panose="020B0604020202020204" pitchFamily="34" charset="0"/>
                  </a:rPr>
                  <a:t>We can also use Excel to compute the critical value: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CHISQ</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(0.05,2)</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5.991</m:t>
                    </m:r>
                  </m:oMath>
                </a14:m>
                <a:r>
                  <a:rPr lang="en-US" sz="2000" dirty="0">
                    <a:solidFill>
                      <a:srgbClr val="000000"/>
                    </a:solidFill>
                    <a:cs typeface="Arial" panose="020B0604020202020204" pitchFamily="34" charset="0"/>
                  </a:rPr>
                  <a:t>.</a:t>
                </a:r>
              </a:p>
              <a:p>
                <a:pPr>
                  <a:lnSpc>
                    <a:spcPct val="100000"/>
                  </a:lnSpc>
                  <a:spcBef>
                    <a:spcPts val="600"/>
                  </a:spcBef>
                  <a:spcAft>
                    <a:spcPts val="600"/>
                  </a:spcAft>
                </a:pPr>
                <a:r>
                  <a:rPr lang="en-US" sz="2000" dirty="0">
                    <a:solidFill>
                      <a:srgbClr val="000000"/>
                    </a:solidFill>
                    <a:cs typeface="Arial" panose="020B0604020202020204" pitchFamily="34" charset="0"/>
                  </a:rPr>
                  <a:t>Thus, the rejection rule for the test of independence is:</a:t>
                </a:r>
              </a:p>
              <a:p>
                <a:pPr marL="914400">
                  <a:lnSpc>
                    <a:spcPct val="100000"/>
                  </a:lnSpc>
                  <a:spcBef>
                    <a:spcPts val="600"/>
                  </a:spcBef>
                  <a:spcAft>
                    <a:spcPts val="600"/>
                  </a:spcAft>
                </a:pPr>
                <a:r>
                  <a:rPr lang="en-US" sz="2000" dirty="0">
                    <a:solidFill>
                      <a:srgbClr val="000000"/>
                    </a:solidFill>
                    <a:cs typeface="Arial" panose="020B0604020202020204" pitchFamily="34" charset="0"/>
                  </a:rPr>
                  <a:t>Reject </a:t>
                </a:r>
                <a:r>
                  <a:rPr lang="en-US" sz="2000" i="1" dirty="0">
                    <a:solidFill>
                      <a:srgbClr val="000000"/>
                    </a:solidFill>
                    <a:cs typeface="Arial" panose="020B0604020202020204" pitchFamily="34" charset="0"/>
                  </a:rPr>
                  <a:t>H</a:t>
                </a:r>
                <a:r>
                  <a:rPr lang="en-US" sz="2000" baseline="-25000" dirty="0">
                    <a:solidFill>
                      <a:srgbClr val="000000"/>
                    </a:solidFill>
                    <a:cs typeface="Arial" panose="020B0604020202020204" pitchFamily="34" charset="0"/>
                  </a:rPr>
                  <a:t>0</a:t>
                </a:r>
                <a:r>
                  <a:rPr lang="en-US" sz="2000" dirty="0">
                    <a:solidFill>
                      <a:srgbClr val="000000"/>
                    </a:solidFill>
                    <a:cs typeface="Arial" panose="020B0604020202020204" pitchFamily="34" charset="0"/>
                  </a:rPr>
                  <a:t> if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rPr>
                      <m:t>≥</m:t>
                    </m:r>
                    <m:sSubSup>
                      <m:sSubSupPr>
                        <m:ctrlPr>
                          <a:rPr lang="en-US" sz="2000" i="1" dirty="0">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l-GR" sz="2000" i="1" dirty="0">
                            <a:latin typeface="Cambria Math" panose="02040503050406030204" pitchFamily="18" charset="0"/>
                            <a:ea typeface="Cambria Math" panose="02040503050406030204" pitchFamily="18" charset="0"/>
                            <a:cs typeface="Arial" panose="020B0604020202020204" pitchFamily="34" charset="0"/>
                          </a:rPr>
                          <m:t>Χ</m:t>
                        </m:r>
                      </m:e>
                      <m:sub>
                        <m:r>
                          <a:rPr lang="en-US" sz="2000" i="1">
                            <a:latin typeface="Cambria Math" panose="02040503050406030204" pitchFamily="18" charset="0"/>
                            <a:ea typeface="Cambria Math" panose="02040503050406030204" pitchFamily="18" charset="0"/>
                          </a:rPr>
                          <m:t>0.05</m:t>
                        </m:r>
                      </m:sub>
                      <m:sup>
                        <m:r>
                          <a:rPr lang="en-US" sz="2000" i="1">
                            <a:latin typeface="Cambria Math" panose="02040503050406030204" pitchFamily="18" charset="0"/>
                            <a:ea typeface="Cambria Math" panose="02040503050406030204" pitchFamily="18" charset="0"/>
                          </a:rPr>
                          <m:t>2</m:t>
                        </m:r>
                      </m:sup>
                    </m:sSubSup>
                    <m:r>
                      <a:rPr lang="en-US" sz="2000" i="1">
                        <a:latin typeface="Cambria Math" panose="02040503050406030204" pitchFamily="18" charset="0"/>
                        <a:ea typeface="Cambria Math" panose="02040503050406030204" pitchFamily="18" charset="0"/>
                      </a:rPr>
                      <m:t>=5.991</m:t>
                    </m:r>
                  </m:oMath>
                </a14:m>
                <a:endParaRPr lang="en-US" sz="2000" dirty="0">
                  <a:solidFill>
                    <a:srgbClr val="000000"/>
                  </a:solidFill>
                  <a:cs typeface="Arial" panose="020B0604020202020204" pitchFamily="34" charset="0"/>
                </a:endParaRPr>
              </a:p>
              <a:p>
                <a:pPr>
                  <a:lnSpc>
                    <a:spcPct val="100000"/>
                  </a:lnSpc>
                  <a:spcBef>
                    <a:spcPts val="600"/>
                  </a:spcBef>
                  <a:spcAft>
                    <a:spcPts val="0"/>
                  </a:spcAft>
                </a:pPr>
                <a:r>
                  <a:rPr lang="en-US" sz="2000" dirty="0">
                    <a:solidFill>
                      <a:srgbClr val="000000"/>
                    </a:solidFill>
                    <a:cs typeface="Arial" panose="020B0604020202020204" pitchFamily="34" charset="0"/>
                  </a:rPr>
                  <a:t>Because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6.45</m:t>
                    </m:r>
                  </m:oMath>
                </a14:m>
                <a:r>
                  <a:rPr lang="en-US" sz="2000" dirty="0">
                    <a:solidFill>
                      <a:srgbClr val="000000"/>
                    </a:solidFill>
                    <a:cs typeface="Arial" panose="020B0604020202020204" pitchFamily="34" charset="0"/>
                  </a:rPr>
                  <a:t>, we reject the null hypothesis and </a:t>
                </a:r>
                <a:r>
                  <a:rPr lang="en-US" sz="2000" dirty="0">
                    <a:cs typeface="Arial" panose="020B0604020202020204" pitchFamily="34" charset="0"/>
                  </a:rPr>
                  <a:t>conclude that the preference of type of beer is not independent of the sex of the beer drinker.</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354049"/>
                <a:ext cx="10484504" cy="2341578"/>
              </a:xfrm>
              <a:blipFill>
                <a:blip r:embed="rId5"/>
                <a:stretch>
                  <a:fillRect l="-1513" t="-2865" r="-1163" b="-5469"/>
                </a:stretch>
              </a:blipFill>
            </p:spPr>
            <p:txBody>
              <a:bodyPr/>
              <a:lstStyle/>
              <a:p>
                <a:r>
                  <a:rPr lang="en-US">
                    <a:noFill/>
                  </a:rPr>
                  <a:t> </a:t>
                </a:r>
              </a:p>
            </p:txBody>
          </p:sp>
        </mc:Fallback>
      </mc:AlternateContent>
    </p:spTree>
    <p:extLst>
      <p:ext uri="{BB962C8B-B14F-4D97-AF65-F5344CB8AC3E}">
        <p14:creationId xmlns:p14="http://schemas.microsoft.com/office/powerpoint/2010/main" val="3017913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84EFB-5DF2-5435-6A62-0E3D8535812A}"/>
              </a:ext>
            </a:extLst>
          </p:cNvPr>
          <p:cNvSpPr>
            <a:spLocks noGrp="1"/>
          </p:cNvSpPr>
          <p:nvPr>
            <p:ph type="title"/>
          </p:nvPr>
        </p:nvSpPr>
        <p:spPr/>
        <p:txBody>
          <a:bodyPr/>
          <a:lstStyle/>
          <a:p>
            <a:r>
              <a:rPr lang="en-US" sz="3200" dirty="0"/>
              <a:t>12.2 Bar Chart Comparison of Beer Preference by Sex</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13F2A43-62BC-280D-784B-342E9B63C49F}"/>
                  </a:ext>
                </a:extLst>
              </p:cNvPr>
              <p:cNvSpPr>
                <a:spLocks noGrp="1"/>
              </p:cNvSpPr>
              <p:nvPr>
                <p:ph type="body" sz="quarter" idx="15"/>
              </p:nvPr>
            </p:nvSpPr>
            <p:spPr>
              <a:xfrm>
                <a:off x="743576" y="1339804"/>
                <a:ext cx="10610223" cy="2088934"/>
              </a:xfrm>
            </p:spPr>
            <p:txBody>
              <a:bodyPr/>
              <a:lstStyle/>
              <a:p>
                <a:pPr>
                  <a:spcAft>
                    <a:spcPts val="600"/>
                  </a:spcAft>
                </a:pPr>
                <a:r>
                  <a:rPr lang="en-US" sz="2000" dirty="0"/>
                  <a:t>To assess the nature of the association between beer type and beer drinker’s sex, we compute the probability of the beer preference responses for males and females separately.</a:t>
                </a:r>
              </a:p>
              <a:p>
                <a:pPr>
                  <a:spcAft>
                    <a:spcPts val="0"/>
                  </a:spcAft>
                  <a:tabLst>
                    <a:tab pos="3027363" algn="r"/>
                    <a:tab pos="5541963" algn="r"/>
                  </a:tabLst>
                </a:pPr>
                <a:r>
                  <a:rPr lang="en-US" sz="1800" b="1" dirty="0"/>
                  <a:t>Beer Preference	Male	Female</a:t>
                </a:r>
              </a:p>
              <a:p>
                <a:pPr>
                  <a:spcAft>
                    <a:spcPts val="0"/>
                  </a:spcAft>
                  <a:tabLst>
                    <a:tab pos="3602038" algn="r"/>
                    <a:tab pos="5999163" algn="r"/>
                  </a:tabLst>
                </a:pPr>
                <a:r>
                  <a:rPr lang="en-US" sz="1800" dirty="0"/>
                  <a:t>Light	</a:t>
                </a:r>
                <a14:m>
                  <m:oMath xmlns:m="http://schemas.openxmlformats.org/officeDocument/2006/math">
                    <m:f>
                      <m:fPr>
                        <m:type m:val="lin"/>
                        <m:ctrlPr>
                          <a:rPr lang="en-US" sz="1800" i="1" smtClean="0">
                            <a:solidFill>
                              <a:srgbClr val="000000"/>
                            </a:solidFill>
                            <a:latin typeface="Cambria Math" panose="02040503050406030204" pitchFamily="18" charset="0"/>
                            <a:cs typeface="Arial" panose="020B0604020202020204" pitchFamily="34" charset="0"/>
                          </a:rPr>
                        </m:ctrlPr>
                      </m:fPr>
                      <m:num>
                        <m:r>
                          <a:rPr lang="en-US" sz="1800" b="0" i="1" smtClean="0">
                            <a:solidFill>
                              <a:srgbClr val="000000"/>
                            </a:solidFill>
                            <a:latin typeface="Cambria Math" panose="02040503050406030204" pitchFamily="18" charset="0"/>
                            <a:cs typeface="Arial" panose="020B0604020202020204" pitchFamily="34" charset="0"/>
                          </a:rPr>
                          <m:t>51</m:t>
                        </m:r>
                      </m:num>
                      <m:den>
                        <m:r>
                          <a:rPr lang="en-US" sz="1800" b="0" i="1" smtClean="0">
                            <a:solidFill>
                              <a:srgbClr val="000000"/>
                            </a:solidFill>
                            <a:latin typeface="Cambria Math" panose="02040503050406030204" pitchFamily="18" charset="0"/>
                            <a:cs typeface="Arial" panose="020B0604020202020204" pitchFamily="34" charset="0"/>
                          </a:rPr>
                          <m:t>132</m:t>
                        </m:r>
                      </m:den>
                    </m:f>
                    <m:r>
                      <a:rPr lang="en-US" sz="1800" b="0" i="1" smtClean="0">
                        <a:solidFill>
                          <a:srgbClr val="000000"/>
                        </a:solidFill>
                        <a:latin typeface="Cambria Math" panose="02040503050406030204" pitchFamily="18" charset="0"/>
                        <a:cs typeface="Arial" panose="020B0604020202020204" pitchFamily="34" charset="0"/>
                      </a:rPr>
                      <m:t>=38.64%</m:t>
                    </m:r>
                  </m:oMath>
                </a14:m>
                <a:r>
                  <a:rPr lang="en-US" sz="1800" dirty="0">
                    <a:solidFill>
                      <a:srgbClr val="000000"/>
                    </a:solidFill>
                    <a:latin typeface="Arial" panose="020B0604020202020204" pitchFamily="34" charset="0"/>
                    <a:cs typeface="Arial" panose="020B0604020202020204" pitchFamily="34" charset="0"/>
                  </a:rPr>
                  <a:t> 	</a:t>
                </a:r>
                <a:r>
                  <a:rPr lang="en-US" sz="1800" dirty="0">
                    <a:cs typeface="Arial" panose="020B0604020202020204" pitchFamily="34" charset="0"/>
                  </a:rPr>
                  <a:t> </a:t>
                </a:r>
                <a14:m>
                  <m:oMath xmlns:m="http://schemas.openxmlformats.org/officeDocument/2006/math">
                    <m:f>
                      <m:fPr>
                        <m:type m:val="lin"/>
                        <m:ctrlPr>
                          <a:rPr lang="en-US" sz="1800" i="1">
                            <a:latin typeface="Cambria Math" panose="02040503050406030204" pitchFamily="18" charset="0"/>
                            <a:cs typeface="Arial" panose="020B0604020202020204" pitchFamily="34" charset="0"/>
                          </a:rPr>
                        </m:ctrlPr>
                      </m:fPr>
                      <m:num>
                        <m:r>
                          <a:rPr lang="en-US" sz="1800" b="0" i="1" smtClean="0">
                            <a:latin typeface="Cambria Math" panose="02040503050406030204" pitchFamily="18" charset="0"/>
                            <a:cs typeface="Arial" panose="020B0604020202020204" pitchFamily="34" charset="0"/>
                          </a:rPr>
                          <m:t>39</m:t>
                        </m:r>
                      </m:num>
                      <m:den>
                        <m:r>
                          <a:rPr lang="en-US" sz="1800" b="0" i="1" smtClean="0">
                            <a:latin typeface="Cambria Math" panose="02040503050406030204" pitchFamily="18" charset="0"/>
                            <a:cs typeface="Arial" panose="020B0604020202020204" pitchFamily="34" charset="0"/>
                          </a:rPr>
                          <m:t>68</m:t>
                        </m:r>
                      </m:den>
                    </m:f>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57.35</m:t>
                    </m:r>
                    <m:r>
                      <a:rPr lang="en-US" sz="1800" i="1">
                        <a:latin typeface="Cambria Math" panose="02040503050406030204" pitchFamily="18" charset="0"/>
                        <a:cs typeface="Arial" panose="020B0604020202020204" pitchFamily="34" charset="0"/>
                      </a:rPr>
                      <m:t>%</m:t>
                    </m:r>
                  </m:oMath>
                </a14:m>
                <a:r>
                  <a:rPr lang="en-US" sz="1800" dirty="0">
                    <a:latin typeface="Arial" panose="020B0604020202020204" pitchFamily="34" charset="0"/>
                    <a:cs typeface="Arial" panose="020B0604020202020204" pitchFamily="34" charset="0"/>
                  </a:rPr>
                  <a:t> </a:t>
                </a:r>
                <a:endParaRPr lang="en-US" sz="1800" dirty="0"/>
              </a:p>
              <a:p>
                <a:pPr>
                  <a:spcAft>
                    <a:spcPts val="0"/>
                  </a:spcAft>
                  <a:tabLst>
                    <a:tab pos="3602038" algn="r"/>
                    <a:tab pos="5999163" algn="r"/>
                  </a:tabLst>
                </a:pPr>
                <a:r>
                  <a:rPr lang="en-US" sz="1800" dirty="0"/>
                  <a:t>Regular	</a:t>
                </a:r>
                <a14:m>
                  <m:oMath xmlns:m="http://schemas.openxmlformats.org/officeDocument/2006/math">
                    <m:f>
                      <m:fPr>
                        <m:type m:val="lin"/>
                        <m:ctrlPr>
                          <a:rPr lang="en-US" sz="1800" i="1" smtClean="0">
                            <a:solidFill>
                              <a:srgbClr val="000000"/>
                            </a:solidFill>
                            <a:latin typeface="Cambria Math" panose="02040503050406030204" pitchFamily="18" charset="0"/>
                            <a:cs typeface="Arial" panose="020B0604020202020204" pitchFamily="34" charset="0"/>
                          </a:rPr>
                        </m:ctrlPr>
                      </m:fPr>
                      <m:num>
                        <m:r>
                          <a:rPr lang="en-US" sz="1800" b="0" i="1" smtClean="0">
                            <a:solidFill>
                              <a:srgbClr val="000000"/>
                            </a:solidFill>
                            <a:latin typeface="Cambria Math" panose="02040503050406030204" pitchFamily="18" charset="0"/>
                            <a:cs typeface="Arial" panose="020B0604020202020204" pitchFamily="34" charset="0"/>
                          </a:rPr>
                          <m:t>56</m:t>
                        </m:r>
                      </m:num>
                      <m:den>
                        <m:r>
                          <a:rPr lang="en-US" sz="1800" b="0" i="1" smtClean="0">
                            <a:solidFill>
                              <a:srgbClr val="000000"/>
                            </a:solidFill>
                            <a:latin typeface="Cambria Math" panose="02040503050406030204" pitchFamily="18" charset="0"/>
                            <a:cs typeface="Arial" panose="020B0604020202020204" pitchFamily="34" charset="0"/>
                          </a:rPr>
                          <m:t>132</m:t>
                        </m:r>
                      </m:den>
                    </m:f>
                    <m:r>
                      <a:rPr lang="en-US" sz="1800" b="0" i="1" smtClean="0">
                        <a:solidFill>
                          <a:srgbClr val="000000"/>
                        </a:solidFill>
                        <a:latin typeface="Cambria Math" panose="02040503050406030204" pitchFamily="18" charset="0"/>
                        <a:cs typeface="Arial" panose="020B0604020202020204" pitchFamily="34" charset="0"/>
                      </a:rPr>
                      <m:t>=42.42%</m:t>
                    </m:r>
                  </m:oMath>
                </a14:m>
                <a:r>
                  <a:rPr lang="en-US" sz="1800" dirty="0"/>
                  <a:t>	</a:t>
                </a:r>
                <a:r>
                  <a:rPr lang="en-US" sz="1800" dirty="0">
                    <a:cs typeface="Arial" panose="020B0604020202020204" pitchFamily="34" charset="0"/>
                  </a:rPr>
                  <a:t> </a:t>
                </a:r>
                <a14:m>
                  <m:oMath xmlns:m="http://schemas.openxmlformats.org/officeDocument/2006/math">
                    <m:f>
                      <m:fPr>
                        <m:type m:val="lin"/>
                        <m:ctrlPr>
                          <a:rPr lang="en-US" sz="1800" i="1">
                            <a:latin typeface="Cambria Math" panose="02040503050406030204" pitchFamily="18" charset="0"/>
                            <a:cs typeface="Arial" panose="020B0604020202020204" pitchFamily="34" charset="0"/>
                          </a:rPr>
                        </m:ctrlPr>
                      </m:fPr>
                      <m:num>
                        <m:r>
                          <a:rPr lang="en-US" sz="1800" b="0" i="1" smtClean="0">
                            <a:latin typeface="Cambria Math" panose="02040503050406030204" pitchFamily="18" charset="0"/>
                            <a:cs typeface="Arial" panose="020B0604020202020204" pitchFamily="34" charset="0"/>
                          </a:rPr>
                          <m:t>21</m:t>
                        </m:r>
                      </m:num>
                      <m:den>
                        <m:r>
                          <a:rPr lang="en-US" sz="1800" i="1">
                            <a:latin typeface="Cambria Math" panose="02040503050406030204" pitchFamily="18" charset="0"/>
                            <a:cs typeface="Arial" panose="020B0604020202020204" pitchFamily="34" charset="0"/>
                          </a:rPr>
                          <m:t>68</m:t>
                        </m:r>
                      </m:den>
                    </m:f>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30.88</m:t>
                    </m:r>
                    <m:r>
                      <a:rPr lang="en-US" sz="1800" i="1">
                        <a:latin typeface="Cambria Math" panose="02040503050406030204" pitchFamily="18" charset="0"/>
                        <a:cs typeface="Arial" panose="020B0604020202020204" pitchFamily="34" charset="0"/>
                      </a:rPr>
                      <m:t>%</m:t>
                    </m:r>
                  </m:oMath>
                </a14:m>
                <a:endParaRPr lang="en-US" sz="1800" dirty="0"/>
              </a:p>
              <a:p>
                <a:pPr>
                  <a:spcAft>
                    <a:spcPts val="0"/>
                  </a:spcAft>
                  <a:tabLst>
                    <a:tab pos="3602038" algn="r"/>
                    <a:tab pos="5999163" algn="r"/>
                  </a:tabLst>
                </a:pPr>
                <a:r>
                  <a:rPr lang="en-US" sz="1800" dirty="0"/>
                  <a:t>Dark	</a:t>
                </a:r>
                <a14:m>
                  <m:oMath xmlns:m="http://schemas.openxmlformats.org/officeDocument/2006/math">
                    <m:f>
                      <m:fPr>
                        <m:type m:val="lin"/>
                        <m:ctrlPr>
                          <a:rPr lang="en-US" sz="1800" i="1" smtClean="0">
                            <a:solidFill>
                              <a:srgbClr val="000000"/>
                            </a:solidFill>
                            <a:latin typeface="Cambria Math" panose="02040503050406030204" pitchFamily="18" charset="0"/>
                            <a:cs typeface="Arial" panose="020B0604020202020204" pitchFamily="34" charset="0"/>
                          </a:rPr>
                        </m:ctrlPr>
                      </m:fPr>
                      <m:num>
                        <m:r>
                          <a:rPr lang="en-US" sz="1800" b="0" i="1" smtClean="0">
                            <a:solidFill>
                              <a:srgbClr val="000000"/>
                            </a:solidFill>
                            <a:latin typeface="Cambria Math" panose="02040503050406030204" pitchFamily="18" charset="0"/>
                            <a:cs typeface="Arial" panose="020B0604020202020204" pitchFamily="34" charset="0"/>
                          </a:rPr>
                          <m:t>25</m:t>
                        </m:r>
                      </m:num>
                      <m:den>
                        <m:r>
                          <a:rPr lang="en-US" sz="1800" b="0" i="1" smtClean="0">
                            <a:solidFill>
                              <a:srgbClr val="000000"/>
                            </a:solidFill>
                            <a:latin typeface="Cambria Math" panose="02040503050406030204" pitchFamily="18" charset="0"/>
                            <a:cs typeface="Arial" panose="020B0604020202020204" pitchFamily="34" charset="0"/>
                          </a:rPr>
                          <m:t>132</m:t>
                        </m:r>
                      </m:den>
                    </m:f>
                    <m:r>
                      <a:rPr lang="en-US" sz="1800" b="0" i="1" smtClean="0">
                        <a:solidFill>
                          <a:srgbClr val="000000"/>
                        </a:solidFill>
                        <a:latin typeface="Cambria Math" panose="02040503050406030204" pitchFamily="18" charset="0"/>
                        <a:cs typeface="Arial" panose="020B0604020202020204" pitchFamily="34" charset="0"/>
                      </a:rPr>
                      <m:t>=18.94%</m:t>
                    </m:r>
                  </m:oMath>
                </a14:m>
                <a:r>
                  <a:rPr lang="en-US" sz="1800" dirty="0"/>
                  <a:t>	</a:t>
                </a:r>
                <a14:m>
                  <m:oMath xmlns:m="http://schemas.openxmlformats.org/officeDocument/2006/math">
                    <m:f>
                      <m:fPr>
                        <m:type m:val="lin"/>
                        <m:ctrlPr>
                          <a:rPr lang="en-US" sz="1800" i="1">
                            <a:latin typeface="Cambria Math" panose="02040503050406030204" pitchFamily="18" charset="0"/>
                            <a:cs typeface="Arial" panose="020B0604020202020204" pitchFamily="34" charset="0"/>
                          </a:rPr>
                        </m:ctrlPr>
                      </m:fPr>
                      <m:num>
                        <m:r>
                          <a:rPr lang="en-US" sz="1800" b="0" i="1" smtClean="0">
                            <a:latin typeface="Cambria Math" panose="02040503050406030204" pitchFamily="18" charset="0"/>
                            <a:cs typeface="Arial" panose="020B0604020202020204" pitchFamily="34" charset="0"/>
                          </a:rPr>
                          <m:t>8</m:t>
                        </m:r>
                      </m:num>
                      <m:den>
                        <m:r>
                          <a:rPr lang="en-US" sz="1800" i="1">
                            <a:latin typeface="Cambria Math" panose="02040503050406030204" pitchFamily="18" charset="0"/>
                            <a:cs typeface="Arial" panose="020B0604020202020204" pitchFamily="34" charset="0"/>
                          </a:rPr>
                          <m:t>68</m:t>
                        </m:r>
                      </m:den>
                    </m:f>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11.76</m:t>
                    </m:r>
                    <m:r>
                      <a:rPr lang="en-US" sz="1800" i="1">
                        <a:latin typeface="Cambria Math" panose="02040503050406030204" pitchFamily="18" charset="0"/>
                        <a:cs typeface="Arial" panose="020B0604020202020204" pitchFamily="34" charset="0"/>
                      </a:rPr>
                      <m:t>%</m:t>
                    </m:r>
                  </m:oMath>
                </a14:m>
                <a:endParaRPr lang="en-US" sz="1800" dirty="0"/>
              </a:p>
            </p:txBody>
          </p:sp>
        </mc:Choice>
        <mc:Fallback xmlns="">
          <p:sp>
            <p:nvSpPr>
              <p:cNvPr id="3" name="Text Placeholder 2">
                <a:extLst>
                  <a:ext uri="{FF2B5EF4-FFF2-40B4-BE49-F238E27FC236}">
                    <a16:creationId xmlns:a16="http://schemas.microsoft.com/office/drawing/2014/main" id="{E13F2A43-62BC-280D-784B-342E9B63C49F}"/>
                  </a:ext>
                </a:extLst>
              </p:cNvPr>
              <p:cNvSpPr>
                <a:spLocks noGrp="1" noRot="1" noChangeAspect="1" noMove="1" noResize="1" noEditPoints="1" noAdjustHandles="1" noChangeArrowheads="1" noChangeShapeType="1" noTextEdit="1"/>
              </p:cNvSpPr>
              <p:nvPr>
                <p:ph type="body" sz="quarter" idx="15"/>
              </p:nvPr>
            </p:nvSpPr>
            <p:spPr>
              <a:xfrm>
                <a:off x="743576" y="1339804"/>
                <a:ext cx="10610223" cy="2088934"/>
              </a:xfrm>
              <a:blipFill>
                <a:blip r:embed="rId3"/>
                <a:stretch>
                  <a:fillRect l="-1494" t="-3509" b="-34211"/>
                </a:stretch>
              </a:blipFill>
            </p:spPr>
            <p:txBody>
              <a:bodyPr/>
              <a:lstStyle/>
              <a:p>
                <a:r>
                  <a:rPr lang="en-US">
                    <a:noFill/>
                  </a:rPr>
                  <a:t> </a:t>
                </a:r>
              </a:p>
            </p:txBody>
          </p:sp>
        </mc:Fallback>
      </mc:AlternateContent>
      <p:sp>
        <p:nvSpPr>
          <p:cNvPr id="11" name="Text Placeholder 10">
            <a:extLst>
              <a:ext uri="{FF2B5EF4-FFF2-40B4-BE49-F238E27FC236}">
                <a16:creationId xmlns:a16="http://schemas.microsoft.com/office/drawing/2014/main" id="{7BD6E659-6B11-8F3F-E1FC-2DFFF0C895D1}"/>
              </a:ext>
            </a:extLst>
          </p:cNvPr>
          <p:cNvSpPr>
            <a:spLocks noGrp="1"/>
          </p:cNvSpPr>
          <p:nvPr>
            <p:ph type="body" sz="quarter" idx="17"/>
          </p:nvPr>
        </p:nvSpPr>
        <p:spPr>
          <a:xfrm>
            <a:off x="743576" y="3529477"/>
            <a:ext cx="6374556" cy="2262352"/>
          </a:xfrm>
        </p:spPr>
        <p:txBody>
          <a:bodyPr/>
          <a:lstStyle/>
          <a:p>
            <a:r>
              <a:rPr lang="en-US" sz="2000" dirty="0"/>
              <a:t>The bar chart for male and female beer drinkers of the three kinds of beer allows us to make observations about the association between beer preference and sex.</a:t>
            </a:r>
          </a:p>
          <a:p>
            <a:pPr marL="574675" indent="-290513">
              <a:buFont typeface="Arial" panose="020B0604020202020204" pitchFamily="34" charset="0"/>
              <a:buChar char="•"/>
            </a:pPr>
            <a:r>
              <a:rPr lang="en-US" sz="2000" dirty="0"/>
              <a:t>Female beer drinkers have a higher preference for light beer than males.</a:t>
            </a:r>
          </a:p>
          <a:p>
            <a:pPr marL="574675" indent="-290513">
              <a:buFont typeface="Arial" panose="020B0604020202020204" pitchFamily="34" charset="0"/>
              <a:buChar char="•"/>
            </a:pPr>
            <a:r>
              <a:rPr lang="en-US" sz="2000" dirty="0"/>
              <a:t>Male beer drinkers have a higher preference for both regular beer and dark beer.</a:t>
            </a:r>
          </a:p>
        </p:txBody>
      </p:sp>
      <p:pic>
        <p:nvPicPr>
          <p:cNvPr id="8" name="Picture Placeholder 7" descr="A clustered bar chart with three clusters of bars plots probability versus beer preference. Each cluster consists of two vertical bars. The horizontal axis is labeled “Beer Preference” and lists light, regular, and dark. The vertical axis is labeled “Probability” and ranges from 0 to 0.7 with tickmarks in increments of 0.1. The data from the graph, presented in the format, Beer preference: Male, female, are as follows. Light: 0.39, 0.58. Regular: 0.42, 0.3. Dark: 0.19, 0.11. All data are approximate.&#10;">
            <a:extLst>
              <a:ext uri="{FF2B5EF4-FFF2-40B4-BE49-F238E27FC236}">
                <a16:creationId xmlns:a16="http://schemas.microsoft.com/office/drawing/2014/main" id="{1993B983-13AC-FE82-2AF2-7B27669FB50E}"/>
              </a:ext>
            </a:extLst>
          </p:cNvPr>
          <p:cNvPicPr>
            <a:picLocks noGrp="1" noChangeAspect="1"/>
          </p:cNvPicPr>
          <p:nvPr>
            <p:ph type="pic" sz="quarter" idx="16"/>
          </p:nvPr>
        </p:nvPicPr>
        <p:blipFill rotWithShape="1">
          <a:blip r:embed="rId4"/>
          <a:srcRect t="74" b="74"/>
          <a:stretch/>
        </p:blipFill>
        <p:spPr>
          <a:xfrm>
            <a:off x="7245158" y="2601437"/>
            <a:ext cx="4040312" cy="3190392"/>
          </a:xfrm>
        </p:spPr>
      </p:pic>
    </p:spTree>
    <p:extLst>
      <p:ext uri="{BB962C8B-B14F-4D97-AF65-F5344CB8AC3E}">
        <p14:creationId xmlns:p14="http://schemas.microsoft.com/office/powerpoint/2010/main" val="1897385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25894E"/>
                </a:solidFill>
              </a:rPr>
              <a:t>12.2 Excel: Conduct a Test of Independence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43026"/>
                <a:ext cx="10711543" cy="4386262"/>
              </a:xfrm>
            </p:spPr>
            <p:txBody>
              <a:bodyPr/>
              <a:lstStyle/>
              <a:p>
                <a:pPr>
                  <a:lnSpc>
                    <a:spcPct val="100000"/>
                  </a:lnSpc>
                </a:pPr>
                <a:r>
                  <a:rPr lang="en-US" sz="2000" dirty="0">
                    <a:cs typeface="Arial" panose="020B0604020202020204" pitchFamily="34" charset="0"/>
                  </a:rPr>
                  <a:t>Excel can be used to conduct a test of independence for the beer preference example.</a:t>
                </a:r>
              </a:p>
              <a:p>
                <a:pPr marL="914400" indent="-342900">
                  <a:lnSpc>
                    <a:spcPct val="100000"/>
                  </a:lnSpc>
                  <a:spcBef>
                    <a:spcPts val="600"/>
                  </a:spcBef>
                  <a:buFont typeface="Arial" panose="020B0604020202020204" pitchFamily="34" charset="0"/>
                  <a:buChar char="•"/>
                </a:pPr>
                <a:r>
                  <a:rPr lang="en-US" sz="2000" dirty="0">
                    <a:cs typeface="Arial" panose="020B0604020202020204" pitchFamily="34" charset="0"/>
                  </a:rPr>
                  <a:t>The Excel worksheet for this test is shown in the next slide.</a:t>
                </a:r>
              </a:p>
              <a:p>
                <a:pPr>
                  <a:lnSpc>
                    <a:spcPct val="100000"/>
                  </a:lnSpc>
                </a:pPr>
                <a:r>
                  <a:rPr lang="en-US" sz="2000" b="1" dirty="0">
                    <a:cs typeface="Arial" panose="020B0604020202020204" pitchFamily="34" charset="0"/>
                  </a:rPr>
                  <a:t>Enter/Access Data</a:t>
                </a:r>
                <a:r>
                  <a:rPr lang="en-US" sz="2000" dirty="0">
                    <a:cs typeface="Arial" panose="020B0604020202020204" pitchFamily="34" charset="0"/>
                  </a:rPr>
                  <a:t>: Open the file </a:t>
                </a:r>
                <a:r>
                  <a:rPr lang="en-US" sz="2000" i="1" dirty="0" err="1">
                    <a:cs typeface="Arial" panose="020B0604020202020204" pitchFamily="34" charset="0"/>
                  </a:rPr>
                  <a:t>beerpreference</a:t>
                </a:r>
                <a:r>
                  <a:rPr lang="en-US" sz="2000" dirty="0">
                    <a:cs typeface="Arial" panose="020B0604020202020204" pitchFamily="34" charset="0"/>
                  </a:rPr>
                  <a:t>. The data are in cells B2:C201.</a:t>
                </a:r>
              </a:p>
              <a:p>
                <a:pPr>
                  <a:lnSpc>
                    <a:spcPct val="100000"/>
                  </a:lnSpc>
                </a:pPr>
                <a:r>
                  <a:rPr lang="en-US" sz="2000" b="1" dirty="0">
                    <a:cs typeface="Arial" panose="020B0604020202020204" pitchFamily="34" charset="0"/>
                  </a:rPr>
                  <a:t>Apply Tools</a:t>
                </a:r>
                <a:r>
                  <a:rPr lang="en-US" sz="2000" dirty="0">
                    <a:cs typeface="Arial" panose="020B0604020202020204" pitchFamily="34" charset="0"/>
                  </a:rPr>
                  <a:t>: Cells E3:H8 show the contingency table resulting from Excel’s PivotTable tool (see Section 2.4 for details) to construct a two-way table with beer preference (dark, light, or regular) and sex (female or male) as the two variables.</a:t>
                </a:r>
              </a:p>
              <a:p>
                <a:pPr>
                  <a:lnSpc>
                    <a:spcPct val="100000"/>
                  </a:lnSpc>
                </a:pPr>
                <a:r>
                  <a:rPr lang="en-US" sz="2000" b="1" dirty="0">
                    <a:cs typeface="Arial" panose="020B0604020202020204" pitchFamily="34" charset="0"/>
                  </a:rPr>
                  <a:t>Enter Functions and Formulas</a:t>
                </a:r>
                <a:r>
                  <a:rPr lang="en-US" sz="2000" dirty="0">
                    <a:cs typeface="Arial" panose="020B0604020202020204" pitchFamily="34" charset="0"/>
                  </a:rPr>
                  <a:t>: The Excel formulas in cells F12:G14 were used to compute the expected frequencies for each category.</a:t>
                </a:r>
              </a:p>
              <a:p>
                <a:pPr>
                  <a:lnSpc>
                    <a:spcPct val="100000"/>
                  </a:lnSpc>
                </a:pPr>
                <a:r>
                  <a:rPr lang="en-US" sz="2000" dirty="0">
                    <a:cs typeface="Arial" panose="020B0604020202020204" pitchFamily="34" charset="0"/>
                  </a:rPr>
                  <a:t>Then, in cell F16, Excel’s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𝐶𝐻𝐼𝑆𝑄</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𝑇𝐸𝑆𝑇</m:t>
                    </m:r>
                    <m:r>
                      <a:rPr lang="en-US" sz="2000" i="1" dirty="0" smtClean="0">
                        <a:latin typeface="Cambria Math" panose="02040503050406030204" pitchFamily="18" charset="0"/>
                        <a:cs typeface="Arial" panose="020B0604020202020204" pitchFamily="34" charset="0"/>
                      </a:rPr>
                      <m:t>(</m:t>
                    </m:r>
                    <m:r>
                      <a:rPr lang="en-US" sz="2000" i="1" dirty="0" err="1" smtClean="0">
                        <a:latin typeface="Cambria Math" panose="02040503050406030204" pitchFamily="18" charset="0"/>
                        <a:cs typeface="Arial" panose="020B0604020202020204" pitchFamily="34" charset="0"/>
                      </a:rPr>
                      <m:t>𝑎𝑐𝑡𝑢𝑎𝑙</m:t>
                    </m:r>
                    <m:r>
                      <a:rPr lang="en-US" sz="2000" i="1" dirty="0" err="1" smtClean="0">
                        <a:latin typeface="Cambria Math" panose="02040503050406030204" pitchFamily="18" charset="0"/>
                        <a:cs typeface="Arial" panose="020B0604020202020204" pitchFamily="34" charset="0"/>
                      </a:rPr>
                      <m:t>_</m:t>
                    </m:r>
                    <m:r>
                      <a:rPr lang="en-US" sz="2000" i="1" dirty="0" err="1" smtClean="0">
                        <a:latin typeface="Cambria Math" panose="02040503050406030204" pitchFamily="18" charset="0"/>
                        <a:cs typeface="Arial" panose="020B0604020202020204" pitchFamily="34" charset="0"/>
                      </a:rPr>
                      <m:t>𝑟𝑎𝑛𝑔𝑒</m:t>
                    </m:r>
                    <m:r>
                      <a:rPr lang="en-US" sz="2000" i="1" dirty="0" err="1" smtClean="0">
                        <a:latin typeface="Cambria Math" panose="02040503050406030204" pitchFamily="18" charset="0"/>
                        <a:cs typeface="Arial" panose="020B0604020202020204" pitchFamily="34" charset="0"/>
                      </a:rPr>
                      <m:t>,</m:t>
                    </m:r>
                    <m:r>
                      <a:rPr lang="en-US" sz="2000" i="1" dirty="0" err="1" smtClean="0">
                        <a:latin typeface="Cambria Math" panose="02040503050406030204" pitchFamily="18" charset="0"/>
                        <a:cs typeface="Arial" panose="020B0604020202020204" pitchFamily="34" charset="0"/>
                      </a:rPr>
                      <m:t>𝑒𝑥𝑝𝑒𝑐𝑡𝑒𝑑</m:t>
                    </m:r>
                    <m:r>
                      <a:rPr lang="en-US" sz="2000" i="1" dirty="0" err="1" smtClean="0">
                        <a:latin typeface="Cambria Math" panose="02040503050406030204" pitchFamily="18" charset="0"/>
                        <a:cs typeface="Arial" panose="020B0604020202020204" pitchFamily="34" charset="0"/>
                      </a:rPr>
                      <m:t>_</m:t>
                    </m:r>
                    <m:r>
                      <a:rPr lang="en-US" sz="2000" i="1" dirty="0" err="1"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function can be used to compute the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oMath>
                </a14:m>
                <a:r>
                  <a:rPr lang="en-US" sz="2000" dirty="0">
                    <a:cs typeface="Arial" panose="020B0604020202020204" pitchFamily="34" charset="0"/>
                  </a:rPr>
                  <a:t>-value for a test of independence.</a:t>
                </a:r>
              </a:p>
              <a:p>
                <a:pPr marL="914400" indent="-342900">
                  <a:lnSpc>
                    <a:spcPct val="100000"/>
                  </a:lnSpc>
                  <a:spcBef>
                    <a:spcPts val="600"/>
                  </a:spcBef>
                  <a:buFont typeface="Arial" panose="020B0604020202020204" pitchFamily="34" charset="0"/>
                  <a:buChar char="•"/>
                </a:pPr>
                <a:r>
                  <a:rPr lang="en-US" sz="2000" dirty="0">
                    <a:cs typeface="Arial" panose="020B0604020202020204" pitchFamily="34" charset="0"/>
                  </a:rPr>
                  <a:t>Where </a:t>
                </a:r>
                <a14:m>
                  <m:oMath xmlns:m="http://schemas.openxmlformats.org/officeDocument/2006/math">
                    <m:r>
                      <a:rPr lang="en-US" sz="2000" i="1" dirty="0" smtClean="0">
                        <a:latin typeface="Cambria Math" panose="02040503050406030204" pitchFamily="18" charset="0"/>
                        <a:cs typeface="Arial" panose="020B0604020202020204" pitchFamily="34" charset="0"/>
                      </a:rPr>
                      <m:t>𝑎𝑐𝑡𝑢𝑎𝑙</m:t>
                    </m:r>
                    <m:r>
                      <a:rPr lang="en-US" sz="2000" i="1" dirty="0" smtClean="0">
                        <a:latin typeface="Cambria Math" panose="02040503050406030204" pitchFamily="18" charset="0"/>
                        <a:cs typeface="Arial" panose="020B0604020202020204" pitchFamily="34" charset="0"/>
                      </a:rPr>
                      <m:t>_</m:t>
                    </m:r>
                    <m:r>
                      <a:rPr lang="en-US" sz="2000" i="1" dirty="0"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𝐹</m:t>
                    </m:r>
                    <m:r>
                      <a:rPr lang="en-US" sz="2000" b="0" i="1" dirty="0" smtClean="0">
                        <a:latin typeface="Cambria Math" panose="02040503050406030204" pitchFamily="18" charset="0"/>
                        <a:cs typeface="Arial" panose="020B0604020202020204" pitchFamily="34" charset="0"/>
                      </a:rPr>
                      <m:t>5:</m:t>
                    </m:r>
                    <m:r>
                      <a:rPr lang="en-US" sz="2000" b="0" i="1" dirty="0" smtClean="0">
                        <a:latin typeface="Cambria Math" panose="02040503050406030204" pitchFamily="18" charset="0"/>
                        <a:cs typeface="Arial" panose="020B0604020202020204" pitchFamily="34" charset="0"/>
                      </a:rPr>
                      <m:t>𝐺</m:t>
                    </m:r>
                    <m:r>
                      <a:rPr lang="en-US" sz="2000" b="0" i="1" dirty="0" smtClean="0">
                        <a:latin typeface="Cambria Math" panose="02040503050406030204" pitchFamily="18" charset="0"/>
                        <a:cs typeface="Arial" panose="020B0604020202020204" pitchFamily="34" charset="0"/>
                      </a:rPr>
                      <m:t>7</m:t>
                    </m:r>
                  </m:oMath>
                </a14:m>
                <a:r>
                  <a:rPr lang="en-US" sz="2000" dirty="0">
                    <a:cs typeface="Arial" panose="020B0604020202020204" pitchFamily="34" charset="0"/>
                  </a:rPr>
                  <a:t>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𝑒𝑥𝑝𝑒𝑐𝑡𝑒𝑑</m:t>
                    </m:r>
                    <m:r>
                      <a:rPr lang="en-US" sz="2000" i="1" dirty="0" smtClean="0">
                        <a:latin typeface="Cambria Math" panose="02040503050406030204" pitchFamily="18" charset="0"/>
                        <a:cs typeface="Arial" panose="020B0604020202020204" pitchFamily="34" charset="0"/>
                      </a:rPr>
                      <m:t>_</m:t>
                    </m:r>
                    <m:r>
                      <a:rPr lang="en-US" sz="2000" i="1" dirty="0"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𝐹</m:t>
                    </m:r>
                    <m:r>
                      <a:rPr lang="en-US" sz="2000" b="0" i="1" dirty="0" smtClean="0">
                        <a:latin typeface="Cambria Math" panose="02040503050406030204" pitchFamily="18" charset="0"/>
                        <a:cs typeface="Arial" panose="020B0604020202020204" pitchFamily="34" charset="0"/>
                      </a:rPr>
                      <m:t>12:</m:t>
                    </m:r>
                    <m:r>
                      <a:rPr lang="en-US" sz="2000" i="1" dirty="0" smtClean="0">
                        <a:latin typeface="Cambria Math" panose="02040503050406030204" pitchFamily="18" charset="0"/>
                        <a:cs typeface="Arial" panose="020B0604020202020204" pitchFamily="34" charset="0"/>
                      </a:rPr>
                      <m:t>𝐺</m:t>
                    </m:r>
                    <m:r>
                      <a:rPr lang="en-US" sz="2000" b="0" i="1" dirty="0" smtClean="0">
                        <a:latin typeface="Cambria Math" panose="02040503050406030204" pitchFamily="18" charset="0"/>
                        <a:cs typeface="Arial" panose="020B0604020202020204" pitchFamily="34" charset="0"/>
                      </a:rPr>
                      <m:t>14</m:t>
                    </m:r>
                  </m:oMath>
                </a14:m>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343026"/>
                <a:ext cx="10711543" cy="4386262"/>
              </a:xfrm>
              <a:blipFill>
                <a:blip r:embed="rId2"/>
                <a:stretch>
                  <a:fillRect l="-1422" t="-1667" r="-796"/>
                </a:stretch>
              </a:blipFill>
            </p:spPr>
            <p:txBody>
              <a:bodyPr/>
              <a:lstStyle/>
              <a:p>
                <a:r>
                  <a:rPr lang="en-US">
                    <a:noFill/>
                  </a:rPr>
                  <a:t> </a:t>
                </a:r>
              </a:p>
            </p:txBody>
          </p:sp>
        </mc:Fallback>
      </mc:AlternateContent>
    </p:spTree>
    <p:extLst>
      <p:ext uri="{BB962C8B-B14F-4D97-AF65-F5344CB8AC3E}">
        <p14:creationId xmlns:p14="http://schemas.microsoft.com/office/powerpoint/2010/main" val="2147550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0C545-CB2C-73A2-9133-D7A4358941F2}"/>
              </a:ext>
            </a:extLst>
          </p:cNvPr>
          <p:cNvSpPr>
            <a:spLocks noGrp="1"/>
          </p:cNvSpPr>
          <p:nvPr>
            <p:ph type="title"/>
          </p:nvPr>
        </p:nvSpPr>
        <p:spPr/>
        <p:txBody>
          <a:bodyPr/>
          <a:lstStyle/>
          <a:p>
            <a:r>
              <a:rPr lang="en-US" dirty="0">
                <a:solidFill>
                  <a:srgbClr val="25894E"/>
                </a:solidFill>
              </a:rPr>
              <a:t>12.2 Excel Worksheet for the Test of Independence</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05CCCD2-BD55-AD0A-E415-55DA5CE454C8}"/>
                  </a:ext>
                </a:extLst>
              </p:cNvPr>
              <p:cNvSpPr>
                <a:spLocks noGrp="1"/>
              </p:cNvSpPr>
              <p:nvPr>
                <p:ph type="body" sz="quarter" idx="15"/>
              </p:nvPr>
            </p:nvSpPr>
            <p:spPr>
              <a:xfrm>
                <a:off x="743578" y="1174950"/>
                <a:ext cx="10610222" cy="672105"/>
              </a:xfrm>
            </p:spPr>
            <p:txBody>
              <a:bodyPr/>
              <a:lstStyle/>
              <a:p>
                <a:r>
                  <a:rPr lang="en-US" sz="2000" dirty="0"/>
                  <a:t>The worksheet shows </a:t>
                </a:r>
                <a14:m>
                  <m:oMath xmlns:m="http://schemas.openxmlformats.org/officeDocument/2006/math">
                    <m:r>
                      <a:rPr lang="en-US" sz="2000" i="1" dirty="0" smtClean="0">
                        <a:latin typeface="Cambria Math" panose="02040503050406030204" pitchFamily="18" charset="0"/>
                      </a:rPr>
                      <m:t>𝑝</m:t>
                    </m:r>
                  </m:oMath>
                </a14:m>
                <a:r>
                  <a:rPr lang="en-US" sz="2000" dirty="0"/>
                  <a:t>-value</a:t>
                </a:r>
                <a14:m>
                  <m:oMath xmlns:m="http://schemas.openxmlformats.org/officeDocument/2006/math">
                    <m:r>
                      <a:rPr lang="en-US" sz="2000" b="0" i="0" dirty="0" smtClean="0">
                        <a:latin typeface="Cambria Math" panose="02040503050406030204" pitchFamily="18" charset="0"/>
                      </a:rPr>
                      <m:t> </m:t>
                    </m:r>
                    <m:r>
                      <a:rPr lang="en-US" sz="2000" i="1" dirty="0" smtClean="0">
                        <a:latin typeface="Cambria Math" panose="02040503050406030204" pitchFamily="18" charset="0"/>
                      </a:rPr>
                      <m:t>=0.0</m:t>
                    </m:r>
                    <m:r>
                      <a:rPr lang="en-US" sz="2000" b="0" i="1" dirty="0" smtClean="0">
                        <a:latin typeface="Cambria Math" panose="02040503050406030204" pitchFamily="18" charset="0"/>
                      </a:rPr>
                      <m:t>398</m:t>
                    </m:r>
                  </m:oMath>
                </a14:m>
                <a:r>
                  <a:rPr lang="en-US" sz="2000" dirty="0"/>
                  <a:t>. With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𝛼</m:t>
                    </m:r>
                    <m:r>
                      <a:rPr lang="en-US" sz="2000" b="0" i="1" dirty="0" smtClean="0">
                        <a:latin typeface="Cambria Math" panose="02040503050406030204" pitchFamily="18" charset="0"/>
                        <a:ea typeface="Cambria Math" panose="02040503050406030204" pitchFamily="18" charset="0"/>
                      </a:rPr>
                      <m:t>=0.05</m:t>
                    </m:r>
                  </m:oMath>
                </a14:m>
                <a:r>
                  <a:rPr lang="en-US" sz="2000" dirty="0"/>
                  <a:t>, we reject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oMath>
                </a14:m>
                <a:r>
                  <a:rPr lang="en-US" sz="2000" dirty="0"/>
                  <a:t> and conclude that beer preference is not independent of the sex of the beer drinker.</a:t>
                </a:r>
              </a:p>
            </p:txBody>
          </p:sp>
        </mc:Choice>
        <mc:Fallback xmlns="">
          <p:sp>
            <p:nvSpPr>
              <p:cNvPr id="3" name="Text Placeholder 2">
                <a:extLst>
                  <a:ext uri="{FF2B5EF4-FFF2-40B4-BE49-F238E27FC236}">
                    <a16:creationId xmlns:a16="http://schemas.microsoft.com/office/drawing/2014/main" id="{305CCCD2-BD55-AD0A-E415-55DA5CE454C8}"/>
                  </a:ext>
                </a:extLst>
              </p:cNvPr>
              <p:cNvSpPr>
                <a:spLocks noGrp="1" noRot="1" noChangeAspect="1" noMove="1" noResize="1" noEditPoints="1" noAdjustHandles="1" noChangeArrowheads="1" noChangeShapeType="1" noTextEdit="1"/>
              </p:cNvSpPr>
              <p:nvPr>
                <p:ph type="body" sz="quarter" idx="15"/>
              </p:nvPr>
            </p:nvSpPr>
            <p:spPr>
              <a:xfrm>
                <a:off x="743578" y="1174950"/>
                <a:ext cx="10610222" cy="672105"/>
              </a:xfrm>
              <a:blipFill>
                <a:blip r:embed="rId2"/>
                <a:stretch>
                  <a:fillRect l="-1493" t="-10909" b="-14545"/>
                </a:stretch>
              </a:blipFill>
            </p:spPr>
            <p:txBody>
              <a:bodyPr/>
              <a:lstStyle/>
              <a:p>
                <a:r>
                  <a:rPr lang="en-US">
                    <a:noFill/>
                  </a:rPr>
                  <a:t> </a:t>
                </a:r>
              </a:p>
            </p:txBody>
          </p:sp>
        </mc:Fallback>
      </mc:AlternateContent>
      <p:pic>
        <p:nvPicPr>
          <p:cNvPr id="7" name="Picture Placeholder 6" descr="Two screenshots of Excel spreadsheets with three tables. In the first table of both the spreadsheets, column A is labeled beer drinker, column B is labeled preference, and column C is labeled sex. The entries in rows 2 through 201 are as follows. Row 2. Beer drinker: 1. Preference: Regular. Sex: Male. Row 3. Beer drinker: 2. Preference: Light. Sex: Female. Row 4. Beer drinker: 3. Preference: Regular. Sex: Male. Row 5. Beer drinker: 4. Preference: Regular. Sex: Male. Row 6. Beer drinker: 5. Preference: Regular. Sex: Female. Row 7. Beer drinker: 6. Preference: Regular. Sex: Male. Row 8. Beer drinker: 7. Preference: Dark. Sex: Male. Row 9. Beer drinker: 8. Preference: Dark. Sex: Male. Row 10. Beer drinker: 9. Preference: Dark. Sex: Male. Row 11. Beer drinker: 10. Preference: Light. Sex: Female. Row 12. Beer drinker: 11. Preference: Light. Sex: Male. Row 13. Beer drinker: 12. Preference: Dark. Sex: Female. Row 14. Beer drinker: 13. Preference: Regular. Sex: Male. Row 15. Beer drinker: 14. Preference: Regular. Sex: Male. Row 15. Beer drinker: 14. Preference: Light. Sex: Male. Row 16. Beer drinker: 15. Preference: Light. Sex: Male. Row 17. Beer drinker: 16. Preference: Regular. Sex: Male. Row 200. Beer drinker: 199. Preference: Light. Sex: Male. Row 201. Beer drinker: 200. Preference: Light. Sex: Male. In the second table, E 3 is labeled count of beer drinker, F 3 is labeled sex, column E is labeled preference, column F is labeled female, column G is labeled male, and column H is labeled grand total. The entries in rows 5 through 8 are as follows. Row 5. Preference: Dark. Female: 8. Male: 25. Total: 33. Row 6. Preference: Light. Female: 39. Male: 51. Total: 90. Row 7. Preference: Regular. Female: 21. Male: 56. Total: 77. Row 8. Preference: Grand Total. Female: 68. Male: 132. Total: 200. In the third table of the first spreadsheet, column E is labeled preference, column F is labeled female, and column G is labeled male. The entries in rows 12 through 14 are as follows. Row 12. Preference: Dark. Female: =(dollar sign H 5*F dollar sign 8)/dollar sign H dollar sign 8. Male: =(dollar sign H 5*F dollar sign 8)/dollar sign H dollar sign 8. Row 13. Preference: Light. Female: =(dollar sign H 6*G dollar sign 8)/dollar sign H dollar sign 8. Male: =(dollar sign H 6*G dollar sign 8)/dollar sign H dollar sign 8. Row 14. Preference: Regular. Female: =(dollar sign H 7*F dollar sign 8)/dollar sign H dollar sign 8. Male: =(dollar sign H 7*G dollar sign 8)/dollar sign H dollar sign 8. The other entries are as follows. E 16: p-value. F 16: =CHISQ.TEST(F 5:G 7,F 12:G 14). In the third table of the second spreadsheet, column E is labeled preference, column F is labeled female, and column G is labeled male. The entries in rows 12 through 14 are as follows. Row 12. Preference: Dark. Female: 11.22. Male: 21.78. Row 13. Preference: Light. Female: 30.60. Male: 59.40 8. Row 14. Preference: Regular. Female: 26.18. Male: 50.82. The other entries are as follows. E 16: p-value. F 16: 0.0398.">
            <a:extLst>
              <a:ext uri="{FF2B5EF4-FFF2-40B4-BE49-F238E27FC236}">
                <a16:creationId xmlns:a16="http://schemas.microsoft.com/office/drawing/2014/main" id="{CB019B1A-B794-8F94-F322-4015D7F8F8FA}"/>
              </a:ext>
            </a:extLst>
          </p:cNvPr>
          <p:cNvPicPr>
            <a:picLocks noGrp="1" noChangeAspect="1"/>
          </p:cNvPicPr>
          <p:nvPr>
            <p:ph type="pic" sz="quarter" idx="16"/>
          </p:nvPr>
        </p:nvPicPr>
        <p:blipFill>
          <a:blip r:embed="rId3"/>
          <a:srcRect l="48" r="48"/>
          <a:stretch/>
        </p:blipFill>
        <p:spPr>
          <a:xfrm>
            <a:off x="1373188" y="1900237"/>
            <a:ext cx="9445625" cy="3859212"/>
          </a:xfrm>
          <a:ln>
            <a:solidFill>
              <a:srgbClr val="000000"/>
            </a:solidFill>
          </a:ln>
        </p:spPr>
      </p:pic>
    </p:spTree>
    <p:extLst>
      <p:ext uri="{BB962C8B-B14F-4D97-AF65-F5344CB8AC3E}">
        <p14:creationId xmlns:p14="http://schemas.microsoft.com/office/powerpoint/2010/main" val="1013400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solidFill>
                  <a:srgbClr val="D14B1E"/>
                </a:solidFill>
              </a:rPr>
              <a:t>12.</a:t>
            </a:r>
            <a:r>
              <a:rPr lang="en-US" sz="3200" dirty="0">
                <a:solidFill>
                  <a:srgbClr val="FF0000"/>
                </a:solidFill>
              </a:rPr>
              <a:t>3</a:t>
            </a:r>
            <a:r>
              <a:rPr lang="en-US" sz="3200" dirty="0">
                <a:solidFill>
                  <a:srgbClr val="D14B1E"/>
                </a:solidFill>
              </a:rPr>
              <a:t> Testing for Equality of Three or More Population Proportions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543048"/>
                <a:ext cx="10711543" cy="4443414"/>
              </a:xfrm>
            </p:spPr>
            <p:txBody>
              <a:bodyPr/>
              <a:lstStyle/>
              <a:p>
                <a:pPr>
                  <a:lnSpc>
                    <a:spcPct val="100000"/>
                  </a:lnSpc>
                </a:pPr>
                <a:r>
                  <a:rPr lang="en-US" sz="2000" dirty="0">
                    <a:cs typeface="Arial" panose="020B0604020202020204" pitchFamily="34" charset="0"/>
                  </a:rPr>
                  <a:t>In the </a:t>
                </a:r>
                <a:r>
                  <a:rPr lang="en-US" sz="2000" b="1" dirty="0">
                    <a:cs typeface="Arial" panose="020B0604020202020204" pitchFamily="34" charset="0"/>
                  </a:rPr>
                  <a:t>test for equality of three or more population proportions</a:t>
                </a:r>
                <a:r>
                  <a:rPr lang="en-US" sz="2000" dirty="0">
                    <a:cs typeface="Arial" panose="020B0604020202020204" pitchFamily="34" charset="0"/>
                  </a:rPr>
                  <a:t>, we also </a:t>
                </a:r>
                <a:r>
                  <a:rPr lang="en-US" sz="2000" dirty="0">
                    <a:solidFill>
                      <a:srgbClr val="000000"/>
                    </a:solidFill>
                    <a:cs typeface="Arial" panose="020B0604020202020204" pitchFamily="34" charset="0"/>
                  </a:rPr>
                  <a:t>compare a table of observed frequencies to a table of expected frequencies.</a:t>
                </a:r>
              </a:p>
              <a:p>
                <a:pPr marL="457200">
                  <a:lnSpc>
                    <a:spcPct val="100000"/>
                  </a:lnSpc>
                  <a:spcBef>
                    <a:spcPts val="600"/>
                  </a:spcBef>
                </a:pPr>
                <a:r>
                  <a:rPr lang="en-US" sz="2000" dirty="0">
                    <a:solidFill>
                      <a:srgbClr val="000000"/>
                    </a:solidFill>
                    <a:cs typeface="Arial" panose="020B0604020202020204" pitchFamily="34" charset="0"/>
                  </a:rPr>
                  <a:t>Using the notation</a:t>
                </a:r>
              </a:p>
              <a:p>
                <a:pPr marL="1143000">
                  <a:lnSpc>
                    <a:spcPct val="100000"/>
                  </a:lnSpc>
                  <a:spcBef>
                    <a:spcPts val="600"/>
                  </a:spcBef>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𝑖</m:t>
                        </m:r>
                      </m:sub>
                    </m:sSub>
                    <m:r>
                      <a:rPr lang="en-US" sz="2000" b="0" i="1" smtClean="0">
                        <a:latin typeface="Cambria Math" panose="02040503050406030204" pitchFamily="18" charset="0"/>
                        <a:cs typeface="Arial" panose="020B0604020202020204" pitchFamily="34" charset="0"/>
                      </a:rPr>
                      <m:t>=</m:t>
                    </m:r>
                  </m:oMath>
                </a14:m>
                <a:r>
                  <a:rPr lang="en-US" sz="2000" dirty="0">
                    <a:solidFill>
                      <a:srgbClr val="000000"/>
                    </a:solidFill>
                    <a:cs typeface="Arial" panose="020B0604020202020204" pitchFamily="34" charset="0"/>
                  </a:rPr>
                  <a:t> population proportion for population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𝑖</m:t>
                    </m:r>
                  </m:oMath>
                </a14:m>
                <a:r>
                  <a:rPr lang="en-US" sz="2000" dirty="0">
                    <a:solidFill>
                      <a:srgbClr val="000000"/>
                    </a:solidFill>
                    <a:cs typeface="Arial" panose="020B0604020202020204" pitchFamily="34" charset="0"/>
                  </a:rPr>
                  <a:t>, where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𝑖</m:t>
                    </m:r>
                    <m:r>
                      <a:rPr lang="en-US" sz="2000" i="1" dirty="0" smtClean="0">
                        <a:solidFill>
                          <a:srgbClr val="000000"/>
                        </a:solidFill>
                        <a:latin typeface="Cambria Math" panose="02040503050406030204" pitchFamily="18" charset="0"/>
                        <a:cs typeface="Arial" panose="020B0604020202020204" pitchFamily="34" charset="0"/>
                      </a:rPr>
                      <m:t>=1,2,…,</m:t>
                    </m:r>
                    <m:r>
                      <a:rPr lang="en-US" sz="2000" i="1" dirty="0" smtClean="0">
                        <a:solidFill>
                          <a:srgbClr val="000000"/>
                        </a:solidFill>
                        <a:latin typeface="Cambria Math" panose="02040503050406030204" pitchFamily="18" charset="0"/>
                        <a:cs typeface="Arial" panose="020B0604020202020204" pitchFamily="34" charset="0"/>
                      </a:rPr>
                      <m:t>𝑘</m:t>
                    </m:r>
                  </m:oMath>
                </a14:m>
                <a:endParaRPr lang="en-US" sz="2000" dirty="0">
                  <a:cs typeface="Arial" panose="020B0604020202020204" pitchFamily="34" charset="0"/>
                </a:endParaRPr>
              </a:p>
              <a:p>
                <a:pPr marL="457200">
                  <a:lnSpc>
                    <a:spcPct val="100000"/>
                  </a:lnSpc>
                </a:pPr>
                <a:r>
                  <a:rPr lang="en-US" sz="2000" dirty="0">
                    <a:solidFill>
                      <a:srgbClr val="000000"/>
                    </a:solidFill>
                    <a:cs typeface="Arial" panose="020B0604020202020204" pitchFamily="34" charset="0"/>
                  </a:rPr>
                  <a:t>the hypotheses for the equality of population proportions for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𝑘</m:t>
                    </m:r>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solidFill>
                          <a:srgbClr val="000000"/>
                        </a:solidFill>
                        <a:latin typeface="Cambria Math" panose="02040503050406030204" pitchFamily="18" charset="0"/>
                        <a:cs typeface="Arial" panose="020B0604020202020204" pitchFamily="34" charset="0"/>
                      </a:rPr>
                      <m:t>3</m:t>
                    </m:r>
                  </m:oMath>
                </a14:m>
                <a:r>
                  <a:rPr lang="en-US" sz="2000" dirty="0">
                    <a:solidFill>
                      <a:srgbClr val="000000"/>
                    </a:solidFill>
                    <a:cs typeface="Arial" panose="020B0604020202020204" pitchFamily="34" charset="0"/>
                  </a:rPr>
                  <a:t> populations are:</a:t>
                </a:r>
              </a:p>
              <a:p>
                <a:pPr marL="11430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r>
                      <a:rPr lang="en-US" sz="2000" b="0" i="1" smtClean="0">
                        <a:latin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𝑘</m:t>
                        </m:r>
                      </m:sub>
                    </m:sSub>
                  </m:oMath>
                </a14:m>
                <a:r>
                  <a:rPr lang="en-US" sz="2000" dirty="0">
                    <a:cs typeface="Arial" panose="020B0604020202020204" pitchFamily="34" charset="0"/>
                  </a:rPr>
                  <a:t>    with </a:t>
                </a:r>
                <a14:m>
                  <m:oMath xmlns:m="http://schemas.openxmlformats.org/officeDocument/2006/math">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ea typeface="Cambria Math" panose="02040503050406030204" pitchFamily="18" charset="0"/>
                        <a:cs typeface="Arial" panose="020B0604020202020204" pitchFamily="34" charset="0"/>
                      </a:rPr>
                      <m:t>≥3</m:t>
                    </m:r>
                  </m:oMath>
                </a14:m>
                <a:endParaRPr lang="en-US" sz="2000" dirty="0">
                  <a:cs typeface="Arial" panose="020B0604020202020204" pitchFamily="34" charset="0"/>
                </a:endParaRPr>
              </a:p>
              <a:p>
                <a:pPr marL="11430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𝑎</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Not all population proportions are equal</a:t>
                </a:r>
              </a:p>
              <a:p>
                <a:pPr marL="457200"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If the sample data and the chi-square test computations indicate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oMath>
                </a14:m>
                <a:r>
                  <a:rPr lang="en-US" sz="2000" dirty="0">
                    <a:solidFill>
                      <a:srgbClr val="000000"/>
                    </a:solidFill>
                    <a:cs typeface="Arial" panose="020B0604020202020204" pitchFamily="34" charset="0"/>
                  </a:rPr>
                  <a:t> cannot be rejected, we cannot detect a difference among the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𝑘</m:t>
                    </m:r>
                  </m:oMath>
                </a14:m>
                <a:r>
                  <a:rPr lang="en-US" sz="2000" dirty="0">
                    <a:solidFill>
                      <a:srgbClr val="000000"/>
                    </a:solidFill>
                    <a:cs typeface="Arial" panose="020B0604020202020204" pitchFamily="34" charset="0"/>
                  </a:rPr>
                  <a:t> population proportions. </a:t>
                </a:r>
              </a:p>
              <a:p>
                <a:pPr marL="457200" indent="-342900">
                  <a:lnSpc>
                    <a:spcPct val="100000"/>
                  </a:lnSpc>
                  <a:spcBef>
                    <a:spcPts val="600"/>
                  </a:spcBef>
                  <a:buFont typeface="Arial" panose="020B0604020202020204" pitchFamily="34" charset="0"/>
                  <a:buChar char="•"/>
                </a:pPr>
                <a:r>
                  <a:rPr lang="en-US" sz="2000" dirty="0">
                    <a:cs typeface="Arial" panose="020B0604020202020204" pitchFamily="34" charset="0"/>
                  </a:rPr>
                  <a:t>I</a:t>
                </a:r>
                <a:r>
                  <a:rPr lang="en-US" sz="2000" dirty="0">
                    <a:solidFill>
                      <a:srgbClr val="000000"/>
                    </a:solidFill>
                    <a:cs typeface="Arial" panose="020B0604020202020204" pitchFamily="34" charset="0"/>
                  </a:rPr>
                  <a:t>f the sample data and the chi-square test computations indicate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oMath>
                </a14:m>
                <a:r>
                  <a:rPr lang="en-US" sz="2000" dirty="0">
                    <a:solidFill>
                      <a:srgbClr val="000000"/>
                    </a:solidFill>
                    <a:cs typeface="Arial" panose="020B0604020202020204" pitchFamily="34" charset="0"/>
                  </a:rPr>
                  <a:t> can be rejected, we have statistical evidence to conclude that not all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𝑘</m:t>
                    </m:r>
                  </m:oMath>
                </a14:m>
                <a:r>
                  <a:rPr lang="en-US" sz="2000" dirty="0">
                    <a:solidFill>
                      <a:srgbClr val="000000"/>
                    </a:solidFill>
                    <a:cs typeface="Arial" panose="020B0604020202020204" pitchFamily="34" charset="0"/>
                  </a:rPr>
                  <a:t> population proportions are equal.</a:t>
                </a:r>
              </a:p>
              <a:p>
                <a:pPr marL="9144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that is, one or more population proportions differ from the other population proportions.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543048"/>
                <a:ext cx="10711543" cy="4443414"/>
              </a:xfrm>
              <a:blipFill>
                <a:blip r:embed="rId4"/>
                <a:stretch>
                  <a:fillRect l="-1422" t="-1646" r="-1422" b="-1920"/>
                </a:stretch>
              </a:blipFill>
            </p:spPr>
            <p:txBody>
              <a:bodyPr/>
              <a:lstStyle/>
              <a:p>
                <a:r>
                  <a:rPr lang="en-US">
                    <a:noFill/>
                  </a:rPr>
                  <a:t> </a:t>
                </a:r>
              </a:p>
            </p:txBody>
          </p:sp>
        </mc:Fallback>
      </mc:AlternateContent>
    </p:spTree>
    <p:extLst>
      <p:ext uri="{BB962C8B-B14F-4D97-AF65-F5344CB8AC3E}">
        <p14:creationId xmlns:p14="http://schemas.microsoft.com/office/powerpoint/2010/main" val="67757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12.3 Chi-Square Test for the Equality of Three or More Population Proportions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759894"/>
                <a:ext cx="10711543" cy="3988553"/>
              </a:xfrm>
            </p:spPr>
            <p:txBody>
              <a:bodyPr/>
              <a:lstStyle/>
              <a:p>
                <a:pPr marL="346075" indent="-346075">
                  <a:lnSpc>
                    <a:spcPct val="100000"/>
                  </a:lnSpc>
                  <a:spcBef>
                    <a:spcPts val="600"/>
                  </a:spcBef>
                  <a:buFont typeface="+mj-lt"/>
                  <a:buAutoNum type="arabicPeriod"/>
                </a:pPr>
                <a:r>
                  <a:rPr lang="en-US" sz="2000" dirty="0">
                    <a:solidFill>
                      <a:srgbClr val="000000"/>
                    </a:solidFill>
                    <a:cs typeface="Arial" panose="020B0604020202020204" pitchFamily="34" charset="0"/>
                  </a:rPr>
                  <a:t>State null and alternative hypotheses</a:t>
                </a:r>
              </a:p>
              <a:p>
                <a:pPr marL="9144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r>
                      <a:rPr lang="en-US" sz="2000" b="0" i="1" smtClean="0">
                        <a:latin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𝑘</m:t>
                        </m:r>
                      </m:sub>
                    </m:sSub>
                  </m:oMath>
                </a14:m>
                <a:r>
                  <a:rPr lang="en-US" sz="2000" dirty="0">
                    <a:cs typeface="Arial" panose="020B0604020202020204" pitchFamily="34" charset="0"/>
                  </a:rPr>
                  <a:t>    with </a:t>
                </a:r>
                <a14:m>
                  <m:oMath xmlns:m="http://schemas.openxmlformats.org/officeDocument/2006/math">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ea typeface="Cambria Math" panose="02040503050406030204" pitchFamily="18" charset="0"/>
                        <a:cs typeface="Arial" panose="020B0604020202020204" pitchFamily="34" charset="0"/>
                      </a:rPr>
                      <m:t>≥3</m:t>
                    </m:r>
                  </m:oMath>
                </a14:m>
                <a:endParaRPr lang="en-US" sz="2000" dirty="0">
                  <a:cs typeface="Arial" panose="020B0604020202020204" pitchFamily="34" charset="0"/>
                </a:endParaRPr>
              </a:p>
              <a:p>
                <a:pPr marL="9144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𝑎</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Not all population proportions are equal</a:t>
                </a:r>
              </a:p>
              <a:p>
                <a:pPr marL="346075" indent="-346075">
                  <a:spcBef>
                    <a:spcPts val="600"/>
                  </a:spcBef>
                  <a:buFont typeface="+mj-lt"/>
                  <a:buAutoNum type="arabicPeriod" startAt="2"/>
                </a:pPr>
                <a:r>
                  <a:rPr lang="en-US" sz="2000" dirty="0">
                    <a:solidFill>
                      <a:srgbClr val="000000"/>
                    </a:solidFill>
                    <a:cs typeface="Arial" panose="020B0604020202020204" pitchFamily="34" charset="0"/>
                  </a:rPr>
                  <a:t>Select one random sample from each population and collect data for every element in each sample. </a:t>
                </a:r>
                <a:r>
                  <a:rPr lang="en-US" sz="2000" dirty="0">
                    <a:cs typeface="Arial" panose="020B0604020202020204" pitchFamily="34" charset="0"/>
                  </a:rPr>
                  <a:t>R</a:t>
                </a:r>
                <a:r>
                  <a:rPr lang="en-US" sz="2000" dirty="0">
                    <a:solidFill>
                      <a:srgbClr val="000000"/>
                    </a:solidFill>
                    <a:cs typeface="Arial" panose="020B0604020202020204" pitchFamily="34" charset="0"/>
                  </a:rPr>
                  <a:t>ecord the </a:t>
                </a:r>
                <a:r>
                  <a:rPr lang="en-US" sz="2000" i="1" dirty="0">
                    <a:solidFill>
                      <a:srgbClr val="000000"/>
                    </a:solidFill>
                    <a:cs typeface="Arial" panose="020B0604020202020204" pitchFamily="34" charset="0"/>
                  </a:rPr>
                  <a:t>observed frequencies</a:t>
                </a:r>
                <a:r>
                  <a:rPr lang="en-US" sz="2000" dirty="0">
                    <a:solidFill>
                      <a:srgbClr val="000000"/>
                    </a:solidFill>
                    <a:cs typeface="Arial" panose="020B0604020202020204" pitchFamily="34" charset="0"/>
                  </a:rPr>
                  <a:t>,</a:t>
                </a:r>
                <a:r>
                  <a:rPr lang="en-US" sz="2000" i="1" dirty="0">
                    <a:solidFill>
                      <a:srgbClr val="000000"/>
                    </a:solidFill>
                    <a:cs typeface="Arial" panose="020B0604020202020204" pitchFamily="34" charset="0"/>
                  </a:rPr>
                  <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𝑓</m:t>
                        </m:r>
                      </m:e>
                      <m:sub>
                        <m:r>
                          <a:rPr lang="en-US" sz="2000" b="0" i="1" smtClean="0">
                            <a:solidFill>
                              <a:srgbClr val="000000"/>
                            </a:solidFill>
                            <a:latin typeface="Cambria Math" panose="02040503050406030204" pitchFamily="18" charset="0"/>
                            <a:cs typeface="Arial" panose="020B0604020202020204" pitchFamily="34" charset="0"/>
                          </a:rPr>
                          <m:t>𝑖𝑗</m:t>
                        </m:r>
                      </m:sub>
                    </m:sSub>
                  </m:oMath>
                </a14:m>
                <a:r>
                  <a:rPr lang="en-US" sz="2000" dirty="0">
                    <a:solidFill>
                      <a:srgbClr val="000000"/>
                    </a:solidFill>
                    <a:cs typeface="Arial" panose="020B0604020202020204" pitchFamily="34" charset="0"/>
                  </a:rPr>
                  <a:t>, with </a:t>
                </a:r>
                <a14:m>
                  <m:oMath xmlns:m="http://schemas.openxmlformats.org/officeDocument/2006/math">
                    <m:r>
                      <a:rPr lang="en-US" sz="2000" b="0" i="1" smtClean="0">
                        <a:latin typeface="Cambria Math" panose="02040503050406030204" pitchFamily="18" charset="0"/>
                        <a:cs typeface="Arial" panose="020B0604020202020204" pitchFamily="34" charset="0"/>
                      </a:rPr>
                      <m:t>𝑖</m:t>
                    </m:r>
                    <m:r>
                      <a:rPr lang="en-US" sz="2000" b="0" i="0" smtClean="0">
                        <a:latin typeface="Cambria Math" panose="02040503050406030204" pitchFamily="18" charset="0"/>
                        <a:cs typeface="Arial" panose="020B0604020202020204" pitchFamily="34" charset="0"/>
                      </a:rPr>
                      <m:t>=1,2</m:t>
                    </m:r>
                  </m:oMath>
                </a14:m>
                <a:r>
                  <a:rPr lang="en-US" sz="2000" dirty="0">
                    <a:solidFill>
                      <a:srgbClr val="000000"/>
                    </a:solidFill>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𝑗</m:t>
                    </m:r>
                    <m:r>
                      <a:rPr lang="en-US" sz="2000" b="0" i="1" smtClean="0">
                        <a:latin typeface="Cambria Math" panose="02040503050406030204" pitchFamily="18" charset="0"/>
                        <a:cs typeface="Arial" panose="020B0604020202020204" pitchFamily="34" charset="0"/>
                      </a:rPr>
                      <m:t>=1</m:t>
                    </m:r>
                    <m:r>
                      <m:rPr>
                        <m:nor/>
                      </m:rPr>
                      <a:rPr lang="en-US" sz="2000" b="0" i="0" smtClean="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𝑘</m:t>
                    </m:r>
                  </m:oMath>
                </a14:m>
                <a:r>
                  <a:rPr lang="en-US" sz="2000" i="1" dirty="0">
                    <a:solidFill>
                      <a:srgbClr val="000000"/>
                    </a:solidFill>
                    <a:cs typeface="Arial" panose="020B0604020202020204" pitchFamily="34" charset="0"/>
                  </a:rPr>
                  <a:t>.</a:t>
                </a:r>
              </a:p>
              <a:p>
                <a:pPr marL="346075" indent="-346075">
                  <a:spcBef>
                    <a:spcPts val="600"/>
                  </a:spcBef>
                  <a:buFont typeface="+mj-lt"/>
                  <a:buAutoNum type="arabicPeriod" startAt="2"/>
                </a:pPr>
                <a:r>
                  <a:rPr lang="en-US" sz="2000" dirty="0">
                    <a:solidFill>
                      <a:srgbClr val="000000"/>
                    </a:solidFill>
                    <a:cs typeface="Arial" panose="020B0604020202020204" pitchFamily="34" charset="0"/>
                  </a:rPr>
                  <a:t>Assume the null hypothesis is true and compute the </a:t>
                </a:r>
                <a:r>
                  <a:rPr lang="en-US" sz="2000" i="1" dirty="0">
                    <a:solidFill>
                      <a:srgbClr val="000000"/>
                    </a:solidFill>
                    <a:cs typeface="Arial" panose="020B0604020202020204" pitchFamily="34" charset="0"/>
                  </a:rPr>
                  <a:t>expected frequencies</a:t>
                </a:r>
                <a:r>
                  <a:rPr lang="en-US" sz="2000" dirty="0">
                    <a:solidFill>
                      <a:srgbClr val="000000"/>
                    </a:solidFill>
                    <a:cs typeface="Arial" panose="020B0604020202020204" pitchFamily="34" charset="0"/>
                  </a:rPr>
                  <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oMath>
                </a14:m>
                <a:r>
                  <a:rPr lang="en-US" sz="2000" dirty="0">
                    <a:solidFill>
                      <a:srgbClr val="000000"/>
                    </a:solidFill>
                    <a:cs typeface="Arial" panose="020B0604020202020204" pitchFamily="34" charset="0"/>
                  </a:rPr>
                  <a:t>.</a:t>
                </a:r>
              </a:p>
              <a:p>
                <a:pPr marL="346075" indent="-346075">
                  <a:spcBef>
                    <a:spcPts val="600"/>
                  </a:spcBef>
                  <a:spcAft>
                    <a:spcPts val="600"/>
                  </a:spcAft>
                  <a:buFont typeface="+mj-lt"/>
                  <a:buAutoNum type="arabicPeriod" startAt="2"/>
                </a:pPr>
                <a:r>
                  <a:rPr lang="en-US" sz="2000" dirty="0">
                    <a:solidFill>
                      <a:srgbClr val="000000"/>
                    </a:solidFill>
                    <a:cs typeface="Arial" panose="020B0604020202020204" pitchFamily="34" charset="0"/>
                  </a:rPr>
                  <a:t>If the expected frequency,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oMath>
                </a14:m>
                <a:r>
                  <a:rPr lang="en-US" sz="2000" dirty="0">
                    <a:solidFill>
                      <a:srgbClr val="000000"/>
                    </a:solidFill>
                    <a:cs typeface="Arial" panose="020B0604020202020204" pitchFamily="34" charset="0"/>
                  </a:rPr>
                  <a:t>, is 5 or more for each cell, compute the test statistic,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oMath>
                </a14:m>
                <a:r>
                  <a:rPr lang="en-US" sz="2000" dirty="0">
                    <a:solidFill>
                      <a:srgbClr val="000000"/>
                    </a:solidFill>
                    <a:cs typeface="Arial" panose="020B0604020202020204" pitchFamily="34" charset="0"/>
                  </a:rPr>
                  <a:t>, as</a:t>
                </a:r>
              </a:p>
              <a:p>
                <a:pPr marL="914400">
                  <a:spcBef>
                    <a:spcPts val="600"/>
                  </a:spcBef>
                </a:pPr>
                <a14:m>
                  <m:oMathPara xmlns:m="http://schemas.openxmlformats.org/officeDocument/2006/math">
                    <m:oMathParaPr>
                      <m:jc m:val="left"/>
                    </m:oMathParaPr>
                    <m:oMath xmlns:m="http://schemas.openxmlformats.org/officeDocument/2006/math">
                      <m:sSup>
                        <m:sSupPr>
                          <m:ctrlPr>
                            <a:rPr lang="en-US" sz="2000" b="1" i="1" smtClean="0">
                              <a:latin typeface="Cambria Math" panose="02040503050406030204" pitchFamily="18" charset="0"/>
                              <a:cs typeface="Arial" panose="020B0604020202020204" pitchFamily="34" charset="0"/>
                            </a:rPr>
                          </m:ctrlPr>
                        </m:sSupPr>
                        <m:e>
                          <m:r>
                            <a:rPr lang="el-GR" sz="20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2000" b="1" i="1" smtClean="0">
                              <a:latin typeface="Cambria Math" panose="02040503050406030204" pitchFamily="18" charset="0"/>
                              <a:cs typeface="Arial" panose="020B0604020202020204" pitchFamily="34" charset="0"/>
                            </a:rPr>
                            <m:t>𝟐</m:t>
                          </m:r>
                        </m:sup>
                      </m:sSup>
                      <m:r>
                        <a:rPr lang="en-US" sz="2000" b="1" i="1" smtClean="0">
                          <a:latin typeface="Cambria Math" panose="02040503050406030204" pitchFamily="18" charset="0"/>
                          <a:cs typeface="Arial" panose="020B0604020202020204" pitchFamily="34" charset="0"/>
                        </a:rPr>
                        <m:t>=</m:t>
                      </m:r>
                      <m:nary>
                        <m:naryPr>
                          <m:chr m:val="∑"/>
                          <m:supHide m:val="on"/>
                          <m:ctrlPr>
                            <a:rPr lang="en-US" sz="2000" b="1" i="1" smtClean="0">
                              <a:latin typeface="Cambria Math" panose="02040503050406030204" pitchFamily="18" charset="0"/>
                              <a:cs typeface="Arial" panose="020B0604020202020204" pitchFamily="34" charset="0"/>
                            </a:rPr>
                          </m:ctrlPr>
                        </m:naryPr>
                        <m:sub>
                          <m:r>
                            <m:rPr>
                              <m:brk m:alnAt="7"/>
                            </m:rPr>
                            <a:rPr lang="en-US" sz="2000" b="1" i="1" smtClean="0">
                              <a:latin typeface="Cambria Math" panose="02040503050406030204" pitchFamily="18" charset="0"/>
                              <a:cs typeface="Arial" panose="020B0604020202020204" pitchFamily="34" charset="0"/>
                            </a:rPr>
                            <m:t>𝒊</m:t>
                          </m:r>
                        </m:sub>
                        <m:sup/>
                        <m:e>
                          <m:nary>
                            <m:naryPr>
                              <m:chr m:val="∑"/>
                              <m:supHide m:val="on"/>
                              <m:ctrlPr>
                                <a:rPr lang="en-US" sz="2000" b="1" i="1" smtClean="0">
                                  <a:latin typeface="Cambria Math" panose="02040503050406030204" pitchFamily="18" charset="0"/>
                                  <a:cs typeface="Arial" panose="020B0604020202020204" pitchFamily="34" charset="0"/>
                                </a:rPr>
                              </m:ctrlPr>
                            </m:naryPr>
                            <m:sub>
                              <m:r>
                                <m:rPr>
                                  <m:brk m:alnAt="7"/>
                                </m:rPr>
                                <a:rPr lang="en-US" sz="2000" b="1" i="1" smtClean="0">
                                  <a:latin typeface="Cambria Math" panose="02040503050406030204" pitchFamily="18" charset="0"/>
                                  <a:cs typeface="Arial" panose="020B0604020202020204" pitchFamily="34" charset="0"/>
                                </a:rPr>
                                <m:t>𝒋</m:t>
                              </m:r>
                            </m:sub>
                            <m:sup/>
                            <m:e>
                              <m:f>
                                <m:fPr>
                                  <m:ctrlPr>
                                    <a:rPr lang="en-US" sz="2000" b="1" i="1" smtClean="0">
                                      <a:latin typeface="Cambria Math" panose="02040503050406030204" pitchFamily="18" charset="0"/>
                                      <a:cs typeface="Arial" panose="020B0604020202020204" pitchFamily="34" charset="0"/>
                                    </a:rPr>
                                  </m:ctrlPr>
                                </m:fPr>
                                <m:num>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𝒇</m:t>
                                              </m:r>
                                            </m:e>
                                            <m:sub>
                                              <m:r>
                                                <a:rPr lang="en-US" sz="2000" b="1" i="1">
                                                  <a:latin typeface="Cambria Math" panose="02040503050406030204" pitchFamily="18" charset="0"/>
                                                  <a:cs typeface="Arial" panose="020B0604020202020204" pitchFamily="34" charset="0"/>
                                                </a:rPr>
                                                <m:t>𝒊𝒋</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𝒆</m:t>
                                              </m:r>
                                            </m:e>
                                            <m:sub>
                                              <m:r>
                                                <a:rPr lang="en-US" sz="2000" b="1" i="1">
                                                  <a:latin typeface="Cambria Math" panose="02040503050406030204" pitchFamily="18" charset="0"/>
                                                  <a:cs typeface="Arial" panose="020B0604020202020204" pitchFamily="34" charset="0"/>
                                                </a:rPr>
                                                <m:t>𝒊𝒋</m:t>
                                              </m:r>
                                            </m:sub>
                                          </m:sSub>
                                        </m:e>
                                      </m:d>
                                    </m:e>
                                    <m:sup>
                                      <m:r>
                                        <a:rPr lang="en-US" sz="2000" b="1" i="1" smtClean="0">
                                          <a:latin typeface="Cambria Math" panose="02040503050406030204" pitchFamily="18" charset="0"/>
                                          <a:cs typeface="Arial" panose="020B0604020202020204" pitchFamily="34" charset="0"/>
                                        </a:rPr>
                                        <m:t>𝟐</m:t>
                                      </m:r>
                                    </m:sup>
                                  </m:sSup>
                                </m:num>
                                <m:den>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𝒆</m:t>
                                      </m:r>
                                    </m:e>
                                    <m:sub>
                                      <m:r>
                                        <a:rPr lang="en-US" sz="2000" b="1" i="1">
                                          <a:latin typeface="Cambria Math" panose="02040503050406030204" pitchFamily="18" charset="0"/>
                                          <a:cs typeface="Arial" panose="020B0604020202020204" pitchFamily="34" charset="0"/>
                                        </a:rPr>
                                        <m:t>𝒊𝒋</m:t>
                                      </m:r>
                                    </m:sub>
                                  </m:sSub>
                                </m:den>
                              </m:f>
                            </m:e>
                          </m:nary>
                        </m:e>
                      </m:nary>
                    </m:oMath>
                  </m:oMathPara>
                </a14:m>
                <a:endParaRPr lang="en-US" sz="2000" b="1" dirty="0">
                  <a:solidFill>
                    <a:srgbClr val="000000"/>
                  </a:solidFill>
                  <a:cs typeface="Arial" panose="020B0604020202020204" pitchFamily="34" charset="0"/>
                </a:endParaRPr>
              </a:p>
              <a:p>
                <a:pPr marL="346075" indent="-346075">
                  <a:spcBef>
                    <a:spcPts val="600"/>
                  </a:spcBef>
                  <a:buFont typeface="+mj-lt"/>
                  <a:buAutoNum type="arabicPeriod" startAt="5"/>
                </a:pPr>
                <a:r>
                  <a:rPr lang="en-US" sz="2000" dirty="0">
                    <a:solidFill>
                      <a:srgbClr val="000000"/>
                    </a:solidFill>
                    <a:cs typeface="Arial" panose="020B0604020202020204" pitchFamily="34" charset="0"/>
                  </a:rPr>
                  <a:t>Use a chi-square distribution with </a:t>
                </a:r>
                <a14:m>
                  <m:oMath xmlns:m="http://schemas.openxmlformats.org/officeDocument/2006/math">
                    <m:r>
                      <m:rPr>
                        <m:sty m:val="p"/>
                      </m:rPr>
                      <a:rPr lang="en-US" sz="2000" b="0" i="0" smtClean="0">
                        <a:latin typeface="Cambria Math" panose="02040503050406030204" pitchFamily="18" charset="0"/>
                        <a:cs typeface="Arial" panose="020B0604020202020204" pitchFamily="34" charset="0"/>
                      </a:rPr>
                      <m:t>df</m:t>
                    </m:r>
                    <m:r>
                      <a:rPr lang="en-US" sz="2000" b="0" i="0"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cs typeface="Arial" panose="020B0604020202020204" pitchFamily="34" charset="0"/>
                      </a:rPr>
                      <m:t>−1</m:t>
                    </m:r>
                  </m:oMath>
                </a14:m>
                <a:r>
                  <a:rPr lang="en-US" sz="2000" dirty="0">
                    <a:solidFill>
                      <a:srgbClr val="000000"/>
                    </a:solidFill>
                    <a:cs typeface="Arial" panose="020B0604020202020204" pitchFamily="34" charset="0"/>
                  </a:rPr>
                  <a:t> to compute the </a:t>
                </a:r>
                <a:r>
                  <a:rPr lang="en-US" sz="2000" i="1" dirty="0">
                    <a:solidFill>
                      <a:srgbClr val="000000"/>
                    </a:solidFill>
                    <a:cs typeface="Arial" panose="020B0604020202020204" pitchFamily="34" charset="0"/>
                  </a:rPr>
                  <a:t>p</a:t>
                </a:r>
                <a:r>
                  <a:rPr lang="en-US" sz="2000" dirty="0">
                    <a:solidFill>
                      <a:srgbClr val="000000"/>
                    </a:solidFill>
                    <a:cs typeface="Arial" panose="020B0604020202020204" pitchFamily="34" charset="0"/>
                  </a:rPr>
                  <a:t>-value or the critical value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oMath>
                </a14:m>
                <a:r>
                  <a:rPr lang="en-US" sz="2000" dirty="0">
                    <a:solidFill>
                      <a:srgbClr val="000000"/>
                    </a:solidFill>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759894"/>
                <a:ext cx="10711543" cy="3988553"/>
              </a:xfrm>
              <a:blipFill>
                <a:blip r:embed="rId2"/>
                <a:stretch>
                  <a:fillRect l="-1365" t="-1835" r="-796" b="-2905"/>
                </a:stretch>
              </a:blipFill>
            </p:spPr>
            <p:txBody>
              <a:bodyPr/>
              <a:lstStyle/>
              <a:p>
                <a:r>
                  <a:rPr lang="en-US">
                    <a:noFill/>
                  </a:rPr>
                  <a:t> </a:t>
                </a:r>
              </a:p>
            </p:txBody>
          </p:sp>
        </mc:Fallback>
      </mc:AlternateContent>
    </p:spTree>
    <p:extLst>
      <p:ext uri="{BB962C8B-B14F-4D97-AF65-F5344CB8AC3E}">
        <p14:creationId xmlns:p14="http://schemas.microsoft.com/office/powerpoint/2010/main" val="4890549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28964" y="365125"/>
            <a:ext cx="10711544" cy="672105"/>
          </a:xfrm>
        </p:spPr>
        <p:txBody>
          <a:bodyPr/>
          <a:lstStyle/>
          <a:p>
            <a:r>
              <a:rPr lang="en-US" sz="3200" dirty="0"/>
              <a:t>12.3 Testing for Automobile Brand Loyalty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9" y="1386802"/>
                <a:ext cx="10711543" cy="4263901"/>
              </a:xfrm>
            </p:spPr>
            <p:txBody>
              <a:bodyPr/>
              <a:lstStyle/>
              <a:p>
                <a:pPr>
                  <a:lnSpc>
                    <a:spcPct val="100000"/>
                  </a:lnSpc>
                  <a:spcBef>
                    <a:spcPts val="600"/>
                  </a:spcBef>
                </a:pPr>
                <a:r>
                  <a:rPr lang="en-US" sz="2000" dirty="0">
                    <a:solidFill>
                      <a:srgbClr val="000000"/>
                    </a:solidFill>
                    <a:cs typeface="Arial" panose="020B0604020202020204" pitchFamily="34" charset="0"/>
                  </a:rPr>
                  <a:t>Suppose that, in a particular study, we want to compare the customer loyalty for three automobile models: Chevrolet Impala, Ford Fusion, and Honda Accord. </a:t>
                </a:r>
              </a:p>
              <a:p>
                <a:pPr>
                  <a:lnSpc>
                    <a:spcPct val="100000"/>
                  </a:lnSpc>
                </a:pPr>
                <a:r>
                  <a:rPr lang="en-US" sz="2000" dirty="0">
                    <a:solidFill>
                      <a:srgbClr val="000000"/>
                    </a:solidFill>
                    <a:cs typeface="Arial" panose="020B0604020202020204" pitchFamily="34" charset="0"/>
                  </a:rPr>
                  <a:t>The current owners of each of the three automobiles form the three populations for the study.</a:t>
                </a:r>
              </a:p>
              <a:p>
                <a:pPr>
                  <a:lnSpc>
                    <a:spcPct val="100000"/>
                  </a:lnSpc>
                </a:pPr>
                <a:r>
                  <a:rPr lang="en-US" sz="2000" dirty="0">
                    <a:cs typeface="Arial" panose="020B0604020202020204" pitchFamily="34" charset="0"/>
                  </a:rPr>
                  <a:t>Thus, we define t</a:t>
                </a:r>
                <a:r>
                  <a:rPr lang="en-US" sz="2000" dirty="0">
                    <a:solidFill>
                      <a:srgbClr val="000000"/>
                    </a:solidFill>
                    <a:cs typeface="Arial" panose="020B0604020202020204" pitchFamily="34" charset="0"/>
                  </a:rPr>
                  <a:t>he three population proportions of interest as follows:</a:t>
                </a:r>
              </a:p>
              <a:p>
                <a:pPr marL="914400">
                  <a:lnSpc>
                    <a:spcPct val="100000"/>
                  </a:lnSpc>
                  <a:spcBef>
                    <a:spcPts val="600"/>
                  </a:spcBef>
                </a:pP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𝑝</m:t>
                    </m:r>
                    <m:r>
                      <a:rPr lang="en-US" sz="2000" i="1" baseline="-25000" dirty="0" smtClean="0">
                        <a:solidFill>
                          <a:srgbClr val="000000"/>
                        </a:solidFill>
                        <a:latin typeface="Cambria Math" panose="02040503050406030204" pitchFamily="18" charset="0"/>
                        <a:cs typeface="Arial" panose="020B0604020202020204" pitchFamily="34" charset="0"/>
                      </a:rPr>
                      <m:t>1</m:t>
                    </m:r>
                    <m:r>
                      <a:rPr lang="en-US" sz="2000" i="1" dirty="0" smtClean="0">
                        <a:solidFill>
                          <a:srgbClr val="000000"/>
                        </a:solidFill>
                        <a:latin typeface="Cambria Math" panose="02040503050406030204" pitchFamily="18" charset="0"/>
                        <a:cs typeface="Arial" panose="020B0604020202020204" pitchFamily="34" charset="0"/>
                      </a:rPr>
                      <m:t>=</m:t>
                    </m:r>
                  </m:oMath>
                </a14:m>
                <a:r>
                  <a:rPr lang="en-US" sz="2000" dirty="0">
                    <a:solidFill>
                      <a:srgbClr val="000000"/>
                    </a:solidFill>
                    <a:cs typeface="Arial" panose="020B0604020202020204" pitchFamily="34" charset="0"/>
                  </a:rPr>
                  <a:t> population proportion of Chevrolet Impala owners likely to repurchase an Impala</a:t>
                </a:r>
              </a:p>
              <a:p>
                <a:pPr marL="914400">
                  <a:spcBef>
                    <a:spcPts val="600"/>
                  </a:spcBef>
                </a:pP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𝑝</m:t>
                    </m:r>
                    <m:r>
                      <a:rPr lang="en-US" sz="2000" i="1" baseline="-25000" dirty="0" smtClean="0">
                        <a:solidFill>
                          <a:srgbClr val="000000"/>
                        </a:solidFill>
                        <a:latin typeface="Cambria Math" panose="02040503050406030204" pitchFamily="18" charset="0"/>
                        <a:cs typeface="Arial" panose="020B0604020202020204" pitchFamily="34" charset="0"/>
                      </a:rPr>
                      <m:t>2</m:t>
                    </m:r>
                    <m:r>
                      <a:rPr lang="en-US" sz="2000" i="1" dirty="0" smtClean="0">
                        <a:solidFill>
                          <a:srgbClr val="000000"/>
                        </a:solidFill>
                        <a:latin typeface="Cambria Math" panose="02040503050406030204" pitchFamily="18" charset="0"/>
                        <a:cs typeface="Arial" panose="020B0604020202020204" pitchFamily="34" charset="0"/>
                      </a:rPr>
                      <m:t>=</m:t>
                    </m:r>
                  </m:oMath>
                </a14:m>
                <a:r>
                  <a:rPr lang="en-US" sz="2000" dirty="0">
                    <a:solidFill>
                      <a:srgbClr val="000000"/>
                    </a:solidFill>
                    <a:cs typeface="Arial" panose="020B0604020202020204" pitchFamily="34" charset="0"/>
                  </a:rPr>
                  <a:t> population proportion of Ford Fusion owners likely to repurchase a Fusion</a:t>
                </a:r>
              </a:p>
              <a:p>
                <a:pPr marL="914400">
                  <a:spcBef>
                    <a:spcPts val="600"/>
                  </a:spcBef>
                </a:pP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𝑝</m:t>
                    </m:r>
                    <m:r>
                      <a:rPr lang="en-US" sz="2000" i="1" baseline="-25000" dirty="0" smtClean="0">
                        <a:solidFill>
                          <a:srgbClr val="000000"/>
                        </a:solidFill>
                        <a:latin typeface="Cambria Math" panose="02040503050406030204" pitchFamily="18" charset="0"/>
                        <a:cs typeface="Arial" panose="020B0604020202020204" pitchFamily="34" charset="0"/>
                      </a:rPr>
                      <m:t>3</m:t>
                    </m:r>
                    <m:r>
                      <a:rPr lang="en-US" sz="2000" i="1" dirty="0" smtClean="0">
                        <a:solidFill>
                          <a:srgbClr val="000000"/>
                        </a:solidFill>
                        <a:latin typeface="Cambria Math" panose="02040503050406030204" pitchFamily="18" charset="0"/>
                        <a:cs typeface="Arial" panose="020B0604020202020204" pitchFamily="34" charset="0"/>
                      </a:rPr>
                      <m:t>=</m:t>
                    </m:r>
                  </m:oMath>
                </a14:m>
                <a:r>
                  <a:rPr lang="en-US" sz="2000" dirty="0">
                    <a:solidFill>
                      <a:srgbClr val="000000"/>
                    </a:solidFill>
                    <a:cs typeface="Arial" panose="020B0604020202020204" pitchFamily="34" charset="0"/>
                  </a:rPr>
                  <a:t> population proportion of Honda Accord owners likely to repurchase an Accord</a:t>
                </a:r>
              </a:p>
              <a:p>
                <a:r>
                  <a:rPr lang="en-US" sz="2000" dirty="0">
                    <a:cs typeface="Arial" panose="020B0604020202020204" pitchFamily="34" charset="0"/>
                  </a:rPr>
                  <a:t>The hypotheses are stated as follows:</a:t>
                </a:r>
              </a:p>
              <a:p>
                <a:pPr marL="9144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𝑜</m:t>
                        </m:r>
                      </m:sub>
                    </m:sSub>
                    <m:r>
                      <a:rPr lang="en-US" sz="2000" b="0" i="1" smtClean="0">
                        <a:latin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3</m:t>
                        </m:r>
                      </m:sub>
                    </m:sSub>
                  </m:oMath>
                </a14:m>
                <a:r>
                  <a:rPr lang="en-US" sz="2000" dirty="0">
                    <a:cs typeface="Arial" panose="020B0604020202020204" pitchFamily="34" charset="0"/>
                  </a:rPr>
                  <a:t> </a:t>
                </a:r>
              </a:p>
              <a:p>
                <a:pPr marL="914400">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𝑎</m:t>
                        </m:r>
                      </m:sub>
                    </m:sSub>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Not all population proportions are equal</a:t>
                </a:r>
              </a:p>
              <a:p>
                <a:r>
                  <a:rPr lang="en-US" sz="2000" dirty="0">
                    <a:solidFill>
                      <a:srgbClr val="000000"/>
                    </a:solidFill>
                    <a:cs typeface="Arial" panose="020B0604020202020204" pitchFamily="34" charset="0"/>
                  </a:rPr>
                  <a:t>An </a:t>
                </a:r>
                <a14:m>
                  <m:oMath xmlns:m="http://schemas.openxmlformats.org/officeDocument/2006/math">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level of significance is specified for the study.</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9" y="1386802"/>
                <a:ext cx="10711543" cy="4263901"/>
              </a:xfrm>
              <a:blipFill>
                <a:blip r:embed="rId2"/>
                <a:stretch>
                  <a:fillRect l="-1422" t="-1714" b="-3143"/>
                </a:stretch>
              </a:blipFill>
            </p:spPr>
            <p:txBody>
              <a:bodyPr/>
              <a:lstStyle/>
              <a:p>
                <a:r>
                  <a:rPr lang="en-US">
                    <a:noFill/>
                  </a:rPr>
                  <a:t> </a:t>
                </a:r>
              </a:p>
            </p:txBody>
          </p:sp>
        </mc:Fallback>
      </mc:AlternateContent>
    </p:spTree>
    <p:extLst>
      <p:ext uri="{BB962C8B-B14F-4D97-AF65-F5344CB8AC3E}">
        <p14:creationId xmlns:p14="http://schemas.microsoft.com/office/powerpoint/2010/main" val="515358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28964" y="365125"/>
            <a:ext cx="10711544" cy="672105"/>
          </a:xfrm>
        </p:spPr>
        <p:txBody>
          <a:bodyPr/>
          <a:lstStyle/>
          <a:p>
            <a:r>
              <a:rPr lang="en-US" dirty="0"/>
              <a:t>12.3 The Chi-Square Test Statistic</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9" y="1332187"/>
                <a:ext cx="10711543" cy="4579882"/>
              </a:xfrm>
            </p:spPr>
            <p:txBody>
              <a:bodyPr/>
              <a:lstStyle/>
              <a:p>
                <a:pPr>
                  <a:lnSpc>
                    <a:spcPct val="100000"/>
                  </a:lnSpc>
                  <a:spcBef>
                    <a:spcPts val="600"/>
                  </a:spcBef>
                  <a:spcAft>
                    <a:spcPts val="600"/>
                  </a:spcAft>
                </a:pPr>
                <a:r>
                  <a:rPr lang="en-US" sz="2000" dirty="0">
                    <a:solidFill>
                      <a:srgbClr val="000000"/>
                    </a:solidFill>
                    <a:cs typeface="Arial" panose="020B0604020202020204" pitchFamily="34" charset="0"/>
                  </a:rPr>
                  <a:t>As we saw in a previous slide, the Chi-square test statistic is</a:t>
                </a:r>
              </a:p>
              <a:p>
                <a:pPr marL="914400">
                  <a:lnSpc>
                    <a:spcPct val="100000"/>
                  </a:lnSpc>
                  <a:spcBef>
                    <a:spcPts val="600"/>
                  </a:spcBef>
                </a:pPr>
                <a14:m>
                  <m:oMathPara xmlns:m="http://schemas.openxmlformats.org/officeDocument/2006/math">
                    <m:oMathParaPr>
                      <m:jc m:val="left"/>
                    </m:oMathParaPr>
                    <m:oMath xmlns:m="http://schemas.openxmlformats.org/officeDocument/2006/math">
                      <m:sSup>
                        <m:sSupPr>
                          <m:ctrlPr>
                            <a:rPr lang="en-US" sz="2000" b="1" i="1" smtClean="0">
                              <a:latin typeface="Cambria Math" panose="02040503050406030204" pitchFamily="18" charset="0"/>
                              <a:cs typeface="Arial" panose="020B0604020202020204" pitchFamily="34" charset="0"/>
                            </a:rPr>
                          </m:ctrlPr>
                        </m:sSupPr>
                        <m:e>
                          <m:r>
                            <a:rPr lang="el-GR" sz="20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2000" b="1" i="1" smtClean="0">
                              <a:latin typeface="Cambria Math" panose="02040503050406030204" pitchFamily="18" charset="0"/>
                              <a:cs typeface="Arial" panose="020B0604020202020204" pitchFamily="34" charset="0"/>
                            </a:rPr>
                            <m:t>𝟐</m:t>
                          </m:r>
                        </m:sup>
                      </m:sSup>
                      <m:r>
                        <a:rPr lang="en-US" sz="2000" b="1" i="1" smtClean="0">
                          <a:latin typeface="Cambria Math" panose="02040503050406030204" pitchFamily="18" charset="0"/>
                          <a:cs typeface="Arial" panose="020B0604020202020204" pitchFamily="34" charset="0"/>
                        </a:rPr>
                        <m:t>=</m:t>
                      </m:r>
                      <m:nary>
                        <m:naryPr>
                          <m:chr m:val="∑"/>
                          <m:supHide m:val="on"/>
                          <m:ctrlPr>
                            <a:rPr lang="en-US" sz="2000" b="1" i="1" smtClean="0">
                              <a:latin typeface="Cambria Math" panose="02040503050406030204" pitchFamily="18" charset="0"/>
                              <a:cs typeface="Arial" panose="020B0604020202020204" pitchFamily="34" charset="0"/>
                            </a:rPr>
                          </m:ctrlPr>
                        </m:naryPr>
                        <m:sub>
                          <m:r>
                            <m:rPr>
                              <m:brk m:alnAt="7"/>
                            </m:rPr>
                            <a:rPr lang="en-US" sz="2000" b="1" i="1" smtClean="0">
                              <a:latin typeface="Cambria Math" panose="02040503050406030204" pitchFamily="18" charset="0"/>
                              <a:cs typeface="Arial" panose="020B0604020202020204" pitchFamily="34" charset="0"/>
                            </a:rPr>
                            <m:t>𝒊</m:t>
                          </m:r>
                        </m:sub>
                        <m:sup/>
                        <m:e>
                          <m:nary>
                            <m:naryPr>
                              <m:chr m:val="∑"/>
                              <m:supHide m:val="on"/>
                              <m:ctrlPr>
                                <a:rPr lang="en-US" sz="2000" b="1" i="1" smtClean="0">
                                  <a:latin typeface="Cambria Math" panose="02040503050406030204" pitchFamily="18" charset="0"/>
                                  <a:cs typeface="Arial" panose="020B0604020202020204" pitchFamily="34" charset="0"/>
                                </a:rPr>
                              </m:ctrlPr>
                            </m:naryPr>
                            <m:sub>
                              <m:r>
                                <m:rPr>
                                  <m:brk m:alnAt="7"/>
                                </m:rPr>
                                <a:rPr lang="en-US" sz="2000" b="1" i="1" smtClean="0">
                                  <a:latin typeface="Cambria Math" panose="02040503050406030204" pitchFamily="18" charset="0"/>
                                  <a:cs typeface="Arial" panose="020B0604020202020204" pitchFamily="34" charset="0"/>
                                </a:rPr>
                                <m:t>𝒋</m:t>
                              </m:r>
                            </m:sub>
                            <m:sup/>
                            <m:e>
                              <m:f>
                                <m:fPr>
                                  <m:ctrlPr>
                                    <a:rPr lang="en-US" sz="2000" b="1" i="1" smtClean="0">
                                      <a:latin typeface="Cambria Math" panose="02040503050406030204" pitchFamily="18" charset="0"/>
                                      <a:cs typeface="Arial" panose="020B0604020202020204" pitchFamily="34" charset="0"/>
                                    </a:rPr>
                                  </m:ctrlPr>
                                </m:fPr>
                                <m:num>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𝒇</m:t>
                                              </m:r>
                                            </m:e>
                                            <m:sub>
                                              <m:r>
                                                <a:rPr lang="en-US" sz="2000" b="1" i="1">
                                                  <a:latin typeface="Cambria Math" panose="02040503050406030204" pitchFamily="18" charset="0"/>
                                                  <a:cs typeface="Arial" panose="020B0604020202020204" pitchFamily="34" charset="0"/>
                                                </a:rPr>
                                                <m:t>𝒊𝒋</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𝒆</m:t>
                                              </m:r>
                                            </m:e>
                                            <m:sub>
                                              <m:r>
                                                <a:rPr lang="en-US" sz="2000" b="1" i="1">
                                                  <a:latin typeface="Cambria Math" panose="02040503050406030204" pitchFamily="18" charset="0"/>
                                                  <a:cs typeface="Arial" panose="020B0604020202020204" pitchFamily="34" charset="0"/>
                                                </a:rPr>
                                                <m:t>𝒊𝒋</m:t>
                                              </m:r>
                                            </m:sub>
                                          </m:sSub>
                                        </m:e>
                                      </m:d>
                                    </m:e>
                                    <m:sup>
                                      <m:r>
                                        <a:rPr lang="en-US" sz="2000" b="1" i="1" smtClean="0">
                                          <a:latin typeface="Cambria Math" panose="02040503050406030204" pitchFamily="18" charset="0"/>
                                          <a:cs typeface="Arial" panose="020B0604020202020204" pitchFamily="34" charset="0"/>
                                        </a:rPr>
                                        <m:t>𝟐</m:t>
                                      </m:r>
                                    </m:sup>
                                  </m:sSup>
                                </m:num>
                                <m:den>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𝒆</m:t>
                                      </m:r>
                                    </m:e>
                                    <m:sub>
                                      <m:r>
                                        <a:rPr lang="en-US" sz="2000" b="1" i="1">
                                          <a:latin typeface="Cambria Math" panose="02040503050406030204" pitchFamily="18" charset="0"/>
                                          <a:cs typeface="Arial" panose="020B0604020202020204" pitchFamily="34" charset="0"/>
                                        </a:rPr>
                                        <m:t>𝒊𝒋</m:t>
                                      </m:r>
                                    </m:sub>
                                  </m:sSub>
                                </m:den>
                              </m:f>
                            </m:e>
                          </m:nary>
                        </m:e>
                      </m:nary>
                      <m:r>
                        <a:rPr lang="en-US" sz="2000" b="0" i="1" smtClean="0">
                          <a:latin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with</m:t>
                      </m:r>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𝑖</m:t>
                      </m:r>
                      <m:r>
                        <a:rPr lang="en-US" sz="2000" b="0" i="1" smtClean="0">
                          <a:latin typeface="Cambria Math" panose="02040503050406030204" pitchFamily="18" charset="0"/>
                          <a:cs typeface="Arial" panose="020B0604020202020204" pitchFamily="34" charset="0"/>
                        </a:rPr>
                        <m:t>=1,2, </m:t>
                      </m:r>
                      <m:r>
                        <a:rPr lang="en-US" sz="2000" b="0" i="1" smtClean="0">
                          <a:latin typeface="Cambria Math" panose="02040503050406030204" pitchFamily="18" charset="0"/>
                          <a:cs typeface="Arial" panose="020B0604020202020204" pitchFamily="34" charset="0"/>
                        </a:rPr>
                        <m:t>𝑗</m:t>
                      </m:r>
                      <m:r>
                        <a:rPr lang="en-US" sz="2000" b="0" i="1" smtClean="0">
                          <a:latin typeface="Cambria Math" panose="02040503050406030204" pitchFamily="18" charset="0"/>
                          <a:cs typeface="Arial" panose="020B0604020202020204" pitchFamily="34" charset="0"/>
                        </a:rPr>
                        <m:t>=1</m:t>
                      </m:r>
                      <m:r>
                        <m:rPr>
                          <m:nor/>
                        </m:rPr>
                        <a:rPr lang="en-US" sz="2000" b="0" i="0"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and</m:t>
                      </m:r>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ea typeface="Cambria Math" panose="02040503050406030204" pitchFamily="18" charset="0"/>
                          <a:cs typeface="Arial" panose="020B0604020202020204" pitchFamily="34" charset="0"/>
                        </a:rPr>
                        <m:t>≥3</m:t>
                      </m:r>
                    </m:oMath>
                  </m:oMathPara>
                </a14:m>
                <a:endParaRPr lang="en-US" sz="2000" dirty="0">
                  <a:cs typeface="Arial" panose="020B0604020202020204" pitchFamily="34" charset="0"/>
                </a:endParaRPr>
              </a:p>
              <a:p>
                <a:pPr>
                  <a:lnSpc>
                    <a:spcPct val="100000"/>
                  </a:lnSpc>
                  <a:spcBef>
                    <a:spcPts val="600"/>
                  </a:spcBef>
                </a:pPr>
                <a:r>
                  <a:rPr lang="en-US" sz="2000" dirty="0">
                    <a:solidFill>
                      <a:srgbClr val="000000"/>
                    </a:solidFill>
                    <a:cs typeface="Arial" panose="020B0604020202020204" pitchFamily="34" charset="0"/>
                  </a:rPr>
                  <a:t>Where</a:t>
                </a:r>
              </a:p>
              <a:p>
                <a:pPr marL="914400">
                  <a:lnSpc>
                    <a:spcPct val="100000"/>
                  </a:lnSpc>
                  <a:spcBef>
                    <a:spcPts val="600"/>
                  </a:spcBef>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𝑓</m:t>
                        </m:r>
                      </m:e>
                      <m:sub>
                        <m:r>
                          <a:rPr lang="en-US" sz="2000" b="0" i="1" smtClean="0">
                            <a:solidFill>
                              <a:srgbClr val="000000"/>
                            </a:solidFill>
                            <a:latin typeface="Cambria Math" panose="02040503050406030204" pitchFamily="18" charset="0"/>
                            <a:cs typeface="Arial" panose="020B0604020202020204" pitchFamily="34" charset="0"/>
                          </a:rPr>
                          <m:t>𝑖𝑗</m:t>
                        </m:r>
                      </m:sub>
                    </m:sSub>
                    <m:r>
                      <a:rPr lang="en-US" sz="2000" b="0" i="0" smtClean="0">
                        <a:solidFill>
                          <a:srgbClr val="000000"/>
                        </a:solidFill>
                        <a:latin typeface="Cambria Math" panose="02040503050406030204" pitchFamily="18" charset="0"/>
                        <a:cs typeface="Arial" panose="020B0604020202020204" pitchFamily="34" charset="0"/>
                      </a:rPr>
                      <m:t>=</m:t>
                    </m:r>
                  </m:oMath>
                </a14:m>
                <a:r>
                  <a:rPr lang="en-US" sz="2000" dirty="0">
                    <a:solidFill>
                      <a:srgbClr val="000000"/>
                    </a:solidFill>
                    <a:cs typeface="Arial" panose="020B0604020202020204" pitchFamily="34" charset="0"/>
                  </a:rPr>
                  <a:t> observed frequency for cell in row </a:t>
                </a:r>
                <a:r>
                  <a:rPr lang="en-US" sz="2000" i="1" dirty="0" err="1">
                    <a:solidFill>
                      <a:srgbClr val="000000"/>
                    </a:solidFill>
                    <a:cs typeface="Arial" panose="020B0604020202020204" pitchFamily="34" charset="0"/>
                  </a:rPr>
                  <a:t>i</a:t>
                </a:r>
                <a:r>
                  <a:rPr lang="en-US" sz="2000" dirty="0">
                    <a:solidFill>
                      <a:srgbClr val="000000"/>
                    </a:solidFill>
                    <a:cs typeface="Arial" panose="020B0604020202020204" pitchFamily="34" charset="0"/>
                  </a:rPr>
                  <a:t> and column </a:t>
                </a:r>
                <a:r>
                  <a:rPr lang="en-US" sz="2000" i="1" dirty="0">
                    <a:solidFill>
                      <a:srgbClr val="000000"/>
                    </a:solidFill>
                    <a:cs typeface="Arial" panose="020B0604020202020204" pitchFamily="34" charset="0"/>
                  </a:rPr>
                  <a:t>j</a:t>
                </a:r>
              </a:p>
              <a:p>
                <a:pPr marL="914400">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r>
                      <a:rPr lang="en-US" sz="2000" b="0" i="0" smtClean="0">
                        <a:solidFill>
                          <a:srgbClr val="000000"/>
                        </a:solidFill>
                        <a:latin typeface="Cambria Math" panose="02040503050406030204" pitchFamily="18" charset="0"/>
                        <a:cs typeface="Arial" panose="020B0604020202020204" pitchFamily="34" charset="0"/>
                      </a:rPr>
                      <m:t>=</m:t>
                    </m:r>
                  </m:oMath>
                </a14:m>
                <a:r>
                  <a:rPr lang="en-US" sz="2000" dirty="0">
                    <a:solidFill>
                      <a:srgbClr val="000000"/>
                    </a:solidFill>
                    <a:cs typeface="Arial" panose="020B0604020202020204" pitchFamily="34" charset="0"/>
                  </a:rPr>
                  <a:t> expected frequency for cell in row </a:t>
                </a:r>
                <a:r>
                  <a:rPr lang="en-US" sz="2000" i="1" dirty="0" err="1">
                    <a:solidFill>
                      <a:srgbClr val="000000"/>
                    </a:solidFill>
                    <a:cs typeface="Arial" panose="020B0604020202020204" pitchFamily="34" charset="0"/>
                  </a:rPr>
                  <a:t>i</a:t>
                </a:r>
                <a:r>
                  <a:rPr lang="en-US" sz="2000" dirty="0">
                    <a:solidFill>
                      <a:srgbClr val="000000"/>
                    </a:solidFill>
                    <a:cs typeface="Arial" panose="020B0604020202020204" pitchFamily="34" charset="0"/>
                  </a:rPr>
                  <a:t> and column </a:t>
                </a:r>
                <a:r>
                  <a:rPr lang="en-US" sz="2000" i="1" dirty="0">
                    <a:solidFill>
                      <a:srgbClr val="000000"/>
                    </a:solidFill>
                    <a:cs typeface="Arial" panose="020B0604020202020204" pitchFamily="34" charset="0"/>
                  </a:rPr>
                  <a:t>j</a:t>
                </a:r>
                <a:r>
                  <a:rPr lang="en-US" sz="2000" dirty="0">
                    <a:solidFill>
                      <a:srgbClr val="000000"/>
                    </a:solidFill>
                    <a:cs typeface="Arial" panose="020B0604020202020204" pitchFamily="34" charset="0"/>
                  </a:rPr>
                  <a:t> under the assumption </a:t>
                </a:r>
                <a:r>
                  <a:rPr lang="en-US" sz="2000" i="1" dirty="0">
                    <a:solidFill>
                      <a:srgbClr val="000000"/>
                    </a:solidFill>
                    <a:cs typeface="Arial" panose="020B0604020202020204" pitchFamily="34" charset="0"/>
                  </a:rPr>
                  <a:t>H</a:t>
                </a:r>
                <a:r>
                  <a:rPr lang="en-US" sz="2000" baseline="-25000" dirty="0">
                    <a:solidFill>
                      <a:srgbClr val="000000"/>
                    </a:solidFill>
                    <a:cs typeface="Arial" panose="020B0604020202020204" pitchFamily="34" charset="0"/>
                  </a:rPr>
                  <a:t>0</a:t>
                </a:r>
                <a:r>
                  <a:rPr lang="en-US" sz="2000" dirty="0">
                    <a:solidFill>
                      <a:srgbClr val="000000"/>
                    </a:solidFill>
                    <a:cs typeface="Arial" panose="020B0604020202020204" pitchFamily="34" charset="0"/>
                  </a:rPr>
                  <a:t> is true</a:t>
                </a:r>
              </a:p>
              <a:p>
                <a:pPr>
                  <a:spcBef>
                    <a:spcPts val="600"/>
                  </a:spcBef>
                  <a:spcAft>
                    <a:spcPts val="600"/>
                  </a:spcAft>
                </a:pPr>
                <a:r>
                  <a:rPr lang="en-US" sz="2000" dirty="0">
                    <a:cs typeface="Arial" panose="020B0604020202020204" pitchFamily="34" charset="0"/>
                  </a:rPr>
                  <a:t>Given a table of observed frequencies,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𝑓</m:t>
                        </m:r>
                      </m:e>
                      <m:sub>
                        <m:r>
                          <a:rPr lang="en-US" sz="2000" i="1">
                            <a:latin typeface="Cambria Math" panose="02040503050406030204" pitchFamily="18" charset="0"/>
                            <a:cs typeface="Arial" panose="020B0604020202020204" pitchFamily="34" charset="0"/>
                          </a:rPr>
                          <m:t>𝑖𝑗</m:t>
                        </m:r>
                      </m:sub>
                    </m:sSub>
                  </m:oMath>
                </a14:m>
                <a:r>
                  <a:rPr lang="en-US" sz="2000" dirty="0">
                    <a:cs typeface="Arial" panose="020B0604020202020204" pitchFamily="34" charset="0"/>
                  </a:rPr>
                  <a:t>, with </a:t>
                </a:r>
                <a:r>
                  <a:rPr lang="en-US" sz="2000" i="1" dirty="0" err="1">
                    <a:cs typeface="Arial" panose="020B0604020202020204" pitchFamily="34" charset="0"/>
                  </a:rPr>
                  <a:t>i</a:t>
                </a:r>
                <a:r>
                  <a:rPr lang="en-US" sz="2000" dirty="0">
                    <a:cs typeface="Arial" panose="020B0604020202020204" pitchFamily="34" charset="0"/>
                  </a:rPr>
                  <a:t> rows and </a:t>
                </a:r>
                <a:r>
                  <a:rPr lang="en-US" sz="2000" i="1" dirty="0">
                    <a:cs typeface="Arial" panose="020B0604020202020204" pitchFamily="34" charset="0"/>
                  </a:rPr>
                  <a:t>j</a:t>
                </a:r>
                <a:r>
                  <a:rPr lang="en-US" sz="2000" dirty="0">
                    <a:cs typeface="Arial" panose="020B0604020202020204" pitchFamily="34" charset="0"/>
                  </a:rPr>
                  <a:t> columns, the expected frequencies,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oMath>
                </a14:m>
                <a:r>
                  <a:rPr lang="en-US" sz="2000" dirty="0">
                    <a:solidFill>
                      <a:srgbClr val="000000"/>
                    </a:solidFill>
                    <a:cs typeface="Arial" panose="020B0604020202020204" pitchFamily="34" charset="0"/>
                  </a:rPr>
                  <a:t>, under the assumption </a:t>
                </a:r>
                <a:r>
                  <a:rPr lang="en-US" sz="2000" i="1" dirty="0">
                    <a:cs typeface="Arial" panose="020B0604020202020204" pitchFamily="34" charset="0"/>
                  </a:rPr>
                  <a:t>H</a:t>
                </a:r>
                <a:r>
                  <a:rPr lang="en-US" sz="2000" baseline="-25000" dirty="0">
                    <a:cs typeface="Arial" panose="020B0604020202020204" pitchFamily="34" charset="0"/>
                  </a:rPr>
                  <a:t>0</a:t>
                </a:r>
                <a:r>
                  <a:rPr lang="en-US" sz="2000" dirty="0">
                    <a:cs typeface="Arial" panose="020B0604020202020204" pitchFamily="34" charset="0"/>
                  </a:rPr>
                  <a:t> is true, are </a:t>
                </a:r>
                <a:r>
                  <a:rPr lang="en-US" sz="2000" dirty="0">
                    <a:solidFill>
                      <a:srgbClr val="000000"/>
                    </a:solidFill>
                    <a:cs typeface="Arial" panose="020B0604020202020204" pitchFamily="34" charset="0"/>
                  </a:rPr>
                  <a:t>calculated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solidFill>
                                <a:srgbClr val="000000"/>
                              </a:solidFill>
                              <a:latin typeface="Cambria Math" panose="02040503050406030204" pitchFamily="18" charset="0"/>
                              <a:cs typeface="Arial" panose="020B0604020202020204" pitchFamily="34" charset="0"/>
                            </a:rPr>
                          </m:ctrlPr>
                        </m:sSubPr>
                        <m:e>
                          <m:r>
                            <a:rPr lang="en-US" sz="2000" b="1" i="1" smtClean="0">
                              <a:solidFill>
                                <a:srgbClr val="000000"/>
                              </a:solidFill>
                              <a:latin typeface="Cambria Math" panose="02040503050406030204" pitchFamily="18" charset="0"/>
                              <a:cs typeface="Arial" panose="020B0604020202020204" pitchFamily="34" charset="0"/>
                            </a:rPr>
                            <m:t>𝒆</m:t>
                          </m:r>
                        </m:e>
                        <m:sub>
                          <m:r>
                            <a:rPr lang="en-US" sz="2000" b="1" i="1" smtClean="0">
                              <a:solidFill>
                                <a:srgbClr val="000000"/>
                              </a:solidFill>
                              <a:latin typeface="Cambria Math" panose="02040503050406030204" pitchFamily="18" charset="0"/>
                              <a:cs typeface="Arial" panose="020B0604020202020204" pitchFamily="34" charset="0"/>
                            </a:rPr>
                            <m:t>𝒊𝒋</m:t>
                          </m:r>
                        </m:sub>
                      </m:sSub>
                      <m:r>
                        <a:rPr lang="en-US" sz="2000" b="1" i="1" smtClean="0">
                          <a:solidFill>
                            <a:srgbClr val="000000"/>
                          </a:solidFill>
                          <a:latin typeface="Cambria Math" panose="02040503050406030204" pitchFamily="18" charset="0"/>
                          <a:cs typeface="Arial" panose="020B0604020202020204" pitchFamily="34" charset="0"/>
                        </a:rPr>
                        <m:t>=</m:t>
                      </m:r>
                      <m:f>
                        <m:fPr>
                          <m:ctrlPr>
                            <a:rPr lang="en-US" sz="2000" b="1" i="1" smtClean="0">
                              <a:solidFill>
                                <a:srgbClr val="000000"/>
                              </a:solidFill>
                              <a:latin typeface="Cambria Math" panose="02040503050406030204" pitchFamily="18" charset="0"/>
                              <a:cs typeface="Arial" panose="020B0604020202020204" pitchFamily="34" charset="0"/>
                            </a:rPr>
                          </m:ctrlPr>
                        </m:fPr>
                        <m:num>
                          <m:d>
                            <m:dPr>
                              <m:ctrlPr>
                                <a:rPr lang="en-US" sz="2000" b="1" i="1" smtClean="0">
                                  <a:solidFill>
                                    <a:srgbClr val="000000"/>
                                  </a:solidFill>
                                  <a:latin typeface="Cambria Math" panose="02040503050406030204" pitchFamily="18" charset="0"/>
                                  <a:cs typeface="Arial" panose="020B0604020202020204" pitchFamily="34" charset="0"/>
                                </a:rPr>
                              </m:ctrlPr>
                            </m:dPr>
                            <m:e>
                              <m:r>
                                <m:rPr>
                                  <m:nor/>
                                </m:rPr>
                                <a:rPr lang="en-US" sz="2000" b="1" i="0" smtClean="0">
                                  <a:solidFill>
                                    <a:srgbClr val="000000"/>
                                  </a:solidFill>
                                  <a:latin typeface="Arial" panose="020B0604020202020204" pitchFamily="34" charset="0"/>
                                  <a:cs typeface="Arial" panose="020B0604020202020204" pitchFamily="34" charset="0"/>
                                </a:rPr>
                                <m:t>Row</m:t>
                              </m:r>
                              <m:r>
                                <a:rPr lang="en-US" sz="2000" b="1" i="1" smtClean="0">
                                  <a:solidFill>
                                    <a:srgbClr val="000000"/>
                                  </a:solidFill>
                                  <a:latin typeface="Cambria Math" panose="02040503050406030204" pitchFamily="18" charset="0"/>
                                  <a:cs typeface="Arial" panose="020B0604020202020204" pitchFamily="34" charset="0"/>
                                </a:rPr>
                                <m:t> </m:t>
                              </m:r>
                              <m:r>
                                <a:rPr lang="en-US" sz="2000" b="1" i="1" smtClean="0">
                                  <a:solidFill>
                                    <a:srgbClr val="000000"/>
                                  </a:solidFill>
                                  <a:latin typeface="Cambria Math" panose="02040503050406030204" pitchFamily="18" charset="0"/>
                                  <a:cs typeface="Arial" panose="020B0604020202020204" pitchFamily="34" charset="0"/>
                                </a:rPr>
                                <m:t>𝒊</m:t>
                              </m:r>
                              <m:r>
                                <a:rPr lang="en-US" sz="2000" b="1" i="1" smtClean="0">
                                  <a:solidFill>
                                    <a:srgbClr val="000000"/>
                                  </a:solidFill>
                                  <a:latin typeface="Cambria Math" panose="02040503050406030204" pitchFamily="18" charset="0"/>
                                  <a:cs typeface="Arial" panose="020B0604020202020204" pitchFamily="34" charset="0"/>
                                </a:rPr>
                                <m:t> </m:t>
                              </m:r>
                              <m:r>
                                <m:rPr>
                                  <m:nor/>
                                </m:rPr>
                                <a:rPr lang="en-US" sz="2000" b="1" i="0" smtClean="0">
                                  <a:solidFill>
                                    <a:srgbClr val="000000"/>
                                  </a:solidFill>
                                  <a:latin typeface="Arial" panose="020B0604020202020204" pitchFamily="34" charset="0"/>
                                  <a:cs typeface="Arial" panose="020B0604020202020204" pitchFamily="34" charset="0"/>
                                </a:rPr>
                                <m:t>Total</m:t>
                              </m:r>
                            </m:e>
                          </m:d>
                          <m:d>
                            <m:dPr>
                              <m:ctrlPr>
                                <a:rPr lang="en-US" sz="2000" b="1" i="1">
                                  <a:latin typeface="Cambria Math" panose="02040503050406030204" pitchFamily="18" charset="0"/>
                                  <a:cs typeface="Arial" panose="020B0604020202020204" pitchFamily="34" charset="0"/>
                                </a:rPr>
                              </m:ctrlPr>
                            </m:dPr>
                            <m:e>
                              <m:r>
                                <m:rPr>
                                  <m:nor/>
                                </m:rPr>
                                <a:rPr lang="en-US" sz="2000" b="1" i="0" smtClean="0">
                                  <a:latin typeface="Arial" panose="020B0604020202020204" pitchFamily="34" charset="0"/>
                                  <a:cs typeface="Arial" panose="020B0604020202020204" pitchFamily="34" charset="0"/>
                                </a:rPr>
                                <m:t>Column</m:t>
                              </m:r>
                              <m:r>
                                <a:rPr lang="en-US" sz="2000" b="1" i="1">
                                  <a:latin typeface="Cambria Math" panose="02040503050406030204" pitchFamily="18" charset="0"/>
                                  <a:cs typeface="Arial" panose="020B0604020202020204" pitchFamily="34" charset="0"/>
                                </a:rPr>
                                <m:t> </m:t>
                              </m:r>
                              <m:r>
                                <a:rPr lang="en-US" sz="2000" b="1" i="1" smtClean="0">
                                  <a:latin typeface="Cambria Math" panose="02040503050406030204" pitchFamily="18" charset="0"/>
                                  <a:cs typeface="Arial" panose="020B0604020202020204" pitchFamily="34" charset="0"/>
                                </a:rPr>
                                <m:t>𝒋</m:t>
                              </m:r>
                              <m:r>
                                <a:rPr lang="en-US" sz="2000" b="1" i="1">
                                  <a:latin typeface="Cambria Math" panose="02040503050406030204" pitchFamily="18" charset="0"/>
                                  <a:cs typeface="Arial" panose="020B0604020202020204" pitchFamily="34" charset="0"/>
                                </a:rPr>
                                <m:t> </m:t>
                              </m:r>
                              <m:r>
                                <m:rPr>
                                  <m:nor/>
                                </m:rPr>
                                <a:rPr lang="en-US" sz="2000" b="1">
                                  <a:latin typeface="Arial" panose="020B0604020202020204" pitchFamily="34" charset="0"/>
                                  <a:cs typeface="Arial" panose="020B0604020202020204" pitchFamily="34" charset="0"/>
                                </a:rPr>
                                <m:t>Total</m:t>
                              </m:r>
                            </m:e>
                          </m:d>
                        </m:num>
                        <m:den>
                          <m:r>
                            <m:rPr>
                              <m:nor/>
                            </m:rPr>
                            <a:rPr lang="en-US" sz="2000" b="1" i="0" smtClean="0">
                              <a:solidFill>
                                <a:srgbClr val="000000"/>
                              </a:solidFill>
                              <a:latin typeface="Arial" panose="020B0604020202020204" pitchFamily="34" charset="0"/>
                              <a:cs typeface="Arial" panose="020B0604020202020204" pitchFamily="34" charset="0"/>
                            </a:rPr>
                            <m:t>Total</m:t>
                          </m:r>
                          <m:r>
                            <m:rPr>
                              <m:nor/>
                            </m:rPr>
                            <a:rPr lang="en-US" sz="2000" b="1" i="0" smtClean="0">
                              <a:solidFill>
                                <a:srgbClr val="000000"/>
                              </a:solidFill>
                              <a:latin typeface="Arial" panose="020B0604020202020204" pitchFamily="34" charset="0"/>
                              <a:cs typeface="Arial" panose="020B0604020202020204" pitchFamily="34" charset="0"/>
                            </a:rPr>
                            <m:t> </m:t>
                          </m:r>
                          <m:r>
                            <m:rPr>
                              <m:nor/>
                            </m:rPr>
                            <a:rPr lang="en-US" sz="2000" b="1" i="0" smtClean="0">
                              <a:solidFill>
                                <a:srgbClr val="000000"/>
                              </a:solidFill>
                              <a:latin typeface="Arial" panose="020B0604020202020204" pitchFamily="34" charset="0"/>
                              <a:cs typeface="Arial" panose="020B0604020202020204" pitchFamily="34" charset="0"/>
                            </a:rPr>
                            <m:t>Sample</m:t>
                          </m:r>
                          <m:r>
                            <m:rPr>
                              <m:nor/>
                            </m:rPr>
                            <a:rPr lang="en-US" sz="2000" b="1" i="0" smtClean="0">
                              <a:solidFill>
                                <a:srgbClr val="000000"/>
                              </a:solidFill>
                              <a:latin typeface="Arial" panose="020B0604020202020204" pitchFamily="34" charset="0"/>
                              <a:cs typeface="Arial" panose="020B0604020202020204" pitchFamily="34" charset="0"/>
                            </a:rPr>
                            <m:t> </m:t>
                          </m:r>
                          <m:r>
                            <m:rPr>
                              <m:nor/>
                            </m:rPr>
                            <a:rPr lang="en-US" sz="2000" b="1" i="0" smtClean="0">
                              <a:solidFill>
                                <a:srgbClr val="000000"/>
                              </a:solidFill>
                              <a:latin typeface="Arial" panose="020B0604020202020204" pitchFamily="34" charset="0"/>
                              <a:cs typeface="Arial" panose="020B0604020202020204" pitchFamily="34" charset="0"/>
                            </a:rPr>
                            <m:t>Size</m:t>
                          </m:r>
                        </m:den>
                      </m:f>
                    </m:oMath>
                  </m:oMathPara>
                </a14:m>
                <a:endParaRPr lang="en-US" sz="2000" b="1" dirty="0">
                  <a:solidFill>
                    <a:srgbClr val="000000"/>
                  </a:solidFill>
                  <a:latin typeface="Arial" panose="020B0604020202020204" pitchFamily="34" charset="0"/>
                  <a:cs typeface="Arial" panose="020B0604020202020204" pitchFamily="34" charset="0"/>
                </a:endParaRPr>
              </a:p>
              <a:p>
                <a:pPr>
                  <a:lnSpc>
                    <a:spcPct val="100000"/>
                  </a:lnSpc>
                  <a:spcBef>
                    <a:spcPts val="600"/>
                  </a:spcBef>
                </a:pPr>
                <a:r>
                  <a:rPr lang="en-US" sz="2000" dirty="0">
                    <a:solidFill>
                      <a:srgbClr val="000000"/>
                    </a:solidFill>
                    <a:cs typeface="Arial" panose="020B0604020202020204" pitchFamily="34" charset="0"/>
                  </a:rPr>
                  <a:t>Let us apply this methodology to the customer loyalty example.</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9" y="1332187"/>
                <a:ext cx="10711543" cy="4579882"/>
              </a:xfrm>
              <a:blipFill>
                <a:blip r:embed="rId2"/>
                <a:stretch>
                  <a:fillRect l="-1422" t="-1598" r="-1877" b="-799"/>
                </a:stretch>
              </a:blipFill>
            </p:spPr>
            <p:txBody>
              <a:bodyPr/>
              <a:lstStyle/>
              <a:p>
                <a:r>
                  <a:rPr lang="en-US">
                    <a:noFill/>
                  </a:rPr>
                  <a:t> </a:t>
                </a:r>
              </a:p>
            </p:txBody>
          </p:sp>
        </mc:Fallback>
      </mc:AlternateContent>
    </p:spTree>
    <p:extLst>
      <p:ext uri="{BB962C8B-B14F-4D97-AF65-F5344CB8AC3E}">
        <p14:creationId xmlns:p14="http://schemas.microsoft.com/office/powerpoint/2010/main" val="2116264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6FDCB-DA7D-94AA-8AC1-8967B68D693E}"/>
              </a:ext>
            </a:extLst>
          </p:cNvPr>
          <p:cNvSpPr>
            <a:spLocks noGrp="1"/>
          </p:cNvSpPr>
          <p:nvPr>
            <p:ph type="title"/>
          </p:nvPr>
        </p:nvSpPr>
        <p:spPr/>
        <p:txBody>
          <a:bodyPr/>
          <a:lstStyle/>
          <a:p>
            <a:r>
              <a:rPr lang="en-US" dirty="0"/>
              <a:t>12.3 Calculation of the Expected Frequencies</a:t>
            </a:r>
          </a:p>
        </p:txBody>
      </p:sp>
      <p:sp>
        <p:nvSpPr>
          <p:cNvPr id="3" name="Text Placeholder 2">
            <a:extLst>
              <a:ext uri="{FF2B5EF4-FFF2-40B4-BE49-F238E27FC236}">
                <a16:creationId xmlns:a16="http://schemas.microsoft.com/office/drawing/2014/main" id="{67EBB78C-246C-BB07-54E1-1CB3DE8FA1D8}"/>
              </a:ext>
            </a:extLst>
          </p:cNvPr>
          <p:cNvSpPr>
            <a:spLocks noGrp="1"/>
          </p:cNvSpPr>
          <p:nvPr>
            <p:ph type="body" sz="quarter" idx="15"/>
          </p:nvPr>
        </p:nvSpPr>
        <p:spPr>
          <a:xfrm>
            <a:off x="743576" y="1139487"/>
            <a:ext cx="10515332" cy="615353"/>
          </a:xfrm>
        </p:spPr>
        <p:txBody>
          <a:bodyPr>
            <a:normAutofit/>
          </a:bodyPr>
          <a:lstStyle/>
          <a:p>
            <a:pPr>
              <a:lnSpc>
                <a:spcPct val="100000"/>
              </a:lnSpc>
              <a:spcBef>
                <a:spcPts val="600"/>
              </a:spcBef>
            </a:pPr>
            <a:r>
              <a:rPr lang="en-US" sz="2000" dirty="0"/>
              <a:t>The data for samples of 125 Chevrolet Impala owners, 200 Ford Fusion owners, and 175 Honda Accord owners are summarized in the following crosstabulation.</a:t>
            </a:r>
          </a:p>
        </p:txBody>
      </p:sp>
      <p:graphicFrame>
        <p:nvGraphicFramePr>
          <p:cNvPr id="6" name="Table 6">
            <a:extLst>
              <a:ext uri="{FF2B5EF4-FFF2-40B4-BE49-F238E27FC236}">
                <a16:creationId xmlns:a16="http://schemas.microsoft.com/office/drawing/2014/main" id="{23902209-8901-B064-BC7C-4CC49D88EDCC}"/>
              </a:ext>
            </a:extLst>
          </p:cNvPr>
          <p:cNvGraphicFramePr>
            <a:graphicFrameLocks noGrp="1"/>
          </p:cNvGraphicFramePr>
          <p:nvPr>
            <p:ph type="tbl" sz="quarter" idx="22"/>
            <p:extLst>
              <p:ext uri="{D42A27DB-BD31-4B8C-83A1-F6EECF244321}">
                <p14:modId xmlns:p14="http://schemas.microsoft.com/office/powerpoint/2010/main" val="3044533083"/>
              </p:ext>
            </p:extLst>
          </p:nvPr>
        </p:nvGraphicFramePr>
        <p:xfrm>
          <a:off x="2090347" y="1801065"/>
          <a:ext cx="8011307" cy="1244600"/>
        </p:xfrm>
        <a:graphic>
          <a:graphicData uri="http://schemas.openxmlformats.org/drawingml/2006/table">
            <a:tbl>
              <a:tblPr firstRow="1" bandRow="1">
                <a:tableStyleId>{5C22544A-7EE6-4342-B048-85BDC9FD1C3A}</a:tableStyleId>
              </a:tblPr>
              <a:tblGrid>
                <a:gridCol w="1782064">
                  <a:extLst>
                    <a:ext uri="{9D8B030D-6E8A-4147-A177-3AD203B41FA5}">
                      <a16:colId xmlns:a16="http://schemas.microsoft.com/office/drawing/2014/main" val="2292963044"/>
                    </a:ext>
                  </a:extLst>
                </a:gridCol>
                <a:gridCol w="1381559">
                  <a:extLst>
                    <a:ext uri="{9D8B030D-6E8A-4147-A177-3AD203B41FA5}">
                      <a16:colId xmlns:a16="http://schemas.microsoft.com/office/drawing/2014/main" val="2978011888"/>
                    </a:ext>
                  </a:extLst>
                </a:gridCol>
                <a:gridCol w="1381559">
                  <a:extLst>
                    <a:ext uri="{9D8B030D-6E8A-4147-A177-3AD203B41FA5}">
                      <a16:colId xmlns:a16="http://schemas.microsoft.com/office/drawing/2014/main" val="3009758269"/>
                    </a:ext>
                  </a:extLst>
                </a:gridCol>
                <a:gridCol w="1381559">
                  <a:extLst>
                    <a:ext uri="{9D8B030D-6E8A-4147-A177-3AD203B41FA5}">
                      <a16:colId xmlns:a16="http://schemas.microsoft.com/office/drawing/2014/main" val="1062070161"/>
                    </a:ext>
                  </a:extLst>
                </a:gridCol>
                <a:gridCol w="1381559">
                  <a:extLst>
                    <a:ext uri="{9D8B030D-6E8A-4147-A177-3AD203B41FA5}">
                      <a16:colId xmlns:a16="http://schemas.microsoft.com/office/drawing/2014/main" val="1037290666"/>
                    </a:ext>
                  </a:extLst>
                </a:gridCol>
                <a:gridCol w="703007">
                  <a:extLst>
                    <a:ext uri="{9D8B030D-6E8A-4147-A177-3AD203B41FA5}">
                      <a16:colId xmlns:a16="http://schemas.microsoft.com/office/drawing/2014/main" val="3977372447"/>
                    </a:ext>
                  </a:extLst>
                </a:gridCol>
              </a:tblGrid>
              <a:tr h="365760">
                <a:tc>
                  <a:txBody>
                    <a:bodyPr/>
                    <a:lstStyle/>
                    <a:p>
                      <a:pPr algn="ctr" fontAlgn="b"/>
                      <a:endParaRPr lang="en-US" sz="1600" b="1" i="0" u="none" strike="noStrike" dirty="0">
                        <a:solidFill>
                          <a:srgbClr val="000000"/>
                        </a:solidFill>
                        <a:effectLst/>
                        <a:latin typeface="+mn-lt"/>
                      </a:endParaRP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70C0"/>
                          </a:solidFill>
                          <a:effectLst/>
                          <a:latin typeface="+mn-lt"/>
                        </a:rPr>
                        <a:t>Automobile Owners</a:t>
                      </a:r>
                      <a:endParaRPr lang="en-US" sz="1600" b="1" i="0" u="none" strike="noStrike" dirty="0">
                        <a:solidFill>
                          <a:srgbClr val="000000"/>
                        </a:solidFill>
                        <a:effectLst/>
                        <a:latin typeface="+mn-lt"/>
                      </a:endParaRPr>
                    </a:p>
                  </a:txBody>
                  <a:tcPr marL="6350" marR="6350" marT="635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Chevrolet Impala </a:t>
                      </a:r>
                    </a:p>
                  </a:txBody>
                  <a:tcPr marL="6350" marR="6350" marT="6350" marB="0" anchor="ctr">
                    <a:lnL w="19050" cap="flat" cmpd="sng" algn="ctr">
                      <a:solidFill>
                        <a:srgbClr val="0070C0"/>
                      </a:solidFill>
                      <a:prstDash val="solid"/>
                      <a:round/>
                      <a:headEnd type="none" w="med" len="med"/>
                      <a:tailEnd type="none" w="med" len="med"/>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Ford Fusion </a:t>
                      </a:r>
                    </a:p>
                  </a:txBody>
                  <a:tcPr marL="6350" marR="6350" marT="6350" marB="0" anchor="ctr">
                    <a:lnL w="12700" cmpd="sng">
                      <a:noFill/>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Honda Accord </a:t>
                      </a:r>
                    </a:p>
                  </a:txBody>
                  <a:tcPr marL="6350" marR="6350" marT="6350" marB="0" anchor="ctr">
                    <a:lnL w="12700" cmpd="sng">
                      <a:noFill/>
                    </a:lnL>
                    <a:lnR w="19050" cap="flat" cmpd="sng" algn="ctr">
                      <a:solidFill>
                        <a:srgbClr val="0070C0"/>
                      </a:solidFill>
                      <a:prstDash val="solid"/>
                      <a:round/>
                      <a:headEnd type="none" w="med" len="med"/>
                      <a:tailEnd type="none" w="med" len="med"/>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ctr"/>
                      <a:r>
                        <a:rPr lang="en-US" sz="1600" b="1" i="0" u="none" strike="noStrike" dirty="0">
                          <a:solidFill>
                            <a:srgbClr val="000000"/>
                          </a:solidFill>
                          <a:effectLst/>
                          <a:latin typeface="+mn-lt"/>
                        </a:rPr>
                        <a:t>Total </a:t>
                      </a:r>
                    </a:p>
                  </a:txBody>
                  <a:tcPr marL="6350" marR="6350" marT="6350" marB="0" anchor="ctr">
                    <a:lnL w="19050" cap="flat" cmpd="sng" algn="ctr">
                      <a:solidFill>
                        <a:srgbClr val="0070C0"/>
                      </a:solidFill>
                      <a:prstDash val="solid"/>
                      <a:round/>
                      <a:headEnd type="none" w="med" len="med"/>
                      <a:tailEnd type="none" w="med" len="med"/>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760181818"/>
                  </a:ext>
                </a:extLst>
              </a:tr>
              <a:tr h="10832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70C0"/>
                          </a:solidFill>
                          <a:effectLst/>
                          <a:latin typeface="+mn-lt"/>
                        </a:rPr>
                        <a:t>Likely to Repurchase</a:t>
                      </a:r>
                    </a:p>
                  </a:txBody>
                  <a:tcPr marL="6350" marR="6350" marT="6350" marB="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1" i="0" u="none" strike="noStrike" dirty="0">
                          <a:solidFill>
                            <a:srgbClr val="000000"/>
                          </a:solidFill>
                          <a:effectLst/>
                          <a:latin typeface="+mn-lt"/>
                        </a:rPr>
                        <a:t>Yes </a:t>
                      </a:r>
                    </a:p>
                  </a:txBody>
                  <a:tcPr marL="6350" marR="6350" marT="6350" marB="0" anchor="b">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	69</a:t>
                      </a:r>
                    </a:p>
                  </a:txBody>
                  <a:tcPr marL="6350" marR="6350" marT="6350" marB="0" anchor="b">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120</a:t>
                      </a:r>
                    </a:p>
                  </a:txBody>
                  <a:tcPr marL="6350" marR="6350" marT="6350" marB="0" anchor="b">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123</a:t>
                      </a:r>
                    </a:p>
                  </a:txBody>
                  <a:tcPr marL="6350" marR="6350" marT="6350" marB="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312</a:t>
                      </a:r>
                    </a:p>
                  </a:txBody>
                  <a:tcPr marL="6350" marR="6350" marT="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746081713"/>
                  </a:ext>
                </a:extLst>
              </a:tr>
              <a:tr h="108320">
                <a:tc>
                  <a:txBody>
                    <a:bodyPr/>
                    <a:lstStyle/>
                    <a:p>
                      <a:pPr algn="l" fontAlgn="b"/>
                      <a:endParaRPr lang="en-US" sz="1600" b="0" i="0" u="none" strike="noStrike" dirty="0">
                        <a:solidFill>
                          <a:srgbClr val="000000"/>
                        </a:solidFill>
                        <a:effectLst/>
                        <a:latin typeface="+mn-lt"/>
                      </a:endParaRPr>
                    </a:p>
                  </a:txBody>
                  <a:tcPr marL="6350" marR="6350" marT="6350" marB="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r>
                        <a:rPr lang="en-US" sz="1600" b="1" i="0" u="none" strike="noStrike" dirty="0">
                          <a:solidFill>
                            <a:srgbClr val="000000"/>
                          </a:solidFill>
                          <a:effectLst/>
                          <a:latin typeface="+mn-lt"/>
                        </a:rPr>
                        <a:t>No </a:t>
                      </a:r>
                    </a:p>
                  </a:txBody>
                  <a:tcPr marL="6350" marR="6350" marT="6350" marB="0" anchor="b">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	56</a:t>
                      </a:r>
                    </a:p>
                  </a:txBody>
                  <a:tcPr marL="6350" marR="6350" marT="6350" marB="0" anchor="b">
                    <a:lnL w="19050" cap="flat" cmpd="sng" algn="ctr">
                      <a:solidFill>
                        <a:srgbClr val="0070C0"/>
                      </a:solidFill>
                      <a:prstDash val="solid"/>
                      <a:round/>
                      <a:headEnd type="none" w="med" len="med"/>
                      <a:tailEnd type="none" w="med" len="med"/>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80</a:t>
                      </a:r>
                    </a:p>
                  </a:txBody>
                  <a:tcPr marL="6350" marR="6350" marT="6350" marB="0" anchor="b">
                    <a:lnL w="12700" cmpd="sng">
                      <a:noFill/>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52</a:t>
                      </a:r>
                    </a:p>
                  </a:txBody>
                  <a:tcPr marL="6350" marR="6350" marT="6350" marB="0" anchor="ctr">
                    <a:lnL w="12700" cmpd="sng">
                      <a:noFill/>
                    </a:lnL>
                    <a:lnR w="19050" cap="flat" cmpd="sng" algn="ctr">
                      <a:solidFill>
                        <a:srgbClr val="0070C0"/>
                      </a:solidFill>
                      <a:prstDash val="solid"/>
                      <a:round/>
                      <a:headEnd type="none" w="med" len="med"/>
                      <a:tailEnd type="none" w="med" len="med"/>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188</a:t>
                      </a:r>
                    </a:p>
                  </a:txBody>
                  <a:tcPr marL="6350" marR="6350" marT="6350" marB="0" anchor="ctr">
                    <a:lnL w="19050" cap="flat" cmpd="sng" algn="ctr">
                      <a:solidFill>
                        <a:srgbClr val="0070C0"/>
                      </a:solidFill>
                      <a:prstDash val="solid"/>
                      <a:round/>
                      <a:headEnd type="none" w="med" len="med"/>
                      <a:tailEnd type="none" w="med" len="med"/>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124592133"/>
                  </a:ext>
                </a:extLst>
              </a:tr>
              <a:tr h="108320">
                <a:tc>
                  <a:txBody>
                    <a:bodyPr/>
                    <a:lstStyle/>
                    <a:p>
                      <a:pPr algn="l" fontAlgn="b">
                        <a:tabLst>
                          <a:tab pos="1147763" algn="r"/>
                        </a:tabLst>
                      </a:pPr>
                      <a:endParaRPr lang="en-US" sz="1600" b="0" i="0" u="none" strike="noStrike" dirty="0">
                        <a:solidFill>
                          <a:srgbClr val="000000"/>
                        </a:solidFill>
                        <a:effectLst/>
                        <a:latin typeface="+mn-lt"/>
                      </a:endParaRPr>
                    </a:p>
                  </a:txBody>
                  <a:tcPr marL="6350" marR="6350" marT="6350" marB="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Total </a:t>
                      </a:r>
                    </a:p>
                  </a:txBody>
                  <a:tcPr marL="6350" marR="6350" marT="6350" marB="0" anchor="b">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147763" algn="r"/>
                        </a:tabLst>
                      </a:pPr>
                      <a:r>
                        <a:rPr lang="en-US" sz="1600" b="0" i="0" u="none" strike="noStrike" dirty="0">
                          <a:solidFill>
                            <a:srgbClr val="000000"/>
                          </a:solidFill>
                          <a:effectLst/>
                          <a:latin typeface="+mn-lt"/>
                        </a:rPr>
                        <a:t>	125</a:t>
                      </a:r>
                    </a:p>
                  </a:txBody>
                  <a:tcPr marL="6350" marR="6350" marT="6350" marB="0" anchor="b">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200</a:t>
                      </a:r>
                    </a:p>
                  </a:txBody>
                  <a:tcPr marL="6350" marR="6350" marT="6350" marB="0" anchor="b">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175</a:t>
                      </a:r>
                    </a:p>
                  </a:txBody>
                  <a:tcPr marL="6350" marR="6350" marT="6350" marB="0" anchor="ctr">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500</a:t>
                      </a:r>
                    </a:p>
                  </a:txBody>
                  <a:tcPr marL="6350" marR="6350" marT="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678366716"/>
                  </a:ext>
                </a:extLst>
              </a:tr>
            </a:tbl>
          </a:graphicData>
        </a:graphic>
      </p:graphicFrame>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1498D8D-21DC-A3BA-0DE2-DCA40EE4D5F0}"/>
                  </a:ext>
                </a:extLst>
              </p:cNvPr>
              <p:cNvSpPr>
                <a:spLocks noGrp="1"/>
              </p:cNvSpPr>
              <p:nvPr>
                <p:ph type="body" sz="quarter" idx="18"/>
              </p:nvPr>
            </p:nvSpPr>
            <p:spPr>
              <a:xfrm>
                <a:off x="743576" y="3089252"/>
                <a:ext cx="10515332" cy="1734771"/>
              </a:xfrm>
            </p:spPr>
            <p:txBody>
              <a:bodyPr>
                <a:normAutofit/>
              </a:bodyPr>
              <a:lstStyle/>
              <a:p>
                <a:pPr>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11</m:t>
                        </m:r>
                      </m:sub>
                    </m:sSub>
                  </m:oMath>
                </a14:m>
                <a:r>
                  <a:rPr lang="en-US" sz="2000" dirty="0"/>
                  <a:t>, the expected frequency of Impala owners likely to repurchase, is calculated as follows</a:t>
                </a:r>
              </a:p>
              <a:p>
                <a:pPr marL="914400">
                  <a:lnSpc>
                    <a:spcPct val="100000"/>
                  </a:lnSpc>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1800" i="1" smtClean="0">
                              <a:solidFill>
                                <a:srgbClr val="000000"/>
                              </a:solidFill>
                              <a:latin typeface="Cambria Math" panose="02040503050406030204" pitchFamily="18" charset="0"/>
                              <a:cs typeface="Arial" panose="020B0604020202020204" pitchFamily="34" charset="0"/>
                            </a:rPr>
                          </m:ctrlPr>
                        </m:sSubPr>
                        <m:e>
                          <m:r>
                            <a:rPr lang="en-US" sz="1800" b="0" i="1" smtClean="0">
                              <a:solidFill>
                                <a:srgbClr val="000000"/>
                              </a:solidFill>
                              <a:latin typeface="Cambria Math" panose="02040503050406030204" pitchFamily="18" charset="0"/>
                              <a:cs typeface="Arial" panose="020B0604020202020204" pitchFamily="34" charset="0"/>
                            </a:rPr>
                            <m:t>𝑒</m:t>
                          </m:r>
                        </m:e>
                        <m:sub>
                          <m:r>
                            <a:rPr lang="en-US" sz="1800" b="0" i="1" smtClean="0">
                              <a:solidFill>
                                <a:srgbClr val="000000"/>
                              </a:solidFill>
                              <a:latin typeface="Cambria Math" panose="02040503050406030204" pitchFamily="18" charset="0"/>
                              <a:cs typeface="Arial" panose="020B0604020202020204" pitchFamily="34" charset="0"/>
                            </a:rPr>
                            <m:t>11</m:t>
                          </m:r>
                        </m:sub>
                      </m:sSub>
                      <m:r>
                        <a:rPr lang="en-US" sz="1800" b="0" i="1" smtClean="0">
                          <a:solidFill>
                            <a:srgbClr val="000000"/>
                          </a:solidFill>
                          <a:latin typeface="Cambria Math" panose="02040503050406030204" pitchFamily="18" charset="0"/>
                          <a:cs typeface="Arial" panose="020B0604020202020204" pitchFamily="34" charset="0"/>
                        </a:rPr>
                        <m:t>=</m:t>
                      </m:r>
                      <m:f>
                        <m:fPr>
                          <m:ctrlPr>
                            <a:rPr lang="en-US" sz="1800" i="1" smtClean="0">
                              <a:solidFill>
                                <a:srgbClr val="000000"/>
                              </a:solidFill>
                              <a:latin typeface="Cambria Math" panose="02040503050406030204" pitchFamily="18" charset="0"/>
                              <a:cs typeface="Arial" panose="020B0604020202020204" pitchFamily="34" charset="0"/>
                            </a:rPr>
                          </m:ctrlPr>
                        </m:fPr>
                        <m:num>
                          <m:d>
                            <m:dPr>
                              <m:ctrlPr>
                                <a:rPr lang="en-US" sz="1800" i="1" smtClean="0">
                                  <a:solidFill>
                                    <a:srgbClr val="000000"/>
                                  </a:solidFill>
                                  <a:latin typeface="Cambria Math" panose="02040503050406030204" pitchFamily="18" charset="0"/>
                                  <a:cs typeface="Arial" panose="020B0604020202020204" pitchFamily="34" charset="0"/>
                                </a:rPr>
                              </m:ctrlPr>
                            </m:dPr>
                            <m:e>
                              <m:r>
                                <m:rPr>
                                  <m:nor/>
                                </m:rPr>
                                <a:rPr lang="en-US" sz="1800" i="0" smtClean="0">
                                  <a:solidFill>
                                    <a:srgbClr val="000000"/>
                                  </a:solidFill>
                                  <a:latin typeface="Arial" panose="020B0604020202020204" pitchFamily="34" charset="0"/>
                                  <a:cs typeface="Arial" panose="020B0604020202020204" pitchFamily="34" charset="0"/>
                                </a:rPr>
                                <m:t>Row</m:t>
                              </m:r>
                              <m:r>
                                <a:rPr lang="en-US" sz="1800" b="0" i="1" smtClean="0">
                                  <a:solidFill>
                                    <a:srgbClr val="000000"/>
                                  </a:solidFill>
                                  <a:latin typeface="Cambria Math" panose="02040503050406030204" pitchFamily="18" charset="0"/>
                                  <a:cs typeface="Arial" panose="020B0604020202020204" pitchFamily="34" charset="0"/>
                                </a:rPr>
                                <m:t> 1 </m:t>
                              </m:r>
                              <m:r>
                                <m:rPr>
                                  <m:nor/>
                                </m:rPr>
                                <a:rPr lang="en-US" sz="1800" i="0" smtClean="0">
                                  <a:solidFill>
                                    <a:srgbClr val="000000"/>
                                  </a:solidFill>
                                  <a:latin typeface="Arial" panose="020B0604020202020204" pitchFamily="34" charset="0"/>
                                  <a:cs typeface="Arial" panose="020B0604020202020204" pitchFamily="34" charset="0"/>
                                </a:rPr>
                                <m:t>Total</m:t>
                              </m:r>
                            </m:e>
                          </m:d>
                          <m:d>
                            <m:dPr>
                              <m:ctrlPr>
                                <a:rPr lang="en-US" sz="1800" i="1">
                                  <a:latin typeface="Cambria Math" panose="02040503050406030204" pitchFamily="18" charset="0"/>
                                  <a:cs typeface="Arial" panose="020B0604020202020204" pitchFamily="34" charset="0"/>
                                </a:rPr>
                              </m:ctrlPr>
                            </m:dPr>
                            <m:e>
                              <m:r>
                                <m:rPr>
                                  <m:nor/>
                                </m:rPr>
                                <a:rPr lang="en-US" sz="1800" i="0" smtClean="0">
                                  <a:latin typeface="Arial" panose="020B0604020202020204" pitchFamily="34" charset="0"/>
                                  <a:cs typeface="Arial" panose="020B0604020202020204" pitchFamily="34" charset="0"/>
                                </a:rPr>
                                <m:t>Column</m:t>
                              </m:r>
                              <m:r>
                                <a:rPr lang="en-US" sz="1800" b="0" i="1">
                                  <a:latin typeface="Cambria Math" panose="02040503050406030204" pitchFamily="18" charset="0"/>
                                  <a:cs typeface="Arial" panose="020B0604020202020204" pitchFamily="34" charset="0"/>
                                </a:rPr>
                                <m:t> </m:t>
                              </m:r>
                              <m:r>
                                <a:rPr lang="en-US" sz="1800" b="0" i="1" smtClean="0">
                                  <a:latin typeface="Cambria Math" panose="02040503050406030204" pitchFamily="18" charset="0"/>
                                  <a:cs typeface="Arial" panose="020B0604020202020204" pitchFamily="34" charset="0"/>
                                </a:rPr>
                                <m:t>1</m:t>
                              </m:r>
                              <m:r>
                                <a:rPr lang="en-US" sz="1800" b="0" i="1">
                                  <a:latin typeface="Cambria Math" panose="02040503050406030204" pitchFamily="18" charset="0"/>
                                  <a:cs typeface="Arial" panose="020B0604020202020204" pitchFamily="34" charset="0"/>
                                </a:rPr>
                                <m:t> </m:t>
                              </m:r>
                              <m:r>
                                <m:rPr>
                                  <m:nor/>
                                </m:rPr>
                                <a:rPr lang="en-US" sz="1800">
                                  <a:latin typeface="Arial" panose="020B0604020202020204" pitchFamily="34" charset="0"/>
                                  <a:cs typeface="Arial" panose="020B0604020202020204" pitchFamily="34" charset="0"/>
                                </a:rPr>
                                <m:t>Total</m:t>
                              </m:r>
                            </m:e>
                          </m:d>
                        </m:num>
                        <m:den>
                          <m:r>
                            <m:rPr>
                              <m:nor/>
                            </m:rPr>
                            <a:rPr lang="en-US" sz="1800" i="0" smtClean="0">
                              <a:solidFill>
                                <a:srgbClr val="000000"/>
                              </a:solidFill>
                              <a:latin typeface="Arial" panose="020B0604020202020204" pitchFamily="34" charset="0"/>
                              <a:cs typeface="Arial" panose="020B0604020202020204" pitchFamily="34" charset="0"/>
                            </a:rPr>
                            <m:t>Total</m:t>
                          </m:r>
                          <m:r>
                            <m:rPr>
                              <m:nor/>
                            </m:rPr>
                            <a:rPr lang="en-US" sz="1800" i="0" smtClean="0">
                              <a:solidFill>
                                <a:srgbClr val="000000"/>
                              </a:solidFill>
                              <a:latin typeface="Arial" panose="020B0604020202020204" pitchFamily="34" charset="0"/>
                              <a:cs typeface="Arial" panose="020B0604020202020204" pitchFamily="34" charset="0"/>
                            </a:rPr>
                            <m:t> </m:t>
                          </m:r>
                          <m:r>
                            <m:rPr>
                              <m:nor/>
                            </m:rPr>
                            <a:rPr lang="en-US" sz="1800" i="0" smtClean="0">
                              <a:solidFill>
                                <a:srgbClr val="000000"/>
                              </a:solidFill>
                              <a:latin typeface="Arial" panose="020B0604020202020204" pitchFamily="34" charset="0"/>
                              <a:cs typeface="Arial" panose="020B0604020202020204" pitchFamily="34" charset="0"/>
                            </a:rPr>
                            <m:t>Sample</m:t>
                          </m:r>
                          <m:r>
                            <m:rPr>
                              <m:nor/>
                            </m:rPr>
                            <a:rPr lang="en-US" sz="1800" i="0" smtClean="0">
                              <a:solidFill>
                                <a:srgbClr val="000000"/>
                              </a:solidFill>
                              <a:latin typeface="Arial" panose="020B0604020202020204" pitchFamily="34" charset="0"/>
                              <a:cs typeface="Arial" panose="020B0604020202020204" pitchFamily="34" charset="0"/>
                            </a:rPr>
                            <m:t> </m:t>
                          </m:r>
                          <m:r>
                            <m:rPr>
                              <m:nor/>
                            </m:rPr>
                            <a:rPr lang="en-US" sz="1800" i="0" smtClean="0">
                              <a:solidFill>
                                <a:srgbClr val="000000"/>
                              </a:solidFill>
                              <a:latin typeface="Arial" panose="020B0604020202020204" pitchFamily="34" charset="0"/>
                              <a:cs typeface="Arial" panose="020B0604020202020204" pitchFamily="34" charset="0"/>
                            </a:rPr>
                            <m:t>Size</m:t>
                          </m:r>
                        </m:den>
                      </m:f>
                      <m:r>
                        <a:rPr lang="en-US" sz="1800" b="0" i="1" smtClean="0">
                          <a:solidFill>
                            <a:srgbClr val="000000"/>
                          </a:solidFill>
                          <a:latin typeface="Cambria Math" panose="02040503050406030204" pitchFamily="18" charset="0"/>
                          <a:cs typeface="Arial" panose="020B0604020202020204" pitchFamily="34" charset="0"/>
                        </a:rPr>
                        <m:t>=</m:t>
                      </m:r>
                      <m:f>
                        <m:fPr>
                          <m:ctrlPr>
                            <a:rPr lang="en-US" sz="1800" b="0" i="1" smtClean="0">
                              <a:solidFill>
                                <a:srgbClr val="000000"/>
                              </a:solidFill>
                              <a:latin typeface="Cambria Math" panose="02040503050406030204" pitchFamily="18" charset="0"/>
                              <a:cs typeface="Arial" panose="020B0604020202020204" pitchFamily="34" charset="0"/>
                            </a:rPr>
                          </m:ctrlPr>
                        </m:fPr>
                        <m:num>
                          <m:d>
                            <m:dPr>
                              <m:ctrlPr>
                                <a:rPr lang="en-US" sz="1800" b="0" i="1" smtClean="0">
                                  <a:solidFill>
                                    <a:srgbClr val="000000"/>
                                  </a:solidFill>
                                  <a:latin typeface="Cambria Math" panose="02040503050406030204" pitchFamily="18" charset="0"/>
                                  <a:cs typeface="Arial" panose="020B0604020202020204" pitchFamily="34" charset="0"/>
                                </a:rPr>
                              </m:ctrlPr>
                            </m:dPr>
                            <m:e>
                              <m:r>
                                <a:rPr lang="en-US" sz="1800" b="0" i="1" smtClean="0">
                                  <a:solidFill>
                                    <a:srgbClr val="000000"/>
                                  </a:solidFill>
                                  <a:latin typeface="Cambria Math" panose="02040503050406030204" pitchFamily="18" charset="0"/>
                                  <a:cs typeface="Arial" panose="020B0604020202020204" pitchFamily="34" charset="0"/>
                                </a:rPr>
                                <m:t>312</m:t>
                              </m:r>
                            </m:e>
                          </m:d>
                          <m:d>
                            <m:dPr>
                              <m:ctrlPr>
                                <a:rPr lang="en-US" sz="1800" b="0" i="1" smtClean="0">
                                  <a:solidFill>
                                    <a:srgbClr val="000000"/>
                                  </a:solidFill>
                                  <a:latin typeface="Cambria Math" panose="02040503050406030204" pitchFamily="18" charset="0"/>
                                  <a:cs typeface="Arial" panose="020B0604020202020204" pitchFamily="34" charset="0"/>
                                </a:rPr>
                              </m:ctrlPr>
                            </m:dPr>
                            <m:e>
                              <m:r>
                                <a:rPr lang="en-US" sz="1800" b="0" i="1" smtClean="0">
                                  <a:solidFill>
                                    <a:srgbClr val="000000"/>
                                  </a:solidFill>
                                  <a:latin typeface="Cambria Math" panose="02040503050406030204" pitchFamily="18" charset="0"/>
                                  <a:cs typeface="Arial" panose="020B0604020202020204" pitchFamily="34" charset="0"/>
                                </a:rPr>
                                <m:t>125</m:t>
                              </m:r>
                            </m:e>
                          </m:d>
                        </m:num>
                        <m:den>
                          <m:r>
                            <a:rPr lang="en-US" sz="1800" b="0" i="1" smtClean="0">
                              <a:solidFill>
                                <a:srgbClr val="000000"/>
                              </a:solidFill>
                              <a:latin typeface="Cambria Math" panose="02040503050406030204" pitchFamily="18" charset="0"/>
                              <a:cs typeface="Arial" panose="020B0604020202020204" pitchFamily="34" charset="0"/>
                            </a:rPr>
                            <m:t>500</m:t>
                          </m:r>
                        </m:den>
                      </m:f>
                      <m:r>
                        <a:rPr lang="en-US" sz="1800" b="0" i="1" smtClean="0">
                          <a:solidFill>
                            <a:srgbClr val="000000"/>
                          </a:solidFill>
                          <a:latin typeface="Cambria Math" panose="02040503050406030204" pitchFamily="18" charset="0"/>
                          <a:cs typeface="Arial" panose="020B0604020202020204" pitchFamily="34" charset="0"/>
                        </a:rPr>
                        <m:t>=</m:t>
                      </m:r>
                      <m:d>
                        <m:dPr>
                          <m:ctrlPr>
                            <a:rPr lang="en-US" sz="1800" b="0" i="1" smtClean="0">
                              <a:solidFill>
                                <a:srgbClr val="000000"/>
                              </a:solidFill>
                              <a:latin typeface="Cambria Math" panose="02040503050406030204" pitchFamily="18" charset="0"/>
                              <a:cs typeface="Arial" panose="020B0604020202020204" pitchFamily="34" charset="0"/>
                            </a:rPr>
                          </m:ctrlPr>
                        </m:dPr>
                        <m:e>
                          <m:r>
                            <a:rPr lang="en-US" sz="1800" b="0" i="1" smtClean="0">
                              <a:solidFill>
                                <a:srgbClr val="000000"/>
                              </a:solidFill>
                              <a:latin typeface="Cambria Math" panose="02040503050406030204" pitchFamily="18" charset="0"/>
                              <a:cs typeface="Arial" panose="020B0604020202020204" pitchFamily="34" charset="0"/>
                            </a:rPr>
                            <m:t>0.624</m:t>
                          </m:r>
                        </m:e>
                      </m:d>
                      <m:r>
                        <a:rPr lang="en-US" sz="1800" b="0" i="1" smtClean="0">
                          <a:solidFill>
                            <a:srgbClr val="000000"/>
                          </a:solidFill>
                          <a:latin typeface="Cambria Math" panose="02040503050406030204" pitchFamily="18" charset="0"/>
                          <a:cs typeface="Arial" panose="020B0604020202020204" pitchFamily="34" charset="0"/>
                        </a:rPr>
                        <m:t>125=78</m:t>
                      </m:r>
                    </m:oMath>
                  </m:oMathPara>
                </a14:m>
                <a:endParaRPr lang="en-US" sz="1800" dirty="0"/>
              </a:p>
              <a:p>
                <a:pPr>
                  <a:lnSpc>
                    <a:spcPct val="100000"/>
                  </a:lnSpc>
                  <a:spcBef>
                    <a:spcPts val="600"/>
                  </a:spcBef>
                </a:pPr>
                <a:r>
                  <a:rPr lang="en-US" sz="2000" dirty="0"/>
                  <a:t>Calculations of the remaining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r>
                      <a:rPr lang="en-US" sz="2000" b="0" i="1" smtClean="0">
                        <a:solidFill>
                          <a:srgbClr val="000000"/>
                        </a:solidFill>
                        <a:latin typeface="Cambria Math" panose="02040503050406030204" pitchFamily="18" charset="0"/>
                        <a:cs typeface="Arial" panose="020B0604020202020204" pitchFamily="34" charset="0"/>
                      </a:rPr>
                      <m:t> </m:t>
                    </m:r>
                  </m:oMath>
                </a14:m>
                <a:r>
                  <a:rPr lang="en-US" sz="2000" dirty="0"/>
                  <a:t>provides the full table of expected frequencies for those customers likely to repurchase their car model if </a:t>
                </a:r>
                <a:r>
                  <a:rPr lang="en-US" sz="2000" i="1" dirty="0"/>
                  <a:t>H</a:t>
                </a:r>
                <a:r>
                  <a:rPr lang="en-US" sz="2000" baseline="-25000" dirty="0"/>
                  <a:t>0</a:t>
                </a:r>
                <a:r>
                  <a:rPr lang="en-US" sz="2000" dirty="0"/>
                  <a:t> is true.</a:t>
                </a:r>
              </a:p>
            </p:txBody>
          </p:sp>
        </mc:Choice>
        <mc:Fallback xmlns="">
          <p:sp>
            <p:nvSpPr>
              <p:cNvPr id="4" name="Text Placeholder 3">
                <a:extLst>
                  <a:ext uri="{FF2B5EF4-FFF2-40B4-BE49-F238E27FC236}">
                    <a16:creationId xmlns:a16="http://schemas.microsoft.com/office/drawing/2014/main" id="{61498D8D-21DC-A3BA-0DE2-DCA40EE4D5F0}"/>
                  </a:ext>
                </a:extLst>
              </p:cNvPr>
              <p:cNvSpPr>
                <a:spLocks noGrp="1" noRot="1" noChangeAspect="1" noMove="1" noResize="1" noEditPoints="1" noAdjustHandles="1" noChangeArrowheads="1" noChangeShapeType="1" noTextEdit="1"/>
              </p:cNvSpPr>
              <p:nvPr>
                <p:ph type="body" sz="quarter" idx="18"/>
              </p:nvPr>
            </p:nvSpPr>
            <p:spPr>
              <a:xfrm>
                <a:off x="743576" y="3089252"/>
                <a:ext cx="10515332" cy="1734771"/>
              </a:xfrm>
              <a:blipFill>
                <a:blip r:embed="rId2"/>
                <a:stretch>
                  <a:fillRect l="-1507" t="-4225" b="-5282"/>
                </a:stretch>
              </a:blipFill>
            </p:spPr>
            <p:txBody>
              <a:bodyPr/>
              <a:lstStyle/>
              <a:p>
                <a:r>
                  <a:rPr lang="en-US">
                    <a:noFill/>
                  </a:rPr>
                  <a:t> </a:t>
                </a:r>
              </a:p>
            </p:txBody>
          </p:sp>
        </mc:Fallback>
      </mc:AlternateContent>
      <p:graphicFrame>
        <p:nvGraphicFramePr>
          <p:cNvPr id="13" name="Table 6">
            <a:extLst>
              <a:ext uri="{FF2B5EF4-FFF2-40B4-BE49-F238E27FC236}">
                <a16:creationId xmlns:a16="http://schemas.microsoft.com/office/drawing/2014/main" id="{0698037F-46E5-34F9-D29B-96A533DFFC69}"/>
              </a:ext>
            </a:extLst>
          </p:cNvPr>
          <p:cNvGraphicFramePr>
            <a:graphicFrameLocks noGrp="1"/>
          </p:cNvGraphicFramePr>
          <p:nvPr>
            <p:ph type="tbl" sz="quarter" idx="23"/>
            <p:extLst>
              <p:ext uri="{D42A27DB-BD31-4B8C-83A1-F6EECF244321}">
                <p14:modId xmlns:p14="http://schemas.microsoft.com/office/powerpoint/2010/main" val="2564235532"/>
              </p:ext>
            </p:extLst>
          </p:nvPr>
        </p:nvGraphicFramePr>
        <p:xfrm>
          <a:off x="1813117" y="4904472"/>
          <a:ext cx="8566017" cy="1244600"/>
        </p:xfrm>
        <a:graphic>
          <a:graphicData uri="http://schemas.openxmlformats.org/drawingml/2006/table">
            <a:tbl>
              <a:tblPr firstRow="1" bandRow="1">
                <a:tableStyleId>{5C22544A-7EE6-4342-B048-85BDC9FD1C3A}</a:tableStyleId>
              </a:tblPr>
              <a:tblGrid>
                <a:gridCol w="1782064">
                  <a:extLst>
                    <a:ext uri="{9D8B030D-6E8A-4147-A177-3AD203B41FA5}">
                      <a16:colId xmlns:a16="http://schemas.microsoft.com/office/drawing/2014/main" val="1154030393"/>
                    </a:ext>
                  </a:extLst>
                </a:gridCol>
                <a:gridCol w="1504586">
                  <a:extLst>
                    <a:ext uri="{9D8B030D-6E8A-4147-A177-3AD203B41FA5}">
                      <a16:colId xmlns:a16="http://schemas.microsoft.com/office/drawing/2014/main" val="2224544023"/>
                    </a:ext>
                  </a:extLst>
                </a:gridCol>
                <a:gridCol w="1504586">
                  <a:extLst>
                    <a:ext uri="{9D8B030D-6E8A-4147-A177-3AD203B41FA5}">
                      <a16:colId xmlns:a16="http://schemas.microsoft.com/office/drawing/2014/main" val="3009758269"/>
                    </a:ext>
                  </a:extLst>
                </a:gridCol>
                <a:gridCol w="1504586">
                  <a:extLst>
                    <a:ext uri="{9D8B030D-6E8A-4147-A177-3AD203B41FA5}">
                      <a16:colId xmlns:a16="http://schemas.microsoft.com/office/drawing/2014/main" val="1062070161"/>
                    </a:ext>
                  </a:extLst>
                </a:gridCol>
                <a:gridCol w="1504586">
                  <a:extLst>
                    <a:ext uri="{9D8B030D-6E8A-4147-A177-3AD203B41FA5}">
                      <a16:colId xmlns:a16="http://schemas.microsoft.com/office/drawing/2014/main" val="1037290666"/>
                    </a:ext>
                  </a:extLst>
                </a:gridCol>
                <a:gridCol w="765609">
                  <a:extLst>
                    <a:ext uri="{9D8B030D-6E8A-4147-A177-3AD203B41FA5}">
                      <a16:colId xmlns:a16="http://schemas.microsoft.com/office/drawing/2014/main" val="3977372447"/>
                    </a:ext>
                  </a:extLst>
                </a:gridCol>
              </a:tblGrid>
              <a:tr h="365760">
                <a:tc>
                  <a:txBody>
                    <a:bodyPr/>
                    <a:lstStyle/>
                    <a:p>
                      <a:pPr algn="ctr" fontAlgn="b"/>
                      <a:endParaRPr lang="en-US" sz="1600" b="1" i="0" u="none" strike="noStrike" dirty="0">
                        <a:solidFill>
                          <a:srgbClr val="000000"/>
                        </a:solidFill>
                        <a:effectLst/>
                        <a:latin typeface="+mn-lt"/>
                      </a:endParaRP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70C0"/>
                          </a:solidFill>
                          <a:effectLst/>
                          <a:latin typeface="+mn-lt"/>
                        </a:rPr>
                        <a:t>Automobile Owners </a:t>
                      </a:r>
                    </a:p>
                  </a:txBody>
                  <a:tcPr marL="6350" marR="6350" marT="635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Chevrolet Impala </a:t>
                      </a:r>
                    </a:p>
                  </a:txBody>
                  <a:tcPr marL="6350" marR="6350" marT="6350" marB="0" anchor="ctr">
                    <a:lnL w="19050" cap="flat" cmpd="sng" algn="ctr">
                      <a:solidFill>
                        <a:srgbClr val="0070C0"/>
                      </a:solidFill>
                      <a:prstDash val="solid"/>
                      <a:round/>
                      <a:headEnd type="none" w="med" len="med"/>
                      <a:tailEnd type="none" w="med" len="med"/>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Ford Fusion </a:t>
                      </a:r>
                    </a:p>
                  </a:txBody>
                  <a:tcPr marL="6350" marR="6350" marT="6350" marB="0" anchor="ctr">
                    <a:lnL w="12700" cmpd="sng">
                      <a:noFill/>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Honda Accord </a:t>
                      </a:r>
                    </a:p>
                  </a:txBody>
                  <a:tcPr marL="6350" marR="6350" marT="6350" marB="0" anchor="ctr">
                    <a:lnL w="12700" cmpd="sng">
                      <a:noFill/>
                    </a:lnL>
                    <a:lnR w="19050" cap="flat" cmpd="sng" algn="ctr">
                      <a:solidFill>
                        <a:srgbClr val="0070C0"/>
                      </a:solidFill>
                      <a:prstDash val="solid"/>
                      <a:round/>
                      <a:headEnd type="none" w="med" len="med"/>
                      <a:tailEnd type="none" w="med" len="med"/>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ctr"/>
                      <a:r>
                        <a:rPr lang="en-US" sz="1600" b="1" i="0" u="none" strike="noStrike" dirty="0">
                          <a:solidFill>
                            <a:srgbClr val="000000"/>
                          </a:solidFill>
                          <a:effectLst/>
                          <a:latin typeface="+mn-lt"/>
                        </a:rPr>
                        <a:t>Total </a:t>
                      </a:r>
                    </a:p>
                  </a:txBody>
                  <a:tcPr marL="6350" marR="6350" marT="6350" marB="0" anchor="ctr">
                    <a:lnL w="19050" cap="flat" cmpd="sng" algn="ctr">
                      <a:solidFill>
                        <a:srgbClr val="0070C0"/>
                      </a:solidFill>
                      <a:prstDash val="solid"/>
                      <a:round/>
                      <a:headEnd type="none" w="med" len="med"/>
                      <a:tailEnd type="none" w="med" len="med"/>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760181818"/>
                  </a:ext>
                </a:extLst>
              </a:tr>
              <a:tr h="10832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70C0"/>
                          </a:solidFill>
                          <a:effectLst/>
                          <a:latin typeface="+mn-lt"/>
                        </a:rPr>
                        <a:t>Likely to Repurchase</a:t>
                      </a:r>
                    </a:p>
                  </a:txBody>
                  <a:tcPr marL="6350" marR="6350" marT="6350" marB="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1" i="0" u="none" strike="noStrike" dirty="0">
                          <a:solidFill>
                            <a:srgbClr val="000000"/>
                          </a:solidFill>
                          <a:effectLst/>
                          <a:latin typeface="+mn-lt"/>
                        </a:rPr>
                        <a:t>Yes </a:t>
                      </a:r>
                    </a:p>
                  </a:txBody>
                  <a:tcPr marL="6350" marR="6350" marT="6350" marB="0" anchor="b">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	78</a:t>
                      </a:r>
                    </a:p>
                  </a:txBody>
                  <a:tcPr marL="6350" marR="6350" marT="6350" marB="0" anchor="b">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124.8</a:t>
                      </a:r>
                    </a:p>
                  </a:txBody>
                  <a:tcPr marL="6350" marR="6350" marT="6350" marB="0" anchor="b">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109.2</a:t>
                      </a:r>
                    </a:p>
                  </a:txBody>
                  <a:tcPr marL="6350" marR="6350" marT="6350" marB="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312</a:t>
                      </a:r>
                    </a:p>
                  </a:txBody>
                  <a:tcPr marL="6350" marR="6350" marT="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746081713"/>
                  </a:ext>
                </a:extLst>
              </a:tr>
              <a:tr h="108320">
                <a:tc>
                  <a:txBody>
                    <a:bodyPr/>
                    <a:lstStyle/>
                    <a:p>
                      <a:pPr algn="l" fontAlgn="b"/>
                      <a:endParaRPr lang="en-US" sz="1600" b="0" i="0" u="none" strike="noStrike" dirty="0">
                        <a:solidFill>
                          <a:srgbClr val="000000"/>
                        </a:solidFill>
                        <a:effectLst/>
                        <a:latin typeface="+mn-lt"/>
                      </a:endParaRPr>
                    </a:p>
                  </a:txBody>
                  <a:tcPr marL="6350" marR="6350" marT="6350" marB="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r>
                        <a:rPr lang="en-US" sz="1600" b="1" i="0" u="none" strike="noStrike" dirty="0">
                          <a:solidFill>
                            <a:srgbClr val="000000"/>
                          </a:solidFill>
                          <a:effectLst/>
                          <a:latin typeface="+mn-lt"/>
                        </a:rPr>
                        <a:t>No </a:t>
                      </a:r>
                    </a:p>
                  </a:txBody>
                  <a:tcPr marL="6350" marR="6350" marT="6350" marB="0" anchor="b">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	47</a:t>
                      </a:r>
                    </a:p>
                  </a:txBody>
                  <a:tcPr marL="6350" marR="6350" marT="6350" marB="0" anchor="b">
                    <a:lnL w="19050" cap="flat" cmpd="sng" algn="ctr">
                      <a:solidFill>
                        <a:srgbClr val="0070C0"/>
                      </a:solidFill>
                      <a:prstDash val="solid"/>
                      <a:round/>
                      <a:headEnd type="none" w="med" len="med"/>
                      <a:tailEnd type="none" w="med" len="med"/>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75.2</a:t>
                      </a:r>
                    </a:p>
                  </a:txBody>
                  <a:tcPr marL="6350" marR="6350" marT="6350" marB="0" anchor="b">
                    <a:lnL w="12700" cmpd="sng">
                      <a:noFill/>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65.8</a:t>
                      </a:r>
                    </a:p>
                  </a:txBody>
                  <a:tcPr marL="6350" marR="6350" marT="6350" marB="0" anchor="ctr">
                    <a:lnL w="12700" cmpd="sng">
                      <a:noFill/>
                    </a:lnL>
                    <a:lnR w="19050" cap="flat" cmpd="sng" algn="ctr">
                      <a:solidFill>
                        <a:srgbClr val="0070C0"/>
                      </a:solidFill>
                      <a:prstDash val="solid"/>
                      <a:round/>
                      <a:headEnd type="none" w="med" len="med"/>
                      <a:tailEnd type="none" w="med" len="med"/>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188</a:t>
                      </a:r>
                    </a:p>
                  </a:txBody>
                  <a:tcPr marL="6350" marR="6350" marT="6350" marB="0" anchor="ctr">
                    <a:lnL w="19050" cap="flat" cmpd="sng" algn="ctr">
                      <a:solidFill>
                        <a:srgbClr val="0070C0"/>
                      </a:solidFill>
                      <a:prstDash val="solid"/>
                      <a:round/>
                      <a:headEnd type="none" w="med" len="med"/>
                      <a:tailEnd type="none" w="med" len="med"/>
                    </a:lnL>
                    <a:lnR w="12700" cmpd="sng">
                      <a:noFill/>
                    </a:lnR>
                    <a:lnT w="127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124592133"/>
                  </a:ext>
                </a:extLst>
              </a:tr>
              <a:tr h="108320">
                <a:tc>
                  <a:txBody>
                    <a:bodyPr/>
                    <a:lstStyle/>
                    <a:p>
                      <a:pPr algn="l" fontAlgn="b">
                        <a:tabLst>
                          <a:tab pos="1147763" algn="r"/>
                        </a:tabLst>
                      </a:pPr>
                      <a:endParaRPr lang="en-US" sz="1600" b="0" i="0" u="none" strike="noStrike" dirty="0">
                        <a:solidFill>
                          <a:srgbClr val="000000"/>
                        </a:solidFill>
                        <a:effectLst/>
                        <a:latin typeface="+mn-lt"/>
                      </a:endParaRPr>
                    </a:p>
                  </a:txBody>
                  <a:tcPr marL="6350" marR="6350" marT="6350" marB="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600" b="0" i="0" u="none" strike="noStrike" dirty="0">
                          <a:solidFill>
                            <a:srgbClr val="000000"/>
                          </a:solidFill>
                          <a:effectLst/>
                          <a:latin typeface="+mn-lt"/>
                        </a:rPr>
                        <a:t>Total </a:t>
                      </a:r>
                    </a:p>
                  </a:txBody>
                  <a:tcPr marL="6350" marR="6350" marT="6350" marB="0" anchor="b">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147763" algn="r"/>
                        </a:tabLst>
                      </a:pPr>
                      <a:r>
                        <a:rPr lang="en-US" sz="1600" b="0" i="0" u="none" strike="noStrike" dirty="0">
                          <a:solidFill>
                            <a:srgbClr val="000000"/>
                          </a:solidFill>
                          <a:effectLst/>
                          <a:latin typeface="+mn-lt"/>
                        </a:rPr>
                        <a:t>	125</a:t>
                      </a:r>
                    </a:p>
                  </a:txBody>
                  <a:tcPr marL="6350" marR="6350" marT="6350" marB="0" anchor="b">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200</a:t>
                      </a:r>
                    </a:p>
                  </a:txBody>
                  <a:tcPr marL="6350" marR="6350" marT="6350" marB="0" anchor="b">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7113" algn="r"/>
                        </a:tabLst>
                      </a:pPr>
                      <a:r>
                        <a:rPr lang="en-US" sz="1600" b="0" i="0" u="none" strike="noStrike" kern="1200" dirty="0">
                          <a:solidFill>
                            <a:srgbClr val="000000"/>
                          </a:solidFill>
                          <a:effectLst/>
                          <a:latin typeface="+mn-lt"/>
                          <a:ea typeface="+mn-ea"/>
                          <a:cs typeface="+mn-cs"/>
                        </a:rPr>
                        <a:t>	175</a:t>
                      </a:r>
                    </a:p>
                  </a:txBody>
                  <a:tcPr marL="6350" marR="6350" marT="6350" marB="0" anchor="ctr">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30238" algn="r"/>
                        </a:tabLst>
                      </a:pPr>
                      <a:r>
                        <a:rPr lang="en-US" sz="1600" b="0" i="0" u="none" strike="noStrike" dirty="0">
                          <a:solidFill>
                            <a:srgbClr val="000000"/>
                          </a:solidFill>
                          <a:effectLst/>
                          <a:latin typeface="+mn-lt"/>
                        </a:rPr>
                        <a:t>	500</a:t>
                      </a:r>
                    </a:p>
                  </a:txBody>
                  <a:tcPr marL="6350" marR="6350" marT="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678366716"/>
                  </a:ext>
                </a:extLst>
              </a:tr>
            </a:tbl>
          </a:graphicData>
        </a:graphic>
      </p:graphicFrame>
    </p:spTree>
    <p:extLst>
      <p:ext uri="{BB962C8B-B14F-4D97-AF65-F5344CB8AC3E}">
        <p14:creationId xmlns:p14="http://schemas.microsoft.com/office/powerpoint/2010/main" val="3265453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235A2-7762-4D59-77C0-7ED187C353CA}"/>
              </a:ext>
            </a:extLst>
          </p:cNvPr>
          <p:cNvSpPr>
            <a:spLocks noGrp="1"/>
          </p:cNvSpPr>
          <p:nvPr>
            <p:ph type="title"/>
          </p:nvPr>
        </p:nvSpPr>
        <p:spPr/>
        <p:txBody>
          <a:bodyPr/>
          <a:lstStyle/>
          <a:p>
            <a:r>
              <a:rPr lang="en-US" dirty="0"/>
              <a:t>12.3 Calculation of the Chi-Square Statistic</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05EEECE-8682-61E7-01E1-C1EAE25467E9}"/>
                  </a:ext>
                </a:extLst>
              </p:cNvPr>
              <p:cNvSpPr>
                <a:spLocks noGrp="1"/>
              </p:cNvSpPr>
              <p:nvPr>
                <p:ph type="body" sz="quarter" idx="15"/>
              </p:nvPr>
            </p:nvSpPr>
            <p:spPr>
              <a:xfrm>
                <a:off x="743576" y="1337094"/>
                <a:ext cx="10610223" cy="1932317"/>
              </a:xfrm>
            </p:spPr>
            <p:txBody>
              <a:bodyPr/>
              <a:lstStyle/>
              <a:p>
                <a:r>
                  <a:rPr lang="en-US" sz="2000" dirty="0"/>
                  <a:t>A review of the expected frequencies table reveals that each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𝑒</m:t>
                        </m:r>
                      </m:e>
                      <m:sub>
                        <m:r>
                          <a:rPr lang="en-US" sz="2000" b="0" i="1" smtClean="0">
                            <a:solidFill>
                              <a:srgbClr val="000000"/>
                            </a:solidFill>
                            <a:latin typeface="Cambria Math" panose="02040503050406030204" pitchFamily="18" charset="0"/>
                            <a:cs typeface="Arial" panose="020B0604020202020204" pitchFamily="34" charset="0"/>
                          </a:rPr>
                          <m:t>𝑖𝑗</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≥5</m:t>
                    </m:r>
                  </m:oMath>
                </a14:m>
                <a:r>
                  <a:rPr lang="en-US" sz="2000" dirty="0"/>
                  <a:t>.</a:t>
                </a:r>
              </a:p>
              <a:p>
                <a:pPr>
                  <a:lnSpc>
                    <a:spcPct val="100000"/>
                  </a:lnSpc>
                  <a:spcBef>
                    <a:spcPts val="600"/>
                  </a:spcBef>
                  <a:spcAft>
                    <a:spcPts val="600"/>
                  </a:spcAft>
                </a:pPr>
                <a14:m>
                  <m:oMath xmlns:m="http://schemas.openxmlformats.org/officeDocument/2006/math">
                    <m:sSubSup>
                      <m:sSubSupPr>
                        <m:ctrlPr>
                          <a:rPr lang="en-US" sz="2000" i="1" smtClean="0">
                            <a:latin typeface="Cambria Math" panose="02040503050406030204" pitchFamily="18" charset="0"/>
                          </a:rPr>
                        </m:ctrlPr>
                      </m:sSubSupPr>
                      <m:e>
                        <m:r>
                          <a:rPr lang="el-GR" sz="2000" i="1" smtClean="0">
                            <a:latin typeface="Cambria Math" panose="02040503050406030204" pitchFamily="18" charset="0"/>
                            <a:ea typeface="Cambria Math" panose="02040503050406030204" pitchFamily="18" charset="0"/>
                          </a:rPr>
                          <m:t>𝛸</m:t>
                        </m:r>
                      </m:e>
                      <m:sub>
                        <m:r>
                          <a:rPr lang="en-US" sz="2000" b="0" i="1" smtClean="0">
                            <a:latin typeface="Cambria Math" panose="02040503050406030204" pitchFamily="18" charset="0"/>
                          </a:rPr>
                          <m:t>11</m:t>
                        </m:r>
                      </m:sub>
                      <m:sup>
                        <m:r>
                          <a:rPr lang="en-US" sz="2000" b="0" i="1" smtClean="0">
                            <a:latin typeface="Cambria Math" panose="02040503050406030204" pitchFamily="18" charset="0"/>
                          </a:rPr>
                          <m:t>2</m:t>
                        </m:r>
                      </m:sup>
                    </m:sSubSup>
                  </m:oMath>
                </a14:m>
                <a:r>
                  <a:rPr lang="en-US" sz="2000" dirty="0"/>
                  <a:t>, the chi-square component of Impala owners likely to repurchase, is calculated as follows</a:t>
                </a:r>
              </a:p>
              <a:p>
                <a:pPr marL="914400">
                  <a:spcAft>
                    <a:spcPts val="600"/>
                  </a:spcAft>
                </a:pPr>
                <a14:m>
                  <m:oMathPara xmlns:m="http://schemas.openxmlformats.org/officeDocument/2006/math">
                    <m:oMathParaPr>
                      <m:jc m:val="left"/>
                    </m:oMathParaPr>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rPr>
                            <m:t>11</m:t>
                          </m:r>
                        </m:sub>
                        <m:sup>
                          <m:r>
                            <a:rPr lang="en-US" sz="2000" i="1">
                              <a:latin typeface="Cambria Math" panose="02040503050406030204" pitchFamily="18" charset="0"/>
                            </a:rPr>
                            <m:t>2</m:t>
                          </m:r>
                        </m:sup>
                      </m:sSubSup>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𝑓</m:t>
                                      </m:r>
                                    </m:e>
                                    <m:sub>
                                      <m:r>
                                        <a:rPr lang="en-US" sz="2000" b="0" i="1" smtClean="0">
                                          <a:latin typeface="Cambria Math" panose="02040503050406030204" pitchFamily="18" charset="0"/>
                                          <a:cs typeface="Arial" panose="020B0604020202020204" pitchFamily="34" charset="0"/>
                                        </a:rPr>
                                        <m:t>11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𝑒</m:t>
                                      </m:r>
                                    </m:e>
                                    <m:sub>
                                      <m:r>
                                        <a:rPr lang="en-US" sz="2000" b="0" i="1" smtClean="0">
                                          <a:latin typeface="Cambria Math" panose="02040503050406030204" pitchFamily="18" charset="0"/>
                                          <a:cs typeface="Arial" panose="020B0604020202020204" pitchFamily="34" charset="0"/>
                                        </a:rPr>
                                        <m:t>11</m:t>
                                      </m:r>
                                    </m:sub>
                                  </m:sSub>
                                </m:e>
                              </m:d>
                            </m:e>
                            <m:sup>
                              <m:r>
                                <a:rPr lang="en-US" sz="2000" i="1">
                                  <a:latin typeface="Cambria Math" panose="02040503050406030204" pitchFamily="18" charset="0"/>
                                  <a:cs typeface="Arial" panose="020B0604020202020204" pitchFamily="34" charset="0"/>
                                </a:rPr>
                                <m:t>2</m:t>
                              </m:r>
                            </m:sup>
                          </m:sSup>
                        </m:num>
                        <m:den>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𝑒</m:t>
                              </m:r>
                            </m:e>
                            <m:sub>
                              <m:r>
                                <a:rPr lang="en-US" sz="2000" b="0" i="1" smtClean="0">
                                  <a:latin typeface="Cambria Math" panose="02040503050406030204" pitchFamily="18" charset="0"/>
                                  <a:cs typeface="Arial" panose="020B0604020202020204" pitchFamily="34" charset="0"/>
                                </a:rPr>
                                <m:t>11</m:t>
                              </m:r>
                            </m:sub>
                          </m:sSub>
                        </m:den>
                      </m:f>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69</m:t>
                                  </m:r>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78</m:t>
                                  </m:r>
                                </m:e>
                              </m:d>
                            </m:e>
                            <m:sup>
                              <m:r>
                                <a:rPr lang="en-US" sz="2000" i="1">
                                  <a:latin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cs typeface="Arial" panose="020B0604020202020204" pitchFamily="34" charset="0"/>
                            </a:rPr>
                            <m:t>78</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−9</m:t>
                                  </m:r>
                                </m:e>
                              </m:d>
                            </m:e>
                            <m:sup>
                              <m:r>
                                <a:rPr lang="en-US" sz="2000" b="0" i="1" smtClean="0">
                                  <a:latin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cs typeface="Arial" panose="020B0604020202020204" pitchFamily="34" charset="0"/>
                            </a:rPr>
                            <m:t>78</m:t>
                          </m:r>
                        </m:den>
                      </m:f>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81</m:t>
                          </m:r>
                        </m:num>
                        <m:den>
                          <m:r>
                            <a:rPr lang="en-US" sz="2000" i="1">
                              <a:latin typeface="Cambria Math" panose="02040503050406030204" pitchFamily="18" charset="0"/>
                              <a:cs typeface="Arial" panose="020B0604020202020204" pitchFamily="34" charset="0"/>
                            </a:rPr>
                            <m:t>78</m:t>
                          </m:r>
                        </m:den>
                      </m:f>
                      <m:r>
                        <a:rPr lang="en-US" sz="2000" b="0" i="1" smtClean="0">
                          <a:latin typeface="Cambria Math" panose="02040503050406030204" pitchFamily="18" charset="0"/>
                          <a:cs typeface="Arial" panose="020B0604020202020204" pitchFamily="34" charset="0"/>
                        </a:rPr>
                        <m:t>=1.04</m:t>
                      </m:r>
                    </m:oMath>
                  </m:oMathPara>
                </a14:m>
                <a:endParaRPr lang="en-US" sz="2000" dirty="0"/>
              </a:p>
              <a:p>
                <a:pPr>
                  <a:lnSpc>
                    <a:spcPct val="100000"/>
                  </a:lnSpc>
                  <a:spcBef>
                    <a:spcPts val="600"/>
                  </a:spcBef>
                  <a:spcAft>
                    <a:spcPts val="600"/>
                  </a:spcAft>
                </a:pPr>
                <a:r>
                  <a:rPr lang="en-US" sz="2000" dirty="0"/>
                  <a:t>The chi-square test statistic,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=7.89</m:t>
                    </m:r>
                  </m:oMath>
                </a14:m>
                <a:r>
                  <a:rPr lang="en-US" sz="2000" dirty="0"/>
                  <a:t>, is the sum of the six chi-square components.</a:t>
                </a:r>
              </a:p>
            </p:txBody>
          </p:sp>
        </mc:Choice>
        <mc:Fallback xmlns="">
          <p:sp>
            <p:nvSpPr>
              <p:cNvPr id="3" name="Text Placeholder 2">
                <a:extLst>
                  <a:ext uri="{FF2B5EF4-FFF2-40B4-BE49-F238E27FC236}">
                    <a16:creationId xmlns:a16="http://schemas.microsoft.com/office/drawing/2014/main" id="{605EEECE-8682-61E7-01E1-C1EAE25467E9}"/>
                  </a:ext>
                </a:extLst>
              </p:cNvPr>
              <p:cNvSpPr>
                <a:spLocks noGrp="1" noRot="1" noChangeAspect="1" noMove="1" noResize="1" noEditPoints="1" noAdjustHandles="1" noChangeArrowheads="1" noChangeShapeType="1" noTextEdit="1"/>
              </p:cNvSpPr>
              <p:nvPr>
                <p:ph type="body" sz="quarter" idx="15"/>
              </p:nvPr>
            </p:nvSpPr>
            <p:spPr>
              <a:xfrm>
                <a:off x="743576" y="1337094"/>
                <a:ext cx="10610223" cy="1932317"/>
              </a:xfrm>
              <a:blipFill>
                <a:blip r:embed="rId2"/>
                <a:stretch>
                  <a:fillRect l="-1494" t="-4101" b="-7256"/>
                </a:stretch>
              </a:blipFill>
            </p:spPr>
            <p:txBody>
              <a:bodyPr/>
              <a:lstStyle/>
              <a:p>
                <a:r>
                  <a:rPr lang="en-US">
                    <a:noFill/>
                  </a:rPr>
                  <a:t> </a:t>
                </a:r>
              </a:p>
            </p:txBody>
          </p:sp>
        </mc:Fallback>
      </mc:AlternateContent>
      <p:graphicFrame>
        <p:nvGraphicFramePr>
          <p:cNvPr id="5" name="Table 6">
            <a:extLst>
              <a:ext uri="{FF2B5EF4-FFF2-40B4-BE49-F238E27FC236}">
                <a16:creationId xmlns:a16="http://schemas.microsoft.com/office/drawing/2014/main" id="{A1F278D5-726E-AB06-4DB1-88A61D3C2217}"/>
              </a:ext>
            </a:extLst>
          </p:cNvPr>
          <p:cNvGraphicFramePr>
            <a:graphicFrameLocks noGrp="1"/>
          </p:cNvGraphicFramePr>
          <p:nvPr>
            <p:ph type="tbl" sz="quarter" idx="16"/>
          </p:nvPr>
        </p:nvGraphicFramePr>
        <p:xfrm>
          <a:off x="1513647" y="3368618"/>
          <a:ext cx="9164708" cy="252984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3331846321"/>
                    </a:ext>
                  </a:extLst>
                </a:gridCol>
                <a:gridCol w="1112808">
                  <a:extLst>
                    <a:ext uri="{9D8B030D-6E8A-4147-A177-3AD203B41FA5}">
                      <a16:colId xmlns:a16="http://schemas.microsoft.com/office/drawing/2014/main" val="2394714925"/>
                    </a:ext>
                  </a:extLst>
                </a:gridCol>
                <a:gridCol w="1078878">
                  <a:extLst>
                    <a:ext uri="{9D8B030D-6E8A-4147-A177-3AD203B41FA5}">
                      <a16:colId xmlns:a16="http://schemas.microsoft.com/office/drawing/2014/main" val="2549020119"/>
                    </a:ext>
                  </a:extLst>
                </a:gridCol>
                <a:gridCol w="1078878">
                  <a:extLst>
                    <a:ext uri="{9D8B030D-6E8A-4147-A177-3AD203B41FA5}">
                      <a16:colId xmlns:a16="http://schemas.microsoft.com/office/drawing/2014/main" val="86001883"/>
                    </a:ext>
                  </a:extLst>
                </a:gridCol>
                <a:gridCol w="1036326">
                  <a:extLst>
                    <a:ext uri="{9D8B030D-6E8A-4147-A177-3AD203B41FA5}">
                      <a16:colId xmlns:a16="http://schemas.microsoft.com/office/drawing/2014/main" val="2871899978"/>
                    </a:ext>
                  </a:extLst>
                </a:gridCol>
                <a:gridCol w="1137531">
                  <a:extLst>
                    <a:ext uri="{9D8B030D-6E8A-4147-A177-3AD203B41FA5}">
                      <a16:colId xmlns:a16="http://schemas.microsoft.com/office/drawing/2014/main" val="1588154519"/>
                    </a:ext>
                  </a:extLst>
                </a:gridCol>
                <a:gridCol w="2440127">
                  <a:extLst>
                    <a:ext uri="{9D8B030D-6E8A-4147-A177-3AD203B41FA5}">
                      <a16:colId xmlns:a16="http://schemas.microsoft.com/office/drawing/2014/main" val="3084839578"/>
                    </a:ext>
                  </a:extLst>
                </a:gridCol>
              </a:tblGrid>
              <a:tr h="725397">
                <a:tc>
                  <a:txBody>
                    <a:bodyPr/>
                    <a:lstStyle/>
                    <a:p>
                      <a:pPr marL="112713" indent="0" algn="l" fontAlgn="b"/>
                      <a:r>
                        <a:rPr lang="en-US" sz="1600" b="1" i="0" u="none" strike="noStrike" dirty="0">
                          <a:solidFill>
                            <a:srgbClr val="000000"/>
                          </a:solidFill>
                          <a:effectLst/>
                          <a:latin typeface="+mn-lt"/>
                        </a:rPr>
                        <a:t>Likely to Repurchase?</a:t>
                      </a: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Automobile Owner</a:t>
                      </a: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1" i="0" u="none" strike="noStrike" dirty="0">
                          <a:solidFill>
                            <a:srgbClr val="000000"/>
                          </a:solidFill>
                          <a:effectLst/>
                          <a:latin typeface="+mn-lt"/>
                        </a:rPr>
                        <a:t>Observed Frequency</a:t>
                      </a:r>
                    </a:p>
                    <a:p>
                      <a:pPr algn="ctr" fontAlgn="ctr"/>
                      <a:r>
                        <a:rPr lang="en-US" sz="1600" b="1" i="1" u="none" strike="noStrike" dirty="0" err="1">
                          <a:solidFill>
                            <a:srgbClr val="000000"/>
                          </a:solidFill>
                          <a:effectLst/>
                          <a:latin typeface="+mn-lt"/>
                        </a:rPr>
                        <a:t>f</a:t>
                      </a:r>
                      <a:r>
                        <a:rPr lang="en-US" sz="1600" b="1" i="0" u="none" strike="noStrike" baseline="-25000" dirty="0" err="1">
                          <a:solidFill>
                            <a:srgbClr val="000000"/>
                          </a:solidFill>
                          <a:effectLst/>
                          <a:latin typeface="+mn-lt"/>
                        </a:rPr>
                        <a:t>ii</a:t>
                      </a:r>
                      <a:endParaRPr lang="en-US" sz="1600" b="1" i="0" u="none" strike="noStrike" baseline="-25000" dirty="0">
                        <a:solidFill>
                          <a:srgbClr val="000000"/>
                        </a:solidFill>
                        <a:effectLst/>
                        <a:latin typeface="+mn-lt"/>
                      </a:endParaRPr>
                    </a:p>
                  </a:txBody>
                  <a:tcPr marL="0" marR="0" marT="0" marB="9144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1" i="0" u="none" strike="noStrike" dirty="0">
                          <a:solidFill>
                            <a:srgbClr val="000000"/>
                          </a:solidFill>
                          <a:effectLst/>
                          <a:latin typeface="+mn-lt"/>
                        </a:rPr>
                        <a:t>Expected Frequency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endParaRPr lang="en-US" sz="1600" b="1" i="0" u="none" strike="noStrike" baseline="-25000" dirty="0">
                        <a:solidFill>
                          <a:srgbClr val="000000"/>
                        </a:solidFill>
                        <a:effectLst/>
                        <a:latin typeface="+mn-lt"/>
                      </a:endParaRPr>
                    </a:p>
                  </a:txBody>
                  <a:tcPr marL="0" marR="0" marT="0" marB="9144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Difference</a:t>
                      </a:r>
                    </a:p>
                    <a:p>
                      <a:pPr algn="ctr" fontAlgn="b"/>
                      <a:r>
                        <a:rPr lang="en-US" sz="1600" b="1" i="1" u="none" strike="noStrike" dirty="0" err="1">
                          <a:solidFill>
                            <a:srgbClr val="000000"/>
                          </a:solidFill>
                          <a:effectLst/>
                          <a:latin typeface="+mn-lt"/>
                        </a:rPr>
                        <a:t>f</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endParaRPr lang="en-US" sz="1600" b="1" i="0" u="none" strike="noStrike" dirty="0">
                        <a:solidFill>
                          <a:srgbClr val="000000"/>
                        </a:solidFill>
                        <a:effectLst/>
                        <a:latin typeface="+mn-lt"/>
                      </a:endParaRP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Squared Difference</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mn-lt"/>
                        </a:rPr>
                        <a:t>(</a:t>
                      </a:r>
                      <a:r>
                        <a:rPr lang="en-US" sz="1600" b="1" i="1" u="none" strike="noStrike" dirty="0" err="1">
                          <a:solidFill>
                            <a:srgbClr val="000000"/>
                          </a:solidFill>
                          <a:effectLst/>
                          <a:latin typeface="+mn-lt"/>
                        </a:rPr>
                        <a:t>f</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a:t>
                      </a:r>
                      <a:r>
                        <a:rPr lang="en-US" sz="1600" b="1" i="0" u="none" strike="noStrike" baseline="30000" dirty="0">
                          <a:solidFill>
                            <a:srgbClr val="000000"/>
                          </a:solidFill>
                          <a:effectLst/>
                          <a:latin typeface="+mn-lt"/>
                        </a:rPr>
                        <a:t>2</a:t>
                      </a: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Squared Difference Divided by Expected Frequency</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mn-lt"/>
                        </a:rPr>
                        <a:t>(</a:t>
                      </a:r>
                      <a:r>
                        <a:rPr lang="en-US" sz="1600" b="1" i="1" u="none" strike="noStrike" dirty="0" err="1">
                          <a:solidFill>
                            <a:srgbClr val="000000"/>
                          </a:solidFill>
                          <a:effectLst/>
                          <a:latin typeface="+mn-lt"/>
                        </a:rPr>
                        <a:t>f</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r>
                        <a:rPr lang="en-US" sz="1600" b="1" i="0" u="none" strike="noStrike" dirty="0">
                          <a:solidFill>
                            <a:srgbClr val="000000"/>
                          </a:solidFill>
                          <a:effectLst/>
                          <a:latin typeface="+mn-lt"/>
                        </a:rPr>
                        <a:t>)</a:t>
                      </a:r>
                      <a:r>
                        <a:rPr lang="en-US" sz="1600" b="1" i="0" u="none" strike="noStrike" baseline="30000" dirty="0">
                          <a:solidFill>
                            <a:srgbClr val="000000"/>
                          </a:solidFill>
                          <a:effectLst/>
                          <a:latin typeface="+mn-lt"/>
                        </a:rPr>
                        <a:t>2</a:t>
                      </a:r>
                      <a:r>
                        <a:rPr lang="en-US" sz="1600" b="1" i="0" u="none" strike="noStrike" baseline="0" dirty="0">
                          <a:solidFill>
                            <a:srgbClr val="000000"/>
                          </a:solidFill>
                          <a:effectLst/>
                          <a:latin typeface="+mn-lt"/>
                        </a:rPr>
                        <a:t> / </a:t>
                      </a:r>
                      <a:r>
                        <a:rPr lang="en-US" sz="1600" b="1" i="1" u="none" strike="noStrike" dirty="0" err="1">
                          <a:solidFill>
                            <a:srgbClr val="000000"/>
                          </a:solidFill>
                          <a:effectLst/>
                          <a:latin typeface="+mn-lt"/>
                        </a:rPr>
                        <a:t>e</a:t>
                      </a:r>
                      <a:r>
                        <a:rPr lang="en-US" sz="1600" b="1" i="0" u="none" strike="noStrike" baseline="-25000" dirty="0" err="1">
                          <a:solidFill>
                            <a:srgbClr val="000000"/>
                          </a:solidFill>
                          <a:effectLst/>
                          <a:latin typeface="+mn-lt"/>
                        </a:rPr>
                        <a:t>ii</a:t>
                      </a:r>
                      <a:endParaRPr lang="en-US" sz="1600" b="1" i="0" u="none" strike="noStrike" baseline="0" dirty="0">
                        <a:solidFill>
                          <a:srgbClr val="000000"/>
                        </a:solidFill>
                        <a:effectLst/>
                        <a:latin typeface="+mn-lt"/>
                      </a:endParaRPr>
                    </a:p>
                  </a:txBody>
                  <a:tcPr marL="0" marR="0" marT="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4126492"/>
                  </a:ext>
                </a:extLst>
              </a:tr>
              <a:tr h="214933">
                <a:tc>
                  <a:txBody>
                    <a:bodyPr/>
                    <a:lstStyle/>
                    <a:p>
                      <a:pPr marL="112713" indent="0" algn="l" fontAlgn="b"/>
                      <a:r>
                        <a:rPr lang="en-US" sz="1600" b="0" i="0" u="none" strike="noStrike" dirty="0">
                          <a:solidFill>
                            <a:srgbClr val="000000"/>
                          </a:solidFill>
                          <a:effectLst/>
                          <a:latin typeface="+mn-lt"/>
                        </a:rPr>
                        <a:t>Yes</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Impala</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90563" algn="r"/>
                        </a:tabLst>
                      </a:pPr>
                      <a:r>
                        <a:rPr lang="en-US" sz="1600" b="0" i="0" u="none" strike="noStrike" dirty="0">
                          <a:solidFill>
                            <a:srgbClr val="000000"/>
                          </a:solidFill>
                          <a:effectLst/>
                          <a:latin typeface="+mn-lt"/>
                        </a:rPr>
                        <a:t>	69</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78</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-9.0</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74725" algn="r"/>
                        </a:tabLst>
                      </a:pPr>
                      <a:r>
                        <a:rPr lang="en-US" sz="1600" b="0" i="0" u="none" strike="noStrike" kern="1200" dirty="0">
                          <a:solidFill>
                            <a:srgbClr val="000000"/>
                          </a:solidFill>
                          <a:effectLst/>
                          <a:latin typeface="+mn-lt"/>
                          <a:ea typeface="+mn-ea"/>
                          <a:cs typeface="+mn-cs"/>
                        </a:rPr>
                        <a:t>	81.00</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1.04</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853710879"/>
                  </a:ext>
                </a:extLst>
              </a:tr>
              <a:tr h="214933">
                <a:tc>
                  <a:txBody>
                    <a:bodyPr/>
                    <a:lstStyle/>
                    <a:p>
                      <a:pPr marL="112713" indent="0" algn="l" fontAlgn="b"/>
                      <a:r>
                        <a:rPr lang="en-US" sz="1600" b="0" i="0" u="none" strike="noStrike" dirty="0">
                          <a:solidFill>
                            <a:srgbClr val="000000"/>
                          </a:solidFill>
                          <a:effectLst/>
                          <a:latin typeface="+mn-lt"/>
                        </a:rPr>
                        <a:t>Yes</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Fusion</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90563" algn="r"/>
                        </a:tabLst>
                      </a:pPr>
                      <a:r>
                        <a:rPr lang="en-US" sz="1600" b="0" i="0" u="none" strike="noStrike" dirty="0">
                          <a:solidFill>
                            <a:srgbClr val="000000"/>
                          </a:solidFill>
                          <a:effectLst/>
                          <a:latin typeface="+mn-lt"/>
                        </a:rPr>
                        <a:t>	120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124.8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-4.8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74725" algn="r"/>
                        </a:tabLst>
                      </a:pPr>
                      <a:r>
                        <a:rPr lang="en-US" sz="1600" b="0" i="0" u="none" strike="noStrike" kern="1200" dirty="0">
                          <a:solidFill>
                            <a:srgbClr val="000000"/>
                          </a:solidFill>
                          <a:effectLst/>
                          <a:latin typeface="+mn-lt"/>
                          <a:ea typeface="+mn-ea"/>
                          <a:cs typeface="+mn-cs"/>
                        </a:rPr>
                        <a:t>	23.04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0.18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15892803"/>
                  </a:ext>
                </a:extLst>
              </a:tr>
              <a:tr h="214933">
                <a:tc>
                  <a:txBody>
                    <a:bodyPr/>
                    <a:lstStyle/>
                    <a:p>
                      <a:pPr marL="112713" indent="0" algn="l" fontAlgn="b"/>
                      <a:r>
                        <a:rPr lang="en-US" sz="1600" b="0" i="0" u="none" strike="noStrike" dirty="0">
                          <a:solidFill>
                            <a:srgbClr val="000000"/>
                          </a:solidFill>
                          <a:effectLst/>
                          <a:latin typeface="+mn-lt"/>
                        </a:rPr>
                        <a:t>Yes</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mn-lt"/>
                        </a:rPr>
                        <a:t>Accord</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90563" algn="r"/>
                        </a:tabLst>
                      </a:pPr>
                      <a:r>
                        <a:rPr lang="en-US" sz="1600" b="0" i="0" u="none" strike="noStrike" dirty="0">
                          <a:solidFill>
                            <a:srgbClr val="000000"/>
                          </a:solidFill>
                          <a:effectLst/>
                          <a:latin typeface="+mn-lt"/>
                        </a:rPr>
                        <a:t>	123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109.2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13.8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74725" algn="r"/>
                        </a:tabLst>
                      </a:pPr>
                      <a:r>
                        <a:rPr lang="en-US" sz="1600" b="0" i="0" u="none" strike="noStrike" kern="1200" dirty="0">
                          <a:solidFill>
                            <a:srgbClr val="000000"/>
                          </a:solidFill>
                          <a:effectLst/>
                          <a:latin typeface="+mn-lt"/>
                          <a:ea typeface="+mn-ea"/>
                          <a:cs typeface="+mn-cs"/>
                        </a:rPr>
                        <a:t>	190.44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1.74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750617046"/>
                  </a:ext>
                </a:extLst>
              </a:tr>
              <a:tr h="214933">
                <a:tc>
                  <a:txBody>
                    <a:bodyPr/>
                    <a:lstStyle/>
                    <a:p>
                      <a:pPr marL="112713" indent="0" algn="l" fontAlgn="b"/>
                      <a:r>
                        <a:rPr lang="en-US" sz="1600" b="0" i="0" u="none" strike="noStrike" dirty="0">
                          <a:solidFill>
                            <a:srgbClr val="000000"/>
                          </a:solidFill>
                          <a:effectLst/>
                          <a:latin typeface="+mn-lt"/>
                        </a:rPr>
                        <a:t>No</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Impala</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90563" algn="r"/>
                        </a:tabLst>
                      </a:pPr>
                      <a:r>
                        <a:rPr lang="en-US" sz="1600" b="0" i="0" u="none" strike="noStrike" dirty="0">
                          <a:solidFill>
                            <a:srgbClr val="000000"/>
                          </a:solidFill>
                          <a:effectLst/>
                          <a:latin typeface="+mn-lt"/>
                        </a:rPr>
                        <a:t>	56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47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9.0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74725" algn="r"/>
                        </a:tabLst>
                      </a:pPr>
                      <a:r>
                        <a:rPr lang="en-US" sz="1600" b="0" i="0" u="none" strike="noStrike" kern="1200" dirty="0">
                          <a:solidFill>
                            <a:srgbClr val="000000"/>
                          </a:solidFill>
                          <a:effectLst/>
                          <a:latin typeface="+mn-lt"/>
                          <a:ea typeface="+mn-ea"/>
                          <a:cs typeface="+mn-cs"/>
                        </a:rPr>
                        <a:t>	81.00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1.72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559400752"/>
                  </a:ext>
                </a:extLst>
              </a:tr>
              <a:tr h="214933">
                <a:tc>
                  <a:txBody>
                    <a:bodyPr/>
                    <a:lstStyle/>
                    <a:p>
                      <a:pPr marL="112713" indent="0" algn="l" fontAlgn="b"/>
                      <a:r>
                        <a:rPr lang="en-US" sz="1600" b="0" i="0" u="none" strike="noStrike" dirty="0">
                          <a:solidFill>
                            <a:srgbClr val="000000"/>
                          </a:solidFill>
                          <a:effectLst/>
                          <a:latin typeface="+mn-lt"/>
                        </a:rPr>
                        <a:t>No</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Fusion</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90563" algn="r"/>
                        </a:tabLst>
                      </a:pPr>
                      <a:r>
                        <a:rPr lang="en-US" sz="1600" b="0" i="0" u="none" strike="noStrike" dirty="0">
                          <a:solidFill>
                            <a:srgbClr val="000000"/>
                          </a:solidFill>
                          <a:effectLst/>
                          <a:latin typeface="+mn-lt"/>
                        </a:rPr>
                        <a:t>	80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75.2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4.8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74725" algn="r"/>
                        </a:tabLst>
                      </a:pPr>
                      <a:r>
                        <a:rPr lang="en-US" sz="1600" b="0" i="0" u="none" strike="noStrike" kern="1200" dirty="0">
                          <a:solidFill>
                            <a:srgbClr val="000000"/>
                          </a:solidFill>
                          <a:effectLst/>
                          <a:latin typeface="+mn-lt"/>
                          <a:ea typeface="+mn-ea"/>
                          <a:cs typeface="+mn-cs"/>
                        </a:rPr>
                        <a:t>	23.04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0.31</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719045319"/>
                  </a:ext>
                </a:extLst>
              </a:tr>
              <a:tr h="214933">
                <a:tc>
                  <a:txBody>
                    <a:bodyPr/>
                    <a:lstStyle/>
                    <a:p>
                      <a:pPr marL="112713" indent="0" algn="l" fontAlgn="b"/>
                      <a:r>
                        <a:rPr lang="en-US" sz="1600" b="0" i="0" u="none" strike="noStrike" dirty="0">
                          <a:solidFill>
                            <a:srgbClr val="000000"/>
                          </a:solidFill>
                          <a:effectLst/>
                          <a:latin typeface="+mn-lt"/>
                        </a:rPr>
                        <a:t>No</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Accord</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90563" algn="r"/>
                        </a:tabLst>
                      </a:pPr>
                      <a:r>
                        <a:rPr lang="en-US" sz="1600" b="0" i="0" u="none" strike="noStrike" dirty="0">
                          <a:solidFill>
                            <a:srgbClr val="000000"/>
                          </a:solidFill>
                          <a:effectLst/>
                          <a:latin typeface="+mn-lt"/>
                        </a:rPr>
                        <a:t>	</a:t>
                      </a:r>
                      <a:r>
                        <a:rPr lang="en-US" sz="1600" b="0" i="0" u="sng" strike="noStrike" dirty="0">
                          <a:solidFill>
                            <a:srgbClr val="000000"/>
                          </a:solidFill>
                          <a:effectLst/>
                          <a:latin typeface="+mn-lt"/>
                        </a:rPr>
                        <a:t>   52</a:t>
                      </a:r>
                    </a:p>
                  </a:txBody>
                  <a:tcPr marL="0" marR="0" marT="0" marB="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a:t>
                      </a:r>
                      <a:r>
                        <a:rPr lang="en-US" sz="1600" b="0" i="0" u="sng" strike="noStrike" kern="1200" dirty="0">
                          <a:solidFill>
                            <a:srgbClr val="000000"/>
                          </a:solidFill>
                          <a:effectLst/>
                          <a:latin typeface="+mn-lt"/>
                          <a:ea typeface="+mn-ea"/>
                          <a:cs typeface="+mn-cs"/>
                        </a:rPr>
                        <a:t> 65.8</a:t>
                      </a:r>
                    </a:p>
                  </a:txBody>
                  <a:tcPr marL="0" marR="0" marT="0" marB="0" anchor="b">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-13.8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974725" algn="r"/>
                        </a:tabLst>
                      </a:pPr>
                      <a:r>
                        <a:rPr lang="en-US" sz="1600" b="0" i="0" u="none" strike="noStrike" kern="1200" dirty="0">
                          <a:solidFill>
                            <a:srgbClr val="000000"/>
                          </a:solidFill>
                          <a:effectLst/>
                          <a:latin typeface="+mn-lt"/>
                          <a:ea typeface="+mn-ea"/>
                          <a:cs typeface="+mn-cs"/>
                        </a:rPr>
                        <a:t>	190.44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sng" strike="noStrike" dirty="0">
                          <a:solidFill>
                            <a:srgbClr val="000000"/>
                          </a:solidFill>
                          <a:effectLst/>
                          <a:latin typeface="+mn-lt"/>
                        </a:rPr>
                        <a:t>2.89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42940897"/>
                  </a:ext>
                </a:extLst>
              </a:tr>
              <a:tr h="214933">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Total</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ctr">
                        <a:tabLst>
                          <a:tab pos="690563" algn="r"/>
                        </a:tabLst>
                      </a:pPr>
                      <a:r>
                        <a:rPr lang="en-US" sz="1600" b="0" i="0" u="none" strike="noStrike" dirty="0">
                          <a:solidFill>
                            <a:srgbClr val="000000"/>
                          </a:solidFill>
                          <a:effectLst/>
                          <a:latin typeface="+mn-lt"/>
                        </a:rPr>
                        <a:t>	500</a:t>
                      </a:r>
                    </a:p>
                  </a:txBody>
                  <a:tcPr marL="0" marR="0" marT="0" marB="0" anchor="ctr">
                    <a:lnL w="12700" cmpd="sng">
                      <a:noFill/>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500</a:t>
                      </a:r>
                    </a:p>
                  </a:txBody>
                  <a:tcPr marL="0" marR="0" marT="0" marB="0" anchor="b">
                    <a:lnL w="12700" cmpd="sng">
                      <a:noFill/>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mn-lt"/>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630238" algn="l"/>
                        </a:tabLst>
                      </a:pPr>
                      <a:r>
                        <a:rPr lang="en-US" sz="1600" b="0" i="1" u="none" strike="noStrike" dirty="0">
                          <a:solidFill>
                            <a:srgbClr val="000000"/>
                          </a:solidFill>
                          <a:effectLst/>
                          <a:latin typeface="+mn-lt"/>
                        </a:rPr>
                        <a:t>	 </a:t>
                      </a:r>
                      <a:r>
                        <a:rPr lang="el-GR" sz="1600" b="0" i="1" u="none" strike="noStrike" dirty="0">
                          <a:solidFill>
                            <a:srgbClr val="000000"/>
                          </a:solidFill>
                          <a:effectLst/>
                          <a:latin typeface="+mn-lt"/>
                        </a:rPr>
                        <a:t>Χ</a:t>
                      </a:r>
                      <a:r>
                        <a:rPr lang="en-US" sz="1600" b="0" i="0" u="none" strike="noStrike" baseline="30000" dirty="0">
                          <a:solidFill>
                            <a:srgbClr val="000000"/>
                          </a:solidFill>
                          <a:effectLst/>
                          <a:latin typeface="+mn-lt"/>
                        </a:rPr>
                        <a:t>2</a:t>
                      </a:r>
                      <a:r>
                        <a:rPr lang="en-US" sz="1600" b="0" i="0" u="none" strike="noStrike" dirty="0">
                          <a:solidFill>
                            <a:srgbClr val="000000"/>
                          </a:solidFill>
                          <a:effectLst/>
                          <a:latin typeface="+mn-lt"/>
                        </a:rPr>
                        <a:t> = 7.89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131383"/>
                  </a:ext>
                </a:extLst>
              </a:tr>
            </a:tbl>
          </a:graphicData>
        </a:graphic>
      </p:graphicFrame>
    </p:spTree>
    <p:extLst>
      <p:ext uri="{BB962C8B-B14F-4D97-AF65-F5344CB8AC3E}">
        <p14:creationId xmlns:p14="http://schemas.microsoft.com/office/powerpoint/2010/main" val="235114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sz="3200" dirty="0"/>
              <a:t>12.3 </a:t>
            </a:r>
            <a:r>
              <a:rPr lang="en-US" sz="3200" i="1" dirty="0"/>
              <a:t>p</a:t>
            </a:r>
            <a:r>
              <a:rPr lang="en-US" sz="3200" dirty="0"/>
              <a:t>-Value Approach to a Chi-Square Test for the Equality of Three Population Proportions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43576" y="1602036"/>
                <a:ext cx="5827705" cy="1700784"/>
              </a:xfrm>
            </p:spPr>
            <p:txBody>
              <a:bodyPr>
                <a:normAutofit fontScale="92500"/>
              </a:bodyPr>
              <a:lstStyle/>
              <a:p>
                <a:pPr>
                  <a:lnSpc>
                    <a:spcPct val="100000"/>
                  </a:lnSpc>
                  <a:spcBef>
                    <a:spcPts val="600"/>
                  </a:spcBef>
                  <a:spcAft>
                    <a:spcPts val="0"/>
                  </a:spcAft>
                  <a:tabLst>
                    <a:tab pos="8804275" algn="l"/>
                  </a:tabLst>
                </a:pPr>
                <a:r>
                  <a:rPr lang="en-US" sz="2000" dirty="0"/>
                  <a:t>In the customer loyalty example, the </a:t>
                </a:r>
                <a:r>
                  <a:rPr lang="en-US" sz="2000" i="1" dirty="0"/>
                  <a:t>p</a:t>
                </a:r>
                <a:r>
                  <a:rPr lang="en-US" sz="2000" dirty="0"/>
                  <a:t>-value is the upper tail of a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oMath>
                </a14:m>
                <a:r>
                  <a:rPr lang="en-US" sz="2000" dirty="0"/>
                  <a:t> distribution with </a:t>
                </a:r>
                <a14:m>
                  <m:oMath xmlns:m="http://schemas.openxmlformats.org/officeDocument/2006/math">
                    <m:r>
                      <a:rPr lang="en-US" sz="2000" b="0" i="1" smtClean="0">
                        <a:latin typeface="Cambria Math" panose="02040503050406030204" pitchFamily="18" charset="0"/>
                      </a:rPr>
                      <m:t>𝑘</m:t>
                    </m:r>
                    <m:r>
                      <a:rPr lang="en-US" sz="2000" b="0" i="1" smtClean="0">
                        <a:latin typeface="Cambria Math" panose="02040503050406030204" pitchFamily="18" charset="0"/>
                      </a:rPr>
                      <m:t>−1=3−1=2</m:t>
                    </m:r>
                  </m:oMath>
                </a14:m>
                <a:r>
                  <a:rPr lang="en-US" sz="2000" dirty="0"/>
                  <a:t> degrees of freedom: </a:t>
                </a:r>
                <a14:m>
                  <m:oMath xmlns:m="http://schemas.openxmlformats.org/officeDocument/2006/math">
                    <m:r>
                      <a:rPr lang="en-US" sz="2000" i="1" dirty="0" smtClean="0">
                        <a:latin typeface="Cambria Math" panose="02040503050406030204" pitchFamily="18" charset="0"/>
                      </a:rPr>
                      <m:t>𝑝</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value</m:t>
                    </m:r>
                    <m:r>
                      <a:rPr lang="en-US" sz="2000" i="1" dirty="0" smtClean="0">
                        <a:latin typeface="Cambria Math" panose="02040503050406030204" pitchFamily="18" charset="0"/>
                      </a:rPr>
                      <m:t>=</m:t>
                    </m:r>
                    <m:r>
                      <a:rPr lang="en-US" sz="2000" i="1" dirty="0" smtClean="0">
                        <a:latin typeface="Cambria Math" panose="02040503050406030204" pitchFamily="18" charset="0"/>
                      </a:rPr>
                      <m:t>𝑃</m:t>
                    </m:r>
                    <m:r>
                      <a:rPr lang="en-US" sz="2000" i="1" dirty="0" smtClean="0">
                        <a:latin typeface="Cambria Math" panose="02040503050406030204" pitchFamily="18" charset="0"/>
                      </a:rPr>
                      <m:t>(</m:t>
                    </m:r>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smtClean="0">
                        <a:latin typeface="Cambria Math" panose="02040503050406030204" pitchFamily="18" charset="0"/>
                      </a:rPr>
                      <m:t>≥7</m:t>
                    </m:r>
                    <m:r>
                      <a:rPr lang="en-US" sz="2000" b="0" i="1" dirty="0" smtClean="0">
                        <a:latin typeface="Cambria Math" panose="02040503050406030204" pitchFamily="18" charset="0"/>
                      </a:rPr>
                      <m:t>.89</m:t>
                    </m:r>
                    <m:r>
                      <a:rPr lang="en-US" sz="2000" i="1" dirty="0" smtClean="0">
                        <a:latin typeface="Cambria Math" panose="02040503050406030204" pitchFamily="18" charset="0"/>
                      </a:rPr>
                      <m:t>)</m:t>
                    </m:r>
                  </m:oMath>
                </a14:m>
                <a:endParaRPr lang="en-US" sz="2000" dirty="0"/>
              </a:p>
              <a:p>
                <a:pPr>
                  <a:lnSpc>
                    <a:spcPct val="100000"/>
                  </a:lnSpc>
                  <a:spcBef>
                    <a:spcPts val="600"/>
                  </a:spcBef>
                  <a:spcAft>
                    <a:spcPts val="0"/>
                  </a:spcAft>
                </a:pPr>
                <a:r>
                  <a:rPr lang="en-US" sz="2000" dirty="0"/>
                  <a:t>Using Table 3 in Appendix B, the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b="0" i="1" smtClean="0">
                            <a:latin typeface="Cambria Math" panose="02040503050406030204" pitchFamily="18" charset="0"/>
                            <a:ea typeface="Cambria Math" panose="02040503050406030204" pitchFamily="18" charset="0"/>
                            <a:cs typeface="Arial" panose="020B0604020202020204" pitchFamily="34" charset="0"/>
                          </a:rPr>
                          <m:t>𝛸</m:t>
                        </m:r>
                      </m:e>
                      <m:sup>
                        <m:r>
                          <a:rPr lang="en-US" sz="2000" b="0" i="1" smtClean="0">
                            <a:latin typeface="Cambria Math" panose="02040503050406030204" pitchFamily="18" charset="0"/>
                            <a:cs typeface="Arial" panose="020B0604020202020204" pitchFamily="34" charset="0"/>
                          </a:rPr>
                          <m:t>2</m:t>
                        </m:r>
                      </m:sup>
                    </m:sSup>
                  </m:oMath>
                </a14:m>
                <a:r>
                  <a:rPr lang="en-US" sz="2000" dirty="0"/>
                  <a:t> distribution with 2 degrees of freedom provides the following.</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43576" y="1602036"/>
                <a:ext cx="5827705" cy="1700784"/>
              </a:xfrm>
              <a:blipFill>
                <a:blip r:embed="rId3"/>
                <a:stretch>
                  <a:fillRect l="-2615" t="-5018" r="-25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205082" y="3295553"/>
              <a:ext cx="5199058" cy="741680"/>
            </p:xfrm>
            <a:graphic>
              <a:graphicData uri="http://schemas.openxmlformats.org/drawingml/2006/table">
                <a:tbl>
                  <a:tblPr firstRow="1" bandRow="1">
                    <a:tableStyleId>{5C22544A-7EE6-4342-B048-85BDC9FD1C3A}</a:tableStyleId>
                  </a:tblPr>
                  <a:tblGrid>
                    <a:gridCol w="1852628">
                      <a:extLst>
                        <a:ext uri="{9D8B030D-6E8A-4147-A177-3AD203B41FA5}">
                          <a16:colId xmlns:a16="http://schemas.microsoft.com/office/drawing/2014/main" val="4171103348"/>
                        </a:ext>
                      </a:extLst>
                    </a:gridCol>
                    <a:gridCol w="669286">
                      <a:extLst>
                        <a:ext uri="{9D8B030D-6E8A-4147-A177-3AD203B41FA5}">
                          <a16:colId xmlns:a16="http://schemas.microsoft.com/office/drawing/2014/main" val="3310322248"/>
                        </a:ext>
                      </a:extLst>
                    </a:gridCol>
                    <a:gridCol w="669286">
                      <a:extLst>
                        <a:ext uri="{9D8B030D-6E8A-4147-A177-3AD203B41FA5}">
                          <a16:colId xmlns:a16="http://schemas.microsoft.com/office/drawing/2014/main" val="1345786011"/>
                        </a:ext>
                      </a:extLst>
                    </a:gridCol>
                    <a:gridCol w="669286">
                      <a:extLst>
                        <a:ext uri="{9D8B030D-6E8A-4147-A177-3AD203B41FA5}">
                          <a16:colId xmlns:a16="http://schemas.microsoft.com/office/drawing/2014/main" val="3942544080"/>
                        </a:ext>
                      </a:extLst>
                    </a:gridCol>
                    <a:gridCol w="669286">
                      <a:extLst>
                        <a:ext uri="{9D8B030D-6E8A-4147-A177-3AD203B41FA5}">
                          <a16:colId xmlns:a16="http://schemas.microsoft.com/office/drawing/2014/main" val="2859257073"/>
                        </a:ext>
                      </a:extLst>
                    </a:gridCol>
                    <a:gridCol w="669286">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sSup>
                                <m:sSupPr>
                                  <m:ctrlPr>
                                    <a:rPr lang="en-US" sz="1600" b="1" i="1" smtClean="0">
                                      <a:latin typeface="Cambria Math" panose="02040503050406030204" pitchFamily="18" charset="0"/>
                                      <a:cs typeface="Arial" panose="020B0604020202020204" pitchFamily="34" charset="0"/>
                                    </a:rPr>
                                  </m:ctrlPr>
                                </m:sSupPr>
                                <m:e>
                                  <m:r>
                                    <a:rPr lang="el-GR" sz="16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1600" b="1" i="1" smtClean="0">
                                      <a:latin typeface="Cambria Math" panose="02040503050406030204" pitchFamily="18" charset="0"/>
                                      <a:cs typeface="Arial" panose="020B0604020202020204" pitchFamily="34" charset="0"/>
                                    </a:rPr>
                                    <m:t>𝟐</m:t>
                                  </m:r>
                                </m:sup>
                              </m:sSup>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969117307"/>
                  </p:ext>
                </p:extLst>
              </p:nvPr>
            </p:nvGraphicFramePr>
            <p:xfrm>
              <a:off x="1205082" y="3295553"/>
              <a:ext cx="5199058" cy="741680"/>
            </p:xfrm>
            <a:graphic>
              <a:graphicData uri="http://schemas.openxmlformats.org/drawingml/2006/table">
                <a:tbl>
                  <a:tblPr firstRow="1" bandRow="1">
                    <a:tableStyleId>{5C22544A-7EE6-4342-B048-85BDC9FD1C3A}</a:tableStyleId>
                  </a:tblPr>
                  <a:tblGrid>
                    <a:gridCol w="1852628">
                      <a:extLst>
                        <a:ext uri="{9D8B030D-6E8A-4147-A177-3AD203B41FA5}">
                          <a16:colId xmlns:a16="http://schemas.microsoft.com/office/drawing/2014/main" val="4171103348"/>
                        </a:ext>
                      </a:extLst>
                    </a:gridCol>
                    <a:gridCol w="669286">
                      <a:extLst>
                        <a:ext uri="{9D8B030D-6E8A-4147-A177-3AD203B41FA5}">
                          <a16:colId xmlns:a16="http://schemas.microsoft.com/office/drawing/2014/main" val="3310322248"/>
                        </a:ext>
                      </a:extLst>
                    </a:gridCol>
                    <a:gridCol w="669286">
                      <a:extLst>
                        <a:ext uri="{9D8B030D-6E8A-4147-A177-3AD203B41FA5}">
                          <a16:colId xmlns:a16="http://schemas.microsoft.com/office/drawing/2014/main" val="1345786011"/>
                        </a:ext>
                      </a:extLst>
                    </a:gridCol>
                    <a:gridCol w="669286">
                      <a:extLst>
                        <a:ext uri="{9D8B030D-6E8A-4147-A177-3AD203B41FA5}">
                          <a16:colId xmlns:a16="http://schemas.microsoft.com/office/drawing/2014/main" val="3942544080"/>
                        </a:ext>
                      </a:extLst>
                    </a:gridCol>
                    <a:gridCol w="669286">
                      <a:extLst>
                        <a:ext uri="{9D8B030D-6E8A-4147-A177-3AD203B41FA5}">
                          <a16:colId xmlns:a16="http://schemas.microsoft.com/office/drawing/2014/main" val="2859257073"/>
                        </a:ext>
                      </a:extLst>
                    </a:gridCol>
                    <a:gridCol w="669286">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1639" r="-181250" b="-32787"/>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p:pic>
        <p:nvPicPr>
          <p:cNvPr id="11" name="Picture Placeholder 10" descr="A graph plots a chi-square distribution. The horizontal axis lists chi^2_alpha. A curve rises sharply from the origin, peaks at a small value of the horizontal axis, and falls gradually. The region under the curve to the right of chi^2_alpha is shaded and labeled “Area or probability.”&#10;">
            <a:extLst>
              <a:ext uri="{FF2B5EF4-FFF2-40B4-BE49-F238E27FC236}">
                <a16:creationId xmlns:a16="http://schemas.microsoft.com/office/drawing/2014/main" id="{7F86108F-C8AD-8B6D-397E-E47CA0FD375B}"/>
              </a:ext>
            </a:extLst>
          </p:cNvPr>
          <p:cNvPicPr>
            <a:picLocks noGrp="1" noChangeAspect="1"/>
          </p:cNvPicPr>
          <p:nvPr>
            <p:ph type="pic" sz="quarter" idx="23"/>
          </p:nvPr>
        </p:nvPicPr>
        <p:blipFill rotWithShape="1">
          <a:blip r:embed="rId5"/>
          <a:srcRect l="2" r="2"/>
          <a:stretch/>
        </p:blipFill>
        <p:spPr>
          <a:xfrm>
            <a:off x="6800113" y="1813895"/>
            <a:ext cx="4394492" cy="2135877"/>
          </a:xfrm>
        </p:spPr>
      </p:pic>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706437" y="4181407"/>
                <a:ext cx="10488168" cy="1883664"/>
              </a:xfrm>
            </p:spPr>
            <p:txBody>
              <a:bodyPr>
                <a:noAutofit/>
              </a:bodyPr>
              <a:lstStyle/>
              <a:p>
                <a:pPr>
                  <a:lnSpc>
                    <a:spcPct val="110000"/>
                  </a:lnSpc>
                  <a:spcBef>
                    <a:spcPts val="600"/>
                  </a:spcBef>
                </a:pPr>
                <a:r>
                  <a:rPr lang="en-US" sz="2000" dirty="0">
                    <a:cs typeface="Arial" panose="020B0604020202020204" pitchFamily="34" charset="0"/>
                  </a:rPr>
                  <a:t>B</a:t>
                </a:r>
                <a:r>
                  <a:rPr lang="en-US" sz="2000" dirty="0">
                    <a:solidFill>
                      <a:srgbClr val="000000"/>
                    </a:solidFill>
                    <a:cs typeface="Arial" panose="020B0604020202020204" pitchFamily="34" charset="0"/>
                  </a:rPr>
                  <a:t>ecause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smtClean="0">
                        <a:solidFill>
                          <a:srgbClr val="000000"/>
                        </a:solidFill>
                        <a:latin typeface="Cambria Math" panose="02040503050406030204" pitchFamily="18" charset="0"/>
                        <a:cs typeface="Arial" panose="020B0604020202020204" pitchFamily="34" charset="0"/>
                      </a:rPr>
                      <m:t>=</m:t>
                    </m:r>
                    <m:r>
                      <a:rPr lang="en-US" sz="2000" b="0" i="1" dirty="0" smtClean="0">
                        <a:solidFill>
                          <a:srgbClr val="000000"/>
                        </a:solidFill>
                        <a:latin typeface="Cambria Math" panose="02040503050406030204" pitchFamily="18" charset="0"/>
                        <a:cs typeface="Arial" panose="020B0604020202020204" pitchFamily="34" charset="0"/>
                      </a:rPr>
                      <m:t>7.89</m:t>
                    </m:r>
                  </m:oMath>
                </a14:m>
                <a:r>
                  <a:rPr lang="en-US" sz="2000" dirty="0">
                    <a:solidFill>
                      <a:srgbClr val="000000"/>
                    </a:solidFill>
                    <a:cs typeface="Arial" panose="020B0604020202020204" pitchFamily="34" charset="0"/>
                  </a:rPr>
                  <a:t> is between </a:t>
                </a:r>
                <a:r>
                  <a:rPr lang="en-US" sz="2000" dirty="0">
                    <a:cs typeface="Arial" panose="020B0604020202020204" pitchFamily="34" charset="0"/>
                  </a:rPr>
                  <a:t>7.378</a:t>
                </a:r>
                <a:r>
                  <a:rPr lang="en-US" sz="2000" dirty="0">
                    <a:solidFill>
                      <a:srgbClr val="000000"/>
                    </a:solidFill>
                    <a:cs typeface="Arial" panose="020B0604020202020204" pitchFamily="34" charset="0"/>
                  </a:rPr>
                  <a:t> and 9.210, the values in the “Area in Upper Tail” row show that the </a:t>
                </a:r>
                <a:r>
                  <a:rPr lang="en-US" sz="2000" i="1" dirty="0">
                    <a:solidFill>
                      <a:srgbClr val="000000"/>
                    </a:solidFill>
                    <a:cs typeface="Arial" panose="020B0604020202020204" pitchFamily="34" charset="0"/>
                  </a:rPr>
                  <a:t>p</a:t>
                </a:r>
                <a:r>
                  <a:rPr lang="en-US" sz="2000" dirty="0">
                    <a:solidFill>
                      <a:srgbClr val="000000"/>
                    </a:solidFill>
                    <a:cs typeface="Arial" panose="020B0604020202020204" pitchFamily="34" charset="0"/>
                  </a:rPr>
                  <a:t>-value range must be: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0.0</m:t>
                    </m:r>
                    <m:r>
                      <a:rPr lang="en-US" sz="2000" b="0" i="1" dirty="0" smtClean="0">
                        <a:solidFill>
                          <a:srgbClr val="000000"/>
                        </a:solidFill>
                        <a:latin typeface="Cambria Math" panose="02040503050406030204" pitchFamily="18" charset="0"/>
                        <a:cs typeface="Arial" panose="020B0604020202020204" pitchFamily="34" charset="0"/>
                      </a:rPr>
                      <m:t>1</m:t>
                    </m:r>
                    <m:r>
                      <a:rPr lang="en-US" sz="2000" i="1" dirty="0" smtClean="0">
                        <a:solidFill>
                          <a:srgbClr val="000000"/>
                        </a:solidFill>
                        <a:latin typeface="Cambria Math" panose="02040503050406030204" pitchFamily="18" charset="0"/>
                        <a:cs typeface="Arial" panose="020B0604020202020204" pitchFamily="34" charset="0"/>
                      </a:rPr>
                      <m:t>≤</m:t>
                    </m:r>
                    <m:r>
                      <a:rPr lang="en-US" sz="2000" i="1" dirty="0" smtClean="0">
                        <a:solidFill>
                          <a:srgbClr val="000000"/>
                        </a:solidFill>
                        <a:latin typeface="Cambria Math" panose="02040503050406030204" pitchFamily="18" charset="0"/>
                        <a:cs typeface="Arial" panose="020B0604020202020204" pitchFamily="34" charset="0"/>
                      </a:rPr>
                      <m:t>𝑝</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0.0</m:t>
                    </m:r>
                    <m:r>
                      <a:rPr lang="en-US" sz="2000" b="0" i="1" dirty="0" smtClean="0">
                        <a:solidFill>
                          <a:srgbClr val="000000"/>
                        </a:solidFill>
                        <a:latin typeface="Cambria Math" panose="02040503050406030204" pitchFamily="18" charset="0"/>
                        <a:cs typeface="Arial" panose="020B0604020202020204" pitchFamily="34" charset="0"/>
                      </a:rPr>
                      <m:t>2</m:t>
                    </m:r>
                    <m:r>
                      <a:rPr lang="en-US" sz="2000" i="1" dirty="0" smtClean="0">
                        <a:solidFill>
                          <a:srgbClr val="000000"/>
                        </a:solidFill>
                        <a:latin typeface="Cambria Math" panose="02040503050406030204" pitchFamily="18" charset="0"/>
                        <a:cs typeface="Arial" panose="020B0604020202020204" pitchFamily="34" charset="0"/>
                      </a:rPr>
                      <m:t>5</m:t>
                    </m:r>
                  </m:oMath>
                </a14:m>
                <a:r>
                  <a:rPr lang="en-US" sz="2000" dirty="0">
                    <a:solidFill>
                      <a:srgbClr val="000000"/>
                    </a:solidFill>
                    <a:cs typeface="Arial" panose="020B0604020202020204" pitchFamily="34" charset="0"/>
                  </a:rPr>
                  <a:t> (*see notes.)</a:t>
                </a:r>
              </a:p>
              <a:p>
                <a:pPr>
                  <a:lnSpc>
                    <a:spcPct val="110000"/>
                  </a:lnSpc>
                  <a:spcBef>
                    <a:spcPts val="600"/>
                  </a:spcBef>
                </a:pPr>
                <a:r>
                  <a:rPr lang="en-US" sz="2000" dirty="0">
                    <a:cs typeface="Arial" panose="020B0604020202020204" pitchFamily="34" charset="0"/>
                  </a:rPr>
                  <a:t>Because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r>
                      <m:rPr>
                        <m:nor/>
                      </m:rPr>
                      <a:rPr lang="en-US" sz="2000" i="0" dirty="0" smtClean="0">
                        <a:latin typeface="Arial" panose="020B0604020202020204" pitchFamily="34" charset="0"/>
                        <a:cs typeface="Arial" panose="020B0604020202020204" pitchFamily="34" charset="0"/>
                      </a:rPr>
                      <m:t>−</m:t>
                    </m:r>
                    <m:r>
                      <m:rPr>
                        <m:nor/>
                      </m:rPr>
                      <a:rPr lang="en-US" sz="2000" i="0" dirty="0" smtClean="0">
                        <a:latin typeface="Arial" panose="020B0604020202020204" pitchFamily="34" charset="0"/>
                        <a:cs typeface="Arial" panose="020B0604020202020204" pitchFamily="34" charset="0"/>
                      </a:rPr>
                      <m:t>value</m:t>
                    </m:r>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cs typeface="Arial" panose="020B0604020202020204" pitchFamily="34" charset="0"/>
                  </a:rPr>
                  <a:t>, we reject the null hypothesis and conclude that the three population proportions are not all equal and that there is a difference in brand loyalties.</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706437" y="4181407"/>
                <a:ext cx="10488168" cy="1883664"/>
              </a:xfrm>
              <a:blipFill>
                <a:blip r:embed="rId6"/>
                <a:stretch>
                  <a:fillRect l="-1512" t="-3883"/>
                </a:stretch>
              </a:blipFill>
            </p:spPr>
            <p:txBody>
              <a:bodyPr/>
              <a:lstStyle/>
              <a:p>
                <a:r>
                  <a:rPr lang="en-US">
                    <a:noFill/>
                  </a:rPr>
                  <a:t> </a:t>
                </a:r>
              </a:p>
            </p:txBody>
          </p:sp>
        </mc:Fallback>
      </mc:AlternateContent>
    </p:spTree>
    <p:extLst>
      <p:ext uri="{BB962C8B-B14F-4D97-AF65-F5344CB8AC3E}">
        <p14:creationId xmlns:p14="http://schemas.microsoft.com/office/powerpoint/2010/main" val="212139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12.3 Critical Value Approach to a Chi-Square Test for the Equality of Three Population Proportions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784187"/>
                <a:ext cx="10515599" cy="672105"/>
              </a:xfrm>
            </p:spPr>
            <p:txBody>
              <a:bodyPr>
                <a:normAutofit/>
              </a:bodyPr>
              <a:lstStyle/>
              <a:p>
                <a:pPr>
                  <a:lnSpc>
                    <a:spcPct val="100000"/>
                  </a:lnSpc>
                  <a:spcBef>
                    <a:spcPts val="600"/>
                  </a:spcBef>
                </a:pPr>
                <a:r>
                  <a:rPr lang="en-US" sz="2000" dirty="0"/>
                  <a:t>With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.05</m:t>
                    </m:r>
                  </m:oMath>
                </a14:m>
                <a:r>
                  <a:rPr lang="en-US" sz="2000" dirty="0"/>
                  <a:t>,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r>
                      <a:rPr lang="en-US" sz="2000" b="0" i="1" smtClean="0">
                        <a:latin typeface="Cambria Math" panose="02040503050406030204" pitchFamily="18" charset="0"/>
                      </a:rPr>
                      <m:t>=</m:t>
                    </m:r>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b="0" i="1" smtClean="0">
                            <a:latin typeface="Cambria Math" panose="02040503050406030204" pitchFamily="18" charset="0"/>
                            <a:ea typeface="Cambria Math" panose="02040503050406030204" pitchFamily="18" charset="0"/>
                          </a:rPr>
                          <m:t>0.05</m:t>
                        </m:r>
                      </m:sub>
                      <m:sup>
                        <m:r>
                          <a:rPr lang="en-US" sz="2000" i="1">
                            <a:latin typeface="Cambria Math" panose="02040503050406030204" pitchFamily="18" charset="0"/>
                          </a:rPr>
                          <m:t>2</m:t>
                        </m:r>
                      </m:sup>
                    </m:sSubSup>
                  </m:oMath>
                </a14:m>
                <a:r>
                  <a:rPr lang="en-US" sz="2000" dirty="0"/>
                  <a:t> provides the critical value for the upper tail chi-square test. Using Table 3 in Appendix B, with 2 degrees of freedom, we have</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784187"/>
                <a:ext cx="10515599" cy="672105"/>
              </a:xfrm>
              <a:blipFill>
                <a:blip r:embed="rId3"/>
                <a:stretch>
                  <a:fillRect l="-1508" t="-10000" b="-1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Placeholder 8">
                <a:extLst>
                  <a:ext uri="{FF2B5EF4-FFF2-40B4-BE49-F238E27FC236}">
                    <a16:creationId xmlns:a16="http://schemas.microsoft.com/office/drawing/2014/main" id="{52BD0827-5D4D-0C48-4E11-B32B1072F9CE}"/>
                  </a:ext>
                </a:extLst>
              </p:cNvPr>
              <p:cNvGraphicFramePr>
                <a:graphicFrameLocks noGrp="1"/>
              </p:cNvGraphicFramePr>
              <p:nvPr>
                <p:ph type="tbl" sz="quarter" idx="22"/>
              </p:nvPr>
            </p:nvGraphicFramePr>
            <p:xfrm>
              <a:off x="1657350" y="2553361"/>
              <a:ext cx="5771275"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sSup>
                                <m:sSupPr>
                                  <m:ctrlPr>
                                    <a:rPr lang="en-US" sz="1600" b="1" i="1" smtClean="0">
                                      <a:latin typeface="Cambria Math" panose="02040503050406030204" pitchFamily="18" charset="0"/>
                                      <a:cs typeface="Arial" panose="020B0604020202020204" pitchFamily="34" charset="0"/>
                                    </a:rPr>
                                  </m:ctrlPr>
                                </m:sSupPr>
                                <m:e>
                                  <m:r>
                                    <a:rPr lang="el-GR" sz="1600" b="1" i="1" smtClean="0">
                                      <a:latin typeface="Cambria Math" panose="02040503050406030204" pitchFamily="18" charset="0"/>
                                      <a:ea typeface="Cambria Math" panose="02040503050406030204" pitchFamily="18" charset="0"/>
                                      <a:cs typeface="Arial" panose="020B0604020202020204" pitchFamily="34" charset="0"/>
                                    </a:rPr>
                                    <m:t>𝜲</m:t>
                                  </m:r>
                                </m:e>
                                <m:sup>
                                  <m:r>
                                    <a:rPr lang="en-US" sz="1600" b="1" i="1" smtClean="0">
                                      <a:latin typeface="Cambria Math" panose="02040503050406030204" pitchFamily="18" charset="0"/>
                                      <a:cs typeface="Arial" panose="020B0604020202020204" pitchFamily="34" charset="0"/>
                                    </a:rPr>
                                    <m:t>𝟐</m:t>
                                  </m:r>
                                </m:sup>
                              </m:sSup>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9" name="Table Placeholder 8">
                <a:extLst>
                  <a:ext uri="{FF2B5EF4-FFF2-40B4-BE49-F238E27FC236}">
                    <a16:creationId xmlns:a16="http://schemas.microsoft.com/office/drawing/2014/main" id="{52BD0827-5D4D-0C48-4E11-B32B1072F9CE}"/>
                  </a:ext>
                </a:extLst>
              </p:cNvPr>
              <p:cNvGraphicFramePr>
                <a:graphicFrameLocks noGrp="1"/>
              </p:cNvGraphicFramePr>
              <p:nvPr>
                <p:ph type="tbl" sz="quarter" idx="22"/>
                <p:extLst>
                  <p:ext uri="{D42A27DB-BD31-4B8C-83A1-F6EECF244321}">
                    <p14:modId xmlns:p14="http://schemas.microsoft.com/office/powerpoint/2010/main" val="1192404061"/>
                  </p:ext>
                </p:extLst>
              </p:nvPr>
            </p:nvGraphicFramePr>
            <p:xfrm>
              <a:off x="1657350" y="2553361"/>
              <a:ext cx="5771275"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1639" r="-180769" b="-32787"/>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4.605</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5.991</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7.378</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9.210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10.597</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423791"/>
                <a:ext cx="10484504" cy="2264086"/>
              </a:xfrm>
            </p:spPr>
            <p:txBody>
              <a:bodyPr>
                <a:noAutofit/>
              </a:bodyPr>
              <a:lstStyle/>
              <a:p>
                <a:pPr>
                  <a:lnSpc>
                    <a:spcPct val="100000"/>
                  </a:lnSpc>
                  <a:spcBef>
                    <a:spcPts val="600"/>
                  </a:spcBef>
                  <a:spcAft>
                    <a:spcPts val="0"/>
                  </a:spcAft>
                </a:pPr>
                <a:r>
                  <a:rPr lang="en-US" sz="2000" dirty="0"/>
                  <a:t>We obtain the critical value, </a:t>
                </a:r>
                <a14:m>
                  <m:oMath xmlns:m="http://schemas.openxmlformats.org/officeDocument/2006/math">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i="1">
                            <a:latin typeface="Cambria Math" panose="02040503050406030204" pitchFamily="18" charset="0"/>
                            <a:ea typeface="Cambria Math" panose="02040503050406030204" pitchFamily="18" charset="0"/>
                          </a:rPr>
                          <m:t>0.05</m:t>
                        </m:r>
                      </m:sub>
                      <m:sup>
                        <m:r>
                          <a:rPr lang="en-US" sz="2000" i="1">
                            <a:latin typeface="Cambria Math" panose="02040503050406030204" pitchFamily="18" charset="0"/>
                          </a:rPr>
                          <m:t>2</m:t>
                        </m:r>
                      </m:sup>
                    </m:sSubSup>
                    <m:r>
                      <a:rPr lang="en-US" sz="2000" i="1">
                        <a:latin typeface="Cambria Math" panose="02040503050406030204" pitchFamily="18" charset="0"/>
                      </a:rPr>
                      <m:t>=</m:t>
                    </m:r>
                    <m:r>
                      <a:rPr lang="en-US" sz="2000" b="0" i="1" smtClean="0">
                        <a:latin typeface="Cambria Math" panose="02040503050406030204" pitchFamily="18" charset="0"/>
                      </a:rPr>
                      <m:t>5.991</m:t>
                    </m:r>
                  </m:oMath>
                </a14:m>
                <a:r>
                  <a:rPr lang="en-US" sz="2000" dirty="0"/>
                  <a:t> (*see notes.)</a:t>
                </a:r>
              </a:p>
              <a:p>
                <a:pPr>
                  <a:lnSpc>
                    <a:spcPct val="100000"/>
                  </a:lnSpc>
                  <a:spcBef>
                    <a:spcPts val="600"/>
                  </a:spcBef>
                  <a:spcAft>
                    <a:spcPts val="600"/>
                  </a:spcAft>
                </a:pPr>
                <a:r>
                  <a:rPr lang="en-US" sz="2000" dirty="0">
                    <a:solidFill>
                      <a:srgbClr val="000000"/>
                    </a:solidFill>
                    <a:cs typeface="Arial" panose="020B0604020202020204" pitchFamily="34" charset="0"/>
                  </a:rPr>
                  <a:t>Thus, the rejection rule for the test of multiple proportions is:</a:t>
                </a:r>
              </a:p>
              <a:p>
                <a:pPr marL="914400">
                  <a:lnSpc>
                    <a:spcPct val="100000"/>
                  </a:lnSpc>
                  <a:spcBef>
                    <a:spcPts val="600"/>
                  </a:spcBef>
                  <a:spcAft>
                    <a:spcPts val="600"/>
                  </a:spcAft>
                </a:pPr>
                <a:r>
                  <a:rPr lang="en-US" sz="2000" dirty="0">
                    <a:solidFill>
                      <a:srgbClr val="000000"/>
                    </a:solidFill>
                    <a:cs typeface="Arial" panose="020B0604020202020204" pitchFamily="34" charset="0"/>
                  </a:rPr>
                  <a:t>Reject </a:t>
                </a:r>
                <a:r>
                  <a:rPr lang="en-US" sz="2000" i="1" dirty="0">
                    <a:solidFill>
                      <a:srgbClr val="000000"/>
                    </a:solidFill>
                    <a:cs typeface="Arial" panose="020B0604020202020204" pitchFamily="34" charset="0"/>
                  </a:rPr>
                  <a:t>H</a:t>
                </a:r>
                <a:r>
                  <a:rPr lang="en-US" sz="2000" baseline="-25000" dirty="0">
                    <a:solidFill>
                      <a:srgbClr val="000000"/>
                    </a:solidFill>
                    <a:cs typeface="Arial" panose="020B0604020202020204" pitchFamily="34" charset="0"/>
                  </a:rPr>
                  <a:t>0</a:t>
                </a:r>
                <a:r>
                  <a:rPr lang="en-US" sz="2000" dirty="0">
                    <a:solidFill>
                      <a:srgbClr val="000000"/>
                    </a:solidFill>
                    <a:cs typeface="Arial" panose="020B0604020202020204" pitchFamily="34" charset="0"/>
                  </a:rPr>
                  <a:t> if</a:t>
                </a:r>
                <a14:m>
                  <m:oMath xmlns:m="http://schemas.openxmlformats.org/officeDocument/2006/math">
                    <m:r>
                      <a:rPr lang="en-US" sz="2000" b="0" i="0" smtClean="0">
                        <a:latin typeface="Cambria Math" panose="02040503050406030204" pitchFamily="18" charset="0"/>
                        <a:cs typeface="Arial" panose="020B0604020202020204" pitchFamily="34" charset="0"/>
                      </a:rPr>
                      <m:t> </m:t>
                    </m:r>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rPr>
                      <m:t>≥</m:t>
                    </m:r>
                    <m:sSubSup>
                      <m:sSubSupPr>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l-GR" sz="2000" i="1" dirty="0" smtClean="0">
                            <a:latin typeface="Cambria Math" panose="02040503050406030204" pitchFamily="18" charset="0"/>
                            <a:ea typeface="Cambria Math" panose="02040503050406030204" pitchFamily="18" charset="0"/>
                            <a:cs typeface="Arial" panose="020B0604020202020204" pitchFamily="34" charset="0"/>
                          </a:rPr>
                          <m:t>Χ</m:t>
                        </m:r>
                      </m:e>
                      <m:sub>
                        <m:r>
                          <a:rPr lang="en-US" sz="2000" b="0" i="1" smtClean="0">
                            <a:latin typeface="Cambria Math" panose="02040503050406030204" pitchFamily="18" charset="0"/>
                            <a:ea typeface="Cambria Math" panose="02040503050406030204" pitchFamily="18" charset="0"/>
                          </a:rPr>
                          <m:t>0.05</m:t>
                        </m:r>
                      </m:sub>
                      <m:sup>
                        <m:r>
                          <a:rPr lang="en-US" sz="2000" b="0" i="1" smtClean="0">
                            <a:latin typeface="Cambria Math" panose="02040503050406030204" pitchFamily="18" charset="0"/>
                            <a:ea typeface="Cambria Math" panose="02040503050406030204" pitchFamily="18" charset="0"/>
                          </a:rPr>
                          <m:t>2</m:t>
                        </m:r>
                      </m:sup>
                    </m:sSubSup>
                    <m:r>
                      <a:rPr lang="en-US" sz="2000" b="0" i="1" smtClean="0">
                        <a:latin typeface="Cambria Math" panose="02040503050406030204" pitchFamily="18" charset="0"/>
                        <a:ea typeface="Cambria Math" panose="02040503050406030204" pitchFamily="18" charset="0"/>
                      </a:rPr>
                      <m:t>=5.991</m:t>
                    </m:r>
                  </m:oMath>
                </a14:m>
                <a:endParaRPr lang="en-US" sz="2000" dirty="0">
                  <a:solidFill>
                    <a:srgbClr val="000000"/>
                  </a:solidFill>
                  <a:cs typeface="Arial" panose="020B0604020202020204" pitchFamily="34" charset="0"/>
                </a:endParaRPr>
              </a:p>
              <a:p>
                <a:pPr>
                  <a:lnSpc>
                    <a:spcPct val="100000"/>
                  </a:lnSpc>
                  <a:spcBef>
                    <a:spcPts val="600"/>
                  </a:spcBef>
                  <a:spcAft>
                    <a:spcPts val="0"/>
                  </a:spcAft>
                </a:pPr>
                <a:r>
                  <a:rPr lang="en-US" sz="2000" dirty="0">
                    <a:solidFill>
                      <a:srgbClr val="000000"/>
                    </a:solidFill>
                    <a:cs typeface="Arial" panose="020B0604020202020204" pitchFamily="34" charset="0"/>
                  </a:rPr>
                  <a:t>Because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a:latin typeface="Cambria Math" panose="02040503050406030204" pitchFamily="18" charset="0"/>
                        <a:cs typeface="Arial" panose="020B0604020202020204" pitchFamily="34" charset="0"/>
                      </a:rPr>
                      <m:t>=7.89</m:t>
                    </m:r>
                  </m:oMath>
                </a14:m>
                <a:r>
                  <a:rPr lang="en-US" sz="2000" dirty="0">
                    <a:solidFill>
                      <a:srgbClr val="000000"/>
                    </a:solidFill>
                    <a:cs typeface="Arial" panose="020B0604020202020204" pitchFamily="34" charset="0"/>
                  </a:rPr>
                  <a:t>, we reject the null hypothesis and </a:t>
                </a:r>
                <a:r>
                  <a:rPr lang="en-US" sz="2000" dirty="0">
                    <a:cs typeface="Arial" panose="020B0604020202020204" pitchFamily="34" charset="0"/>
                  </a:rPr>
                  <a:t>conclude that the three population proportions are not all equal and that there is a difference in brand loyalties among the Chevrolet Impala, Ford Fusion, and Honda Accord owners.</a:t>
                </a:r>
                <a:endParaRPr lang="en-US" sz="2000" dirty="0">
                  <a:solidFill>
                    <a:srgbClr val="000000"/>
                  </a:solidFill>
                  <a:cs typeface="Arial" panose="020B0604020202020204" pitchFamily="34" charset="0"/>
                </a:endParaRPr>
              </a:p>
              <a:p>
                <a:pPr>
                  <a:lnSpc>
                    <a:spcPct val="110000"/>
                  </a:lnSpc>
                  <a:spcBef>
                    <a:spcPts val="600"/>
                  </a:spcBef>
                </a:pP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423791"/>
                <a:ext cx="10484504" cy="2264086"/>
              </a:xfrm>
              <a:blipFill>
                <a:blip r:embed="rId5"/>
                <a:stretch>
                  <a:fillRect l="-1513" t="-2965" b="-5391"/>
                </a:stretch>
              </a:blipFill>
            </p:spPr>
            <p:txBody>
              <a:bodyPr/>
              <a:lstStyle/>
              <a:p>
                <a:r>
                  <a:rPr lang="en-US">
                    <a:noFill/>
                  </a:rPr>
                  <a:t> </a:t>
                </a:r>
              </a:p>
            </p:txBody>
          </p:sp>
        </mc:Fallback>
      </mc:AlternateContent>
    </p:spTree>
    <p:extLst>
      <p:ext uri="{BB962C8B-B14F-4D97-AF65-F5344CB8AC3E}">
        <p14:creationId xmlns:p14="http://schemas.microsoft.com/office/powerpoint/2010/main" val="1274482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25894E"/>
                </a:solidFill>
              </a:rPr>
              <a:t>12.3 Excel: Conduct a Test of Multiple Proportions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43026"/>
                <a:ext cx="10711543" cy="4386262"/>
              </a:xfrm>
            </p:spPr>
            <p:txBody>
              <a:bodyPr/>
              <a:lstStyle/>
              <a:p>
                <a:pPr>
                  <a:lnSpc>
                    <a:spcPct val="100000"/>
                  </a:lnSpc>
                </a:pPr>
                <a:r>
                  <a:rPr lang="en-US" sz="2000" dirty="0">
                    <a:cs typeface="Arial" panose="020B0604020202020204" pitchFamily="34" charset="0"/>
                  </a:rPr>
                  <a:t>The Excel procedure used to test for the equality of three or more population proportions is the same Excel procedure used to conduct a test of independence in Section 12.2.</a:t>
                </a:r>
              </a:p>
              <a:p>
                <a:pPr marL="914400" indent="-342900">
                  <a:lnSpc>
                    <a:spcPct val="100000"/>
                  </a:lnSpc>
                  <a:spcBef>
                    <a:spcPts val="600"/>
                  </a:spcBef>
                  <a:buFont typeface="Arial" panose="020B0604020202020204" pitchFamily="34" charset="0"/>
                  <a:buChar char="•"/>
                </a:pPr>
                <a:r>
                  <a:rPr lang="en-US" sz="2000" dirty="0">
                    <a:cs typeface="Arial" panose="020B0604020202020204" pitchFamily="34" charset="0"/>
                  </a:rPr>
                  <a:t>The Excel worksheet for this test is shown in the next slide.</a:t>
                </a:r>
              </a:p>
              <a:p>
                <a:pPr>
                  <a:lnSpc>
                    <a:spcPct val="100000"/>
                  </a:lnSpc>
                </a:pPr>
                <a:r>
                  <a:rPr lang="en-US" sz="2000" b="1" dirty="0">
                    <a:cs typeface="Arial" panose="020B0604020202020204" pitchFamily="34" charset="0"/>
                  </a:rPr>
                  <a:t>Enter/Access Data</a:t>
                </a:r>
                <a:r>
                  <a:rPr lang="en-US" sz="2000" dirty="0">
                    <a:cs typeface="Arial" panose="020B0604020202020204" pitchFamily="34" charset="0"/>
                  </a:rPr>
                  <a:t>: Open the file </a:t>
                </a:r>
                <a:r>
                  <a:rPr lang="en-US" sz="2000" i="1" dirty="0" err="1">
                    <a:cs typeface="Arial" panose="020B0604020202020204" pitchFamily="34" charset="0"/>
                  </a:rPr>
                  <a:t>autoloyalty</a:t>
                </a:r>
                <a:r>
                  <a:rPr lang="en-US" sz="2000" dirty="0">
                    <a:cs typeface="Arial" panose="020B0604020202020204" pitchFamily="34" charset="0"/>
                  </a:rPr>
                  <a:t>. The data are in cells B2:C501.</a:t>
                </a:r>
              </a:p>
              <a:p>
                <a:pPr>
                  <a:lnSpc>
                    <a:spcPct val="100000"/>
                  </a:lnSpc>
                </a:pPr>
                <a:r>
                  <a:rPr lang="en-US" sz="2000" b="1" dirty="0">
                    <a:cs typeface="Arial" panose="020B0604020202020204" pitchFamily="34" charset="0"/>
                  </a:rPr>
                  <a:t>Apply Tools</a:t>
                </a:r>
                <a:r>
                  <a:rPr lang="en-US" sz="2000" dirty="0">
                    <a:cs typeface="Arial" panose="020B0604020202020204" pitchFamily="34" charset="0"/>
                  </a:rPr>
                  <a:t>: Cells F5:H6 show the contingency table resulting from Excel’s PivotTable tool (see Section 2.4 for details) to construct a two-way table with likely repurchase (no or yes) and automobile (Chevrolet Impala, Ford Fusion, or Honda Accord) as the two variables.</a:t>
                </a:r>
              </a:p>
              <a:p>
                <a:pPr>
                  <a:lnSpc>
                    <a:spcPct val="100000"/>
                  </a:lnSpc>
                </a:pPr>
                <a:r>
                  <a:rPr lang="en-US" sz="2000" b="1" dirty="0">
                    <a:cs typeface="Arial" panose="020B0604020202020204" pitchFamily="34" charset="0"/>
                  </a:rPr>
                  <a:t>Enter Functions and Formulas</a:t>
                </a:r>
                <a:r>
                  <a:rPr lang="en-US" sz="2000" dirty="0">
                    <a:cs typeface="Arial" panose="020B0604020202020204" pitchFamily="34" charset="0"/>
                  </a:rPr>
                  <a:t>: The Excel formulas in cells F11:H12 were used to compute the expected frequencies for each category.</a:t>
                </a:r>
              </a:p>
              <a:p>
                <a:pPr>
                  <a:lnSpc>
                    <a:spcPct val="100000"/>
                  </a:lnSpc>
                </a:pPr>
                <a:r>
                  <a:rPr lang="en-US" sz="2000" dirty="0">
                    <a:cs typeface="Arial" panose="020B0604020202020204" pitchFamily="34" charset="0"/>
                  </a:rPr>
                  <a:t>Then, in cell F19, Excel’s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𝐶𝐻𝐼𝑆𝑄</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𝑇𝐸𝑆𝑇</m:t>
                    </m:r>
                    <m:r>
                      <a:rPr lang="en-US" sz="2000" i="1" dirty="0" smtClean="0">
                        <a:latin typeface="Cambria Math" panose="02040503050406030204" pitchFamily="18" charset="0"/>
                        <a:cs typeface="Arial" panose="020B0604020202020204" pitchFamily="34" charset="0"/>
                      </a:rPr>
                      <m:t>(</m:t>
                    </m:r>
                    <m:r>
                      <a:rPr lang="en-US" sz="2000" i="1" dirty="0" err="1" smtClean="0">
                        <a:latin typeface="Cambria Math" panose="02040503050406030204" pitchFamily="18" charset="0"/>
                        <a:cs typeface="Arial" panose="020B0604020202020204" pitchFamily="34" charset="0"/>
                      </a:rPr>
                      <m:t>𝑎𝑐𝑡𝑢𝑎𝑙</m:t>
                    </m:r>
                    <m:r>
                      <a:rPr lang="en-US" sz="2000" i="1" dirty="0" err="1" smtClean="0">
                        <a:latin typeface="Cambria Math" panose="02040503050406030204" pitchFamily="18" charset="0"/>
                        <a:cs typeface="Arial" panose="020B0604020202020204" pitchFamily="34" charset="0"/>
                      </a:rPr>
                      <m:t>_</m:t>
                    </m:r>
                    <m:r>
                      <a:rPr lang="en-US" sz="2000" i="1" dirty="0" err="1" smtClean="0">
                        <a:latin typeface="Cambria Math" panose="02040503050406030204" pitchFamily="18" charset="0"/>
                        <a:cs typeface="Arial" panose="020B0604020202020204" pitchFamily="34" charset="0"/>
                      </a:rPr>
                      <m:t>𝑟𝑎𝑛𝑔𝑒</m:t>
                    </m:r>
                    <m:r>
                      <a:rPr lang="en-US" sz="2000" i="1" dirty="0" err="1" smtClean="0">
                        <a:latin typeface="Cambria Math" panose="02040503050406030204" pitchFamily="18" charset="0"/>
                        <a:cs typeface="Arial" panose="020B0604020202020204" pitchFamily="34" charset="0"/>
                      </a:rPr>
                      <m:t>,</m:t>
                    </m:r>
                    <m:r>
                      <a:rPr lang="en-US" sz="2000" i="1" dirty="0" err="1" smtClean="0">
                        <a:latin typeface="Cambria Math" panose="02040503050406030204" pitchFamily="18" charset="0"/>
                        <a:cs typeface="Arial" panose="020B0604020202020204" pitchFamily="34" charset="0"/>
                      </a:rPr>
                      <m:t>𝑒𝑥𝑝𝑒𝑐𝑡𝑒𝑑</m:t>
                    </m:r>
                    <m:r>
                      <a:rPr lang="en-US" sz="2000" i="1" dirty="0" err="1" smtClean="0">
                        <a:latin typeface="Cambria Math" panose="02040503050406030204" pitchFamily="18" charset="0"/>
                        <a:cs typeface="Arial" panose="020B0604020202020204" pitchFamily="34" charset="0"/>
                      </a:rPr>
                      <m:t>_</m:t>
                    </m:r>
                    <m:r>
                      <a:rPr lang="en-US" sz="2000" i="1" dirty="0" err="1"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function can be used to compute the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oMath>
                </a14:m>
                <a:r>
                  <a:rPr lang="en-US" sz="2000" dirty="0">
                    <a:cs typeface="Arial" panose="020B0604020202020204" pitchFamily="34" charset="0"/>
                  </a:rPr>
                  <a:t>-value for a test of multiple proportions.</a:t>
                </a:r>
              </a:p>
              <a:p>
                <a:pPr marL="914400" indent="-342900">
                  <a:lnSpc>
                    <a:spcPct val="100000"/>
                  </a:lnSpc>
                  <a:spcBef>
                    <a:spcPts val="600"/>
                  </a:spcBef>
                  <a:buFont typeface="Arial" panose="020B0604020202020204" pitchFamily="34" charset="0"/>
                  <a:buChar char="•"/>
                </a:pPr>
                <a:r>
                  <a:rPr lang="en-US" sz="2000" dirty="0">
                    <a:cs typeface="Arial" panose="020B0604020202020204" pitchFamily="34" charset="0"/>
                  </a:rPr>
                  <a:t>Where </a:t>
                </a:r>
                <a14:m>
                  <m:oMath xmlns:m="http://schemas.openxmlformats.org/officeDocument/2006/math">
                    <m:r>
                      <a:rPr lang="en-US" sz="2000" i="1" dirty="0" smtClean="0">
                        <a:latin typeface="Cambria Math" panose="02040503050406030204" pitchFamily="18" charset="0"/>
                        <a:cs typeface="Arial" panose="020B0604020202020204" pitchFamily="34" charset="0"/>
                      </a:rPr>
                      <m:t>𝑎𝑐𝑡𝑢𝑎𝑙</m:t>
                    </m:r>
                    <m:r>
                      <a:rPr lang="en-US" sz="2000" i="1" dirty="0" smtClean="0">
                        <a:latin typeface="Cambria Math" panose="02040503050406030204" pitchFamily="18" charset="0"/>
                        <a:cs typeface="Arial" panose="020B0604020202020204" pitchFamily="34" charset="0"/>
                      </a:rPr>
                      <m:t>_</m:t>
                    </m:r>
                    <m:r>
                      <a:rPr lang="en-US" sz="2000" i="1" dirty="0"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𝐹</m:t>
                    </m:r>
                    <m:r>
                      <a:rPr lang="en-US" sz="2000" b="0" i="1" dirty="0" smtClean="0">
                        <a:latin typeface="Cambria Math" panose="02040503050406030204" pitchFamily="18" charset="0"/>
                        <a:cs typeface="Arial" panose="020B0604020202020204" pitchFamily="34" charset="0"/>
                      </a:rPr>
                      <m:t>5:</m:t>
                    </m:r>
                    <m:r>
                      <a:rPr lang="en-US" sz="2000" b="0" i="1" dirty="0" smtClean="0">
                        <a:latin typeface="Cambria Math" panose="02040503050406030204" pitchFamily="18" charset="0"/>
                        <a:cs typeface="Arial" panose="020B0604020202020204" pitchFamily="34" charset="0"/>
                      </a:rPr>
                      <m:t>𝐻</m:t>
                    </m:r>
                    <m:r>
                      <a:rPr lang="en-US" sz="2000" b="0" i="1" dirty="0" smtClean="0">
                        <a:latin typeface="Cambria Math" panose="02040503050406030204" pitchFamily="18" charset="0"/>
                        <a:cs typeface="Arial" panose="020B0604020202020204" pitchFamily="34" charset="0"/>
                      </a:rPr>
                      <m:t>6</m:t>
                    </m:r>
                  </m:oMath>
                </a14:m>
                <a:r>
                  <a:rPr lang="en-US" sz="2000" dirty="0">
                    <a:cs typeface="Arial" panose="020B0604020202020204" pitchFamily="34" charset="0"/>
                  </a:rPr>
                  <a:t>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𝑒𝑥𝑝𝑒𝑐𝑡𝑒𝑑</m:t>
                    </m:r>
                    <m:r>
                      <a:rPr lang="en-US" sz="2000" i="1" dirty="0" smtClean="0">
                        <a:latin typeface="Cambria Math" panose="02040503050406030204" pitchFamily="18" charset="0"/>
                        <a:cs typeface="Arial" panose="020B0604020202020204" pitchFamily="34" charset="0"/>
                      </a:rPr>
                      <m:t>_</m:t>
                    </m:r>
                    <m:r>
                      <a:rPr lang="en-US" sz="2000" i="1" dirty="0" smtClean="0">
                        <a:latin typeface="Cambria Math" panose="02040503050406030204" pitchFamily="18" charset="0"/>
                        <a:cs typeface="Arial" panose="020B0604020202020204" pitchFamily="34" charset="0"/>
                      </a:rPr>
                      <m:t>𝑟𝑎𝑛𝑔𝑒</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𝐹</m:t>
                    </m:r>
                    <m:r>
                      <a:rPr lang="en-US" sz="2000" b="0" i="1" dirty="0" smtClean="0">
                        <a:latin typeface="Cambria Math" panose="02040503050406030204" pitchFamily="18" charset="0"/>
                        <a:cs typeface="Arial" panose="020B0604020202020204" pitchFamily="34" charset="0"/>
                      </a:rPr>
                      <m:t>11:</m:t>
                    </m:r>
                    <m:r>
                      <a:rPr lang="en-US" sz="2000" b="0" i="1" dirty="0" smtClean="0">
                        <a:latin typeface="Cambria Math" panose="02040503050406030204" pitchFamily="18" charset="0"/>
                        <a:cs typeface="Arial" panose="020B0604020202020204" pitchFamily="34" charset="0"/>
                      </a:rPr>
                      <m:t>𝐻</m:t>
                    </m:r>
                    <m:r>
                      <a:rPr lang="en-US" sz="2000" b="0" i="1" dirty="0" smtClean="0">
                        <a:latin typeface="Cambria Math" panose="02040503050406030204" pitchFamily="18" charset="0"/>
                        <a:cs typeface="Arial" panose="020B0604020202020204" pitchFamily="34" charset="0"/>
                      </a:rPr>
                      <m:t>12</m:t>
                    </m:r>
                  </m:oMath>
                </a14:m>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343026"/>
                <a:ext cx="10711543" cy="4386262"/>
              </a:xfrm>
              <a:blipFill>
                <a:blip r:embed="rId2"/>
                <a:stretch>
                  <a:fillRect l="-1422" t="-1667" r="-910" b="-2083"/>
                </a:stretch>
              </a:blipFill>
            </p:spPr>
            <p:txBody>
              <a:bodyPr/>
              <a:lstStyle/>
              <a:p>
                <a:r>
                  <a:rPr lang="en-US">
                    <a:noFill/>
                  </a:rPr>
                  <a:t> </a:t>
                </a:r>
              </a:p>
            </p:txBody>
          </p:sp>
        </mc:Fallback>
      </mc:AlternateContent>
    </p:spTree>
    <p:extLst>
      <p:ext uri="{BB962C8B-B14F-4D97-AF65-F5344CB8AC3E}">
        <p14:creationId xmlns:p14="http://schemas.microsoft.com/office/powerpoint/2010/main" val="3116891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0C545-CB2C-73A2-9133-D7A4358941F2}"/>
              </a:ext>
            </a:extLst>
          </p:cNvPr>
          <p:cNvSpPr>
            <a:spLocks noGrp="1"/>
          </p:cNvSpPr>
          <p:nvPr>
            <p:ph type="title"/>
          </p:nvPr>
        </p:nvSpPr>
        <p:spPr>
          <a:xfrm>
            <a:off x="592933" y="365125"/>
            <a:ext cx="10989469" cy="672105"/>
          </a:xfrm>
        </p:spPr>
        <p:txBody>
          <a:bodyPr/>
          <a:lstStyle/>
          <a:p>
            <a:r>
              <a:rPr lang="en-US" sz="3200" dirty="0">
                <a:solidFill>
                  <a:srgbClr val="25894E"/>
                </a:solidFill>
              </a:rPr>
              <a:t>12.3 Excel Worksheet for the Test of Multiple Proportions</a:t>
            </a:r>
            <a:endParaRPr lang="en-US" sz="320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05CCCD2-BD55-AD0A-E415-55DA5CE454C8}"/>
                  </a:ext>
                </a:extLst>
              </p:cNvPr>
              <p:cNvSpPr>
                <a:spLocks noGrp="1"/>
              </p:cNvSpPr>
              <p:nvPr>
                <p:ph type="body" sz="quarter" idx="15"/>
              </p:nvPr>
            </p:nvSpPr>
            <p:spPr>
              <a:xfrm>
                <a:off x="743578" y="1060646"/>
                <a:ext cx="10610222" cy="672105"/>
              </a:xfrm>
            </p:spPr>
            <p:txBody>
              <a:bodyPr/>
              <a:lstStyle/>
              <a:p>
                <a:r>
                  <a:rPr lang="en-US" sz="2000" dirty="0"/>
                  <a:t>The worksheet shows </a:t>
                </a:r>
                <a14:m>
                  <m:oMath xmlns:m="http://schemas.openxmlformats.org/officeDocument/2006/math">
                    <m:r>
                      <a:rPr lang="en-US" sz="2000" i="1" dirty="0" smtClean="0">
                        <a:latin typeface="Cambria Math" panose="02040503050406030204" pitchFamily="18" charset="0"/>
                      </a:rPr>
                      <m:t>𝑝</m:t>
                    </m:r>
                  </m:oMath>
                </a14:m>
                <a:r>
                  <a:rPr lang="en-US" sz="2000" dirty="0"/>
                  <a:t>-value</a:t>
                </a:r>
                <a14:m>
                  <m:oMath xmlns:m="http://schemas.openxmlformats.org/officeDocument/2006/math">
                    <m:r>
                      <a:rPr lang="en-US" sz="2000" b="0" i="0" dirty="0" smtClean="0">
                        <a:latin typeface="Cambria Math" panose="02040503050406030204" pitchFamily="18" charset="0"/>
                      </a:rPr>
                      <m:t> </m:t>
                    </m:r>
                    <m:r>
                      <a:rPr lang="en-US" sz="2000" i="1" dirty="0" smtClean="0">
                        <a:latin typeface="Cambria Math" panose="02040503050406030204" pitchFamily="18" charset="0"/>
                      </a:rPr>
                      <m:t>=0.0</m:t>
                    </m:r>
                    <m:r>
                      <a:rPr lang="en-US" sz="2000" b="0" i="1" dirty="0" smtClean="0">
                        <a:latin typeface="Cambria Math" panose="02040503050406030204" pitchFamily="18" charset="0"/>
                      </a:rPr>
                      <m:t>193</m:t>
                    </m:r>
                  </m:oMath>
                </a14:m>
                <a:r>
                  <a:rPr lang="en-US" sz="2000" dirty="0"/>
                  <a:t>. With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𝛼</m:t>
                    </m:r>
                    <m:r>
                      <a:rPr lang="en-US" sz="2000" b="0" i="1" dirty="0" smtClean="0">
                        <a:latin typeface="Cambria Math" panose="02040503050406030204" pitchFamily="18" charset="0"/>
                        <a:ea typeface="Cambria Math" panose="02040503050406030204" pitchFamily="18" charset="0"/>
                      </a:rPr>
                      <m:t>=0.05</m:t>
                    </m:r>
                  </m:oMath>
                </a14:m>
                <a:r>
                  <a:rPr lang="en-US" sz="2000" dirty="0"/>
                  <a:t>, we reject the null hypothesis that the three populations are equal.</a:t>
                </a:r>
              </a:p>
            </p:txBody>
          </p:sp>
        </mc:Choice>
        <mc:Fallback xmlns="">
          <p:sp>
            <p:nvSpPr>
              <p:cNvPr id="3" name="Text Placeholder 2">
                <a:extLst>
                  <a:ext uri="{FF2B5EF4-FFF2-40B4-BE49-F238E27FC236}">
                    <a16:creationId xmlns:a16="http://schemas.microsoft.com/office/drawing/2014/main" id="{305CCCD2-BD55-AD0A-E415-55DA5CE454C8}"/>
                  </a:ext>
                </a:extLst>
              </p:cNvPr>
              <p:cNvSpPr>
                <a:spLocks noGrp="1" noRot="1" noChangeAspect="1" noMove="1" noResize="1" noEditPoints="1" noAdjustHandles="1" noChangeArrowheads="1" noChangeShapeType="1" noTextEdit="1"/>
              </p:cNvSpPr>
              <p:nvPr>
                <p:ph type="body" sz="quarter" idx="15"/>
              </p:nvPr>
            </p:nvSpPr>
            <p:spPr>
              <a:xfrm>
                <a:off x="743578" y="1060646"/>
                <a:ext cx="10610222" cy="672105"/>
              </a:xfrm>
              <a:blipFill>
                <a:blip r:embed="rId2"/>
                <a:stretch>
                  <a:fillRect l="-1493" t="-10909" b="-14545"/>
                </a:stretch>
              </a:blipFill>
            </p:spPr>
            <p:txBody>
              <a:bodyPr/>
              <a:lstStyle/>
              <a:p>
                <a:r>
                  <a:rPr lang="en-US">
                    <a:noFill/>
                  </a:rPr>
                  <a:t> </a:t>
                </a:r>
              </a:p>
            </p:txBody>
          </p:sp>
        </mc:Fallback>
      </mc:AlternateContent>
      <p:pic>
        <p:nvPicPr>
          <p:cNvPr id="10" name="Picture Placeholder 9" descr="Two screenshots of Excel spreadsheets with three tables. In the first table of both the spreadsheets, column A is labeled owner, column B is labeled automobile, and column C is labeled likely repurchase. The entries in rows 2 through 501 are as follows. Row 2. Owner: 1. Automobile: Chevrolet Impala. Likely repurchase: Yes. Row 3. Owner: 2. Automobile: Chevrolet Impala. Likely repurchase: Yes. Row 4. Owner: 3. Automobile: Chevrolet Impala. Likely repurchase: No. Row 5. Owner: 4. Automobile: Chevrolet Impala. Likely repurchase: Yes. Row 6. Owner: 5. Automobile: Chevrolet Impala. Likely repurchase: Yes. Row 7. Owner: 6. Automobile: Chevrolet Impala. Likely repurchase: Yes. Row 8. Owner: 7. Automobile: Chevrolet Impala. Likely repurchase: Yes. Row 9. Owner: 8. Automobile: Chevrolet Impala. Likely repurchase: Yes. Row 10. Owner: 9. Automobile: Chevrolet Impala. Likely repurchase: No. Row 11. Owner: 10. Automobile: Chevrolet Impala. Likely repurchase: Yes. Row 12. Owner: 11. Automobile: Chevrolet Impala. Likely repurchase: Yes. Row 13. Owner: 12. Automobile: Chevrolet Impala. Likely repurchase: No. Row 14. Owner: 13. Automobile: Chevrolet Impala. Likely repurchase: Yes. Row 15. Owner: 14. Automobile: Chevrolet Impala. Likely repurchase: No. Row 16. Owner: 15. Automobile: Chevrolet Impala. Likely repurchase: No. Row 500. Owner: 499. Automobile: Honda Accord. Likely repurchase: No. Row 501. Owner: 500. Automobile: Honda Accord. Likely repurchase: No. In the second table, E 3 is labeled count of owner, F 3 is labeled automobile, column E is labeled likely repurchase, column F is labeled Chevrolet Impala, column G is labeled Ford Fusion, column H is labeled Honda Accord, and column I is labeled Grand Total. The entries in rows 5 through 7 are as follows. Row 5. Likely repurchase: No. Chevrolet Impala: 56. Ford Fusion: 80. Honda Accord: 52. Grand total: 188. Row 6. Likely repurchase: Yes. Chevrolet Impala: 69. Ford Fusion: 120. Honda Accord: 123. Grand total: 312. Row 7. Likely repurchase: Grand total. Chevrolet Impala: 125. Ford Fusion: 200. Honda Accord: 175. Grand total: 500. In the third table of the first spreadsheet, column E is labeled Likely Repurchase, column F is labeled Chevrolet Impala, column G is labeled Ford Fusion, column H is labeled Honda Accord, and column I is labeled Grand Total. The entries in rows 11 and 12 are as follows. Row 11. Likely repurchase: No. Chevrolet Impala: =(dollar sign I 5*F dollar sign 7)/dollar sign I dollar sign 7. Ford Fusion: =(dollar sign I 5*G dollar sign 7)/dollar sign I dollar sign 7. Honda Accord: =(dollar sign I 5*H dollar sign 7)/dollar sign I dollar sign 7. Grand total: =(dollar sign I 5*I dollar sign 7)/dollar sign I dollar sign 7. Row 12. Likely repurchase: Yes. Chevrolet Impala: =(dollar sign I 6*F dollar sign 7)/dollar sign I dollar sign 7. Ford Fusion: =(dollar sign I 6*G dollar sign 7)/dollar sign I dollar sign 7. Honda Accord: =(dollar sign I 6*H dollar sign 7)/dollar sign I dollar sign 7. Grand total: =(dollar sign I 6*I dollar sign 7)/dollar sign I dollar sign 7. The other entries are as follows. E 19: p-value. F 19: =CHISQ.TEST(F 5:H 6,F 11:H 12). In the third table of the second spreadsheet, column E is labeled Likely Repurchase, column F is labeled Chevrolet Impala, column G is labeled Ford Fusion, column H is labeled Honda Accord, and column I is labeled Grand Total. The entries in rows 11 and 12 are as follows. Row 11. Likely repurchase: No. Chevrolet Impala: 47.0. Ford Fusion: 75.2. Honda Accord: 65.8. Grand total: 188.0. Row 12. Likely repurchase: Yes. Chevrolet Impala: 78.0. Ford Fusion: 124.8. Honda Accord: 109.2. Grand total: 312.0. The other entries are as follows. E 19: p-value. F 19: 0.0193.">
            <a:extLst>
              <a:ext uri="{FF2B5EF4-FFF2-40B4-BE49-F238E27FC236}">
                <a16:creationId xmlns:a16="http://schemas.microsoft.com/office/drawing/2014/main" id="{CFE06AA8-7A30-3237-4887-A546A1594949}"/>
              </a:ext>
            </a:extLst>
          </p:cNvPr>
          <p:cNvPicPr>
            <a:picLocks noGrp="1" noChangeAspect="1"/>
          </p:cNvPicPr>
          <p:nvPr>
            <p:ph type="pic" sz="quarter" idx="16"/>
          </p:nvPr>
        </p:nvPicPr>
        <p:blipFill>
          <a:blip r:embed="rId3"/>
          <a:srcRect l="28" r="28"/>
          <a:stretch/>
        </p:blipFill>
        <p:spPr>
          <a:xfrm>
            <a:off x="1869595" y="1732751"/>
            <a:ext cx="8358188" cy="4114800"/>
          </a:xfrm>
          <a:ln>
            <a:solidFill>
              <a:srgbClr val="000000"/>
            </a:solidFill>
          </a:ln>
        </p:spPr>
      </p:pic>
    </p:spTree>
    <p:extLst>
      <p:ext uri="{BB962C8B-B14F-4D97-AF65-F5344CB8AC3E}">
        <p14:creationId xmlns:p14="http://schemas.microsoft.com/office/powerpoint/2010/main" val="234716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12.3 Comparison of Multiple Population Proportions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32345" y="1322299"/>
                <a:ext cx="10711543" cy="4334582"/>
              </a:xfrm>
            </p:spPr>
            <p:txBody>
              <a:bodyPr/>
              <a:lstStyle/>
              <a:p>
                <a:pPr>
                  <a:lnSpc>
                    <a:spcPct val="100000"/>
                  </a:lnSpc>
                  <a:spcBef>
                    <a:spcPts val="600"/>
                  </a:spcBef>
                  <a:spcAft>
                    <a:spcPts val="600"/>
                  </a:spcAft>
                </a:pPr>
                <a:r>
                  <a:rPr lang="en-US" sz="2000" dirty="0">
                    <a:cs typeface="Arial" panose="020B0604020202020204" pitchFamily="34" charset="0"/>
                  </a:rPr>
                  <a:t>In the </a:t>
                </a:r>
                <a:r>
                  <a:rPr lang="en-US" sz="2000" b="1" dirty="0" err="1">
                    <a:cs typeface="Arial" panose="020B0604020202020204" pitchFamily="34" charset="0"/>
                  </a:rPr>
                  <a:t>Marascuilo</a:t>
                </a:r>
                <a:r>
                  <a:rPr lang="en-US" sz="2000" b="1" dirty="0">
                    <a:cs typeface="Arial" panose="020B0604020202020204" pitchFamily="34" charset="0"/>
                  </a:rPr>
                  <a:t> pairwise comparison procedure</a:t>
                </a:r>
                <a:r>
                  <a:rPr lang="en-US" sz="2000" dirty="0">
                    <a:cs typeface="Arial" panose="020B0604020202020204" pitchFamily="34" charset="0"/>
                  </a:rPr>
                  <a:t>,</a:t>
                </a:r>
                <a:r>
                  <a:rPr lang="en-US" sz="2000" b="1" dirty="0">
                    <a:cs typeface="Arial" panose="020B0604020202020204" pitchFamily="34" charset="0"/>
                  </a:rPr>
                  <a:t> </a:t>
                </a:r>
                <a:r>
                  <a:rPr lang="en-US" sz="2000" dirty="0">
                    <a:solidFill>
                      <a:srgbClr val="000000"/>
                    </a:solidFill>
                    <a:cs typeface="Arial" panose="020B0604020202020204" pitchFamily="34" charset="0"/>
                  </a:rPr>
                  <a:t>we compute a critical value </a:t>
                </a:r>
                <a:r>
                  <a:rPr lang="en-US" sz="2000" dirty="0">
                    <a:cs typeface="Arial" panose="020B0604020202020204" pitchFamily="34" charset="0"/>
                  </a:rPr>
                  <a:t>f</a:t>
                </a:r>
                <a:r>
                  <a:rPr lang="en-US" sz="2000" dirty="0">
                    <a:solidFill>
                      <a:srgbClr val="000000"/>
                    </a:solidFill>
                    <a:cs typeface="Arial" panose="020B0604020202020204" pitchFamily="34" charset="0"/>
                  </a:rPr>
                  <a:t>or each pair of sample proportions to </a:t>
                </a:r>
                <a:r>
                  <a:rPr lang="en-US" sz="2000" dirty="0">
                    <a:cs typeface="Arial" panose="020B0604020202020204" pitchFamily="34" charset="0"/>
                  </a:rPr>
                  <a:t>identify which population proportions are different.</a:t>
                </a:r>
                <a:endParaRPr lang="en-US" sz="2000" dirty="0">
                  <a:solidFill>
                    <a:srgbClr val="000000"/>
                  </a:solidFill>
                  <a:cs typeface="Arial" panose="020B0604020202020204" pitchFamily="34" charset="0"/>
                </a:endParaRPr>
              </a:p>
              <a:p>
                <a:pPr marL="914400">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2000" b="1" i="1" smtClean="0">
                              <a:solidFill>
                                <a:srgbClr val="000000"/>
                              </a:solidFill>
                              <a:latin typeface="Cambria Math" panose="02040503050406030204" pitchFamily="18" charset="0"/>
                              <a:cs typeface="Arial" panose="020B0604020202020204" pitchFamily="34" charset="0"/>
                            </a:rPr>
                          </m:ctrlPr>
                        </m:sSubPr>
                        <m:e>
                          <m:r>
                            <a:rPr lang="en-US" sz="2000" b="1" i="1" smtClean="0">
                              <a:solidFill>
                                <a:srgbClr val="000000"/>
                              </a:solidFill>
                              <a:latin typeface="Cambria Math" panose="02040503050406030204" pitchFamily="18" charset="0"/>
                              <a:cs typeface="Arial" panose="020B0604020202020204" pitchFamily="34" charset="0"/>
                            </a:rPr>
                            <m:t>𝑪𝑽</m:t>
                          </m:r>
                        </m:e>
                        <m:sub>
                          <m:r>
                            <a:rPr lang="en-US" sz="2000" b="1" i="1" smtClean="0">
                              <a:solidFill>
                                <a:srgbClr val="000000"/>
                              </a:solidFill>
                              <a:latin typeface="Cambria Math" panose="02040503050406030204" pitchFamily="18" charset="0"/>
                              <a:cs typeface="Arial" panose="020B0604020202020204" pitchFamily="34" charset="0"/>
                            </a:rPr>
                            <m:t>𝒊𝒋</m:t>
                          </m:r>
                        </m:sub>
                      </m:sSub>
                      <m:r>
                        <a:rPr lang="en-US" sz="2000" b="1" i="1" smtClean="0">
                          <a:solidFill>
                            <a:srgbClr val="000000"/>
                          </a:solidFill>
                          <a:latin typeface="Cambria Math" panose="02040503050406030204" pitchFamily="18" charset="0"/>
                          <a:cs typeface="Arial" panose="020B0604020202020204" pitchFamily="34" charset="0"/>
                        </a:rPr>
                        <m:t>=</m:t>
                      </m:r>
                      <m:rad>
                        <m:radPr>
                          <m:degHide m:val="on"/>
                          <m:ctrlPr>
                            <a:rPr lang="en-US" sz="2000" b="1" i="1" smtClean="0">
                              <a:solidFill>
                                <a:srgbClr val="000000"/>
                              </a:solidFill>
                              <a:latin typeface="Cambria Math" panose="02040503050406030204" pitchFamily="18" charset="0"/>
                              <a:cs typeface="Arial" panose="020B0604020202020204" pitchFamily="34" charset="0"/>
                            </a:rPr>
                          </m:ctrlPr>
                        </m:radPr>
                        <m:deg/>
                        <m:e>
                          <m:sSubSup>
                            <m:sSubSupPr>
                              <m:ctrlPr>
                                <a:rPr lang="en-US" sz="2000" b="1" i="1">
                                  <a:latin typeface="Cambria Math" panose="02040503050406030204" pitchFamily="18" charset="0"/>
                                </a:rPr>
                              </m:ctrlPr>
                            </m:sSubSupPr>
                            <m:e>
                              <m:r>
                                <a:rPr lang="el-GR" sz="2000" b="1" i="1">
                                  <a:latin typeface="Cambria Math" panose="02040503050406030204" pitchFamily="18" charset="0"/>
                                  <a:ea typeface="Cambria Math" panose="02040503050406030204" pitchFamily="18" charset="0"/>
                                </a:rPr>
                                <m:t>𝜲</m:t>
                              </m:r>
                            </m:e>
                            <m:sub>
                              <m:r>
                                <a:rPr lang="en-US" sz="2000" b="1" i="1">
                                  <a:latin typeface="Cambria Math" panose="02040503050406030204" pitchFamily="18" charset="0"/>
                                  <a:ea typeface="Cambria Math" panose="02040503050406030204" pitchFamily="18" charset="0"/>
                                </a:rPr>
                                <m:t>𝜶</m:t>
                              </m:r>
                            </m:sub>
                            <m:sup>
                              <m:r>
                                <a:rPr lang="en-US" sz="2000" b="1" i="1">
                                  <a:latin typeface="Cambria Math" panose="02040503050406030204" pitchFamily="18" charset="0"/>
                                </a:rPr>
                                <m:t>𝟐</m:t>
                              </m:r>
                            </m:sup>
                          </m:sSubSup>
                        </m:e>
                      </m:rad>
                      <m:rad>
                        <m:radPr>
                          <m:degHide m:val="on"/>
                          <m:ctrlPr>
                            <a:rPr lang="en-US" sz="2000" b="1" i="1" smtClean="0">
                              <a:solidFill>
                                <a:srgbClr val="000000"/>
                              </a:solidFill>
                              <a:latin typeface="Cambria Math" panose="02040503050406030204" pitchFamily="18" charset="0"/>
                              <a:cs typeface="Arial" panose="020B0604020202020204" pitchFamily="34" charset="0"/>
                            </a:rPr>
                          </m:ctrlPr>
                        </m:radPr>
                        <m:deg/>
                        <m:e>
                          <m:f>
                            <m:fPr>
                              <m:ctrlPr>
                                <a:rPr lang="en-US" sz="2000" b="1" i="1" smtClean="0">
                                  <a:solidFill>
                                    <a:srgbClr val="000000"/>
                                  </a:solidFill>
                                  <a:latin typeface="Cambria Math" panose="02040503050406030204" pitchFamily="18" charset="0"/>
                                  <a:cs typeface="Arial" panose="020B0604020202020204" pitchFamily="34" charset="0"/>
                                </a:rPr>
                              </m:ctrlPr>
                            </m:fPr>
                            <m:num>
                              <m:sSub>
                                <m:sSubPr>
                                  <m:ctrlPr>
                                    <a:rPr lang="en-US" sz="2000" b="1" i="1" smtClean="0">
                                      <a:solidFill>
                                        <a:srgbClr val="000000"/>
                                      </a:solidFill>
                                      <a:latin typeface="Cambria Math" panose="02040503050406030204" pitchFamily="18" charset="0"/>
                                      <a:cs typeface="Arial" panose="020B0604020202020204" pitchFamily="34" charset="0"/>
                                    </a:rPr>
                                  </m:ctrlPr>
                                </m:sSubPr>
                                <m:e>
                                  <m:acc>
                                    <m:accPr>
                                      <m:chr m:val="̅"/>
                                      <m:ctrlPr>
                                        <a:rPr lang="en-US" sz="2000" b="1" i="1" smtClean="0">
                                          <a:solidFill>
                                            <a:srgbClr val="000000"/>
                                          </a:solidFill>
                                          <a:latin typeface="Cambria Math" panose="02040503050406030204" pitchFamily="18" charset="0"/>
                                          <a:cs typeface="Arial" panose="020B0604020202020204" pitchFamily="34" charset="0"/>
                                        </a:rPr>
                                      </m:ctrlPr>
                                    </m:accPr>
                                    <m:e>
                                      <m:r>
                                        <a:rPr lang="en-US" sz="2000" b="1" i="1" smtClean="0">
                                          <a:solidFill>
                                            <a:srgbClr val="000000"/>
                                          </a:solidFill>
                                          <a:latin typeface="Cambria Math" panose="02040503050406030204" pitchFamily="18" charset="0"/>
                                          <a:cs typeface="Arial" panose="020B0604020202020204" pitchFamily="34" charset="0"/>
                                        </a:rPr>
                                        <m:t>𝒑</m:t>
                                      </m:r>
                                    </m:e>
                                  </m:acc>
                                </m:e>
                                <m:sub>
                                  <m:r>
                                    <a:rPr lang="en-US" sz="2000" b="1" i="1" smtClean="0">
                                      <a:solidFill>
                                        <a:srgbClr val="000000"/>
                                      </a:solidFill>
                                      <a:latin typeface="Cambria Math" panose="02040503050406030204" pitchFamily="18" charset="0"/>
                                      <a:cs typeface="Arial" panose="020B0604020202020204" pitchFamily="34" charset="0"/>
                                    </a:rPr>
                                    <m:t>𝒊</m:t>
                                  </m:r>
                                </m:sub>
                              </m:sSub>
                              <m:d>
                                <m:dPr>
                                  <m:ctrlPr>
                                    <a:rPr lang="en-US" sz="2000" b="1" i="1" smtClean="0">
                                      <a:solidFill>
                                        <a:srgbClr val="000000"/>
                                      </a:solidFill>
                                      <a:latin typeface="Cambria Math" panose="02040503050406030204" pitchFamily="18" charset="0"/>
                                      <a:cs typeface="Arial" panose="020B0604020202020204" pitchFamily="34" charset="0"/>
                                    </a:rPr>
                                  </m:ctrlPr>
                                </m:dPr>
                                <m:e>
                                  <m:r>
                                    <a:rPr lang="en-US" sz="2000" b="1" i="1" smtClean="0">
                                      <a:solidFill>
                                        <a:srgbClr val="000000"/>
                                      </a:solidFill>
                                      <a:latin typeface="Cambria Math" panose="02040503050406030204" pitchFamily="18" charset="0"/>
                                      <a:cs typeface="Arial" panose="020B0604020202020204" pitchFamily="34" charset="0"/>
                                    </a:rPr>
                                    <m:t>𝟏</m:t>
                                  </m:r>
                                  <m:r>
                                    <a:rPr lang="en-US" sz="2000" b="1" i="1" smtClean="0">
                                      <a:solidFill>
                                        <a:srgbClr val="000000"/>
                                      </a:solidFill>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𝒑</m:t>
                                          </m:r>
                                        </m:e>
                                      </m:acc>
                                    </m:e>
                                    <m:sub>
                                      <m:r>
                                        <a:rPr lang="en-US" sz="2000" b="1" i="1">
                                          <a:latin typeface="Cambria Math" panose="02040503050406030204" pitchFamily="18" charset="0"/>
                                          <a:cs typeface="Arial" panose="020B0604020202020204" pitchFamily="34" charset="0"/>
                                        </a:rPr>
                                        <m:t>𝒊</m:t>
                                      </m:r>
                                    </m:sub>
                                  </m:sSub>
                                </m:e>
                              </m:d>
                            </m:num>
                            <m:den>
                              <m:sSub>
                                <m:sSubPr>
                                  <m:ctrlPr>
                                    <a:rPr lang="en-US" sz="2000" b="1" i="1" smtClean="0">
                                      <a:solidFill>
                                        <a:srgbClr val="000000"/>
                                      </a:solidFill>
                                      <a:latin typeface="Cambria Math" panose="02040503050406030204" pitchFamily="18" charset="0"/>
                                      <a:cs typeface="Arial" panose="020B0604020202020204" pitchFamily="34" charset="0"/>
                                    </a:rPr>
                                  </m:ctrlPr>
                                </m:sSubPr>
                                <m:e>
                                  <m:r>
                                    <a:rPr lang="en-US" sz="2000" b="1" i="1" smtClean="0">
                                      <a:solidFill>
                                        <a:srgbClr val="000000"/>
                                      </a:solidFill>
                                      <a:latin typeface="Cambria Math" panose="02040503050406030204" pitchFamily="18" charset="0"/>
                                      <a:cs typeface="Arial" panose="020B0604020202020204" pitchFamily="34" charset="0"/>
                                    </a:rPr>
                                    <m:t>𝒏</m:t>
                                  </m:r>
                                </m:e>
                                <m:sub>
                                  <m:r>
                                    <a:rPr lang="en-US" sz="2000" b="1" i="1" smtClean="0">
                                      <a:solidFill>
                                        <a:srgbClr val="000000"/>
                                      </a:solidFill>
                                      <a:latin typeface="Cambria Math" panose="02040503050406030204" pitchFamily="18" charset="0"/>
                                      <a:cs typeface="Arial" panose="020B0604020202020204" pitchFamily="34" charset="0"/>
                                    </a:rPr>
                                    <m:t>𝒊</m:t>
                                  </m:r>
                                </m:sub>
                              </m:sSub>
                            </m:den>
                          </m:f>
                          <m:r>
                            <a:rPr lang="en-US" sz="2000" b="1" i="1" smtClean="0">
                              <a:solidFill>
                                <a:srgbClr val="000000"/>
                              </a:solidFill>
                              <a:latin typeface="Cambria Math" panose="02040503050406030204" pitchFamily="18" charset="0"/>
                              <a:cs typeface="Arial" panose="020B0604020202020204" pitchFamily="34" charset="0"/>
                            </a:rPr>
                            <m:t>+</m:t>
                          </m:r>
                          <m:f>
                            <m:fPr>
                              <m:ctrlPr>
                                <a:rPr lang="en-US" sz="2000" b="1" i="1">
                                  <a:latin typeface="Cambria Math" panose="02040503050406030204" pitchFamily="18" charset="0"/>
                                  <a:cs typeface="Arial" panose="020B0604020202020204" pitchFamily="34" charset="0"/>
                                </a:rPr>
                              </m:ctrlPr>
                            </m:fPr>
                            <m:num>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𝒑</m:t>
                                      </m:r>
                                    </m:e>
                                  </m:acc>
                                </m:e>
                                <m:sub>
                                  <m:r>
                                    <a:rPr lang="en-US" sz="2000" b="1" i="1" smtClean="0">
                                      <a:latin typeface="Cambria Math" panose="02040503050406030204" pitchFamily="18" charset="0"/>
                                      <a:cs typeface="Arial" panose="020B0604020202020204" pitchFamily="34" charset="0"/>
                                    </a:rPr>
                                    <m:t>𝒋</m:t>
                                  </m:r>
                                </m:sub>
                              </m:sSub>
                              <m:d>
                                <m:dPr>
                                  <m:ctrlPr>
                                    <a:rPr lang="en-US" sz="2000" b="1" i="1">
                                      <a:latin typeface="Cambria Math" panose="02040503050406030204" pitchFamily="18" charset="0"/>
                                      <a:cs typeface="Arial" panose="020B0604020202020204" pitchFamily="34" charset="0"/>
                                    </a:rPr>
                                  </m:ctrlPr>
                                </m:dPr>
                                <m:e>
                                  <m:r>
                                    <a:rPr lang="en-US" sz="2000" b="1" i="1">
                                      <a:latin typeface="Cambria Math" panose="02040503050406030204" pitchFamily="18" charset="0"/>
                                      <a:cs typeface="Arial" panose="020B0604020202020204" pitchFamily="34" charset="0"/>
                                    </a:rPr>
                                    <m:t>𝟏</m:t>
                                  </m:r>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𝒑</m:t>
                                          </m:r>
                                        </m:e>
                                      </m:acc>
                                    </m:e>
                                    <m:sub>
                                      <m:r>
                                        <a:rPr lang="en-US" sz="2000" b="1" i="1" smtClean="0">
                                          <a:latin typeface="Cambria Math" panose="02040503050406030204" pitchFamily="18" charset="0"/>
                                          <a:cs typeface="Arial" panose="020B0604020202020204" pitchFamily="34" charset="0"/>
                                        </a:rPr>
                                        <m:t>𝒋</m:t>
                                      </m:r>
                                    </m:sub>
                                  </m:sSub>
                                </m:e>
                              </m:d>
                            </m:num>
                            <m:den>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𝒏</m:t>
                                  </m:r>
                                </m:e>
                                <m:sub>
                                  <m:r>
                                    <a:rPr lang="en-US" sz="2000" b="1" i="1" smtClean="0">
                                      <a:latin typeface="Cambria Math" panose="02040503050406030204" pitchFamily="18" charset="0"/>
                                      <a:cs typeface="Arial" panose="020B0604020202020204" pitchFamily="34" charset="0"/>
                                    </a:rPr>
                                    <m:t>𝒋</m:t>
                                  </m:r>
                                </m:sub>
                              </m:sSub>
                            </m:den>
                          </m:f>
                        </m:e>
                      </m:rad>
                    </m:oMath>
                  </m:oMathPara>
                </a14:m>
                <a:endParaRPr lang="en-US" sz="2000" b="1" dirty="0">
                  <a:solidFill>
                    <a:srgbClr val="000000"/>
                  </a:solidFill>
                  <a:cs typeface="Arial" panose="020B0604020202020204" pitchFamily="34" charset="0"/>
                </a:endParaRPr>
              </a:p>
              <a:p>
                <a:pPr>
                  <a:lnSpc>
                    <a:spcPct val="100000"/>
                  </a:lnSpc>
                  <a:spcBef>
                    <a:spcPts val="600"/>
                  </a:spcBef>
                </a:pPr>
                <a:r>
                  <a:rPr lang="en-US" sz="2000" dirty="0">
                    <a:solidFill>
                      <a:srgbClr val="000000"/>
                    </a:solidFill>
                    <a:cs typeface="Arial" panose="020B0604020202020204" pitchFamily="34" charset="0"/>
                  </a:rPr>
                  <a:t>Where</a:t>
                </a:r>
              </a:p>
              <a:p>
                <a:pPr marL="914400">
                  <a:spcBef>
                    <a:spcPts val="0"/>
                  </a:spcBef>
                </a:pPr>
                <a14:m>
                  <m:oMath xmlns:m="http://schemas.openxmlformats.org/officeDocument/2006/math">
                    <m:r>
                      <a:rPr lang="en-US" sz="2000" i="1" smtClean="0">
                        <a:latin typeface="Cambria Math" panose="02040503050406030204" pitchFamily="18" charset="0"/>
                        <a:ea typeface="Cambria Math" panose="02040503050406030204" pitchFamily="18" charset="0"/>
                      </a:rPr>
                      <m:t>𝛼</m:t>
                    </m:r>
                  </m:oMath>
                </a14:m>
                <a:r>
                  <a:rPr lang="en-US" sz="2000" dirty="0">
                    <a:latin typeface="Cambria Math" panose="02040503050406030204" pitchFamily="18" charset="0"/>
                  </a:rPr>
                  <a:t> </a:t>
                </a:r>
                <a:r>
                  <a:rPr lang="en-US" sz="2000" dirty="0">
                    <a:latin typeface="Arial" panose="020B0604020202020204" pitchFamily="34" charset="0"/>
                    <a:cs typeface="Arial" panose="020B0604020202020204" pitchFamily="34" charset="0"/>
                  </a:rPr>
                  <a:t>is the significance level</a:t>
                </a:r>
                <a:endParaRPr lang="en-US" sz="2000" dirty="0">
                  <a:latin typeface="Cambria Math" panose="02040503050406030204" pitchFamily="18" charset="0"/>
                </a:endParaRPr>
              </a:p>
              <a:p>
                <a:pPr marL="914400">
                  <a:spcBef>
                    <a:spcPts val="600"/>
                  </a:spcBef>
                </a:pPr>
                <a14:m>
                  <m:oMath xmlns:m="http://schemas.openxmlformats.org/officeDocument/2006/math">
                    <m:sSubSup>
                      <m:sSubSupPr>
                        <m:ctrlPr>
                          <a:rPr lang="en-US" sz="2000" i="1" smtClean="0">
                            <a:latin typeface="Cambria Math" panose="02040503050406030204" pitchFamily="18" charset="0"/>
                          </a:rPr>
                        </m:ctrlPr>
                      </m:sSubSupPr>
                      <m:e>
                        <m:r>
                          <a:rPr lang="el-GR" sz="2000" b="0" i="1">
                            <a:latin typeface="Cambria Math" panose="02040503050406030204" pitchFamily="18" charset="0"/>
                            <a:ea typeface="Cambria Math" panose="02040503050406030204" pitchFamily="18" charset="0"/>
                          </a:rPr>
                          <m:t>𝛸</m:t>
                        </m:r>
                      </m:e>
                      <m:sub>
                        <m:r>
                          <a:rPr lang="en-US" sz="2000" b="0" i="1">
                            <a:latin typeface="Cambria Math" panose="02040503050406030204" pitchFamily="18" charset="0"/>
                            <a:ea typeface="Cambria Math" panose="02040503050406030204" pitchFamily="18" charset="0"/>
                          </a:rPr>
                          <m:t>𝛼</m:t>
                        </m:r>
                      </m:sub>
                      <m:sup>
                        <m:r>
                          <a:rPr lang="en-US" sz="2000" b="0" i="1">
                            <a:latin typeface="Cambria Math" panose="02040503050406030204" pitchFamily="18" charset="0"/>
                          </a:rPr>
                          <m:t>2</m:t>
                        </m:r>
                      </m:sup>
                    </m:sSubSup>
                  </m:oMath>
                </a14:m>
                <a:r>
                  <a:rPr lang="en-US" sz="2000" dirty="0">
                    <a:solidFill>
                      <a:srgbClr val="000000"/>
                    </a:solidFill>
                    <a:cs typeface="Arial" panose="020B0604020202020204" pitchFamily="34" charset="0"/>
                  </a:rPr>
                  <a:t> is the critical value for a chi-square distribution with </a:t>
                </a:r>
                <a14:m>
                  <m:oMath xmlns:m="http://schemas.openxmlformats.org/officeDocument/2006/math">
                    <m:r>
                      <a:rPr lang="en-US" sz="2000" i="1">
                        <a:latin typeface="Cambria Math" panose="02040503050406030204" pitchFamily="18" charset="0"/>
                      </a:rPr>
                      <m:t>𝑘</m:t>
                    </m:r>
                    <m:r>
                      <a:rPr lang="en-US" sz="2000" i="1">
                        <a:latin typeface="Cambria Math" panose="02040503050406030204" pitchFamily="18" charset="0"/>
                      </a:rPr>
                      <m:t>−1</m:t>
                    </m:r>
                  </m:oMath>
                </a14:m>
                <a:r>
                  <a:rPr lang="en-US" sz="2000" dirty="0">
                    <a:solidFill>
                      <a:srgbClr val="000000"/>
                    </a:solidFill>
                    <a:cs typeface="Arial" panose="020B0604020202020204" pitchFamily="34" charset="0"/>
                  </a:rPr>
                  <a:t> degrees of freedom, such that </a:t>
                </a:r>
                <a14:m>
                  <m:oMath xmlns:m="http://schemas.openxmlformats.org/officeDocument/2006/math">
                    <m:r>
                      <a:rPr lang="en-US" sz="2000" i="1" dirty="0">
                        <a:latin typeface="Cambria Math" panose="02040503050406030204" pitchFamily="18" charset="0"/>
                      </a:rPr>
                      <m:t>𝑃</m:t>
                    </m:r>
                    <m:d>
                      <m:dPr>
                        <m:ctrlPr>
                          <a:rPr lang="en-US" sz="2000" i="1" dirty="0">
                            <a:latin typeface="Cambria Math" panose="02040503050406030204" pitchFamily="18" charset="0"/>
                          </a:rPr>
                        </m:ctrlPr>
                      </m:dPr>
                      <m:e>
                        <m:sSup>
                          <m:sSupPr>
                            <m:ctrlPr>
                              <a:rPr lang="en-US" sz="2000" i="1">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r>
                          <a:rPr lang="en-US" sz="2000" i="1" dirty="0">
                            <a:latin typeface="Cambria Math" panose="02040503050406030204" pitchFamily="18" charset="0"/>
                          </a:rPr>
                          <m:t>≥</m:t>
                        </m:r>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e>
                    </m:d>
                    <m:r>
                      <a:rPr lang="en-US" sz="2000" b="0" i="1" dirty="0" smtClean="0">
                        <a:latin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𝛼</m:t>
                    </m:r>
                  </m:oMath>
                </a14:m>
                <a:endParaRPr lang="en-US" sz="2000" dirty="0">
                  <a:solidFill>
                    <a:srgbClr val="000000"/>
                  </a:solidFill>
                  <a:cs typeface="Arial" panose="020B0604020202020204" pitchFamily="34" charset="0"/>
                </a:endParaRPr>
              </a:p>
              <a:p>
                <a:pPr marL="914400">
                  <a:spcBef>
                    <a:spcPts val="600"/>
                  </a:spcBef>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acc>
                          <m:accPr>
                            <m:chr m:val="̅"/>
                            <m:ctrlPr>
                              <a:rPr lang="en-US" sz="2000" i="1" smtClean="0">
                                <a:solidFill>
                                  <a:srgbClr val="000000"/>
                                </a:solidFill>
                                <a:latin typeface="Cambria Math" panose="02040503050406030204" pitchFamily="18" charset="0"/>
                                <a:cs typeface="Arial" panose="020B0604020202020204" pitchFamily="34" charset="0"/>
                              </a:rPr>
                            </m:ctrlPr>
                          </m:accPr>
                          <m:e>
                            <m:r>
                              <a:rPr lang="en-US" sz="2000" b="0" i="1" smtClean="0">
                                <a:solidFill>
                                  <a:srgbClr val="000000"/>
                                </a:solidFill>
                                <a:latin typeface="Cambria Math" panose="02040503050406030204" pitchFamily="18" charset="0"/>
                                <a:cs typeface="Arial" panose="020B0604020202020204" pitchFamily="34" charset="0"/>
                              </a:rPr>
                              <m:t>𝑝</m:t>
                            </m:r>
                          </m:e>
                        </m:acc>
                      </m:e>
                      <m:sub>
                        <m:r>
                          <a:rPr lang="en-US" sz="2000" b="0" i="1" smtClean="0">
                            <a:solidFill>
                              <a:srgbClr val="000000"/>
                            </a:solidFill>
                            <a:latin typeface="Cambria Math" panose="02040503050406030204" pitchFamily="18" charset="0"/>
                            <a:cs typeface="Arial" panose="020B0604020202020204" pitchFamily="34" charset="0"/>
                          </a:rPr>
                          <m:t>𝑖</m:t>
                        </m:r>
                      </m:sub>
                    </m:sSub>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cs typeface="Arial" panose="020B0604020202020204" pitchFamily="34" charset="0"/>
                          </a:rPr>
                          <m:t>𝑗</m:t>
                        </m:r>
                      </m:sub>
                    </m:sSub>
                  </m:oMath>
                </a14:m>
                <a:r>
                  <a:rPr lang="en-US" sz="2000" dirty="0">
                    <a:solidFill>
                      <a:srgbClr val="000000"/>
                    </a:solidFill>
                    <a:cs typeface="Arial" panose="020B0604020202020204" pitchFamily="34" charset="0"/>
                  </a:rPr>
                  <a:t> are the sample proportions for populations </a:t>
                </a:r>
                <a:r>
                  <a:rPr lang="en-US" sz="2000" i="1" dirty="0" err="1">
                    <a:solidFill>
                      <a:srgbClr val="000000"/>
                    </a:solidFill>
                    <a:cs typeface="Arial" panose="020B0604020202020204" pitchFamily="34" charset="0"/>
                  </a:rPr>
                  <a:t>i</a:t>
                </a:r>
                <a:r>
                  <a:rPr lang="en-US" sz="2000" dirty="0">
                    <a:solidFill>
                      <a:srgbClr val="000000"/>
                    </a:solidFill>
                    <a:cs typeface="Arial" panose="020B0604020202020204" pitchFamily="34" charset="0"/>
                  </a:rPr>
                  <a:t> and </a:t>
                </a:r>
                <a:r>
                  <a:rPr lang="en-US" sz="2000" i="1" dirty="0">
                    <a:solidFill>
                      <a:srgbClr val="000000"/>
                    </a:solidFill>
                    <a:cs typeface="Arial" panose="020B0604020202020204" pitchFamily="34" charset="0"/>
                  </a:rPr>
                  <a:t>j</a:t>
                </a:r>
                <a:r>
                  <a:rPr lang="en-US" sz="2000" dirty="0">
                    <a:solidFill>
                      <a:srgbClr val="000000"/>
                    </a:solidFill>
                    <a:cs typeface="Arial" panose="020B0604020202020204" pitchFamily="34" charset="0"/>
                  </a:rPr>
                  <a:t>.</a:t>
                </a:r>
              </a:p>
              <a:p>
                <a:pPr marL="914400">
                  <a:spcBef>
                    <a:spcPts val="600"/>
                  </a:spcBef>
                  <a:spcAft>
                    <a:spcPts val="600"/>
                  </a:spcAft>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𝑛</m:t>
                        </m:r>
                      </m:e>
                      <m:sub>
                        <m:r>
                          <a:rPr lang="en-US" sz="2000" b="0" i="1">
                            <a:latin typeface="Cambria Math" panose="02040503050406030204" pitchFamily="18" charset="0"/>
                            <a:cs typeface="Arial" panose="020B0604020202020204" pitchFamily="34" charset="0"/>
                          </a:rPr>
                          <m:t>𝑖</m:t>
                        </m:r>
                      </m:sub>
                    </m:sSub>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𝑗</m:t>
                        </m:r>
                      </m:sub>
                    </m:sSub>
                  </m:oMath>
                </a14:m>
                <a:r>
                  <a:rPr lang="en-US" sz="2000" dirty="0">
                    <a:solidFill>
                      <a:srgbClr val="000000"/>
                    </a:solidFill>
                    <a:cs typeface="Arial" panose="020B0604020202020204" pitchFamily="34" charset="0"/>
                  </a:rPr>
                  <a:t> are the sample sizes for populations </a:t>
                </a:r>
                <a:r>
                  <a:rPr lang="en-US" sz="2000" i="1" dirty="0" err="1">
                    <a:solidFill>
                      <a:srgbClr val="000000"/>
                    </a:solidFill>
                    <a:cs typeface="Arial" panose="020B0604020202020204" pitchFamily="34" charset="0"/>
                  </a:rPr>
                  <a:t>i</a:t>
                </a:r>
                <a:r>
                  <a:rPr lang="en-US" sz="2000" dirty="0">
                    <a:solidFill>
                      <a:srgbClr val="000000"/>
                    </a:solidFill>
                    <a:cs typeface="Arial" panose="020B0604020202020204" pitchFamily="34" charset="0"/>
                  </a:rPr>
                  <a:t> and </a:t>
                </a:r>
                <a:r>
                  <a:rPr lang="en-US" sz="2000" i="1" dirty="0">
                    <a:solidFill>
                      <a:srgbClr val="000000"/>
                    </a:solidFill>
                    <a:cs typeface="Arial" panose="020B0604020202020204" pitchFamily="34" charset="0"/>
                  </a:rPr>
                  <a:t>j</a:t>
                </a:r>
                <a:r>
                  <a:rPr lang="en-US" sz="2000" dirty="0">
                    <a:solidFill>
                      <a:srgbClr val="000000"/>
                    </a:solidFill>
                    <a:cs typeface="Arial" panose="020B0604020202020204" pitchFamily="34" charset="0"/>
                  </a:rPr>
                  <a:t>.</a:t>
                </a:r>
              </a:p>
              <a:p>
                <a:pPr>
                  <a:spcBef>
                    <a:spcPts val="600"/>
                  </a:spcBef>
                </a:pPr>
                <a:r>
                  <a:rPr lang="en-US" sz="2000" dirty="0">
                    <a:solidFill>
                      <a:srgbClr val="000000"/>
                    </a:solidFill>
                    <a:cs typeface="Arial" panose="020B0604020202020204" pitchFamily="34" charset="0"/>
                  </a:rPr>
                  <a:t>If </a:t>
                </a:r>
                <a14:m>
                  <m:oMath xmlns:m="http://schemas.openxmlformats.org/officeDocument/2006/math">
                    <m:sSub>
                      <m:sSubPr>
                        <m:ctrlPr>
                          <a:rPr lang="en-US" sz="2000" b="1" i="1" smtClean="0">
                            <a:solidFill>
                              <a:srgbClr val="000000"/>
                            </a:solidFill>
                            <a:latin typeface="Cambria Math" panose="02040503050406030204" pitchFamily="18" charset="0"/>
                            <a:cs typeface="Arial" panose="020B0604020202020204" pitchFamily="34" charset="0"/>
                          </a:rPr>
                        </m:ctrlPr>
                      </m:sSubPr>
                      <m:e>
                        <m:d>
                          <m:dPr>
                            <m:begChr m:val="|"/>
                            <m:endChr m:val="|"/>
                            <m:ctrlPr>
                              <a:rPr lang="en-US" sz="2000" b="1" i="1" smtClean="0">
                                <a:solidFill>
                                  <a:srgbClr val="000000"/>
                                </a:solidFill>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𝒑</m:t>
                                    </m:r>
                                  </m:e>
                                </m:acc>
                              </m:e>
                              <m:sub>
                                <m:r>
                                  <a:rPr lang="en-US" sz="2000" b="1" i="1">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𝒑</m:t>
                                    </m:r>
                                  </m:e>
                                </m:acc>
                              </m:e>
                              <m:sub>
                                <m:r>
                                  <a:rPr lang="en-US" sz="2000" b="1" i="1">
                                    <a:latin typeface="Cambria Math" panose="02040503050406030204" pitchFamily="18" charset="0"/>
                                    <a:cs typeface="Arial" panose="020B0604020202020204" pitchFamily="34" charset="0"/>
                                  </a:rPr>
                                  <m:t>𝒋</m:t>
                                </m:r>
                              </m:sub>
                            </m:sSub>
                          </m:e>
                        </m:d>
                        <m:r>
                          <a:rPr lang="en-US" sz="2000" b="1"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
                          <a:rPr lang="en-US" sz="2000" b="1" i="1" smtClean="0">
                            <a:solidFill>
                              <a:srgbClr val="000000"/>
                            </a:solidFill>
                            <a:latin typeface="Cambria Math" panose="02040503050406030204" pitchFamily="18" charset="0"/>
                            <a:cs typeface="Arial" panose="020B0604020202020204" pitchFamily="34" charset="0"/>
                          </a:rPr>
                          <m:t>𝑪𝑽</m:t>
                        </m:r>
                      </m:e>
                      <m:sub>
                        <m:r>
                          <a:rPr lang="en-US" sz="2000" b="1" i="1" smtClean="0">
                            <a:solidFill>
                              <a:srgbClr val="000000"/>
                            </a:solidFill>
                            <a:latin typeface="Cambria Math" panose="02040503050406030204" pitchFamily="18" charset="0"/>
                            <a:cs typeface="Arial" panose="020B0604020202020204" pitchFamily="34" charset="0"/>
                          </a:rPr>
                          <m:t>𝒊𝒋</m:t>
                        </m:r>
                      </m:sub>
                    </m:sSub>
                  </m:oMath>
                </a14:m>
                <a:r>
                  <a:rPr lang="en-US" sz="2000" dirty="0">
                    <a:solidFill>
                      <a:srgbClr val="000000"/>
                    </a:solidFill>
                    <a:cs typeface="Arial" panose="020B0604020202020204" pitchFamily="34" charset="0"/>
                  </a:rPr>
                  <a:t>, the difference </a:t>
                </a:r>
                <a:r>
                  <a:rPr lang="en-US" sz="2000" dirty="0">
                    <a:cs typeface="Arial" panose="020B0604020202020204" pitchFamily="34" charset="0"/>
                  </a:rPr>
                  <a:t>between </a:t>
                </a:r>
                <a:r>
                  <a:rPr lang="en-US" sz="2000" dirty="0">
                    <a:solidFill>
                      <a:srgbClr val="000000"/>
                    </a:solidFill>
                    <a:cs typeface="Arial" panose="020B0604020202020204" pitchFamily="34" charset="0"/>
                  </a:rPr>
                  <a:t>population proportions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𝑖</m:t>
                        </m:r>
                      </m:sub>
                    </m:sSub>
                  </m:oMath>
                </a14:m>
                <a:r>
                  <a:rPr lang="en-US" sz="2000" dirty="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𝑗</m:t>
                        </m:r>
                      </m:sub>
                    </m:sSub>
                  </m:oMath>
                </a14:m>
                <a:r>
                  <a:rPr lang="en-US" sz="2000" dirty="0">
                    <a:solidFill>
                      <a:srgbClr val="000000"/>
                    </a:solidFill>
                    <a:cs typeface="Arial" panose="020B0604020202020204" pitchFamily="34" charset="0"/>
                  </a:rPr>
                  <a:t> is significant.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32345" y="1322299"/>
                <a:ext cx="10711543" cy="4334582"/>
              </a:xfrm>
              <a:blipFill>
                <a:blip r:embed="rId2"/>
                <a:stretch>
                  <a:fillRect l="-1423" t="-1688" r="-1195" b="-1406"/>
                </a:stretch>
              </a:blipFill>
            </p:spPr>
            <p:txBody>
              <a:bodyPr/>
              <a:lstStyle/>
              <a:p>
                <a:r>
                  <a:rPr lang="en-US">
                    <a:noFill/>
                  </a:rPr>
                  <a:t> </a:t>
                </a:r>
              </a:p>
            </p:txBody>
          </p:sp>
        </mc:Fallback>
      </mc:AlternateContent>
    </p:spTree>
    <p:extLst>
      <p:ext uri="{BB962C8B-B14F-4D97-AF65-F5344CB8AC3E}">
        <p14:creationId xmlns:p14="http://schemas.microsoft.com/office/powerpoint/2010/main" val="57014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12.3 Calculation of the Pairwise Differences Between Sample Proportions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72083"/>
                <a:ext cx="10711543" cy="4122683"/>
              </a:xfrm>
            </p:spPr>
            <p:txBody>
              <a:bodyPr/>
              <a:lstStyle/>
              <a:p>
                <a:pPr>
                  <a:spcBef>
                    <a:spcPts val="600"/>
                  </a:spcBef>
                  <a:spcAft>
                    <a:spcPts val="0"/>
                  </a:spcAft>
                </a:pPr>
                <a:r>
                  <a:rPr lang="en-US" sz="2000" dirty="0"/>
                  <a:t>First, we compute the three sample proportions in the automobile brand loyalty study.</a:t>
                </a:r>
              </a:p>
              <a:p>
                <a:pPr marL="914400">
                  <a:spcBef>
                    <a:spcPts val="600"/>
                  </a:spcBef>
                  <a:spcAft>
                    <a:spcPts val="0"/>
                  </a:spcAft>
                </a:pPr>
                <a:r>
                  <a:rPr lang="en-US" sz="2000" dirty="0"/>
                  <a:t>Chevrolet Impala: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i="1">
                                <a:latin typeface="Cambria Math" panose="02040503050406030204" pitchFamily="18" charset="0"/>
                              </a:rPr>
                              <m:t>𝑝</m:t>
                            </m:r>
                          </m:e>
                        </m:acc>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69</m:t>
                        </m:r>
                      </m:num>
                      <m:den>
                        <m:r>
                          <a:rPr lang="en-US" sz="2000" b="0" i="1" smtClean="0">
                            <a:latin typeface="Cambria Math" panose="02040503050406030204" pitchFamily="18" charset="0"/>
                          </a:rPr>
                          <m:t>125=0.5520</m:t>
                        </m:r>
                      </m:den>
                    </m:f>
                  </m:oMath>
                </a14:m>
                <a:r>
                  <a:rPr lang="en-US" sz="2000" dirty="0"/>
                  <a:t> </a:t>
                </a:r>
              </a:p>
              <a:p>
                <a:pPr marL="914400">
                  <a:spcBef>
                    <a:spcPts val="600"/>
                  </a:spcBef>
                  <a:spcAft>
                    <a:spcPts val="0"/>
                  </a:spcAft>
                </a:pPr>
                <a:r>
                  <a:rPr lang="en-US" sz="2000" dirty="0"/>
                  <a:t>Ford Fusion: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b="0" i="1" smtClean="0">
                            <a:latin typeface="Cambria Math" panose="02040503050406030204" pitchFamily="18" charset="0"/>
                          </a:rPr>
                          <m:t>2</m:t>
                        </m:r>
                      </m:sub>
                    </m:sSub>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b="0" i="1" smtClean="0">
                            <a:latin typeface="Cambria Math" panose="02040503050406030204" pitchFamily="18" charset="0"/>
                          </a:rPr>
                          <m:t>120</m:t>
                        </m:r>
                      </m:num>
                      <m:den>
                        <m:r>
                          <a:rPr lang="en-US" sz="2000" b="0" i="1" smtClean="0">
                            <a:latin typeface="Cambria Math" panose="02040503050406030204" pitchFamily="18" charset="0"/>
                          </a:rPr>
                          <m:t>200</m:t>
                        </m:r>
                        <m:r>
                          <a:rPr lang="en-US" sz="2000" i="1">
                            <a:latin typeface="Cambria Math" panose="02040503050406030204" pitchFamily="18" charset="0"/>
                          </a:rPr>
                          <m:t>=0.</m:t>
                        </m:r>
                        <m:r>
                          <a:rPr lang="en-US" sz="2000" b="0" i="1" smtClean="0">
                            <a:latin typeface="Cambria Math" panose="02040503050406030204" pitchFamily="18" charset="0"/>
                          </a:rPr>
                          <m:t>600</m:t>
                        </m:r>
                        <m:r>
                          <a:rPr lang="en-US" sz="2000" i="1">
                            <a:latin typeface="Cambria Math" panose="02040503050406030204" pitchFamily="18" charset="0"/>
                          </a:rPr>
                          <m:t>0</m:t>
                        </m:r>
                      </m:den>
                    </m:f>
                  </m:oMath>
                </a14:m>
                <a:r>
                  <a:rPr lang="en-US" sz="2000" dirty="0"/>
                  <a:t> </a:t>
                </a:r>
              </a:p>
              <a:p>
                <a:pPr marL="914400">
                  <a:spcBef>
                    <a:spcPts val="600"/>
                  </a:spcBef>
                  <a:spcAft>
                    <a:spcPts val="600"/>
                  </a:spcAft>
                </a:pPr>
                <a:r>
                  <a:rPr lang="en-US" sz="2000" dirty="0"/>
                  <a:t>Honda Accord: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b="0" i="1" smtClean="0">
                            <a:latin typeface="Cambria Math" panose="02040503050406030204" pitchFamily="18" charset="0"/>
                          </a:rPr>
                          <m:t>3</m:t>
                        </m:r>
                      </m:sub>
                    </m:sSub>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b="0" i="1" smtClean="0">
                            <a:latin typeface="Cambria Math" panose="02040503050406030204" pitchFamily="18" charset="0"/>
                          </a:rPr>
                          <m:t>124</m:t>
                        </m:r>
                      </m:num>
                      <m:den>
                        <m:r>
                          <a:rPr lang="en-US" sz="2000" i="1">
                            <a:latin typeface="Cambria Math" panose="02040503050406030204" pitchFamily="18" charset="0"/>
                          </a:rPr>
                          <m:t>1</m:t>
                        </m:r>
                        <m:r>
                          <a:rPr lang="en-US" sz="2000" b="0" i="1" smtClean="0">
                            <a:latin typeface="Cambria Math" panose="02040503050406030204" pitchFamily="18" charset="0"/>
                          </a:rPr>
                          <m:t>7</m:t>
                        </m:r>
                        <m:r>
                          <a:rPr lang="en-US" sz="2000" i="1">
                            <a:latin typeface="Cambria Math" panose="02040503050406030204" pitchFamily="18" charset="0"/>
                          </a:rPr>
                          <m:t>5=0.</m:t>
                        </m:r>
                        <m:r>
                          <a:rPr lang="en-US" sz="2000" b="0" i="1" smtClean="0">
                            <a:latin typeface="Cambria Math" panose="02040503050406030204" pitchFamily="18" charset="0"/>
                          </a:rPr>
                          <m:t>7029</m:t>
                        </m:r>
                      </m:den>
                    </m:f>
                  </m:oMath>
                </a14:m>
                <a:r>
                  <a:rPr lang="en-US" sz="2000" dirty="0"/>
                  <a:t> </a:t>
                </a:r>
              </a:p>
              <a:p>
                <a:pPr>
                  <a:spcBef>
                    <a:spcPts val="600"/>
                  </a:spcBef>
                  <a:spcAft>
                    <a:spcPts val="0"/>
                  </a:spcAft>
                </a:pPr>
                <a:r>
                  <a:rPr lang="en-US" sz="2000" dirty="0"/>
                  <a:t>Second, we compute the absolute value of the pairwise difference between sample proportions for each pair of populations in the study.</a:t>
                </a:r>
              </a:p>
              <a:p>
                <a:pPr marL="914400">
                  <a:spcBef>
                    <a:spcPts val="600"/>
                  </a:spcBef>
                  <a:spcAft>
                    <a:spcPts val="0"/>
                  </a:spcAft>
                </a:pPr>
                <a:r>
                  <a:rPr lang="en-US" sz="2000" dirty="0"/>
                  <a:t>Chevrolet Impala and Ford Fusion:	</a:t>
                </a:r>
                <a14:m>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2</m:t>
                            </m:r>
                          </m:sub>
                        </m:sSub>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0.5520−0.6000</m:t>
                        </m:r>
                      </m:e>
                    </m:d>
                    <m:r>
                      <a:rPr lang="en-US" sz="2000" b="0" i="1" smtClean="0">
                        <a:latin typeface="Cambria Math" panose="02040503050406030204" pitchFamily="18" charset="0"/>
                      </a:rPr>
                      <m:t>=0.0480</m:t>
                    </m:r>
                  </m:oMath>
                </a14:m>
                <a:r>
                  <a:rPr lang="en-US" sz="2000" dirty="0"/>
                  <a:t> </a:t>
                </a:r>
              </a:p>
              <a:p>
                <a:pPr marL="914400">
                  <a:spcBef>
                    <a:spcPts val="600"/>
                  </a:spcBef>
                  <a:spcAft>
                    <a:spcPts val="0"/>
                  </a:spcAft>
                </a:pPr>
                <a:r>
                  <a:rPr lang="en-US" sz="2000" dirty="0"/>
                  <a:t>Chevrolet Impala and Honda Accord:	</a:t>
                </a:r>
                <a14:m>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b="0" i="1" smtClean="0">
                                <a:latin typeface="Cambria Math" panose="02040503050406030204" pitchFamily="18" charset="0"/>
                              </a:rPr>
                              <m:t>3</m:t>
                            </m:r>
                          </m:sub>
                        </m:sSub>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0.5520−0.7029</m:t>
                        </m:r>
                      </m:e>
                    </m:d>
                    <m:r>
                      <a:rPr lang="en-US" sz="2000" b="0" i="1" smtClean="0">
                        <a:latin typeface="Cambria Math" panose="02040503050406030204" pitchFamily="18" charset="0"/>
                      </a:rPr>
                      <m:t>=0.1509</m:t>
                    </m:r>
                  </m:oMath>
                </a14:m>
                <a:r>
                  <a:rPr lang="en-US" sz="2000" dirty="0"/>
                  <a:t> </a:t>
                </a:r>
              </a:p>
              <a:p>
                <a:pPr marL="914400">
                  <a:spcBef>
                    <a:spcPts val="600"/>
                  </a:spcBef>
                  <a:spcAft>
                    <a:spcPts val="600"/>
                  </a:spcAft>
                </a:pPr>
                <a:r>
                  <a:rPr lang="en-US" sz="2000" dirty="0"/>
                  <a:t>Ford Fusion and Honda Accord:		</a:t>
                </a:r>
                <a14:m>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b="0" i="1" smtClean="0">
                                <a:latin typeface="Cambria Math" panose="02040503050406030204" pitchFamily="18" charset="0"/>
                              </a:rPr>
                              <m:t>3</m:t>
                            </m:r>
                          </m:sub>
                        </m:sSub>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0.6000−0.7029</m:t>
                        </m:r>
                      </m:e>
                    </m:d>
                    <m:r>
                      <a:rPr lang="en-US" sz="2000" b="0" i="1" smtClean="0">
                        <a:latin typeface="Cambria Math" panose="02040503050406030204" pitchFamily="18" charset="0"/>
                      </a:rPr>
                      <m:t>=0.1029</m:t>
                    </m:r>
                  </m:oMath>
                </a14:m>
                <a:r>
                  <a:rPr lang="en-US" sz="2000" dirty="0"/>
                  <a:t> </a:t>
                </a:r>
              </a:p>
              <a:p>
                <a:pPr>
                  <a:spcBef>
                    <a:spcPts val="600"/>
                  </a:spcBef>
                  <a:spcAft>
                    <a:spcPts val="0"/>
                  </a:spcAft>
                </a:pPr>
                <a:r>
                  <a:rPr lang="en-US" sz="2000" dirty="0"/>
                  <a:t>Using </a:t>
                </a:r>
                <a14:m>
                  <m:oMath xmlns:m="http://schemas.openxmlformats.org/officeDocument/2006/math">
                    <m:r>
                      <a:rPr lang="el-GR" sz="2000" i="1" dirty="0" smtClean="0">
                        <a:latin typeface="Cambria Math" panose="02040503050406030204" pitchFamily="18" charset="0"/>
                      </a:rPr>
                      <m:t>𝛼</m:t>
                    </m:r>
                    <m:r>
                      <a:rPr lang="en-US" sz="2000" i="1" dirty="0" smtClean="0">
                        <a:latin typeface="Cambria Math" panose="02040503050406030204" pitchFamily="18" charset="0"/>
                      </a:rPr>
                      <m:t>=0.05</m:t>
                    </m:r>
                  </m:oMath>
                </a14:m>
                <a:r>
                  <a:rPr lang="en-US" sz="2000" dirty="0"/>
                  <a:t>, and </a:t>
                </a:r>
                <a14:m>
                  <m:oMath xmlns:m="http://schemas.openxmlformats.org/officeDocument/2006/math">
                    <m:r>
                      <a:rPr lang="en-US" sz="2000" i="1" dirty="0" smtClean="0">
                        <a:latin typeface="Cambria Math" panose="02040503050406030204" pitchFamily="18" charset="0"/>
                      </a:rPr>
                      <m:t>𝑘</m:t>
                    </m:r>
                    <m:r>
                      <a:rPr lang="en-US" sz="2000" i="1" dirty="0" smtClean="0">
                        <a:latin typeface="Cambria Math" panose="02040503050406030204" pitchFamily="18" charset="0"/>
                      </a:rPr>
                      <m:t>−1=2</m:t>
                    </m:r>
                  </m:oMath>
                </a14:m>
                <a:r>
                  <a:rPr lang="en-US" sz="2000" dirty="0"/>
                  <a:t> degrees of freedom, we can now perform the </a:t>
                </a:r>
                <a:r>
                  <a:rPr lang="en-US" sz="2000" dirty="0" err="1"/>
                  <a:t>Marascuilo</a:t>
                </a:r>
                <a:r>
                  <a:rPr lang="en-US" sz="2000" dirty="0"/>
                  <a:t> procedure for the comparison of multiple population proportions.</a:t>
                </a:r>
                <a14:m>
                  <m:oMath xmlns:m="http://schemas.openxmlformats.org/officeDocument/2006/math">
                    <m:r>
                      <a:rPr lang="en-US" sz="2000" b="0" i="1" smtClean="0">
                        <a:latin typeface="Cambria Math" panose="02040503050406030204" pitchFamily="18" charset="0"/>
                      </a:rPr>
                      <m:t> </m:t>
                    </m:r>
                  </m:oMath>
                </a14:m>
                <a:endParaRPr lang="en-US" sz="2000" b="0" dirty="0"/>
              </a:p>
              <a:p>
                <a:pPr>
                  <a:lnSpc>
                    <a:spcPct val="100000"/>
                  </a:lnSpc>
                  <a:spcBef>
                    <a:spcPts val="600"/>
                  </a:spcBef>
                  <a:spcAft>
                    <a:spcPts val="600"/>
                  </a:spcAft>
                </a:pPr>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672083"/>
                <a:ext cx="10711543" cy="4122683"/>
              </a:xfrm>
              <a:blipFill>
                <a:blip r:embed="rId2"/>
                <a:stretch>
                  <a:fillRect l="-1422" t="-2954" r="-1479" b="-3693"/>
                </a:stretch>
              </a:blipFill>
            </p:spPr>
            <p:txBody>
              <a:bodyPr/>
              <a:lstStyle/>
              <a:p>
                <a:r>
                  <a:rPr lang="en-US">
                    <a:noFill/>
                  </a:rPr>
                  <a:t> </a:t>
                </a:r>
              </a:p>
            </p:txBody>
          </p:sp>
        </mc:Fallback>
      </mc:AlternateContent>
    </p:spTree>
    <p:extLst>
      <p:ext uri="{BB962C8B-B14F-4D97-AF65-F5344CB8AC3E}">
        <p14:creationId xmlns:p14="http://schemas.microsoft.com/office/powerpoint/2010/main" val="1708586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84EFB-5DF2-5435-6A62-0E3D8535812A}"/>
              </a:ext>
            </a:extLst>
          </p:cNvPr>
          <p:cNvSpPr>
            <a:spLocks noGrp="1"/>
          </p:cNvSpPr>
          <p:nvPr>
            <p:ph type="title"/>
          </p:nvPr>
        </p:nvSpPr>
        <p:spPr/>
        <p:txBody>
          <a:bodyPr/>
          <a:lstStyle/>
          <a:p>
            <a:r>
              <a:rPr lang="en-US" sz="3200" dirty="0"/>
              <a:t>12.3 Pairwise Comparison Tests for the Automobile Brand Loyalty Study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13F2A43-62BC-280D-784B-342E9B63C49F}"/>
                  </a:ext>
                </a:extLst>
              </p:cNvPr>
              <p:cNvSpPr>
                <a:spLocks noGrp="1"/>
              </p:cNvSpPr>
              <p:nvPr>
                <p:ph type="body" sz="quarter" idx="15"/>
              </p:nvPr>
            </p:nvSpPr>
            <p:spPr>
              <a:xfrm>
                <a:off x="743576" y="1570009"/>
                <a:ext cx="10610223" cy="2803585"/>
              </a:xfrm>
            </p:spPr>
            <p:txBody>
              <a:bodyPr/>
              <a:lstStyle/>
              <a:p>
                <a:pPr>
                  <a:spcAft>
                    <a:spcPts val="600"/>
                  </a:spcAft>
                </a:pPr>
                <a:r>
                  <a:rPr lang="en-US" sz="2000" dirty="0"/>
                  <a:t>We calculate the critical values,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𝐶𝑉</m:t>
                        </m:r>
                      </m:e>
                      <m:sub>
                        <m:r>
                          <a:rPr lang="en-US" sz="2000" b="0" i="1">
                            <a:latin typeface="Cambria Math" panose="02040503050406030204" pitchFamily="18" charset="0"/>
                            <a:cs typeface="Arial" panose="020B0604020202020204" pitchFamily="34" charset="0"/>
                          </a:rPr>
                          <m:t>𝑖𝑗</m:t>
                        </m:r>
                      </m:sub>
                    </m:sSub>
                  </m:oMath>
                </a14:m>
                <a:r>
                  <a:rPr lang="en-US" sz="2000" dirty="0"/>
                  <a:t>, starting with</a:t>
                </a:r>
                <a:r>
                  <a:rPr lang="en-US" sz="2000" b="1"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𝐶𝑉</m:t>
                        </m:r>
                      </m:e>
                      <m:sub>
                        <m:r>
                          <a:rPr lang="en-US" sz="2000" b="0" i="1" smtClean="0">
                            <a:latin typeface="Cambria Math" panose="02040503050406030204" pitchFamily="18" charset="0"/>
                            <a:cs typeface="Arial" panose="020B0604020202020204" pitchFamily="34" charset="0"/>
                          </a:rPr>
                          <m:t>12</m:t>
                        </m:r>
                      </m:sub>
                    </m:sSub>
                  </m:oMath>
                </a14:m>
                <a:r>
                  <a:rPr lang="en-US" sz="2000" dirty="0"/>
                  <a:t> for the pairwise comparison of Chevrolet Impala vs. Ford Fusion population proportions. Knowing that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i="1">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r>
                      <a:rPr lang="en-US" sz="2000" i="1">
                        <a:latin typeface="Cambria Math" panose="02040503050406030204" pitchFamily="18" charset="0"/>
                      </a:rPr>
                      <m:t>=5.991</m:t>
                    </m:r>
                  </m:oMath>
                </a14:m>
                <a:r>
                  <a:rPr lang="en-US" sz="2000" dirty="0"/>
                  <a:t>, we have</a:t>
                </a:r>
              </a:p>
              <a:p>
                <a:pPr marL="457200"/>
                <a14:m>
                  <m:oMathPara xmlns:m="http://schemas.openxmlformats.org/officeDocument/2006/math">
                    <m:oMathParaPr>
                      <m:jc m:val="left"/>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𝐶𝑉</m:t>
                          </m:r>
                        </m:e>
                        <m:sub>
                          <m:r>
                            <a:rPr lang="en-US" sz="2000" b="0" i="1" smtClean="0">
                              <a:solidFill>
                                <a:srgbClr val="000000"/>
                              </a:solidFill>
                              <a:latin typeface="Cambria Math" panose="02040503050406030204" pitchFamily="18" charset="0"/>
                              <a:cs typeface="Arial" panose="020B0604020202020204" pitchFamily="34" charset="0"/>
                            </a:rPr>
                            <m:t>12</m:t>
                          </m:r>
                        </m:sub>
                      </m:sSub>
                      <m:r>
                        <a:rPr lang="en-US" sz="2000" b="0" i="1" smtClean="0">
                          <a:solidFill>
                            <a:srgbClr val="000000"/>
                          </a:solidFill>
                          <a:latin typeface="Cambria Math" panose="02040503050406030204" pitchFamily="18" charset="0"/>
                          <a:cs typeface="Arial" panose="020B0604020202020204" pitchFamily="34" charset="0"/>
                        </a:rPr>
                        <m:t>=</m:t>
                      </m:r>
                      <m:rad>
                        <m:radPr>
                          <m:degHide m:val="on"/>
                          <m:ctrlPr>
                            <a:rPr lang="en-US" sz="2000" i="1" smtClean="0">
                              <a:solidFill>
                                <a:srgbClr val="000000"/>
                              </a:solidFill>
                              <a:latin typeface="Cambria Math" panose="02040503050406030204" pitchFamily="18" charset="0"/>
                              <a:cs typeface="Arial" panose="020B0604020202020204" pitchFamily="34" charset="0"/>
                            </a:rPr>
                          </m:ctrlPr>
                        </m:radPr>
                        <m:deg/>
                        <m:e>
                          <m:sSubSup>
                            <m:sSubSupPr>
                              <m:ctrlPr>
                                <a:rPr lang="en-US" sz="2000" i="1">
                                  <a:latin typeface="Cambria Math" panose="02040503050406030204" pitchFamily="18" charset="0"/>
                                </a:rPr>
                              </m:ctrlPr>
                            </m:sSubSupPr>
                            <m:e>
                              <m:r>
                                <a:rPr lang="el-GR" sz="2000" b="0" i="1">
                                  <a:latin typeface="Cambria Math" panose="02040503050406030204" pitchFamily="18" charset="0"/>
                                  <a:ea typeface="Cambria Math" panose="02040503050406030204" pitchFamily="18" charset="0"/>
                                </a:rPr>
                                <m:t>𝛸</m:t>
                              </m:r>
                            </m:e>
                            <m:sub>
                              <m:r>
                                <a:rPr lang="en-US" sz="2000" b="0" i="1">
                                  <a:latin typeface="Cambria Math" panose="02040503050406030204" pitchFamily="18" charset="0"/>
                                  <a:ea typeface="Cambria Math" panose="02040503050406030204" pitchFamily="18" charset="0"/>
                                </a:rPr>
                                <m:t>𝛼</m:t>
                              </m:r>
                            </m:sub>
                            <m:sup>
                              <m:r>
                                <a:rPr lang="en-US" sz="2000" b="0" i="1">
                                  <a:latin typeface="Cambria Math" panose="02040503050406030204" pitchFamily="18" charset="0"/>
                                </a:rPr>
                                <m:t>2</m:t>
                              </m:r>
                            </m:sup>
                          </m:sSubSup>
                        </m:e>
                      </m:rad>
                      <m:rad>
                        <m:radPr>
                          <m:degHide m:val="on"/>
                          <m:ctrlPr>
                            <a:rPr lang="en-US" sz="2000" i="1" smtClean="0">
                              <a:solidFill>
                                <a:srgbClr val="000000"/>
                              </a:solidFill>
                              <a:latin typeface="Cambria Math" panose="02040503050406030204" pitchFamily="18" charset="0"/>
                              <a:cs typeface="Arial" panose="020B0604020202020204" pitchFamily="34" charset="0"/>
                            </a:rPr>
                          </m:ctrlPr>
                        </m:radPr>
                        <m:deg/>
                        <m:e>
                          <m:f>
                            <m:fPr>
                              <m:ctrlPr>
                                <a:rPr lang="en-US" sz="2000" i="1" smtClean="0">
                                  <a:solidFill>
                                    <a:srgbClr val="000000"/>
                                  </a:solidFill>
                                  <a:latin typeface="Cambria Math" panose="02040503050406030204" pitchFamily="18" charset="0"/>
                                  <a:cs typeface="Arial" panose="020B0604020202020204" pitchFamily="34" charset="0"/>
                                </a:rPr>
                              </m:ctrlPr>
                            </m:fPr>
                            <m:num>
                              <m:sSub>
                                <m:sSubPr>
                                  <m:ctrlPr>
                                    <a:rPr lang="en-US" sz="2000" i="1" smtClean="0">
                                      <a:solidFill>
                                        <a:srgbClr val="000000"/>
                                      </a:solidFill>
                                      <a:latin typeface="Cambria Math" panose="02040503050406030204" pitchFamily="18" charset="0"/>
                                      <a:cs typeface="Arial" panose="020B0604020202020204" pitchFamily="34" charset="0"/>
                                    </a:rPr>
                                  </m:ctrlPr>
                                </m:sSubPr>
                                <m:e>
                                  <m:acc>
                                    <m:accPr>
                                      <m:chr m:val="̅"/>
                                      <m:ctrlPr>
                                        <a:rPr lang="en-US" sz="2000" i="1" smtClean="0">
                                          <a:solidFill>
                                            <a:srgbClr val="000000"/>
                                          </a:solidFill>
                                          <a:latin typeface="Cambria Math" panose="02040503050406030204" pitchFamily="18" charset="0"/>
                                          <a:cs typeface="Arial" panose="020B0604020202020204" pitchFamily="34" charset="0"/>
                                        </a:rPr>
                                      </m:ctrlPr>
                                    </m:accPr>
                                    <m:e>
                                      <m:r>
                                        <a:rPr lang="en-US" sz="2000" b="0" i="1" smtClean="0">
                                          <a:solidFill>
                                            <a:srgbClr val="000000"/>
                                          </a:solidFill>
                                          <a:latin typeface="Cambria Math" panose="02040503050406030204" pitchFamily="18" charset="0"/>
                                          <a:cs typeface="Arial" panose="020B0604020202020204" pitchFamily="34" charset="0"/>
                                        </a:rPr>
                                        <m:t>𝑝</m:t>
                                      </m:r>
                                    </m:e>
                                  </m:acc>
                                </m:e>
                                <m:sub>
                                  <m:r>
                                    <a:rPr lang="en-US" sz="2000" b="0" i="1" smtClean="0">
                                      <a:solidFill>
                                        <a:srgbClr val="000000"/>
                                      </a:solidFill>
                                      <a:latin typeface="Cambria Math" panose="02040503050406030204" pitchFamily="18" charset="0"/>
                                      <a:cs typeface="Arial" panose="020B0604020202020204" pitchFamily="34" charset="0"/>
                                    </a:rPr>
                                    <m:t>1</m:t>
                                  </m:r>
                                </m:sub>
                              </m:sSub>
                              <m:d>
                                <m:dPr>
                                  <m:ctrlPr>
                                    <a:rPr lang="en-US" sz="2000" i="1" smtClean="0">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1−</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1</m:t>
                                      </m:r>
                                    </m:sub>
                                  </m:sSub>
                                </m:e>
                              </m:d>
                            </m:num>
                            <m:den>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𝑛</m:t>
                                  </m:r>
                                </m:e>
                                <m:sub>
                                  <m:r>
                                    <a:rPr lang="en-US" sz="2000" b="0" i="1" smtClean="0">
                                      <a:solidFill>
                                        <a:srgbClr val="000000"/>
                                      </a:solidFill>
                                      <a:latin typeface="Cambria Math" panose="02040503050406030204" pitchFamily="18" charset="0"/>
                                      <a:cs typeface="Arial" panose="020B0604020202020204" pitchFamily="34" charset="0"/>
                                    </a:rPr>
                                    <m:t>𝑖</m:t>
                                  </m:r>
                                </m:sub>
                              </m:sSub>
                            </m:den>
                          </m:f>
                          <m:r>
                            <a:rPr lang="en-US" sz="2000" b="0" i="1" smtClean="0">
                              <a:solidFill>
                                <a:srgbClr val="000000"/>
                              </a:solidFill>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d>
                                <m:dPr>
                                  <m:ctrlPr>
                                    <a:rPr lang="en-US" sz="2000" i="1">
                                      <a:latin typeface="Cambria Math" panose="02040503050406030204" pitchFamily="18" charset="0"/>
                                      <a:cs typeface="Arial" panose="020B0604020202020204" pitchFamily="34" charset="0"/>
                                    </a:rPr>
                                  </m:ctrlPr>
                                </m:dPr>
                                <m:e>
                                  <m:r>
                                    <a:rPr lang="en-US" sz="2000" b="0" i="1">
                                      <a:latin typeface="Cambria Math" panose="02040503050406030204" pitchFamily="18" charset="0"/>
                                      <a:cs typeface="Arial" panose="020B0604020202020204" pitchFamily="34" charset="0"/>
                                    </a:rPr>
                                    <m:t>1−</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e>
                              </m:d>
                            </m:num>
                            <m:den>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𝑗</m:t>
                                  </m:r>
                                </m:sub>
                              </m:sSub>
                            </m:den>
                          </m:f>
                        </m:e>
                      </m:rad>
                      <m:r>
                        <a:rPr lang="en-US" sz="2000" b="0" i="1" smtClean="0">
                          <a:latin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rPr>
                            <m:t>5.991</m:t>
                          </m:r>
                        </m:e>
                      </m:rad>
                      <m:rad>
                        <m:radPr>
                          <m:degHide m:val="on"/>
                          <m:ctrlPr>
                            <a:rPr lang="en-US" sz="2000" i="1">
                              <a:latin typeface="Cambria Math" panose="02040503050406030204" pitchFamily="18" charset="0"/>
                              <a:cs typeface="Arial" panose="020B0604020202020204" pitchFamily="34" charset="0"/>
                            </a:rPr>
                          </m:ctrlPr>
                        </m:radPr>
                        <m:deg/>
                        <m:e>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0.552</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1−0.552</m:t>
                                  </m:r>
                                </m:e>
                              </m:d>
                            </m:num>
                            <m:den>
                              <m:r>
                                <a:rPr lang="en-US" sz="2000" b="0" i="1" smtClean="0">
                                  <a:latin typeface="Cambria Math" panose="02040503050406030204" pitchFamily="18" charset="0"/>
                                  <a:cs typeface="Arial" panose="020B0604020202020204" pitchFamily="34" charset="0"/>
                                </a:rPr>
                                <m:t>125</m:t>
                              </m:r>
                            </m:den>
                          </m:f>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0.6</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1−0.6</m:t>
                                  </m:r>
                                </m:e>
                              </m:d>
                            </m:num>
                            <m:den>
                              <m:r>
                                <a:rPr lang="en-US" sz="2000" b="0" i="1" smtClean="0">
                                  <a:latin typeface="Cambria Math" panose="02040503050406030204" pitchFamily="18" charset="0"/>
                                  <a:cs typeface="Arial" panose="020B0604020202020204" pitchFamily="34" charset="0"/>
                                </a:rPr>
                                <m:t>200</m:t>
                              </m:r>
                            </m:den>
                          </m:f>
                        </m:e>
                      </m:rad>
                      <m:r>
                        <a:rPr lang="en-US" sz="2000" b="0" i="1" smtClean="0">
                          <a:latin typeface="Cambria Math" panose="02040503050406030204" pitchFamily="18" charset="0"/>
                          <a:cs typeface="Arial" panose="020B0604020202020204" pitchFamily="34" charset="0"/>
                        </a:rPr>
                        <m:t>=0.1380</m:t>
                      </m:r>
                    </m:oMath>
                  </m:oMathPara>
                </a14:m>
                <a:endParaRPr lang="en-US" sz="2000" dirty="0"/>
              </a:p>
              <a:p>
                <a:r>
                  <a:rPr lang="en-US" sz="2000" dirty="0"/>
                  <a:t>Because </a:t>
                </a:r>
                <a14:m>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2</m:t>
                            </m:r>
                          </m:sub>
                        </m:sSub>
                      </m:e>
                    </m:d>
                    <m:r>
                      <a:rPr lang="en-US" sz="2000" b="0" i="1" smtClean="0">
                        <a:latin typeface="Cambria Math" panose="02040503050406030204" pitchFamily="18" charset="0"/>
                      </a:rPr>
                      <m:t>=0.0480</m:t>
                    </m:r>
                    <m:r>
                      <a:rPr lang="en-US" sz="2000" b="0" i="1" smtClean="0">
                        <a:latin typeface="Cambria Math" panose="02040503050406030204" pitchFamily="18" charset="0"/>
                        <a:ea typeface="Cambria Math" panose="02040503050406030204" pitchFamily="18" charset="0"/>
                      </a:rPr>
                      <m:t>≤</m:t>
                    </m:r>
                  </m:oMath>
                </a14:m>
                <a:r>
                  <a:rPr lang="en-US" sz="2000" dirty="0">
                    <a:cs typeface="Arial" panose="020B0604020202020204" pitchFamily="34" charset="0"/>
                  </a:rPr>
                  <a:t> </a:t>
                </a:r>
                <a14:m>
                  <m:oMath xmlns:m="http://schemas.openxmlformats.org/officeDocument/2006/math">
                    <m:r>
                      <a:rPr lang="en-US" sz="2000" b="0" i="1" smtClean="0">
                        <a:latin typeface="Cambria Math" panose="02040503050406030204" pitchFamily="18" charset="0"/>
                        <a:cs typeface="Arial" panose="020B0604020202020204" pitchFamily="34" charset="0"/>
                      </a:rPr>
                      <m:t>0.1380</m:t>
                    </m:r>
                  </m:oMath>
                </a14:m>
                <a:r>
                  <a:rPr lang="en-US" sz="2000" dirty="0"/>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1</m:t>
                        </m:r>
                      </m:sub>
                    </m:sSub>
                  </m:oMath>
                </a14:m>
                <a:r>
                  <a:rPr lang="en-US" sz="2000" dirty="0">
                    <a:cs typeface="Arial" panose="020B0604020202020204" pitchFamily="34" charset="0"/>
                  </a:rPr>
                  <a:t>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are not significantly different.</a:t>
                </a:r>
              </a:p>
              <a:p>
                <a:r>
                  <a:rPr lang="en-US" sz="2000" dirty="0">
                    <a:cs typeface="Arial" panose="020B0604020202020204" pitchFamily="34" charset="0"/>
                  </a:rPr>
                  <a:t>Similar calculations for the other pairwise comparisons show that the only significant comparison is between the populations of Chevrolet Impala and Honda Accord owners.</a:t>
                </a:r>
                <a:endParaRPr lang="en-US" sz="2000" dirty="0"/>
              </a:p>
            </p:txBody>
          </p:sp>
        </mc:Choice>
        <mc:Fallback xmlns="">
          <p:sp>
            <p:nvSpPr>
              <p:cNvPr id="3" name="Text Placeholder 2">
                <a:extLst>
                  <a:ext uri="{FF2B5EF4-FFF2-40B4-BE49-F238E27FC236}">
                    <a16:creationId xmlns:a16="http://schemas.microsoft.com/office/drawing/2014/main" id="{E13F2A43-62BC-280D-784B-342E9B63C49F}"/>
                  </a:ext>
                </a:extLst>
              </p:cNvPr>
              <p:cNvSpPr>
                <a:spLocks noGrp="1" noRot="1" noChangeAspect="1" noMove="1" noResize="1" noEditPoints="1" noAdjustHandles="1" noChangeArrowheads="1" noChangeShapeType="1" noTextEdit="1"/>
              </p:cNvSpPr>
              <p:nvPr>
                <p:ph type="body" sz="quarter" idx="15"/>
              </p:nvPr>
            </p:nvSpPr>
            <p:spPr>
              <a:xfrm>
                <a:off x="743576" y="1570009"/>
                <a:ext cx="10610223" cy="2803585"/>
              </a:xfrm>
              <a:blipFill>
                <a:blip r:embed="rId3"/>
                <a:stretch>
                  <a:fillRect l="-1494" t="-2832" b="-2832"/>
                </a:stretch>
              </a:blipFill>
            </p:spPr>
            <p:txBody>
              <a:bodyPr/>
              <a:lstStyle/>
              <a:p>
                <a:r>
                  <a:rPr lang="en-US">
                    <a:noFill/>
                  </a:rPr>
                  <a:t> </a:t>
                </a:r>
              </a:p>
            </p:txBody>
          </p:sp>
        </mc:Fallback>
      </mc:AlternateContent>
      <p:graphicFrame>
        <p:nvGraphicFramePr>
          <p:cNvPr id="5" name="Table 5">
            <a:extLst>
              <a:ext uri="{FF2B5EF4-FFF2-40B4-BE49-F238E27FC236}">
                <a16:creationId xmlns:a16="http://schemas.microsoft.com/office/drawing/2014/main" id="{6B797578-49C5-EA32-FB52-16A137320B9B}"/>
              </a:ext>
            </a:extLst>
          </p:cNvPr>
          <p:cNvGraphicFramePr>
            <a:graphicFrameLocks noGrp="1"/>
          </p:cNvGraphicFramePr>
          <p:nvPr>
            <p:ph type="tbl" sz="quarter" idx="16"/>
            <p:extLst>
              <p:ext uri="{D42A27DB-BD31-4B8C-83A1-F6EECF244321}">
                <p14:modId xmlns:p14="http://schemas.microsoft.com/office/powerpoint/2010/main" val="2380964465"/>
              </p:ext>
            </p:extLst>
          </p:nvPr>
        </p:nvGraphicFramePr>
        <p:xfrm>
          <a:off x="1422208" y="4445034"/>
          <a:ext cx="9347584" cy="1324397"/>
        </p:xfrm>
        <a:graphic>
          <a:graphicData uri="http://schemas.openxmlformats.org/drawingml/2006/table">
            <a:tbl>
              <a:tblPr firstRow="1" bandRow="1">
                <a:tableStyleId>{5C22544A-7EE6-4342-B048-85BDC9FD1C3A}</a:tableStyleId>
              </a:tblPr>
              <a:tblGrid>
                <a:gridCol w="3525329">
                  <a:extLst>
                    <a:ext uri="{9D8B030D-6E8A-4147-A177-3AD203B41FA5}">
                      <a16:colId xmlns:a16="http://schemas.microsoft.com/office/drawing/2014/main" val="547722814"/>
                    </a:ext>
                  </a:extLst>
                </a:gridCol>
                <a:gridCol w="1280160">
                  <a:extLst>
                    <a:ext uri="{9D8B030D-6E8A-4147-A177-3AD203B41FA5}">
                      <a16:colId xmlns:a16="http://schemas.microsoft.com/office/drawing/2014/main" val="215491316"/>
                    </a:ext>
                  </a:extLst>
                </a:gridCol>
                <a:gridCol w="1280160">
                  <a:extLst>
                    <a:ext uri="{9D8B030D-6E8A-4147-A177-3AD203B41FA5}">
                      <a16:colId xmlns:a16="http://schemas.microsoft.com/office/drawing/2014/main" val="4121724688"/>
                    </a:ext>
                  </a:extLst>
                </a:gridCol>
                <a:gridCol w="3261935">
                  <a:extLst>
                    <a:ext uri="{9D8B030D-6E8A-4147-A177-3AD203B41FA5}">
                      <a16:colId xmlns:a16="http://schemas.microsoft.com/office/drawing/2014/main" val="1624433494"/>
                    </a:ext>
                  </a:extLst>
                </a:gridCol>
              </a:tblGrid>
              <a:tr h="379565">
                <a:tc>
                  <a:txBody>
                    <a:bodyPr/>
                    <a:lstStyle/>
                    <a:p>
                      <a:pPr algn="l" fontAlgn="b"/>
                      <a:r>
                        <a:rPr lang="en-US" sz="2000" b="1" i="0" u="none" strike="noStrike" dirty="0">
                          <a:solidFill>
                            <a:srgbClr val="000000"/>
                          </a:solidFill>
                          <a:effectLst/>
                          <a:latin typeface="Calibri" panose="020F0502020204030204" pitchFamily="34" charset="0"/>
                        </a:rPr>
                        <a:t> Pairwise Comparison</a:t>
                      </a:r>
                      <a:endParaRPr lang="en-US" sz="2000" b="1" i="0" u="none" strike="noStrike" baseline="-25000" dirty="0">
                        <a:solidFill>
                          <a:srgbClr val="000000"/>
                        </a:solidFill>
                        <a:effectLst/>
                        <a:latin typeface="Calibri" panose="020F0502020204030204" pitchFamily="34" charset="0"/>
                      </a:endParaRP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2000" b="1" i="0" u="none" strike="noStrike" dirty="0">
                          <a:solidFill>
                            <a:srgbClr val="000000"/>
                          </a:solidFill>
                          <a:effectLst/>
                          <a:latin typeface="Calibri" panose="020F0502020204030204" pitchFamily="34" charset="0"/>
                        </a:rPr>
                        <a:t>|</a:t>
                      </a:r>
                      <a:r>
                        <a:rPr lang="en-US" sz="2000" b="1" i="1" u="none" strike="noStrike" dirty="0" err="1">
                          <a:solidFill>
                            <a:srgbClr val="000000"/>
                          </a:solidFill>
                          <a:effectLst/>
                          <a:latin typeface="Calibri" panose="020F0502020204030204" pitchFamily="34" charset="0"/>
                        </a:rPr>
                        <a:t>p̅</a:t>
                      </a:r>
                      <a:r>
                        <a:rPr lang="en-US" sz="2000" b="1" i="0" u="none" strike="noStrike" baseline="-25000" dirty="0" err="1">
                          <a:solidFill>
                            <a:srgbClr val="000000"/>
                          </a:solidFill>
                          <a:effectLst/>
                          <a:latin typeface="Calibri" panose="020F0502020204030204" pitchFamily="34" charset="0"/>
                        </a:rPr>
                        <a:t>i</a:t>
                      </a:r>
                      <a:r>
                        <a:rPr lang="en-US" sz="2000" b="1" i="0" u="none" strike="noStrike" dirty="0">
                          <a:solidFill>
                            <a:srgbClr val="000000"/>
                          </a:solidFill>
                          <a:effectLst/>
                          <a:latin typeface="Calibri" panose="020F0502020204030204" pitchFamily="34" charset="0"/>
                        </a:rPr>
                        <a:t> − </a:t>
                      </a:r>
                      <a:r>
                        <a:rPr lang="en-US" sz="2000" b="1" i="1" u="none" strike="noStrike" dirty="0" err="1">
                          <a:solidFill>
                            <a:srgbClr val="000000"/>
                          </a:solidFill>
                          <a:effectLst/>
                          <a:latin typeface="Calibri" panose="020F0502020204030204" pitchFamily="34" charset="0"/>
                        </a:rPr>
                        <a:t>p̅</a:t>
                      </a:r>
                      <a:r>
                        <a:rPr lang="en-US" sz="2000" b="1" i="0" u="none" strike="noStrike" baseline="-25000" dirty="0" err="1">
                          <a:solidFill>
                            <a:srgbClr val="000000"/>
                          </a:solidFill>
                          <a:effectLst/>
                          <a:latin typeface="Calibri" panose="020F0502020204030204" pitchFamily="34" charset="0"/>
                        </a:rPr>
                        <a:t>j</a:t>
                      </a:r>
                      <a:r>
                        <a:rPr lang="en-US" sz="2000" b="1" i="0" u="none" strike="noStrike" dirty="0">
                          <a:solidFill>
                            <a:srgbClr val="000000"/>
                          </a:solidFill>
                          <a:effectLst/>
                          <a:latin typeface="Calibri" panose="020F0502020204030204" pitchFamily="34" charset="0"/>
                        </a:rPr>
                        <a:t>|</a:t>
                      </a: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ctr"/>
                      <a:r>
                        <a:rPr lang="en-US" sz="2000" b="1" i="1" u="none" strike="noStrike" dirty="0" err="1">
                          <a:solidFill>
                            <a:srgbClr val="000000"/>
                          </a:solidFill>
                          <a:effectLst/>
                          <a:latin typeface="Calibri" panose="020F0502020204030204" pitchFamily="34" charset="0"/>
                        </a:rPr>
                        <a:t>CV</a:t>
                      </a:r>
                      <a:r>
                        <a:rPr lang="en-US" sz="2000" b="1" i="0" u="none" strike="noStrike" baseline="-25000" dirty="0" err="1">
                          <a:solidFill>
                            <a:srgbClr val="000000"/>
                          </a:solidFill>
                          <a:effectLst/>
                          <a:latin typeface="Calibri" panose="020F0502020204030204" pitchFamily="34" charset="0"/>
                        </a:rPr>
                        <a:t>ij</a:t>
                      </a:r>
                      <a:endParaRPr lang="en-US" sz="2000" b="1" i="0" u="none" strike="noStrike" baseline="-25000" dirty="0">
                        <a:solidFill>
                          <a:srgbClr val="000000"/>
                        </a:solidFill>
                        <a:effectLst/>
                        <a:latin typeface="Arial Unicode MS"/>
                      </a:endParaRP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Calibri" panose="020F0502020204030204" pitchFamily="34" charset="0"/>
                        </a:rPr>
                        <a:t>Significant if</a:t>
                      </a:r>
                      <a:r>
                        <a:rPr lang="en-US" sz="2000" b="1" i="0" u="none" strike="noStrike" baseline="0" dirty="0">
                          <a:solidFill>
                            <a:srgbClr val="000000"/>
                          </a:solidFill>
                          <a:effectLst/>
                          <a:latin typeface="Calibri" panose="020F0502020204030204" pitchFamily="34" charset="0"/>
                        </a:rPr>
                        <a:t> </a:t>
                      </a:r>
                      <a:r>
                        <a:rPr lang="en-US" sz="2000" b="1" i="0" u="none" strike="noStrike" dirty="0">
                          <a:solidFill>
                            <a:srgbClr val="000000"/>
                          </a:solidFill>
                          <a:effectLst/>
                          <a:latin typeface="Calibri" panose="020F0502020204030204" pitchFamily="34" charset="0"/>
                        </a:rPr>
                        <a:t>|</a:t>
                      </a:r>
                      <a:r>
                        <a:rPr lang="en-US" sz="2000" b="1" i="1" u="none" strike="noStrike" dirty="0" err="1">
                          <a:solidFill>
                            <a:srgbClr val="000000"/>
                          </a:solidFill>
                          <a:effectLst/>
                          <a:latin typeface="Calibri" panose="020F0502020204030204" pitchFamily="34" charset="0"/>
                        </a:rPr>
                        <a:t>p̅</a:t>
                      </a:r>
                      <a:r>
                        <a:rPr lang="en-US" sz="2000" b="1" i="0" u="none" strike="noStrike" baseline="-25000" dirty="0" err="1">
                          <a:solidFill>
                            <a:srgbClr val="000000"/>
                          </a:solidFill>
                          <a:effectLst/>
                          <a:latin typeface="Calibri" panose="020F0502020204030204" pitchFamily="34" charset="0"/>
                        </a:rPr>
                        <a:t>i</a:t>
                      </a:r>
                      <a:r>
                        <a:rPr lang="en-US" sz="2000" b="1" i="0" u="none" strike="noStrike" dirty="0">
                          <a:solidFill>
                            <a:srgbClr val="000000"/>
                          </a:solidFill>
                          <a:effectLst/>
                          <a:latin typeface="Calibri" panose="020F0502020204030204" pitchFamily="34" charset="0"/>
                        </a:rPr>
                        <a:t> − </a:t>
                      </a:r>
                      <a:r>
                        <a:rPr lang="en-US" sz="2000" b="1" i="1" u="none" strike="noStrike" dirty="0" err="1">
                          <a:solidFill>
                            <a:srgbClr val="000000"/>
                          </a:solidFill>
                          <a:effectLst/>
                          <a:latin typeface="Calibri" panose="020F0502020204030204" pitchFamily="34" charset="0"/>
                        </a:rPr>
                        <a:t>p̅</a:t>
                      </a:r>
                      <a:r>
                        <a:rPr lang="en-US" sz="2000" b="1" i="0" u="none" strike="noStrike" baseline="-25000" dirty="0" err="1">
                          <a:solidFill>
                            <a:srgbClr val="000000"/>
                          </a:solidFill>
                          <a:effectLst/>
                          <a:latin typeface="Calibri" panose="020F0502020204030204" pitchFamily="34" charset="0"/>
                        </a:rPr>
                        <a:t>j</a:t>
                      </a:r>
                      <a:r>
                        <a:rPr lang="en-US" sz="2000" b="1" i="0" u="none" strike="noStrike" dirty="0">
                          <a:solidFill>
                            <a:srgbClr val="000000"/>
                          </a:solidFill>
                          <a:effectLst/>
                          <a:latin typeface="Calibri" panose="020F0502020204030204" pitchFamily="34" charset="0"/>
                        </a:rPr>
                        <a:t>| &gt; </a:t>
                      </a:r>
                      <a:r>
                        <a:rPr lang="en-US" sz="2000" b="1" i="1" u="none" strike="noStrike" dirty="0" err="1">
                          <a:solidFill>
                            <a:srgbClr val="000000"/>
                          </a:solidFill>
                          <a:effectLst/>
                          <a:latin typeface="Calibri" panose="020F0502020204030204" pitchFamily="34" charset="0"/>
                        </a:rPr>
                        <a:t>CV</a:t>
                      </a:r>
                      <a:r>
                        <a:rPr lang="en-US" sz="2000" b="1" i="0" u="none" strike="noStrike" baseline="-25000" dirty="0" err="1">
                          <a:solidFill>
                            <a:srgbClr val="000000"/>
                          </a:solidFill>
                          <a:effectLst/>
                          <a:latin typeface="Calibri" panose="020F0502020204030204" pitchFamily="34" charset="0"/>
                        </a:rPr>
                        <a:t>ij</a:t>
                      </a:r>
                      <a:endParaRPr lang="en-US" sz="2000" b="1" i="0" u="none" strike="noStrike" baseline="-25000" dirty="0">
                        <a:solidFill>
                          <a:srgbClr val="000000"/>
                        </a:solidFill>
                        <a:effectLst/>
                        <a:latin typeface="Calibri" panose="020F0502020204030204" pitchFamily="34" charset="0"/>
                      </a:endParaRP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21738793"/>
                  </a:ext>
                </a:extLst>
              </a:tr>
              <a:tr h="314944">
                <a:tc>
                  <a:txBody>
                    <a:bodyPr/>
                    <a:lstStyle/>
                    <a:p>
                      <a:pPr algn="l" fontAlgn="b"/>
                      <a:r>
                        <a:rPr lang="en-US" sz="1800" b="0" i="0" u="none" strike="noStrike" dirty="0">
                          <a:solidFill>
                            <a:srgbClr val="000000"/>
                          </a:solidFill>
                          <a:effectLst/>
                          <a:latin typeface="Calibri" panose="020F0502020204030204" pitchFamily="34" charset="0"/>
                        </a:rPr>
                        <a:t> Chevrolet Impala vs. Ford Fusion </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0.0480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0.1380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800" b="0" i="0" u="none" strike="noStrike">
                          <a:solidFill>
                            <a:srgbClr val="000000"/>
                          </a:solidFill>
                          <a:effectLst/>
                          <a:latin typeface="Calibri" panose="020F0502020204030204" pitchFamily="34" charset="0"/>
                        </a:rPr>
                        <a:t>Not significant </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888534606"/>
                  </a:ext>
                </a:extLst>
              </a:tr>
              <a:tr h="314944">
                <a:tc>
                  <a:txBody>
                    <a:bodyPr/>
                    <a:lstStyle/>
                    <a:p>
                      <a:pPr algn="l" fontAlgn="b"/>
                      <a:r>
                        <a:rPr lang="en-US" sz="1800" b="0" i="0" u="none" strike="noStrike" dirty="0">
                          <a:solidFill>
                            <a:srgbClr val="000000"/>
                          </a:solidFill>
                          <a:effectLst/>
                          <a:latin typeface="Calibri" panose="020F0502020204030204" pitchFamily="34" charset="0"/>
                        </a:rPr>
                        <a:t> Chevrolet Impala vs. Honda Accord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0.1509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0.1379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800" b="0" i="0" u="none" strike="noStrike">
                          <a:solidFill>
                            <a:srgbClr val="000000"/>
                          </a:solidFill>
                          <a:effectLst/>
                          <a:latin typeface="Calibri" panose="020F0502020204030204" pitchFamily="34" charset="0"/>
                        </a:rPr>
                        <a:t>Significant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013288032"/>
                  </a:ext>
                </a:extLst>
              </a:tr>
              <a:tr h="314944">
                <a:tc>
                  <a:txBody>
                    <a:bodyPr/>
                    <a:lstStyle/>
                    <a:p>
                      <a:pPr algn="l" fontAlgn="b"/>
                      <a:r>
                        <a:rPr lang="en-US" sz="1800" b="0" i="0" u="none" strike="noStrike" dirty="0">
                          <a:solidFill>
                            <a:srgbClr val="000000"/>
                          </a:solidFill>
                          <a:effectLst/>
                          <a:latin typeface="Calibri" panose="020F0502020204030204" pitchFamily="34" charset="0"/>
                        </a:rPr>
                        <a:t> Ford Fusion vs. Honda Accord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0.1029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0.1198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r>
                        <a:rPr lang="en-US" sz="1800" b="0" i="0" u="none" strike="noStrike" dirty="0">
                          <a:solidFill>
                            <a:srgbClr val="000000"/>
                          </a:solidFill>
                          <a:effectLst/>
                          <a:latin typeface="Calibri" panose="020F0502020204030204" pitchFamily="34" charset="0"/>
                        </a:rPr>
                        <a:t>Not significant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84119557"/>
                  </a:ext>
                </a:extLst>
              </a:tr>
            </a:tbl>
          </a:graphicData>
        </a:graphic>
      </p:graphicFrame>
    </p:spTree>
    <p:extLst>
      <p:ext uri="{BB962C8B-B14F-4D97-AF65-F5344CB8AC3E}">
        <p14:creationId xmlns:p14="http://schemas.microsoft.com/office/powerpoint/2010/main" val="122216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371600"/>
                <a:ext cx="10657500" cy="3636169"/>
              </a:xfrm>
            </p:spPr>
            <p:txBody>
              <a:bodyPr>
                <a:noAutofit/>
              </a:bodyPr>
              <a:lstStyle/>
              <a:p>
                <a:pPr>
                  <a:lnSpc>
                    <a:spcPct val="100000"/>
                  </a:lnSpc>
                </a:pPr>
                <a:r>
                  <a:rPr lang="en-US" dirty="0">
                    <a:latin typeface="Arial" panose="020B0604020202020204" pitchFamily="34" charset="0"/>
                    <a:cs typeface="Arial" panose="020B0604020202020204" pitchFamily="34" charset="0"/>
                  </a:rPr>
                  <a:t>In this chapter, we have introduced hypothesis tests for the following applications.</a:t>
                </a:r>
              </a:p>
              <a:p>
                <a:pPr marL="914400" indent="-457200">
                  <a:lnSpc>
                    <a:spcPct val="100000"/>
                  </a:lnSpc>
                  <a:spcBef>
                    <a:spcPts val="600"/>
                  </a:spcBef>
                  <a:buFont typeface="+mj-lt"/>
                  <a:buAutoNum type="arabicPeriod"/>
                </a:pPr>
                <a:r>
                  <a:rPr lang="en-US" dirty="0">
                    <a:latin typeface="Arial" panose="020B0604020202020204" pitchFamily="34" charset="0"/>
                    <a:cs typeface="Arial" panose="020B0604020202020204" pitchFamily="34" charset="0"/>
                  </a:rPr>
                  <a:t>Testing whether a probability distribution for a population follows a specific historical or theoretical probability distribution (goodness-of-fit test.)</a:t>
                </a:r>
              </a:p>
              <a:p>
                <a:pPr marL="914400" indent="-457200">
                  <a:lnSpc>
                    <a:spcPct val="100000"/>
                  </a:lnSpc>
                  <a:spcBef>
                    <a:spcPts val="600"/>
                  </a:spcBef>
                  <a:buFont typeface="+mj-lt"/>
                  <a:buAutoNum type="arabicPeriod"/>
                </a:pPr>
                <a:r>
                  <a:rPr lang="en-US" dirty="0">
                    <a:latin typeface="Arial" panose="020B0604020202020204" pitchFamily="34" charset="0"/>
                    <a:cs typeface="Arial" panose="020B0604020202020204" pitchFamily="34" charset="0"/>
                  </a:rPr>
                  <a:t>Testing the independence of two categorical variables.</a:t>
                </a:r>
              </a:p>
              <a:p>
                <a:pPr marL="914400" indent="-457200">
                  <a:lnSpc>
                    <a:spcPct val="100000"/>
                  </a:lnSpc>
                  <a:spcBef>
                    <a:spcPts val="600"/>
                  </a:spcBef>
                  <a:buFont typeface="+mj-lt"/>
                  <a:buAutoNum type="arabicPeriod"/>
                </a:pPr>
                <a:r>
                  <a:rPr lang="en-US" dirty="0">
                    <a:latin typeface="Arial" panose="020B0604020202020204" pitchFamily="34" charset="0"/>
                    <a:cs typeface="Arial" panose="020B0604020202020204" pitchFamily="34" charset="0"/>
                  </a:rPr>
                  <a:t>Testing the equality of population proportions for three or more populations.</a:t>
                </a:r>
              </a:p>
              <a:p>
                <a:pPr>
                  <a:lnSpc>
                    <a:spcPct val="100000"/>
                  </a:lnSpc>
                </a:pPr>
                <a:r>
                  <a:rPr lang="en-US" dirty="0">
                    <a:latin typeface="Arial" panose="020B0604020202020204" pitchFamily="34" charset="0"/>
                    <a:cs typeface="Arial" panose="020B0604020202020204" pitchFamily="34" charset="0"/>
                  </a:rPr>
                  <a:t>All tests apply to categorical variables and use a chi-square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l-GR" sz="2000" i="1">
                            <a:latin typeface="Cambria Math" panose="02040503050406030204" pitchFamily="18" charset="0"/>
                            <a:ea typeface="Cambria Math" panose="02040503050406030204" pitchFamily="18" charset="0"/>
                            <a:cs typeface="Arial" panose="020B0604020202020204" pitchFamily="34" charset="0"/>
                          </a:rPr>
                          <m:t>𝛸</m:t>
                        </m:r>
                      </m:e>
                      <m:sup>
                        <m:r>
                          <a:rPr lang="en-US" sz="2000" i="1">
                            <a:latin typeface="Cambria Math" panose="02040503050406030204" pitchFamily="18" charset="0"/>
                            <a:cs typeface="Arial" panose="020B0604020202020204" pitchFamily="34" charset="0"/>
                          </a:rPr>
                          <m:t>2</m:t>
                        </m:r>
                      </m:sup>
                    </m:sSup>
                  </m:oMath>
                </a14:m>
                <a:r>
                  <a:rPr lang="en-US" dirty="0">
                    <a:latin typeface="Arial" panose="020B0604020202020204" pitchFamily="34" charset="0"/>
                    <a:cs typeface="Arial" panose="020B0604020202020204" pitchFamily="34" charset="0"/>
                  </a:rPr>
                  <a:t>) test statistic that is based on the differences between the observed frequencies from the sample data, and the expected frequencies, computed under the assumption that the null hypothesis is true.</a:t>
                </a:r>
              </a:p>
              <a:p>
                <a:pPr>
                  <a:lnSpc>
                    <a:spcPct val="100000"/>
                  </a:lnSpc>
                </a:pPr>
                <a:r>
                  <a:rPr lang="en-US" dirty="0">
                    <a:latin typeface="Arial" panose="020B0604020202020204" pitchFamily="34" charset="0"/>
                    <a:cs typeface="Arial" panose="020B0604020202020204" pitchFamily="34" charset="0"/>
                  </a:rPr>
                  <a:t>For the test about the equality of population proportions, we also showed how the </a:t>
                </a:r>
                <a:r>
                  <a:rPr lang="en-US" dirty="0" err="1">
                    <a:latin typeface="Arial" panose="020B0604020202020204" pitchFamily="34" charset="0"/>
                    <a:cs typeface="Arial" panose="020B0604020202020204" pitchFamily="34" charset="0"/>
                  </a:rPr>
                  <a:t>Marascuilo</a:t>
                </a:r>
                <a:r>
                  <a:rPr lang="en-US" dirty="0">
                    <a:latin typeface="Arial" panose="020B0604020202020204" pitchFamily="34" charset="0"/>
                    <a:cs typeface="Arial" panose="020B0604020202020204" pitchFamily="34" charset="0"/>
                  </a:rPr>
                  <a:t> procedure may help identify which pairs of population proportions are different.</a:t>
                </a:r>
              </a:p>
            </p:txBody>
          </p:sp>
        </mc:Choice>
        <mc:Fallback xmlns="">
          <p:sp>
            <p:nvSpPr>
              <p:cNvPr id="3" name="Text Placeholder 2">
                <a:extLst>
                  <a:ext uri="{FF2B5EF4-FFF2-40B4-BE49-F238E27FC236}">
                    <a16:creationId xmlns:a16="http://schemas.microsoft.com/office/drawing/2014/main" id="{87C197FC-1825-404A-BE9E-EA5BA19058B7}"/>
                  </a:ext>
                </a:extLst>
              </p:cNvPr>
              <p:cNvSpPr>
                <a:spLocks noGrp="1" noRot="1" noChangeAspect="1" noMove="1" noResize="1" noEditPoints="1" noAdjustHandles="1" noChangeArrowheads="1" noChangeShapeType="1" noTextEdit="1"/>
              </p:cNvSpPr>
              <p:nvPr>
                <p:ph type="body" sz="quarter" idx="17"/>
              </p:nvPr>
            </p:nvSpPr>
            <p:spPr>
              <a:xfrm>
                <a:off x="751069" y="1371600"/>
                <a:ext cx="10657500" cy="3636169"/>
              </a:xfrm>
              <a:blipFill>
                <a:blip r:embed="rId3"/>
                <a:stretch>
                  <a:fillRect l="-1373" t="-2013" r="-1602" b="-1510"/>
                </a:stretch>
              </a:blipFill>
            </p:spPr>
            <p:txBody>
              <a:bodyPr/>
              <a:lstStyle/>
              <a:p>
                <a:r>
                  <a:rPr lang="en-US">
                    <a:noFill/>
                  </a:rPr>
                  <a:t> </a:t>
                </a:r>
              </a:p>
            </p:txBody>
          </p:sp>
        </mc:Fallback>
      </mc:AlternateContent>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2.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100388</TotalTime>
  <Words>5017</Words>
  <Application>Microsoft Office PowerPoint</Application>
  <PresentationFormat>Widescreen</PresentationFormat>
  <Paragraphs>587</Paragraphs>
  <Slides>37</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Arial</vt:lpstr>
      <vt:lpstr>Arial Unicode MS</vt:lpstr>
      <vt:lpstr>Calibri</vt:lpstr>
      <vt:lpstr>Cambria Math</vt:lpstr>
      <vt:lpstr>Helvetica</vt:lpstr>
      <vt:lpstr>Open Sans</vt:lpstr>
      <vt:lpstr>Summer Font</vt:lpstr>
      <vt:lpstr>Office Theme</vt:lpstr>
      <vt:lpstr>PowerPoint Presentation</vt:lpstr>
      <vt:lpstr>Chapter Contents</vt:lpstr>
      <vt:lpstr>Chapter Objectives</vt:lpstr>
      <vt:lpstr>Introduction</vt:lpstr>
      <vt:lpstr>12.1 Goodness-of-Fit Test </vt:lpstr>
      <vt:lpstr>12.1 Multinomial Probability Distribution Goodness-of-Fit Test</vt:lpstr>
      <vt:lpstr>12.1 Testing a Multinomial Probability Distribution</vt:lpstr>
      <vt:lpstr>12.1 Calculation of the Chi-Square Statistic for Goodness-of-Fit Test</vt:lpstr>
      <vt:lpstr>12.1 p-Value Approach to a Goodness-of-Fit Test of a Multinomial Probability Distribution</vt:lpstr>
      <vt:lpstr>12.1 Critical Value Approach to a Goodness-of-Fitness Test of a Multinomial Probability Distribution</vt:lpstr>
      <vt:lpstr>12.1 Bar Chart Comparison of Product Market Shares</vt:lpstr>
      <vt:lpstr>12.1 Excel: Conduct a Goodness-of-Fit Test</vt:lpstr>
      <vt:lpstr>12.1 Excel Worksheet for the Goodness-of-Fit Test</vt:lpstr>
      <vt:lpstr>12.2 Test of Independence</vt:lpstr>
      <vt:lpstr>12.2 Chi-Square Test for Independence of Two Categorical Variables</vt:lpstr>
      <vt:lpstr>12.2 Testing for the Independence of Type of Beer and Beer Drinker’s Sex</vt:lpstr>
      <vt:lpstr>12.2 Calculation of the Expected Frequencies for the Test of Independence</vt:lpstr>
      <vt:lpstr>12.2 Calculation of the Chi-Square Statistic for the Test of Independence</vt:lpstr>
      <vt:lpstr>12.2 p-Value Approach to a Chi-Square Test for Independence</vt:lpstr>
      <vt:lpstr>12.2 Critical Value Approach to a Chi-Square Test for Independence</vt:lpstr>
      <vt:lpstr>12.2 Bar Chart Comparison of Beer Preference by Sex</vt:lpstr>
      <vt:lpstr>12.2 Excel: Conduct a Test of Independence</vt:lpstr>
      <vt:lpstr>12.2 Excel Worksheet for the Test of Independence</vt:lpstr>
      <vt:lpstr>12.3 Testing for Equality of Three or More Population Proportions</vt:lpstr>
      <vt:lpstr>12.3 Chi-Square Test for the Equality of Three or More Population Proportions</vt:lpstr>
      <vt:lpstr>12.3 Testing for Automobile Brand Loyalty </vt:lpstr>
      <vt:lpstr>12.3 The Chi-Square Test Statistic</vt:lpstr>
      <vt:lpstr>12.3 Calculation of the Expected Frequencies</vt:lpstr>
      <vt:lpstr>12.3 Calculation of the Chi-Square Statistic</vt:lpstr>
      <vt:lpstr>12.3 p-Value Approach to a Chi-Square Test for the Equality of Three Population Proportions</vt:lpstr>
      <vt:lpstr>12.3 Critical Value Approach to a Chi-Square Test for the Equality of Three Population Proportions</vt:lpstr>
      <vt:lpstr>12.3 Excel: Conduct a Test of Multiple Proportions</vt:lpstr>
      <vt:lpstr>12.3 Excel Worksheet for the Test of Multiple Proportions</vt:lpstr>
      <vt:lpstr>12.3 Comparison of Multiple Population Proportions</vt:lpstr>
      <vt:lpstr>12.3 Calculation of the Pairwise Differences Between Sample Proportions </vt:lpstr>
      <vt:lpstr>12.3 Pairwise Comparison Tests for the Automobile Brand Loyalty Study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2523</cp:revision>
  <cp:lastPrinted>2016-10-03T15:29:39Z</cp:lastPrinted>
  <dcterms:created xsi:type="dcterms:W3CDTF">2019-11-14T21:20:16Z</dcterms:created>
  <dcterms:modified xsi:type="dcterms:W3CDTF">2025-12-18T16:18:27Z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