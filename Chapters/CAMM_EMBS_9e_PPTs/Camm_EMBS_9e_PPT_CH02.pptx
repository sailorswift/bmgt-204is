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53"/>
  </p:notesMasterIdLst>
  <p:handoutMasterIdLst>
    <p:handoutMasterId r:id="rId54"/>
  </p:handoutMasterIdLst>
  <p:sldIdLst>
    <p:sldId id="666" r:id="rId5"/>
    <p:sldId id="524" r:id="rId6"/>
    <p:sldId id="548" r:id="rId7"/>
    <p:sldId id="616" r:id="rId8"/>
    <p:sldId id="596" r:id="rId9"/>
    <p:sldId id="645" r:id="rId10"/>
    <p:sldId id="646" r:id="rId11"/>
    <p:sldId id="619" r:id="rId12"/>
    <p:sldId id="620" r:id="rId13"/>
    <p:sldId id="655" r:id="rId14"/>
    <p:sldId id="656" r:id="rId15"/>
    <p:sldId id="657" r:id="rId16"/>
    <p:sldId id="647" r:id="rId17"/>
    <p:sldId id="648" r:id="rId18"/>
    <p:sldId id="658" r:id="rId19"/>
    <p:sldId id="649" r:id="rId20"/>
    <p:sldId id="623" r:id="rId21"/>
    <p:sldId id="624" r:id="rId22"/>
    <p:sldId id="625" r:id="rId23"/>
    <p:sldId id="660" r:id="rId24"/>
    <p:sldId id="627" r:id="rId25"/>
    <p:sldId id="650" r:id="rId26"/>
    <p:sldId id="651" r:id="rId27"/>
    <p:sldId id="652" r:id="rId28"/>
    <p:sldId id="661" r:id="rId29"/>
    <p:sldId id="653" r:id="rId30"/>
    <p:sldId id="654" r:id="rId31"/>
    <p:sldId id="632" r:id="rId32"/>
    <p:sldId id="633" r:id="rId33"/>
    <p:sldId id="662" r:id="rId34"/>
    <p:sldId id="635" r:id="rId35"/>
    <p:sldId id="636" r:id="rId36"/>
    <p:sldId id="663" r:id="rId37"/>
    <p:sldId id="664" r:id="rId38"/>
    <p:sldId id="464" r:id="rId39"/>
    <p:sldId id="465" r:id="rId40"/>
    <p:sldId id="466" r:id="rId41"/>
    <p:sldId id="467" r:id="rId42"/>
    <p:sldId id="468" r:id="rId43"/>
    <p:sldId id="470" r:id="rId44"/>
    <p:sldId id="665" r:id="rId45"/>
    <p:sldId id="637" r:id="rId46"/>
    <p:sldId id="638" r:id="rId47"/>
    <p:sldId id="639" r:id="rId48"/>
    <p:sldId id="640" r:id="rId49"/>
    <p:sldId id="641" r:id="rId50"/>
    <p:sldId id="523" r:id="rId51"/>
    <p:sldId id="642" r:id="rId52"/>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DFB7424-FDF1-8F6E-9596-ACB5A8234F08}" name="Lumina CE" initials="CE" userId="Lumina CE" providerId="None"/>
  <p188:author id="{2BF8197D-6385-3905-C8CC-4B1C755E6EA6}" name="Lumina" initials="LD" userId="Lumina"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Triola, Courtney A" initials="TCA" lastIdx="1" clrIdx="0">
    <p:extLst>
      <p:ext uri="{19B8F6BF-5375-455C-9EA6-DF929625EA0E}">
        <p15:presenceInfo xmlns:p15="http://schemas.microsoft.com/office/powerpoint/2012/main" userId="S-1-5-21-4027829005-1107895287-290554039-156439" providerId="AD"/>
      </p:ext>
    </p:extLst>
  </p:cmAuthor>
  <p:cmAuthor id="2" name="pcatasti@vcu.edu" initials="p" lastIdx="1" clrIdx="1">
    <p:extLst>
      <p:ext uri="{19B8F6BF-5375-455C-9EA6-DF929625EA0E}">
        <p15:presenceInfo xmlns:p15="http://schemas.microsoft.com/office/powerpoint/2012/main" userId="S::pcatasti@vcu.edu::5e6bb2ce-2eef-4c7a-b628-7542cf8731e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25894E"/>
    <a:srgbClr val="D14B1E"/>
    <a:srgbClr val="FF6300"/>
    <a:srgbClr val="FFF4DE"/>
    <a:srgbClr val="CDC800"/>
    <a:srgbClr val="006699"/>
    <a:srgbClr val="2A601F"/>
    <a:srgbClr val="01FFD5"/>
    <a:srgbClr val="E3EFF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1E7847F-9DEE-46E6-B05E-4229160CE4DB}" v="350" dt="2023-12-01T15:10:58.55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22" autoAdjust="0"/>
    <p:restoredTop sz="95455" autoAdjust="0"/>
  </p:normalViewPr>
  <p:slideViewPr>
    <p:cSldViewPr snapToGrid="0" snapToObjects="1">
      <p:cViewPr varScale="1">
        <p:scale>
          <a:sx n="59" d="100"/>
          <a:sy n="59" d="100"/>
        </p:scale>
        <p:origin x="884" y="56"/>
      </p:cViewPr>
      <p:guideLst>
        <p:guide orient="horz" pos="2160"/>
        <p:guide pos="3840"/>
      </p:guideLst>
    </p:cSldViewPr>
  </p:slideViewPr>
  <p:outlineViewPr>
    <p:cViewPr>
      <p:scale>
        <a:sx n="33" d="100"/>
        <a:sy n="33" d="100"/>
      </p:scale>
      <p:origin x="0" y="-4530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77" d="100"/>
          <a:sy n="77" d="100"/>
        </p:scale>
        <p:origin x="274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commentAuthors" Target="commen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notesMaster" Target="notesMasters/notesMaster1.xml"/><Relationship Id="rId58" Type="http://schemas.openxmlformats.org/officeDocument/2006/relationships/theme" Target="theme/theme1.xml"/><Relationship Id="rId5" Type="http://schemas.openxmlformats.org/officeDocument/2006/relationships/slide" Target="slides/slide1.xml"/><Relationship Id="rId61" Type="http://schemas.microsoft.com/office/2018/10/relationships/authors" Target="author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viewProps" Target="viewProp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E8AA413-85C6-40F2-B867-268CAAA7E377}" type="datetimeFigureOut">
              <a:rPr lang="en-US" smtClean="0"/>
              <a:t>12/18/2025</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767803E-66EE-42CE-8DFB-98553954E472}" type="slidenum">
              <a:rPr lang="en-US" smtClean="0"/>
              <a:t>‹#›</a:t>
            </a:fld>
            <a:endParaRPr lang="en-US" dirty="0"/>
          </a:p>
        </p:txBody>
      </p:sp>
    </p:spTree>
    <p:extLst>
      <p:ext uri="{BB962C8B-B14F-4D97-AF65-F5344CB8AC3E}">
        <p14:creationId xmlns:p14="http://schemas.microsoft.com/office/powerpoint/2010/main" val="21762102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86680D68-05FF-7942-990A-B21BB8E6CE33}" type="datetimeFigureOut">
              <a:rPr lang="en-US"/>
              <a:pPr>
                <a:defRPr/>
              </a:pPr>
              <a:t>12/18/2025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defRPr>
            </a:lvl1pPr>
          </a:lstStyle>
          <a:p>
            <a:pPr>
              <a:defRPr/>
            </a:pPr>
            <a:fld id="{91CAE60C-72A0-D14D-8733-C13212F694AD}" type="slidenum">
              <a:rPr lang="en-US"/>
              <a:pPr>
                <a:defRPr/>
              </a:pPr>
              <a:t>‹#›</a:t>
            </a:fld>
            <a:endParaRPr lang="en-US" dirty="0"/>
          </a:p>
        </p:txBody>
      </p:sp>
    </p:spTree>
    <p:extLst>
      <p:ext uri="{BB962C8B-B14F-4D97-AF65-F5344CB8AC3E}">
        <p14:creationId xmlns:p14="http://schemas.microsoft.com/office/powerpoint/2010/main" val="123380552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a:t>
            </a:fld>
            <a:endParaRPr lang="en-US" dirty="0"/>
          </a:p>
        </p:txBody>
      </p:sp>
    </p:spTree>
    <p:extLst>
      <p:ext uri="{BB962C8B-B14F-4D97-AF65-F5344CB8AC3E}">
        <p14:creationId xmlns:p14="http://schemas.microsoft.com/office/powerpoint/2010/main" val="35486665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a:t>
            </a:fld>
            <a:endParaRPr lang="en-US" dirty="0"/>
          </a:p>
        </p:txBody>
      </p:sp>
    </p:spTree>
    <p:extLst>
      <p:ext uri="{BB962C8B-B14F-4D97-AF65-F5344CB8AC3E}">
        <p14:creationId xmlns:p14="http://schemas.microsoft.com/office/powerpoint/2010/main" val="24284744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4</a:t>
            </a:fld>
            <a:endParaRPr lang="en-US" dirty="0"/>
          </a:p>
        </p:txBody>
      </p:sp>
    </p:spTree>
    <p:extLst>
      <p:ext uri="{BB962C8B-B14F-4D97-AF65-F5344CB8AC3E}">
        <p14:creationId xmlns:p14="http://schemas.microsoft.com/office/powerpoint/2010/main" val="39588320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10</a:t>
            </a:fld>
            <a:endParaRPr lang="en-US" dirty="0"/>
          </a:p>
        </p:txBody>
      </p:sp>
    </p:spTree>
    <p:extLst>
      <p:ext uri="{BB962C8B-B14F-4D97-AF65-F5344CB8AC3E}">
        <p14:creationId xmlns:p14="http://schemas.microsoft.com/office/powerpoint/2010/main" val="37620284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easily edit the bar chart to display a different chart title and add axis titles. </a:t>
            </a:r>
          </a:p>
          <a:p>
            <a:r>
              <a:rPr lang="en-US" dirty="0"/>
              <a:t>For instance, suppose you would like to create a sorted bar chart to use “</a:t>
            </a:r>
            <a:r>
              <a:rPr lang="en-US" dirty="0" err="1"/>
              <a:t>BarChart</a:t>
            </a:r>
            <a:r>
              <a:rPr lang="en-US" dirty="0"/>
              <a:t> of Soft Drink Purchases” as the chart title, to use “Soft Drink” for the horizontal </a:t>
            </a:r>
            <a:r>
              <a:rPr lang="en-US" dirty="0" err="1"/>
              <a:t>axist</a:t>
            </a:r>
            <a:r>
              <a:rPr lang="en-US" dirty="0"/>
              <a:t> title and to use “Frequency” for the vertical axis title.</a:t>
            </a:r>
          </a:p>
          <a:p>
            <a:r>
              <a:rPr lang="en-US" b="1" dirty="0"/>
              <a:t>Step 1. </a:t>
            </a:r>
            <a:r>
              <a:rPr lang="en-US" dirty="0"/>
              <a:t>Click the </a:t>
            </a:r>
            <a:r>
              <a:rPr lang="en-US" b="1" dirty="0"/>
              <a:t>Chart Title </a:t>
            </a:r>
            <a:r>
              <a:rPr lang="en-US" dirty="0"/>
              <a:t>and replace it with </a:t>
            </a:r>
            <a:r>
              <a:rPr lang="en-US" i="1" dirty="0"/>
              <a:t>Bar Chart of Soft Drink Purchases.</a:t>
            </a:r>
          </a:p>
          <a:p>
            <a:r>
              <a:rPr lang="en-US" b="1" dirty="0"/>
              <a:t>Step 2. </a:t>
            </a:r>
            <a:r>
              <a:rPr lang="en-US" dirty="0"/>
              <a:t>Click the </a:t>
            </a:r>
            <a:r>
              <a:rPr lang="en-US" b="1" dirty="0"/>
              <a:t>Chart Elements </a:t>
            </a:r>
            <a:r>
              <a:rPr lang="en-US" dirty="0"/>
              <a:t>button</a:t>
            </a:r>
          </a:p>
          <a:p>
            <a:r>
              <a:rPr lang="en-US" b="1" dirty="0"/>
              <a:t>Step 3. </a:t>
            </a:r>
            <a:r>
              <a:rPr lang="en-US" dirty="0"/>
              <a:t>When the list of chart elements appears: Select the check box for </a:t>
            </a:r>
            <a:r>
              <a:rPr lang="en-US" b="1" dirty="0"/>
              <a:t>Axis Titles </a:t>
            </a:r>
            <a:r>
              <a:rPr lang="en-US" dirty="0"/>
              <a:t>(creates placeholders for the axis titles.)</a:t>
            </a:r>
          </a:p>
          <a:p>
            <a:r>
              <a:rPr lang="en-US" b="1" dirty="0"/>
              <a:t>Step 4. </a:t>
            </a:r>
            <a:r>
              <a:rPr lang="en-US" dirty="0"/>
              <a:t>Click the horizontal </a:t>
            </a:r>
            <a:r>
              <a:rPr lang="en-US" b="1" dirty="0"/>
              <a:t>Axis Title </a:t>
            </a:r>
            <a:r>
              <a:rPr lang="en-US" dirty="0"/>
              <a:t>placeholder and replace it with </a:t>
            </a:r>
            <a:r>
              <a:rPr lang="en-US" i="1" dirty="0"/>
              <a:t>Soft Drink</a:t>
            </a:r>
            <a:r>
              <a:rPr lang="en-US" dirty="0"/>
              <a:t>.</a:t>
            </a:r>
          </a:p>
          <a:p>
            <a:r>
              <a:rPr lang="en-US" b="1" dirty="0"/>
              <a:t>Step 5. </a:t>
            </a:r>
            <a:r>
              <a:rPr lang="en-US" dirty="0"/>
              <a:t>Click the vertical </a:t>
            </a:r>
            <a:r>
              <a:rPr lang="en-US" b="1" dirty="0"/>
              <a:t>Axis Title </a:t>
            </a:r>
            <a:r>
              <a:rPr lang="en-US" dirty="0"/>
              <a:t>placeholder and replace it with </a:t>
            </a:r>
            <a:r>
              <a:rPr lang="en-US" i="1" dirty="0"/>
              <a:t>Frequency</a:t>
            </a:r>
            <a:r>
              <a:rPr lang="en-US" dirty="0"/>
              <a:t>.</a:t>
            </a:r>
          </a:p>
          <a:p>
            <a:r>
              <a:rPr lang="en-US" b="1" dirty="0"/>
              <a:t>Step 6. </a:t>
            </a:r>
            <a:r>
              <a:rPr lang="en-US" dirty="0"/>
              <a:t>Right-click on any of the bars in the chart, select </a:t>
            </a:r>
            <a:r>
              <a:rPr lang="en-US" b="1" dirty="0"/>
              <a:t>Sort</a:t>
            </a:r>
            <a:r>
              <a:rPr lang="en-US" dirty="0"/>
              <a:t>, and click </a:t>
            </a:r>
            <a:r>
              <a:rPr lang="en-US" b="1" dirty="0"/>
              <a:t>Sort Largest to Smaller</a:t>
            </a:r>
            <a:r>
              <a:rPr lang="en-US" dirty="0"/>
              <a:t>.</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12</a:t>
            </a:fld>
            <a:endParaRPr lang="en-US" dirty="0"/>
          </a:p>
        </p:txBody>
      </p:sp>
    </p:spTree>
    <p:extLst>
      <p:ext uri="{BB962C8B-B14F-4D97-AF65-F5344CB8AC3E}">
        <p14:creationId xmlns:p14="http://schemas.microsoft.com/office/powerpoint/2010/main" val="12205221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a:t>
            </a:r>
            <a:r>
              <a:rPr lang="en-US" b="0" i="0" dirty="0">
                <a:effectLst/>
                <a:latin typeface="Arial" panose="020B0604020202020204" pitchFamily="34" charset="0"/>
              </a:rPr>
              <a:t>the appropriate values for the class limits with quantitative data depend on the level of accuracy of the data. For instance, with the audit time data, the limits used were integer values. If the data were rounded to the nearest tenth of a day (e.g., 12.3, 14.4, and so on), then the limits would be stated in tenths of days. For instance, the first class would be 10.0–14.9. If the data were recorded to the nearest hundredth of a day (e.g., 12.34, 14.45, and so on), the limits would be stated in hundredths of days. For instance, the first class would be 10.00–14.99.</a:t>
            </a:r>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13</a:t>
            </a:fld>
            <a:endParaRPr lang="en-US" dirty="0"/>
          </a:p>
        </p:txBody>
      </p:sp>
    </p:spTree>
    <p:extLst>
      <p:ext uri="{BB962C8B-B14F-4D97-AF65-F5344CB8AC3E}">
        <p14:creationId xmlns:p14="http://schemas.microsoft.com/office/powerpoint/2010/main" val="39286882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in some applications, we want to know the midpoints of the classes in a frequency distribution for quantitative data. The class midpoint is the value halfway between the lower and upper-class limits. For the audit time data, the five class midpoints are 12, 17, 22, 27, and 32.</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14</a:t>
            </a:fld>
            <a:endParaRPr lang="en-US" dirty="0"/>
          </a:p>
        </p:txBody>
      </p:sp>
    </p:spTree>
    <p:extLst>
      <p:ext uri="{BB962C8B-B14F-4D97-AF65-F5344CB8AC3E}">
        <p14:creationId xmlns:p14="http://schemas.microsoft.com/office/powerpoint/2010/main" val="42041737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group the rows containing the audit times, </a:t>
            </a:r>
            <a:r>
              <a:rPr lang="en-US" dirty="0" err="1"/>
              <a:t>followi</a:t>
            </a:r>
            <a:r>
              <a:rPr lang="en-US" dirty="0"/>
              <a:t> these steps.</a:t>
            </a:r>
          </a:p>
          <a:p>
            <a:r>
              <a:rPr lang="en-US" b="1" dirty="0"/>
              <a:t>Step 1</a:t>
            </a:r>
            <a:r>
              <a:rPr lang="en-US" dirty="0"/>
              <a:t>. Right-click cell A4 in the PivotTable or any other cell containing an audit time.</a:t>
            </a:r>
          </a:p>
          <a:p>
            <a:r>
              <a:rPr lang="en-US" b="1" dirty="0"/>
              <a:t>Step 2.</a:t>
            </a:r>
            <a:r>
              <a:rPr lang="en-US" dirty="0"/>
              <a:t> Choose </a:t>
            </a:r>
            <a:r>
              <a:rPr lang="en-US" b="1" dirty="0"/>
              <a:t>Group</a:t>
            </a:r>
            <a:r>
              <a:rPr lang="en-US" dirty="0"/>
              <a:t> from the list of options that appears.</a:t>
            </a:r>
          </a:p>
          <a:p>
            <a:r>
              <a:rPr lang="en-US" b="1" dirty="0"/>
              <a:t>Step 3</a:t>
            </a:r>
            <a:r>
              <a:rPr lang="en-US" dirty="0"/>
              <a:t>. When the </a:t>
            </a:r>
            <a:r>
              <a:rPr lang="en-US" b="1" dirty="0"/>
              <a:t>Grouping</a:t>
            </a:r>
            <a:r>
              <a:rPr lang="en-US" dirty="0"/>
              <a:t> dialog box appears</a:t>
            </a:r>
          </a:p>
          <a:p>
            <a:pPr lvl="1"/>
            <a:r>
              <a:rPr lang="en-US" dirty="0"/>
              <a:t>Enter </a:t>
            </a:r>
            <a:r>
              <a:rPr lang="en-US" i="1" dirty="0"/>
              <a:t>10</a:t>
            </a:r>
            <a:r>
              <a:rPr lang="en-US" dirty="0"/>
              <a:t> in the </a:t>
            </a:r>
            <a:r>
              <a:rPr lang="en-US" b="1" dirty="0"/>
              <a:t>Starting at</a:t>
            </a:r>
            <a:r>
              <a:rPr lang="en-US" dirty="0"/>
              <a:t>: box</a:t>
            </a:r>
          </a:p>
          <a:p>
            <a:pPr lvl="1"/>
            <a:r>
              <a:rPr lang="en-US" dirty="0"/>
              <a:t>Enter </a:t>
            </a:r>
            <a:r>
              <a:rPr lang="en-US" i="1" dirty="0"/>
              <a:t>34</a:t>
            </a:r>
            <a:r>
              <a:rPr lang="en-US" dirty="0"/>
              <a:t> in the </a:t>
            </a:r>
            <a:r>
              <a:rPr lang="en-US" b="1" dirty="0"/>
              <a:t>Ending a</a:t>
            </a:r>
            <a:r>
              <a:rPr lang="en-US" dirty="0"/>
              <a:t>t: box</a:t>
            </a:r>
          </a:p>
          <a:p>
            <a:pPr lvl="1"/>
            <a:r>
              <a:rPr lang="en-US" dirty="0"/>
              <a:t>Enter </a:t>
            </a:r>
            <a:r>
              <a:rPr lang="en-US" i="1" dirty="0"/>
              <a:t>5</a:t>
            </a:r>
            <a:r>
              <a:rPr lang="en-US" dirty="0"/>
              <a:t> in the </a:t>
            </a:r>
            <a:r>
              <a:rPr lang="en-US" b="1" dirty="0"/>
              <a:t>By:</a:t>
            </a:r>
            <a:r>
              <a:rPr lang="en-US" dirty="0"/>
              <a:t> box</a:t>
            </a:r>
          </a:p>
          <a:p>
            <a:pPr lvl="1"/>
            <a:r>
              <a:rPr lang="en-US" dirty="0"/>
              <a:t>Click </a:t>
            </a:r>
            <a:r>
              <a:rPr lang="en-US" b="1" dirty="0"/>
              <a:t>OK</a:t>
            </a:r>
            <a:r>
              <a:rPr lang="en-US" dirty="0"/>
              <a:t>.</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15</a:t>
            </a:fld>
            <a:endParaRPr lang="en-US" dirty="0"/>
          </a:p>
        </p:txBody>
      </p:sp>
    </p:spTree>
    <p:extLst>
      <p:ext uri="{BB962C8B-B14F-4D97-AF65-F5344CB8AC3E}">
        <p14:creationId xmlns:p14="http://schemas.microsoft.com/office/powerpoint/2010/main" val="38104100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a:t>
            </a:r>
            <a:r>
              <a:rPr lang="en-US" b="0" i="0" dirty="0">
                <a:effectLst/>
                <a:latin typeface="Arial" panose="020B0604020202020204" pitchFamily="34" charset="0"/>
              </a:rPr>
              <a:t>the last entry in a cumulative frequency distribution always equals the total number of observations. The last entry in a cumulative relative frequency distribution always equals 1.00 and the last entry in a cumulative percent frequency distribution always equals 100.</a:t>
            </a:r>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16</a:t>
            </a:fld>
            <a:endParaRPr lang="en-US" dirty="0"/>
          </a:p>
        </p:txBody>
      </p:sp>
    </p:spTree>
    <p:extLst>
      <p:ext uri="{BB962C8B-B14F-4D97-AF65-F5344CB8AC3E}">
        <p14:creationId xmlns:p14="http://schemas.microsoft.com/office/powerpoint/2010/main" val="30896282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17</a:t>
            </a:fld>
            <a:endParaRPr lang="en-US" dirty="0"/>
          </a:p>
        </p:txBody>
      </p:sp>
    </p:spTree>
    <p:extLst>
      <p:ext uri="{BB962C8B-B14F-4D97-AF65-F5344CB8AC3E}">
        <p14:creationId xmlns:p14="http://schemas.microsoft.com/office/powerpoint/2010/main" val="28978410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a:t>
            </a:r>
            <a:r>
              <a:rPr lang="en-US" b="0" i="0" dirty="0">
                <a:effectLst/>
                <a:latin typeface="Arial" panose="020B0604020202020204" pitchFamily="34" charset="0"/>
              </a:rPr>
              <a:t>A bar chart and a histogram are essentially the same thing; both are graphical presentations of the data in a frequency distribution. A histogram is just a bar chart with no separation between bars. For some discrete quantitative data, a separation between bars is also appropriate. Consider, for example, the number of classes in which a college student is enrolled. The data may only assume integer values. Intermediate values such as 1.5, 2.73, and so on are not possible. With continuous quantitative data, however, such as the audit times, a separation between bars is not appropriate.</a:t>
            </a:r>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18</a:t>
            </a:fld>
            <a:endParaRPr lang="en-US" dirty="0"/>
          </a:p>
        </p:txBody>
      </p:sp>
    </p:spTree>
    <p:extLst>
      <p:ext uri="{BB962C8B-B14F-4D97-AF65-F5344CB8AC3E}">
        <p14:creationId xmlns:p14="http://schemas.microsoft.com/office/powerpoint/2010/main" val="38370709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use “Histogram for Audit Time Data” as the chart title and insert “Audit Time (days)”for the horizontal axis title and “Frequency” for the vertical axis title, follow these steps.</a:t>
            </a:r>
          </a:p>
          <a:p>
            <a:r>
              <a:rPr lang="en-US" b="1" dirty="0"/>
              <a:t>Step 1</a:t>
            </a:r>
            <a:r>
              <a:rPr lang="en-US" dirty="0"/>
              <a:t>. Right-click any bar in the chart and choose </a:t>
            </a:r>
            <a:r>
              <a:rPr lang="en-US" b="1" dirty="0"/>
              <a:t>Format Data Series ... </a:t>
            </a:r>
            <a:r>
              <a:rPr lang="en-US" dirty="0"/>
              <a:t>from the list of options that appears,</a:t>
            </a:r>
          </a:p>
          <a:p>
            <a:r>
              <a:rPr lang="en-US" b="1" dirty="0"/>
              <a:t>Step 2</a:t>
            </a:r>
            <a:r>
              <a:rPr lang="en-US" dirty="0"/>
              <a:t>. When the </a:t>
            </a:r>
            <a:r>
              <a:rPr lang="en-US" b="1" dirty="0"/>
              <a:t>Format Data Series </a:t>
            </a:r>
            <a:r>
              <a:rPr lang="en-US" dirty="0"/>
              <a:t>task pane appears. Click </a:t>
            </a:r>
            <a:r>
              <a:rPr lang="en-US" b="1" dirty="0"/>
              <a:t>Series Options </a:t>
            </a:r>
            <a:r>
              <a:rPr lang="en-US" dirty="0"/>
              <a:t>to display the options. Set the </a:t>
            </a:r>
            <a:r>
              <a:rPr lang="en-US" b="1" dirty="0"/>
              <a:t>Gap Width </a:t>
            </a:r>
            <a:r>
              <a:rPr lang="en-US" dirty="0"/>
              <a:t>to 0. Click the </a:t>
            </a:r>
            <a:r>
              <a:rPr lang="en-US" b="1" dirty="0"/>
              <a:t>Close</a:t>
            </a:r>
            <a:r>
              <a:rPr lang="en-US" dirty="0"/>
              <a:t> button at the top right of the task pane.</a:t>
            </a:r>
          </a:p>
          <a:p>
            <a:r>
              <a:rPr lang="en-US" b="1" dirty="0"/>
              <a:t>Step 3</a:t>
            </a:r>
            <a:r>
              <a:rPr lang="en-US" dirty="0"/>
              <a:t>. Click the </a:t>
            </a:r>
            <a:r>
              <a:rPr lang="en-US" b="1" dirty="0"/>
              <a:t>Chart Title </a:t>
            </a:r>
            <a:r>
              <a:rPr lang="en-US" dirty="0"/>
              <a:t>and replace it with </a:t>
            </a:r>
            <a:r>
              <a:rPr lang="en-US" i="1" dirty="0"/>
              <a:t>Histogram for Audit Time Data</a:t>
            </a:r>
            <a:r>
              <a:rPr lang="en-US" dirty="0"/>
              <a:t>.</a:t>
            </a:r>
          </a:p>
          <a:p>
            <a:r>
              <a:rPr lang="en-US" b="1" dirty="0"/>
              <a:t>Step 4</a:t>
            </a:r>
            <a:r>
              <a:rPr lang="en-US" dirty="0"/>
              <a:t>. Click the </a:t>
            </a:r>
            <a:r>
              <a:rPr lang="en-US" b="1" dirty="0"/>
              <a:t>Chart Elements </a:t>
            </a:r>
            <a:r>
              <a:rPr lang="en-US" dirty="0"/>
              <a:t>button.</a:t>
            </a:r>
          </a:p>
          <a:p>
            <a:r>
              <a:rPr lang="en-US" b="1" dirty="0"/>
              <a:t>Step 5</a:t>
            </a:r>
            <a:r>
              <a:rPr lang="en-US" dirty="0"/>
              <a:t>. When the list of chart elements </a:t>
            </a:r>
            <a:r>
              <a:rPr lang="en-US" err="1"/>
              <a:t>appears</a:t>
            </a:r>
            <a:r>
              <a:rPr lang="en-US"/>
              <a:t>: Select </a:t>
            </a:r>
            <a:r>
              <a:rPr lang="en-US" dirty="0"/>
              <a:t>the check box for Axis Titles (creates placeholders for the axis titles)Deselect the check box for </a:t>
            </a:r>
            <a:r>
              <a:rPr lang="en-US" dirty="0" err="1"/>
              <a:t>LegendDeselect</a:t>
            </a:r>
            <a:r>
              <a:rPr lang="en-US" dirty="0"/>
              <a:t> the check box for Gridlines. Step 6. Click the horizontal Axis Title placeholder and replace it with Audit Time (days)Step 7. Click the vertical Axis Title placeholder and replace it with Frequency.</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20</a:t>
            </a:fld>
            <a:endParaRPr lang="en-US" dirty="0"/>
          </a:p>
        </p:txBody>
      </p:sp>
    </p:spTree>
    <p:extLst>
      <p:ext uri="{BB962C8B-B14F-4D97-AF65-F5344CB8AC3E}">
        <p14:creationId xmlns:p14="http://schemas.microsoft.com/office/powerpoint/2010/main" val="4377341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21</a:t>
            </a:fld>
            <a:endParaRPr lang="en-US" dirty="0"/>
          </a:p>
        </p:txBody>
      </p:sp>
    </p:spTree>
    <p:extLst>
      <p:ext uri="{BB962C8B-B14F-4D97-AF65-F5344CB8AC3E}">
        <p14:creationId xmlns:p14="http://schemas.microsoft.com/office/powerpoint/2010/main" val="7387749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24</a:t>
            </a:fld>
            <a:endParaRPr lang="en-US" dirty="0"/>
          </a:p>
        </p:txBody>
      </p:sp>
    </p:spTree>
    <p:extLst>
      <p:ext uri="{BB962C8B-B14F-4D97-AF65-F5344CB8AC3E}">
        <p14:creationId xmlns:p14="http://schemas.microsoft.com/office/powerpoint/2010/main" val="6839947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change the displayed values from sums to counts, follow these steps:</a:t>
            </a:r>
          </a:p>
          <a:p>
            <a:pPr lvl="1"/>
            <a:r>
              <a:rPr lang="en-US" dirty="0"/>
              <a:t>Click on </a:t>
            </a:r>
            <a:r>
              <a:rPr lang="en-US" b="1" dirty="0"/>
              <a:t>Sum of Restaurant </a:t>
            </a:r>
            <a:r>
              <a:rPr lang="en-US" dirty="0"/>
              <a:t>in the </a:t>
            </a:r>
            <a:r>
              <a:rPr lang="en-US" b="1" dirty="0"/>
              <a:t>Values</a:t>
            </a:r>
            <a:r>
              <a:rPr lang="en-US" dirty="0"/>
              <a:t> area.</a:t>
            </a:r>
          </a:p>
          <a:p>
            <a:pPr lvl="1"/>
            <a:r>
              <a:rPr lang="en-US" dirty="0"/>
              <a:t>Select </a:t>
            </a:r>
            <a:r>
              <a:rPr lang="en-US" b="1" dirty="0"/>
              <a:t>Value Field Settings ... </a:t>
            </a:r>
            <a:r>
              <a:rPr lang="en-US" dirty="0"/>
              <a:t>from the list of options that appears.</a:t>
            </a:r>
          </a:p>
          <a:p>
            <a:pPr lvl="1"/>
            <a:r>
              <a:rPr lang="en-US" dirty="0" err="1"/>
              <a:t>SWhen</a:t>
            </a:r>
            <a:r>
              <a:rPr lang="en-US" dirty="0"/>
              <a:t> the </a:t>
            </a:r>
            <a:r>
              <a:rPr lang="en-US" b="1" dirty="0"/>
              <a:t>Value Field Settings </a:t>
            </a:r>
            <a:r>
              <a:rPr lang="en-US" dirty="0"/>
              <a:t>dialog box appears, under </a:t>
            </a:r>
            <a:r>
              <a:rPr lang="en-US" b="1" dirty="0"/>
              <a:t>Summarize value field by</a:t>
            </a:r>
            <a:r>
              <a:rPr lang="en-US" dirty="0"/>
              <a:t>, choose </a:t>
            </a:r>
            <a:r>
              <a:rPr lang="en-US" b="1" dirty="0"/>
              <a:t>Count</a:t>
            </a:r>
            <a:r>
              <a:rPr lang="en-US" dirty="0"/>
              <a:t>.</a:t>
            </a:r>
          </a:p>
          <a:p>
            <a:pPr lvl="1"/>
            <a:r>
              <a:rPr lang="en-US" dirty="0"/>
              <a:t>Click </a:t>
            </a:r>
            <a:r>
              <a:rPr lang="en-US" b="1" dirty="0"/>
              <a:t>OK</a:t>
            </a:r>
            <a:r>
              <a:rPr lang="en-US" b="0" dirty="0"/>
              <a:t>.</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25</a:t>
            </a:fld>
            <a:endParaRPr lang="en-US" dirty="0"/>
          </a:p>
        </p:txBody>
      </p:sp>
    </p:spTree>
    <p:extLst>
      <p:ext uri="{BB962C8B-B14F-4D97-AF65-F5344CB8AC3E}">
        <p14:creationId xmlns:p14="http://schemas.microsoft.com/office/powerpoint/2010/main" val="4255298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26</a:t>
            </a:fld>
            <a:endParaRPr lang="en-US" dirty="0"/>
          </a:p>
        </p:txBody>
      </p:sp>
    </p:spTree>
    <p:extLst>
      <p:ext uri="{BB962C8B-B14F-4D97-AF65-F5344CB8AC3E}">
        <p14:creationId xmlns:p14="http://schemas.microsoft.com/office/powerpoint/2010/main" val="30379341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27</a:t>
            </a:fld>
            <a:endParaRPr lang="en-US" dirty="0"/>
          </a:p>
        </p:txBody>
      </p:sp>
    </p:spTree>
    <p:extLst>
      <p:ext uri="{BB962C8B-B14F-4D97-AF65-F5344CB8AC3E}">
        <p14:creationId xmlns:p14="http://schemas.microsoft.com/office/powerpoint/2010/main" val="31989431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28</a:t>
            </a:fld>
            <a:endParaRPr lang="en-US" dirty="0"/>
          </a:p>
        </p:txBody>
      </p:sp>
    </p:spTree>
    <p:extLst>
      <p:ext uri="{BB962C8B-B14F-4D97-AF65-F5344CB8AC3E}">
        <p14:creationId xmlns:p14="http://schemas.microsoft.com/office/powerpoint/2010/main" val="164667834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29</a:t>
            </a:fld>
            <a:endParaRPr lang="en-US" dirty="0"/>
          </a:p>
        </p:txBody>
      </p:sp>
    </p:spTree>
    <p:extLst>
      <p:ext uri="{BB962C8B-B14F-4D97-AF65-F5344CB8AC3E}">
        <p14:creationId xmlns:p14="http://schemas.microsoft.com/office/powerpoint/2010/main" val="400882121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Step 1</a:t>
            </a:r>
            <a:r>
              <a:rPr lang="en-US" dirty="0"/>
              <a:t>. Click the </a:t>
            </a:r>
            <a:r>
              <a:rPr lang="en-US" b="1" dirty="0"/>
              <a:t>Chart Title </a:t>
            </a:r>
            <a:r>
              <a:rPr lang="en-US" dirty="0"/>
              <a:t>and replace it with </a:t>
            </a:r>
            <a:r>
              <a:rPr lang="en-US" i="1" dirty="0"/>
              <a:t>Scatter Chart for the San Francisco Electronics Store</a:t>
            </a:r>
          </a:p>
          <a:p>
            <a:r>
              <a:rPr lang="en-US" b="1" dirty="0"/>
              <a:t>Step 2</a:t>
            </a:r>
            <a:r>
              <a:rPr lang="en-US" dirty="0"/>
              <a:t>. Click the </a:t>
            </a:r>
            <a:r>
              <a:rPr lang="en-US" b="1" dirty="0"/>
              <a:t>Chart Elements </a:t>
            </a:r>
            <a:r>
              <a:rPr lang="en-US" dirty="0"/>
              <a:t>button (located next to the top-right corner of the chart)</a:t>
            </a:r>
          </a:p>
          <a:p>
            <a:r>
              <a:rPr lang="en-US" b="1" dirty="0"/>
              <a:t>Step 3</a:t>
            </a:r>
            <a:r>
              <a:rPr lang="en-US" dirty="0"/>
              <a:t>. When the list of chart elements appears: </a:t>
            </a:r>
          </a:p>
          <a:p>
            <a:pPr lvl="1"/>
            <a:r>
              <a:rPr lang="en-US" dirty="0"/>
              <a:t>Select the check box for </a:t>
            </a:r>
            <a:r>
              <a:rPr lang="en-US" b="1" dirty="0"/>
              <a:t>Axis Titles </a:t>
            </a:r>
            <a:r>
              <a:rPr lang="en-US" dirty="0"/>
              <a:t>(creates placeholders for the axis titles)</a:t>
            </a:r>
          </a:p>
          <a:p>
            <a:pPr lvl="1"/>
            <a:r>
              <a:rPr lang="en-US" dirty="0"/>
              <a:t>Deselect the check box for </a:t>
            </a:r>
            <a:r>
              <a:rPr lang="en-US" b="1" dirty="0"/>
              <a:t>Gridlines</a:t>
            </a:r>
            <a:r>
              <a:rPr lang="en-US" dirty="0"/>
              <a:t> (to remove the gridlines from the chart)</a:t>
            </a:r>
          </a:p>
          <a:p>
            <a:pPr lvl="1"/>
            <a:r>
              <a:rPr lang="en-US" dirty="0"/>
              <a:t>Select the check box for </a:t>
            </a:r>
            <a:r>
              <a:rPr lang="en-US" b="1" dirty="0"/>
              <a:t>Trendline</a:t>
            </a:r>
          </a:p>
          <a:p>
            <a:r>
              <a:rPr lang="en-US" b="1" dirty="0"/>
              <a:t>Step 4</a:t>
            </a:r>
            <a:r>
              <a:rPr lang="en-US" dirty="0"/>
              <a:t>. Click the horizontal </a:t>
            </a:r>
            <a:r>
              <a:rPr lang="en-US" b="1" dirty="0"/>
              <a:t>Axis Title </a:t>
            </a:r>
            <a:r>
              <a:rPr lang="en-US" dirty="0"/>
              <a:t>placeholder and replace it with </a:t>
            </a:r>
            <a:r>
              <a:rPr lang="en-US" i="1" dirty="0"/>
              <a:t>Number of Commercials</a:t>
            </a:r>
          </a:p>
          <a:p>
            <a:r>
              <a:rPr lang="en-US" b="1" dirty="0"/>
              <a:t>Step 5</a:t>
            </a:r>
            <a:r>
              <a:rPr lang="en-US" dirty="0"/>
              <a:t>. Click the vertical </a:t>
            </a:r>
            <a:r>
              <a:rPr lang="en-US" b="1" dirty="0"/>
              <a:t>Axis Title </a:t>
            </a:r>
            <a:r>
              <a:rPr lang="en-US" dirty="0"/>
              <a:t>placeholder and replace it with </a:t>
            </a:r>
            <a:r>
              <a:rPr lang="en-US" b="0" i="1" dirty="0"/>
              <a:t>Sales ($100s)</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30</a:t>
            </a:fld>
            <a:endParaRPr lang="en-US" dirty="0"/>
          </a:p>
        </p:txBody>
      </p:sp>
    </p:spTree>
    <p:extLst>
      <p:ext uri="{BB962C8B-B14F-4D97-AF65-F5344CB8AC3E}">
        <p14:creationId xmlns:p14="http://schemas.microsoft.com/office/powerpoint/2010/main" val="41389372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31</a:t>
            </a:fld>
            <a:endParaRPr lang="en-US" dirty="0"/>
          </a:p>
        </p:txBody>
      </p:sp>
    </p:spTree>
    <p:extLst>
      <p:ext uri="{BB962C8B-B14F-4D97-AF65-F5344CB8AC3E}">
        <p14:creationId xmlns:p14="http://schemas.microsoft.com/office/powerpoint/2010/main" val="344104775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a</a:t>
            </a:r>
            <a:r>
              <a:rPr lang="en-US" b="0" i="0" dirty="0">
                <a:effectLst/>
                <a:latin typeface="Arial" panose="020B0604020202020204" pitchFamily="34" charset="0"/>
              </a:rPr>
              <a:t> stacked bar chart can also be used to display frequencies rather than percentage frequencies. In this case, the different color segments of each bar represent the contribution to the total for that bar, rather than the percentage contribution.</a:t>
            </a:r>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32</a:t>
            </a:fld>
            <a:endParaRPr lang="en-US" dirty="0"/>
          </a:p>
        </p:txBody>
      </p:sp>
    </p:spTree>
    <p:extLst>
      <p:ext uri="{BB962C8B-B14F-4D97-AF65-F5344CB8AC3E}">
        <p14:creationId xmlns:p14="http://schemas.microsoft.com/office/powerpoint/2010/main" val="320029894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Step 1</a:t>
            </a:r>
            <a:r>
              <a:rPr lang="en-US" dirty="0"/>
              <a:t>. Click the </a:t>
            </a:r>
            <a:r>
              <a:rPr lang="en-US" b="1" dirty="0"/>
              <a:t>Chart Elements </a:t>
            </a:r>
            <a:r>
              <a:rPr lang="en-US" dirty="0"/>
              <a:t>button (located next to the top-right corner of the chart)</a:t>
            </a:r>
          </a:p>
          <a:p>
            <a:r>
              <a:rPr lang="en-US" b="1" dirty="0"/>
              <a:t>Step 2</a:t>
            </a:r>
            <a:r>
              <a:rPr lang="en-US" dirty="0"/>
              <a:t>. When the list of chart elements appears:</a:t>
            </a:r>
          </a:p>
          <a:p>
            <a:pPr lvl="1"/>
            <a:r>
              <a:rPr lang="en-US" dirty="0"/>
              <a:t>Select the check box for </a:t>
            </a:r>
            <a:r>
              <a:rPr lang="en-US" b="1" dirty="0"/>
              <a:t>Axis Titles </a:t>
            </a:r>
            <a:r>
              <a:rPr lang="en-US" dirty="0"/>
              <a:t>(creates placeholder for the axis titles)</a:t>
            </a:r>
          </a:p>
          <a:p>
            <a:pPr lvl="1"/>
            <a:r>
              <a:rPr lang="en-US" dirty="0"/>
              <a:t>Deselect the check box for </a:t>
            </a:r>
            <a:r>
              <a:rPr lang="en-US" b="1" dirty="0"/>
              <a:t>Gridlines</a:t>
            </a:r>
          </a:p>
          <a:p>
            <a:r>
              <a:rPr lang="en-US" b="1" dirty="0"/>
              <a:t>Step 3</a:t>
            </a:r>
            <a:r>
              <a:rPr lang="en-US" dirty="0"/>
              <a:t>. Click the horizontal </a:t>
            </a:r>
            <a:r>
              <a:rPr lang="en-US" b="1" dirty="0"/>
              <a:t>Axis Title </a:t>
            </a:r>
            <a:r>
              <a:rPr lang="en-US" dirty="0"/>
              <a:t>placeholder and replace it with </a:t>
            </a:r>
            <a:r>
              <a:rPr lang="en-US" i="1" dirty="0"/>
              <a:t>Meal Price ($)</a:t>
            </a:r>
          </a:p>
          <a:p>
            <a:r>
              <a:rPr lang="en-US" b="1" dirty="0"/>
              <a:t>Step 4</a:t>
            </a:r>
            <a:r>
              <a:rPr lang="en-US" dirty="0"/>
              <a:t>. Click the vertical </a:t>
            </a:r>
            <a:r>
              <a:rPr lang="en-US" b="1" dirty="0"/>
              <a:t>Axis Title </a:t>
            </a:r>
            <a:r>
              <a:rPr lang="en-US" dirty="0"/>
              <a:t>placeholder and replace it with </a:t>
            </a:r>
            <a:r>
              <a:rPr lang="en-US" i="1" dirty="0"/>
              <a:t>Frequency</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33</a:t>
            </a:fld>
            <a:endParaRPr lang="en-US" dirty="0"/>
          </a:p>
        </p:txBody>
      </p:sp>
    </p:spTree>
    <p:extLst>
      <p:ext uri="{BB962C8B-B14F-4D97-AF65-F5344CB8AC3E}">
        <p14:creationId xmlns:p14="http://schemas.microsoft.com/office/powerpoint/2010/main" val="66552368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i="1"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34</a:t>
            </a:fld>
            <a:endParaRPr lang="en-US" dirty="0"/>
          </a:p>
        </p:txBody>
      </p:sp>
    </p:spTree>
    <p:extLst>
      <p:ext uri="{BB962C8B-B14F-4D97-AF65-F5344CB8AC3E}">
        <p14:creationId xmlns:p14="http://schemas.microsoft.com/office/powerpoint/2010/main" val="230449594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35</a:t>
            </a:fld>
            <a:endParaRPr lang="en-US" dirty="0"/>
          </a:p>
        </p:txBody>
      </p:sp>
    </p:spTree>
    <p:extLst>
      <p:ext uri="{BB962C8B-B14F-4D97-AF65-F5344CB8AC3E}">
        <p14:creationId xmlns:p14="http://schemas.microsoft.com/office/powerpoint/2010/main" val="250681300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36</a:t>
            </a:fld>
            <a:endParaRPr lang="en-US"/>
          </a:p>
        </p:txBody>
      </p:sp>
    </p:spTree>
    <p:extLst>
      <p:ext uri="{BB962C8B-B14F-4D97-AF65-F5344CB8AC3E}">
        <p14:creationId xmlns:p14="http://schemas.microsoft.com/office/powerpoint/2010/main" val="120285400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38</a:t>
            </a:fld>
            <a:endParaRPr lang="en-US"/>
          </a:p>
        </p:txBody>
      </p:sp>
    </p:spTree>
    <p:extLst>
      <p:ext uri="{BB962C8B-B14F-4D97-AF65-F5344CB8AC3E}">
        <p14:creationId xmlns:p14="http://schemas.microsoft.com/office/powerpoint/2010/main" val="91278689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39</a:t>
            </a:fld>
            <a:endParaRPr lang="en-US"/>
          </a:p>
        </p:txBody>
      </p:sp>
    </p:spTree>
    <p:extLst>
      <p:ext uri="{BB962C8B-B14F-4D97-AF65-F5344CB8AC3E}">
        <p14:creationId xmlns:p14="http://schemas.microsoft.com/office/powerpoint/2010/main" val="272138562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40</a:t>
            </a:fld>
            <a:endParaRPr lang="en-US"/>
          </a:p>
        </p:txBody>
      </p:sp>
    </p:spTree>
    <p:extLst>
      <p:ext uri="{BB962C8B-B14F-4D97-AF65-F5344CB8AC3E}">
        <p14:creationId xmlns:p14="http://schemas.microsoft.com/office/powerpoint/2010/main" val="138517710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42</a:t>
            </a:fld>
            <a:endParaRPr lang="en-US" dirty="0"/>
          </a:p>
        </p:txBody>
      </p:sp>
    </p:spTree>
    <p:extLst>
      <p:ext uri="{BB962C8B-B14F-4D97-AF65-F5344CB8AC3E}">
        <p14:creationId xmlns:p14="http://schemas.microsoft.com/office/powerpoint/2010/main" val="74461981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47</a:t>
            </a:fld>
            <a:endParaRPr lang="en-US" dirty="0"/>
          </a:p>
        </p:txBody>
      </p:sp>
    </p:spTree>
    <p:extLst>
      <p:ext uri="{BB962C8B-B14F-4D97-AF65-F5344CB8AC3E}">
        <p14:creationId xmlns:p14="http://schemas.microsoft.com/office/powerpoint/2010/main" val="223414940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Master Slide Title">
    <p:spTree>
      <p:nvGrpSpPr>
        <p:cNvPr id="1" name=""/>
        <p:cNvGrpSpPr/>
        <p:nvPr/>
      </p:nvGrpSpPr>
      <p:grpSpPr>
        <a:xfrm>
          <a:off x="0" y="0"/>
          <a:ext cx="0" cy="0"/>
          <a:chOff x="0" y="0"/>
          <a:chExt cx="0" cy="0"/>
        </a:xfrm>
      </p:grpSpPr>
      <p:pic>
        <p:nvPicPr>
          <p:cNvPr id="2" name="Picture 1" descr="Background">
            <a:extLst>
              <a:ext uri="{C183D7F6-B498-43B3-948B-1728B52AA6E4}">
                <adec:decorative xmlns:adec="http://schemas.microsoft.com/office/drawing/2017/decorative" val="0"/>
              </a:ext>
            </a:extLst>
          </p:cNvPr>
          <p:cNvPicPr>
            <a:picLocks noChangeAspect="1"/>
          </p:cNvPicPr>
          <p:nvPr userDrawn="1"/>
        </p:nvPicPr>
        <p:blipFill>
          <a:blip r:embed="rId2"/>
          <a:stretch>
            <a:fillRect/>
          </a:stretch>
        </p:blipFill>
        <p:spPr>
          <a:xfrm>
            <a:off x="192" y="-21416"/>
            <a:ext cx="12191807" cy="6865874"/>
          </a:xfrm>
          <a:prstGeom prst="rect">
            <a:avLst/>
          </a:prstGeom>
        </p:spPr>
      </p:pic>
      <p:sp>
        <p:nvSpPr>
          <p:cNvPr id="12" name="Title Placeholder 1">
            <a:extLst>
              <a:ext uri="{FF2B5EF4-FFF2-40B4-BE49-F238E27FC236}">
                <a16:creationId xmlns:a16="http://schemas.microsoft.com/office/drawing/2014/main" id="{9B100DED-6515-4BB6-AA58-A062C44139F8}"/>
              </a:ext>
            </a:extLst>
          </p:cNvPr>
          <p:cNvSpPr>
            <a:spLocks noGrp="1"/>
          </p:cNvSpPr>
          <p:nvPr>
            <p:ph type="title"/>
          </p:nvPr>
        </p:nvSpPr>
        <p:spPr bwMode="auto">
          <a:xfrm>
            <a:off x="3930077" y="2317698"/>
            <a:ext cx="7955350" cy="672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lvl1pPr>
              <a:defRPr>
                <a:solidFill>
                  <a:schemeClr val="bg1"/>
                </a:solidFill>
              </a:defRPr>
            </a:lvl1pPr>
          </a:lstStyle>
          <a:p>
            <a:pPr lvl="0"/>
            <a:r>
              <a:rPr lang="en-US" altLang="en-US" dirty="0"/>
              <a:t>Click to edit Master title style</a:t>
            </a:r>
          </a:p>
        </p:txBody>
      </p:sp>
      <p:sp>
        <p:nvSpPr>
          <p:cNvPr id="6" name="Text Placeholder 5"/>
          <p:cNvSpPr>
            <a:spLocks noGrp="1"/>
          </p:cNvSpPr>
          <p:nvPr>
            <p:ph type="body" sz="quarter" idx="11" hasCustomPrompt="1"/>
          </p:nvPr>
        </p:nvSpPr>
        <p:spPr>
          <a:xfrm>
            <a:off x="3930077" y="3962923"/>
            <a:ext cx="7955350" cy="618014"/>
          </a:xfrm>
        </p:spPr>
        <p:txBody>
          <a:bodyPr anchor="b">
            <a:noAutofit/>
          </a:bodyPr>
          <a:lstStyle>
            <a:lvl1pPr marL="0" indent="0" algn="l">
              <a:buNone/>
              <a:defRPr sz="3600" b="0" i="0">
                <a:solidFill>
                  <a:schemeClr val="bg1"/>
                </a:solidFill>
                <a:latin typeface="Arial" charset="0"/>
                <a:ea typeface="Arial" charset="0"/>
                <a:cs typeface="Arial" charset="0"/>
              </a:defRPr>
            </a:lvl1pPr>
            <a:lvl2pPr marL="457200" indent="0" algn="ctr">
              <a:buNone/>
              <a:defRPr>
                <a:latin typeface="Summer Font" charset="0"/>
                <a:ea typeface="Summer Font" charset="0"/>
                <a:cs typeface="Summer Font" charset="0"/>
              </a:defRPr>
            </a:lvl2pPr>
            <a:lvl3pPr marL="914400" indent="0" algn="ctr">
              <a:buNone/>
              <a:defRPr>
                <a:latin typeface="Summer Font" charset="0"/>
                <a:ea typeface="Summer Font" charset="0"/>
                <a:cs typeface="Summer Font" charset="0"/>
              </a:defRPr>
            </a:lvl3pPr>
            <a:lvl4pPr marL="1371600" indent="0" algn="ctr">
              <a:buNone/>
              <a:defRPr>
                <a:latin typeface="Summer Font" charset="0"/>
                <a:ea typeface="Summer Font" charset="0"/>
                <a:cs typeface="Summer Font" charset="0"/>
              </a:defRPr>
            </a:lvl4pPr>
          </a:lstStyle>
          <a:p>
            <a:pPr lvl="0"/>
            <a:r>
              <a:rPr lang="en-US" dirty="0"/>
              <a:t>Chapter</a:t>
            </a:r>
          </a:p>
        </p:txBody>
      </p:sp>
      <p:pic>
        <p:nvPicPr>
          <p:cNvPr id="8" name="Picture 7" descr="Cengage Logo"/>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Footer">
            <a:extLst>
              <a:ext uri="{FF2B5EF4-FFF2-40B4-BE49-F238E27FC236}">
                <a16:creationId xmlns:a16="http://schemas.microsoft.com/office/drawing/2014/main" id="{B3AD984C-7DA8-4BA6-AF0A-89B14549C6C1}"/>
              </a:ext>
            </a:extLst>
          </p:cNvPr>
          <p:cNvSpPr txBox="1"/>
          <p:nvPr userDrawn="1"/>
        </p:nvSpPr>
        <p:spPr>
          <a:xfrm>
            <a:off x="3007866" y="6147324"/>
            <a:ext cx="8956009" cy="692497"/>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kern="1200" dirty="0" err="1">
                <a:solidFill>
                  <a:schemeClr val="bg1"/>
                </a:solidFill>
                <a:latin typeface="Arial" panose="020B0604020202020204" pitchFamily="34" charset="0"/>
                <a:cs typeface="Arial" panose="020B0604020202020204" pitchFamily="34" charset="0"/>
              </a:rPr>
              <a:t>Camm</a:t>
            </a:r>
            <a:r>
              <a:rPr lang="en-US" sz="1400" kern="1200" dirty="0">
                <a:solidFill>
                  <a:schemeClr val="bg1"/>
                </a:solidFill>
                <a:latin typeface="Arial" panose="020B0604020202020204" pitchFamily="34" charset="0"/>
                <a:cs typeface="Arial" panose="020B0604020202020204" pitchFamily="34" charset="0"/>
              </a:rPr>
              <a:t>, Cochran, Fry, Ohlmann, Anderson, Sweeney, Williams, Modern Business Statistics with Microsoft Excel, 8</a:t>
            </a:r>
            <a:r>
              <a:rPr lang="en-US" sz="1400" kern="1200" baseline="30000" dirty="0">
                <a:solidFill>
                  <a:schemeClr val="bg1"/>
                </a:solidFill>
                <a:latin typeface="Arial" panose="020B0604020202020204" pitchFamily="34" charset="0"/>
                <a:cs typeface="Arial" panose="020B0604020202020204" pitchFamily="34" charset="0"/>
              </a:rPr>
              <a:t>th</a:t>
            </a:r>
            <a:r>
              <a:rPr lang="en-US" sz="1400" kern="1200" dirty="0">
                <a:solidFill>
                  <a:schemeClr val="bg1"/>
                </a:solidFill>
                <a:latin typeface="Arial" panose="020B0604020202020204" pitchFamily="34" charset="0"/>
                <a:cs typeface="Arial" panose="020B0604020202020204" pitchFamily="34" charset="0"/>
              </a:rPr>
              <a:t> Edition. © 2025 Cengage Group. All Rights Reserved. May not be scanned, copied or duplicated, or posted to a publicly accessible website, in whole or in part.</a:t>
            </a:r>
            <a:endParaRPr lang="en" sz="1400" kern="1200" dirty="0">
              <a:solidFill>
                <a:schemeClr val="bg1"/>
              </a:solidFill>
              <a:latin typeface="Arial" panose="020B0604020202020204" pitchFamily="34" charset="0"/>
              <a:cs typeface="Arial" panose="020B0604020202020204" pitchFamily="34" charset="0"/>
            </a:endParaRPr>
          </a:p>
        </p:txBody>
      </p:sp>
      <p:pic>
        <p:nvPicPr>
          <p:cNvPr id="4" name="Picture 3" descr="A white bridge with a blue background&#10;&#10;Description automatically generated with medium confidence">
            <a:extLst>
              <a:ext uri="{FF2B5EF4-FFF2-40B4-BE49-F238E27FC236}">
                <a16:creationId xmlns:a16="http://schemas.microsoft.com/office/drawing/2014/main" id="{C827F863-7622-2925-7A3C-FCE070953133}"/>
              </a:ext>
            </a:extLst>
          </p:cNvPr>
          <p:cNvPicPr>
            <a:picLocks noChangeAspect="1"/>
          </p:cNvPicPr>
          <p:nvPr userDrawn="1"/>
        </p:nvPicPr>
        <p:blipFill>
          <a:blip r:embed="rId4"/>
          <a:stretch>
            <a:fillRect/>
          </a:stretch>
        </p:blipFill>
        <p:spPr>
          <a:xfrm>
            <a:off x="176891" y="158257"/>
            <a:ext cx="3520440" cy="4508389"/>
          </a:xfrm>
          <a:prstGeom prst="rect">
            <a:avLst/>
          </a:prstGeom>
        </p:spPr>
      </p:pic>
    </p:spTree>
    <p:extLst>
      <p:ext uri="{BB962C8B-B14F-4D97-AF65-F5344CB8AC3E}">
        <p14:creationId xmlns:p14="http://schemas.microsoft.com/office/powerpoint/2010/main" val="6177801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6" y="1289684"/>
            <a:ext cx="10711543" cy="3732692"/>
          </a:xfrm>
        </p:spPr>
        <p:txBody>
          <a:bodyPr>
            <a:noAutofit/>
          </a:bodyPr>
          <a:lstStyle>
            <a:lvl1pPr marL="0" indent="0" algn="l">
              <a:lnSpc>
                <a:spcPct val="100000"/>
              </a:lnSpc>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7" name="Footer">
            <a:extLst>
              <a:ext uri="{FF2B5EF4-FFF2-40B4-BE49-F238E27FC236}">
                <a16:creationId xmlns:a16="http://schemas.microsoft.com/office/drawing/2014/main" id="{0570013D-3B1C-4AF8-AD98-AB90ACB2D259}"/>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10350673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with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7" y="1580707"/>
            <a:ext cx="6195940" cy="4253024"/>
          </a:xfrm>
        </p:spPr>
        <p:txBody>
          <a:bodyPr>
            <a:noAutofit/>
          </a:bodyPr>
          <a:lstStyle>
            <a:lvl1pPr marL="0" indent="0" algn="l">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7" name="Footer">
            <a:extLst>
              <a:ext uri="{FF2B5EF4-FFF2-40B4-BE49-F238E27FC236}">
                <a16:creationId xmlns:a16="http://schemas.microsoft.com/office/drawing/2014/main" id="{0570013D-3B1C-4AF8-AD98-AB90ACB2D259}"/>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4" name="Table Placeholder 3">
            <a:extLst>
              <a:ext uri="{FF2B5EF4-FFF2-40B4-BE49-F238E27FC236}">
                <a16:creationId xmlns:a16="http://schemas.microsoft.com/office/drawing/2014/main" id="{79D0A500-7D1C-4C6E-BF2C-55F75C6E6CB2}"/>
              </a:ext>
            </a:extLst>
          </p:cNvPr>
          <p:cNvSpPr>
            <a:spLocks noGrp="1"/>
          </p:cNvSpPr>
          <p:nvPr>
            <p:ph type="tbl" sz="quarter" idx="16"/>
          </p:nvPr>
        </p:nvSpPr>
        <p:spPr>
          <a:xfrm>
            <a:off x="7145338" y="1581150"/>
            <a:ext cx="4208462" cy="4252913"/>
          </a:xfrm>
        </p:spPr>
        <p:txBody>
          <a:bodyPr/>
          <a:lstStyle/>
          <a:p>
            <a:endParaRPr lang="en-US"/>
          </a:p>
        </p:txBody>
      </p:sp>
    </p:spTree>
    <p:extLst>
      <p:ext uri="{BB962C8B-B14F-4D97-AF65-F5344CB8AC3E}">
        <p14:creationId xmlns:p14="http://schemas.microsoft.com/office/powerpoint/2010/main" val="9889722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with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7" y="1580707"/>
            <a:ext cx="6195940" cy="4253024"/>
          </a:xfrm>
        </p:spPr>
        <p:txBody>
          <a:bodyPr>
            <a:noAutofit/>
          </a:bodyPr>
          <a:lstStyle>
            <a:lvl1pPr marL="0" indent="0" algn="l">
              <a:lnSpc>
                <a:spcPct val="100000"/>
              </a:lnSpc>
              <a:spcBef>
                <a:spcPts val="600"/>
              </a:spcBef>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p>
        </p:txBody>
      </p:sp>
      <p:sp>
        <p:nvSpPr>
          <p:cNvPr id="7" name="Footer">
            <a:extLst>
              <a:ext uri="{FF2B5EF4-FFF2-40B4-BE49-F238E27FC236}">
                <a16:creationId xmlns:a16="http://schemas.microsoft.com/office/drawing/2014/main" id="{0570013D-3B1C-4AF8-AD98-AB90ACB2D259}"/>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2B6934A1-7BBA-4016-870B-731F27FB98E1}"/>
              </a:ext>
            </a:extLst>
          </p:cNvPr>
          <p:cNvSpPr>
            <a:spLocks noGrp="1"/>
          </p:cNvSpPr>
          <p:nvPr>
            <p:ph type="pic" sz="quarter" idx="16"/>
          </p:nvPr>
        </p:nvSpPr>
        <p:spPr>
          <a:xfrm>
            <a:off x="7038975" y="1581150"/>
            <a:ext cx="4314825" cy="4252913"/>
          </a:xfrm>
        </p:spPr>
        <p:txBody>
          <a:bodyPr/>
          <a:lstStyle/>
          <a:p>
            <a:endParaRPr lang="en-US"/>
          </a:p>
        </p:txBody>
      </p:sp>
    </p:spTree>
    <p:extLst>
      <p:ext uri="{BB962C8B-B14F-4D97-AF65-F5344CB8AC3E}">
        <p14:creationId xmlns:p14="http://schemas.microsoft.com/office/powerpoint/2010/main" val="29276278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Two Contents with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7" y="1580707"/>
            <a:ext cx="6195940" cy="2083884"/>
          </a:xfrm>
        </p:spPr>
        <p:txBody>
          <a:bodyPr>
            <a:noAutofit/>
          </a:bodyPr>
          <a:lstStyle>
            <a:lvl1pPr marL="0" indent="0" algn="l">
              <a:lnSpc>
                <a:spcPct val="100000"/>
              </a:lnSpc>
              <a:spcBef>
                <a:spcPts val="600"/>
              </a:spcBef>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p>
        </p:txBody>
      </p:sp>
      <p:sp>
        <p:nvSpPr>
          <p:cNvPr id="7" name="Footer">
            <a:extLst>
              <a:ext uri="{FF2B5EF4-FFF2-40B4-BE49-F238E27FC236}">
                <a16:creationId xmlns:a16="http://schemas.microsoft.com/office/drawing/2014/main" id="{0570013D-3B1C-4AF8-AD98-AB90ACB2D259}"/>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2B6934A1-7BBA-4016-870B-731F27FB98E1}"/>
              </a:ext>
            </a:extLst>
          </p:cNvPr>
          <p:cNvSpPr>
            <a:spLocks noGrp="1"/>
          </p:cNvSpPr>
          <p:nvPr>
            <p:ph type="pic" sz="quarter" idx="16"/>
          </p:nvPr>
        </p:nvSpPr>
        <p:spPr>
          <a:xfrm>
            <a:off x="7038975" y="1581151"/>
            <a:ext cx="4314825" cy="2083884"/>
          </a:xfrm>
        </p:spPr>
        <p:txBody>
          <a:bodyPr/>
          <a:lstStyle/>
          <a:p>
            <a:endParaRPr lang="en-US" dirty="0"/>
          </a:p>
        </p:txBody>
      </p:sp>
      <p:sp>
        <p:nvSpPr>
          <p:cNvPr id="8" name="Text Placeholder 5">
            <a:extLst>
              <a:ext uri="{FF2B5EF4-FFF2-40B4-BE49-F238E27FC236}">
                <a16:creationId xmlns:a16="http://schemas.microsoft.com/office/drawing/2014/main" id="{479BB18C-DD3C-B338-94DD-78651EF67E3E}"/>
              </a:ext>
            </a:extLst>
          </p:cNvPr>
          <p:cNvSpPr>
            <a:spLocks noGrp="1"/>
          </p:cNvSpPr>
          <p:nvPr>
            <p:ph type="body" sz="quarter" idx="17" hasCustomPrompt="1"/>
          </p:nvPr>
        </p:nvSpPr>
        <p:spPr>
          <a:xfrm>
            <a:off x="743576" y="3764553"/>
            <a:ext cx="10610223" cy="2083884"/>
          </a:xfrm>
        </p:spPr>
        <p:txBody>
          <a:bodyPr>
            <a:noAutofit/>
          </a:bodyPr>
          <a:lstStyle>
            <a:lvl1pPr marL="0" indent="0" algn="l">
              <a:lnSpc>
                <a:spcPct val="100000"/>
              </a:lnSpc>
              <a:spcBef>
                <a:spcPts val="600"/>
              </a:spcBef>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p>
        </p:txBody>
      </p:sp>
    </p:spTree>
    <p:extLst>
      <p:ext uri="{BB962C8B-B14F-4D97-AF65-F5344CB8AC3E}">
        <p14:creationId xmlns:p14="http://schemas.microsoft.com/office/powerpoint/2010/main" val="8111013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ection, and Content with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7" y="2133599"/>
            <a:ext cx="6195940" cy="3700131"/>
          </a:xfrm>
        </p:spPr>
        <p:txBody>
          <a:bodyPr>
            <a:noAutofit/>
          </a:bodyPr>
          <a:lstStyle>
            <a:lvl1pPr marL="0" indent="0" algn="l">
              <a:lnSpc>
                <a:spcPct val="100000"/>
              </a:lnSpc>
              <a:spcBef>
                <a:spcPts val="600"/>
              </a:spcBef>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p>
        </p:txBody>
      </p:sp>
      <p:sp>
        <p:nvSpPr>
          <p:cNvPr id="7" name="Footer">
            <a:extLst>
              <a:ext uri="{FF2B5EF4-FFF2-40B4-BE49-F238E27FC236}">
                <a16:creationId xmlns:a16="http://schemas.microsoft.com/office/drawing/2014/main" id="{0570013D-3B1C-4AF8-AD98-AB90ACB2D259}"/>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2B6934A1-7BBA-4016-870B-731F27FB98E1}"/>
              </a:ext>
            </a:extLst>
          </p:cNvPr>
          <p:cNvSpPr>
            <a:spLocks noGrp="1"/>
          </p:cNvSpPr>
          <p:nvPr>
            <p:ph type="pic" sz="quarter" idx="16"/>
          </p:nvPr>
        </p:nvSpPr>
        <p:spPr>
          <a:xfrm>
            <a:off x="7038975" y="1581150"/>
            <a:ext cx="4314825" cy="4252913"/>
          </a:xfrm>
        </p:spPr>
        <p:txBody>
          <a:bodyPr/>
          <a:lstStyle/>
          <a:p>
            <a:endParaRPr lang="en-US"/>
          </a:p>
        </p:txBody>
      </p:sp>
      <p:sp>
        <p:nvSpPr>
          <p:cNvPr id="8" name="Text Placeholder 5">
            <a:extLst>
              <a:ext uri="{FF2B5EF4-FFF2-40B4-BE49-F238E27FC236}">
                <a16:creationId xmlns:a16="http://schemas.microsoft.com/office/drawing/2014/main" id="{D06E54DE-5F36-1FCE-27A0-BD19D4BD4755}"/>
              </a:ext>
            </a:extLst>
          </p:cNvPr>
          <p:cNvSpPr>
            <a:spLocks noGrp="1"/>
          </p:cNvSpPr>
          <p:nvPr>
            <p:ph type="body" sz="quarter" idx="17" hasCustomPrompt="1"/>
          </p:nvPr>
        </p:nvSpPr>
        <p:spPr>
          <a:xfrm>
            <a:off x="743578" y="1581150"/>
            <a:ext cx="6195940"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Tree>
    <p:extLst>
      <p:ext uri="{BB962C8B-B14F-4D97-AF65-F5344CB8AC3E}">
        <p14:creationId xmlns:p14="http://schemas.microsoft.com/office/powerpoint/2010/main" val="20719324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with two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7" y="1580707"/>
            <a:ext cx="5999194" cy="4253024"/>
          </a:xfrm>
        </p:spPr>
        <p:txBody>
          <a:bodyPr>
            <a:noAutofit/>
          </a:bodyPr>
          <a:lstStyle>
            <a:lvl1pPr marL="0" indent="0" algn="l">
              <a:lnSpc>
                <a:spcPct val="100000"/>
              </a:lnSpc>
              <a:spcBef>
                <a:spcPts val="600"/>
              </a:spcBef>
              <a:buFont typeface="Arial" panose="020B0604020202020204" pitchFamily="34" charset="0"/>
              <a:buNone/>
              <a:defRPr sz="20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p>
        </p:txBody>
      </p:sp>
      <p:sp>
        <p:nvSpPr>
          <p:cNvPr id="7" name="Footer">
            <a:extLst>
              <a:ext uri="{FF2B5EF4-FFF2-40B4-BE49-F238E27FC236}">
                <a16:creationId xmlns:a16="http://schemas.microsoft.com/office/drawing/2014/main" id="{0570013D-3B1C-4AF8-AD98-AB90ACB2D259}"/>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2B6934A1-7BBA-4016-870B-731F27FB98E1}"/>
              </a:ext>
            </a:extLst>
          </p:cNvPr>
          <p:cNvSpPr>
            <a:spLocks noGrp="1"/>
          </p:cNvSpPr>
          <p:nvPr>
            <p:ph type="pic" sz="quarter" idx="16"/>
          </p:nvPr>
        </p:nvSpPr>
        <p:spPr>
          <a:xfrm>
            <a:off x="6846846" y="1581151"/>
            <a:ext cx="4562856" cy="2098751"/>
          </a:xfrm>
        </p:spPr>
        <p:txBody>
          <a:bodyPr/>
          <a:lstStyle/>
          <a:p>
            <a:endParaRPr lang="en-US" dirty="0"/>
          </a:p>
        </p:txBody>
      </p:sp>
      <p:sp>
        <p:nvSpPr>
          <p:cNvPr id="4" name="Picture Placeholder 3">
            <a:extLst>
              <a:ext uri="{FF2B5EF4-FFF2-40B4-BE49-F238E27FC236}">
                <a16:creationId xmlns:a16="http://schemas.microsoft.com/office/drawing/2014/main" id="{3ECEBE1D-025F-4B90-E515-0E08F23F3E85}"/>
              </a:ext>
            </a:extLst>
          </p:cNvPr>
          <p:cNvSpPr>
            <a:spLocks noGrp="1"/>
          </p:cNvSpPr>
          <p:nvPr>
            <p:ph type="pic" sz="quarter" idx="17"/>
          </p:nvPr>
        </p:nvSpPr>
        <p:spPr>
          <a:xfrm>
            <a:off x="6846846" y="3740149"/>
            <a:ext cx="4562856" cy="2103120"/>
          </a:xfrm>
        </p:spPr>
        <p:txBody>
          <a:bodyPr/>
          <a:lstStyle/>
          <a:p>
            <a:endParaRPr lang="en-US" dirty="0"/>
          </a:p>
        </p:txBody>
      </p:sp>
    </p:spTree>
    <p:extLst>
      <p:ext uri="{BB962C8B-B14F-4D97-AF65-F5344CB8AC3E}">
        <p14:creationId xmlns:p14="http://schemas.microsoft.com/office/powerpoint/2010/main" val="29966458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Sections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5" hasCustomPrompt="1"/>
          </p:nvPr>
        </p:nvSpPr>
        <p:spPr>
          <a:xfrm>
            <a:off x="743574" y="1290690"/>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1" name="Text Placeholder 5"/>
          <p:cNvSpPr>
            <a:spLocks noGrp="1"/>
          </p:cNvSpPr>
          <p:nvPr>
            <p:ph type="body" sz="quarter" idx="18" hasCustomPrompt="1"/>
          </p:nvPr>
        </p:nvSpPr>
        <p:spPr>
          <a:xfrm>
            <a:off x="740228" y="1737343"/>
            <a:ext cx="10711543" cy="1462674"/>
          </a:xfrm>
        </p:spPr>
        <p:txBody>
          <a:bodyPr>
            <a:noAutofit/>
          </a:bodyPr>
          <a:lstStyle>
            <a:lvl1pPr marL="342900" indent="-342900" algn="l">
              <a:buFont typeface="Arial" panose="020B0604020202020204" pitchFamily="34" charset="0"/>
              <a:buChar char="•"/>
              <a:defRPr sz="2400" b="0" i="0" baseline="0">
                <a:solidFill>
                  <a:srgbClr val="000000"/>
                </a:solidFill>
                <a:latin typeface="Arial" charset="0"/>
                <a:ea typeface="Arial" charset="0"/>
                <a:cs typeface="Arial" charset="0"/>
              </a:defRPr>
            </a:lvl1pPr>
            <a:lvl2pPr marL="457200" indent="0">
              <a:buClr>
                <a:srgbClr val="000000"/>
              </a:buClr>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Sed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9" name="Text Placeholder 5"/>
          <p:cNvSpPr>
            <a:spLocks noGrp="1"/>
          </p:cNvSpPr>
          <p:nvPr>
            <p:ph type="body" sz="quarter" idx="17" hasCustomPrompt="1"/>
          </p:nvPr>
        </p:nvSpPr>
        <p:spPr>
          <a:xfrm>
            <a:off x="743573" y="3389727"/>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8" name="Text Placeholder 5"/>
          <p:cNvSpPr>
            <a:spLocks noGrp="1"/>
          </p:cNvSpPr>
          <p:nvPr>
            <p:ph type="body" sz="quarter" idx="16" hasCustomPrompt="1"/>
          </p:nvPr>
        </p:nvSpPr>
        <p:spPr>
          <a:xfrm>
            <a:off x="743572" y="3856204"/>
            <a:ext cx="10711543" cy="1462674"/>
          </a:xfrm>
        </p:spPr>
        <p:txBody>
          <a:bodyPr>
            <a:noAutofit/>
          </a:bodyPr>
          <a:lstStyle>
            <a:lvl1pPr marL="0" indent="0" algn="l">
              <a:buNone/>
              <a:defRPr sz="2400" b="0" i="0" baseline="0">
                <a:solidFill>
                  <a:srgbClr val="000000"/>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10" name="Footer">
            <a:extLst>
              <a:ext uri="{FF2B5EF4-FFF2-40B4-BE49-F238E27FC236}">
                <a16:creationId xmlns:a16="http://schemas.microsoft.com/office/drawing/2014/main" id="{9D76B700-6743-49A6-AB3E-162BD3923336}"/>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8793668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5" hasCustomPrompt="1"/>
          </p:nvPr>
        </p:nvSpPr>
        <p:spPr>
          <a:xfrm>
            <a:off x="743574" y="1717410"/>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1" name="Text Placeholder 5"/>
          <p:cNvSpPr>
            <a:spLocks noGrp="1"/>
          </p:cNvSpPr>
          <p:nvPr>
            <p:ph type="body" sz="quarter" idx="18" hasCustomPrompt="1"/>
          </p:nvPr>
        </p:nvSpPr>
        <p:spPr>
          <a:xfrm>
            <a:off x="740228" y="2164062"/>
            <a:ext cx="10711543" cy="3489977"/>
          </a:xfrm>
        </p:spPr>
        <p:txBody>
          <a:bodyPr>
            <a:noAutofit/>
          </a:bodyPr>
          <a:lstStyle>
            <a:lvl1pPr marL="342900" indent="-342900" algn="l">
              <a:buFont typeface="Arial" panose="020B0604020202020204" pitchFamily="34" charset="0"/>
              <a:buChar char="•"/>
              <a:defRPr sz="2400" b="0" i="0" baseline="0">
                <a:solidFill>
                  <a:srgbClr val="000000"/>
                </a:solidFill>
                <a:latin typeface="Arial" charset="0"/>
                <a:ea typeface="Arial" charset="0"/>
                <a:cs typeface="Arial" charset="0"/>
              </a:defRPr>
            </a:lvl1pPr>
            <a:lvl2pPr marL="457200" indent="0">
              <a:buClr>
                <a:srgbClr val="000000"/>
              </a:buClr>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Sed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10" name="Footer">
            <a:extLst>
              <a:ext uri="{FF2B5EF4-FFF2-40B4-BE49-F238E27FC236}">
                <a16:creationId xmlns:a16="http://schemas.microsoft.com/office/drawing/2014/main" id="{9D76B700-6743-49A6-AB3E-162BD3923336}"/>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4801315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5" y="1486867"/>
            <a:ext cx="5200024" cy="34902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1926330"/>
            <a:ext cx="5200024" cy="3562595"/>
          </a:xfrm>
        </p:spPr>
        <p:txBody>
          <a:bodyPr>
            <a:normAutofit/>
          </a:bodyPr>
          <a:lstStyle>
            <a:lvl1pPr marL="0" indent="0">
              <a:lnSpc>
                <a:spcPct val="100000"/>
              </a:lnSpc>
              <a:spcBef>
                <a:spcPts val="600"/>
              </a:spcBef>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vel </a:t>
            </a:r>
            <a:r>
              <a:rPr lang="en-US" dirty="0" err="1"/>
              <a:t>fringilla</a:t>
            </a:r>
            <a:r>
              <a:rPr lang="en-US" dirty="0"/>
              <a:t> </a:t>
            </a:r>
            <a:r>
              <a:rPr lang="en-US" dirty="0" err="1"/>
              <a:t>est</a:t>
            </a:r>
            <a:r>
              <a:rPr lang="en-US" dirty="0"/>
              <a:t> </a:t>
            </a:r>
            <a:r>
              <a:rPr lang="en-US" dirty="0" err="1"/>
              <a:t>ullamcorper</a:t>
            </a:r>
            <a:r>
              <a:rPr lang="en-US" dirty="0"/>
              <a:t>.</a:t>
            </a:r>
          </a:p>
        </p:txBody>
      </p:sp>
      <p:sp>
        <p:nvSpPr>
          <p:cNvPr id="11" name="Text Placeholder 5">
            <a:extLst>
              <a:ext uri="{FF2B5EF4-FFF2-40B4-BE49-F238E27FC236}">
                <a16:creationId xmlns:a16="http://schemas.microsoft.com/office/drawing/2014/main" id="{0AC24C91-37E1-4B91-8D52-7CF491B0013E}"/>
              </a:ext>
            </a:extLst>
          </p:cNvPr>
          <p:cNvSpPr>
            <a:spLocks noGrp="1"/>
          </p:cNvSpPr>
          <p:nvPr>
            <p:ph type="body" sz="quarter" idx="22" hasCustomPrompt="1"/>
          </p:nvPr>
        </p:nvSpPr>
        <p:spPr>
          <a:xfrm>
            <a:off x="6122680" y="1486866"/>
            <a:ext cx="5200024" cy="34902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4" name="Text Placeholder 3"/>
          <p:cNvSpPr>
            <a:spLocks noGrp="1"/>
          </p:cNvSpPr>
          <p:nvPr>
            <p:ph type="body" sz="quarter" idx="18" hasCustomPrompt="1"/>
          </p:nvPr>
        </p:nvSpPr>
        <p:spPr>
          <a:xfrm>
            <a:off x="6122680" y="1926330"/>
            <a:ext cx="5200024" cy="3562595"/>
          </a:xfrm>
        </p:spPr>
        <p:txBody>
          <a:bodyPr>
            <a:normAutofit/>
          </a:bodyPr>
          <a:lstStyle>
            <a:lvl1pPr>
              <a:lnSpc>
                <a:spcPct val="100000"/>
              </a:lnSpc>
              <a:spcBef>
                <a:spcPts val="600"/>
              </a:spcBef>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17590073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Comparison with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5" y="1486867"/>
            <a:ext cx="5200024" cy="34902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1926330"/>
            <a:ext cx="5200024" cy="3562595"/>
          </a:xfrm>
        </p:spPr>
        <p:txBody>
          <a:bodyPr>
            <a:normAutofit/>
          </a:bodyPr>
          <a:lstStyle>
            <a:lvl1pPr marL="0" indent="0">
              <a:lnSpc>
                <a:spcPct val="100000"/>
              </a:lnSpc>
              <a:spcBef>
                <a:spcPts val="600"/>
              </a:spcBef>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vel </a:t>
            </a:r>
            <a:r>
              <a:rPr lang="en-US" dirty="0" err="1"/>
              <a:t>fringilla</a:t>
            </a:r>
            <a:r>
              <a:rPr lang="en-US" dirty="0"/>
              <a:t> </a:t>
            </a:r>
            <a:r>
              <a:rPr lang="en-US" dirty="0" err="1"/>
              <a:t>est</a:t>
            </a:r>
            <a:r>
              <a:rPr lang="en-US" dirty="0"/>
              <a:t> </a:t>
            </a:r>
            <a:r>
              <a:rPr lang="en-US" dirty="0" err="1"/>
              <a:t>ullamcorper</a:t>
            </a:r>
            <a:r>
              <a:rPr lang="en-US" dirty="0"/>
              <a:t>.</a:t>
            </a:r>
          </a:p>
        </p:txBody>
      </p:sp>
      <p:sp>
        <p:nvSpPr>
          <p:cNvPr id="11" name="Text Placeholder 5">
            <a:extLst>
              <a:ext uri="{FF2B5EF4-FFF2-40B4-BE49-F238E27FC236}">
                <a16:creationId xmlns:a16="http://schemas.microsoft.com/office/drawing/2014/main" id="{0AC24C91-37E1-4B91-8D52-7CF491B0013E}"/>
              </a:ext>
            </a:extLst>
          </p:cNvPr>
          <p:cNvSpPr>
            <a:spLocks noGrp="1"/>
          </p:cNvSpPr>
          <p:nvPr>
            <p:ph type="body" sz="quarter" idx="22" hasCustomPrompt="1"/>
          </p:nvPr>
        </p:nvSpPr>
        <p:spPr>
          <a:xfrm>
            <a:off x="6122680" y="1486866"/>
            <a:ext cx="5200024" cy="34902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4" name="Text Placeholder 3"/>
          <p:cNvSpPr>
            <a:spLocks noGrp="1"/>
          </p:cNvSpPr>
          <p:nvPr>
            <p:ph type="body" sz="quarter" idx="18" hasCustomPrompt="1"/>
          </p:nvPr>
        </p:nvSpPr>
        <p:spPr>
          <a:xfrm>
            <a:off x="6122680" y="1926331"/>
            <a:ext cx="5200024" cy="1809241"/>
          </a:xfrm>
        </p:spPr>
        <p:txBody>
          <a:bodyPr>
            <a:normAutofit/>
          </a:bodyPr>
          <a:lstStyle>
            <a:lvl1pPr>
              <a:lnSpc>
                <a:spcPct val="100000"/>
              </a:lnSpc>
              <a:spcBef>
                <a:spcPts val="600"/>
              </a:spcBef>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669B0CE8-551A-4D26-B868-2B7B38256262}"/>
              </a:ext>
            </a:extLst>
          </p:cNvPr>
          <p:cNvSpPr>
            <a:spLocks noGrp="1"/>
          </p:cNvSpPr>
          <p:nvPr>
            <p:ph type="tbl" sz="quarter" idx="23"/>
          </p:nvPr>
        </p:nvSpPr>
        <p:spPr>
          <a:xfrm>
            <a:off x="6122988" y="3933825"/>
            <a:ext cx="5230812" cy="1555750"/>
          </a:xfrm>
        </p:spPr>
        <p:txBody>
          <a:bodyPr/>
          <a:lstStyle/>
          <a:p>
            <a:endParaRPr lang="en-US"/>
          </a:p>
        </p:txBody>
      </p:sp>
    </p:spTree>
    <p:extLst>
      <p:ext uri="{BB962C8B-B14F-4D97-AF65-F5344CB8AC3E}">
        <p14:creationId xmlns:p14="http://schemas.microsoft.com/office/powerpoint/2010/main" val="10667300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wo Content Comparison with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5" y="1486867"/>
            <a:ext cx="5200024" cy="292315"/>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1926331"/>
            <a:ext cx="5200024" cy="1809242"/>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a:t>
            </a:r>
          </a:p>
        </p:txBody>
      </p:sp>
      <p:sp>
        <p:nvSpPr>
          <p:cNvPr id="11" name="Text Placeholder 5">
            <a:extLst>
              <a:ext uri="{FF2B5EF4-FFF2-40B4-BE49-F238E27FC236}">
                <a16:creationId xmlns:a16="http://schemas.microsoft.com/office/drawing/2014/main" id="{0AC24C91-37E1-4B91-8D52-7CF491B0013E}"/>
              </a:ext>
            </a:extLst>
          </p:cNvPr>
          <p:cNvSpPr>
            <a:spLocks noGrp="1"/>
          </p:cNvSpPr>
          <p:nvPr>
            <p:ph type="body" sz="quarter" idx="22" hasCustomPrompt="1"/>
          </p:nvPr>
        </p:nvSpPr>
        <p:spPr>
          <a:xfrm>
            <a:off x="6122680" y="1486867"/>
            <a:ext cx="5200024" cy="292316"/>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4" name="Text Placeholder 3"/>
          <p:cNvSpPr>
            <a:spLocks noGrp="1"/>
          </p:cNvSpPr>
          <p:nvPr>
            <p:ph type="body" sz="quarter" idx="18" hasCustomPrompt="1"/>
          </p:nvPr>
        </p:nvSpPr>
        <p:spPr>
          <a:xfrm>
            <a:off x="6122680" y="1926331"/>
            <a:ext cx="5200024" cy="1809241"/>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669B0CE8-551A-4D26-B868-2B7B38256262}"/>
              </a:ext>
            </a:extLst>
          </p:cNvPr>
          <p:cNvSpPr>
            <a:spLocks noGrp="1"/>
          </p:cNvSpPr>
          <p:nvPr>
            <p:ph type="tbl" sz="quarter" idx="23"/>
          </p:nvPr>
        </p:nvSpPr>
        <p:spPr>
          <a:xfrm>
            <a:off x="6122988" y="3848766"/>
            <a:ext cx="5230812" cy="1555750"/>
          </a:xfrm>
        </p:spPr>
        <p:txBody>
          <a:bodyPr/>
          <a:lstStyle/>
          <a:p>
            <a:endParaRPr lang="en-US"/>
          </a:p>
        </p:txBody>
      </p:sp>
      <p:sp>
        <p:nvSpPr>
          <p:cNvPr id="10" name="Table Placeholder 4">
            <a:extLst>
              <a:ext uri="{FF2B5EF4-FFF2-40B4-BE49-F238E27FC236}">
                <a16:creationId xmlns:a16="http://schemas.microsoft.com/office/drawing/2014/main" id="{BFBD6013-A996-47C7-87DD-3ACE6A10E002}"/>
              </a:ext>
            </a:extLst>
          </p:cNvPr>
          <p:cNvSpPr>
            <a:spLocks noGrp="1"/>
          </p:cNvSpPr>
          <p:nvPr>
            <p:ph type="tbl" sz="quarter" idx="24"/>
          </p:nvPr>
        </p:nvSpPr>
        <p:spPr>
          <a:xfrm>
            <a:off x="722312" y="3848769"/>
            <a:ext cx="5230812" cy="1555750"/>
          </a:xfrm>
        </p:spPr>
        <p:txBody>
          <a:bodyPr/>
          <a:lstStyle/>
          <a:p>
            <a:endParaRPr lang="en-US"/>
          </a:p>
        </p:txBody>
      </p:sp>
    </p:spTree>
    <p:extLst>
      <p:ext uri="{BB962C8B-B14F-4D97-AF65-F5344CB8AC3E}">
        <p14:creationId xmlns:p14="http://schemas.microsoft.com/office/powerpoint/2010/main" val="12432441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ntent Comparison with Bottom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5" y="1406630"/>
            <a:ext cx="5200024" cy="362211"/>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1843015"/>
            <a:ext cx="5200024" cy="2189339"/>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1" name="Text Placeholder 5">
            <a:extLst>
              <a:ext uri="{FF2B5EF4-FFF2-40B4-BE49-F238E27FC236}">
                <a16:creationId xmlns:a16="http://schemas.microsoft.com/office/drawing/2014/main" id="{0AC24C91-37E1-4B91-8D52-7CF491B0013E}"/>
              </a:ext>
            </a:extLst>
          </p:cNvPr>
          <p:cNvSpPr>
            <a:spLocks noGrp="1"/>
          </p:cNvSpPr>
          <p:nvPr>
            <p:ph type="body" sz="quarter" idx="22" hasCustomPrompt="1"/>
          </p:nvPr>
        </p:nvSpPr>
        <p:spPr>
          <a:xfrm>
            <a:off x="6122680" y="1406630"/>
            <a:ext cx="5200024" cy="362212"/>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4" name="Text Placeholder 3"/>
          <p:cNvSpPr>
            <a:spLocks noGrp="1"/>
          </p:cNvSpPr>
          <p:nvPr>
            <p:ph type="body" sz="quarter" idx="18" hasCustomPrompt="1"/>
          </p:nvPr>
        </p:nvSpPr>
        <p:spPr>
          <a:xfrm>
            <a:off x="6122680" y="1843015"/>
            <a:ext cx="5200024" cy="2189339"/>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marL="0" marR="0" lvl="0" indent="0" algn="l" defTabSz="914400" rtl="0" eaLnBrk="1" fontAlgn="base" latinLnBrk="0" hangingPunct="1">
              <a:lnSpc>
                <a:spcPct val="90000"/>
              </a:lnSpc>
              <a:spcBef>
                <a:spcPts val="1000"/>
              </a:spcBef>
              <a:spcAft>
                <a:spcPct val="0"/>
              </a:spcAft>
              <a:buClr>
                <a:srgbClr val="004A78"/>
              </a:buClr>
              <a:buSzTx/>
              <a:buFont typeface="Arial" charset="0"/>
              <a:buNone/>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932C6E39-4812-4C9F-8462-1DDCB1C8A9E1}"/>
              </a:ext>
            </a:extLst>
          </p:cNvPr>
          <p:cNvSpPr>
            <a:spLocks noGrp="1"/>
          </p:cNvSpPr>
          <p:nvPr>
            <p:ph type="pic" sz="quarter" idx="23"/>
          </p:nvPr>
        </p:nvSpPr>
        <p:spPr>
          <a:xfrm>
            <a:off x="3882454" y="4159772"/>
            <a:ext cx="4302177" cy="1746094"/>
          </a:xfrm>
        </p:spPr>
        <p:txBody>
          <a:bodyPr/>
          <a:lstStyle/>
          <a:p>
            <a:endParaRPr lang="en-US" dirty="0"/>
          </a:p>
        </p:txBody>
      </p:sp>
    </p:spTree>
    <p:extLst>
      <p:ext uri="{BB962C8B-B14F-4D97-AF65-F5344CB8AC3E}">
        <p14:creationId xmlns:p14="http://schemas.microsoft.com/office/powerpoint/2010/main" val="23818031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ntent Comparison with Top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5" y="2244690"/>
            <a:ext cx="5200024"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2817245"/>
            <a:ext cx="5200024" cy="3076212"/>
          </a:xfrm>
        </p:spPr>
        <p:txBody>
          <a:bodyPr>
            <a:normAutofit/>
          </a:bodyPr>
          <a:lstStyle>
            <a:lvl1pPr marL="0" indent="0">
              <a:lnSpc>
                <a:spcPct val="100000"/>
              </a:lnSpc>
              <a:spcBef>
                <a:spcPts val="600"/>
              </a:spcBef>
              <a:buClr>
                <a:srgbClr val="004A78"/>
              </a:buClr>
              <a:buFont typeface="Arial" charset="0"/>
              <a:buNone/>
              <a:defRPr sz="20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vel </a:t>
            </a:r>
            <a:r>
              <a:rPr lang="en-US" dirty="0" err="1"/>
              <a:t>fringilla</a:t>
            </a:r>
            <a:r>
              <a:rPr lang="en-US" dirty="0"/>
              <a:t> </a:t>
            </a:r>
            <a:r>
              <a:rPr lang="en-US" dirty="0" err="1"/>
              <a:t>est</a:t>
            </a:r>
            <a:r>
              <a:rPr lang="en-US" dirty="0"/>
              <a:t> </a:t>
            </a:r>
            <a:r>
              <a:rPr lang="en-US" dirty="0" err="1"/>
              <a:t>ullamcorper</a:t>
            </a:r>
            <a:r>
              <a:rPr lang="en-US" dirty="0"/>
              <a:t>.</a:t>
            </a:r>
          </a:p>
        </p:txBody>
      </p:sp>
      <p:sp>
        <p:nvSpPr>
          <p:cNvPr id="11" name="Text Placeholder 5">
            <a:extLst>
              <a:ext uri="{FF2B5EF4-FFF2-40B4-BE49-F238E27FC236}">
                <a16:creationId xmlns:a16="http://schemas.microsoft.com/office/drawing/2014/main" id="{0AC24C91-37E1-4B91-8D52-7CF491B0013E}"/>
              </a:ext>
            </a:extLst>
          </p:cNvPr>
          <p:cNvSpPr>
            <a:spLocks noGrp="1"/>
          </p:cNvSpPr>
          <p:nvPr>
            <p:ph type="body" sz="quarter" idx="22" hasCustomPrompt="1"/>
          </p:nvPr>
        </p:nvSpPr>
        <p:spPr>
          <a:xfrm>
            <a:off x="6122680" y="2244689"/>
            <a:ext cx="5200024"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4" name="Text Placeholder 3"/>
          <p:cNvSpPr>
            <a:spLocks noGrp="1"/>
          </p:cNvSpPr>
          <p:nvPr>
            <p:ph type="body" sz="quarter" idx="18" hasCustomPrompt="1"/>
          </p:nvPr>
        </p:nvSpPr>
        <p:spPr>
          <a:xfrm>
            <a:off x="6122680" y="2817245"/>
            <a:ext cx="5200024" cy="3076212"/>
          </a:xfrm>
        </p:spPr>
        <p:txBody>
          <a:bodyPr>
            <a:normAutofit/>
          </a:bodyPr>
          <a:lstStyle>
            <a:lvl1pPr>
              <a:lnSpc>
                <a:spcPct val="100000"/>
              </a:lnSpc>
              <a:spcBef>
                <a:spcPts val="600"/>
              </a:spcBef>
              <a:buClr>
                <a:srgbClr val="004A78"/>
              </a:buClr>
              <a:defRPr sz="20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10" name="Text Placeholder 2">
            <a:extLst>
              <a:ext uri="{FF2B5EF4-FFF2-40B4-BE49-F238E27FC236}">
                <a16:creationId xmlns:a16="http://schemas.microsoft.com/office/drawing/2014/main" id="{EB608122-F2C9-4E86-9F56-B820F387CA18}"/>
              </a:ext>
            </a:extLst>
          </p:cNvPr>
          <p:cNvSpPr>
            <a:spLocks noGrp="1"/>
          </p:cNvSpPr>
          <p:nvPr>
            <p:ph type="body" sz="quarter" idx="16" hasCustomPrompt="1"/>
          </p:nvPr>
        </p:nvSpPr>
        <p:spPr>
          <a:xfrm>
            <a:off x="740228" y="1349990"/>
            <a:ext cx="10711543" cy="825500"/>
          </a:xfrm>
        </p:spPr>
        <p:txBody>
          <a:bodyPr/>
          <a:lstStyle>
            <a:lvl1pPr marL="0" marR="0" indent="0" algn="l" defTabSz="914400" rtl="0" eaLnBrk="0" fontAlgn="base" latinLnBrk="0" hangingPunct="0">
              <a:lnSpc>
                <a:spcPct val="100000"/>
              </a:lnSpc>
              <a:spcBef>
                <a:spcPts val="600"/>
              </a:spcBef>
              <a:spcAft>
                <a:spcPct val="0"/>
              </a:spcAft>
              <a:buClrTx/>
              <a:buSzTx/>
              <a:buFontTx/>
              <a:buNone/>
              <a:tabLst/>
              <a:defRPr sz="2000">
                <a:solidFill>
                  <a:srgbClr val="000000"/>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dirty="0"/>
              <a:t>Click to add content.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a:t>
            </a:r>
            <a:endPar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endParaRPr>
          </a:p>
        </p:txBody>
      </p:sp>
    </p:spTree>
    <p:extLst>
      <p:ext uri="{BB962C8B-B14F-4D97-AF65-F5344CB8AC3E}">
        <p14:creationId xmlns:p14="http://schemas.microsoft.com/office/powerpoint/2010/main" val="3989233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ntent Comparison with Two Images and Top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5" y="2202162"/>
            <a:ext cx="5200024" cy="363831"/>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2647133"/>
            <a:ext cx="5200024" cy="1612988"/>
          </a:xfrm>
        </p:spPr>
        <p:txBody>
          <a:bodyPr>
            <a:normAutofit/>
          </a:bodyPr>
          <a:lstStyle>
            <a:lvl1pPr marL="0" indent="0">
              <a:lnSpc>
                <a:spcPct val="100000"/>
              </a:lnSpc>
              <a:spcBef>
                <a:spcPts val="600"/>
              </a:spcBef>
              <a:buClr>
                <a:srgbClr val="004A78"/>
              </a:buClr>
              <a:buFont typeface="Arial" charset="0"/>
              <a:buNone/>
              <a:defRPr sz="20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a:t>
            </a:r>
            <a:endParaRPr lang="en-US" dirty="0"/>
          </a:p>
          <a:p>
            <a:pPr lvl="0"/>
            <a:r>
              <a:rPr lang="en-US" dirty="0"/>
              <a:t>d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p>
        </p:txBody>
      </p:sp>
      <p:sp>
        <p:nvSpPr>
          <p:cNvPr id="11" name="Text Placeholder 5">
            <a:extLst>
              <a:ext uri="{FF2B5EF4-FFF2-40B4-BE49-F238E27FC236}">
                <a16:creationId xmlns:a16="http://schemas.microsoft.com/office/drawing/2014/main" id="{0AC24C91-37E1-4B91-8D52-7CF491B0013E}"/>
              </a:ext>
            </a:extLst>
          </p:cNvPr>
          <p:cNvSpPr>
            <a:spLocks noGrp="1"/>
          </p:cNvSpPr>
          <p:nvPr>
            <p:ph type="body" sz="quarter" idx="22" hasCustomPrompt="1"/>
          </p:nvPr>
        </p:nvSpPr>
        <p:spPr>
          <a:xfrm>
            <a:off x="6122680" y="2202162"/>
            <a:ext cx="5200024" cy="363832"/>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4" name="Text Placeholder 3"/>
          <p:cNvSpPr>
            <a:spLocks noGrp="1"/>
          </p:cNvSpPr>
          <p:nvPr>
            <p:ph type="body" sz="quarter" idx="18" hasCustomPrompt="1"/>
          </p:nvPr>
        </p:nvSpPr>
        <p:spPr>
          <a:xfrm>
            <a:off x="6122680" y="2647133"/>
            <a:ext cx="5200024" cy="1612988"/>
          </a:xfrm>
        </p:spPr>
        <p:txBody>
          <a:bodyPr>
            <a:normAutofit/>
          </a:bodyPr>
          <a:lstStyle>
            <a:lvl1pPr>
              <a:lnSpc>
                <a:spcPct val="100000"/>
              </a:lnSpc>
              <a:spcBef>
                <a:spcPts val="600"/>
              </a:spcBef>
              <a:buClr>
                <a:srgbClr val="004A78"/>
              </a:buClr>
              <a:defRPr sz="20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10" name="Text Placeholder 2">
            <a:extLst>
              <a:ext uri="{FF2B5EF4-FFF2-40B4-BE49-F238E27FC236}">
                <a16:creationId xmlns:a16="http://schemas.microsoft.com/office/drawing/2014/main" id="{EB608122-F2C9-4E86-9F56-B820F387CA18}"/>
              </a:ext>
            </a:extLst>
          </p:cNvPr>
          <p:cNvSpPr>
            <a:spLocks noGrp="1"/>
          </p:cNvSpPr>
          <p:nvPr>
            <p:ph type="body" sz="quarter" idx="16" hasCustomPrompt="1"/>
          </p:nvPr>
        </p:nvSpPr>
        <p:spPr>
          <a:xfrm>
            <a:off x="740228" y="1307462"/>
            <a:ext cx="10711543" cy="825500"/>
          </a:xfrm>
        </p:spPr>
        <p:txBody>
          <a:bodyPr/>
          <a:lstStyle>
            <a:lvl1pPr marL="0" marR="0" indent="0" algn="l" defTabSz="914400" rtl="0" eaLnBrk="0" fontAlgn="base" latinLnBrk="0" hangingPunct="0">
              <a:lnSpc>
                <a:spcPct val="100000"/>
              </a:lnSpc>
              <a:spcBef>
                <a:spcPts val="600"/>
              </a:spcBef>
              <a:spcAft>
                <a:spcPct val="0"/>
              </a:spcAft>
              <a:buClrTx/>
              <a:buSzTx/>
              <a:buFontTx/>
              <a:buNone/>
              <a:tabLst/>
              <a:defRPr sz="2000">
                <a:solidFill>
                  <a:srgbClr val="000000"/>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dirty="0"/>
              <a:t>Click to add content.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a:t>
            </a:r>
            <a:endPar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endParaRPr>
          </a:p>
        </p:txBody>
      </p:sp>
      <p:sp>
        <p:nvSpPr>
          <p:cNvPr id="5" name="Picture Placeholder 4">
            <a:extLst>
              <a:ext uri="{FF2B5EF4-FFF2-40B4-BE49-F238E27FC236}">
                <a16:creationId xmlns:a16="http://schemas.microsoft.com/office/drawing/2014/main" id="{81A3663D-1B8C-C824-C7CF-41B9E80BDD28}"/>
              </a:ext>
            </a:extLst>
          </p:cNvPr>
          <p:cNvSpPr>
            <a:spLocks noGrp="1"/>
          </p:cNvSpPr>
          <p:nvPr>
            <p:ph type="pic" sz="quarter" idx="23"/>
          </p:nvPr>
        </p:nvSpPr>
        <p:spPr>
          <a:xfrm>
            <a:off x="742950" y="4316747"/>
            <a:ext cx="5200650" cy="1612900"/>
          </a:xfrm>
        </p:spPr>
        <p:txBody>
          <a:bodyPr/>
          <a:lstStyle/>
          <a:p>
            <a:endParaRPr lang="en-US"/>
          </a:p>
        </p:txBody>
      </p:sp>
      <p:sp>
        <p:nvSpPr>
          <p:cNvPr id="12" name="Picture Placeholder 4">
            <a:extLst>
              <a:ext uri="{FF2B5EF4-FFF2-40B4-BE49-F238E27FC236}">
                <a16:creationId xmlns:a16="http://schemas.microsoft.com/office/drawing/2014/main" id="{BD70375B-824A-4FDD-8853-6162FA066C41}"/>
              </a:ext>
            </a:extLst>
          </p:cNvPr>
          <p:cNvSpPr>
            <a:spLocks noGrp="1"/>
          </p:cNvSpPr>
          <p:nvPr>
            <p:ph type="pic" sz="quarter" idx="24"/>
          </p:nvPr>
        </p:nvSpPr>
        <p:spPr>
          <a:xfrm>
            <a:off x="6122054" y="4316747"/>
            <a:ext cx="5200650" cy="1612900"/>
          </a:xfrm>
        </p:spPr>
        <p:txBody>
          <a:bodyPr/>
          <a:lstStyle/>
          <a:p>
            <a:endParaRPr lang="en-US"/>
          </a:p>
        </p:txBody>
      </p:sp>
    </p:spTree>
    <p:extLst>
      <p:ext uri="{BB962C8B-B14F-4D97-AF65-F5344CB8AC3E}">
        <p14:creationId xmlns:p14="http://schemas.microsoft.com/office/powerpoint/2010/main" val="15464162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with Sec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4" y="1518055"/>
            <a:ext cx="10579129"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2141814"/>
            <a:ext cx="5200024" cy="3562595"/>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vel </a:t>
            </a:r>
            <a:r>
              <a:rPr lang="en-US" dirty="0" err="1"/>
              <a:t>fringilla</a:t>
            </a:r>
            <a:r>
              <a:rPr lang="en-US" dirty="0"/>
              <a:t> </a:t>
            </a:r>
            <a:r>
              <a:rPr lang="en-US" dirty="0" err="1"/>
              <a:t>est</a:t>
            </a:r>
            <a:r>
              <a:rPr lang="en-US" dirty="0"/>
              <a:t> </a:t>
            </a:r>
            <a:r>
              <a:rPr lang="en-US" dirty="0" err="1"/>
              <a:t>ullamcorper</a:t>
            </a:r>
            <a:r>
              <a:rPr lang="en-US" dirty="0"/>
              <a:t>.</a:t>
            </a:r>
          </a:p>
        </p:txBody>
      </p:sp>
      <p:sp>
        <p:nvSpPr>
          <p:cNvPr id="14" name="Text Placeholder 3"/>
          <p:cNvSpPr>
            <a:spLocks noGrp="1"/>
          </p:cNvSpPr>
          <p:nvPr>
            <p:ph type="body" sz="quarter" idx="18" hasCustomPrompt="1"/>
          </p:nvPr>
        </p:nvSpPr>
        <p:spPr>
          <a:xfrm>
            <a:off x="6122680" y="2141814"/>
            <a:ext cx="5200024" cy="3562595"/>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6794530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Content with Section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4" y="1518055"/>
            <a:ext cx="10579129"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2141815"/>
            <a:ext cx="5200024" cy="1742614"/>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a:t>
            </a:r>
          </a:p>
        </p:txBody>
      </p:sp>
      <p:sp>
        <p:nvSpPr>
          <p:cNvPr id="14" name="Text Placeholder 3"/>
          <p:cNvSpPr>
            <a:spLocks noGrp="1"/>
          </p:cNvSpPr>
          <p:nvPr>
            <p:ph type="body" sz="quarter" idx="18" hasCustomPrompt="1"/>
          </p:nvPr>
        </p:nvSpPr>
        <p:spPr>
          <a:xfrm>
            <a:off x="6122680" y="2141814"/>
            <a:ext cx="5200024" cy="3562595"/>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743574" y="3920391"/>
            <a:ext cx="5200024" cy="1742614"/>
          </a:xfrm>
        </p:spPr>
        <p:txBody>
          <a:bodyPr/>
          <a:lstStyle/>
          <a:p>
            <a:endParaRPr lang="en-US" dirty="0"/>
          </a:p>
        </p:txBody>
      </p:sp>
    </p:spTree>
    <p:extLst>
      <p:ext uri="{BB962C8B-B14F-4D97-AF65-F5344CB8AC3E}">
        <p14:creationId xmlns:p14="http://schemas.microsoft.com/office/powerpoint/2010/main" val="83804553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with Imag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1664494"/>
            <a:ext cx="5200024" cy="1793081"/>
          </a:xfrm>
        </p:spPr>
        <p:txBody>
          <a:bodyPr>
            <a:normAutofit/>
          </a:bodyPr>
          <a:lstStyle>
            <a:lvl1pPr marL="0" indent="0">
              <a:lnSpc>
                <a:spcPct val="100000"/>
              </a:lnSpc>
              <a:spcBef>
                <a:spcPts val="600"/>
              </a:spcBef>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743574" y="3521869"/>
            <a:ext cx="5200024" cy="2141136"/>
          </a:xfrm>
        </p:spPr>
        <p:txBody>
          <a:bodyPr/>
          <a:lstStyle/>
          <a:p>
            <a:endParaRPr lang="en-US" dirty="0"/>
          </a:p>
        </p:txBody>
      </p:sp>
      <p:sp>
        <p:nvSpPr>
          <p:cNvPr id="6" name="Picture Placeholder 5">
            <a:extLst>
              <a:ext uri="{FF2B5EF4-FFF2-40B4-BE49-F238E27FC236}">
                <a16:creationId xmlns:a16="http://schemas.microsoft.com/office/drawing/2014/main" id="{E6DBC352-4EC3-4444-88AA-46EC23FA4DCF}"/>
              </a:ext>
            </a:extLst>
          </p:cNvPr>
          <p:cNvSpPr>
            <a:spLocks noGrp="1"/>
          </p:cNvSpPr>
          <p:nvPr>
            <p:ph type="pic" sz="quarter" idx="23"/>
          </p:nvPr>
        </p:nvSpPr>
        <p:spPr>
          <a:xfrm>
            <a:off x="6072187" y="1664494"/>
            <a:ext cx="5267325" cy="3998119"/>
          </a:xfrm>
        </p:spPr>
        <p:txBody>
          <a:bodyPr/>
          <a:lstStyle/>
          <a:p>
            <a:endParaRPr lang="en-US"/>
          </a:p>
        </p:txBody>
      </p:sp>
    </p:spTree>
    <p:extLst>
      <p:ext uri="{BB962C8B-B14F-4D97-AF65-F5344CB8AC3E}">
        <p14:creationId xmlns:p14="http://schemas.microsoft.com/office/powerpoint/2010/main" val="399152231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Section, Imag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4" y="1518055"/>
            <a:ext cx="10579129"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2141815"/>
            <a:ext cx="5200024" cy="1742614"/>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743574" y="3920391"/>
            <a:ext cx="5200024" cy="1742614"/>
          </a:xfrm>
        </p:spPr>
        <p:txBody>
          <a:bodyPr/>
          <a:lstStyle/>
          <a:p>
            <a:endParaRPr lang="en-US" dirty="0"/>
          </a:p>
        </p:txBody>
      </p:sp>
      <p:sp>
        <p:nvSpPr>
          <p:cNvPr id="6" name="Picture Placeholder 5">
            <a:extLst>
              <a:ext uri="{FF2B5EF4-FFF2-40B4-BE49-F238E27FC236}">
                <a16:creationId xmlns:a16="http://schemas.microsoft.com/office/drawing/2014/main" id="{E6DBC352-4EC3-4444-88AA-46EC23FA4DCF}"/>
              </a:ext>
            </a:extLst>
          </p:cNvPr>
          <p:cNvSpPr>
            <a:spLocks noGrp="1"/>
          </p:cNvSpPr>
          <p:nvPr>
            <p:ph type="pic" sz="quarter" idx="23"/>
          </p:nvPr>
        </p:nvSpPr>
        <p:spPr>
          <a:xfrm>
            <a:off x="6072187" y="2141538"/>
            <a:ext cx="5267325" cy="3521075"/>
          </a:xfrm>
        </p:spPr>
        <p:txBody>
          <a:bodyPr/>
          <a:lstStyle/>
          <a:p>
            <a:endParaRPr lang="en-US"/>
          </a:p>
        </p:txBody>
      </p:sp>
    </p:spTree>
    <p:extLst>
      <p:ext uri="{BB962C8B-B14F-4D97-AF65-F5344CB8AC3E}">
        <p14:creationId xmlns:p14="http://schemas.microsoft.com/office/powerpoint/2010/main" val="37706701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 Contents with Section, Imag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2" y="3486150"/>
            <a:ext cx="5200026" cy="398279"/>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1518057"/>
            <a:ext cx="5200024" cy="1873930"/>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743574" y="3920391"/>
            <a:ext cx="5200024" cy="1742614"/>
          </a:xfrm>
        </p:spPr>
        <p:txBody>
          <a:bodyPr/>
          <a:lstStyle/>
          <a:p>
            <a:endParaRPr lang="en-US" dirty="0"/>
          </a:p>
        </p:txBody>
      </p:sp>
      <p:sp>
        <p:nvSpPr>
          <p:cNvPr id="6" name="Picture Placeholder 5">
            <a:extLst>
              <a:ext uri="{FF2B5EF4-FFF2-40B4-BE49-F238E27FC236}">
                <a16:creationId xmlns:a16="http://schemas.microsoft.com/office/drawing/2014/main" id="{E6DBC352-4EC3-4444-88AA-46EC23FA4DCF}"/>
              </a:ext>
            </a:extLst>
          </p:cNvPr>
          <p:cNvSpPr>
            <a:spLocks noGrp="1"/>
          </p:cNvSpPr>
          <p:nvPr>
            <p:ph type="pic" sz="quarter" idx="23"/>
          </p:nvPr>
        </p:nvSpPr>
        <p:spPr>
          <a:xfrm>
            <a:off x="6072187" y="1518056"/>
            <a:ext cx="5267325" cy="2296707"/>
          </a:xfrm>
        </p:spPr>
        <p:txBody>
          <a:bodyPr/>
          <a:lstStyle/>
          <a:p>
            <a:endParaRPr lang="en-US" dirty="0"/>
          </a:p>
        </p:txBody>
      </p:sp>
      <p:sp>
        <p:nvSpPr>
          <p:cNvPr id="8" name="Text Placeholder 3">
            <a:extLst>
              <a:ext uri="{FF2B5EF4-FFF2-40B4-BE49-F238E27FC236}">
                <a16:creationId xmlns:a16="http://schemas.microsoft.com/office/drawing/2014/main" id="{132852D7-7305-4783-BC51-A96CDD825281}"/>
              </a:ext>
            </a:extLst>
          </p:cNvPr>
          <p:cNvSpPr>
            <a:spLocks noGrp="1"/>
          </p:cNvSpPr>
          <p:nvPr>
            <p:ph type="body" sz="quarter" idx="24" hasCustomPrompt="1"/>
          </p:nvPr>
        </p:nvSpPr>
        <p:spPr>
          <a:xfrm>
            <a:off x="6072187" y="3942432"/>
            <a:ext cx="5250516" cy="1742614"/>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a:t>
            </a:r>
          </a:p>
        </p:txBody>
      </p:sp>
    </p:spTree>
    <p:extLst>
      <p:ext uri="{BB962C8B-B14F-4D97-AF65-F5344CB8AC3E}">
        <p14:creationId xmlns:p14="http://schemas.microsoft.com/office/powerpoint/2010/main" val="156288484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wo Content with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93194" y="1650311"/>
            <a:ext cx="5150404" cy="2134879"/>
          </a:xfrm>
        </p:spPr>
        <p:txBody>
          <a:bodyPr>
            <a:noAutofit/>
          </a:bodyPr>
          <a:lstStyle>
            <a:lvl1pPr marL="0" indent="0">
              <a:lnSpc>
                <a:spcPct val="100000"/>
              </a:lnSpc>
              <a:spcBef>
                <a:spcPts val="600"/>
              </a:spcBef>
              <a:buClr>
                <a:srgbClr val="004A78"/>
              </a:buClr>
              <a:buFont typeface="Arial" charset="0"/>
              <a:buNone/>
              <a:defRPr sz="20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a:t>
            </a:r>
          </a:p>
        </p:txBody>
      </p:sp>
      <p:sp>
        <p:nvSpPr>
          <p:cNvPr id="14" name="Text Placeholder 3"/>
          <p:cNvSpPr>
            <a:spLocks noGrp="1"/>
          </p:cNvSpPr>
          <p:nvPr>
            <p:ph type="body" sz="quarter" idx="18" hasCustomPrompt="1"/>
          </p:nvPr>
        </p:nvSpPr>
        <p:spPr>
          <a:xfrm>
            <a:off x="6122680" y="1658680"/>
            <a:ext cx="5200024" cy="4045730"/>
          </a:xfrm>
        </p:spPr>
        <p:txBody>
          <a:bodyPr>
            <a:noAutofit/>
          </a:bodyPr>
          <a:lstStyle>
            <a:lvl1pPr>
              <a:lnSpc>
                <a:spcPct val="100000"/>
              </a:lnSpc>
              <a:spcBef>
                <a:spcPts val="600"/>
              </a:spcBef>
              <a:buClr>
                <a:srgbClr val="004A78"/>
              </a:buClr>
              <a:defRPr sz="20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743574" y="3920390"/>
            <a:ext cx="5200024" cy="1784019"/>
          </a:xfrm>
        </p:spPr>
        <p:txBody>
          <a:bodyPr/>
          <a:lstStyle/>
          <a:p>
            <a:endParaRPr lang="en-US" dirty="0"/>
          </a:p>
        </p:txBody>
      </p:sp>
    </p:spTree>
    <p:extLst>
      <p:ext uri="{BB962C8B-B14F-4D97-AF65-F5344CB8AC3E}">
        <p14:creationId xmlns:p14="http://schemas.microsoft.com/office/powerpoint/2010/main" val="273789747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wo Content with Two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1531089"/>
            <a:ext cx="5200024" cy="2105246"/>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4" name="Text Placeholder 3"/>
          <p:cNvSpPr>
            <a:spLocks noGrp="1"/>
          </p:cNvSpPr>
          <p:nvPr>
            <p:ph type="body" sz="quarter" idx="18" hasCustomPrompt="1"/>
          </p:nvPr>
        </p:nvSpPr>
        <p:spPr>
          <a:xfrm>
            <a:off x="6058884" y="1531089"/>
            <a:ext cx="5200024" cy="2105246"/>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6" name="Picture Placeholder 5">
            <a:extLst>
              <a:ext uri="{FF2B5EF4-FFF2-40B4-BE49-F238E27FC236}">
                <a16:creationId xmlns:a16="http://schemas.microsoft.com/office/drawing/2014/main" id="{7AA9C5A4-F6E1-4AC4-ABB3-A6B1A6CDECC6}"/>
              </a:ext>
            </a:extLst>
          </p:cNvPr>
          <p:cNvSpPr>
            <a:spLocks noGrp="1"/>
          </p:cNvSpPr>
          <p:nvPr>
            <p:ph type="pic" sz="quarter" idx="23"/>
          </p:nvPr>
        </p:nvSpPr>
        <p:spPr>
          <a:xfrm>
            <a:off x="743576" y="3699589"/>
            <a:ext cx="5199062" cy="2048750"/>
          </a:xfrm>
        </p:spPr>
        <p:txBody>
          <a:bodyPr/>
          <a:lstStyle/>
          <a:p>
            <a:endParaRPr lang="en-US"/>
          </a:p>
        </p:txBody>
      </p:sp>
      <p:sp>
        <p:nvSpPr>
          <p:cNvPr id="8" name="Picture Placeholder 5">
            <a:extLst>
              <a:ext uri="{FF2B5EF4-FFF2-40B4-BE49-F238E27FC236}">
                <a16:creationId xmlns:a16="http://schemas.microsoft.com/office/drawing/2014/main" id="{61FEC39F-B328-4CE7-2F1D-35822585607B}"/>
              </a:ext>
            </a:extLst>
          </p:cNvPr>
          <p:cNvSpPr>
            <a:spLocks noGrp="1"/>
          </p:cNvSpPr>
          <p:nvPr>
            <p:ph type="pic" sz="quarter" idx="24"/>
          </p:nvPr>
        </p:nvSpPr>
        <p:spPr>
          <a:xfrm>
            <a:off x="6058884" y="3699589"/>
            <a:ext cx="5199062" cy="2048750"/>
          </a:xfrm>
        </p:spPr>
        <p:txBody>
          <a:bodyPr/>
          <a:lstStyle/>
          <a:p>
            <a:endParaRPr lang="en-US"/>
          </a:p>
        </p:txBody>
      </p:sp>
    </p:spTree>
    <p:extLst>
      <p:ext uri="{BB962C8B-B14F-4D97-AF65-F5344CB8AC3E}">
        <p14:creationId xmlns:p14="http://schemas.microsoft.com/office/powerpoint/2010/main" val="149073707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wo Content with Imag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1531089"/>
            <a:ext cx="5200024" cy="2105246"/>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4" name="Text Placeholder 3"/>
          <p:cNvSpPr>
            <a:spLocks noGrp="1"/>
          </p:cNvSpPr>
          <p:nvPr>
            <p:ph type="body" sz="quarter" idx="18" hasCustomPrompt="1"/>
          </p:nvPr>
        </p:nvSpPr>
        <p:spPr>
          <a:xfrm>
            <a:off x="6058884" y="1531089"/>
            <a:ext cx="5200024" cy="2105246"/>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6058884" y="3700130"/>
            <a:ext cx="5200024" cy="2048208"/>
          </a:xfrm>
        </p:spPr>
        <p:txBody>
          <a:bodyPr/>
          <a:lstStyle/>
          <a:p>
            <a:endParaRPr lang="en-US" dirty="0"/>
          </a:p>
        </p:txBody>
      </p:sp>
      <p:sp>
        <p:nvSpPr>
          <p:cNvPr id="6" name="Picture Placeholder 5">
            <a:extLst>
              <a:ext uri="{FF2B5EF4-FFF2-40B4-BE49-F238E27FC236}">
                <a16:creationId xmlns:a16="http://schemas.microsoft.com/office/drawing/2014/main" id="{7AA9C5A4-F6E1-4AC4-ABB3-A6B1A6CDECC6}"/>
              </a:ext>
            </a:extLst>
          </p:cNvPr>
          <p:cNvSpPr>
            <a:spLocks noGrp="1"/>
          </p:cNvSpPr>
          <p:nvPr>
            <p:ph type="pic" sz="quarter" idx="23"/>
          </p:nvPr>
        </p:nvSpPr>
        <p:spPr>
          <a:xfrm>
            <a:off x="743576" y="3699589"/>
            <a:ext cx="5199062" cy="2048750"/>
          </a:xfrm>
        </p:spPr>
        <p:txBody>
          <a:bodyPr/>
          <a:lstStyle/>
          <a:p>
            <a:endParaRPr lang="en-US"/>
          </a:p>
        </p:txBody>
      </p:sp>
    </p:spTree>
    <p:extLst>
      <p:ext uri="{BB962C8B-B14F-4D97-AF65-F5344CB8AC3E}">
        <p14:creationId xmlns:p14="http://schemas.microsoft.com/office/powerpoint/2010/main" val="301307634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wo Content with Two Tabl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1531089"/>
            <a:ext cx="5200024" cy="2105246"/>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4" name="Text Placeholder 3"/>
          <p:cNvSpPr>
            <a:spLocks noGrp="1"/>
          </p:cNvSpPr>
          <p:nvPr>
            <p:ph type="body" sz="quarter" idx="18" hasCustomPrompt="1"/>
          </p:nvPr>
        </p:nvSpPr>
        <p:spPr>
          <a:xfrm>
            <a:off x="6058884" y="1531089"/>
            <a:ext cx="5200024" cy="2105246"/>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6058884" y="3700130"/>
            <a:ext cx="5200024" cy="2048208"/>
          </a:xfrm>
        </p:spPr>
        <p:txBody>
          <a:bodyPr/>
          <a:lstStyle/>
          <a:p>
            <a:endParaRPr lang="en-US" dirty="0"/>
          </a:p>
        </p:txBody>
      </p:sp>
      <p:sp>
        <p:nvSpPr>
          <p:cNvPr id="7" name="Table Placeholder 6">
            <a:extLst>
              <a:ext uri="{FF2B5EF4-FFF2-40B4-BE49-F238E27FC236}">
                <a16:creationId xmlns:a16="http://schemas.microsoft.com/office/drawing/2014/main" id="{56099177-DEE6-411F-9E87-D1D3CED5105A}"/>
              </a:ext>
            </a:extLst>
          </p:cNvPr>
          <p:cNvSpPr>
            <a:spLocks noGrp="1"/>
          </p:cNvSpPr>
          <p:nvPr>
            <p:ph type="tbl" sz="quarter" idx="23"/>
          </p:nvPr>
        </p:nvSpPr>
        <p:spPr>
          <a:xfrm>
            <a:off x="742950" y="3714347"/>
            <a:ext cx="5200650" cy="2033991"/>
          </a:xfrm>
        </p:spPr>
        <p:txBody>
          <a:bodyPr/>
          <a:lstStyle/>
          <a:p>
            <a:endParaRPr lang="en-US"/>
          </a:p>
        </p:txBody>
      </p:sp>
    </p:spTree>
    <p:extLst>
      <p:ext uri="{BB962C8B-B14F-4D97-AF65-F5344CB8AC3E}">
        <p14:creationId xmlns:p14="http://schemas.microsoft.com/office/powerpoint/2010/main" val="133283008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wo Columns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1596327"/>
            <a:ext cx="5200024" cy="3770152"/>
          </a:xfrm>
        </p:spPr>
        <p:txBody>
          <a:bodyPr>
            <a:normAutofit/>
          </a:bodyPr>
          <a:lstStyle>
            <a:lvl1pPr marL="0" indent="0">
              <a:lnSpc>
                <a:spcPct val="100000"/>
              </a:lnSpc>
              <a:spcBef>
                <a:spcPts val="600"/>
              </a:spcBef>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 Fermentum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vel </a:t>
            </a:r>
            <a:r>
              <a:rPr lang="en-US" dirty="0" err="1"/>
              <a:t>fringilla</a:t>
            </a:r>
            <a:r>
              <a:rPr lang="en-US" dirty="0"/>
              <a:t> </a:t>
            </a:r>
            <a:r>
              <a:rPr lang="en-US" dirty="0" err="1"/>
              <a:t>est</a:t>
            </a:r>
            <a:r>
              <a:rPr lang="en-US" dirty="0"/>
              <a:t> </a:t>
            </a:r>
            <a:r>
              <a:rPr lang="en-US" dirty="0" err="1"/>
              <a:t>ullamcorper</a:t>
            </a:r>
            <a:r>
              <a:rPr lang="en-US" dirty="0"/>
              <a:t>.</a:t>
            </a:r>
          </a:p>
        </p:txBody>
      </p:sp>
      <p:sp>
        <p:nvSpPr>
          <p:cNvPr id="14" name="Text Placeholder 3"/>
          <p:cNvSpPr>
            <a:spLocks noGrp="1"/>
          </p:cNvSpPr>
          <p:nvPr>
            <p:ph type="body" sz="quarter" idx="18" hasCustomPrompt="1"/>
          </p:nvPr>
        </p:nvSpPr>
        <p:spPr>
          <a:xfrm>
            <a:off x="6122680" y="1596326"/>
            <a:ext cx="5200024" cy="3770153"/>
          </a:xfrm>
        </p:spPr>
        <p:txBody>
          <a:bodyPr>
            <a:normAutofit/>
          </a:bodyPr>
          <a:lstStyle>
            <a:lvl1pPr>
              <a:lnSpc>
                <a:spcPct val="100000"/>
              </a:lnSpc>
              <a:spcBef>
                <a:spcPts val="600"/>
              </a:spcBef>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82788314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wo Columns Content with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1596327"/>
            <a:ext cx="5200024" cy="2008808"/>
          </a:xfrm>
        </p:spPr>
        <p:txBody>
          <a:bodyPr>
            <a:normAutofit/>
          </a:bodyPr>
          <a:lstStyle>
            <a:lvl1pPr marL="0" indent="0">
              <a:lnSpc>
                <a:spcPct val="100000"/>
              </a:lnSpc>
              <a:spcBef>
                <a:spcPts val="600"/>
              </a:spcBef>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4" name="Text Placeholder 3"/>
          <p:cNvSpPr>
            <a:spLocks noGrp="1"/>
          </p:cNvSpPr>
          <p:nvPr>
            <p:ph type="body" sz="quarter" idx="18" hasCustomPrompt="1"/>
          </p:nvPr>
        </p:nvSpPr>
        <p:spPr>
          <a:xfrm>
            <a:off x="6122680" y="1596326"/>
            <a:ext cx="5200024" cy="4144907"/>
          </a:xfrm>
        </p:spPr>
        <p:txBody>
          <a:bodyPr>
            <a:normAutofit/>
          </a:bodyPr>
          <a:lstStyle>
            <a:lvl1pPr>
              <a:lnSpc>
                <a:spcPct val="100000"/>
              </a:lnSpc>
              <a:spcBef>
                <a:spcPts val="600"/>
              </a:spcBef>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4BBC8357-3E99-4156-9AE6-DD43579C6DDA}"/>
              </a:ext>
            </a:extLst>
          </p:cNvPr>
          <p:cNvSpPr>
            <a:spLocks noGrp="1"/>
          </p:cNvSpPr>
          <p:nvPr>
            <p:ph type="pic" sz="quarter" idx="19"/>
          </p:nvPr>
        </p:nvSpPr>
        <p:spPr>
          <a:xfrm>
            <a:off x="742950" y="3695700"/>
            <a:ext cx="5200650" cy="2046288"/>
          </a:xfrm>
        </p:spPr>
        <p:txBody>
          <a:bodyPr/>
          <a:lstStyle/>
          <a:p>
            <a:endParaRPr lang="en-US"/>
          </a:p>
        </p:txBody>
      </p:sp>
    </p:spTree>
    <p:extLst>
      <p:ext uri="{BB962C8B-B14F-4D97-AF65-F5344CB8AC3E}">
        <p14:creationId xmlns:p14="http://schemas.microsoft.com/office/powerpoint/2010/main" val="73875027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wo Columns Content with SEction and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2143462"/>
            <a:ext cx="5200024" cy="2008808"/>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4" name="Text Placeholder 3"/>
          <p:cNvSpPr>
            <a:spLocks noGrp="1"/>
          </p:cNvSpPr>
          <p:nvPr>
            <p:ph type="body" sz="quarter" idx="18" hasCustomPrompt="1"/>
          </p:nvPr>
        </p:nvSpPr>
        <p:spPr>
          <a:xfrm>
            <a:off x="6122680" y="2143461"/>
            <a:ext cx="5200024" cy="3710195"/>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4BBC8357-3E99-4156-9AE6-DD43579C6DDA}"/>
              </a:ext>
            </a:extLst>
          </p:cNvPr>
          <p:cNvSpPr>
            <a:spLocks noGrp="1"/>
          </p:cNvSpPr>
          <p:nvPr>
            <p:ph type="pic" sz="quarter" idx="19"/>
          </p:nvPr>
        </p:nvSpPr>
        <p:spPr>
          <a:xfrm>
            <a:off x="742950" y="4242835"/>
            <a:ext cx="5200650" cy="1610821"/>
          </a:xfrm>
        </p:spPr>
        <p:txBody>
          <a:bodyPr/>
          <a:lstStyle/>
          <a:p>
            <a:endParaRPr lang="en-US"/>
          </a:p>
        </p:txBody>
      </p:sp>
      <p:sp>
        <p:nvSpPr>
          <p:cNvPr id="7" name="Text Placeholder 5">
            <a:extLst>
              <a:ext uri="{FF2B5EF4-FFF2-40B4-BE49-F238E27FC236}">
                <a16:creationId xmlns:a16="http://schemas.microsoft.com/office/drawing/2014/main" id="{8444C66A-1B54-4533-8FE1-8117CA7502E1}"/>
              </a:ext>
            </a:extLst>
          </p:cNvPr>
          <p:cNvSpPr>
            <a:spLocks noGrp="1"/>
          </p:cNvSpPr>
          <p:nvPr>
            <p:ph type="body" sz="quarter" idx="21" hasCustomPrompt="1"/>
          </p:nvPr>
        </p:nvSpPr>
        <p:spPr>
          <a:xfrm>
            <a:off x="743574" y="1593005"/>
            <a:ext cx="10579129"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Tree>
    <p:extLst>
      <p:ext uri="{BB962C8B-B14F-4D97-AF65-F5344CB8AC3E}">
        <p14:creationId xmlns:p14="http://schemas.microsoft.com/office/powerpoint/2010/main" val="414963033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hree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4" name="Content Placeholder 2"/>
          <p:cNvSpPr>
            <a:spLocks noGrp="1"/>
          </p:cNvSpPr>
          <p:nvPr>
            <p:ph idx="1"/>
          </p:nvPr>
        </p:nvSpPr>
        <p:spPr>
          <a:xfrm>
            <a:off x="743576"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4" name="Text Placeholder 3"/>
          <p:cNvSpPr>
            <a:spLocks noGrp="1"/>
          </p:cNvSpPr>
          <p:nvPr>
            <p:ph type="body" sz="quarter" idx="15" hasCustomPrompt="1"/>
          </p:nvPr>
        </p:nvSpPr>
        <p:spPr>
          <a:xfrm>
            <a:off x="743576" y="2202774"/>
            <a:ext cx="3300402" cy="3516101"/>
          </a:xfrm>
        </p:spPr>
        <p:txBody>
          <a:bodyPr>
            <a:normAutofit/>
          </a:bodyPr>
          <a:lstStyle>
            <a:lvl1pPr marL="0" indent="0">
              <a:buClr>
                <a:srgbClr val="004A78"/>
              </a:buClr>
              <a:buFont typeface="Arial" panose="020B0604020202020204" pitchFamily="34" charset="0"/>
              <a:buNone/>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19" name="Content Placeholder 2"/>
          <p:cNvSpPr>
            <a:spLocks noGrp="1"/>
          </p:cNvSpPr>
          <p:nvPr>
            <p:ph idx="22"/>
          </p:nvPr>
        </p:nvSpPr>
        <p:spPr>
          <a:xfrm>
            <a:off x="4445799"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16" name="Text Placeholder 3"/>
          <p:cNvSpPr>
            <a:spLocks noGrp="1"/>
          </p:cNvSpPr>
          <p:nvPr>
            <p:ph type="body" sz="quarter" idx="18" hasCustomPrompt="1"/>
          </p:nvPr>
        </p:nvSpPr>
        <p:spPr>
          <a:xfrm>
            <a:off x="4445799" y="2202774"/>
            <a:ext cx="3300402" cy="3516101"/>
          </a:xfrm>
        </p:spPr>
        <p:txBody>
          <a:bodyPr>
            <a:normAutofit/>
          </a:bodyPr>
          <a:lstStyle>
            <a:lvl1pPr>
              <a:buClr>
                <a:srgbClr val="004A78"/>
              </a:buClr>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23" name="Content Placeholder 2"/>
          <p:cNvSpPr>
            <a:spLocks noGrp="1"/>
          </p:cNvSpPr>
          <p:nvPr>
            <p:ph idx="23"/>
          </p:nvPr>
        </p:nvSpPr>
        <p:spPr>
          <a:xfrm>
            <a:off x="8145953"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20" name="Text Placeholder 3"/>
          <p:cNvSpPr>
            <a:spLocks noGrp="1"/>
          </p:cNvSpPr>
          <p:nvPr>
            <p:ph type="body" sz="quarter" idx="20" hasCustomPrompt="1"/>
          </p:nvPr>
        </p:nvSpPr>
        <p:spPr>
          <a:xfrm>
            <a:off x="8154717" y="2202774"/>
            <a:ext cx="3300402" cy="3516101"/>
          </a:xfrm>
        </p:spPr>
        <p:txBody>
          <a:bodyPr>
            <a:normAutofit/>
          </a:bodyPr>
          <a:lstStyle>
            <a:lvl1pPr>
              <a:buClr>
                <a:srgbClr val="004A78"/>
              </a:buClr>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11" name="Footer">
            <a:extLst>
              <a:ext uri="{FF2B5EF4-FFF2-40B4-BE49-F238E27FC236}">
                <a16:creationId xmlns:a16="http://schemas.microsoft.com/office/drawing/2014/main" id="{3EABB9F7-0E63-4C11-89F0-5D4EE5D0E201}"/>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137718467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and Content with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Text Placeholder 1"/>
          <p:cNvSpPr>
            <a:spLocks noGrp="1"/>
          </p:cNvSpPr>
          <p:nvPr>
            <p:ph type="body" sz="quarter" idx="15" hasCustomPrompt="1"/>
          </p:nvPr>
        </p:nvSpPr>
        <p:spPr>
          <a:xfrm>
            <a:off x="743576" y="1289684"/>
            <a:ext cx="10711543" cy="2750053"/>
          </a:xfrm>
        </p:spPr>
        <p:txBody>
          <a:bodyPr>
            <a:noAutofit/>
          </a:bodyPr>
          <a:lstStyle>
            <a:lvl1pPr marL="0" indent="0" algn="l">
              <a:buFont typeface="Arial" panose="020B0604020202020204" pitchFamily="34" charset="0"/>
              <a:buNone/>
              <a:defRPr sz="2400" b="0" i="0" baseline="0">
                <a:solidFill>
                  <a:srgbClr val="000000"/>
                </a:solidFill>
                <a:latin typeface="Arial" charset="0"/>
                <a:ea typeface="Arial" charset="0"/>
                <a:cs typeface="Arial" charset="0"/>
              </a:defRPr>
            </a:lvl1pPr>
            <a:lvl2pPr marL="457200" indent="0">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Text Placeholder 2"/>
          <p:cNvSpPr>
            <a:spLocks noGrp="1"/>
          </p:cNvSpPr>
          <p:nvPr>
            <p:ph type="body" sz="quarter" idx="16" hasCustomPrompt="1"/>
          </p:nvPr>
        </p:nvSpPr>
        <p:spPr>
          <a:xfrm>
            <a:off x="740228" y="4846655"/>
            <a:ext cx="10711543" cy="825500"/>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ln>
                  <a:solidFill>
                    <a:srgbClr val="000000"/>
                  </a:solidFill>
                </a:ln>
                <a:solidFill>
                  <a:srgbClr val="000000"/>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labore et dolore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95AC73A5-F85D-40B2-8EEE-19F048BABEE6}"/>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147480555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Image">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733117" y="1410347"/>
            <a:ext cx="10721999" cy="4169044"/>
          </a:xfrm>
        </p:spPr>
        <p:txBody>
          <a:bodyPr/>
          <a:lstStyle/>
          <a:p>
            <a:r>
              <a:rPr lang="en-US" dirty="0"/>
              <a:t>Click icon to </a:t>
            </a:r>
            <a:r>
              <a:rPr lang="en-US"/>
              <a:t>add picture</a:t>
            </a:r>
            <a:endParaRPr lang="en-US" dirty="0"/>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54601417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Image and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733118" y="1619557"/>
            <a:ext cx="6477000" cy="4259263"/>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478972" y="4070657"/>
            <a:ext cx="3976406" cy="180816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8711927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Image and Two_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10" name="Text Placeholder 9"/>
          <p:cNvSpPr>
            <a:spLocks noGrp="1"/>
          </p:cNvSpPr>
          <p:nvPr>
            <p:ph type="body" sz="quarter" idx="11" hasCustomPrompt="1"/>
          </p:nvPr>
        </p:nvSpPr>
        <p:spPr>
          <a:xfrm>
            <a:off x="733118" y="1620838"/>
            <a:ext cx="10620682" cy="837070"/>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6" name="Picture Placeholder 5"/>
          <p:cNvSpPr>
            <a:spLocks noGrp="1"/>
          </p:cNvSpPr>
          <p:nvPr>
            <p:ph type="pic" sz="quarter" idx="10"/>
          </p:nvPr>
        </p:nvSpPr>
        <p:spPr>
          <a:xfrm>
            <a:off x="733117" y="2538376"/>
            <a:ext cx="10620681" cy="1909267"/>
          </a:xfrm>
        </p:spPr>
        <p:txBody>
          <a:bodyPr/>
          <a:lstStyle/>
          <a:p>
            <a:r>
              <a:rPr lang="en-US" dirty="0"/>
              <a:t>Click icon to </a:t>
            </a:r>
            <a:r>
              <a:rPr lang="en-US"/>
              <a:t>add picture</a:t>
            </a:r>
            <a:endParaRPr lang="en-US" dirty="0"/>
          </a:p>
        </p:txBody>
      </p:sp>
      <p:sp>
        <p:nvSpPr>
          <p:cNvPr id="8" name="Text Placeholder 9">
            <a:extLst>
              <a:ext uri="{FF2B5EF4-FFF2-40B4-BE49-F238E27FC236}">
                <a16:creationId xmlns:a16="http://schemas.microsoft.com/office/drawing/2014/main" id="{10FB200A-F692-41F0-90CC-375B18C05D31}"/>
              </a:ext>
            </a:extLst>
          </p:cNvPr>
          <p:cNvSpPr>
            <a:spLocks noGrp="1"/>
          </p:cNvSpPr>
          <p:nvPr>
            <p:ph type="body" sz="quarter" idx="12" hasCustomPrompt="1"/>
          </p:nvPr>
        </p:nvSpPr>
        <p:spPr>
          <a:xfrm>
            <a:off x="733116" y="4578244"/>
            <a:ext cx="10620682" cy="837070"/>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7908235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wo Sections Two Columns and Image">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6124352" y="3600893"/>
            <a:ext cx="5257798" cy="2147777"/>
          </a:xfrm>
        </p:spPr>
        <p:txBody>
          <a:bodyPr/>
          <a:lstStyle/>
          <a:p>
            <a:r>
              <a:rPr lang="en-US" dirty="0"/>
              <a:t>Click icon to </a:t>
            </a:r>
            <a:r>
              <a:rPr lang="en-US"/>
              <a:t>add picture</a:t>
            </a:r>
            <a:endParaRPr lang="en-US" dirty="0"/>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9" name="Text Placeholder 5">
            <a:extLst>
              <a:ext uri="{FF2B5EF4-FFF2-40B4-BE49-F238E27FC236}">
                <a16:creationId xmlns:a16="http://schemas.microsoft.com/office/drawing/2014/main" id="{0F2BA215-4436-45C0-A4AD-325A0A9D08CA}"/>
              </a:ext>
            </a:extLst>
          </p:cNvPr>
          <p:cNvSpPr>
            <a:spLocks noGrp="1"/>
          </p:cNvSpPr>
          <p:nvPr>
            <p:ph type="body" sz="quarter" idx="21" hasCustomPrompt="1"/>
          </p:nvPr>
        </p:nvSpPr>
        <p:spPr>
          <a:xfrm>
            <a:off x="704766" y="1536487"/>
            <a:ext cx="5362882"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1" name="Text Placeholder 5">
            <a:extLst>
              <a:ext uri="{FF2B5EF4-FFF2-40B4-BE49-F238E27FC236}">
                <a16:creationId xmlns:a16="http://schemas.microsoft.com/office/drawing/2014/main" id="{FD16F9F0-2F6A-4A5C-9862-9C1B7C28E084}"/>
              </a:ext>
            </a:extLst>
          </p:cNvPr>
          <p:cNvSpPr>
            <a:spLocks noGrp="1"/>
          </p:cNvSpPr>
          <p:nvPr>
            <p:ph type="body" sz="quarter" idx="22" hasCustomPrompt="1"/>
          </p:nvPr>
        </p:nvSpPr>
        <p:spPr>
          <a:xfrm>
            <a:off x="6122680" y="1536486"/>
            <a:ext cx="5259470"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2" name="Text Placeholder 1">
            <a:extLst>
              <a:ext uri="{FF2B5EF4-FFF2-40B4-BE49-F238E27FC236}">
                <a16:creationId xmlns:a16="http://schemas.microsoft.com/office/drawing/2014/main" id="{2A755FF3-A642-6FDA-A1ED-D43743042AD8}"/>
              </a:ext>
            </a:extLst>
          </p:cNvPr>
          <p:cNvSpPr>
            <a:spLocks noGrp="1"/>
          </p:cNvSpPr>
          <p:nvPr>
            <p:ph type="body" sz="quarter" idx="15" hasCustomPrompt="1"/>
          </p:nvPr>
        </p:nvSpPr>
        <p:spPr>
          <a:xfrm>
            <a:off x="704766" y="2092271"/>
            <a:ext cx="5362883" cy="3656399"/>
          </a:xfrm>
        </p:spPr>
        <p:txBody>
          <a:bodyPr>
            <a:noAutofit/>
          </a:bodyPr>
          <a:lstStyle>
            <a:lvl1pPr marL="0" indent="0" algn="l">
              <a:buFont typeface="Arial" panose="020B0604020202020204" pitchFamily="34" charset="0"/>
              <a:buNone/>
              <a:defRPr sz="2000" b="0" i="0" baseline="0">
                <a:solidFill>
                  <a:srgbClr val="000000"/>
                </a:solidFill>
                <a:latin typeface="Arial" charset="0"/>
                <a:ea typeface="Arial" charset="0"/>
                <a:cs typeface="Arial" charset="0"/>
              </a:defRPr>
            </a:lvl1pPr>
            <a:lvl2pPr marL="457200" indent="0">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a:t>
            </a:r>
            <a:r>
              <a:rPr lang="en-US" dirty="0" err="1"/>
              <a:t>lacus</a:t>
            </a:r>
            <a:r>
              <a:rPr lang="en-US" dirty="0"/>
              <a:t>.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sociis.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13" name="Text Placeholder 1">
            <a:extLst>
              <a:ext uri="{FF2B5EF4-FFF2-40B4-BE49-F238E27FC236}">
                <a16:creationId xmlns:a16="http://schemas.microsoft.com/office/drawing/2014/main" id="{8CAAF508-1A88-756B-0297-754CC6EED50B}"/>
              </a:ext>
            </a:extLst>
          </p:cNvPr>
          <p:cNvSpPr>
            <a:spLocks noGrp="1"/>
          </p:cNvSpPr>
          <p:nvPr>
            <p:ph type="body" sz="quarter" idx="23" hasCustomPrompt="1"/>
          </p:nvPr>
        </p:nvSpPr>
        <p:spPr>
          <a:xfrm>
            <a:off x="6124352" y="2092272"/>
            <a:ext cx="5257798" cy="1508622"/>
          </a:xfrm>
        </p:spPr>
        <p:txBody>
          <a:bodyPr>
            <a:noAutofit/>
          </a:bodyPr>
          <a:lstStyle>
            <a:lvl1pPr marL="0" indent="0" algn="l">
              <a:buFont typeface="Arial" panose="020B0604020202020204" pitchFamily="34" charset="0"/>
              <a:buNone/>
              <a:defRPr sz="2000" b="0" i="0" baseline="0">
                <a:solidFill>
                  <a:srgbClr val="000000"/>
                </a:solidFill>
                <a:latin typeface="Arial" charset="0"/>
                <a:ea typeface="Arial" charset="0"/>
                <a:cs typeface="Arial" charset="0"/>
              </a:defRPr>
            </a:lvl1pPr>
            <a:lvl2pPr marL="457200" indent="0">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p>
        </p:txBody>
      </p:sp>
    </p:spTree>
    <p:extLst>
      <p:ext uri="{BB962C8B-B14F-4D97-AF65-F5344CB8AC3E}">
        <p14:creationId xmlns:p14="http://schemas.microsoft.com/office/powerpoint/2010/main" val="261346313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wo Sections Two Columns, Image and Table">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10" name="Text Placeholder 9"/>
          <p:cNvSpPr>
            <a:spLocks noGrp="1"/>
          </p:cNvSpPr>
          <p:nvPr>
            <p:ph type="body" sz="quarter" idx="11" hasCustomPrompt="1"/>
          </p:nvPr>
        </p:nvSpPr>
        <p:spPr>
          <a:xfrm>
            <a:off x="704766" y="1972220"/>
            <a:ext cx="5362882" cy="1458649"/>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6" name="Picture Placeholder 5"/>
          <p:cNvSpPr>
            <a:spLocks noGrp="1"/>
          </p:cNvSpPr>
          <p:nvPr>
            <p:ph type="pic" sz="quarter" idx="10"/>
          </p:nvPr>
        </p:nvSpPr>
        <p:spPr>
          <a:xfrm>
            <a:off x="6124352" y="3501657"/>
            <a:ext cx="5257798" cy="2147777"/>
          </a:xfrm>
        </p:spPr>
        <p:txBody>
          <a:bodyPr/>
          <a:lstStyle/>
          <a:p>
            <a:r>
              <a:rPr lang="en-US" dirty="0"/>
              <a:t>Click icon to </a:t>
            </a:r>
            <a:r>
              <a:rPr lang="en-US"/>
              <a:t>add picture</a:t>
            </a:r>
            <a:endParaRPr lang="en-US" dirty="0"/>
          </a:p>
        </p:txBody>
      </p:sp>
      <p:sp>
        <p:nvSpPr>
          <p:cNvPr id="8" name="Text Placeholder 9">
            <a:extLst>
              <a:ext uri="{FF2B5EF4-FFF2-40B4-BE49-F238E27FC236}">
                <a16:creationId xmlns:a16="http://schemas.microsoft.com/office/drawing/2014/main" id="{10FB200A-F692-41F0-90CC-375B18C05D31}"/>
              </a:ext>
            </a:extLst>
          </p:cNvPr>
          <p:cNvSpPr>
            <a:spLocks noGrp="1"/>
          </p:cNvSpPr>
          <p:nvPr>
            <p:ph type="body" sz="quarter" idx="12" hasCustomPrompt="1"/>
          </p:nvPr>
        </p:nvSpPr>
        <p:spPr>
          <a:xfrm>
            <a:off x="6124352" y="1972220"/>
            <a:ext cx="5257798" cy="1458649"/>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9" name="Text Placeholder 5">
            <a:extLst>
              <a:ext uri="{FF2B5EF4-FFF2-40B4-BE49-F238E27FC236}">
                <a16:creationId xmlns:a16="http://schemas.microsoft.com/office/drawing/2014/main" id="{0F2BA215-4436-45C0-A4AD-325A0A9D08CA}"/>
              </a:ext>
            </a:extLst>
          </p:cNvPr>
          <p:cNvSpPr>
            <a:spLocks noGrp="1"/>
          </p:cNvSpPr>
          <p:nvPr>
            <p:ph type="body" sz="quarter" idx="21" hasCustomPrompt="1"/>
          </p:nvPr>
        </p:nvSpPr>
        <p:spPr>
          <a:xfrm>
            <a:off x="704766" y="1536488"/>
            <a:ext cx="5362882" cy="334844"/>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marL="0" marR="0" lvl="0" indent="0" algn="l" defTabSz="914400" rtl="0" eaLnBrk="1" fontAlgn="base" latinLnBrk="0" hangingPunct="1">
              <a:lnSpc>
                <a:spcPct val="90000"/>
              </a:lnSpc>
              <a:spcBef>
                <a:spcPts val="1000"/>
              </a:spcBef>
              <a:spcAft>
                <a:spcPct val="0"/>
              </a:spcAft>
              <a:buClrTx/>
              <a:buSzTx/>
              <a:buFont typeface="Arial" charset="0"/>
              <a:buNone/>
              <a:tabLst/>
              <a:defRPr/>
            </a:pPr>
            <a:r>
              <a:rPr lang="en-US" dirty="0"/>
              <a:t>Section Header</a:t>
            </a:r>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p:txBody>
      </p:sp>
      <p:sp>
        <p:nvSpPr>
          <p:cNvPr id="11" name="Text Placeholder 5">
            <a:extLst>
              <a:ext uri="{FF2B5EF4-FFF2-40B4-BE49-F238E27FC236}">
                <a16:creationId xmlns:a16="http://schemas.microsoft.com/office/drawing/2014/main" id="{FD16F9F0-2F6A-4A5C-9862-9C1B7C28E084}"/>
              </a:ext>
            </a:extLst>
          </p:cNvPr>
          <p:cNvSpPr>
            <a:spLocks noGrp="1"/>
          </p:cNvSpPr>
          <p:nvPr>
            <p:ph type="body" sz="quarter" idx="22" hasCustomPrompt="1"/>
          </p:nvPr>
        </p:nvSpPr>
        <p:spPr>
          <a:xfrm>
            <a:off x="6122680" y="1536487"/>
            <a:ext cx="5259470" cy="334844"/>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able Placeholder 3">
            <a:extLst>
              <a:ext uri="{FF2B5EF4-FFF2-40B4-BE49-F238E27FC236}">
                <a16:creationId xmlns:a16="http://schemas.microsoft.com/office/drawing/2014/main" id="{0E11B547-DCBC-47EE-ADDA-185E1B56A831}"/>
              </a:ext>
            </a:extLst>
          </p:cNvPr>
          <p:cNvSpPr>
            <a:spLocks noGrp="1"/>
          </p:cNvSpPr>
          <p:nvPr>
            <p:ph type="tbl" sz="quarter" idx="23"/>
          </p:nvPr>
        </p:nvSpPr>
        <p:spPr>
          <a:xfrm>
            <a:off x="704766" y="3501657"/>
            <a:ext cx="5362882" cy="2147777"/>
          </a:xfrm>
        </p:spPr>
        <p:txBody>
          <a:bodyPr/>
          <a:lstStyle/>
          <a:p>
            <a:endParaRPr lang="en-US"/>
          </a:p>
        </p:txBody>
      </p:sp>
    </p:spTree>
    <p:extLst>
      <p:ext uri="{BB962C8B-B14F-4D97-AF65-F5344CB8AC3E}">
        <p14:creationId xmlns:p14="http://schemas.microsoft.com/office/powerpoint/2010/main" val="158308465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wo Sections Two Columns and Two Image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10" name="Text Placeholder 9"/>
          <p:cNvSpPr>
            <a:spLocks noGrp="1"/>
          </p:cNvSpPr>
          <p:nvPr>
            <p:ph type="body" sz="quarter" idx="11" hasCustomPrompt="1"/>
          </p:nvPr>
        </p:nvSpPr>
        <p:spPr>
          <a:xfrm>
            <a:off x="830893" y="1972220"/>
            <a:ext cx="5212080" cy="169326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6" name="Picture Placeholder 5"/>
          <p:cNvSpPr>
            <a:spLocks noGrp="1"/>
          </p:cNvSpPr>
          <p:nvPr>
            <p:ph type="pic" sz="quarter" idx="10"/>
          </p:nvPr>
        </p:nvSpPr>
        <p:spPr>
          <a:xfrm>
            <a:off x="6124352" y="3728545"/>
            <a:ext cx="5212080" cy="2215055"/>
          </a:xfrm>
        </p:spPr>
        <p:txBody>
          <a:bodyPr/>
          <a:lstStyle/>
          <a:p>
            <a:r>
              <a:rPr lang="en-US" dirty="0"/>
              <a:t>Click icon to add picture</a:t>
            </a:r>
          </a:p>
        </p:txBody>
      </p:sp>
      <p:sp>
        <p:nvSpPr>
          <p:cNvPr id="8" name="Text Placeholder 9">
            <a:extLst>
              <a:ext uri="{FF2B5EF4-FFF2-40B4-BE49-F238E27FC236}">
                <a16:creationId xmlns:a16="http://schemas.microsoft.com/office/drawing/2014/main" id="{10FB200A-F692-41F0-90CC-375B18C05D31}"/>
              </a:ext>
            </a:extLst>
          </p:cNvPr>
          <p:cNvSpPr>
            <a:spLocks noGrp="1"/>
          </p:cNvSpPr>
          <p:nvPr>
            <p:ph type="body" sz="quarter" idx="12" hasCustomPrompt="1"/>
          </p:nvPr>
        </p:nvSpPr>
        <p:spPr>
          <a:xfrm>
            <a:off x="6124352" y="1972220"/>
            <a:ext cx="5212080" cy="169326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9" name="Text Placeholder 5">
            <a:extLst>
              <a:ext uri="{FF2B5EF4-FFF2-40B4-BE49-F238E27FC236}">
                <a16:creationId xmlns:a16="http://schemas.microsoft.com/office/drawing/2014/main" id="{0F2BA215-4436-45C0-A4AD-325A0A9D08CA}"/>
              </a:ext>
            </a:extLst>
          </p:cNvPr>
          <p:cNvSpPr>
            <a:spLocks noGrp="1"/>
          </p:cNvSpPr>
          <p:nvPr>
            <p:ph type="body" sz="quarter" idx="21" hasCustomPrompt="1"/>
          </p:nvPr>
        </p:nvSpPr>
        <p:spPr>
          <a:xfrm>
            <a:off x="838200" y="1536488"/>
            <a:ext cx="5204773" cy="334844"/>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marL="0" marR="0" lvl="0" indent="0" algn="l" defTabSz="914400" rtl="0" eaLnBrk="1" fontAlgn="base" latinLnBrk="0" hangingPunct="1">
              <a:lnSpc>
                <a:spcPct val="90000"/>
              </a:lnSpc>
              <a:spcBef>
                <a:spcPts val="1000"/>
              </a:spcBef>
              <a:spcAft>
                <a:spcPct val="0"/>
              </a:spcAft>
              <a:buClrTx/>
              <a:buSzTx/>
              <a:buFont typeface="Arial" charset="0"/>
              <a:buNone/>
              <a:tabLst/>
              <a:defRPr/>
            </a:pPr>
            <a:r>
              <a:rPr lang="en-US" dirty="0"/>
              <a:t>Section Header</a:t>
            </a:r>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p:txBody>
      </p:sp>
      <p:sp>
        <p:nvSpPr>
          <p:cNvPr id="11" name="Text Placeholder 5">
            <a:extLst>
              <a:ext uri="{FF2B5EF4-FFF2-40B4-BE49-F238E27FC236}">
                <a16:creationId xmlns:a16="http://schemas.microsoft.com/office/drawing/2014/main" id="{FD16F9F0-2F6A-4A5C-9862-9C1B7C28E084}"/>
              </a:ext>
            </a:extLst>
          </p:cNvPr>
          <p:cNvSpPr>
            <a:spLocks noGrp="1"/>
          </p:cNvSpPr>
          <p:nvPr>
            <p:ph type="body" sz="quarter" idx="22" hasCustomPrompt="1"/>
          </p:nvPr>
        </p:nvSpPr>
        <p:spPr>
          <a:xfrm>
            <a:off x="6124352" y="1536487"/>
            <a:ext cx="5229448" cy="334844"/>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2" name="Picture Placeholder 5">
            <a:extLst>
              <a:ext uri="{FF2B5EF4-FFF2-40B4-BE49-F238E27FC236}">
                <a16:creationId xmlns:a16="http://schemas.microsoft.com/office/drawing/2014/main" id="{8E149885-95F1-5549-F19E-AFD2164B0405}"/>
              </a:ext>
            </a:extLst>
          </p:cNvPr>
          <p:cNvSpPr>
            <a:spLocks noGrp="1"/>
          </p:cNvSpPr>
          <p:nvPr>
            <p:ph type="pic" sz="quarter" idx="23"/>
          </p:nvPr>
        </p:nvSpPr>
        <p:spPr>
          <a:xfrm>
            <a:off x="830893" y="3728545"/>
            <a:ext cx="5212080" cy="2215054"/>
          </a:xfrm>
        </p:spPr>
        <p:txBody>
          <a:bodyPr/>
          <a:lstStyle/>
          <a:p>
            <a:r>
              <a:rPr lang="en-US" dirty="0"/>
              <a:t>Click icon to add picture</a:t>
            </a:r>
          </a:p>
        </p:txBody>
      </p:sp>
    </p:spTree>
    <p:extLst>
      <p:ext uri="{BB962C8B-B14F-4D97-AF65-F5344CB8AC3E}">
        <p14:creationId xmlns:p14="http://schemas.microsoft.com/office/powerpoint/2010/main" val="366584973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Section with Image">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4" y="1535854"/>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6" name="Picture Placeholder 5"/>
          <p:cNvSpPr>
            <a:spLocks noGrp="1"/>
          </p:cNvSpPr>
          <p:nvPr>
            <p:ph type="pic" sz="quarter" idx="10"/>
          </p:nvPr>
        </p:nvSpPr>
        <p:spPr>
          <a:xfrm>
            <a:off x="733117" y="1987827"/>
            <a:ext cx="10721999" cy="3890994"/>
          </a:xfrm>
        </p:spPr>
        <p:txBody>
          <a:bodyPr/>
          <a:lstStyle/>
          <a:p>
            <a:r>
              <a:rPr lang="en-US" dirty="0"/>
              <a:t>Click icon to </a:t>
            </a:r>
            <a:r>
              <a:rPr lang="en-US"/>
              <a:t>add picture</a:t>
            </a:r>
            <a:endParaRPr lang="en-US" dirty="0"/>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17902173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Section with Image and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4" y="1535854"/>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6" name="Picture Placeholder 5"/>
          <p:cNvSpPr>
            <a:spLocks noGrp="1"/>
          </p:cNvSpPr>
          <p:nvPr>
            <p:ph type="pic" sz="quarter" idx="10"/>
          </p:nvPr>
        </p:nvSpPr>
        <p:spPr>
          <a:xfrm>
            <a:off x="733118" y="1987827"/>
            <a:ext cx="6477000" cy="3890994"/>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401339" y="1987827"/>
            <a:ext cx="4054039" cy="389099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82857800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Image with side-by-side 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Click to edit Master title style</a:t>
            </a:r>
          </a:p>
        </p:txBody>
      </p:sp>
      <p:sp>
        <p:nvSpPr>
          <p:cNvPr id="6" name="Picture Placeholder 5"/>
          <p:cNvSpPr>
            <a:spLocks noGrp="1"/>
          </p:cNvSpPr>
          <p:nvPr>
            <p:ph type="pic" sz="quarter" idx="10"/>
          </p:nvPr>
        </p:nvSpPr>
        <p:spPr>
          <a:xfrm>
            <a:off x="733118" y="1987827"/>
            <a:ext cx="10725764" cy="1561285"/>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8" y="3735092"/>
            <a:ext cx="5303472" cy="1836549"/>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Text Placeholder 9">
            <a:extLst>
              <a:ext uri="{FF2B5EF4-FFF2-40B4-BE49-F238E27FC236}">
                <a16:creationId xmlns:a16="http://schemas.microsoft.com/office/drawing/2014/main" id="{ABACDB79-AB3E-4609-A9BA-27CEE73B6C86}"/>
              </a:ext>
            </a:extLst>
          </p:cNvPr>
          <p:cNvSpPr>
            <a:spLocks noGrp="1"/>
          </p:cNvSpPr>
          <p:nvPr>
            <p:ph type="body" sz="quarter" idx="12" hasCustomPrompt="1"/>
          </p:nvPr>
        </p:nvSpPr>
        <p:spPr>
          <a:xfrm>
            <a:off x="6155410" y="3735091"/>
            <a:ext cx="5303472" cy="1836549"/>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29764216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wo Sections with Images and Bottom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5" y="1427368"/>
            <a:ext cx="5242697"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6" name="Picture Placeholder 5"/>
          <p:cNvSpPr>
            <a:spLocks noGrp="1"/>
          </p:cNvSpPr>
          <p:nvPr>
            <p:ph type="pic" sz="quarter" idx="10"/>
          </p:nvPr>
        </p:nvSpPr>
        <p:spPr>
          <a:xfrm>
            <a:off x="733117" y="1879341"/>
            <a:ext cx="5253155" cy="2925134"/>
          </a:xfrm>
        </p:spPr>
        <p:txBody>
          <a:bodyPr/>
          <a:lstStyle/>
          <a:p>
            <a:r>
              <a:rPr lang="en-US" dirty="0"/>
              <a:t>Click icon to </a:t>
            </a:r>
            <a:r>
              <a:rPr lang="en-US"/>
              <a:t>add picture</a:t>
            </a:r>
            <a:endParaRPr lang="en-US" dirty="0"/>
          </a:p>
        </p:txBody>
      </p:sp>
      <p:sp>
        <p:nvSpPr>
          <p:cNvPr id="11" name="Text Placeholder 5">
            <a:extLst>
              <a:ext uri="{FF2B5EF4-FFF2-40B4-BE49-F238E27FC236}">
                <a16:creationId xmlns:a16="http://schemas.microsoft.com/office/drawing/2014/main" id="{60F0504B-3865-4CC8-A076-812C6EF4B4E8}"/>
              </a:ext>
            </a:extLst>
          </p:cNvPr>
          <p:cNvSpPr>
            <a:spLocks noGrp="1"/>
          </p:cNvSpPr>
          <p:nvPr>
            <p:ph type="body" sz="quarter" idx="17" hasCustomPrompt="1"/>
          </p:nvPr>
        </p:nvSpPr>
        <p:spPr>
          <a:xfrm>
            <a:off x="6096001" y="1427368"/>
            <a:ext cx="5257800"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8" name="Picture Placeholder 5">
            <a:extLst>
              <a:ext uri="{FF2B5EF4-FFF2-40B4-BE49-F238E27FC236}">
                <a16:creationId xmlns:a16="http://schemas.microsoft.com/office/drawing/2014/main" id="{E17D136E-4F7D-46BF-AE52-D49824D479CD}"/>
              </a:ext>
            </a:extLst>
          </p:cNvPr>
          <p:cNvSpPr>
            <a:spLocks noGrp="1"/>
          </p:cNvSpPr>
          <p:nvPr>
            <p:ph type="pic" sz="quarter" idx="16"/>
          </p:nvPr>
        </p:nvSpPr>
        <p:spPr>
          <a:xfrm>
            <a:off x="6096001" y="1879341"/>
            <a:ext cx="5257799" cy="2925134"/>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928460"/>
            <a:ext cx="10722260"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06534914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wo Sections, two Images and Two Bottom 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5" y="1427368"/>
            <a:ext cx="5242697"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6" name="Picture Placeholder 5"/>
          <p:cNvSpPr>
            <a:spLocks noGrp="1"/>
          </p:cNvSpPr>
          <p:nvPr>
            <p:ph type="pic" sz="quarter" idx="10"/>
          </p:nvPr>
        </p:nvSpPr>
        <p:spPr>
          <a:xfrm>
            <a:off x="733117" y="1879341"/>
            <a:ext cx="5253155" cy="2925134"/>
          </a:xfrm>
        </p:spPr>
        <p:txBody>
          <a:bodyPr/>
          <a:lstStyle/>
          <a:p>
            <a:r>
              <a:rPr lang="en-US" dirty="0"/>
              <a:t>Click icon to </a:t>
            </a:r>
            <a:r>
              <a:rPr lang="en-US"/>
              <a:t>add picture</a:t>
            </a:r>
            <a:endParaRPr lang="en-US" dirty="0"/>
          </a:p>
        </p:txBody>
      </p:sp>
      <p:sp>
        <p:nvSpPr>
          <p:cNvPr id="11" name="Text Placeholder 5">
            <a:extLst>
              <a:ext uri="{FF2B5EF4-FFF2-40B4-BE49-F238E27FC236}">
                <a16:creationId xmlns:a16="http://schemas.microsoft.com/office/drawing/2014/main" id="{60F0504B-3865-4CC8-A076-812C6EF4B4E8}"/>
              </a:ext>
            </a:extLst>
          </p:cNvPr>
          <p:cNvSpPr>
            <a:spLocks noGrp="1"/>
          </p:cNvSpPr>
          <p:nvPr>
            <p:ph type="body" sz="quarter" idx="17" hasCustomPrompt="1"/>
          </p:nvPr>
        </p:nvSpPr>
        <p:spPr>
          <a:xfrm>
            <a:off x="6096001" y="1427368"/>
            <a:ext cx="5257800"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8" name="Picture Placeholder 5">
            <a:extLst>
              <a:ext uri="{FF2B5EF4-FFF2-40B4-BE49-F238E27FC236}">
                <a16:creationId xmlns:a16="http://schemas.microsoft.com/office/drawing/2014/main" id="{E17D136E-4F7D-46BF-AE52-D49824D479CD}"/>
              </a:ext>
            </a:extLst>
          </p:cNvPr>
          <p:cNvSpPr>
            <a:spLocks noGrp="1"/>
          </p:cNvSpPr>
          <p:nvPr>
            <p:ph type="pic" sz="quarter" idx="16"/>
          </p:nvPr>
        </p:nvSpPr>
        <p:spPr>
          <a:xfrm>
            <a:off x="6096001" y="1879341"/>
            <a:ext cx="5257799" cy="2925134"/>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928460"/>
            <a:ext cx="5253153"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labore</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12" name="Text Placeholder 9">
            <a:extLst>
              <a:ext uri="{FF2B5EF4-FFF2-40B4-BE49-F238E27FC236}">
                <a16:creationId xmlns:a16="http://schemas.microsoft.com/office/drawing/2014/main" id="{9009D503-6648-4D8F-BAC8-538B706D3C6A}"/>
              </a:ext>
            </a:extLst>
          </p:cNvPr>
          <p:cNvSpPr>
            <a:spLocks noGrp="1"/>
          </p:cNvSpPr>
          <p:nvPr>
            <p:ph type="body" sz="quarter" idx="18" hasCustomPrompt="1"/>
          </p:nvPr>
        </p:nvSpPr>
        <p:spPr>
          <a:xfrm>
            <a:off x="6096001" y="4928460"/>
            <a:ext cx="5253153"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labore</a:t>
            </a:r>
          </a:p>
        </p:txBody>
      </p:sp>
    </p:spTree>
    <p:extLst>
      <p:ext uri="{BB962C8B-B14F-4D97-AF65-F5344CB8AC3E}">
        <p14:creationId xmlns:p14="http://schemas.microsoft.com/office/powerpoint/2010/main" val="139893051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Section with Two Images and Bottom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5" y="1427368"/>
            <a:ext cx="10610225"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6" name="Picture Placeholder 5"/>
          <p:cNvSpPr>
            <a:spLocks noGrp="1"/>
          </p:cNvSpPr>
          <p:nvPr>
            <p:ph type="pic" sz="quarter" idx="10"/>
          </p:nvPr>
        </p:nvSpPr>
        <p:spPr>
          <a:xfrm>
            <a:off x="733117" y="1879341"/>
            <a:ext cx="5253155" cy="2925134"/>
          </a:xfrm>
        </p:spPr>
        <p:txBody>
          <a:bodyPr/>
          <a:lstStyle/>
          <a:p>
            <a:r>
              <a:rPr lang="en-US" dirty="0"/>
              <a:t>Click icon to </a:t>
            </a:r>
            <a:r>
              <a:rPr lang="en-US"/>
              <a:t>add picture</a:t>
            </a:r>
            <a:endParaRPr lang="en-US" dirty="0"/>
          </a:p>
        </p:txBody>
      </p:sp>
      <p:sp>
        <p:nvSpPr>
          <p:cNvPr id="8" name="Picture Placeholder 5">
            <a:extLst>
              <a:ext uri="{FF2B5EF4-FFF2-40B4-BE49-F238E27FC236}">
                <a16:creationId xmlns:a16="http://schemas.microsoft.com/office/drawing/2014/main" id="{E17D136E-4F7D-46BF-AE52-D49824D479CD}"/>
              </a:ext>
            </a:extLst>
          </p:cNvPr>
          <p:cNvSpPr>
            <a:spLocks noGrp="1"/>
          </p:cNvSpPr>
          <p:nvPr>
            <p:ph type="pic" sz="quarter" idx="16"/>
          </p:nvPr>
        </p:nvSpPr>
        <p:spPr>
          <a:xfrm>
            <a:off x="6096001" y="1879341"/>
            <a:ext cx="5257799" cy="2925134"/>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928460"/>
            <a:ext cx="10722260"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20907285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wo Images and Bottom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733117" y="1567543"/>
            <a:ext cx="5253155" cy="3236932"/>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928460"/>
            <a:ext cx="10722260"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4" name="Picture Placeholder 3">
            <a:extLst>
              <a:ext uri="{FF2B5EF4-FFF2-40B4-BE49-F238E27FC236}">
                <a16:creationId xmlns:a16="http://schemas.microsoft.com/office/drawing/2014/main" id="{5346247A-C507-4283-8B77-F8CF179C69D5}"/>
              </a:ext>
            </a:extLst>
          </p:cNvPr>
          <p:cNvSpPr>
            <a:spLocks noGrp="1"/>
          </p:cNvSpPr>
          <p:nvPr>
            <p:ph type="pic" sz="quarter" idx="12"/>
          </p:nvPr>
        </p:nvSpPr>
        <p:spPr>
          <a:xfrm>
            <a:off x="6237288" y="1566863"/>
            <a:ext cx="5257800" cy="3236912"/>
          </a:xfrm>
        </p:spPr>
        <p:txBody>
          <a:bodyPr/>
          <a:lstStyle/>
          <a:p>
            <a:endParaRPr lang="en-US"/>
          </a:p>
        </p:txBody>
      </p:sp>
    </p:spTree>
    <p:extLst>
      <p:ext uri="{BB962C8B-B14F-4D97-AF65-F5344CB8AC3E}">
        <p14:creationId xmlns:p14="http://schemas.microsoft.com/office/powerpoint/2010/main" val="17493081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wo Images and Two 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733117" y="1536437"/>
            <a:ext cx="5253155" cy="2925134"/>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550570"/>
            <a:ext cx="5253153" cy="1194578"/>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Picture Placeholder 5">
            <a:extLst>
              <a:ext uri="{FF2B5EF4-FFF2-40B4-BE49-F238E27FC236}">
                <a16:creationId xmlns:a16="http://schemas.microsoft.com/office/drawing/2014/main" id="{E17D136E-4F7D-46BF-AE52-D49824D479CD}"/>
              </a:ext>
            </a:extLst>
          </p:cNvPr>
          <p:cNvSpPr>
            <a:spLocks noGrp="1"/>
          </p:cNvSpPr>
          <p:nvPr>
            <p:ph type="pic" sz="quarter" idx="16"/>
          </p:nvPr>
        </p:nvSpPr>
        <p:spPr>
          <a:xfrm>
            <a:off x="6096001" y="1536437"/>
            <a:ext cx="5257799" cy="2925134"/>
          </a:xfrm>
        </p:spPr>
        <p:txBody>
          <a:bodyPr/>
          <a:lstStyle/>
          <a:p>
            <a:r>
              <a:rPr lang="en-US" dirty="0"/>
              <a:t>Click icon to </a:t>
            </a:r>
            <a:r>
              <a:rPr lang="en-US"/>
              <a:t>add picture</a:t>
            </a:r>
            <a:endParaRPr lang="en-US" dirty="0"/>
          </a:p>
        </p:txBody>
      </p:sp>
      <p:sp>
        <p:nvSpPr>
          <p:cNvPr id="12" name="Text Placeholder 9">
            <a:extLst>
              <a:ext uri="{FF2B5EF4-FFF2-40B4-BE49-F238E27FC236}">
                <a16:creationId xmlns:a16="http://schemas.microsoft.com/office/drawing/2014/main" id="{CC39118D-AF06-4D1E-A28A-244A65DAF08F}"/>
              </a:ext>
            </a:extLst>
          </p:cNvPr>
          <p:cNvSpPr>
            <a:spLocks noGrp="1"/>
          </p:cNvSpPr>
          <p:nvPr>
            <p:ph type="body" sz="quarter" idx="18" hasCustomPrompt="1"/>
          </p:nvPr>
        </p:nvSpPr>
        <p:spPr>
          <a:xfrm>
            <a:off x="6096000" y="4550569"/>
            <a:ext cx="5253153" cy="1194578"/>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111647643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hree Images and Three 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11" name="Picture Placeholder 5">
            <a:extLst>
              <a:ext uri="{FF2B5EF4-FFF2-40B4-BE49-F238E27FC236}">
                <a16:creationId xmlns:a16="http://schemas.microsoft.com/office/drawing/2014/main" id="{003A6136-F1E0-41CE-A954-E76F34185774}"/>
              </a:ext>
            </a:extLst>
          </p:cNvPr>
          <p:cNvSpPr>
            <a:spLocks noGrp="1"/>
          </p:cNvSpPr>
          <p:nvPr>
            <p:ph type="pic" sz="quarter" idx="19"/>
          </p:nvPr>
        </p:nvSpPr>
        <p:spPr>
          <a:xfrm>
            <a:off x="733119" y="1465594"/>
            <a:ext cx="5253155" cy="946378"/>
          </a:xfrm>
        </p:spPr>
        <p:txBody>
          <a:bodyPr/>
          <a:lstStyle/>
          <a:p>
            <a:r>
              <a:rPr lang="en-US" dirty="0"/>
              <a:t>Click icon to </a:t>
            </a:r>
            <a:r>
              <a:rPr lang="en-US"/>
              <a:t>add picture</a:t>
            </a:r>
            <a:endParaRPr lang="en-US" dirty="0"/>
          </a:p>
        </p:txBody>
      </p:sp>
      <p:sp>
        <p:nvSpPr>
          <p:cNvPr id="13" name="Text Placeholder 9">
            <a:extLst>
              <a:ext uri="{FF2B5EF4-FFF2-40B4-BE49-F238E27FC236}">
                <a16:creationId xmlns:a16="http://schemas.microsoft.com/office/drawing/2014/main" id="{ADFA1A0F-71D5-4512-A4AA-C7B8F5DCC6CC}"/>
              </a:ext>
            </a:extLst>
          </p:cNvPr>
          <p:cNvSpPr>
            <a:spLocks noGrp="1"/>
          </p:cNvSpPr>
          <p:nvPr>
            <p:ph type="body" sz="quarter" idx="20" hasCustomPrompt="1"/>
          </p:nvPr>
        </p:nvSpPr>
        <p:spPr>
          <a:xfrm>
            <a:off x="733121" y="2476928"/>
            <a:ext cx="5253153" cy="1194578"/>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6" name="Picture Placeholder 5"/>
          <p:cNvSpPr>
            <a:spLocks noGrp="1"/>
          </p:cNvSpPr>
          <p:nvPr>
            <p:ph type="pic" sz="quarter" idx="10"/>
          </p:nvPr>
        </p:nvSpPr>
        <p:spPr>
          <a:xfrm>
            <a:off x="733117" y="3747538"/>
            <a:ext cx="5253155" cy="946378"/>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782915"/>
            <a:ext cx="5253153" cy="1194578"/>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Picture Placeholder 5">
            <a:extLst>
              <a:ext uri="{FF2B5EF4-FFF2-40B4-BE49-F238E27FC236}">
                <a16:creationId xmlns:a16="http://schemas.microsoft.com/office/drawing/2014/main" id="{E17D136E-4F7D-46BF-AE52-D49824D479CD}"/>
              </a:ext>
            </a:extLst>
          </p:cNvPr>
          <p:cNvSpPr>
            <a:spLocks noGrp="1"/>
          </p:cNvSpPr>
          <p:nvPr>
            <p:ph type="pic" sz="quarter" idx="16"/>
          </p:nvPr>
        </p:nvSpPr>
        <p:spPr>
          <a:xfrm>
            <a:off x="6096001" y="1465594"/>
            <a:ext cx="5257799" cy="2925134"/>
          </a:xfrm>
        </p:spPr>
        <p:txBody>
          <a:bodyPr/>
          <a:lstStyle/>
          <a:p>
            <a:r>
              <a:rPr lang="en-US" dirty="0"/>
              <a:t>Click icon to </a:t>
            </a:r>
            <a:r>
              <a:rPr lang="en-US"/>
              <a:t>add picture</a:t>
            </a:r>
            <a:endParaRPr lang="en-US" dirty="0"/>
          </a:p>
        </p:txBody>
      </p:sp>
      <p:sp>
        <p:nvSpPr>
          <p:cNvPr id="12" name="Text Placeholder 9">
            <a:extLst>
              <a:ext uri="{FF2B5EF4-FFF2-40B4-BE49-F238E27FC236}">
                <a16:creationId xmlns:a16="http://schemas.microsoft.com/office/drawing/2014/main" id="{CC39118D-AF06-4D1E-A28A-244A65DAF08F}"/>
              </a:ext>
            </a:extLst>
          </p:cNvPr>
          <p:cNvSpPr>
            <a:spLocks noGrp="1"/>
          </p:cNvSpPr>
          <p:nvPr>
            <p:ph type="body" sz="quarter" idx="18" hasCustomPrompt="1"/>
          </p:nvPr>
        </p:nvSpPr>
        <p:spPr>
          <a:xfrm>
            <a:off x="6096000" y="4482056"/>
            <a:ext cx="5253153" cy="1495436"/>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33260967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hree Contents and Three Table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13" name="Text Placeholder 9">
            <a:extLst>
              <a:ext uri="{FF2B5EF4-FFF2-40B4-BE49-F238E27FC236}">
                <a16:creationId xmlns:a16="http://schemas.microsoft.com/office/drawing/2014/main" id="{ADFA1A0F-71D5-4512-A4AA-C7B8F5DCC6CC}"/>
              </a:ext>
            </a:extLst>
          </p:cNvPr>
          <p:cNvSpPr>
            <a:spLocks noGrp="1"/>
          </p:cNvSpPr>
          <p:nvPr>
            <p:ph type="body" sz="quarter" idx="20" hasCustomPrompt="1"/>
          </p:nvPr>
        </p:nvSpPr>
        <p:spPr>
          <a:xfrm>
            <a:off x="733121" y="1564481"/>
            <a:ext cx="5253153" cy="2421732"/>
          </a:xfrm>
        </p:spPr>
        <p:txBody>
          <a:bodyPr/>
          <a:lstStyle>
            <a:lvl1pPr marL="0" marR="0" indent="0" algn="l" defTabSz="914400" rtl="0" eaLnBrk="0" fontAlgn="base" latinLnBrk="0" hangingPunct="0">
              <a:lnSpc>
                <a:spcPct val="100000"/>
              </a:lnSpc>
              <a:spcBef>
                <a:spcPts val="600"/>
              </a:spcBef>
              <a:spcAft>
                <a:spcPct val="0"/>
              </a:spcAft>
              <a:buClrTx/>
              <a:buSzTx/>
              <a:buFontTx/>
              <a:buNone/>
              <a:tabLst/>
              <a:defRPr sz="1800" baseline="0">
                <a:solidFill>
                  <a:srgbClr val="000000"/>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10" name="Text Placeholder 9"/>
          <p:cNvSpPr>
            <a:spLocks noGrp="1"/>
          </p:cNvSpPr>
          <p:nvPr>
            <p:ph type="body" sz="quarter" idx="11" hasCustomPrompt="1"/>
          </p:nvPr>
        </p:nvSpPr>
        <p:spPr>
          <a:xfrm>
            <a:off x="6100647" y="1564481"/>
            <a:ext cx="5253153" cy="850107"/>
          </a:xfrm>
        </p:spPr>
        <p:txBody>
          <a:bodyPr/>
          <a:lstStyle>
            <a:lvl1pPr marL="0" marR="0" indent="0" algn="l" defTabSz="914400" rtl="0" eaLnBrk="0" fontAlgn="base" latinLnBrk="0" hangingPunct="0">
              <a:lnSpc>
                <a:spcPct val="100000"/>
              </a:lnSpc>
              <a:spcBef>
                <a:spcPts val="600"/>
              </a:spcBef>
              <a:spcAft>
                <a:spcPct val="0"/>
              </a:spcAft>
              <a:buClrTx/>
              <a:buSzTx/>
              <a:buFontTx/>
              <a:buNone/>
              <a:tabLst/>
              <a:defRPr sz="1800">
                <a:solidFill>
                  <a:srgbClr val="000000"/>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12" name="Text Placeholder 9">
            <a:extLst>
              <a:ext uri="{FF2B5EF4-FFF2-40B4-BE49-F238E27FC236}">
                <a16:creationId xmlns:a16="http://schemas.microsoft.com/office/drawing/2014/main" id="{CC39118D-AF06-4D1E-A28A-244A65DAF08F}"/>
              </a:ext>
            </a:extLst>
          </p:cNvPr>
          <p:cNvSpPr>
            <a:spLocks noGrp="1"/>
          </p:cNvSpPr>
          <p:nvPr>
            <p:ph type="body" sz="quarter" idx="18" hasCustomPrompt="1"/>
          </p:nvPr>
        </p:nvSpPr>
        <p:spPr>
          <a:xfrm>
            <a:off x="6095885" y="3603376"/>
            <a:ext cx="5253153" cy="875757"/>
          </a:xfrm>
        </p:spPr>
        <p:txBody>
          <a:bodyPr/>
          <a:lstStyle>
            <a:lvl1pPr marL="0" marR="0" indent="0" algn="l" defTabSz="914400" rtl="0" eaLnBrk="0" fontAlgn="base" latinLnBrk="0" hangingPunct="0">
              <a:lnSpc>
                <a:spcPct val="100000"/>
              </a:lnSpc>
              <a:spcBef>
                <a:spcPts val="600"/>
              </a:spcBef>
              <a:spcAft>
                <a:spcPct val="0"/>
              </a:spcAft>
              <a:buClrTx/>
              <a:buSzTx/>
              <a:buFontTx/>
              <a:buNone/>
              <a:tabLst/>
              <a:defRPr sz="1800">
                <a:solidFill>
                  <a:srgbClr val="000000"/>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15" name="Table Placeholder 14">
            <a:extLst>
              <a:ext uri="{FF2B5EF4-FFF2-40B4-BE49-F238E27FC236}">
                <a16:creationId xmlns:a16="http://schemas.microsoft.com/office/drawing/2014/main" id="{0FBB3941-1ADF-44A3-B3B6-B2B7D20C6039}"/>
              </a:ext>
            </a:extLst>
          </p:cNvPr>
          <p:cNvSpPr>
            <a:spLocks noGrp="1"/>
          </p:cNvSpPr>
          <p:nvPr>
            <p:ph type="tbl" sz="quarter" idx="21"/>
          </p:nvPr>
        </p:nvSpPr>
        <p:spPr>
          <a:xfrm>
            <a:off x="733425" y="4043362"/>
            <a:ext cx="5253038" cy="1529557"/>
          </a:xfrm>
        </p:spPr>
        <p:txBody>
          <a:bodyPr/>
          <a:lstStyle/>
          <a:p>
            <a:endParaRPr lang="en-US"/>
          </a:p>
        </p:txBody>
      </p:sp>
      <p:sp>
        <p:nvSpPr>
          <p:cNvPr id="16" name="Table Placeholder 14">
            <a:extLst>
              <a:ext uri="{FF2B5EF4-FFF2-40B4-BE49-F238E27FC236}">
                <a16:creationId xmlns:a16="http://schemas.microsoft.com/office/drawing/2014/main" id="{033851EA-E182-44EE-A6BD-2B5B5D8B927B}"/>
              </a:ext>
            </a:extLst>
          </p:cNvPr>
          <p:cNvSpPr>
            <a:spLocks noGrp="1"/>
          </p:cNvSpPr>
          <p:nvPr>
            <p:ph type="tbl" sz="quarter" idx="22"/>
          </p:nvPr>
        </p:nvSpPr>
        <p:spPr>
          <a:xfrm>
            <a:off x="6096000" y="2493172"/>
            <a:ext cx="5253038" cy="1021553"/>
          </a:xfrm>
        </p:spPr>
        <p:txBody>
          <a:bodyPr/>
          <a:lstStyle/>
          <a:p>
            <a:endParaRPr lang="en-US"/>
          </a:p>
        </p:txBody>
      </p:sp>
      <p:sp>
        <p:nvSpPr>
          <p:cNvPr id="17" name="Table Placeholder 14">
            <a:extLst>
              <a:ext uri="{FF2B5EF4-FFF2-40B4-BE49-F238E27FC236}">
                <a16:creationId xmlns:a16="http://schemas.microsoft.com/office/drawing/2014/main" id="{9F8070B9-5F3E-4727-90E8-3E47529B9B5A}"/>
              </a:ext>
            </a:extLst>
          </p:cNvPr>
          <p:cNvSpPr>
            <a:spLocks noGrp="1"/>
          </p:cNvSpPr>
          <p:nvPr>
            <p:ph type="tbl" sz="quarter" idx="23"/>
          </p:nvPr>
        </p:nvSpPr>
        <p:spPr>
          <a:xfrm>
            <a:off x="6093618" y="4560097"/>
            <a:ext cx="5253038" cy="1021553"/>
          </a:xfrm>
        </p:spPr>
        <p:txBody>
          <a:bodyPr/>
          <a:lstStyle/>
          <a:p>
            <a:endParaRPr lang="en-US"/>
          </a:p>
        </p:txBody>
      </p:sp>
    </p:spTree>
    <p:extLst>
      <p:ext uri="{BB962C8B-B14F-4D97-AF65-F5344CB8AC3E}">
        <p14:creationId xmlns:p14="http://schemas.microsoft.com/office/powerpoint/2010/main" val="281447604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wo Sections and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6" name="Text Placeholder 5"/>
          <p:cNvSpPr>
            <a:spLocks noGrp="1"/>
          </p:cNvSpPr>
          <p:nvPr>
            <p:ph type="body" sz="quarter" idx="15" hasCustomPrompt="1"/>
          </p:nvPr>
        </p:nvSpPr>
        <p:spPr>
          <a:xfrm>
            <a:off x="743574" y="1290690"/>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0" name="Picture Placeholder 5">
            <a:extLst>
              <a:ext uri="{FF2B5EF4-FFF2-40B4-BE49-F238E27FC236}">
                <a16:creationId xmlns:a16="http://schemas.microsoft.com/office/drawing/2014/main" id="{D2B6F3D7-1DC5-4912-9B59-FD5D92EDBB81}"/>
              </a:ext>
            </a:extLst>
          </p:cNvPr>
          <p:cNvSpPr>
            <a:spLocks noGrp="1"/>
          </p:cNvSpPr>
          <p:nvPr>
            <p:ph type="pic" sz="quarter" idx="10"/>
          </p:nvPr>
        </p:nvSpPr>
        <p:spPr>
          <a:xfrm>
            <a:off x="733117" y="1757166"/>
            <a:ext cx="10721999" cy="1514131"/>
          </a:xfrm>
        </p:spPr>
        <p:txBody>
          <a:bodyPr/>
          <a:lstStyle/>
          <a:p>
            <a:r>
              <a:rPr lang="en-US" dirty="0"/>
              <a:t>Click icon to </a:t>
            </a:r>
            <a:r>
              <a:rPr lang="en-US"/>
              <a:t>add picture</a:t>
            </a:r>
            <a:endParaRPr lang="en-US" dirty="0"/>
          </a:p>
        </p:txBody>
      </p:sp>
      <p:sp>
        <p:nvSpPr>
          <p:cNvPr id="9" name="Text Placeholder 5"/>
          <p:cNvSpPr>
            <a:spLocks noGrp="1"/>
          </p:cNvSpPr>
          <p:nvPr>
            <p:ph type="body" sz="quarter" idx="17" hasCustomPrompt="1"/>
          </p:nvPr>
        </p:nvSpPr>
        <p:spPr>
          <a:xfrm>
            <a:off x="743573" y="3389727"/>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3" name="Picture Placeholder 5">
            <a:extLst>
              <a:ext uri="{FF2B5EF4-FFF2-40B4-BE49-F238E27FC236}">
                <a16:creationId xmlns:a16="http://schemas.microsoft.com/office/drawing/2014/main" id="{33EE713D-FD1D-4016-B0CA-2BE9370A4AF1}"/>
              </a:ext>
            </a:extLst>
          </p:cNvPr>
          <p:cNvSpPr>
            <a:spLocks noGrp="1"/>
          </p:cNvSpPr>
          <p:nvPr>
            <p:ph type="pic" sz="quarter" idx="18"/>
          </p:nvPr>
        </p:nvSpPr>
        <p:spPr>
          <a:xfrm>
            <a:off x="733117" y="3856204"/>
            <a:ext cx="10721999" cy="1514131"/>
          </a:xfrm>
        </p:spPr>
        <p:txBody>
          <a:bodyPr/>
          <a:lstStyle/>
          <a:p>
            <a:r>
              <a:rPr lang="en-US" dirty="0"/>
              <a:t>Click icon to </a:t>
            </a:r>
            <a:r>
              <a:rPr lang="en-US"/>
              <a:t>add picture</a:t>
            </a:r>
            <a:endParaRPr lang="en-US" dirty="0"/>
          </a:p>
        </p:txBody>
      </p:sp>
      <p:sp>
        <p:nvSpPr>
          <p:cNvPr id="14" name="Footer">
            <a:extLst>
              <a:ext uri="{FF2B5EF4-FFF2-40B4-BE49-F238E27FC236}">
                <a16:creationId xmlns:a16="http://schemas.microsoft.com/office/drawing/2014/main" id="{1F7F3A0A-B6C1-4EEC-AB96-2823BAABF6D3}"/>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72795423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_Two Sections and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6" name="Text Placeholder 5"/>
          <p:cNvSpPr>
            <a:spLocks noGrp="1"/>
          </p:cNvSpPr>
          <p:nvPr>
            <p:ph type="body" sz="quarter" idx="15" hasCustomPrompt="1"/>
          </p:nvPr>
        </p:nvSpPr>
        <p:spPr>
          <a:xfrm>
            <a:off x="743575" y="1290690"/>
            <a:ext cx="5146238"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0" name="Picture Placeholder 5">
            <a:extLst>
              <a:ext uri="{FF2B5EF4-FFF2-40B4-BE49-F238E27FC236}">
                <a16:creationId xmlns:a16="http://schemas.microsoft.com/office/drawing/2014/main" id="{D2B6F3D7-1DC5-4912-9B59-FD5D92EDBB81}"/>
              </a:ext>
            </a:extLst>
          </p:cNvPr>
          <p:cNvSpPr>
            <a:spLocks noGrp="1"/>
          </p:cNvSpPr>
          <p:nvPr>
            <p:ph type="pic" sz="quarter" idx="10"/>
          </p:nvPr>
        </p:nvSpPr>
        <p:spPr>
          <a:xfrm>
            <a:off x="733117" y="1757166"/>
            <a:ext cx="5146239" cy="3709063"/>
          </a:xfrm>
        </p:spPr>
        <p:txBody>
          <a:bodyPr/>
          <a:lstStyle/>
          <a:p>
            <a:r>
              <a:rPr lang="en-US" dirty="0"/>
              <a:t>Click icon to </a:t>
            </a:r>
            <a:r>
              <a:rPr lang="en-US"/>
              <a:t>add picture</a:t>
            </a:r>
            <a:endParaRPr lang="en-US" dirty="0"/>
          </a:p>
        </p:txBody>
      </p:sp>
      <p:sp>
        <p:nvSpPr>
          <p:cNvPr id="9" name="Text Placeholder 5"/>
          <p:cNvSpPr>
            <a:spLocks noGrp="1"/>
          </p:cNvSpPr>
          <p:nvPr>
            <p:ph type="body" sz="quarter" idx="17" hasCustomPrompt="1"/>
          </p:nvPr>
        </p:nvSpPr>
        <p:spPr>
          <a:xfrm>
            <a:off x="5983940" y="1290690"/>
            <a:ext cx="5471175"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3" name="Picture Placeholder 5">
            <a:extLst>
              <a:ext uri="{FF2B5EF4-FFF2-40B4-BE49-F238E27FC236}">
                <a16:creationId xmlns:a16="http://schemas.microsoft.com/office/drawing/2014/main" id="{33EE713D-FD1D-4016-B0CA-2BE9370A4AF1}"/>
              </a:ext>
            </a:extLst>
          </p:cNvPr>
          <p:cNvSpPr>
            <a:spLocks noGrp="1"/>
          </p:cNvSpPr>
          <p:nvPr>
            <p:ph type="pic" sz="quarter" idx="18"/>
          </p:nvPr>
        </p:nvSpPr>
        <p:spPr>
          <a:xfrm>
            <a:off x="5983940" y="1757165"/>
            <a:ext cx="5471175" cy="3709064"/>
          </a:xfrm>
        </p:spPr>
        <p:txBody>
          <a:bodyPr/>
          <a:lstStyle/>
          <a:p>
            <a:r>
              <a:rPr lang="en-US" dirty="0"/>
              <a:t>Click icon to </a:t>
            </a:r>
            <a:r>
              <a:rPr lang="en-US"/>
              <a:t>add picture</a:t>
            </a:r>
            <a:endParaRPr lang="en-US" dirty="0"/>
          </a:p>
        </p:txBody>
      </p:sp>
      <p:sp>
        <p:nvSpPr>
          <p:cNvPr id="14" name="Footer">
            <a:extLst>
              <a:ext uri="{FF2B5EF4-FFF2-40B4-BE49-F238E27FC236}">
                <a16:creationId xmlns:a16="http://schemas.microsoft.com/office/drawing/2014/main" id="{1F7F3A0A-B6C1-4EEC-AB96-2823BAABF6D3}"/>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09434752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Section Header and Two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6" name="Text Placeholder 5"/>
          <p:cNvSpPr>
            <a:spLocks noGrp="1"/>
          </p:cNvSpPr>
          <p:nvPr>
            <p:ph type="body" sz="quarter" idx="15" hasCustomPrompt="1"/>
          </p:nvPr>
        </p:nvSpPr>
        <p:spPr>
          <a:xfrm>
            <a:off x="743575" y="1290690"/>
            <a:ext cx="10711540"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0" name="Picture Placeholder 5">
            <a:extLst>
              <a:ext uri="{FF2B5EF4-FFF2-40B4-BE49-F238E27FC236}">
                <a16:creationId xmlns:a16="http://schemas.microsoft.com/office/drawing/2014/main" id="{D2B6F3D7-1DC5-4912-9B59-FD5D92EDBB81}"/>
              </a:ext>
            </a:extLst>
          </p:cNvPr>
          <p:cNvSpPr>
            <a:spLocks noGrp="1"/>
          </p:cNvSpPr>
          <p:nvPr>
            <p:ph type="pic" sz="quarter" idx="10"/>
          </p:nvPr>
        </p:nvSpPr>
        <p:spPr>
          <a:xfrm>
            <a:off x="733117" y="1757166"/>
            <a:ext cx="5146239" cy="3709063"/>
          </a:xfrm>
        </p:spPr>
        <p:txBody>
          <a:bodyPr/>
          <a:lstStyle/>
          <a:p>
            <a:r>
              <a:rPr lang="en-US" dirty="0"/>
              <a:t>Click icon to </a:t>
            </a:r>
            <a:r>
              <a:rPr lang="en-US"/>
              <a:t>add picture</a:t>
            </a:r>
            <a:endParaRPr lang="en-US" dirty="0"/>
          </a:p>
        </p:txBody>
      </p:sp>
      <p:sp>
        <p:nvSpPr>
          <p:cNvPr id="13" name="Picture Placeholder 5">
            <a:extLst>
              <a:ext uri="{FF2B5EF4-FFF2-40B4-BE49-F238E27FC236}">
                <a16:creationId xmlns:a16="http://schemas.microsoft.com/office/drawing/2014/main" id="{33EE713D-FD1D-4016-B0CA-2BE9370A4AF1}"/>
              </a:ext>
            </a:extLst>
          </p:cNvPr>
          <p:cNvSpPr>
            <a:spLocks noGrp="1"/>
          </p:cNvSpPr>
          <p:nvPr>
            <p:ph type="pic" sz="quarter" idx="18"/>
          </p:nvPr>
        </p:nvSpPr>
        <p:spPr>
          <a:xfrm>
            <a:off x="5983940" y="1757165"/>
            <a:ext cx="5471175" cy="3709064"/>
          </a:xfrm>
        </p:spPr>
        <p:txBody>
          <a:bodyPr/>
          <a:lstStyle/>
          <a:p>
            <a:r>
              <a:rPr lang="en-US" dirty="0"/>
              <a:t>Click icon to </a:t>
            </a:r>
            <a:r>
              <a:rPr lang="en-US"/>
              <a:t>add picture</a:t>
            </a:r>
            <a:endParaRPr lang="en-US" dirty="0"/>
          </a:p>
        </p:txBody>
      </p:sp>
      <p:sp>
        <p:nvSpPr>
          <p:cNvPr id="14" name="Footer">
            <a:extLst>
              <a:ext uri="{FF2B5EF4-FFF2-40B4-BE49-F238E27FC236}">
                <a16:creationId xmlns:a16="http://schemas.microsoft.com/office/drawing/2014/main" id="{1F7F3A0A-B6C1-4EEC-AB96-2823BAABF6D3}"/>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69700963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hree Sections and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6" name="Text Placeholder 5"/>
          <p:cNvSpPr>
            <a:spLocks noGrp="1"/>
          </p:cNvSpPr>
          <p:nvPr>
            <p:ph type="body" sz="quarter" idx="15" hasCustomPrompt="1"/>
          </p:nvPr>
        </p:nvSpPr>
        <p:spPr>
          <a:xfrm>
            <a:off x="743575" y="1290690"/>
            <a:ext cx="5146238"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0" name="Picture Placeholder 5">
            <a:extLst>
              <a:ext uri="{FF2B5EF4-FFF2-40B4-BE49-F238E27FC236}">
                <a16:creationId xmlns:a16="http://schemas.microsoft.com/office/drawing/2014/main" id="{D2B6F3D7-1DC5-4912-9B59-FD5D92EDBB81}"/>
              </a:ext>
            </a:extLst>
          </p:cNvPr>
          <p:cNvSpPr>
            <a:spLocks noGrp="1"/>
          </p:cNvSpPr>
          <p:nvPr>
            <p:ph type="pic" sz="quarter" idx="10"/>
          </p:nvPr>
        </p:nvSpPr>
        <p:spPr>
          <a:xfrm>
            <a:off x="733117" y="1757167"/>
            <a:ext cx="5146239" cy="1671834"/>
          </a:xfrm>
        </p:spPr>
        <p:txBody>
          <a:bodyPr/>
          <a:lstStyle/>
          <a:p>
            <a:r>
              <a:rPr lang="en-US" dirty="0"/>
              <a:t>Click icon to </a:t>
            </a:r>
            <a:r>
              <a:rPr lang="en-US"/>
              <a:t>add picture</a:t>
            </a:r>
            <a:endParaRPr lang="en-US" dirty="0"/>
          </a:p>
        </p:txBody>
      </p:sp>
      <p:sp>
        <p:nvSpPr>
          <p:cNvPr id="8" name="Text Placeholder 5">
            <a:extLst>
              <a:ext uri="{FF2B5EF4-FFF2-40B4-BE49-F238E27FC236}">
                <a16:creationId xmlns:a16="http://schemas.microsoft.com/office/drawing/2014/main" id="{260FE8C2-07E1-4D09-A0DC-DF642DCDCD10}"/>
              </a:ext>
            </a:extLst>
          </p:cNvPr>
          <p:cNvSpPr>
            <a:spLocks noGrp="1"/>
          </p:cNvSpPr>
          <p:nvPr>
            <p:ph type="body" sz="quarter" idx="19" hasCustomPrompt="1"/>
          </p:nvPr>
        </p:nvSpPr>
        <p:spPr>
          <a:xfrm>
            <a:off x="733118" y="3547432"/>
            <a:ext cx="5146238"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1" name="Picture Placeholder 5">
            <a:extLst>
              <a:ext uri="{FF2B5EF4-FFF2-40B4-BE49-F238E27FC236}">
                <a16:creationId xmlns:a16="http://schemas.microsoft.com/office/drawing/2014/main" id="{8C746CF2-FE60-4CC1-B2EE-0CA47905BF15}"/>
              </a:ext>
            </a:extLst>
          </p:cNvPr>
          <p:cNvSpPr>
            <a:spLocks noGrp="1"/>
          </p:cNvSpPr>
          <p:nvPr>
            <p:ph type="pic" sz="quarter" idx="20"/>
          </p:nvPr>
        </p:nvSpPr>
        <p:spPr>
          <a:xfrm>
            <a:off x="722660" y="4013909"/>
            <a:ext cx="5146239" cy="1671834"/>
          </a:xfrm>
        </p:spPr>
        <p:txBody>
          <a:bodyPr/>
          <a:lstStyle/>
          <a:p>
            <a:r>
              <a:rPr lang="en-US" dirty="0"/>
              <a:t>Click icon to </a:t>
            </a:r>
            <a:r>
              <a:rPr lang="en-US"/>
              <a:t>add picture</a:t>
            </a:r>
            <a:endParaRPr lang="en-US" dirty="0"/>
          </a:p>
        </p:txBody>
      </p:sp>
      <p:sp>
        <p:nvSpPr>
          <p:cNvPr id="9" name="Text Placeholder 5"/>
          <p:cNvSpPr>
            <a:spLocks noGrp="1"/>
          </p:cNvSpPr>
          <p:nvPr>
            <p:ph type="body" sz="quarter" idx="17" hasCustomPrompt="1"/>
          </p:nvPr>
        </p:nvSpPr>
        <p:spPr>
          <a:xfrm>
            <a:off x="5983940" y="1290690"/>
            <a:ext cx="5471175"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3" name="Picture Placeholder 5">
            <a:extLst>
              <a:ext uri="{FF2B5EF4-FFF2-40B4-BE49-F238E27FC236}">
                <a16:creationId xmlns:a16="http://schemas.microsoft.com/office/drawing/2014/main" id="{33EE713D-FD1D-4016-B0CA-2BE9370A4AF1}"/>
              </a:ext>
            </a:extLst>
          </p:cNvPr>
          <p:cNvSpPr>
            <a:spLocks noGrp="1"/>
          </p:cNvSpPr>
          <p:nvPr>
            <p:ph type="pic" sz="quarter" idx="18"/>
          </p:nvPr>
        </p:nvSpPr>
        <p:spPr>
          <a:xfrm>
            <a:off x="5983940" y="1757165"/>
            <a:ext cx="5471175" cy="3928578"/>
          </a:xfrm>
        </p:spPr>
        <p:txBody>
          <a:bodyPr/>
          <a:lstStyle/>
          <a:p>
            <a:r>
              <a:rPr lang="en-US" dirty="0"/>
              <a:t>Click icon to </a:t>
            </a:r>
            <a:r>
              <a:rPr lang="en-US"/>
              <a:t>add picture</a:t>
            </a:r>
            <a:endParaRPr lang="en-US" dirty="0"/>
          </a:p>
        </p:txBody>
      </p:sp>
      <p:sp>
        <p:nvSpPr>
          <p:cNvPr id="14" name="Footer">
            <a:extLst>
              <a:ext uri="{FF2B5EF4-FFF2-40B4-BE49-F238E27FC236}">
                <a16:creationId xmlns:a16="http://schemas.microsoft.com/office/drawing/2014/main" id="{1F7F3A0A-B6C1-4EEC-AB96-2823BAABF6D3}"/>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63568338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hree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13" name="Picture Placeholder 5">
            <a:extLst>
              <a:ext uri="{FF2B5EF4-FFF2-40B4-BE49-F238E27FC236}">
                <a16:creationId xmlns:a16="http://schemas.microsoft.com/office/drawing/2014/main" id="{33EE713D-FD1D-4016-B0CA-2BE9370A4AF1}"/>
              </a:ext>
            </a:extLst>
          </p:cNvPr>
          <p:cNvSpPr>
            <a:spLocks noGrp="1"/>
          </p:cNvSpPr>
          <p:nvPr>
            <p:ph type="pic" sz="quarter" idx="18"/>
          </p:nvPr>
        </p:nvSpPr>
        <p:spPr>
          <a:xfrm>
            <a:off x="815242" y="1660454"/>
            <a:ext cx="5183174" cy="4025289"/>
          </a:xfrm>
        </p:spPr>
        <p:txBody>
          <a:bodyPr/>
          <a:lstStyle/>
          <a:p>
            <a:r>
              <a:rPr lang="en-US" dirty="0"/>
              <a:t>Click icon to </a:t>
            </a:r>
            <a:r>
              <a:rPr lang="en-US"/>
              <a:t>add picture</a:t>
            </a:r>
            <a:endParaRPr lang="en-US" dirty="0"/>
          </a:p>
        </p:txBody>
      </p:sp>
      <p:sp>
        <p:nvSpPr>
          <p:cNvPr id="10" name="Picture Placeholder 5">
            <a:extLst>
              <a:ext uri="{FF2B5EF4-FFF2-40B4-BE49-F238E27FC236}">
                <a16:creationId xmlns:a16="http://schemas.microsoft.com/office/drawing/2014/main" id="{D2B6F3D7-1DC5-4912-9B59-FD5D92EDBB81}"/>
              </a:ext>
            </a:extLst>
          </p:cNvPr>
          <p:cNvSpPr>
            <a:spLocks noGrp="1"/>
          </p:cNvSpPr>
          <p:nvPr>
            <p:ph type="pic" sz="quarter" idx="10"/>
          </p:nvPr>
        </p:nvSpPr>
        <p:spPr>
          <a:xfrm>
            <a:off x="6096001" y="1660454"/>
            <a:ext cx="5254282" cy="1973899"/>
          </a:xfrm>
        </p:spPr>
        <p:txBody>
          <a:bodyPr/>
          <a:lstStyle/>
          <a:p>
            <a:r>
              <a:rPr lang="en-US" dirty="0"/>
              <a:t>Click icon to </a:t>
            </a:r>
            <a:r>
              <a:rPr lang="en-US"/>
              <a:t>add picture</a:t>
            </a:r>
            <a:endParaRPr lang="en-US" dirty="0"/>
          </a:p>
        </p:txBody>
      </p:sp>
      <p:sp>
        <p:nvSpPr>
          <p:cNvPr id="11" name="Picture Placeholder 5">
            <a:extLst>
              <a:ext uri="{FF2B5EF4-FFF2-40B4-BE49-F238E27FC236}">
                <a16:creationId xmlns:a16="http://schemas.microsoft.com/office/drawing/2014/main" id="{8C746CF2-FE60-4CC1-B2EE-0CA47905BF15}"/>
              </a:ext>
            </a:extLst>
          </p:cNvPr>
          <p:cNvSpPr>
            <a:spLocks noGrp="1"/>
          </p:cNvSpPr>
          <p:nvPr>
            <p:ph type="pic" sz="quarter" idx="20"/>
          </p:nvPr>
        </p:nvSpPr>
        <p:spPr>
          <a:xfrm>
            <a:off x="6096002" y="3711844"/>
            <a:ext cx="5243824" cy="1973899"/>
          </a:xfrm>
        </p:spPr>
        <p:txBody>
          <a:bodyPr/>
          <a:lstStyle/>
          <a:p>
            <a:r>
              <a:rPr lang="en-US" dirty="0"/>
              <a:t>Click icon to </a:t>
            </a:r>
            <a:r>
              <a:rPr lang="en-US"/>
              <a:t>add picture</a:t>
            </a:r>
            <a:endParaRPr lang="en-US" dirty="0"/>
          </a:p>
        </p:txBody>
      </p:sp>
      <p:sp>
        <p:nvSpPr>
          <p:cNvPr id="14" name="Footer">
            <a:extLst>
              <a:ext uri="{FF2B5EF4-FFF2-40B4-BE49-F238E27FC236}">
                <a16:creationId xmlns:a16="http://schemas.microsoft.com/office/drawing/2014/main" id="{1F7F3A0A-B6C1-4EEC-AB96-2823BAABF6D3}"/>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37204985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wo Sections and Images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6" name="Text Placeholder 5"/>
          <p:cNvSpPr>
            <a:spLocks noGrp="1"/>
          </p:cNvSpPr>
          <p:nvPr>
            <p:ph type="body" sz="quarter" idx="15" hasCustomPrompt="1"/>
          </p:nvPr>
        </p:nvSpPr>
        <p:spPr>
          <a:xfrm>
            <a:off x="743575" y="1290690"/>
            <a:ext cx="5260766"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0" name="Picture Placeholder 5">
            <a:extLst>
              <a:ext uri="{FF2B5EF4-FFF2-40B4-BE49-F238E27FC236}">
                <a16:creationId xmlns:a16="http://schemas.microsoft.com/office/drawing/2014/main" id="{D2B6F3D7-1DC5-4912-9B59-FD5D92EDBB81}"/>
              </a:ext>
            </a:extLst>
          </p:cNvPr>
          <p:cNvSpPr>
            <a:spLocks noGrp="1"/>
          </p:cNvSpPr>
          <p:nvPr>
            <p:ph type="pic" sz="quarter" idx="10"/>
          </p:nvPr>
        </p:nvSpPr>
        <p:spPr>
          <a:xfrm>
            <a:off x="733117" y="1757166"/>
            <a:ext cx="5265901" cy="1514131"/>
          </a:xfrm>
        </p:spPr>
        <p:txBody>
          <a:bodyPr/>
          <a:lstStyle/>
          <a:p>
            <a:r>
              <a:rPr lang="en-US" dirty="0"/>
              <a:t>Click icon to </a:t>
            </a:r>
            <a:r>
              <a:rPr lang="en-US"/>
              <a:t>add picture</a:t>
            </a:r>
            <a:endParaRPr lang="en-US" dirty="0"/>
          </a:p>
        </p:txBody>
      </p:sp>
      <p:sp>
        <p:nvSpPr>
          <p:cNvPr id="11" name="Text Placeholder 9">
            <a:extLst>
              <a:ext uri="{FF2B5EF4-FFF2-40B4-BE49-F238E27FC236}">
                <a16:creationId xmlns:a16="http://schemas.microsoft.com/office/drawing/2014/main" id="{C7D9FB6E-264C-49D3-BF90-8D03C190DF69}"/>
              </a:ext>
            </a:extLst>
          </p:cNvPr>
          <p:cNvSpPr>
            <a:spLocks noGrp="1"/>
          </p:cNvSpPr>
          <p:nvPr>
            <p:ph type="body" sz="quarter" idx="11" hasCustomPrompt="1"/>
          </p:nvPr>
        </p:nvSpPr>
        <p:spPr>
          <a:xfrm>
            <a:off x="733117" y="3429000"/>
            <a:ext cx="5271224" cy="1980608"/>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9" name="Text Placeholder 5"/>
          <p:cNvSpPr>
            <a:spLocks noGrp="1"/>
          </p:cNvSpPr>
          <p:nvPr>
            <p:ph type="body" sz="quarter" idx="17" hasCustomPrompt="1"/>
          </p:nvPr>
        </p:nvSpPr>
        <p:spPr>
          <a:xfrm>
            <a:off x="6198116" y="1290690"/>
            <a:ext cx="5260767"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3" name="Picture Placeholder 5">
            <a:extLst>
              <a:ext uri="{FF2B5EF4-FFF2-40B4-BE49-F238E27FC236}">
                <a16:creationId xmlns:a16="http://schemas.microsoft.com/office/drawing/2014/main" id="{33EE713D-FD1D-4016-B0CA-2BE9370A4AF1}"/>
              </a:ext>
            </a:extLst>
          </p:cNvPr>
          <p:cNvSpPr>
            <a:spLocks noGrp="1"/>
          </p:cNvSpPr>
          <p:nvPr>
            <p:ph type="pic" sz="quarter" idx="18"/>
          </p:nvPr>
        </p:nvSpPr>
        <p:spPr>
          <a:xfrm>
            <a:off x="6187661" y="1757167"/>
            <a:ext cx="5265902" cy="3652441"/>
          </a:xfrm>
        </p:spPr>
        <p:txBody>
          <a:bodyPr/>
          <a:lstStyle/>
          <a:p>
            <a:r>
              <a:rPr lang="en-US" dirty="0"/>
              <a:t>Click icon to </a:t>
            </a:r>
            <a:r>
              <a:rPr lang="en-US"/>
              <a:t>add picture</a:t>
            </a:r>
            <a:endParaRPr lang="en-US" dirty="0"/>
          </a:p>
        </p:txBody>
      </p:sp>
      <p:sp>
        <p:nvSpPr>
          <p:cNvPr id="14" name="Footer">
            <a:extLst>
              <a:ext uri="{FF2B5EF4-FFF2-40B4-BE49-F238E27FC236}">
                <a16:creationId xmlns:a16="http://schemas.microsoft.com/office/drawing/2014/main" id="{1F7F3A0A-B6C1-4EEC-AB96-2823BAABF6D3}"/>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60580692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Bullet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000">
                <a:solidFill>
                  <a:srgbClr val="000000"/>
                </a:solidFill>
              </a:defRPr>
            </a:lvl1pPr>
            <a:lvl2pPr marL="685800" marR="0" indent="-228600" algn="l" defTabSz="914400" rtl="0" eaLnBrk="1" fontAlgn="base" latinLnBrk="0" hangingPunct="1">
              <a:lnSpc>
                <a:spcPct val="90000"/>
              </a:lnSpc>
              <a:spcBef>
                <a:spcPts val="500"/>
              </a:spcBef>
              <a:spcAft>
                <a:spcPct val="0"/>
              </a:spcAft>
              <a:buClr>
                <a:srgbClr val="FF6300"/>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a:t>
            </a:r>
          </a:p>
          <a:p>
            <a:pPr lvl="0"/>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a:t>
            </a:r>
          </a:p>
          <a:p>
            <a:pPr lvl="0"/>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a:t>
            </a:r>
          </a:p>
          <a:p>
            <a:pPr lvl="0"/>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a:t>
            </a:r>
          </a:p>
          <a:p>
            <a:pPr lvl="0"/>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a:t>
            </a:r>
          </a:p>
          <a:p>
            <a:pPr lvl="0"/>
            <a:r>
              <a:rPr lang="en-US" dirty="0" err="1"/>
              <a:t>Sed</a:t>
            </a:r>
            <a:r>
              <a:rPr lang="en-US" dirty="0"/>
              <a:t>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7" name="Footer">
            <a:extLst>
              <a:ext uri="{FF2B5EF4-FFF2-40B4-BE49-F238E27FC236}">
                <a16:creationId xmlns:a16="http://schemas.microsoft.com/office/drawing/2014/main" id="{CE4CA0EE-D5E1-440F-BC2D-69119081D20A}"/>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90581167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Number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457200" indent="-457200">
              <a:buClr>
                <a:srgbClr val="004A78"/>
              </a:buClr>
              <a:buFont typeface="+mj-lt"/>
              <a:buAutoNum type="arabicPeriod"/>
              <a:defRPr sz="2000">
                <a:solidFill>
                  <a:srgbClr val="000000"/>
                </a:solidFill>
              </a:defRPr>
            </a:lvl1pPr>
            <a:lvl2pPr marL="457200" marR="0" indent="0" algn="l" defTabSz="914400" rtl="0" eaLnBrk="1" fontAlgn="base" latinLnBrk="0" hangingPunct="1">
              <a:lnSpc>
                <a:spcPct val="90000"/>
              </a:lnSpc>
              <a:spcBef>
                <a:spcPts val="500"/>
              </a:spcBef>
              <a:spcAft>
                <a:spcPct val="0"/>
              </a:spcAft>
              <a:buClr>
                <a:srgbClr val="006298"/>
              </a:buClr>
              <a:buSzTx/>
              <a:buFont typeface="Arial" charset="0"/>
              <a:buNone/>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a:t>
            </a:r>
          </a:p>
          <a:p>
            <a:pPr lvl="0"/>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a:t>
            </a:r>
          </a:p>
          <a:p>
            <a:pPr lvl="0"/>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a:t>
            </a:r>
          </a:p>
          <a:p>
            <a:pPr lvl="0"/>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a:t>
            </a:r>
          </a:p>
          <a:p>
            <a:pPr lvl="0"/>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a:t>
            </a:r>
          </a:p>
          <a:p>
            <a:pPr lvl="0"/>
            <a:r>
              <a:rPr lang="en-US" dirty="0"/>
              <a:t>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73426471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and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000">
                <a:solidFill>
                  <a:srgbClr val="004A78"/>
                </a:solidFill>
              </a:defRPr>
            </a:lvl1pPr>
            <a:lvl2pPr marL="685800" marR="0" indent="-228600" algn="l" defTabSz="914400" rtl="0" eaLnBrk="1" fontAlgn="base" latinLnBrk="0" hangingPunct="1">
              <a:lnSpc>
                <a:spcPct val="90000"/>
              </a:lnSpc>
              <a:spcBef>
                <a:spcPts val="500"/>
              </a:spcBef>
              <a:spcAft>
                <a:spcPct val="0"/>
              </a:spcAft>
              <a:buClr>
                <a:srgbClr val="006298"/>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cNvSpPr txBox="1"/>
          <p:nvPr userDrawn="1"/>
        </p:nvSpPr>
        <p:spPr>
          <a:xfrm>
            <a:off x="3007866" y="6574183"/>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91517302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Table Placeholder 4"/>
          <p:cNvSpPr>
            <a:spLocks noGrp="1"/>
          </p:cNvSpPr>
          <p:nvPr>
            <p:ph type="tbl" sz="quarter" idx="10"/>
          </p:nvPr>
        </p:nvSpPr>
        <p:spPr>
          <a:xfrm>
            <a:off x="1895522" y="2019868"/>
            <a:ext cx="8128000" cy="3380095"/>
          </a:xfrm>
        </p:spPr>
        <p:txBody>
          <a:bodyPr/>
          <a:lstStyle/>
          <a:p>
            <a:r>
              <a:rPr lang="en-US" dirty="0"/>
              <a:t>Click icon to add table</a:t>
            </a:r>
          </a:p>
        </p:txBody>
      </p:sp>
      <p:sp>
        <p:nvSpPr>
          <p:cNvPr id="7" name="Footer">
            <a:extLst>
              <a:ext uri="{FF2B5EF4-FFF2-40B4-BE49-F238E27FC236}">
                <a16:creationId xmlns:a16="http://schemas.microsoft.com/office/drawing/2014/main" id="{E80F7FA6-7141-4BC3-A2CF-56ED6EFB0146}"/>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76403493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wo Sections with Images and Two 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5" y="1427368"/>
            <a:ext cx="5242697"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6" name="Picture Placeholder 5"/>
          <p:cNvSpPr>
            <a:spLocks noGrp="1"/>
          </p:cNvSpPr>
          <p:nvPr>
            <p:ph type="pic" sz="quarter" idx="10"/>
          </p:nvPr>
        </p:nvSpPr>
        <p:spPr>
          <a:xfrm>
            <a:off x="733117" y="1879341"/>
            <a:ext cx="5253155" cy="2925134"/>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928460"/>
            <a:ext cx="5253153"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11" name="Text Placeholder 5">
            <a:extLst>
              <a:ext uri="{FF2B5EF4-FFF2-40B4-BE49-F238E27FC236}">
                <a16:creationId xmlns:a16="http://schemas.microsoft.com/office/drawing/2014/main" id="{60F0504B-3865-4CC8-A076-812C6EF4B4E8}"/>
              </a:ext>
            </a:extLst>
          </p:cNvPr>
          <p:cNvSpPr>
            <a:spLocks noGrp="1"/>
          </p:cNvSpPr>
          <p:nvPr>
            <p:ph type="body" sz="quarter" idx="17" hasCustomPrompt="1"/>
          </p:nvPr>
        </p:nvSpPr>
        <p:spPr>
          <a:xfrm>
            <a:off x="6096001" y="1427368"/>
            <a:ext cx="5257800"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8" name="Picture Placeholder 5">
            <a:extLst>
              <a:ext uri="{FF2B5EF4-FFF2-40B4-BE49-F238E27FC236}">
                <a16:creationId xmlns:a16="http://schemas.microsoft.com/office/drawing/2014/main" id="{E17D136E-4F7D-46BF-AE52-D49824D479CD}"/>
              </a:ext>
            </a:extLst>
          </p:cNvPr>
          <p:cNvSpPr>
            <a:spLocks noGrp="1"/>
          </p:cNvSpPr>
          <p:nvPr>
            <p:ph type="pic" sz="quarter" idx="16"/>
          </p:nvPr>
        </p:nvSpPr>
        <p:spPr>
          <a:xfrm>
            <a:off x="6096001" y="1879341"/>
            <a:ext cx="5257799" cy="2925134"/>
          </a:xfrm>
        </p:spPr>
        <p:txBody>
          <a:bodyPr/>
          <a:lstStyle/>
          <a:p>
            <a:r>
              <a:rPr lang="en-US" dirty="0"/>
              <a:t>Click icon to </a:t>
            </a:r>
            <a:r>
              <a:rPr lang="en-US"/>
              <a:t>add picture</a:t>
            </a:r>
            <a:endParaRPr lang="en-US" dirty="0"/>
          </a:p>
        </p:txBody>
      </p:sp>
      <p:sp>
        <p:nvSpPr>
          <p:cNvPr id="12" name="Text Placeholder 9">
            <a:extLst>
              <a:ext uri="{FF2B5EF4-FFF2-40B4-BE49-F238E27FC236}">
                <a16:creationId xmlns:a16="http://schemas.microsoft.com/office/drawing/2014/main" id="{CC39118D-AF06-4D1E-A28A-244A65DAF08F}"/>
              </a:ext>
            </a:extLst>
          </p:cNvPr>
          <p:cNvSpPr>
            <a:spLocks noGrp="1"/>
          </p:cNvSpPr>
          <p:nvPr>
            <p:ph type="body" sz="quarter" idx="18" hasCustomPrompt="1"/>
          </p:nvPr>
        </p:nvSpPr>
        <p:spPr>
          <a:xfrm>
            <a:off x="6096000" y="4928459"/>
            <a:ext cx="5253153"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12901468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wo Sections with Two tables and 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5" y="1427368"/>
            <a:ext cx="5242697"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0" name="Text Placeholder 9"/>
          <p:cNvSpPr>
            <a:spLocks noGrp="1"/>
          </p:cNvSpPr>
          <p:nvPr>
            <p:ph type="body" sz="quarter" idx="11" hasCustomPrompt="1"/>
          </p:nvPr>
        </p:nvSpPr>
        <p:spPr>
          <a:xfrm>
            <a:off x="733119" y="3650514"/>
            <a:ext cx="5253153" cy="2130354"/>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11" name="Text Placeholder 5">
            <a:extLst>
              <a:ext uri="{FF2B5EF4-FFF2-40B4-BE49-F238E27FC236}">
                <a16:creationId xmlns:a16="http://schemas.microsoft.com/office/drawing/2014/main" id="{60F0504B-3865-4CC8-A076-812C6EF4B4E8}"/>
              </a:ext>
            </a:extLst>
          </p:cNvPr>
          <p:cNvSpPr>
            <a:spLocks noGrp="1"/>
          </p:cNvSpPr>
          <p:nvPr>
            <p:ph type="body" sz="quarter" idx="17" hasCustomPrompt="1"/>
          </p:nvPr>
        </p:nvSpPr>
        <p:spPr>
          <a:xfrm>
            <a:off x="6096001" y="1427368"/>
            <a:ext cx="5257800"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2" name="Text Placeholder 9">
            <a:extLst>
              <a:ext uri="{FF2B5EF4-FFF2-40B4-BE49-F238E27FC236}">
                <a16:creationId xmlns:a16="http://schemas.microsoft.com/office/drawing/2014/main" id="{CC39118D-AF06-4D1E-A28A-244A65DAF08F}"/>
              </a:ext>
            </a:extLst>
          </p:cNvPr>
          <p:cNvSpPr>
            <a:spLocks noGrp="1"/>
          </p:cNvSpPr>
          <p:nvPr>
            <p:ph type="body" sz="quarter" idx="18" hasCustomPrompt="1"/>
          </p:nvPr>
        </p:nvSpPr>
        <p:spPr>
          <a:xfrm>
            <a:off x="6096000" y="3650513"/>
            <a:ext cx="5253153" cy="2130354"/>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4" name="Table Placeholder 3">
            <a:extLst>
              <a:ext uri="{FF2B5EF4-FFF2-40B4-BE49-F238E27FC236}">
                <a16:creationId xmlns:a16="http://schemas.microsoft.com/office/drawing/2014/main" id="{7F1EBD22-5216-4DDB-B1B4-D58F01937246}"/>
              </a:ext>
            </a:extLst>
          </p:cNvPr>
          <p:cNvSpPr>
            <a:spLocks noGrp="1"/>
          </p:cNvSpPr>
          <p:nvPr>
            <p:ph type="tbl" sz="quarter" idx="19"/>
          </p:nvPr>
        </p:nvSpPr>
        <p:spPr>
          <a:xfrm>
            <a:off x="733425" y="1849438"/>
            <a:ext cx="5253038" cy="1722437"/>
          </a:xfrm>
        </p:spPr>
        <p:txBody>
          <a:bodyPr/>
          <a:lstStyle/>
          <a:p>
            <a:endParaRPr lang="en-US"/>
          </a:p>
        </p:txBody>
      </p:sp>
      <p:sp>
        <p:nvSpPr>
          <p:cNvPr id="13" name="Table Placeholder 3">
            <a:extLst>
              <a:ext uri="{FF2B5EF4-FFF2-40B4-BE49-F238E27FC236}">
                <a16:creationId xmlns:a16="http://schemas.microsoft.com/office/drawing/2014/main" id="{EC5574CB-EFD0-4E9E-8446-1B7A54F8B5A1}"/>
              </a:ext>
            </a:extLst>
          </p:cNvPr>
          <p:cNvSpPr>
            <a:spLocks noGrp="1"/>
          </p:cNvSpPr>
          <p:nvPr>
            <p:ph type="tbl" sz="quarter" idx="20"/>
          </p:nvPr>
        </p:nvSpPr>
        <p:spPr>
          <a:xfrm>
            <a:off x="6095777" y="1849438"/>
            <a:ext cx="5253038" cy="1722437"/>
          </a:xfrm>
        </p:spPr>
        <p:txBody>
          <a:bodyPr/>
          <a:lstStyle/>
          <a:p>
            <a:endParaRPr lang="en-US"/>
          </a:p>
        </p:txBody>
      </p:sp>
    </p:spTree>
    <p:extLst>
      <p:ext uri="{BB962C8B-B14F-4D97-AF65-F5344CB8AC3E}">
        <p14:creationId xmlns:p14="http://schemas.microsoft.com/office/powerpoint/2010/main" val="62687880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5" name="Content Placeholder 4"/>
          <p:cNvSpPr>
            <a:spLocks noGrp="1"/>
          </p:cNvSpPr>
          <p:nvPr>
            <p:ph sz="quarter" idx="13"/>
          </p:nvPr>
        </p:nvSpPr>
        <p:spPr>
          <a:xfrm>
            <a:off x="838688" y="1476104"/>
            <a:ext cx="10514624" cy="444137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p:txBody>
          <a:bodyPr/>
          <a:lstStyle/>
          <a:p>
            <a:fld id="{949EBC64-41CB-41B8-B6DF-9B1367312BD4}" type="slidenum">
              <a:rPr lang="en-US" smtClean="0"/>
              <a:t>‹#›</a:t>
            </a:fld>
            <a:endParaRPr lang="en-US"/>
          </a:p>
        </p:txBody>
      </p:sp>
      <p:sp>
        <p:nvSpPr>
          <p:cNvPr id="7" name="Rectangle 6">
            <a:extLst>
              <a:ext uri="{FF2B5EF4-FFF2-40B4-BE49-F238E27FC236}">
                <a16:creationId xmlns:a16="http://schemas.microsoft.com/office/drawing/2014/main" id="{832DC7FF-32F2-4F88-BCAA-5E9F3DC9E7F8}"/>
              </a:ext>
            </a:extLst>
          </p:cNvPr>
          <p:cNvSpPr>
            <a:spLocks noChangeArrowheads="1"/>
          </p:cNvSpPr>
          <p:nvPr userDrawn="1"/>
        </p:nvSpPr>
        <p:spPr bwMode="auto">
          <a:xfrm>
            <a:off x="838201" y="6448510"/>
            <a:ext cx="9442837" cy="335989"/>
          </a:xfrm>
          <a:prstGeom prst="rect">
            <a:avLst/>
          </a:prstGeom>
          <a:noFill/>
          <a:ln w="12700">
            <a:noFill/>
            <a:miter lim="800000"/>
            <a:headEnd/>
            <a:tailEnd/>
          </a:ln>
          <a:effectLst/>
        </p:spPr>
        <p:txBody>
          <a:bodyPr wrap="square" lIns="90264" tIns="44340" rIns="90264" bIns="44340">
            <a:spAutoFit/>
          </a:bodyPr>
          <a:lstStyle>
            <a:defPPr>
              <a:defRPr lang="en-US"/>
            </a:defPPr>
            <a:lvl1pPr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1pPr>
            <a:lvl2pPr marL="4572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2pPr>
            <a:lvl3pPr marL="9144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3pPr>
            <a:lvl4pPr marL="13716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4pPr>
            <a:lvl5pPr marL="18288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5pPr>
            <a:lvl6pPr marL="22860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6pPr>
            <a:lvl7pPr marL="27432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7pPr>
            <a:lvl8pPr marL="32004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8pPr>
            <a:lvl9pPr marL="36576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9pPr>
          </a:lstStyle>
          <a:p>
            <a:pPr algn="l">
              <a:defRPr/>
            </a:pPr>
            <a:r>
              <a:rPr lang="en-US" sz="798">
                <a:solidFill>
                  <a:srgbClr val="000000"/>
                </a:solidFill>
                <a:effectLst/>
                <a:latin typeface="+mj-lt"/>
                <a:cs typeface="Arial" panose="020B0604020202020204" pitchFamily="34" charset="0"/>
              </a:rPr>
              <a:t>© 2020  Cengage.  </a:t>
            </a:r>
            <a:r>
              <a:rPr lang="en-US" sz="798" dirty="0">
                <a:solidFill>
                  <a:srgbClr val="000000"/>
                </a:solidFill>
                <a:effectLst/>
                <a:latin typeface="+mj-lt"/>
                <a:cs typeface="Arial" panose="020B0604020202020204" pitchFamily="34" charset="0"/>
              </a:rPr>
              <a:t>May not be scanned, copied or duplicated, or posted to a publicly accessible website, in whole or in part, except for use as permitted</a:t>
            </a:r>
            <a:r>
              <a:rPr lang="en-US" sz="798" baseline="0" dirty="0">
                <a:solidFill>
                  <a:srgbClr val="000000"/>
                </a:solidFill>
                <a:effectLst/>
                <a:latin typeface="+mj-lt"/>
                <a:cs typeface="Arial" panose="020B0604020202020204" pitchFamily="34" charset="0"/>
              </a:rPr>
              <a:t> </a:t>
            </a:r>
            <a:r>
              <a:rPr lang="en-US" sz="798" dirty="0">
                <a:solidFill>
                  <a:srgbClr val="000000"/>
                </a:solidFill>
                <a:effectLst/>
                <a:latin typeface="+mj-lt"/>
                <a:cs typeface="Arial" panose="020B0604020202020204" pitchFamily="34" charset="0"/>
              </a:rPr>
              <a:t>in a license distributed with a certain product or service or otherwise on a password-protected website or</a:t>
            </a:r>
            <a:r>
              <a:rPr lang="en-US" sz="798" baseline="0" dirty="0">
                <a:solidFill>
                  <a:srgbClr val="000000"/>
                </a:solidFill>
                <a:effectLst/>
                <a:latin typeface="+mj-lt"/>
                <a:cs typeface="Arial" panose="020B0604020202020204" pitchFamily="34" charset="0"/>
              </a:rPr>
              <a:t> school-approved learning management system f</a:t>
            </a:r>
            <a:r>
              <a:rPr lang="en-US" sz="798" dirty="0">
                <a:solidFill>
                  <a:srgbClr val="000000"/>
                </a:solidFill>
                <a:effectLst/>
                <a:latin typeface="+mj-lt"/>
                <a:cs typeface="Arial" panose="020B0604020202020204" pitchFamily="34" charset="0"/>
              </a:rPr>
              <a:t>or classroom use.</a:t>
            </a:r>
          </a:p>
        </p:txBody>
      </p:sp>
    </p:spTree>
    <p:extLst>
      <p:ext uri="{BB962C8B-B14F-4D97-AF65-F5344CB8AC3E}">
        <p14:creationId xmlns:p14="http://schemas.microsoft.com/office/powerpoint/2010/main" val="209651950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Two Sections with Two Image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5" y="1608675"/>
            <a:ext cx="5242697"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6" name="Picture Placeholder 5"/>
          <p:cNvSpPr>
            <a:spLocks noGrp="1"/>
          </p:cNvSpPr>
          <p:nvPr>
            <p:ph type="pic" sz="quarter" idx="10"/>
          </p:nvPr>
        </p:nvSpPr>
        <p:spPr>
          <a:xfrm>
            <a:off x="733117" y="2060647"/>
            <a:ext cx="5253155" cy="3685883"/>
          </a:xfrm>
        </p:spPr>
        <p:txBody>
          <a:bodyPr/>
          <a:lstStyle/>
          <a:p>
            <a:r>
              <a:rPr lang="en-US" dirty="0"/>
              <a:t>Click icon to </a:t>
            </a:r>
            <a:r>
              <a:rPr lang="en-US"/>
              <a:t>add picture</a:t>
            </a:r>
            <a:endParaRPr lang="en-US" dirty="0"/>
          </a:p>
        </p:txBody>
      </p:sp>
      <p:sp>
        <p:nvSpPr>
          <p:cNvPr id="11" name="Text Placeholder 5">
            <a:extLst>
              <a:ext uri="{FF2B5EF4-FFF2-40B4-BE49-F238E27FC236}">
                <a16:creationId xmlns:a16="http://schemas.microsoft.com/office/drawing/2014/main" id="{60F0504B-3865-4CC8-A076-812C6EF4B4E8}"/>
              </a:ext>
            </a:extLst>
          </p:cNvPr>
          <p:cNvSpPr>
            <a:spLocks noGrp="1"/>
          </p:cNvSpPr>
          <p:nvPr>
            <p:ph type="body" sz="quarter" idx="17" hasCustomPrompt="1"/>
          </p:nvPr>
        </p:nvSpPr>
        <p:spPr>
          <a:xfrm>
            <a:off x="6096001" y="1608675"/>
            <a:ext cx="5257800"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8" name="Picture Placeholder 5">
            <a:extLst>
              <a:ext uri="{FF2B5EF4-FFF2-40B4-BE49-F238E27FC236}">
                <a16:creationId xmlns:a16="http://schemas.microsoft.com/office/drawing/2014/main" id="{E17D136E-4F7D-46BF-AE52-D49824D479CD}"/>
              </a:ext>
            </a:extLst>
          </p:cNvPr>
          <p:cNvSpPr>
            <a:spLocks noGrp="1"/>
          </p:cNvSpPr>
          <p:nvPr>
            <p:ph type="pic" sz="quarter" idx="16"/>
          </p:nvPr>
        </p:nvSpPr>
        <p:spPr>
          <a:xfrm>
            <a:off x="6096001" y="2060647"/>
            <a:ext cx="5257799" cy="3685883"/>
          </a:xfrm>
        </p:spPr>
        <p:txBody>
          <a:bodyPr/>
          <a:lstStyle/>
          <a:p>
            <a:r>
              <a:rPr lang="en-US" dirty="0"/>
              <a:t>Click icon to </a:t>
            </a:r>
            <a:r>
              <a:rPr lang="en-US"/>
              <a:t>add picture</a:t>
            </a:r>
            <a:endParaRPr lang="en-US" dirty="0"/>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2024 Cengage Group. All Rights Reserved.</a:t>
            </a:r>
          </a:p>
        </p:txBody>
      </p:sp>
    </p:spTree>
    <p:extLst>
      <p:ext uri="{BB962C8B-B14F-4D97-AF65-F5344CB8AC3E}">
        <p14:creationId xmlns:p14="http://schemas.microsoft.com/office/powerpoint/2010/main" val="5600999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image" Target="../media/image1.png"/><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672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p>
            <a:pPr lvl="0"/>
            <a:r>
              <a:rPr lang="en-US" altLang="en-US" dirty="0"/>
              <a:t>Click to edit Master title style</a:t>
            </a:r>
          </a:p>
        </p:txBody>
      </p:sp>
      <p:sp>
        <p:nvSpPr>
          <p:cNvPr id="1027" name="Text Placeholder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p>
            <a:pPr lvl="0"/>
            <a:r>
              <a:rPr lang="en-US" altLang="en-US" dirty="0"/>
              <a:t>Click to edit Master text styles</a:t>
            </a:r>
          </a:p>
        </p:txBody>
      </p:sp>
      <p:pic>
        <p:nvPicPr>
          <p:cNvPr id="7" name="Picture 6" descr="Cengage Logo"/>
          <p:cNvPicPr>
            <a:picLocks noChangeAspect="1"/>
          </p:cNvPicPr>
          <p:nvPr userDrawn="1"/>
        </p:nvPicPr>
        <p:blipFill>
          <a:blip r:embed="rId61">
            <a:extLst>
              <a:ext uri="{28A0092B-C50C-407E-A947-70E740481C1C}">
                <a14:useLocalDpi xmlns:a14="http://schemas.microsoft.com/office/drawing/2010/main" val="0"/>
              </a:ext>
            </a:extLst>
          </a:blip>
          <a:srcRect/>
          <a:stretch>
            <a:fillRect/>
          </a:stretch>
        </p:blipFill>
        <p:spPr bwMode="auto">
          <a:xfrm>
            <a:off x="476843" y="6356350"/>
            <a:ext cx="1579562"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ooter Placeholder 4"/>
          <p:cNvSpPr>
            <a:spLocks noGrp="1"/>
          </p:cNvSpPr>
          <p:nvPr>
            <p:ph type="ftr" sz="quarter" idx="3"/>
          </p:nvPr>
        </p:nvSpPr>
        <p:spPr>
          <a:xfrm>
            <a:off x="2736056" y="6176963"/>
            <a:ext cx="8999882" cy="672104"/>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tx2"/>
                </a:solidFill>
                <a:latin typeface="arial" charset="0"/>
              </a:defRPr>
            </a:lvl1pPr>
          </a:lstStyle>
          <a:p>
            <a:r>
              <a:rPr lang="en-US" dirty="0" err="1">
                <a:latin typeface="Arial" panose="020B0604020202020204" pitchFamily="34" charset="0"/>
                <a:cs typeface="Arial" panose="020B0604020202020204" pitchFamily="34" charset="0"/>
              </a:rPr>
              <a:t>Camm</a:t>
            </a:r>
            <a:r>
              <a:rPr lang="en-US" dirty="0">
                <a:latin typeface="Arial" panose="020B0604020202020204" pitchFamily="34" charset="0"/>
                <a:cs typeface="Arial" panose="020B0604020202020204" pitchFamily="34" charset="0"/>
              </a:rPr>
              <a:t>, Cochran, Fry, Ohlmann, Anderson, Sweeney, Williams, An Introduction to Management Science - Quantitative Approaches to Decision Making, 16th Edition. © 2025 Cengage Group. All Rights Reserved. May not be scanned, copied or duplicated, or posted to a publicly accessible website, in whole or in part.</a:t>
            </a:r>
          </a:p>
        </p:txBody>
      </p:sp>
    </p:spTree>
  </p:cSld>
  <p:clrMap bg1="lt1" tx1="dk1" bg2="lt2" tx2="dk2" accent1="accent1" accent2="accent2" accent3="accent3" accent4="accent4" accent5="accent5" accent6="accent6" hlink="hlink" folHlink="folHlink"/>
  <p:sldLayoutIdLst>
    <p:sldLayoutId id="2147483722" r:id="rId1"/>
    <p:sldLayoutId id="2147483714" r:id="rId2"/>
    <p:sldLayoutId id="2147483752" r:id="rId3"/>
    <p:sldLayoutId id="2147483766" r:id="rId4"/>
    <p:sldLayoutId id="2147483769" r:id="rId5"/>
    <p:sldLayoutId id="2147483768" r:id="rId6"/>
    <p:sldLayoutId id="2147483767" r:id="rId7"/>
    <p:sldLayoutId id="2147483718" r:id="rId8"/>
    <p:sldLayoutId id="2147483738" r:id="rId9"/>
    <p:sldLayoutId id="2147483715" r:id="rId10"/>
    <p:sldLayoutId id="2147483760" r:id="rId11"/>
    <p:sldLayoutId id="2147483761" r:id="rId12"/>
    <p:sldLayoutId id="2147483747" r:id="rId13"/>
    <p:sldLayoutId id="2147483744" r:id="rId14"/>
    <p:sldLayoutId id="2147483771" r:id="rId15"/>
    <p:sldLayoutId id="2147483737" r:id="rId16"/>
    <p:sldLayoutId id="2147483753" r:id="rId17"/>
    <p:sldLayoutId id="2147483762" r:id="rId18"/>
    <p:sldLayoutId id="2147483758" r:id="rId19"/>
    <p:sldLayoutId id="2147483759" r:id="rId20"/>
    <p:sldLayoutId id="2147483755" r:id="rId21"/>
    <p:sldLayoutId id="2147483772" r:id="rId22"/>
    <p:sldLayoutId id="2147483754" r:id="rId23"/>
    <p:sldLayoutId id="2147483765" r:id="rId24"/>
    <p:sldLayoutId id="2147483736" r:id="rId25"/>
    <p:sldLayoutId id="2147483748" r:id="rId26"/>
    <p:sldLayoutId id="2147483749" r:id="rId27"/>
    <p:sldLayoutId id="2147483716" r:id="rId28"/>
    <p:sldLayoutId id="2147483719" r:id="rId29"/>
    <p:sldLayoutId id="2147483726" r:id="rId30"/>
    <p:sldLayoutId id="2147483720" r:id="rId31"/>
    <p:sldLayoutId id="2147483743" r:id="rId32"/>
    <p:sldLayoutId id="2147483746" r:id="rId33"/>
    <p:sldLayoutId id="2147483764" r:id="rId34"/>
    <p:sldLayoutId id="2147483773" r:id="rId35"/>
    <p:sldLayoutId id="2147483735" r:id="rId36"/>
    <p:sldLayoutId id="2147483730" r:id="rId37"/>
    <p:sldLayoutId id="2147483733" r:id="rId38"/>
    <p:sldLayoutId id="2147483732" r:id="rId39"/>
    <p:sldLayoutId id="2147483757" r:id="rId40"/>
    <p:sldLayoutId id="2147483740" r:id="rId41"/>
    <p:sldLayoutId id="2147483742" r:id="rId42"/>
    <p:sldLayoutId id="2147483745" r:id="rId43"/>
    <p:sldLayoutId id="2147483750" r:id="rId44"/>
    <p:sldLayoutId id="2147483763" r:id="rId45"/>
    <p:sldLayoutId id="2147483725" r:id="rId46"/>
    <p:sldLayoutId id="2147483728" r:id="rId47"/>
    <p:sldLayoutId id="2147483731" r:id="rId48"/>
    <p:sldLayoutId id="2147483729" r:id="rId49"/>
    <p:sldLayoutId id="2147483734" r:id="rId50"/>
    <p:sldLayoutId id="2147483727" r:id="rId51"/>
    <p:sldLayoutId id="2147483723" r:id="rId52"/>
    <p:sldLayoutId id="2147483724" r:id="rId53"/>
    <p:sldLayoutId id="2147483713" r:id="rId54"/>
    <p:sldLayoutId id="2147483717" r:id="rId55"/>
    <p:sldLayoutId id="2147483751" r:id="rId56"/>
    <p:sldLayoutId id="2147483756" r:id="rId57"/>
    <p:sldLayoutId id="2147483770" r:id="rId58"/>
    <p:sldLayoutId id="2147483774" r:id="rId59"/>
  </p:sldLayoutIdLst>
  <p:hf sldNum="0" hdr="0" ftr="0" dt="0"/>
  <p:txStyles>
    <p:titleStyle>
      <a:lvl1pPr algn="ctr" rtl="0" eaLnBrk="1" fontAlgn="base" hangingPunct="1">
        <a:lnSpc>
          <a:spcPct val="90000"/>
        </a:lnSpc>
        <a:spcBef>
          <a:spcPct val="0"/>
        </a:spcBef>
        <a:spcAft>
          <a:spcPct val="0"/>
        </a:spcAft>
        <a:defRPr sz="3400" b="1" i="0" kern="1200" baseline="0">
          <a:solidFill>
            <a:srgbClr val="004A78"/>
          </a:solidFill>
          <a:latin typeface="Arial" charset="0"/>
          <a:ea typeface="Arial" charset="0"/>
          <a:cs typeface="Arial" charset="0"/>
        </a:defRPr>
      </a:lvl1pPr>
      <a:lvl2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2pPr>
      <a:lvl3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3pPr>
      <a:lvl4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4pPr>
      <a:lvl5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5pPr>
      <a:lvl6pPr marL="4572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6pPr>
      <a:lvl7pPr marL="9144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7pPr>
      <a:lvl8pPr marL="13716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8pPr>
      <a:lvl9pPr marL="18288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9pPr>
    </p:titleStyle>
    <p:bodyStyle>
      <a:lvl1pPr marL="0" indent="0" algn="l" rtl="0" eaLnBrk="1" fontAlgn="base" hangingPunct="1">
        <a:lnSpc>
          <a:spcPct val="90000"/>
        </a:lnSpc>
        <a:spcBef>
          <a:spcPts val="1000"/>
        </a:spcBef>
        <a:spcAft>
          <a:spcPct val="0"/>
        </a:spcAft>
        <a:buFont typeface="Arial" charset="0"/>
        <a:buNone/>
        <a:defRPr sz="2800" kern="1200" baseline="0">
          <a:solidFill>
            <a:srgbClr val="000000"/>
          </a:solidFill>
          <a:latin typeface="Arial" charset="0"/>
          <a:ea typeface="Arial" charset="0"/>
          <a:cs typeface="Arial" charset="0"/>
        </a:defRPr>
      </a:lvl1pPr>
      <a:lvl2pPr marL="685800" indent="-228600" algn="l" rtl="0" eaLnBrk="1" fontAlgn="base" hangingPunct="1">
        <a:lnSpc>
          <a:spcPct val="90000"/>
        </a:lnSpc>
        <a:spcBef>
          <a:spcPts val="500"/>
        </a:spcBef>
        <a:spcAft>
          <a:spcPct val="0"/>
        </a:spcAft>
        <a:buFont typeface="Arial" charset="0"/>
        <a:buChar char="•"/>
        <a:defRPr sz="2400" kern="1200" baseline="0">
          <a:solidFill>
            <a:srgbClr val="004A78"/>
          </a:solidFill>
          <a:latin typeface="Arial" charset="0"/>
          <a:ea typeface="Arial" charset="0"/>
          <a:cs typeface="Arial" charset="0"/>
        </a:defRPr>
      </a:lvl2pPr>
      <a:lvl3pPr marL="1143000" indent="-228600" algn="l" rtl="0" eaLnBrk="1" fontAlgn="base" hangingPunct="1">
        <a:lnSpc>
          <a:spcPct val="90000"/>
        </a:lnSpc>
        <a:spcBef>
          <a:spcPts val="500"/>
        </a:spcBef>
        <a:spcAft>
          <a:spcPct val="0"/>
        </a:spcAft>
        <a:buFont typeface="Arial" charset="0"/>
        <a:buChar char="•"/>
        <a:defRPr sz="2000" kern="1200" baseline="0">
          <a:solidFill>
            <a:srgbClr val="004A78"/>
          </a:solidFill>
          <a:latin typeface="Arial" charset="0"/>
          <a:ea typeface="Arial" charset="0"/>
          <a:cs typeface="Arial" charset="0"/>
        </a:defRPr>
      </a:lvl3pPr>
      <a:lvl4pPr marL="1600200" indent="-228600" algn="l" rtl="0" eaLnBrk="1" fontAlgn="base" hangingPunct="1">
        <a:lnSpc>
          <a:spcPct val="90000"/>
        </a:lnSpc>
        <a:spcBef>
          <a:spcPts val="500"/>
        </a:spcBef>
        <a:spcAft>
          <a:spcPct val="0"/>
        </a:spcAft>
        <a:buFont typeface="Arial" charset="0"/>
        <a:buChar char="•"/>
        <a:defRPr kern="1200" baseline="0">
          <a:solidFill>
            <a:srgbClr val="004A78"/>
          </a:solidFill>
          <a:latin typeface="Arial" charset="0"/>
          <a:ea typeface="Arial" charset="0"/>
          <a:cs typeface="Arial" charset="0"/>
        </a:defRPr>
      </a:lvl4pPr>
      <a:lvl5pPr marL="2057400" indent="-228600" algn="l" rtl="0" eaLnBrk="1" fontAlgn="base" hangingPunct="1">
        <a:lnSpc>
          <a:spcPct val="90000"/>
        </a:lnSpc>
        <a:spcBef>
          <a:spcPts val="500"/>
        </a:spcBef>
        <a:spcAft>
          <a:spcPct val="0"/>
        </a:spcAft>
        <a:buFont typeface="Arial" charset="0"/>
        <a:buChar char="•"/>
        <a:defRPr kern="1200" baseline="0">
          <a:solidFill>
            <a:srgbClr val="004A78"/>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0.png"/><Relationship Id="rId1" Type="http://schemas.openxmlformats.org/officeDocument/2006/relationships/slideLayout" Target="../slideLayouts/slideLayout21.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1.xml"/><Relationship Id="rId5" Type="http://schemas.openxmlformats.org/officeDocument/2006/relationships/image" Target="../media/image14.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7.xml"/><Relationship Id="rId1" Type="http://schemas.openxmlformats.org/officeDocument/2006/relationships/slideLayout" Target="../slideLayouts/slideLayout2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0.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30.xml"/></Relationships>
</file>

<file path=ppt/slides/_rels/slide3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6.xml"/><Relationship Id="rId1" Type="http://schemas.openxmlformats.org/officeDocument/2006/relationships/slideLayout" Target="../slideLayouts/slideLayout37.xml"/></Relationships>
</file>

<file path=ppt/slides/_rels/slide3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39.xml"/></Relationships>
</file>

<file path=ppt/slides/_rels/slide3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7.xml"/><Relationship Id="rId1" Type="http://schemas.openxmlformats.org/officeDocument/2006/relationships/slideLayout" Target="../slideLayouts/slideLayout39.xml"/><Relationship Id="rId4" Type="http://schemas.openxmlformats.org/officeDocument/2006/relationships/image" Target="../media/image32.png"/></Relationships>
</file>

<file path=ppt/slides/_rels/slide3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8.xml"/><Relationship Id="rId1" Type="http://schemas.openxmlformats.org/officeDocument/2006/relationships/slideLayout" Target="../slideLayouts/slideLayout37.xml"/></Relationships>
</file>

<file path=ppt/slides/_rels/slide4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9.xml"/><Relationship Id="rId1" Type="http://schemas.openxmlformats.org/officeDocument/2006/relationships/slideLayout" Target="../slideLayouts/slideLayout37.xml"/></Relationships>
</file>

<file path=ppt/slides/_rels/slide4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59.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2.xml"/></Relationships>
</file>

<file path=ppt/slides/_rels/slide4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3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D649F133-46CE-6558-887C-0B9F8982419F}"/>
              </a:ext>
            </a:extLst>
          </p:cNvPr>
          <p:cNvSpPr>
            <a:spLocks noGrp="1"/>
          </p:cNvSpPr>
          <p:nvPr>
            <p:ph type="title"/>
          </p:nvPr>
        </p:nvSpPr>
        <p:spPr>
          <a:xfrm>
            <a:off x="838200" y="365125"/>
            <a:ext cx="10515600" cy="672105"/>
          </a:xfrm>
        </p:spPr>
        <p:txBody>
          <a:bodyPr/>
          <a:lstStyle/>
          <a:p>
            <a:endParaRPr lang="en-US"/>
          </a:p>
        </p:txBody>
      </p:sp>
      <p:sp>
        <p:nvSpPr>
          <p:cNvPr id="10" name="Text Placeholder 2">
            <a:extLst>
              <a:ext uri="{FF2B5EF4-FFF2-40B4-BE49-F238E27FC236}">
                <a16:creationId xmlns:a16="http://schemas.microsoft.com/office/drawing/2014/main" id="{86F1679C-5607-1299-1D8A-88070DBD33E9}"/>
              </a:ext>
            </a:extLst>
          </p:cNvPr>
          <p:cNvSpPr>
            <a:spLocks noGrp="1"/>
          </p:cNvSpPr>
          <p:nvPr>
            <p:ph type="body" sz="quarter" idx="15"/>
          </p:nvPr>
        </p:nvSpPr>
        <p:spPr>
          <a:xfrm>
            <a:off x="743574" y="1717410"/>
            <a:ext cx="10711543" cy="348047"/>
          </a:xfrm>
        </p:spPr>
        <p:txBody>
          <a:bodyPr/>
          <a:lstStyle/>
          <a:p>
            <a:endParaRPr lang="en-US"/>
          </a:p>
        </p:txBody>
      </p:sp>
      <p:pic>
        <p:nvPicPr>
          <p:cNvPr id="4" name="Picture 3">
            <a:extLst>
              <a:ext uri="{FF2B5EF4-FFF2-40B4-BE49-F238E27FC236}">
                <a16:creationId xmlns:a16="http://schemas.microsoft.com/office/drawing/2014/main" id="{79B2A8E6-D556-319E-8221-725CB3AFB7EC}"/>
              </a:ext>
            </a:extLst>
          </p:cNvPr>
          <p:cNvPicPr>
            <a:picLocks noChangeAspect="1"/>
          </p:cNvPicPr>
          <p:nvPr/>
        </p:nvPicPr>
        <p:blipFill>
          <a:blip r:embed="rId3"/>
          <a:stretch>
            <a:fillRect/>
          </a:stretch>
        </p:blipFill>
        <p:spPr>
          <a:xfrm>
            <a:off x="-1" y="-1"/>
            <a:ext cx="12192001" cy="6858001"/>
          </a:xfrm>
          <a:prstGeom prst="rect">
            <a:avLst/>
          </a:prstGeom>
        </p:spPr>
      </p:pic>
    </p:spTree>
    <p:extLst>
      <p:ext uri="{BB962C8B-B14F-4D97-AF65-F5344CB8AC3E}">
        <p14:creationId xmlns:p14="http://schemas.microsoft.com/office/powerpoint/2010/main" val="16850893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A01ED-EFA0-4AED-AD41-B1BC5043F1A7}"/>
              </a:ext>
            </a:extLst>
          </p:cNvPr>
          <p:cNvSpPr>
            <a:spLocks noGrp="1"/>
          </p:cNvSpPr>
          <p:nvPr>
            <p:ph type="title"/>
          </p:nvPr>
        </p:nvSpPr>
        <p:spPr/>
        <p:txBody>
          <a:bodyPr/>
          <a:lstStyle/>
          <a:p>
            <a:r>
              <a:rPr lang="en-US" dirty="0"/>
              <a:t>Chapter Contents</a:t>
            </a:r>
          </a:p>
        </p:txBody>
      </p:sp>
      <p:sp>
        <p:nvSpPr>
          <p:cNvPr id="4" name="Text Placeholder 3">
            <a:extLst>
              <a:ext uri="{FF2B5EF4-FFF2-40B4-BE49-F238E27FC236}">
                <a16:creationId xmlns:a16="http://schemas.microsoft.com/office/drawing/2014/main" id="{C9A0ABD4-C052-4227-B2EE-3395C907212B}"/>
              </a:ext>
            </a:extLst>
          </p:cNvPr>
          <p:cNvSpPr>
            <a:spLocks noGrp="1"/>
          </p:cNvSpPr>
          <p:nvPr>
            <p:ph type="body" sz="quarter" idx="15"/>
          </p:nvPr>
        </p:nvSpPr>
        <p:spPr>
          <a:xfrm>
            <a:off x="740228" y="1442544"/>
            <a:ext cx="10711543" cy="3744311"/>
          </a:xfrm>
        </p:spPr>
        <p:txBody>
          <a:bodyPr/>
          <a:lstStyle/>
          <a:p>
            <a:pPr marL="1371600" indent="-914400"/>
            <a:r>
              <a:rPr lang="en-US" sz="2000" dirty="0"/>
              <a:t>2.1	Summarizing Data for a Categorical Variable</a:t>
            </a:r>
          </a:p>
          <a:p>
            <a:pPr marL="1371600" indent="-914400"/>
            <a:r>
              <a:rPr lang="en-US" sz="2000" dirty="0"/>
              <a:t>2.2	Summarizing Data for a Quantitative Variable</a:t>
            </a:r>
          </a:p>
          <a:p>
            <a:pPr marL="1371600" indent="-914400"/>
            <a:r>
              <a:rPr lang="en-US" sz="2000" dirty="0"/>
              <a:t>2.3	Summarizing Data for Two Variables Using Tables</a:t>
            </a:r>
          </a:p>
          <a:p>
            <a:pPr marL="1371600" indent="-914400"/>
            <a:r>
              <a:rPr lang="en-US" sz="2000" dirty="0"/>
              <a:t>2.4	Summarizing Data for Two Variables Using Graphical Displays</a:t>
            </a:r>
          </a:p>
          <a:p>
            <a:pPr marL="1371600" indent="-914400"/>
            <a:r>
              <a:rPr lang="en-US" sz="2000" dirty="0"/>
              <a:t>2.5	Visualizing Geospatial Data</a:t>
            </a:r>
          </a:p>
          <a:p>
            <a:pPr marL="1371600" indent="-914400"/>
            <a:r>
              <a:rPr lang="en-US" sz="2000" dirty="0"/>
              <a:t>2.6	Data Visualization: Best Practices in Creating Effective Graphical Displays</a:t>
            </a:r>
          </a:p>
          <a:p>
            <a:pPr marL="1371600" indent="-914400"/>
            <a:r>
              <a:rPr lang="en-US" sz="2000" dirty="0"/>
              <a:t>	Summary</a:t>
            </a:r>
          </a:p>
        </p:txBody>
      </p:sp>
    </p:spTree>
    <p:extLst>
      <p:ext uri="{BB962C8B-B14F-4D97-AF65-F5344CB8AC3E}">
        <p14:creationId xmlns:p14="http://schemas.microsoft.com/office/powerpoint/2010/main" val="33238418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Chapter Objectives (1 of 2)</a:t>
            </a:r>
          </a:p>
        </p:txBody>
      </p:sp>
      <p:sp>
        <p:nvSpPr>
          <p:cNvPr id="2" name="Text Placeholder 1"/>
          <p:cNvSpPr>
            <a:spLocks noGrp="1"/>
          </p:cNvSpPr>
          <p:nvPr>
            <p:ph type="body" sz="quarter" idx="15"/>
          </p:nvPr>
        </p:nvSpPr>
        <p:spPr>
          <a:xfrm>
            <a:off x="743576" y="1354680"/>
            <a:ext cx="10610224" cy="4297254"/>
          </a:xfrm>
        </p:spPr>
        <p:txBody>
          <a:bodyPr/>
          <a:lstStyle/>
          <a:p>
            <a:pPr>
              <a:spcBef>
                <a:spcPts val="1200"/>
              </a:spcBef>
            </a:pPr>
            <a:r>
              <a:rPr lang="en-US" sz="2000" dirty="0">
                <a:latin typeface="Arial" panose="020B0604020202020204" pitchFamily="34" charset="0"/>
                <a:cs typeface="Arial" panose="020B0604020202020204" pitchFamily="34" charset="0"/>
              </a:rPr>
              <a:t>After completing this chapter, you will be able to:</a:t>
            </a:r>
          </a:p>
          <a:p>
            <a:pPr marL="1828800" lvl="1" indent="-1371600">
              <a:spcBef>
                <a:spcPts val="1200"/>
              </a:spcBef>
              <a:buNone/>
            </a:pPr>
            <a:r>
              <a:rPr lang="en-US" sz="2000" dirty="0">
                <a:latin typeface="Arial" panose="020B0604020202020204" pitchFamily="34" charset="0"/>
                <a:cs typeface="Arial" panose="020B0604020202020204" pitchFamily="34" charset="0"/>
              </a:rPr>
              <a:t>LO 2-1	Construct and interpret frequency, relative frequency, and percent frequency distributions for categorical data.</a:t>
            </a:r>
          </a:p>
          <a:p>
            <a:pPr marL="1828800" lvl="1" indent="-1371600">
              <a:spcBef>
                <a:spcPts val="1200"/>
              </a:spcBef>
              <a:buNone/>
            </a:pPr>
            <a:r>
              <a:rPr lang="en-US" sz="2000" dirty="0">
                <a:latin typeface="Arial" panose="020B0604020202020204" pitchFamily="34" charset="0"/>
                <a:cs typeface="Arial" panose="020B0604020202020204" pitchFamily="34" charset="0"/>
              </a:rPr>
              <a:t>LO 2-2	Construct and interpret bar graphs and pie charts for categorical data.</a:t>
            </a:r>
          </a:p>
          <a:p>
            <a:pPr marL="1828800" lvl="1" indent="-1371600">
              <a:spcBef>
                <a:spcPts val="1200"/>
              </a:spcBef>
              <a:buNone/>
            </a:pPr>
            <a:r>
              <a:rPr lang="en-US" sz="2000" dirty="0">
                <a:latin typeface="Arial" panose="020B0604020202020204" pitchFamily="34" charset="0"/>
                <a:cs typeface="Arial" panose="020B0604020202020204" pitchFamily="34" charset="0"/>
              </a:rPr>
              <a:t>LO 2-3	Construct and interpret frequency, relative frequency, and percent frequency distributions for quantitative data.</a:t>
            </a:r>
          </a:p>
          <a:p>
            <a:pPr marL="1828800" lvl="1" indent="-1371600">
              <a:spcBef>
                <a:spcPts val="1200"/>
              </a:spcBef>
              <a:buNone/>
            </a:pPr>
            <a:r>
              <a:rPr lang="en-US" sz="2000" dirty="0">
                <a:latin typeface="Arial" panose="020B0604020202020204" pitchFamily="34" charset="0"/>
                <a:cs typeface="Arial" panose="020B0604020202020204" pitchFamily="34" charset="0"/>
              </a:rPr>
              <a:t>LO 2-4	Construct and interpret cumulative frequency, cumulative relative frequency, and cumulative percent distributions for quantitative data.</a:t>
            </a:r>
          </a:p>
          <a:p>
            <a:pPr marL="1828800" lvl="1" indent="-1371600">
              <a:spcBef>
                <a:spcPts val="1200"/>
              </a:spcBef>
              <a:buNone/>
            </a:pPr>
            <a:r>
              <a:rPr lang="en-US" sz="2000" dirty="0">
                <a:latin typeface="Arial" panose="020B0604020202020204" pitchFamily="34" charset="0"/>
                <a:cs typeface="Arial" panose="020B0604020202020204" pitchFamily="34" charset="0"/>
              </a:rPr>
              <a:t>LO 2-5	Construct and interpret dot plots, histograms, and stem-and-leaf displays for quantitative data.</a:t>
            </a:r>
          </a:p>
          <a:p>
            <a:pPr marL="1828800" lvl="1" indent="-1371600">
              <a:spcBef>
                <a:spcPts val="1200"/>
              </a:spcBef>
              <a:buNone/>
            </a:pPr>
            <a:r>
              <a:rPr lang="en-US" sz="2000" dirty="0">
                <a:latin typeface="Arial" panose="020B0604020202020204" pitchFamily="34" charset="0"/>
                <a:cs typeface="Arial" panose="020B0604020202020204" pitchFamily="34" charset="0"/>
              </a:rPr>
              <a:t>LO 2-6	Interpret the shape of a distribution of data and identify positive skewness, negative skewness, and symmetric distributions.  </a:t>
            </a:r>
          </a:p>
        </p:txBody>
      </p:sp>
    </p:spTree>
    <p:extLst>
      <p:ext uri="{BB962C8B-B14F-4D97-AF65-F5344CB8AC3E}">
        <p14:creationId xmlns:p14="http://schemas.microsoft.com/office/powerpoint/2010/main" val="1699147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Chapter Objectives (2 of 2)</a:t>
            </a:r>
          </a:p>
        </p:txBody>
      </p:sp>
      <p:sp>
        <p:nvSpPr>
          <p:cNvPr id="2" name="Text Placeholder 1"/>
          <p:cNvSpPr>
            <a:spLocks noGrp="1"/>
          </p:cNvSpPr>
          <p:nvPr>
            <p:ph type="body" sz="quarter" idx="15"/>
          </p:nvPr>
        </p:nvSpPr>
        <p:spPr>
          <a:xfrm>
            <a:off x="743576" y="1356299"/>
            <a:ext cx="10610224" cy="3593592"/>
          </a:xfrm>
        </p:spPr>
        <p:txBody>
          <a:bodyPr/>
          <a:lstStyle/>
          <a:p>
            <a:pPr>
              <a:spcBef>
                <a:spcPts val="1200"/>
              </a:spcBef>
            </a:pPr>
            <a:endParaRPr lang="en-US" sz="2000" dirty="0">
              <a:latin typeface="Arial" panose="020B0604020202020204" pitchFamily="34" charset="0"/>
              <a:cs typeface="Arial" panose="020B0604020202020204" pitchFamily="34" charset="0"/>
            </a:endParaRPr>
          </a:p>
          <a:p>
            <a:pPr marL="1828800" lvl="1" indent="-1371600">
              <a:spcBef>
                <a:spcPts val="1200"/>
              </a:spcBef>
              <a:buNone/>
            </a:pPr>
            <a:r>
              <a:rPr lang="en-US" sz="2000" dirty="0">
                <a:latin typeface="Arial" panose="020B0604020202020204" pitchFamily="34" charset="0"/>
                <a:cs typeface="Arial" panose="020B0604020202020204" pitchFamily="34" charset="0"/>
              </a:rPr>
              <a:t>LO 2-7	Construct and interpret crosstabulations to summarize data for two variables.  </a:t>
            </a:r>
          </a:p>
          <a:p>
            <a:pPr marL="1828800" lvl="1" indent="-1371600">
              <a:spcBef>
                <a:spcPts val="1200"/>
              </a:spcBef>
              <a:buNone/>
            </a:pPr>
            <a:r>
              <a:rPr lang="en-US" sz="2000" dirty="0">
                <a:latin typeface="Arial" panose="020B0604020202020204" pitchFamily="34" charset="0"/>
                <a:cs typeface="Arial" panose="020B0604020202020204" pitchFamily="34" charset="0"/>
              </a:rPr>
              <a:t>LO 2-8	Construct and interpret a scatter diagram for two quantitative variables.   </a:t>
            </a:r>
          </a:p>
          <a:p>
            <a:pPr marL="1828800" lvl="1" indent="-1371600">
              <a:spcBef>
                <a:spcPts val="1200"/>
              </a:spcBef>
              <a:buNone/>
            </a:pPr>
            <a:r>
              <a:rPr lang="en-US" sz="2000" dirty="0">
                <a:latin typeface="Arial" panose="020B0604020202020204" pitchFamily="34" charset="0"/>
                <a:cs typeface="Arial" panose="020B0604020202020204" pitchFamily="34" charset="0"/>
              </a:rPr>
              <a:t>LO 2-9	Identify and explain Simpson’s paradox from a crosstabulation.</a:t>
            </a:r>
          </a:p>
          <a:p>
            <a:pPr marL="1828800" lvl="1" indent="-1371600">
              <a:spcBef>
                <a:spcPts val="1200"/>
              </a:spcBef>
              <a:buNone/>
            </a:pPr>
            <a:r>
              <a:rPr lang="en-US" sz="2000" dirty="0">
                <a:latin typeface="Arial" panose="020B0604020202020204" pitchFamily="34" charset="0"/>
                <a:cs typeface="Arial" panose="020B0604020202020204" pitchFamily="34" charset="0"/>
              </a:rPr>
              <a:t>LO 2-10	Construct and interpret side-by-side and stacked bar charts.</a:t>
            </a:r>
          </a:p>
          <a:p>
            <a:pPr marL="1828800" lvl="1" indent="-1371600">
              <a:spcBef>
                <a:spcPts val="1200"/>
              </a:spcBef>
              <a:buNone/>
            </a:pPr>
            <a:r>
              <a:rPr lang="en-US" sz="2000" dirty="0">
                <a:latin typeface="Arial" panose="020B0604020202020204" pitchFamily="34" charset="0"/>
                <a:cs typeface="Arial" panose="020B0604020202020204" pitchFamily="34" charset="0"/>
              </a:rPr>
              <a:t>LO 2-11	Create and interpret choropleth maps and cartograms for applications to geospatial data.</a:t>
            </a:r>
          </a:p>
          <a:p>
            <a:pPr marL="1828800" lvl="1" indent="-1371600">
              <a:spcBef>
                <a:spcPts val="1200"/>
              </a:spcBef>
              <a:buNone/>
            </a:pPr>
            <a:r>
              <a:rPr lang="en-US" sz="2000" dirty="0">
                <a:latin typeface="Arial" panose="020B0604020202020204" pitchFamily="34" charset="0"/>
                <a:cs typeface="Arial" panose="020B0604020202020204" pitchFamily="34" charset="0"/>
              </a:rPr>
              <a:t>LO 2-12	Apply concepts of data-ink ratio and decluttering to improve table and chart designs.</a:t>
            </a:r>
          </a:p>
        </p:txBody>
      </p:sp>
    </p:spTree>
    <p:extLst>
      <p:ext uri="{BB962C8B-B14F-4D97-AF65-F5344CB8AC3E}">
        <p14:creationId xmlns:p14="http://schemas.microsoft.com/office/powerpoint/2010/main" val="17613850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p:txBody>
          <a:bodyPr/>
          <a:lstStyle/>
          <a:p>
            <a:r>
              <a:rPr lang="en-US" dirty="0"/>
              <a:t>Introduction</a:t>
            </a:r>
          </a:p>
        </p:txBody>
      </p:sp>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743576" y="1143000"/>
            <a:ext cx="10711543" cy="4753306"/>
          </a:xfrm>
        </p:spPr>
        <p:txBody>
          <a:bodyPr/>
          <a:lstStyle/>
          <a:p>
            <a:pPr>
              <a:lnSpc>
                <a:spcPct val="100000"/>
              </a:lnSpc>
            </a:pPr>
            <a:r>
              <a:rPr lang="en-US" sz="2000" dirty="0"/>
              <a:t>This chapter introduces tabular and graphical displays for summarizing both categorical and quantitative data. </a:t>
            </a:r>
          </a:p>
          <a:p>
            <a:pPr>
              <a:lnSpc>
                <a:spcPct val="100000"/>
              </a:lnSpc>
            </a:pPr>
            <a:r>
              <a:rPr lang="en-US" sz="2000" dirty="0"/>
              <a:t>We first discuss tabular and graphical displays to summarize the data for a single variable. </a:t>
            </a:r>
          </a:p>
          <a:p>
            <a:pPr>
              <a:lnSpc>
                <a:spcPct val="100000"/>
              </a:lnSpc>
            </a:pPr>
            <a:r>
              <a:rPr lang="en-US" sz="2000" dirty="0"/>
              <a:t>This is followed by a discussion of the use of tabular and graphical displays to summarize the data for two variables to reveal the relationship between the two variables.</a:t>
            </a:r>
          </a:p>
          <a:p>
            <a:pPr>
              <a:lnSpc>
                <a:spcPct val="100000"/>
              </a:lnSpc>
            </a:pPr>
            <a:r>
              <a:rPr lang="en-US" sz="2000" dirty="0"/>
              <a:t>We also introduce several specialized graphical displays used for geospatial data to create maps based on data.</a:t>
            </a:r>
          </a:p>
          <a:p>
            <a:pPr>
              <a:lnSpc>
                <a:spcPct val="100000"/>
              </a:lnSpc>
            </a:pPr>
            <a:r>
              <a:rPr lang="en-US" sz="2000" dirty="0"/>
              <a:t>Data visualization is a term often used to describe graphical displays to summarize and present information about a data set. </a:t>
            </a:r>
          </a:p>
          <a:p>
            <a:pPr>
              <a:lnSpc>
                <a:spcPct val="100000"/>
              </a:lnSpc>
            </a:pPr>
            <a:r>
              <a:rPr lang="en-US" sz="2000" dirty="0"/>
              <a:t>The last section of this chapter introduces data visualization and provides guidelines for creating effective graphical displays.</a:t>
            </a:r>
          </a:p>
          <a:p>
            <a:pPr>
              <a:lnSpc>
                <a:spcPct val="100000"/>
              </a:lnSpc>
            </a:pPr>
            <a:r>
              <a:rPr lang="en-US" sz="2000" dirty="0"/>
              <a:t>Statistical software packages provide extensive capabilities for summarizing data and preparing visual presentations.</a:t>
            </a:r>
          </a:p>
        </p:txBody>
      </p:sp>
    </p:spTree>
    <p:extLst>
      <p:ext uri="{BB962C8B-B14F-4D97-AF65-F5344CB8AC3E}">
        <p14:creationId xmlns:p14="http://schemas.microsoft.com/office/powerpoint/2010/main" val="25758154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2F1851-52D5-03F3-7981-83429886F204}"/>
              </a:ext>
            </a:extLst>
          </p:cNvPr>
          <p:cNvSpPr>
            <a:spLocks noGrp="1"/>
          </p:cNvSpPr>
          <p:nvPr>
            <p:ph type="title"/>
          </p:nvPr>
        </p:nvSpPr>
        <p:spPr/>
        <p:txBody>
          <a:bodyPr/>
          <a:lstStyle/>
          <a:p>
            <a:r>
              <a:rPr lang="en-US" dirty="0">
                <a:solidFill>
                  <a:srgbClr val="D14B1E"/>
                </a:solidFill>
              </a:rPr>
              <a:t>2.1 Summarizing Data for a Categorical Variable</a:t>
            </a:r>
          </a:p>
        </p:txBody>
      </p:sp>
      <p:sp>
        <p:nvSpPr>
          <p:cNvPr id="3" name="Text Placeholder 2">
            <a:extLst>
              <a:ext uri="{FF2B5EF4-FFF2-40B4-BE49-F238E27FC236}">
                <a16:creationId xmlns:a16="http://schemas.microsoft.com/office/drawing/2014/main" id="{E2F8492D-AD9D-EE5B-D41A-129A2A09ACBF}"/>
              </a:ext>
            </a:extLst>
          </p:cNvPr>
          <p:cNvSpPr>
            <a:spLocks noGrp="1"/>
          </p:cNvSpPr>
          <p:nvPr>
            <p:ph type="body" sz="quarter" idx="15"/>
          </p:nvPr>
        </p:nvSpPr>
        <p:spPr>
          <a:xfrm>
            <a:off x="743577" y="1580707"/>
            <a:ext cx="5740350" cy="4253024"/>
          </a:xfrm>
        </p:spPr>
        <p:txBody>
          <a:bodyPr/>
          <a:lstStyle/>
          <a:p>
            <a:pPr>
              <a:lnSpc>
                <a:spcPct val="100000"/>
              </a:lnSpc>
              <a:spcBef>
                <a:spcPts val="600"/>
              </a:spcBef>
            </a:pPr>
            <a:r>
              <a:rPr lang="en-US" sz="2000" dirty="0"/>
              <a:t>A </a:t>
            </a:r>
            <a:r>
              <a:rPr lang="en-US" sz="2000" b="1" dirty="0"/>
              <a:t>frequency distribution </a:t>
            </a:r>
            <a:r>
              <a:rPr lang="en-US" sz="2000" dirty="0"/>
              <a:t>is a tabular summary of data showing the number (frequency) of observations in each of several non-overlapping categories or classes.</a:t>
            </a:r>
          </a:p>
          <a:p>
            <a:pPr>
              <a:lnSpc>
                <a:spcPct val="100000"/>
              </a:lnSpc>
              <a:spcBef>
                <a:spcPts val="600"/>
              </a:spcBef>
            </a:pPr>
            <a:r>
              <a:rPr lang="en-US" sz="2000" b="1" dirty="0"/>
              <a:t>Example</a:t>
            </a:r>
            <a:r>
              <a:rPr lang="en-US" sz="2000" dirty="0"/>
              <a:t>	</a:t>
            </a:r>
            <a:r>
              <a:rPr lang="en-US" sz="2000" dirty="0" err="1"/>
              <a:t>DATAfile</a:t>
            </a:r>
            <a:r>
              <a:rPr lang="en-US" sz="2000" dirty="0"/>
              <a:t>: </a:t>
            </a:r>
            <a:r>
              <a:rPr lang="en-US" sz="2000" i="1" dirty="0" err="1"/>
              <a:t>softdrink</a:t>
            </a:r>
            <a:endParaRPr lang="en-US" sz="2000" i="1" dirty="0"/>
          </a:p>
          <a:p>
            <a:pPr>
              <a:lnSpc>
                <a:spcPct val="100000"/>
              </a:lnSpc>
              <a:spcBef>
                <a:spcPts val="600"/>
              </a:spcBef>
            </a:pPr>
            <a:r>
              <a:rPr lang="en-US" sz="2000" dirty="0"/>
              <a:t>To develop a frequency distribution for the sample of 50 soft drink purchases, we count the number of times each soft drink appears.</a:t>
            </a:r>
          </a:p>
          <a:p>
            <a:pPr>
              <a:lnSpc>
                <a:spcPct val="100000"/>
              </a:lnSpc>
              <a:spcBef>
                <a:spcPts val="600"/>
              </a:spcBef>
            </a:pPr>
            <a:r>
              <a:rPr lang="en-US" sz="2000" dirty="0"/>
              <a:t>The frequency distribution highlights Coca-Cola as the leader, followed by Pepsi, Diet Coke, Dr. Pepper, and Sprite.</a:t>
            </a:r>
          </a:p>
        </p:txBody>
      </p:sp>
      <p:graphicFrame>
        <p:nvGraphicFramePr>
          <p:cNvPr id="5" name="Table 6">
            <a:extLst>
              <a:ext uri="{FF2B5EF4-FFF2-40B4-BE49-F238E27FC236}">
                <a16:creationId xmlns:a16="http://schemas.microsoft.com/office/drawing/2014/main" id="{B473CB98-C77F-0D5D-E3CA-143F8F1D89A4}"/>
              </a:ext>
            </a:extLst>
          </p:cNvPr>
          <p:cNvGraphicFramePr>
            <a:graphicFrameLocks noGrp="1"/>
          </p:cNvGraphicFramePr>
          <p:nvPr>
            <p:ph type="tbl" sz="quarter" idx="16"/>
          </p:nvPr>
        </p:nvGraphicFramePr>
        <p:xfrm>
          <a:off x="7301894" y="1580707"/>
          <a:ext cx="3047451" cy="2773680"/>
        </p:xfrm>
        <a:graphic>
          <a:graphicData uri="http://schemas.openxmlformats.org/drawingml/2006/table">
            <a:tbl>
              <a:tblPr firstRow="1" bandRow="1">
                <a:tableStyleId>{5C22544A-7EE6-4342-B048-85BDC9FD1C3A}</a:tableStyleId>
              </a:tblPr>
              <a:tblGrid>
                <a:gridCol w="196187">
                  <a:extLst>
                    <a:ext uri="{9D8B030D-6E8A-4147-A177-3AD203B41FA5}">
                      <a16:colId xmlns:a16="http://schemas.microsoft.com/office/drawing/2014/main" val="369277479"/>
                    </a:ext>
                  </a:extLst>
                </a:gridCol>
                <a:gridCol w="1435467">
                  <a:extLst>
                    <a:ext uri="{9D8B030D-6E8A-4147-A177-3AD203B41FA5}">
                      <a16:colId xmlns:a16="http://schemas.microsoft.com/office/drawing/2014/main" val="1974712065"/>
                    </a:ext>
                  </a:extLst>
                </a:gridCol>
                <a:gridCol w="1129692">
                  <a:extLst>
                    <a:ext uri="{9D8B030D-6E8A-4147-A177-3AD203B41FA5}">
                      <a16:colId xmlns:a16="http://schemas.microsoft.com/office/drawing/2014/main" val="1270146905"/>
                    </a:ext>
                  </a:extLst>
                </a:gridCol>
                <a:gridCol w="286105">
                  <a:extLst>
                    <a:ext uri="{9D8B030D-6E8A-4147-A177-3AD203B41FA5}">
                      <a16:colId xmlns:a16="http://schemas.microsoft.com/office/drawing/2014/main" val="2305094780"/>
                    </a:ext>
                  </a:extLst>
                </a:gridCol>
              </a:tblGrid>
              <a:tr h="548640">
                <a:tc>
                  <a:txBody>
                    <a:bodyPr/>
                    <a:lstStyle/>
                    <a:p>
                      <a:pPr algn="l" fontAlgn="ctr"/>
                      <a:endParaRPr lang="en-US" sz="2000" b="1" i="0" u="none" strike="noStrike" dirty="0">
                        <a:solidFill>
                          <a:srgbClr val="000000"/>
                        </a:solidFill>
                        <a:effectLst/>
                        <a:latin typeface="+mn-lt"/>
                        <a:cs typeface="Arial" panose="020B0604020202020204" pitchFamily="34" charset="0"/>
                      </a:endParaRPr>
                    </a:p>
                  </a:txBody>
                  <a:tcPr marL="6350" marR="6350" marT="6350"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algn="l" fontAlgn="ctr"/>
                      <a:r>
                        <a:rPr lang="en-US" sz="2000" b="1" i="0" u="none" strike="noStrike" dirty="0">
                          <a:solidFill>
                            <a:srgbClr val="000000"/>
                          </a:solidFill>
                          <a:effectLst/>
                          <a:latin typeface="+mn-lt"/>
                          <a:cs typeface="Arial" panose="020B0604020202020204" pitchFamily="34" charset="0"/>
                        </a:rPr>
                        <a:t>Soft Drink </a:t>
                      </a:r>
                    </a:p>
                  </a:txBody>
                  <a:tcPr marL="6350" marR="6350" marT="6350"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algn="r" fontAlgn="ctr"/>
                      <a:r>
                        <a:rPr lang="en-US" sz="2000" b="1" i="0" u="none" strike="noStrike" dirty="0">
                          <a:solidFill>
                            <a:srgbClr val="000000"/>
                          </a:solidFill>
                          <a:effectLst/>
                          <a:latin typeface="+mn-lt"/>
                          <a:cs typeface="Arial" panose="020B0604020202020204" pitchFamily="34" charset="0"/>
                        </a:rPr>
                        <a:t>Frequency </a:t>
                      </a:r>
                    </a:p>
                  </a:txBody>
                  <a:tcPr marL="6350" marR="6350" marT="6350"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algn="r" fontAlgn="ctr"/>
                      <a:endParaRPr lang="en-US" sz="2000" b="1" i="0" u="none" strike="noStrike" dirty="0">
                        <a:solidFill>
                          <a:srgbClr val="000000"/>
                        </a:solidFill>
                        <a:effectLst/>
                        <a:latin typeface="+mn-lt"/>
                        <a:cs typeface="Arial" panose="020B0604020202020204" pitchFamily="34" charset="0"/>
                      </a:endParaRPr>
                    </a:p>
                  </a:txBody>
                  <a:tcPr marL="6350" marR="6350" marT="6350"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4256538592"/>
                  </a:ext>
                </a:extLst>
              </a:tr>
              <a:tr h="370840">
                <a:tc>
                  <a:txBody>
                    <a:bodyPr/>
                    <a:lstStyle/>
                    <a:p>
                      <a:pPr algn="l" fontAlgn="ctr"/>
                      <a:endParaRPr lang="en-US" sz="2000" b="0" i="0" u="none" strike="noStrike" dirty="0">
                        <a:solidFill>
                          <a:srgbClr val="000000"/>
                        </a:solidFill>
                        <a:effectLst/>
                        <a:latin typeface="+mn-lt"/>
                        <a:cs typeface="Arial" panose="020B0604020202020204" pitchFamily="34" charset="0"/>
                      </a:endParaRPr>
                    </a:p>
                  </a:txBody>
                  <a:tcPr marL="6350" marR="6350" marT="635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ctr"/>
                      <a:r>
                        <a:rPr lang="en-US" sz="2000" b="0" i="0" u="none" strike="noStrike" dirty="0">
                          <a:solidFill>
                            <a:srgbClr val="000000"/>
                          </a:solidFill>
                          <a:effectLst/>
                          <a:latin typeface="+mn-lt"/>
                          <a:cs typeface="Arial" panose="020B0604020202020204" pitchFamily="34" charset="0"/>
                        </a:rPr>
                        <a:t>Coca-Cola </a:t>
                      </a:r>
                    </a:p>
                  </a:txBody>
                  <a:tcPr marL="6350" marR="6350" marT="635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tc>
                  <a:txBody>
                    <a:bodyPr/>
                    <a:lstStyle/>
                    <a:p>
                      <a:pPr algn="r" fontAlgn="ctr"/>
                      <a:r>
                        <a:rPr lang="en-US" sz="2000" b="0" i="0" u="none" strike="noStrike" dirty="0">
                          <a:solidFill>
                            <a:srgbClr val="000000"/>
                          </a:solidFill>
                          <a:effectLst/>
                          <a:latin typeface="+mn-lt"/>
                          <a:cs typeface="Arial" panose="020B0604020202020204" pitchFamily="34" charset="0"/>
                        </a:rPr>
                        <a:t>19</a:t>
                      </a:r>
                    </a:p>
                  </a:txBody>
                  <a:tcPr marL="6350" marR="6350" marT="635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tc>
                  <a:txBody>
                    <a:bodyPr/>
                    <a:lstStyle/>
                    <a:p>
                      <a:pPr algn="r" fontAlgn="ctr"/>
                      <a:endParaRPr lang="en-US" sz="2000" b="0" i="0" u="none" strike="noStrike" dirty="0">
                        <a:solidFill>
                          <a:srgbClr val="000000"/>
                        </a:solidFill>
                        <a:effectLst/>
                        <a:latin typeface="+mn-lt"/>
                        <a:cs typeface="Arial" panose="020B0604020202020204" pitchFamily="34" charset="0"/>
                      </a:endParaRPr>
                    </a:p>
                  </a:txBody>
                  <a:tcPr marL="6350" marR="6350" marT="635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1950854562"/>
                  </a:ext>
                </a:extLst>
              </a:tr>
              <a:tr h="370840">
                <a:tc>
                  <a:txBody>
                    <a:bodyPr/>
                    <a:lstStyle/>
                    <a:p>
                      <a:pPr algn="l" fontAlgn="ctr"/>
                      <a:endParaRPr lang="en-US" sz="2000" b="0" i="0" u="none" strike="noStrike" dirty="0">
                        <a:solidFill>
                          <a:srgbClr val="000000"/>
                        </a:solidFill>
                        <a:effectLst/>
                        <a:latin typeface="+mn-lt"/>
                        <a:cs typeface="Arial" panose="020B0604020202020204" pitchFamily="34" charset="0"/>
                      </a:endParaRP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ctr"/>
                      <a:r>
                        <a:rPr lang="en-US" sz="2000" b="0" i="0" u="none" strike="noStrike" dirty="0">
                          <a:solidFill>
                            <a:srgbClr val="000000"/>
                          </a:solidFill>
                          <a:effectLst/>
                          <a:latin typeface="+mn-lt"/>
                          <a:cs typeface="Arial" panose="020B0604020202020204" pitchFamily="34" charset="0"/>
                        </a:rPr>
                        <a:t>Diet Coke </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r" fontAlgn="ctr"/>
                      <a:r>
                        <a:rPr lang="en-US" sz="2000" b="0" i="0" u="none" strike="noStrike" dirty="0">
                          <a:solidFill>
                            <a:srgbClr val="000000"/>
                          </a:solidFill>
                          <a:effectLst/>
                          <a:latin typeface="+mn-lt"/>
                          <a:cs typeface="Arial" panose="020B0604020202020204" pitchFamily="34" charset="0"/>
                        </a:rPr>
                        <a:t>8</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r" fontAlgn="ctr"/>
                      <a:endParaRPr lang="en-US" sz="2000" b="0" i="0" u="none" strike="noStrike" dirty="0">
                        <a:solidFill>
                          <a:srgbClr val="000000"/>
                        </a:solidFill>
                        <a:effectLst/>
                        <a:latin typeface="+mn-lt"/>
                        <a:cs typeface="Arial" panose="020B0604020202020204" pitchFamily="34" charset="0"/>
                      </a:endParaRP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2050865803"/>
                  </a:ext>
                </a:extLst>
              </a:tr>
              <a:tr h="370840">
                <a:tc>
                  <a:txBody>
                    <a:bodyPr/>
                    <a:lstStyle/>
                    <a:p>
                      <a:pPr algn="l" fontAlgn="ctr"/>
                      <a:endParaRPr lang="en-US" sz="2000" b="0" i="0" u="none" strike="noStrike" dirty="0">
                        <a:solidFill>
                          <a:srgbClr val="000000"/>
                        </a:solidFill>
                        <a:effectLst/>
                        <a:latin typeface="+mn-lt"/>
                        <a:cs typeface="Arial" panose="020B0604020202020204" pitchFamily="34" charset="0"/>
                      </a:endParaRP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ctr"/>
                      <a:r>
                        <a:rPr lang="en-US" sz="2000" b="0" i="0" u="none" strike="noStrike" dirty="0">
                          <a:solidFill>
                            <a:srgbClr val="000000"/>
                          </a:solidFill>
                          <a:effectLst/>
                          <a:latin typeface="+mn-lt"/>
                          <a:cs typeface="Arial" panose="020B0604020202020204" pitchFamily="34" charset="0"/>
                        </a:rPr>
                        <a:t>Dr. Pepper </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r" fontAlgn="ctr"/>
                      <a:r>
                        <a:rPr lang="en-US" sz="2000" b="0" i="0" u="none" strike="noStrike" dirty="0">
                          <a:solidFill>
                            <a:srgbClr val="000000"/>
                          </a:solidFill>
                          <a:effectLst/>
                          <a:latin typeface="+mn-lt"/>
                          <a:cs typeface="Arial" panose="020B0604020202020204" pitchFamily="34" charset="0"/>
                        </a:rPr>
                        <a:t>5</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r" fontAlgn="ctr"/>
                      <a:endParaRPr lang="en-US" sz="2000" b="0" i="0" u="none" strike="noStrike" dirty="0">
                        <a:solidFill>
                          <a:srgbClr val="000000"/>
                        </a:solidFill>
                        <a:effectLst/>
                        <a:latin typeface="+mn-lt"/>
                        <a:cs typeface="Arial" panose="020B0604020202020204" pitchFamily="34" charset="0"/>
                      </a:endParaRP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2795851301"/>
                  </a:ext>
                </a:extLst>
              </a:tr>
              <a:tr h="370840">
                <a:tc>
                  <a:txBody>
                    <a:bodyPr/>
                    <a:lstStyle/>
                    <a:p>
                      <a:pPr algn="l" fontAlgn="ctr"/>
                      <a:endParaRPr lang="en-US" sz="2000" b="0" i="0" u="none" strike="noStrike" dirty="0">
                        <a:solidFill>
                          <a:srgbClr val="000000"/>
                        </a:solidFill>
                        <a:effectLst/>
                        <a:latin typeface="+mn-lt"/>
                        <a:cs typeface="Arial" panose="020B0604020202020204" pitchFamily="34" charset="0"/>
                      </a:endParaRP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ctr"/>
                      <a:r>
                        <a:rPr lang="en-US" sz="2000" b="0" i="0" u="none" strike="noStrike" dirty="0">
                          <a:solidFill>
                            <a:srgbClr val="000000"/>
                          </a:solidFill>
                          <a:effectLst/>
                          <a:latin typeface="+mn-lt"/>
                          <a:cs typeface="Arial" panose="020B0604020202020204" pitchFamily="34" charset="0"/>
                        </a:rPr>
                        <a:t>Pepsi </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r" fontAlgn="ctr"/>
                      <a:r>
                        <a:rPr lang="en-US" sz="2000" b="0" i="0" u="none" strike="noStrike" dirty="0">
                          <a:solidFill>
                            <a:srgbClr val="000000"/>
                          </a:solidFill>
                          <a:effectLst/>
                          <a:latin typeface="+mn-lt"/>
                          <a:cs typeface="Arial" panose="020B0604020202020204" pitchFamily="34" charset="0"/>
                        </a:rPr>
                        <a:t>13</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r" fontAlgn="ctr"/>
                      <a:endParaRPr lang="en-US" sz="2000" b="0" i="0" u="none" strike="noStrike" dirty="0">
                        <a:solidFill>
                          <a:srgbClr val="000000"/>
                        </a:solidFill>
                        <a:effectLst/>
                        <a:latin typeface="+mn-lt"/>
                        <a:cs typeface="Arial" panose="020B0604020202020204" pitchFamily="34" charset="0"/>
                      </a:endParaRP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4114122942"/>
                  </a:ext>
                </a:extLst>
              </a:tr>
              <a:tr h="370840">
                <a:tc>
                  <a:txBody>
                    <a:bodyPr/>
                    <a:lstStyle/>
                    <a:p>
                      <a:pPr algn="l" fontAlgn="ctr"/>
                      <a:endParaRPr lang="en-US" sz="2000" b="0" i="0" u="none" strike="noStrike" dirty="0">
                        <a:solidFill>
                          <a:srgbClr val="000000"/>
                        </a:solidFill>
                        <a:effectLst/>
                        <a:latin typeface="+mn-lt"/>
                        <a:cs typeface="Arial" panose="020B0604020202020204" pitchFamily="34" charset="0"/>
                      </a:endParaRP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ctr"/>
                      <a:r>
                        <a:rPr lang="en-US" sz="2000" b="0" i="0" u="none" strike="noStrike" dirty="0">
                          <a:solidFill>
                            <a:srgbClr val="000000"/>
                          </a:solidFill>
                          <a:effectLst/>
                          <a:latin typeface="+mn-lt"/>
                          <a:cs typeface="Arial" panose="020B0604020202020204" pitchFamily="34" charset="0"/>
                        </a:rPr>
                        <a:t>Sprite </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r" fontAlgn="ctr"/>
                      <a:r>
                        <a:rPr lang="en-US" sz="2000" b="0" i="0" u="none" strike="noStrike" dirty="0">
                          <a:solidFill>
                            <a:srgbClr val="000000"/>
                          </a:solidFill>
                          <a:effectLst/>
                          <a:latin typeface="+mn-lt"/>
                          <a:cs typeface="Arial" panose="020B0604020202020204" pitchFamily="34" charset="0"/>
                        </a:rPr>
                        <a:t>5</a:t>
                      </a:r>
                    </a:p>
                  </a:txBody>
                  <a:tcPr marL="6350" marR="6350" marT="635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r" fontAlgn="ctr"/>
                      <a:endParaRPr lang="en-US" sz="2000" b="0" i="0" u="none" strike="noStrike" dirty="0">
                        <a:solidFill>
                          <a:srgbClr val="000000"/>
                        </a:solidFill>
                        <a:effectLst/>
                        <a:latin typeface="+mn-lt"/>
                        <a:cs typeface="Arial" panose="020B0604020202020204" pitchFamily="34" charset="0"/>
                      </a:endParaRPr>
                    </a:p>
                  </a:txBody>
                  <a:tcPr marL="6350" marR="6350" marT="6350"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1766941358"/>
                  </a:ext>
                </a:extLst>
              </a:tr>
              <a:tr h="370840">
                <a:tc>
                  <a:txBody>
                    <a:bodyPr/>
                    <a:lstStyle/>
                    <a:p>
                      <a:pPr algn="l" fontAlgn="ctr"/>
                      <a:endParaRPr lang="en-US" sz="2000" b="0" i="0" u="none" strike="noStrike" dirty="0">
                        <a:solidFill>
                          <a:srgbClr val="000000"/>
                        </a:solidFill>
                        <a:effectLst/>
                        <a:latin typeface="+mn-lt"/>
                        <a:cs typeface="Arial" panose="020B0604020202020204" pitchFamily="34" charset="0"/>
                      </a:endParaRP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ctr"/>
                      <a:r>
                        <a:rPr lang="en-US" sz="2000" b="0" i="0" u="none" strike="noStrike" dirty="0">
                          <a:solidFill>
                            <a:srgbClr val="000000"/>
                          </a:solidFill>
                          <a:effectLst/>
                          <a:latin typeface="+mn-lt"/>
                          <a:cs typeface="Arial" panose="020B0604020202020204" pitchFamily="34" charset="0"/>
                        </a:rPr>
                        <a:t>Total </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r" fontAlgn="ctr"/>
                      <a:r>
                        <a:rPr lang="en-US" sz="2000" b="0" i="0" u="none" strike="noStrike" dirty="0">
                          <a:solidFill>
                            <a:srgbClr val="000000"/>
                          </a:solidFill>
                          <a:effectLst/>
                          <a:latin typeface="+mn-lt"/>
                          <a:cs typeface="Arial" panose="020B0604020202020204" pitchFamily="34" charset="0"/>
                        </a:rPr>
                        <a:t>50</a:t>
                      </a:r>
                    </a:p>
                  </a:txBody>
                  <a:tcPr marL="6350" marR="6350" marT="6350" marB="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pPr algn="r" fontAlgn="ctr"/>
                      <a:endParaRPr lang="en-US" sz="2000" b="0" i="0" u="none" strike="noStrike" dirty="0">
                        <a:solidFill>
                          <a:srgbClr val="000000"/>
                        </a:solidFill>
                        <a:effectLst/>
                        <a:latin typeface="+mn-lt"/>
                        <a:cs typeface="Arial" panose="020B0604020202020204" pitchFamily="34" charset="0"/>
                      </a:endParaRPr>
                    </a:p>
                  </a:txBody>
                  <a:tcPr marL="6350" marR="6350" marT="6350" marB="0"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1477686348"/>
                  </a:ext>
                </a:extLst>
              </a:tr>
            </a:tbl>
          </a:graphicData>
        </a:graphic>
      </p:graphicFrame>
    </p:spTree>
    <p:extLst>
      <p:ext uri="{BB962C8B-B14F-4D97-AF65-F5344CB8AC3E}">
        <p14:creationId xmlns:p14="http://schemas.microsoft.com/office/powerpoint/2010/main" val="25223197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2F1851-52D5-03F3-7981-83429886F204}"/>
              </a:ext>
            </a:extLst>
          </p:cNvPr>
          <p:cNvSpPr>
            <a:spLocks noGrp="1"/>
          </p:cNvSpPr>
          <p:nvPr>
            <p:ph type="title"/>
          </p:nvPr>
        </p:nvSpPr>
        <p:spPr/>
        <p:txBody>
          <a:bodyPr/>
          <a:lstStyle/>
          <a:p>
            <a:r>
              <a:rPr lang="en-US" sz="3200" dirty="0"/>
              <a:t>2.1 Relative Frequency and Percent Frequency Distributions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E2F8492D-AD9D-EE5B-D41A-129A2A09ACBF}"/>
                  </a:ext>
                </a:extLst>
              </p:cNvPr>
              <p:cNvSpPr>
                <a:spLocks noGrp="1"/>
              </p:cNvSpPr>
              <p:nvPr>
                <p:ph type="body" sz="quarter" idx="15"/>
              </p:nvPr>
            </p:nvSpPr>
            <p:spPr>
              <a:xfrm>
                <a:off x="793194" y="1650312"/>
                <a:ext cx="10412362" cy="1309020"/>
              </a:xfrm>
            </p:spPr>
            <p:txBody>
              <a:bodyPr>
                <a:normAutofit/>
              </a:bodyPr>
              <a:lstStyle/>
              <a:p>
                <a:pPr>
                  <a:lnSpc>
                    <a:spcPct val="100000"/>
                  </a:lnSpc>
                  <a:spcBef>
                    <a:spcPts val="600"/>
                  </a:spcBef>
                </a:pPr>
                <a:r>
                  <a:rPr lang="en-US" sz="2000" dirty="0"/>
                  <a:t>The </a:t>
                </a:r>
                <a:r>
                  <a:rPr lang="en-US" sz="2000" b="1" dirty="0"/>
                  <a:t>relative frequency </a:t>
                </a:r>
                <a:r>
                  <a:rPr lang="en-US" sz="2000" dirty="0"/>
                  <a:t>of a class is the fraction or proportion of the total number of data items belonging to the class.</a:t>
                </a:r>
              </a:p>
              <a:p>
                <a:pPr marL="914400">
                  <a:spcBef>
                    <a:spcPts val="1000"/>
                  </a:spcBef>
                  <a:spcAft>
                    <a:spcPts val="0"/>
                  </a:spcAft>
                </a:pPr>
                <a14:m>
                  <m:oMathPara xmlns:m="http://schemas.openxmlformats.org/officeDocument/2006/math">
                    <m:oMathParaPr>
                      <m:jc m:val="left"/>
                    </m:oMathParaPr>
                    <m:oMath xmlns:m="http://schemas.openxmlformats.org/officeDocument/2006/math">
                      <m:r>
                        <m:rPr>
                          <m:nor/>
                        </m:rPr>
                        <a:rPr lang="en-US" sz="2000" b="0" i="0" smtClean="0">
                          <a:latin typeface="Cambria Math" panose="02040503050406030204" pitchFamily="18" charset="0"/>
                          <a:ea typeface="Cambria Math" panose="02040503050406030204" pitchFamily="18" charset="0"/>
                          <a:cs typeface="Arial" panose="020B0604020202020204" pitchFamily="34" charset="0"/>
                        </a:rPr>
                        <m:t>Relative</m:t>
                      </m:r>
                      <m:r>
                        <m:rPr>
                          <m:nor/>
                        </m:rPr>
                        <a:rPr lang="en-US" sz="2000" b="0" i="0" smtClean="0">
                          <a:latin typeface="Cambria Math" panose="02040503050406030204" pitchFamily="18" charset="0"/>
                          <a:ea typeface="Cambria Math" panose="02040503050406030204" pitchFamily="18" charset="0"/>
                          <a:cs typeface="Arial" panose="020B0604020202020204" pitchFamily="34" charset="0"/>
                        </a:rPr>
                        <m:t> </m:t>
                      </m:r>
                      <m:r>
                        <m:rPr>
                          <m:nor/>
                        </m:rPr>
                        <a:rPr lang="en-US" sz="2000" b="0" i="0" smtClean="0">
                          <a:latin typeface="Cambria Math" panose="02040503050406030204" pitchFamily="18" charset="0"/>
                          <a:ea typeface="Cambria Math" panose="02040503050406030204" pitchFamily="18" charset="0"/>
                          <a:cs typeface="Arial" panose="020B0604020202020204" pitchFamily="34" charset="0"/>
                        </a:rPr>
                        <m:t>Frequency</m:t>
                      </m:r>
                      <m:r>
                        <m:rPr>
                          <m:nor/>
                        </m:rPr>
                        <a:rPr lang="en-US" sz="2000" b="0" i="0" smtClean="0">
                          <a:latin typeface="Cambria Math" panose="02040503050406030204" pitchFamily="18" charset="0"/>
                          <a:ea typeface="Cambria Math" panose="02040503050406030204" pitchFamily="18" charset="0"/>
                          <a:cs typeface="Arial" panose="020B0604020202020204" pitchFamily="34" charset="0"/>
                        </a:rPr>
                        <m:t> </m:t>
                      </m:r>
                      <m:r>
                        <m:rPr>
                          <m:nor/>
                        </m:rPr>
                        <a:rPr lang="en-US" sz="2000" b="0" i="0" smtClean="0">
                          <a:latin typeface="Cambria Math" panose="02040503050406030204" pitchFamily="18" charset="0"/>
                          <a:ea typeface="Cambria Math" panose="02040503050406030204" pitchFamily="18" charset="0"/>
                          <a:cs typeface="Arial" panose="020B0604020202020204" pitchFamily="34" charset="0"/>
                        </a:rPr>
                        <m:t>of</m:t>
                      </m:r>
                      <m:r>
                        <m:rPr>
                          <m:nor/>
                        </m:rPr>
                        <a:rPr lang="en-US" sz="2000" b="0" i="0" smtClean="0">
                          <a:latin typeface="Cambria Math" panose="02040503050406030204" pitchFamily="18" charset="0"/>
                          <a:ea typeface="Cambria Math" panose="02040503050406030204" pitchFamily="18" charset="0"/>
                          <a:cs typeface="Arial" panose="020B0604020202020204" pitchFamily="34" charset="0"/>
                        </a:rPr>
                        <m:t> </m:t>
                      </m:r>
                      <m:r>
                        <m:rPr>
                          <m:nor/>
                        </m:rPr>
                        <a:rPr lang="en-US" sz="2000" b="0" i="0" smtClean="0">
                          <a:latin typeface="Cambria Math" panose="02040503050406030204" pitchFamily="18" charset="0"/>
                          <a:ea typeface="Cambria Math" panose="02040503050406030204" pitchFamily="18" charset="0"/>
                          <a:cs typeface="Arial" panose="020B0604020202020204" pitchFamily="34" charset="0"/>
                        </a:rPr>
                        <m:t>a</m:t>
                      </m:r>
                      <m:r>
                        <m:rPr>
                          <m:nor/>
                        </m:rPr>
                        <a:rPr lang="en-US" sz="2000" b="0" i="0" smtClean="0">
                          <a:latin typeface="Cambria Math" panose="02040503050406030204" pitchFamily="18" charset="0"/>
                          <a:ea typeface="Cambria Math" panose="02040503050406030204" pitchFamily="18" charset="0"/>
                          <a:cs typeface="Arial" panose="020B0604020202020204" pitchFamily="34" charset="0"/>
                        </a:rPr>
                        <m:t> </m:t>
                      </m:r>
                      <m:r>
                        <m:rPr>
                          <m:nor/>
                        </m:rPr>
                        <a:rPr lang="en-US" sz="2000" b="0" i="0" smtClean="0">
                          <a:latin typeface="Cambria Math" panose="02040503050406030204" pitchFamily="18" charset="0"/>
                          <a:ea typeface="Cambria Math" panose="02040503050406030204" pitchFamily="18" charset="0"/>
                          <a:cs typeface="Arial" panose="020B0604020202020204" pitchFamily="34" charset="0"/>
                        </a:rPr>
                        <m:t>class</m:t>
                      </m:r>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m:rPr>
                              <m:nor/>
                            </m:rPr>
                            <a:rPr lang="en-US" sz="2000" b="0" i="0" smtClean="0">
                              <a:latin typeface="Cambria Math" panose="02040503050406030204" pitchFamily="18" charset="0"/>
                              <a:ea typeface="Cambria Math" panose="02040503050406030204" pitchFamily="18" charset="0"/>
                              <a:cs typeface="Arial" panose="020B0604020202020204" pitchFamily="34" charset="0"/>
                            </a:rPr>
                            <m:t>Frequency</m:t>
                          </m:r>
                          <m:r>
                            <m:rPr>
                              <m:nor/>
                            </m:rPr>
                            <a:rPr lang="en-US" sz="2000" b="0" i="0" smtClean="0">
                              <a:latin typeface="Cambria Math" panose="02040503050406030204" pitchFamily="18" charset="0"/>
                              <a:ea typeface="Cambria Math" panose="02040503050406030204" pitchFamily="18" charset="0"/>
                              <a:cs typeface="Arial" panose="020B0604020202020204" pitchFamily="34" charset="0"/>
                            </a:rPr>
                            <m:t> </m:t>
                          </m:r>
                          <m:r>
                            <m:rPr>
                              <m:nor/>
                            </m:rPr>
                            <a:rPr lang="en-US" sz="2000" b="0" i="0" smtClean="0">
                              <a:latin typeface="Cambria Math" panose="02040503050406030204" pitchFamily="18" charset="0"/>
                              <a:ea typeface="Cambria Math" panose="02040503050406030204" pitchFamily="18" charset="0"/>
                              <a:cs typeface="Arial" panose="020B0604020202020204" pitchFamily="34" charset="0"/>
                            </a:rPr>
                            <m:t>of</m:t>
                          </m:r>
                          <m:r>
                            <m:rPr>
                              <m:nor/>
                            </m:rPr>
                            <a:rPr lang="en-US" sz="2000" b="0" i="0" smtClean="0">
                              <a:latin typeface="Cambria Math" panose="02040503050406030204" pitchFamily="18" charset="0"/>
                              <a:ea typeface="Cambria Math" panose="02040503050406030204" pitchFamily="18" charset="0"/>
                              <a:cs typeface="Arial" panose="020B0604020202020204" pitchFamily="34" charset="0"/>
                            </a:rPr>
                            <m:t> </m:t>
                          </m:r>
                          <m:r>
                            <m:rPr>
                              <m:nor/>
                            </m:rPr>
                            <a:rPr lang="en-US" sz="2000" b="0" i="0" smtClean="0">
                              <a:latin typeface="Cambria Math" panose="02040503050406030204" pitchFamily="18" charset="0"/>
                              <a:ea typeface="Cambria Math" panose="02040503050406030204" pitchFamily="18" charset="0"/>
                              <a:cs typeface="Arial" panose="020B0604020202020204" pitchFamily="34" charset="0"/>
                            </a:rPr>
                            <m:t>the</m:t>
                          </m:r>
                          <m:r>
                            <m:rPr>
                              <m:nor/>
                            </m:rPr>
                            <a:rPr lang="en-US" sz="2000" b="0" i="0" smtClean="0">
                              <a:latin typeface="Cambria Math" panose="02040503050406030204" pitchFamily="18" charset="0"/>
                              <a:ea typeface="Cambria Math" panose="02040503050406030204" pitchFamily="18" charset="0"/>
                              <a:cs typeface="Arial" panose="020B0604020202020204" pitchFamily="34" charset="0"/>
                            </a:rPr>
                            <m:t> </m:t>
                          </m:r>
                          <m:r>
                            <m:rPr>
                              <m:nor/>
                            </m:rPr>
                            <a:rPr lang="en-US" sz="2000" b="0" i="0" smtClean="0">
                              <a:latin typeface="Cambria Math" panose="02040503050406030204" pitchFamily="18" charset="0"/>
                              <a:ea typeface="Cambria Math" panose="02040503050406030204" pitchFamily="18" charset="0"/>
                              <a:cs typeface="Arial" panose="020B0604020202020204" pitchFamily="34" charset="0"/>
                            </a:rPr>
                            <m:t>class</m:t>
                          </m:r>
                        </m:num>
                        <m:den>
                          <m:r>
                            <a:rPr lang="en-US" sz="2000" b="0" i="1" smtClean="0">
                              <a:latin typeface="Cambria Math" panose="02040503050406030204" pitchFamily="18" charset="0"/>
                            </a:rPr>
                            <m:t>𝑛</m:t>
                          </m:r>
                        </m:den>
                      </m:f>
                    </m:oMath>
                  </m:oMathPara>
                </a14:m>
                <a:endParaRPr lang="en-US" sz="2000" dirty="0"/>
              </a:p>
            </p:txBody>
          </p:sp>
        </mc:Choice>
        <mc:Fallback xmlns="">
          <p:sp>
            <p:nvSpPr>
              <p:cNvPr id="3" name="Text Placeholder 2">
                <a:extLst>
                  <a:ext uri="{FF2B5EF4-FFF2-40B4-BE49-F238E27FC236}">
                    <a16:creationId xmlns:a16="http://schemas.microsoft.com/office/drawing/2014/main" id="{E2F8492D-AD9D-EE5B-D41A-129A2A09ACBF}"/>
                  </a:ext>
                </a:extLst>
              </p:cNvPr>
              <p:cNvSpPr>
                <a:spLocks noGrp="1" noRot="1" noChangeAspect="1" noMove="1" noResize="1" noEditPoints="1" noAdjustHandles="1" noChangeArrowheads="1" noChangeShapeType="1" noTextEdit="1"/>
              </p:cNvSpPr>
              <p:nvPr>
                <p:ph type="body" sz="quarter" idx="15"/>
              </p:nvPr>
            </p:nvSpPr>
            <p:spPr>
              <a:xfrm>
                <a:off x="793194" y="1650312"/>
                <a:ext cx="10412362" cy="1309020"/>
              </a:xfrm>
              <a:blipFill>
                <a:blip r:embed="rId2"/>
                <a:stretch>
                  <a:fillRect l="-1464" t="-560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 Placeholder 10">
                <a:extLst>
                  <a:ext uri="{FF2B5EF4-FFF2-40B4-BE49-F238E27FC236}">
                    <a16:creationId xmlns:a16="http://schemas.microsoft.com/office/drawing/2014/main" id="{F7894A5A-25F1-5919-C9A6-DC8EF1BC7F33}"/>
                  </a:ext>
                </a:extLst>
              </p:cNvPr>
              <p:cNvSpPr>
                <a:spLocks noGrp="1"/>
              </p:cNvSpPr>
              <p:nvPr>
                <p:ph type="body" sz="quarter" idx="18"/>
              </p:nvPr>
            </p:nvSpPr>
            <p:spPr>
              <a:xfrm>
                <a:off x="799351" y="2867456"/>
                <a:ext cx="5044496" cy="2943142"/>
              </a:xfrm>
            </p:spPr>
            <p:txBody>
              <a:bodyPr>
                <a:noAutofit/>
              </a:bodyPr>
              <a:lstStyle/>
              <a:p>
                <a:r>
                  <a:rPr lang="en-US" sz="2000" dirty="0"/>
                  <a:t>The </a:t>
                </a:r>
                <a:r>
                  <a:rPr lang="en-US" sz="2000" b="1" dirty="0"/>
                  <a:t>percent frequency </a:t>
                </a:r>
                <a:r>
                  <a:rPr lang="en-US" sz="2000" dirty="0"/>
                  <a:t>of a class is the relative frequency multiplied by 100.</a:t>
                </a:r>
              </a:p>
              <a:p>
                <a:pPr>
                  <a:lnSpc>
                    <a:spcPct val="100000"/>
                  </a:lnSpc>
                  <a:spcBef>
                    <a:spcPts val="600"/>
                  </a:spcBef>
                </a:pPr>
                <a:r>
                  <a:rPr lang="en-US" sz="2000" dirty="0"/>
                  <a:t>The relative frequency distribution for the soft drink data shows a relative frequency of </a:t>
                </a:r>
                <a14:m>
                  <m:oMath xmlns:m="http://schemas.openxmlformats.org/officeDocument/2006/math">
                    <m:r>
                      <a:rPr lang="en-US" sz="2000" i="1" dirty="0" smtClean="0">
                        <a:latin typeface="Cambria Math" panose="02040503050406030204" pitchFamily="18" charset="0"/>
                      </a:rPr>
                      <m:t>19/50=0.38</m:t>
                    </m:r>
                  </m:oMath>
                </a14:m>
                <a:r>
                  <a:rPr lang="en-US" sz="2000" dirty="0"/>
                  <a:t> for Coca-Cola, </a:t>
                </a:r>
                <a14:m>
                  <m:oMath xmlns:m="http://schemas.openxmlformats.org/officeDocument/2006/math">
                    <m:r>
                      <a:rPr lang="en-US" sz="2000" i="1" dirty="0" smtClean="0">
                        <a:latin typeface="Cambria Math" panose="02040503050406030204" pitchFamily="18" charset="0"/>
                      </a:rPr>
                      <m:t>13/50=0.26</m:t>
                    </m:r>
                  </m:oMath>
                </a14:m>
                <a:r>
                  <a:rPr lang="en-US" sz="2000" dirty="0"/>
                  <a:t> for Pepsi, and so on.</a:t>
                </a:r>
              </a:p>
              <a:p>
                <a:pPr>
                  <a:lnSpc>
                    <a:spcPct val="100000"/>
                  </a:lnSpc>
                  <a:spcBef>
                    <a:spcPts val="600"/>
                  </a:spcBef>
                </a:pPr>
                <a:r>
                  <a:rPr lang="en-US" sz="2000" dirty="0"/>
                  <a:t>The percent frequency distribution, shows 38% Coca-Cola purchases, 16% Diet Coke purchases, and so on.</a:t>
                </a:r>
              </a:p>
            </p:txBody>
          </p:sp>
        </mc:Choice>
        <mc:Fallback xmlns="">
          <p:sp>
            <p:nvSpPr>
              <p:cNvPr id="11" name="Text Placeholder 10">
                <a:extLst>
                  <a:ext uri="{FF2B5EF4-FFF2-40B4-BE49-F238E27FC236}">
                    <a16:creationId xmlns:a16="http://schemas.microsoft.com/office/drawing/2014/main" id="{F7894A5A-25F1-5919-C9A6-DC8EF1BC7F33}"/>
                  </a:ext>
                </a:extLst>
              </p:cNvPr>
              <p:cNvSpPr>
                <a:spLocks noGrp="1" noRot="1" noChangeAspect="1" noMove="1" noResize="1" noEditPoints="1" noAdjustHandles="1" noChangeArrowheads="1" noChangeShapeType="1" noTextEdit="1"/>
              </p:cNvSpPr>
              <p:nvPr>
                <p:ph type="body" sz="quarter" idx="18"/>
              </p:nvPr>
            </p:nvSpPr>
            <p:spPr>
              <a:xfrm>
                <a:off x="799351" y="2867456"/>
                <a:ext cx="5044496" cy="2943142"/>
              </a:xfrm>
              <a:blipFill>
                <a:blip r:embed="rId3"/>
                <a:stretch>
                  <a:fillRect l="-3019" t="-2484" r="-2536" b="-3934"/>
                </a:stretch>
              </a:blipFill>
            </p:spPr>
            <p:txBody>
              <a:bodyPr/>
              <a:lstStyle/>
              <a:p>
                <a:r>
                  <a:rPr lang="en-US">
                    <a:noFill/>
                  </a:rPr>
                  <a:t> </a:t>
                </a:r>
              </a:p>
            </p:txBody>
          </p:sp>
        </mc:Fallback>
      </mc:AlternateContent>
      <p:graphicFrame>
        <p:nvGraphicFramePr>
          <p:cNvPr id="8" name="Table 6">
            <a:extLst>
              <a:ext uri="{FF2B5EF4-FFF2-40B4-BE49-F238E27FC236}">
                <a16:creationId xmlns:a16="http://schemas.microsoft.com/office/drawing/2014/main" id="{C1B1FC2F-995D-1A3D-BDCC-1218F71D96F8}"/>
              </a:ext>
            </a:extLst>
          </p:cNvPr>
          <p:cNvGraphicFramePr>
            <a:graphicFrameLocks noGrp="1"/>
          </p:cNvGraphicFramePr>
          <p:nvPr>
            <p:ph type="tbl" sz="quarter" idx="22"/>
          </p:nvPr>
        </p:nvGraphicFramePr>
        <p:xfrm>
          <a:off x="6096000" y="2990562"/>
          <a:ext cx="5161172" cy="2632883"/>
        </p:xfrm>
        <a:graphic>
          <a:graphicData uri="http://schemas.openxmlformats.org/drawingml/2006/table">
            <a:tbl>
              <a:tblPr firstRow="1" bandRow="1">
                <a:tableStyleId>{5C22544A-7EE6-4342-B048-85BDC9FD1C3A}</a:tableStyleId>
              </a:tblPr>
              <a:tblGrid>
                <a:gridCol w="116734">
                  <a:extLst>
                    <a:ext uri="{9D8B030D-6E8A-4147-A177-3AD203B41FA5}">
                      <a16:colId xmlns:a16="http://schemas.microsoft.com/office/drawing/2014/main" val="369277479"/>
                    </a:ext>
                  </a:extLst>
                </a:gridCol>
                <a:gridCol w="1122218">
                  <a:extLst>
                    <a:ext uri="{9D8B030D-6E8A-4147-A177-3AD203B41FA5}">
                      <a16:colId xmlns:a16="http://schemas.microsoft.com/office/drawing/2014/main" val="1974712065"/>
                    </a:ext>
                  </a:extLst>
                </a:gridCol>
                <a:gridCol w="1878677">
                  <a:extLst>
                    <a:ext uri="{9D8B030D-6E8A-4147-A177-3AD203B41FA5}">
                      <a16:colId xmlns:a16="http://schemas.microsoft.com/office/drawing/2014/main" val="1270146905"/>
                    </a:ext>
                  </a:extLst>
                </a:gridCol>
                <a:gridCol w="1845425">
                  <a:extLst>
                    <a:ext uri="{9D8B030D-6E8A-4147-A177-3AD203B41FA5}">
                      <a16:colId xmlns:a16="http://schemas.microsoft.com/office/drawing/2014/main" val="2655295821"/>
                    </a:ext>
                  </a:extLst>
                </a:gridCol>
                <a:gridCol w="198118">
                  <a:extLst>
                    <a:ext uri="{9D8B030D-6E8A-4147-A177-3AD203B41FA5}">
                      <a16:colId xmlns:a16="http://schemas.microsoft.com/office/drawing/2014/main" val="2305094780"/>
                    </a:ext>
                  </a:extLst>
                </a:gridCol>
              </a:tblGrid>
              <a:tr h="467533">
                <a:tc>
                  <a:txBody>
                    <a:bodyPr/>
                    <a:lstStyle/>
                    <a:p>
                      <a:pPr algn="l" fontAlgn="ctr"/>
                      <a:endParaRPr lang="en-US" sz="2000" b="1" i="0" u="none" strike="noStrike" dirty="0">
                        <a:solidFill>
                          <a:srgbClr val="000000"/>
                        </a:solidFill>
                        <a:effectLst/>
                        <a:latin typeface="+mn-lt"/>
                        <a:cs typeface="Arial" panose="020B0604020202020204" pitchFamily="34" charset="0"/>
                      </a:endParaRPr>
                    </a:p>
                  </a:txBody>
                  <a:tcPr marL="6350" marR="6350" marT="6350"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algn="l" fontAlgn="ctr"/>
                      <a:r>
                        <a:rPr lang="en-US" sz="1800" b="1" i="0" u="none" strike="noStrike" dirty="0">
                          <a:solidFill>
                            <a:srgbClr val="000000"/>
                          </a:solidFill>
                          <a:effectLst/>
                          <a:latin typeface="+mn-lt"/>
                          <a:cs typeface="Arial" panose="020B0604020202020204" pitchFamily="34" charset="0"/>
                        </a:rPr>
                        <a:t>Soft Drink </a:t>
                      </a:r>
                    </a:p>
                  </a:txBody>
                  <a:tcPr marL="6350" marR="6350" marT="6350"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algn="r" fontAlgn="ctr"/>
                      <a:r>
                        <a:rPr lang="en-US" sz="1800" b="1" i="0" u="none" strike="noStrike" dirty="0">
                          <a:solidFill>
                            <a:srgbClr val="000000"/>
                          </a:solidFill>
                          <a:effectLst/>
                          <a:latin typeface="+mn-lt"/>
                          <a:cs typeface="Arial" panose="020B0604020202020204" pitchFamily="34" charset="0"/>
                        </a:rPr>
                        <a:t>Relative Frequency </a:t>
                      </a:r>
                    </a:p>
                  </a:txBody>
                  <a:tcPr marL="6350" marR="6350" marT="6350"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sz="1800" b="1" i="0" u="none" strike="noStrike" dirty="0">
                          <a:solidFill>
                            <a:srgbClr val="000000"/>
                          </a:solidFill>
                          <a:effectLst/>
                          <a:latin typeface="+mn-lt"/>
                          <a:cs typeface="Arial" panose="020B0604020202020204" pitchFamily="34" charset="0"/>
                        </a:rPr>
                        <a:t>Percent Frequency</a:t>
                      </a:r>
                    </a:p>
                  </a:txBody>
                  <a:tcPr marL="6350" marR="6350" marT="6350"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algn="r" fontAlgn="ctr"/>
                      <a:endParaRPr lang="en-US" sz="1800" b="1" i="0" u="none" strike="noStrike" dirty="0">
                        <a:solidFill>
                          <a:srgbClr val="000000"/>
                        </a:solidFill>
                        <a:effectLst/>
                        <a:latin typeface="+mn-lt"/>
                        <a:cs typeface="Arial" panose="020B0604020202020204" pitchFamily="34" charset="0"/>
                      </a:endParaRPr>
                    </a:p>
                  </a:txBody>
                  <a:tcPr marL="6350" marR="6350" marT="6350"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4256538592"/>
                  </a:ext>
                </a:extLst>
              </a:tr>
              <a:tr h="370840">
                <a:tc>
                  <a:txBody>
                    <a:bodyPr/>
                    <a:lstStyle/>
                    <a:p>
                      <a:pPr algn="l" fontAlgn="ctr"/>
                      <a:endParaRPr lang="en-US" sz="2000" b="0" i="0" u="none" strike="noStrike" dirty="0">
                        <a:solidFill>
                          <a:srgbClr val="000000"/>
                        </a:solidFill>
                        <a:effectLst/>
                        <a:latin typeface="+mn-lt"/>
                        <a:cs typeface="Arial" panose="020B0604020202020204" pitchFamily="34" charset="0"/>
                      </a:endParaRPr>
                    </a:p>
                  </a:txBody>
                  <a:tcPr marL="6350" marR="6350" marT="635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ctr"/>
                      <a:r>
                        <a:rPr lang="en-US" sz="1800" b="0" i="0" u="none" strike="noStrike" dirty="0">
                          <a:solidFill>
                            <a:srgbClr val="000000"/>
                          </a:solidFill>
                          <a:effectLst/>
                          <a:latin typeface="+mn-lt"/>
                          <a:cs typeface="Arial" panose="020B0604020202020204" pitchFamily="34" charset="0"/>
                        </a:rPr>
                        <a:t>Coca-Cola </a:t>
                      </a:r>
                    </a:p>
                  </a:txBody>
                  <a:tcPr marL="6350" marR="6350" marT="635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ctr">
                        <a:tabLst/>
                      </a:pPr>
                      <a:r>
                        <a:rPr lang="en-US" sz="1800" b="0" i="0" u="none" strike="noStrike" dirty="0">
                          <a:solidFill>
                            <a:srgbClr val="000000"/>
                          </a:solidFill>
                          <a:effectLst/>
                          <a:latin typeface="+mn-lt"/>
                          <a:cs typeface="Arial" panose="020B0604020202020204" pitchFamily="34" charset="0"/>
                        </a:rPr>
                        <a:t>	0.38</a:t>
                      </a:r>
                    </a:p>
                  </a:txBody>
                  <a:tcPr marL="6350" marR="6350" marT="635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ctr">
                        <a:tabLst/>
                      </a:pPr>
                      <a:r>
                        <a:rPr lang="en-US" sz="1800" b="0" i="0" u="none" strike="noStrike" dirty="0">
                          <a:solidFill>
                            <a:srgbClr val="000000"/>
                          </a:solidFill>
                          <a:effectLst/>
                          <a:latin typeface="+mn-lt"/>
                          <a:cs typeface="Arial" panose="020B0604020202020204" pitchFamily="34" charset="0"/>
                        </a:rPr>
                        <a:t>	38</a:t>
                      </a:r>
                    </a:p>
                  </a:txBody>
                  <a:tcPr marL="6350" marR="6350" marT="635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tc>
                  <a:txBody>
                    <a:bodyPr/>
                    <a:lstStyle/>
                    <a:p>
                      <a:pPr algn="r" fontAlgn="ctr"/>
                      <a:endParaRPr lang="en-US" sz="1800" b="0" i="0" u="none" strike="noStrike" dirty="0">
                        <a:solidFill>
                          <a:srgbClr val="000000"/>
                        </a:solidFill>
                        <a:effectLst/>
                        <a:latin typeface="+mn-lt"/>
                        <a:cs typeface="Arial" panose="020B0604020202020204" pitchFamily="34" charset="0"/>
                      </a:endParaRPr>
                    </a:p>
                  </a:txBody>
                  <a:tcPr marL="6350" marR="6350" marT="635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1950854562"/>
                  </a:ext>
                </a:extLst>
              </a:tr>
              <a:tr h="370840">
                <a:tc>
                  <a:txBody>
                    <a:bodyPr/>
                    <a:lstStyle/>
                    <a:p>
                      <a:pPr algn="l" fontAlgn="ctr"/>
                      <a:endParaRPr lang="en-US" sz="2000" b="0" i="0" u="none" strike="noStrike" dirty="0">
                        <a:solidFill>
                          <a:srgbClr val="000000"/>
                        </a:solidFill>
                        <a:effectLst/>
                        <a:latin typeface="+mn-lt"/>
                        <a:cs typeface="Arial" panose="020B0604020202020204" pitchFamily="34" charset="0"/>
                      </a:endParaRP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ctr"/>
                      <a:r>
                        <a:rPr lang="en-US" sz="1800" b="0" i="0" u="none" strike="noStrike" dirty="0">
                          <a:solidFill>
                            <a:srgbClr val="000000"/>
                          </a:solidFill>
                          <a:effectLst/>
                          <a:latin typeface="+mn-lt"/>
                          <a:cs typeface="Arial" panose="020B0604020202020204" pitchFamily="34" charset="0"/>
                        </a:rPr>
                        <a:t>Diet Coke </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ctr">
                        <a:tabLst/>
                      </a:pPr>
                      <a:r>
                        <a:rPr lang="en-US" sz="1800" b="0" i="0" u="none" strike="noStrike" dirty="0">
                          <a:solidFill>
                            <a:srgbClr val="000000"/>
                          </a:solidFill>
                          <a:effectLst/>
                          <a:latin typeface="+mn-lt"/>
                          <a:cs typeface="Arial" panose="020B0604020202020204" pitchFamily="34" charset="0"/>
                        </a:rPr>
                        <a:t>	0.16</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ctr">
                        <a:tabLst/>
                      </a:pPr>
                      <a:r>
                        <a:rPr lang="en-US" sz="1800" b="0" i="0" u="none" strike="noStrike" dirty="0">
                          <a:solidFill>
                            <a:srgbClr val="000000"/>
                          </a:solidFill>
                          <a:effectLst/>
                          <a:latin typeface="+mn-lt"/>
                          <a:cs typeface="Arial" panose="020B0604020202020204" pitchFamily="34" charset="0"/>
                        </a:rPr>
                        <a:t>	16</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r" fontAlgn="ctr"/>
                      <a:endParaRPr lang="en-US" sz="1800" b="0" i="0" u="none" strike="noStrike" dirty="0">
                        <a:solidFill>
                          <a:srgbClr val="000000"/>
                        </a:solidFill>
                        <a:effectLst/>
                        <a:latin typeface="+mn-lt"/>
                        <a:cs typeface="Arial" panose="020B0604020202020204" pitchFamily="34" charset="0"/>
                      </a:endParaRP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2050865803"/>
                  </a:ext>
                </a:extLst>
              </a:tr>
              <a:tr h="370840">
                <a:tc>
                  <a:txBody>
                    <a:bodyPr/>
                    <a:lstStyle/>
                    <a:p>
                      <a:pPr algn="l" fontAlgn="ctr"/>
                      <a:endParaRPr lang="en-US" sz="2000" b="0" i="0" u="none" strike="noStrike" dirty="0">
                        <a:solidFill>
                          <a:srgbClr val="000000"/>
                        </a:solidFill>
                        <a:effectLst/>
                        <a:latin typeface="+mn-lt"/>
                        <a:cs typeface="Arial" panose="020B0604020202020204" pitchFamily="34" charset="0"/>
                      </a:endParaRP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ctr"/>
                      <a:r>
                        <a:rPr lang="en-US" sz="1800" b="0" i="0" u="none" strike="noStrike" dirty="0">
                          <a:solidFill>
                            <a:srgbClr val="000000"/>
                          </a:solidFill>
                          <a:effectLst/>
                          <a:latin typeface="+mn-lt"/>
                          <a:cs typeface="Arial" panose="020B0604020202020204" pitchFamily="34" charset="0"/>
                        </a:rPr>
                        <a:t>Dr. Pepper </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ctr"/>
                      <a:r>
                        <a:rPr lang="en-US" sz="1800" b="0" i="0" u="none" strike="noStrike" dirty="0">
                          <a:solidFill>
                            <a:srgbClr val="000000"/>
                          </a:solidFill>
                          <a:effectLst/>
                          <a:latin typeface="+mn-lt"/>
                          <a:cs typeface="Arial" panose="020B0604020202020204" pitchFamily="34" charset="0"/>
                        </a:rPr>
                        <a:t>	0.10</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ctr"/>
                      <a:r>
                        <a:rPr lang="en-US" sz="1800" b="0" i="0" u="none" strike="noStrike" dirty="0">
                          <a:solidFill>
                            <a:srgbClr val="000000"/>
                          </a:solidFill>
                          <a:effectLst/>
                          <a:latin typeface="+mn-lt"/>
                          <a:cs typeface="Arial" panose="020B0604020202020204" pitchFamily="34" charset="0"/>
                        </a:rPr>
                        <a:t>	10</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r" fontAlgn="ctr"/>
                      <a:endParaRPr lang="en-US" sz="1800" b="0" i="0" u="none" strike="noStrike" dirty="0">
                        <a:solidFill>
                          <a:srgbClr val="000000"/>
                        </a:solidFill>
                        <a:effectLst/>
                        <a:latin typeface="+mn-lt"/>
                        <a:cs typeface="Arial" panose="020B0604020202020204" pitchFamily="34" charset="0"/>
                      </a:endParaRP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2795851301"/>
                  </a:ext>
                </a:extLst>
              </a:tr>
              <a:tr h="370840">
                <a:tc>
                  <a:txBody>
                    <a:bodyPr/>
                    <a:lstStyle/>
                    <a:p>
                      <a:pPr algn="l" fontAlgn="ctr"/>
                      <a:endParaRPr lang="en-US" sz="2000" b="0" i="0" u="none" strike="noStrike" dirty="0">
                        <a:solidFill>
                          <a:srgbClr val="000000"/>
                        </a:solidFill>
                        <a:effectLst/>
                        <a:latin typeface="+mn-lt"/>
                        <a:cs typeface="Arial" panose="020B0604020202020204" pitchFamily="34" charset="0"/>
                      </a:endParaRP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ctr"/>
                      <a:r>
                        <a:rPr lang="en-US" sz="1800" b="0" i="0" u="none" strike="noStrike" dirty="0">
                          <a:solidFill>
                            <a:srgbClr val="000000"/>
                          </a:solidFill>
                          <a:effectLst/>
                          <a:latin typeface="+mn-lt"/>
                          <a:cs typeface="Arial" panose="020B0604020202020204" pitchFamily="34" charset="0"/>
                        </a:rPr>
                        <a:t>Pepsi </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ctr"/>
                      <a:r>
                        <a:rPr lang="en-US" sz="1800" b="0" i="0" u="none" strike="noStrike" dirty="0">
                          <a:solidFill>
                            <a:srgbClr val="000000"/>
                          </a:solidFill>
                          <a:effectLst/>
                          <a:latin typeface="+mn-lt"/>
                          <a:cs typeface="Arial" panose="020B0604020202020204" pitchFamily="34" charset="0"/>
                        </a:rPr>
                        <a:t>	0.26</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ctr"/>
                      <a:r>
                        <a:rPr lang="en-US" sz="1800" b="0" i="0" u="none" strike="noStrike" dirty="0">
                          <a:solidFill>
                            <a:srgbClr val="000000"/>
                          </a:solidFill>
                          <a:effectLst/>
                          <a:latin typeface="+mn-lt"/>
                          <a:cs typeface="Arial" panose="020B0604020202020204" pitchFamily="34" charset="0"/>
                        </a:rPr>
                        <a:t>	26</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r" fontAlgn="ctr"/>
                      <a:endParaRPr lang="en-US" sz="1800" b="0" i="0" u="none" strike="noStrike" dirty="0">
                        <a:solidFill>
                          <a:srgbClr val="000000"/>
                        </a:solidFill>
                        <a:effectLst/>
                        <a:latin typeface="+mn-lt"/>
                        <a:cs typeface="Arial" panose="020B0604020202020204" pitchFamily="34" charset="0"/>
                      </a:endParaRP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4114122942"/>
                  </a:ext>
                </a:extLst>
              </a:tr>
              <a:tr h="370840">
                <a:tc>
                  <a:txBody>
                    <a:bodyPr/>
                    <a:lstStyle/>
                    <a:p>
                      <a:pPr algn="l" fontAlgn="ctr"/>
                      <a:endParaRPr lang="en-US" sz="2000" b="0" i="0" u="none" strike="noStrike" dirty="0">
                        <a:solidFill>
                          <a:srgbClr val="000000"/>
                        </a:solidFill>
                        <a:effectLst/>
                        <a:latin typeface="+mn-lt"/>
                        <a:cs typeface="Arial" panose="020B0604020202020204" pitchFamily="34" charset="0"/>
                      </a:endParaRP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ctr"/>
                      <a:r>
                        <a:rPr lang="en-US" sz="1800" b="0" i="0" u="none" strike="noStrike" dirty="0">
                          <a:solidFill>
                            <a:srgbClr val="000000"/>
                          </a:solidFill>
                          <a:effectLst/>
                          <a:latin typeface="+mn-lt"/>
                          <a:cs typeface="Arial" panose="020B0604020202020204" pitchFamily="34" charset="0"/>
                        </a:rPr>
                        <a:t>Sprite </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ctr"/>
                      <a:r>
                        <a:rPr lang="en-US" sz="1800" b="0" i="0" u="none" strike="noStrike" dirty="0">
                          <a:solidFill>
                            <a:srgbClr val="000000"/>
                          </a:solidFill>
                          <a:effectLst/>
                          <a:latin typeface="+mn-lt"/>
                          <a:cs typeface="Arial" panose="020B0604020202020204" pitchFamily="34" charset="0"/>
                        </a:rPr>
                        <a:t>	0.10</a:t>
                      </a:r>
                    </a:p>
                  </a:txBody>
                  <a:tcPr marL="6350" marR="6350" marT="635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l" fontAlgn="ctr"/>
                      <a:r>
                        <a:rPr lang="en-US" sz="1800" b="0" i="0" u="none" strike="noStrike" dirty="0">
                          <a:solidFill>
                            <a:srgbClr val="000000"/>
                          </a:solidFill>
                          <a:effectLst/>
                          <a:latin typeface="+mn-lt"/>
                          <a:cs typeface="Arial" panose="020B0604020202020204" pitchFamily="34" charset="0"/>
                        </a:rPr>
                        <a:t>	10</a:t>
                      </a:r>
                    </a:p>
                  </a:txBody>
                  <a:tcPr marL="6350" marR="6350" marT="635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r" fontAlgn="ctr"/>
                      <a:endParaRPr lang="en-US" sz="1800" b="0" i="0" u="none" strike="noStrike" dirty="0">
                        <a:solidFill>
                          <a:srgbClr val="000000"/>
                        </a:solidFill>
                        <a:effectLst/>
                        <a:latin typeface="+mn-lt"/>
                        <a:cs typeface="Arial" panose="020B0604020202020204" pitchFamily="34" charset="0"/>
                      </a:endParaRPr>
                    </a:p>
                  </a:txBody>
                  <a:tcPr marL="6350" marR="6350" marT="6350"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1766941358"/>
                  </a:ext>
                </a:extLst>
              </a:tr>
              <a:tr h="0">
                <a:tc>
                  <a:txBody>
                    <a:bodyPr/>
                    <a:lstStyle/>
                    <a:p>
                      <a:pPr algn="l" fontAlgn="ctr"/>
                      <a:endParaRPr lang="en-US" sz="2000" b="0" i="0" u="none" strike="noStrike" dirty="0">
                        <a:solidFill>
                          <a:srgbClr val="000000"/>
                        </a:solidFill>
                        <a:effectLst/>
                        <a:latin typeface="+mn-lt"/>
                        <a:cs typeface="Arial" panose="020B0604020202020204" pitchFamily="34" charset="0"/>
                      </a:endParaRP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ctr"/>
                      <a:r>
                        <a:rPr lang="en-US" sz="1800" b="0" i="0" u="none" strike="noStrike" dirty="0">
                          <a:solidFill>
                            <a:srgbClr val="000000"/>
                          </a:solidFill>
                          <a:effectLst/>
                          <a:latin typeface="+mn-lt"/>
                          <a:cs typeface="Arial" panose="020B0604020202020204" pitchFamily="34" charset="0"/>
                        </a:rPr>
                        <a:t>Total </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ctr"/>
                      <a:r>
                        <a:rPr lang="en-US" sz="1800" b="0" i="0" u="none" strike="noStrike" dirty="0">
                          <a:solidFill>
                            <a:srgbClr val="000000"/>
                          </a:solidFill>
                          <a:effectLst/>
                          <a:latin typeface="+mn-lt"/>
                          <a:cs typeface="Arial" panose="020B0604020202020204" pitchFamily="34" charset="0"/>
                        </a:rPr>
                        <a:t>	1.00</a:t>
                      </a:r>
                    </a:p>
                  </a:txBody>
                  <a:tcPr marL="6350" marR="6350" marT="6350" marB="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pPr algn="l" fontAlgn="ctr">
                        <a:tabLst>
                          <a:tab pos="1147763" algn="r"/>
                        </a:tabLst>
                      </a:pPr>
                      <a:r>
                        <a:rPr lang="en-US" sz="1800" b="0" i="0" u="none" strike="noStrike" dirty="0">
                          <a:solidFill>
                            <a:srgbClr val="000000"/>
                          </a:solidFill>
                          <a:effectLst/>
                          <a:latin typeface="+mn-lt"/>
                          <a:cs typeface="Arial" panose="020B0604020202020204" pitchFamily="34" charset="0"/>
                        </a:rPr>
                        <a:t>	100</a:t>
                      </a:r>
                    </a:p>
                  </a:txBody>
                  <a:tcPr marL="6350" marR="6350" marT="6350" marB="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pPr algn="r" fontAlgn="ctr"/>
                      <a:endParaRPr lang="en-US" sz="1800" b="0" i="0" u="none" strike="noStrike" dirty="0">
                        <a:solidFill>
                          <a:srgbClr val="000000"/>
                        </a:solidFill>
                        <a:effectLst/>
                        <a:latin typeface="+mn-lt"/>
                        <a:cs typeface="Arial" panose="020B0604020202020204" pitchFamily="34" charset="0"/>
                      </a:endParaRPr>
                    </a:p>
                  </a:txBody>
                  <a:tcPr marL="6350" marR="6350" marT="6350" marB="0"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1477686348"/>
                  </a:ext>
                </a:extLst>
              </a:tr>
            </a:tbl>
          </a:graphicData>
        </a:graphic>
      </p:graphicFrame>
    </p:spTree>
    <p:extLst>
      <p:ext uri="{BB962C8B-B14F-4D97-AF65-F5344CB8AC3E}">
        <p14:creationId xmlns:p14="http://schemas.microsoft.com/office/powerpoint/2010/main" val="176352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2F1851-52D5-03F3-7981-83429886F204}"/>
              </a:ext>
            </a:extLst>
          </p:cNvPr>
          <p:cNvSpPr>
            <a:spLocks noGrp="1"/>
          </p:cNvSpPr>
          <p:nvPr>
            <p:ph type="title"/>
          </p:nvPr>
        </p:nvSpPr>
        <p:spPr/>
        <p:txBody>
          <a:bodyPr/>
          <a:lstStyle/>
          <a:p>
            <a:r>
              <a:rPr lang="en-US" dirty="0"/>
              <a:t>2.1 Bar Chart</a:t>
            </a:r>
          </a:p>
        </p:txBody>
      </p:sp>
      <p:sp>
        <p:nvSpPr>
          <p:cNvPr id="3" name="Text Placeholder 2">
            <a:extLst>
              <a:ext uri="{FF2B5EF4-FFF2-40B4-BE49-F238E27FC236}">
                <a16:creationId xmlns:a16="http://schemas.microsoft.com/office/drawing/2014/main" id="{E2F8492D-AD9D-EE5B-D41A-129A2A09ACBF}"/>
              </a:ext>
            </a:extLst>
          </p:cNvPr>
          <p:cNvSpPr>
            <a:spLocks noGrp="1"/>
          </p:cNvSpPr>
          <p:nvPr>
            <p:ph type="body" sz="quarter" idx="15"/>
          </p:nvPr>
        </p:nvSpPr>
        <p:spPr>
          <a:xfrm>
            <a:off x="743577" y="1228066"/>
            <a:ext cx="10610222" cy="672106"/>
          </a:xfrm>
        </p:spPr>
        <p:txBody>
          <a:bodyPr/>
          <a:lstStyle/>
          <a:p>
            <a:pPr>
              <a:spcBef>
                <a:spcPts val="1000"/>
              </a:spcBef>
            </a:pPr>
            <a:r>
              <a:rPr lang="en-US" sz="2000" dirty="0"/>
              <a:t>A </a:t>
            </a:r>
            <a:r>
              <a:rPr lang="en-US" sz="2000" b="1" dirty="0"/>
              <a:t>bar chart </a:t>
            </a:r>
            <a:r>
              <a:rPr lang="en-US" sz="2000" dirty="0"/>
              <a:t>is a graphical display for depicting categorical data summarized in a frequency, relative frequency, or percent frequency distribution. </a:t>
            </a:r>
          </a:p>
        </p:txBody>
      </p:sp>
      <p:pic>
        <p:nvPicPr>
          <p:cNvPr id="6" name="Picture Placeholder 5" descr="A sorted bar chart with five vertical bars plots frequency versus soft drinks. The horizontal axis is labeled “Soft Drink” and lists five soft drinks. The vertical axis is labeled “Frequency” and ranges from 0 to 20 with tickmarks in increments of 2. The data from the chart are as follows. Coca-Cola: 19. Pepsi: 13. Diet Coke: 8. Doctor Pepper: 5. Sprite: 5.&#10;">
            <a:extLst>
              <a:ext uri="{FF2B5EF4-FFF2-40B4-BE49-F238E27FC236}">
                <a16:creationId xmlns:a16="http://schemas.microsoft.com/office/drawing/2014/main" id="{F50E5B13-F853-5C00-33B5-9C6A1990306B}"/>
              </a:ext>
            </a:extLst>
          </p:cNvPr>
          <p:cNvPicPr>
            <a:picLocks noGrp="1" noChangeAspect="1"/>
          </p:cNvPicPr>
          <p:nvPr>
            <p:ph type="pic" sz="quarter" idx="16"/>
          </p:nvPr>
        </p:nvPicPr>
        <p:blipFill rotWithShape="1">
          <a:blip r:embed="rId2"/>
          <a:srcRect t="32" b="32"/>
          <a:stretch/>
        </p:blipFill>
        <p:spPr>
          <a:xfrm>
            <a:off x="6230147" y="2243687"/>
            <a:ext cx="5123653" cy="3386247"/>
          </a:xfrm>
        </p:spPr>
      </p:pic>
      <p:sp>
        <p:nvSpPr>
          <p:cNvPr id="11" name="Text Placeholder 10">
            <a:extLst>
              <a:ext uri="{FF2B5EF4-FFF2-40B4-BE49-F238E27FC236}">
                <a16:creationId xmlns:a16="http://schemas.microsoft.com/office/drawing/2014/main" id="{F7894A5A-25F1-5919-C9A6-DC8EF1BC7F33}"/>
              </a:ext>
            </a:extLst>
          </p:cNvPr>
          <p:cNvSpPr>
            <a:spLocks noGrp="1"/>
          </p:cNvSpPr>
          <p:nvPr>
            <p:ph type="body" sz="quarter" idx="17"/>
          </p:nvPr>
        </p:nvSpPr>
        <p:spPr>
          <a:xfrm>
            <a:off x="743577" y="1900172"/>
            <a:ext cx="5352423" cy="4010177"/>
          </a:xfrm>
        </p:spPr>
        <p:txBody>
          <a:bodyPr/>
          <a:lstStyle/>
          <a:p>
            <a:pPr marL="512763" indent="-284163">
              <a:buFont typeface="Arial" panose="020B0604020202020204" pitchFamily="34" charset="0"/>
              <a:buChar char="•"/>
            </a:pPr>
            <a:r>
              <a:rPr lang="en-US" sz="2000" dirty="0"/>
              <a:t>On one axis (usually the horizontal axis), we specify the labels used for the classes (categories). </a:t>
            </a:r>
          </a:p>
          <a:p>
            <a:pPr marL="512763" indent="-284163">
              <a:buFont typeface="Arial" panose="020B0604020202020204" pitchFamily="34" charset="0"/>
              <a:buChar char="•"/>
            </a:pPr>
            <a:r>
              <a:rPr lang="en-US" sz="2000" dirty="0"/>
              <a:t>A frequency, relative frequency, or percent frequency scale is used for the other axis (usually the vertical axis).</a:t>
            </a:r>
          </a:p>
          <a:p>
            <a:pPr marL="512763" indent="-284163">
              <a:buFont typeface="Arial" panose="020B0604020202020204" pitchFamily="34" charset="0"/>
              <a:buChar char="•"/>
            </a:pPr>
            <a:r>
              <a:rPr lang="en-US" sz="2000" dirty="0"/>
              <a:t>Using a bar of fixed width, drawn above each class label, we extend the height appropriately.</a:t>
            </a:r>
          </a:p>
          <a:p>
            <a:pPr marL="512763" indent="-284163">
              <a:buFont typeface="Arial" panose="020B0604020202020204" pitchFamily="34" charset="0"/>
              <a:buChar char="•"/>
            </a:pPr>
            <a:r>
              <a:rPr lang="en-US" sz="2000" dirty="0"/>
              <a:t>The bars are separated to emphasize the fact that each class is a separate category.</a:t>
            </a:r>
          </a:p>
          <a:p>
            <a:pPr marL="512763" indent="-284163">
              <a:buFont typeface="Arial" panose="020B0604020202020204" pitchFamily="34" charset="0"/>
              <a:buChar char="•"/>
            </a:pPr>
            <a:r>
              <a:rPr lang="en-US" sz="2000" dirty="0"/>
              <a:t>In this example, the bars are also sorted.</a:t>
            </a:r>
          </a:p>
        </p:txBody>
      </p:sp>
    </p:spTree>
    <p:extLst>
      <p:ext uri="{BB962C8B-B14F-4D97-AF65-F5344CB8AC3E}">
        <p14:creationId xmlns:p14="http://schemas.microsoft.com/office/powerpoint/2010/main" val="6266998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2F1851-52D5-03F3-7981-83429886F204}"/>
              </a:ext>
            </a:extLst>
          </p:cNvPr>
          <p:cNvSpPr>
            <a:spLocks noGrp="1"/>
          </p:cNvSpPr>
          <p:nvPr>
            <p:ph type="title"/>
          </p:nvPr>
        </p:nvSpPr>
        <p:spPr/>
        <p:txBody>
          <a:bodyPr/>
          <a:lstStyle/>
          <a:p>
            <a:r>
              <a:rPr lang="en-US" dirty="0"/>
              <a:t>2.1 Pie Chart</a:t>
            </a:r>
          </a:p>
        </p:txBody>
      </p:sp>
      <p:sp>
        <p:nvSpPr>
          <p:cNvPr id="3" name="Text Placeholder 2">
            <a:extLst>
              <a:ext uri="{FF2B5EF4-FFF2-40B4-BE49-F238E27FC236}">
                <a16:creationId xmlns:a16="http://schemas.microsoft.com/office/drawing/2014/main" id="{E2F8492D-AD9D-EE5B-D41A-129A2A09ACBF}"/>
              </a:ext>
            </a:extLst>
          </p:cNvPr>
          <p:cNvSpPr>
            <a:spLocks noGrp="1"/>
          </p:cNvSpPr>
          <p:nvPr>
            <p:ph type="body" sz="quarter" idx="15"/>
          </p:nvPr>
        </p:nvSpPr>
        <p:spPr>
          <a:xfrm>
            <a:off x="743577" y="1228066"/>
            <a:ext cx="10426292" cy="672106"/>
          </a:xfrm>
        </p:spPr>
        <p:txBody>
          <a:bodyPr/>
          <a:lstStyle/>
          <a:p>
            <a:pPr>
              <a:spcBef>
                <a:spcPts val="1000"/>
              </a:spcBef>
            </a:pPr>
            <a:r>
              <a:rPr lang="en-US" sz="2000" dirty="0"/>
              <a:t>The </a:t>
            </a:r>
            <a:r>
              <a:rPr lang="en-US" sz="2000" b="1" dirty="0"/>
              <a:t>pie chart </a:t>
            </a:r>
            <a:r>
              <a:rPr lang="en-US" sz="2000" dirty="0"/>
              <a:t>provides another graphical display for presenting relative frequency and percent frequency distributions for categorical data</a:t>
            </a:r>
          </a:p>
        </p:txBody>
      </p:sp>
      <p:pic>
        <p:nvPicPr>
          <p:cNvPr id="7" name="Picture Placeholder 6" descr="A pie chart with five divisions shows soft drink purchases. The data from the chart in percent are as follows. Coca-Cola: 38. Pepsi: 26. Diet Coke: 16. Doctor Pepper: 10. Sprite: 10. &#10;">
            <a:extLst>
              <a:ext uri="{FF2B5EF4-FFF2-40B4-BE49-F238E27FC236}">
                <a16:creationId xmlns:a16="http://schemas.microsoft.com/office/drawing/2014/main" id="{F1DD39AE-923E-9270-A3EF-C7FF3E2EB15A}"/>
              </a:ext>
            </a:extLst>
          </p:cNvPr>
          <p:cNvPicPr>
            <a:picLocks noGrp="1" noChangeAspect="1"/>
          </p:cNvPicPr>
          <p:nvPr>
            <p:ph type="pic" sz="quarter" idx="16"/>
          </p:nvPr>
        </p:nvPicPr>
        <p:blipFill rotWithShape="1">
          <a:blip r:embed="rId2"/>
          <a:srcRect t="40" b="40"/>
          <a:stretch/>
        </p:blipFill>
        <p:spPr>
          <a:xfrm>
            <a:off x="6905707" y="1840128"/>
            <a:ext cx="3734584" cy="3731617"/>
          </a:xfrm>
        </p:spPr>
      </p:pic>
      <mc:AlternateContent xmlns:mc="http://schemas.openxmlformats.org/markup-compatibility/2006" xmlns:a14="http://schemas.microsoft.com/office/drawing/2010/main">
        <mc:Choice Requires="a14">
          <p:sp>
            <p:nvSpPr>
              <p:cNvPr id="11" name="Text Placeholder 10">
                <a:extLst>
                  <a:ext uri="{FF2B5EF4-FFF2-40B4-BE49-F238E27FC236}">
                    <a16:creationId xmlns:a16="http://schemas.microsoft.com/office/drawing/2014/main" id="{F7894A5A-25F1-5919-C9A6-DC8EF1BC7F33}"/>
                  </a:ext>
                </a:extLst>
              </p:cNvPr>
              <p:cNvSpPr>
                <a:spLocks noGrp="1"/>
              </p:cNvSpPr>
              <p:nvPr>
                <p:ph type="body" sz="quarter" idx="17"/>
              </p:nvPr>
            </p:nvSpPr>
            <p:spPr>
              <a:xfrm>
                <a:off x="743577" y="1900172"/>
                <a:ext cx="5893706" cy="3729762"/>
              </a:xfrm>
            </p:spPr>
            <p:txBody>
              <a:bodyPr/>
              <a:lstStyle/>
              <a:p>
                <a:pPr marL="512763" indent="-284163">
                  <a:buFont typeface="Arial" panose="020B0604020202020204" pitchFamily="34" charset="0"/>
                  <a:buChar char="•"/>
                </a:pPr>
                <a:r>
                  <a:rPr lang="en-US" sz="2000" dirty="0"/>
                  <a:t>First draw a circle.</a:t>
                </a:r>
              </a:p>
              <a:p>
                <a:pPr marL="512763" indent="-284163">
                  <a:buFont typeface="Arial" panose="020B0604020202020204" pitchFamily="34" charset="0"/>
                  <a:buChar char="•"/>
                </a:pPr>
                <a:r>
                  <a:rPr lang="en-US" sz="2000" dirty="0"/>
                  <a:t>Then, use the percent frequencies to subdivide the circle into sectors that are proportional to the percent frequency for each class.</a:t>
                </a:r>
              </a:p>
              <a:p>
                <a:pPr marL="512763" indent="-284163">
                  <a:buFont typeface="Arial" panose="020B0604020202020204" pitchFamily="34" charset="0"/>
                  <a:buChar char="•"/>
                </a:pPr>
                <a:r>
                  <a:rPr lang="en-US" sz="2000" dirty="0"/>
                  <a:t>Because there are 360 degrees in a circle, the sector of the pie chart labeled Coca-Cola consists of </a:t>
                </a:r>
                <a14:m>
                  <m:oMath xmlns:m="http://schemas.openxmlformats.org/officeDocument/2006/math">
                    <m:r>
                      <a:rPr lang="en-US" sz="2000" i="1" dirty="0" smtClean="0">
                        <a:latin typeface="Cambria Math" panose="02040503050406030204" pitchFamily="18" charset="0"/>
                      </a:rPr>
                      <m:t>0.38(360)=136.8</m:t>
                    </m:r>
                    <m:r>
                      <a:rPr lang="en-US" sz="2000" i="1" dirty="0" smtClean="0">
                        <a:latin typeface="Cambria Math" panose="02040503050406030204" pitchFamily="18" charset="0"/>
                        <a:ea typeface="Cambria Math" panose="02040503050406030204" pitchFamily="18" charset="0"/>
                      </a:rPr>
                      <m:t>°</m:t>
                    </m:r>
                  </m:oMath>
                </a14:m>
                <a:r>
                  <a:rPr lang="en-US" sz="2000" dirty="0"/>
                  <a:t>.</a:t>
                </a:r>
              </a:p>
              <a:p>
                <a:pPr marL="512763" indent="-284163">
                  <a:buFont typeface="Arial" panose="020B0604020202020204" pitchFamily="34" charset="0"/>
                  <a:buChar char="•"/>
                </a:pPr>
                <a:r>
                  <a:rPr lang="en-US" sz="2000" dirty="0"/>
                  <a:t>Similar calculations for the other classes yield the pie chart shown.</a:t>
                </a:r>
              </a:p>
              <a:p>
                <a:pPr marL="512763" indent="-284163">
                  <a:buFont typeface="Arial" panose="020B0604020202020204" pitchFamily="34" charset="0"/>
                  <a:buChar char="•"/>
                </a:pPr>
                <a:r>
                  <a:rPr lang="en-US" sz="2000" dirty="0"/>
                  <a:t>In general, pie charts are not the best way to present percentages for comparison.</a:t>
                </a:r>
              </a:p>
            </p:txBody>
          </p:sp>
        </mc:Choice>
        <mc:Fallback xmlns="">
          <p:sp>
            <p:nvSpPr>
              <p:cNvPr id="11" name="Text Placeholder 10">
                <a:extLst>
                  <a:ext uri="{FF2B5EF4-FFF2-40B4-BE49-F238E27FC236}">
                    <a16:creationId xmlns:a16="http://schemas.microsoft.com/office/drawing/2014/main" id="{F7894A5A-25F1-5919-C9A6-DC8EF1BC7F33}"/>
                  </a:ext>
                </a:extLst>
              </p:cNvPr>
              <p:cNvSpPr>
                <a:spLocks noGrp="1" noRot="1" noChangeAspect="1" noMove="1" noResize="1" noEditPoints="1" noAdjustHandles="1" noChangeArrowheads="1" noChangeShapeType="1" noTextEdit="1"/>
              </p:cNvSpPr>
              <p:nvPr>
                <p:ph type="body" sz="quarter" idx="17"/>
              </p:nvPr>
            </p:nvSpPr>
            <p:spPr>
              <a:xfrm>
                <a:off x="743577" y="1900172"/>
                <a:ext cx="5893706" cy="3729762"/>
              </a:xfrm>
              <a:blipFill>
                <a:blip r:embed="rId3"/>
                <a:stretch>
                  <a:fillRect t="-1961" r="-1965" b="-2288"/>
                </a:stretch>
              </a:blipFill>
            </p:spPr>
            <p:txBody>
              <a:bodyPr/>
              <a:lstStyle/>
              <a:p>
                <a:r>
                  <a:rPr lang="en-US">
                    <a:noFill/>
                  </a:rPr>
                  <a:t> </a:t>
                </a:r>
              </a:p>
            </p:txBody>
          </p:sp>
        </mc:Fallback>
      </mc:AlternateContent>
    </p:spTree>
    <p:extLst>
      <p:ext uri="{BB962C8B-B14F-4D97-AF65-F5344CB8AC3E}">
        <p14:creationId xmlns:p14="http://schemas.microsoft.com/office/powerpoint/2010/main" val="11041565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124EF2-5F22-3ED7-090B-5D7343BF2BC6}"/>
              </a:ext>
            </a:extLst>
          </p:cNvPr>
          <p:cNvSpPr>
            <a:spLocks noGrp="1"/>
          </p:cNvSpPr>
          <p:nvPr>
            <p:ph type="title"/>
          </p:nvPr>
        </p:nvSpPr>
        <p:spPr/>
        <p:txBody>
          <a:bodyPr/>
          <a:lstStyle/>
          <a:p>
            <a:r>
              <a:rPr lang="en-US" dirty="0">
                <a:solidFill>
                  <a:srgbClr val="25894E"/>
                </a:solidFill>
              </a:rPr>
              <a:t>2.1 Excel: Construct a Frequency Distribution</a:t>
            </a:r>
          </a:p>
        </p:txBody>
      </p:sp>
      <p:sp>
        <p:nvSpPr>
          <p:cNvPr id="3" name="Text Placeholder 2">
            <a:extLst>
              <a:ext uri="{FF2B5EF4-FFF2-40B4-BE49-F238E27FC236}">
                <a16:creationId xmlns:a16="http://schemas.microsoft.com/office/drawing/2014/main" id="{48D1614A-B6D6-F4AF-38C3-815C0669F8E0}"/>
              </a:ext>
            </a:extLst>
          </p:cNvPr>
          <p:cNvSpPr>
            <a:spLocks noGrp="1"/>
          </p:cNvSpPr>
          <p:nvPr>
            <p:ph type="body" sz="quarter" idx="15"/>
          </p:nvPr>
        </p:nvSpPr>
        <p:spPr>
          <a:xfrm>
            <a:off x="743576" y="1283036"/>
            <a:ext cx="4238327" cy="4598988"/>
          </a:xfrm>
        </p:spPr>
        <p:txBody>
          <a:bodyPr/>
          <a:lstStyle/>
          <a:p>
            <a:r>
              <a:rPr lang="en-US" sz="2000" dirty="0"/>
              <a:t>We can use Excel’s Recommended PivotTables tool to construct a frequency distribution for the sample of 50 soft drink purchases.</a:t>
            </a:r>
          </a:p>
          <a:p>
            <a:r>
              <a:rPr lang="en-US" sz="2000" b="1" dirty="0"/>
              <a:t>Enter/Access Data</a:t>
            </a:r>
            <a:r>
              <a:rPr lang="en-US" sz="2000" dirty="0"/>
              <a:t>: Open the file </a:t>
            </a:r>
            <a:r>
              <a:rPr lang="en-US" sz="2000" i="1" dirty="0" err="1"/>
              <a:t>softdrink</a:t>
            </a:r>
            <a:r>
              <a:rPr lang="en-US" sz="2000" dirty="0"/>
              <a:t>.</a:t>
            </a:r>
          </a:p>
          <a:p>
            <a:r>
              <a:rPr lang="en-US" sz="2000" b="1" dirty="0"/>
              <a:t>Apply Tools</a:t>
            </a:r>
            <a:r>
              <a:rPr lang="en-US" sz="2000" dirty="0"/>
              <a:t>: To build a Pivot Table:</a:t>
            </a:r>
          </a:p>
          <a:p>
            <a:pPr marL="228600">
              <a:spcBef>
                <a:spcPts val="300"/>
              </a:spcBef>
            </a:pPr>
            <a:r>
              <a:rPr lang="en-US" sz="1800" b="1" dirty="0"/>
              <a:t>Step 1</a:t>
            </a:r>
            <a:r>
              <a:rPr lang="en-US" sz="1800" dirty="0"/>
              <a:t>. Select any cell in the dataset.</a:t>
            </a:r>
          </a:p>
          <a:p>
            <a:pPr marL="228600">
              <a:spcBef>
                <a:spcPts val="300"/>
              </a:spcBef>
            </a:pPr>
            <a:r>
              <a:rPr lang="en-US" sz="1800" b="1" dirty="0"/>
              <a:t>Step 2</a:t>
            </a:r>
            <a:r>
              <a:rPr lang="en-US" sz="1800" dirty="0"/>
              <a:t>. Click the </a:t>
            </a:r>
            <a:r>
              <a:rPr lang="en-US" sz="1800" b="1" dirty="0"/>
              <a:t>Insert</a:t>
            </a:r>
            <a:r>
              <a:rPr lang="en-US" sz="1800" dirty="0"/>
              <a:t> tab on the Ribbon.</a:t>
            </a:r>
          </a:p>
          <a:p>
            <a:pPr marL="228600">
              <a:spcBef>
                <a:spcPts val="300"/>
              </a:spcBef>
            </a:pPr>
            <a:r>
              <a:rPr lang="en-US" sz="1800" b="1" dirty="0"/>
              <a:t>Step 3</a:t>
            </a:r>
            <a:r>
              <a:rPr lang="en-US" sz="1800" dirty="0"/>
              <a:t>. In the </a:t>
            </a:r>
            <a:r>
              <a:rPr lang="en-US" sz="1800" b="1" dirty="0"/>
              <a:t>Tables</a:t>
            </a:r>
            <a:r>
              <a:rPr lang="en-US" sz="1800" dirty="0"/>
              <a:t> group, click </a:t>
            </a:r>
            <a:r>
              <a:rPr lang="en-US" sz="1800" b="1" dirty="0"/>
              <a:t>Recommended PivotTables</a:t>
            </a:r>
            <a:r>
              <a:rPr lang="en-US" sz="1800" dirty="0"/>
              <a:t>.</a:t>
            </a:r>
          </a:p>
          <a:p>
            <a:pPr marL="228600">
              <a:spcBef>
                <a:spcPts val="300"/>
              </a:spcBef>
            </a:pPr>
            <a:r>
              <a:rPr lang="en-US" sz="1800" b="1" dirty="0"/>
              <a:t>Step 4</a:t>
            </a:r>
            <a:r>
              <a:rPr lang="en-US" sz="1800" dirty="0"/>
              <a:t>. Click </a:t>
            </a:r>
            <a:r>
              <a:rPr lang="en-US" sz="1800" b="1" dirty="0"/>
              <a:t>OK</a:t>
            </a:r>
            <a:r>
              <a:rPr lang="en-US" sz="1800" dirty="0"/>
              <a:t>.</a:t>
            </a:r>
            <a:endParaRPr lang="en-US" sz="2000" dirty="0"/>
          </a:p>
        </p:txBody>
      </p:sp>
      <p:pic>
        <p:nvPicPr>
          <p:cNvPr id="6" name="Picture Placeholder 5" descr="A screenshot shows an Excel spreadsheet with the Pivot Table Fields dialog box. In the spreadsheet, column A is labeled row labels and column B is labeled count of brand purchased. The entries from rows 4 through 9 are as follows. Row 4. Label: Coca-Cola. Count: 19. Row 5. Label: Diet Coke. Count: 8. Row 6. Label: Doctor Pepper. Count: 5. Row 7. Label: Pepsi. Count: 13. Row 8. Label: Sprite. Count: 5. Row 9. Label: Grand Total. Count: 50. The Pivot Table Fields dialog box consists of two sections. Text on the top reads, Choose fields to add to report. This is followed by a search field. The first section has a box in which Brand Purchased is listed. Text in the second field reads, Drag fields between areas below. There are four areas labeled filters, columns, rows, and values. The field in rows is brand purchased. The field in values is count of brand purchased.&#10;">
            <a:extLst>
              <a:ext uri="{FF2B5EF4-FFF2-40B4-BE49-F238E27FC236}">
                <a16:creationId xmlns:a16="http://schemas.microsoft.com/office/drawing/2014/main" id="{30C0F9F7-BE30-675C-0DF5-4FF75F0CB9BB}"/>
              </a:ext>
            </a:extLst>
          </p:cNvPr>
          <p:cNvPicPr>
            <a:picLocks noGrp="1" noChangeAspect="1"/>
          </p:cNvPicPr>
          <p:nvPr>
            <p:ph type="pic" sz="quarter" idx="16"/>
          </p:nvPr>
        </p:nvPicPr>
        <p:blipFill>
          <a:blip r:embed="rId3"/>
          <a:srcRect/>
          <a:stretch/>
        </p:blipFill>
        <p:spPr>
          <a:xfrm>
            <a:off x="4981903" y="1283036"/>
            <a:ext cx="6466520" cy="4549177"/>
          </a:xfrm>
          <a:ln>
            <a:solidFill>
              <a:srgbClr val="000000"/>
            </a:solidFill>
          </a:ln>
        </p:spPr>
      </p:pic>
    </p:spTree>
    <p:extLst>
      <p:ext uri="{BB962C8B-B14F-4D97-AF65-F5344CB8AC3E}">
        <p14:creationId xmlns:p14="http://schemas.microsoft.com/office/powerpoint/2010/main" val="13084568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EE8196-0E04-401D-B93F-685948CD49CA}"/>
              </a:ext>
            </a:extLst>
          </p:cNvPr>
          <p:cNvSpPr>
            <a:spLocks noGrp="1"/>
          </p:cNvSpPr>
          <p:nvPr>
            <p:ph type="title"/>
          </p:nvPr>
        </p:nvSpPr>
        <p:spPr>
          <a:xfrm>
            <a:off x="299546" y="365125"/>
            <a:ext cx="11564007" cy="672105"/>
          </a:xfrm>
        </p:spPr>
        <p:txBody>
          <a:bodyPr/>
          <a:lstStyle/>
          <a:p>
            <a:r>
              <a:rPr lang="en-US" sz="3200" dirty="0">
                <a:solidFill>
                  <a:srgbClr val="25894E"/>
                </a:solidFill>
              </a:rPr>
              <a:t>2.1 Excel: Construct Relative and Percent Frequency Distributions</a:t>
            </a:r>
            <a:endParaRPr lang="en-US" sz="3200" dirty="0"/>
          </a:p>
        </p:txBody>
      </p:sp>
      <p:sp>
        <p:nvSpPr>
          <p:cNvPr id="3" name="Text Placeholder 2">
            <a:extLst>
              <a:ext uri="{FF2B5EF4-FFF2-40B4-BE49-F238E27FC236}">
                <a16:creationId xmlns:a16="http://schemas.microsoft.com/office/drawing/2014/main" id="{03766689-C417-E65F-A73E-1E840E2BF8A9}"/>
              </a:ext>
            </a:extLst>
          </p:cNvPr>
          <p:cNvSpPr>
            <a:spLocks noGrp="1"/>
          </p:cNvSpPr>
          <p:nvPr>
            <p:ph type="body" sz="quarter" idx="15"/>
          </p:nvPr>
        </p:nvSpPr>
        <p:spPr>
          <a:xfrm>
            <a:off x="743578" y="3365871"/>
            <a:ext cx="5066016" cy="1907627"/>
          </a:xfrm>
        </p:spPr>
        <p:txBody>
          <a:bodyPr/>
          <a:lstStyle/>
          <a:p>
            <a:r>
              <a:rPr lang="en-US" sz="2000" dirty="0"/>
              <a:t>To compute the relative frequency for Coca-Cola, we entered the formula =B4/$B$9 in cell C4. Copying cell C4 to cells C5:C8 computes the remaining relative frequencies.</a:t>
            </a:r>
          </a:p>
          <a:p>
            <a:r>
              <a:rPr lang="en-US" sz="2000" dirty="0"/>
              <a:t>To compute the percent frequency for Coca- Cola, we entered the formula =C4*100 in cell </a:t>
            </a:r>
          </a:p>
        </p:txBody>
      </p:sp>
      <p:pic>
        <p:nvPicPr>
          <p:cNvPr id="9" name="Picture Placeholder 8" descr="Two screenshots show Excel spreadsheets with data for frequency, relative frequency, and percent frequency of different soft drinks. In both the spreadsheets, column A is labeled soft drink, column B is labeled frequency, column C is labeled relative frequency, and column D is labeled percent frequency. The entries from rows 4 through 9 in the first spreadsheet are as follows. Row 4. Soft drink: Coca-Cola. Count: 19. Relative frequency: =B4/$B$9. Percent frequency: =C4*100. Row 5. Soft drink: Diet Coke. Count: 8. Relative frequency: =B5/$B$9. Percent frequency: =C5*100. Row 6. Soft drink: Doctor Pepper. Count: 5. Relative frequency: =B6/$B$9. Percent frequency: =C6*100.  Row 7. Soft drink: Pepsi. Count: 13. Relative frequency: =B7/$B$9. Percent frequency: =C7*100.  Row 8. Soft drink: Sprite. Count: 5. Relative frequency: =B8/$B$9. Percent frequency: =C8*100.  Row 9. Soft drink: Grand Total. Count: 50. Relative frequency: =SUM(C4:C8). Percent frequency: =SUM(D4:D8). The entries from rows 4 through 9 in the second spreadsheet are as follows. Row 4. Soft drink: Coca-Cola. Count: 19. Relative frequency: 0.38. Percent frequency: 38. Row 5. Soft drink: Diet Coke. Count: 8. Relative frequency: 0.16. Percent frequency: 16. Row 6. Soft drink: Doctor Pepper. Count: 5. Relative frequency: 0.1. Percent frequency: 10.  Row 7. Soft drink: Pepsi. Count: 13. Relative frequency: 0.26. Percent frequency: 26. Row 8. Soft drink: Sprite. Count: 5. Relative frequency: 0.1. Percent frequency: 10.  Row 9. Soft drink: Grand Total. Count: 50. Relative frequency: 1. Percent frequency: 100.&#10;">
            <a:extLst>
              <a:ext uri="{FF2B5EF4-FFF2-40B4-BE49-F238E27FC236}">
                <a16:creationId xmlns:a16="http://schemas.microsoft.com/office/drawing/2014/main" id="{A2078F90-EA4A-1ED9-6E8B-800CC6A6836D}"/>
              </a:ext>
            </a:extLst>
          </p:cNvPr>
          <p:cNvPicPr>
            <a:picLocks noGrp="1" noChangeAspect="1"/>
          </p:cNvPicPr>
          <p:nvPr>
            <p:ph type="pic" sz="quarter" idx="16"/>
          </p:nvPr>
        </p:nvPicPr>
        <p:blipFill>
          <a:blip r:embed="rId2"/>
          <a:srcRect l="10" r="10"/>
          <a:stretch/>
        </p:blipFill>
        <p:spPr>
          <a:xfrm>
            <a:off x="3613709" y="1511350"/>
            <a:ext cx="7651834" cy="3440631"/>
          </a:xfrm>
        </p:spPr>
      </p:pic>
      <p:sp>
        <p:nvSpPr>
          <p:cNvPr id="5" name="Text Placeholder 4">
            <a:extLst>
              <a:ext uri="{FF2B5EF4-FFF2-40B4-BE49-F238E27FC236}">
                <a16:creationId xmlns:a16="http://schemas.microsoft.com/office/drawing/2014/main" id="{F6BDC288-16C8-93CE-EDF3-F03DE023E0FA}"/>
              </a:ext>
            </a:extLst>
          </p:cNvPr>
          <p:cNvSpPr>
            <a:spLocks noGrp="1"/>
          </p:cNvSpPr>
          <p:nvPr>
            <p:ph type="body" sz="quarter" idx="17"/>
          </p:nvPr>
        </p:nvSpPr>
        <p:spPr>
          <a:xfrm>
            <a:off x="743576" y="5273499"/>
            <a:ext cx="10704847" cy="709448"/>
          </a:xfrm>
        </p:spPr>
        <p:txBody>
          <a:bodyPr/>
          <a:lstStyle/>
          <a:p>
            <a:r>
              <a:rPr lang="en-US" sz="2000" dirty="0"/>
              <a:t>D4 and copied it to cells D5:D8 to compute the remaining percent frequencies.</a:t>
            </a:r>
          </a:p>
          <a:p>
            <a:r>
              <a:rPr lang="en-US" sz="2000" dirty="0"/>
              <a:t>The totals are computed by entering SUM(C4:C8) in cell C9 and copying it to cell D9.</a:t>
            </a:r>
          </a:p>
        </p:txBody>
      </p:sp>
    </p:spTree>
    <p:extLst>
      <p:ext uri="{BB962C8B-B14F-4D97-AF65-F5344CB8AC3E}">
        <p14:creationId xmlns:p14="http://schemas.microsoft.com/office/powerpoint/2010/main" val="13625139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EE8196-0E04-401D-B93F-685948CD49CA}"/>
              </a:ext>
            </a:extLst>
          </p:cNvPr>
          <p:cNvSpPr>
            <a:spLocks noGrp="1"/>
          </p:cNvSpPr>
          <p:nvPr>
            <p:ph type="title"/>
          </p:nvPr>
        </p:nvSpPr>
        <p:spPr>
          <a:xfrm>
            <a:off x="806641" y="365125"/>
            <a:ext cx="10538332" cy="672105"/>
          </a:xfrm>
        </p:spPr>
        <p:txBody>
          <a:bodyPr/>
          <a:lstStyle/>
          <a:p>
            <a:r>
              <a:rPr lang="en-US" dirty="0">
                <a:solidFill>
                  <a:srgbClr val="25894E"/>
                </a:solidFill>
              </a:rPr>
              <a:t>2.1 Excel: Construct a Bar Chart</a:t>
            </a:r>
            <a:endParaRPr lang="en-US" dirty="0"/>
          </a:p>
        </p:txBody>
      </p:sp>
      <p:sp>
        <p:nvSpPr>
          <p:cNvPr id="3" name="Text Placeholder 2">
            <a:extLst>
              <a:ext uri="{FF2B5EF4-FFF2-40B4-BE49-F238E27FC236}">
                <a16:creationId xmlns:a16="http://schemas.microsoft.com/office/drawing/2014/main" id="{03766689-C417-E65F-A73E-1E840E2BF8A9}"/>
              </a:ext>
            </a:extLst>
          </p:cNvPr>
          <p:cNvSpPr>
            <a:spLocks noGrp="1"/>
          </p:cNvSpPr>
          <p:nvPr>
            <p:ph type="body" sz="quarter" idx="15"/>
          </p:nvPr>
        </p:nvSpPr>
        <p:spPr>
          <a:xfrm>
            <a:off x="743577" y="3868524"/>
            <a:ext cx="7115533" cy="1046073"/>
          </a:xfrm>
        </p:spPr>
        <p:txBody>
          <a:bodyPr/>
          <a:lstStyle/>
          <a:p>
            <a:r>
              <a:rPr lang="en-US" sz="2000" b="1" dirty="0"/>
              <a:t>Enter/Access Data</a:t>
            </a:r>
            <a:r>
              <a:rPr lang="en-US" sz="2000" dirty="0"/>
              <a:t>: Open the file </a:t>
            </a:r>
            <a:r>
              <a:rPr lang="en-US" sz="2000" i="1" dirty="0" err="1"/>
              <a:t>softdrink</a:t>
            </a:r>
            <a:r>
              <a:rPr lang="en-US" sz="2000" dirty="0"/>
              <a:t>.</a:t>
            </a:r>
          </a:p>
          <a:p>
            <a:r>
              <a:rPr lang="en-US" sz="2000" b="1" dirty="0"/>
              <a:t>Apply Tools</a:t>
            </a:r>
            <a:r>
              <a:rPr lang="en-US" sz="2000" dirty="0"/>
              <a:t>: the following steps describe how to use Excel’s Recommended Charts tool to construct a bar chart.</a:t>
            </a:r>
          </a:p>
        </p:txBody>
      </p:sp>
      <p:pic>
        <p:nvPicPr>
          <p:cNvPr id="7" name="Picture Placeholder 6" descr="A screenshot shows an Excel spreadsheet with a table, a bar chart, and the Pivot Table Fields dialog box. In the spreadsheet, column A is labeled row labels and column B is labeled count of brand purchased. The entries from rows 4 through 8 are as follows. Row 4. Label: Coca-Cola. Count: 19. Row 5. Label: Diet Coke. Count: 8. Row 6. Label: Doctor Pepper. Count: 5. Row 7. Label: Pepsi. Count: 13. Row 8. Label: Sprite. Count: 5. The bar chart is titled, Count of Brand Purchased. The horizontal axis is labeled brand purchased and lists soft drinks. The vertical axis is labeled count of brand purchased and ranges from 0 to 20 in increments of 5. The data from the chart are as follows. Coca-Cola: 19. Diet Coke: 8. Doctor Pepper: 5. Pepsi: 13. Sprite: 5. The Pivot Table Fields dialog box consists of two sections. Text on the top reads, Choose fields to add to report. This is followed by a search field. The first section has a box in which Brand Purchased is listed. Text in the second field reads, Drag fields between areas below. There are four areas labeled filters, columns, rows, and values. The field in rows is brand purchased. The field in values is count of brand purchased.&#10;">
            <a:extLst>
              <a:ext uri="{FF2B5EF4-FFF2-40B4-BE49-F238E27FC236}">
                <a16:creationId xmlns:a16="http://schemas.microsoft.com/office/drawing/2014/main" id="{7B68FD5F-FCBC-3FB4-BE85-7A6B97E17B42}"/>
              </a:ext>
            </a:extLst>
          </p:cNvPr>
          <p:cNvPicPr>
            <a:picLocks noGrp="1" noChangeAspect="1"/>
          </p:cNvPicPr>
          <p:nvPr>
            <p:ph type="pic" sz="quarter" idx="16"/>
          </p:nvPr>
        </p:nvPicPr>
        <p:blipFill>
          <a:blip r:embed="rId3"/>
          <a:srcRect l="15" r="15"/>
          <a:stretch/>
        </p:blipFill>
        <p:spPr>
          <a:xfrm>
            <a:off x="2128345" y="1095727"/>
            <a:ext cx="9128235" cy="3855445"/>
          </a:xfrm>
        </p:spPr>
      </p:pic>
      <p:sp>
        <p:nvSpPr>
          <p:cNvPr id="5" name="Text Placeholder 4">
            <a:extLst>
              <a:ext uri="{FF2B5EF4-FFF2-40B4-BE49-F238E27FC236}">
                <a16:creationId xmlns:a16="http://schemas.microsoft.com/office/drawing/2014/main" id="{F6BDC288-16C8-93CE-EDF3-F03DE023E0FA}"/>
              </a:ext>
            </a:extLst>
          </p:cNvPr>
          <p:cNvSpPr>
            <a:spLocks noGrp="1"/>
          </p:cNvSpPr>
          <p:nvPr>
            <p:ph type="body" sz="quarter" idx="17"/>
          </p:nvPr>
        </p:nvSpPr>
        <p:spPr>
          <a:xfrm>
            <a:off x="743577" y="4996280"/>
            <a:ext cx="10607596" cy="956187"/>
          </a:xfrm>
        </p:spPr>
        <p:txBody>
          <a:bodyPr numCol="2"/>
          <a:lstStyle/>
          <a:p>
            <a:pPr>
              <a:spcBef>
                <a:spcPts val="400"/>
              </a:spcBef>
            </a:pPr>
            <a:r>
              <a:rPr lang="en-US" sz="1800" b="1" dirty="0"/>
              <a:t>Step 1</a:t>
            </a:r>
            <a:r>
              <a:rPr lang="en-US" sz="1800" dirty="0"/>
              <a:t>: Select any cell in the data set. </a:t>
            </a:r>
          </a:p>
          <a:p>
            <a:pPr>
              <a:spcBef>
                <a:spcPts val="400"/>
              </a:spcBef>
            </a:pPr>
            <a:r>
              <a:rPr lang="en-US" sz="1800" b="1" dirty="0"/>
              <a:t>Step 2</a:t>
            </a:r>
            <a:r>
              <a:rPr lang="en-US" sz="1800" dirty="0"/>
              <a:t>: Click the </a:t>
            </a:r>
            <a:r>
              <a:rPr lang="en-US" sz="1800" b="1" dirty="0"/>
              <a:t>Insert</a:t>
            </a:r>
            <a:r>
              <a:rPr lang="en-US" sz="1800" dirty="0"/>
              <a:t> tab on the </a:t>
            </a:r>
            <a:r>
              <a:rPr lang="en-US" sz="1800" b="1" dirty="0"/>
              <a:t>Ribbon</a:t>
            </a:r>
            <a:r>
              <a:rPr lang="en-US" sz="1800" dirty="0"/>
              <a:t>. </a:t>
            </a:r>
          </a:p>
          <a:p>
            <a:pPr>
              <a:spcBef>
                <a:spcPts val="400"/>
              </a:spcBef>
            </a:pPr>
            <a:r>
              <a:rPr lang="en-US" sz="1800" b="1" dirty="0"/>
              <a:t>Step 3</a:t>
            </a:r>
            <a:r>
              <a:rPr lang="en-US" sz="1800" dirty="0"/>
              <a:t>: In the </a:t>
            </a:r>
            <a:r>
              <a:rPr lang="en-US" sz="1800" b="1" dirty="0"/>
              <a:t>Charts</a:t>
            </a:r>
            <a:r>
              <a:rPr lang="en-US" sz="1800" dirty="0"/>
              <a:t> group, click </a:t>
            </a:r>
            <a:r>
              <a:rPr lang="en-US" sz="1800" b="1" dirty="0"/>
              <a:t>Recommended Charts</a:t>
            </a:r>
            <a:r>
              <a:rPr lang="en-US" sz="1800" dirty="0"/>
              <a:t>; a preview showing the bar chart appears.</a:t>
            </a:r>
          </a:p>
          <a:p>
            <a:pPr>
              <a:spcBef>
                <a:spcPts val="400"/>
              </a:spcBef>
            </a:pPr>
            <a:r>
              <a:rPr lang="en-US" sz="1800" b="1" dirty="0"/>
              <a:t>Step 4</a:t>
            </a:r>
            <a:r>
              <a:rPr lang="en-US" sz="1800" dirty="0"/>
              <a:t>: Click </a:t>
            </a:r>
            <a:r>
              <a:rPr lang="en-US" sz="1800" b="1" dirty="0"/>
              <a:t>OK</a:t>
            </a:r>
            <a:r>
              <a:rPr lang="en-US" sz="1800" dirty="0"/>
              <a:t>; the bar chart will appear in a new worksheet. See notes for editing options.</a:t>
            </a:r>
          </a:p>
        </p:txBody>
      </p:sp>
    </p:spTree>
    <p:extLst>
      <p:ext uri="{BB962C8B-B14F-4D97-AF65-F5344CB8AC3E}">
        <p14:creationId xmlns:p14="http://schemas.microsoft.com/office/powerpoint/2010/main" val="14732742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2F1851-52D5-03F3-7981-83429886F204}"/>
              </a:ext>
            </a:extLst>
          </p:cNvPr>
          <p:cNvSpPr>
            <a:spLocks noGrp="1"/>
          </p:cNvSpPr>
          <p:nvPr>
            <p:ph type="title"/>
          </p:nvPr>
        </p:nvSpPr>
        <p:spPr/>
        <p:txBody>
          <a:bodyPr/>
          <a:lstStyle/>
          <a:p>
            <a:r>
              <a:rPr lang="en-US" sz="3200" dirty="0">
                <a:solidFill>
                  <a:srgbClr val="D14B1E"/>
                </a:solidFill>
              </a:rPr>
              <a:t>2.2 Summarizing Data for a Quantitative Variable</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E2F8492D-AD9D-EE5B-D41A-129A2A09ACBF}"/>
                  </a:ext>
                </a:extLst>
              </p:cNvPr>
              <p:cNvSpPr>
                <a:spLocks noGrp="1"/>
              </p:cNvSpPr>
              <p:nvPr>
                <p:ph type="body" sz="quarter" idx="15"/>
              </p:nvPr>
            </p:nvSpPr>
            <p:spPr>
              <a:xfrm>
                <a:off x="793194" y="1251298"/>
                <a:ext cx="10424160" cy="2177701"/>
              </a:xfrm>
            </p:spPr>
            <p:txBody>
              <a:bodyPr>
                <a:normAutofit/>
              </a:bodyPr>
              <a:lstStyle/>
              <a:p>
                <a:r>
                  <a:rPr lang="en-US" sz="1800" dirty="0">
                    <a:latin typeface="Arial" panose="020B0604020202020204" pitchFamily="34" charset="0"/>
                    <a:cs typeface="Arial" panose="020B0604020202020204" pitchFamily="34" charset="0"/>
                  </a:rPr>
                  <a:t>To build a frequency distribution for quantitative data, we must be more careful in defining the nonoverlapping classes to be used in the frequency distribution.</a:t>
                </a:r>
              </a:p>
              <a:p>
                <a:r>
                  <a:rPr lang="en-US" sz="1800" dirty="0">
                    <a:latin typeface="Arial" panose="020B0604020202020204" pitchFamily="34" charset="0"/>
                    <a:cs typeface="Arial" panose="020B0604020202020204" pitchFamily="34" charset="0"/>
                  </a:rPr>
                  <a:t>The steps to define the classes for a frequency distribution with quantitative data are:</a:t>
                </a:r>
              </a:p>
              <a:p>
                <a:pPr marL="457200" indent="-339725">
                  <a:buFont typeface="+mj-lt"/>
                  <a:buAutoNum type="arabicPeriod"/>
                </a:pPr>
                <a:r>
                  <a:rPr lang="en-US" sz="1800" b="1" dirty="0">
                    <a:latin typeface="Arial" panose="020B0604020202020204" pitchFamily="34" charset="0"/>
                    <a:cs typeface="Arial" panose="020B0604020202020204" pitchFamily="34" charset="0"/>
                  </a:rPr>
                  <a:t>Number of classes</a:t>
                </a:r>
                <a:r>
                  <a:rPr lang="en-US" sz="1800" dirty="0">
                    <a:latin typeface="Arial" panose="020B0604020202020204" pitchFamily="34" charset="0"/>
                    <a:cs typeface="Arial" panose="020B0604020202020204" pitchFamily="34" charset="0"/>
                  </a:rPr>
                  <a:t>: from 5, for small data sets, up to 20 for large data sets.</a:t>
                </a:r>
              </a:p>
              <a:p>
                <a:pPr marL="457200" indent="-339725">
                  <a:buFont typeface="+mj-lt"/>
                  <a:buAutoNum type="arabicPeriod"/>
                </a:pPr>
                <a:r>
                  <a:rPr lang="en-US" sz="1800" b="1" dirty="0">
                    <a:latin typeface="Arial" panose="020B0604020202020204" pitchFamily="34" charset="0"/>
                    <a:cs typeface="Arial" panose="020B0604020202020204" pitchFamily="34" charset="0"/>
                  </a:rPr>
                  <a:t>Width of the classes</a:t>
                </a:r>
                <a:r>
                  <a:rPr lang="en-US" sz="1800" dirty="0">
                    <a:latin typeface="Arial" panose="020B0604020202020204" pitchFamily="34" charset="0"/>
                    <a:cs typeface="Arial" panose="020B0604020202020204" pitchFamily="34" charset="0"/>
                  </a:rPr>
                  <a:t>: </a:t>
                </a:r>
                <a14:m>
                  <m:oMath xmlns:m="http://schemas.openxmlformats.org/officeDocument/2006/math">
                    <m:r>
                      <m:rPr>
                        <m:nor/>
                      </m:rPr>
                      <a:rPr lang="en-US" sz="1800" i="0" dirty="0" smtClean="0">
                        <a:solidFill>
                          <a:srgbClr val="FF0000"/>
                        </a:solidFill>
                        <a:latin typeface="Arial" panose="020B0604020202020204" pitchFamily="34" charset="0"/>
                        <a:cs typeface="Arial" panose="020B0604020202020204" pitchFamily="34" charset="0"/>
                      </a:rPr>
                      <m:t>Approx</m:t>
                    </m:r>
                    <m:r>
                      <m:rPr>
                        <m:nor/>
                      </m:rPr>
                      <a:rPr lang="en-US" sz="1800" b="0" i="0" dirty="0" smtClean="0">
                        <a:solidFill>
                          <a:srgbClr val="FF0000"/>
                        </a:solidFill>
                        <a:latin typeface="Arial" panose="020B0604020202020204" pitchFamily="34" charset="0"/>
                        <a:cs typeface="Arial" panose="020B0604020202020204" pitchFamily="34" charset="0"/>
                      </a:rPr>
                      <m:t>.</m:t>
                    </m:r>
                    <m:r>
                      <m:rPr>
                        <m:nor/>
                      </m:rPr>
                      <a:rPr lang="en-US" sz="1800" i="0" dirty="0" smtClean="0">
                        <a:solidFill>
                          <a:srgbClr val="FF0000"/>
                        </a:solidFill>
                        <a:latin typeface="Arial" panose="020B0604020202020204" pitchFamily="34" charset="0"/>
                        <a:cs typeface="Arial" panose="020B0604020202020204" pitchFamily="34" charset="0"/>
                      </a:rPr>
                      <m:t> </m:t>
                    </m:r>
                    <m:r>
                      <m:rPr>
                        <m:nor/>
                      </m:rPr>
                      <a:rPr lang="en-US" sz="1800" i="0" dirty="0" smtClean="0">
                        <a:solidFill>
                          <a:srgbClr val="FF0000"/>
                        </a:solidFill>
                        <a:latin typeface="Arial" panose="020B0604020202020204" pitchFamily="34" charset="0"/>
                        <a:cs typeface="Arial" panose="020B0604020202020204" pitchFamily="34" charset="0"/>
                      </a:rPr>
                      <m:t>class</m:t>
                    </m:r>
                    <m:r>
                      <m:rPr>
                        <m:nor/>
                      </m:rPr>
                      <a:rPr lang="en-US" sz="1800" i="0" dirty="0" smtClean="0">
                        <a:solidFill>
                          <a:srgbClr val="FF0000"/>
                        </a:solidFill>
                        <a:latin typeface="Arial" panose="020B0604020202020204" pitchFamily="34" charset="0"/>
                        <a:cs typeface="Arial" panose="020B0604020202020204" pitchFamily="34" charset="0"/>
                      </a:rPr>
                      <m:t> </m:t>
                    </m:r>
                    <m:r>
                      <m:rPr>
                        <m:nor/>
                      </m:rPr>
                      <a:rPr lang="en-US" sz="1800" i="0" dirty="0" smtClean="0">
                        <a:solidFill>
                          <a:srgbClr val="FF0000"/>
                        </a:solidFill>
                        <a:latin typeface="Arial" panose="020B0604020202020204" pitchFamily="34" charset="0"/>
                        <a:cs typeface="Arial" panose="020B0604020202020204" pitchFamily="34" charset="0"/>
                      </a:rPr>
                      <m:t>width</m:t>
                    </m:r>
                    <m:r>
                      <a:rPr lang="en-US" sz="1800" i="1" dirty="0" smtClean="0">
                        <a:solidFill>
                          <a:srgbClr val="FF0000"/>
                        </a:solidFill>
                        <a:latin typeface="Cambria Math" panose="02040503050406030204" pitchFamily="18" charset="0"/>
                      </a:rPr>
                      <m:t>=</m:t>
                    </m:r>
                    <m:f>
                      <m:fPr>
                        <m:ctrlPr>
                          <a:rPr lang="en-US" sz="1800" i="1" dirty="0" smtClean="0">
                            <a:solidFill>
                              <a:srgbClr val="FF0000"/>
                            </a:solidFill>
                            <a:latin typeface="Cambria Math" panose="02040503050406030204" pitchFamily="18" charset="0"/>
                          </a:rPr>
                        </m:ctrlPr>
                      </m:fPr>
                      <m:num>
                        <m:r>
                          <m:rPr>
                            <m:nor/>
                          </m:rPr>
                          <a:rPr lang="en-US" sz="1800" dirty="0">
                            <a:solidFill>
                              <a:srgbClr val="FF0000"/>
                            </a:solidFill>
                            <a:latin typeface="Arial" panose="020B0604020202020204" pitchFamily="34" charset="0"/>
                            <a:cs typeface="Arial" panose="020B0604020202020204" pitchFamily="34" charset="0"/>
                          </a:rPr>
                          <m:t>Largest</m:t>
                        </m:r>
                        <m:r>
                          <m:rPr>
                            <m:nor/>
                          </m:rPr>
                          <a:rPr lang="en-US" sz="1800" dirty="0">
                            <a:solidFill>
                              <a:srgbClr val="FF0000"/>
                            </a:solidFill>
                            <a:latin typeface="Arial" panose="020B0604020202020204" pitchFamily="34" charset="0"/>
                            <a:cs typeface="Arial" panose="020B0604020202020204" pitchFamily="34" charset="0"/>
                          </a:rPr>
                          <m:t> </m:t>
                        </m:r>
                        <m:r>
                          <m:rPr>
                            <m:nor/>
                          </m:rPr>
                          <a:rPr lang="en-US" sz="1800" dirty="0">
                            <a:solidFill>
                              <a:srgbClr val="FF0000"/>
                            </a:solidFill>
                            <a:latin typeface="Arial" panose="020B0604020202020204" pitchFamily="34" charset="0"/>
                            <a:cs typeface="Arial" panose="020B0604020202020204" pitchFamily="34" charset="0"/>
                          </a:rPr>
                          <m:t>Data</m:t>
                        </m:r>
                        <m:r>
                          <m:rPr>
                            <m:nor/>
                          </m:rPr>
                          <a:rPr lang="en-US" sz="1800" dirty="0">
                            <a:solidFill>
                              <a:srgbClr val="FF0000"/>
                            </a:solidFill>
                            <a:latin typeface="Arial" panose="020B0604020202020204" pitchFamily="34" charset="0"/>
                            <a:cs typeface="Arial" panose="020B0604020202020204" pitchFamily="34" charset="0"/>
                          </a:rPr>
                          <m:t> </m:t>
                        </m:r>
                        <m:r>
                          <m:rPr>
                            <m:nor/>
                          </m:rPr>
                          <a:rPr lang="en-US" sz="1800" dirty="0">
                            <a:solidFill>
                              <a:srgbClr val="FF0000"/>
                            </a:solidFill>
                            <a:latin typeface="Arial" panose="020B0604020202020204" pitchFamily="34" charset="0"/>
                            <a:cs typeface="Arial" panose="020B0604020202020204" pitchFamily="34" charset="0"/>
                          </a:rPr>
                          <m:t>Value</m:t>
                        </m:r>
                        <m:r>
                          <a:rPr lang="en-US" sz="1800" b="0" i="1" dirty="0" smtClean="0">
                            <a:solidFill>
                              <a:srgbClr val="FF0000"/>
                            </a:solidFill>
                            <a:latin typeface="Cambria Math" panose="02040503050406030204" pitchFamily="18" charset="0"/>
                          </a:rPr>
                          <m:t> </m:t>
                        </m:r>
                        <m:r>
                          <a:rPr lang="en-US" sz="1800" i="1" dirty="0">
                            <a:solidFill>
                              <a:srgbClr val="FF0000"/>
                            </a:solidFill>
                            <a:latin typeface="Cambria Math" panose="02040503050406030204" pitchFamily="18" charset="0"/>
                          </a:rPr>
                          <m:t>−</m:t>
                        </m:r>
                        <m:r>
                          <m:rPr>
                            <m:nor/>
                          </m:rPr>
                          <a:rPr lang="en-US" sz="1800" b="0" i="0" dirty="0" smtClean="0">
                            <a:solidFill>
                              <a:srgbClr val="FF0000"/>
                            </a:solidFill>
                            <a:latin typeface="Arial" panose="020B0604020202020204" pitchFamily="34" charset="0"/>
                            <a:cs typeface="Arial" panose="020B0604020202020204" pitchFamily="34" charset="0"/>
                          </a:rPr>
                          <m:t> </m:t>
                        </m:r>
                        <m:r>
                          <m:rPr>
                            <m:nor/>
                          </m:rPr>
                          <a:rPr lang="en-US" sz="1800" dirty="0">
                            <a:solidFill>
                              <a:srgbClr val="FF0000"/>
                            </a:solidFill>
                            <a:latin typeface="Arial" panose="020B0604020202020204" pitchFamily="34" charset="0"/>
                            <a:cs typeface="Arial" panose="020B0604020202020204" pitchFamily="34" charset="0"/>
                          </a:rPr>
                          <m:t>Smallest</m:t>
                        </m:r>
                        <m:r>
                          <m:rPr>
                            <m:nor/>
                          </m:rPr>
                          <a:rPr lang="en-US" sz="1800" dirty="0">
                            <a:solidFill>
                              <a:srgbClr val="FF0000"/>
                            </a:solidFill>
                            <a:latin typeface="Arial" panose="020B0604020202020204" pitchFamily="34" charset="0"/>
                            <a:cs typeface="Arial" panose="020B0604020202020204" pitchFamily="34" charset="0"/>
                          </a:rPr>
                          <m:t> </m:t>
                        </m:r>
                        <m:r>
                          <m:rPr>
                            <m:nor/>
                          </m:rPr>
                          <a:rPr lang="en-US" sz="1800" dirty="0">
                            <a:solidFill>
                              <a:srgbClr val="FF0000"/>
                            </a:solidFill>
                            <a:latin typeface="Arial" panose="020B0604020202020204" pitchFamily="34" charset="0"/>
                            <a:cs typeface="Arial" panose="020B0604020202020204" pitchFamily="34" charset="0"/>
                          </a:rPr>
                          <m:t>Data</m:t>
                        </m:r>
                        <m:r>
                          <m:rPr>
                            <m:nor/>
                          </m:rPr>
                          <a:rPr lang="en-US" sz="1800" dirty="0">
                            <a:solidFill>
                              <a:srgbClr val="FF0000"/>
                            </a:solidFill>
                            <a:latin typeface="Arial" panose="020B0604020202020204" pitchFamily="34" charset="0"/>
                            <a:cs typeface="Arial" panose="020B0604020202020204" pitchFamily="34" charset="0"/>
                          </a:rPr>
                          <m:t> </m:t>
                        </m:r>
                        <m:r>
                          <m:rPr>
                            <m:nor/>
                          </m:rPr>
                          <a:rPr lang="en-US" sz="1800" dirty="0">
                            <a:solidFill>
                              <a:srgbClr val="FF0000"/>
                            </a:solidFill>
                            <a:latin typeface="Arial" panose="020B0604020202020204" pitchFamily="34" charset="0"/>
                            <a:cs typeface="Arial" panose="020B0604020202020204" pitchFamily="34" charset="0"/>
                          </a:rPr>
                          <m:t>Value</m:t>
                        </m:r>
                      </m:num>
                      <m:den>
                        <m:r>
                          <m:rPr>
                            <m:nor/>
                          </m:rPr>
                          <a:rPr lang="en-US" sz="1800" b="0" i="0" dirty="0" smtClean="0">
                            <a:solidFill>
                              <a:srgbClr val="FF0000"/>
                            </a:solidFill>
                            <a:latin typeface="Arial" panose="020B0604020202020204" pitchFamily="34" charset="0"/>
                            <a:cs typeface="Arial" panose="020B0604020202020204" pitchFamily="34" charset="0"/>
                          </a:rPr>
                          <m:t>Number</m:t>
                        </m:r>
                        <m:r>
                          <m:rPr>
                            <m:nor/>
                          </m:rPr>
                          <a:rPr lang="en-US" sz="1800" b="0" i="0" dirty="0" smtClean="0">
                            <a:solidFill>
                              <a:srgbClr val="FF0000"/>
                            </a:solidFill>
                            <a:latin typeface="Arial" panose="020B0604020202020204" pitchFamily="34" charset="0"/>
                            <a:cs typeface="Arial" panose="020B0604020202020204" pitchFamily="34" charset="0"/>
                          </a:rPr>
                          <m:t> </m:t>
                        </m:r>
                        <m:r>
                          <m:rPr>
                            <m:nor/>
                          </m:rPr>
                          <a:rPr lang="en-US" sz="1800" b="0" i="0" dirty="0" smtClean="0">
                            <a:solidFill>
                              <a:srgbClr val="FF0000"/>
                            </a:solidFill>
                            <a:latin typeface="Arial" panose="020B0604020202020204" pitchFamily="34" charset="0"/>
                            <a:cs typeface="Arial" panose="020B0604020202020204" pitchFamily="34" charset="0"/>
                          </a:rPr>
                          <m:t>of</m:t>
                        </m:r>
                        <m:r>
                          <m:rPr>
                            <m:nor/>
                          </m:rPr>
                          <a:rPr lang="en-US" sz="1800" b="0" i="0" dirty="0" smtClean="0">
                            <a:solidFill>
                              <a:srgbClr val="FF0000"/>
                            </a:solidFill>
                            <a:latin typeface="Arial" panose="020B0604020202020204" pitchFamily="34" charset="0"/>
                            <a:cs typeface="Arial" panose="020B0604020202020204" pitchFamily="34" charset="0"/>
                          </a:rPr>
                          <m:t> </m:t>
                        </m:r>
                        <m:r>
                          <m:rPr>
                            <m:nor/>
                          </m:rPr>
                          <a:rPr lang="en-US" sz="1800" b="0" i="0" dirty="0" smtClean="0">
                            <a:solidFill>
                              <a:srgbClr val="FF0000"/>
                            </a:solidFill>
                            <a:latin typeface="Arial" panose="020B0604020202020204" pitchFamily="34" charset="0"/>
                            <a:cs typeface="Arial" panose="020B0604020202020204" pitchFamily="34" charset="0"/>
                          </a:rPr>
                          <m:t>classes</m:t>
                        </m:r>
                      </m:den>
                    </m:f>
                  </m:oMath>
                </a14:m>
                <a:endParaRPr lang="en-US" sz="1800" dirty="0">
                  <a:latin typeface="Arial" panose="020B0604020202020204" pitchFamily="34" charset="0"/>
                  <a:cs typeface="Arial" panose="020B0604020202020204" pitchFamily="34" charset="0"/>
                </a:endParaRPr>
              </a:p>
            </p:txBody>
          </p:sp>
        </mc:Choice>
        <mc:Fallback xmlns="">
          <p:sp>
            <p:nvSpPr>
              <p:cNvPr id="3" name="Text Placeholder 2">
                <a:extLst>
                  <a:ext uri="{FF2B5EF4-FFF2-40B4-BE49-F238E27FC236}">
                    <a16:creationId xmlns:a16="http://schemas.microsoft.com/office/drawing/2014/main" id="{E2F8492D-AD9D-EE5B-D41A-129A2A09ACBF}"/>
                  </a:ext>
                </a:extLst>
              </p:cNvPr>
              <p:cNvSpPr>
                <a:spLocks noGrp="1" noRot="1" noChangeAspect="1" noMove="1" noResize="1" noEditPoints="1" noAdjustHandles="1" noChangeArrowheads="1" noChangeShapeType="1" noTextEdit="1"/>
              </p:cNvSpPr>
              <p:nvPr>
                <p:ph type="body" sz="quarter" idx="15"/>
              </p:nvPr>
            </p:nvSpPr>
            <p:spPr>
              <a:xfrm>
                <a:off x="793194" y="1251298"/>
                <a:ext cx="10424160" cy="2177701"/>
              </a:xfrm>
              <a:blipFill>
                <a:blip r:embed="rId4"/>
                <a:stretch>
                  <a:fillRect l="-1345" t="-364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Text Placeholder 10">
                <a:extLst>
                  <a:ext uri="{FF2B5EF4-FFF2-40B4-BE49-F238E27FC236}">
                    <a16:creationId xmlns:a16="http://schemas.microsoft.com/office/drawing/2014/main" id="{F7894A5A-25F1-5919-C9A6-DC8EF1BC7F33}"/>
                  </a:ext>
                </a:extLst>
              </p:cNvPr>
              <p:cNvSpPr>
                <a:spLocks noGrp="1"/>
              </p:cNvSpPr>
              <p:nvPr>
                <p:ph type="body" sz="quarter" idx="18"/>
              </p:nvPr>
            </p:nvSpPr>
            <p:spPr>
              <a:xfrm>
                <a:off x="793194" y="3238099"/>
                <a:ext cx="7488936" cy="2680564"/>
              </a:xfrm>
            </p:spPr>
            <p:txBody>
              <a:bodyPr>
                <a:noAutofit/>
              </a:bodyPr>
              <a:lstStyle/>
              <a:p>
                <a:pPr marL="457200" indent="-339725">
                  <a:lnSpc>
                    <a:spcPct val="110000"/>
                  </a:lnSpc>
                  <a:buFont typeface="+mj-lt"/>
                  <a:buAutoNum type="arabicPeriod" startAt="3"/>
                </a:pPr>
                <a:r>
                  <a:rPr lang="en-US" sz="1800" b="1" dirty="0"/>
                  <a:t>Class limits </a:t>
                </a:r>
                <a:r>
                  <a:rPr lang="en-US" sz="1800" dirty="0"/>
                  <a:t>are chosen so that classes do not overlap, and each data item belongs to only one class (*see notes.)</a:t>
                </a:r>
              </a:p>
              <a:p>
                <a:pPr>
                  <a:lnSpc>
                    <a:spcPct val="110000"/>
                  </a:lnSpc>
                </a:pPr>
                <a:r>
                  <a:rPr lang="en-US" sz="1800" b="1" dirty="0"/>
                  <a:t>Example</a:t>
                </a:r>
                <a:r>
                  <a:rPr lang="en-US" sz="1800" dirty="0"/>
                  <a:t> 	</a:t>
                </a:r>
                <a:r>
                  <a:rPr lang="en-US" sz="1800" dirty="0" err="1"/>
                  <a:t>DATAfile</a:t>
                </a:r>
                <a:r>
                  <a:rPr lang="en-US" sz="1800" dirty="0"/>
                  <a:t>: </a:t>
                </a:r>
                <a:r>
                  <a:rPr lang="en-US" sz="1800" i="1" dirty="0"/>
                  <a:t>audit</a:t>
                </a:r>
              </a:p>
              <a:p>
                <a:pPr>
                  <a:lnSpc>
                    <a:spcPct val="110000"/>
                  </a:lnSpc>
                </a:pPr>
                <a:r>
                  <a:rPr lang="en-US" sz="1800" dirty="0"/>
                  <a:t>The data shows the time in days required to complete year-end audits for a sample of 20 clients of a small public accounting firm.</a:t>
                </a:r>
              </a:p>
              <a:p>
                <a:pPr>
                  <a:lnSpc>
                    <a:spcPct val="110000"/>
                  </a:lnSpc>
                </a:pPr>
                <a:r>
                  <a:rPr lang="en-US" sz="1800" dirty="0"/>
                  <a:t>Five classes were chosen, with class width </a:t>
                </a:r>
                <a14:m>
                  <m:oMath xmlns:m="http://schemas.openxmlformats.org/officeDocument/2006/math">
                    <m:r>
                      <a:rPr lang="en-US" sz="1800" i="1" dirty="0" smtClean="0">
                        <a:latin typeface="Cambria Math" panose="02040503050406030204" pitchFamily="18" charset="0"/>
                      </a:rPr>
                      <m:t>=</m:t>
                    </m:r>
                    <m:f>
                      <m:fPr>
                        <m:type m:val="lin"/>
                        <m:ctrlPr>
                          <a:rPr lang="en-US" sz="1800" i="1" dirty="0" smtClean="0">
                            <a:latin typeface="Cambria Math" panose="02040503050406030204" pitchFamily="18" charset="0"/>
                          </a:rPr>
                        </m:ctrlPr>
                      </m:fPr>
                      <m:num>
                        <m:r>
                          <a:rPr lang="en-US" sz="1800" b="0" i="1" dirty="0" smtClean="0">
                            <a:latin typeface="Cambria Math" panose="02040503050406030204" pitchFamily="18" charset="0"/>
                          </a:rPr>
                          <m:t>(33−12)</m:t>
                        </m:r>
                      </m:num>
                      <m:den>
                        <m:r>
                          <a:rPr lang="en-US" sz="1800" b="0" i="1" dirty="0" smtClean="0">
                            <a:latin typeface="Cambria Math" panose="02040503050406030204" pitchFamily="18" charset="0"/>
                          </a:rPr>
                          <m:t>5</m:t>
                        </m:r>
                      </m:den>
                    </m:f>
                    <m:r>
                      <a:rPr lang="en-US" sz="1800" b="0" i="1" dirty="0" smtClean="0">
                        <a:latin typeface="Cambria Math" panose="02040503050406030204" pitchFamily="18" charset="0"/>
                      </a:rPr>
                      <m:t>=4.2</m:t>
                    </m:r>
                    <m:r>
                      <a:rPr lang="en-US" sz="1800" b="0" i="1" dirty="0" smtClean="0">
                        <a:latin typeface="Cambria Math" panose="02040503050406030204" pitchFamily="18" charset="0"/>
                        <a:ea typeface="Cambria Math" panose="02040503050406030204" pitchFamily="18" charset="0"/>
                      </a:rPr>
                      <m:t>≈5</m:t>
                    </m:r>
                  </m:oMath>
                </a14:m>
                <a:r>
                  <a:rPr lang="en-US" sz="1800" dirty="0"/>
                  <a:t>. The resulting frequency distribution is shown to the right.</a:t>
                </a:r>
              </a:p>
            </p:txBody>
          </p:sp>
        </mc:Choice>
        <mc:Fallback xmlns="">
          <p:sp>
            <p:nvSpPr>
              <p:cNvPr id="11" name="Text Placeholder 10">
                <a:extLst>
                  <a:ext uri="{FF2B5EF4-FFF2-40B4-BE49-F238E27FC236}">
                    <a16:creationId xmlns:a16="http://schemas.microsoft.com/office/drawing/2014/main" id="{F7894A5A-25F1-5919-C9A6-DC8EF1BC7F33}"/>
                  </a:ext>
                </a:extLst>
              </p:cNvPr>
              <p:cNvSpPr>
                <a:spLocks noGrp="1" noRot="1" noChangeAspect="1" noMove="1" noResize="1" noEditPoints="1" noAdjustHandles="1" noChangeArrowheads="1" noChangeShapeType="1" noTextEdit="1"/>
              </p:cNvSpPr>
              <p:nvPr>
                <p:ph type="body" sz="quarter" idx="18"/>
              </p:nvPr>
            </p:nvSpPr>
            <p:spPr>
              <a:xfrm>
                <a:off x="793194" y="3238099"/>
                <a:ext cx="7488936" cy="2680564"/>
              </a:xfrm>
              <a:blipFill>
                <a:blip r:embed="rId5"/>
                <a:stretch>
                  <a:fillRect l="-1871" t="-2727" r="-1465" b="-1818"/>
                </a:stretch>
              </a:blipFill>
            </p:spPr>
            <p:txBody>
              <a:bodyPr/>
              <a:lstStyle/>
              <a:p>
                <a:r>
                  <a:rPr lang="en-IN">
                    <a:noFill/>
                  </a:rPr>
                  <a:t> </a:t>
                </a:r>
              </a:p>
            </p:txBody>
          </p:sp>
        </mc:Fallback>
      </mc:AlternateContent>
      <p:graphicFrame>
        <p:nvGraphicFramePr>
          <p:cNvPr id="5" name="Table 6">
            <a:extLst>
              <a:ext uri="{FF2B5EF4-FFF2-40B4-BE49-F238E27FC236}">
                <a16:creationId xmlns:a16="http://schemas.microsoft.com/office/drawing/2014/main" id="{C9B6654A-2383-B746-C2AB-77F6DBDCC954}"/>
              </a:ext>
            </a:extLst>
          </p:cNvPr>
          <p:cNvGraphicFramePr>
            <a:graphicFrameLocks noGrp="1"/>
          </p:cNvGraphicFramePr>
          <p:nvPr>
            <p:ph type="tbl" sz="quarter" idx="22"/>
          </p:nvPr>
        </p:nvGraphicFramePr>
        <p:xfrm>
          <a:off x="8423862" y="3383280"/>
          <a:ext cx="2651760" cy="2538780"/>
        </p:xfrm>
        <a:graphic>
          <a:graphicData uri="http://schemas.openxmlformats.org/drawingml/2006/table">
            <a:tbl>
              <a:tblPr firstRow="1" bandRow="1">
                <a:tableStyleId>{5C22544A-7EE6-4342-B048-85BDC9FD1C3A}</a:tableStyleId>
              </a:tblPr>
              <a:tblGrid>
                <a:gridCol w="1293716">
                  <a:extLst>
                    <a:ext uri="{9D8B030D-6E8A-4147-A177-3AD203B41FA5}">
                      <a16:colId xmlns:a16="http://schemas.microsoft.com/office/drawing/2014/main" val="1166511595"/>
                    </a:ext>
                  </a:extLst>
                </a:gridCol>
                <a:gridCol w="1358044">
                  <a:extLst>
                    <a:ext uri="{9D8B030D-6E8A-4147-A177-3AD203B41FA5}">
                      <a16:colId xmlns:a16="http://schemas.microsoft.com/office/drawing/2014/main" val="3504871959"/>
                    </a:ext>
                  </a:extLst>
                </a:gridCol>
              </a:tblGrid>
              <a:tr h="602862">
                <a:tc>
                  <a:txBody>
                    <a:bodyPr/>
                    <a:lstStyle/>
                    <a:p>
                      <a:pPr algn="ctr" fontAlgn="ctr"/>
                      <a:r>
                        <a:rPr lang="en-US" sz="1800" b="1" i="0" u="none" strike="noStrike" dirty="0">
                          <a:solidFill>
                            <a:srgbClr val="000000"/>
                          </a:solidFill>
                          <a:effectLst/>
                          <a:latin typeface="+mn-lt"/>
                        </a:rPr>
                        <a:t>Audit Time (days)</a:t>
                      </a:r>
                    </a:p>
                  </a:txBody>
                  <a:tcPr marL="6350" marR="6350" marT="635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algn="ctr" fontAlgn="ctr"/>
                      <a:r>
                        <a:rPr lang="en-US" sz="1800" b="1" i="0" u="none" strike="noStrike" dirty="0">
                          <a:solidFill>
                            <a:srgbClr val="000000"/>
                          </a:solidFill>
                          <a:effectLst/>
                          <a:latin typeface="+mn-lt"/>
                        </a:rPr>
                        <a:t>Frequency </a:t>
                      </a:r>
                    </a:p>
                  </a:txBody>
                  <a:tcPr marL="6350" marR="6350" marT="6350"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1401939635"/>
                  </a:ext>
                </a:extLst>
              </a:tr>
              <a:tr h="322653">
                <a:tc>
                  <a:txBody>
                    <a:bodyPr/>
                    <a:lstStyle/>
                    <a:p>
                      <a:pPr algn="ctr" fontAlgn="ctr"/>
                      <a:r>
                        <a:rPr lang="en-US" sz="1800" b="0" i="0" u="none" strike="noStrike" dirty="0">
                          <a:solidFill>
                            <a:srgbClr val="000000"/>
                          </a:solidFill>
                          <a:effectLst/>
                          <a:latin typeface="+mn-lt"/>
                        </a:rPr>
                        <a:t>10-14 </a:t>
                      </a:r>
                    </a:p>
                  </a:txBody>
                  <a:tcPr marL="6350" marR="6350" marT="635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ctr">
                        <a:tabLst>
                          <a:tab pos="690563" algn="r"/>
                        </a:tabLst>
                      </a:pPr>
                      <a:r>
                        <a:rPr lang="en-US" sz="1800" b="0" i="0" u="none" strike="noStrike" dirty="0">
                          <a:solidFill>
                            <a:srgbClr val="000000"/>
                          </a:solidFill>
                          <a:effectLst/>
                          <a:latin typeface="+mn-lt"/>
                        </a:rPr>
                        <a:t>	4</a:t>
                      </a:r>
                    </a:p>
                  </a:txBody>
                  <a:tcPr marL="6350" marR="6350" marT="635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3103306447"/>
                  </a:ext>
                </a:extLst>
              </a:tr>
              <a:tr h="322653">
                <a:tc>
                  <a:txBody>
                    <a:bodyPr/>
                    <a:lstStyle/>
                    <a:p>
                      <a:pPr algn="ctr" fontAlgn="ctr"/>
                      <a:r>
                        <a:rPr lang="en-US" sz="1800" b="0" i="0" u="none" strike="noStrike" dirty="0">
                          <a:solidFill>
                            <a:srgbClr val="000000"/>
                          </a:solidFill>
                          <a:effectLst/>
                          <a:latin typeface="+mn-lt"/>
                        </a:rPr>
                        <a:t>15-19 </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ctr">
                        <a:tabLst>
                          <a:tab pos="690563" algn="r"/>
                        </a:tabLst>
                      </a:pPr>
                      <a:r>
                        <a:rPr lang="en-US" sz="1800" b="0" i="0" u="none" strike="noStrike" dirty="0">
                          <a:solidFill>
                            <a:srgbClr val="000000"/>
                          </a:solidFill>
                          <a:effectLst/>
                          <a:latin typeface="+mn-lt"/>
                        </a:rPr>
                        <a:t>	8</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1946532309"/>
                  </a:ext>
                </a:extLst>
              </a:tr>
              <a:tr h="322653">
                <a:tc>
                  <a:txBody>
                    <a:bodyPr/>
                    <a:lstStyle/>
                    <a:p>
                      <a:pPr algn="ctr" fontAlgn="ctr"/>
                      <a:r>
                        <a:rPr lang="en-US" sz="1800" b="0" i="0" u="none" strike="noStrike" dirty="0">
                          <a:solidFill>
                            <a:srgbClr val="000000"/>
                          </a:solidFill>
                          <a:effectLst/>
                          <a:latin typeface="+mn-lt"/>
                        </a:rPr>
                        <a:t>20-24 </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ctr">
                        <a:tabLst>
                          <a:tab pos="690563" algn="r"/>
                        </a:tabLst>
                      </a:pPr>
                      <a:r>
                        <a:rPr lang="en-US" sz="1800" b="0" i="0" u="none" strike="noStrike" dirty="0">
                          <a:solidFill>
                            <a:srgbClr val="000000"/>
                          </a:solidFill>
                          <a:effectLst/>
                          <a:latin typeface="+mn-lt"/>
                        </a:rPr>
                        <a:t>	5</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2520829605"/>
                  </a:ext>
                </a:extLst>
              </a:tr>
              <a:tr h="322653">
                <a:tc>
                  <a:txBody>
                    <a:bodyPr/>
                    <a:lstStyle/>
                    <a:p>
                      <a:pPr algn="ctr" fontAlgn="ctr"/>
                      <a:r>
                        <a:rPr lang="en-US" sz="1800" b="0" i="0" u="none" strike="noStrike">
                          <a:solidFill>
                            <a:srgbClr val="000000"/>
                          </a:solidFill>
                          <a:effectLst/>
                          <a:latin typeface="+mn-lt"/>
                        </a:rPr>
                        <a:t>25-29 </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ctr">
                        <a:tabLst>
                          <a:tab pos="690563" algn="r"/>
                        </a:tabLst>
                      </a:pPr>
                      <a:r>
                        <a:rPr lang="en-US" sz="1800" b="0" i="0" u="none" strike="noStrike" dirty="0">
                          <a:solidFill>
                            <a:srgbClr val="000000"/>
                          </a:solidFill>
                          <a:effectLst/>
                          <a:latin typeface="+mn-lt"/>
                        </a:rPr>
                        <a:t>	2</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263653690"/>
                  </a:ext>
                </a:extLst>
              </a:tr>
              <a:tr h="322653">
                <a:tc>
                  <a:txBody>
                    <a:bodyPr/>
                    <a:lstStyle/>
                    <a:p>
                      <a:pPr algn="ctr" fontAlgn="ctr"/>
                      <a:r>
                        <a:rPr lang="en-US" sz="1800" b="0" i="0" u="none" strike="noStrike">
                          <a:solidFill>
                            <a:srgbClr val="000000"/>
                          </a:solidFill>
                          <a:effectLst/>
                          <a:latin typeface="+mn-lt"/>
                        </a:rPr>
                        <a:t>30-34 </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ctr">
                        <a:tabLst>
                          <a:tab pos="690563" algn="r"/>
                        </a:tabLst>
                      </a:pPr>
                      <a:r>
                        <a:rPr lang="en-US" sz="1800" b="0" i="0" u="none" strike="noStrike" dirty="0">
                          <a:solidFill>
                            <a:srgbClr val="000000"/>
                          </a:solidFill>
                          <a:effectLst/>
                          <a:latin typeface="+mn-lt"/>
                        </a:rPr>
                        <a:t>	1</a:t>
                      </a:r>
                    </a:p>
                  </a:txBody>
                  <a:tcPr marL="6350" marR="6350" marT="635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674108941"/>
                  </a:ext>
                </a:extLst>
              </a:tr>
              <a:tr h="322653">
                <a:tc>
                  <a:txBody>
                    <a:bodyPr/>
                    <a:lstStyle/>
                    <a:p>
                      <a:pPr algn="ctr" fontAlgn="ctr"/>
                      <a:r>
                        <a:rPr lang="en-US" sz="1800" b="0" i="0" u="none" strike="noStrike" dirty="0">
                          <a:solidFill>
                            <a:srgbClr val="000000"/>
                          </a:solidFill>
                          <a:effectLst/>
                          <a:latin typeface="+mn-lt"/>
                        </a:rPr>
                        <a:t>Total</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ctr">
                        <a:tabLst>
                          <a:tab pos="690563" algn="r"/>
                        </a:tabLst>
                      </a:pPr>
                      <a:r>
                        <a:rPr lang="en-US" sz="1800" b="0" i="0" u="none" strike="noStrike" dirty="0">
                          <a:solidFill>
                            <a:srgbClr val="000000"/>
                          </a:solidFill>
                          <a:effectLst/>
                          <a:latin typeface="+mn-lt"/>
                        </a:rPr>
                        <a:t>	20</a:t>
                      </a:r>
                    </a:p>
                  </a:txBody>
                  <a:tcPr marL="6350" marR="6350" marT="6350" marB="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1799307286"/>
                  </a:ext>
                </a:extLst>
              </a:tr>
            </a:tbl>
          </a:graphicData>
        </a:graphic>
      </p:graphicFrame>
    </p:spTree>
    <p:extLst>
      <p:ext uri="{BB962C8B-B14F-4D97-AF65-F5344CB8AC3E}">
        <p14:creationId xmlns:p14="http://schemas.microsoft.com/office/powerpoint/2010/main" val="34375156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2F1851-52D5-03F3-7981-83429886F204}"/>
              </a:ext>
            </a:extLst>
          </p:cNvPr>
          <p:cNvSpPr>
            <a:spLocks noGrp="1"/>
          </p:cNvSpPr>
          <p:nvPr>
            <p:ph type="title"/>
          </p:nvPr>
        </p:nvSpPr>
        <p:spPr/>
        <p:txBody>
          <a:bodyPr/>
          <a:lstStyle/>
          <a:p>
            <a:r>
              <a:rPr lang="en-US" sz="3200" dirty="0"/>
              <a:t>2.2 Relative Frequency and Percent Frequency Distributions for a Quantitative Variable</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E2F8492D-AD9D-EE5B-D41A-129A2A09ACBF}"/>
                  </a:ext>
                </a:extLst>
              </p:cNvPr>
              <p:cNvSpPr>
                <a:spLocks noGrp="1"/>
              </p:cNvSpPr>
              <p:nvPr>
                <p:ph type="body" sz="quarter" idx="15"/>
              </p:nvPr>
            </p:nvSpPr>
            <p:spPr>
              <a:xfrm>
                <a:off x="793194" y="1650311"/>
                <a:ext cx="10607040" cy="1719072"/>
              </a:xfrm>
            </p:spPr>
            <p:txBody>
              <a:bodyPr>
                <a:normAutofit/>
              </a:bodyPr>
              <a:lstStyle/>
              <a:p>
                <a:pPr>
                  <a:spcBef>
                    <a:spcPts val="1000"/>
                  </a:spcBef>
                  <a:spcAft>
                    <a:spcPts val="600"/>
                  </a:spcAft>
                </a:pPr>
                <a:r>
                  <a:rPr lang="en-US" sz="2000" dirty="0"/>
                  <a:t>We define the relative frequency and percent frequency distributions for quantitative data in the same manner as for categorical data</a:t>
                </a:r>
                <a:endParaRPr lang="en-US" sz="2000" b="0" i="0" dirty="0">
                  <a:latin typeface="Cambria Math" panose="02040503050406030204" pitchFamily="18" charset="0"/>
                  <a:ea typeface="Cambria Math" panose="02040503050406030204" pitchFamily="18" charset="0"/>
                  <a:cs typeface="Arial" panose="020B0604020202020204" pitchFamily="34" charset="0"/>
                </a:endParaRPr>
              </a:p>
              <a:p>
                <a:pPr marL="914400" indent="-914400">
                  <a:spcBef>
                    <a:spcPts val="1000"/>
                  </a:spcBef>
                </a:pPr>
                <a14:m>
                  <m:oMathPara xmlns:m="http://schemas.openxmlformats.org/officeDocument/2006/math">
                    <m:oMathParaPr>
                      <m:jc m:val="left"/>
                    </m:oMathParaPr>
                    <m:oMath xmlns:m="http://schemas.openxmlformats.org/officeDocument/2006/math">
                      <m:r>
                        <m:rPr>
                          <m:nor/>
                        </m:rPr>
                        <a:rPr lang="en-US" sz="2000" b="0" i="0" smtClean="0">
                          <a:latin typeface="Cambria Math" panose="02040503050406030204" pitchFamily="18" charset="0"/>
                          <a:ea typeface="Cambria Math" panose="02040503050406030204" pitchFamily="18" charset="0"/>
                          <a:cs typeface="Arial" panose="020B0604020202020204" pitchFamily="34" charset="0"/>
                        </a:rPr>
                        <m:t>Relative</m:t>
                      </m:r>
                      <m:r>
                        <m:rPr>
                          <m:nor/>
                        </m:rPr>
                        <a:rPr lang="en-US" sz="2000" b="0" i="0" smtClean="0">
                          <a:latin typeface="Cambria Math" panose="02040503050406030204" pitchFamily="18" charset="0"/>
                          <a:ea typeface="Cambria Math" panose="02040503050406030204" pitchFamily="18" charset="0"/>
                          <a:cs typeface="Arial" panose="020B0604020202020204" pitchFamily="34" charset="0"/>
                        </a:rPr>
                        <m:t> </m:t>
                      </m:r>
                      <m:r>
                        <m:rPr>
                          <m:nor/>
                        </m:rPr>
                        <a:rPr lang="en-US" sz="2000" b="0" i="0" smtClean="0">
                          <a:latin typeface="Cambria Math" panose="02040503050406030204" pitchFamily="18" charset="0"/>
                          <a:ea typeface="Cambria Math" panose="02040503050406030204" pitchFamily="18" charset="0"/>
                          <a:cs typeface="Arial" panose="020B0604020202020204" pitchFamily="34" charset="0"/>
                        </a:rPr>
                        <m:t>Frequency</m:t>
                      </m:r>
                      <m:r>
                        <m:rPr>
                          <m:nor/>
                        </m:rPr>
                        <a:rPr lang="en-US" sz="2000" b="0" i="0" smtClean="0">
                          <a:latin typeface="Cambria Math" panose="02040503050406030204" pitchFamily="18" charset="0"/>
                          <a:ea typeface="Cambria Math" panose="02040503050406030204" pitchFamily="18" charset="0"/>
                          <a:cs typeface="Arial" panose="020B0604020202020204" pitchFamily="34" charset="0"/>
                        </a:rPr>
                        <m:t> </m:t>
                      </m:r>
                      <m:r>
                        <m:rPr>
                          <m:nor/>
                        </m:rPr>
                        <a:rPr lang="en-US" sz="2000" b="0" i="0" smtClean="0">
                          <a:latin typeface="Cambria Math" panose="02040503050406030204" pitchFamily="18" charset="0"/>
                          <a:ea typeface="Cambria Math" panose="02040503050406030204" pitchFamily="18" charset="0"/>
                          <a:cs typeface="Arial" panose="020B0604020202020204" pitchFamily="34" charset="0"/>
                        </a:rPr>
                        <m:t>of</m:t>
                      </m:r>
                      <m:r>
                        <m:rPr>
                          <m:nor/>
                        </m:rPr>
                        <a:rPr lang="en-US" sz="2000" b="0" i="0" smtClean="0">
                          <a:latin typeface="Cambria Math" panose="02040503050406030204" pitchFamily="18" charset="0"/>
                          <a:ea typeface="Cambria Math" panose="02040503050406030204" pitchFamily="18" charset="0"/>
                          <a:cs typeface="Arial" panose="020B0604020202020204" pitchFamily="34" charset="0"/>
                        </a:rPr>
                        <m:t> </m:t>
                      </m:r>
                      <m:r>
                        <m:rPr>
                          <m:nor/>
                        </m:rPr>
                        <a:rPr lang="en-US" sz="2000" b="0" i="0" smtClean="0">
                          <a:latin typeface="Cambria Math" panose="02040503050406030204" pitchFamily="18" charset="0"/>
                          <a:ea typeface="Cambria Math" panose="02040503050406030204" pitchFamily="18" charset="0"/>
                          <a:cs typeface="Arial" panose="020B0604020202020204" pitchFamily="34" charset="0"/>
                        </a:rPr>
                        <m:t>a</m:t>
                      </m:r>
                      <m:r>
                        <m:rPr>
                          <m:nor/>
                        </m:rPr>
                        <a:rPr lang="en-US" sz="2000" b="0" i="0" smtClean="0">
                          <a:latin typeface="Cambria Math" panose="02040503050406030204" pitchFamily="18" charset="0"/>
                          <a:ea typeface="Cambria Math" panose="02040503050406030204" pitchFamily="18" charset="0"/>
                          <a:cs typeface="Arial" panose="020B0604020202020204" pitchFamily="34" charset="0"/>
                        </a:rPr>
                        <m:t> </m:t>
                      </m:r>
                      <m:r>
                        <m:rPr>
                          <m:nor/>
                        </m:rPr>
                        <a:rPr lang="en-US" sz="2000" b="0" i="0" smtClean="0">
                          <a:latin typeface="Cambria Math" panose="02040503050406030204" pitchFamily="18" charset="0"/>
                          <a:ea typeface="Cambria Math" panose="02040503050406030204" pitchFamily="18" charset="0"/>
                          <a:cs typeface="Arial" panose="020B0604020202020204" pitchFamily="34" charset="0"/>
                        </a:rPr>
                        <m:t>class</m:t>
                      </m:r>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m:rPr>
                              <m:nor/>
                            </m:rPr>
                            <a:rPr lang="en-US" sz="2000" b="0" i="0" smtClean="0">
                              <a:latin typeface="Cambria Math" panose="02040503050406030204" pitchFamily="18" charset="0"/>
                              <a:ea typeface="Cambria Math" panose="02040503050406030204" pitchFamily="18" charset="0"/>
                              <a:cs typeface="Arial" panose="020B0604020202020204" pitchFamily="34" charset="0"/>
                            </a:rPr>
                            <m:t>Frequency</m:t>
                          </m:r>
                          <m:r>
                            <m:rPr>
                              <m:nor/>
                            </m:rPr>
                            <a:rPr lang="en-US" sz="2000" b="0" i="0" smtClean="0">
                              <a:latin typeface="Cambria Math" panose="02040503050406030204" pitchFamily="18" charset="0"/>
                              <a:ea typeface="Cambria Math" panose="02040503050406030204" pitchFamily="18" charset="0"/>
                              <a:cs typeface="Arial" panose="020B0604020202020204" pitchFamily="34" charset="0"/>
                            </a:rPr>
                            <m:t> </m:t>
                          </m:r>
                          <m:r>
                            <m:rPr>
                              <m:nor/>
                            </m:rPr>
                            <a:rPr lang="en-US" sz="2000" b="0" i="0" smtClean="0">
                              <a:latin typeface="Cambria Math" panose="02040503050406030204" pitchFamily="18" charset="0"/>
                              <a:ea typeface="Cambria Math" panose="02040503050406030204" pitchFamily="18" charset="0"/>
                              <a:cs typeface="Arial" panose="020B0604020202020204" pitchFamily="34" charset="0"/>
                            </a:rPr>
                            <m:t>of</m:t>
                          </m:r>
                          <m:r>
                            <m:rPr>
                              <m:nor/>
                            </m:rPr>
                            <a:rPr lang="en-US" sz="2000" b="0" i="0" smtClean="0">
                              <a:latin typeface="Cambria Math" panose="02040503050406030204" pitchFamily="18" charset="0"/>
                              <a:ea typeface="Cambria Math" panose="02040503050406030204" pitchFamily="18" charset="0"/>
                              <a:cs typeface="Arial" panose="020B0604020202020204" pitchFamily="34" charset="0"/>
                            </a:rPr>
                            <m:t> </m:t>
                          </m:r>
                          <m:r>
                            <m:rPr>
                              <m:nor/>
                            </m:rPr>
                            <a:rPr lang="en-US" sz="2000" b="0" i="0" smtClean="0">
                              <a:latin typeface="Cambria Math" panose="02040503050406030204" pitchFamily="18" charset="0"/>
                              <a:ea typeface="Cambria Math" panose="02040503050406030204" pitchFamily="18" charset="0"/>
                              <a:cs typeface="Arial" panose="020B0604020202020204" pitchFamily="34" charset="0"/>
                            </a:rPr>
                            <m:t>the</m:t>
                          </m:r>
                          <m:r>
                            <m:rPr>
                              <m:nor/>
                            </m:rPr>
                            <a:rPr lang="en-US" sz="2000" b="0" i="0" smtClean="0">
                              <a:latin typeface="Cambria Math" panose="02040503050406030204" pitchFamily="18" charset="0"/>
                              <a:ea typeface="Cambria Math" panose="02040503050406030204" pitchFamily="18" charset="0"/>
                              <a:cs typeface="Arial" panose="020B0604020202020204" pitchFamily="34" charset="0"/>
                            </a:rPr>
                            <m:t> </m:t>
                          </m:r>
                          <m:r>
                            <m:rPr>
                              <m:nor/>
                            </m:rPr>
                            <a:rPr lang="en-US" sz="2000" b="0" i="0" smtClean="0">
                              <a:latin typeface="Cambria Math" panose="02040503050406030204" pitchFamily="18" charset="0"/>
                              <a:ea typeface="Cambria Math" panose="02040503050406030204" pitchFamily="18" charset="0"/>
                              <a:cs typeface="Arial" panose="020B0604020202020204" pitchFamily="34" charset="0"/>
                            </a:rPr>
                            <m:t>class</m:t>
                          </m:r>
                        </m:num>
                        <m:den>
                          <m:r>
                            <a:rPr lang="en-US" sz="2000" b="0" i="1" smtClean="0">
                              <a:latin typeface="Cambria Math" panose="02040503050406030204" pitchFamily="18" charset="0"/>
                            </a:rPr>
                            <m:t>𝑛</m:t>
                          </m:r>
                        </m:den>
                      </m:f>
                    </m:oMath>
                  </m:oMathPara>
                </a14:m>
                <a:endParaRPr lang="en-US" sz="2000" b="0" dirty="0"/>
              </a:p>
              <a:p>
                <a:pPr>
                  <a:spcBef>
                    <a:spcPts val="1000"/>
                  </a:spcBef>
                </a:pPr>
                <a:r>
                  <a:rPr lang="en-US" sz="2000" dirty="0"/>
                  <a:t>Remember that the percent frequency of a class is the relative frequency multiplied by 100.</a:t>
                </a:r>
              </a:p>
            </p:txBody>
          </p:sp>
        </mc:Choice>
        <mc:Fallback xmlns="">
          <p:sp>
            <p:nvSpPr>
              <p:cNvPr id="3" name="Text Placeholder 2">
                <a:extLst>
                  <a:ext uri="{FF2B5EF4-FFF2-40B4-BE49-F238E27FC236}">
                    <a16:creationId xmlns:a16="http://schemas.microsoft.com/office/drawing/2014/main" id="{E2F8492D-AD9D-EE5B-D41A-129A2A09ACBF}"/>
                  </a:ext>
                </a:extLst>
              </p:cNvPr>
              <p:cNvSpPr>
                <a:spLocks noGrp="1" noRot="1" noChangeAspect="1" noMove="1" noResize="1" noEditPoints="1" noAdjustHandles="1" noChangeArrowheads="1" noChangeShapeType="1" noTextEdit="1"/>
              </p:cNvSpPr>
              <p:nvPr>
                <p:ph type="body" sz="quarter" idx="15"/>
              </p:nvPr>
            </p:nvSpPr>
            <p:spPr>
              <a:xfrm>
                <a:off x="793194" y="1650311"/>
                <a:ext cx="10607040" cy="1719072"/>
              </a:xfrm>
              <a:blipFill>
                <a:blip r:embed="rId3"/>
                <a:stretch>
                  <a:fillRect l="-1437" t="-4255" b="-7801"/>
                </a:stretch>
              </a:blipFill>
            </p:spPr>
            <p:txBody>
              <a:bodyPr/>
              <a:lstStyle/>
              <a:p>
                <a:r>
                  <a:rPr lang="en-US">
                    <a:noFill/>
                  </a:rPr>
                  <a:t> </a:t>
                </a:r>
              </a:p>
            </p:txBody>
          </p:sp>
        </mc:Fallback>
      </mc:AlternateContent>
      <p:sp>
        <p:nvSpPr>
          <p:cNvPr id="11" name="Text Placeholder 10">
            <a:extLst>
              <a:ext uri="{FF2B5EF4-FFF2-40B4-BE49-F238E27FC236}">
                <a16:creationId xmlns:a16="http://schemas.microsoft.com/office/drawing/2014/main" id="{F7894A5A-25F1-5919-C9A6-DC8EF1BC7F33}"/>
              </a:ext>
            </a:extLst>
          </p:cNvPr>
          <p:cNvSpPr>
            <a:spLocks noGrp="1"/>
          </p:cNvSpPr>
          <p:nvPr>
            <p:ph type="body" sz="quarter" idx="18"/>
          </p:nvPr>
        </p:nvSpPr>
        <p:spPr>
          <a:xfrm>
            <a:off x="791766" y="3431728"/>
            <a:ext cx="4992624" cy="2258568"/>
          </a:xfrm>
        </p:spPr>
        <p:txBody>
          <a:bodyPr>
            <a:normAutofit lnSpcReduction="10000"/>
          </a:bodyPr>
          <a:lstStyle/>
          <a:p>
            <a:pPr>
              <a:lnSpc>
                <a:spcPct val="110000"/>
              </a:lnSpc>
            </a:pPr>
            <a:r>
              <a:rPr lang="en-US" sz="2000" dirty="0"/>
              <a:t>Based on the class frequencies for the 20 audit times, the table shows the relative frequency distribution and percent frequency distribution (*see notes.)</a:t>
            </a:r>
          </a:p>
          <a:p>
            <a:pPr>
              <a:lnSpc>
                <a:spcPct val="100000"/>
              </a:lnSpc>
              <a:spcBef>
                <a:spcPts val="1000"/>
              </a:spcBef>
            </a:pPr>
            <a:r>
              <a:rPr lang="en-US" sz="2000" dirty="0"/>
              <a:t>Note that 40% of the audits required between 15 and 19 days, and only 5% of the audits required 30 or more days.</a:t>
            </a:r>
          </a:p>
        </p:txBody>
      </p:sp>
      <p:graphicFrame>
        <p:nvGraphicFramePr>
          <p:cNvPr id="5" name="Table 6">
            <a:extLst>
              <a:ext uri="{FF2B5EF4-FFF2-40B4-BE49-F238E27FC236}">
                <a16:creationId xmlns:a16="http://schemas.microsoft.com/office/drawing/2014/main" id="{99EDC924-29E8-0933-1457-BBF8A64C9962}"/>
              </a:ext>
            </a:extLst>
          </p:cNvPr>
          <p:cNvGraphicFramePr>
            <a:graphicFrameLocks noGrp="1"/>
          </p:cNvGraphicFramePr>
          <p:nvPr>
            <p:ph type="tbl" sz="quarter" idx="22"/>
          </p:nvPr>
        </p:nvGraphicFramePr>
        <p:xfrm>
          <a:off x="5735571" y="3431728"/>
          <a:ext cx="5664663" cy="2294794"/>
        </p:xfrm>
        <a:graphic>
          <a:graphicData uri="http://schemas.openxmlformats.org/drawingml/2006/table">
            <a:tbl>
              <a:tblPr firstRow="1" bandRow="1">
                <a:tableStyleId>{5C22544A-7EE6-4342-B048-85BDC9FD1C3A}</a:tableStyleId>
              </a:tblPr>
              <a:tblGrid>
                <a:gridCol w="1827637">
                  <a:extLst>
                    <a:ext uri="{9D8B030D-6E8A-4147-A177-3AD203B41FA5}">
                      <a16:colId xmlns:a16="http://schemas.microsoft.com/office/drawing/2014/main" val="1166511595"/>
                    </a:ext>
                  </a:extLst>
                </a:gridCol>
                <a:gridCol w="1918513">
                  <a:extLst>
                    <a:ext uri="{9D8B030D-6E8A-4147-A177-3AD203B41FA5}">
                      <a16:colId xmlns:a16="http://schemas.microsoft.com/office/drawing/2014/main" val="3504871959"/>
                    </a:ext>
                  </a:extLst>
                </a:gridCol>
                <a:gridCol w="1918513">
                  <a:extLst>
                    <a:ext uri="{9D8B030D-6E8A-4147-A177-3AD203B41FA5}">
                      <a16:colId xmlns:a16="http://schemas.microsoft.com/office/drawing/2014/main" val="1977051511"/>
                    </a:ext>
                  </a:extLst>
                </a:gridCol>
              </a:tblGrid>
              <a:tr h="358876">
                <a:tc>
                  <a:txBody>
                    <a:bodyPr/>
                    <a:lstStyle/>
                    <a:p>
                      <a:pPr algn="ctr" fontAlgn="ctr"/>
                      <a:r>
                        <a:rPr lang="en-US" sz="1800" b="1" i="0" u="none" strike="noStrike" dirty="0">
                          <a:solidFill>
                            <a:srgbClr val="000000"/>
                          </a:solidFill>
                          <a:effectLst/>
                          <a:latin typeface="+mn-lt"/>
                        </a:rPr>
                        <a:t>Audit Time (days)</a:t>
                      </a:r>
                    </a:p>
                  </a:txBody>
                  <a:tcPr marL="6350" marR="6350" marT="635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algn="ctr" fontAlgn="ctr"/>
                      <a:r>
                        <a:rPr lang="en-US" sz="1800" b="1" i="0" u="none" strike="noStrike">
                          <a:solidFill>
                            <a:srgbClr val="000000"/>
                          </a:solidFill>
                          <a:effectLst/>
                          <a:latin typeface="+mn-lt"/>
                        </a:rPr>
                        <a:t>Relative Frequency </a:t>
                      </a:r>
                      <a:endParaRPr lang="en-US" sz="1800" b="1" i="0" u="none" strike="noStrike" dirty="0">
                        <a:solidFill>
                          <a:srgbClr val="000000"/>
                        </a:solidFill>
                        <a:effectLst/>
                        <a:latin typeface="+mn-lt"/>
                      </a:endParaRPr>
                    </a:p>
                  </a:txBody>
                  <a:tcPr marL="6350" marR="6350" marT="635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algn="ctr" fontAlgn="ctr"/>
                      <a:r>
                        <a:rPr lang="en-US" sz="1800" b="1" i="0" u="none" strike="noStrike" dirty="0">
                          <a:solidFill>
                            <a:srgbClr val="000000"/>
                          </a:solidFill>
                          <a:effectLst/>
                          <a:latin typeface="+mn-lt"/>
                        </a:rPr>
                        <a:t>Percent Frequency</a:t>
                      </a:r>
                    </a:p>
                  </a:txBody>
                  <a:tcPr marL="6350" marR="6350" marT="635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1401939635"/>
                  </a:ext>
                </a:extLst>
              </a:tr>
              <a:tr h="322653">
                <a:tc>
                  <a:txBody>
                    <a:bodyPr/>
                    <a:lstStyle/>
                    <a:p>
                      <a:pPr algn="ctr" fontAlgn="ctr"/>
                      <a:r>
                        <a:rPr lang="en-US" sz="1800" b="0" i="0" u="none" strike="noStrike" dirty="0">
                          <a:solidFill>
                            <a:srgbClr val="000000"/>
                          </a:solidFill>
                          <a:effectLst/>
                          <a:latin typeface="+mn-lt"/>
                        </a:rPr>
                        <a:t>10-14 </a:t>
                      </a:r>
                    </a:p>
                  </a:txBody>
                  <a:tcPr marL="6350" marR="6350" marT="635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ctr">
                        <a:tabLst>
                          <a:tab pos="690563" algn="r"/>
                        </a:tabLst>
                      </a:pPr>
                      <a:r>
                        <a:rPr lang="en-US" sz="1800" b="0" i="0" u="none" strike="noStrike" dirty="0">
                          <a:solidFill>
                            <a:srgbClr val="000000"/>
                          </a:solidFill>
                          <a:effectLst/>
                          <a:latin typeface="+mn-lt"/>
                        </a:rPr>
                        <a:t>		0.20</a:t>
                      </a:r>
                    </a:p>
                  </a:txBody>
                  <a:tcPr marL="6350" marR="6350" marT="635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ctr">
                        <a:tabLst>
                          <a:tab pos="690563" algn="r"/>
                        </a:tabLst>
                      </a:pPr>
                      <a:r>
                        <a:rPr lang="en-US" sz="1800" b="0" i="0" u="none" strike="noStrike" dirty="0">
                          <a:solidFill>
                            <a:srgbClr val="000000"/>
                          </a:solidFill>
                          <a:effectLst/>
                          <a:latin typeface="+mn-lt"/>
                        </a:rPr>
                        <a:t>		20</a:t>
                      </a:r>
                    </a:p>
                  </a:txBody>
                  <a:tcPr marL="6350" marR="6350" marT="635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3103306447"/>
                  </a:ext>
                </a:extLst>
              </a:tr>
              <a:tr h="322653">
                <a:tc>
                  <a:txBody>
                    <a:bodyPr/>
                    <a:lstStyle/>
                    <a:p>
                      <a:pPr algn="ctr" fontAlgn="ctr"/>
                      <a:r>
                        <a:rPr lang="en-US" sz="1800" b="0" i="0" u="none" strike="noStrike" dirty="0">
                          <a:solidFill>
                            <a:srgbClr val="000000"/>
                          </a:solidFill>
                          <a:effectLst/>
                          <a:latin typeface="+mn-lt"/>
                        </a:rPr>
                        <a:t>15-19 </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ctr">
                        <a:tabLst>
                          <a:tab pos="690563" algn="r"/>
                        </a:tabLst>
                      </a:pPr>
                      <a:r>
                        <a:rPr lang="en-US" sz="1800" b="0" i="0" u="none" strike="noStrike" dirty="0">
                          <a:solidFill>
                            <a:srgbClr val="000000"/>
                          </a:solidFill>
                          <a:effectLst/>
                          <a:latin typeface="+mn-lt"/>
                        </a:rPr>
                        <a:t>		0.40</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ctr">
                        <a:tabLst>
                          <a:tab pos="690563" algn="r"/>
                        </a:tabLst>
                      </a:pPr>
                      <a:r>
                        <a:rPr lang="en-US" sz="1800" b="0" i="0" u="none" strike="noStrike" dirty="0">
                          <a:solidFill>
                            <a:srgbClr val="000000"/>
                          </a:solidFill>
                          <a:effectLst/>
                          <a:latin typeface="+mn-lt"/>
                        </a:rPr>
                        <a:t>		40</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1946532309"/>
                  </a:ext>
                </a:extLst>
              </a:tr>
              <a:tr h="322653">
                <a:tc>
                  <a:txBody>
                    <a:bodyPr/>
                    <a:lstStyle/>
                    <a:p>
                      <a:pPr algn="ctr" fontAlgn="ctr"/>
                      <a:r>
                        <a:rPr lang="en-US" sz="1800" b="0" i="0" u="none" strike="noStrike" dirty="0">
                          <a:solidFill>
                            <a:srgbClr val="000000"/>
                          </a:solidFill>
                          <a:effectLst/>
                          <a:latin typeface="+mn-lt"/>
                        </a:rPr>
                        <a:t>20-24 </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ctr">
                        <a:tabLst>
                          <a:tab pos="690563" algn="r"/>
                        </a:tabLst>
                      </a:pPr>
                      <a:r>
                        <a:rPr lang="en-US" sz="1800" b="0" i="0" u="none" strike="noStrike" dirty="0">
                          <a:solidFill>
                            <a:srgbClr val="000000"/>
                          </a:solidFill>
                          <a:effectLst/>
                          <a:latin typeface="+mn-lt"/>
                        </a:rPr>
                        <a:t>		0.25</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ctr">
                        <a:tabLst>
                          <a:tab pos="690563" algn="r"/>
                        </a:tabLst>
                      </a:pPr>
                      <a:r>
                        <a:rPr lang="en-US" sz="1800" b="0" i="0" u="none" strike="noStrike" dirty="0">
                          <a:solidFill>
                            <a:srgbClr val="000000"/>
                          </a:solidFill>
                          <a:effectLst/>
                          <a:latin typeface="+mn-lt"/>
                        </a:rPr>
                        <a:t>		25</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2520829605"/>
                  </a:ext>
                </a:extLst>
              </a:tr>
              <a:tr h="322653">
                <a:tc>
                  <a:txBody>
                    <a:bodyPr/>
                    <a:lstStyle/>
                    <a:p>
                      <a:pPr algn="ctr" fontAlgn="ctr"/>
                      <a:r>
                        <a:rPr lang="en-US" sz="1800" b="0" i="0" u="none" strike="noStrike" dirty="0">
                          <a:solidFill>
                            <a:srgbClr val="000000"/>
                          </a:solidFill>
                          <a:effectLst/>
                          <a:latin typeface="+mn-lt"/>
                        </a:rPr>
                        <a:t>25-29 </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ctr">
                        <a:tabLst>
                          <a:tab pos="690563" algn="r"/>
                        </a:tabLst>
                      </a:pPr>
                      <a:r>
                        <a:rPr lang="en-US" sz="1800" b="0" i="0" u="none" strike="noStrike" dirty="0">
                          <a:solidFill>
                            <a:srgbClr val="000000"/>
                          </a:solidFill>
                          <a:effectLst/>
                          <a:latin typeface="+mn-lt"/>
                        </a:rPr>
                        <a:t>		0.10</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ctr">
                        <a:tabLst>
                          <a:tab pos="690563" algn="r"/>
                        </a:tabLst>
                      </a:pPr>
                      <a:r>
                        <a:rPr lang="en-US" sz="1800" b="0" i="0" u="none" strike="noStrike" dirty="0">
                          <a:solidFill>
                            <a:srgbClr val="000000"/>
                          </a:solidFill>
                          <a:effectLst/>
                          <a:latin typeface="+mn-lt"/>
                        </a:rPr>
                        <a:t>		10</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263653690"/>
                  </a:ext>
                </a:extLst>
              </a:tr>
              <a:tr h="322653">
                <a:tc>
                  <a:txBody>
                    <a:bodyPr/>
                    <a:lstStyle/>
                    <a:p>
                      <a:pPr algn="ctr" fontAlgn="ctr"/>
                      <a:r>
                        <a:rPr lang="en-US" sz="1800" b="0" i="0" u="none" strike="noStrike">
                          <a:solidFill>
                            <a:srgbClr val="000000"/>
                          </a:solidFill>
                          <a:effectLst/>
                          <a:latin typeface="+mn-lt"/>
                        </a:rPr>
                        <a:t>30-34 </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ctr">
                        <a:tabLst>
                          <a:tab pos="690563" algn="r"/>
                        </a:tabLst>
                      </a:pPr>
                      <a:r>
                        <a:rPr lang="en-US" sz="1800" b="0" i="0" u="none" strike="noStrike">
                          <a:solidFill>
                            <a:srgbClr val="000000"/>
                          </a:solidFill>
                          <a:effectLst/>
                          <a:latin typeface="+mn-lt"/>
                        </a:rPr>
                        <a:t>		0.05</a:t>
                      </a:r>
                      <a:endParaRPr lang="en-US" sz="1800" b="0" i="0" u="none" strike="noStrike" dirty="0">
                        <a:solidFill>
                          <a:srgbClr val="000000"/>
                        </a:solidFill>
                        <a:effectLst/>
                        <a:latin typeface="+mn-lt"/>
                      </a:endParaRPr>
                    </a:p>
                  </a:txBody>
                  <a:tcPr marL="6350" marR="6350" marT="635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l" fontAlgn="ctr">
                        <a:tabLst>
                          <a:tab pos="1147763" algn="r"/>
                        </a:tabLst>
                      </a:pPr>
                      <a:r>
                        <a:rPr lang="en-US" sz="1800" b="0" i="0" u="none" strike="noStrike" dirty="0">
                          <a:solidFill>
                            <a:srgbClr val="000000"/>
                          </a:solidFill>
                          <a:effectLst/>
                          <a:latin typeface="+mn-lt"/>
                        </a:rPr>
                        <a:t>	5</a:t>
                      </a:r>
                    </a:p>
                  </a:txBody>
                  <a:tcPr marL="6350" marR="6350" marT="635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674108941"/>
                  </a:ext>
                </a:extLst>
              </a:tr>
              <a:tr h="322653">
                <a:tc>
                  <a:txBody>
                    <a:bodyPr/>
                    <a:lstStyle/>
                    <a:p>
                      <a:pPr algn="ctr" fontAlgn="ctr"/>
                      <a:r>
                        <a:rPr lang="en-US" sz="1800" b="0" i="0" u="none" strike="noStrike" dirty="0">
                          <a:solidFill>
                            <a:srgbClr val="000000"/>
                          </a:solidFill>
                          <a:effectLst/>
                          <a:latin typeface="+mn-lt"/>
                        </a:rPr>
                        <a:t>Total</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ctr">
                        <a:tabLst>
                          <a:tab pos="690563" algn="r"/>
                        </a:tabLst>
                      </a:pPr>
                      <a:r>
                        <a:rPr lang="en-US" sz="1800" b="0" i="0" u="none" strike="noStrike" dirty="0">
                          <a:solidFill>
                            <a:srgbClr val="000000"/>
                          </a:solidFill>
                          <a:effectLst/>
                          <a:latin typeface="+mn-lt"/>
                        </a:rPr>
                        <a:t>		1.00</a:t>
                      </a:r>
                    </a:p>
                  </a:txBody>
                  <a:tcPr marL="6350" marR="6350" marT="6350" marB="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pPr algn="l" fontAlgn="ctr">
                        <a:tabLst>
                          <a:tab pos="798513" algn="l"/>
                        </a:tabLst>
                      </a:pPr>
                      <a:r>
                        <a:rPr lang="en-US" sz="1800" b="0" i="0" u="none" strike="noStrike" dirty="0">
                          <a:solidFill>
                            <a:srgbClr val="000000"/>
                          </a:solidFill>
                          <a:effectLst/>
                          <a:latin typeface="+mn-lt"/>
                        </a:rPr>
                        <a:t>	100</a:t>
                      </a:r>
                    </a:p>
                  </a:txBody>
                  <a:tcPr marL="6350" marR="6350" marT="6350" marB="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1799307286"/>
                  </a:ext>
                </a:extLst>
              </a:tr>
            </a:tbl>
          </a:graphicData>
        </a:graphic>
      </p:graphicFrame>
    </p:spTree>
    <p:extLst>
      <p:ext uri="{BB962C8B-B14F-4D97-AF65-F5344CB8AC3E}">
        <p14:creationId xmlns:p14="http://schemas.microsoft.com/office/powerpoint/2010/main" val="39746105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EE8196-0E04-401D-B93F-685948CD49CA}"/>
              </a:ext>
            </a:extLst>
          </p:cNvPr>
          <p:cNvSpPr>
            <a:spLocks noGrp="1"/>
          </p:cNvSpPr>
          <p:nvPr>
            <p:ph type="title"/>
          </p:nvPr>
        </p:nvSpPr>
        <p:spPr>
          <a:xfrm>
            <a:off x="806641" y="365125"/>
            <a:ext cx="10538332" cy="672105"/>
          </a:xfrm>
        </p:spPr>
        <p:txBody>
          <a:bodyPr/>
          <a:lstStyle/>
          <a:p>
            <a:r>
              <a:rPr lang="en-US" dirty="0">
                <a:solidFill>
                  <a:srgbClr val="25894E"/>
                </a:solidFill>
              </a:rPr>
              <a:t>2.2 Excel: Construct a Frequency Distribution</a:t>
            </a:r>
            <a:endParaRPr lang="en-US" dirty="0"/>
          </a:p>
        </p:txBody>
      </p:sp>
      <p:sp>
        <p:nvSpPr>
          <p:cNvPr id="3" name="Text Placeholder 2">
            <a:extLst>
              <a:ext uri="{FF2B5EF4-FFF2-40B4-BE49-F238E27FC236}">
                <a16:creationId xmlns:a16="http://schemas.microsoft.com/office/drawing/2014/main" id="{03766689-C417-E65F-A73E-1E840E2BF8A9}"/>
              </a:ext>
            </a:extLst>
          </p:cNvPr>
          <p:cNvSpPr>
            <a:spLocks noGrp="1"/>
          </p:cNvSpPr>
          <p:nvPr>
            <p:ph type="body" sz="quarter" idx="15"/>
          </p:nvPr>
        </p:nvSpPr>
        <p:spPr>
          <a:xfrm>
            <a:off x="751198" y="1177877"/>
            <a:ext cx="4613668" cy="1961563"/>
          </a:xfrm>
        </p:spPr>
        <p:txBody>
          <a:bodyPr/>
          <a:lstStyle/>
          <a:p>
            <a:r>
              <a:rPr lang="en-US" sz="2000" b="1" dirty="0"/>
              <a:t>Enter/Access Data</a:t>
            </a:r>
            <a:r>
              <a:rPr lang="en-US" sz="2000" dirty="0"/>
              <a:t>: Open the file </a:t>
            </a:r>
            <a:r>
              <a:rPr lang="en-US" sz="2000" i="1" dirty="0"/>
              <a:t>audit</a:t>
            </a:r>
            <a:r>
              <a:rPr lang="en-US" sz="2000" dirty="0"/>
              <a:t>.</a:t>
            </a:r>
          </a:p>
          <a:p>
            <a:r>
              <a:rPr lang="en-US" sz="2000" b="1" dirty="0"/>
              <a:t>Apply Tools</a:t>
            </a:r>
            <a:r>
              <a:rPr lang="en-US" sz="2000" dirty="0"/>
              <a:t>: The following steps describe how to construct a frequency distribution for the audit time data.</a:t>
            </a:r>
          </a:p>
          <a:p>
            <a:pPr marL="228600">
              <a:spcBef>
                <a:spcPts val="300"/>
              </a:spcBef>
            </a:pPr>
            <a:r>
              <a:rPr lang="en-US" sz="1800" b="1" dirty="0"/>
              <a:t>Step 1</a:t>
            </a:r>
            <a:r>
              <a:rPr lang="en-US" sz="1800" dirty="0"/>
              <a:t>. Select any cell in the data set.</a:t>
            </a:r>
          </a:p>
          <a:p>
            <a:pPr marL="228600">
              <a:spcBef>
                <a:spcPts val="300"/>
              </a:spcBef>
            </a:pPr>
            <a:r>
              <a:rPr lang="en-US" sz="1800" b="1" dirty="0"/>
              <a:t>Step 2</a:t>
            </a:r>
            <a:r>
              <a:rPr lang="en-US" sz="1800" dirty="0"/>
              <a:t>. Click the </a:t>
            </a:r>
            <a:r>
              <a:rPr lang="en-US" sz="1800" b="1" dirty="0"/>
              <a:t>Insert</a:t>
            </a:r>
            <a:r>
              <a:rPr lang="en-US" sz="1800" dirty="0"/>
              <a:t> tab.</a:t>
            </a:r>
          </a:p>
        </p:txBody>
      </p:sp>
      <p:pic>
        <p:nvPicPr>
          <p:cNvPr id="8" name="Picture Placeholder 7" descr="A screenshot shows an Excel spreadsheet with a table and the Pivot Table Fields dialog box. In the table, column A is labeled row labels and column B is labeled count of audit time. The entries in rows 4 through 9 are as follows. Row 4. Label: 10 to 14. Count: 4. Row 5. Label: 15 to 19. Count: 8. Row 6. Label: 20 to 24. Count: 5. Row 7. Label: 25 to 29. Count: 2. Row 8. Label: 30 to 34. Count: 1. Row 9. Label: Grand total. Count: 50. The Pivot Table Fields dialog box consists of two sections. Text on the top reads, Choose fields to add to report. This is followed by a search field. The first section has a box in which Audit Time is listed. Text in the second field reads, Drag fields between areas below. There are four areas labeled filters, columns, rows, and values. The field in rows is audit time. The field in values is count of audit time.&#10;">
            <a:extLst>
              <a:ext uri="{FF2B5EF4-FFF2-40B4-BE49-F238E27FC236}">
                <a16:creationId xmlns:a16="http://schemas.microsoft.com/office/drawing/2014/main" id="{01956C09-3C8D-30AC-1371-5E078011EB30}"/>
              </a:ext>
            </a:extLst>
          </p:cNvPr>
          <p:cNvPicPr>
            <a:picLocks noGrp="1" noChangeAspect="1"/>
          </p:cNvPicPr>
          <p:nvPr>
            <p:ph type="pic" sz="quarter" idx="16"/>
          </p:nvPr>
        </p:nvPicPr>
        <p:blipFill>
          <a:blip r:embed="rId3"/>
          <a:srcRect l="27" r="27"/>
          <a:stretch/>
        </p:blipFill>
        <p:spPr>
          <a:xfrm>
            <a:off x="5364865" y="1094057"/>
            <a:ext cx="6091178" cy="4806190"/>
          </a:xfrm>
        </p:spPr>
      </p:pic>
      <p:sp>
        <p:nvSpPr>
          <p:cNvPr id="5" name="Text Placeholder 4">
            <a:extLst>
              <a:ext uri="{FF2B5EF4-FFF2-40B4-BE49-F238E27FC236}">
                <a16:creationId xmlns:a16="http://schemas.microsoft.com/office/drawing/2014/main" id="{F6BDC288-16C8-93CE-EDF3-F03DE023E0FA}"/>
              </a:ext>
            </a:extLst>
          </p:cNvPr>
          <p:cNvSpPr>
            <a:spLocks noGrp="1"/>
          </p:cNvSpPr>
          <p:nvPr>
            <p:ph type="body" sz="quarter" idx="17"/>
          </p:nvPr>
        </p:nvSpPr>
        <p:spPr>
          <a:xfrm>
            <a:off x="751197" y="3139440"/>
            <a:ext cx="7005963" cy="2825254"/>
          </a:xfrm>
        </p:spPr>
        <p:txBody>
          <a:bodyPr/>
          <a:lstStyle/>
          <a:p>
            <a:pPr marL="914400" indent="-685800">
              <a:spcBef>
                <a:spcPts val="300"/>
              </a:spcBef>
            </a:pPr>
            <a:r>
              <a:rPr lang="en-US" sz="1800" b="1" dirty="0"/>
              <a:t>Step 3</a:t>
            </a:r>
            <a:r>
              <a:rPr lang="en-US" sz="1800" dirty="0"/>
              <a:t>. In the </a:t>
            </a:r>
            <a:r>
              <a:rPr lang="en-US" sz="1800" b="1" dirty="0"/>
              <a:t>Tables</a:t>
            </a:r>
            <a:r>
              <a:rPr lang="en-US" sz="1800" dirty="0"/>
              <a:t> group, click </a:t>
            </a:r>
            <a:r>
              <a:rPr lang="en-US" sz="1800" b="1" dirty="0"/>
              <a:t>PivotTable</a:t>
            </a:r>
            <a:r>
              <a:rPr lang="en-US" sz="1800" dirty="0"/>
              <a:t>.</a:t>
            </a:r>
          </a:p>
          <a:p>
            <a:pPr marL="914400" indent="-685800">
              <a:spcBef>
                <a:spcPts val="300"/>
              </a:spcBef>
            </a:pPr>
            <a:r>
              <a:rPr lang="en-US" sz="1800" b="1" dirty="0"/>
              <a:t>Step 4</a:t>
            </a:r>
            <a:r>
              <a:rPr lang="en-US" sz="1800" dirty="0"/>
              <a:t>. Click </a:t>
            </a:r>
            <a:r>
              <a:rPr lang="en-US" sz="1800" b="1" dirty="0"/>
              <a:t>OK</a:t>
            </a:r>
            <a:r>
              <a:rPr lang="en-US" sz="1800" dirty="0"/>
              <a:t> on the </a:t>
            </a:r>
            <a:r>
              <a:rPr lang="en-US" sz="1800" b="1" dirty="0"/>
              <a:t>Create PivotTable </a:t>
            </a:r>
            <a:r>
              <a:rPr lang="en-US" sz="1800" dirty="0"/>
              <a:t>dialog box.</a:t>
            </a:r>
          </a:p>
          <a:p>
            <a:pPr marL="914400" indent="-685800">
              <a:spcBef>
                <a:spcPts val="300"/>
              </a:spcBef>
            </a:pPr>
            <a:r>
              <a:rPr lang="en-US" sz="1800" b="1" dirty="0"/>
              <a:t>Step 5</a:t>
            </a:r>
            <a:r>
              <a:rPr lang="en-US" sz="1800" dirty="0"/>
              <a:t>. In the </a:t>
            </a:r>
            <a:r>
              <a:rPr lang="en-US" sz="1800" b="1" dirty="0"/>
              <a:t>PivotTable Fields </a:t>
            </a:r>
            <a:r>
              <a:rPr lang="en-US" sz="1800" dirty="0"/>
              <a:t>task pane: drag </a:t>
            </a:r>
            <a:r>
              <a:rPr lang="en-US" sz="1800" i="1" dirty="0"/>
              <a:t>Audit Time</a:t>
            </a:r>
            <a:r>
              <a:rPr lang="en-US" sz="1800" dirty="0"/>
              <a:t> to the </a:t>
            </a:r>
            <a:r>
              <a:rPr lang="en-US" sz="1800" b="1" dirty="0"/>
              <a:t>Rows</a:t>
            </a:r>
            <a:r>
              <a:rPr lang="en-US" sz="1800" dirty="0"/>
              <a:t> area; drag </a:t>
            </a:r>
            <a:r>
              <a:rPr lang="en-US" sz="1800" i="1" dirty="0"/>
              <a:t>Audit Time</a:t>
            </a:r>
            <a:r>
              <a:rPr lang="en-US" sz="1800" dirty="0"/>
              <a:t> to the </a:t>
            </a:r>
            <a:r>
              <a:rPr lang="en-US" sz="1800" b="1" dirty="0"/>
              <a:t>Values</a:t>
            </a:r>
            <a:r>
              <a:rPr lang="en-US" sz="1800" dirty="0"/>
              <a:t> area.</a:t>
            </a:r>
          </a:p>
          <a:p>
            <a:pPr marL="914400" indent="-685800">
              <a:spcBef>
                <a:spcPts val="300"/>
              </a:spcBef>
            </a:pPr>
            <a:r>
              <a:rPr lang="en-US" sz="1800" b="1" dirty="0"/>
              <a:t>Step 6</a:t>
            </a:r>
            <a:r>
              <a:rPr lang="en-US" sz="1800" dirty="0"/>
              <a:t>. Click on </a:t>
            </a:r>
            <a:r>
              <a:rPr lang="en-US" sz="1800" b="1" dirty="0"/>
              <a:t>Sum of Audit Time </a:t>
            </a:r>
            <a:r>
              <a:rPr lang="en-US" sz="1800" dirty="0"/>
              <a:t>in the </a:t>
            </a:r>
            <a:r>
              <a:rPr lang="en-US" sz="1800" b="1" dirty="0"/>
              <a:t>Values</a:t>
            </a:r>
            <a:r>
              <a:rPr lang="en-US" sz="1800" dirty="0"/>
              <a:t> area.</a:t>
            </a:r>
          </a:p>
          <a:p>
            <a:pPr marL="914400" indent="-685800">
              <a:spcBef>
                <a:spcPts val="300"/>
              </a:spcBef>
            </a:pPr>
            <a:r>
              <a:rPr lang="en-US" sz="1800" b="1" dirty="0"/>
              <a:t>Step 7</a:t>
            </a:r>
            <a:r>
              <a:rPr lang="en-US" sz="1800" dirty="0"/>
              <a:t>. Select </a:t>
            </a:r>
            <a:r>
              <a:rPr lang="en-US" sz="1800" b="1" dirty="0"/>
              <a:t>Value Field Settings ...</a:t>
            </a:r>
            <a:r>
              <a:rPr lang="en-US" sz="1800" dirty="0"/>
              <a:t> from the options.</a:t>
            </a:r>
          </a:p>
          <a:p>
            <a:pPr marL="914400" indent="-685800">
              <a:spcBef>
                <a:spcPts val="300"/>
              </a:spcBef>
            </a:pPr>
            <a:r>
              <a:rPr lang="en-US" sz="1800" b="1" dirty="0"/>
              <a:t>Step 8</a:t>
            </a:r>
            <a:r>
              <a:rPr lang="en-US" sz="1800" dirty="0"/>
              <a:t>. When the </a:t>
            </a:r>
            <a:r>
              <a:rPr lang="en-US" sz="1800" b="1" dirty="0"/>
              <a:t>Value Field Settings </a:t>
            </a:r>
            <a:r>
              <a:rPr lang="en-US" sz="1800" dirty="0"/>
              <a:t>dialog box appears, choose </a:t>
            </a:r>
            <a:r>
              <a:rPr lang="en-US" sz="1800" b="1" dirty="0"/>
              <a:t>Count</a:t>
            </a:r>
            <a:r>
              <a:rPr lang="en-US" sz="1800" dirty="0"/>
              <a:t> under </a:t>
            </a:r>
            <a:r>
              <a:rPr lang="en-US" sz="1800" b="1" dirty="0"/>
              <a:t>Summarize value field by</a:t>
            </a:r>
            <a:r>
              <a:rPr lang="en-US" sz="1800" dirty="0"/>
              <a:t>; Click </a:t>
            </a:r>
            <a:r>
              <a:rPr lang="en-US" sz="1800" b="1" dirty="0"/>
              <a:t>OK</a:t>
            </a:r>
            <a:r>
              <a:rPr lang="en-US" sz="2000" dirty="0"/>
              <a:t>.</a:t>
            </a:r>
          </a:p>
          <a:p>
            <a:pPr marL="228600"/>
            <a:r>
              <a:rPr lang="en-US" sz="2000" dirty="0"/>
              <a:t>See notes for grouping the data as shown to the right.</a:t>
            </a:r>
          </a:p>
        </p:txBody>
      </p:sp>
    </p:spTree>
    <p:extLst>
      <p:ext uri="{BB962C8B-B14F-4D97-AF65-F5344CB8AC3E}">
        <p14:creationId xmlns:p14="http://schemas.microsoft.com/office/powerpoint/2010/main" val="27096940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2F1851-52D5-03F3-7981-83429886F204}"/>
              </a:ext>
            </a:extLst>
          </p:cNvPr>
          <p:cNvSpPr>
            <a:spLocks noGrp="1"/>
          </p:cNvSpPr>
          <p:nvPr>
            <p:ph type="title"/>
          </p:nvPr>
        </p:nvSpPr>
        <p:spPr/>
        <p:txBody>
          <a:bodyPr/>
          <a:lstStyle/>
          <a:p>
            <a:r>
              <a:rPr lang="en-US" dirty="0"/>
              <a:t>2.2 Cumulative Distributions</a:t>
            </a:r>
          </a:p>
        </p:txBody>
      </p:sp>
      <p:sp>
        <p:nvSpPr>
          <p:cNvPr id="3" name="Text Placeholder 2">
            <a:extLst>
              <a:ext uri="{FF2B5EF4-FFF2-40B4-BE49-F238E27FC236}">
                <a16:creationId xmlns:a16="http://schemas.microsoft.com/office/drawing/2014/main" id="{E2F8492D-AD9D-EE5B-D41A-129A2A09ACBF}"/>
              </a:ext>
            </a:extLst>
          </p:cNvPr>
          <p:cNvSpPr>
            <a:spLocks noGrp="1"/>
          </p:cNvSpPr>
          <p:nvPr>
            <p:ph type="body" sz="quarter" idx="15"/>
          </p:nvPr>
        </p:nvSpPr>
        <p:spPr>
          <a:xfrm>
            <a:off x="743576" y="1344960"/>
            <a:ext cx="10610223" cy="2683096"/>
          </a:xfrm>
        </p:spPr>
        <p:txBody>
          <a:bodyPr/>
          <a:lstStyle/>
          <a:p>
            <a:pPr>
              <a:spcAft>
                <a:spcPts val="0"/>
              </a:spcAft>
            </a:pPr>
            <a:r>
              <a:rPr lang="en-US" sz="2000" dirty="0"/>
              <a:t>A </a:t>
            </a:r>
            <a:r>
              <a:rPr lang="en-US" sz="2000" b="1" dirty="0"/>
              <a:t>cumulative frequency distribution </a:t>
            </a:r>
            <a:r>
              <a:rPr lang="en-US" sz="2000" dirty="0"/>
              <a:t>shows the number of items with values less than or equal to the upper limit of each class (*see notes.)</a:t>
            </a:r>
          </a:p>
          <a:p>
            <a:pPr>
              <a:spcAft>
                <a:spcPts val="0"/>
              </a:spcAft>
            </a:pPr>
            <a:r>
              <a:rPr lang="en-US" sz="2000" dirty="0"/>
              <a:t>A </a:t>
            </a:r>
            <a:r>
              <a:rPr lang="en-US" sz="2000" b="1" dirty="0"/>
              <a:t>cumulative relative frequency distribution </a:t>
            </a:r>
            <a:r>
              <a:rPr lang="en-US" sz="2000" dirty="0"/>
              <a:t>shows the proportion of items with values less than or equal to the upper limit of each class.</a:t>
            </a:r>
          </a:p>
          <a:p>
            <a:pPr>
              <a:spcAft>
                <a:spcPts val="0"/>
              </a:spcAft>
            </a:pPr>
            <a:r>
              <a:rPr lang="en-US" sz="2000" dirty="0"/>
              <a:t>A </a:t>
            </a:r>
            <a:r>
              <a:rPr lang="en-US" sz="2000" b="1" dirty="0"/>
              <a:t>cumulative percent frequency distribution </a:t>
            </a:r>
            <a:r>
              <a:rPr lang="en-US" sz="2000" dirty="0"/>
              <a:t>shows the percentage of items with values less than or equal to the upper limit of each class.</a:t>
            </a:r>
          </a:p>
          <a:p>
            <a:pPr>
              <a:spcAft>
                <a:spcPts val="0"/>
              </a:spcAft>
            </a:pPr>
            <a:r>
              <a:rPr lang="en-US" sz="2000" dirty="0"/>
              <a:t>The distributions in the table show that 85% of the audits were completed in 24 days or less, 95% of the audits were completed in 29 days or less, and so on.</a:t>
            </a:r>
          </a:p>
        </p:txBody>
      </p:sp>
      <p:graphicFrame>
        <p:nvGraphicFramePr>
          <p:cNvPr id="5" name="Table 5">
            <a:extLst>
              <a:ext uri="{FF2B5EF4-FFF2-40B4-BE49-F238E27FC236}">
                <a16:creationId xmlns:a16="http://schemas.microsoft.com/office/drawing/2014/main" id="{96C353BA-9664-822D-9CFF-FEAA7F13CE70}"/>
              </a:ext>
            </a:extLst>
          </p:cNvPr>
          <p:cNvGraphicFramePr>
            <a:graphicFrameLocks noGrp="1"/>
          </p:cNvGraphicFramePr>
          <p:nvPr>
            <p:ph type="tbl" sz="quarter" idx="16"/>
          </p:nvPr>
        </p:nvGraphicFramePr>
        <p:xfrm>
          <a:off x="946265" y="4081549"/>
          <a:ext cx="10026535" cy="1626755"/>
        </p:xfrm>
        <a:graphic>
          <a:graphicData uri="http://schemas.openxmlformats.org/drawingml/2006/table">
            <a:tbl>
              <a:tblPr firstRow="1" bandRow="1">
                <a:tableStyleId>{5C22544A-7EE6-4342-B048-85BDC9FD1C3A}</a:tableStyleId>
              </a:tblPr>
              <a:tblGrid>
                <a:gridCol w="2237509">
                  <a:extLst>
                    <a:ext uri="{9D8B030D-6E8A-4147-A177-3AD203B41FA5}">
                      <a16:colId xmlns:a16="http://schemas.microsoft.com/office/drawing/2014/main" val="1519546471"/>
                    </a:ext>
                  </a:extLst>
                </a:gridCol>
                <a:gridCol w="2111433">
                  <a:extLst>
                    <a:ext uri="{9D8B030D-6E8A-4147-A177-3AD203B41FA5}">
                      <a16:colId xmlns:a16="http://schemas.microsoft.com/office/drawing/2014/main" val="1326210408"/>
                    </a:ext>
                  </a:extLst>
                </a:gridCol>
                <a:gridCol w="2892829">
                  <a:extLst>
                    <a:ext uri="{9D8B030D-6E8A-4147-A177-3AD203B41FA5}">
                      <a16:colId xmlns:a16="http://schemas.microsoft.com/office/drawing/2014/main" val="147090589"/>
                    </a:ext>
                  </a:extLst>
                </a:gridCol>
                <a:gridCol w="2784764">
                  <a:extLst>
                    <a:ext uri="{9D8B030D-6E8A-4147-A177-3AD203B41FA5}">
                      <a16:colId xmlns:a16="http://schemas.microsoft.com/office/drawing/2014/main" val="1268474888"/>
                    </a:ext>
                  </a:extLst>
                </a:gridCol>
              </a:tblGrid>
              <a:tr h="375805">
                <a:tc>
                  <a:txBody>
                    <a:bodyPr/>
                    <a:lstStyle/>
                    <a:p>
                      <a:pPr algn="l" fontAlgn="ctr"/>
                      <a:r>
                        <a:rPr lang="en-US" sz="1600" b="1" i="0" u="none" strike="noStrike" dirty="0">
                          <a:solidFill>
                            <a:srgbClr val="000000"/>
                          </a:solidFill>
                          <a:effectLst/>
                          <a:latin typeface="+mn-lt"/>
                        </a:rPr>
                        <a:t>Audit Time (days) </a:t>
                      </a:r>
                    </a:p>
                  </a:txBody>
                  <a:tcPr marL="6350" marR="6350" marT="6350"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algn="ctr" fontAlgn="ctr"/>
                      <a:r>
                        <a:rPr lang="en-US" sz="1600" b="1" i="0" u="none" strike="noStrike" dirty="0">
                          <a:solidFill>
                            <a:srgbClr val="000000"/>
                          </a:solidFill>
                          <a:effectLst/>
                          <a:latin typeface="+mn-lt"/>
                        </a:rPr>
                        <a:t>Cumulative Frequency </a:t>
                      </a:r>
                    </a:p>
                  </a:txBody>
                  <a:tcPr marL="6350" marR="6350" marT="6350"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algn="ctr" fontAlgn="ctr"/>
                      <a:r>
                        <a:rPr lang="en-US" sz="1600" b="1" i="0" u="none" strike="noStrike" dirty="0">
                          <a:solidFill>
                            <a:srgbClr val="000000"/>
                          </a:solidFill>
                          <a:effectLst/>
                          <a:latin typeface="+mn-lt"/>
                        </a:rPr>
                        <a:t>Cumulative Relative Frequency </a:t>
                      </a:r>
                    </a:p>
                  </a:txBody>
                  <a:tcPr marL="6350" marR="6350" marT="6350"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algn="ctr" fontAlgn="ctr"/>
                      <a:r>
                        <a:rPr lang="en-US" sz="1600" b="1" i="0" u="none" strike="noStrike" dirty="0">
                          <a:solidFill>
                            <a:srgbClr val="000000"/>
                          </a:solidFill>
                          <a:effectLst/>
                          <a:latin typeface="+mn-lt"/>
                        </a:rPr>
                        <a:t>Cumulative Percent Frequency </a:t>
                      </a:r>
                    </a:p>
                  </a:txBody>
                  <a:tcPr marL="6350" marR="6350" marT="6350"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36015584"/>
                  </a:ext>
                </a:extLst>
              </a:tr>
              <a:tr h="203373">
                <a:tc>
                  <a:txBody>
                    <a:bodyPr/>
                    <a:lstStyle/>
                    <a:p>
                      <a:pPr algn="l" fontAlgn="ctr"/>
                      <a:r>
                        <a:rPr lang="en-US" sz="1600" b="0" i="0" u="none" strike="noStrike">
                          <a:solidFill>
                            <a:srgbClr val="000000"/>
                          </a:solidFill>
                          <a:effectLst/>
                          <a:latin typeface="+mn-lt"/>
                        </a:rPr>
                        <a:t>Less than or equal to 14 </a:t>
                      </a:r>
                    </a:p>
                  </a:txBody>
                  <a:tcPr marL="6350" marR="6350" marT="635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ctr"/>
                      <a:r>
                        <a:rPr lang="en-US" sz="1600" b="0" i="0" u="none" strike="noStrike" dirty="0">
                          <a:solidFill>
                            <a:srgbClr val="000000"/>
                          </a:solidFill>
                          <a:effectLst/>
                          <a:latin typeface="+mn-lt"/>
                        </a:rPr>
                        <a:t>	  4</a:t>
                      </a:r>
                    </a:p>
                  </a:txBody>
                  <a:tcPr marL="6350" marR="6350" marT="635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600" b="0" i="0" u="none" strike="noStrike" dirty="0">
                          <a:solidFill>
                            <a:srgbClr val="000000"/>
                          </a:solidFill>
                          <a:effectLst/>
                          <a:latin typeface="+mn-lt"/>
                        </a:rPr>
                        <a:t>0.20</a:t>
                      </a:r>
                    </a:p>
                  </a:txBody>
                  <a:tcPr marL="6350" marR="6350" marT="635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600" b="0" i="0" u="none" strike="noStrike" dirty="0">
                          <a:solidFill>
                            <a:srgbClr val="000000"/>
                          </a:solidFill>
                          <a:effectLst/>
                          <a:latin typeface="+mn-lt"/>
                        </a:rPr>
                        <a:t>  20</a:t>
                      </a:r>
                    </a:p>
                  </a:txBody>
                  <a:tcPr marL="6350" marR="6350" marT="635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1681048921"/>
                  </a:ext>
                </a:extLst>
              </a:tr>
              <a:tr h="203373">
                <a:tc>
                  <a:txBody>
                    <a:bodyPr/>
                    <a:lstStyle/>
                    <a:p>
                      <a:pPr algn="l" fontAlgn="ctr"/>
                      <a:r>
                        <a:rPr lang="en-US" sz="1600" b="0" i="0" u="none" strike="noStrike">
                          <a:solidFill>
                            <a:srgbClr val="000000"/>
                          </a:solidFill>
                          <a:effectLst/>
                          <a:latin typeface="+mn-lt"/>
                        </a:rPr>
                        <a:t>Less than or equal to 19 </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ctr"/>
                      <a:r>
                        <a:rPr lang="en-US" sz="1600" b="0" i="0" u="none" strike="noStrike" dirty="0">
                          <a:solidFill>
                            <a:srgbClr val="000000"/>
                          </a:solidFill>
                          <a:effectLst/>
                          <a:latin typeface="+mn-lt"/>
                        </a:rPr>
                        <a:t>	12</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600" b="0" i="0" u="none" strike="noStrike" dirty="0">
                          <a:solidFill>
                            <a:srgbClr val="000000"/>
                          </a:solidFill>
                          <a:effectLst/>
                          <a:latin typeface="+mn-lt"/>
                        </a:rPr>
                        <a:t>0.60</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600" b="0" i="0" u="none" strike="noStrike" dirty="0">
                          <a:solidFill>
                            <a:srgbClr val="000000"/>
                          </a:solidFill>
                          <a:effectLst/>
                          <a:latin typeface="+mn-lt"/>
                        </a:rPr>
                        <a:t>  60</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341676969"/>
                  </a:ext>
                </a:extLst>
              </a:tr>
              <a:tr h="203373">
                <a:tc>
                  <a:txBody>
                    <a:bodyPr/>
                    <a:lstStyle/>
                    <a:p>
                      <a:pPr algn="l" fontAlgn="ctr"/>
                      <a:r>
                        <a:rPr lang="en-US" sz="1600" b="0" i="0" u="none" strike="noStrike">
                          <a:solidFill>
                            <a:srgbClr val="000000"/>
                          </a:solidFill>
                          <a:effectLst/>
                          <a:latin typeface="+mn-lt"/>
                        </a:rPr>
                        <a:t>Less than or equal to 24 </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ctr"/>
                      <a:r>
                        <a:rPr lang="en-US" sz="1600" b="0" i="0" u="none" strike="noStrike" dirty="0">
                          <a:solidFill>
                            <a:srgbClr val="000000"/>
                          </a:solidFill>
                          <a:effectLst/>
                          <a:latin typeface="+mn-lt"/>
                        </a:rPr>
                        <a:t>	17</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600" b="0" i="0" u="none" strike="noStrike" dirty="0">
                          <a:solidFill>
                            <a:srgbClr val="000000"/>
                          </a:solidFill>
                          <a:effectLst/>
                          <a:latin typeface="+mn-lt"/>
                        </a:rPr>
                        <a:t>0.85</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600" b="0" i="0" u="none" strike="noStrike" dirty="0">
                          <a:solidFill>
                            <a:srgbClr val="000000"/>
                          </a:solidFill>
                          <a:effectLst/>
                          <a:latin typeface="+mn-lt"/>
                        </a:rPr>
                        <a:t>  85</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3387787873"/>
                  </a:ext>
                </a:extLst>
              </a:tr>
              <a:tr h="203373">
                <a:tc>
                  <a:txBody>
                    <a:bodyPr/>
                    <a:lstStyle/>
                    <a:p>
                      <a:pPr algn="l" fontAlgn="ctr"/>
                      <a:r>
                        <a:rPr lang="en-US" sz="1600" b="0" i="0" u="none" strike="noStrike" dirty="0">
                          <a:solidFill>
                            <a:srgbClr val="000000"/>
                          </a:solidFill>
                          <a:effectLst/>
                          <a:latin typeface="+mn-lt"/>
                        </a:rPr>
                        <a:t>Less than or equal to 29 </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ctr"/>
                      <a:r>
                        <a:rPr lang="en-US" sz="1600" b="0" i="0" u="none" strike="noStrike" dirty="0">
                          <a:solidFill>
                            <a:srgbClr val="000000"/>
                          </a:solidFill>
                          <a:effectLst/>
                          <a:latin typeface="+mn-lt"/>
                        </a:rPr>
                        <a:t>	19</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600" b="0" i="0" u="none" strike="noStrike" dirty="0">
                          <a:solidFill>
                            <a:srgbClr val="000000"/>
                          </a:solidFill>
                          <a:effectLst/>
                          <a:latin typeface="+mn-lt"/>
                        </a:rPr>
                        <a:t>0.95</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600" b="0" i="0" u="none" strike="noStrike" dirty="0">
                          <a:solidFill>
                            <a:srgbClr val="000000"/>
                          </a:solidFill>
                          <a:effectLst/>
                          <a:latin typeface="+mn-lt"/>
                        </a:rPr>
                        <a:t>  95</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3889639371"/>
                  </a:ext>
                </a:extLst>
              </a:tr>
              <a:tr h="203373">
                <a:tc>
                  <a:txBody>
                    <a:bodyPr/>
                    <a:lstStyle/>
                    <a:p>
                      <a:pPr algn="l" fontAlgn="ctr"/>
                      <a:r>
                        <a:rPr lang="en-US" sz="1600" b="0" i="0" u="none" strike="noStrike">
                          <a:solidFill>
                            <a:srgbClr val="000000"/>
                          </a:solidFill>
                          <a:effectLst/>
                          <a:latin typeface="+mn-lt"/>
                        </a:rPr>
                        <a:t>Less than or equal to 34 </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ctr"/>
                      <a:r>
                        <a:rPr lang="en-US" sz="1600" b="0" i="0" u="none" strike="noStrike" dirty="0">
                          <a:solidFill>
                            <a:srgbClr val="000000"/>
                          </a:solidFill>
                          <a:effectLst/>
                          <a:latin typeface="+mn-lt"/>
                        </a:rPr>
                        <a:t>	20</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600" b="0" i="0" u="none" strike="noStrike" dirty="0">
                          <a:solidFill>
                            <a:srgbClr val="000000"/>
                          </a:solidFill>
                          <a:effectLst/>
                          <a:latin typeface="+mn-lt"/>
                        </a:rPr>
                        <a:t>1.00</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tabLst>
                          <a:tab pos="1712913" algn="r"/>
                        </a:tabLst>
                      </a:pPr>
                      <a:r>
                        <a:rPr lang="en-US" sz="1600" b="0" i="0" u="none" strike="noStrike" dirty="0">
                          <a:solidFill>
                            <a:srgbClr val="000000"/>
                          </a:solidFill>
                          <a:effectLst/>
                          <a:latin typeface="+mn-lt"/>
                        </a:rPr>
                        <a:t>100</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1412087600"/>
                  </a:ext>
                </a:extLst>
              </a:tr>
            </a:tbl>
          </a:graphicData>
        </a:graphic>
      </p:graphicFrame>
    </p:spTree>
    <p:extLst>
      <p:ext uri="{BB962C8B-B14F-4D97-AF65-F5344CB8AC3E}">
        <p14:creationId xmlns:p14="http://schemas.microsoft.com/office/powerpoint/2010/main" val="26199128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2F1851-52D5-03F3-7981-83429886F204}"/>
              </a:ext>
            </a:extLst>
          </p:cNvPr>
          <p:cNvSpPr>
            <a:spLocks noGrp="1"/>
          </p:cNvSpPr>
          <p:nvPr>
            <p:ph type="title"/>
          </p:nvPr>
        </p:nvSpPr>
        <p:spPr/>
        <p:txBody>
          <a:bodyPr/>
          <a:lstStyle/>
          <a:p>
            <a:r>
              <a:rPr lang="en-US" dirty="0"/>
              <a:t>2.2 Dot Plot</a:t>
            </a:r>
          </a:p>
        </p:txBody>
      </p:sp>
      <p:sp>
        <p:nvSpPr>
          <p:cNvPr id="3" name="Text Placeholder 2">
            <a:extLst>
              <a:ext uri="{FF2B5EF4-FFF2-40B4-BE49-F238E27FC236}">
                <a16:creationId xmlns:a16="http://schemas.microsoft.com/office/drawing/2014/main" id="{E2F8492D-AD9D-EE5B-D41A-129A2A09ACBF}"/>
              </a:ext>
            </a:extLst>
          </p:cNvPr>
          <p:cNvSpPr>
            <a:spLocks noGrp="1"/>
          </p:cNvSpPr>
          <p:nvPr>
            <p:ph type="body" sz="quarter" idx="15"/>
          </p:nvPr>
        </p:nvSpPr>
        <p:spPr>
          <a:xfrm>
            <a:off x="743578" y="1316421"/>
            <a:ext cx="10610222" cy="2751084"/>
          </a:xfrm>
        </p:spPr>
        <p:txBody>
          <a:bodyPr/>
          <a:lstStyle/>
          <a:p>
            <a:pPr>
              <a:spcAft>
                <a:spcPts val="0"/>
              </a:spcAft>
            </a:pPr>
            <a:r>
              <a:rPr lang="en-US" sz="2000" dirty="0"/>
              <a:t>The </a:t>
            </a:r>
            <a:r>
              <a:rPr lang="en-US" sz="2000" b="1" dirty="0"/>
              <a:t>Dot Plot </a:t>
            </a:r>
            <a:r>
              <a:rPr lang="en-US" sz="2000" dirty="0"/>
              <a:t>is one of the simplest graphical summaries of quantitative data. </a:t>
            </a:r>
          </a:p>
          <a:p>
            <a:pPr>
              <a:spcAft>
                <a:spcPts val="0"/>
              </a:spcAft>
            </a:pPr>
            <a:r>
              <a:rPr lang="en-US" sz="2000" dirty="0"/>
              <a:t>A horizontal axis shows the range for the data, and each data value is represented by a dot placed above the axis. </a:t>
            </a:r>
          </a:p>
          <a:p>
            <a:pPr>
              <a:spcAft>
                <a:spcPts val="0"/>
              </a:spcAft>
            </a:pPr>
            <a:r>
              <a:rPr lang="en-US" sz="2000" dirty="0"/>
              <a:t>Dot plots show the details of the data and are useful for comparing the distribution of the data for two or more variables.</a:t>
            </a:r>
          </a:p>
          <a:p>
            <a:pPr>
              <a:spcAft>
                <a:spcPts val="0"/>
              </a:spcAft>
            </a:pPr>
            <a:r>
              <a:rPr lang="en-US" sz="2000" dirty="0"/>
              <a:t>The dot plot for the audit time data is shown below.</a:t>
            </a:r>
          </a:p>
          <a:p>
            <a:pPr marL="630238" indent="-284163">
              <a:spcAft>
                <a:spcPts val="0"/>
              </a:spcAft>
              <a:buFont typeface="Arial" panose="020B0604020202020204" pitchFamily="34" charset="0"/>
              <a:buChar char="•"/>
            </a:pPr>
            <a:r>
              <a:rPr lang="en-US" sz="2000" dirty="0"/>
              <a:t>The three dots located above 18 on the horizontal axis indicate that an audit time of 18 days occurred three times. </a:t>
            </a:r>
          </a:p>
        </p:txBody>
      </p:sp>
      <p:pic>
        <p:nvPicPr>
          <p:cNvPr id="6" name="Picture Placeholder 5" descr="A dot plot shows data for audit time. The horizontal axis is labeled “Audit Time (days)” and ranges from 10 to 35 with tickmarks in increments of 5. The graph consists of dots for different audit time. The data from the chart are as follows. 12: 1 dot. 13: 1 dot. 14: 2 dots. 15: 2 dots. 16: 1 dot. 17: 1 dot. 18: 3 dots. 19: 1 dot. 20: 1 dot. 21: 1 dot. 22: 2 dots. 23: 1 dot. 27: 1 dot. 28: 1 dot. 33: 1 dot.&#10;">
            <a:extLst>
              <a:ext uri="{FF2B5EF4-FFF2-40B4-BE49-F238E27FC236}">
                <a16:creationId xmlns:a16="http://schemas.microsoft.com/office/drawing/2014/main" id="{3AD227B8-F597-FCCC-E7B9-2B37BB3D7A26}"/>
              </a:ext>
            </a:extLst>
          </p:cNvPr>
          <p:cNvPicPr>
            <a:picLocks noGrp="1" noChangeAspect="1"/>
          </p:cNvPicPr>
          <p:nvPr>
            <p:ph type="pic" sz="quarter" idx="16"/>
          </p:nvPr>
        </p:nvPicPr>
        <p:blipFill rotWithShape="1">
          <a:blip r:embed="rId3"/>
          <a:srcRect l="20" r="20"/>
          <a:stretch/>
        </p:blipFill>
        <p:spPr>
          <a:xfrm>
            <a:off x="3059877" y="4130569"/>
            <a:ext cx="8105994" cy="1610018"/>
          </a:xfrm>
        </p:spPr>
      </p:pic>
    </p:spTree>
    <p:extLst>
      <p:ext uri="{BB962C8B-B14F-4D97-AF65-F5344CB8AC3E}">
        <p14:creationId xmlns:p14="http://schemas.microsoft.com/office/powerpoint/2010/main" val="4577689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2F1851-52D5-03F3-7981-83429886F204}"/>
              </a:ext>
            </a:extLst>
          </p:cNvPr>
          <p:cNvSpPr>
            <a:spLocks noGrp="1"/>
          </p:cNvSpPr>
          <p:nvPr>
            <p:ph type="title"/>
          </p:nvPr>
        </p:nvSpPr>
        <p:spPr/>
        <p:txBody>
          <a:bodyPr/>
          <a:lstStyle/>
          <a:p>
            <a:r>
              <a:rPr lang="en-US" dirty="0"/>
              <a:t>2.2 Histogram</a:t>
            </a:r>
          </a:p>
        </p:txBody>
      </p:sp>
      <p:sp>
        <p:nvSpPr>
          <p:cNvPr id="3" name="Text Placeholder 2">
            <a:extLst>
              <a:ext uri="{FF2B5EF4-FFF2-40B4-BE49-F238E27FC236}">
                <a16:creationId xmlns:a16="http://schemas.microsoft.com/office/drawing/2014/main" id="{E2F8492D-AD9D-EE5B-D41A-129A2A09ACBF}"/>
              </a:ext>
            </a:extLst>
          </p:cNvPr>
          <p:cNvSpPr>
            <a:spLocks noGrp="1"/>
          </p:cNvSpPr>
          <p:nvPr>
            <p:ph type="body" sz="quarter" idx="15"/>
          </p:nvPr>
        </p:nvSpPr>
        <p:spPr>
          <a:xfrm>
            <a:off x="743577" y="1316420"/>
            <a:ext cx="10610222" cy="1781503"/>
          </a:xfrm>
        </p:spPr>
        <p:txBody>
          <a:bodyPr/>
          <a:lstStyle/>
          <a:p>
            <a:r>
              <a:rPr lang="en-US" sz="2000" dirty="0"/>
              <a:t>The </a:t>
            </a:r>
            <a:r>
              <a:rPr lang="en-US" sz="2000" b="1" dirty="0"/>
              <a:t>histogram</a:t>
            </a:r>
            <a:r>
              <a:rPr lang="en-US" sz="2000" dirty="0"/>
              <a:t> is a common graphical display that can be prepared for quantitative data previously summarized in a frequency, relative frequency, or percent frequency distribution.</a:t>
            </a:r>
          </a:p>
          <a:p>
            <a:pPr marL="685800" indent="-339725">
              <a:buFont typeface="Arial" panose="020B0604020202020204" pitchFamily="34" charset="0"/>
              <a:buChar char="•"/>
            </a:pPr>
            <a:r>
              <a:rPr lang="en-US" sz="2000" dirty="0"/>
              <a:t>The variable of interest is placed on the horizontal axis.</a:t>
            </a:r>
          </a:p>
          <a:p>
            <a:pPr marL="685800" indent="-339725">
              <a:buFont typeface="Arial" panose="020B0604020202020204" pitchFamily="34" charset="0"/>
              <a:buChar char="•"/>
            </a:pPr>
            <a:r>
              <a:rPr lang="en-US" sz="2000" dirty="0"/>
              <a:t>A rectangle is drawn above each class interval with its height corresponding to the interval’s frequency, relative frequency, or percent frequency.</a:t>
            </a:r>
          </a:p>
        </p:txBody>
      </p:sp>
      <p:pic>
        <p:nvPicPr>
          <p:cNvPr id="7" name="Picture Placeholder 6" descr="A histogram with five vertical bars plots frequency versus audit time. The horizontal axis is labeled “Audit time (days)” and shows five ranges of values. The vertical axis is labeled “Frequency” and ranges from 1 to 8 with tickmarks in increments of 1. The data from the histogram are as follows. 10 to 14: 4. 15 to 19: 8. 20 to 24: 5. 25 to 29: 2. 30 to 34: 1.&#10;">
            <a:extLst>
              <a:ext uri="{FF2B5EF4-FFF2-40B4-BE49-F238E27FC236}">
                <a16:creationId xmlns:a16="http://schemas.microsoft.com/office/drawing/2014/main" id="{973B4B95-B139-77A6-ADD6-4A7AA0C811BA}"/>
              </a:ext>
            </a:extLst>
          </p:cNvPr>
          <p:cNvPicPr>
            <a:picLocks noGrp="1" noChangeAspect="1"/>
          </p:cNvPicPr>
          <p:nvPr>
            <p:ph type="pic" sz="quarter" idx="16"/>
          </p:nvPr>
        </p:nvPicPr>
        <p:blipFill rotWithShape="1">
          <a:blip r:embed="rId3"/>
          <a:srcRect t="20" b="20"/>
          <a:stretch/>
        </p:blipFill>
        <p:spPr>
          <a:xfrm>
            <a:off x="6297613" y="3181230"/>
            <a:ext cx="5056187" cy="2714625"/>
          </a:xfrm>
        </p:spPr>
      </p:pic>
      <p:sp>
        <p:nvSpPr>
          <p:cNvPr id="11" name="Text Placeholder 10">
            <a:extLst>
              <a:ext uri="{FF2B5EF4-FFF2-40B4-BE49-F238E27FC236}">
                <a16:creationId xmlns:a16="http://schemas.microsoft.com/office/drawing/2014/main" id="{F7894A5A-25F1-5919-C9A6-DC8EF1BC7F33}"/>
              </a:ext>
            </a:extLst>
          </p:cNvPr>
          <p:cNvSpPr>
            <a:spLocks noGrp="1"/>
          </p:cNvSpPr>
          <p:nvPr>
            <p:ph type="body" sz="quarter" idx="17"/>
          </p:nvPr>
        </p:nvSpPr>
        <p:spPr>
          <a:xfrm>
            <a:off x="743577" y="3097924"/>
            <a:ext cx="5352423" cy="2797932"/>
          </a:xfrm>
        </p:spPr>
        <p:txBody>
          <a:bodyPr/>
          <a:lstStyle/>
          <a:p>
            <a:pPr marL="630238" indent="-284163">
              <a:buFont typeface="Arial" panose="020B0604020202020204" pitchFamily="34" charset="0"/>
              <a:buChar char="•"/>
            </a:pPr>
            <a:r>
              <a:rPr lang="en-US" sz="2000" dirty="0"/>
              <a:t>Unlike a bar graph, a histogram has no natural separation between rectangles of adjacent classes (*see notes.)</a:t>
            </a:r>
          </a:p>
          <a:p>
            <a:r>
              <a:rPr lang="en-US" sz="2000" dirty="0"/>
              <a:t>The histogram for the audit time data is shown.</a:t>
            </a:r>
          </a:p>
          <a:p>
            <a:pPr marL="630238" indent="-284163">
              <a:buFont typeface="Arial" panose="020B0604020202020204" pitchFamily="34" charset="0"/>
              <a:buChar char="•"/>
            </a:pPr>
            <a:r>
              <a:rPr lang="en-US" sz="2000" dirty="0"/>
              <a:t>Note that the class of 15–19 days shows the greatest frequency with 8 audits.</a:t>
            </a:r>
          </a:p>
          <a:p>
            <a:pPr marL="630238" indent="-284163">
              <a:buFont typeface="Arial" panose="020B0604020202020204" pitchFamily="34" charset="0"/>
              <a:buChar char="•"/>
            </a:pPr>
            <a:r>
              <a:rPr lang="en-US" sz="2000" dirty="0"/>
              <a:t>The class of 30-34 days shows the lowest frequency with only 1 audit.</a:t>
            </a:r>
          </a:p>
          <a:p>
            <a:endParaRPr lang="en-US" sz="2000" dirty="0"/>
          </a:p>
        </p:txBody>
      </p:sp>
    </p:spTree>
    <p:extLst>
      <p:ext uri="{BB962C8B-B14F-4D97-AF65-F5344CB8AC3E}">
        <p14:creationId xmlns:p14="http://schemas.microsoft.com/office/powerpoint/2010/main" val="10046033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ABF8B2-0135-8F3F-11AE-0980A45E13E4}"/>
              </a:ext>
            </a:extLst>
          </p:cNvPr>
          <p:cNvSpPr>
            <a:spLocks noGrp="1"/>
          </p:cNvSpPr>
          <p:nvPr>
            <p:ph type="title"/>
          </p:nvPr>
        </p:nvSpPr>
        <p:spPr/>
        <p:txBody>
          <a:bodyPr/>
          <a:lstStyle/>
          <a:p>
            <a:r>
              <a:rPr lang="en-US" sz="3200" dirty="0"/>
              <a:t>2.2 Histograms Showing Differing Levels of Skewness</a:t>
            </a:r>
          </a:p>
        </p:txBody>
      </p:sp>
      <p:pic>
        <p:nvPicPr>
          <p:cNvPr id="5" name="Picture Placeholder 4" descr="Four histograms in panels A through D show distributions with different levels of skewness. Panel A: Moderately skewed left. The vertical axis ranges from 0 to 0.35 with tickmarks in increments of 0.05. The height of the bars gradually increases from left to right till the second to last bar, and then decreases. Panel B: Moderately skewed right. The vertical axis ranges from 0 to 0.35 with tickmarks in increments of 0.05. The height of the bars increases from left to right till the second bar and then decreases gradually. Panel C: Symmetric. The vertical axis ranges from 0 to 0.3 with tickmarks in increments of 0.05. The height of the bars increases till the central bar and then decreases. Panel D: Highly skewed right. The vertical axis is ranges from 0 to 0.4 with tickmarks in increments of 0.05. The height of the bars increases from left to right till the second bar and then decreases sharply.&#10;">
            <a:extLst>
              <a:ext uri="{FF2B5EF4-FFF2-40B4-BE49-F238E27FC236}">
                <a16:creationId xmlns:a16="http://schemas.microsoft.com/office/drawing/2014/main" id="{38E5B572-AA86-34D4-3FCC-A553456CA2F5}"/>
              </a:ext>
            </a:extLst>
          </p:cNvPr>
          <p:cNvPicPr>
            <a:picLocks noGrp="1" noChangeAspect="1"/>
          </p:cNvPicPr>
          <p:nvPr>
            <p:ph type="pic" sz="quarter" idx="10"/>
          </p:nvPr>
        </p:nvPicPr>
        <p:blipFill rotWithShape="1">
          <a:blip r:embed="rId2"/>
          <a:srcRect t="46" b="46"/>
          <a:stretch/>
        </p:blipFill>
        <p:spPr>
          <a:xfrm>
            <a:off x="3044363" y="1220787"/>
            <a:ext cx="6272213" cy="4416425"/>
          </a:xfrm>
        </p:spPr>
      </p:pic>
    </p:spTree>
    <p:extLst>
      <p:ext uri="{BB962C8B-B14F-4D97-AF65-F5344CB8AC3E}">
        <p14:creationId xmlns:p14="http://schemas.microsoft.com/office/powerpoint/2010/main" val="2089491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C226CF-1D1F-D2B2-7A18-3CBDFEBFF0AB}"/>
              </a:ext>
            </a:extLst>
          </p:cNvPr>
          <p:cNvSpPr>
            <a:spLocks noGrp="1"/>
          </p:cNvSpPr>
          <p:nvPr>
            <p:ph type="title"/>
          </p:nvPr>
        </p:nvSpPr>
        <p:spPr/>
        <p:txBody>
          <a:bodyPr/>
          <a:lstStyle/>
          <a:p>
            <a:r>
              <a:rPr lang="en-US" dirty="0">
                <a:solidFill>
                  <a:srgbClr val="25894E"/>
                </a:solidFill>
              </a:rPr>
              <a:t>2.2 Excel: Construct a Histogram</a:t>
            </a:r>
            <a:endParaRPr lang="en-US" dirty="0"/>
          </a:p>
        </p:txBody>
      </p:sp>
      <p:sp>
        <p:nvSpPr>
          <p:cNvPr id="3" name="Text Placeholder 2">
            <a:extLst>
              <a:ext uri="{FF2B5EF4-FFF2-40B4-BE49-F238E27FC236}">
                <a16:creationId xmlns:a16="http://schemas.microsoft.com/office/drawing/2014/main" id="{7276891C-6DB4-3DD1-1648-8A83F7FC116E}"/>
              </a:ext>
            </a:extLst>
          </p:cNvPr>
          <p:cNvSpPr>
            <a:spLocks noGrp="1"/>
          </p:cNvSpPr>
          <p:nvPr>
            <p:ph type="body" sz="quarter" idx="15"/>
          </p:nvPr>
        </p:nvSpPr>
        <p:spPr>
          <a:xfrm>
            <a:off x="743576" y="1074104"/>
            <a:ext cx="10610223" cy="1969020"/>
          </a:xfrm>
        </p:spPr>
        <p:txBody>
          <a:bodyPr/>
          <a:lstStyle/>
          <a:p>
            <a:r>
              <a:rPr lang="en-US" sz="2000" b="1" dirty="0"/>
              <a:t>Apply Tools</a:t>
            </a:r>
            <a:r>
              <a:rPr lang="en-US" sz="2000" dirty="0"/>
              <a:t>: The following steps describe how to use Excel’s Recommended Charts tool to construct a histogram for the audit time data.</a:t>
            </a:r>
          </a:p>
          <a:p>
            <a:pPr marL="228600">
              <a:spcBef>
                <a:spcPts val="400"/>
              </a:spcBef>
              <a:tabLst>
                <a:tab pos="6283325" algn="l"/>
              </a:tabLst>
            </a:pPr>
            <a:r>
              <a:rPr lang="en-US" sz="1800" b="1" dirty="0"/>
              <a:t>Step 1</a:t>
            </a:r>
            <a:r>
              <a:rPr lang="en-US" sz="1800" dirty="0"/>
              <a:t>. Select any cell in the PivotTable report	</a:t>
            </a:r>
            <a:r>
              <a:rPr lang="en-US" sz="1800" b="1" dirty="0"/>
              <a:t>Step 2</a:t>
            </a:r>
            <a:r>
              <a:rPr lang="en-US" sz="1800" dirty="0"/>
              <a:t>. Click the </a:t>
            </a:r>
            <a:r>
              <a:rPr lang="en-US" sz="1800" b="1" dirty="0"/>
              <a:t>Insert</a:t>
            </a:r>
            <a:r>
              <a:rPr lang="en-US" sz="1800" dirty="0"/>
              <a:t> tab on the </a:t>
            </a:r>
            <a:r>
              <a:rPr lang="en-US" sz="1800" b="1" dirty="0"/>
              <a:t>Ribbon Step 3</a:t>
            </a:r>
            <a:r>
              <a:rPr lang="en-US" sz="1800" dirty="0"/>
              <a:t>. In the </a:t>
            </a:r>
            <a:r>
              <a:rPr lang="en-US" sz="1800" b="1" dirty="0"/>
              <a:t>Charts</a:t>
            </a:r>
            <a:r>
              <a:rPr lang="en-US" sz="1800" dirty="0"/>
              <a:t> group, click </a:t>
            </a:r>
            <a:r>
              <a:rPr lang="en-US" sz="1800" b="1" dirty="0"/>
              <a:t>Recommended Charts	Step 4</a:t>
            </a:r>
            <a:r>
              <a:rPr lang="en-US" sz="1800" dirty="0"/>
              <a:t>. Click </a:t>
            </a:r>
            <a:r>
              <a:rPr lang="en-US" sz="1800" b="1" dirty="0"/>
              <a:t>OK			</a:t>
            </a:r>
            <a:endParaRPr lang="en-US" sz="1800" dirty="0"/>
          </a:p>
          <a:p>
            <a:r>
              <a:rPr lang="en-US" sz="2000" b="1" dirty="0"/>
              <a:t>Editing Options</a:t>
            </a:r>
            <a:r>
              <a:rPr lang="en-US" sz="2000" dirty="0"/>
              <a:t>: In addition to removing the gaps between the bars, see the notes for additional edits.</a:t>
            </a:r>
          </a:p>
        </p:txBody>
      </p:sp>
      <p:pic>
        <p:nvPicPr>
          <p:cNvPr id="6" name="Picture Placeholder 5" descr="A screenshot shows an Excel spreadsheet with a table, a histogram, and the Format Data Series dialog box. In the table, column A is labeled row labels and column B is labeled count of audit time. The entries in rows 4 through 9 are as follows. Row 4. Label: 10 to 14. Count: 4. Row 5. Label: 15 to 19. Count: 8. Row 6. Label: 20 to 24. Count: 5. Row 7. Label: 25 to 29. Count: 2. Row 8. Label: 30 to 34. Count: 1. Row 9. Label: Grand total. Count: 50. The histogram is titled, Histogram for audit time data. The horizontal axis is labeled audit time. The vertical axis is labeled count of audit time and ranges from 0 to 10 in increments of 2. The data from the chart are as follows. 10 to 14: 4. 15 to 19: 8. 20 to 24: 5. 25 to 29: 2. 30 to 34: 1. In the Format Data Series dialog box, the series option selected is bar chart. The options listed under this are as follows: Plot series on; grayed out checkbox labeled primary axis; grayed out checkbox labeled secondary axis; a scale labeled series overlap with the entry negative 27 percent; and a scale labeled gap width with the entry 0 percent.&#10;">
            <a:extLst>
              <a:ext uri="{FF2B5EF4-FFF2-40B4-BE49-F238E27FC236}">
                <a16:creationId xmlns:a16="http://schemas.microsoft.com/office/drawing/2014/main" id="{5D18E4E4-BFF3-8D38-EF24-C4863782C22C}"/>
              </a:ext>
            </a:extLst>
          </p:cNvPr>
          <p:cNvPicPr>
            <a:picLocks noGrp="1" noChangeAspect="1"/>
          </p:cNvPicPr>
          <p:nvPr>
            <p:ph type="pic" sz="quarter" idx="16"/>
          </p:nvPr>
        </p:nvPicPr>
        <p:blipFill>
          <a:blip r:embed="rId3"/>
          <a:srcRect t="79" b="79"/>
          <a:stretch/>
        </p:blipFill>
        <p:spPr>
          <a:xfrm>
            <a:off x="1524000" y="3021478"/>
            <a:ext cx="9144000" cy="2881312"/>
          </a:xfrm>
        </p:spPr>
      </p:pic>
    </p:spTree>
    <p:extLst>
      <p:ext uri="{BB962C8B-B14F-4D97-AF65-F5344CB8AC3E}">
        <p14:creationId xmlns:p14="http://schemas.microsoft.com/office/powerpoint/2010/main" val="7809240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112B0CB-2786-F312-A81B-7451CCB0C282}"/>
              </a:ext>
            </a:extLst>
          </p:cNvPr>
          <p:cNvSpPr>
            <a:spLocks noGrp="1"/>
          </p:cNvSpPr>
          <p:nvPr>
            <p:ph type="title"/>
          </p:nvPr>
        </p:nvSpPr>
        <p:spPr/>
        <p:txBody>
          <a:bodyPr/>
          <a:lstStyle/>
          <a:p>
            <a:r>
              <a:rPr lang="en-US" dirty="0"/>
              <a:t>2.2 Stem-and-Leaf Display</a:t>
            </a:r>
          </a:p>
        </p:txBody>
      </p:sp>
      <p:sp>
        <p:nvSpPr>
          <p:cNvPr id="7" name="Text Placeholder 6">
            <a:extLst>
              <a:ext uri="{FF2B5EF4-FFF2-40B4-BE49-F238E27FC236}">
                <a16:creationId xmlns:a16="http://schemas.microsoft.com/office/drawing/2014/main" id="{BADD8AEA-1CAA-6C4B-44F1-537ED7D514F6}"/>
              </a:ext>
            </a:extLst>
          </p:cNvPr>
          <p:cNvSpPr>
            <a:spLocks noGrp="1"/>
          </p:cNvSpPr>
          <p:nvPr>
            <p:ph type="body" sz="quarter" idx="15"/>
          </p:nvPr>
        </p:nvSpPr>
        <p:spPr>
          <a:xfrm>
            <a:off x="793194" y="1380174"/>
            <a:ext cx="10560606" cy="1520683"/>
          </a:xfrm>
        </p:spPr>
        <p:txBody>
          <a:bodyPr>
            <a:noAutofit/>
          </a:bodyPr>
          <a:lstStyle/>
          <a:p>
            <a:pPr>
              <a:lnSpc>
                <a:spcPct val="100000"/>
              </a:lnSpc>
              <a:spcBef>
                <a:spcPts val="600"/>
              </a:spcBef>
            </a:pPr>
            <a:r>
              <a:rPr lang="en-US" sz="2000" dirty="0"/>
              <a:t>A </a:t>
            </a:r>
            <a:r>
              <a:rPr lang="en-US" sz="2000" b="1" dirty="0"/>
              <a:t>stem-and-leaf display </a:t>
            </a:r>
            <a:r>
              <a:rPr lang="en-US" sz="2000" dirty="0"/>
              <a:t>shows both the rank order and shape of a distribution of data.</a:t>
            </a:r>
          </a:p>
          <a:p>
            <a:pPr>
              <a:lnSpc>
                <a:spcPct val="100000"/>
              </a:lnSpc>
              <a:spcBef>
                <a:spcPts val="600"/>
              </a:spcBef>
            </a:pPr>
            <a:r>
              <a:rPr lang="en-US" sz="2000" dirty="0"/>
              <a:t>It is similar to a histogram on its side, but it has the advantage of showing the actual values.</a:t>
            </a:r>
          </a:p>
          <a:p>
            <a:pPr marL="457200" indent="-284163">
              <a:lnSpc>
                <a:spcPct val="100000"/>
              </a:lnSpc>
              <a:spcBef>
                <a:spcPts val="600"/>
              </a:spcBef>
              <a:buFont typeface="Arial" panose="020B0604020202020204" pitchFamily="34" charset="0"/>
              <a:buChar char="•"/>
            </a:pPr>
            <a:r>
              <a:rPr lang="en-US" sz="2000" dirty="0"/>
              <a:t>The leading digits of each data item are arranged to the left of a vertical line.</a:t>
            </a:r>
          </a:p>
          <a:p>
            <a:pPr marL="457200" indent="-284163">
              <a:lnSpc>
                <a:spcPct val="100000"/>
              </a:lnSpc>
              <a:spcBef>
                <a:spcPts val="600"/>
              </a:spcBef>
              <a:buFont typeface="Arial" panose="020B0604020202020204" pitchFamily="34" charset="0"/>
              <a:buChar char="•"/>
            </a:pPr>
            <a:r>
              <a:rPr lang="en-US" sz="2000" dirty="0"/>
              <a:t>To the right of the vertical line, we record the last digit for each item in rank order.</a:t>
            </a:r>
          </a:p>
        </p:txBody>
      </p:sp>
      <p:sp>
        <p:nvSpPr>
          <p:cNvPr id="8" name="Text Placeholder 7">
            <a:extLst>
              <a:ext uri="{FF2B5EF4-FFF2-40B4-BE49-F238E27FC236}">
                <a16:creationId xmlns:a16="http://schemas.microsoft.com/office/drawing/2014/main" id="{E32FDD47-9C12-7890-35AE-083FAFC9BF47}"/>
              </a:ext>
            </a:extLst>
          </p:cNvPr>
          <p:cNvSpPr>
            <a:spLocks noGrp="1"/>
          </p:cNvSpPr>
          <p:nvPr>
            <p:ph type="body" sz="quarter" idx="18"/>
          </p:nvPr>
        </p:nvSpPr>
        <p:spPr>
          <a:xfrm>
            <a:off x="793194" y="2900858"/>
            <a:ext cx="6438879" cy="2877206"/>
          </a:xfrm>
        </p:spPr>
        <p:txBody>
          <a:bodyPr>
            <a:normAutofit/>
          </a:bodyPr>
          <a:lstStyle/>
          <a:p>
            <a:pPr marL="457200" indent="-284163">
              <a:lnSpc>
                <a:spcPct val="100000"/>
              </a:lnSpc>
              <a:spcBef>
                <a:spcPts val="600"/>
              </a:spcBef>
              <a:buFont typeface="Arial" panose="020B0604020202020204" pitchFamily="34" charset="0"/>
              <a:buChar char="•"/>
            </a:pPr>
            <a:r>
              <a:rPr lang="en-US" sz="2000" dirty="0"/>
              <a:t>Each line (row) in the display is referred to as a </a:t>
            </a:r>
            <a:r>
              <a:rPr lang="en-US" sz="2000" i="1" dirty="0"/>
              <a:t>stem</a:t>
            </a:r>
            <a:r>
              <a:rPr lang="en-US" sz="2000" dirty="0"/>
              <a:t>.</a:t>
            </a:r>
          </a:p>
          <a:p>
            <a:pPr marL="457200" indent="-284163">
              <a:lnSpc>
                <a:spcPct val="100000"/>
              </a:lnSpc>
              <a:spcBef>
                <a:spcPts val="600"/>
              </a:spcBef>
              <a:spcAft>
                <a:spcPts val="600"/>
              </a:spcAft>
              <a:buFont typeface="Arial" panose="020B0604020202020204" pitchFamily="34" charset="0"/>
              <a:buChar char="•"/>
            </a:pPr>
            <a:r>
              <a:rPr lang="en-US" sz="2000" dirty="0"/>
              <a:t>Each digit on a stem is a </a:t>
            </a:r>
            <a:r>
              <a:rPr lang="en-US" sz="2000" i="1" dirty="0"/>
              <a:t>leaf</a:t>
            </a:r>
            <a:r>
              <a:rPr lang="en-US" sz="2000" dirty="0"/>
              <a:t>.</a:t>
            </a:r>
          </a:p>
          <a:p>
            <a:pPr>
              <a:lnSpc>
                <a:spcPct val="100000"/>
              </a:lnSpc>
              <a:spcBef>
                <a:spcPts val="600"/>
              </a:spcBef>
            </a:pPr>
            <a:r>
              <a:rPr lang="en-US" sz="2000" b="1" dirty="0"/>
              <a:t>Example</a:t>
            </a:r>
            <a:r>
              <a:rPr lang="en-US" sz="2000" dirty="0"/>
              <a:t>	</a:t>
            </a:r>
            <a:r>
              <a:rPr lang="en-US" sz="2000" dirty="0" err="1"/>
              <a:t>DATAfile</a:t>
            </a:r>
            <a:r>
              <a:rPr lang="en-US" sz="2000" dirty="0"/>
              <a:t>: </a:t>
            </a:r>
            <a:r>
              <a:rPr lang="en-US" sz="2000" i="1" dirty="0" err="1"/>
              <a:t>aptitudetest</a:t>
            </a:r>
            <a:endParaRPr lang="en-US" sz="2000" i="1" dirty="0"/>
          </a:p>
          <a:p>
            <a:pPr>
              <a:lnSpc>
                <a:spcPct val="100000"/>
              </a:lnSpc>
              <a:spcBef>
                <a:spcPts val="600"/>
              </a:spcBef>
            </a:pPr>
            <a:r>
              <a:rPr lang="en-US" sz="2000" dirty="0"/>
              <a:t>The data indicate the number of questions answered correctly in a 150-question aptitude test given to 50 individuals recently interviewed for a position.</a:t>
            </a:r>
          </a:p>
          <a:p>
            <a:pPr>
              <a:lnSpc>
                <a:spcPct val="100000"/>
              </a:lnSpc>
              <a:spcBef>
                <a:spcPts val="600"/>
              </a:spcBef>
            </a:pPr>
            <a:r>
              <a:rPr lang="en-US" sz="2000" dirty="0"/>
              <a:t>Stem-and-leaf displays for data with more than three digits are possible.</a:t>
            </a:r>
          </a:p>
          <a:p>
            <a:pPr>
              <a:lnSpc>
                <a:spcPct val="100000"/>
              </a:lnSpc>
              <a:spcBef>
                <a:spcPts val="600"/>
              </a:spcBef>
            </a:pPr>
            <a:endParaRPr lang="en-US" sz="2000" dirty="0"/>
          </a:p>
        </p:txBody>
      </p:sp>
      <p:graphicFrame>
        <p:nvGraphicFramePr>
          <p:cNvPr id="5" name="Table 5">
            <a:extLst>
              <a:ext uri="{FF2B5EF4-FFF2-40B4-BE49-F238E27FC236}">
                <a16:creationId xmlns:a16="http://schemas.microsoft.com/office/drawing/2014/main" id="{0D24D40B-1EE4-6CB4-776A-7D78F726A351}"/>
              </a:ext>
            </a:extLst>
          </p:cNvPr>
          <p:cNvGraphicFramePr>
            <a:graphicFrameLocks noGrp="1"/>
          </p:cNvGraphicFramePr>
          <p:nvPr>
            <p:ph type="tbl" sz="quarter" idx="22"/>
            <p:extLst>
              <p:ext uri="{D42A27DB-BD31-4B8C-83A1-F6EECF244321}">
                <p14:modId xmlns:p14="http://schemas.microsoft.com/office/powerpoint/2010/main" val="397290389"/>
              </p:ext>
            </p:extLst>
          </p:nvPr>
        </p:nvGraphicFramePr>
        <p:xfrm>
          <a:off x="7632586" y="3070605"/>
          <a:ext cx="3383280" cy="2633472"/>
        </p:xfrm>
        <a:graphic>
          <a:graphicData uri="http://schemas.openxmlformats.org/drawingml/2006/table">
            <a:tbl>
              <a:tblPr firstRow="1" bandRow="1">
                <a:tableStyleId>{5C22544A-7EE6-4342-B048-85BDC9FD1C3A}</a:tableStyleId>
              </a:tblPr>
              <a:tblGrid>
                <a:gridCol w="365760">
                  <a:extLst>
                    <a:ext uri="{9D8B030D-6E8A-4147-A177-3AD203B41FA5}">
                      <a16:colId xmlns:a16="http://schemas.microsoft.com/office/drawing/2014/main" val="3440595910"/>
                    </a:ext>
                  </a:extLst>
                </a:gridCol>
                <a:gridCol w="274320">
                  <a:extLst>
                    <a:ext uri="{9D8B030D-6E8A-4147-A177-3AD203B41FA5}">
                      <a16:colId xmlns:a16="http://schemas.microsoft.com/office/drawing/2014/main" val="802115078"/>
                    </a:ext>
                  </a:extLst>
                </a:gridCol>
                <a:gridCol w="274320">
                  <a:extLst>
                    <a:ext uri="{9D8B030D-6E8A-4147-A177-3AD203B41FA5}">
                      <a16:colId xmlns:a16="http://schemas.microsoft.com/office/drawing/2014/main" val="1740705509"/>
                    </a:ext>
                  </a:extLst>
                </a:gridCol>
                <a:gridCol w="274320">
                  <a:extLst>
                    <a:ext uri="{9D8B030D-6E8A-4147-A177-3AD203B41FA5}">
                      <a16:colId xmlns:a16="http://schemas.microsoft.com/office/drawing/2014/main" val="3923267152"/>
                    </a:ext>
                  </a:extLst>
                </a:gridCol>
                <a:gridCol w="274320">
                  <a:extLst>
                    <a:ext uri="{9D8B030D-6E8A-4147-A177-3AD203B41FA5}">
                      <a16:colId xmlns:a16="http://schemas.microsoft.com/office/drawing/2014/main" val="1141614038"/>
                    </a:ext>
                  </a:extLst>
                </a:gridCol>
                <a:gridCol w="274320">
                  <a:extLst>
                    <a:ext uri="{9D8B030D-6E8A-4147-A177-3AD203B41FA5}">
                      <a16:colId xmlns:a16="http://schemas.microsoft.com/office/drawing/2014/main" val="690762163"/>
                    </a:ext>
                  </a:extLst>
                </a:gridCol>
                <a:gridCol w="274320">
                  <a:extLst>
                    <a:ext uri="{9D8B030D-6E8A-4147-A177-3AD203B41FA5}">
                      <a16:colId xmlns:a16="http://schemas.microsoft.com/office/drawing/2014/main" val="1479576838"/>
                    </a:ext>
                  </a:extLst>
                </a:gridCol>
                <a:gridCol w="274320">
                  <a:extLst>
                    <a:ext uri="{9D8B030D-6E8A-4147-A177-3AD203B41FA5}">
                      <a16:colId xmlns:a16="http://schemas.microsoft.com/office/drawing/2014/main" val="3530291514"/>
                    </a:ext>
                  </a:extLst>
                </a:gridCol>
                <a:gridCol w="274320">
                  <a:extLst>
                    <a:ext uri="{9D8B030D-6E8A-4147-A177-3AD203B41FA5}">
                      <a16:colId xmlns:a16="http://schemas.microsoft.com/office/drawing/2014/main" val="4215249408"/>
                    </a:ext>
                  </a:extLst>
                </a:gridCol>
                <a:gridCol w="274320">
                  <a:extLst>
                    <a:ext uri="{9D8B030D-6E8A-4147-A177-3AD203B41FA5}">
                      <a16:colId xmlns:a16="http://schemas.microsoft.com/office/drawing/2014/main" val="654162055"/>
                    </a:ext>
                  </a:extLst>
                </a:gridCol>
                <a:gridCol w="274320">
                  <a:extLst>
                    <a:ext uri="{9D8B030D-6E8A-4147-A177-3AD203B41FA5}">
                      <a16:colId xmlns:a16="http://schemas.microsoft.com/office/drawing/2014/main" val="3265632230"/>
                    </a:ext>
                  </a:extLst>
                </a:gridCol>
                <a:gridCol w="274320">
                  <a:extLst>
                    <a:ext uri="{9D8B030D-6E8A-4147-A177-3AD203B41FA5}">
                      <a16:colId xmlns:a16="http://schemas.microsoft.com/office/drawing/2014/main" val="2396198441"/>
                    </a:ext>
                  </a:extLst>
                </a:gridCol>
              </a:tblGrid>
              <a:tr h="292608">
                <a:tc>
                  <a:txBody>
                    <a:bodyPr/>
                    <a:lstStyle/>
                    <a:p>
                      <a:pPr marL="0" marR="0" algn="r">
                        <a:lnSpc>
                          <a:spcPct val="107000"/>
                        </a:lnSpc>
                        <a:spcBef>
                          <a:spcPts val="0"/>
                        </a:spcBef>
                        <a:spcAft>
                          <a:spcPts val="0"/>
                        </a:spcAft>
                      </a:pPr>
                      <a:r>
                        <a:rPr lang="en-US" sz="16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6</a:t>
                      </a:r>
                    </a:p>
                  </a:txBody>
                  <a:tcPr marL="68580" marR="68580" marT="0" marB="0">
                    <a:lnR w="12700" cap="flat" cmpd="sng" algn="ctr">
                      <a:solidFill>
                        <a:schemeClr val="tx1"/>
                      </a:solidFill>
                      <a:prstDash val="solid"/>
                      <a:round/>
                      <a:headEnd type="none" w="med" len="med"/>
                      <a:tailEnd type="none" w="med" len="med"/>
                    </a:lnR>
                    <a:noFill/>
                  </a:tcPr>
                </a:tc>
                <a:tc>
                  <a:txBody>
                    <a:bodyPr/>
                    <a:lstStyle/>
                    <a:p>
                      <a:pPr marL="0" marR="0">
                        <a:lnSpc>
                          <a:spcPct val="107000"/>
                        </a:lnSpc>
                        <a:spcBef>
                          <a:spcPts val="0"/>
                        </a:spcBef>
                        <a:spcAft>
                          <a:spcPts val="0"/>
                        </a:spcAft>
                      </a:pPr>
                      <a:r>
                        <a:rPr lang="en-US" sz="16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8</a:t>
                      </a:r>
                    </a:p>
                  </a:txBody>
                  <a:tcPr marL="68580" marR="68580" marT="0" marB="0">
                    <a:lnL w="12700" cap="flat" cmpd="sng" algn="ctr">
                      <a:solidFill>
                        <a:schemeClr val="tx1"/>
                      </a:solidFill>
                      <a:prstDash val="solid"/>
                      <a:round/>
                      <a:headEnd type="none" w="med" len="med"/>
                      <a:tailEnd type="none" w="med" len="med"/>
                    </a:lnL>
                    <a:noFill/>
                  </a:tcPr>
                </a:tc>
                <a:tc>
                  <a:txBody>
                    <a:bodyPr/>
                    <a:lstStyle/>
                    <a:p>
                      <a:pPr marL="0" marR="0">
                        <a:lnSpc>
                          <a:spcPct val="107000"/>
                        </a:lnSpc>
                        <a:spcBef>
                          <a:spcPts val="0"/>
                        </a:spcBef>
                        <a:spcAft>
                          <a:spcPts val="0"/>
                        </a:spcAft>
                      </a:pPr>
                      <a:r>
                        <a:rPr lang="en-US"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9</a:t>
                      </a:r>
                    </a:p>
                  </a:txBody>
                  <a:tcPr marL="68580" marR="68580" marT="0" marB="0">
                    <a:noFill/>
                  </a:tcPr>
                </a:tc>
                <a:tc>
                  <a:txBody>
                    <a:bodyPr/>
                    <a:lstStyle/>
                    <a:p>
                      <a:pPr marL="0" marR="0">
                        <a:lnSpc>
                          <a:spcPct val="107000"/>
                        </a:lnSpc>
                        <a:spcBef>
                          <a:spcPts val="0"/>
                        </a:spcBef>
                        <a:spcAft>
                          <a:spcPts val="0"/>
                        </a:spcAft>
                      </a:pPr>
                      <a:r>
                        <a:rPr lang="en-US"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noFill/>
                  </a:tcPr>
                </a:tc>
                <a:tc>
                  <a:txBody>
                    <a:bodyPr/>
                    <a:lstStyle/>
                    <a:p>
                      <a:pPr marL="0" marR="0">
                        <a:lnSpc>
                          <a:spcPct val="107000"/>
                        </a:lnSpc>
                        <a:spcBef>
                          <a:spcPts val="0"/>
                        </a:spcBef>
                        <a:spcAft>
                          <a:spcPts val="0"/>
                        </a:spcAft>
                      </a:pPr>
                      <a:r>
                        <a:rPr lang="en-US"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noFill/>
                  </a:tcPr>
                </a:tc>
                <a:tc>
                  <a:txBody>
                    <a:bodyPr/>
                    <a:lstStyle/>
                    <a:p>
                      <a:pPr marL="0" marR="0">
                        <a:lnSpc>
                          <a:spcPct val="107000"/>
                        </a:lnSpc>
                        <a:spcBef>
                          <a:spcPts val="0"/>
                        </a:spcBef>
                        <a:spcAft>
                          <a:spcPts val="0"/>
                        </a:spcAft>
                      </a:pPr>
                      <a:r>
                        <a:rPr lang="en-US" sz="16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noFill/>
                  </a:tcPr>
                </a:tc>
                <a:tc>
                  <a:txBody>
                    <a:bodyPr/>
                    <a:lstStyle/>
                    <a:p>
                      <a:pPr marL="0" marR="0">
                        <a:lnSpc>
                          <a:spcPct val="107000"/>
                        </a:lnSpc>
                        <a:spcBef>
                          <a:spcPts val="0"/>
                        </a:spcBef>
                        <a:spcAft>
                          <a:spcPts val="0"/>
                        </a:spcAft>
                      </a:pPr>
                      <a:r>
                        <a:rPr lang="en-US"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noFill/>
                  </a:tcPr>
                </a:tc>
                <a:tc>
                  <a:txBody>
                    <a:bodyPr/>
                    <a:lstStyle/>
                    <a:p>
                      <a:pPr marL="0" marR="0">
                        <a:lnSpc>
                          <a:spcPct val="107000"/>
                        </a:lnSpc>
                        <a:spcBef>
                          <a:spcPts val="0"/>
                        </a:spcBef>
                        <a:spcAft>
                          <a:spcPts val="0"/>
                        </a:spcAft>
                      </a:pPr>
                      <a:r>
                        <a:rPr lang="en-US"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noFill/>
                  </a:tcPr>
                </a:tc>
                <a:tc>
                  <a:txBody>
                    <a:bodyPr/>
                    <a:lstStyle/>
                    <a:p>
                      <a:pPr marL="0" marR="0">
                        <a:lnSpc>
                          <a:spcPct val="107000"/>
                        </a:lnSpc>
                        <a:spcBef>
                          <a:spcPts val="0"/>
                        </a:spcBef>
                        <a:spcAft>
                          <a:spcPts val="0"/>
                        </a:spcAft>
                      </a:pPr>
                      <a:r>
                        <a:rPr lang="en-US"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noFill/>
                  </a:tcPr>
                </a:tc>
                <a:tc>
                  <a:txBody>
                    <a:bodyPr/>
                    <a:lstStyle/>
                    <a:p>
                      <a:pPr marL="0" marR="0">
                        <a:lnSpc>
                          <a:spcPct val="107000"/>
                        </a:lnSpc>
                        <a:spcBef>
                          <a:spcPts val="0"/>
                        </a:spcBef>
                        <a:spcAft>
                          <a:spcPts val="0"/>
                        </a:spcAft>
                      </a:pPr>
                      <a:r>
                        <a:rPr lang="en-US"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noFill/>
                  </a:tcPr>
                </a:tc>
                <a:tc>
                  <a:txBody>
                    <a:bodyPr/>
                    <a:lstStyle/>
                    <a:p>
                      <a:pPr marL="0" marR="0">
                        <a:lnSpc>
                          <a:spcPct val="107000"/>
                        </a:lnSpc>
                        <a:spcBef>
                          <a:spcPts val="0"/>
                        </a:spcBef>
                        <a:spcAft>
                          <a:spcPts val="0"/>
                        </a:spcAft>
                      </a:pPr>
                      <a:r>
                        <a:rPr lang="en-US"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noFill/>
                  </a:tcPr>
                </a:tc>
                <a:tc>
                  <a:txBody>
                    <a:bodyPr/>
                    <a:lstStyle/>
                    <a:p>
                      <a:pPr marL="0" marR="0">
                        <a:lnSpc>
                          <a:spcPct val="107000"/>
                        </a:lnSpc>
                        <a:spcBef>
                          <a:spcPts val="0"/>
                        </a:spcBef>
                        <a:spcAft>
                          <a:spcPts val="0"/>
                        </a:spcAft>
                      </a:pPr>
                      <a:r>
                        <a:rPr lang="en-US"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noFill/>
                  </a:tcPr>
                </a:tc>
                <a:extLst>
                  <a:ext uri="{0D108BD9-81ED-4DB2-BD59-A6C34878D82A}">
                    <a16:rowId xmlns:a16="http://schemas.microsoft.com/office/drawing/2014/main" val="2347254756"/>
                  </a:ext>
                </a:extLst>
              </a:tr>
              <a:tr h="292608">
                <a:tc>
                  <a:txBody>
                    <a:bodyPr/>
                    <a:lstStyle/>
                    <a:p>
                      <a:pPr marL="0" marR="0" algn="r">
                        <a:lnSpc>
                          <a:spcPct val="107000"/>
                        </a:lnSpc>
                        <a:spcBef>
                          <a:spcPts val="0"/>
                        </a:spcBef>
                        <a:spcAft>
                          <a:spcPts val="0"/>
                        </a:spcAft>
                      </a:pPr>
                      <a:r>
                        <a:rPr lang="en-US"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a:t>
                      </a:r>
                    </a:p>
                  </a:txBody>
                  <a:tcPr marL="68580" marR="68580" marT="0" marB="0">
                    <a:lnR w="12700" cap="flat" cmpd="sng" algn="ctr">
                      <a:solidFill>
                        <a:schemeClr val="tx1"/>
                      </a:solidFill>
                      <a:prstDash val="solid"/>
                      <a:round/>
                      <a:headEnd type="none" w="med" len="med"/>
                      <a:tailEnd type="none" w="med" len="med"/>
                    </a:lnR>
                    <a:noFill/>
                  </a:tcPr>
                </a:tc>
                <a:tc>
                  <a:txBody>
                    <a:bodyPr/>
                    <a:lstStyle/>
                    <a:p>
                      <a:pPr marL="0" marR="0">
                        <a:lnSpc>
                          <a:spcPct val="107000"/>
                        </a:lnSpc>
                        <a:spcBef>
                          <a:spcPts val="0"/>
                        </a:spcBef>
                        <a:spcAft>
                          <a:spcPts val="0"/>
                        </a:spcAft>
                      </a:pPr>
                      <a:r>
                        <a:rPr lang="en-US" sz="16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2</a:t>
                      </a:r>
                    </a:p>
                  </a:txBody>
                  <a:tcPr marL="68580" marR="68580" marT="0" marB="0">
                    <a:lnL w="12700" cap="flat" cmpd="sng" algn="ctr">
                      <a:solidFill>
                        <a:schemeClr val="tx1"/>
                      </a:solidFill>
                      <a:prstDash val="solid"/>
                      <a:round/>
                      <a:headEnd type="none" w="med" len="med"/>
                      <a:tailEnd type="none" w="med" len="med"/>
                    </a:lnL>
                    <a:noFill/>
                  </a:tcPr>
                </a:tc>
                <a:tc>
                  <a:txBody>
                    <a:bodyPr/>
                    <a:lstStyle/>
                    <a:p>
                      <a:pPr marL="0" marR="0">
                        <a:lnSpc>
                          <a:spcPct val="107000"/>
                        </a:lnSpc>
                        <a:spcBef>
                          <a:spcPts val="0"/>
                        </a:spcBef>
                        <a:spcAft>
                          <a:spcPts val="0"/>
                        </a:spcAft>
                      </a:pPr>
                      <a:r>
                        <a:rPr lang="en-US"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3</a:t>
                      </a:r>
                    </a:p>
                  </a:txBody>
                  <a:tcPr marL="68580" marR="68580" marT="0" marB="0">
                    <a:noFill/>
                  </a:tcPr>
                </a:tc>
                <a:tc>
                  <a:txBody>
                    <a:bodyPr/>
                    <a:lstStyle/>
                    <a:p>
                      <a:pPr marL="0" marR="0">
                        <a:lnSpc>
                          <a:spcPct val="107000"/>
                        </a:lnSpc>
                        <a:spcBef>
                          <a:spcPts val="0"/>
                        </a:spcBef>
                        <a:spcAft>
                          <a:spcPts val="0"/>
                        </a:spcAft>
                      </a:pPr>
                      <a:r>
                        <a:rPr lang="en-US"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3</a:t>
                      </a:r>
                    </a:p>
                  </a:txBody>
                  <a:tcPr marL="68580" marR="68580" marT="0" marB="0">
                    <a:noFill/>
                  </a:tcPr>
                </a:tc>
                <a:tc>
                  <a:txBody>
                    <a:bodyPr/>
                    <a:lstStyle/>
                    <a:p>
                      <a:pPr marL="0" marR="0">
                        <a:lnSpc>
                          <a:spcPct val="107000"/>
                        </a:lnSpc>
                        <a:spcBef>
                          <a:spcPts val="0"/>
                        </a:spcBef>
                        <a:spcAft>
                          <a:spcPts val="0"/>
                        </a:spcAft>
                      </a:pPr>
                      <a:r>
                        <a:rPr lang="en-US"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5</a:t>
                      </a:r>
                    </a:p>
                  </a:txBody>
                  <a:tcPr marL="68580" marR="68580" marT="0" marB="0">
                    <a:noFill/>
                  </a:tcPr>
                </a:tc>
                <a:tc>
                  <a:txBody>
                    <a:bodyPr/>
                    <a:lstStyle/>
                    <a:p>
                      <a:pPr marL="0" marR="0">
                        <a:lnSpc>
                          <a:spcPct val="107000"/>
                        </a:lnSpc>
                        <a:spcBef>
                          <a:spcPts val="0"/>
                        </a:spcBef>
                        <a:spcAft>
                          <a:spcPts val="0"/>
                        </a:spcAft>
                      </a:pPr>
                      <a:r>
                        <a:rPr lang="en-US"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6</a:t>
                      </a:r>
                    </a:p>
                  </a:txBody>
                  <a:tcPr marL="68580" marR="68580" marT="0" marB="0">
                    <a:noFill/>
                  </a:tcPr>
                </a:tc>
                <a:tc>
                  <a:txBody>
                    <a:bodyPr/>
                    <a:lstStyle/>
                    <a:p>
                      <a:pPr marL="0" marR="0">
                        <a:lnSpc>
                          <a:spcPct val="107000"/>
                        </a:lnSpc>
                        <a:spcBef>
                          <a:spcPts val="0"/>
                        </a:spcBef>
                        <a:spcAft>
                          <a:spcPts val="0"/>
                        </a:spcAft>
                      </a:pPr>
                      <a:r>
                        <a:rPr lang="en-US"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6</a:t>
                      </a:r>
                    </a:p>
                  </a:txBody>
                  <a:tcPr marL="68580" marR="68580" marT="0" marB="0">
                    <a:noFill/>
                  </a:tcPr>
                </a:tc>
                <a:tc>
                  <a:txBody>
                    <a:bodyPr/>
                    <a:lstStyle/>
                    <a:p>
                      <a:pPr marL="0" marR="0">
                        <a:lnSpc>
                          <a:spcPct val="107000"/>
                        </a:lnSpc>
                        <a:spcBef>
                          <a:spcPts val="0"/>
                        </a:spcBef>
                        <a:spcAft>
                          <a:spcPts val="0"/>
                        </a:spcAft>
                      </a:pPr>
                      <a:r>
                        <a:rPr lang="en-US"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noFill/>
                  </a:tcPr>
                </a:tc>
                <a:tc>
                  <a:txBody>
                    <a:bodyPr/>
                    <a:lstStyle/>
                    <a:p>
                      <a:pPr marL="0" marR="0">
                        <a:lnSpc>
                          <a:spcPct val="107000"/>
                        </a:lnSpc>
                        <a:spcBef>
                          <a:spcPts val="0"/>
                        </a:spcBef>
                        <a:spcAft>
                          <a:spcPts val="0"/>
                        </a:spcAft>
                      </a:pPr>
                      <a:r>
                        <a:rPr lang="en-US"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noFill/>
                  </a:tcPr>
                </a:tc>
                <a:tc>
                  <a:txBody>
                    <a:bodyPr/>
                    <a:lstStyle/>
                    <a:p>
                      <a:pPr marL="0" marR="0">
                        <a:lnSpc>
                          <a:spcPct val="107000"/>
                        </a:lnSpc>
                        <a:spcBef>
                          <a:spcPts val="0"/>
                        </a:spcBef>
                        <a:spcAft>
                          <a:spcPts val="0"/>
                        </a:spcAft>
                      </a:pPr>
                      <a:r>
                        <a:rPr lang="en-US"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noFill/>
                  </a:tcPr>
                </a:tc>
                <a:tc>
                  <a:txBody>
                    <a:bodyPr/>
                    <a:lstStyle/>
                    <a:p>
                      <a:pPr marL="0" marR="0">
                        <a:lnSpc>
                          <a:spcPct val="107000"/>
                        </a:lnSpc>
                        <a:spcBef>
                          <a:spcPts val="0"/>
                        </a:spcBef>
                        <a:spcAft>
                          <a:spcPts val="0"/>
                        </a:spcAft>
                      </a:pPr>
                      <a:r>
                        <a:rPr lang="en-US"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noFill/>
                  </a:tcPr>
                </a:tc>
                <a:tc>
                  <a:txBody>
                    <a:bodyPr/>
                    <a:lstStyle/>
                    <a:p>
                      <a:pPr marL="0" marR="0">
                        <a:lnSpc>
                          <a:spcPct val="107000"/>
                        </a:lnSpc>
                        <a:spcBef>
                          <a:spcPts val="0"/>
                        </a:spcBef>
                        <a:spcAft>
                          <a:spcPts val="0"/>
                        </a:spcAft>
                      </a:pPr>
                      <a:r>
                        <a:rPr lang="en-US"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noFill/>
                  </a:tcPr>
                </a:tc>
                <a:extLst>
                  <a:ext uri="{0D108BD9-81ED-4DB2-BD59-A6C34878D82A}">
                    <a16:rowId xmlns:a16="http://schemas.microsoft.com/office/drawing/2014/main" val="3415187334"/>
                  </a:ext>
                </a:extLst>
              </a:tr>
              <a:tr h="292608">
                <a:tc>
                  <a:txBody>
                    <a:bodyPr/>
                    <a:lstStyle/>
                    <a:p>
                      <a:pPr marL="0" marR="0" algn="r">
                        <a:lnSpc>
                          <a:spcPct val="107000"/>
                        </a:lnSpc>
                        <a:spcBef>
                          <a:spcPts val="0"/>
                        </a:spcBef>
                        <a:spcAft>
                          <a:spcPts val="0"/>
                        </a:spcAft>
                      </a:pPr>
                      <a:r>
                        <a:rPr lang="en-US" sz="16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8</a:t>
                      </a:r>
                    </a:p>
                  </a:txBody>
                  <a:tcPr marL="68580" marR="68580" marT="0" marB="0">
                    <a:lnR w="12700" cap="flat" cmpd="sng" algn="ctr">
                      <a:solidFill>
                        <a:schemeClr val="tx1"/>
                      </a:solidFill>
                      <a:prstDash val="solid"/>
                      <a:round/>
                      <a:headEnd type="none" w="med" len="med"/>
                      <a:tailEnd type="none" w="med" len="med"/>
                    </a:lnR>
                    <a:noFill/>
                  </a:tcPr>
                </a:tc>
                <a:tc>
                  <a:txBody>
                    <a:bodyPr/>
                    <a:lstStyle/>
                    <a:p>
                      <a:pPr marL="0" marR="0">
                        <a:lnSpc>
                          <a:spcPct val="107000"/>
                        </a:lnSpc>
                        <a:spcBef>
                          <a:spcPts val="0"/>
                        </a:spcBef>
                        <a:spcAft>
                          <a:spcPts val="0"/>
                        </a:spcAft>
                      </a:pPr>
                      <a:r>
                        <a:rPr lang="en-US"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chemeClr val="tx1"/>
                      </a:solidFill>
                      <a:prstDash val="solid"/>
                      <a:round/>
                      <a:headEnd type="none" w="med" len="med"/>
                      <a:tailEnd type="none" w="med" len="med"/>
                    </a:lnL>
                    <a:noFill/>
                  </a:tcPr>
                </a:tc>
                <a:tc>
                  <a:txBody>
                    <a:bodyPr/>
                    <a:lstStyle/>
                    <a:p>
                      <a:pPr marL="0" marR="0">
                        <a:lnSpc>
                          <a:spcPct val="107000"/>
                        </a:lnSpc>
                        <a:spcBef>
                          <a:spcPts val="0"/>
                        </a:spcBef>
                        <a:spcAft>
                          <a:spcPts val="0"/>
                        </a:spcAft>
                      </a:pPr>
                      <a:r>
                        <a:rPr lang="en-US" sz="16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1</a:t>
                      </a:r>
                    </a:p>
                  </a:txBody>
                  <a:tcPr marL="68580" marR="68580" marT="0" marB="0">
                    <a:noFill/>
                  </a:tcPr>
                </a:tc>
                <a:tc>
                  <a:txBody>
                    <a:bodyPr/>
                    <a:lstStyle/>
                    <a:p>
                      <a:pPr marL="0" marR="0">
                        <a:lnSpc>
                          <a:spcPct val="107000"/>
                        </a:lnSpc>
                        <a:spcBef>
                          <a:spcPts val="0"/>
                        </a:spcBef>
                        <a:spcAft>
                          <a:spcPts val="0"/>
                        </a:spcAft>
                      </a:pPr>
                      <a:r>
                        <a:rPr lang="en-US" sz="16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1</a:t>
                      </a:r>
                    </a:p>
                  </a:txBody>
                  <a:tcPr marL="68580" marR="68580" marT="0" marB="0">
                    <a:noFill/>
                  </a:tcPr>
                </a:tc>
                <a:tc>
                  <a:txBody>
                    <a:bodyPr/>
                    <a:lstStyle/>
                    <a:p>
                      <a:pPr marL="0" marR="0">
                        <a:lnSpc>
                          <a:spcPct val="107000"/>
                        </a:lnSpc>
                        <a:spcBef>
                          <a:spcPts val="0"/>
                        </a:spcBef>
                        <a:spcAft>
                          <a:spcPts val="0"/>
                        </a:spcAft>
                      </a:pPr>
                      <a:r>
                        <a:rPr lang="en-US"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2</a:t>
                      </a:r>
                    </a:p>
                  </a:txBody>
                  <a:tcPr marL="68580" marR="68580" marT="0" marB="0">
                    <a:noFill/>
                  </a:tcPr>
                </a:tc>
                <a:tc>
                  <a:txBody>
                    <a:bodyPr/>
                    <a:lstStyle/>
                    <a:p>
                      <a:pPr marL="0" marR="0">
                        <a:lnSpc>
                          <a:spcPct val="107000"/>
                        </a:lnSpc>
                        <a:spcBef>
                          <a:spcPts val="0"/>
                        </a:spcBef>
                        <a:spcAft>
                          <a:spcPts val="0"/>
                        </a:spcAft>
                      </a:pPr>
                      <a:r>
                        <a:rPr lang="en-US"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3</a:t>
                      </a:r>
                    </a:p>
                  </a:txBody>
                  <a:tcPr marL="68580" marR="68580" marT="0" marB="0">
                    <a:noFill/>
                  </a:tcPr>
                </a:tc>
                <a:tc>
                  <a:txBody>
                    <a:bodyPr/>
                    <a:lstStyle/>
                    <a:p>
                      <a:pPr marL="0" marR="0">
                        <a:lnSpc>
                          <a:spcPct val="107000"/>
                        </a:lnSpc>
                        <a:spcBef>
                          <a:spcPts val="0"/>
                        </a:spcBef>
                        <a:spcAft>
                          <a:spcPts val="0"/>
                        </a:spcAft>
                      </a:pPr>
                      <a:r>
                        <a:rPr lang="en-US"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4</a:t>
                      </a:r>
                    </a:p>
                  </a:txBody>
                  <a:tcPr marL="68580" marR="68580" marT="0" marB="0">
                    <a:noFill/>
                  </a:tcPr>
                </a:tc>
                <a:tc>
                  <a:txBody>
                    <a:bodyPr/>
                    <a:lstStyle/>
                    <a:p>
                      <a:pPr marL="0" marR="0">
                        <a:lnSpc>
                          <a:spcPct val="107000"/>
                        </a:lnSpc>
                        <a:spcBef>
                          <a:spcPts val="0"/>
                        </a:spcBef>
                        <a:spcAft>
                          <a:spcPts val="0"/>
                        </a:spcAft>
                      </a:pPr>
                      <a:r>
                        <a:rPr lang="en-US"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5</a:t>
                      </a:r>
                    </a:p>
                  </a:txBody>
                  <a:tcPr marL="68580" marR="68580" marT="0" marB="0">
                    <a:noFill/>
                  </a:tcPr>
                </a:tc>
                <a:tc>
                  <a:txBody>
                    <a:bodyPr/>
                    <a:lstStyle/>
                    <a:p>
                      <a:pPr marL="0" marR="0">
                        <a:lnSpc>
                          <a:spcPct val="107000"/>
                        </a:lnSpc>
                        <a:spcBef>
                          <a:spcPts val="0"/>
                        </a:spcBef>
                        <a:spcAft>
                          <a:spcPts val="0"/>
                        </a:spcAft>
                      </a:pPr>
                      <a:r>
                        <a:rPr lang="en-US"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6</a:t>
                      </a:r>
                    </a:p>
                  </a:txBody>
                  <a:tcPr marL="68580" marR="68580" marT="0" marB="0">
                    <a:noFill/>
                  </a:tcPr>
                </a:tc>
                <a:tc>
                  <a:txBody>
                    <a:bodyPr/>
                    <a:lstStyle/>
                    <a:p>
                      <a:pPr marL="0" marR="0">
                        <a:lnSpc>
                          <a:spcPct val="107000"/>
                        </a:lnSpc>
                        <a:spcBef>
                          <a:spcPts val="0"/>
                        </a:spcBef>
                        <a:spcAft>
                          <a:spcPts val="0"/>
                        </a:spcAft>
                      </a:pPr>
                      <a:r>
                        <a:rPr lang="en-US"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noFill/>
                  </a:tcPr>
                </a:tc>
                <a:tc>
                  <a:txBody>
                    <a:bodyPr/>
                    <a:lstStyle/>
                    <a:p>
                      <a:pPr marL="0" marR="0">
                        <a:lnSpc>
                          <a:spcPct val="107000"/>
                        </a:lnSpc>
                        <a:spcBef>
                          <a:spcPts val="0"/>
                        </a:spcBef>
                        <a:spcAft>
                          <a:spcPts val="0"/>
                        </a:spcAft>
                      </a:pPr>
                      <a:r>
                        <a:rPr lang="en-US"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noFill/>
                  </a:tcPr>
                </a:tc>
                <a:tc>
                  <a:txBody>
                    <a:bodyPr/>
                    <a:lstStyle/>
                    <a:p>
                      <a:pPr marL="0" marR="0">
                        <a:lnSpc>
                          <a:spcPct val="107000"/>
                        </a:lnSpc>
                        <a:spcBef>
                          <a:spcPts val="0"/>
                        </a:spcBef>
                        <a:spcAft>
                          <a:spcPts val="0"/>
                        </a:spcAft>
                      </a:pPr>
                      <a:r>
                        <a:rPr lang="en-US"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noFill/>
                  </a:tcPr>
                </a:tc>
                <a:extLst>
                  <a:ext uri="{0D108BD9-81ED-4DB2-BD59-A6C34878D82A}">
                    <a16:rowId xmlns:a16="http://schemas.microsoft.com/office/drawing/2014/main" val="1214493381"/>
                  </a:ext>
                </a:extLst>
              </a:tr>
              <a:tr h="292608">
                <a:tc>
                  <a:txBody>
                    <a:bodyPr/>
                    <a:lstStyle/>
                    <a:p>
                      <a:pPr marL="0" marR="0" algn="r">
                        <a:lnSpc>
                          <a:spcPct val="107000"/>
                        </a:lnSpc>
                        <a:spcBef>
                          <a:spcPts val="0"/>
                        </a:spcBef>
                        <a:spcAft>
                          <a:spcPts val="0"/>
                        </a:spcAft>
                      </a:pPr>
                      <a:r>
                        <a:rPr lang="en-US"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9</a:t>
                      </a:r>
                    </a:p>
                  </a:txBody>
                  <a:tcPr marL="68580" marR="68580" marT="0" marB="0">
                    <a:lnR w="12700" cap="flat" cmpd="sng" algn="ctr">
                      <a:solidFill>
                        <a:schemeClr val="tx1"/>
                      </a:solidFill>
                      <a:prstDash val="solid"/>
                      <a:round/>
                      <a:headEnd type="none" w="med" len="med"/>
                      <a:tailEnd type="none" w="med" len="med"/>
                    </a:lnR>
                    <a:noFill/>
                  </a:tcPr>
                </a:tc>
                <a:tc>
                  <a:txBody>
                    <a:bodyPr/>
                    <a:lstStyle/>
                    <a:p>
                      <a:pPr marL="0" marR="0">
                        <a:lnSpc>
                          <a:spcPct val="107000"/>
                        </a:lnSpc>
                        <a:spcBef>
                          <a:spcPts val="0"/>
                        </a:spcBef>
                        <a:spcAft>
                          <a:spcPts val="0"/>
                        </a:spcAft>
                      </a:pPr>
                      <a:r>
                        <a:rPr lang="en-US" sz="16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1</a:t>
                      </a:r>
                    </a:p>
                  </a:txBody>
                  <a:tcPr marL="68580" marR="68580" marT="0" marB="0">
                    <a:lnL w="12700" cap="flat" cmpd="sng" algn="ctr">
                      <a:solidFill>
                        <a:schemeClr val="tx1"/>
                      </a:solidFill>
                      <a:prstDash val="solid"/>
                      <a:round/>
                      <a:headEnd type="none" w="med" len="med"/>
                      <a:tailEnd type="none" w="med" len="med"/>
                    </a:lnL>
                    <a:noFill/>
                  </a:tcPr>
                </a:tc>
                <a:tc>
                  <a:txBody>
                    <a:bodyPr/>
                    <a:lstStyle/>
                    <a:p>
                      <a:pPr marL="0" marR="0">
                        <a:lnSpc>
                          <a:spcPct val="107000"/>
                        </a:lnSpc>
                        <a:spcBef>
                          <a:spcPts val="0"/>
                        </a:spcBef>
                        <a:spcAft>
                          <a:spcPts val="0"/>
                        </a:spcAft>
                      </a:pPr>
                      <a:r>
                        <a:rPr lang="en-US" sz="16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2</a:t>
                      </a:r>
                    </a:p>
                  </a:txBody>
                  <a:tcPr marL="68580" marR="68580" marT="0" marB="0">
                    <a:noFill/>
                  </a:tcPr>
                </a:tc>
                <a:tc>
                  <a:txBody>
                    <a:bodyPr/>
                    <a:lstStyle/>
                    <a:p>
                      <a:pPr marL="0" marR="0">
                        <a:lnSpc>
                          <a:spcPct val="107000"/>
                        </a:lnSpc>
                        <a:spcBef>
                          <a:spcPts val="0"/>
                        </a:spcBef>
                        <a:spcAft>
                          <a:spcPts val="0"/>
                        </a:spcAft>
                      </a:pPr>
                      <a:r>
                        <a:rPr lang="en-US"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2</a:t>
                      </a:r>
                    </a:p>
                  </a:txBody>
                  <a:tcPr marL="68580" marR="68580" marT="0" marB="0">
                    <a:noFill/>
                  </a:tcPr>
                </a:tc>
                <a:tc>
                  <a:txBody>
                    <a:bodyPr/>
                    <a:lstStyle/>
                    <a:p>
                      <a:pPr marL="0" marR="0">
                        <a:lnSpc>
                          <a:spcPct val="107000"/>
                        </a:lnSpc>
                        <a:spcBef>
                          <a:spcPts val="0"/>
                        </a:spcBef>
                        <a:spcAft>
                          <a:spcPts val="0"/>
                        </a:spcAft>
                      </a:pPr>
                      <a:r>
                        <a:rPr lang="en-US"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2</a:t>
                      </a:r>
                    </a:p>
                  </a:txBody>
                  <a:tcPr marL="68580" marR="68580" marT="0" marB="0">
                    <a:noFill/>
                  </a:tcPr>
                </a:tc>
                <a:tc>
                  <a:txBody>
                    <a:bodyPr/>
                    <a:lstStyle/>
                    <a:p>
                      <a:pPr marL="0" marR="0">
                        <a:lnSpc>
                          <a:spcPct val="107000"/>
                        </a:lnSpc>
                        <a:spcBef>
                          <a:spcPts val="0"/>
                        </a:spcBef>
                        <a:spcAft>
                          <a:spcPts val="0"/>
                        </a:spcAft>
                      </a:pPr>
                      <a:r>
                        <a:rPr lang="en-US"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4</a:t>
                      </a:r>
                    </a:p>
                  </a:txBody>
                  <a:tcPr marL="68580" marR="68580" marT="0" marB="0">
                    <a:noFill/>
                  </a:tcPr>
                </a:tc>
                <a:tc>
                  <a:txBody>
                    <a:bodyPr/>
                    <a:lstStyle/>
                    <a:p>
                      <a:pPr marL="0" marR="0">
                        <a:lnSpc>
                          <a:spcPct val="107000"/>
                        </a:lnSpc>
                        <a:spcBef>
                          <a:spcPts val="0"/>
                        </a:spcBef>
                        <a:spcAft>
                          <a:spcPts val="0"/>
                        </a:spcAft>
                      </a:pPr>
                      <a:r>
                        <a:rPr lang="en-US"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5</a:t>
                      </a:r>
                    </a:p>
                  </a:txBody>
                  <a:tcPr marL="68580" marR="68580" marT="0" marB="0">
                    <a:noFill/>
                  </a:tcPr>
                </a:tc>
                <a:tc>
                  <a:txBody>
                    <a:bodyPr/>
                    <a:lstStyle/>
                    <a:p>
                      <a:pPr marL="0" marR="0">
                        <a:lnSpc>
                          <a:spcPct val="107000"/>
                        </a:lnSpc>
                        <a:spcBef>
                          <a:spcPts val="0"/>
                        </a:spcBef>
                        <a:spcAft>
                          <a:spcPts val="0"/>
                        </a:spcAft>
                      </a:pPr>
                      <a:r>
                        <a:rPr lang="en-US"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5</a:t>
                      </a:r>
                    </a:p>
                  </a:txBody>
                  <a:tcPr marL="68580" marR="68580" marT="0" marB="0">
                    <a:noFill/>
                  </a:tcPr>
                </a:tc>
                <a:tc>
                  <a:txBody>
                    <a:bodyPr/>
                    <a:lstStyle/>
                    <a:p>
                      <a:pPr marL="0" marR="0">
                        <a:lnSpc>
                          <a:spcPct val="107000"/>
                        </a:lnSpc>
                        <a:spcBef>
                          <a:spcPts val="0"/>
                        </a:spcBef>
                        <a:spcAft>
                          <a:spcPts val="0"/>
                        </a:spcAft>
                      </a:pPr>
                      <a:r>
                        <a:rPr lang="en-US"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6</a:t>
                      </a:r>
                    </a:p>
                  </a:txBody>
                  <a:tcPr marL="68580" marR="68580" marT="0" marB="0">
                    <a:noFill/>
                  </a:tcPr>
                </a:tc>
                <a:tc>
                  <a:txBody>
                    <a:bodyPr/>
                    <a:lstStyle/>
                    <a:p>
                      <a:pPr marL="0" marR="0">
                        <a:lnSpc>
                          <a:spcPct val="107000"/>
                        </a:lnSpc>
                        <a:spcBef>
                          <a:spcPts val="0"/>
                        </a:spcBef>
                        <a:spcAft>
                          <a:spcPts val="0"/>
                        </a:spcAft>
                      </a:pPr>
                      <a:r>
                        <a:rPr lang="en-US"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a:t>
                      </a:r>
                    </a:p>
                  </a:txBody>
                  <a:tcPr marL="68580" marR="68580" marT="0" marB="0">
                    <a:noFill/>
                  </a:tcPr>
                </a:tc>
                <a:tc>
                  <a:txBody>
                    <a:bodyPr/>
                    <a:lstStyle/>
                    <a:p>
                      <a:pPr marL="0" marR="0">
                        <a:lnSpc>
                          <a:spcPct val="107000"/>
                        </a:lnSpc>
                        <a:spcBef>
                          <a:spcPts val="0"/>
                        </a:spcBef>
                        <a:spcAft>
                          <a:spcPts val="0"/>
                        </a:spcAft>
                      </a:pPr>
                      <a:r>
                        <a:rPr lang="en-US"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8</a:t>
                      </a:r>
                    </a:p>
                  </a:txBody>
                  <a:tcPr marL="68580" marR="68580" marT="0" marB="0">
                    <a:noFill/>
                  </a:tcPr>
                </a:tc>
                <a:tc>
                  <a:txBody>
                    <a:bodyPr/>
                    <a:lstStyle/>
                    <a:p>
                      <a:pPr marL="0" marR="0">
                        <a:lnSpc>
                          <a:spcPct val="107000"/>
                        </a:lnSpc>
                        <a:spcBef>
                          <a:spcPts val="0"/>
                        </a:spcBef>
                        <a:spcAft>
                          <a:spcPts val="0"/>
                        </a:spcAft>
                      </a:pPr>
                      <a:r>
                        <a:rPr lang="en-US"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8</a:t>
                      </a:r>
                    </a:p>
                  </a:txBody>
                  <a:tcPr marL="68580" marR="68580" marT="0" marB="0">
                    <a:noFill/>
                  </a:tcPr>
                </a:tc>
                <a:extLst>
                  <a:ext uri="{0D108BD9-81ED-4DB2-BD59-A6C34878D82A}">
                    <a16:rowId xmlns:a16="http://schemas.microsoft.com/office/drawing/2014/main" val="2816805349"/>
                  </a:ext>
                </a:extLst>
              </a:tr>
              <a:tr h="292608">
                <a:tc>
                  <a:txBody>
                    <a:bodyPr/>
                    <a:lstStyle/>
                    <a:p>
                      <a:pPr marL="0" marR="0" algn="r">
                        <a:lnSpc>
                          <a:spcPct val="107000"/>
                        </a:lnSpc>
                        <a:spcBef>
                          <a:spcPts val="0"/>
                        </a:spcBef>
                        <a:spcAft>
                          <a:spcPts val="0"/>
                        </a:spcAft>
                      </a:pPr>
                      <a:r>
                        <a:rPr lang="en-US" sz="16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10</a:t>
                      </a:r>
                    </a:p>
                  </a:txBody>
                  <a:tcPr marL="68580" marR="68580" marT="0" marB="0">
                    <a:lnR w="12700" cap="flat" cmpd="sng" algn="ctr">
                      <a:solidFill>
                        <a:schemeClr val="tx1"/>
                      </a:solidFill>
                      <a:prstDash val="solid"/>
                      <a:round/>
                      <a:headEnd type="none" w="med" len="med"/>
                      <a:tailEnd type="none" w="med" len="med"/>
                    </a:lnR>
                    <a:noFill/>
                  </a:tcPr>
                </a:tc>
                <a:tc>
                  <a:txBody>
                    <a:bodyPr/>
                    <a:lstStyle/>
                    <a:p>
                      <a:pPr marL="0" marR="0">
                        <a:lnSpc>
                          <a:spcPct val="107000"/>
                        </a:lnSpc>
                        <a:spcBef>
                          <a:spcPts val="0"/>
                        </a:spcBef>
                        <a:spcAft>
                          <a:spcPts val="0"/>
                        </a:spcAft>
                      </a:pPr>
                      <a:r>
                        <a:rPr lang="en-US" sz="16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lnL w="12700" cap="flat" cmpd="sng" algn="ctr">
                      <a:solidFill>
                        <a:schemeClr val="tx1"/>
                      </a:solidFill>
                      <a:prstDash val="solid"/>
                      <a:round/>
                      <a:headEnd type="none" w="med" len="med"/>
                      <a:tailEnd type="none" w="med" len="med"/>
                    </a:lnL>
                    <a:noFill/>
                  </a:tcPr>
                </a:tc>
                <a:tc>
                  <a:txBody>
                    <a:bodyPr/>
                    <a:lstStyle/>
                    <a:p>
                      <a:pPr marL="0" marR="0">
                        <a:lnSpc>
                          <a:spcPct val="107000"/>
                        </a:lnSpc>
                        <a:spcBef>
                          <a:spcPts val="0"/>
                        </a:spcBef>
                        <a:spcAft>
                          <a:spcPts val="0"/>
                        </a:spcAft>
                      </a:pPr>
                      <a:r>
                        <a:rPr lang="en-US"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noFill/>
                  </a:tcPr>
                </a:tc>
                <a:tc>
                  <a:txBody>
                    <a:bodyPr/>
                    <a:lstStyle/>
                    <a:p>
                      <a:pPr marL="0" marR="0">
                        <a:lnSpc>
                          <a:spcPct val="107000"/>
                        </a:lnSpc>
                        <a:spcBef>
                          <a:spcPts val="0"/>
                        </a:spcBef>
                        <a:spcAft>
                          <a:spcPts val="0"/>
                        </a:spcAft>
                      </a:pPr>
                      <a:r>
                        <a:rPr lang="en-US" sz="16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2</a:t>
                      </a:r>
                    </a:p>
                  </a:txBody>
                  <a:tcPr marL="68580" marR="68580" marT="0" marB="0">
                    <a:noFill/>
                  </a:tcPr>
                </a:tc>
                <a:tc>
                  <a:txBody>
                    <a:bodyPr/>
                    <a:lstStyle/>
                    <a:p>
                      <a:pPr marL="0" marR="0">
                        <a:lnSpc>
                          <a:spcPct val="107000"/>
                        </a:lnSpc>
                        <a:spcBef>
                          <a:spcPts val="0"/>
                        </a:spcBef>
                        <a:spcAft>
                          <a:spcPts val="0"/>
                        </a:spcAft>
                      </a:pPr>
                      <a:r>
                        <a:rPr lang="en-US" sz="16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4</a:t>
                      </a:r>
                    </a:p>
                  </a:txBody>
                  <a:tcPr marL="68580" marR="68580" marT="0" marB="0">
                    <a:noFill/>
                  </a:tcPr>
                </a:tc>
                <a:tc>
                  <a:txBody>
                    <a:bodyPr/>
                    <a:lstStyle/>
                    <a:p>
                      <a:pPr marL="0" marR="0">
                        <a:lnSpc>
                          <a:spcPct val="107000"/>
                        </a:lnSpc>
                        <a:spcBef>
                          <a:spcPts val="0"/>
                        </a:spcBef>
                        <a:spcAft>
                          <a:spcPts val="0"/>
                        </a:spcAft>
                      </a:pPr>
                      <a:r>
                        <a:rPr lang="en-US"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6</a:t>
                      </a:r>
                    </a:p>
                  </a:txBody>
                  <a:tcPr marL="68580" marR="68580" marT="0" marB="0">
                    <a:noFill/>
                  </a:tcPr>
                </a:tc>
                <a:tc>
                  <a:txBody>
                    <a:bodyPr/>
                    <a:lstStyle/>
                    <a:p>
                      <a:pPr marL="0" marR="0">
                        <a:lnSpc>
                          <a:spcPct val="107000"/>
                        </a:lnSpc>
                        <a:spcBef>
                          <a:spcPts val="0"/>
                        </a:spcBef>
                        <a:spcAft>
                          <a:spcPts val="0"/>
                        </a:spcAft>
                      </a:pPr>
                      <a:r>
                        <a:rPr lang="en-US" sz="16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6</a:t>
                      </a:r>
                    </a:p>
                  </a:txBody>
                  <a:tcPr marL="68580" marR="68580" marT="0" marB="0">
                    <a:noFill/>
                  </a:tcPr>
                </a:tc>
                <a:tc>
                  <a:txBody>
                    <a:bodyPr/>
                    <a:lstStyle/>
                    <a:p>
                      <a:pPr marL="0" marR="0">
                        <a:lnSpc>
                          <a:spcPct val="107000"/>
                        </a:lnSpc>
                        <a:spcBef>
                          <a:spcPts val="0"/>
                        </a:spcBef>
                        <a:spcAft>
                          <a:spcPts val="0"/>
                        </a:spcAft>
                      </a:pPr>
                      <a:r>
                        <a:rPr lang="en-US"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6</a:t>
                      </a:r>
                    </a:p>
                  </a:txBody>
                  <a:tcPr marL="68580" marR="68580" marT="0" marB="0">
                    <a:noFill/>
                  </a:tcPr>
                </a:tc>
                <a:tc>
                  <a:txBody>
                    <a:bodyPr/>
                    <a:lstStyle/>
                    <a:p>
                      <a:pPr marL="0" marR="0">
                        <a:lnSpc>
                          <a:spcPct val="107000"/>
                        </a:lnSpc>
                        <a:spcBef>
                          <a:spcPts val="0"/>
                        </a:spcBef>
                        <a:spcAft>
                          <a:spcPts val="0"/>
                        </a:spcAft>
                      </a:pPr>
                      <a:r>
                        <a:rPr lang="en-US"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a:t>
                      </a:r>
                    </a:p>
                  </a:txBody>
                  <a:tcPr marL="68580" marR="68580" marT="0" marB="0">
                    <a:noFill/>
                  </a:tcPr>
                </a:tc>
                <a:tc>
                  <a:txBody>
                    <a:bodyPr/>
                    <a:lstStyle/>
                    <a:p>
                      <a:pPr marL="0" marR="0">
                        <a:lnSpc>
                          <a:spcPct val="107000"/>
                        </a:lnSpc>
                        <a:spcBef>
                          <a:spcPts val="0"/>
                        </a:spcBef>
                        <a:spcAft>
                          <a:spcPts val="0"/>
                        </a:spcAft>
                      </a:pPr>
                      <a:r>
                        <a:rPr lang="en-US"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8</a:t>
                      </a:r>
                    </a:p>
                  </a:txBody>
                  <a:tcPr marL="68580" marR="68580" marT="0" marB="0">
                    <a:noFill/>
                  </a:tcPr>
                </a:tc>
                <a:tc>
                  <a:txBody>
                    <a:bodyPr/>
                    <a:lstStyle/>
                    <a:p>
                      <a:pPr marL="0" marR="0">
                        <a:lnSpc>
                          <a:spcPct val="107000"/>
                        </a:lnSpc>
                        <a:spcBef>
                          <a:spcPts val="0"/>
                        </a:spcBef>
                        <a:spcAft>
                          <a:spcPts val="0"/>
                        </a:spcAft>
                      </a:pPr>
                      <a:r>
                        <a:rPr lang="en-US"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noFill/>
                  </a:tcPr>
                </a:tc>
                <a:tc>
                  <a:txBody>
                    <a:bodyPr/>
                    <a:lstStyle/>
                    <a:p>
                      <a:pPr marL="0" marR="0">
                        <a:lnSpc>
                          <a:spcPct val="107000"/>
                        </a:lnSpc>
                        <a:spcBef>
                          <a:spcPts val="0"/>
                        </a:spcBef>
                        <a:spcAft>
                          <a:spcPts val="0"/>
                        </a:spcAft>
                      </a:pPr>
                      <a:r>
                        <a:rPr lang="en-US"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noFill/>
                  </a:tcPr>
                </a:tc>
                <a:extLst>
                  <a:ext uri="{0D108BD9-81ED-4DB2-BD59-A6C34878D82A}">
                    <a16:rowId xmlns:a16="http://schemas.microsoft.com/office/drawing/2014/main" val="1500795666"/>
                  </a:ext>
                </a:extLst>
              </a:tr>
              <a:tr h="292608">
                <a:tc>
                  <a:txBody>
                    <a:bodyPr/>
                    <a:lstStyle/>
                    <a:p>
                      <a:pPr marL="0" marR="0" algn="r">
                        <a:lnSpc>
                          <a:spcPct val="107000"/>
                        </a:lnSpc>
                        <a:spcBef>
                          <a:spcPts val="0"/>
                        </a:spcBef>
                        <a:spcAft>
                          <a:spcPts val="0"/>
                        </a:spcAft>
                      </a:pPr>
                      <a:r>
                        <a:rPr lang="en-US" sz="16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11</a:t>
                      </a:r>
                    </a:p>
                  </a:txBody>
                  <a:tcPr marL="68580" marR="68580" marT="0" marB="0">
                    <a:lnR w="12700" cap="flat" cmpd="sng" algn="ctr">
                      <a:solidFill>
                        <a:schemeClr val="tx1"/>
                      </a:solidFill>
                      <a:prstDash val="solid"/>
                      <a:round/>
                      <a:headEnd type="none" w="med" len="med"/>
                      <a:tailEnd type="none" w="med" len="med"/>
                    </a:lnR>
                    <a:noFill/>
                  </a:tcPr>
                </a:tc>
                <a:tc>
                  <a:txBody>
                    <a:bodyPr/>
                    <a:lstStyle/>
                    <a:p>
                      <a:pPr marL="0" marR="0">
                        <a:lnSpc>
                          <a:spcPct val="107000"/>
                        </a:lnSpc>
                        <a:spcBef>
                          <a:spcPts val="0"/>
                        </a:spcBef>
                        <a:spcAft>
                          <a:spcPts val="0"/>
                        </a:spcAft>
                      </a:pPr>
                      <a:r>
                        <a:rPr lang="en-US"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2</a:t>
                      </a:r>
                    </a:p>
                  </a:txBody>
                  <a:tcPr marL="68580" marR="68580" marT="0" marB="0">
                    <a:lnL w="12700" cap="flat" cmpd="sng" algn="ctr">
                      <a:solidFill>
                        <a:schemeClr val="tx1"/>
                      </a:solidFill>
                      <a:prstDash val="solid"/>
                      <a:round/>
                      <a:headEnd type="none" w="med" len="med"/>
                      <a:tailEnd type="none" w="med" len="med"/>
                    </a:lnL>
                    <a:noFill/>
                  </a:tcPr>
                </a:tc>
                <a:tc>
                  <a:txBody>
                    <a:bodyPr/>
                    <a:lstStyle/>
                    <a:p>
                      <a:pPr marL="0" marR="0">
                        <a:lnSpc>
                          <a:spcPct val="107000"/>
                        </a:lnSpc>
                        <a:spcBef>
                          <a:spcPts val="0"/>
                        </a:spcBef>
                        <a:spcAft>
                          <a:spcPts val="0"/>
                        </a:spcAft>
                      </a:pPr>
                      <a:r>
                        <a:rPr lang="en-US"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3</a:t>
                      </a:r>
                    </a:p>
                  </a:txBody>
                  <a:tcPr marL="68580" marR="68580" marT="0" marB="0">
                    <a:noFill/>
                  </a:tcPr>
                </a:tc>
                <a:tc>
                  <a:txBody>
                    <a:bodyPr/>
                    <a:lstStyle/>
                    <a:p>
                      <a:pPr marL="0" marR="0">
                        <a:lnSpc>
                          <a:spcPct val="107000"/>
                        </a:lnSpc>
                        <a:spcBef>
                          <a:spcPts val="0"/>
                        </a:spcBef>
                        <a:spcAft>
                          <a:spcPts val="0"/>
                        </a:spcAft>
                      </a:pPr>
                      <a:r>
                        <a:rPr lang="en-US"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5</a:t>
                      </a:r>
                    </a:p>
                  </a:txBody>
                  <a:tcPr marL="68580" marR="68580" marT="0" marB="0">
                    <a:noFill/>
                  </a:tcPr>
                </a:tc>
                <a:tc>
                  <a:txBody>
                    <a:bodyPr/>
                    <a:lstStyle/>
                    <a:p>
                      <a:pPr marL="0" marR="0">
                        <a:lnSpc>
                          <a:spcPct val="107000"/>
                        </a:lnSpc>
                        <a:spcBef>
                          <a:spcPts val="0"/>
                        </a:spcBef>
                        <a:spcAft>
                          <a:spcPts val="0"/>
                        </a:spcAft>
                      </a:pPr>
                      <a:r>
                        <a:rPr lang="en-US" sz="16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5</a:t>
                      </a:r>
                    </a:p>
                  </a:txBody>
                  <a:tcPr marL="68580" marR="68580" marT="0" marB="0">
                    <a:noFill/>
                  </a:tcPr>
                </a:tc>
                <a:tc>
                  <a:txBody>
                    <a:bodyPr/>
                    <a:lstStyle/>
                    <a:p>
                      <a:pPr marL="0" marR="0">
                        <a:lnSpc>
                          <a:spcPct val="107000"/>
                        </a:lnSpc>
                        <a:spcBef>
                          <a:spcPts val="0"/>
                        </a:spcBef>
                        <a:spcAft>
                          <a:spcPts val="0"/>
                        </a:spcAft>
                      </a:pPr>
                      <a:r>
                        <a:rPr lang="en-US" sz="16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8</a:t>
                      </a:r>
                    </a:p>
                  </a:txBody>
                  <a:tcPr marL="68580" marR="68580" marT="0" marB="0">
                    <a:noFill/>
                  </a:tcPr>
                </a:tc>
                <a:tc>
                  <a:txBody>
                    <a:bodyPr/>
                    <a:lstStyle/>
                    <a:p>
                      <a:pPr marL="0" marR="0">
                        <a:lnSpc>
                          <a:spcPct val="107000"/>
                        </a:lnSpc>
                        <a:spcBef>
                          <a:spcPts val="0"/>
                        </a:spcBef>
                        <a:spcAft>
                          <a:spcPts val="0"/>
                        </a:spcAft>
                      </a:pPr>
                      <a:r>
                        <a:rPr lang="en-US" sz="16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9</a:t>
                      </a:r>
                    </a:p>
                  </a:txBody>
                  <a:tcPr marL="68580" marR="68580" marT="0" marB="0">
                    <a:noFill/>
                  </a:tcPr>
                </a:tc>
                <a:tc>
                  <a:txBody>
                    <a:bodyPr/>
                    <a:lstStyle/>
                    <a:p>
                      <a:pPr marL="0" marR="0">
                        <a:lnSpc>
                          <a:spcPct val="107000"/>
                        </a:lnSpc>
                        <a:spcBef>
                          <a:spcPts val="0"/>
                        </a:spcBef>
                        <a:spcAft>
                          <a:spcPts val="0"/>
                        </a:spcAft>
                      </a:pPr>
                      <a:r>
                        <a:rPr lang="en-US" sz="16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9</a:t>
                      </a:r>
                    </a:p>
                  </a:txBody>
                  <a:tcPr marL="68580" marR="68580" marT="0" marB="0">
                    <a:noFill/>
                  </a:tcPr>
                </a:tc>
                <a:tc>
                  <a:txBody>
                    <a:bodyPr/>
                    <a:lstStyle/>
                    <a:p>
                      <a:pPr marL="0" marR="0">
                        <a:lnSpc>
                          <a:spcPct val="107000"/>
                        </a:lnSpc>
                        <a:spcBef>
                          <a:spcPts val="0"/>
                        </a:spcBef>
                        <a:spcAft>
                          <a:spcPts val="0"/>
                        </a:spcAft>
                      </a:pPr>
                      <a:r>
                        <a:rPr lang="en-US"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noFill/>
                  </a:tcPr>
                </a:tc>
                <a:tc>
                  <a:txBody>
                    <a:bodyPr/>
                    <a:lstStyle/>
                    <a:p>
                      <a:pPr marL="0" marR="0">
                        <a:lnSpc>
                          <a:spcPct val="107000"/>
                        </a:lnSpc>
                        <a:spcBef>
                          <a:spcPts val="0"/>
                        </a:spcBef>
                        <a:spcAft>
                          <a:spcPts val="0"/>
                        </a:spcAft>
                      </a:pPr>
                      <a:r>
                        <a:rPr lang="en-US"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noFill/>
                  </a:tcPr>
                </a:tc>
                <a:tc>
                  <a:txBody>
                    <a:bodyPr/>
                    <a:lstStyle/>
                    <a:p>
                      <a:pPr marL="0" marR="0">
                        <a:lnSpc>
                          <a:spcPct val="107000"/>
                        </a:lnSpc>
                        <a:spcBef>
                          <a:spcPts val="0"/>
                        </a:spcBef>
                        <a:spcAft>
                          <a:spcPts val="0"/>
                        </a:spcAft>
                      </a:pPr>
                      <a:r>
                        <a:rPr lang="en-US"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noFill/>
                  </a:tcPr>
                </a:tc>
                <a:tc>
                  <a:txBody>
                    <a:bodyPr/>
                    <a:lstStyle/>
                    <a:p>
                      <a:pPr marL="0" marR="0">
                        <a:lnSpc>
                          <a:spcPct val="107000"/>
                        </a:lnSpc>
                        <a:spcBef>
                          <a:spcPts val="0"/>
                        </a:spcBef>
                        <a:spcAft>
                          <a:spcPts val="0"/>
                        </a:spcAft>
                      </a:pPr>
                      <a:r>
                        <a:rPr lang="en-US"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noFill/>
                  </a:tcPr>
                </a:tc>
                <a:extLst>
                  <a:ext uri="{0D108BD9-81ED-4DB2-BD59-A6C34878D82A}">
                    <a16:rowId xmlns:a16="http://schemas.microsoft.com/office/drawing/2014/main" val="1113121078"/>
                  </a:ext>
                </a:extLst>
              </a:tr>
              <a:tr h="292608">
                <a:tc>
                  <a:txBody>
                    <a:bodyPr/>
                    <a:lstStyle/>
                    <a:p>
                      <a:pPr marL="0" marR="0" algn="r">
                        <a:lnSpc>
                          <a:spcPct val="107000"/>
                        </a:lnSpc>
                        <a:spcBef>
                          <a:spcPts val="0"/>
                        </a:spcBef>
                        <a:spcAft>
                          <a:spcPts val="0"/>
                        </a:spcAft>
                      </a:pPr>
                      <a:r>
                        <a:rPr lang="en-US" sz="16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12</a:t>
                      </a:r>
                    </a:p>
                  </a:txBody>
                  <a:tcPr marL="68580" marR="68580" marT="0" marB="0">
                    <a:lnR w="12700" cap="flat" cmpd="sng" algn="ctr">
                      <a:solidFill>
                        <a:schemeClr val="tx1"/>
                      </a:solidFill>
                      <a:prstDash val="solid"/>
                      <a:round/>
                      <a:headEnd type="none" w="med" len="med"/>
                      <a:tailEnd type="none" w="med" len="med"/>
                    </a:lnR>
                    <a:noFill/>
                  </a:tcPr>
                </a:tc>
                <a:tc>
                  <a:txBody>
                    <a:bodyPr/>
                    <a:lstStyle/>
                    <a:p>
                      <a:pPr marL="0" marR="0">
                        <a:lnSpc>
                          <a:spcPct val="107000"/>
                        </a:lnSpc>
                        <a:spcBef>
                          <a:spcPts val="0"/>
                        </a:spcBef>
                        <a:spcAft>
                          <a:spcPts val="0"/>
                        </a:spcAft>
                      </a:pPr>
                      <a:r>
                        <a:rPr lang="en-US"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4</a:t>
                      </a:r>
                    </a:p>
                  </a:txBody>
                  <a:tcPr marL="68580" marR="68580" marT="0" marB="0">
                    <a:lnL w="12700" cap="flat" cmpd="sng" algn="ctr">
                      <a:solidFill>
                        <a:schemeClr val="tx1"/>
                      </a:solidFill>
                      <a:prstDash val="solid"/>
                      <a:round/>
                      <a:headEnd type="none" w="med" len="med"/>
                      <a:tailEnd type="none" w="med" len="med"/>
                    </a:lnL>
                    <a:noFill/>
                  </a:tcPr>
                </a:tc>
                <a:tc>
                  <a:txBody>
                    <a:bodyPr/>
                    <a:lstStyle/>
                    <a:p>
                      <a:pPr marL="0" marR="0">
                        <a:lnSpc>
                          <a:spcPct val="107000"/>
                        </a:lnSpc>
                        <a:spcBef>
                          <a:spcPts val="0"/>
                        </a:spcBef>
                        <a:spcAft>
                          <a:spcPts val="0"/>
                        </a:spcAft>
                      </a:pPr>
                      <a:r>
                        <a:rPr lang="en-US"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6</a:t>
                      </a:r>
                    </a:p>
                  </a:txBody>
                  <a:tcPr marL="68580" marR="68580" marT="0" marB="0">
                    <a:noFill/>
                  </a:tcPr>
                </a:tc>
                <a:tc>
                  <a:txBody>
                    <a:bodyPr/>
                    <a:lstStyle/>
                    <a:p>
                      <a:pPr marL="0" marR="0">
                        <a:lnSpc>
                          <a:spcPct val="107000"/>
                        </a:lnSpc>
                        <a:spcBef>
                          <a:spcPts val="0"/>
                        </a:spcBef>
                        <a:spcAft>
                          <a:spcPts val="0"/>
                        </a:spcAft>
                      </a:pPr>
                      <a:r>
                        <a:rPr lang="en-US"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a:t>
                      </a:r>
                    </a:p>
                  </a:txBody>
                  <a:tcPr marL="68580" marR="68580" marT="0" marB="0">
                    <a:noFill/>
                  </a:tcPr>
                </a:tc>
                <a:tc>
                  <a:txBody>
                    <a:bodyPr/>
                    <a:lstStyle/>
                    <a:p>
                      <a:pPr marL="0" marR="0">
                        <a:lnSpc>
                          <a:spcPct val="107000"/>
                        </a:lnSpc>
                        <a:spcBef>
                          <a:spcPts val="0"/>
                        </a:spcBef>
                        <a:spcAft>
                          <a:spcPts val="0"/>
                        </a:spcAft>
                      </a:pPr>
                      <a:r>
                        <a:rPr lang="en-US" sz="16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8</a:t>
                      </a:r>
                    </a:p>
                  </a:txBody>
                  <a:tcPr marL="68580" marR="68580" marT="0" marB="0">
                    <a:noFill/>
                  </a:tcPr>
                </a:tc>
                <a:tc>
                  <a:txBody>
                    <a:bodyPr/>
                    <a:lstStyle/>
                    <a:p>
                      <a:pPr marL="0" marR="0">
                        <a:lnSpc>
                          <a:spcPct val="107000"/>
                        </a:lnSpc>
                        <a:spcBef>
                          <a:spcPts val="0"/>
                        </a:spcBef>
                        <a:spcAft>
                          <a:spcPts val="0"/>
                        </a:spcAft>
                      </a:pPr>
                      <a:r>
                        <a:rPr lang="en-US" sz="16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noFill/>
                  </a:tcPr>
                </a:tc>
                <a:tc>
                  <a:txBody>
                    <a:bodyPr/>
                    <a:lstStyle/>
                    <a:p>
                      <a:pPr marL="0" marR="0">
                        <a:lnSpc>
                          <a:spcPct val="107000"/>
                        </a:lnSpc>
                        <a:spcBef>
                          <a:spcPts val="0"/>
                        </a:spcBef>
                        <a:spcAft>
                          <a:spcPts val="0"/>
                        </a:spcAft>
                      </a:pPr>
                      <a:r>
                        <a:rPr lang="en-US" sz="16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noFill/>
                  </a:tcPr>
                </a:tc>
                <a:tc>
                  <a:txBody>
                    <a:bodyPr/>
                    <a:lstStyle/>
                    <a:p>
                      <a:pPr marL="0" marR="0">
                        <a:lnSpc>
                          <a:spcPct val="107000"/>
                        </a:lnSpc>
                        <a:spcBef>
                          <a:spcPts val="0"/>
                        </a:spcBef>
                        <a:spcAft>
                          <a:spcPts val="0"/>
                        </a:spcAft>
                      </a:pPr>
                      <a:r>
                        <a:rPr lang="en-US" sz="16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noFill/>
                  </a:tcPr>
                </a:tc>
                <a:tc>
                  <a:txBody>
                    <a:bodyPr/>
                    <a:lstStyle/>
                    <a:p>
                      <a:pPr marL="0" marR="0">
                        <a:lnSpc>
                          <a:spcPct val="107000"/>
                        </a:lnSpc>
                        <a:spcBef>
                          <a:spcPts val="0"/>
                        </a:spcBef>
                        <a:spcAft>
                          <a:spcPts val="0"/>
                        </a:spcAft>
                      </a:pPr>
                      <a:r>
                        <a:rPr lang="en-US" sz="16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noFill/>
                  </a:tcPr>
                </a:tc>
                <a:tc>
                  <a:txBody>
                    <a:bodyPr/>
                    <a:lstStyle/>
                    <a:p>
                      <a:pPr marL="0" marR="0">
                        <a:lnSpc>
                          <a:spcPct val="107000"/>
                        </a:lnSpc>
                        <a:spcBef>
                          <a:spcPts val="0"/>
                        </a:spcBef>
                        <a:spcAft>
                          <a:spcPts val="0"/>
                        </a:spcAft>
                      </a:pPr>
                      <a:r>
                        <a:rPr lang="en-US" sz="16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noFill/>
                  </a:tcPr>
                </a:tc>
                <a:tc>
                  <a:txBody>
                    <a:bodyPr/>
                    <a:lstStyle/>
                    <a:p>
                      <a:pPr marL="0" marR="0">
                        <a:lnSpc>
                          <a:spcPct val="107000"/>
                        </a:lnSpc>
                        <a:spcBef>
                          <a:spcPts val="0"/>
                        </a:spcBef>
                        <a:spcAft>
                          <a:spcPts val="0"/>
                        </a:spcAft>
                      </a:pPr>
                      <a:r>
                        <a:rPr lang="en-US"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noFill/>
                  </a:tcPr>
                </a:tc>
                <a:tc>
                  <a:txBody>
                    <a:bodyPr/>
                    <a:lstStyle/>
                    <a:p>
                      <a:pPr marL="0" marR="0">
                        <a:lnSpc>
                          <a:spcPct val="107000"/>
                        </a:lnSpc>
                        <a:spcBef>
                          <a:spcPts val="0"/>
                        </a:spcBef>
                        <a:spcAft>
                          <a:spcPts val="0"/>
                        </a:spcAft>
                      </a:pPr>
                      <a:r>
                        <a:rPr lang="en-US"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noFill/>
                  </a:tcPr>
                </a:tc>
                <a:extLst>
                  <a:ext uri="{0D108BD9-81ED-4DB2-BD59-A6C34878D82A}">
                    <a16:rowId xmlns:a16="http://schemas.microsoft.com/office/drawing/2014/main" val="1239827308"/>
                  </a:ext>
                </a:extLst>
              </a:tr>
              <a:tr h="292608">
                <a:tc>
                  <a:txBody>
                    <a:bodyPr/>
                    <a:lstStyle/>
                    <a:p>
                      <a:pPr marL="0" marR="0" algn="r">
                        <a:lnSpc>
                          <a:spcPct val="107000"/>
                        </a:lnSpc>
                        <a:spcBef>
                          <a:spcPts val="0"/>
                        </a:spcBef>
                        <a:spcAft>
                          <a:spcPts val="0"/>
                        </a:spcAft>
                      </a:pPr>
                      <a:r>
                        <a:rPr lang="en-US" sz="16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13</a:t>
                      </a:r>
                    </a:p>
                  </a:txBody>
                  <a:tcPr marL="68580" marR="68580" marT="0" marB="0">
                    <a:lnR w="12700" cap="flat" cmpd="sng" algn="ctr">
                      <a:solidFill>
                        <a:schemeClr val="tx1"/>
                      </a:solidFill>
                      <a:prstDash val="solid"/>
                      <a:round/>
                      <a:headEnd type="none" w="med" len="med"/>
                      <a:tailEnd type="none" w="med" len="med"/>
                    </a:lnR>
                    <a:noFill/>
                  </a:tcPr>
                </a:tc>
                <a:tc>
                  <a:txBody>
                    <a:bodyPr/>
                    <a:lstStyle/>
                    <a:p>
                      <a:pPr marL="0" marR="0">
                        <a:lnSpc>
                          <a:spcPct val="107000"/>
                        </a:lnSpc>
                        <a:spcBef>
                          <a:spcPts val="0"/>
                        </a:spcBef>
                        <a:spcAft>
                          <a:spcPts val="0"/>
                        </a:spcAft>
                      </a:pPr>
                      <a:r>
                        <a:rPr lang="en-US"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2</a:t>
                      </a:r>
                    </a:p>
                  </a:txBody>
                  <a:tcPr marL="68580" marR="68580" marT="0" marB="0">
                    <a:lnL w="12700" cap="flat" cmpd="sng" algn="ctr">
                      <a:solidFill>
                        <a:schemeClr val="tx1"/>
                      </a:solidFill>
                      <a:prstDash val="solid"/>
                      <a:round/>
                      <a:headEnd type="none" w="med" len="med"/>
                      <a:tailEnd type="none" w="med" len="med"/>
                    </a:lnL>
                    <a:noFill/>
                  </a:tcPr>
                </a:tc>
                <a:tc>
                  <a:txBody>
                    <a:bodyPr/>
                    <a:lstStyle/>
                    <a:p>
                      <a:pPr marL="0" marR="0">
                        <a:lnSpc>
                          <a:spcPct val="107000"/>
                        </a:lnSpc>
                        <a:spcBef>
                          <a:spcPts val="0"/>
                        </a:spcBef>
                        <a:spcAft>
                          <a:spcPts val="0"/>
                        </a:spcAft>
                      </a:pPr>
                      <a:r>
                        <a:rPr lang="en-US"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4</a:t>
                      </a:r>
                    </a:p>
                  </a:txBody>
                  <a:tcPr marL="68580" marR="68580" marT="0" marB="0">
                    <a:noFill/>
                  </a:tcPr>
                </a:tc>
                <a:tc>
                  <a:txBody>
                    <a:bodyPr/>
                    <a:lstStyle/>
                    <a:p>
                      <a:pPr marL="0" marR="0">
                        <a:lnSpc>
                          <a:spcPct val="107000"/>
                        </a:lnSpc>
                        <a:spcBef>
                          <a:spcPts val="0"/>
                        </a:spcBef>
                        <a:spcAft>
                          <a:spcPts val="0"/>
                        </a:spcAft>
                      </a:pPr>
                      <a:r>
                        <a:rPr lang="en-US"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noFill/>
                  </a:tcPr>
                </a:tc>
                <a:tc>
                  <a:txBody>
                    <a:bodyPr/>
                    <a:lstStyle/>
                    <a:p>
                      <a:pPr marL="0" marR="0">
                        <a:lnSpc>
                          <a:spcPct val="107000"/>
                        </a:lnSpc>
                        <a:spcBef>
                          <a:spcPts val="0"/>
                        </a:spcBef>
                        <a:spcAft>
                          <a:spcPts val="0"/>
                        </a:spcAft>
                      </a:pPr>
                      <a:r>
                        <a:rPr lang="en-US"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noFill/>
                  </a:tcPr>
                </a:tc>
                <a:tc>
                  <a:txBody>
                    <a:bodyPr/>
                    <a:lstStyle/>
                    <a:p>
                      <a:pPr marL="0" marR="0">
                        <a:lnSpc>
                          <a:spcPct val="107000"/>
                        </a:lnSpc>
                        <a:spcBef>
                          <a:spcPts val="0"/>
                        </a:spcBef>
                        <a:spcAft>
                          <a:spcPts val="0"/>
                        </a:spcAft>
                      </a:pPr>
                      <a:r>
                        <a:rPr lang="en-US" sz="16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noFill/>
                  </a:tcPr>
                </a:tc>
                <a:tc>
                  <a:txBody>
                    <a:bodyPr/>
                    <a:lstStyle/>
                    <a:p>
                      <a:pPr marL="0" marR="0">
                        <a:lnSpc>
                          <a:spcPct val="107000"/>
                        </a:lnSpc>
                        <a:spcBef>
                          <a:spcPts val="0"/>
                        </a:spcBef>
                        <a:spcAft>
                          <a:spcPts val="0"/>
                        </a:spcAft>
                      </a:pPr>
                      <a:r>
                        <a:rPr lang="en-US" sz="16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noFill/>
                  </a:tcPr>
                </a:tc>
                <a:tc>
                  <a:txBody>
                    <a:bodyPr/>
                    <a:lstStyle/>
                    <a:p>
                      <a:pPr marL="0" marR="0">
                        <a:lnSpc>
                          <a:spcPct val="107000"/>
                        </a:lnSpc>
                        <a:spcBef>
                          <a:spcPts val="0"/>
                        </a:spcBef>
                        <a:spcAft>
                          <a:spcPts val="0"/>
                        </a:spcAft>
                      </a:pPr>
                      <a:r>
                        <a:rPr lang="en-US" sz="16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noFill/>
                  </a:tcPr>
                </a:tc>
                <a:tc>
                  <a:txBody>
                    <a:bodyPr/>
                    <a:lstStyle/>
                    <a:p>
                      <a:pPr marL="0" marR="0">
                        <a:lnSpc>
                          <a:spcPct val="107000"/>
                        </a:lnSpc>
                        <a:spcBef>
                          <a:spcPts val="0"/>
                        </a:spcBef>
                        <a:spcAft>
                          <a:spcPts val="0"/>
                        </a:spcAft>
                      </a:pPr>
                      <a:r>
                        <a:rPr lang="en-US" sz="16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noFill/>
                  </a:tcPr>
                </a:tc>
                <a:tc>
                  <a:txBody>
                    <a:bodyPr/>
                    <a:lstStyle/>
                    <a:p>
                      <a:pPr marL="0" marR="0">
                        <a:lnSpc>
                          <a:spcPct val="107000"/>
                        </a:lnSpc>
                        <a:spcBef>
                          <a:spcPts val="0"/>
                        </a:spcBef>
                        <a:spcAft>
                          <a:spcPts val="0"/>
                        </a:spcAft>
                      </a:pPr>
                      <a:r>
                        <a:rPr lang="en-US" sz="16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noFill/>
                  </a:tcPr>
                </a:tc>
                <a:tc>
                  <a:txBody>
                    <a:bodyPr/>
                    <a:lstStyle/>
                    <a:p>
                      <a:pPr marL="0" marR="0">
                        <a:lnSpc>
                          <a:spcPct val="107000"/>
                        </a:lnSpc>
                        <a:spcBef>
                          <a:spcPts val="0"/>
                        </a:spcBef>
                        <a:spcAft>
                          <a:spcPts val="0"/>
                        </a:spcAft>
                      </a:pPr>
                      <a:r>
                        <a:rPr lang="en-US" sz="16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noFill/>
                  </a:tcPr>
                </a:tc>
                <a:tc>
                  <a:txBody>
                    <a:bodyPr/>
                    <a:lstStyle/>
                    <a:p>
                      <a:pPr marL="0" marR="0">
                        <a:lnSpc>
                          <a:spcPct val="107000"/>
                        </a:lnSpc>
                        <a:spcBef>
                          <a:spcPts val="0"/>
                        </a:spcBef>
                        <a:spcAft>
                          <a:spcPts val="0"/>
                        </a:spcAft>
                      </a:pPr>
                      <a:r>
                        <a:rPr lang="en-US" sz="16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noFill/>
                  </a:tcPr>
                </a:tc>
                <a:extLst>
                  <a:ext uri="{0D108BD9-81ED-4DB2-BD59-A6C34878D82A}">
                    <a16:rowId xmlns:a16="http://schemas.microsoft.com/office/drawing/2014/main" val="1638690240"/>
                  </a:ext>
                </a:extLst>
              </a:tr>
              <a:tr h="292608">
                <a:tc>
                  <a:txBody>
                    <a:bodyPr/>
                    <a:lstStyle/>
                    <a:p>
                      <a:pPr marL="0" marR="0" algn="r">
                        <a:lnSpc>
                          <a:spcPct val="107000"/>
                        </a:lnSpc>
                        <a:spcBef>
                          <a:spcPts val="0"/>
                        </a:spcBef>
                        <a:spcAft>
                          <a:spcPts val="0"/>
                        </a:spcAft>
                      </a:pPr>
                      <a:r>
                        <a:rPr lang="en-US" sz="16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14</a:t>
                      </a:r>
                    </a:p>
                  </a:txBody>
                  <a:tcPr marL="68580" marR="68580" marT="0" marB="0">
                    <a:lnR w="12700" cap="flat" cmpd="sng" algn="ctr">
                      <a:solidFill>
                        <a:schemeClr val="tx1"/>
                      </a:solidFill>
                      <a:prstDash val="solid"/>
                      <a:round/>
                      <a:headEnd type="none" w="med" len="med"/>
                      <a:tailEnd type="none" w="med" len="med"/>
                    </a:lnR>
                    <a:noFill/>
                  </a:tcPr>
                </a:tc>
                <a:tc>
                  <a:txBody>
                    <a:bodyPr/>
                    <a:lstStyle/>
                    <a:p>
                      <a:pPr marL="0" marR="0">
                        <a:lnSpc>
                          <a:spcPct val="107000"/>
                        </a:lnSpc>
                        <a:spcBef>
                          <a:spcPts val="0"/>
                        </a:spcBef>
                        <a:spcAft>
                          <a:spcPts val="0"/>
                        </a:spcAft>
                      </a:pPr>
                      <a:r>
                        <a:rPr lang="en-US"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1</a:t>
                      </a:r>
                    </a:p>
                  </a:txBody>
                  <a:tcPr marL="68580" marR="68580" marT="0" marB="0">
                    <a:lnL w="12700" cap="flat" cmpd="sng" algn="ctr">
                      <a:solidFill>
                        <a:schemeClr val="tx1"/>
                      </a:solidFill>
                      <a:prstDash val="solid"/>
                      <a:round/>
                      <a:headEnd type="none" w="med" len="med"/>
                      <a:tailEnd type="none" w="med" len="med"/>
                    </a:lnL>
                    <a:noFill/>
                  </a:tcPr>
                </a:tc>
                <a:tc>
                  <a:txBody>
                    <a:bodyPr/>
                    <a:lstStyle/>
                    <a:p>
                      <a:pPr marL="0" marR="0">
                        <a:lnSpc>
                          <a:spcPct val="107000"/>
                        </a:lnSpc>
                        <a:spcBef>
                          <a:spcPts val="0"/>
                        </a:spcBef>
                        <a:spcAft>
                          <a:spcPts val="0"/>
                        </a:spcAft>
                      </a:pPr>
                      <a:r>
                        <a:rPr lang="en-US" sz="16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noFill/>
                  </a:tcPr>
                </a:tc>
                <a:tc>
                  <a:txBody>
                    <a:bodyPr/>
                    <a:lstStyle/>
                    <a:p>
                      <a:pPr marL="0" marR="0">
                        <a:lnSpc>
                          <a:spcPct val="107000"/>
                        </a:lnSpc>
                        <a:spcBef>
                          <a:spcPts val="0"/>
                        </a:spcBef>
                        <a:spcAft>
                          <a:spcPts val="0"/>
                        </a:spcAft>
                      </a:pPr>
                      <a:r>
                        <a:rPr lang="en-US" sz="16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noFill/>
                  </a:tcPr>
                </a:tc>
                <a:tc>
                  <a:txBody>
                    <a:bodyPr/>
                    <a:lstStyle/>
                    <a:p>
                      <a:pPr marL="0" marR="0">
                        <a:lnSpc>
                          <a:spcPct val="107000"/>
                        </a:lnSpc>
                        <a:spcBef>
                          <a:spcPts val="0"/>
                        </a:spcBef>
                        <a:spcAft>
                          <a:spcPts val="0"/>
                        </a:spcAft>
                      </a:pPr>
                      <a:r>
                        <a:rPr lang="en-US" sz="16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noFill/>
                  </a:tcPr>
                </a:tc>
                <a:tc>
                  <a:txBody>
                    <a:bodyPr/>
                    <a:lstStyle/>
                    <a:p>
                      <a:pPr marL="0" marR="0">
                        <a:lnSpc>
                          <a:spcPct val="107000"/>
                        </a:lnSpc>
                        <a:spcBef>
                          <a:spcPts val="0"/>
                        </a:spcBef>
                        <a:spcAft>
                          <a:spcPts val="0"/>
                        </a:spcAft>
                      </a:pPr>
                      <a:r>
                        <a:rPr lang="en-US" sz="16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noFill/>
                  </a:tcPr>
                </a:tc>
                <a:tc>
                  <a:txBody>
                    <a:bodyPr/>
                    <a:lstStyle/>
                    <a:p>
                      <a:pPr marL="0" marR="0">
                        <a:lnSpc>
                          <a:spcPct val="107000"/>
                        </a:lnSpc>
                        <a:spcBef>
                          <a:spcPts val="0"/>
                        </a:spcBef>
                        <a:spcAft>
                          <a:spcPts val="0"/>
                        </a:spcAft>
                      </a:pPr>
                      <a:r>
                        <a:rPr lang="en-US" sz="16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noFill/>
                  </a:tcPr>
                </a:tc>
                <a:tc>
                  <a:txBody>
                    <a:bodyPr/>
                    <a:lstStyle/>
                    <a:p>
                      <a:pPr marL="0" marR="0">
                        <a:lnSpc>
                          <a:spcPct val="107000"/>
                        </a:lnSpc>
                        <a:spcBef>
                          <a:spcPts val="0"/>
                        </a:spcBef>
                        <a:spcAft>
                          <a:spcPts val="0"/>
                        </a:spcAft>
                      </a:pPr>
                      <a:r>
                        <a:rPr lang="en-US" sz="16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noFill/>
                  </a:tcPr>
                </a:tc>
                <a:tc>
                  <a:txBody>
                    <a:bodyPr/>
                    <a:lstStyle/>
                    <a:p>
                      <a:pPr marL="0" marR="0">
                        <a:lnSpc>
                          <a:spcPct val="107000"/>
                        </a:lnSpc>
                        <a:spcBef>
                          <a:spcPts val="0"/>
                        </a:spcBef>
                        <a:spcAft>
                          <a:spcPts val="0"/>
                        </a:spcAft>
                      </a:pPr>
                      <a:r>
                        <a:rPr lang="en-US" sz="16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noFill/>
                  </a:tcPr>
                </a:tc>
                <a:tc>
                  <a:txBody>
                    <a:bodyPr/>
                    <a:lstStyle/>
                    <a:p>
                      <a:pPr marL="0" marR="0">
                        <a:lnSpc>
                          <a:spcPct val="107000"/>
                        </a:lnSpc>
                        <a:spcBef>
                          <a:spcPts val="0"/>
                        </a:spcBef>
                        <a:spcAft>
                          <a:spcPts val="0"/>
                        </a:spcAft>
                      </a:pPr>
                      <a:r>
                        <a:rPr lang="en-US" sz="16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noFill/>
                  </a:tcPr>
                </a:tc>
                <a:tc>
                  <a:txBody>
                    <a:bodyPr/>
                    <a:lstStyle/>
                    <a:p>
                      <a:pPr marL="0" marR="0">
                        <a:lnSpc>
                          <a:spcPct val="107000"/>
                        </a:lnSpc>
                        <a:spcBef>
                          <a:spcPts val="0"/>
                        </a:spcBef>
                        <a:spcAft>
                          <a:spcPts val="0"/>
                        </a:spcAft>
                      </a:pPr>
                      <a:r>
                        <a:rPr lang="en-US" sz="16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noFill/>
                  </a:tcPr>
                </a:tc>
                <a:tc>
                  <a:txBody>
                    <a:bodyPr/>
                    <a:lstStyle/>
                    <a:p>
                      <a:pPr marL="0" marR="0">
                        <a:lnSpc>
                          <a:spcPct val="107000"/>
                        </a:lnSpc>
                        <a:spcBef>
                          <a:spcPts val="0"/>
                        </a:spcBef>
                        <a:spcAft>
                          <a:spcPts val="0"/>
                        </a:spcAft>
                      </a:pPr>
                      <a:r>
                        <a:rPr lang="en-US" sz="16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noFill/>
                  </a:tcPr>
                </a:tc>
                <a:extLst>
                  <a:ext uri="{0D108BD9-81ED-4DB2-BD59-A6C34878D82A}">
                    <a16:rowId xmlns:a16="http://schemas.microsoft.com/office/drawing/2014/main" val="2990060308"/>
                  </a:ext>
                </a:extLst>
              </a:tr>
            </a:tbl>
          </a:graphicData>
        </a:graphic>
      </p:graphicFrame>
    </p:spTree>
    <p:extLst>
      <p:ext uri="{BB962C8B-B14F-4D97-AF65-F5344CB8AC3E}">
        <p14:creationId xmlns:p14="http://schemas.microsoft.com/office/powerpoint/2010/main" val="1313965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36E5E-4A73-56F1-D839-24214A0F6990}"/>
              </a:ext>
            </a:extLst>
          </p:cNvPr>
          <p:cNvSpPr>
            <a:spLocks noGrp="1"/>
          </p:cNvSpPr>
          <p:nvPr>
            <p:ph type="title"/>
          </p:nvPr>
        </p:nvSpPr>
        <p:spPr/>
        <p:txBody>
          <a:bodyPr/>
          <a:lstStyle/>
          <a:p>
            <a:r>
              <a:rPr lang="en-US" sz="3200" dirty="0">
                <a:solidFill>
                  <a:srgbClr val="D14B1E"/>
                </a:solidFill>
              </a:rPr>
              <a:t>2.3 Summarizing Data for Two Variables Using Tables</a:t>
            </a:r>
          </a:p>
        </p:txBody>
      </p:sp>
      <p:sp>
        <p:nvSpPr>
          <p:cNvPr id="3" name="Text Placeholder 2">
            <a:extLst>
              <a:ext uri="{FF2B5EF4-FFF2-40B4-BE49-F238E27FC236}">
                <a16:creationId xmlns:a16="http://schemas.microsoft.com/office/drawing/2014/main" id="{EB3483BE-DFCF-708D-54D3-46F3AB3A0841}"/>
              </a:ext>
            </a:extLst>
          </p:cNvPr>
          <p:cNvSpPr>
            <a:spLocks noGrp="1"/>
          </p:cNvSpPr>
          <p:nvPr>
            <p:ph type="body" sz="quarter" idx="15"/>
          </p:nvPr>
        </p:nvSpPr>
        <p:spPr>
          <a:xfrm>
            <a:off x="793194" y="1309488"/>
            <a:ext cx="10607040" cy="2450592"/>
          </a:xfrm>
        </p:spPr>
        <p:txBody>
          <a:bodyPr>
            <a:normAutofit/>
          </a:bodyPr>
          <a:lstStyle/>
          <a:p>
            <a:pPr>
              <a:spcAft>
                <a:spcPts val="0"/>
              </a:spcAft>
            </a:pPr>
            <a:r>
              <a:rPr lang="en-US" sz="2000" dirty="0"/>
              <a:t>Consider Zagat’s review of 300 restaurants in the Los Angeles area. The data set includes measurements on quality rating and typical meal price (</a:t>
            </a:r>
            <a:r>
              <a:rPr lang="en-US" sz="2000" dirty="0" err="1"/>
              <a:t>DATAfile</a:t>
            </a:r>
            <a:r>
              <a:rPr lang="en-US" sz="2000" dirty="0"/>
              <a:t>: </a:t>
            </a:r>
            <a:r>
              <a:rPr lang="en-US" sz="2000" i="1" dirty="0"/>
              <a:t>restaurant</a:t>
            </a:r>
            <a:r>
              <a:rPr lang="en-US" sz="2000" dirty="0"/>
              <a:t>.)</a:t>
            </a:r>
          </a:p>
          <a:p>
            <a:pPr>
              <a:spcAft>
                <a:spcPts val="0"/>
              </a:spcAft>
            </a:pPr>
            <a:r>
              <a:rPr lang="en-US" sz="2000" dirty="0"/>
              <a:t>A </a:t>
            </a:r>
            <a:r>
              <a:rPr lang="en-US" sz="2000" b="1" dirty="0"/>
              <a:t>crosstabulation</a:t>
            </a:r>
            <a:r>
              <a:rPr lang="en-US" sz="2000" dirty="0"/>
              <a:t> of the data is shown below, where:</a:t>
            </a:r>
          </a:p>
          <a:p>
            <a:pPr marL="457200" indent="-228600">
              <a:spcAft>
                <a:spcPts val="0"/>
              </a:spcAft>
              <a:buFont typeface="Arial" panose="020B0604020202020204" pitchFamily="34" charset="0"/>
              <a:buChar char="•"/>
            </a:pPr>
            <a:r>
              <a:rPr lang="en-US" sz="2000" dirty="0"/>
              <a:t>the Quality Rating, a categorical variable with categories </a:t>
            </a:r>
            <a:r>
              <a:rPr lang="en-US" sz="2000" i="1" dirty="0"/>
              <a:t>good</a:t>
            </a:r>
            <a:r>
              <a:rPr lang="en-US" sz="2000" dirty="0"/>
              <a:t>, </a:t>
            </a:r>
            <a:r>
              <a:rPr lang="en-US" sz="2000" i="1" dirty="0"/>
              <a:t>very good</a:t>
            </a:r>
            <a:r>
              <a:rPr lang="en-US" sz="2000" dirty="0"/>
              <a:t>, and </a:t>
            </a:r>
            <a:r>
              <a:rPr lang="en-US" sz="2000" i="1" dirty="0"/>
              <a:t>excellent</a:t>
            </a:r>
            <a:r>
              <a:rPr lang="en-US" sz="2000" dirty="0"/>
              <a:t>, is shown in the left margin, and its frequency distribution in the right margin.</a:t>
            </a:r>
          </a:p>
          <a:p>
            <a:pPr marL="457200" indent="-228600">
              <a:spcAft>
                <a:spcPts val="0"/>
              </a:spcAft>
              <a:buFont typeface="Arial" panose="020B0604020202020204" pitchFamily="34" charset="0"/>
              <a:buChar char="•"/>
            </a:pPr>
            <a:r>
              <a:rPr lang="en-US" sz="2000" dirty="0"/>
              <a:t>the Meal Price, a quantitative variable ranging from $10 to $49 and grouped into four classes, is shown in the top margin, and its frequency distribution in the bottom margin.</a:t>
            </a:r>
          </a:p>
          <a:p>
            <a:endParaRPr lang="en-US" sz="2000" dirty="0"/>
          </a:p>
        </p:txBody>
      </p:sp>
      <p:sp>
        <p:nvSpPr>
          <p:cNvPr id="5" name="Text Placeholder 4">
            <a:extLst>
              <a:ext uri="{FF2B5EF4-FFF2-40B4-BE49-F238E27FC236}">
                <a16:creationId xmlns:a16="http://schemas.microsoft.com/office/drawing/2014/main" id="{D5659C59-CE90-F351-E3F4-2F1DB11B3098}"/>
              </a:ext>
            </a:extLst>
          </p:cNvPr>
          <p:cNvSpPr>
            <a:spLocks noGrp="1"/>
          </p:cNvSpPr>
          <p:nvPr>
            <p:ph type="body" sz="quarter" idx="18"/>
          </p:nvPr>
        </p:nvSpPr>
        <p:spPr>
          <a:xfrm>
            <a:off x="791766" y="3695298"/>
            <a:ext cx="3319272" cy="1819656"/>
          </a:xfrm>
        </p:spPr>
        <p:txBody>
          <a:bodyPr/>
          <a:lstStyle/>
          <a:p>
            <a:pPr marL="457200" indent="-228600">
              <a:spcAft>
                <a:spcPts val="0"/>
              </a:spcAft>
              <a:buFont typeface="Arial" panose="020B0604020202020204" pitchFamily="34" charset="0"/>
              <a:buChar char="•"/>
            </a:pPr>
            <a:r>
              <a:rPr lang="en-US" sz="2000" dirty="0"/>
              <a:t>the cells in the body of the table provide the counts for all the combinations of Quality Rating and Meal Price.</a:t>
            </a:r>
          </a:p>
          <a:p>
            <a:endParaRPr lang="en-US" sz="2000" dirty="0"/>
          </a:p>
        </p:txBody>
      </p:sp>
      <p:graphicFrame>
        <p:nvGraphicFramePr>
          <p:cNvPr id="7" name="Table 7">
            <a:extLst>
              <a:ext uri="{FF2B5EF4-FFF2-40B4-BE49-F238E27FC236}">
                <a16:creationId xmlns:a16="http://schemas.microsoft.com/office/drawing/2014/main" id="{36D644A7-C2FE-7C63-7D93-32B45F8250D1}"/>
              </a:ext>
            </a:extLst>
          </p:cNvPr>
          <p:cNvGraphicFramePr>
            <a:graphicFrameLocks noGrp="1"/>
          </p:cNvGraphicFramePr>
          <p:nvPr>
            <p:ph type="tbl" sz="quarter" idx="22"/>
            <p:extLst>
              <p:ext uri="{D42A27DB-BD31-4B8C-83A1-F6EECF244321}">
                <p14:modId xmlns:p14="http://schemas.microsoft.com/office/powerpoint/2010/main" val="3502873206"/>
              </p:ext>
            </p:extLst>
          </p:nvPr>
        </p:nvGraphicFramePr>
        <p:xfrm>
          <a:off x="4203192" y="3829685"/>
          <a:ext cx="6675120" cy="1819656"/>
        </p:xfrm>
        <a:graphic>
          <a:graphicData uri="http://schemas.openxmlformats.org/drawingml/2006/table">
            <a:tbl>
              <a:tblPr firstRow="1" bandRow="1">
                <a:tableStyleId>{5C22544A-7EE6-4342-B048-85BDC9FD1C3A}</a:tableStyleId>
              </a:tblPr>
              <a:tblGrid>
                <a:gridCol w="1645920">
                  <a:extLst>
                    <a:ext uri="{9D8B030D-6E8A-4147-A177-3AD203B41FA5}">
                      <a16:colId xmlns:a16="http://schemas.microsoft.com/office/drawing/2014/main" val="3333466591"/>
                    </a:ext>
                  </a:extLst>
                </a:gridCol>
                <a:gridCol w="1005840">
                  <a:extLst>
                    <a:ext uri="{9D8B030D-6E8A-4147-A177-3AD203B41FA5}">
                      <a16:colId xmlns:a16="http://schemas.microsoft.com/office/drawing/2014/main" val="2732388108"/>
                    </a:ext>
                  </a:extLst>
                </a:gridCol>
                <a:gridCol w="1005840">
                  <a:extLst>
                    <a:ext uri="{9D8B030D-6E8A-4147-A177-3AD203B41FA5}">
                      <a16:colId xmlns:a16="http://schemas.microsoft.com/office/drawing/2014/main" val="3807076303"/>
                    </a:ext>
                  </a:extLst>
                </a:gridCol>
                <a:gridCol w="1005840">
                  <a:extLst>
                    <a:ext uri="{9D8B030D-6E8A-4147-A177-3AD203B41FA5}">
                      <a16:colId xmlns:a16="http://schemas.microsoft.com/office/drawing/2014/main" val="2734277516"/>
                    </a:ext>
                  </a:extLst>
                </a:gridCol>
                <a:gridCol w="1005840">
                  <a:extLst>
                    <a:ext uri="{9D8B030D-6E8A-4147-A177-3AD203B41FA5}">
                      <a16:colId xmlns:a16="http://schemas.microsoft.com/office/drawing/2014/main" val="594657257"/>
                    </a:ext>
                  </a:extLst>
                </a:gridCol>
                <a:gridCol w="1005840">
                  <a:extLst>
                    <a:ext uri="{9D8B030D-6E8A-4147-A177-3AD203B41FA5}">
                      <a16:colId xmlns:a16="http://schemas.microsoft.com/office/drawing/2014/main" val="2291051564"/>
                    </a:ext>
                  </a:extLst>
                </a:gridCol>
              </a:tblGrid>
              <a:tr h="303276">
                <a:tc>
                  <a:txBody>
                    <a:bodyPr/>
                    <a:lstStyle/>
                    <a:p>
                      <a:pPr algn="l" fontAlgn="b"/>
                      <a:endParaRPr lang="en-US" sz="1700" b="1" i="0" u="none" strike="noStrike" dirty="0">
                        <a:solidFill>
                          <a:srgbClr val="0070C0"/>
                        </a:solidFill>
                        <a:effectLst/>
                        <a:latin typeface="Calibri" panose="020F0502020204030204" pitchFamily="34" charset="0"/>
                      </a:endParaRPr>
                    </a:p>
                  </a:txBody>
                  <a:tcPr marL="6350" marR="6350" marT="6350" marB="0" anchor="ctr">
                    <a:lnL w="12700" cmpd="sng">
                      <a:noFill/>
                    </a:lnL>
                    <a:lnR w="12700" cap="flat" cmpd="sng" algn="ctr">
                      <a:solidFill>
                        <a:schemeClr val="tx1"/>
                      </a:solidFill>
                      <a:prstDash val="solid"/>
                      <a:round/>
                      <a:headEnd type="none" w="med" len="med"/>
                      <a:tailEnd type="none" w="med" len="med"/>
                    </a:lnR>
                    <a:lnT w="381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endParaRPr lang="en-US" sz="1700" b="1" i="0" u="none" strike="noStrike" dirty="0">
                        <a:solidFill>
                          <a:srgbClr val="00000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mpd="sng">
                      <a:noFill/>
                    </a:lnR>
                    <a:lnT w="381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lang="en-US" sz="1700" b="1" i="0" u="none" strike="noStrike" dirty="0">
                          <a:solidFill>
                            <a:srgbClr val="0070C0"/>
                          </a:solidFill>
                          <a:effectLst/>
                          <a:latin typeface="Calibri" panose="020F0502020204030204" pitchFamily="34" charset="0"/>
                        </a:rPr>
                        <a:t>Meal Price</a:t>
                      </a:r>
                    </a:p>
                  </a:txBody>
                  <a:tcPr marL="6350" marR="6350" marT="6350" marB="0" anchor="ctr">
                    <a:lnL w="12700" cmpd="sng">
                      <a:noFill/>
                    </a:lnL>
                    <a:lnR w="12700" cmpd="sng">
                      <a:noFill/>
                    </a:lnR>
                    <a:lnT w="381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endParaRPr lang="en-US" sz="1700" b="1" i="0" u="none" strike="noStrike" dirty="0">
                        <a:solidFill>
                          <a:srgbClr val="000000"/>
                        </a:solidFill>
                        <a:effectLst/>
                        <a:latin typeface="Calibri" panose="020F0502020204030204" pitchFamily="34" charset="0"/>
                      </a:endParaRPr>
                    </a:p>
                  </a:txBody>
                  <a:tcPr marL="6350" marR="6350" marT="6350" marB="0" anchor="ctr">
                    <a:lnL w="12700" cmpd="sng">
                      <a:noFill/>
                    </a:lnL>
                    <a:lnR w="12700" cmpd="sng">
                      <a:noFill/>
                    </a:lnR>
                    <a:lnT w="381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endParaRPr lang="en-US" sz="1700" b="1" i="0" u="none" strike="noStrike" dirty="0">
                        <a:solidFill>
                          <a:srgbClr val="000000"/>
                        </a:solidFill>
                        <a:effectLst/>
                        <a:latin typeface="Calibri" panose="020F0502020204030204" pitchFamily="34" charset="0"/>
                      </a:endParaRPr>
                    </a:p>
                  </a:txBody>
                  <a:tcPr marL="6350" marR="6350" marT="6350" marB="0" anchor="ctr">
                    <a:lnL w="12700" cmpd="sng">
                      <a:noFill/>
                    </a:lnL>
                    <a:lnR w="12700" cap="flat" cmpd="sng" algn="ctr">
                      <a:solidFill>
                        <a:schemeClr val="tx1"/>
                      </a:solidFill>
                      <a:prstDash val="solid"/>
                      <a:round/>
                      <a:headEnd type="none" w="med" len="med"/>
                      <a:tailEnd type="none" w="med" len="med"/>
                    </a:lnR>
                    <a:lnT w="381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endParaRPr lang="en-US" sz="1700" b="1" i="0" u="none" strike="noStrike" dirty="0">
                        <a:solidFill>
                          <a:srgbClr val="00000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mpd="sng">
                      <a:noFill/>
                    </a:lnR>
                    <a:lnT w="381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3247152178"/>
                  </a:ext>
                </a:extLst>
              </a:tr>
              <a:tr h="303276">
                <a:tc>
                  <a:txBody>
                    <a:bodyPr/>
                    <a:lstStyle/>
                    <a:p>
                      <a:pPr algn="l" fontAlgn="b"/>
                      <a:r>
                        <a:rPr lang="en-US" sz="1700" b="1" i="0" u="none" strike="noStrike" dirty="0">
                          <a:solidFill>
                            <a:srgbClr val="0070C0"/>
                          </a:solidFill>
                          <a:effectLst/>
                          <a:latin typeface="Calibri" panose="020F0502020204030204" pitchFamily="34" charset="0"/>
                        </a:rPr>
                        <a:t> Quality Rating </a:t>
                      </a:r>
                    </a:p>
                  </a:txBody>
                  <a:tcPr marL="6350" marR="6350" marT="6350" marB="0" anchor="ctr">
                    <a:lnL w="12700" cmpd="sng">
                      <a:noFill/>
                    </a:lnL>
                    <a:lnR w="12700" cap="flat" cmpd="sng" algn="ctr">
                      <a:solidFill>
                        <a:schemeClr val="tx1"/>
                      </a:solidFill>
                      <a:prstDash val="solid"/>
                      <a:round/>
                      <a:headEnd type="none" w="med" len="med"/>
                      <a:tailEnd type="none" w="med" len="med"/>
                    </a:lnR>
                    <a:lnT w="381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1700" b="1" i="0" u="none" strike="noStrike" dirty="0">
                          <a:solidFill>
                            <a:srgbClr val="000000"/>
                          </a:solidFill>
                          <a:effectLst/>
                          <a:latin typeface="Calibri" panose="020F0502020204030204" pitchFamily="34" charset="0"/>
                        </a:rPr>
                        <a:t>$10-19 </a:t>
                      </a:r>
                    </a:p>
                  </a:txBody>
                  <a:tcPr marL="6350" marR="6350" marT="6350" marB="0" anchor="ctr">
                    <a:lnL w="12700" cap="flat" cmpd="sng" algn="ctr">
                      <a:solidFill>
                        <a:schemeClr val="tx1"/>
                      </a:solidFill>
                      <a:prstDash val="solid"/>
                      <a:round/>
                      <a:headEnd type="none" w="med" len="med"/>
                      <a:tailEnd type="none" w="med" len="med"/>
                    </a:lnL>
                    <a:lnR w="12700" cmpd="sng">
                      <a:noFill/>
                    </a:lnR>
                    <a:lnT w="381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1700" b="1" i="0" u="none" strike="noStrike" dirty="0">
                          <a:solidFill>
                            <a:srgbClr val="000000"/>
                          </a:solidFill>
                          <a:effectLst/>
                          <a:latin typeface="Calibri" panose="020F0502020204030204" pitchFamily="34" charset="0"/>
                        </a:rPr>
                        <a:t>$20-29 </a:t>
                      </a:r>
                    </a:p>
                  </a:txBody>
                  <a:tcPr marL="6350" marR="6350" marT="6350" marB="0" anchor="ctr">
                    <a:lnL w="12700" cmpd="sng">
                      <a:noFill/>
                    </a:lnL>
                    <a:lnR w="12700" cmpd="sng">
                      <a:noFill/>
                    </a:lnR>
                    <a:lnT w="381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1700" b="1" i="0" u="none" strike="noStrike" dirty="0">
                          <a:solidFill>
                            <a:srgbClr val="000000"/>
                          </a:solidFill>
                          <a:effectLst/>
                          <a:latin typeface="Calibri" panose="020F0502020204030204" pitchFamily="34" charset="0"/>
                        </a:rPr>
                        <a:t>$30-39 </a:t>
                      </a:r>
                    </a:p>
                  </a:txBody>
                  <a:tcPr marL="6350" marR="6350" marT="6350" marB="0" anchor="ctr">
                    <a:lnL w="12700" cmpd="sng">
                      <a:noFill/>
                    </a:lnL>
                    <a:lnR w="12700" cmpd="sng">
                      <a:noFill/>
                    </a:lnR>
                    <a:lnT w="381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1700" b="1" i="0" u="none" strike="noStrike" dirty="0">
                          <a:solidFill>
                            <a:srgbClr val="000000"/>
                          </a:solidFill>
                          <a:effectLst/>
                          <a:latin typeface="Calibri" panose="020F0502020204030204" pitchFamily="34" charset="0"/>
                        </a:rPr>
                        <a:t>$40-49 </a:t>
                      </a:r>
                    </a:p>
                  </a:txBody>
                  <a:tcPr marL="6350" marR="6350" marT="6350" marB="0" anchor="ctr">
                    <a:lnL w="12700" cmpd="sng">
                      <a:noFill/>
                    </a:lnL>
                    <a:lnR w="12700" cap="flat" cmpd="sng" algn="ctr">
                      <a:solidFill>
                        <a:schemeClr val="tx1"/>
                      </a:solidFill>
                      <a:prstDash val="solid"/>
                      <a:round/>
                      <a:headEnd type="none" w="med" len="med"/>
                      <a:tailEnd type="none" w="med" len="med"/>
                    </a:lnR>
                    <a:lnT w="381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1700" b="1" i="0" u="none" strike="noStrike" dirty="0">
                          <a:solidFill>
                            <a:srgbClr val="000000"/>
                          </a:solidFill>
                          <a:effectLst/>
                          <a:latin typeface="Calibri" panose="020F0502020204030204" pitchFamily="34" charset="0"/>
                        </a:rPr>
                        <a:t>Total </a:t>
                      </a:r>
                    </a:p>
                  </a:txBody>
                  <a:tcPr marL="6350" marR="6350" marT="6350" marB="0" anchor="ctr">
                    <a:lnL w="12700" cap="flat" cmpd="sng" algn="ctr">
                      <a:solidFill>
                        <a:schemeClr val="tx1"/>
                      </a:solidFill>
                      <a:prstDash val="solid"/>
                      <a:round/>
                      <a:headEnd type="none" w="med" len="med"/>
                      <a:tailEnd type="none" w="med" len="med"/>
                    </a:lnL>
                    <a:lnR w="12700" cmpd="sng">
                      <a:noFill/>
                    </a:lnR>
                    <a:lnT w="381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1629699716"/>
                  </a:ext>
                </a:extLst>
              </a:tr>
              <a:tr h="303276">
                <a:tc>
                  <a:txBody>
                    <a:bodyPr/>
                    <a:lstStyle/>
                    <a:p>
                      <a:pPr algn="l" fontAlgn="b"/>
                      <a:r>
                        <a:rPr lang="en-US" sz="1700" b="1" i="0" u="none" strike="noStrike" dirty="0">
                          <a:solidFill>
                            <a:srgbClr val="000000"/>
                          </a:solidFill>
                          <a:effectLst/>
                          <a:latin typeface="Calibri" panose="020F0502020204030204" pitchFamily="34" charset="0"/>
                        </a:rPr>
                        <a:t> Good </a:t>
                      </a:r>
                    </a:p>
                  </a:txBody>
                  <a:tcPr marL="6350" marR="6350" marT="6350" marB="0"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700" b="0" i="0" u="none" strike="noStrike" dirty="0">
                          <a:solidFill>
                            <a:srgbClr val="000000"/>
                          </a:solidFill>
                          <a:effectLst/>
                          <a:latin typeface="Calibri" panose="020F0502020204030204" pitchFamily="34" charset="0"/>
                        </a:rPr>
                        <a:t>42</a:t>
                      </a:r>
                    </a:p>
                  </a:txBody>
                  <a:tcPr marL="6350" marR="6350" marT="635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700" b="0" i="0" u="none" strike="noStrike" dirty="0">
                          <a:solidFill>
                            <a:srgbClr val="000000"/>
                          </a:solidFill>
                          <a:effectLst/>
                          <a:latin typeface="Calibri" panose="020F0502020204030204" pitchFamily="34" charset="0"/>
                        </a:rPr>
                        <a:t>40</a:t>
                      </a:r>
                    </a:p>
                  </a:txBody>
                  <a:tcPr marL="6350" marR="6350" marT="6350" marB="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700" b="0" i="0" u="none" strike="noStrike" dirty="0">
                          <a:solidFill>
                            <a:srgbClr val="000000"/>
                          </a:solidFill>
                          <a:effectLst/>
                          <a:latin typeface="Calibri" panose="020F0502020204030204" pitchFamily="34" charset="0"/>
                        </a:rPr>
                        <a:t>  2</a:t>
                      </a:r>
                    </a:p>
                  </a:txBody>
                  <a:tcPr marL="6350" marR="6350" marT="6350" marB="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700" b="0" i="0" u="none" strike="noStrike" dirty="0">
                          <a:solidFill>
                            <a:srgbClr val="000000"/>
                          </a:solidFill>
                          <a:effectLst/>
                          <a:latin typeface="Calibri" panose="020F0502020204030204" pitchFamily="34" charset="0"/>
                        </a:rPr>
                        <a:t>  0</a:t>
                      </a:r>
                    </a:p>
                  </a:txBody>
                  <a:tcPr marL="6350" marR="6350" marT="6350" marB="0"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700" b="0" i="0" u="none" strike="noStrike" dirty="0">
                          <a:solidFill>
                            <a:srgbClr val="000000"/>
                          </a:solidFill>
                          <a:effectLst/>
                          <a:latin typeface="Calibri" panose="020F0502020204030204" pitchFamily="34" charset="0"/>
                        </a:rPr>
                        <a:t>  84</a:t>
                      </a:r>
                    </a:p>
                  </a:txBody>
                  <a:tcPr marL="6350" marR="6350" marT="635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4119601160"/>
                  </a:ext>
                </a:extLst>
              </a:tr>
              <a:tr h="303276">
                <a:tc>
                  <a:txBody>
                    <a:bodyPr/>
                    <a:lstStyle/>
                    <a:p>
                      <a:pPr algn="l" fontAlgn="b"/>
                      <a:r>
                        <a:rPr lang="en-US" sz="1700" b="1" i="0" u="none" strike="noStrike" dirty="0">
                          <a:solidFill>
                            <a:srgbClr val="000000"/>
                          </a:solidFill>
                          <a:effectLst/>
                          <a:latin typeface="Calibri" panose="020F0502020204030204" pitchFamily="34" charset="0"/>
                        </a:rPr>
                        <a:t> Very Good </a:t>
                      </a:r>
                    </a:p>
                  </a:txBody>
                  <a:tcPr marL="6350" marR="6350" marT="635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700" b="0" i="0" u="none" strike="noStrike" dirty="0">
                          <a:solidFill>
                            <a:srgbClr val="000000"/>
                          </a:solidFill>
                          <a:effectLst/>
                          <a:latin typeface="Calibri" panose="020F0502020204030204" pitchFamily="34" charset="0"/>
                        </a:rPr>
                        <a:t>34</a:t>
                      </a:r>
                    </a:p>
                  </a:txBody>
                  <a:tcPr marL="6350" marR="6350" marT="635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700" b="0" i="0" u="none" strike="noStrike" dirty="0">
                          <a:solidFill>
                            <a:srgbClr val="000000"/>
                          </a:solidFill>
                          <a:effectLst/>
                          <a:latin typeface="Calibri" panose="020F0502020204030204" pitchFamily="34" charset="0"/>
                        </a:rPr>
                        <a:t>64</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700" b="0" i="0" u="none" strike="noStrike" dirty="0">
                          <a:solidFill>
                            <a:srgbClr val="000000"/>
                          </a:solidFill>
                          <a:effectLst/>
                          <a:latin typeface="Calibri" panose="020F0502020204030204" pitchFamily="34" charset="0"/>
                        </a:rPr>
                        <a:t>46</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700" b="0" i="0" u="none" strike="noStrike" dirty="0">
                          <a:solidFill>
                            <a:srgbClr val="000000"/>
                          </a:solidFill>
                          <a:effectLst/>
                          <a:latin typeface="Calibri" panose="020F0502020204030204" pitchFamily="34" charset="0"/>
                        </a:rPr>
                        <a:t>  6</a:t>
                      </a:r>
                    </a:p>
                  </a:txBody>
                  <a:tcPr marL="6350" marR="6350" marT="635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700" b="0" i="0" u="none" strike="noStrike" dirty="0">
                          <a:solidFill>
                            <a:srgbClr val="000000"/>
                          </a:solidFill>
                          <a:effectLst/>
                          <a:latin typeface="Calibri" panose="020F0502020204030204" pitchFamily="34" charset="0"/>
                        </a:rPr>
                        <a:t>150</a:t>
                      </a:r>
                    </a:p>
                  </a:txBody>
                  <a:tcPr marL="6350" marR="6350" marT="635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1277784093"/>
                  </a:ext>
                </a:extLst>
              </a:tr>
              <a:tr h="303276">
                <a:tc>
                  <a:txBody>
                    <a:bodyPr/>
                    <a:lstStyle/>
                    <a:p>
                      <a:pPr algn="l" fontAlgn="b"/>
                      <a:r>
                        <a:rPr lang="en-US" sz="1700" b="1" i="0" u="none" strike="noStrike" dirty="0">
                          <a:solidFill>
                            <a:srgbClr val="000000"/>
                          </a:solidFill>
                          <a:effectLst/>
                          <a:latin typeface="Calibri" panose="020F0502020204030204" pitchFamily="34" charset="0"/>
                        </a:rPr>
                        <a:t> Excellent </a:t>
                      </a:r>
                    </a:p>
                  </a:txBody>
                  <a:tcPr marL="6350" marR="6350" marT="6350" marB="0"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1700" b="0" i="0" u="none" strike="noStrike" dirty="0">
                          <a:solidFill>
                            <a:srgbClr val="000000"/>
                          </a:solidFill>
                          <a:effectLst/>
                          <a:latin typeface="Calibri" panose="020F0502020204030204" pitchFamily="34" charset="0"/>
                        </a:rPr>
                        <a:t>  2</a:t>
                      </a:r>
                    </a:p>
                  </a:txBody>
                  <a:tcPr marL="6350" marR="6350" marT="6350" marB="0"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1700" b="0" i="0" u="none" strike="noStrike" dirty="0">
                          <a:solidFill>
                            <a:srgbClr val="000000"/>
                          </a:solidFill>
                          <a:effectLst/>
                          <a:latin typeface="Calibri" panose="020F0502020204030204" pitchFamily="34" charset="0"/>
                        </a:rPr>
                        <a:t>14</a:t>
                      </a:r>
                    </a:p>
                  </a:txBody>
                  <a:tcPr marL="6350" marR="6350" marT="635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1700" b="0" i="0" u="none" strike="noStrike" dirty="0">
                          <a:solidFill>
                            <a:srgbClr val="000000"/>
                          </a:solidFill>
                          <a:effectLst/>
                          <a:latin typeface="Calibri" panose="020F0502020204030204" pitchFamily="34" charset="0"/>
                        </a:rPr>
                        <a:t>28</a:t>
                      </a:r>
                    </a:p>
                  </a:txBody>
                  <a:tcPr marL="6350" marR="6350" marT="635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1700" b="0" i="0" u="none" strike="noStrike" dirty="0">
                          <a:solidFill>
                            <a:srgbClr val="000000"/>
                          </a:solidFill>
                          <a:effectLst/>
                          <a:latin typeface="Calibri" panose="020F0502020204030204" pitchFamily="34" charset="0"/>
                        </a:rPr>
                        <a:t>22</a:t>
                      </a:r>
                    </a:p>
                  </a:txBody>
                  <a:tcPr marL="6350" marR="6350" marT="6350" marB="0"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1700" b="0" i="0" u="none" strike="noStrike" dirty="0">
                          <a:solidFill>
                            <a:srgbClr val="000000"/>
                          </a:solidFill>
                          <a:effectLst/>
                          <a:latin typeface="Calibri" panose="020F0502020204030204" pitchFamily="34" charset="0"/>
                        </a:rPr>
                        <a:t>  66</a:t>
                      </a:r>
                    </a:p>
                  </a:txBody>
                  <a:tcPr marL="6350" marR="6350" marT="6350" marB="0"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3023922670"/>
                  </a:ext>
                </a:extLst>
              </a:tr>
              <a:tr h="303276">
                <a:tc>
                  <a:txBody>
                    <a:bodyPr/>
                    <a:lstStyle/>
                    <a:p>
                      <a:pPr algn="ctr" fontAlgn="b"/>
                      <a:r>
                        <a:rPr lang="en-US" sz="1700" b="1" i="0" u="none" strike="noStrike" dirty="0" err="1">
                          <a:solidFill>
                            <a:srgbClr val="000000"/>
                          </a:solidFill>
                          <a:effectLst/>
                          <a:latin typeface="Calibri" panose="020F0502020204030204" pitchFamily="34" charset="0"/>
                        </a:rPr>
                        <a:t>TotaI</a:t>
                      </a:r>
                      <a:r>
                        <a:rPr lang="en-US" sz="1700" b="1" i="0" u="none" strike="noStrike" dirty="0">
                          <a:solidFill>
                            <a:srgbClr val="000000"/>
                          </a:solidFill>
                          <a:effectLst/>
                          <a:latin typeface="Calibri" panose="020F0502020204030204" pitchFamily="34" charset="0"/>
                        </a:rPr>
                        <a:t> </a:t>
                      </a:r>
                    </a:p>
                  </a:txBody>
                  <a:tcPr marL="6350" marR="6350" marT="6350" marB="0"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700" b="0" i="0" u="none" strike="noStrike">
                          <a:solidFill>
                            <a:srgbClr val="000000"/>
                          </a:solidFill>
                          <a:effectLst/>
                          <a:latin typeface="Calibri" panose="020F0502020204030204" pitchFamily="34" charset="0"/>
                        </a:rPr>
                        <a:t>78</a:t>
                      </a:r>
                    </a:p>
                  </a:txBody>
                  <a:tcPr marL="6350" marR="6350" marT="635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pPr algn="l" fontAlgn="b">
                        <a:tabLst>
                          <a:tab pos="631825" algn="r"/>
                        </a:tabLst>
                      </a:pPr>
                      <a:r>
                        <a:rPr lang="en-US" sz="1700" b="0" i="0" u="none" strike="noStrike" dirty="0">
                          <a:solidFill>
                            <a:srgbClr val="000000"/>
                          </a:solidFill>
                          <a:effectLst/>
                          <a:latin typeface="Calibri" panose="020F0502020204030204" pitchFamily="34" charset="0"/>
                        </a:rPr>
                        <a:t>	118</a:t>
                      </a:r>
                    </a:p>
                  </a:txBody>
                  <a:tcPr marL="6350" marR="6350" marT="6350" marB="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700" b="0" i="0" u="none" strike="noStrike" dirty="0">
                          <a:solidFill>
                            <a:srgbClr val="000000"/>
                          </a:solidFill>
                          <a:effectLst/>
                          <a:latin typeface="Calibri" panose="020F0502020204030204" pitchFamily="34" charset="0"/>
                        </a:rPr>
                        <a:t>76</a:t>
                      </a:r>
                    </a:p>
                  </a:txBody>
                  <a:tcPr marL="6350" marR="6350" marT="6350" marB="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700" b="0" i="0" u="none" strike="noStrike" dirty="0">
                          <a:solidFill>
                            <a:srgbClr val="000000"/>
                          </a:solidFill>
                          <a:effectLst/>
                          <a:latin typeface="Calibri" panose="020F0502020204030204" pitchFamily="34" charset="0"/>
                        </a:rPr>
                        <a:t>28</a:t>
                      </a:r>
                    </a:p>
                  </a:txBody>
                  <a:tcPr marL="6350" marR="6350" marT="6350" marB="0"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700" b="0" i="0" u="none" strike="noStrike" dirty="0">
                          <a:solidFill>
                            <a:srgbClr val="000000"/>
                          </a:solidFill>
                          <a:effectLst/>
                          <a:latin typeface="Calibri" panose="020F0502020204030204" pitchFamily="34" charset="0"/>
                        </a:rPr>
                        <a:t>300</a:t>
                      </a:r>
                    </a:p>
                  </a:txBody>
                  <a:tcPr marL="6350" marR="6350" marT="635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208302951"/>
                  </a:ext>
                </a:extLst>
              </a:tr>
            </a:tbl>
          </a:graphicData>
        </a:graphic>
      </p:graphicFrame>
    </p:spTree>
    <p:extLst>
      <p:ext uri="{BB962C8B-B14F-4D97-AF65-F5344CB8AC3E}">
        <p14:creationId xmlns:p14="http://schemas.microsoft.com/office/powerpoint/2010/main" val="1597393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36E5E-4A73-56F1-D839-24214A0F6990}"/>
              </a:ext>
            </a:extLst>
          </p:cNvPr>
          <p:cNvSpPr>
            <a:spLocks noGrp="1"/>
          </p:cNvSpPr>
          <p:nvPr>
            <p:ph type="title"/>
          </p:nvPr>
        </p:nvSpPr>
        <p:spPr/>
        <p:txBody>
          <a:bodyPr/>
          <a:lstStyle/>
          <a:p>
            <a:r>
              <a:rPr lang="en-US" dirty="0"/>
              <a:t>2.3 Crosstabulation: Row Percentages</a:t>
            </a:r>
          </a:p>
        </p:txBody>
      </p:sp>
      <p:sp>
        <p:nvSpPr>
          <p:cNvPr id="3" name="Text Placeholder 2">
            <a:extLst>
              <a:ext uri="{FF2B5EF4-FFF2-40B4-BE49-F238E27FC236}">
                <a16:creationId xmlns:a16="http://schemas.microsoft.com/office/drawing/2014/main" id="{EB3483BE-DFCF-708D-54D3-46F3AB3A0841}"/>
              </a:ext>
            </a:extLst>
          </p:cNvPr>
          <p:cNvSpPr>
            <a:spLocks noGrp="1"/>
          </p:cNvSpPr>
          <p:nvPr>
            <p:ph type="body" sz="quarter" idx="15"/>
          </p:nvPr>
        </p:nvSpPr>
        <p:spPr>
          <a:xfrm>
            <a:off x="793194" y="1309488"/>
            <a:ext cx="10607040" cy="2450592"/>
          </a:xfrm>
        </p:spPr>
        <p:txBody>
          <a:bodyPr>
            <a:normAutofit/>
          </a:bodyPr>
          <a:lstStyle/>
          <a:p>
            <a:pPr>
              <a:spcAft>
                <a:spcPts val="0"/>
              </a:spcAft>
            </a:pPr>
            <a:r>
              <a:rPr lang="en-US" sz="2000" dirty="0"/>
              <a:t>Converting the entries in a crosstabulation into row percentages or column percentages can provide more insight into the relationship between the two variables. </a:t>
            </a:r>
          </a:p>
          <a:p>
            <a:pPr>
              <a:spcAft>
                <a:spcPts val="0"/>
              </a:spcAft>
            </a:pPr>
            <a:r>
              <a:rPr lang="en-US" sz="2000" dirty="0"/>
              <a:t>For row percentages, the results of dividing each frequency in the crosstabulation by its corresponding row total are shown in the table below.</a:t>
            </a:r>
          </a:p>
          <a:p>
            <a:pPr>
              <a:spcAft>
                <a:spcPts val="0"/>
              </a:spcAft>
            </a:pPr>
            <a:r>
              <a:rPr lang="en-US" sz="2000" dirty="0"/>
              <a:t>Each row in the table is a percent frequency distribution of meal price for one of the quality rating categories. </a:t>
            </a:r>
          </a:p>
          <a:p>
            <a:pPr marL="457200" indent="-228600">
              <a:spcAft>
                <a:spcPts val="0"/>
              </a:spcAft>
              <a:buFont typeface="Arial" panose="020B0604020202020204" pitchFamily="34" charset="0"/>
              <a:buChar char="•"/>
            </a:pPr>
            <a:r>
              <a:rPr lang="en-US" sz="2000" dirty="0"/>
              <a:t>Of the restaurants with the lowest quality rating (good), 50% have low meal prices.</a:t>
            </a:r>
          </a:p>
          <a:p>
            <a:endParaRPr lang="en-US" sz="2000" dirty="0"/>
          </a:p>
        </p:txBody>
      </p:sp>
      <p:sp>
        <p:nvSpPr>
          <p:cNvPr id="5" name="Text Placeholder 4">
            <a:extLst>
              <a:ext uri="{FF2B5EF4-FFF2-40B4-BE49-F238E27FC236}">
                <a16:creationId xmlns:a16="http://schemas.microsoft.com/office/drawing/2014/main" id="{D5659C59-CE90-F351-E3F4-2F1DB11B3098}"/>
              </a:ext>
            </a:extLst>
          </p:cNvPr>
          <p:cNvSpPr>
            <a:spLocks noGrp="1"/>
          </p:cNvSpPr>
          <p:nvPr>
            <p:ph type="body" sz="quarter" idx="18"/>
          </p:nvPr>
        </p:nvSpPr>
        <p:spPr>
          <a:xfrm>
            <a:off x="791766" y="3745176"/>
            <a:ext cx="3319272" cy="1819656"/>
          </a:xfrm>
        </p:spPr>
        <p:txBody>
          <a:bodyPr/>
          <a:lstStyle/>
          <a:p>
            <a:pPr marL="457200" indent="-228600">
              <a:spcAft>
                <a:spcPts val="0"/>
              </a:spcAft>
              <a:buFont typeface="Arial" panose="020B0604020202020204" pitchFamily="34" charset="0"/>
              <a:buChar char="•"/>
            </a:pPr>
            <a:r>
              <a:rPr lang="en-US" sz="2000" dirty="0"/>
              <a:t>Of the restaurants with an excellent quality rating, most are in the $30-$39 and $40-$49 higher price ranges.</a:t>
            </a:r>
          </a:p>
        </p:txBody>
      </p:sp>
      <p:graphicFrame>
        <p:nvGraphicFramePr>
          <p:cNvPr id="7" name="Table 7">
            <a:extLst>
              <a:ext uri="{FF2B5EF4-FFF2-40B4-BE49-F238E27FC236}">
                <a16:creationId xmlns:a16="http://schemas.microsoft.com/office/drawing/2014/main" id="{36D644A7-C2FE-7C63-7D93-32B45F8250D1}"/>
              </a:ext>
            </a:extLst>
          </p:cNvPr>
          <p:cNvGraphicFramePr>
            <a:graphicFrameLocks noGrp="1"/>
          </p:cNvGraphicFramePr>
          <p:nvPr>
            <p:ph type="tbl" sz="quarter" idx="22"/>
            <p:extLst>
              <p:ext uri="{D42A27DB-BD31-4B8C-83A1-F6EECF244321}">
                <p14:modId xmlns:p14="http://schemas.microsoft.com/office/powerpoint/2010/main" val="549751822"/>
              </p:ext>
            </p:extLst>
          </p:nvPr>
        </p:nvGraphicFramePr>
        <p:xfrm>
          <a:off x="4036938" y="3773978"/>
          <a:ext cx="6675120" cy="1516380"/>
        </p:xfrm>
        <a:graphic>
          <a:graphicData uri="http://schemas.openxmlformats.org/drawingml/2006/table">
            <a:tbl>
              <a:tblPr firstRow="1" bandRow="1">
                <a:tableStyleId>{5C22544A-7EE6-4342-B048-85BDC9FD1C3A}</a:tableStyleId>
              </a:tblPr>
              <a:tblGrid>
                <a:gridCol w="1645920">
                  <a:extLst>
                    <a:ext uri="{9D8B030D-6E8A-4147-A177-3AD203B41FA5}">
                      <a16:colId xmlns:a16="http://schemas.microsoft.com/office/drawing/2014/main" val="3333466591"/>
                    </a:ext>
                  </a:extLst>
                </a:gridCol>
                <a:gridCol w="1005840">
                  <a:extLst>
                    <a:ext uri="{9D8B030D-6E8A-4147-A177-3AD203B41FA5}">
                      <a16:colId xmlns:a16="http://schemas.microsoft.com/office/drawing/2014/main" val="2732388108"/>
                    </a:ext>
                  </a:extLst>
                </a:gridCol>
                <a:gridCol w="1005840">
                  <a:extLst>
                    <a:ext uri="{9D8B030D-6E8A-4147-A177-3AD203B41FA5}">
                      <a16:colId xmlns:a16="http://schemas.microsoft.com/office/drawing/2014/main" val="3807076303"/>
                    </a:ext>
                  </a:extLst>
                </a:gridCol>
                <a:gridCol w="1005840">
                  <a:extLst>
                    <a:ext uri="{9D8B030D-6E8A-4147-A177-3AD203B41FA5}">
                      <a16:colId xmlns:a16="http://schemas.microsoft.com/office/drawing/2014/main" val="2734277516"/>
                    </a:ext>
                  </a:extLst>
                </a:gridCol>
                <a:gridCol w="1005840">
                  <a:extLst>
                    <a:ext uri="{9D8B030D-6E8A-4147-A177-3AD203B41FA5}">
                      <a16:colId xmlns:a16="http://schemas.microsoft.com/office/drawing/2014/main" val="594657257"/>
                    </a:ext>
                  </a:extLst>
                </a:gridCol>
                <a:gridCol w="1005840">
                  <a:extLst>
                    <a:ext uri="{9D8B030D-6E8A-4147-A177-3AD203B41FA5}">
                      <a16:colId xmlns:a16="http://schemas.microsoft.com/office/drawing/2014/main" val="2291051564"/>
                    </a:ext>
                  </a:extLst>
                </a:gridCol>
              </a:tblGrid>
              <a:tr h="303276">
                <a:tc>
                  <a:txBody>
                    <a:bodyPr/>
                    <a:lstStyle/>
                    <a:p>
                      <a:pPr algn="l" fontAlgn="b"/>
                      <a:endParaRPr lang="en-US" sz="1700" b="1" i="0" u="none" strike="noStrike" dirty="0">
                        <a:solidFill>
                          <a:srgbClr val="0070C0"/>
                        </a:solidFill>
                        <a:effectLst/>
                        <a:latin typeface="Calibri" panose="020F0502020204030204" pitchFamily="34" charset="0"/>
                      </a:endParaRPr>
                    </a:p>
                  </a:txBody>
                  <a:tcPr marL="6350" marR="6350" marT="6350" marB="0" anchor="ctr">
                    <a:lnL w="12700" cmpd="sng">
                      <a:noFill/>
                    </a:lnL>
                    <a:lnR w="12700" cap="flat" cmpd="sng" algn="ctr">
                      <a:solidFill>
                        <a:schemeClr val="tx1"/>
                      </a:solidFill>
                      <a:prstDash val="solid"/>
                      <a:round/>
                      <a:headEnd type="none" w="med" len="med"/>
                      <a:tailEnd type="none" w="med" len="med"/>
                    </a:lnR>
                    <a:lnT w="381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endParaRPr lang="en-US" sz="1700" b="1" i="0" u="none" strike="noStrike" dirty="0">
                        <a:solidFill>
                          <a:srgbClr val="00000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mpd="sng">
                      <a:noFill/>
                    </a:lnR>
                    <a:lnT w="381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lang="en-US" sz="1700" b="1" i="0" u="none" strike="noStrike" dirty="0">
                          <a:solidFill>
                            <a:srgbClr val="0070C0"/>
                          </a:solidFill>
                          <a:effectLst/>
                          <a:latin typeface="Calibri" panose="020F0502020204030204" pitchFamily="34" charset="0"/>
                        </a:rPr>
                        <a:t>Meal Price</a:t>
                      </a:r>
                    </a:p>
                  </a:txBody>
                  <a:tcPr marL="6350" marR="6350" marT="6350" marB="0" anchor="ctr">
                    <a:lnL w="12700" cmpd="sng">
                      <a:noFill/>
                    </a:lnL>
                    <a:lnR w="12700" cmpd="sng">
                      <a:noFill/>
                    </a:lnR>
                    <a:lnT w="381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endParaRPr lang="en-US" sz="1700" b="1" i="0" u="none" strike="noStrike" dirty="0">
                        <a:solidFill>
                          <a:srgbClr val="000000"/>
                        </a:solidFill>
                        <a:effectLst/>
                        <a:latin typeface="Calibri" panose="020F0502020204030204" pitchFamily="34" charset="0"/>
                      </a:endParaRPr>
                    </a:p>
                  </a:txBody>
                  <a:tcPr marL="6350" marR="6350" marT="6350" marB="0" anchor="ctr">
                    <a:lnL w="12700" cmpd="sng">
                      <a:noFill/>
                    </a:lnL>
                    <a:lnR w="12700" cmpd="sng">
                      <a:noFill/>
                    </a:lnR>
                    <a:lnT w="381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endParaRPr lang="en-US" sz="1700" b="1" i="0" u="none" strike="noStrike" dirty="0">
                        <a:solidFill>
                          <a:srgbClr val="000000"/>
                        </a:solidFill>
                        <a:effectLst/>
                        <a:latin typeface="Calibri" panose="020F0502020204030204" pitchFamily="34" charset="0"/>
                      </a:endParaRPr>
                    </a:p>
                  </a:txBody>
                  <a:tcPr marL="6350" marR="6350" marT="6350" marB="0" anchor="ctr">
                    <a:lnL w="12700" cmpd="sng">
                      <a:noFill/>
                    </a:lnL>
                    <a:lnR w="12700" cap="flat" cmpd="sng" algn="ctr">
                      <a:solidFill>
                        <a:schemeClr val="tx1"/>
                      </a:solidFill>
                      <a:prstDash val="solid"/>
                      <a:round/>
                      <a:headEnd type="none" w="med" len="med"/>
                      <a:tailEnd type="none" w="med" len="med"/>
                    </a:lnR>
                    <a:lnT w="381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endParaRPr lang="en-US" sz="1700" b="1" i="0" u="none" strike="noStrike" dirty="0">
                        <a:solidFill>
                          <a:srgbClr val="00000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mpd="sng">
                      <a:noFill/>
                    </a:lnR>
                    <a:lnT w="381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31415902"/>
                  </a:ext>
                </a:extLst>
              </a:tr>
              <a:tr h="303276">
                <a:tc>
                  <a:txBody>
                    <a:bodyPr/>
                    <a:lstStyle/>
                    <a:p>
                      <a:pPr algn="l" fontAlgn="b"/>
                      <a:r>
                        <a:rPr lang="en-US" sz="1700" b="1" i="0" u="none" strike="noStrike" dirty="0">
                          <a:solidFill>
                            <a:srgbClr val="0070C0"/>
                          </a:solidFill>
                          <a:effectLst/>
                          <a:latin typeface="Calibri" panose="020F0502020204030204" pitchFamily="34" charset="0"/>
                        </a:rPr>
                        <a:t> Quality Rating </a:t>
                      </a:r>
                    </a:p>
                  </a:txBody>
                  <a:tcPr marL="6350" marR="6350" marT="6350" marB="0" anchor="ctr">
                    <a:lnL w="12700" cmpd="sng">
                      <a:noFill/>
                    </a:lnL>
                    <a:lnR w="12700" cap="flat" cmpd="sng" algn="ctr">
                      <a:solidFill>
                        <a:schemeClr val="tx1"/>
                      </a:solidFill>
                      <a:prstDash val="solid"/>
                      <a:round/>
                      <a:headEnd type="none" w="med" len="med"/>
                      <a:tailEnd type="none" w="med" len="med"/>
                    </a:lnR>
                    <a:lnT w="381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1700" b="1" i="0" u="none" strike="noStrike" dirty="0">
                          <a:solidFill>
                            <a:srgbClr val="000000"/>
                          </a:solidFill>
                          <a:effectLst/>
                          <a:latin typeface="Calibri" panose="020F0502020204030204" pitchFamily="34" charset="0"/>
                        </a:rPr>
                        <a:t>$10-19 </a:t>
                      </a:r>
                    </a:p>
                  </a:txBody>
                  <a:tcPr marL="6350" marR="6350" marT="6350" marB="0" anchor="ctr">
                    <a:lnL w="12700" cap="flat" cmpd="sng" algn="ctr">
                      <a:solidFill>
                        <a:schemeClr val="tx1"/>
                      </a:solidFill>
                      <a:prstDash val="solid"/>
                      <a:round/>
                      <a:headEnd type="none" w="med" len="med"/>
                      <a:tailEnd type="none" w="med" len="med"/>
                    </a:lnL>
                    <a:lnR w="12700" cmpd="sng">
                      <a:noFill/>
                    </a:lnR>
                    <a:lnT w="381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1700" b="1" i="0" u="none" strike="noStrike" dirty="0">
                          <a:solidFill>
                            <a:srgbClr val="000000"/>
                          </a:solidFill>
                          <a:effectLst/>
                          <a:latin typeface="Calibri" panose="020F0502020204030204" pitchFamily="34" charset="0"/>
                        </a:rPr>
                        <a:t>$20-29 </a:t>
                      </a:r>
                    </a:p>
                  </a:txBody>
                  <a:tcPr marL="6350" marR="6350" marT="6350" marB="0" anchor="ctr">
                    <a:lnL w="12700" cmpd="sng">
                      <a:noFill/>
                    </a:lnL>
                    <a:lnR w="12700" cmpd="sng">
                      <a:noFill/>
                    </a:lnR>
                    <a:lnT w="381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1700" b="1" i="0" u="none" strike="noStrike" dirty="0">
                          <a:solidFill>
                            <a:srgbClr val="000000"/>
                          </a:solidFill>
                          <a:effectLst/>
                          <a:latin typeface="Calibri" panose="020F0502020204030204" pitchFamily="34" charset="0"/>
                        </a:rPr>
                        <a:t>$30-39 </a:t>
                      </a:r>
                    </a:p>
                  </a:txBody>
                  <a:tcPr marL="6350" marR="6350" marT="6350" marB="0" anchor="ctr">
                    <a:lnL w="12700" cmpd="sng">
                      <a:noFill/>
                    </a:lnL>
                    <a:lnR w="12700" cmpd="sng">
                      <a:noFill/>
                    </a:lnR>
                    <a:lnT w="381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1700" b="1" i="0" u="none" strike="noStrike" dirty="0">
                          <a:solidFill>
                            <a:srgbClr val="000000"/>
                          </a:solidFill>
                          <a:effectLst/>
                          <a:latin typeface="Calibri" panose="020F0502020204030204" pitchFamily="34" charset="0"/>
                        </a:rPr>
                        <a:t>$40-49 </a:t>
                      </a:r>
                    </a:p>
                  </a:txBody>
                  <a:tcPr marL="6350" marR="6350" marT="6350" marB="0" anchor="ctr">
                    <a:lnL w="12700" cmpd="sng">
                      <a:noFill/>
                    </a:lnL>
                    <a:lnR w="12700" cap="flat" cmpd="sng" algn="ctr">
                      <a:solidFill>
                        <a:schemeClr val="tx1"/>
                      </a:solidFill>
                      <a:prstDash val="solid"/>
                      <a:round/>
                      <a:headEnd type="none" w="med" len="med"/>
                      <a:tailEnd type="none" w="med" len="med"/>
                    </a:lnR>
                    <a:lnT w="381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1700" b="1" i="0" u="none" strike="noStrike" dirty="0">
                          <a:solidFill>
                            <a:srgbClr val="000000"/>
                          </a:solidFill>
                          <a:effectLst/>
                          <a:latin typeface="Calibri" panose="020F0502020204030204" pitchFamily="34" charset="0"/>
                        </a:rPr>
                        <a:t>Total </a:t>
                      </a:r>
                    </a:p>
                  </a:txBody>
                  <a:tcPr marL="6350" marR="6350" marT="6350" marB="0" anchor="ctr">
                    <a:lnL w="12700" cap="flat" cmpd="sng" algn="ctr">
                      <a:solidFill>
                        <a:schemeClr val="tx1"/>
                      </a:solidFill>
                      <a:prstDash val="solid"/>
                      <a:round/>
                      <a:headEnd type="none" w="med" len="med"/>
                      <a:tailEnd type="none" w="med" len="med"/>
                    </a:lnL>
                    <a:lnR w="12700" cmpd="sng">
                      <a:noFill/>
                    </a:lnR>
                    <a:lnT w="381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1629699716"/>
                  </a:ext>
                </a:extLst>
              </a:tr>
              <a:tr h="303276">
                <a:tc>
                  <a:txBody>
                    <a:bodyPr/>
                    <a:lstStyle/>
                    <a:p>
                      <a:pPr algn="l" fontAlgn="b"/>
                      <a:r>
                        <a:rPr lang="en-US" sz="1700" b="1" i="0" u="none" strike="noStrike" dirty="0">
                          <a:solidFill>
                            <a:srgbClr val="000000"/>
                          </a:solidFill>
                          <a:effectLst/>
                          <a:latin typeface="Calibri" panose="020F0502020204030204" pitchFamily="34" charset="0"/>
                        </a:rPr>
                        <a:t> Good </a:t>
                      </a:r>
                    </a:p>
                  </a:txBody>
                  <a:tcPr marL="6350" marR="6350" marT="6350" marB="0"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700" b="0" i="0" u="none" strike="noStrike" dirty="0">
                          <a:solidFill>
                            <a:srgbClr val="000000"/>
                          </a:solidFill>
                          <a:effectLst/>
                          <a:latin typeface="+mn-lt"/>
                        </a:rPr>
                        <a:t>50.0%</a:t>
                      </a:r>
                    </a:p>
                  </a:txBody>
                  <a:tcPr marL="6350" marR="6350" marT="635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700" b="0" i="0" u="none" strike="noStrike" dirty="0">
                          <a:solidFill>
                            <a:srgbClr val="000000"/>
                          </a:solidFill>
                          <a:effectLst/>
                          <a:latin typeface="+mn-lt"/>
                        </a:rPr>
                        <a:t>47.6%</a:t>
                      </a:r>
                    </a:p>
                  </a:txBody>
                  <a:tcPr marL="6350" marR="6350" marT="6350" marB="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700" b="0" i="0" u="none" strike="noStrike" dirty="0">
                          <a:solidFill>
                            <a:srgbClr val="000000"/>
                          </a:solidFill>
                          <a:effectLst/>
                          <a:latin typeface="+mn-lt"/>
                        </a:rPr>
                        <a:t>  2.4%</a:t>
                      </a:r>
                    </a:p>
                  </a:txBody>
                  <a:tcPr marL="6350" marR="6350" marT="6350" marB="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700" b="0" i="0" u="none" strike="noStrike" dirty="0">
                          <a:solidFill>
                            <a:srgbClr val="000000"/>
                          </a:solidFill>
                          <a:effectLst/>
                          <a:latin typeface="+mn-lt"/>
                        </a:rPr>
                        <a:t>  0.0%</a:t>
                      </a:r>
                    </a:p>
                  </a:txBody>
                  <a:tcPr marL="6350" marR="6350" marT="6350" marB="0"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700" b="0" i="0" u="none" strike="noStrike" dirty="0">
                          <a:solidFill>
                            <a:srgbClr val="000000"/>
                          </a:solidFill>
                          <a:effectLst/>
                          <a:latin typeface="Calibri" panose="020F0502020204030204" pitchFamily="34" charset="0"/>
                        </a:rPr>
                        <a:t>100.0%</a:t>
                      </a:r>
                    </a:p>
                  </a:txBody>
                  <a:tcPr marL="6350" marR="6350" marT="635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4119601160"/>
                  </a:ext>
                </a:extLst>
              </a:tr>
              <a:tr h="303276">
                <a:tc>
                  <a:txBody>
                    <a:bodyPr/>
                    <a:lstStyle/>
                    <a:p>
                      <a:pPr algn="l" fontAlgn="b"/>
                      <a:r>
                        <a:rPr lang="en-US" sz="1700" b="1" i="0" u="none" strike="noStrike" dirty="0">
                          <a:solidFill>
                            <a:srgbClr val="000000"/>
                          </a:solidFill>
                          <a:effectLst/>
                          <a:latin typeface="Calibri" panose="020F0502020204030204" pitchFamily="34" charset="0"/>
                        </a:rPr>
                        <a:t> Very Good </a:t>
                      </a:r>
                    </a:p>
                  </a:txBody>
                  <a:tcPr marL="6350" marR="6350" marT="635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700" b="0" i="0" u="none" strike="noStrike" dirty="0">
                          <a:solidFill>
                            <a:srgbClr val="000000"/>
                          </a:solidFill>
                          <a:effectLst/>
                          <a:latin typeface="+mn-lt"/>
                        </a:rPr>
                        <a:t>22.7%</a:t>
                      </a:r>
                    </a:p>
                  </a:txBody>
                  <a:tcPr marL="6350" marR="6350" marT="635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700" b="0" i="0" u="none" strike="noStrike" dirty="0">
                          <a:solidFill>
                            <a:srgbClr val="000000"/>
                          </a:solidFill>
                          <a:effectLst/>
                          <a:latin typeface="+mn-lt"/>
                        </a:rPr>
                        <a:t>42.7%</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700" b="0" i="0" u="none" strike="noStrike" dirty="0">
                          <a:solidFill>
                            <a:srgbClr val="000000"/>
                          </a:solidFill>
                          <a:effectLst/>
                          <a:latin typeface="+mn-lt"/>
                        </a:rPr>
                        <a:t>30.6%</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700" b="0" i="0" u="none" strike="noStrike" dirty="0">
                          <a:solidFill>
                            <a:srgbClr val="000000"/>
                          </a:solidFill>
                          <a:effectLst/>
                          <a:latin typeface="+mn-lt"/>
                        </a:rPr>
                        <a:t>  4.0%</a:t>
                      </a:r>
                    </a:p>
                  </a:txBody>
                  <a:tcPr marL="6350" marR="6350" marT="635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700" b="0" i="0" u="none" strike="noStrike" dirty="0">
                          <a:solidFill>
                            <a:srgbClr val="000000"/>
                          </a:solidFill>
                          <a:effectLst/>
                          <a:latin typeface="Calibri" panose="020F0502020204030204" pitchFamily="34" charset="0"/>
                        </a:rPr>
                        <a:t>100.0%</a:t>
                      </a:r>
                    </a:p>
                  </a:txBody>
                  <a:tcPr marL="6350" marR="6350" marT="635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1277784093"/>
                  </a:ext>
                </a:extLst>
              </a:tr>
              <a:tr h="303276">
                <a:tc>
                  <a:txBody>
                    <a:bodyPr/>
                    <a:lstStyle/>
                    <a:p>
                      <a:pPr algn="l" fontAlgn="b"/>
                      <a:r>
                        <a:rPr lang="en-US" sz="1700" b="1" i="0" u="none" strike="noStrike" dirty="0">
                          <a:solidFill>
                            <a:srgbClr val="000000"/>
                          </a:solidFill>
                          <a:effectLst/>
                          <a:latin typeface="Calibri" panose="020F0502020204030204" pitchFamily="34" charset="0"/>
                        </a:rPr>
                        <a:t> Excellent </a:t>
                      </a:r>
                    </a:p>
                  </a:txBody>
                  <a:tcPr marL="6350" marR="6350" marT="6350" marB="0"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ctr"/>
                      <a:r>
                        <a:rPr lang="en-US" sz="1700" b="0" i="0" u="none" strike="noStrike" dirty="0">
                          <a:solidFill>
                            <a:srgbClr val="000000"/>
                          </a:solidFill>
                          <a:effectLst/>
                          <a:latin typeface="+mn-lt"/>
                        </a:rPr>
                        <a:t>  3.0%</a:t>
                      </a:r>
                    </a:p>
                  </a:txBody>
                  <a:tcPr marL="6350" marR="6350" marT="6350" marB="0"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ctr"/>
                      <a:r>
                        <a:rPr lang="en-US" sz="1700" b="0" i="0" u="none" strike="noStrike" dirty="0">
                          <a:solidFill>
                            <a:srgbClr val="000000"/>
                          </a:solidFill>
                          <a:effectLst/>
                          <a:latin typeface="+mn-lt"/>
                        </a:rPr>
                        <a:t>21.2%</a:t>
                      </a:r>
                    </a:p>
                  </a:txBody>
                  <a:tcPr marL="6350" marR="6350" marT="635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1700" b="0" i="0" u="none" strike="noStrike" dirty="0">
                          <a:solidFill>
                            <a:srgbClr val="000000"/>
                          </a:solidFill>
                          <a:effectLst/>
                          <a:latin typeface="+mn-lt"/>
                        </a:rPr>
                        <a:t>42.4%</a:t>
                      </a:r>
                    </a:p>
                  </a:txBody>
                  <a:tcPr marL="6350" marR="6350" marT="6350"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ctr"/>
                      <a:r>
                        <a:rPr lang="en-US" sz="1700" b="0" i="0" u="none" strike="noStrike" dirty="0">
                          <a:solidFill>
                            <a:srgbClr val="000000"/>
                          </a:solidFill>
                          <a:effectLst/>
                          <a:latin typeface="+mn-lt"/>
                        </a:rPr>
                        <a:t>33.4%</a:t>
                      </a:r>
                    </a:p>
                  </a:txBody>
                  <a:tcPr marL="6350" marR="6350" marT="6350" marB="0"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1700" b="0" i="0" u="none" strike="noStrike" dirty="0">
                          <a:solidFill>
                            <a:srgbClr val="000000"/>
                          </a:solidFill>
                          <a:effectLst/>
                          <a:latin typeface="Calibri" panose="020F0502020204030204" pitchFamily="34" charset="0"/>
                        </a:rPr>
                        <a:t>100.0%</a:t>
                      </a:r>
                    </a:p>
                  </a:txBody>
                  <a:tcPr marL="6350" marR="6350" marT="6350" marB="0"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3023922670"/>
                  </a:ext>
                </a:extLst>
              </a:tr>
            </a:tbl>
          </a:graphicData>
        </a:graphic>
      </p:graphicFrame>
    </p:spTree>
    <p:extLst>
      <p:ext uri="{BB962C8B-B14F-4D97-AF65-F5344CB8AC3E}">
        <p14:creationId xmlns:p14="http://schemas.microsoft.com/office/powerpoint/2010/main" val="19130423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2F1851-52D5-03F3-7981-83429886F204}"/>
              </a:ext>
            </a:extLst>
          </p:cNvPr>
          <p:cNvSpPr>
            <a:spLocks noGrp="1"/>
          </p:cNvSpPr>
          <p:nvPr>
            <p:ph type="title"/>
          </p:nvPr>
        </p:nvSpPr>
        <p:spPr/>
        <p:txBody>
          <a:bodyPr/>
          <a:lstStyle/>
          <a:p>
            <a:r>
              <a:rPr lang="en-US" dirty="0"/>
              <a:t>2.3 Crosstabulation: Column Percentages</a:t>
            </a:r>
          </a:p>
        </p:txBody>
      </p:sp>
      <p:sp>
        <p:nvSpPr>
          <p:cNvPr id="3" name="Text Placeholder 2">
            <a:extLst>
              <a:ext uri="{FF2B5EF4-FFF2-40B4-BE49-F238E27FC236}">
                <a16:creationId xmlns:a16="http://schemas.microsoft.com/office/drawing/2014/main" id="{E2F8492D-AD9D-EE5B-D41A-129A2A09ACBF}"/>
              </a:ext>
            </a:extLst>
          </p:cNvPr>
          <p:cNvSpPr>
            <a:spLocks noGrp="1"/>
          </p:cNvSpPr>
          <p:nvPr>
            <p:ph type="body" sz="quarter" idx="15"/>
          </p:nvPr>
        </p:nvSpPr>
        <p:spPr>
          <a:xfrm>
            <a:off x="743577" y="1340528"/>
            <a:ext cx="10607040" cy="2626763"/>
          </a:xfrm>
        </p:spPr>
        <p:txBody>
          <a:bodyPr/>
          <a:lstStyle/>
          <a:p>
            <a:pPr>
              <a:spcAft>
                <a:spcPts val="0"/>
              </a:spcAft>
            </a:pPr>
            <a:r>
              <a:rPr lang="en-US" sz="2000" dirty="0"/>
              <a:t>For column percentages, the results of dividing each frequency in the crosstabulation by its corresponding column total are shown in the table below.</a:t>
            </a:r>
          </a:p>
          <a:p>
            <a:pPr>
              <a:spcAft>
                <a:spcPts val="0"/>
              </a:spcAft>
            </a:pPr>
            <a:r>
              <a:rPr lang="en-US" sz="2000" dirty="0"/>
              <a:t>Each column in the table is a percent frequency distribution of quality rating for one of the classes of meal prices. </a:t>
            </a:r>
          </a:p>
          <a:p>
            <a:pPr marL="457200" indent="-228600">
              <a:spcAft>
                <a:spcPts val="0"/>
              </a:spcAft>
              <a:buFont typeface="Arial" panose="020B0604020202020204" pitchFamily="34" charset="0"/>
              <a:buChar char="•"/>
            </a:pPr>
            <a:r>
              <a:rPr lang="en-US" dirty="0"/>
              <a:t>O</a:t>
            </a:r>
            <a:r>
              <a:rPr lang="en-US" sz="2000" dirty="0"/>
              <a:t>nly 2.6% of restaurants with low ($10-19) meal prices have an excellent quality rating.</a:t>
            </a:r>
          </a:p>
          <a:p>
            <a:pPr marL="457200" indent="-228600">
              <a:spcAft>
                <a:spcPts val="0"/>
              </a:spcAft>
              <a:buFont typeface="Arial" panose="020B0604020202020204" pitchFamily="34" charset="0"/>
              <a:buChar char="•"/>
            </a:pPr>
            <a:r>
              <a:rPr lang="en-US" sz="2000" dirty="0"/>
              <a:t>As meal price increases, percent frequency distribution shifts toward higher quality ratings.</a:t>
            </a:r>
          </a:p>
        </p:txBody>
      </p:sp>
      <p:graphicFrame>
        <p:nvGraphicFramePr>
          <p:cNvPr id="5" name="Table 7">
            <a:extLst>
              <a:ext uri="{FF2B5EF4-FFF2-40B4-BE49-F238E27FC236}">
                <a16:creationId xmlns:a16="http://schemas.microsoft.com/office/drawing/2014/main" id="{4EA6FD0A-30CB-BA76-86BD-A21171C8A6D3}"/>
              </a:ext>
            </a:extLst>
          </p:cNvPr>
          <p:cNvGraphicFramePr>
            <a:graphicFrameLocks noGrp="1"/>
          </p:cNvGraphicFramePr>
          <p:nvPr>
            <p:ph type="tbl" sz="quarter" idx="16"/>
            <p:extLst>
              <p:ext uri="{D42A27DB-BD31-4B8C-83A1-F6EECF244321}">
                <p14:modId xmlns:p14="http://schemas.microsoft.com/office/powerpoint/2010/main" val="3481128946"/>
              </p:ext>
            </p:extLst>
          </p:nvPr>
        </p:nvGraphicFramePr>
        <p:xfrm>
          <a:off x="2749318" y="3529676"/>
          <a:ext cx="6120363" cy="1886712"/>
        </p:xfrm>
        <a:graphic>
          <a:graphicData uri="http://schemas.openxmlformats.org/drawingml/2006/table">
            <a:tbl>
              <a:tblPr firstRow="1" bandRow="1">
                <a:tableStyleId>{5C22544A-7EE6-4342-B048-85BDC9FD1C3A}</a:tableStyleId>
              </a:tblPr>
              <a:tblGrid>
                <a:gridCol w="1776879">
                  <a:extLst>
                    <a:ext uri="{9D8B030D-6E8A-4147-A177-3AD203B41FA5}">
                      <a16:colId xmlns:a16="http://schemas.microsoft.com/office/drawing/2014/main" val="3333466591"/>
                    </a:ext>
                  </a:extLst>
                </a:gridCol>
                <a:gridCol w="1085871">
                  <a:extLst>
                    <a:ext uri="{9D8B030D-6E8A-4147-A177-3AD203B41FA5}">
                      <a16:colId xmlns:a16="http://schemas.microsoft.com/office/drawing/2014/main" val="2732388108"/>
                    </a:ext>
                  </a:extLst>
                </a:gridCol>
                <a:gridCol w="1085871">
                  <a:extLst>
                    <a:ext uri="{9D8B030D-6E8A-4147-A177-3AD203B41FA5}">
                      <a16:colId xmlns:a16="http://schemas.microsoft.com/office/drawing/2014/main" val="3807076303"/>
                    </a:ext>
                  </a:extLst>
                </a:gridCol>
                <a:gridCol w="1085871">
                  <a:extLst>
                    <a:ext uri="{9D8B030D-6E8A-4147-A177-3AD203B41FA5}">
                      <a16:colId xmlns:a16="http://schemas.microsoft.com/office/drawing/2014/main" val="2734277516"/>
                    </a:ext>
                  </a:extLst>
                </a:gridCol>
                <a:gridCol w="1085871">
                  <a:extLst>
                    <a:ext uri="{9D8B030D-6E8A-4147-A177-3AD203B41FA5}">
                      <a16:colId xmlns:a16="http://schemas.microsoft.com/office/drawing/2014/main" val="594657257"/>
                    </a:ext>
                  </a:extLst>
                </a:gridCol>
              </a:tblGrid>
              <a:tr h="303276">
                <a:tc>
                  <a:txBody>
                    <a:bodyPr/>
                    <a:lstStyle/>
                    <a:p>
                      <a:pPr algn="l" fontAlgn="b"/>
                      <a:endParaRPr lang="en-US" sz="1700" b="1" i="0" u="none" strike="noStrike" dirty="0">
                        <a:solidFill>
                          <a:srgbClr val="0070C0"/>
                        </a:solidFill>
                        <a:effectLst/>
                        <a:latin typeface="Calibri" panose="020F0502020204030204" pitchFamily="34" charset="0"/>
                      </a:endParaRPr>
                    </a:p>
                  </a:txBody>
                  <a:tcPr marL="6350" marR="6350" marT="6350" marB="0" anchor="ctr">
                    <a:lnL w="12700" cmpd="sng">
                      <a:noFill/>
                    </a:lnL>
                    <a:lnR w="12700" cap="flat" cmpd="sng" algn="ctr">
                      <a:solidFill>
                        <a:schemeClr val="tx1"/>
                      </a:solidFill>
                      <a:prstDash val="solid"/>
                      <a:round/>
                      <a:headEnd type="none" w="med" len="med"/>
                      <a:tailEnd type="none" w="med" len="med"/>
                    </a:lnR>
                    <a:lnT w="381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endParaRPr lang="en-US" sz="1700" b="1" i="0" u="none" strike="noStrike" dirty="0">
                        <a:solidFill>
                          <a:srgbClr val="00000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mpd="sng">
                      <a:noFill/>
                    </a:lnR>
                    <a:lnT w="381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lang="en-US" sz="1700" b="1" i="0" u="none" strike="noStrike" dirty="0">
                          <a:solidFill>
                            <a:srgbClr val="0070C0"/>
                          </a:solidFill>
                          <a:effectLst/>
                          <a:latin typeface="Calibri" panose="020F0502020204030204" pitchFamily="34" charset="0"/>
                        </a:rPr>
                        <a:t>Meal Price</a:t>
                      </a:r>
                    </a:p>
                  </a:txBody>
                  <a:tcPr marL="6350" marR="6350" marT="6350" marB="0" anchor="ctr">
                    <a:lnL w="12700" cmpd="sng">
                      <a:noFill/>
                    </a:lnL>
                    <a:lnR w="12700" cmpd="sng">
                      <a:noFill/>
                    </a:lnR>
                    <a:lnT w="381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endParaRPr lang="en-US" sz="1700" b="1" i="0" u="none" strike="noStrike" dirty="0">
                        <a:solidFill>
                          <a:srgbClr val="000000"/>
                        </a:solidFill>
                        <a:effectLst/>
                        <a:latin typeface="Calibri" panose="020F0502020204030204" pitchFamily="34" charset="0"/>
                      </a:endParaRPr>
                    </a:p>
                  </a:txBody>
                  <a:tcPr marL="6350" marR="6350" marT="6350" marB="0" anchor="ctr">
                    <a:lnL w="12700" cmpd="sng">
                      <a:noFill/>
                    </a:lnL>
                    <a:lnR w="12700" cmpd="sng">
                      <a:noFill/>
                    </a:lnR>
                    <a:lnT w="381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endParaRPr lang="en-US" sz="1700" b="1" i="0" u="none" strike="noStrike" dirty="0">
                        <a:solidFill>
                          <a:srgbClr val="000000"/>
                        </a:solidFill>
                        <a:effectLst/>
                        <a:latin typeface="Calibri" panose="020F0502020204030204" pitchFamily="34" charset="0"/>
                      </a:endParaRPr>
                    </a:p>
                  </a:txBody>
                  <a:tcPr marL="6350" marR="6350" marT="6350" marB="0" anchor="ctr">
                    <a:lnL w="12700" cmpd="sng">
                      <a:noFill/>
                    </a:lnL>
                    <a:lnR w="12700" cap="flat" cmpd="sng" algn="ctr">
                      <a:solidFill>
                        <a:schemeClr val="tx1"/>
                      </a:solidFill>
                      <a:prstDash val="solid"/>
                      <a:round/>
                      <a:headEnd type="none" w="med" len="med"/>
                      <a:tailEnd type="none" w="med" len="med"/>
                    </a:lnR>
                    <a:lnT w="381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3796587334"/>
                  </a:ext>
                </a:extLst>
              </a:tr>
              <a:tr h="303276">
                <a:tc>
                  <a:txBody>
                    <a:bodyPr/>
                    <a:lstStyle/>
                    <a:p>
                      <a:pPr algn="l" fontAlgn="b"/>
                      <a:r>
                        <a:rPr lang="en-US" sz="1700" b="1" i="0" u="none" strike="noStrike" dirty="0">
                          <a:solidFill>
                            <a:srgbClr val="0070C0"/>
                          </a:solidFill>
                          <a:effectLst/>
                          <a:latin typeface="Calibri" panose="020F0502020204030204" pitchFamily="34" charset="0"/>
                        </a:rPr>
                        <a:t> Quality Rating </a:t>
                      </a:r>
                    </a:p>
                  </a:txBody>
                  <a:tcPr marL="6350" marR="6350" marT="6350" marB="0" anchor="ctr">
                    <a:lnL w="12700" cmpd="sng">
                      <a:noFill/>
                    </a:lnL>
                    <a:lnR w="12700" cap="flat" cmpd="sng" algn="ctr">
                      <a:solidFill>
                        <a:schemeClr val="tx1"/>
                      </a:solidFill>
                      <a:prstDash val="solid"/>
                      <a:round/>
                      <a:headEnd type="none" w="med" len="med"/>
                      <a:tailEnd type="none" w="med" len="med"/>
                    </a:lnR>
                    <a:lnT w="381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1700" b="1" i="0" u="none" strike="noStrike" dirty="0">
                          <a:solidFill>
                            <a:srgbClr val="000000"/>
                          </a:solidFill>
                          <a:effectLst/>
                          <a:latin typeface="Calibri" panose="020F0502020204030204" pitchFamily="34" charset="0"/>
                        </a:rPr>
                        <a:t>$10-19 </a:t>
                      </a:r>
                    </a:p>
                  </a:txBody>
                  <a:tcPr marL="6350" marR="6350" marT="6350" marB="0" anchor="ctr">
                    <a:lnL w="12700" cap="flat" cmpd="sng" algn="ctr">
                      <a:solidFill>
                        <a:schemeClr val="tx1"/>
                      </a:solidFill>
                      <a:prstDash val="solid"/>
                      <a:round/>
                      <a:headEnd type="none" w="med" len="med"/>
                      <a:tailEnd type="none" w="med" len="med"/>
                    </a:lnL>
                    <a:lnR w="12700" cmpd="sng">
                      <a:noFill/>
                    </a:lnR>
                    <a:lnT w="381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1700" b="1" i="0" u="none" strike="noStrike" dirty="0">
                          <a:solidFill>
                            <a:srgbClr val="000000"/>
                          </a:solidFill>
                          <a:effectLst/>
                          <a:latin typeface="Calibri" panose="020F0502020204030204" pitchFamily="34" charset="0"/>
                        </a:rPr>
                        <a:t>$20-29 </a:t>
                      </a:r>
                    </a:p>
                  </a:txBody>
                  <a:tcPr marL="6350" marR="6350" marT="6350" marB="0" anchor="ctr">
                    <a:lnL w="12700" cmpd="sng">
                      <a:noFill/>
                    </a:lnL>
                    <a:lnR w="12700" cmpd="sng">
                      <a:noFill/>
                    </a:lnR>
                    <a:lnT w="381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1700" b="1" i="0" u="none" strike="noStrike" dirty="0">
                          <a:solidFill>
                            <a:srgbClr val="000000"/>
                          </a:solidFill>
                          <a:effectLst/>
                          <a:latin typeface="Calibri" panose="020F0502020204030204" pitchFamily="34" charset="0"/>
                        </a:rPr>
                        <a:t>$30-39 </a:t>
                      </a:r>
                    </a:p>
                  </a:txBody>
                  <a:tcPr marL="6350" marR="6350" marT="6350" marB="0" anchor="ctr">
                    <a:lnL w="12700" cmpd="sng">
                      <a:noFill/>
                    </a:lnL>
                    <a:lnR w="12700" cmpd="sng">
                      <a:noFill/>
                    </a:lnR>
                    <a:lnT w="381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1700" b="1" i="0" u="none" strike="noStrike" dirty="0">
                          <a:solidFill>
                            <a:srgbClr val="000000"/>
                          </a:solidFill>
                          <a:effectLst/>
                          <a:latin typeface="Calibri" panose="020F0502020204030204" pitchFamily="34" charset="0"/>
                        </a:rPr>
                        <a:t>$40-49 </a:t>
                      </a:r>
                    </a:p>
                  </a:txBody>
                  <a:tcPr marL="6350" marR="6350" marT="6350" marB="0" anchor="ctr">
                    <a:lnL w="12700" cmpd="sng">
                      <a:noFill/>
                    </a:lnL>
                    <a:lnR w="12700" cap="flat" cmpd="sng" algn="ctr">
                      <a:solidFill>
                        <a:schemeClr val="tx1"/>
                      </a:solidFill>
                      <a:prstDash val="solid"/>
                      <a:round/>
                      <a:headEnd type="none" w="med" len="med"/>
                      <a:tailEnd type="none" w="med" len="med"/>
                    </a:lnR>
                    <a:lnT w="381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1629699716"/>
                  </a:ext>
                </a:extLst>
              </a:tr>
              <a:tr h="320040">
                <a:tc>
                  <a:txBody>
                    <a:bodyPr/>
                    <a:lstStyle/>
                    <a:p>
                      <a:pPr algn="l" fontAlgn="b"/>
                      <a:r>
                        <a:rPr lang="en-US" sz="1700" b="1" i="0" u="none" strike="noStrike" dirty="0">
                          <a:solidFill>
                            <a:srgbClr val="000000"/>
                          </a:solidFill>
                          <a:effectLst/>
                          <a:latin typeface="Calibri" panose="020F0502020204030204" pitchFamily="34" charset="0"/>
                        </a:rPr>
                        <a:t> Good </a:t>
                      </a:r>
                    </a:p>
                  </a:txBody>
                  <a:tcPr marL="6350" marR="6350" marT="6350" marB="0"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700" b="0" i="0" u="none" strike="noStrike" dirty="0">
                          <a:solidFill>
                            <a:srgbClr val="000000"/>
                          </a:solidFill>
                          <a:effectLst/>
                          <a:latin typeface="+mn-lt"/>
                        </a:rPr>
                        <a:t>53.8%</a:t>
                      </a:r>
                    </a:p>
                  </a:txBody>
                  <a:tcPr marL="6350" marR="6350" marT="635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700" b="0" i="0" u="none" strike="noStrike">
                          <a:solidFill>
                            <a:srgbClr val="000000"/>
                          </a:solidFill>
                          <a:effectLst/>
                          <a:latin typeface="+mn-lt"/>
                        </a:rPr>
                        <a:t>33.9%</a:t>
                      </a:r>
                    </a:p>
                  </a:txBody>
                  <a:tcPr marL="6350" marR="6350" marT="6350" marB="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700" b="0" i="0" u="none" strike="noStrike" dirty="0">
                          <a:solidFill>
                            <a:srgbClr val="000000"/>
                          </a:solidFill>
                          <a:effectLst/>
                          <a:latin typeface="+mn-lt"/>
                        </a:rPr>
                        <a:t> 2.6%</a:t>
                      </a:r>
                    </a:p>
                  </a:txBody>
                  <a:tcPr marL="6350" marR="6350" marT="6350" marB="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700" b="0" i="0" u="none" strike="noStrike" dirty="0">
                          <a:solidFill>
                            <a:srgbClr val="000000"/>
                          </a:solidFill>
                          <a:effectLst/>
                          <a:latin typeface="+mn-lt"/>
                        </a:rPr>
                        <a:t> 0.0%</a:t>
                      </a:r>
                    </a:p>
                  </a:txBody>
                  <a:tcPr marL="6350" marR="6350" marT="635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4119601160"/>
                  </a:ext>
                </a:extLst>
              </a:tr>
              <a:tr h="320040">
                <a:tc>
                  <a:txBody>
                    <a:bodyPr/>
                    <a:lstStyle/>
                    <a:p>
                      <a:pPr algn="l" fontAlgn="b"/>
                      <a:r>
                        <a:rPr lang="en-US" sz="1700" b="1" i="0" u="none" strike="noStrike" dirty="0">
                          <a:solidFill>
                            <a:srgbClr val="000000"/>
                          </a:solidFill>
                          <a:effectLst/>
                          <a:latin typeface="Calibri" panose="020F0502020204030204" pitchFamily="34" charset="0"/>
                        </a:rPr>
                        <a:t> Very Good </a:t>
                      </a:r>
                    </a:p>
                  </a:txBody>
                  <a:tcPr marL="6350" marR="6350" marT="635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700" b="0" i="0" u="none" strike="noStrike" dirty="0">
                          <a:solidFill>
                            <a:srgbClr val="000000"/>
                          </a:solidFill>
                          <a:effectLst/>
                          <a:latin typeface="+mn-lt"/>
                        </a:rPr>
                        <a:t>43.6%</a:t>
                      </a:r>
                    </a:p>
                  </a:txBody>
                  <a:tcPr marL="6350" marR="6350" marT="635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700" b="0" i="0" u="none" strike="noStrike" dirty="0">
                          <a:solidFill>
                            <a:srgbClr val="000000"/>
                          </a:solidFill>
                          <a:effectLst/>
                          <a:latin typeface="+mn-lt"/>
                        </a:rPr>
                        <a:t>54.2%</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700" b="0" i="0" u="none" strike="noStrike">
                          <a:solidFill>
                            <a:srgbClr val="000000"/>
                          </a:solidFill>
                          <a:effectLst/>
                          <a:latin typeface="+mn-lt"/>
                        </a:rPr>
                        <a:t>60.5%</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700" b="0" i="0" u="none" strike="noStrike">
                          <a:solidFill>
                            <a:srgbClr val="000000"/>
                          </a:solidFill>
                          <a:effectLst/>
                          <a:latin typeface="+mn-lt"/>
                        </a:rPr>
                        <a:t>21.4%</a:t>
                      </a:r>
                    </a:p>
                  </a:txBody>
                  <a:tcPr marL="6350" marR="6350" marT="6350" marB="0" anchor="b">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1277784093"/>
                  </a:ext>
                </a:extLst>
              </a:tr>
              <a:tr h="320040">
                <a:tc>
                  <a:txBody>
                    <a:bodyPr/>
                    <a:lstStyle/>
                    <a:p>
                      <a:pPr algn="l" fontAlgn="b"/>
                      <a:r>
                        <a:rPr lang="en-US" sz="1700" b="1" i="0" u="none" strike="noStrike" dirty="0">
                          <a:solidFill>
                            <a:srgbClr val="000000"/>
                          </a:solidFill>
                          <a:effectLst/>
                          <a:latin typeface="Calibri" panose="020F0502020204030204" pitchFamily="34" charset="0"/>
                        </a:rPr>
                        <a:t> Excellent </a:t>
                      </a:r>
                    </a:p>
                  </a:txBody>
                  <a:tcPr marL="6350" marR="6350" marT="6350" marB="0"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ctr"/>
                      <a:r>
                        <a:rPr lang="en-US" sz="1700" b="0" i="0" u="none" strike="noStrike" dirty="0">
                          <a:solidFill>
                            <a:srgbClr val="000000"/>
                          </a:solidFill>
                          <a:effectLst/>
                          <a:latin typeface="+mn-lt"/>
                        </a:rPr>
                        <a:t>  2.6%</a:t>
                      </a:r>
                    </a:p>
                  </a:txBody>
                  <a:tcPr marL="6350" marR="6350" marT="6350" marB="0"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ctr"/>
                      <a:r>
                        <a:rPr lang="en-US" sz="1700" b="0" i="0" u="none" strike="noStrike">
                          <a:solidFill>
                            <a:srgbClr val="000000"/>
                          </a:solidFill>
                          <a:effectLst/>
                          <a:latin typeface="+mn-lt"/>
                        </a:rPr>
                        <a:t>11.9%</a:t>
                      </a:r>
                    </a:p>
                  </a:txBody>
                  <a:tcPr marL="6350" marR="6350" marT="635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ctr"/>
                      <a:r>
                        <a:rPr lang="en-US" sz="1700" b="0" i="0" u="none" strike="noStrike" dirty="0">
                          <a:solidFill>
                            <a:srgbClr val="000000"/>
                          </a:solidFill>
                          <a:effectLst/>
                          <a:latin typeface="+mn-lt"/>
                        </a:rPr>
                        <a:t>36.8%</a:t>
                      </a:r>
                    </a:p>
                  </a:txBody>
                  <a:tcPr marL="6350" marR="6350" marT="635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1700" b="0" i="0" u="none" strike="noStrike" dirty="0">
                          <a:solidFill>
                            <a:srgbClr val="000000"/>
                          </a:solidFill>
                          <a:effectLst/>
                          <a:latin typeface="+mn-lt"/>
                        </a:rPr>
                        <a:t>78.6%</a:t>
                      </a:r>
                    </a:p>
                  </a:txBody>
                  <a:tcPr marL="6350" marR="6350" marT="6350" marB="0" anchor="b">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3023922670"/>
                  </a:ext>
                </a:extLst>
              </a:tr>
              <a:tr h="320040">
                <a:tc>
                  <a:txBody>
                    <a:bodyPr/>
                    <a:lstStyle/>
                    <a:p>
                      <a:pPr algn="ctr" fontAlgn="b"/>
                      <a:r>
                        <a:rPr lang="en-US" sz="1700" b="1" i="0" u="none" strike="noStrike" dirty="0" err="1">
                          <a:solidFill>
                            <a:srgbClr val="000000"/>
                          </a:solidFill>
                          <a:effectLst/>
                          <a:latin typeface="Calibri" panose="020F0502020204030204" pitchFamily="34" charset="0"/>
                        </a:rPr>
                        <a:t>TotaI</a:t>
                      </a:r>
                      <a:r>
                        <a:rPr lang="en-US" sz="1700" b="1" i="0" u="none" strike="noStrike" dirty="0">
                          <a:solidFill>
                            <a:srgbClr val="000000"/>
                          </a:solidFill>
                          <a:effectLst/>
                          <a:latin typeface="Calibri" panose="020F0502020204030204" pitchFamily="34" charset="0"/>
                        </a:rPr>
                        <a:t> </a:t>
                      </a:r>
                    </a:p>
                  </a:txBody>
                  <a:tcPr marL="6350" marR="6350" marT="6350" marB="0"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700" b="0" i="0" u="none" strike="noStrike" dirty="0">
                          <a:solidFill>
                            <a:srgbClr val="000000"/>
                          </a:solidFill>
                          <a:effectLst/>
                          <a:latin typeface="Calibri" panose="020F0502020204030204" pitchFamily="34" charset="0"/>
                        </a:rPr>
                        <a:t>100.0%</a:t>
                      </a:r>
                    </a:p>
                  </a:txBody>
                  <a:tcPr marL="6350" marR="6350" marT="635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pPr algn="ctr" fontAlgn="b">
                        <a:tabLst>
                          <a:tab pos="631825" algn="r"/>
                        </a:tabLst>
                      </a:pPr>
                      <a:r>
                        <a:rPr kumimoji="0" lang="en-US" sz="17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100.0%</a:t>
                      </a:r>
                      <a:endParaRPr lang="en-US" sz="1700" b="0" i="0" u="none" strike="noStrike" dirty="0">
                        <a:solidFill>
                          <a:srgbClr val="000000"/>
                        </a:solidFill>
                        <a:effectLst/>
                        <a:latin typeface="Calibri" panose="020F0502020204030204" pitchFamily="34" charset="0"/>
                      </a:endParaRPr>
                    </a:p>
                  </a:txBody>
                  <a:tcPr marL="6350" marR="6350" marT="6350" marB="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pPr algn="ctr" fontAlgn="b"/>
                      <a:r>
                        <a:rPr kumimoji="0" lang="en-US" sz="17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100.0%</a:t>
                      </a:r>
                      <a:endParaRPr lang="en-US" sz="1700" b="0" i="0" u="none" strike="noStrike" dirty="0">
                        <a:solidFill>
                          <a:srgbClr val="000000"/>
                        </a:solidFill>
                        <a:effectLst/>
                        <a:latin typeface="Calibri" panose="020F0502020204030204" pitchFamily="34" charset="0"/>
                      </a:endParaRPr>
                    </a:p>
                  </a:txBody>
                  <a:tcPr marL="6350" marR="6350" marT="6350" marB="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pPr algn="ctr" fontAlgn="b"/>
                      <a:r>
                        <a:rPr kumimoji="0" lang="en-US" sz="17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100.0%</a:t>
                      </a:r>
                      <a:endParaRPr lang="en-US" sz="1700" b="0" i="0" u="none" strike="noStrike" dirty="0">
                        <a:solidFill>
                          <a:srgbClr val="000000"/>
                        </a:solidFill>
                        <a:effectLst/>
                        <a:latin typeface="Calibri" panose="020F0502020204030204" pitchFamily="34" charset="0"/>
                      </a:endParaRPr>
                    </a:p>
                  </a:txBody>
                  <a:tcPr marL="6350" marR="6350" marT="6350" marB="0"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208302951"/>
                  </a:ext>
                </a:extLst>
              </a:tr>
            </a:tbl>
          </a:graphicData>
        </a:graphic>
      </p:graphicFrame>
    </p:spTree>
    <p:extLst>
      <p:ext uri="{BB962C8B-B14F-4D97-AF65-F5344CB8AC3E}">
        <p14:creationId xmlns:p14="http://schemas.microsoft.com/office/powerpoint/2010/main" val="32220576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EE8196-0E04-401D-B93F-685948CD49CA}"/>
              </a:ext>
            </a:extLst>
          </p:cNvPr>
          <p:cNvSpPr>
            <a:spLocks noGrp="1"/>
          </p:cNvSpPr>
          <p:nvPr>
            <p:ph type="title"/>
          </p:nvPr>
        </p:nvSpPr>
        <p:spPr/>
        <p:txBody>
          <a:bodyPr/>
          <a:lstStyle/>
          <a:p>
            <a:r>
              <a:rPr lang="en-US" sz="3200" dirty="0">
                <a:solidFill>
                  <a:srgbClr val="25894E"/>
                </a:solidFill>
              </a:rPr>
              <a:t>2.3 Excel: Construct a Crosstabulation with PivotTable</a:t>
            </a:r>
            <a:endParaRPr lang="en-US" sz="3200" dirty="0"/>
          </a:p>
        </p:txBody>
      </p:sp>
      <p:sp>
        <p:nvSpPr>
          <p:cNvPr id="10" name="Text Placeholder 9">
            <a:extLst>
              <a:ext uri="{FF2B5EF4-FFF2-40B4-BE49-F238E27FC236}">
                <a16:creationId xmlns:a16="http://schemas.microsoft.com/office/drawing/2014/main" id="{3BC2D68C-7EBF-F4D3-627B-B3F33DC50D62}"/>
              </a:ext>
            </a:extLst>
          </p:cNvPr>
          <p:cNvSpPr>
            <a:spLocks noGrp="1"/>
          </p:cNvSpPr>
          <p:nvPr>
            <p:ph type="body" sz="quarter" idx="15"/>
          </p:nvPr>
        </p:nvSpPr>
        <p:spPr>
          <a:xfrm>
            <a:off x="743576" y="2646218"/>
            <a:ext cx="6779441" cy="3404164"/>
          </a:xfrm>
        </p:spPr>
        <p:txBody>
          <a:bodyPr/>
          <a:lstStyle/>
          <a:p>
            <a:r>
              <a:rPr lang="en-US" sz="2000" b="1" dirty="0"/>
              <a:t>Enter/Access Data</a:t>
            </a:r>
            <a:r>
              <a:rPr lang="en-US" sz="2000" dirty="0"/>
              <a:t>: Open the file </a:t>
            </a:r>
            <a:r>
              <a:rPr lang="en-US" sz="2000" i="1" dirty="0"/>
              <a:t>restaurant</a:t>
            </a:r>
            <a:r>
              <a:rPr lang="en-US" sz="2000" dirty="0"/>
              <a:t>.</a:t>
            </a:r>
          </a:p>
          <a:p>
            <a:r>
              <a:rPr lang="en-US" sz="2000" b="1" dirty="0"/>
              <a:t>Apply Tools</a:t>
            </a:r>
            <a:r>
              <a:rPr lang="en-US" sz="2000" dirty="0"/>
              <a:t>: The following steps describe how to use Excel’s PivotTable tool to construct a crosstabulation of quality ratings and meal prices.</a:t>
            </a:r>
          </a:p>
          <a:p>
            <a:pPr marL="914400" indent="-685800">
              <a:spcBef>
                <a:spcPts val="300"/>
              </a:spcBef>
            </a:pPr>
            <a:r>
              <a:rPr lang="en-US" sz="1800" b="1" dirty="0"/>
              <a:t>Step 1</a:t>
            </a:r>
            <a:r>
              <a:rPr lang="en-US" sz="1800" dirty="0"/>
              <a:t>. Select any cell in the data set and click the </a:t>
            </a:r>
            <a:r>
              <a:rPr lang="en-US" sz="1800" b="1" dirty="0"/>
              <a:t>Insert</a:t>
            </a:r>
            <a:r>
              <a:rPr lang="en-US" sz="1800" dirty="0"/>
              <a:t> tab.</a:t>
            </a:r>
          </a:p>
          <a:p>
            <a:pPr marL="914400" indent="-685800">
              <a:spcBef>
                <a:spcPts val="300"/>
              </a:spcBef>
            </a:pPr>
            <a:r>
              <a:rPr lang="en-US" sz="1800" b="1" dirty="0"/>
              <a:t>Step 2</a:t>
            </a:r>
            <a:r>
              <a:rPr lang="en-US" sz="1800" dirty="0"/>
              <a:t>. In the </a:t>
            </a:r>
            <a:r>
              <a:rPr lang="en-US" sz="1800" b="1" dirty="0"/>
              <a:t>Tables</a:t>
            </a:r>
            <a:r>
              <a:rPr lang="en-US" sz="1800" dirty="0"/>
              <a:t> group click </a:t>
            </a:r>
            <a:r>
              <a:rPr lang="en-US" sz="1800" b="1" dirty="0"/>
              <a:t>PivotTable</a:t>
            </a:r>
            <a:r>
              <a:rPr lang="en-US" sz="1800" dirty="0"/>
              <a:t>. When the </a:t>
            </a:r>
            <a:r>
              <a:rPr lang="en-US" sz="1800" b="1" dirty="0"/>
              <a:t>Create PivotTable</a:t>
            </a:r>
            <a:r>
              <a:rPr lang="en-US" sz="1800" dirty="0"/>
              <a:t> dialog box appears, click </a:t>
            </a:r>
            <a:r>
              <a:rPr lang="en-US" sz="1800" b="1" dirty="0"/>
              <a:t>OK</a:t>
            </a:r>
            <a:r>
              <a:rPr lang="en-US" sz="1800" dirty="0"/>
              <a:t>.</a:t>
            </a:r>
          </a:p>
          <a:p>
            <a:pPr marL="914400" indent="-685800">
              <a:spcBef>
                <a:spcPts val="300"/>
              </a:spcBef>
            </a:pPr>
            <a:r>
              <a:rPr lang="en-US" sz="1800" b="1" dirty="0"/>
              <a:t>Step 3</a:t>
            </a:r>
            <a:r>
              <a:rPr lang="en-US" sz="1800" dirty="0"/>
              <a:t>. In the </a:t>
            </a:r>
            <a:r>
              <a:rPr lang="en-US" sz="1800" b="1" dirty="0"/>
              <a:t>PivotTable Fields</a:t>
            </a:r>
            <a:r>
              <a:rPr lang="en-US" sz="1800" dirty="0"/>
              <a:t> task pane, drag </a:t>
            </a:r>
            <a:r>
              <a:rPr lang="en-US" sz="1800" b="1" dirty="0"/>
              <a:t>Quality Rating</a:t>
            </a:r>
            <a:r>
              <a:rPr lang="en-US" sz="1800" dirty="0"/>
              <a:t> to the </a:t>
            </a:r>
            <a:r>
              <a:rPr lang="en-US" sz="1800" b="1" dirty="0"/>
              <a:t>Rows</a:t>
            </a:r>
            <a:r>
              <a:rPr lang="en-US" sz="1800" dirty="0"/>
              <a:t> area, drag </a:t>
            </a:r>
            <a:r>
              <a:rPr lang="en-US" sz="1800" b="1" dirty="0"/>
              <a:t>Meal Price</a:t>
            </a:r>
            <a:r>
              <a:rPr lang="en-US" sz="1800" dirty="0"/>
              <a:t> to the </a:t>
            </a:r>
            <a:r>
              <a:rPr lang="en-US" sz="1800" b="1" dirty="0"/>
              <a:t>Columns</a:t>
            </a:r>
            <a:r>
              <a:rPr lang="en-US" sz="1800" dirty="0"/>
              <a:t> area, and drag </a:t>
            </a:r>
            <a:r>
              <a:rPr lang="en-US" sz="1800" b="1" dirty="0"/>
              <a:t>Restaurant</a:t>
            </a:r>
            <a:r>
              <a:rPr lang="en-US" sz="1800" dirty="0"/>
              <a:t> to the </a:t>
            </a:r>
            <a:r>
              <a:rPr lang="en-US" sz="1800" b="1" dirty="0"/>
              <a:t>Values</a:t>
            </a:r>
            <a:r>
              <a:rPr lang="en-US" sz="1800" dirty="0"/>
              <a:t> area.</a:t>
            </a:r>
          </a:p>
          <a:p>
            <a:pPr marL="914400" indent="-685800">
              <a:spcBef>
                <a:spcPts val="300"/>
              </a:spcBef>
            </a:pPr>
            <a:r>
              <a:rPr lang="en-US" sz="1800" b="1" dirty="0"/>
              <a:t>Step 4</a:t>
            </a:r>
            <a:r>
              <a:rPr lang="en-US" sz="1800" dirty="0"/>
              <a:t>. See notes to change the displayed sums into counts.</a:t>
            </a:r>
          </a:p>
        </p:txBody>
      </p:sp>
      <p:pic>
        <p:nvPicPr>
          <p:cNvPr id="13" name="Picture Placeholder 12" descr="A screenshot shows an Excel spreadsheet with a table and the Pivot Table Fields dialog box. In the table, column A is labeled row labels, column B is labeled 10 to 19, column C is labeled 20 to 29, column D is labeled 30 to 39, column E is labeled 40 to 49, and column F is labeled grand total. The entries in rows 5 through 8 are as follows. Row 5. Label: Good. 10 to 19: 42. 20 to 29: 40. 30 to 39: 2. Grand total: 84. Row 6. Label: Very good. 10 to 19: 34. 20 to 29: 64. 30 to 39: 46. 40 to 49: 6. Grand total: 150. Row 7. Label: Excellent. 10 to 19: 2. 20 to 29: 14. 30 to 39: 28. 40 to 49: 22. Grand total: 66. Row 8. Label: Grand total. 10 to 19: 78. 20 to 29: 118. 30 to 39: 76. 40 to 49: 28. Grand total: 300. The Pivot Table Fields dialog box consists of two sections. Text on the top reads, Choose fields to add to report. This is followed by a search field. The first section has a box in which Restaurant, Quality Rating, and Meal price ($) are listed. Text in the second field reads, Drag fields between areas below. There are four areas labeled filters, columns, rows, and values. The field in columns is Meal price ($). The field in rows is quality rating. The field in values is count of restaurant.&#10;">
            <a:extLst>
              <a:ext uri="{FF2B5EF4-FFF2-40B4-BE49-F238E27FC236}">
                <a16:creationId xmlns:a16="http://schemas.microsoft.com/office/drawing/2014/main" id="{EA0AB55D-3E6C-5DCC-175B-13AE2CD4617E}"/>
              </a:ext>
            </a:extLst>
          </p:cNvPr>
          <p:cNvPicPr>
            <a:picLocks noGrp="1" noChangeAspect="1"/>
          </p:cNvPicPr>
          <p:nvPr>
            <p:ph type="pic" sz="quarter" idx="16"/>
          </p:nvPr>
        </p:nvPicPr>
        <p:blipFill>
          <a:blip r:embed="rId3"/>
          <a:srcRect l="52" r="52"/>
          <a:stretch/>
        </p:blipFill>
        <p:spPr>
          <a:xfrm>
            <a:off x="2620025" y="1075460"/>
            <a:ext cx="8796338" cy="4846638"/>
          </a:xfrm>
        </p:spPr>
      </p:pic>
    </p:spTree>
    <p:extLst>
      <p:ext uri="{BB962C8B-B14F-4D97-AF65-F5344CB8AC3E}">
        <p14:creationId xmlns:p14="http://schemas.microsoft.com/office/powerpoint/2010/main" val="26980832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2F1851-52D5-03F3-7981-83429886F204}"/>
              </a:ext>
            </a:extLst>
          </p:cNvPr>
          <p:cNvSpPr>
            <a:spLocks noGrp="1"/>
          </p:cNvSpPr>
          <p:nvPr>
            <p:ph type="title"/>
          </p:nvPr>
        </p:nvSpPr>
        <p:spPr/>
        <p:txBody>
          <a:bodyPr/>
          <a:lstStyle/>
          <a:p>
            <a:r>
              <a:rPr lang="en-US" dirty="0"/>
              <a:t>2.3 An Analysis of Two Judges’ Verdicts</a:t>
            </a:r>
          </a:p>
        </p:txBody>
      </p:sp>
      <p:sp>
        <p:nvSpPr>
          <p:cNvPr id="3" name="Text Placeholder 2">
            <a:extLst>
              <a:ext uri="{FF2B5EF4-FFF2-40B4-BE49-F238E27FC236}">
                <a16:creationId xmlns:a16="http://schemas.microsoft.com/office/drawing/2014/main" id="{E2F8492D-AD9D-EE5B-D41A-129A2A09ACBF}"/>
              </a:ext>
            </a:extLst>
          </p:cNvPr>
          <p:cNvSpPr>
            <a:spLocks noGrp="1"/>
          </p:cNvSpPr>
          <p:nvPr>
            <p:ph type="body" sz="quarter" idx="15"/>
          </p:nvPr>
        </p:nvSpPr>
        <p:spPr>
          <a:xfrm>
            <a:off x="746760" y="1455313"/>
            <a:ext cx="10607040" cy="2386584"/>
          </a:xfrm>
        </p:spPr>
        <p:txBody>
          <a:bodyPr/>
          <a:lstStyle/>
          <a:p>
            <a:pPr>
              <a:spcAft>
                <a:spcPts val="0"/>
              </a:spcAft>
            </a:pPr>
            <a:r>
              <a:rPr lang="en-US" sz="2000" dirty="0"/>
              <a:t>Judges Ron Luckett and Dennis Kendall presided over cases in Common Pleas Court and Municipal Court during the past three years. Some of the rendered verdicts were appealed.</a:t>
            </a:r>
          </a:p>
          <a:p>
            <a:pPr>
              <a:spcAft>
                <a:spcPts val="0"/>
              </a:spcAft>
            </a:pPr>
            <a:r>
              <a:rPr lang="en-US" sz="2000" dirty="0"/>
              <a:t>A crosstabulation for a total of 275 appealed verdicts was developed based upon two variables: the Judge (Luckett or Kendall), and the verdict (upheld or reversed.)</a:t>
            </a:r>
          </a:p>
          <a:p>
            <a:pPr>
              <a:spcAft>
                <a:spcPts val="0"/>
              </a:spcAft>
            </a:pPr>
            <a:r>
              <a:rPr lang="en-US" sz="2000" dirty="0"/>
              <a:t>The crosstabulation of the results, along with the column percentages in parentheses next to each value, shows that Judge Kendall has been doing the better job because of the greater  percentage (88% vs. 86%) of upheld verdicts.</a:t>
            </a:r>
          </a:p>
          <a:p>
            <a:pPr>
              <a:spcAft>
                <a:spcPts val="0"/>
              </a:spcAft>
            </a:pPr>
            <a:endParaRPr lang="en-US" sz="2000" dirty="0"/>
          </a:p>
        </p:txBody>
      </p:sp>
      <p:graphicFrame>
        <p:nvGraphicFramePr>
          <p:cNvPr id="5" name="Table 7">
            <a:extLst>
              <a:ext uri="{FF2B5EF4-FFF2-40B4-BE49-F238E27FC236}">
                <a16:creationId xmlns:a16="http://schemas.microsoft.com/office/drawing/2014/main" id="{C27899DC-CE9F-FEE6-91A2-1A4C5BA4936B}"/>
              </a:ext>
            </a:extLst>
          </p:cNvPr>
          <p:cNvGraphicFramePr>
            <a:graphicFrameLocks noGrp="1"/>
          </p:cNvGraphicFramePr>
          <p:nvPr>
            <p:ph type="tbl" sz="quarter" idx="16"/>
            <p:extLst>
              <p:ext uri="{D42A27DB-BD31-4B8C-83A1-F6EECF244321}">
                <p14:modId xmlns:p14="http://schemas.microsoft.com/office/powerpoint/2010/main" val="3889293326"/>
              </p:ext>
            </p:extLst>
          </p:nvPr>
        </p:nvGraphicFramePr>
        <p:xfrm>
          <a:off x="2804160" y="3841897"/>
          <a:ext cx="6492240" cy="1874520"/>
        </p:xfrm>
        <a:graphic>
          <a:graphicData uri="http://schemas.openxmlformats.org/drawingml/2006/table">
            <a:tbl>
              <a:tblPr firstRow="1" bandRow="1">
                <a:tableStyleId>{5C22544A-7EE6-4342-B048-85BDC9FD1C3A}</a:tableStyleId>
              </a:tblPr>
              <a:tblGrid>
                <a:gridCol w="1776153">
                  <a:extLst>
                    <a:ext uri="{9D8B030D-6E8A-4147-A177-3AD203B41FA5}">
                      <a16:colId xmlns:a16="http://schemas.microsoft.com/office/drawing/2014/main" val="3333466591"/>
                    </a:ext>
                  </a:extLst>
                </a:gridCol>
                <a:gridCol w="1737360">
                  <a:extLst>
                    <a:ext uri="{9D8B030D-6E8A-4147-A177-3AD203B41FA5}">
                      <a16:colId xmlns:a16="http://schemas.microsoft.com/office/drawing/2014/main" val="2732388108"/>
                    </a:ext>
                  </a:extLst>
                </a:gridCol>
                <a:gridCol w="1737360">
                  <a:extLst>
                    <a:ext uri="{9D8B030D-6E8A-4147-A177-3AD203B41FA5}">
                      <a16:colId xmlns:a16="http://schemas.microsoft.com/office/drawing/2014/main" val="594657257"/>
                    </a:ext>
                  </a:extLst>
                </a:gridCol>
                <a:gridCol w="1241367">
                  <a:extLst>
                    <a:ext uri="{9D8B030D-6E8A-4147-A177-3AD203B41FA5}">
                      <a16:colId xmlns:a16="http://schemas.microsoft.com/office/drawing/2014/main" val="2291051564"/>
                    </a:ext>
                  </a:extLst>
                </a:gridCol>
              </a:tblGrid>
              <a:tr h="374904">
                <a:tc>
                  <a:txBody>
                    <a:bodyPr/>
                    <a:lstStyle/>
                    <a:p>
                      <a:pPr algn="l" fontAlgn="b"/>
                      <a:endParaRPr lang="en-US" sz="2000" b="1" i="0" u="none" strike="noStrike" dirty="0">
                        <a:solidFill>
                          <a:srgbClr val="0070C0"/>
                        </a:solidFill>
                        <a:effectLst/>
                        <a:latin typeface="Calibri" panose="020F0502020204030204" pitchFamily="34" charset="0"/>
                      </a:endParaRPr>
                    </a:p>
                  </a:txBody>
                  <a:tcPr marL="6350" marR="6350" marT="6350" marB="0" anchor="ctr">
                    <a:lnL w="12700" cmpd="sng">
                      <a:noFill/>
                    </a:lnL>
                    <a:lnR w="12700" cap="flat" cmpd="sng" algn="ctr">
                      <a:solidFill>
                        <a:schemeClr val="tx1"/>
                      </a:solidFill>
                      <a:prstDash val="solid"/>
                      <a:round/>
                      <a:headEnd type="none" w="med" len="med"/>
                      <a:tailEnd type="none" w="med" len="med"/>
                    </a:lnR>
                    <a:lnT w="381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r" fontAlgn="b"/>
                      <a:r>
                        <a:rPr lang="en-US" sz="2000" b="1" i="0" u="none" strike="noStrike" dirty="0">
                          <a:solidFill>
                            <a:srgbClr val="0070C0"/>
                          </a:solidFill>
                          <a:effectLst/>
                          <a:latin typeface="Calibri" panose="020F0502020204030204" pitchFamily="34" charset="0"/>
                        </a:rPr>
                        <a:t>Judge</a:t>
                      </a:r>
                      <a:endParaRPr lang="en-US" sz="2000" b="1" i="0" u="none" strike="noStrike" dirty="0">
                        <a:solidFill>
                          <a:srgbClr val="00000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mpd="sng">
                      <a:noFill/>
                    </a:lnR>
                    <a:lnT w="381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endParaRPr lang="en-US" sz="2000" b="1" i="0" u="none" strike="noStrike" dirty="0">
                        <a:solidFill>
                          <a:srgbClr val="000000"/>
                        </a:solidFill>
                        <a:effectLst/>
                        <a:latin typeface="Calibri" panose="020F0502020204030204" pitchFamily="34" charset="0"/>
                      </a:endParaRPr>
                    </a:p>
                  </a:txBody>
                  <a:tcPr marL="6350" marR="6350" marT="6350" marB="0" anchor="ctr">
                    <a:lnL w="12700" cmpd="sng">
                      <a:noFill/>
                    </a:lnL>
                    <a:lnR w="12700" cap="flat" cmpd="sng" algn="ctr">
                      <a:solidFill>
                        <a:schemeClr val="tx1"/>
                      </a:solidFill>
                      <a:prstDash val="solid"/>
                      <a:round/>
                      <a:headEnd type="none" w="med" len="med"/>
                      <a:tailEnd type="none" w="med" len="med"/>
                    </a:lnR>
                    <a:lnT w="381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endParaRPr lang="en-US" sz="2000" b="1" i="0" u="none" strike="noStrike" dirty="0">
                        <a:solidFill>
                          <a:srgbClr val="00000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mpd="sng">
                      <a:noFill/>
                    </a:lnR>
                    <a:lnT w="381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1756846936"/>
                  </a:ext>
                </a:extLst>
              </a:tr>
              <a:tr h="374904">
                <a:tc>
                  <a:txBody>
                    <a:bodyPr/>
                    <a:lstStyle/>
                    <a:p>
                      <a:pPr algn="l" fontAlgn="b"/>
                      <a:r>
                        <a:rPr lang="en-US" sz="2000" b="1" i="0" u="none" strike="noStrike" dirty="0">
                          <a:solidFill>
                            <a:srgbClr val="0070C0"/>
                          </a:solidFill>
                          <a:effectLst/>
                          <a:latin typeface="Calibri" panose="020F0502020204030204" pitchFamily="34" charset="0"/>
                        </a:rPr>
                        <a:t>   Verdict</a:t>
                      </a:r>
                    </a:p>
                  </a:txBody>
                  <a:tcPr marL="6350" marR="6350" marT="6350" marB="0" anchor="ctr">
                    <a:lnL w="12700" cmpd="sng">
                      <a:noFill/>
                    </a:lnL>
                    <a:lnR w="12700" cap="flat" cmpd="sng" algn="ctr">
                      <a:solidFill>
                        <a:schemeClr val="tx1"/>
                      </a:solidFill>
                      <a:prstDash val="solid"/>
                      <a:round/>
                      <a:headEnd type="none" w="med" len="med"/>
                      <a:tailEnd type="none" w="med" len="med"/>
                    </a:lnR>
                    <a:lnT w="381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2000" b="1" i="0" u="none" strike="noStrike" dirty="0">
                          <a:solidFill>
                            <a:srgbClr val="000000"/>
                          </a:solidFill>
                          <a:effectLst/>
                          <a:latin typeface="Calibri" panose="020F0502020204030204" pitchFamily="34" charset="0"/>
                        </a:rPr>
                        <a:t>Luckett </a:t>
                      </a:r>
                    </a:p>
                  </a:txBody>
                  <a:tcPr marL="6350" marR="6350" marT="6350" marB="0" anchor="ctr">
                    <a:lnL w="12700" cap="flat" cmpd="sng" algn="ctr">
                      <a:solidFill>
                        <a:schemeClr val="tx1"/>
                      </a:solidFill>
                      <a:prstDash val="solid"/>
                      <a:round/>
                      <a:headEnd type="none" w="med" len="med"/>
                      <a:tailEnd type="none" w="med" len="med"/>
                    </a:lnL>
                    <a:lnR w="12700" cmpd="sng">
                      <a:noFill/>
                    </a:lnR>
                    <a:lnT w="381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2000" b="1" i="0" u="none" strike="noStrike" dirty="0">
                          <a:solidFill>
                            <a:srgbClr val="000000"/>
                          </a:solidFill>
                          <a:effectLst/>
                          <a:latin typeface="Calibri" panose="020F0502020204030204" pitchFamily="34" charset="0"/>
                        </a:rPr>
                        <a:t>Kendall</a:t>
                      </a:r>
                    </a:p>
                  </a:txBody>
                  <a:tcPr marL="6350" marR="6350" marT="6350" marB="0" anchor="ctr">
                    <a:lnL w="12700" cmpd="sng">
                      <a:noFill/>
                    </a:lnL>
                    <a:lnR w="12700" cap="flat" cmpd="sng" algn="ctr">
                      <a:solidFill>
                        <a:schemeClr val="tx1"/>
                      </a:solidFill>
                      <a:prstDash val="solid"/>
                      <a:round/>
                      <a:headEnd type="none" w="med" len="med"/>
                      <a:tailEnd type="none" w="med" len="med"/>
                    </a:lnR>
                    <a:lnT w="381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2000" b="1" i="0" u="none" strike="noStrike" dirty="0">
                          <a:solidFill>
                            <a:srgbClr val="000000"/>
                          </a:solidFill>
                          <a:effectLst/>
                          <a:latin typeface="Calibri" panose="020F0502020204030204" pitchFamily="34" charset="0"/>
                        </a:rPr>
                        <a:t>Total </a:t>
                      </a:r>
                    </a:p>
                  </a:txBody>
                  <a:tcPr marL="6350" marR="6350" marT="6350" marB="0" anchor="ctr">
                    <a:lnL w="12700" cap="flat" cmpd="sng" algn="ctr">
                      <a:solidFill>
                        <a:schemeClr val="tx1"/>
                      </a:solidFill>
                      <a:prstDash val="solid"/>
                      <a:round/>
                      <a:headEnd type="none" w="med" len="med"/>
                      <a:tailEnd type="none" w="med" len="med"/>
                    </a:lnL>
                    <a:lnR w="12700" cmpd="sng">
                      <a:noFill/>
                    </a:lnR>
                    <a:lnT w="381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1629699716"/>
                  </a:ext>
                </a:extLst>
              </a:tr>
              <a:tr h="374904">
                <a:tc>
                  <a:txBody>
                    <a:bodyPr/>
                    <a:lstStyle/>
                    <a:p>
                      <a:pPr algn="l" fontAlgn="b"/>
                      <a:r>
                        <a:rPr lang="en-US" sz="2000" b="1" i="0" u="none" strike="noStrike" dirty="0">
                          <a:solidFill>
                            <a:srgbClr val="000000"/>
                          </a:solidFill>
                          <a:effectLst/>
                          <a:latin typeface="Calibri" panose="020F0502020204030204" pitchFamily="34" charset="0"/>
                        </a:rPr>
                        <a:t>   Upheld </a:t>
                      </a:r>
                    </a:p>
                  </a:txBody>
                  <a:tcPr marL="6350" marR="6350" marT="6350" marB="0"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2000" b="0" i="0" u="none" strike="noStrike" dirty="0">
                          <a:solidFill>
                            <a:srgbClr val="000000"/>
                          </a:solidFill>
                          <a:effectLst/>
                          <a:latin typeface="Calibri" panose="020F0502020204030204" pitchFamily="34" charset="0"/>
                        </a:rPr>
                        <a:t>  129 (86%)</a:t>
                      </a:r>
                    </a:p>
                  </a:txBody>
                  <a:tcPr marL="6350" marR="6350" marT="635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2000" b="0" i="0" u="none" strike="noStrike" dirty="0">
                          <a:solidFill>
                            <a:srgbClr val="000000"/>
                          </a:solidFill>
                          <a:effectLst/>
                          <a:latin typeface="Calibri" panose="020F0502020204030204" pitchFamily="34" charset="0"/>
                        </a:rPr>
                        <a:t> 110 (88%)</a:t>
                      </a:r>
                    </a:p>
                  </a:txBody>
                  <a:tcPr marL="6350" marR="6350" marT="6350" marB="0"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2000" b="0" i="0" u="none" strike="noStrike" dirty="0">
                          <a:solidFill>
                            <a:srgbClr val="000000"/>
                          </a:solidFill>
                          <a:effectLst/>
                          <a:latin typeface="Calibri" panose="020F0502020204030204" pitchFamily="34" charset="0"/>
                        </a:rPr>
                        <a:t>239</a:t>
                      </a:r>
                    </a:p>
                  </a:txBody>
                  <a:tcPr marL="6350" marR="6350" marT="635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4119601160"/>
                  </a:ext>
                </a:extLst>
              </a:tr>
              <a:tr h="374904">
                <a:tc>
                  <a:txBody>
                    <a:bodyPr/>
                    <a:lstStyle/>
                    <a:p>
                      <a:pPr algn="l" fontAlgn="b"/>
                      <a:r>
                        <a:rPr lang="en-US" sz="2000" b="1" i="0" u="none" strike="noStrike" dirty="0">
                          <a:solidFill>
                            <a:srgbClr val="000000"/>
                          </a:solidFill>
                          <a:effectLst/>
                          <a:latin typeface="Calibri" panose="020F0502020204030204" pitchFamily="34" charset="0"/>
                        </a:rPr>
                        <a:t>   Reversed </a:t>
                      </a:r>
                    </a:p>
                  </a:txBody>
                  <a:tcPr marL="6350" marR="6350" marT="6350" marB="0"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2000" b="0" i="0" u="none" strike="noStrike" dirty="0">
                          <a:solidFill>
                            <a:srgbClr val="000000"/>
                          </a:solidFill>
                          <a:effectLst/>
                          <a:latin typeface="Calibri" panose="020F0502020204030204" pitchFamily="34" charset="0"/>
                        </a:rPr>
                        <a:t>    21 (14%)</a:t>
                      </a:r>
                    </a:p>
                  </a:txBody>
                  <a:tcPr marL="6350" marR="6350" marT="6350" marB="0"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2000" b="0" i="0" u="none" strike="noStrike" dirty="0">
                          <a:solidFill>
                            <a:srgbClr val="000000"/>
                          </a:solidFill>
                          <a:effectLst/>
                          <a:latin typeface="Calibri" panose="020F0502020204030204" pitchFamily="34" charset="0"/>
                        </a:rPr>
                        <a:t>    15 (12%)</a:t>
                      </a:r>
                    </a:p>
                  </a:txBody>
                  <a:tcPr marL="6350" marR="6350" marT="6350" marB="0"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2000" b="0" i="0" u="none" strike="noStrike" dirty="0">
                          <a:solidFill>
                            <a:srgbClr val="000000"/>
                          </a:solidFill>
                          <a:effectLst/>
                          <a:latin typeface="Calibri" panose="020F0502020204030204" pitchFamily="34" charset="0"/>
                        </a:rPr>
                        <a:t>  36</a:t>
                      </a:r>
                    </a:p>
                  </a:txBody>
                  <a:tcPr marL="6350" marR="6350" marT="6350" marB="0"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3023922670"/>
                  </a:ext>
                </a:extLst>
              </a:tr>
              <a:tr h="374904">
                <a:tc>
                  <a:txBody>
                    <a:bodyPr/>
                    <a:lstStyle/>
                    <a:p>
                      <a:pPr algn="ctr" fontAlgn="b"/>
                      <a:r>
                        <a:rPr lang="en-US" sz="2000" b="1" i="0" u="none" strike="noStrike" dirty="0" err="1">
                          <a:solidFill>
                            <a:srgbClr val="000000"/>
                          </a:solidFill>
                          <a:effectLst/>
                          <a:latin typeface="Calibri" panose="020F0502020204030204" pitchFamily="34" charset="0"/>
                        </a:rPr>
                        <a:t>TotaI</a:t>
                      </a:r>
                      <a:r>
                        <a:rPr lang="en-US" sz="2000" b="1" i="0" u="none" strike="noStrike" dirty="0">
                          <a:solidFill>
                            <a:srgbClr val="000000"/>
                          </a:solidFill>
                          <a:effectLst/>
                          <a:latin typeface="Calibri" panose="020F0502020204030204" pitchFamily="34" charset="0"/>
                        </a:rPr>
                        <a:t> (%)</a:t>
                      </a:r>
                    </a:p>
                  </a:txBody>
                  <a:tcPr marL="6350" marR="6350" marT="6350" marB="0"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2000" b="0" i="0" u="none" strike="noStrike" dirty="0">
                          <a:solidFill>
                            <a:srgbClr val="000000"/>
                          </a:solidFill>
                          <a:effectLst/>
                          <a:latin typeface="Calibri" panose="020F0502020204030204" pitchFamily="34" charset="0"/>
                        </a:rPr>
                        <a:t>150 (100%)</a:t>
                      </a:r>
                    </a:p>
                  </a:txBody>
                  <a:tcPr marL="6350" marR="6350" marT="635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2000" b="0" i="0" u="none" strike="noStrike" dirty="0">
                          <a:solidFill>
                            <a:srgbClr val="000000"/>
                          </a:solidFill>
                          <a:effectLst/>
                          <a:latin typeface="Calibri" panose="020F0502020204030204" pitchFamily="34" charset="0"/>
                        </a:rPr>
                        <a:t>125 (100%)</a:t>
                      </a:r>
                    </a:p>
                  </a:txBody>
                  <a:tcPr marL="6350" marR="6350" marT="6350" marB="0"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2000" b="0" i="0" u="none" strike="noStrike" dirty="0">
                          <a:solidFill>
                            <a:srgbClr val="000000"/>
                          </a:solidFill>
                          <a:effectLst/>
                          <a:latin typeface="Calibri" panose="020F0502020204030204" pitchFamily="34" charset="0"/>
                        </a:rPr>
                        <a:t>275</a:t>
                      </a:r>
                    </a:p>
                  </a:txBody>
                  <a:tcPr marL="6350" marR="6350" marT="635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208302951"/>
                  </a:ext>
                </a:extLst>
              </a:tr>
            </a:tbl>
          </a:graphicData>
        </a:graphic>
      </p:graphicFrame>
    </p:spTree>
    <p:extLst>
      <p:ext uri="{BB962C8B-B14F-4D97-AF65-F5344CB8AC3E}">
        <p14:creationId xmlns:p14="http://schemas.microsoft.com/office/powerpoint/2010/main" val="21723616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2F1851-52D5-03F3-7981-83429886F204}"/>
              </a:ext>
            </a:extLst>
          </p:cNvPr>
          <p:cNvSpPr>
            <a:spLocks noGrp="1"/>
          </p:cNvSpPr>
          <p:nvPr>
            <p:ph type="title"/>
          </p:nvPr>
        </p:nvSpPr>
        <p:spPr/>
        <p:txBody>
          <a:bodyPr/>
          <a:lstStyle/>
          <a:p>
            <a:r>
              <a:rPr lang="en-US" dirty="0"/>
              <a:t>2.3 Simpson’s Paradox</a:t>
            </a:r>
          </a:p>
        </p:txBody>
      </p:sp>
      <p:sp>
        <p:nvSpPr>
          <p:cNvPr id="3" name="Text Placeholder 2">
            <a:extLst>
              <a:ext uri="{FF2B5EF4-FFF2-40B4-BE49-F238E27FC236}">
                <a16:creationId xmlns:a16="http://schemas.microsoft.com/office/drawing/2014/main" id="{E2F8492D-AD9D-EE5B-D41A-129A2A09ACBF}"/>
              </a:ext>
            </a:extLst>
          </p:cNvPr>
          <p:cNvSpPr>
            <a:spLocks noGrp="1"/>
          </p:cNvSpPr>
          <p:nvPr>
            <p:ph type="body" sz="quarter" idx="15"/>
          </p:nvPr>
        </p:nvSpPr>
        <p:spPr>
          <a:xfrm>
            <a:off x="743577" y="1381202"/>
            <a:ext cx="10607040" cy="2130552"/>
          </a:xfrm>
        </p:spPr>
        <p:txBody>
          <a:bodyPr/>
          <a:lstStyle/>
          <a:p>
            <a:pPr>
              <a:spcAft>
                <a:spcPts val="0"/>
              </a:spcAft>
            </a:pPr>
            <a:r>
              <a:rPr lang="en-US" sz="2000" dirty="0"/>
              <a:t>However, when the results are disaggregated by type of Court (Common Pleas vs. Municipal Court) into two</a:t>
            </a:r>
            <a:r>
              <a:rPr lang="en-US" sz="2000" dirty="0">
                <a:solidFill>
                  <a:srgbClr val="FF0000"/>
                </a:solidFill>
              </a:rPr>
              <a:t>,</a:t>
            </a:r>
            <a:r>
              <a:rPr lang="en-US" sz="2000" dirty="0"/>
              <a:t> a separate crosstabulation for each Judge, a different picture emerges:</a:t>
            </a:r>
          </a:p>
          <a:p>
            <a:pPr marL="457200" indent="-284163">
              <a:spcAft>
                <a:spcPts val="0"/>
              </a:spcAft>
              <a:buFont typeface="Arial" panose="020B0604020202020204" pitchFamily="34" charset="0"/>
              <a:buChar char="•"/>
            </a:pPr>
            <a:r>
              <a:rPr lang="en-US" sz="2000" dirty="0"/>
              <a:t>Judge Luckett leads Judge Kendall in Common Pleas Court upheld verdicts, 91% to 90%.</a:t>
            </a:r>
          </a:p>
          <a:p>
            <a:pPr marL="457200" indent="-284163">
              <a:spcAft>
                <a:spcPts val="0"/>
              </a:spcAft>
              <a:buFont typeface="Arial" panose="020B0604020202020204" pitchFamily="34" charset="0"/>
              <a:buChar char="•"/>
            </a:pPr>
            <a:r>
              <a:rPr lang="en-US" sz="2000" dirty="0"/>
              <a:t>Judge Luckett also leads Judge Kendall in Municipal Court upheld verdicts, 85% to 80%.</a:t>
            </a:r>
          </a:p>
          <a:p>
            <a:pPr>
              <a:spcAft>
                <a:spcPts val="0"/>
              </a:spcAft>
            </a:pPr>
            <a:r>
              <a:rPr lang="en-US" sz="2000" dirty="0"/>
              <a:t>The reversal of conclusions based on aggregate and disaggregated data is called </a:t>
            </a:r>
            <a:r>
              <a:rPr lang="en-US" sz="2000" b="1" dirty="0"/>
              <a:t>Simpson’s Paradox</a:t>
            </a:r>
            <a:r>
              <a:rPr lang="en-US" sz="2000" dirty="0"/>
              <a:t>.</a:t>
            </a:r>
          </a:p>
        </p:txBody>
      </p:sp>
      <p:graphicFrame>
        <p:nvGraphicFramePr>
          <p:cNvPr id="5" name="Table 5">
            <a:extLst>
              <a:ext uri="{FF2B5EF4-FFF2-40B4-BE49-F238E27FC236}">
                <a16:creationId xmlns:a16="http://schemas.microsoft.com/office/drawing/2014/main" id="{127DCAE0-D89B-BFDE-11DB-3AEBCD82A819}"/>
              </a:ext>
            </a:extLst>
          </p:cNvPr>
          <p:cNvGraphicFramePr>
            <a:graphicFrameLocks noGrp="1"/>
          </p:cNvGraphicFramePr>
          <p:nvPr>
            <p:ph type="tbl" sz="quarter" idx="16"/>
            <p:extLst>
              <p:ext uri="{D42A27DB-BD31-4B8C-83A1-F6EECF244321}">
                <p14:modId xmlns:p14="http://schemas.microsoft.com/office/powerpoint/2010/main" val="2262939816"/>
              </p:ext>
            </p:extLst>
          </p:nvPr>
        </p:nvGraphicFramePr>
        <p:xfrm>
          <a:off x="743577" y="3494381"/>
          <a:ext cx="10610225" cy="2344420"/>
        </p:xfrm>
        <a:graphic>
          <a:graphicData uri="http://schemas.openxmlformats.org/drawingml/2006/table">
            <a:tbl>
              <a:tblPr firstRow="1" bandRow="1">
                <a:tableStyleId>{5C22544A-7EE6-4342-B048-85BDC9FD1C3A}</a:tableStyleId>
              </a:tblPr>
              <a:tblGrid>
                <a:gridCol w="1307820">
                  <a:extLst>
                    <a:ext uri="{9D8B030D-6E8A-4147-A177-3AD203B41FA5}">
                      <a16:colId xmlns:a16="http://schemas.microsoft.com/office/drawing/2014/main" val="3523672463"/>
                    </a:ext>
                  </a:extLst>
                </a:gridCol>
                <a:gridCol w="1439130">
                  <a:extLst>
                    <a:ext uri="{9D8B030D-6E8A-4147-A177-3AD203B41FA5}">
                      <a16:colId xmlns:a16="http://schemas.microsoft.com/office/drawing/2014/main" val="1807896702"/>
                    </a:ext>
                  </a:extLst>
                </a:gridCol>
                <a:gridCol w="1671782">
                  <a:extLst>
                    <a:ext uri="{9D8B030D-6E8A-4147-A177-3AD203B41FA5}">
                      <a16:colId xmlns:a16="http://schemas.microsoft.com/office/drawing/2014/main" val="4082484038"/>
                    </a:ext>
                  </a:extLst>
                </a:gridCol>
                <a:gridCol w="812550">
                  <a:extLst>
                    <a:ext uri="{9D8B030D-6E8A-4147-A177-3AD203B41FA5}">
                      <a16:colId xmlns:a16="http://schemas.microsoft.com/office/drawing/2014/main" val="1988543038"/>
                    </a:ext>
                  </a:extLst>
                </a:gridCol>
                <a:gridCol w="410199">
                  <a:extLst>
                    <a:ext uri="{9D8B030D-6E8A-4147-A177-3AD203B41FA5}">
                      <a16:colId xmlns:a16="http://schemas.microsoft.com/office/drawing/2014/main" val="1457467324"/>
                    </a:ext>
                  </a:extLst>
                </a:gridCol>
                <a:gridCol w="1307820">
                  <a:extLst>
                    <a:ext uri="{9D8B030D-6E8A-4147-A177-3AD203B41FA5}">
                      <a16:colId xmlns:a16="http://schemas.microsoft.com/office/drawing/2014/main" val="922413943"/>
                    </a:ext>
                  </a:extLst>
                </a:gridCol>
                <a:gridCol w="1307820">
                  <a:extLst>
                    <a:ext uri="{9D8B030D-6E8A-4147-A177-3AD203B41FA5}">
                      <a16:colId xmlns:a16="http://schemas.microsoft.com/office/drawing/2014/main" val="3766965325"/>
                    </a:ext>
                  </a:extLst>
                </a:gridCol>
                <a:gridCol w="1307820">
                  <a:extLst>
                    <a:ext uri="{9D8B030D-6E8A-4147-A177-3AD203B41FA5}">
                      <a16:colId xmlns:a16="http://schemas.microsoft.com/office/drawing/2014/main" val="1369533537"/>
                    </a:ext>
                  </a:extLst>
                </a:gridCol>
                <a:gridCol w="1045284">
                  <a:extLst>
                    <a:ext uri="{9D8B030D-6E8A-4147-A177-3AD203B41FA5}">
                      <a16:colId xmlns:a16="http://schemas.microsoft.com/office/drawing/2014/main" val="1687879382"/>
                    </a:ext>
                  </a:extLst>
                </a:gridCol>
              </a:tblGrid>
              <a:tr h="370840">
                <a:tc>
                  <a:txBody>
                    <a:bodyPr/>
                    <a:lstStyle/>
                    <a:p>
                      <a:pPr algn="l" fontAlgn="b"/>
                      <a:endParaRPr lang="en-US" sz="2000" b="1" i="0" u="none" strike="noStrike" dirty="0">
                        <a:solidFill>
                          <a:srgbClr val="0070C0"/>
                        </a:solidFill>
                        <a:effectLst/>
                        <a:latin typeface="Calibri" panose="020F0502020204030204" pitchFamily="34" charset="0"/>
                      </a:endParaRPr>
                    </a:p>
                  </a:txBody>
                  <a:tcPr marL="6350" marR="6350" marT="6350" marB="0" anchor="ctr">
                    <a:lnL w="12700" cmpd="sng">
                      <a:noFill/>
                    </a:lnL>
                    <a:lnR w="12700" cap="flat" cmpd="sng" algn="ctr">
                      <a:solidFill>
                        <a:schemeClr val="tx1"/>
                      </a:solidFill>
                      <a:prstDash val="solid"/>
                      <a:round/>
                      <a:headEnd type="none" w="med" len="med"/>
                      <a:tailEnd type="none" w="med" len="med"/>
                    </a:lnR>
                    <a:lnT w="381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lang="en-US" sz="2000" b="1" i="0" u="none" strike="noStrike" dirty="0">
                          <a:solidFill>
                            <a:srgbClr val="0070C0"/>
                          </a:solidFill>
                          <a:effectLst/>
                          <a:latin typeface="Calibri" panose="020F0502020204030204" pitchFamily="34" charset="0"/>
                        </a:rPr>
                        <a:t>Judge Luckett</a:t>
                      </a:r>
                    </a:p>
                  </a:txBody>
                  <a:tcPr marL="6350" marR="6350" marT="6350" marB="0" anchor="ctr">
                    <a:lnL w="12700" cap="flat" cmpd="sng" algn="ctr">
                      <a:solidFill>
                        <a:schemeClr val="tx1"/>
                      </a:solidFill>
                      <a:prstDash val="solid"/>
                      <a:round/>
                      <a:headEnd type="none" w="med" len="med"/>
                      <a:tailEnd type="none" w="med" len="med"/>
                    </a:lnL>
                    <a:lnR w="12700" cmpd="sng">
                      <a:noFill/>
                    </a:lnR>
                    <a:lnT w="381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2000" b="1" i="0" u="none" strike="noStrike" dirty="0">
                          <a:solidFill>
                            <a:srgbClr val="0070C0"/>
                          </a:solidFill>
                          <a:effectLst/>
                          <a:latin typeface="Calibri" panose="020F0502020204030204" pitchFamily="34" charset="0"/>
                        </a:rPr>
                        <a:t>Judge Luckett</a:t>
                      </a:r>
                    </a:p>
                  </a:txBody>
                  <a:tcPr marL="6350" marR="6350" marT="6350" marB="0" anchor="ctr">
                    <a:lnL w="12700" cmpd="sng">
                      <a:noFill/>
                    </a:lnL>
                    <a:lnR w="12700" cap="flat" cmpd="sng" algn="ctr">
                      <a:solidFill>
                        <a:schemeClr val="tx1"/>
                      </a:solidFill>
                      <a:prstDash val="solid"/>
                      <a:round/>
                      <a:headEnd type="none" w="med" len="med"/>
                      <a:tailEnd type="none" w="med" len="med"/>
                    </a:lnR>
                    <a:lnT w="381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endParaRPr lang="en-US" sz="2000" b="1" i="0" u="none" strike="noStrike" dirty="0">
                        <a:solidFill>
                          <a:srgbClr val="00000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mpd="sng">
                      <a:noFill/>
                    </a:lnR>
                    <a:lnT w="381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endParaRPr lang="en-US"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l" fontAlgn="b"/>
                      <a:endParaRPr lang="en-US" sz="2000" b="1" i="0" u="none" strike="noStrike" dirty="0">
                        <a:solidFill>
                          <a:srgbClr val="0070C0"/>
                        </a:solidFill>
                        <a:effectLst/>
                        <a:latin typeface="Calibri" panose="020F0502020204030204" pitchFamily="34" charset="0"/>
                      </a:endParaRPr>
                    </a:p>
                  </a:txBody>
                  <a:tcPr marL="6350" marR="6350" marT="6350" marB="0" anchor="ctr">
                    <a:lnL w="12700" cmpd="sng">
                      <a:noFill/>
                    </a:lnL>
                    <a:lnR w="12700" cap="flat" cmpd="sng" algn="ctr">
                      <a:solidFill>
                        <a:schemeClr val="tx1"/>
                      </a:solidFill>
                      <a:prstDash val="solid"/>
                      <a:round/>
                      <a:headEnd type="none" w="med" len="med"/>
                      <a:tailEnd type="none" w="med" len="med"/>
                    </a:lnR>
                    <a:lnT w="381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2000" b="1" i="0" u="none" strike="noStrike" dirty="0">
                          <a:solidFill>
                            <a:srgbClr val="0070C0"/>
                          </a:solidFill>
                          <a:effectLst/>
                          <a:latin typeface="Calibri" panose="020F0502020204030204" pitchFamily="34" charset="0"/>
                        </a:rPr>
                        <a:t>Judge Kendall</a:t>
                      </a:r>
                    </a:p>
                  </a:txBody>
                  <a:tcPr marL="6350" marR="6350" marT="6350" marB="0" anchor="ctr">
                    <a:lnL w="12700" cap="flat" cmpd="sng" algn="ctr">
                      <a:solidFill>
                        <a:schemeClr val="tx1"/>
                      </a:solidFill>
                      <a:prstDash val="solid"/>
                      <a:round/>
                      <a:headEnd type="none" w="med" len="med"/>
                      <a:tailEnd type="none" w="med" len="med"/>
                    </a:lnL>
                    <a:lnR w="12700" cmpd="sng">
                      <a:noFill/>
                    </a:lnR>
                    <a:lnT w="381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2000" b="1" i="0" u="none" strike="noStrike" dirty="0">
                          <a:solidFill>
                            <a:srgbClr val="0070C0"/>
                          </a:solidFill>
                          <a:effectLst/>
                          <a:latin typeface="Calibri" panose="020F0502020204030204" pitchFamily="34" charset="0"/>
                        </a:rPr>
                        <a:t>Judge Kendall</a:t>
                      </a:r>
                    </a:p>
                  </a:txBody>
                  <a:tcPr marL="6350" marR="6350" marT="6350" marB="0" anchor="ctr">
                    <a:lnL w="12700" cmpd="sng">
                      <a:noFill/>
                    </a:lnL>
                    <a:lnR w="12700" cap="flat" cmpd="sng" algn="ctr">
                      <a:solidFill>
                        <a:schemeClr val="tx1"/>
                      </a:solidFill>
                      <a:prstDash val="solid"/>
                      <a:round/>
                      <a:headEnd type="none" w="med" len="med"/>
                      <a:tailEnd type="none" w="med" len="med"/>
                    </a:lnR>
                    <a:lnT w="381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endParaRPr lang="en-US" sz="2000" b="1" i="0" u="none" strike="noStrike" dirty="0">
                        <a:solidFill>
                          <a:srgbClr val="00000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mpd="sng">
                      <a:noFill/>
                    </a:lnR>
                    <a:lnT w="381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15052086"/>
                  </a:ext>
                </a:extLst>
              </a:tr>
              <a:tr h="370840">
                <a:tc>
                  <a:txBody>
                    <a:bodyPr/>
                    <a:lstStyle/>
                    <a:p>
                      <a:pPr algn="l" fontAlgn="b"/>
                      <a:r>
                        <a:rPr lang="en-US" sz="2000" b="1" i="0" u="none" strike="noStrike" dirty="0">
                          <a:solidFill>
                            <a:srgbClr val="0070C0"/>
                          </a:solidFill>
                          <a:effectLst/>
                          <a:latin typeface="Calibri" panose="020F0502020204030204" pitchFamily="34" charset="0"/>
                        </a:rPr>
                        <a:t>   Verdict</a:t>
                      </a:r>
                    </a:p>
                  </a:txBody>
                  <a:tcPr marL="6350" marR="6350" marT="6350" marB="0" anchor="ctr">
                    <a:lnL w="12700" cmpd="sng">
                      <a:noFill/>
                    </a:lnL>
                    <a:lnR w="12700" cap="flat" cmpd="sng" algn="ctr">
                      <a:solidFill>
                        <a:schemeClr val="tx1"/>
                      </a:solidFill>
                      <a:prstDash val="solid"/>
                      <a:round/>
                      <a:headEnd type="none" w="med" len="med"/>
                      <a:tailEnd type="none" w="med" len="med"/>
                    </a:lnR>
                    <a:lnT w="381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2000" b="1" i="0" u="none" strike="noStrike" dirty="0">
                          <a:solidFill>
                            <a:srgbClr val="000000"/>
                          </a:solidFill>
                          <a:effectLst/>
                          <a:latin typeface="Calibri" panose="020F0502020204030204" pitchFamily="34" charset="0"/>
                        </a:rPr>
                        <a:t>Common Pleas </a:t>
                      </a:r>
                    </a:p>
                  </a:txBody>
                  <a:tcPr marL="6350" marR="6350" marT="6350" marB="0" anchor="ctr">
                    <a:lnL w="12700" cap="flat" cmpd="sng" algn="ctr">
                      <a:solidFill>
                        <a:schemeClr val="tx1"/>
                      </a:solidFill>
                      <a:prstDash val="solid"/>
                      <a:round/>
                      <a:headEnd type="none" w="med" len="med"/>
                      <a:tailEnd type="none" w="med" len="med"/>
                    </a:lnL>
                    <a:lnR w="12700" cmpd="sng">
                      <a:noFill/>
                    </a:lnR>
                    <a:lnT w="381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2000" b="1" i="0" u="none" strike="noStrike" dirty="0">
                          <a:solidFill>
                            <a:srgbClr val="000000"/>
                          </a:solidFill>
                          <a:effectLst/>
                          <a:latin typeface="Calibri" panose="020F0502020204030204" pitchFamily="34" charset="0"/>
                        </a:rPr>
                        <a:t>Municipal Court</a:t>
                      </a:r>
                    </a:p>
                  </a:txBody>
                  <a:tcPr marL="6350" marR="6350" marT="6350" marB="0" anchor="ctr">
                    <a:lnL w="12700" cmpd="sng">
                      <a:noFill/>
                    </a:lnL>
                    <a:lnR w="12700" cap="flat" cmpd="sng" algn="ctr">
                      <a:solidFill>
                        <a:schemeClr val="tx1"/>
                      </a:solidFill>
                      <a:prstDash val="solid"/>
                      <a:round/>
                      <a:headEnd type="none" w="med" len="med"/>
                      <a:tailEnd type="none" w="med" len="med"/>
                    </a:lnR>
                    <a:lnT w="381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2000" b="1" i="0" u="none" strike="noStrike" dirty="0">
                          <a:solidFill>
                            <a:srgbClr val="000000"/>
                          </a:solidFill>
                          <a:effectLst/>
                          <a:latin typeface="Calibri" panose="020F0502020204030204" pitchFamily="34" charset="0"/>
                        </a:rPr>
                        <a:t>Total </a:t>
                      </a:r>
                    </a:p>
                  </a:txBody>
                  <a:tcPr marL="6350" marR="6350" marT="6350" marB="0" anchor="ctr">
                    <a:lnL w="12700" cap="flat" cmpd="sng" algn="ctr">
                      <a:solidFill>
                        <a:schemeClr val="tx1"/>
                      </a:solidFill>
                      <a:prstDash val="solid"/>
                      <a:round/>
                      <a:headEnd type="none" w="med" len="med"/>
                      <a:tailEnd type="none" w="med" len="med"/>
                    </a:lnL>
                    <a:lnR w="12700" cmpd="sng">
                      <a:noFill/>
                    </a:lnR>
                    <a:lnT w="381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endParaRPr lang="en-US"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l" fontAlgn="b"/>
                      <a:r>
                        <a:rPr lang="en-US" sz="2000" b="1" i="0" u="none" strike="noStrike" dirty="0">
                          <a:solidFill>
                            <a:srgbClr val="0070C0"/>
                          </a:solidFill>
                          <a:effectLst/>
                          <a:latin typeface="Calibri" panose="020F0502020204030204" pitchFamily="34" charset="0"/>
                        </a:rPr>
                        <a:t>   Verdict</a:t>
                      </a:r>
                    </a:p>
                  </a:txBody>
                  <a:tcPr marL="6350" marR="6350" marT="6350" marB="0" anchor="ctr">
                    <a:lnL w="12700" cmpd="sng">
                      <a:noFill/>
                    </a:lnL>
                    <a:lnR w="12700" cap="flat" cmpd="sng" algn="ctr">
                      <a:solidFill>
                        <a:schemeClr val="tx1"/>
                      </a:solidFill>
                      <a:prstDash val="solid"/>
                      <a:round/>
                      <a:headEnd type="none" w="med" len="med"/>
                      <a:tailEnd type="none" w="med" len="med"/>
                    </a:lnR>
                    <a:lnT w="381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2000" b="1" i="0" u="none" strike="noStrike" dirty="0">
                          <a:solidFill>
                            <a:srgbClr val="000000"/>
                          </a:solidFill>
                          <a:effectLst/>
                          <a:latin typeface="Calibri" panose="020F0502020204030204" pitchFamily="34" charset="0"/>
                        </a:rPr>
                        <a:t>Common Pleas </a:t>
                      </a:r>
                    </a:p>
                  </a:txBody>
                  <a:tcPr marL="6350" marR="6350" marT="6350" marB="0" anchor="ctr">
                    <a:lnL w="12700" cap="flat" cmpd="sng" algn="ctr">
                      <a:solidFill>
                        <a:schemeClr val="tx1"/>
                      </a:solidFill>
                      <a:prstDash val="solid"/>
                      <a:round/>
                      <a:headEnd type="none" w="med" len="med"/>
                      <a:tailEnd type="none" w="med" len="med"/>
                    </a:lnL>
                    <a:lnR w="12700" cmpd="sng">
                      <a:noFill/>
                    </a:lnR>
                    <a:lnT w="381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2000" b="1" i="0" u="none" strike="noStrike" dirty="0">
                          <a:solidFill>
                            <a:srgbClr val="000000"/>
                          </a:solidFill>
                          <a:effectLst/>
                          <a:latin typeface="Calibri" panose="020F0502020204030204" pitchFamily="34" charset="0"/>
                        </a:rPr>
                        <a:t>Municipal Court</a:t>
                      </a:r>
                    </a:p>
                  </a:txBody>
                  <a:tcPr marL="6350" marR="6350" marT="6350" marB="0" anchor="ctr">
                    <a:lnL w="12700" cmpd="sng">
                      <a:noFill/>
                    </a:lnL>
                    <a:lnR w="12700" cap="flat" cmpd="sng" algn="ctr">
                      <a:solidFill>
                        <a:schemeClr val="tx1"/>
                      </a:solidFill>
                      <a:prstDash val="solid"/>
                      <a:round/>
                      <a:headEnd type="none" w="med" len="med"/>
                      <a:tailEnd type="none" w="med" len="med"/>
                    </a:lnR>
                    <a:lnT w="381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2000" b="1" i="0" u="none" strike="noStrike" dirty="0">
                          <a:solidFill>
                            <a:srgbClr val="000000"/>
                          </a:solidFill>
                          <a:effectLst/>
                          <a:latin typeface="Calibri" panose="020F0502020204030204" pitchFamily="34" charset="0"/>
                        </a:rPr>
                        <a:t>Total </a:t>
                      </a:r>
                    </a:p>
                  </a:txBody>
                  <a:tcPr marL="6350" marR="6350" marT="6350" marB="0" anchor="ctr">
                    <a:lnL w="12700" cap="flat" cmpd="sng" algn="ctr">
                      <a:solidFill>
                        <a:schemeClr val="tx1"/>
                      </a:solidFill>
                      <a:prstDash val="solid"/>
                      <a:round/>
                      <a:headEnd type="none" w="med" len="med"/>
                      <a:tailEnd type="none" w="med" len="med"/>
                    </a:lnL>
                    <a:lnR w="12700" cmpd="sng">
                      <a:noFill/>
                    </a:lnR>
                    <a:lnT w="381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2403418777"/>
                  </a:ext>
                </a:extLst>
              </a:tr>
              <a:tr h="370840">
                <a:tc>
                  <a:txBody>
                    <a:bodyPr/>
                    <a:lstStyle/>
                    <a:p>
                      <a:pPr algn="l" fontAlgn="b"/>
                      <a:r>
                        <a:rPr lang="en-US" sz="2000" b="1" i="0" u="none" strike="noStrike" dirty="0">
                          <a:solidFill>
                            <a:srgbClr val="000000"/>
                          </a:solidFill>
                          <a:effectLst/>
                          <a:latin typeface="Calibri" panose="020F0502020204030204" pitchFamily="34" charset="0"/>
                        </a:rPr>
                        <a:t>   Upheld </a:t>
                      </a:r>
                    </a:p>
                  </a:txBody>
                  <a:tcPr marL="6350" marR="6350" marT="6350" marB="0"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2000" b="0" i="0" u="none" strike="noStrike" dirty="0">
                          <a:solidFill>
                            <a:srgbClr val="000000"/>
                          </a:solidFill>
                          <a:effectLst/>
                          <a:latin typeface="Calibri" panose="020F0502020204030204" pitchFamily="34" charset="0"/>
                        </a:rPr>
                        <a:t>  29 (91%)</a:t>
                      </a:r>
                    </a:p>
                  </a:txBody>
                  <a:tcPr marL="6350" marR="6350" marT="635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2000" b="0" i="0" u="none" strike="noStrike" dirty="0">
                          <a:solidFill>
                            <a:srgbClr val="000000"/>
                          </a:solidFill>
                          <a:effectLst/>
                          <a:latin typeface="Calibri" panose="020F0502020204030204" pitchFamily="34" charset="0"/>
                        </a:rPr>
                        <a:t> 100 (85%)</a:t>
                      </a:r>
                    </a:p>
                  </a:txBody>
                  <a:tcPr marL="6350" marR="6350" marT="6350" marB="0"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2000" b="0" i="0" u="none" strike="noStrike" dirty="0">
                          <a:solidFill>
                            <a:srgbClr val="000000"/>
                          </a:solidFill>
                          <a:effectLst/>
                          <a:latin typeface="Calibri" panose="020F0502020204030204" pitchFamily="34" charset="0"/>
                        </a:rPr>
                        <a:t>129</a:t>
                      </a:r>
                    </a:p>
                  </a:txBody>
                  <a:tcPr marL="6350" marR="6350" marT="635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r>
                        <a:rPr lang="en-US" sz="2000" b="1" i="0" u="none" strike="noStrike" dirty="0">
                          <a:solidFill>
                            <a:srgbClr val="000000"/>
                          </a:solidFill>
                          <a:effectLst/>
                          <a:latin typeface="Calibri" panose="020F0502020204030204" pitchFamily="34" charset="0"/>
                        </a:rPr>
                        <a:t>   Upheld </a:t>
                      </a:r>
                    </a:p>
                  </a:txBody>
                  <a:tcPr marL="6350" marR="6350" marT="6350" marB="0"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2000" b="0" i="0" u="none" strike="noStrike" dirty="0">
                          <a:solidFill>
                            <a:srgbClr val="000000"/>
                          </a:solidFill>
                          <a:effectLst/>
                          <a:latin typeface="Calibri" panose="020F0502020204030204" pitchFamily="34" charset="0"/>
                        </a:rPr>
                        <a:t>    90 (90%)</a:t>
                      </a:r>
                    </a:p>
                  </a:txBody>
                  <a:tcPr marL="6350" marR="6350" marT="635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2000" b="0" i="0" u="none" strike="noStrike" dirty="0">
                          <a:solidFill>
                            <a:srgbClr val="000000"/>
                          </a:solidFill>
                          <a:effectLst/>
                          <a:latin typeface="Calibri" panose="020F0502020204030204" pitchFamily="34" charset="0"/>
                        </a:rPr>
                        <a:t> 20 (80%)</a:t>
                      </a:r>
                    </a:p>
                  </a:txBody>
                  <a:tcPr marL="6350" marR="6350" marT="6350" marB="0"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2000" b="0" i="0" u="none" strike="noStrike" dirty="0">
                          <a:solidFill>
                            <a:srgbClr val="000000"/>
                          </a:solidFill>
                          <a:effectLst/>
                          <a:latin typeface="Calibri" panose="020F0502020204030204" pitchFamily="34" charset="0"/>
                        </a:rPr>
                        <a:t>110</a:t>
                      </a:r>
                    </a:p>
                  </a:txBody>
                  <a:tcPr marL="6350" marR="6350" marT="635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3760929788"/>
                  </a:ext>
                </a:extLst>
              </a:tr>
              <a:tr h="370840">
                <a:tc>
                  <a:txBody>
                    <a:bodyPr/>
                    <a:lstStyle/>
                    <a:p>
                      <a:pPr algn="l" fontAlgn="b"/>
                      <a:r>
                        <a:rPr lang="en-US" sz="2000" b="1" i="0" u="none" strike="noStrike" dirty="0">
                          <a:solidFill>
                            <a:srgbClr val="000000"/>
                          </a:solidFill>
                          <a:effectLst/>
                          <a:latin typeface="Calibri" panose="020F0502020204030204" pitchFamily="34" charset="0"/>
                        </a:rPr>
                        <a:t>   Reversed </a:t>
                      </a:r>
                    </a:p>
                  </a:txBody>
                  <a:tcPr marL="6350" marR="6350" marT="6350" marB="0"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2000" b="0" i="0" u="none" strike="noStrike" dirty="0">
                          <a:solidFill>
                            <a:srgbClr val="000000"/>
                          </a:solidFill>
                          <a:effectLst/>
                          <a:latin typeface="Calibri" panose="020F0502020204030204" pitchFamily="34" charset="0"/>
                        </a:rPr>
                        <a:t>      3 (9%)</a:t>
                      </a:r>
                    </a:p>
                  </a:txBody>
                  <a:tcPr marL="6350" marR="6350" marT="6350" marB="0"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2000" b="0" i="0" u="none" strike="noStrike" dirty="0">
                          <a:solidFill>
                            <a:srgbClr val="000000"/>
                          </a:solidFill>
                          <a:effectLst/>
                          <a:latin typeface="Calibri" panose="020F0502020204030204" pitchFamily="34" charset="0"/>
                        </a:rPr>
                        <a:t>    18 (15%)</a:t>
                      </a:r>
                    </a:p>
                  </a:txBody>
                  <a:tcPr marL="6350" marR="6350" marT="6350" marB="0"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2000" b="0" i="0" u="none" strike="noStrike" dirty="0">
                          <a:solidFill>
                            <a:srgbClr val="000000"/>
                          </a:solidFill>
                          <a:effectLst/>
                          <a:latin typeface="Calibri" panose="020F0502020204030204" pitchFamily="34" charset="0"/>
                        </a:rPr>
                        <a:t>  21</a:t>
                      </a:r>
                    </a:p>
                  </a:txBody>
                  <a:tcPr marL="6350" marR="6350" marT="6350" marB="0"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r>
                        <a:rPr lang="en-US" sz="2000" b="1" i="0" u="none" strike="noStrike" dirty="0">
                          <a:solidFill>
                            <a:srgbClr val="000000"/>
                          </a:solidFill>
                          <a:effectLst/>
                          <a:latin typeface="Calibri" panose="020F0502020204030204" pitchFamily="34" charset="0"/>
                        </a:rPr>
                        <a:t>   Reversed </a:t>
                      </a:r>
                    </a:p>
                  </a:txBody>
                  <a:tcPr marL="6350" marR="6350" marT="6350" marB="0"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2000" b="0" i="0" u="none" strike="noStrike" dirty="0">
                          <a:solidFill>
                            <a:srgbClr val="000000"/>
                          </a:solidFill>
                          <a:effectLst/>
                          <a:latin typeface="Calibri" panose="020F0502020204030204" pitchFamily="34" charset="0"/>
                        </a:rPr>
                        <a:t>    10 (10%)</a:t>
                      </a:r>
                    </a:p>
                  </a:txBody>
                  <a:tcPr marL="6350" marR="6350" marT="6350" marB="0"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2000" b="0" i="0" u="none" strike="noStrike" dirty="0">
                          <a:solidFill>
                            <a:srgbClr val="000000"/>
                          </a:solidFill>
                          <a:effectLst/>
                          <a:latin typeface="Calibri" panose="020F0502020204030204" pitchFamily="34" charset="0"/>
                        </a:rPr>
                        <a:t>    5 (20%)</a:t>
                      </a:r>
                    </a:p>
                  </a:txBody>
                  <a:tcPr marL="6350" marR="6350" marT="6350" marB="0"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2000" b="0" i="0" u="none" strike="noStrike" dirty="0">
                          <a:solidFill>
                            <a:srgbClr val="000000"/>
                          </a:solidFill>
                          <a:effectLst/>
                          <a:latin typeface="Calibri" panose="020F0502020204030204" pitchFamily="34" charset="0"/>
                        </a:rPr>
                        <a:t>  15</a:t>
                      </a:r>
                    </a:p>
                  </a:txBody>
                  <a:tcPr marL="6350" marR="6350" marT="6350" marB="0"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3844672460"/>
                  </a:ext>
                </a:extLst>
              </a:tr>
              <a:tr h="370840">
                <a:tc>
                  <a:txBody>
                    <a:bodyPr/>
                    <a:lstStyle/>
                    <a:p>
                      <a:pPr algn="ctr" fontAlgn="b"/>
                      <a:r>
                        <a:rPr lang="en-US" sz="2000" b="1" i="0" u="none" strike="noStrike" dirty="0" err="1">
                          <a:solidFill>
                            <a:srgbClr val="000000"/>
                          </a:solidFill>
                          <a:effectLst/>
                          <a:latin typeface="Calibri" panose="020F0502020204030204" pitchFamily="34" charset="0"/>
                        </a:rPr>
                        <a:t>TotaI</a:t>
                      </a:r>
                      <a:r>
                        <a:rPr lang="en-US" sz="2000" b="1" i="0" u="none" strike="noStrike" dirty="0">
                          <a:solidFill>
                            <a:srgbClr val="000000"/>
                          </a:solidFill>
                          <a:effectLst/>
                          <a:latin typeface="Calibri" panose="020F0502020204030204" pitchFamily="34" charset="0"/>
                        </a:rPr>
                        <a:t> (%)</a:t>
                      </a:r>
                    </a:p>
                  </a:txBody>
                  <a:tcPr marL="6350" marR="6350" marT="6350" marB="0"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2000" b="0" i="0" u="none" strike="noStrike" dirty="0">
                          <a:solidFill>
                            <a:srgbClr val="000000"/>
                          </a:solidFill>
                          <a:effectLst/>
                          <a:latin typeface="Calibri" panose="020F0502020204030204" pitchFamily="34" charset="0"/>
                        </a:rPr>
                        <a:t>32 (100%)</a:t>
                      </a:r>
                    </a:p>
                  </a:txBody>
                  <a:tcPr marL="6350" marR="6350" marT="635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2000" b="0" i="0" u="none" strike="noStrike" dirty="0">
                          <a:solidFill>
                            <a:srgbClr val="000000"/>
                          </a:solidFill>
                          <a:effectLst/>
                          <a:latin typeface="Calibri" panose="020F0502020204030204" pitchFamily="34" charset="0"/>
                        </a:rPr>
                        <a:t>118 (100%)</a:t>
                      </a:r>
                    </a:p>
                  </a:txBody>
                  <a:tcPr marL="6350" marR="6350" marT="6350" marB="0"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2000" b="0" i="0" u="none" strike="noStrike" dirty="0">
                          <a:solidFill>
                            <a:srgbClr val="000000"/>
                          </a:solidFill>
                          <a:effectLst/>
                          <a:latin typeface="Calibri" panose="020F0502020204030204" pitchFamily="34" charset="0"/>
                        </a:rPr>
                        <a:t>150</a:t>
                      </a:r>
                    </a:p>
                  </a:txBody>
                  <a:tcPr marL="6350" marR="6350" marT="635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US" sz="2000" b="1" i="0" u="none" strike="noStrike" dirty="0" err="1">
                          <a:solidFill>
                            <a:srgbClr val="000000"/>
                          </a:solidFill>
                          <a:effectLst/>
                          <a:latin typeface="Calibri" panose="020F0502020204030204" pitchFamily="34" charset="0"/>
                        </a:rPr>
                        <a:t>TotaI</a:t>
                      </a:r>
                      <a:r>
                        <a:rPr lang="en-US" sz="2000" b="1" i="0" u="none" strike="noStrike" dirty="0">
                          <a:solidFill>
                            <a:srgbClr val="000000"/>
                          </a:solidFill>
                          <a:effectLst/>
                          <a:latin typeface="Calibri" panose="020F0502020204030204" pitchFamily="34" charset="0"/>
                        </a:rPr>
                        <a:t> (%)</a:t>
                      </a:r>
                    </a:p>
                  </a:txBody>
                  <a:tcPr marL="6350" marR="6350" marT="6350" marB="0"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2000" b="0" i="0" u="none" strike="noStrike" dirty="0">
                          <a:solidFill>
                            <a:srgbClr val="000000"/>
                          </a:solidFill>
                          <a:effectLst/>
                          <a:latin typeface="Calibri" panose="020F0502020204030204" pitchFamily="34" charset="0"/>
                        </a:rPr>
                        <a:t>100 (100%)</a:t>
                      </a:r>
                    </a:p>
                  </a:txBody>
                  <a:tcPr marL="6350" marR="6350" marT="635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2000" b="0" i="0" u="none" strike="noStrike" dirty="0">
                          <a:solidFill>
                            <a:srgbClr val="000000"/>
                          </a:solidFill>
                          <a:effectLst/>
                          <a:latin typeface="Calibri" panose="020F0502020204030204" pitchFamily="34" charset="0"/>
                        </a:rPr>
                        <a:t>25 (100%)</a:t>
                      </a:r>
                    </a:p>
                  </a:txBody>
                  <a:tcPr marL="6350" marR="6350" marT="6350" marB="0"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2000" b="0" i="0" u="none" strike="noStrike" dirty="0">
                          <a:solidFill>
                            <a:srgbClr val="000000"/>
                          </a:solidFill>
                          <a:effectLst/>
                          <a:latin typeface="Calibri" panose="020F0502020204030204" pitchFamily="34" charset="0"/>
                        </a:rPr>
                        <a:t>125</a:t>
                      </a:r>
                    </a:p>
                  </a:txBody>
                  <a:tcPr marL="6350" marR="6350" marT="635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876559415"/>
                  </a:ext>
                </a:extLst>
              </a:tr>
            </a:tbl>
          </a:graphicData>
        </a:graphic>
      </p:graphicFrame>
    </p:spTree>
    <p:extLst>
      <p:ext uri="{BB962C8B-B14F-4D97-AF65-F5344CB8AC3E}">
        <p14:creationId xmlns:p14="http://schemas.microsoft.com/office/powerpoint/2010/main" val="27727354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2F1851-52D5-03F3-7981-83429886F204}"/>
              </a:ext>
            </a:extLst>
          </p:cNvPr>
          <p:cNvSpPr>
            <a:spLocks noGrp="1"/>
          </p:cNvSpPr>
          <p:nvPr>
            <p:ph type="title"/>
          </p:nvPr>
        </p:nvSpPr>
        <p:spPr/>
        <p:txBody>
          <a:bodyPr/>
          <a:lstStyle/>
          <a:p>
            <a:r>
              <a:rPr lang="en-US" sz="3200" dirty="0">
                <a:solidFill>
                  <a:srgbClr val="D14B1E"/>
                </a:solidFill>
              </a:rPr>
              <a:t>2.4 Summarizing Data for Two Variables Using Graphical Displays</a:t>
            </a:r>
          </a:p>
        </p:txBody>
      </p:sp>
      <p:sp>
        <p:nvSpPr>
          <p:cNvPr id="3" name="Text Placeholder 2">
            <a:extLst>
              <a:ext uri="{FF2B5EF4-FFF2-40B4-BE49-F238E27FC236}">
                <a16:creationId xmlns:a16="http://schemas.microsoft.com/office/drawing/2014/main" id="{E2F8492D-AD9D-EE5B-D41A-129A2A09ACBF}"/>
              </a:ext>
            </a:extLst>
          </p:cNvPr>
          <p:cNvSpPr>
            <a:spLocks noGrp="1"/>
          </p:cNvSpPr>
          <p:nvPr>
            <p:ph type="body" sz="quarter" idx="15"/>
          </p:nvPr>
        </p:nvSpPr>
        <p:spPr>
          <a:xfrm>
            <a:off x="743578" y="1663385"/>
            <a:ext cx="5170094" cy="3042751"/>
          </a:xfrm>
        </p:spPr>
        <p:txBody>
          <a:bodyPr/>
          <a:lstStyle/>
          <a:p>
            <a:pPr>
              <a:spcAft>
                <a:spcPts val="0"/>
              </a:spcAft>
            </a:pPr>
            <a:r>
              <a:rPr lang="en-US" sz="2000" dirty="0"/>
              <a:t>A </a:t>
            </a:r>
            <a:r>
              <a:rPr lang="en-US" sz="2000" b="1" dirty="0"/>
              <a:t>scatter diagram </a:t>
            </a:r>
            <a:r>
              <a:rPr lang="en-US" sz="2000" dirty="0"/>
              <a:t>is a graphical presentation of the relationship between two quantitative variables.</a:t>
            </a:r>
          </a:p>
          <a:p>
            <a:pPr>
              <a:spcAft>
                <a:spcPts val="600"/>
              </a:spcAft>
            </a:pPr>
            <a:r>
              <a:rPr lang="en-US" sz="2000" dirty="0"/>
              <a:t>A </a:t>
            </a:r>
            <a:r>
              <a:rPr lang="en-US" sz="2000" b="1" dirty="0"/>
              <a:t>trendline</a:t>
            </a:r>
            <a:r>
              <a:rPr lang="en-US" sz="2000" dirty="0"/>
              <a:t> is a line that provides an approximation of the relationship.</a:t>
            </a:r>
          </a:p>
          <a:p>
            <a:pPr>
              <a:spcAft>
                <a:spcPts val="0"/>
              </a:spcAft>
            </a:pPr>
            <a:r>
              <a:rPr lang="en-US" sz="2000" b="1" dirty="0"/>
              <a:t>Example</a:t>
            </a:r>
            <a:r>
              <a:rPr lang="en-US" sz="2000" dirty="0"/>
              <a:t>	</a:t>
            </a:r>
            <a:r>
              <a:rPr lang="en-US" sz="2000" dirty="0" err="1"/>
              <a:t>DATAfile</a:t>
            </a:r>
            <a:r>
              <a:rPr lang="en-US" sz="2000" dirty="0"/>
              <a:t>: </a:t>
            </a:r>
            <a:r>
              <a:rPr lang="en-US" sz="2000" i="1" dirty="0"/>
              <a:t>Electronics</a:t>
            </a:r>
          </a:p>
          <a:p>
            <a:pPr>
              <a:spcAft>
                <a:spcPts val="0"/>
              </a:spcAft>
            </a:pPr>
            <a:r>
              <a:rPr lang="en-US" sz="2000" dirty="0"/>
              <a:t>The horizontal axis (</a:t>
            </a:r>
            <a:r>
              <a:rPr lang="en-US" sz="2000" i="1" dirty="0"/>
              <a:t>x</a:t>
            </a:r>
            <a:r>
              <a:rPr lang="en-US" sz="2000" dirty="0"/>
              <a:t>) shows the number of commercials; the vertical axis (</a:t>
            </a:r>
            <a:r>
              <a:rPr lang="en-US" sz="2000" i="1" dirty="0"/>
              <a:t>y</a:t>
            </a:r>
            <a:r>
              <a:rPr lang="en-US" sz="2000" dirty="0"/>
              <a:t>), sales for an electronic store in San Francisco.</a:t>
            </a:r>
          </a:p>
        </p:txBody>
      </p:sp>
      <p:pic>
        <p:nvPicPr>
          <p:cNvPr id="6" name="Picture Placeholder 5" descr="A scatter diagram with a trendline plots sales versus number of commercials. The horizontal axis is labeled “Number of Commercials” and ranges from 0 to 5 with tickmarks in increments of 1. The vertical axis is labeled “Sales (100 dollars)” and ranges from 35 to 65 with tickmarks in increments of 5. The coordinates of the dots are (1, 38), (1, 41), (2, 46), (2, 50), (3, 48), (3, 54), (4, 54), (4, 59), (5, 57), and (5, 63). The trendline slopes upward from (1, 41.5) to (5, 62). All data are approximate. &#10;">
            <a:extLst>
              <a:ext uri="{FF2B5EF4-FFF2-40B4-BE49-F238E27FC236}">
                <a16:creationId xmlns:a16="http://schemas.microsoft.com/office/drawing/2014/main" id="{F68FA1CC-D3F2-6D74-1930-9D91F1FA529F}"/>
              </a:ext>
            </a:extLst>
          </p:cNvPr>
          <p:cNvPicPr>
            <a:picLocks noGrp="1" noChangeAspect="1"/>
          </p:cNvPicPr>
          <p:nvPr>
            <p:ph type="pic" sz="quarter" idx="16"/>
          </p:nvPr>
        </p:nvPicPr>
        <p:blipFill rotWithShape="1">
          <a:blip r:embed="rId3"/>
          <a:srcRect t="5378" b="5378"/>
          <a:stretch/>
        </p:blipFill>
        <p:spPr>
          <a:xfrm>
            <a:off x="5913672" y="1743540"/>
            <a:ext cx="5440128" cy="2627360"/>
          </a:xfrm>
        </p:spPr>
      </p:pic>
      <p:sp>
        <p:nvSpPr>
          <p:cNvPr id="8" name="Text Placeholder 7">
            <a:extLst>
              <a:ext uri="{FF2B5EF4-FFF2-40B4-BE49-F238E27FC236}">
                <a16:creationId xmlns:a16="http://schemas.microsoft.com/office/drawing/2014/main" id="{D9EC331E-F27B-0BAA-0E18-251A01ED5A61}"/>
              </a:ext>
            </a:extLst>
          </p:cNvPr>
          <p:cNvSpPr>
            <a:spLocks noGrp="1"/>
          </p:cNvSpPr>
          <p:nvPr>
            <p:ph type="body" sz="quarter" idx="17"/>
          </p:nvPr>
        </p:nvSpPr>
        <p:spPr>
          <a:xfrm>
            <a:off x="743576" y="4769201"/>
            <a:ext cx="10610223" cy="1023429"/>
          </a:xfrm>
        </p:spPr>
        <p:txBody>
          <a:bodyPr/>
          <a:lstStyle/>
          <a:p>
            <a:r>
              <a:rPr lang="en-US" sz="2000" dirty="0"/>
              <a:t>The relationship between the number of commercials and sales does not form a perfectly straight line. However, the general pattern of the points and the trendline suggest that the overall relationship is positive.</a:t>
            </a:r>
          </a:p>
        </p:txBody>
      </p:sp>
    </p:spTree>
    <p:extLst>
      <p:ext uri="{BB962C8B-B14F-4D97-AF65-F5344CB8AC3E}">
        <p14:creationId xmlns:p14="http://schemas.microsoft.com/office/powerpoint/2010/main" val="27099082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2F1851-52D5-03F3-7981-83429886F204}"/>
              </a:ext>
            </a:extLst>
          </p:cNvPr>
          <p:cNvSpPr>
            <a:spLocks noGrp="1"/>
          </p:cNvSpPr>
          <p:nvPr>
            <p:ph type="title"/>
          </p:nvPr>
        </p:nvSpPr>
        <p:spPr>
          <a:xfrm>
            <a:off x="622741" y="365125"/>
            <a:ext cx="10983310" cy="672105"/>
          </a:xfrm>
        </p:spPr>
        <p:txBody>
          <a:bodyPr/>
          <a:lstStyle/>
          <a:p>
            <a:r>
              <a:rPr lang="en-US" sz="3200" dirty="0"/>
              <a:t>2.4 Types of Relationships Depicted by Scatter Diagrams</a:t>
            </a:r>
          </a:p>
        </p:txBody>
      </p:sp>
      <p:pic>
        <p:nvPicPr>
          <p:cNvPr id="11" name="Picture Placeholder 5" descr="Three scatter diagrams with trendlines show different types of relationships. In all diagrams, the horizontal axis is labeled “x” and the vertical axis is labeled “y.” The first diagram is titled “Positive Relationship.” The dots and the line show an increasing trend. The second diagram is titled “No Apparent Relationship.” The dots are scattered randomly and the line is horizontal. The third diagram is titled “Negative Relationship.” The dots and the line show a decreasing trend.&#10;">
            <a:extLst>
              <a:ext uri="{FF2B5EF4-FFF2-40B4-BE49-F238E27FC236}">
                <a16:creationId xmlns:a16="http://schemas.microsoft.com/office/drawing/2014/main" id="{674D7498-B61C-0144-984C-2B01EF4EE31D}"/>
              </a:ext>
            </a:extLst>
          </p:cNvPr>
          <p:cNvPicPr>
            <a:picLocks noGrp="1" noChangeAspect="1"/>
          </p:cNvPicPr>
          <p:nvPr>
            <p:ph type="pic" sz="quarter" idx="10"/>
          </p:nvPr>
        </p:nvPicPr>
        <p:blipFill rotWithShape="1">
          <a:blip r:embed="rId3"/>
          <a:srcRect l="74" r="74"/>
          <a:stretch/>
        </p:blipFill>
        <p:spPr>
          <a:xfrm>
            <a:off x="838200" y="1956593"/>
            <a:ext cx="10515600" cy="2944813"/>
          </a:xfrm>
        </p:spPr>
      </p:pic>
    </p:spTree>
    <p:extLst>
      <p:ext uri="{BB962C8B-B14F-4D97-AF65-F5344CB8AC3E}">
        <p14:creationId xmlns:p14="http://schemas.microsoft.com/office/powerpoint/2010/main" val="42479265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EE8196-0E04-401D-B93F-685948CD49CA}"/>
              </a:ext>
            </a:extLst>
          </p:cNvPr>
          <p:cNvSpPr>
            <a:spLocks noGrp="1"/>
          </p:cNvSpPr>
          <p:nvPr>
            <p:ph type="title"/>
          </p:nvPr>
        </p:nvSpPr>
        <p:spPr>
          <a:xfrm>
            <a:off x="806641" y="365125"/>
            <a:ext cx="10538332" cy="672105"/>
          </a:xfrm>
        </p:spPr>
        <p:txBody>
          <a:bodyPr/>
          <a:lstStyle/>
          <a:p>
            <a:r>
              <a:rPr lang="en-US" dirty="0">
                <a:solidFill>
                  <a:srgbClr val="25894E"/>
                </a:solidFill>
              </a:rPr>
              <a:t>2.4 Excel: Construct a Scatter Diagram</a:t>
            </a:r>
            <a:endParaRPr lang="en-US" dirty="0"/>
          </a:p>
        </p:txBody>
      </p:sp>
      <p:sp>
        <p:nvSpPr>
          <p:cNvPr id="3" name="Text Placeholder 2">
            <a:extLst>
              <a:ext uri="{FF2B5EF4-FFF2-40B4-BE49-F238E27FC236}">
                <a16:creationId xmlns:a16="http://schemas.microsoft.com/office/drawing/2014/main" id="{03766689-C417-E65F-A73E-1E840E2BF8A9}"/>
              </a:ext>
            </a:extLst>
          </p:cNvPr>
          <p:cNvSpPr>
            <a:spLocks noGrp="1"/>
          </p:cNvSpPr>
          <p:nvPr>
            <p:ph type="body" sz="quarter" idx="15"/>
          </p:nvPr>
        </p:nvSpPr>
        <p:spPr>
          <a:xfrm>
            <a:off x="751198" y="1170433"/>
            <a:ext cx="10689604" cy="1968048"/>
          </a:xfrm>
        </p:spPr>
        <p:txBody>
          <a:bodyPr/>
          <a:lstStyle/>
          <a:p>
            <a:r>
              <a:rPr lang="en-US" sz="2000" b="1" dirty="0"/>
              <a:t>Enter/Access Data</a:t>
            </a:r>
            <a:r>
              <a:rPr lang="en-US" sz="2000" dirty="0"/>
              <a:t>: Open the file </a:t>
            </a:r>
            <a:r>
              <a:rPr lang="en-US" sz="2000" i="1" dirty="0"/>
              <a:t>electronics</a:t>
            </a:r>
            <a:r>
              <a:rPr lang="en-US" sz="2000" dirty="0"/>
              <a:t>.</a:t>
            </a:r>
          </a:p>
          <a:p>
            <a:r>
              <a:rPr lang="en-US" sz="2000" b="1" dirty="0"/>
              <a:t>Apply Tools</a:t>
            </a:r>
            <a:r>
              <a:rPr lang="en-US" sz="2000" dirty="0"/>
              <a:t>: The following steps describe how to construct a scatter diagram.</a:t>
            </a:r>
          </a:p>
          <a:p>
            <a:pPr marL="914400" indent="-685800">
              <a:spcBef>
                <a:spcPts val="300"/>
              </a:spcBef>
            </a:pPr>
            <a:r>
              <a:rPr lang="en-US" sz="1800" b="1" dirty="0"/>
              <a:t>Step 1</a:t>
            </a:r>
            <a:r>
              <a:rPr lang="en-US" sz="1800" dirty="0"/>
              <a:t>. Select cells B1:C11.</a:t>
            </a:r>
          </a:p>
          <a:p>
            <a:pPr marL="914400" indent="-685800">
              <a:spcBef>
                <a:spcPts val="300"/>
              </a:spcBef>
            </a:pPr>
            <a:r>
              <a:rPr lang="en-US" sz="1800" b="1" dirty="0"/>
              <a:t>Step 2</a:t>
            </a:r>
            <a:r>
              <a:rPr lang="en-US" sz="1800" dirty="0"/>
              <a:t>. Click the </a:t>
            </a:r>
            <a:r>
              <a:rPr lang="en-US" sz="1800" b="1" dirty="0"/>
              <a:t>Insert</a:t>
            </a:r>
            <a:r>
              <a:rPr lang="en-US" sz="1800" dirty="0"/>
              <a:t> tab. </a:t>
            </a:r>
          </a:p>
          <a:p>
            <a:pPr marL="914400" indent="-685800">
              <a:spcBef>
                <a:spcPts val="300"/>
              </a:spcBef>
            </a:pPr>
            <a:r>
              <a:rPr lang="en-US" sz="1800" b="1" dirty="0"/>
              <a:t>Step 3</a:t>
            </a:r>
            <a:r>
              <a:rPr lang="en-US" sz="1800" dirty="0"/>
              <a:t>. In the </a:t>
            </a:r>
            <a:r>
              <a:rPr lang="en-US" sz="1800" b="1" dirty="0"/>
              <a:t>Charts</a:t>
            </a:r>
            <a:r>
              <a:rPr lang="en-US" sz="1800" dirty="0"/>
              <a:t> group, click </a:t>
            </a:r>
            <a:r>
              <a:rPr lang="en-US" sz="1800" b="1" dirty="0"/>
              <a:t>Insert Scatter (X,Y) or Bubble Chart</a:t>
            </a:r>
            <a:r>
              <a:rPr lang="en-US" sz="1800" dirty="0"/>
              <a:t>.</a:t>
            </a:r>
          </a:p>
          <a:p>
            <a:pPr marL="914400" indent="-685800">
              <a:spcBef>
                <a:spcPts val="300"/>
              </a:spcBef>
            </a:pPr>
            <a:r>
              <a:rPr lang="en-US" sz="1800" b="1" dirty="0"/>
              <a:t>Step 4</a:t>
            </a:r>
            <a:r>
              <a:rPr lang="en-US" sz="1800" dirty="0"/>
              <a:t>. When the list of scatter diagram subtypes appears, click </a:t>
            </a:r>
            <a:r>
              <a:rPr lang="en-US" sz="1800" b="1" dirty="0"/>
              <a:t>Scatter</a:t>
            </a:r>
            <a:r>
              <a:rPr lang="en-US" sz="1800" dirty="0"/>
              <a:t>.</a:t>
            </a:r>
          </a:p>
          <a:p>
            <a:endParaRPr lang="en-US" sz="2000" dirty="0"/>
          </a:p>
        </p:txBody>
      </p:sp>
      <p:pic>
        <p:nvPicPr>
          <p:cNvPr id="14" name="Picture Placeholder 13" descr="A screenshot shows an Excel spreadsheet with a table and a scatter diagram. In the table, column A is labeled week, column B is labeled number of commercials, and column C is labeled sales volume. The entries in rows 2 through 11 are as follows. Row 2. Week: 1. Number: 2. Volume: 50. Row 3. Week: 2. Number: 5. Volume: 57. Row 4. Week: 3. Number: 1. Volume: 41. Row 5. Week: 4. Number: 3. Volume: 54. Row 6. Week: 5. Number: 4. Volume: 54. Row 7. Week: 6. Number: 1. Volume: 38. Row 8. Week: 7. Number: 5. Volume: 63. Row 9. Week: 8. Number: 3. Volume: 48. Row 10. Week: 9. Number: 4. Volume: 59. Row 11. Week: 10. Number: 2. Volume: 46. The scatter diagram is titled scatter chart for San Francisco Electronics Store. The horizontal axis is labeled number of commercials and ranges from 0 to 6 in increments of 1. The vertical axis is labeled sales (100s of dollars) and ranges from 0 to 70 in increments of 10. The plots are at (1, 38), (1, 41), (2, 46), (2, 50), (3, 48), (3, 51), (4, 54), (4, 59), (5, 57), and (5, 63). A trendline slopes upward from (1, 41.5) to (5, 61). All data are approximate.&#10;">
            <a:extLst>
              <a:ext uri="{FF2B5EF4-FFF2-40B4-BE49-F238E27FC236}">
                <a16:creationId xmlns:a16="http://schemas.microsoft.com/office/drawing/2014/main" id="{7605A2A2-EBFA-A60A-6C36-8AF24870F818}"/>
              </a:ext>
            </a:extLst>
          </p:cNvPr>
          <p:cNvPicPr>
            <a:picLocks noGrp="1" noChangeAspect="1"/>
          </p:cNvPicPr>
          <p:nvPr>
            <p:ph type="pic" sz="quarter" idx="16"/>
          </p:nvPr>
        </p:nvPicPr>
        <p:blipFill>
          <a:blip r:embed="rId3"/>
          <a:srcRect t="2888" b="2888"/>
          <a:stretch/>
        </p:blipFill>
        <p:spPr>
          <a:xfrm>
            <a:off x="4155962" y="3184780"/>
            <a:ext cx="7086600" cy="2743200"/>
          </a:xfrm>
        </p:spPr>
      </p:pic>
      <p:sp>
        <p:nvSpPr>
          <p:cNvPr id="5" name="Text Placeholder 4">
            <a:extLst>
              <a:ext uri="{FF2B5EF4-FFF2-40B4-BE49-F238E27FC236}">
                <a16:creationId xmlns:a16="http://schemas.microsoft.com/office/drawing/2014/main" id="{F6BDC288-16C8-93CE-EDF3-F03DE023E0FA}"/>
              </a:ext>
            </a:extLst>
          </p:cNvPr>
          <p:cNvSpPr>
            <a:spLocks noGrp="1"/>
          </p:cNvSpPr>
          <p:nvPr>
            <p:ph type="body" sz="quarter" idx="17"/>
          </p:nvPr>
        </p:nvSpPr>
        <p:spPr>
          <a:xfrm>
            <a:off x="751197" y="3189428"/>
            <a:ext cx="3323369" cy="2209190"/>
          </a:xfrm>
        </p:spPr>
        <p:txBody>
          <a:bodyPr/>
          <a:lstStyle/>
          <a:p>
            <a:pPr>
              <a:spcBef>
                <a:spcPts val="300"/>
              </a:spcBef>
            </a:pPr>
            <a:r>
              <a:rPr lang="en-US" sz="2000" b="1" dirty="0"/>
              <a:t>Editing Options</a:t>
            </a:r>
            <a:r>
              <a:rPr lang="en-US" sz="2000" dirty="0"/>
              <a:t>: You can easily add a chart title, axis titles, and a trendline to obtain the scatter diagram shown to the right.</a:t>
            </a:r>
          </a:p>
          <a:p>
            <a:pPr marL="460375" indent="-342900">
              <a:spcBef>
                <a:spcPts val="300"/>
              </a:spcBef>
              <a:buFont typeface="Arial" panose="020B0604020202020204" pitchFamily="34" charset="0"/>
              <a:buChar char="•"/>
            </a:pPr>
            <a:r>
              <a:rPr lang="en-US" sz="2000" dirty="0"/>
              <a:t>See notes for instructions on how to do it.</a:t>
            </a:r>
          </a:p>
          <a:p>
            <a:pPr>
              <a:spcBef>
                <a:spcPts val="300"/>
              </a:spcBef>
            </a:pPr>
            <a:endParaRPr lang="en-US" sz="2000" dirty="0"/>
          </a:p>
        </p:txBody>
      </p:sp>
    </p:spTree>
    <p:extLst>
      <p:ext uri="{BB962C8B-B14F-4D97-AF65-F5344CB8AC3E}">
        <p14:creationId xmlns:p14="http://schemas.microsoft.com/office/powerpoint/2010/main" val="21910047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2F1851-52D5-03F3-7981-83429886F204}"/>
              </a:ext>
            </a:extLst>
          </p:cNvPr>
          <p:cNvSpPr>
            <a:spLocks noGrp="1"/>
          </p:cNvSpPr>
          <p:nvPr>
            <p:ph type="title"/>
          </p:nvPr>
        </p:nvSpPr>
        <p:spPr/>
        <p:txBody>
          <a:bodyPr/>
          <a:lstStyle/>
          <a:p>
            <a:r>
              <a:rPr lang="en-US" dirty="0"/>
              <a:t>2.4 Side-by-Side Bar Chart</a:t>
            </a:r>
          </a:p>
        </p:txBody>
      </p:sp>
      <p:sp>
        <p:nvSpPr>
          <p:cNvPr id="3" name="Text Placeholder 2">
            <a:extLst>
              <a:ext uri="{FF2B5EF4-FFF2-40B4-BE49-F238E27FC236}">
                <a16:creationId xmlns:a16="http://schemas.microsoft.com/office/drawing/2014/main" id="{E2F8492D-AD9D-EE5B-D41A-129A2A09ACBF}"/>
              </a:ext>
            </a:extLst>
          </p:cNvPr>
          <p:cNvSpPr>
            <a:spLocks noGrp="1"/>
          </p:cNvSpPr>
          <p:nvPr>
            <p:ph type="body" sz="quarter" idx="15"/>
          </p:nvPr>
        </p:nvSpPr>
        <p:spPr>
          <a:xfrm>
            <a:off x="743578" y="1534017"/>
            <a:ext cx="10670656" cy="1322984"/>
          </a:xfrm>
        </p:spPr>
        <p:txBody>
          <a:bodyPr/>
          <a:lstStyle/>
          <a:p>
            <a:pPr>
              <a:spcAft>
                <a:spcPts val="0"/>
              </a:spcAft>
            </a:pPr>
            <a:r>
              <a:rPr lang="en-US" sz="2000" dirty="0"/>
              <a:t>A </a:t>
            </a:r>
            <a:r>
              <a:rPr lang="en-US" sz="2000" b="1" dirty="0"/>
              <a:t>side-by-side bar chart </a:t>
            </a:r>
            <a:r>
              <a:rPr lang="en-US" sz="2000" dirty="0"/>
              <a:t>is a graphical display for depicting multiple bar charts on the same display.</a:t>
            </a:r>
          </a:p>
          <a:p>
            <a:r>
              <a:rPr lang="en-US" sz="2000" dirty="0"/>
              <a:t>We can use a side-by-side bar chart to represent the column percentages of the Zagat’s restaurant reviews.</a:t>
            </a:r>
          </a:p>
          <a:p>
            <a:pPr>
              <a:spcAft>
                <a:spcPts val="0"/>
              </a:spcAft>
            </a:pPr>
            <a:endParaRPr lang="en-US" sz="2000" dirty="0"/>
          </a:p>
        </p:txBody>
      </p:sp>
      <p:pic>
        <p:nvPicPr>
          <p:cNvPr id="6" name="Picture Placeholder 5" descr="A side-by-side bar chart with four sets of bars plots frequency versus meal price. Each set consists of three vertical bars. The horizontal axis is labeled “Meal Price (dollars)” and shows four ranges of values. The vertical axis is labeled “Frequency” and ranges from 0 to 70 with tickmarks in increments of 10. The data from the chart, presented in the format, Meal price: Good, very good, excellent, are as follows. 10 to 19: 42, 33, 2. 20 to 29: 40, 64, 15. 30 to 39: 2, 47, 29. 40 to 49: No data, 5, 22. All data are approximate. &#10;">
            <a:extLst>
              <a:ext uri="{FF2B5EF4-FFF2-40B4-BE49-F238E27FC236}">
                <a16:creationId xmlns:a16="http://schemas.microsoft.com/office/drawing/2014/main" id="{FC94BB61-EF2A-9ED4-FEB1-47A593786777}"/>
              </a:ext>
            </a:extLst>
          </p:cNvPr>
          <p:cNvPicPr>
            <a:picLocks noGrp="1" noChangeAspect="1"/>
          </p:cNvPicPr>
          <p:nvPr>
            <p:ph type="pic" sz="quarter" idx="16"/>
          </p:nvPr>
        </p:nvPicPr>
        <p:blipFill rotWithShape="1">
          <a:blip r:embed="rId3"/>
          <a:srcRect t="4" b="4"/>
          <a:stretch/>
        </p:blipFill>
        <p:spPr>
          <a:xfrm>
            <a:off x="6315970" y="2699698"/>
            <a:ext cx="4691062" cy="2868612"/>
          </a:xfrm>
        </p:spPr>
      </p:pic>
      <p:sp>
        <p:nvSpPr>
          <p:cNvPr id="8" name="Text Placeholder 7">
            <a:extLst>
              <a:ext uri="{FF2B5EF4-FFF2-40B4-BE49-F238E27FC236}">
                <a16:creationId xmlns:a16="http://schemas.microsoft.com/office/drawing/2014/main" id="{D9EC331E-F27B-0BAA-0E18-251A01ED5A61}"/>
              </a:ext>
            </a:extLst>
          </p:cNvPr>
          <p:cNvSpPr>
            <a:spLocks noGrp="1"/>
          </p:cNvSpPr>
          <p:nvPr>
            <p:ph type="body" sz="quarter" idx="17"/>
          </p:nvPr>
        </p:nvSpPr>
        <p:spPr>
          <a:xfrm>
            <a:off x="743577" y="2898167"/>
            <a:ext cx="5352423" cy="2397040"/>
          </a:xfrm>
        </p:spPr>
        <p:txBody>
          <a:bodyPr/>
          <a:lstStyle/>
          <a:p>
            <a:pPr marL="457200" indent="-228600">
              <a:buFont typeface="Arial" panose="020B0604020202020204" pitchFamily="34" charset="0"/>
              <a:buChar char="•"/>
            </a:pPr>
            <a:r>
              <a:rPr lang="en-US" sz="2000" dirty="0"/>
              <a:t>Each cluster of bars represents one of the four classes of meal prices.</a:t>
            </a:r>
          </a:p>
          <a:p>
            <a:pPr marL="457200" indent="-228600">
              <a:buFont typeface="Arial" panose="020B0604020202020204" pitchFamily="34" charset="0"/>
              <a:buChar char="•"/>
            </a:pPr>
            <a:r>
              <a:rPr lang="en-US" sz="2000" dirty="0"/>
              <a:t>Each bar within a cluster represents one of the three quality rating categories.</a:t>
            </a:r>
          </a:p>
          <a:p>
            <a:r>
              <a:rPr lang="en-US" sz="2000" dirty="0"/>
              <a:t>The chart makes even more apparent the shift toward higher quality ratings as the meal prices increase.</a:t>
            </a:r>
          </a:p>
        </p:txBody>
      </p:sp>
    </p:spTree>
    <p:extLst>
      <p:ext uri="{BB962C8B-B14F-4D97-AF65-F5344CB8AC3E}">
        <p14:creationId xmlns:p14="http://schemas.microsoft.com/office/powerpoint/2010/main" val="142861413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2F1851-52D5-03F3-7981-83429886F204}"/>
              </a:ext>
            </a:extLst>
          </p:cNvPr>
          <p:cNvSpPr>
            <a:spLocks noGrp="1"/>
          </p:cNvSpPr>
          <p:nvPr>
            <p:ph type="title"/>
          </p:nvPr>
        </p:nvSpPr>
        <p:spPr/>
        <p:txBody>
          <a:bodyPr/>
          <a:lstStyle/>
          <a:p>
            <a:r>
              <a:rPr lang="en-US" dirty="0"/>
              <a:t>2.4 Stacked Bar Chart</a:t>
            </a:r>
          </a:p>
        </p:txBody>
      </p:sp>
      <p:sp>
        <p:nvSpPr>
          <p:cNvPr id="3" name="Text Placeholder 2">
            <a:extLst>
              <a:ext uri="{FF2B5EF4-FFF2-40B4-BE49-F238E27FC236}">
                <a16:creationId xmlns:a16="http://schemas.microsoft.com/office/drawing/2014/main" id="{E2F8492D-AD9D-EE5B-D41A-129A2A09ACBF}"/>
              </a:ext>
            </a:extLst>
          </p:cNvPr>
          <p:cNvSpPr>
            <a:spLocks noGrp="1"/>
          </p:cNvSpPr>
          <p:nvPr>
            <p:ph type="body" sz="quarter" idx="15"/>
          </p:nvPr>
        </p:nvSpPr>
        <p:spPr>
          <a:xfrm>
            <a:off x="743577" y="1398576"/>
            <a:ext cx="10670656" cy="1493895"/>
          </a:xfrm>
        </p:spPr>
        <p:txBody>
          <a:bodyPr/>
          <a:lstStyle/>
          <a:p>
            <a:pPr>
              <a:spcAft>
                <a:spcPts val="0"/>
              </a:spcAft>
            </a:pPr>
            <a:r>
              <a:rPr lang="en-US" sz="2000" dirty="0"/>
              <a:t>We can also use a </a:t>
            </a:r>
            <a:r>
              <a:rPr lang="en-US" sz="2000" b="1" dirty="0"/>
              <a:t>stacked bar chart</a:t>
            </a:r>
            <a:r>
              <a:rPr lang="en-US" sz="2000" dirty="0"/>
              <a:t> to compare two variables on the same display.</a:t>
            </a:r>
          </a:p>
          <a:p>
            <a:pPr>
              <a:spcAft>
                <a:spcPts val="0"/>
              </a:spcAft>
            </a:pPr>
            <a:r>
              <a:rPr lang="en-US" sz="2000" dirty="0"/>
              <a:t>In a stacked bar chart, each bar is broken into rectangular segments of a different color showing the relative frequency of each class in a manner similar to a pie chart.</a:t>
            </a:r>
          </a:p>
          <a:p>
            <a:pPr>
              <a:spcAft>
                <a:spcPts val="0"/>
              </a:spcAft>
            </a:pPr>
            <a:r>
              <a:rPr lang="en-US" sz="2000" dirty="0"/>
              <a:t>We can also use a stacked bar chart to represent the column percentages of the Zagat’s restaurant reviews.</a:t>
            </a:r>
          </a:p>
        </p:txBody>
      </p:sp>
      <p:pic>
        <p:nvPicPr>
          <p:cNvPr id="6" name="Picture Placeholder 5" descr="A stacked bar chart with four stacks of bars plots percentage versus meal price. Each stack consists of three vertical bars. The horizontal axis is labeled “Meal Price (dollars)” and shows four ranges of values. The vertical axis ranges from 0 percent to 100 percent with tickmarks in increments of 10 percent. The data from the chart in percent, presented in the format, Meal price: Good, very good, excellent, are as follows. 10 to 19: 53.8, 43.6, 2.6. 20 to 29: 33.9, 54.2, 11.9. 30 to 39: 2.6, 60.5, 36.8. 40 to 49: 0.0, 21.4, 78.6.&#10;">
            <a:extLst>
              <a:ext uri="{FF2B5EF4-FFF2-40B4-BE49-F238E27FC236}">
                <a16:creationId xmlns:a16="http://schemas.microsoft.com/office/drawing/2014/main" id="{04C3796A-4995-F149-910B-9D3379242ACC}"/>
              </a:ext>
            </a:extLst>
          </p:cNvPr>
          <p:cNvPicPr>
            <a:picLocks noGrp="1" noChangeAspect="1"/>
          </p:cNvPicPr>
          <p:nvPr>
            <p:ph type="pic" sz="quarter" idx="16"/>
          </p:nvPr>
        </p:nvPicPr>
        <p:blipFill rotWithShape="1">
          <a:blip r:embed="rId3"/>
          <a:srcRect t="52" b="52"/>
          <a:stretch/>
        </p:blipFill>
        <p:spPr>
          <a:xfrm>
            <a:off x="5436524" y="2984301"/>
            <a:ext cx="5260446" cy="2602081"/>
          </a:xfrm>
        </p:spPr>
      </p:pic>
      <p:sp>
        <p:nvSpPr>
          <p:cNvPr id="8" name="Text Placeholder 7">
            <a:extLst>
              <a:ext uri="{FF2B5EF4-FFF2-40B4-BE49-F238E27FC236}">
                <a16:creationId xmlns:a16="http://schemas.microsoft.com/office/drawing/2014/main" id="{D9EC331E-F27B-0BAA-0E18-251A01ED5A61}"/>
              </a:ext>
            </a:extLst>
          </p:cNvPr>
          <p:cNvSpPr>
            <a:spLocks noGrp="1"/>
          </p:cNvSpPr>
          <p:nvPr>
            <p:ph type="body" sz="quarter" idx="17"/>
          </p:nvPr>
        </p:nvSpPr>
        <p:spPr>
          <a:xfrm>
            <a:off x="743578" y="3128955"/>
            <a:ext cx="4380716" cy="2400413"/>
          </a:xfrm>
        </p:spPr>
        <p:txBody>
          <a:bodyPr/>
          <a:lstStyle/>
          <a:p>
            <a:r>
              <a:rPr lang="en-US" sz="2000" dirty="0"/>
              <a:t>Note that, because percentage frequencies are displayed, all bars are of the same height, extending to the 100% mark (*see notes.)</a:t>
            </a:r>
          </a:p>
          <a:p>
            <a:r>
              <a:rPr lang="en-US" sz="2000" dirty="0"/>
              <a:t>The stacked bar chart shows even more clearly the shift toward higher quality ratings as meal prices increase.</a:t>
            </a:r>
          </a:p>
          <a:p>
            <a:endParaRPr lang="en-US" sz="2000" dirty="0"/>
          </a:p>
        </p:txBody>
      </p:sp>
    </p:spTree>
    <p:extLst>
      <p:ext uri="{BB962C8B-B14F-4D97-AF65-F5344CB8AC3E}">
        <p14:creationId xmlns:p14="http://schemas.microsoft.com/office/powerpoint/2010/main" val="22451932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C226CF-1D1F-D2B2-7A18-3CBDFEBFF0AB}"/>
              </a:ext>
            </a:extLst>
          </p:cNvPr>
          <p:cNvSpPr>
            <a:spLocks noGrp="1"/>
          </p:cNvSpPr>
          <p:nvPr>
            <p:ph type="title"/>
          </p:nvPr>
        </p:nvSpPr>
        <p:spPr/>
        <p:txBody>
          <a:bodyPr/>
          <a:lstStyle/>
          <a:p>
            <a:r>
              <a:rPr lang="en-US" dirty="0">
                <a:solidFill>
                  <a:srgbClr val="25894E"/>
                </a:solidFill>
              </a:rPr>
              <a:t>2.4 Excel: Construct a Side-by-Side Bar Chart</a:t>
            </a:r>
            <a:endParaRPr lang="en-US" dirty="0"/>
          </a:p>
        </p:txBody>
      </p:sp>
      <p:sp>
        <p:nvSpPr>
          <p:cNvPr id="3" name="Text Placeholder 2">
            <a:extLst>
              <a:ext uri="{FF2B5EF4-FFF2-40B4-BE49-F238E27FC236}">
                <a16:creationId xmlns:a16="http://schemas.microsoft.com/office/drawing/2014/main" id="{7276891C-6DB4-3DD1-1648-8A83F7FC116E}"/>
              </a:ext>
            </a:extLst>
          </p:cNvPr>
          <p:cNvSpPr>
            <a:spLocks noGrp="1"/>
          </p:cNvSpPr>
          <p:nvPr>
            <p:ph type="body" sz="quarter" idx="15"/>
          </p:nvPr>
        </p:nvSpPr>
        <p:spPr>
          <a:xfrm>
            <a:off x="743576" y="1117992"/>
            <a:ext cx="10610223" cy="2364044"/>
          </a:xfrm>
        </p:spPr>
        <p:txBody>
          <a:bodyPr/>
          <a:lstStyle/>
          <a:p>
            <a:r>
              <a:rPr lang="en-US" sz="2000" b="1" dirty="0"/>
              <a:t>Apply Tools</a:t>
            </a:r>
            <a:r>
              <a:rPr lang="en-US" sz="2000" dirty="0"/>
              <a:t>: The following steps describe how to use Excel’s Recommended Charts tool to construct a side-by-side bar chart for the restaurant data using the PivotTable output.</a:t>
            </a:r>
          </a:p>
          <a:p>
            <a:pPr marL="228600">
              <a:spcBef>
                <a:spcPts val="400"/>
              </a:spcBef>
              <a:tabLst>
                <a:tab pos="6400800" algn="l"/>
              </a:tabLst>
            </a:pPr>
            <a:r>
              <a:rPr lang="en-US" sz="1800" b="1" dirty="0"/>
              <a:t>Step 1</a:t>
            </a:r>
            <a:r>
              <a:rPr lang="en-US" sz="1800" dirty="0"/>
              <a:t>. Select any cell in the PivotTable report	</a:t>
            </a:r>
            <a:r>
              <a:rPr lang="en-US" sz="1800" b="1" dirty="0"/>
              <a:t>Step 5</a:t>
            </a:r>
            <a:r>
              <a:rPr lang="en-US" sz="1800" dirty="0"/>
              <a:t>. Click the </a:t>
            </a:r>
            <a:r>
              <a:rPr lang="en-US" sz="1800" b="1" dirty="0"/>
              <a:t>Design</a:t>
            </a:r>
            <a:r>
              <a:rPr lang="en-US" sz="1800" dirty="0"/>
              <a:t> tab</a:t>
            </a:r>
          </a:p>
          <a:p>
            <a:pPr marL="228600">
              <a:spcBef>
                <a:spcPts val="400"/>
              </a:spcBef>
              <a:tabLst>
                <a:tab pos="6400800" algn="l"/>
              </a:tabLst>
            </a:pPr>
            <a:r>
              <a:rPr lang="en-US" sz="1800" b="1" dirty="0"/>
              <a:t>Step 2</a:t>
            </a:r>
            <a:r>
              <a:rPr lang="en-US" sz="1800" dirty="0"/>
              <a:t>. Click the </a:t>
            </a:r>
            <a:r>
              <a:rPr lang="en-US" sz="1800" b="1" dirty="0"/>
              <a:t>Insert</a:t>
            </a:r>
            <a:r>
              <a:rPr lang="en-US" sz="1800" dirty="0"/>
              <a:t> tab	</a:t>
            </a:r>
            <a:r>
              <a:rPr lang="en-US" sz="1800" b="1" dirty="0"/>
              <a:t>Step 6</a:t>
            </a:r>
            <a:r>
              <a:rPr lang="en-US" sz="1800" dirty="0"/>
              <a:t>. In the </a:t>
            </a:r>
            <a:r>
              <a:rPr lang="en-US" sz="1800" b="1" dirty="0"/>
              <a:t>Data</a:t>
            </a:r>
            <a:r>
              <a:rPr lang="en-US" sz="1800" dirty="0"/>
              <a:t> group, click </a:t>
            </a:r>
            <a:r>
              <a:rPr lang="en-US" sz="1800" b="1" dirty="0"/>
              <a:t>Switch </a:t>
            </a:r>
            <a:endParaRPr lang="en-US" sz="1800" dirty="0"/>
          </a:p>
          <a:p>
            <a:pPr marL="228600">
              <a:spcBef>
                <a:spcPts val="400"/>
              </a:spcBef>
              <a:tabLst>
                <a:tab pos="7373938" algn="l"/>
              </a:tabLst>
            </a:pPr>
            <a:r>
              <a:rPr lang="en-US" sz="1800" b="1" dirty="0"/>
              <a:t>Step 3</a:t>
            </a:r>
            <a:r>
              <a:rPr lang="en-US" sz="1800" dirty="0"/>
              <a:t>. In the </a:t>
            </a:r>
            <a:r>
              <a:rPr lang="en-US" sz="1800" b="1" dirty="0"/>
              <a:t>Charts</a:t>
            </a:r>
            <a:r>
              <a:rPr lang="en-US" sz="1800" dirty="0"/>
              <a:t> group, click </a:t>
            </a:r>
            <a:r>
              <a:rPr lang="en-US" sz="1800" b="1" dirty="0"/>
              <a:t>Recommended Charts	Row/Column </a:t>
            </a:r>
            <a:r>
              <a:rPr lang="en-US" sz="1800" dirty="0"/>
              <a:t>to display </a:t>
            </a:r>
            <a:r>
              <a:rPr lang="en-US" sz="1800" i="1" dirty="0"/>
              <a:t>Meal </a:t>
            </a:r>
            <a:endParaRPr lang="en-US" sz="1800" dirty="0"/>
          </a:p>
          <a:p>
            <a:pPr marL="228600">
              <a:spcBef>
                <a:spcPts val="400"/>
              </a:spcBef>
              <a:tabLst>
                <a:tab pos="7373938" algn="l"/>
              </a:tabLst>
            </a:pPr>
            <a:r>
              <a:rPr lang="en-US" sz="1800" b="1" dirty="0"/>
              <a:t>Step 4</a:t>
            </a:r>
            <a:r>
              <a:rPr lang="en-US" sz="1800" dirty="0"/>
              <a:t>. Click </a:t>
            </a:r>
            <a:r>
              <a:rPr lang="en-US" sz="1800" b="1" dirty="0"/>
              <a:t>OK</a:t>
            </a:r>
            <a:r>
              <a:rPr lang="en-US" sz="1800" dirty="0"/>
              <a:t>	</a:t>
            </a:r>
            <a:r>
              <a:rPr lang="en-US" sz="1800" i="1" dirty="0"/>
              <a:t>Price ($) </a:t>
            </a:r>
            <a:r>
              <a:rPr lang="en-US" sz="1800" dirty="0"/>
              <a:t>on the horizontal axis</a:t>
            </a:r>
          </a:p>
          <a:p>
            <a:pPr>
              <a:spcBef>
                <a:spcPts val="1000"/>
              </a:spcBef>
            </a:pPr>
            <a:r>
              <a:rPr lang="en-US" sz="2000" b="1" dirty="0"/>
              <a:t>Editing Options</a:t>
            </a:r>
            <a:r>
              <a:rPr lang="en-US" sz="2000" dirty="0"/>
              <a:t>: See the notes for additional edits on bar colors and axis labels.</a:t>
            </a:r>
          </a:p>
        </p:txBody>
      </p:sp>
      <p:pic>
        <p:nvPicPr>
          <p:cNvPr id="7" name="Picture Placeholder 6" descr="A screenshot shows an Excel spreadsheet with a table and a side-by-side bar chart. In the table, column A is labeled row labels, column B is labeled good, column C is labeled very good, column D is labeled excellent, and column E is labeled grand total. The entries in rows 5 through 9 are as follows. Row 5. Labels: 10 to 19. Good: 42. Very good: 34. Excellent: 2. Grand total: 78. Row 6. Labels: 20 to 29. Good: 40. Very good: 64. Excellent: 14. Grand total: 118. Row 7. Labels: 30 to 39. Good: 2. Very good: 46. Excellent: 28. Grand total: 76. Row 8. Labels: 40 to 49. Very good: 6. Excellent: 22. Grand total: 28. Row 9. Labels: Grand total. Good: 84. Very good: 150. Excellent: 66. Grand total: 300. In the bar chart, the horizontal axis is labeled meal price ($) and the vertical axis is labeled frequency, ranging from 0 to 70 in increments of 10. The data from the graph, presented in the format, Meal price: Good, very good, excellent, are as follows. 10 to 19: 42, 34, 2. 20 to 29: 40, 64, 14. 30 to 39: 2, 46, 28, 76. 40 to 49: No data, 6, 22, 28.&#10;">
            <a:extLst>
              <a:ext uri="{FF2B5EF4-FFF2-40B4-BE49-F238E27FC236}">
                <a16:creationId xmlns:a16="http://schemas.microsoft.com/office/drawing/2014/main" id="{3BE3A644-C5DA-7C09-80EC-9EDEBA320116}"/>
              </a:ext>
            </a:extLst>
          </p:cNvPr>
          <p:cNvPicPr>
            <a:picLocks noGrp="1" noChangeAspect="1"/>
          </p:cNvPicPr>
          <p:nvPr>
            <p:ph type="pic" sz="quarter" idx="16"/>
          </p:nvPr>
        </p:nvPicPr>
        <p:blipFill>
          <a:blip r:embed="rId3"/>
          <a:srcRect l="12" r="12"/>
          <a:stretch/>
        </p:blipFill>
        <p:spPr>
          <a:xfrm>
            <a:off x="1721396" y="3512367"/>
            <a:ext cx="8749208" cy="2541958"/>
          </a:xfrm>
        </p:spPr>
      </p:pic>
    </p:spTree>
    <p:extLst>
      <p:ext uri="{BB962C8B-B14F-4D97-AF65-F5344CB8AC3E}">
        <p14:creationId xmlns:p14="http://schemas.microsoft.com/office/powerpoint/2010/main" val="75161992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C226CF-1D1F-D2B2-7A18-3CBDFEBFF0AB}"/>
              </a:ext>
            </a:extLst>
          </p:cNvPr>
          <p:cNvSpPr>
            <a:spLocks noGrp="1"/>
          </p:cNvSpPr>
          <p:nvPr>
            <p:ph type="title"/>
          </p:nvPr>
        </p:nvSpPr>
        <p:spPr/>
        <p:txBody>
          <a:bodyPr/>
          <a:lstStyle/>
          <a:p>
            <a:r>
              <a:rPr lang="en-US" dirty="0">
                <a:solidFill>
                  <a:srgbClr val="25894E"/>
                </a:solidFill>
              </a:rPr>
              <a:t>2.4 Excel: Construct a Stacked Bar Chart</a:t>
            </a:r>
            <a:endParaRPr lang="en-US" dirty="0"/>
          </a:p>
        </p:txBody>
      </p:sp>
      <p:sp>
        <p:nvSpPr>
          <p:cNvPr id="3" name="Text Placeholder 2">
            <a:extLst>
              <a:ext uri="{FF2B5EF4-FFF2-40B4-BE49-F238E27FC236}">
                <a16:creationId xmlns:a16="http://schemas.microsoft.com/office/drawing/2014/main" id="{7276891C-6DB4-3DD1-1648-8A83F7FC116E}"/>
              </a:ext>
            </a:extLst>
          </p:cNvPr>
          <p:cNvSpPr>
            <a:spLocks noGrp="1"/>
          </p:cNvSpPr>
          <p:nvPr>
            <p:ph type="body" sz="quarter" idx="15"/>
          </p:nvPr>
        </p:nvSpPr>
        <p:spPr>
          <a:xfrm>
            <a:off x="743576" y="1183828"/>
            <a:ext cx="10610223" cy="2042477"/>
          </a:xfrm>
        </p:spPr>
        <p:txBody>
          <a:bodyPr/>
          <a:lstStyle/>
          <a:p>
            <a:r>
              <a:rPr lang="en-US" sz="2000" dirty="0"/>
              <a:t>You can easily change the side-by-side bar chart to a stacked bar chart using the following steps.</a:t>
            </a:r>
          </a:p>
          <a:p>
            <a:pPr marL="1031875" indent="-804863">
              <a:spcBef>
                <a:spcPts val="300"/>
              </a:spcBef>
            </a:pPr>
            <a:r>
              <a:rPr lang="en-US" sz="1800" b="1" dirty="0"/>
              <a:t>Step 5</a:t>
            </a:r>
            <a:r>
              <a:rPr lang="en-US" sz="1800" dirty="0"/>
              <a:t>. Click on the bar chart.</a:t>
            </a:r>
          </a:p>
          <a:p>
            <a:pPr marL="1031875" indent="-804863">
              <a:spcBef>
                <a:spcPts val="300"/>
              </a:spcBef>
            </a:pPr>
            <a:r>
              <a:rPr lang="en-US" sz="1800" dirty="0"/>
              <a:t>	Click the </a:t>
            </a:r>
            <a:r>
              <a:rPr lang="en-US" sz="1800" b="1" dirty="0"/>
              <a:t>Design</a:t>
            </a:r>
            <a:r>
              <a:rPr lang="en-US" sz="1800" dirty="0"/>
              <a:t> tab on the </a:t>
            </a:r>
            <a:r>
              <a:rPr lang="en-US" sz="1800" b="1" dirty="0"/>
              <a:t>Ribbon</a:t>
            </a:r>
            <a:r>
              <a:rPr lang="en-US" sz="1800" dirty="0"/>
              <a:t>. In the </a:t>
            </a:r>
            <a:r>
              <a:rPr lang="en-US" sz="1800" b="1" dirty="0"/>
              <a:t>Type</a:t>
            </a:r>
            <a:r>
              <a:rPr lang="en-US" sz="1800" dirty="0"/>
              <a:t> group, click </a:t>
            </a:r>
            <a:r>
              <a:rPr lang="en-US" sz="1800" b="1" dirty="0"/>
              <a:t>Change Chart Type</a:t>
            </a:r>
            <a:r>
              <a:rPr lang="en-US" sz="1800" dirty="0"/>
              <a:t>.</a:t>
            </a:r>
          </a:p>
          <a:p>
            <a:pPr marL="227013">
              <a:spcBef>
                <a:spcPts val="300"/>
              </a:spcBef>
            </a:pPr>
            <a:r>
              <a:rPr lang="en-US" sz="1800" b="1" dirty="0"/>
              <a:t>Step 6</a:t>
            </a:r>
            <a:r>
              <a:rPr lang="en-US" sz="1800" dirty="0"/>
              <a:t>. When the </a:t>
            </a:r>
            <a:r>
              <a:rPr lang="en-US" sz="1800" b="1" dirty="0"/>
              <a:t>Change Chart</a:t>
            </a:r>
            <a:r>
              <a:rPr lang="en-US" sz="1800" dirty="0"/>
              <a:t> Type dialog box appears:</a:t>
            </a:r>
          </a:p>
          <a:p>
            <a:pPr marL="1031875" indent="-804863">
              <a:spcBef>
                <a:spcPts val="300"/>
              </a:spcBef>
            </a:pPr>
            <a:r>
              <a:rPr lang="en-US" sz="1800" dirty="0"/>
              <a:t>	Select the </a:t>
            </a:r>
            <a:r>
              <a:rPr lang="en-US" sz="1800" b="1" dirty="0"/>
              <a:t>Stacked Columns </a:t>
            </a:r>
            <a:r>
              <a:rPr lang="en-US" sz="1800" dirty="0"/>
              <a:t>option. Click </a:t>
            </a:r>
            <a:r>
              <a:rPr lang="en-US" sz="1800" b="1" dirty="0"/>
              <a:t>OK</a:t>
            </a:r>
            <a:r>
              <a:rPr lang="en-US" sz="1800" dirty="0"/>
              <a:t>.</a:t>
            </a:r>
          </a:p>
        </p:txBody>
      </p:sp>
      <p:pic>
        <p:nvPicPr>
          <p:cNvPr id="6" name="Picture Placeholder 5" descr="A screenshot shows an Excel spreadsheet with a table and a stacked bar chart. In the table, column A is labeled row labels, column B is labeled good, column C is labeled very good, column D is labeled excellent, and column E is labeled grand total. The entries in rows 5 through 9 are as follows. Row 5. Labels: 10 to 19. Good: 42. Very good: 34. Excellent: 2. Grand total: 78. Row 6. Labels: 20 to 29. Good: 40. Very good: 64. Excellent: 14. Grand total: 118. Row 7. Labels: 30 to 39. Good: 2. Very good: 46. Excellent: 28. Grand total: 76. Row 8. Labels: 40 to 49. Very good: 6. Excellent: 22. Grand total: 28. Row 9. Labels: Grand total. Good: 84. Very good: 150. Excellent: 66. Grand total: 300. In the bar chart, the horizontal axis is labeled meal price ($) and the vertical axis is labeled frequency, ranging from 0 to 140 in increments of 20. The data from the graph, presented in the format, Meal price: Good, very good, excellent, are as follows. 10 to 19: 42, 34, 2. 20 to 29: 40, 64, 14. 30 to 39: 2, 46, 28, 76. 40 to 49: No data, 6, 22, 28.&#10;">
            <a:extLst>
              <a:ext uri="{FF2B5EF4-FFF2-40B4-BE49-F238E27FC236}">
                <a16:creationId xmlns:a16="http://schemas.microsoft.com/office/drawing/2014/main" id="{72D0BD37-A116-F292-3912-D59385295B39}"/>
              </a:ext>
            </a:extLst>
          </p:cNvPr>
          <p:cNvPicPr>
            <a:picLocks noGrp="1" noChangeAspect="1"/>
          </p:cNvPicPr>
          <p:nvPr>
            <p:ph type="pic" sz="quarter" idx="16"/>
          </p:nvPr>
        </p:nvPicPr>
        <p:blipFill>
          <a:blip r:embed="rId3"/>
          <a:srcRect t="69" b="69"/>
          <a:stretch/>
        </p:blipFill>
        <p:spPr>
          <a:xfrm>
            <a:off x="1463955" y="3147608"/>
            <a:ext cx="9124950" cy="2678112"/>
          </a:xfrm>
        </p:spPr>
      </p:pic>
    </p:spTree>
    <p:extLst>
      <p:ext uri="{BB962C8B-B14F-4D97-AF65-F5344CB8AC3E}">
        <p14:creationId xmlns:p14="http://schemas.microsoft.com/office/powerpoint/2010/main" val="109276775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21C95-D3C8-4B59-91D8-F554802BFFC1}"/>
              </a:ext>
            </a:extLst>
          </p:cNvPr>
          <p:cNvSpPr>
            <a:spLocks noGrp="1"/>
          </p:cNvSpPr>
          <p:nvPr>
            <p:ph type="title"/>
          </p:nvPr>
        </p:nvSpPr>
        <p:spPr/>
        <p:txBody>
          <a:bodyPr/>
          <a:lstStyle/>
          <a:p>
            <a:r>
              <a:rPr lang="en-US" dirty="0">
                <a:solidFill>
                  <a:srgbClr val="D14B1E"/>
                </a:solidFill>
              </a:rPr>
              <a:t>2.5 Visualizing Geospatial Data</a:t>
            </a:r>
          </a:p>
        </p:txBody>
      </p:sp>
      <p:sp>
        <p:nvSpPr>
          <p:cNvPr id="3" name="Text Placeholder 2">
            <a:extLst>
              <a:ext uri="{FF2B5EF4-FFF2-40B4-BE49-F238E27FC236}">
                <a16:creationId xmlns:a16="http://schemas.microsoft.com/office/drawing/2014/main" id="{BCC81990-F794-4124-9473-6DD50C537999}"/>
              </a:ext>
            </a:extLst>
          </p:cNvPr>
          <p:cNvSpPr>
            <a:spLocks noGrp="1"/>
          </p:cNvSpPr>
          <p:nvPr>
            <p:ph type="body" sz="quarter" idx="15"/>
          </p:nvPr>
        </p:nvSpPr>
        <p:spPr>
          <a:xfrm>
            <a:off x="743576" y="1667865"/>
            <a:ext cx="10711543" cy="3193576"/>
          </a:xfrm>
        </p:spPr>
        <p:txBody>
          <a:bodyPr/>
          <a:lstStyle/>
          <a:p>
            <a:r>
              <a:rPr lang="en-US" b="1" dirty="0"/>
              <a:t>Geospatial data </a:t>
            </a:r>
            <a:r>
              <a:rPr lang="en-US" dirty="0"/>
              <a:t>include information on the geographic location of each record.</a:t>
            </a:r>
          </a:p>
          <a:p>
            <a:r>
              <a:rPr lang="en-US" dirty="0"/>
              <a:t>Displaying geospatial data on a map can help discover patterns that would have been otherwise difficult to interpret.</a:t>
            </a:r>
          </a:p>
          <a:p>
            <a:r>
              <a:rPr lang="en-US" dirty="0"/>
              <a:t>There are two general types of geographic visualization:</a:t>
            </a:r>
          </a:p>
          <a:p>
            <a:pPr marL="914400" indent="-342900">
              <a:buFont typeface="Arial" panose="020B0604020202020204" pitchFamily="34" charset="0"/>
              <a:buChar char="•"/>
            </a:pPr>
            <a:r>
              <a:rPr lang="en-US" b="1" dirty="0"/>
              <a:t>Choropleth maps</a:t>
            </a:r>
          </a:p>
          <a:p>
            <a:pPr marL="914400" indent="-342900">
              <a:buFont typeface="Arial" panose="020B0604020202020204" pitchFamily="34" charset="0"/>
              <a:buChar char="•"/>
            </a:pPr>
            <a:r>
              <a:rPr lang="en-US" b="1" dirty="0"/>
              <a:t>Cartograms</a:t>
            </a:r>
          </a:p>
        </p:txBody>
      </p:sp>
    </p:spTree>
    <p:extLst>
      <p:ext uri="{BB962C8B-B14F-4D97-AF65-F5344CB8AC3E}">
        <p14:creationId xmlns:p14="http://schemas.microsoft.com/office/powerpoint/2010/main" val="342338327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2477E-437C-4712-9C06-3F6766F4BB33}"/>
              </a:ext>
            </a:extLst>
          </p:cNvPr>
          <p:cNvSpPr>
            <a:spLocks noGrp="1"/>
          </p:cNvSpPr>
          <p:nvPr>
            <p:ph type="title"/>
          </p:nvPr>
        </p:nvSpPr>
        <p:spPr/>
        <p:txBody>
          <a:bodyPr/>
          <a:lstStyle/>
          <a:p>
            <a:r>
              <a:rPr lang="en-US" dirty="0"/>
              <a:t>2.5 Choropleth Maps</a:t>
            </a:r>
          </a:p>
        </p:txBody>
      </p:sp>
      <p:sp>
        <p:nvSpPr>
          <p:cNvPr id="5" name="Text Placeholder 4">
            <a:extLst>
              <a:ext uri="{FF2B5EF4-FFF2-40B4-BE49-F238E27FC236}">
                <a16:creationId xmlns:a16="http://schemas.microsoft.com/office/drawing/2014/main" id="{CB50D589-A612-4720-BCE7-E95A489F0A37}"/>
              </a:ext>
            </a:extLst>
          </p:cNvPr>
          <p:cNvSpPr>
            <a:spLocks noGrp="1"/>
          </p:cNvSpPr>
          <p:nvPr>
            <p:ph type="body" sz="quarter" idx="15"/>
          </p:nvPr>
        </p:nvSpPr>
        <p:spPr>
          <a:xfrm>
            <a:off x="743574" y="1309278"/>
            <a:ext cx="10711543" cy="348047"/>
          </a:xfrm>
        </p:spPr>
        <p:txBody>
          <a:bodyPr/>
          <a:lstStyle/>
          <a:p>
            <a:r>
              <a:rPr lang="en-US" dirty="0"/>
              <a:t>Weather map example</a:t>
            </a:r>
          </a:p>
        </p:txBody>
      </p:sp>
      <p:pic>
        <p:nvPicPr>
          <p:cNvPr id="7" name="Picture Placeholder 6" descr="A weather map of the United States. A scale above the map ranges from 10 to 90 with tickmarks in increments of 10. The colors along the scale from left to right are light purple, deep purple, dark blue, light blue, green, yellow, and red. The temperature is low and moderate in the northeastern and northwestern United States, very high in the southern states and in the central United States, and high in the remaining parts of the country.">
            <a:extLst>
              <a:ext uri="{FF2B5EF4-FFF2-40B4-BE49-F238E27FC236}">
                <a16:creationId xmlns:a16="http://schemas.microsoft.com/office/drawing/2014/main" id="{F61C8562-2C96-448B-BFD2-A974628320B7}"/>
              </a:ext>
            </a:extLst>
          </p:cNvPr>
          <p:cNvPicPr>
            <a:picLocks noGrp="1" noChangeAspect="1"/>
          </p:cNvPicPr>
          <p:nvPr>
            <p:ph type="pic" sz="quarter" idx="10"/>
          </p:nvPr>
        </p:nvPicPr>
        <p:blipFill rotWithShape="1">
          <a:blip r:embed="rId3"/>
          <a:srcRect t="82" b="82"/>
          <a:stretch/>
        </p:blipFill>
        <p:spPr>
          <a:xfrm>
            <a:off x="733425" y="1760538"/>
            <a:ext cx="5440363" cy="3890962"/>
          </a:xfrm>
        </p:spPr>
      </p:pic>
      <p:sp>
        <p:nvSpPr>
          <p:cNvPr id="4" name="Text Placeholder 3">
            <a:extLst>
              <a:ext uri="{FF2B5EF4-FFF2-40B4-BE49-F238E27FC236}">
                <a16:creationId xmlns:a16="http://schemas.microsoft.com/office/drawing/2014/main" id="{46C5E3D0-9BDB-4272-8727-F2BA2E92DAC5}"/>
              </a:ext>
            </a:extLst>
          </p:cNvPr>
          <p:cNvSpPr>
            <a:spLocks noGrp="1"/>
          </p:cNvSpPr>
          <p:nvPr>
            <p:ph type="body" sz="quarter" idx="11"/>
          </p:nvPr>
        </p:nvSpPr>
        <p:spPr>
          <a:xfrm>
            <a:off x="6173789" y="1760539"/>
            <a:ext cx="5281590" cy="3891706"/>
          </a:xfrm>
        </p:spPr>
        <p:txBody>
          <a:bodyPr/>
          <a:lstStyle/>
          <a:p>
            <a:pPr>
              <a:spcAft>
                <a:spcPts val="1200"/>
              </a:spcAft>
            </a:pPr>
            <a:r>
              <a:rPr lang="en-US" sz="2000" dirty="0">
                <a:solidFill>
                  <a:srgbClr val="000000"/>
                </a:solidFill>
              </a:rPr>
              <a:t>A </a:t>
            </a:r>
            <a:r>
              <a:rPr lang="en-US" sz="2000" b="1" dirty="0">
                <a:solidFill>
                  <a:srgbClr val="000000"/>
                </a:solidFill>
              </a:rPr>
              <a:t>choropleth map </a:t>
            </a:r>
            <a:r>
              <a:rPr lang="en-US" sz="2000" dirty="0">
                <a:solidFill>
                  <a:srgbClr val="000000"/>
                </a:solidFill>
              </a:rPr>
              <a:t>is a geographic visualization that uses shades of color, different colors, or symbols to indicate the values of a quantitative or categorical variable associated with a geographic region or area.</a:t>
            </a:r>
          </a:p>
          <a:p>
            <a:r>
              <a:rPr lang="en-US" sz="2000" b="1" dirty="0">
                <a:solidFill>
                  <a:srgbClr val="000000"/>
                </a:solidFill>
              </a:rPr>
              <a:t>Example</a:t>
            </a:r>
            <a:r>
              <a:rPr lang="en-US" sz="2000" dirty="0">
                <a:solidFill>
                  <a:srgbClr val="000000"/>
                </a:solidFill>
              </a:rPr>
              <a:t>: </a:t>
            </a:r>
          </a:p>
          <a:p>
            <a:r>
              <a:rPr lang="en-US" sz="2000" dirty="0">
                <a:solidFill>
                  <a:srgbClr val="000000"/>
                </a:solidFill>
              </a:rPr>
              <a:t>A weather map uses color to depict the daily high temperature, with warmer colors (on the red end of the spectrum) representing higher temperatures and cooler colors (on the purple end of the spectrum) representing lower temperatures.</a:t>
            </a:r>
          </a:p>
        </p:txBody>
      </p:sp>
    </p:spTree>
    <p:extLst>
      <p:ext uri="{BB962C8B-B14F-4D97-AF65-F5344CB8AC3E}">
        <p14:creationId xmlns:p14="http://schemas.microsoft.com/office/powerpoint/2010/main" val="176744535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E7F10-3868-481F-8A95-C3B41E52C6B5}"/>
              </a:ext>
            </a:extLst>
          </p:cNvPr>
          <p:cNvSpPr>
            <a:spLocks noGrp="1"/>
          </p:cNvSpPr>
          <p:nvPr>
            <p:ph type="title"/>
          </p:nvPr>
        </p:nvSpPr>
        <p:spPr>
          <a:xfrm>
            <a:off x="713508" y="374269"/>
            <a:ext cx="10758055" cy="672105"/>
          </a:xfrm>
        </p:spPr>
        <p:txBody>
          <a:bodyPr/>
          <a:lstStyle/>
          <a:p>
            <a:r>
              <a:rPr lang="en-US" sz="3200" dirty="0">
                <a:solidFill>
                  <a:srgbClr val="25894E"/>
                </a:solidFill>
              </a:rPr>
              <a:t>2.5 Excel: Construct a State-Level Data Choropleth Map</a:t>
            </a:r>
          </a:p>
        </p:txBody>
      </p:sp>
      <p:sp>
        <p:nvSpPr>
          <p:cNvPr id="5" name="Text Placeholder 4">
            <a:extLst>
              <a:ext uri="{FF2B5EF4-FFF2-40B4-BE49-F238E27FC236}">
                <a16:creationId xmlns:a16="http://schemas.microsoft.com/office/drawing/2014/main" id="{D3BF4AE0-C0BD-48FB-B8A9-D076E1EA666B}"/>
              </a:ext>
            </a:extLst>
          </p:cNvPr>
          <p:cNvSpPr>
            <a:spLocks noGrp="1"/>
          </p:cNvSpPr>
          <p:nvPr>
            <p:ph type="body" sz="quarter" idx="15"/>
          </p:nvPr>
        </p:nvSpPr>
        <p:spPr>
          <a:xfrm>
            <a:off x="743575" y="1254266"/>
            <a:ext cx="5242697" cy="560339"/>
          </a:xfrm>
        </p:spPr>
        <p:txBody>
          <a:bodyPr/>
          <a:lstStyle/>
          <a:p>
            <a:r>
              <a:rPr lang="en-US" sz="2000" dirty="0"/>
              <a:t>Choropleth map of the United States displaying median income by state</a:t>
            </a:r>
          </a:p>
        </p:txBody>
      </p:sp>
      <p:pic>
        <p:nvPicPr>
          <p:cNvPr id="9" name="Picture Placeholder 8" descr="A choropleth map of the United States is titled “Median Income By State.” A scale on the right side of the map is labeled “Median Income,” and ranges from 44,038 to 83,076. Alaska, Hawaii, and states in the western and northeastern United States have high income, states in the northern, central, and southwestern United States have moderate income, and the states in the southeastern United States have low income.">
            <a:extLst>
              <a:ext uri="{FF2B5EF4-FFF2-40B4-BE49-F238E27FC236}">
                <a16:creationId xmlns:a16="http://schemas.microsoft.com/office/drawing/2014/main" id="{A48A9717-C4EE-4BF6-B0B3-7B0300060311}"/>
              </a:ext>
            </a:extLst>
          </p:cNvPr>
          <p:cNvPicPr>
            <a:picLocks noGrp="1" noChangeAspect="1"/>
          </p:cNvPicPr>
          <p:nvPr>
            <p:ph type="pic" sz="quarter" idx="10"/>
          </p:nvPr>
        </p:nvPicPr>
        <p:blipFill rotWithShape="1">
          <a:blip r:embed="rId2"/>
          <a:srcRect t="10238" b="10238"/>
          <a:stretch/>
        </p:blipFill>
        <p:spPr/>
      </p:pic>
      <p:sp>
        <p:nvSpPr>
          <p:cNvPr id="7" name="Text Placeholder 6">
            <a:extLst>
              <a:ext uri="{FF2B5EF4-FFF2-40B4-BE49-F238E27FC236}">
                <a16:creationId xmlns:a16="http://schemas.microsoft.com/office/drawing/2014/main" id="{4458B701-0291-4684-AC31-07BB385B990C}"/>
              </a:ext>
            </a:extLst>
          </p:cNvPr>
          <p:cNvSpPr>
            <a:spLocks noGrp="1"/>
          </p:cNvSpPr>
          <p:nvPr>
            <p:ph type="body" sz="quarter" idx="17"/>
          </p:nvPr>
        </p:nvSpPr>
        <p:spPr>
          <a:xfrm>
            <a:off x="5919952" y="1251848"/>
            <a:ext cx="5433849" cy="348047"/>
          </a:xfrm>
        </p:spPr>
        <p:txBody>
          <a:bodyPr/>
          <a:lstStyle/>
          <a:p>
            <a:r>
              <a:rPr lang="en-US" sz="2000" dirty="0"/>
              <a:t>A portion of data in </a:t>
            </a:r>
            <a:r>
              <a:rPr lang="en-US" sz="2000" dirty="0" err="1"/>
              <a:t>DATAfile</a:t>
            </a:r>
            <a:r>
              <a:rPr lang="en-US" sz="2000" dirty="0"/>
              <a:t> </a:t>
            </a:r>
            <a:r>
              <a:rPr lang="en-US" sz="2000" i="1" dirty="0" err="1"/>
              <a:t>IncomeByState</a:t>
            </a:r>
            <a:endParaRPr lang="en-US" sz="2000" i="1" dirty="0"/>
          </a:p>
        </p:txBody>
      </p:sp>
      <p:pic>
        <p:nvPicPr>
          <p:cNvPr id="11" name="Picture Placeholder 10" descr="A screenshot of Excel is given. Column A in the spreadsheet is labeled State, and column B is labeled Median Income. The row entries are as follows. Row 1: Alabama, 49,881. Row 2: Alaska, 74,912. Row 3: Arizona, 59,079. Row 4: Arkansas, 47,094. Row 5: California, 75,250.">
            <a:extLst>
              <a:ext uri="{FF2B5EF4-FFF2-40B4-BE49-F238E27FC236}">
                <a16:creationId xmlns:a16="http://schemas.microsoft.com/office/drawing/2014/main" id="{312E1EF9-A960-40A5-B70A-857512B8022E}"/>
              </a:ext>
            </a:extLst>
          </p:cNvPr>
          <p:cNvPicPr>
            <a:picLocks noGrp="1" noChangeAspect="1"/>
          </p:cNvPicPr>
          <p:nvPr>
            <p:ph type="pic" sz="quarter" idx="16"/>
          </p:nvPr>
        </p:nvPicPr>
        <p:blipFill rotWithShape="1">
          <a:blip r:embed="rId3"/>
          <a:srcRect l="8" r="8"/>
          <a:stretch/>
        </p:blipFill>
        <p:spPr>
          <a:xfrm>
            <a:off x="6952422" y="1542220"/>
            <a:ext cx="3544958" cy="2231460"/>
          </a:xfrm>
        </p:spPr>
      </p:pic>
      <p:sp>
        <p:nvSpPr>
          <p:cNvPr id="4" name="Text Placeholder 3">
            <a:extLst>
              <a:ext uri="{FF2B5EF4-FFF2-40B4-BE49-F238E27FC236}">
                <a16:creationId xmlns:a16="http://schemas.microsoft.com/office/drawing/2014/main" id="{F126698F-033C-4D24-80CC-3ED8A4658A55}"/>
              </a:ext>
            </a:extLst>
          </p:cNvPr>
          <p:cNvSpPr>
            <a:spLocks noGrp="1"/>
          </p:cNvSpPr>
          <p:nvPr>
            <p:ph type="body" sz="quarter" idx="11"/>
          </p:nvPr>
        </p:nvSpPr>
        <p:spPr>
          <a:xfrm>
            <a:off x="5919952" y="3773680"/>
            <a:ext cx="5433849" cy="1780612"/>
          </a:xfrm>
        </p:spPr>
        <p:txBody>
          <a:bodyPr/>
          <a:lstStyle/>
          <a:p>
            <a:pPr>
              <a:spcAft>
                <a:spcPts val="600"/>
              </a:spcAft>
            </a:pPr>
            <a:r>
              <a:rPr lang="en-US" sz="2000" dirty="0">
                <a:solidFill>
                  <a:srgbClr val="000000"/>
                </a:solidFill>
              </a:rPr>
              <a:t>To build the choropleth map to the left, follow these steps:</a:t>
            </a:r>
          </a:p>
          <a:p>
            <a:pPr marL="227013"/>
            <a:r>
              <a:rPr lang="en-US" b="1" dirty="0">
                <a:solidFill>
                  <a:srgbClr val="000000"/>
                </a:solidFill>
              </a:rPr>
              <a:t>Step 1. </a:t>
            </a:r>
            <a:r>
              <a:rPr lang="en-US" dirty="0">
                <a:solidFill>
                  <a:srgbClr val="000000"/>
                </a:solidFill>
              </a:rPr>
              <a:t>Select cells A1:B51</a:t>
            </a:r>
          </a:p>
          <a:p>
            <a:pPr marL="227013"/>
            <a:r>
              <a:rPr lang="en-US" b="1" dirty="0">
                <a:solidFill>
                  <a:srgbClr val="000000"/>
                </a:solidFill>
              </a:rPr>
              <a:t>Step 2 .</a:t>
            </a:r>
            <a:r>
              <a:rPr lang="en-US" dirty="0">
                <a:solidFill>
                  <a:srgbClr val="000000"/>
                </a:solidFill>
              </a:rPr>
              <a:t>Click the </a:t>
            </a:r>
            <a:r>
              <a:rPr lang="en-US" b="1" dirty="0">
                <a:solidFill>
                  <a:srgbClr val="000000"/>
                </a:solidFill>
              </a:rPr>
              <a:t>Insert </a:t>
            </a:r>
            <a:r>
              <a:rPr lang="en-US" dirty="0">
                <a:solidFill>
                  <a:srgbClr val="000000"/>
                </a:solidFill>
              </a:rPr>
              <a:t>tab on the Ribbon</a:t>
            </a:r>
          </a:p>
          <a:p>
            <a:pPr marL="227013"/>
            <a:r>
              <a:rPr lang="en-US" b="1" dirty="0">
                <a:solidFill>
                  <a:srgbClr val="000000"/>
                </a:solidFill>
              </a:rPr>
              <a:t>Step 3. </a:t>
            </a:r>
            <a:r>
              <a:rPr lang="en-US" dirty="0">
                <a:solidFill>
                  <a:srgbClr val="000000"/>
                </a:solidFill>
              </a:rPr>
              <a:t>In the </a:t>
            </a:r>
            <a:r>
              <a:rPr lang="en-US" b="1" dirty="0">
                <a:solidFill>
                  <a:srgbClr val="000000"/>
                </a:solidFill>
              </a:rPr>
              <a:t>Charts </a:t>
            </a:r>
            <a:r>
              <a:rPr lang="en-US" dirty="0">
                <a:solidFill>
                  <a:srgbClr val="000000"/>
                </a:solidFill>
              </a:rPr>
              <a:t>group, click the </a:t>
            </a:r>
            <a:r>
              <a:rPr lang="en-US" b="1" dirty="0">
                <a:solidFill>
                  <a:srgbClr val="000000"/>
                </a:solidFill>
              </a:rPr>
              <a:t>Maps </a:t>
            </a:r>
            <a:r>
              <a:rPr lang="en-US" dirty="0">
                <a:solidFill>
                  <a:srgbClr val="000000"/>
                </a:solidFill>
              </a:rPr>
              <a:t>button</a:t>
            </a:r>
          </a:p>
          <a:p>
            <a:pPr marL="227013"/>
            <a:r>
              <a:rPr lang="en-US" b="1" dirty="0">
                <a:solidFill>
                  <a:srgbClr val="000000"/>
                </a:solidFill>
              </a:rPr>
              <a:t>Step 4. </a:t>
            </a:r>
            <a:r>
              <a:rPr lang="en-US" dirty="0">
                <a:solidFill>
                  <a:srgbClr val="000000"/>
                </a:solidFill>
              </a:rPr>
              <a:t>Select </a:t>
            </a:r>
            <a:r>
              <a:rPr lang="en-US" b="1" dirty="0">
                <a:solidFill>
                  <a:srgbClr val="000000"/>
                </a:solidFill>
              </a:rPr>
              <a:t>Filled Map</a:t>
            </a:r>
          </a:p>
        </p:txBody>
      </p:sp>
    </p:spTree>
    <p:extLst>
      <p:ext uri="{BB962C8B-B14F-4D97-AF65-F5344CB8AC3E}">
        <p14:creationId xmlns:p14="http://schemas.microsoft.com/office/powerpoint/2010/main" val="198209250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E7F10-3868-481F-8A95-C3B41E52C6B5}"/>
              </a:ext>
            </a:extLst>
          </p:cNvPr>
          <p:cNvSpPr>
            <a:spLocks noGrp="1"/>
          </p:cNvSpPr>
          <p:nvPr>
            <p:ph type="title"/>
          </p:nvPr>
        </p:nvSpPr>
        <p:spPr>
          <a:xfrm>
            <a:off x="540327" y="365125"/>
            <a:ext cx="11118273" cy="672105"/>
          </a:xfrm>
        </p:spPr>
        <p:txBody>
          <a:bodyPr/>
          <a:lstStyle/>
          <a:p>
            <a:r>
              <a:rPr lang="en-US" sz="3200" dirty="0">
                <a:solidFill>
                  <a:srgbClr val="25894E"/>
                </a:solidFill>
              </a:rPr>
              <a:t>2.5 Excel: Construct a County-Level Data Choropleth Map</a:t>
            </a:r>
          </a:p>
        </p:txBody>
      </p:sp>
      <p:sp>
        <p:nvSpPr>
          <p:cNvPr id="5" name="Text Placeholder 4">
            <a:extLst>
              <a:ext uri="{FF2B5EF4-FFF2-40B4-BE49-F238E27FC236}">
                <a16:creationId xmlns:a16="http://schemas.microsoft.com/office/drawing/2014/main" id="{D3BF4AE0-C0BD-48FB-B8A9-D076E1EA666B}"/>
              </a:ext>
            </a:extLst>
          </p:cNvPr>
          <p:cNvSpPr>
            <a:spLocks noGrp="1"/>
          </p:cNvSpPr>
          <p:nvPr>
            <p:ph type="body" sz="quarter" idx="15"/>
          </p:nvPr>
        </p:nvSpPr>
        <p:spPr>
          <a:xfrm>
            <a:off x="743575" y="1254266"/>
            <a:ext cx="5242697" cy="560339"/>
          </a:xfrm>
        </p:spPr>
        <p:txBody>
          <a:bodyPr/>
          <a:lstStyle/>
          <a:p>
            <a:r>
              <a:rPr lang="en-US" sz="2000" dirty="0"/>
              <a:t>Choropleth map of the United States displaying median income by county</a:t>
            </a:r>
          </a:p>
        </p:txBody>
      </p:sp>
      <p:pic>
        <p:nvPicPr>
          <p:cNvPr id="8" name="Picture Placeholder 7" descr="A county map of the United States is titled “Median Income by County.” A scale on the right side of the map is labeled “Median Income,” and ranges from 25,385 to 140,382. Few counties in the northeast, the west, and the northwest have high income, most counties in Alaska, Hawaii, the west, west, north, and northeast, and the central United States have moderate income, and most counties in the south and the southeast have low income.">
            <a:extLst>
              <a:ext uri="{FF2B5EF4-FFF2-40B4-BE49-F238E27FC236}">
                <a16:creationId xmlns:a16="http://schemas.microsoft.com/office/drawing/2014/main" id="{2616BF06-81ED-499A-A9D6-31A81BD4C1B4}"/>
              </a:ext>
            </a:extLst>
          </p:cNvPr>
          <p:cNvPicPr>
            <a:picLocks noGrp="1" noChangeAspect="1"/>
          </p:cNvPicPr>
          <p:nvPr>
            <p:ph type="pic" sz="quarter" idx="10"/>
          </p:nvPr>
        </p:nvPicPr>
        <p:blipFill rotWithShape="1">
          <a:blip r:embed="rId3"/>
          <a:srcRect t="11225" b="11225"/>
          <a:stretch/>
        </p:blipFill>
        <p:spPr/>
      </p:pic>
      <p:sp>
        <p:nvSpPr>
          <p:cNvPr id="7" name="Text Placeholder 6">
            <a:extLst>
              <a:ext uri="{FF2B5EF4-FFF2-40B4-BE49-F238E27FC236}">
                <a16:creationId xmlns:a16="http://schemas.microsoft.com/office/drawing/2014/main" id="{4458B701-0291-4684-AC31-07BB385B990C}"/>
              </a:ext>
            </a:extLst>
          </p:cNvPr>
          <p:cNvSpPr>
            <a:spLocks noGrp="1"/>
          </p:cNvSpPr>
          <p:nvPr>
            <p:ph type="body" sz="quarter" idx="17"/>
          </p:nvPr>
        </p:nvSpPr>
        <p:spPr>
          <a:xfrm>
            <a:off x="5825360" y="1251848"/>
            <a:ext cx="5637980" cy="348047"/>
          </a:xfrm>
        </p:spPr>
        <p:txBody>
          <a:bodyPr/>
          <a:lstStyle/>
          <a:p>
            <a:r>
              <a:rPr lang="en-US" sz="2000" dirty="0"/>
              <a:t>A portion of data in </a:t>
            </a:r>
            <a:r>
              <a:rPr lang="en-US" sz="2000" dirty="0" err="1"/>
              <a:t>DATAfile</a:t>
            </a:r>
            <a:r>
              <a:rPr lang="en-US" sz="2000" dirty="0"/>
              <a:t> </a:t>
            </a:r>
            <a:r>
              <a:rPr lang="en-US" sz="2000" i="1" dirty="0" err="1"/>
              <a:t>IncomeByCounty</a:t>
            </a:r>
            <a:endParaRPr lang="en-US" sz="2000" i="1" dirty="0"/>
          </a:p>
        </p:txBody>
      </p:sp>
      <p:pic>
        <p:nvPicPr>
          <p:cNvPr id="13" name="Picture Placeholder 12" descr="A screenshot of Excel is given. Column A in the spreadsheet is labeled State, column B is labeled County, and column C is labeled Median Income. The row entries are as follows. Row 1: A L, Autauga, 59,338. Row 2: A L, Baldwin, 57,588. Row 3: A L, Barbour, 34,382. Row 4: A L, Bibb, 46,064. Row 5: A L, Blount, 50,412.">
            <a:extLst>
              <a:ext uri="{FF2B5EF4-FFF2-40B4-BE49-F238E27FC236}">
                <a16:creationId xmlns:a16="http://schemas.microsoft.com/office/drawing/2014/main" id="{717BFBFE-7256-48EC-A0CC-6F111C5DCB05}"/>
              </a:ext>
            </a:extLst>
          </p:cNvPr>
          <p:cNvPicPr>
            <a:picLocks noGrp="1" noChangeAspect="1"/>
          </p:cNvPicPr>
          <p:nvPr>
            <p:ph type="pic" sz="quarter" idx="16"/>
          </p:nvPr>
        </p:nvPicPr>
        <p:blipFill rotWithShape="1">
          <a:blip r:embed="rId4"/>
          <a:srcRect l="34" r="34"/>
          <a:stretch/>
        </p:blipFill>
        <p:spPr>
          <a:xfrm>
            <a:off x="6837363" y="1535113"/>
            <a:ext cx="3775075" cy="2230437"/>
          </a:xfrm>
        </p:spPr>
      </p:pic>
      <p:sp>
        <p:nvSpPr>
          <p:cNvPr id="4" name="Text Placeholder 3">
            <a:extLst>
              <a:ext uri="{FF2B5EF4-FFF2-40B4-BE49-F238E27FC236}">
                <a16:creationId xmlns:a16="http://schemas.microsoft.com/office/drawing/2014/main" id="{F126698F-033C-4D24-80CC-3ED8A4658A55}"/>
              </a:ext>
            </a:extLst>
          </p:cNvPr>
          <p:cNvSpPr>
            <a:spLocks noGrp="1"/>
          </p:cNvSpPr>
          <p:nvPr>
            <p:ph type="body" sz="quarter" idx="11"/>
          </p:nvPr>
        </p:nvSpPr>
        <p:spPr>
          <a:xfrm>
            <a:off x="5903366" y="3773680"/>
            <a:ext cx="5450436" cy="1947578"/>
          </a:xfrm>
        </p:spPr>
        <p:txBody>
          <a:bodyPr/>
          <a:lstStyle/>
          <a:p>
            <a:pPr>
              <a:spcAft>
                <a:spcPts val="600"/>
              </a:spcAft>
            </a:pPr>
            <a:r>
              <a:rPr lang="en-US" sz="2000" dirty="0">
                <a:solidFill>
                  <a:srgbClr val="000000"/>
                </a:solidFill>
              </a:rPr>
              <a:t>To build the choropleth map to the left, follow these steps:</a:t>
            </a:r>
          </a:p>
          <a:p>
            <a:pPr marL="227013"/>
            <a:r>
              <a:rPr lang="en-US" b="1" dirty="0">
                <a:solidFill>
                  <a:srgbClr val="000000"/>
                </a:solidFill>
              </a:rPr>
              <a:t>Step 1. </a:t>
            </a:r>
            <a:r>
              <a:rPr lang="en-US" dirty="0">
                <a:solidFill>
                  <a:srgbClr val="000000"/>
                </a:solidFill>
              </a:rPr>
              <a:t>Select cells A1:C3148</a:t>
            </a:r>
          </a:p>
          <a:p>
            <a:pPr marL="227013"/>
            <a:r>
              <a:rPr lang="en-US" b="1" dirty="0">
                <a:solidFill>
                  <a:srgbClr val="000000"/>
                </a:solidFill>
              </a:rPr>
              <a:t>Step 2. </a:t>
            </a:r>
            <a:r>
              <a:rPr lang="en-US" dirty="0">
                <a:solidFill>
                  <a:srgbClr val="000000"/>
                </a:solidFill>
              </a:rPr>
              <a:t>Click the </a:t>
            </a:r>
            <a:r>
              <a:rPr lang="en-US" b="1" dirty="0">
                <a:solidFill>
                  <a:srgbClr val="000000"/>
                </a:solidFill>
              </a:rPr>
              <a:t>Insert </a:t>
            </a:r>
            <a:r>
              <a:rPr lang="en-US" dirty="0">
                <a:solidFill>
                  <a:srgbClr val="000000"/>
                </a:solidFill>
              </a:rPr>
              <a:t>tab on the Ribbon</a:t>
            </a:r>
          </a:p>
          <a:p>
            <a:pPr marL="227013"/>
            <a:r>
              <a:rPr lang="en-US" b="1" dirty="0">
                <a:solidFill>
                  <a:srgbClr val="000000"/>
                </a:solidFill>
              </a:rPr>
              <a:t>Step 3. </a:t>
            </a:r>
            <a:r>
              <a:rPr lang="en-US" dirty="0">
                <a:solidFill>
                  <a:srgbClr val="000000"/>
                </a:solidFill>
              </a:rPr>
              <a:t>In the </a:t>
            </a:r>
            <a:r>
              <a:rPr lang="en-US" b="1" dirty="0">
                <a:solidFill>
                  <a:srgbClr val="000000"/>
                </a:solidFill>
              </a:rPr>
              <a:t>Charts </a:t>
            </a:r>
            <a:r>
              <a:rPr lang="en-US" dirty="0">
                <a:solidFill>
                  <a:srgbClr val="000000"/>
                </a:solidFill>
              </a:rPr>
              <a:t>group, click the </a:t>
            </a:r>
            <a:r>
              <a:rPr lang="en-US" b="1" dirty="0">
                <a:solidFill>
                  <a:srgbClr val="000000"/>
                </a:solidFill>
              </a:rPr>
              <a:t>Maps </a:t>
            </a:r>
            <a:r>
              <a:rPr lang="en-US" dirty="0">
                <a:solidFill>
                  <a:srgbClr val="000000"/>
                </a:solidFill>
              </a:rPr>
              <a:t>button</a:t>
            </a:r>
          </a:p>
          <a:p>
            <a:pPr marL="227013"/>
            <a:r>
              <a:rPr lang="en-US" b="1" dirty="0">
                <a:solidFill>
                  <a:srgbClr val="000000"/>
                </a:solidFill>
              </a:rPr>
              <a:t>Step 4. </a:t>
            </a:r>
            <a:r>
              <a:rPr lang="en-US" dirty="0">
                <a:solidFill>
                  <a:srgbClr val="000000"/>
                </a:solidFill>
              </a:rPr>
              <a:t>Select </a:t>
            </a:r>
            <a:r>
              <a:rPr lang="en-US" b="1" dirty="0">
                <a:solidFill>
                  <a:srgbClr val="000000"/>
                </a:solidFill>
              </a:rPr>
              <a:t>Filled Map</a:t>
            </a:r>
          </a:p>
        </p:txBody>
      </p:sp>
    </p:spTree>
    <p:extLst>
      <p:ext uri="{BB962C8B-B14F-4D97-AF65-F5344CB8AC3E}">
        <p14:creationId xmlns:p14="http://schemas.microsoft.com/office/powerpoint/2010/main" val="181375204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2477E-437C-4712-9C06-3F6766F4BB33}"/>
              </a:ext>
            </a:extLst>
          </p:cNvPr>
          <p:cNvSpPr>
            <a:spLocks noGrp="1"/>
          </p:cNvSpPr>
          <p:nvPr>
            <p:ph type="title"/>
          </p:nvPr>
        </p:nvSpPr>
        <p:spPr/>
        <p:txBody>
          <a:bodyPr/>
          <a:lstStyle/>
          <a:p>
            <a:r>
              <a:rPr lang="en-US" dirty="0"/>
              <a:t>2.5 Cartograms</a:t>
            </a:r>
          </a:p>
        </p:txBody>
      </p:sp>
      <p:sp>
        <p:nvSpPr>
          <p:cNvPr id="5" name="Text Placeholder 4">
            <a:extLst>
              <a:ext uri="{FF2B5EF4-FFF2-40B4-BE49-F238E27FC236}">
                <a16:creationId xmlns:a16="http://schemas.microsoft.com/office/drawing/2014/main" id="{CB50D589-A612-4720-BCE7-E95A489F0A37}"/>
              </a:ext>
            </a:extLst>
          </p:cNvPr>
          <p:cNvSpPr>
            <a:spLocks noGrp="1"/>
          </p:cNvSpPr>
          <p:nvPr>
            <p:ph type="body" sz="quarter" idx="15"/>
          </p:nvPr>
        </p:nvSpPr>
        <p:spPr>
          <a:xfrm>
            <a:off x="743574" y="1309278"/>
            <a:ext cx="10711543" cy="348047"/>
          </a:xfrm>
        </p:spPr>
        <p:txBody>
          <a:bodyPr/>
          <a:lstStyle/>
          <a:p>
            <a:r>
              <a:rPr lang="en-US" dirty="0"/>
              <a:t>Cartogram of the United States displaying state population</a:t>
            </a:r>
          </a:p>
        </p:txBody>
      </p:sp>
      <p:pic>
        <p:nvPicPr>
          <p:cNvPr id="8" name="Picture Placeholder 7" descr="A cartogram of the United States. Text reads, “2010. Total population: 308,745,538. 1 square equals 50,000 people.” The size of the states in the map is proportional to their population. Each state consists of multiple squares. The United States is divided into the West, Midwest, South, and Northeast. Most states in the West and the Midwest are small.">
            <a:extLst>
              <a:ext uri="{FF2B5EF4-FFF2-40B4-BE49-F238E27FC236}">
                <a16:creationId xmlns:a16="http://schemas.microsoft.com/office/drawing/2014/main" id="{F4D2E9F4-770A-42A1-9EC5-04B79971FDC7}"/>
              </a:ext>
            </a:extLst>
          </p:cNvPr>
          <p:cNvPicPr>
            <a:picLocks noGrp="1" noChangeAspect="1"/>
          </p:cNvPicPr>
          <p:nvPr>
            <p:ph type="pic" sz="quarter" idx="10"/>
          </p:nvPr>
        </p:nvPicPr>
        <p:blipFill rotWithShape="1">
          <a:blip r:embed="rId3"/>
          <a:srcRect t="16" b="16"/>
          <a:stretch/>
        </p:blipFill>
        <p:spPr>
          <a:xfrm>
            <a:off x="733425" y="1657350"/>
            <a:ext cx="5888038" cy="3895725"/>
          </a:xfrm>
        </p:spPr>
      </p:pic>
      <p:sp>
        <p:nvSpPr>
          <p:cNvPr id="4" name="Text Placeholder 3">
            <a:extLst>
              <a:ext uri="{FF2B5EF4-FFF2-40B4-BE49-F238E27FC236}">
                <a16:creationId xmlns:a16="http://schemas.microsoft.com/office/drawing/2014/main" id="{46C5E3D0-9BDB-4272-8727-F2BA2E92DAC5}"/>
              </a:ext>
            </a:extLst>
          </p:cNvPr>
          <p:cNvSpPr>
            <a:spLocks noGrp="1"/>
          </p:cNvSpPr>
          <p:nvPr>
            <p:ph type="body" sz="quarter" idx="11"/>
          </p:nvPr>
        </p:nvSpPr>
        <p:spPr>
          <a:xfrm>
            <a:off x="7007702" y="2217218"/>
            <a:ext cx="4346097" cy="3435027"/>
          </a:xfrm>
        </p:spPr>
        <p:txBody>
          <a:bodyPr/>
          <a:lstStyle/>
          <a:p>
            <a:pPr>
              <a:spcAft>
                <a:spcPts val="1200"/>
              </a:spcAft>
            </a:pPr>
            <a:r>
              <a:rPr lang="en-US" sz="2000" dirty="0">
                <a:solidFill>
                  <a:srgbClr val="000000"/>
                </a:solidFill>
              </a:rPr>
              <a:t>A </a:t>
            </a:r>
            <a:r>
              <a:rPr lang="en-US" sz="2000" b="1" dirty="0">
                <a:solidFill>
                  <a:srgbClr val="000000"/>
                </a:solidFill>
              </a:rPr>
              <a:t>cartogram </a:t>
            </a:r>
            <a:r>
              <a:rPr lang="en-US" sz="2000" dirty="0">
                <a:solidFill>
                  <a:srgbClr val="000000"/>
                </a:solidFill>
              </a:rPr>
              <a:t>is a map-like diagram that uses geographic positioning but purposefully represents map regions that do not necessarily correspond to land area.</a:t>
            </a:r>
          </a:p>
          <a:p>
            <a:pPr>
              <a:spcAft>
                <a:spcPts val="0"/>
              </a:spcAft>
            </a:pPr>
            <a:r>
              <a:rPr lang="en-US" sz="2000" b="1" dirty="0">
                <a:solidFill>
                  <a:srgbClr val="000000"/>
                </a:solidFill>
              </a:rPr>
              <a:t>Example</a:t>
            </a:r>
            <a:r>
              <a:rPr lang="en-US" sz="2000" dirty="0">
                <a:solidFill>
                  <a:srgbClr val="000000"/>
                </a:solidFill>
              </a:rPr>
              <a:t>:</a:t>
            </a:r>
          </a:p>
          <a:p>
            <a:pPr>
              <a:spcAft>
                <a:spcPts val="1200"/>
              </a:spcAft>
            </a:pPr>
            <a:r>
              <a:rPr lang="en-US" sz="2000" dirty="0">
                <a:solidFill>
                  <a:srgbClr val="000000"/>
                </a:solidFill>
              </a:rPr>
              <a:t>In the cartogram of the United States to the left, each state’s area has been modified to make it proportional to the state’s population.</a:t>
            </a:r>
          </a:p>
        </p:txBody>
      </p:sp>
    </p:spTree>
    <p:extLst>
      <p:ext uri="{BB962C8B-B14F-4D97-AF65-F5344CB8AC3E}">
        <p14:creationId xmlns:p14="http://schemas.microsoft.com/office/powerpoint/2010/main" val="208682299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2477E-437C-4712-9C06-3F6766F4BB33}"/>
              </a:ext>
            </a:extLst>
          </p:cNvPr>
          <p:cNvSpPr>
            <a:spLocks noGrp="1"/>
          </p:cNvSpPr>
          <p:nvPr>
            <p:ph type="title"/>
          </p:nvPr>
        </p:nvSpPr>
        <p:spPr/>
        <p:txBody>
          <a:bodyPr/>
          <a:lstStyle/>
          <a:p>
            <a:r>
              <a:rPr lang="en-US" dirty="0"/>
              <a:t>2.5 Equal-Area Cartograms</a:t>
            </a:r>
          </a:p>
        </p:txBody>
      </p:sp>
      <p:sp>
        <p:nvSpPr>
          <p:cNvPr id="5" name="Text Placeholder 4">
            <a:extLst>
              <a:ext uri="{FF2B5EF4-FFF2-40B4-BE49-F238E27FC236}">
                <a16:creationId xmlns:a16="http://schemas.microsoft.com/office/drawing/2014/main" id="{CB50D589-A612-4720-BCE7-E95A489F0A37}"/>
              </a:ext>
            </a:extLst>
          </p:cNvPr>
          <p:cNvSpPr>
            <a:spLocks noGrp="1"/>
          </p:cNvSpPr>
          <p:nvPr>
            <p:ph type="body" sz="quarter" idx="15"/>
          </p:nvPr>
        </p:nvSpPr>
        <p:spPr>
          <a:xfrm>
            <a:off x="743574" y="1309278"/>
            <a:ext cx="10711543" cy="348047"/>
          </a:xfrm>
        </p:spPr>
        <p:txBody>
          <a:bodyPr/>
          <a:lstStyle/>
          <a:p>
            <a:r>
              <a:rPr lang="en-US" sz="2000" dirty="0"/>
              <a:t>Equal-area cartogram of the United States displaying median income by state.</a:t>
            </a:r>
          </a:p>
        </p:txBody>
      </p:sp>
      <p:pic>
        <p:nvPicPr>
          <p:cNvPr id="12" name="Picture Placeholder 11" descr="An equal area cartogram shows 49 squares in different shades of a color. A legend on the top left side shows different income ranges. The data from the cartogram are as follows. Median income more than 70 k dollars: Alaska, Maryland, New Jersey, and Connecticut. Median income between 60 k dollars and 70 k dollars: Hawaii, Washington, California, Utah, Colorado, Minnesota, Virginia, New Hampshire, Massachusetts, and Delaware. Median income between 50 k dollars and 60 k dollars: Oregon, Nevada, Arizona, Wyoming, North Dakota, South Dakota, Nebraska, Kansas, Texas, Iowa, Wisconsin, Illinois, Pennsylvania, New York, Vermont, and Rhode Island. Median income between 40 k dollars and 50 k dollars: Idaho, Montana, New Mexico, Oklahoma, Missouri, Arkansas, Louisiana, Indiana, Kentucky, Tennessee, Michigan, Ohio, West Virginia, North Carolina, Alabama, South Carolina, Georgia, and Florida. Median Income less than 40 k dollars: Mississippi.">
            <a:extLst>
              <a:ext uri="{FF2B5EF4-FFF2-40B4-BE49-F238E27FC236}">
                <a16:creationId xmlns:a16="http://schemas.microsoft.com/office/drawing/2014/main" id="{9FAD3B2A-391C-409B-A97A-5B960D8B2F62}"/>
              </a:ext>
            </a:extLst>
          </p:cNvPr>
          <p:cNvPicPr>
            <a:picLocks noGrp="1" noChangeAspect="1"/>
          </p:cNvPicPr>
          <p:nvPr>
            <p:ph type="pic" sz="quarter" idx="10"/>
          </p:nvPr>
        </p:nvPicPr>
        <p:blipFill rotWithShape="1">
          <a:blip r:embed="rId3"/>
          <a:srcRect t="52" b="52"/>
          <a:stretch/>
        </p:blipFill>
        <p:spPr>
          <a:xfrm>
            <a:off x="733425" y="1713601"/>
            <a:ext cx="6675438" cy="3890963"/>
          </a:xfrm>
        </p:spPr>
      </p:pic>
      <p:sp>
        <p:nvSpPr>
          <p:cNvPr id="4" name="Text Placeholder 3">
            <a:extLst>
              <a:ext uri="{FF2B5EF4-FFF2-40B4-BE49-F238E27FC236}">
                <a16:creationId xmlns:a16="http://schemas.microsoft.com/office/drawing/2014/main" id="{46C5E3D0-9BDB-4272-8727-F2BA2E92DAC5}"/>
              </a:ext>
            </a:extLst>
          </p:cNvPr>
          <p:cNvSpPr>
            <a:spLocks noGrp="1"/>
          </p:cNvSpPr>
          <p:nvPr>
            <p:ph type="body" sz="quarter" idx="11"/>
          </p:nvPr>
        </p:nvSpPr>
        <p:spPr>
          <a:xfrm>
            <a:off x="7582237" y="1780249"/>
            <a:ext cx="3859902" cy="3815689"/>
          </a:xfrm>
        </p:spPr>
        <p:txBody>
          <a:bodyPr/>
          <a:lstStyle/>
          <a:p>
            <a:pPr>
              <a:spcAft>
                <a:spcPts val="600"/>
              </a:spcAft>
            </a:pPr>
            <a:r>
              <a:rPr lang="en-US" sz="2000" dirty="0">
                <a:solidFill>
                  <a:srgbClr val="000000"/>
                </a:solidFill>
              </a:rPr>
              <a:t>A potential weakness of a cartogram is that the sizing of the regions may distort enough to render the relative geographic positioning meaningless and the standard area-based geography unrecognizable.</a:t>
            </a:r>
          </a:p>
          <a:p>
            <a:pPr>
              <a:spcAft>
                <a:spcPts val="1200"/>
              </a:spcAft>
            </a:pPr>
            <a:r>
              <a:rPr lang="en-US" sz="2000" dirty="0">
                <a:solidFill>
                  <a:srgbClr val="000000"/>
                </a:solidFill>
              </a:rPr>
              <a:t>An </a:t>
            </a:r>
            <a:r>
              <a:rPr lang="en-US" sz="2000" b="1" dirty="0">
                <a:solidFill>
                  <a:srgbClr val="000000"/>
                </a:solidFill>
              </a:rPr>
              <a:t>equal-area cartogram</a:t>
            </a:r>
            <a:r>
              <a:rPr lang="en-US" sz="2000" dirty="0">
                <a:solidFill>
                  <a:srgbClr val="000000"/>
                </a:solidFill>
              </a:rPr>
              <a:t> provides a balanced visual representation of each state while still maintaining fidelity to relative geographic positioning.</a:t>
            </a:r>
          </a:p>
        </p:txBody>
      </p:sp>
    </p:spTree>
    <p:extLst>
      <p:ext uri="{BB962C8B-B14F-4D97-AF65-F5344CB8AC3E}">
        <p14:creationId xmlns:p14="http://schemas.microsoft.com/office/powerpoint/2010/main" val="356661979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ABB93C1-37C6-738B-C06D-0BD178A1B1DD}"/>
              </a:ext>
            </a:extLst>
          </p:cNvPr>
          <p:cNvSpPr>
            <a:spLocks noGrp="1"/>
          </p:cNvSpPr>
          <p:nvPr>
            <p:ph type="title"/>
          </p:nvPr>
        </p:nvSpPr>
        <p:spPr/>
        <p:txBody>
          <a:bodyPr/>
          <a:lstStyle/>
          <a:p>
            <a:r>
              <a:rPr lang="en-US" dirty="0">
                <a:solidFill>
                  <a:srgbClr val="FF0000"/>
                </a:solidFill>
              </a:rPr>
              <a:t>2.6 Data-Ink Ratio</a:t>
            </a:r>
          </a:p>
        </p:txBody>
      </p:sp>
      <p:sp>
        <p:nvSpPr>
          <p:cNvPr id="7" name="Text Placeholder 6">
            <a:extLst>
              <a:ext uri="{FF2B5EF4-FFF2-40B4-BE49-F238E27FC236}">
                <a16:creationId xmlns:a16="http://schemas.microsoft.com/office/drawing/2014/main" id="{BA893C13-81D7-4C4B-50F0-0FEAAFDEE6F3}"/>
              </a:ext>
            </a:extLst>
          </p:cNvPr>
          <p:cNvSpPr>
            <a:spLocks noGrp="1"/>
          </p:cNvSpPr>
          <p:nvPr>
            <p:ph type="body" sz="quarter" idx="15"/>
          </p:nvPr>
        </p:nvSpPr>
        <p:spPr>
          <a:xfrm>
            <a:off x="743576" y="1289684"/>
            <a:ext cx="10261029" cy="3732692"/>
          </a:xfrm>
        </p:spPr>
        <p:txBody>
          <a:bodyPr/>
          <a:lstStyle/>
          <a:p>
            <a:r>
              <a:rPr lang="en-US" dirty="0"/>
              <a:t>The </a:t>
            </a:r>
            <a:r>
              <a:rPr lang="en-US" b="1" dirty="0"/>
              <a:t>data-ink ratio </a:t>
            </a:r>
            <a:r>
              <a:rPr lang="en-US" dirty="0"/>
              <a:t>measures the proportion of ink used in a table or chart that is necessary to convey the meaning to the audience.</a:t>
            </a:r>
          </a:p>
          <a:p>
            <a:r>
              <a:rPr lang="en-US" dirty="0"/>
              <a:t>Overuse of non-data-ink increases cognitive load without conveying additional information.</a:t>
            </a:r>
          </a:p>
          <a:p>
            <a:endParaRPr lang="en-US" dirty="0"/>
          </a:p>
          <a:p>
            <a:endParaRPr lang="en-US" dirty="0"/>
          </a:p>
          <a:p>
            <a:endParaRPr lang="en-US" dirty="0"/>
          </a:p>
          <a:p>
            <a:endParaRPr lang="en-US" dirty="0"/>
          </a:p>
        </p:txBody>
      </p:sp>
      <p:pic>
        <p:nvPicPr>
          <p:cNvPr id="9" name="Picture 8" descr="A dot and line graph titled &quot;Low Data-Ink Ratio Chart&quot;  shows scarf sales over 20 days. The vertical axis is unlabeled but represents sales in units, ranging from 0 to 350 at increments of 50.  The horizontal axis is unlabeled but represents time in days, ranging from 0 to 20 at increments of 5. The points are connected by a blue line and labeled &quot;Sales (units)&quot; in the legend. The graph has horizontal and vertical grid lines at the incremental units. The data ranges from 140 to 180 within the 0 to 5 time frame;  140 to 240 within the 5 to 10 time frame; 150 to 300 within the 10 to 15 time frame; and 90 to 240 within the 15 to 20 time frame. All data are approximates.">
            <a:extLst>
              <a:ext uri="{FF2B5EF4-FFF2-40B4-BE49-F238E27FC236}">
                <a16:creationId xmlns:a16="http://schemas.microsoft.com/office/drawing/2014/main" id="{F46D5E33-19DB-6A43-159A-BCC62FECD3AD}"/>
              </a:ext>
            </a:extLst>
          </p:cNvPr>
          <p:cNvPicPr>
            <a:picLocks noChangeAspect="1"/>
          </p:cNvPicPr>
          <p:nvPr/>
        </p:nvPicPr>
        <p:blipFill>
          <a:blip r:embed="rId2"/>
          <a:stretch>
            <a:fillRect/>
          </a:stretch>
        </p:blipFill>
        <p:spPr>
          <a:xfrm>
            <a:off x="432753" y="3429000"/>
            <a:ext cx="4563893" cy="2562662"/>
          </a:xfrm>
          <a:prstGeom prst="rect">
            <a:avLst/>
          </a:prstGeom>
        </p:spPr>
      </p:pic>
      <p:sp>
        <p:nvSpPr>
          <p:cNvPr id="10" name="TextBox 9">
            <a:extLst>
              <a:ext uri="{FF2B5EF4-FFF2-40B4-BE49-F238E27FC236}">
                <a16:creationId xmlns:a16="http://schemas.microsoft.com/office/drawing/2014/main" id="{AC0C4B64-C528-1B25-6278-DB5EC84FB9EC}"/>
              </a:ext>
            </a:extLst>
          </p:cNvPr>
          <p:cNvSpPr txBox="1"/>
          <p:nvPr/>
        </p:nvSpPr>
        <p:spPr>
          <a:xfrm>
            <a:off x="1306060" y="3075057"/>
            <a:ext cx="3047309" cy="353943"/>
          </a:xfrm>
          <a:prstGeom prst="rect">
            <a:avLst/>
          </a:prstGeom>
          <a:noFill/>
          <a:effectLst/>
        </p:spPr>
        <p:txBody>
          <a:bodyPr wrap="none" lIns="0" tIns="0" rIns="0" rtlCol="0" anchor="b">
            <a:spAutoFit/>
          </a:bodyPr>
          <a:lstStyle/>
          <a:p>
            <a:r>
              <a:rPr lang="en-US" sz="2000" b="1" dirty="0">
                <a:solidFill>
                  <a:srgbClr val="000000"/>
                </a:solidFill>
                <a:latin typeface="Arial" panose="020B0604020202020204" pitchFamily="34" charset="0"/>
                <a:ea typeface="Open Sans" panose="020B0606030504020204" pitchFamily="34" charset="0"/>
                <a:cs typeface="Arial" panose="020B0604020202020204" pitchFamily="34" charset="0"/>
              </a:rPr>
              <a:t>Low Data-Ink Ratio Chart</a:t>
            </a:r>
          </a:p>
        </p:txBody>
      </p:sp>
      <p:pic>
        <p:nvPicPr>
          <p:cNvPr id="12" name="Picture 11" descr="The line chart titled &quot;High Data-Ink Ratio Chart&quot; shows scarf sales (units) over 20 days. The vertical axis is unlabeled but represents sales in units, ranging from 0 to 350 in increments of 50.  The horizontal axis is unlabeled but represents time in days, ranging from 0 to 20 in increments of 5. The graph does not have grid lines. ">
            <a:extLst>
              <a:ext uri="{FF2B5EF4-FFF2-40B4-BE49-F238E27FC236}">
                <a16:creationId xmlns:a16="http://schemas.microsoft.com/office/drawing/2014/main" id="{85145B33-49B5-55D9-B3B6-A84F10370371}"/>
              </a:ext>
            </a:extLst>
          </p:cNvPr>
          <p:cNvPicPr>
            <a:picLocks noChangeAspect="1"/>
          </p:cNvPicPr>
          <p:nvPr/>
        </p:nvPicPr>
        <p:blipFill>
          <a:blip r:embed="rId3"/>
          <a:stretch>
            <a:fillRect/>
          </a:stretch>
        </p:blipFill>
        <p:spPr>
          <a:xfrm>
            <a:off x="5838140" y="3615500"/>
            <a:ext cx="4726004" cy="2560320"/>
          </a:xfrm>
          <a:prstGeom prst="rect">
            <a:avLst/>
          </a:prstGeom>
        </p:spPr>
      </p:pic>
      <p:sp>
        <p:nvSpPr>
          <p:cNvPr id="13" name="TextBox 12">
            <a:extLst>
              <a:ext uri="{FF2B5EF4-FFF2-40B4-BE49-F238E27FC236}">
                <a16:creationId xmlns:a16="http://schemas.microsoft.com/office/drawing/2014/main" id="{B6CF245F-AAE0-AB4E-0F0C-CDC4BBBA986B}"/>
              </a:ext>
            </a:extLst>
          </p:cNvPr>
          <p:cNvSpPr txBox="1"/>
          <p:nvPr/>
        </p:nvSpPr>
        <p:spPr>
          <a:xfrm>
            <a:off x="6796418" y="3075057"/>
            <a:ext cx="3105017" cy="353943"/>
          </a:xfrm>
          <a:prstGeom prst="rect">
            <a:avLst/>
          </a:prstGeom>
          <a:noFill/>
          <a:effectLst/>
        </p:spPr>
        <p:txBody>
          <a:bodyPr wrap="none" lIns="0" tIns="0" rIns="0" rtlCol="0" anchor="b">
            <a:spAutoFit/>
          </a:bodyPr>
          <a:lstStyle/>
          <a:p>
            <a:r>
              <a:rPr lang="en-US" sz="2000" b="1" dirty="0">
                <a:solidFill>
                  <a:srgbClr val="000000"/>
                </a:solidFill>
                <a:latin typeface="Arial" panose="020B0604020202020204" pitchFamily="34" charset="0"/>
                <a:ea typeface="Open Sans" panose="020B0606030504020204" pitchFamily="34" charset="0"/>
                <a:cs typeface="Arial" panose="020B0604020202020204" pitchFamily="34" charset="0"/>
              </a:rPr>
              <a:t>High Data-Ink Ratio Chart</a:t>
            </a:r>
          </a:p>
        </p:txBody>
      </p:sp>
    </p:spTree>
    <p:extLst>
      <p:ext uri="{BB962C8B-B14F-4D97-AF65-F5344CB8AC3E}">
        <p14:creationId xmlns:p14="http://schemas.microsoft.com/office/powerpoint/2010/main" val="399382364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2F1851-52D5-03F3-7981-83429886F204}"/>
              </a:ext>
            </a:extLst>
          </p:cNvPr>
          <p:cNvSpPr>
            <a:spLocks noGrp="1"/>
          </p:cNvSpPr>
          <p:nvPr>
            <p:ph type="title"/>
          </p:nvPr>
        </p:nvSpPr>
        <p:spPr>
          <a:xfrm>
            <a:off x="453540" y="365125"/>
            <a:ext cx="11280648" cy="672105"/>
          </a:xfrm>
        </p:spPr>
        <p:txBody>
          <a:bodyPr/>
          <a:lstStyle/>
          <a:p>
            <a:r>
              <a:rPr lang="en-US" sz="3200" dirty="0">
                <a:solidFill>
                  <a:srgbClr val="D14B1E"/>
                </a:solidFill>
              </a:rPr>
              <a:t>2.6 Best Practices in Creating Effective Graphical Displays</a:t>
            </a:r>
          </a:p>
        </p:txBody>
      </p:sp>
      <p:sp>
        <p:nvSpPr>
          <p:cNvPr id="3" name="Text Placeholder 2">
            <a:extLst>
              <a:ext uri="{FF2B5EF4-FFF2-40B4-BE49-F238E27FC236}">
                <a16:creationId xmlns:a16="http://schemas.microsoft.com/office/drawing/2014/main" id="{E2F8492D-AD9D-EE5B-D41A-129A2A09ACBF}"/>
              </a:ext>
            </a:extLst>
          </p:cNvPr>
          <p:cNvSpPr>
            <a:spLocks noGrp="1"/>
          </p:cNvSpPr>
          <p:nvPr>
            <p:ph type="body" sz="quarter" idx="15"/>
          </p:nvPr>
        </p:nvSpPr>
        <p:spPr>
          <a:xfrm>
            <a:off x="743577" y="1340068"/>
            <a:ext cx="10670656" cy="1702885"/>
          </a:xfrm>
        </p:spPr>
        <p:txBody>
          <a:bodyPr/>
          <a:lstStyle/>
          <a:p>
            <a:pPr>
              <a:spcAft>
                <a:spcPts val="0"/>
              </a:spcAft>
            </a:pPr>
            <a:r>
              <a:rPr lang="en-US" sz="2000" b="1" dirty="0"/>
              <a:t>Data visualization </a:t>
            </a:r>
            <a:r>
              <a:rPr lang="en-US" sz="2000" dirty="0"/>
              <a:t>is the use of graphical displays to summarize and present data.</a:t>
            </a:r>
          </a:p>
          <a:p>
            <a:pPr>
              <a:spcAft>
                <a:spcPts val="0"/>
              </a:spcAft>
            </a:pPr>
            <a:r>
              <a:rPr lang="en-US" sz="2000" dirty="0"/>
              <a:t>The goal of data visualization is to communicate, as effectively and clearly as possible, the key information about the data.</a:t>
            </a:r>
          </a:p>
          <a:p>
            <a:pPr>
              <a:spcAft>
                <a:spcPts val="0"/>
              </a:spcAft>
            </a:pPr>
            <a:r>
              <a:rPr lang="en-US" sz="2000" dirty="0"/>
              <a:t>The side-by-side bar chart of the planned versus actual sales data by sales region in the United States for </a:t>
            </a:r>
            <a:r>
              <a:rPr lang="en-US" sz="2000" dirty="0" err="1"/>
              <a:t>Gustin</a:t>
            </a:r>
            <a:r>
              <a:rPr lang="en-US" sz="2000" dirty="0"/>
              <a:t> Chemical is a good example of an effective graphical display.</a:t>
            </a:r>
          </a:p>
        </p:txBody>
      </p:sp>
      <p:pic>
        <p:nvPicPr>
          <p:cNvPr id="7" name="Picture Placeholder 6" descr="A side-by-side bar chart with four sets of bars is titled “U.S. Planned Versus Actual Sales.” Each set consists of two vertical bars. The horizontal axis is labeled “Region” and lists four regions. The vertical axis is labeled “Sales (1000 dollars)” and ranges from 0 to 700 with tickmarks in increments of 100. The data from the chart, presented in the format, Region: Planned sales, actual sales, are as follows. Northeast: 540, 447. Northwest: 520, 447. Southeast: 575, 556. Southwest: 360, 341.&#10;">
            <a:extLst>
              <a:ext uri="{FF2B5EF4-FFF2-40B4-BE49-F238E27FC236}">
                <a16:creationId xmlns:a16="http://schemas.microsoft.com/office/drawing/2014/main" id="{7C03C519-2315-584A-B297-C075A83AB838}"/>
              </a:ext>
            </a:extLst>
          </p:cNvPr>
          <p:cNvPicPr>
            <a:picLocks noGrp="1" noChangeAspect="1"/>
          </p:cNvPicPr>
          <p:nvPr>
            <p:ph type="pic" sz="quarter" idx="16"/>
          </p:nvPr>
        </p:nvPicPr>
        <p:blipFill rotWithShape="1">
          <a:blip r:embed="rId3"/>
          <a:srcRect t="15199" b="15199"/>
          <a:stretch/>
        </p:blipFill>
        <p:spPr/>
      </p:pic>
      <p:sp>
        <p:nvSpPr>
          <p:cNvPr id="8" name="Text Placeholder 7">
            <a:extLst>
              <a:ext uri="{FF2B5EF4-FFF2-40B4-BE49-F238E27FC236}">
                <a16:creationId xmlns:a16="http://schemas.microsoft.com/office/drawing/2014/main" id="{D9EC331E-F27B-0BAA-0E18-251A01ED5A61}"/>
              </a:ext>
            </a:extLst>
          </p:cNvPr>
          <p:cNvSpPr>
            <a:spLocks noGrp="1"/>
          </p:cNvSpPr>
          <p:nvPr>
            <p:ph type="body" sz="quarter" idx="17"/>
          </p:nvPr>
        </p:nvSpPr>
        <p:spPr>
          <a:xfrm>
            <a:off x="743578" y="3066602"/>
            <a:ext cx="6374553" cy="2557861"/>
          </a:xfrm>
        </p:spPr>
        <p:txBody>
          <a:bodyPr/>
          <a:lstStyle/>
          <a:p>
            <a:r>
              <a:rPr lang="en-US" sz="2000" dirty="0"/>
              <a:t>The chart is an effective graphical display because it follows these guidelines:</a:t>
            </a:r>
          </a:p>
          <a:p>
            <a:pPr marL="457200" indent="-228600">
              <a:buFont typeface="Arial" panose="020B0604020202020204" pitchFamily="34" charset="0"/>
              <a:buChar char="•"/>
            </a:pPr>
            <a:r>
              <a:rPr lang="en-US" sz="2000" dirty="0"/>
              <a:t>It displays a clear and concise title.</a:t>
            </a:r>
          </a:p>
          <a:p>
            <a:pPr marL="457200" indent="-228600">
              <a:buFont typeface="Arial" panose="020B0604020202020204" pitchFamily="34" charset="0"/>
              <a:buChar char="•"/>
            </a:pPr>
            <a:r>
              <a:rPr lang="en-US" sz="2000" dirty="0"/>
              <a:t>It keeps the display simple, yet informative.</a:t>
            </a:r>
          </a:p>
          <a:p>
            <a:pPr marL="457200" indent="-228600">
              <a:buFont typeface="Arial" panose="020B0604020202020204" pitchFamily="34" charset="0"/>
              <a:buChar char="•"/>
            </a:pPr>
            <a:r>
              <a:rPr lang="en-US" sz="2000" dirty="0"/>
              <a:t>Each axis is clearly labeled, and units are provided.</a:t>
            </a:r>
          </a:p>
          <a:p>
            <a:pPr marL="457200" indent="-228600">
              <a:buFont typeface="Arial" panose="020B0604020202020204" pitchFamily="34" charset="0"/>
              <a:buChar char="•"/>
            </a:pPr>
            <a:r>
              <a:rPr lang="en-US" sz="2000" dirty="0"/>
              <a:t>The two colors used are distinct, and a legend is provided to explain their use.</a:t>
            </a:r>
          </a:p>
        </p:txBody>
      </p:sp>
    </p:spTree>
    <p:extLst>
      <p:ext uri="{BB962C8B-B14F-4D97-AF65-F5344CB8AC3E}">
        <p14:creationId xmlns:p14="http://schemas.microsoft.com/office/powerpoint/2010/main" val="164714765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a:xfrm>
            <a:off x="1044465" y="365125"/>
            <a:ext cx="10103069" cy="672105"/>
          </a:xfrm>
        </p:spPr>
        <p:txBody>
          <a:bodyPr/>
          <a:lstStyle/>
          <a:p>
            <a:r>
              <a:rPr lang="en-US" sz="3200" dirty="0"/>
              <a:t>2.6 Summary of Graphical Displays Used to Show the Distribution of Data</a:t>
            </a:r>
          </a:p>
        </p:txBody>
      </p:sp>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743576" y="1860331"/>
            <a:ext cx="10711543" cy="3539360"/>
          </a:xfrm>
        </p:spPr>
        <p:txBody>
          <a:bodyPr/>
          <a:lstStyle/>
          <a:p>
            <a:pPr>
              <a:lnSpc>
                <a:spcPct val="100000"/>
              </a:lnSpc>
            </a:pPr>
            <a:r>
              <a:rPr lang="en-US" sz="2000" i="1" dirty="0"/>
              <a:t>Bar Chart</a:t>
            </a:r>
            <a:r>
              <a:rPr lang="en-US" sz="2000" dirty="0"/>
              <a:t>: used to show the frequency distribution and relative frequency distribution for categorical data</a:t>
            </a:r>
          </a:p>
          <a:p>
            <a:pPr>
              <a:lnSpc>
                <a:spcPct val="100000"/>
              </a:lnSpc>
            </a:pPr>
            <a:r>
              <a:rPr lang="en-US" sz="2000" i="1" dirty="0"/>
              <a:t>Pie Chart</a:t>
            </a:r>
            <a:r>
              <a:rPr lang="en-US" sz="2000" dirty="0"/>
              <a:t>: used to show the relative frequency and percent frequency for categorical data. A pie chart is generally not preferred to the use of a bar chart</a:t>
            </a:r>
          </a:p>
          <a:p>
            <a:pPr>
              <a:lnSpc>
                <a:spcPct val="100000"/>
              </a:lnSpc>
            </a:pPr>
            <a:r>
              <a:rPr lang="en-US" sz="2000" i="1" dirty="0"/>
              <a:t>Dot Plot</a:t>
            </a:r>
            <a:r>
              <a:rPr lang="en-US" sz="2000" dirty="0"/>
              <a:t>: used to show the distribution of quantitative data over the entire range of the data</a:t>
            </a:r>
          </a:p>
          <a:p>
            <a:pPr>
              <a:lnSpc>
                <a:spcPct val="100000"/>
              </a:lnSpc>
            </a:pPr>
            <a:r>
              <a:rPr lang="en-US" sz="2000" i="1" dirty="0"/>
              <a:t>Histogram</a:t>
            </a:r>
            <a:r>
              <a:rPr lang="en-US" sz="2000" dirty="0"/>
              <a:t>: used to show the frequency distribution for quantitative data over a set of class intervals</a:t>
            </a:r>
          </a:p>
          <a:p>
            <a:pPr>
              <a:lnSpc>
                <a:spcPct val="100000"/>
              </a:lnSpc>
            </a:pPr>
            <a:r>
              <a:rPr lang="en-US" sz="2000" i="1" dirty="0"/>
              <a:t>Stem-and-Leaf Display</a:t>
            </a:r>
            <a:r>
              <a:rPr lang="en-US" sz="2000" dirty="0"/>
              <a:t>: used to show both the rank order and shape of the distribution for quantitative data</a:t>
            </a:r>
          </a:p>
        </p:txBody>
      </p:sp>
    </p:spTree>
    <p:extLst>
      <p:ext uri="{BB962C8B-B14F-4D97-AF65-F5344CB8AC3E}">
        <p14:creationId xmlns:p14="http://schemas.microsoft.com/office/powerpoint/2010/main" val="13718881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5C4AB6-B7F2-AAA0-3F1C-19CCEC903F1C}"/>
              </a:ext>
            </a:extLst>
          </p:cNvPr>
          <p:cNvSpPr>
            <a:spLocks noGrp="1"/>
          </p:cNvSpPr>
          <p:nvPr>
            <p:ph type="title"/>
          </p:nvPr>
        </p:nvSpPr>
        <p:spPr/>
        <p:txBody>
          <a:bodyPr/>
          <a:lstStyle/>
          <a:p>
            <a:r>
              <a:rPr lang="en-US" sz="3200" dirty="0"/>
              <a:t>2.6 Summary of Graphical Displays Used to Make Comparisons and Show Relationships</a:t>
            </a:r>
          </a:p>
        </p:txBody>
      </p:sp>
      <p:sp>
        <p:nvSpPr>
          <p:cNvPr id="3" name="Text Placeholder 2">
            <a:extLst>
              <a:ext uri="{FF2B5EF4-FFF2-40B4-BE49-F238E27FC236}">
                <a16:creationId xmlns:a16="http://schemas.microsoft.com/office/drawing/2014/main" id="{4DDA396B-0473-956C-EA10-0EA82E50A4B2}"/>
              </a:ext>
            </a:extLst>
          </p:cNvPr>
          <p:cNvSpPr>
            <a:spLocks noGrp="1"/>
          </p:cNvSpPr>
          <p:nvPr>
            <p:ph type="body" sz="quarter" idx="21"/>
          </p:nvPr>
        </p:nvSpPr>
        <p:spPr>
          <a:xfrm>
            <a:off x="743575" y="1999248"/>
            <a:ext cx="5200024" cy="349023"/>
          </a:xfrm>
        </p:spPr>
        <p:txBody>
          <a:bodyPr/>
          <a:lstStyle/>
          <a:p>
            <a:r>
              <a:rPr lang="en-US" dirty="0"/>
              <a:t>To Make Comparisons</a:t>
            </a:r>
          </a:p>
        </p:txBody>
      </p:sp>
      <p:sp>
        <p:nvSpPr>
          <p:cNvPr id="4" name="Text Placeholder 3">
            <a:extLst>
              <a:ext uri="{FF2B5EF4-FFF2-40B4-BE49-F238E27FC236}">
                <a16:creationId xmlns:a16="http://schemas.microsoft.com/office/drawing/2014/main" id="{DC911957-8AE4-D5AE-929A-33243C8098A9}"/>
              </a:ext>
            </a:extLst>
          </p:cNvPr>
          <p:cNvSpPr>
            <a:spLocks noGrp="1"/>
          </p:cNvSpPr>
          <p:nvPr>
            <p:ph type="body" sz="quarter" idx="15"/>
          </p:nvPr>
        </p:nvSpPr>
        <p:spPr>
          <a:xfrm>
            <a:off x="743576" y="2438711"/>
            <a:ext cx="4947776" cy="3126515"/>
          </a:xfrm>
        </p:spPr>
        <p:txBody>
          <a:bodyPr>
            <a:normAutofit/>
          </a:bodyPr>
          <a:lstStyle/>
          <a:p>
            <a:pPr>
              <a:spcBef>
                <a:spcPts val="1000"/>
              </a:spcBef>
            </a:pPr>
            <a:r>
              <a:rPr lang="en-US" sz="2000" i="1" dirty="0"/>
              <a:t>Side-by-Side Bar Chart</a:t>
            </a:r>
            <a:r>
              <a:rPr lang="en-US" sz="2000" dirty="0"/>
              <a:t>: used to compare two variables</a:t>
            </a:r>
          </a:p>
          <a:p>
            <a:pPr>
              <a:spcBef>
                <a:spcPts val="1000"/>
              </a:spcBef>
            </a:pPr>
            <a:r>
              <a:rPr lang="en-US" sz="2000" i="1" dirty="0"/>
              <a:t>Stacked Bar Charts</a:t>
            </a:r>
            <a:r>
              <a:rPr lang="en-US" sz="2000" dirty="0"/>
              <a:t>: used to compare the relative frequency or percent frequency of two categorical variables</a:t>
            </a:r>
          </a:p>
        </p:txBody>
      </p:sp>
      <p:sp>
        <p:nvSpPr>
          <p:cNvPr id="5" name="Text Placeholder 4">
            <a:extLst>
              <a:ext uri="{FF2B5EF4-FFF2-40B4-BE49-F238E27FC236}">
                <a16:creationId xmlns:a16="http://schemas.microsoft.com/office/drawing/2014/main" id="{E96B1265-6170-77A1-3703-B5DA3C4B7A8A}"/>
              </a:ext>
            </a:extLst>
          </p:cNvPr>
          <p:cNvSpPr>
            <a:spLocks noGrp="1"/>
          </p:cNvSpPr>
          <p:nvPr>
            <p:ph type="body" sz="quarter" idx="22"/>
          </p:nvPr>
        </p:nvSpPr>
        <p:spPr>
          <a:xfrm>
            <a:off x="6313872" y="1999247"/>
            <a:ext cx="4708804" cy="349023"/>
          </a:xfrm>
        </p:spPr>
        <p:txBody>
          <a:bodyPr/>
          <a:lstStyle/>
          <a:p>
            <a:r>
              <a:rPr lang="en-US" dirty="0"/>
              <a:t>To Show Relationships</a:t>
            </a:r>
          </a:p>
        </p:txBody>
      </p:sp>
      <p:sp>
        <p:nvSpPr>
          <p:cNvPr id="6" name="Text Placeholder 5">
            <a:extLst>
              <a:ext uri="{FF2B5EF4-FFF2-40B4-BE49-F238E27FC236}">
                <a16:creationId xmlns:a16="http://schemas.microsoft.com/office/drawing/2014/main" id="{20D90A4C-76CE-77CD-1BE6-121B7B54A1B9}"/>
              </a:ext>
            </a:extLst>
          </p:cNvPr>
          <p:cNvSpPr>
            <a:spLocks noGrp="1"/>
          </p:cNvSpPr>
          <p:nvPr>
            <p:ph type="body" sz="quarter" idx="18"/>
          </p:nvPr>
        </p:nvSpPr>
        <p:spPr>
          <a:xfrm>
            <a:off x="6313872" y="2438711"/>
            <a:ext cx="4708804" cy="3126515"/>
          </a:xfrm>
        </p:spPr>
        <p:txBody>
          <a:bodyPr>
            <a:normAutofit/>
          </a:bodyPr>
          <a:lstStyle/>
          <a:p>
            <a:pPr>
              <a:spcBef>
                <a:spcPts val="1000"/>
              </a:spcBef>
            </a:pPr>
            <a:r>
              <a:rPr lang="en-US" sz="2000" i="1" dirty="0"/>
              <a:t>Scatter diagram</a:t>
            </a:r>
            <a:r>
              <a:rPr lang="en-US" sz="2000" dirty="0"/>
              <a:t>: used to show the relationship between two quantitative  variables</a:t>
            </a:r>
          </a:p>
          <a:p>
            <a:r>
              <a:rPr lang="en-US" sz="2000" i="1" dirty="0"/>
              <a:t>Trendline</a:t>
            </a:r>
            <a:r>
              <a:rPr lang="en-US" sz="2000" dirty="0"/>
              <a:t>: used to approximate the relationship of data in a scatter diagram</a:t>
            </a:r>
          </a:p>
        </p:txBody>
      </p:sp>
    </p:spTree>
    <p:extLst>
      <p:ext uri="{BB962C8B-B14F-4D97-AF65-F5344CB8AC3E}">
        <p14:creationId xmlns:p14="http://schemas.microsoft.com/office/powerpoint/2010/main" val="375901545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1354A-A086-1701-2E60-F920B4E70136}"/>
              </a:ext>
            </a:extLst>
          </p:cNvPr>
          <p:cNvSpPr>
            <a:spLocks noGrp="1"/>
          </p:cNvSpPr>
          <p:nvPr>
            <p:ph type="title"/>
          </p:nvPr>
        </p:nvSpPr>
        <p:spPr/>
        <p:txBody>
          <a:bodyPr/>
          <a:lstStyle/>
          <a:p>
            <a:r>
              <a:rPr lang="en-US" dirty="0"/>
              <a:t>2.6 Data Dashboards</a:t>
            </a:r>
          </a:p>
        </p:txBody>
      </p:sp>
      <p:sp>
        <p:nvSpPr>
          <p:cNvPr id="3" name="Text Placeholder 2">
            <a:extLst>
              <a:ext uri="{FF2B5EF4-FFF2-40B4-BE49-F238E27FC236}">
                <a16:creationId xmlns:a16="http://schemas.microsoft.com/office/drawing/2014/main" id="{C22E323F-5008-A4B3-FD18-2DC2651E2101}"/>
              </a:ext>
            </a:extLst>
          </p:cNvPr>
          <p:cNvSpPr>
            <a:spLocks noGrp="1"/>
          </p:cNvSpPr>
          <p:nvPr>
            <p:ph type="body" sz="quarter" idx="15"/>
          </p:nvPr>
        </p:nvSpPr>
        <p:spPr>
          <a:xfrm>
            <a:off x="743577" y="1370993"/>
            <a:ext cx="5759699" cy="4252913"/>
          </a:xfrm>
        </p:spPr>
        <p:txBody>
          <a:bodyPr/>
          <a:lstStyle/>
          <a:p>
            <a:r>
              <a:rPr lang="en-US" sz="2000" dirty="0"/>
              <a:t>A </a:t>
            </a:r>
            <a:r>
              <a:rPr lang="en-US" sz="2000" b="1" dirty="0"/>
              <a:t>data dashboard </a:t>
            </a:r>
            <a:r>
              <a:rPr lang="en-US" sz="2000" dirty="0"/>
              <a:t>is a widely used data visualization tool that organizes and presents key performance indicators (KPIs) used to monitor an organization or process.</a:t>
            </a:r>
          </a:p>
          <a:p>
            <a:r>
              <a:rPr lang="en-US" sz="2000" dirty="0"/>
              <a:t>A data dashboard provides timely summary information that is easy to read, understand, and interpret.</a:t>
            </a:r>
          </a:p>
          <a:p>
            <a:r>
              <a:rPr lang="en-US" sz="2000" dirty="0"/>
              <a:t>Additional guidelines for data dashboards include:</a:t>
            </a:r>
          </a:p>
          <a:p>
            <a:pPr marL="457200" indent="-228600">
              <a:spcBef>
                <a:spcPts val="600"/>
              </a:spcBef>
              <a:buFont typeface="Arial" panose="020B0604020202020204" pitchFamily="34" charset="0"/>
              <a:buChar char="•"/>
            </a:pPr>
            <a:r>
              <a:rPr lang="en-US" sz="2000" dirty="0"/>
              <a:t>Minimize the need for screen scrolling.</a:t>
            </a:r>
          </a:p>
          <a:p>
            <a:pPr marL="457200" indent="-228600">
              <a:spcBef>
                <a:spcPts val="600"/>
              </a:spcBef>
              <a:buFont typeface="Arial" panose="020B0604020202020204" pitchFamily="34" charset="0"/>
              <a:buChar char="•"/>
            </a:pPr>
            <a:r>
              <a:rPr lang="en-US" sz="2000" dirty="0"/>
              <a:t>Avoid unnecessary use of color or 3D displays. </a:t>
            </a:r>
          </a:p>
          <a:p>
            <a:pPr marL="457200" indent="-228600">
              <a:spcBef>
                <a:spcPts val="600"/>
              </a:spcBef>
              <a:buFont typeface="Arial" panose="020B0604020202020204" pitchFamily="34" charset="0"/>
              <a:buChar char="•"/>
            </a:pPr>
            <a:r>
              <a:rPr lang="en-US" sz="2000" dirty="0"/>
              <a:t>Use borders between charts to improve readability.</a:t>
            </a:r>
          </a:p>
        </p:txBody>
      </p:sp>
      <p:pic>
        <p:nvPicPr>
          <p:cNvPr id="6" name="Picture Placeholder 5" descr="A dashboard consists of five charts displaying data for Shift 1 of Grogan Oil I T Call Center on September 19, 2012 at 12:44 P M. The first chart is “Call Volume,” and is a stacked bar chart with five stacks of vertical bars. Each stack consists of three bars. The horizontal axis is labeled “Hour” and ranges from 8:00 to 12:00 with tickmarks in increments of 1 hour. The vertical axis is labeled “Number of Calls” and ranges from 0 to 25 with tickmarks in increments of 5. The data from the chart, presented in the format, Hour: Email, internet, software, are as follows. 8:00: 14, 7, 2. 9:00: 8, 6, 5. 10:00: 7, 4, 9. 11:00: 3, 2, 5. 12:00: 1, 2, 5. The second chart is titled “Time Breakdown This Shift,” and consists of four vertical bars. The horizontal axis is labeled “Hour” and shows four values. The vertical axis is labeled “Percentage” and ranges from 0 to 50 with tickmarks in increments of 10. The data from the chart are as follows. Email: 22. Internet: 19. Software: 45. Idle: 14. The third chart is titled “Unresolved Cases Beyond 15 Minutes” and consists of four horizontal bars. The horizontal axis is labeled “Minutes” and ranges from 0 to 400 with tickmarks in increments of 100. The vertical axis is labeled “Case Number” and shows four case numbers. The data from the chart are as follows. Case number W 59, Internet: 20 minutes. Case number W 24, Software: 170 minutes. Case number W 5, Software: 285 minutes. Case number T 57, Software: 340 minutes. The fourth chart is titled “Call Volume by Office,” and consists of three sets of bars. Each set consists of three horizontal bars. The horizontal axis is labeled “Number of Calls” and ranges from 0 to 25 with tickmarks in increments of 5. The vertical axis lists three cities. The data from the chart, presented in the format, City: Software, Internet, Email, are as follows. Houston: 5, 6, 7. Dallas: 16, 6, 5. Austin: 4, 8, 22. The fifth chart is a histogram titled “Time to Resolve a Case.” The horizontal axis is labeled “Minutes” and lists 33 ranges of values. The vertical axis is labeled “Frequency” and ranges from 0 to 14 with tickmarks in increments of 2. The data from the histogram are as follows. Less than 1 minute: 10. 1 to 2 minutes: 13. 2 to 3 minutes: 10. 2 to 4 minutes: 9. 4 to 5 minutes: 5. 5 to 6 minutes: 2. 6 to 7 minutes: 1. 7 to 8 minutes: 6. 8 to 9 minutes: 3. 9 to 10 minutes: 3. 10 to 11 minutes: 2. 11 to 12 minutes: 2. 12 to 13 minutes: 2. 13 to 14 minutes: 2. 14 to 15 minutes: 2. 15 to 16 minutes: 1. 17 to 18 minutes: 3. 21 to 22 minutes: 1. 22 to 23 minutes: 1. 32 plus minutes: 3. All data are approximate. &#10;">
            <a:extLst>
              <a:ext uri="{FF2B5EF4-FFF2-40B4-BE49-F238E27FC236}">
                <a16:creationId xmlns:a16="http://schemas.microsoft.com/office/drawing/2014/main" id="{E2048792-7375-AC4E-E039-B926EC442049}"/>
              </a:ext>
            </a:extLst>
          </p:cNvPr>
          <p:cNvPicPr>
            <a:picLocks noGrp="1" noChangeAspect="1"/>
          </p:cNvPicPr>
          <p:nvPr>
            <p:ph type="pic" sz="quarter" idx="16"/>
          </p:nvPr>
        </p:nvPicPr>
        <p:blipFill rotWithShape="1">
          <a:blip r:embed="rId2"/>
          <a:srcRect l="9" r="9"/>
          <a:stretch/>
        </p:blipFill>
        <p:spPr>
          <a:xfrm>
            <a:off x="6581993" y="1339461"/>
            <a:ext cx="4892675" cy="4252913"/>
          </a:xfrm>
        </p:spPr>
      </p:pic>
    </p:spTree>
    <p:extLst>
      <p:ext uri="{BB962C8B-B14F-4D97-AF65-F5344CB8AC3E}">
        <p14:creationId xmlns:p14="http://schemas.microsoft.com/office/powerpoint/2010/main" val="77059513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5D146A-23D0-3903-8B5C-81A21D8AF44B}"/>
              </a:ext>
            </a:extLst>
          </p:cNvPr>
          <p:cNvSpPr>
            <a:spLocks noGrp="1"/>
          </p:cNvSpPr>
          <p:nvPr>
            <p:ph type="title"/>
          </p:nvPr>
        </p:nvSpPr>
        <p:spPr/>
        <p:txBody>
          <a:bodyPr/>
          <a:lstStyle/>
          <a:p>
            <a:r>
              <a:rPr lang="en-US" dirty="0"/>
              <a:t>2.6 Data Visualization in Practice</a:t>
            </a:r>
          </a:p>
        </p:txBody>
      </p:sp>
      <p:sp>
        <p:nvSpPr>
          <p:cNvPr id="3" name="Text Placeholder 2">
            <a:extLst>
              <a:ext uri="{FF2B5EF4-FFF2-40B4-BE49-F238E27FC236}">
                <a16:creationId xmlns:a16="http://schemas.microsoft.com/office/drawing/2014/main" id="{DD09B471-0A6C-8DCE-8915-DC16CF79B369}"/>
              </a:ext>
            </a:extLst>
          </p:cNvPr>
          <p:cNvSpPr>
            <a:spLocks noGrp="1"/>
          </p:cNvSpPr>
          <p:nvPr>
            <p:ph type="body" sz="quarter" idx="15"/>
          </p:nvPr>
        </p:nvSpPr>
        <p:spPr>
          <a:xfrm>
            <a:off x="743575" y="1313102"/>
            <a:ext cx="5242697" cy="348047"/>
          </a:xfrm>
        </p:spPr>
        <p:txBody>
          <a:bodyPr/>
          <a:lstStyle/>
          <a:p>
            <a:r>
              <a:rPr lang="en-US" dirty="0"/>
              <a:t>Cincinnati Zoo Data Dashboard</a:t>
            </a:r>
          </a:p>
        </p:txBody>
      </p:sp>
      <p:pic>
        <p:nvPicPr>
          <p:cNvPr id="8" name="Picture Placeholder 7" descr="A screenshot of a Windows Explorer windows shows different business insights. There are six sections. The first section is titled “Food Y T D” and consists of a pie chart showing Y T D Revenue Amount. The data from the pie chart in percent are as follows. Watering hole: 9. La Rosa’s: 12. Skyline Safari: 2. Safari Grill: 12. Skyline Entry: 4. Zoo Café: 27. Zoo Café Ice Cream: 27. The other divisions in the pie chart correspond to U D F, Safari Ice Cream, Cantina, Funnel Cake, Dippin Dots Carts 1 and 2, and Outpost. The second section shows a map of a region divided into smaller counties. The revenue amount in a county in the north is between ($153,329.00) and ($981.00). The revenue amount from the other regions is between ($610,373.00) and ($458,025.00). The third section shows a clustered bar chart with three clusters of bars. Each cluster consists of four bars. The horizontal axis is labeled Y T D and lists 2011 Q 1, 2011 Q 2, and 2011 Q 3. The vertical axis is labeled “Per Cap” and ranges from 0.0 to 5.00 with tickmarks in increments of 1.00. The data from the graph, presented in the format, Y T: Food – Non-Member, Food – Member, Retail – Non-Member, Retail – Member, are as follows. 2011 Q 1: 3.3, 1, 2.7, 0.8. 2011 Q 2: 3.8, 1.8, 2.5, 1. 2011 Q 3: 4.8, 2, 3.2, 1. All data are approximate. The fourth section shows two meters titled “Food and Retail, Average Transactions.” The first meter is titled “Food” and ranges from 0.00 to 10.00 with tickmarks in in increments of 1.00. The pointer points at 8.2. The second meter is titled “Retail” and ranges from 0.0 to 20.00 with tickmarks in increments of 2.50. A pointer points at 18.50. The fifth section shows a table with 11 rows and five columns. The column headers are Actual Attendance, Prior Y T D, Y T D, Y T D Change, and Y T D Growth. The row entries are as follows. Row 1: Child Admission, 95,874, 86,658, negative 9,126, negative 9.53 percent. Row 2: Adult Admission, 166,286, 160,115, negative 6,171, negative 3.71 percent. Row 3: Membership Admission, 440,758, 422,060, negative 18,698, negative 4.24 percent. Row 4: Group Sales Tickets, 47,500, 41,693, negative 5,537, negative 11.66 percent. Row 5: Group Sales Events, 16,241, 18,050, 1,809, 11.14 percent. Row 6: Comp  Admission, 27,118, 29,387, 2,269, 8.37 percent. Row 7: School Admissions, 86,512, 75,283, negative 11,229, negative 12.98 percent. Row 8: Event Admission, 11,180, 11,891, 711, 6.36 percent. Row 9: Education Program Admissions, 25,562, 20,538, negative 5,024, negative 19.65 percent. Row 10: Online Tickets, 96, 2,514, 2,418, 2,518.75 percent. Row 11: Total (Access Code Groups), 917,037, 868,459, negative 48,578, 2,482,84 percent. The sixth section shows a table with 20 rows and four columns. The column headers are Revenue Amount, 2011/09/01, 2011/09/04, and M T D. The row entries are as follows. Row 1: Zoo Shop Jacket Fleece Men’s, 36.99 dollars, 1,305.73 dollars, 1,342.72 dollars. Row 2: Zoo Shop Sweat Rhino/Tree Ki, 79.98 dollars, 1,223.68 dollars, 1,303.66 dollars. Row 3: Zoo Shop Giraffe Sitting 16*, 284.81 dollars, 659.56 dollars, 944.37 dollars. Row 4: Zoo Shop Hoody Double Play Zo, 46.99 dollars, 789.42 dollars, 836.41 dollars. Row 5: Zoo Shop Wolf Sitting 16* Pro, 224.85 dollars, 524.65 dollars, 749.50 dollars. Row 6: Zoo Shop Subtotal (included), 673.62 dollars, 4,503.04 dollars, 5,176.66 dollars. Row 7: Zoo Shop Produce Name, 11,279.85 dollars, 31,520.16 dollars, 42,800.01 dollars. Row 8: 4D Shop Bottled Pop, 99.86 dollars, 107.02 dollars, 206.88 dollars. Row 9: 4D Shop Sweat Rhino Behind B, 29.99 dollars, 111.97 dollars, 141.96 dollars. Row 10: 4D Shop Jacket Fleece Ladies, no data, 107.27 dollars, 107.27 dollars. Row 11: 4D Shop Giraffe Sitting 16*, 14.99 dollars, 89.94 dollars, 104.93 dollars. Row 12: 4D Shop Backpack Logo Fold, 9.99 dollars, 90.93 dollars, 100.92 dollars. Row 13: 4D Shop Subtotal (included), 154.83 dollars, 507.13 dollars, 661.96 dollars. Row 14: 4D Shop Product Name, 842.89 dollars, 2,600.49 dollars, 3,443.38 dollars. Row 15: Family Shop Giraffe Sitting 16*, 224.85 dollars, 149.90 dollars, 374.75 dollars. Row 16: Family Shop Wolf Sitting 16* Pro, 104.93 dollars, 119.92 dollars, 224.85 dollars. Row 17: Family Shop Sweat Rhino Behind B, no data, 119.96 dollars, 119.96 dollars. Row 18: Family Shop Giraffe Mini Flopsie, 12.59 dollars, 94.00 dollars, 106.59 dollars. Row 19: Family Shop Penguin Emp Mini Flo, 8.09 dollars, 96.69 dollars, 104.78 dollars. Row 20: Subtotal (included), 350.46 dollars, 580.47 dollars, 930.93 dollars.&#10;">
            <a:extLst>
              <a:ext uri="{FF2B5EF4-FFF2-40B4-BE49-F238E27FC236}">
                <a16:creationId xmlns:a16="http://schemas.microsoft.com/office/drawing/2014/main" id="{463E3EB2-25D6-B4B9-9296-EA52AFE5E949}"/>
              </a:ext>
            </a:extLst>
          </p:cNvPr>
          <p:cNvPicPr>
            <a:picLocks noGrp="1" noChangeAspect="1"/>
          </p:cNvPicPr>
          <p:nvPr>
            <p:ph type="pic" sz="quarter" idx="10"/>
          </p:nvPr>
        </p:nvPicPr>
        <p:blipFill rotWithShape="1">
          <a:blip r:embed="rId2"/>
          <a:srcRect t="10" b="10"/>
          <a:stretch/>
        </p:blipFill>
        <p:spPr>
          <a:xfrm>
            <a:off x="733425" y="1724990"/>
            <a:ext cx="5253038" cy="3959225"/>
          </a:xfrm>
        </p:spPr>
      </p:pic>
      <p:sp>
        <p:nvSpPr>
          <p:cNvPr id="5" name="Text Placeholder 4">
            <a:extLst>
              <a:ext uri="{FF2B5EF4-FFF2-40B4-BE49-F238E27FC236}">
                <a16:creationId xmlns:a16="http://schemas.microsoft.com/office/drawing/2014/main" id="{0D73751F-16A1-4677-1E40-9A95B4164DAE}"/>
              </a:ext>
            </a:extLst>
          </p:cNvPr>
          <p:cNvSpPr>
            <a:spLocks noGrp="1"/>
          </p:cNvSpPr>
          <p:nvPr>
            <p:ph type="body" sz="quarter" idx="17"/>
          </p:nvPr>
        </p:nvSpPr>
        <p:spPr>
          <a:xfrm>
            <a:off x="6096001" y="1313102"/>
            <a:ext cx="5257800" cy="348047"/>
          </a:xfrm>
        </p:spPr>
        <p:txBody>
          <a:bodyPr/>
          <a:lstStyle/>
          <a:p>
            <a:r>
              <a:rPr lang="en-US" dirty="0"/>
              <a:t>Botanical Garden Data Dashboard</a:t>
            </a:r>
          </a:p>
        </p:txBody>
      </p:sp>
      <p:pic>
        <p:nvPicPr>
          <p:cNvPr id="10" name="Picture Placeholder 9" descr="A screenshot shows daily reports on Cincinnati Zoo. There are four sections. The section on the left shows three options: Hourly, Daily, and Year to Date. The second section shows a map and table. The data from the map are as follows. Indiana: 30. Ohio: 1672. Pennsylvania: 0. Kentucky: 243. West Virginia: 4. The table is titled “Top 5 attendance Cities – Ohio” and consists of 10 rows and two columns. The row entries are as follows. Row 1: Cincinnati, 705. Row 2: West Chester, 49. Row 3: Hamilton, 40. Row 4: Mason, 28. Row 5: Loveland, 26. Row 6: Membership Admission, 666. Row 7: Child Admission, 16. Row 8: Education Program Admissions, 12. Row 9: Adult Admission, 11. Row 10: Group Sales Tickets, 0. The third section shows a horizontal bar graph titled “Top 10 Food Items.” The horizontal axis is labeled “Revenue Amount” and ranges from 0 to 1,200 dollars with tickmarks in increments of 200. The vertical axis lists different food items. The data from the graph are as follows. French Fries Basket, 380. Krazy Kritter: 400. Souvenir Drink: 420. Slice of Pepp: 430. Slice of Cheese: 440. Icee: 450. Cheeseburger Basket: 450. Bottled Water: 510. Medium Drink: 700. Ice Cream Cone, 1,100. All data are approximate. The fourth section shows a horizontal bar graph titled “Top 10 Retail Items.” The horizontal axis is labeled “Revenue Amount” and ranges from 0 to 300 dollars with tickmarks in increments of 50 dollars. The vertical axis lists different items. The data from the graph are as follows. ZOO ADVENTURE BUCKET: 55. YooHoo and Friends cli: 55. Tee Junior V-Neck Pe: 55. Tee Wild Bunch Bow Y: 60. Zebra Mini Flopsie: 65. Sweat Rhino/Tree Ki: 70. Tee Zookeeper Girl: 70. Tee Ladies Melt Hear: 90. Tee Giraffe Family V: 92. Monkey Sitting 16* P: 255. All data are approximate.&#10;">
            <a:extLst>
              <a:ext uri="{FF2B5EF4-FFF2-40B4-BE49-F238E27FC236}">
                <a16:creationId xmlns:a16="http://schemas.microsoft.com/office/drawing/2014/main" id="{59C53D00-7B58-68E8-5263-BF926C299E85}"/>
              </a:ext>
            </a:extLst>
          </p:cNvPr>
          <p:cNvPicPr>
            <a:picLocks noGrp="1" noChangeAspect="1"/>
          </p:cNvPicPr>
          <p:nvPr>
            <p:ph type="pic" sz="quarter" idx="16"/>
          </p:nvPr>
        </p:nvPicPr>
        <p:blipFill rotWithShape="1">
          <a:blip r:embed="rId3"/>
          <a:srcRect l="14" r="14"/>
          <a:stretch/>
        </p:blipFill>
        <p:spPr>
          <a:xfrm>
            <a:off x="6096000" y="1724990"/>
            <a:ext cx="5257800" cy="3949700"/>
          </a:xfrm>
        </p:spPr>
      </p:pic>
    </p:spTree>
    <p:extLst>
      <p:ext uri="{BB962C8B-B14F-4D97-AF65-F5344CB8AC3E}">
        <p14:creationId xmlns:p14="http://schemas.microsoft.com/office/powerpoint/2010/main" val="47140409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03111-11D8-4FB8-BD21-A8C57EDF6315}"/>
              </a:ext>
            </a:extLst>
          </p:cNvPr>
          <p:cNvSpPr>
            <a:spLocks noGrp="1"/>
          </p:cNvSpPr>
          <p:nvPr>
            <p:ph type="title"/>
          </p:nvPr>
        </p:nvSpPr>
        <p:spPr/>
        <p:txBody>
          <a:bodyPr/>
          <a:lstStyle/>
          <a:p>
            <a:r>
              <a:rPr lang="en-US" dirty="0"/>
              <a:t>Summary</a:t>
            </a:r>
          </a:p>
        </p:txBody>
      </p:sp>
      <p:sp>
        <p:nvSpPr>
          <p:cNvPr id="3" name="Text Placeholder 2">
            <a:extLst>
              <a:ext uri="{FF2B5EF4-FFF2-40B4-BE49-F238E27FC236}">
                <a16:creationId xmlns:a16="http://schemas.microsoft.com/office/drawing/2014/main" id="{87C197FC-1825-404A-BE9E-EA5BA19058B7}"/>
              </a:ext>
            </a:extLst>
          </p:cNvPr>
          <p:cNvSpPr>
            <a:spLocks noGrp="1"/>
          </p:cNvSpPr>
          <p:nvPr>
            <p:ph type="body" sz="quarter" idx="17"/>
          </p:nvPr>
        </p:nvSpPr>
        <p:spPr>
          <a:xfrm>
            <a:off x="751069" y="1183850"/>
            <a:ext cx="10657500" cy="4676624"/>
          </a:xfrm>
        </p:spPr>
        <p:txBody>
          <a:bodyPr>
            <a:noAutofit/>
          </a:bodyPr>
          <a:lstStyle/>
          <a:p>
            <a:pPr>
              <a:lnSpc>
                <a:spcPct val="100000"/>
              </a:lnSpc>
              <a:spcBef>
                <a:spcPts val="600"/>
              </a:spcBef>
            </a:pPr>
            <a:r>
              <a:rPr lang="en-US" dirty="0">
                <a:latin typeface="Arial" panose="020B0604020202020204" pitchFamily="34" charset="0"/>
                <a:cs typeface="Arial" panose="020B0604020202020204" pitchFamily="34" charset="0"/>
              </a:rPr>
              <a:t>Even a modest set of data is often difficult to interpret in the form in which it is gathered. </a:t>
            </a:r>
          </a:p>
          <a:p>
            <a:pPr>
              <a:lnSpc>
                <a:spcPct val="100000"/>
              </a:lnSpc>
              <a:spcBef>
                <a:spcPts val="600"/>
              </a:spcBef>
            </a:pPr>
            <a:r>
              <a:rPr lang="en-US" dirty="0">
                <a:latin typeface="Arial" panose="020B0604020202020204" pitchFamily="34" charset="0"/>
                <a:cs typeface="Arial" panose="020B0604020202020204" pitchFamily="34" charset="0"/>
              </a:rPr>
              <a:t>Tabular and graphical displays can be used to summarize and present data so that patterns are revealed and the data are more easily interpreted. </a:t>
            </a:r>
          </a:p>
          <a:p>
            <a:pPr>
              <a:lnSpc>
                <a:spcPct val="100000"/>
              </a:lnSpc>
              <a:spcBef>
                <a:spcPts val="600"/>
              </a:spcBef>
            </a:pPr>
            <a:r>
              <a:rPr lang="en-US" dirty="0">
                <a:latin typeface="Arial" panose="020B0604020202020204" pitchFamily="34" charset="0"/>
                <a:cs typeface="Arial" panose="020B0604020202020204" pitchFamily="34" charset="0"/>
              </a:rPr>
              <a:t>We described tabular and graphical displays to summarize the data for:</a:t>
            </a:r>
          </a:p>
          <a:p>
            <a:pPr lvl="1">
              <a:lnSpc>
                <a:spcPct val="100000"/>
              </a:lnSpc>
              <a:spcBef>
                <a:spcPts val="600"/>
              </a:spcBef>
            </a:pPr>
            <a:r>
              <a:rPr lang="en-US" dirty="0">
                <a:latin typeface="Arial" panose="020B0604020202020204" pitchFamily="34" charset="0"/>
                <a:cs typeface="Arial" panose="020B0604020202020204" pitchFamily="34" charset="0"/>
              </a:rPr>
              <a:t>a single categorical variable</a:t>
            </a:r>
          </a:p>
          <a:p>
            <a:pPr lvl="1">
              <a:lnSpc>
                <a:spcPct val="100000"/>
              </a:lnSpc>
              <a:spcBef>
                <a:spcPts val="600"/>
              </a:spcBef>
            </a:pPr>
            <a:r>
              <a:rPr lang="en-US" dirty="0">
                <a:latin typeface="Arial" panose="020B0604020202020204" pitchFamily="34" charset="0"/>
                <a:cs typeface="Arial" panose="020B0604020202020204" pitchFamily="34" charset="0"/>
              </a:rPr>
              <a:t>a single quantitative variable</a:t>
            </a:r>
          </a:p>
          <a:p>
            <a:pPr lvl="1">
              <a:lnSpc>
                <a:spcPct val="100000"/>
              </a:lnSpc>
              <a:spcBef>
                <a:spcPts val="600"/>
              </a:spcBef>
            </a:pPr>
            <a:r>
              <a:rPr lang="en-US" dirty="0">
                <a:latin typeface="Arial" panose="020B0604020202020204" pitchFamily="34" charset="0"/>
                <a:cs typeface="Arial" panose="020B0604020202020204" pitchFamily="34" charset="0"/>
              </a:rPr>
              <a:t>two variables, categorical or quantitative</a:t>
            </a:r>
          </a:p>
          <a:p>
            <a:pPr lvl="1">
              <a:lnSpc>
                <a:spcPct val="100000"/>
              </a:lnSpc>
              <a:spcBef>
                <a:spcPts val="600"/>
              </a:spcBef>
            </a:pPr>
            <a:r>
              <a:rPr lang="en-US" dirty="0">
                <a:latin typeface="Arial" panose="020B0604020202020204" pitchFamily="34" charset="0"/>
                <a:cs typeface="Arial" panose="020B0604020202020204" pitchFamily="34" charset="0"/>
              </a:rPr>
              <a:t>two quantitative variables</a:t>
            </a:r>
          </a:p>
          <a:p>
            <a:pPr>
              <a:lnSpc>
                <a:spcPct val="100000"/>
              </a:lnSpc>
              <a:spcBef>
                <a:spcPts val="600"/>
              </a:spcBef>
            </a:pPr>
            <a:r>
              <a:rPr lang="en-US" dirty="0">
                <a:latin typeface="Arial" panose="020B0604020202020204" pitchFamily="34" charset="0"/>
                <a:cs typeface="Arial" panose="020B0604020202020204" pitchFamily="34" charset="0"/>
              </a:rPr>
              <a:t>We discussed guidelines for creating effective graphical displays and how to choose the most appropriate type of display. </a:t>
            </a:r>
          </a:p>
          <a:p>
            <a:pPr>
              <a:lnSpc>
                <a:spcPct val="100000"/>
              </a:lnSpc>
              <a:spcBef>
                <a:spcPts val="600"/>
              </a:spcBef>
            </a:pPr>
            <a:r>
              <a:rPr lang="en-US" dirty="0">
                <a:latin typeface="Arial" panose="020B0604020202020204" pitchFamily="34" charset="0"/>
                <a:cs typeface="Arial" panose="020B0604020202020204" pitchFamily="34" charset="0"/>
              </a:rPr>
              <a:t>We showed how choropleth maps and cartograms can be used to display geospatial data.</a:t>
            </a:r>
          </a:p>
          <a:p>
            <a:pPr>
              <a:lnSpc>
                <a:spcPct val="100000"/>
              </a:lnSpc>
              <a:spcBef>
                <a:spcPts val="600"/>
              </a:spcBef>
            </a:pPr>
            <a:r>
              <a:rPr lang="en-US" dirty="0">
                <a:latin typeface="Arial" panose="020B0604020202020204" pitchFamily="34" charset="0"/>
                <a:cs typeface="Arial" panose="020B0604020202020204" pitchFamily="34" charset="0"/>
              </a:rPr>
              <a:t>We introduced how data dashboards can be used to monitor a company’s performance in a manner that is easy to read, understand, and interpret.</a:t>
            </a:r>
          </a:p>
        </p:txBody>
      </p:sp>
    </p:spTree>
    <p:extLst>
      <p:ext uri="{BB962C8B-B14F-4D97-AF65-F5344CB8AC3E}">
        <p14:creationId xmlns:p14="http://schemas.microsoft.com/office/powerpoint/2010/main" val="299907016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E4884D-B087-D5D3-E4A8-06B9D893D6B4}"/>
              </a:ext>
            </a:extLst>
          </p:cNvPr>
          <p:cNvSpPr>
            <a:spLocks noGrp="1"/>
          </p:cNvSpPr>
          <p:nvPr>
            <p:ph type="title"/>
          </p:nvPr>
        </p:nvSpPr>
        <p:spPr>
          <a:xfrm>
            <a:off x="559681" y="365125"/>
            <a:ext cx="11077903" cy="672105"/>
          </a:xfrm>
        </p:spPr>
        <p:txBody>
          <a:bodyPr/>
          <a:lstStyle/>
          <a:p>
            <a:r>
              <a:rPr lang="en-US" sz="3200" dirty="0"/>
              <a:t>A Summary of Tabular and Graphical Displays of Data</a:t>
            </a:r>
          </a:p>
        </p:txBody>
      </p:sp>
      <p:pic>
        <p:nvPicPr>
          <p:cNvPr id="5" name="Picture Placeholder 4" descr="An organization chart shows the classification of data. Data is classified into categorical and quantitative data. Both types are divided into tabular displays and graphical displays. Tabular displays of categorical data: Frequency distribution, relative frequency distribution, percent frequency distribution, and crosstabulation. Graphical displays of categorical data: Bar chart, pie chart, side-by-side bar chart, and stacked bar chart. Tabular displays of quantitative data: Frequency distribution, relative frequency distribution, percent frequency distribution, cumulative frequency distribution, cumulative relative frequency distribution, cumulative percent frequency distribution, and crosstabulation. Graphical displays of quantitative data: Dot plot, histogram, stem-and-leaf display, and scatter diagram.&#10;">
            <a:extLst>
              <a:ext uri="{FF2B5EF4-FFF2-40B4-BE49-F238E27FC236}">
                <a16:creationId xmlns:a16="http://schemas.microsoft.com/office/drawing/2014/main" id="{F7336DD3-EFF7-6828-6B0A-082686DADD32}"/>
              </a:ext>
            </a:extLst>
          </p:cNvPr>
          <p:cNvPicPr>
            <a:picLocks noGrp="1" noChangeAspect="1"/>
          </p:cNvPicPr>
          <p:nvPr>
            <p:ph type="pic" sz="quarter" idx="10"/>
          </p:nvPr>
        </p:nvPicPr>
        <p:blipFill rotWithShape="1">
          <a:blip r:embed="rId2"/>
          <a:srcRect t="26138" b="26138"/>
          <a:stretch/>
        </p:blipFill>
        <p:spPr/>
      </p:pic>
    </p:spTree>
    <p:extLst>
      <p:ext uri="{BB962C8B-B14F-4D97-AF65-F5344CB8AC3E}">
        <p14:creationId xmlns:p14="http://schemas.microsoft.com/office/powerpoint/2010/main" val="2364132560"/>
      </p:ext>
    </p:extLst>
  </p:cSld>
  <p:clrMapOvr>
    <a:masterClrMapping/>
  </p:clrMapOvr>
</p:sld>
</file>

<file path=ppt/theme/theme1.xml><?xml version="1.0" encoding="utf-8"?>
<a:theme xmlns:a="http://schemas.openxmlformats.org/drawingml/2006/main" name="Office Theme">
  <a:themeElements>
    <a:clrScheme name="Custom 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a:solidFill>
            <a:srgbClr val="000000"/>
          </a:solidFill>
          <a:prstDash val="lgDash"/>
        </a:ln>
      </a:spPr>
      <a:bodyPr/>
      <a:lstStyle/>
      <a:style>
        <a:lnRef idx="1">
          <a:schemeClr val="dk1"/>
        </a:lnRef>
        <a:fillRef idx="0">
          <a:schemeClr val="dk1"/>
        </a:fillRef>
        <a:effectRef idx="0">
          <a:schemeClr val="dk1"/>
        </a:effectRef>
        <a:fontRef idx="minor">
          <a:schemeClr val="tx1"/>
        </a:fontRef>
      </a:style>
    </a:lnDef>
    <a:txDef>
      <a:spPr>
        <a:noFill/>
        <a:effectLst/>
      </a:spPr>
      <a:bodyPr wrap="square" lIns="0" tIns="0" rIns="0" rtlCol="0" anchor="b">
        <a:spAutoFit/>
      </a:bodyPr>
      <a:lstStyle>
        <a:defPPr>
          <a:defRPr sz="2000" smtClean="0">
            <a:latin typeface="Open Sans" panose="020B0606030504020204" pitchFamily="34" charset="0"/>
            <a:ea typeface="Open Sans" panose="020B0606030504020204" pitchFamily="34" charset="0"/>
            <a:cs typeface="Open Sans" panose="020B0606030504020204" pitchFamily="34" charset="0"/>
          </a:defRPr>
        </a:defPPr>
      </a:lstStyle>
    </a:txDef>
  </a:objectDefaults>
  <a:extraClrSchemeLst/>
  <a:extLst>
    <a:ext uri="{05A4C25C-085E-4340-85A3-A5531E510DB2}">
      <thm15:themeFamily xmlns:thm15="http://schemas.microsoft.com/office/thememl/2012/main" name="Accessible_PPT_Cengage.potx" id="{8657E95E-D601-4622-93AD-E122BF442589}" vid="{BBF71559-ED4F-42B5-98FD-480A317797A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5A683995A7B1D46BAE4BA042997DC16" ma:contentTypeVersion="18" ma:contentTypeDescription="Create a new document." ma:contentTypeScope="" ma:versionID="6b2a7157397caa02a1ce799840706cf4">
  <xsd:schema xmlns:xsd="http://www.w3.org/2001/XMLSchema" xmlns:xs="http://www.w3.org/2001/XMLSchema" xmlns:p="http://schemas.microsoft.com/office/2006/metadata/properties" xmlns:ns2="c8ecdccd-e3b0-4392-94c4-49d90f16d1d5" xmlns:ns3="cc1e726a-7c3b-4654-9122-87de3e28a51c" targetNamespace="http://schemas.microsoft.com/office/2006/metadata/properties" ma:root="true" ma:fieldsID="f7ec463e446db2c0a3b7b3165a862926" ns2:_="" ns3:_="">
    <xsd:import namespace="c8ecdccd-e3b0-4392-94c4-49d90f16d1d5"/>
    <xsd:import namespace="cc1e726a-7c3b-4654-9122-87de3e28a51c"/>
    <xsd:element name="properties">
      <xsd:complexType>
        <xsd:sequence>
          <xsd:element name="documentManagement">
            <xsd:complexType>
              <xsd:all>
                <xsd:element ref="ns2:MediaServiceMetadata" minOccurs="0"/>
                <xsd:element ref="ns2:MediaServiceFastMetadata" minOccurs="0"/>
                <xsd:element ref="ns2:MediaServiceAutoTags" minOccurs="0"/>
                <xsd:element ref="ns2:Topic" minOccurs="0"/>
                <xsd:element ref="ns3:SharedWithUsers" minOccurs="0"/>
                <xsd:element ref="ns3:SharedWithDetails" minOccurs="0"/>
                <xsd:element ref="ns2:MediaServiceAutoKeyPoints" minOccurs="0"/>
                <xsd:element ref="ns2:MediaServiceKeyPoints" minOccurs="0"/>
                <xsd:element ref="ns2:MediaServiceDateTaken" minOccurs="0"/>
                <xsd:element ref="ns2:Owner" minOccurs="0"/>
                <xsd:element ref="ns2:Copy" minOccurs="0"/>
                <xsd:element ref="ns2:MasterLocation_x0028_ifCopy_x003d_Yes_x0029_" minOccurs="0"/>
                <xsd:element ref="ns2:AdminNot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8ecdccd-e3b0-4392-94c4-49d90f16d1d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Topic" ma:index="11" nillable="true" ma:displayName="Topic" ma:default="Unassigned" ma:format="Dropdown" ma:internalName="Topic">
      <xsd:simpleType>
        <xsd:restriction base="dms:Choice">
          <xsd:enumeration value="Accessibility"/>
          <xsd:enumeration value="Archiving"/>
          <xsd:enumeration value="CenDoc"/>
          <xsd:enumeration value="Content Corrections/Reprints"/>
          <xsd:enumeration value="Content Creation"/>
          <xsd:enumeration value="Files to Printer"/>
          <xsd:enumeration value="Invoicing"/>
          <xsd:enumeration value="Partner Programs"/>
          <xsd:enumeration value="Project Management"/>
          <xsd:enumeration value="Other"/>
          <xsd:enumeration value="Unassigned"/>
          <xsd:enumeration value="Source Document Only"/>
        </xsd:restriction>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element name="Owner" ma:index="17" nillable="true" ma:displayName="Owner" ma:format="Dropdown" ma:internalName="Owner">
      <xsd:simpleType>
        <xsd:restriction base="dms:Choice">
          <xsd:enumeration value="Content Corrections"/>
          <xsd:enumeration value="Content Creation"/>
          <xsd:enumeration value="Content Management Services"/>
          <xsd:enumeration value="Creative Studio"/>
          <xsd:enumeration value="Digital Production"/>
          <xsd:enumeration value="Finance"/>
          <xsd:enumeration value="LCoE"/>
          <xsd:enumeration value="Manufacturing"/>
          <xsd:enumeration value="Strategic Sourcing"/>
        </xsd:restriction>
      </xsd:simpleType>
    </xsd:element>
    <xsd:element name="Copy" ma:index="18" nillable="true" ma:displayName="Copy " ma:default="0" ma:description="This is a VIP copy of a master document that is posted/available internally" ma:format="Dropdown" ma:internalName="Copy">
      <xsd:simpleType>
        <xsd:restriction base="dms:Boolean"/>
      </xsd:simpleType>
    </xsd:element>
    <xsd:element name="MasterLocation_x0028_ifCopy_x003d_Yes_x0029_" ma:index="19" nillable="true" ma:displayName="Master Location (if Copy = Yes)" ma:default="n/a" ma:description="Site/document library where master version is maintained" ma:format="Dropdown" ma:internalName="MasterLocation_x0028_ifCopy_x003d_Yes_x0029_">
      <xsd:simpleType>
        <xsd:restriction base="dms:Choice">
          <xsd:enumeration value="Catalyst / Finance"/>
          <xsd:enumeration value="Content Creation"/>
          <xsd:enumeration value="Content Management Services"/>
          <xsd:enumeration value="GPMOT"/>
          <xsd:enumeration value="LCoE"/>
          <xsd:enumeration value="Strategic Sourcing"/>
          <xsd:enumeration value="VIP Documents"/>
          <xsd:enumeration value="n/a"/>
        </xsd:restriction>
      </xsd:simpleType>
    </xsd:element>
    <xsd:element name="AdminNotes" ma:index="20" nillable="true" ma:displayName="Admin Notes" ma:format="Dropdown" ma:internalName="AdminNotes">
      <xsd:simpleType>
        <xsd:union memberTypes="dms:Text">
          <xsd:simpleType>
            <xsd:restriction base="dms:Choice">
              <xsd:enumeration value="See Source Documents"/>
            </xsd:restriction>
          </xsd:simpleType>
        </xsd:union>
      </xsd:simpleType>
    </xsd:element>
  </xsd:schema>
  <xsd:schema xmlns:xsd="http://www.w3.org/2001/XMLSchema" xmlns:xs="http://www.w3.org/2001/XMLSchema" xmlns:dms="http://schemas.microsoft.com/office/2006/documentManagement/types" xmlns:pc="http://schemas.microsoft.com/office/infopath/2007/PartnerControls" targetNamespace="cc1e726a-7c3b-4654-9122-87de3e28a51c"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haredWithUsers xmlns="cc1e726a-7c3b-4654-9122-87de3e28a51c">
      <UserInfo>
        <DisplayName/>
        <AccountId xsi:nil="true"/>
        <AccountType/>
      </UserInfo>
    </SharedWithUsers>
    <AdminNotes xmlns="c8ecdccd-e3b0-4392-94c4-49d90f16d1d5" xsi:nil="true"/>
    <Topic xmlns="c8ecdccd-e3b0-4392-94c4-49d90f16d1d5">Accessibility</Topic>
    <Copy xmlns="c8ecdccd-e3b0-4392-94c4-49d90f16d1d5">true</Copy>
    <MasterLocation_x0028_ifCopy_x003d_Yes_x0029_ xmlns="c8ecdccd-e3b0-4392-94c4-49d90f16d1d5">LCoE</MasterLocation_x0028_ifCopy_x003d_Yes_x0029_>
    <Owner xmlns="c8ecdccd-e3b0-4392-94c4-49d90f16d1d5">LCoE</Owner>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2CEB1C7-5C0A-4F1C-B184-5FA4EC60702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8ecdccd-e3b0-4392-94c4-49d90f16d1d5"/>
    <ds:schemaRef ds:uri="cc1e726a-7c3b-4654-9122-87de3e28a51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A9BA192-EF86-48DF-982C-2C526A268392}">
  <ds:schemaRefs>
    <ds:schemaRef ds:uri="http://purl.org/dc/elements/1.1/"/>
    <ds:schemaRef ds:uri="http://www.w3.org/XML/1998/namespace"/>
    <ds:schemaRef ds:uri="http://schemas.openxmlformats.org/package/2006/metadata/core-properties"/>
    <ds:schemaRef ds:uri="http://purl.org/dc/terms/"/>
    <ds:schemaRef ds:uri="cc1e726a-7c3b-4654-9122-87de3e28a51c"/>
    <ds:schemaRef ds:uri="http://schemas.microsoft.com/office/2006/documentManagement/types"/>
    <ds:schemaRef ds:uri="http://schemas.microsoft.com/office/2006/metadata/properties"/>
    <ds:schemaRef ds:uri="http://schemas.microsoft.com/office/infopath/2007/PartnerControls"/>
    <ds:schemaRef ds:uri="c8ecdccd-e3b0-4392-94c4-49d90f16d1d5"/>
    <ds:schemaRef ds:uri="http://purl.org/dc/dcmitype/"/>
  </ds:schemaRefs>
</ds:datastoreItem>
</file>

<file path=customXml/itemProps3.xml><?xml version="1.0" encoding="utf-8"?>
<ds:datastoreItem xmlns:ds="http://schemas.openxmlformats.org/officeDocument/2006/customXml" ds:itemID="{E32CFAA7-E308-4DCB-89CD-C84C20E9024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99545</TotalTime>
  <Words>6164</Words>
  <Application>Microsoft Office PowerPoint</Application>
  <PresentationFormat>Widescreen</PresentationFormat>
  <Paragraphs>713</Paragraphs>
  <Slides>48</Slides>
  <Notes>31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48</vt:i4>
      </vt:variant>
    </vt:vector>
  </HeadingPairs>
  <TitlesOfParts>
    <vt:vector size="56" baseType="lpstr">
      <vt:lpstr>Arial</vt:lpstr>
      <vt:lpstr>Arial</vt:lpstr>
      <vt:lpstr>Calibri</vt:lpstr>
      <vt:lpstr>Cambria Math</vt:lpstr>
      <vt:lpstr>Helvetica</vt:lpstr>
      <vt:lpstr>Open Sans</vt:lpstr>
      <vt:lpstr>Summer Font</vt:lpstr>
      <vt:lpstr>Office Theme</vt:lpstr>
      <vt:lpstr>PowerPoint Presentation</vt:lpstr>
      <vt:lpstr>Chapter Contents</vt:lpstr>
      <vt:lpstr>Chapter Objectives (1 of 2)</vt:lpstr>
      <vt:lpstr>Chapter Objectives (2 of 2)</vt:lpstr>
      <vt:lpstr>Introduction</vt:lpstr>
      <vt:lpstr>2.1 Summarizing Data for a Categorical Variable</vt:lpstr>
      <vt:lpstr>2.1 Relative Frequency and Percent Frequency Distributions</vt:lpstr>
      <vt:lpstr>2.1 Bar Chart</vt:lpstr>
      <vt:lpstr>2.1 Pie Chart</vt:lpstr>
      <vt:lpstr>2.1 Excel: Construct a Frequency Distribution</vt:lpstr>
      <vt:lpstr>2.1 Excel: Construct Relative and Percent Frequency Distributions</vt:lpstr>
      <vt:lpstr>2.1 Excel: Construct a Bar Chart</vt:lpstr>
      <vt:lpstr>2.2 Summarizing Data for a Quantitative Variable</vt:lpstr>
      <vt:lpstr>2.2 Relative Frequency and Percent Frequency Distributions for a Quantitative Variable</vt:lpstr>
      <vt:lpstr>2.2 Excel: Construct a Frequency Distribution</vt:lpstr>
      <vt:lpstr>2.2 Cumulative Distributions</vt:lpstr>
      <vt:lpstr>2.2 Dot Plot</vt:lpstr>
      <vt:lpstr>2.2 Histogram</vt:lpstr>
      <vt:lpstr>2.2 Histograms Showing Differing Levels of Skewness</vt:lpstr>
      <vt:lpstr>2.2 Excel: Construct a Histogram</vt:lpstr>
      <vt:lpstr>2.2 Stem-and-Leaf Display</vt:lpstr>
      <vt:lpstr>2.3 Summarizing Data for Two Variables Using Tables</vt:lpstr>
      <vt:lpstr>2.3 Crosstabulation: Row Percentages</vt:lpstr>
      <vt:lpstr>2.3 Crosstabulation: Column Percentages</vt:lpstr>
      <vt:lpstr>2.3 Excel: Construct a Crosstabulation with PivotTable</vt:lpstr>
      <vt:lpstr>2.3 An Analysis of Two Judges’ Verdicts</vt:lpstr>
      <vt:lpstr>2.3 Simpson’s Paradox</vt:lpstr>
      <vt:lpstr>2.4 Summarizing Data for Two Variables Using Graphical Displays</vt:lpstr>
      <vt:lpstr>2.4 Types of Relationships Depicted by Scatter Diagrams</vt:lpstr>
      <vt:lpstr>2.4 Excel: Construct a Scatter Diagram</vt:lpstr>
      <vt:lpstr>2.4 Side-by-Side Bar Chart</vt:lpstr>
      <vt:lpstr>2.4 Stacked Bar Chart</vt:lpstr>
      <vt:lpstr>2.4 Excel: Construct a Side-by-Side Bar Chart</vt:lpstr>
      <vt:lpstr>2.4 Excel: Construct a Stacked Bar Chart</vt:lpstr>
      <vt:lpstr>2.5 Visualizing Geospatial Data</vt:lpstr>
      <vt:lpstr>2.5 Choropleth Maps</vt:lpstr>
      <vt:lpstr>2.5 Excel: Construct a State-Level Data Choropleth Map</vt:lpstr>
      <vt:lpstr>2.5 Excel: Construct a County-Level Data Choropleth Map</vt:lpstr>
      <vt:lpstr>2.5 Cartograms</vt:lpstr>
      <vt:lpstr>2.5 Equal-Area Cartograms</vt:lpstr>
      <vt:lpstr>2.6 Data-Ink Ratio</vt:lpstr>
      <vt:lpstr>2.6 Best Practices in Creating Effective Graphical Displays</vt:lpstr>
      <vt:lpstr>2.6 Summary of Graphical Displays Used to Show the Distribution of Data</vt:lpstr>
      <vt:lpstr>2.6 Summary of Graphical Displays Used to Make Comparisons and Show Relationships</vt:lpstr>
      <vt:lpstr>2.6 Data Dashboards</vt:lpstr>
      <vt:lpstr>2.6 Data Visualization in Practice</vt:lpstr>
      <vt:lpstr>Summary</vt:lpstr>
      <vt:lpstr>A Summary of Tabular and Graphical Displays of Data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Kimberley Grove</dc:creator>
  <cp:lastModifiedBy>Cowan, Flannery</cp:lastModifiedBy>
  <cp:revision>2456</cp:revision>
  <cp:lastPrinted>2016-10-03T15:29:39Z</cp:lastPrinted>
  <dcterms:created xsi:type="dcterms:W3CDTF">2019-11-14T21:20:16Z</dcterms:created>
  <dcterms:modified xsi:type="dcterms:W3CDTF">2025-12-18T15:52:13Z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0x01010025A683995A7B1D46BAE4BA042997DC16</vt:lpwstr>
  </property>
  <property fmtid="{D5CDD505-2E9C-101B-9397-08002B2CF9AE}" pid="3" name="Order">
    <vt:r8>112600</vt:r8>
  </property>
  <property fmtid="{D5CDD505-2E9C-101B-9397-08002B2CF9AE}" pid="4" name="Category">
    <vt:lpwstr>Accessibility</vt:lpwstr>
  </property>
  <property fmtid="{D5CDD505-2E9C-101B-9397-08002B2CF9AE}" pid="5" name="xd_Signature">
    <vt:bool>false</vt:bool>
  </property>
  <property fmtid="{D5CDD505-2E9C-101B-9397-08002B2CF9AE}" pid="6" name="xd_ProgID">
    <vt:lpwstr/>
  </property>
  <property fmtid="{D5CDD505-2E9C-101B-9397-08002B2CF9AE}" pid="7" name="Document Type">
    <vt:lpwstr>Template</vt:lpwstr>
  </property>
  <property fmtid="{D5CDD505-2E9C-101B-9397-08002B2CF9AE}" pid="8" name="Audience">
    <vt:lpwstr>Content Developer</vt:lpwstr>
  </property>
  <property fmtid="{D5CDD505-2E9C-101B-9397-08002B2CF9AE}" pid="9" name="Department">
    <vt:lpwstr>GPM Training</vt:lpwstr>
  </property>
  <property fmtid="{D5CDD505-2E9C-101B-9397-08002B2CF9AE}" pid="10" name="ComplianceAssetId">
    <vt:lpwstr/>
  </property>
  <property fmtid="{D5CDD505-2E9C-101B-9397-08002B2CF9AE}" pid="11" name="TemplateUrl">
    <vt:lpwstr/>
  </property>
  <property fmtid="{D5CDD505-2E9C-101B-9397-08002B2CF9AE}" pid="12" name="SP Reprints">
    <vt:bool>false</vt:bool>
  </property>
  <property fmtid="{D5CDD505-2E9C-101B-9397-08002B2CF9AE}" pid="13" name="_SourceUrl">
    <vt:lpwstr/>
  </property>
  <property fmtid="{D5CDD505-2E9C-101B-9397-08002B2CF9AE}" pid="14" name="_SharedFileIndex">
    <vt:lpwstr/>
  </property>
  <property fmtid="{D5CDD505-2E9C-101B-9397-08002B2CF9AE}" pid="15" name="SP Production">
    <vt:bool>false</vt:bool>
  </property>
  <property fmtid="{D5CDD505-2E9C-101B-9397-08002B2CF9AE}" pid="16" name="SP Content Authoring/Dev">
    <vt:bool>false</vt:bool>
  </property>
  <property fmtid="{D5CDD505-2E9C-101B-9397-08002B2CF9AE}" pid="17" name="SP E2E">
    <vt:bool>false</vt:bool>
  </property>
</Properties>
</file>